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48"/>
  </p:notesMasterIdLst>
  <p:sldIdLst>
    <p:sldId id="375" r:id="rId2"/>
    <p:sldId id="606" r:id="rId3"/>
    <p:sldId id="607" r:id="rId4"/>
    <p:sldId id="615" r:id="rId5"/>
    <p:sldId id="618" r:id="rId6"/>
    <p:sldId id="619" r:id="rId7"/>
    <p:sldId id="620" r:id="rId8"/>
    <p:sldId id="616" r:id="rId9"/>
    <p:sldId id="609" r:id="rId10"/>
    <p:sldId id="610" r:id="rId11"/>
    <p:sldId id="612" r:id="rId12"/>
    <p:sldId id="611" r:id="rId13"/>
    <p:sldId id="613" r:id="rId14"/>
    <p:sldId id="614" r:id="rId15"/>
    <p:sldId id="608" r:id="rId16"/>
    <p:sldId id="566" r:id="rId17"/>
    <p:sldId id="552" r:id="rId18"/>
    <p:sldId id="572" r:id="rId19"/>
    <p:sldId id="577" r:id="rId20"/>
    <p:sldId id="575" r:id="rId21"/>
    <p:sldId id="578" r:id="rId22"/>
    <p:sldId id="584" r:id="rId23"/>
    <p:sldId id="586" r:id="rId24"/>
    <p:sldId id="585" r:id="rId25"/>
    <p:sldId id="590" r:id="rId26"/>
    <p:sldId id="593" r:id="rId27"/>
    <p:sldId id="591" r:id="rId28"/>
    <p:sldId id="587" r:id="rId29"/>
    <p:sldId id="592" r:id="rId30"/>
    <p:sldId id="594" r:id="rId31"/>
    <p:sldId id="596" r:id="rId32"/>
    <p:sldId id="597" r:id="rId33"/>
    <p:sldId id="602" r:id="rId34"/>
    <p:sldId id="595" r:id="rId35"/>
    <p:sldId id="567" r:id="rId36"/>
    <p:sldId id="598" r:id="rId37"/>
    <p:sldId id="599" r:id="rId38"/>
    <p:sldId id="601" r:id="rId39"/>
    <p:sldId id="603" r:id="rId40"/>
    <p:sldId id="600" r:id="rId41"/>
    <p:sldId id="605" r:id="rId42"/>
    <p:sldId id="364" r:id="rId43"/>
    <p:sldId id="579" r:id="rId44"/>
    <p:sldId id="576" r:id="rId45"/>
    <p:sldId id="617" r:id="rId46"/>
    <p:sldId id="582" r:id="rId4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2714D"/>
    <a:srgbClr val="3B8380"/>
    <a:srgbClr val="A5D0CD"/>
    <a:srgbClr val="A67539"/>
    <a:srgbClr val="D77600"/>
    <a:srgbClr val="E7E8E8"/>
    <a:srgbClr val="E15F5F"/>
    <a:srgbClr val="F8F7FC"/>
    <a:srgbClr val="2D72BE"/>
    <a:srgbClr val="070B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834" autoAdjust="0"/>
    <p:restoredTop sz="94660"/>
  </p:normalViewPr>
  <p:slideViewPr>
    <p:cSldViewPr snapToGrid="0">
      <p:cViewPr>
        <p:scale>
          <a:sx n="150" d="100"/>
          <a:sy n="150" d="100"/>
        </p:scale>
        <p:origin x="133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2026-03-26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point.or.kr/netzero/main.do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6600" b="1" i="0" dirty="0" err="1"/>
              <a:t>에</a:t>
            </a:r>
            <a:r>
              <a:rPr lang="ko-KR" altLang="en-US" sz="6600" b="1" i="0" dirty="0"/>
              <a:t> 너 지 경 제</a:t>
            </a:r>
            <a:endParaRPr lang="ko-KR" altLang="en-US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Lecture - 1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3D75C3-7FD4-D991-DE6F-BC19E3904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2013E8-FF49-56CE-9C13-7E3A7809A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에너지경제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D4DDAD-111A-FCF3-241A-B8FA33E0B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E34A16-4778-BA05-E1A1-955B29D946C3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에너지경제는 에너지 공급 및 소비와 관련한 주제를 연구하는 분야이다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과거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에너지와 산업혁명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석탄을 중심으로 한 증기기관은 산업 생산의 핵심동력 이었다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석유는 내연 기관 기술의 확산과 교통부문의 핵심 에너지원으로 자리하게 되었다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화석연료의 사용은 대기오염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온실가스 배출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기후변화 등의 문제를 초래하였다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현재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현대사회에서의 에너지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에너지 공급의 안정성은 경제 안정과 성장의 필수 요소로 작용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에너지 소비가 환경에 미치는 영향이 중요한 이슈로 대두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미래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지속가능한 에너지와 기후변화 대응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화석연료 소비중심에서 점진적으로 재생가능한 에너지원으로 이동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기술혁신이 에너지 시스템의 큰 변화를 몰고 올 것으로 예상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에너지 저장 장치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스마트그리드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고효율 기기 등</a:t>
            </a: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4276602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14CBF-8048-8A87-D698-A17E533EF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98C714-55C4-66BD-6061-7CB55AD12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 개요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AE7D16-2ED3-2A61-78FC-090DADE0B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607F4F-D738-4AAA-FBE2-FCE64BE6F021}"/>
              </a:ext>
            </a:extLst>
          </p:cNvPr>
          <p:cNvSpPr txBox="1"/>
          <p:nvPr/>
        </p:nvSpPr>
        <p:spPr>
          <a:xfrm>
            <a:off x="288790" y="958844"/>
            <a:ext cx="1169366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</a:t>
            </a:r>
            <a:r>
              <a:rPr lang="ko-KR" altLang="en-US" sz="1600" spc="-50" dirty="0"/>
              <a:t>주간에 걸쳐 다음의 내용을 다루고자 한다</a:t>
            </a:r>
            <a:r>
              <a:rPr lang="en-US" altLang="ko-KR" sz="1600" spc="-50" dirty="0"/>
              <a:t>.</a:t>
            </a:r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첫 시간</a:t>
            </a:r>
            <a:r>
              <a:rPr lang="en-US" altLang="ko-KR" sz="1600" spc="-50" dirty="0"/>
              <a:t>, 3/30(</a:t>
            </a:r>
            <a:r>
              <a:rPr lang="ko-KR" altLang="en-US" sz="1600" spc="-50" dirty="0"/>
              <a:t>월</a:t>
            </a:r>
            <a:r>
              <a:rPr lang="en-US" altLang="ko-KR" sz="1600" spc="-50" dirty="0"/>
              <a:t>)) </a:t>
            </a:r>
            <a:r>
              <a:rPr lang="ko-KR" altLang="en-US" sz="1600" spc="-50" dirty="0"/>
              <a:t>현재 우리가 살아가는 삶의 방식이 어떻게 기후변화를 일으키고 있는지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메커니즘을 살펴보자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 소비 → 온실가스 배출 → 지구온난화 → 기후변화 → </a:t>
            </a:r>
            <a:r>
              <a:rPr lang="en-US" altLang="ko-KR" sz="1600" spc="-50" dirty="0"/>
              <a:t>?????? 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기후변화는 이미 시작이 되었고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따라서 기후변화 속에 살고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아직 미미한 수준이다</a:t>
            </a:r>
            <a:r>
              <a:rPr lang="en-US" altLang="ko-KR" sz="1600" spc="-50" dirty="0"/>
              <a:t>.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예전에는 관측되지 않았던 폭염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폭우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등이 발생하고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본격적으로 기후변화가 심해지면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 삶의 방식은 어떻게 변할까</a:t>
            </a:r>
            <a:r>
              <a:rPr lang="en-US" altLang="ko-KR" sz="1600" spc="-50" dirty="0"/>
              <a:t>??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지구상에 아직 겪어본 사람이 없다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어떤 사회가 될지 상상해보자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이건 각자 알아서 숙제</a:t>
            </a:r>
            <a:r>
              <a:rPr lang="en-US" altLang="ko-KR" sz="1600" spc="-50" dirty="0"/>
              <a:t>)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두번째 시간</a:t>
            </a:r>
            <a:r>
              <a:rPr lang="en-US" altLang="ko-KR" sz="1600" spc="-50" dirty="0"/>
              <a:t>, 4/20(</a:t>
            </a:r>
            <a:r>
              <a:rPr lang="ko-KR" altLang="en-US" sz="1600" spc="-50" dirty="0"/>
              <a:t>월</a:t>
            </a:r>
            <a:r>
              <a:rPr lang="en-US" altLang="ko-KR" sz="1600" spc="-50" dirty="0"/>
              <a:t>)) </a:t>
            </a:r>
            <a:r>
              <a:rPr lang="ko-KR" altLang="en-US" sz="1600" spc="-50" dirty="0"/>
              <a:t>나부터 기후변화 대응을 위해 할 수 있는 일을 생각해보자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우선 생각해볼 수 있는 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자가용 대신 대중교통을 이용하면 탄소중립포인트를 준다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대중교통을 이용하면 어떤 이유에서 탄소배출이 줄어 드는 건지 경제적으로 따져보는 시간을 가져보자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아주 사소한 일부터 습관을 들여보자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기후변화를 조금이라도 늦추거나 막을 수 있지 않을까</a:t>
            </a:r>
            <a:r>
              <a:rPr lang="en-US" altLang="ko-KR" sz="1600" spc="-50" dirty="0"/>
              <a:t>? (</a:t>
            </a:r>
            <a:r>
              <a:rPr lang="ko-KR" altLang="en-US" sz="1600" spc="-50" dirty="0"/>
              <a:t>이것도 각자 알아서 숙제</a:t>
            </a:r>
            <a:r>
              <a:rPr lang="en-US" altLang="ko-KR" sz="1600" spc="-50" dirty="0"/>
              <a:t>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B44B9C-E16C-71EA-0C09-CF74E0EDE7D5}"/>
              </a:ext>
            </a:extLst>
          </p:cNvPr>
          <p:cNvSpPr txBox="1"/>
          <p:nvPr/>
        </p:nvSpPr>
        <p:spPr>
          <a:xfrm>
            <a:off x="8852670" y="4720074"/>
            <a:ext cx="312978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※ </a:t>
            </a:r>
            <a:r>
              <a:rPr lang="ko-KR" altLang="en-US" sz="1200" dirty="0"/>
              <a:t>탄소중립 포인트 혜택 받기</a:t>
            </a:r>
            <a:r>
              <a:rPr lang="en-US" altLang="ko-KR" sz="1200" dirty="0"/>
              <a:t>: </a:t>
            </a:r>
            <a:r>
              <a:rPr lang="ko-KR" altLang="en-US" sz="1200" dirty="0">
                <a:hlinkClick r:id="rId2"/>
              </a:rPr>
              <a:t>클릭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165466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E81B3A-25CC-FE56-D485-39A603558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0788EC-9CCC-9B97-4486-2F64D3CC6B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생활 속의 에너지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0D27A6-459E-DEC8-BE45-A74A4C5D1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1F3F8D-6614-D54D-DA4A-2C56FD3F5945}"/>
              </a:ext>
            </a:extLst>
          </p:cNvPr>
          <p:cNvSpPr txBox="1"/>
          <p:nvPr/>
        </p:nvSpPr>
        <p:spPr>
          <a:xfrm>
            <a:off x="288790" y="958844"/>
            <a:ext cx="116936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 일상 생활을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한번 살펴보자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핸드폰을 사용한다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당연히 충전을 해야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전기는 저절로 생산되지 않는다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전국 각지에서 석탄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 등을 태워서 만든 전기가 전선을 타고 이동해온 것이다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전기소비도 간접적인 화석연료 소비임을 잊지 말자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이동할 때 차를 탄다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대부분의 자가용은 휘발유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경유를 연료로 하는 경우가 많다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시내버스는 대부분 </a:t>
            </a:r>
            <a:r>
              <a:rPr lang="en-US" altLang="ko-KR" sz="1600" spc="-50" dirty="0"/>
              <a:t>CNG (Compressed Natural Gas)</a:t>
            </a:r>
            <a:r>
              <a:rPr lang="ko-KR" altLang="en-US" sz="1600" spc="-50" dirty="0"/>
              <a:t>를 연료로 사용한다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더우면 냉방기기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추우면 난방기기를 켠다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대부분 전기를 많이 사용하고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가스보일러를 사용하는 집도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밥을 먹어야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요리 할 때 가스레인지를 켜면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가스를 사용한다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옷을 입는다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우리가 입고 있는 옷의 대부분이 합성섬유다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합성섬유의 원료는 석유로부터 나온다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60625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24628-F716-3456-11F9-75E85A849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B87C41-359E-445E-4EF2-4B5F605AF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에너지의 종류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E43956-E5C6-A458-CAB5-589149DC6A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8362C4-F49E-3D27-18FB-240541FF84FE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에너지는 여러 기준으로 나누어 볼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차 에너지와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차 에너지로 나누어 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차에너지는 어떤 가공이나 변환을 거치지 않은 자연 상태의 에너지를 말한다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땅에서 채굴하는 석탄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 등은 유한하기 때문에 </a:t>
            </a:r>
            <a:r>
              <a:rPr lang="ko-KR" altLang="en-US" sz="1600" b="1" spc="-50" dirty="0" err="1"/>
              <a:t>고갈성</a:t>
            </a:r>
            <a:r>
              <a:rPr lang="ko-KR" altLang="en-US" sz="1600" b="1" spc="-50" dirty="0"/>
              <a:t> 에너지</a:t>
            </a:r>
            <a:r>
              <a:rPr lang="ko-KR" altLang="en-US" sz="1600" spc="-50" dirty="0"/>
              <a:t> 라고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태양으로 </a:t>
            </a:r>
            <a:r>
              <a:rPr lang="ko-KR" altLang="en-US" sz="1600" spc="-50" dirty="0" err="1"/>
              <a:t>부터</a:t>
            </a:r>
            <a:r>
              <a:rPr lang="ko-KR" altLang="en-US" sz="1600" spc="-50" dirty="0"/>
              <a:t> 오는 태양에너지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바람으로 부터 오는 바람에너지는 무한하기 때문에 </a:t>
            </a:r>
            <a:r>
              <a:rPr lang="ko-KR" altLang="en-US" sz="1600" b="1" spc="-50" dirty="0"/>
              <a:t>재생 에너지</a:t>
            </a:r>
            <a:r>
              <a:rPr lang="ko-KR" altLang="en-US" sz="1600" spc="-50" dirty="0"/>
              <a:t> 라고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2</a:t>
            </a:r>
            <a:r>
              <a:rPr lang="ko-KR" altLang="en-US" sz="1600" spc="-50" dirty="0"/>
              <a:t>차에너지는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차에너지를 변환</a:t>
            </a:r>
            <a:r>
              <a:rPr lang="en-US" altLang="ko-KR" sz="1600" spc="-50" dirty="0"/>
              <a:t>·</a:t>
            </a:r>
            <a:r>
              <a:rPr lang="ko-KR" altLang="en-US" sz="1600" spc="-50" dirty="0"/>
              <a:t>가공하여 사용하기 편리하게 만든 에너지를 말한다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땅에서 채굴한 석유는 바로 쓸 수 없다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불순물이 많아서 여러 석유제품들로 분류를 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석유를 높은 온도에서 끓이면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아스팔트도 나오고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항공유도 나오고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휘발유도 나온다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석유는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차에너지 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아스팔트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항공유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휘발유 등이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차 에너지이다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태양에너지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바람에너지도 바로 쓸 수 없다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태양광이나 풍력발전기를 통해 전기에너지로 바꿔야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태양광 패널에 햇빛이 닿으면 전기가 생산되고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바람이 불어서 풍력날개가 돌아가면 전기가 생산된다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태양에너지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바람에너지는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차에너지 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전기가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차에너지다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025155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1ABFF5-7A07-9669-E1B0-3FCB3A712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886B3-DA2D-95B7-563E-D1410478C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공급과 수요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D2BAFA-E8E8-6ED0-C5B3-F85F39DB4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292EE-3066-048B-CC5E-441ADCF49812}"/>
              </a:ext>
            </a:extLst>
          </p:cNvPr>
          <p:cNvSpPr txBox="1"/>
          <p:nvPr/>
        </p:nvSpPr>
        <p:spPr>
          <a:xfrm>
            <a:off x="288790" y="958844"/>
            <a:ext cx="8431877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전체적으로 우리나라의 에너지는 어떻게 공급이 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어디에 소비되고 있는지 살펴보자</a:t>
            </a:r>
            <a:r>
              <a:rPr lang="en-US" altLang="ko-KR" sz="1600" spc="-50" dirty="0"/>
              <a:t>.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CA73A029-06A1-121C-6923-32F9DC417D42}"/>
              </a:ext>
            </a:extLst>
          </p:cNvPr>
          <p:cNvGrpSpPr/>
          <p:nvPr/>
        </p:nvGrpSpPr>
        <p:grpSpPr>
          <a:xfrm>
            <a:off x="795972" y="1638300"/>
            <a:ext cx="10194874" cy="5035152"/>
            <a:chOff x="1642959" y="2388201"/>
            <a:chExt cx="6269495" cy="3089463"/>
          </a:xfrm>
        </p:grpSpPr>
        <p:pic>
          <p:nvPicPr>
            <p:cNvPr id="6" name="Picture 14">
              <a:extLst>
                <a:ext uri="{FF2B5EF4-FFF2-40B4-BE49-F238E27FC236}">
                  <a16:creationId xmlns:a16="http://schemas.microsoft.com/office/drawing/2014/main" id="{50E63222-FAF4-CADC-BB5D-0225EEFE3D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8492"/>
            <a:stretch>
              <a:fillRect/>
            </a:stretch>
          </p:blipFill>
          <p:spPr>
            <a:xfrm>
              <a:off x="1694979" y="2388201"/>
              <a:ext cx="6217475" cy="306967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A3A539F-DCDE-ABF0-691F-8CD16A1E69C4}"/>
                </a:ext>
              </a:extLst>
            </p:cNvPr>
            <p:cNvSpPr/>
            <p:nvPr/>
          </p:nvSpPr>
          <p:spPr>
            <a:xfrm>
              <a:off x="4454876" y="3870318"/>
              <a:ext cx="119550" cy="88105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C38535F-2E35-A78E-DACD-36AFB3187B31}"/>
                </a:ext>
              </a:extLst>
            </p:cNvPr>
            <p:cNvSpPr/>
            <p:nvPr/>
          </p:nvSpPr>
          <p:spPr>
            <a:xfrm>
              <a:off x="1753076" y="4555161"/>
              <a:ext cx="972706" cy="833601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51087289-E264-222A-8110-8943617EEF51}"/>
                </a:ext>
              </a:extLst>
            </p:cNvPr>
            <p:cNvSpPr/>
            <p:nvPr/>
          </p:nvSpPr>
          <p:spPr>
            <a:xfrm>
              <a:off x="3858936" y="2403960"/>
              <a:ext cx="1875114" cy="2073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1AA6CD9-FCBD-FFF0-C764-7D36EE478D74}"/>
                </a:ext>
              </a:extLst>
            </p:cNvPr>
            <p:cNvSpPr/>
            <p:nvPr/>
          </p:nvSpPr>
          <p:spPr>
            <a:xfrm>
              <a:off x="3802370" y="5228535"/>
              <a:ext cx="922789" cy="207362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1CE3E7E-8D0C-11B6-3C16-B8DAA3492BCA}"/>
                </a:ext>
              </a:extLst>
            </p:cNvPr>
            <p:cNvSpPr/>
            <p:nvPr/>
          </p:nvSpPr>
          <p:spPr>
            <a:xfrm>
              <a:off x="4751697" y="5228535"/>
              <a:ext cx="922789" cy="207362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7AA7EC2-EFE5-9FAF-2BF1-F2E1ECA056A0}"/>
                </a:ext>
              </a:extLst>
            </p:cNvPr>
            <p:cNvSpPr/>
            <p:nvPr/>
          </p:nvSpPr>
          <p:spPr>
            <a:xfrm>
              <a:off x="1642959" y="5443708"/>
              <a:ext cx="6217475" cy="33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94A3797B-A720-6A7D-F47C-D329D4EE45E8}"/>
                </a:ext>
              </a:extLst>
            </p:cNvPr>
            <p:cNvCxnSpPr>
              <a:cxnSpLocks/>
            </p:cNvCxnSpPr>
            <p:nvPr/>
          </p:nvCxnSpPr>
          <p:spPr>
            <a:xfrm>
              <a:off x="4740735" y="5201180"/>
              <a:ext cx="0" cy="203003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004E223E-E565-D4AE-A17C-470CFF9BA9E4}"/>
                </a:ext>
              </a:extLst>
            </p:cNvPr>
            <p:cNvSpPr/>
            <p:nvPr/>
          </p:nvSpPr>
          <p:spPr>
            <a:xfrm>
              <a:off x="1707678" y="4310557"/>
              <a:ext cx="922789" cy="207362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648A3AF2-946B-F14A-A503-CB2743C60297}"/>
                </a:ext>
              </a:extLst>
            </p:cNvPr>
            <p:cNvSpPr/>
            <p:nvPr/>
          </p:nvSpPr>
          <p:spPr>
            <a:xfrm>
              <a:off x="7680382" y="3428999"/>
              <a:ext cx="90431" cy="1641475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8F1B2254-8FAA-916D-1F49-08AB90CB4425}"/>
                </a:ext>
              </a:extLst>
            </p:cNvPr>
            <p:cNvSpPr/>
            <p:nvPr/>
          </p:nvSpPr>
          <p:spPr>
            <a:xfrm>
              <a:off x="7770813" y="3389299"/>
              <a:ext cx="141641" cy="20685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E1B75C9-BBDD-7AA6-2C81-92ED5800B013}"/>
                </a:ext>
              </a:extLst>
            </p:cNvPr>
            <p:cNvSpPr/>
            <p:nvPr/>
          </p:nvSpPr>
          <p:spPr>
            <a:xfrm>
              <a:off x="2879582" y="3138487"/>
              <a:ext cx="325582" cy="125413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6930EB1-4654-2150-8F99-FE8199CC6C4A}"/>
                </a:ext>
              </a:extLst>
            </p:cNvPr>
            <p:cNvSpPr/>
            <p:nvPr/>
          </p:nvSpPr>
          <p:spPr>
            <a:xfrm>
              <a:off x="3678094" y="3733397"/>
              <a:ext cx="77931" cy="90892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554B6D96-27FE-E09A-8517-981317756AF6}"/>
                </a:ext>
              </a:extLst>
            </p:cNvPr>
            <p:cNvCxnSpPr>
              <a:cxnSpLocks/>
            </p:cNvCxnSpPr>
            <p:nvPr/>
          </p:nvCxnSpPr>
          <p:spPr>
            <a:xfrm>
              <a:off x="4021069" y="2611321"/>
              <a:ext cx="0" cy="309679"/>
            </a:xfrm>
            <a:prstGeom prst="line">
              <a:avLst/>
            </a:prstGeom>
            <a:ln>
              <a:solidFill>
                <a:srgbClr val="D776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연결선 19">
              <a:extLst>
                <a:ext uri="{FF2B5EF4-FFF2-40B4-BE49-F238E27FC236}">
                  <a16:creationId xmlns:a16="http://schemas.microsoft.com/office/drawing/2014/main" id="{7F2B8734-ABC7-603B-820E-416A5E35466C}"/>
                </a:ext>
              </a:extLst>
            </p:cNvPr>
            <p:cNvCxnSpPr>
              <a:cxnSpLocks/>
            </p:cNvCxnSpPr>
            <p:nvPr/>
          </p:nvCxnSpPr>
          <p:spPr>
            <a:xfrm>
              <a:off x="4021069" y="2921530"/>
              <a:ext cx="0" cy="36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CBCC563-6176-D1BF-CAC9-017043AA4CBC}"/>
                </a:ext>
              </a:extLst>
            </p:cNvPr>
            <p:cNvSpPr/>
            <p:nvPr/>
          </p:nvSpPr>
          <p:spPr>
            <a:xfrm>
              <a:off x="3928373" y="2943712"/>
              <a:ext cx="276916" cy="45719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AA189402-38E6-5F3D-E270-DA139406BF15}"/>
              </a:ext>
            </a:extLst>
          </p:cNvPr>
          <p:cNvSpPr txBox="1"/>
          <p:nvPr/>
        </p:nvSpPr>
        <p:spPr>
          <a:xfrm>
            <a:off x="3410787" y="1679072"/>
            <a:ext cx="468382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에너지 공급과 수요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F2C2631-A087-B3B1-BBA0-A4FEB15233E8}"/>
              </a:ext>
            </a:extLst>
          </p:cNvPr>
          <p:cNvSpPr/>
          <p:nvPr/>
        </p:nvSpPr>
        <p:spPr>
          <a:xfrm>
            <a:off x="864118" y="4847936"/>
            <a:ext cx="1301603" cy="37864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차에너지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 err="1">
                <a:solidFill>
                  <a:schemeClr val="tx1"/>
                </a:solidFill>
              </a:rPr>
              <a:t>고갈성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88811B5E-A2EC-79BB-9431-0EBB912B7AD5}"/>
              </a:ext>
            </a:extLst>
          </p:cNvPr>
          <p:cNvSpPr/>
          <p:nvPr/>
        </p:nvSpPr>
        <p:spPr>
          <a:xfrm>
            <a:off x="2685483" y="4199607"/>
            <a:ext cx="1301603" cy="37864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</a:t>
            </a:r>
            <a:r>
              <a:rPr lang="ko-KR" altLang="en-US" sz="1200" dirty="0">
                <a:solidFill>
                  <a:schemeClr val="tx1"/>
                </a:solidFill>
              </a:rPr>
              <a:t>차에너지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재생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E4847CD5-3181-3EBD-A081-7EC77216BF43}"/>
              </a:ext>
            </a:extLst>
          </p:cNvPr>
          <p:cNvSpPr/>
          <p:nvPr/>
        </p:nvSpPr>
        <p:spPr>
          <a:xfrm>
            <a:off x="4318958" y="3235435"/>
            <a:ext cx="1301603" cy="37864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차에너지</a:t>
            </a: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C211EEC6-6D70-4AD8-8C15-F71D319C6CCD}"/>
              </a:ext>
            </a:extLst>
          </p:cNvPr>
          <p:cNvSpPr/>
          <p:nvPr/>
        </p:nvSpPr>
        <p:spPr>
          <a:xfrm>
            <a:off x="9534244" y="2588881"/>
            <a:ext cx="1413156" cy="37864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에너지 소비</a:t>
            </a: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D012D933-7016-AF29-633A-C65A6F575BE0}"/>
              </a:ext>
            </a:extLst>
          </p:cNvPr>
          <p:cNvSpPr/>
          <p:nvPr/>
        </p:nvSpPr>
        <p:spPr>
          <a:xfrm>
            <a:off x="6443910" y="5261686"/>
            <a:ext cx="1413156" cy="378643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에너지 시장</a:t>
            </a:r>
          </a:p>
        </p:txBody>
      </p:sp>
    </p:spTree>
    <p:extLst>
      <p:ext uri="{BB962C8B-B14F-4D97-AF65-F5344CB8AC3E}">
        <p14:creationId xmlns:p14="http://schemas.microsoft.com/office/powerpoint/2010/main" val="37989349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6C452-624A-7568-D541-60131CB27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B0F758-A521-7847-2DA8-213C88043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공급과 수요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96E4D4-99D4-EB50-02DA-227CC52F2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6B1698-70EB-AF35-F97C-3C03FDEA88D6}"/>
              </a:ext>
            </a:extLst>
          </p:cNvPr>
          <p:cNvSpPr txBox="1"/>
          <p:nvPr/>
        </p:nvSpPr>
        <p:spPr>
          <a:xfrm>
            <a:off x="288790" y="958844"/>
            <a:ext cx="116936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우리가 주유소에서 넣는 휘발유가 어떻게 공급되어 온건지 살펴보자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원유를 산유국으로부터 수입한다</a:t>
            </a:r>
            <a:r>
              <a:rPr lang="en-US" altLang="ko-KR" sz="1600" spc="-50" dirty="0"/>
              <a:t>. 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2023</a:t>
            </a:r>
            <a:r>
              <a:rPr lang="ko-KR" altLang="en-US" sz="1600" spc="-50" dirty="0"/>
              <a:t>년에는 원유 수입의 </a:t>
            </a:r>
            <a:r>
              <a:rPr lang="en-US" altLang="ko-KR" sz="1600" spc="-50" dirty="0"/>
              <a:t>72%</a:t>
            </a:r>
            <a:r>
              <a:rPr lang="ko-KR" altLang="en-US" sz="1600" spc="-50" dirty="0"/>
              <a:t>를 중동국가에서 수입해왔다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사우디</a:t>
            </a:r>
            <a:r>
              <a:rPr lang="en-US" altLang="ko-KR" sz="1600" spc="-50" dirty="0"/>
              <a:t>, UAE,</a:t>
            </a:r>
            <a:r>
              <a:rPr lang="ko-KR" altLang="en-US" sz="1600" spc="-50" dirty="0"/>
              <a:t> 쿠웨이트 등</a:t>
            </a:r>
            <a:r>
              <a:rPr lang="en-US" altLang="ko-KR" sz="1600" spc="-50" dirty="0"/>
              <a:t>)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우리나라에서 빈 배가 사우디 </a:t>
            </a:r>
            <a:r>
              <a:rPr lang="ko-KR" altLang="en-US" sz="1600" spc="-50" dirty="0" err="1"/>
              <a:t>라스타누라항</a:t>
            </a:r>
            <a:r>
              <a:rPr lang="ko-KR" altLang="en-US" sz="1600" spc="-50" dirty="0"/>
              <a:t> 까지 </a:t>
            </a:r>
            <a:r>
              <a:rPr lang="en-US" altLang="ko-KR" sz="1600" spc="-50" dirty="0"/>
              <a:t>25,000km</a:t>
            </a:r>
            <a:r>
              <a:rPr lang="ko-KR" altLang="en-US" sz="1600" spc="-50" dirty="0"/>
              <a:t>를 항해</a:t>
            </a:r>
            <a:r>
              <a:rPr lang="en-US" altLang="ko-KR" sz="1600" spc="-50" dirty="0"/>
              <a:t>. (16</a:t>
            </a:r>
            <a:r>
              <a:rPr lang="ko-KR" altLang="en-US" sz="1600" spc="-50" dirty="0"/>
              <a:t>일 소요</a:t>
            </a:r>
            <a:r>
              <a:rPr lang="en-US" altLang="ko-KR" sz="1600" spc="-50" dirty="0"/>
              <a:t>)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원유 선적하고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출항까지 </a:t>
            </a:r>
            <a:r>
              <a:rPr lang="en-US" altLang="ko-KR" sz="1600" spc="-50" dirty="0"/>
              <a:t>(3~4</a:t>
            </a:r>
            <a:r>
              <a:rPr lang="ko-KR" altLang="en-US" sz="1600" spc="-50" dirty="0"/>
              <a:t>일 소요</a:t>
            </a:r>
            <a:r>
              <a:rPr lang="en-US" altLang="ko-KR" sz="1600" spc="-50" dirty="0"/>
              <a:t>)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갔던 길을 다시 되돌아 옴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(21~22</a:t>
            </a:r>
            <a:r>
              <a:rPr lang="ko-KR" altLang="en-US" sz="1600" spc="-50" dirty="0"/>
              <a:t>일 소요</a:t>
            </a:r>
            <a:r>
              <a:rPr lang="en-US" altLang="ko-KR" sz="1600" spc="-50" dirty="0"/>
              <a:t>)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유조선에 실려온 원유는 파이프라인을 통해 저장탱크로 이동</a:t>
            </a:r>
            <a:r>
              <a:rPr lang="en-US" altLang="ko-KR" sz="1600" spc="-50" dirty="0"/>
              <a:t> (2~3</a:t>
            </a:r>
            <a:r>
              <a:rPr lang="ko-KR" altLang="en-US" sz="1600" spc="-50" dirty="0"/>
              <a:t>일 소요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수입한 원유는 국내 각지에서 </a:t>
            </a:r>
            <a:r>
              <a:rPr lang="en-US" altLang="ko-KR" sz="1600" spc="-50" dirty="0"/>
              <a:t>(SK: </a:t>
            </a:r>
            <a:r>
              <a:rPr lang="ko-KR" altLang="en-US" sz="1600" spc="-50" dirty="0"/>
              <a:t>울산</a:t>
            </a:r>
            <a:r>
              <a:rPr lang="en-US" altLang="ko-KR" sz="1600" spc="-50" dirty="0"/>
              <a:t>, GS: </a:t>
            </a:r>
            <a:r>
              <a:rPr lang="ko-KR" altLang="en-US" sz="1600" spc="-50" dirty="0"/>
              <a:t>여수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현대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서산</a:t>
            </a:r>
            <a:r>
              <a:rPr lang="en-US" altLang="ko-KR" sz="1600" spc="-50" dirty="0"/>
              <a:t>, S</a:t>
            </a:r>
            <a:r>
              <a:rPr lang="ko-KR" altLang="en-US" sz="1600" spc="-50" dirty="0"/>
              <a:t>오일</a:t>
            </a:r>
            <a:r>
              <a:rPr lang="en-US" altLang="ko-KR" sz="1600" spc="-50" dirty="0"/>
              <a:t>: </a:t>
            </a:r>
            <a:r>
              <a:rPr lang="ko-KR" altLang="en-US" sz="1600" spc="-50" dirty="0"/>
              <a:t>울산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정유</a:t>
            </a:r>
            <a:r>
              <a:rPr lang="en-US" altLang="ko-KR" sz="1600" spc="-50" dirty="0"/>
              <a:t>(refining)</a:t>
            </a:r>
            <a:r>
              <a:rPr lang="ko-KR" altLang="en-US" sz="1600" spc="-50" dirty="0"/>
              <a:t>를 한다</a:t>
            </a:r>
            <a:endParaRPr lang="en-US" altLang="ko-KR" sz="1600" spc="-50" dirty="0"/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우리나라 정유사들의 세계 경쟁력은 매우 우수한 편이다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600" spc="-5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7A0D29-2181-2F01-7109-587A58ED0746}"/>
              </a:ext>
            </a:extLst>
          </p:cNvPr>
          <p:cNvSpPr txBox="1"/>
          <p:nvPr/>
        </p:nvSpPr>
        <p:spPr>
          <a:xfrm>
            <a:off x="7054850" y="1068400"/>
            <a:ext cx="6134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https://askinno.com/archives/36348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E74431-EFFD-DB9D-A4D7-5C5B16D4B9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4957" y="1511951"/>
            <a:ext cx="2118253" cy="1593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6BBFB59-5B7F-FB75-BB4D-89AE41C43009}"/>
              </a:ext>
            </a:extLst>
          </p:cNvPr>
          <p:cNvSpPr txBox="1"/>
          <p:nvPr/>
        </p:nvSpPr>
        <p:spPr>
          <a:xfrm>
            <a:off x="9784957" y="3105310"/>
            <a:ext cx="204628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출처</a:t>
            </a:r>
            <a:r>
              <a:rPr lang="en-US" altLang="ko-KR" sz="1000" dirty="0"/>
              <a:t>: </a:t>
            </a:r>
            <a:r>
              <a:rPr lang="ko-KR" altLang="en-US" sz="1000" dirty="0"/>
              <a:t>대한석유협회</a:t>
            </a:r>
            <a:r>
              <a:rPr lang="en-US" altLang="ko-KR" sz="1000" dirty="0"/>
              <a:t>, </a:t>
            </a:r>
            <a:r>
              <a:rPr lang="ko-KR" altLang="en-US" sz="600" dirty="0"/>
              <a:t>https://www.petroleum.or.kr/industry/story_2_1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F3B506B-E6A0-6DB9-4681-B65AB77DD87D}"/>
              </a:ext>
            </a:extLst>
          </p:cNvPr>
          <p:cNvSpPr txBox="1"/>
          <p:nvPr/>
        </p:nvSpPr>
        <p:spPr>
          <a:xfrm>
            <a:off x="3180957" y="5175743"/>
            <a:ext cx="660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https://www.petroleum.or.kr/industry/story_2_1</a:t>
            </a:r>
          </a:p>
        </p:txBody>
      </p:sp>
    </p:spTree>
    <p:extLst>
      <p:ext uri="{BB962C8B-B14F-4D97-AF65-F5344CB8AC3E}">
        <p14:creationId xmlns:p14="http://schemas.microsoft.com/office/powerpoint/2010/main" val="969679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D6A23D-68B9-511A-8DF2-69E6C2E8B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B26E8D-1566-C5FD-759C-9E3FD1806A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에너지와 환경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2F3CDF-2893-2EAA-EF59-9A3581927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68A011-AF77-28B3-3A48-72BF368F166A}"/>
              </a:ext>
            </a:extLst>
          </p:cNvPr>
          <p:cNvSpPr txBox="1"/>
          <p:nvPr/>
        </p:nvSpPr>
        <p:spPr>
          <a:xfrm>
            <a:off x="288790" y="958844"/>
            <a:ext cx="1169366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화석연료와 같은 에너지 소비는 환경을 오염시키고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그리고 온실가스를 배출하여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기후변화를 일으킨다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이산화탄소</a:t>
            </a:r>
            <a:r>
              <a:rPr lang="en-US" altLang="ko-KR" sz="1600" spc="-50" dirty="0"/>
              <a:t>(CO</a:t>
            </a:r>
            <a:r>
              <a:rPr lang="en-US" altLang="ko-KR" sz="1600" spc="-50" baseline="-25000" dirty="0"/>
              <a:t>2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로 대표되는 </a:t>
            </a:r>
            <a:r>
              <a:rPr lang="ko-KR" altLang="en-US" sz="1600" b="1" spc="-50" dirty="0"/>
              <a:t>온실가스</a:t>
            </a:r>
            <a:r>
              <a:rPr lang="ko-KR" altLang="en-US" sz="1600" spc="-50" dirty="0"/>
              <a:t>는 지구온난화에 기여한다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이산화탄소를 포함하여 온실가스 종류는 총 </a:t>
            </a:r>
            <a:r>
              <a:rPr lang="en-US" altLang="ko-KR" sz="1600" spc="-50" dirty="0"/>
              <a:t>7</a:t>
            </a:r>
            <a:r>
              <a:rPr lang="ko-KR" altLang="en-US" sz="1600" spc="-50" dirty="0"/>
              <a:t>가지가 있다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온실가스는 지구에 </a:t>
            </a:r>
            <a:r>
              <a:rPr lang="ko-KR" altLang="en-US" sz="1600" b="1" spc="-50" dirty="0"/>
              <a:t>기후변화</a:t>
            </a:r>
            <a:r>
              <a:rPr lang="ko-KR" altLang="en-US" sz="1600" spc="-50" dirty="0"/>
              <a:t>를 일으켜 우리가 사는 환경을 바꾸어 놓음으로써 인류를 위협한다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미세먼지로 대표되는 대기오염물질은 대기의 질 악화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건강 악화를 초래한다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온실가스와 달리 수십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수백 여가지의 대기오염물질이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대기오염물질은 인간이 호흡하는 순간 몸에 바로 영향을 준다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11335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864A4-93B3-C2FB-5C29-8B9FB1D6D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F388CA-1C1D-A9B4-A301-0D9E64032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기상과 기후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ADB75B-F0C7-28A0-132F-248A2FD1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CF5C66-068D-D769-8B64-0EF9EE729529}"/>
              </a:ext>
            </a:extLst>
          </p:cNvPr>
          <p:cNvSpPr txBox="1"/>
          <p:nvPr/>
        </p:nvSpPr>
        <p:spPr>
          <a:xfrm>
            <a:off x="288790" y="958844"/>
            <a:ext cx="11693660" cy="281468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기상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혹은 날씨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, weather):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그날 그날에 따른 지구의 기분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대기 중에서 일어나는 여러 가지 물리 현상을 말하며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날씨는 시간별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월별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계절별마다 다르다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아침과 저녁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오늘과 내일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이번달과 다음달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여름과 가을의 날씨는 다르다</a:t>
            </a: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endParaRPr lang="en-US" altLang="ko-KR" sz="1600" u="sng" spc="-50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기후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(climate):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오랫동안 형성되어온 지구의 성격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>
              <a:lnSpc>
                <a:spcPct val="150000"/>
              </a:lnSpc>
            </a:pP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장기간에 걸친 기상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날씨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의 평균이나 변동의 특성을 말한다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한 지역에서 </a:t>
            </a:r>
            <a:r>
              <a:rPr lang="en-US" altLang="ko-KR" sz="1600" spc="-50" dirty="0"/>
              <a:t>30</a:t>
            </a:r>
            <a:r>
              <a:rPr lang="ko-KR" altLang="en-US" sz="1600" spc="-50" dirty="0"/>
              <a:t>년 이상 기온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강수량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풍향 등에 관한 정보가 기후의 바탕이 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33885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FFBCA-3BFD-6AF3-9948-B214E78BC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2EB14-DC30-F053-DDC3-832480CE01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온실가스와 지구온난화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0DF142-A7EC-7241-3ABE-C998D5F78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E87DE5-EAEF-7A55-E62E-D3595B566D14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온실가스는 지구에서 방출하는 열을 흡수하여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지구를 뜨겁게 하여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기후변화를 일으키고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그 원리는 아래와 같다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태양은 지구로 엄청난 빛을 쏘고 있다</a:t>
            </a:r>
            <a:r>
              <a:rPr lang="en-US" altLang="ko-KR" sz="1600" spc="-50" dirty="0"/>
              <a:t>.  (</a:t>
            </a:r>
            <a:r>
              <a:rPr lang="ko-KR" altLang="en-US" sz="1600" spc="-50" dirty="0"/>
              <a:t>태양 →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지구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 빛을 분류해보자면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자외선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가시광선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적외선</a:t>
            </a:r>
            <a:r>
              <a:rPr lang="en-US" altLang="ko-KR" sz="1600" spc="-50" dirty="0"/>
              <a:t>, 3</a:t>
            </a:r>
            <a:r>
              <a:rPr lang="ko-KR" altLang="en-US" sz="1600" spc="-50" dirty="0"/>
              <a:t>종류이다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지구는 그 빛의 일부를 반사 시키거나 흡수시킨다</a:t>
            </a:r>
            <a:r>
              <a:rPr lang="en-US" altLang="ko-KR" sz="1600" spc="-5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지구 대기에 떠다니는 오존</a:t>
            </a:r>
            <a:r>
              <a:rPr lang="en-US" altLang="ko-KR" sz="1600" spc="-50" dirty="0"/>
              <a:t>(O</a:t>
            </a:r>
            <a:r>
              <a:rPr lang="en-US" altLang="ko-KR" sz="1600" spc="-50" baseline="-25000" dirty="0"/>
              <a:t>3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은 자외선을 흡수해주며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우리를 보호해주는 역할을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수증기는 적외선을 흡수하고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먼지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미세입자는 빛을 흡수시키거나 산란 시킨다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극지방에 있는 빙하도 태양에서 온 빛을 반사 시킨다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대기에서 흡수되거나 반사되지 않은 빛들은 지구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대기와 지표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에 들어와서 흡수가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식물들의 광합성에 필요한 에너지원이 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지구는 태양으로부터 받은 빛들을 다시 적외선의 형태로 다시 방출한다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지구 →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우주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방출하는 과정에서 대기에 있는 온실가스들은 나가려고 하는 적외선들을 매우 잘 흡수하는 성질이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 과정에서 태양으로부터 받는 에너지보다 지구가 내보내는 에너지가 작으면 지구 온도는 계속 상승한다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우리는 지구가 적외선을 우주로 다시 잘 방출 할 수 있도록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대기에 있는 온실가스를 줄여야 하는 것이다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1313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BBF6A-CD5E-4BE0-DD3E-7D9C47773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8713C6-BEA8-DB73-C916-6245E180B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온실가스와 지구온난화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583296-B89F-F805-5721-39619C8B1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807993-7672-9BB2-5B0F-89B45010BE6A}"/>
              </a:ext>
            </a:extLst>
          </p:cNvPr>
          <p:cNvSpPr txBox="1"/>
          <p:nvPr/>
        </p:nvSpPr>
        <p:spPr>
          <a:xfrm>
            <a:off x="288790" y="958844"/>
            <a:ext cx="11693660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아래의 그림은 앞서 설명한 기후변화가 발생하는 메커니즘을 보여주고 있다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5AD2650-A0C9-5F84-EF21-0F857D06F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608" y="1347956"/>
            <a:ext cx="7548872" cy="52639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BAB52A5-CFCF-1816-C65D-94B16A58C14E}"/>
              </a:ext>
            </a:extLst>
          </p:cNvPr>
          <p:cNvSpPr txBox="1"/>
          <p:nvPr/>
        </p:nvSpPr>
        <p:spPr>
          <a:xfrm>
            <a:off x="9503410" y="5982909"/>
            <a:ext cx="253111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출처</a:t>
            </a:r>
            <a:r>
              <a:rPr lang="en-US" altLang="ko-KR" sz="1000" dirty="0"/>
              <a:t>: </a:t>
            </a:r>
            <a:r>
              <a:rPr lang="ko-KR" altLang="en-US" sz="1000" dirty="0"/>
              <a:t>https://www.gihoo.or.kr/menu.es?mid=a30106000000</a:t>
            </a:r>
          </a:p>
        </p:txBody>
      </p:sp>
    </p:spTree>
    <p:extLst>
      <p:ext uri="{BB962C8B-B14F-4D97-AF65-F5344CB8AC3E}">
        <p14:creationId xmlns:p14="http://schemas.microsoft.com/office/powerpoint/2010/main" val="324126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FFDB9-2B6A-A538-CB78-32B4A47504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D0441-B11F-2F64-44D1-40EA3E7FC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지구온난화와 기후변화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8BDC0F-85DD-F39F-CBE9-25EB7987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10323-F953-E782-9C9A-1F7AED022D33}"/>
              </a:ext>
            </a:extLst>
          </p:cNvPr>
          <p:cNvSpPr txBox="1"/>
          <p:nvPr/>
        </p:nvSpPr>
        <p:spPr>
          <a:xfrm>
            <a:off x="288790" y="958844"/>
            <a:ext cx="1169366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온실가스는 </a:t>
            </a:r>
            <a:r>
              <a:rPr lang="ko-KR" altLang="en-US" sz="1600" b="1" spc="-50" dirty="0"/>
              <a:t>자연적</a:t>
            </a:r>
            <a:r>
              <a:rPr lang="ko-KR" altLang="en-US" sz="1600" spc="-50" dirty="0"/>
              <a:t>으로 발생하기도 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인류에 의해 </a:t>
            </a:r>
            <a:r>
              <a:rPr lang="ko-KR" altLang="en-US" sz="1600" b="1" spc="-50" dirty="0"/>
              <a:t>인위적</a:t>
            </a:r>
            <a:r>
              <a:rPr lang="ko-KR" altLang="en-US" sz="1600" spc="-50" dirty="0"/>
              <a:t>으로 발생하기도 한다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자연적 원인으로는 화산 활동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습지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해양 등이 있다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화산 폭발이 일어나면 엄청난 양의 이산화탄소가 배출이 된다</a:t>
            </a:r>
            <a:r>
              <a:rPr lang="en-US" altLang="ko-KR" sz="1600" spc="-50" dirty="0"/>
              <a:t>.</a:t>
            </a:r>
          </a:p>
          <a:p>
            <a:pPr marL="1749425" lvl="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공룡 멸종을 설명하는 이론 중에도 화산폭발설이 있다</a:t>
            </a:r>
            <a:r>
              <a:rPr lang="en-US" altLang="ko-KR" sz="1600" spc="-50" dirty="0"/>
              <a:t>. 6,600</a:t>
            </a:r>
            <a:r>
              <a:rPr lang="ko-KR" altLang="en-US" sz="1600" spc="-50" dirty="0"/>
              <a:t>만년 전 인도의 </a:t>
            </a:r>
            <a:r>
              <a:rPr lang="ko-KR" altLang="en-US" sz="1600" spc="-50" dirty="0" err="1"/>
              <a:t>데칸</a:t>
            </a:r>
            <a:r>
              <a:rPr lang="ko-KR" altLang="en-US" sz="1600" spc="-50" dirty="0"/>
              <a:t> 트랩이라는 곳에서 화산폭발이 일어났고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그로 인해 이산화탄소와 이산화황이 대량 배출되어 기후변화를 일으켜 공룡이 멸종했다는 설이다</a:t>
            </a:r>
            <a:r>
              <a:rPr lang="en-US" altLang="ko-KR" sz="1600" spc="-50" dirty="0"/>
              <a:t>.</a:t>
            </a:r>
          </a:p>
          <a:p>
            <a:pPr marL="1749425" lvl="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인위적 원인으로는 인류의 화석연료 사용이다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석탄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 등 화석연료를 연소시키면 탄소가 배출된다</a:t>
            </a:r>
            <a:r>
              <a:rPr lang="en-US" altLang="ko-KR" sz="1600" spc="-50" dirty="0"/>
              <a:t>.</a:t>
            </a:r>
          </a:p>
          <a:p>
            <a:pPr marL="1806575" lvl="3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핸드폰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조명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자동차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공장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발전소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가스레인지 등등 우리는 하루도 화석연료를 쓰지 않고 살아갈 수 없다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6480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220CF-8CE1-F6E6-3D2F-9A6AC010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BAF9FF-44C7-3FC2-57DC-95E36BE97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지구온난화와 기후변화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1DEA0F-4A8D-2688-2585-126831665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3EAE15-C645-AD84-AB50-7D741D314A04}"/>
              </a:ext>
            </a:extLst>
          </p:cNvPr>
          <p:cNvSpPr txBox="1"/>
          <p:nvPr/>
        </p:nvSpPr>
        <p:spPr>
          <a:xfrm>
            <a:off x="288790" y="958844"/>
            <a:ext cx="59532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그렇다면 지구온난화의 이유는 자연적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원인 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vs. </a:t>
            </a: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인위적 원인</a:t>
            </a:r>
            <a:r>
              <a:rPr lang="en-US" altLang="ko-KR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인류가 사용하는 화석연료 때문이다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인위적 원인</a:t>
            </a:r>
            <a:r>
              <a:rPr lang="en-US" altLang="ko-KR" sz="1600" spc="-5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그림은 </a:t>
            </a:r>
            <a:r>
              <a:rPr lang="en-US" altLang="ko-KR" sz="1600" spc="-50" dirty="0"/>
              <a:t>1850</a:t>
            </a:r>
            <a:r>
              <a:rPr lang="ko-KR" altLang="en-US" sz="1600" spc="-50" dirty="0"/>
              <a:t>년 대비 지구의 온도가 얼마나 상승하고 있는지 보여주고 있다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observed: </a:t>
            </a:r>
            <a:r>
              <a:rPr lang="ko-KR" altLang="en-US" sz="1600" dirty="0"/>
              <a:t>실제로 관측한 지구 표면 온도</a:t>
            </a: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solidFill>
                  <a:srgbClr val="A67539"/>
                </a:solidFill>
              </a:rPr>
              <a:t>simulated human&amp; natural: </a:t>
            </a:r>
            <a:r>
              <a:rPr lang="ko-KR" altLang="en-US" sz="1600" dirty="0">
                <a:solidFill>
                  <a:srgbClr val="A67539"/>
                </a:solidFill>
              </a:rPr>
              <a:t>컴퓨터 시뮬레이션 결과 </a:t>
            </a:r>
            <a:r>
              <a:rPr lang="en-US" altLang="ko-KR" sz="1600" dirty="0">
                <a:solidFill>
                  <a:srgbClr val="A67539"/>
                </a:solidFill>
              </a:rPr>
              <a:t>(</a:t>
            </a:r>
            <a:r>
              <a:rPr lang="ko-KR" altLang="en-US" sz="1600" dirty="0">
                <a:solidFill>
                  <a:srgbClr val="A67539"/>
                </a:solidFill>
              </a:rPr>
              <a:t>자연적 원인과 인위적 원인 모두 포함</a:t>
            </a:r>
            <a:r>
              <a:rPr lang="en-US" altLang="ko-KR" sz="1600" dirty="0">
                <a:solidFill>
                  <a:srgbClr val="A67539"/>
                </a:solidFill>
              </a:rPr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>
                <a:solidFill>
                  <a:srgbClr val="A67539"/>
                </a:solidFill>
              </a:rPr>
              <a:t>시뮬레이션이 상당히 정확함을 보여준다 </a:t>
            </a:r>
            <a:r>
              <a:rPr lang="en-US" altLang="ko-KR" sz="1600" dirty="0">
                <a:solidFill>
                  <a:srgbClr val="A67539"/>
                </a:solidFill>
              </a:rPr>
              <a:t>(</a:t>
            </a:r>
            <a:r>
              <a:rPr lang="en-US" altLang="ko-KR" sz="1600" dirty="0"/>
              <a:t>observed</a:t>
            </a:r>
            <a:r>
              <a:rPr lang="ko-KR" altLang="en-US" sz="1600" dirty="0">
                <a:solidFill>
                  <a:srgbClr val="A67539"/>
                </a:solidFill>
              </a:rPr>
              <a:t>와 추이가 비슷한 것을 알 수 있다</a:t>
            </a:r>
            <a:r>
              <a:rPr lang="en-US" altLang="ko-KR" sz="1600" dirty="0">
                <a:solidFill>
                  <a:srgbClr val="A67539"/>
                </a:solidFill>
              </a:rPr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solidFill>
                  <a:srgbClr val="3B8380"/>
                </a:solidFill>
              </a:rPr>
              <a:t>Simulated natural only: </a:t>
            </a:r>
            <a:r>
              <a:rPr lang="ko-KR" altLang="en-US" sz="1600" dirty="0">
                <a:solidFill>
                  <a:srgbClr val="3B8380"/>
                </a:solidFill>
              </a:rPr>
              <a:t>컴퓨터 시뮬레이션 결과 </a:t>
            </a:r>
            <a:r>
              <a:rPr lang="en-US" altLang="ko-KR" sz="1600" dirty="0">
                <a:solidFill>
                  <a:srgbClr val="3B8380"/>
                </a:solidFill>
              </a:rPr>
              <a:t>(</a:t>
            </a:r>
            <a:r>
              <a:rPr lang="ko-KR" altLang="en-US" sz="1600" dirty="0">
                <a:solidFill>
                  <a:srgbClr val="3B8380"/>
                </a:solidFill>
              </a:rPr>
              <a:t>자연적 원인만 발생했을 때</a:t>
            </a:r>
            <a:r>
              <a:rPr lang="en-US" altLang="ko-KR" sz="1600" dirty="0">
                <a:solidFill>
                  <a:srgbClr val="3B8380"/>
                </a:solidFill>
              </a:rPr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>
                <a:solidFill>
                  <a:srgbClr val="3B8380"/>
                </a:solidFill>
              </a:rPr>
              <a:t>인류는 화석연료를 </a:t>
            </a:r>
            <a:r>
              <a:rPr lang="ko-KR" altLang="en-US" sz="1600" dirty="0" err="1">
                <a:solidFill>
                  <a:srgbClr val="3B8380"/>
                </a:solidFill>
              </a:rPr>
              <a:t>안쓰고</a:t>
            </a:r>
            <a:r>
              <a:rPr lang="en-US" altLang="ko-KR" sz="1600" dirty="0">
                <a:solidFill>
                  <a:srgbClr val="3B8380"/>
                </a:solidFill>
              </a:rPr>
              <a:t>, </a:t>
            </a:r>
            <a:r>
              <a:rPr lang="ko-KR" altLang="en-US" sz="1600" dirty="0">
                <a:solidFill>
                  <a:srgbClr val="3B8380"/>
                </a:solidFill>
              </a:rPr>
              <a:t>자연적 원인에 의해서만 온실가스가 나왔었다면 지구의 지표면 온도는 </a:t>
            </a:r>
            <a:r>
              <a:rPr lang="en-US" altLang="ko-KR" sz="1600" dirty="0">
                <a:solidFill>
                  <a:srgbClr val="3B8380"/>
                </a:solidFill>
              </a:rPr>
              <a:t>1850</a:t>
            </a:r>
            <a:r>
              <a:rPr lang="ko-KR" altLang="en-US" sz="1600" dirty="0">
                <a:solidFill>
                  <a:srgbClr val="3B8380"/>
                </a:solidFill>
              </a:rPr>
              <a:t>년 수준과 동일할 수 있음을 알려주고 있다</a:t>
            </a:r>
            <a:r>
              <a:rPr lang="en-US" altLang="ko-KR" sz="1600" dirty="0">
                <a:solidFill>
                  <a:srgbClr val="3B8380"/>
                </a:solidFill>
              </a:rPr>
              <a:t>.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56B5E58-D8D2-D0B9-8061-D9C9B36C59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123"/>
          <a:stretch>
            <a:fillRect/>
          </a:stretch>
        </p:blipFill>
        <p:spPr>
          <a:xfrm>
            <a:off x="6379906" y="1612899"/>
            <a:ext cx="5812094" cy="44539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AAFCFE8-E97A-69EB-94AF-776C4E8119E5}"/>
              </a:ext>
            </a:extLst>
          </p:cNvPr>
          <p:cNvSpPr txBox="1"/>
          <p:nvPr/>
        </p:nvSpPr>
        <p:spPr>
          <a:xfrm>
            <a:off x="8162223" y="6334901"/>
            <a:ext cx="25311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dirty="0"/>
              <a:t>출처</a:t>
            </a:r>
            <a:r>
              <a:rPr lang="en-US" altLang="ko-KR" sz="1000" dirty="0"/>
              <a:t>: IPCC 6</a:t>
            </a:r>
            <a:r>
              <a:rPr lang="ko-KR" altLang="en-US" sz="1000" dirty="0"/>
              <a:t>차보고서</a:t>
            </a:r>
            <a:r>
              <a:rPr lang="en-US" altLang="ko-KR" sz="1000" dirty="0"/>
              <a:t>, WGI_SPM</a:t>
            </a:r>
            <a:endParaRPr lang="ko-KR" altLang="en-US" sz="1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CAC9FE-6982-0296-007C-C17F859EAE05}"/>
              </a:ext>
            </a:extLst>
          </p:cNvPr>
          <p:cNvSpPr txBox="1"/>
          <p:nvPr/>
        </p:nvSpPr>
        <p:spPr>
          <a:xfrm>
            <a:off x="6722043" y="1421367"/>
            <a:ext cx="46838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400" spc="-50" dirty="0"/>
              <a:t>&lt;</a:t>
            </a:r>
            <a:r>
              <a:rPr lang="ko-KR" altLang="en-US" sz="1400" spc="-50" dirty="0"/>
              <a:t>전 지구 평균 지표면 온도 변화</a:t>
            </a:r>
            <a:r>
              <a:rPr lang="en-US" altLang="ko-KR" sz="1400" spc="-50" dirty="0"/>
              <a:t>: </a:t>
            </a:r>
          </a:p>
          <a:p>
            <a:pPr algn="ctr"/>
            <a:r>
              <a:rPr lang="ko-KR" altLang="en-US" sz="1400" spc="-50" dirty="0"/>
              <a:t>자연 요인과 인위적 요인의 영향 비교</a:t>
            </a:r>
            <a:r>
              <a:rPr lang="en-US" altLang="ko-KR" sz="1400" spc="-50" dirty="0"/>
              <a:t>&gt;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704350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5AD9C-C8F5-BADE-8A71-3436828C5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F66E28-80F3-EA9A-4C15-9CF71C4A3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지구온난화 기후변화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40AAC5-7671-893F-68ED-BE38965FA8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DB1A6A-BA3C-883D-3734-8AF49AB7212B}"/>
              </a:ext>
            </a:extLst>
          </p:cNvPr>
          <p:cNvSpPr txBox="1"/>
          <p:nvPr/>
        </p:nvSpPr>
        <p:spPr>
          <a:xfrm>
            <a:off x="288790" y="958844"/>
            <a:ext cx="11693660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지구의 지표면 온도가 올라가면 단순히 지금보다 더워지는 것이 아니라 기후변화를 야기한다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32052207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C1475-6665-9BF4-F2B3-968286AB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056C2A-4629-CE1A-02FB-B79CF734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 공급과 수요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576C93-DF0F-41D9-E7A0-25012135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DE8F73-632D-4609-86E1-8EED4AD47F7C}"/>
              </a:ext>
            </a:extLst>
          </p:cNvPr>
          <p:cNvSpPr txBox="1"/>
          <p:nvPr/>
        </p:nvSpPr>
        <p:spPr>
          <a:xfrm>
            <a:off x="288790" y="958844"/>
            <a:ext cx="11693660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우리나라는 에너지를 </a:t>
            </a:r>
            <a:endParaRPr lang="en-US" altLang="ko-KR" sz="1600" spc="-50" dirty="0"/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A13958F5-C5A6-626B-88D0-AB4CBFBC6162}"/>
              </a:ext>
            </a:extLst>
          </p:cNvPr>
          <p:cNvGrpSpPr/>
          <p:nvPr/>
        </p:nvGrpSpPr>
        <p:grpSpPr>
          <a:xfrm>
            <a:off x="1694979" y="2388200"/>
            <a:ext cx="8322781" cy="4286919"/>
            <a:chOff x="1694979" y="2388201"/>
            <a:chExt cx="6217475" cy="3249398"/>
          </a:xfrm>
        </p:grpSpPr>
        <p:pic>
          <p:nvPicPr>
            <p:cNvPr id="6" name="Picture 14">
              <a:extLst>
                <a:ext uri="{FF2B5EF4-FFF2-40B4-BE49-F238E27FC236}">
                  <a16:creationId xmlns:a16="http://schemas.microsoft.com/office/drawing/2014/main" id="{6D610A9E-83C4-1AC0-2DF1-2A565FDEA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28492"/>
            <a:stretch>
              <a:fillRect/>
            </a:stretch>
          </p:blipFill>
          <p:spPr>
            <a:xfrm>
              <a:off x="1694979" y="2388201"/>
              <a:ext cx="6217475" cy="3069672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F919D58-2EAF-3EF8-9A82-7F99DB628DAA}"/>
                </a:ext>
              </a:extLst>
            </p:cNvPr>
            <p:cNvSpPr/>
            <p:nvPr/>
          </p:nvSpPr>
          <p:spPr>
            <a:xfrm>
              <a:off x="4454876" y="3870318"/>
              <a:ext cx="119550" cy="88105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5C4B325-E509-E8FF-A0CB-8937229A6729}"/>
                </a:ext>
              </a:extLst>
            </p:cNvPr>
            <p:cNvSpPr/>
            <p:nvPr/>
          </p:nvSpPr>
          <p:spPr>
            <a:xfrm>
              <a:off x="1753076" y="4555161"/>
              <a:ext cx="972706" cy="833601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4F5B0734-B37A-B3A1-C1B3-626A613F84A6}"/>
                </a:ext>
              </a:extLst>
            </p:cNvPr>
            <p:cNvSpPr/>
            <p:nvPr/>
          </p:nvSpPr>
          <p:spPr>
            <a:xfrm>
              <a:off x="3858936" y="2403960"/>
              <a:ext cx="1875114" cy="2073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04D52DDC-C565-09BF-AFCA-366C05FE85C4}"/>
                </a:ext>
              </a:extLst>
            </p:cNvPr>
            <p:cNvSpPr/>
            <p:nvPr/>
          </p:nvSpPr>
          <p:spPr>
            <a:xfrm>
              <a:off x="3802370" y="5228535"/>
              <a:ext cx="922789" cy="207362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C70DFA6-89D8-9E66-3178-A2D57AD93B02}"/>
                </a:ext>
              </a:extLst>
            </p:cNvPr>
            <p:cNvSpPr/>
            <p:nvPr/>
          </p:nvSpPr>
          <p:spPr>
            <a:xfrm>
              <a:off x="4751697" y="5228535"/>
              <a:ext cx="922789" cy="207362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21E9DB5-5F5F-F53B-0B2E-E40BDD42F9E1}"/>
                </a:ext>
              </a:extLst>
            </p:cNvPr>
            <p:cNvSpPr/>
            <p:nvPr/>
          </p:nvSpPr>
          <p:spPr>
            <a:xfrm>
              <a:off x="1694979" y="5430237"/>
              <a:ext cx="6217475" cy="20736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1340D97B-58B1-8342-FAA4-34422AF55594}"/>
                </a:ext>
              </a:extLst>
            </p:cNvPr>
            <p:cNvCxnSpPr>
              <a:cxnSpLocks/>
            </p:cNvCxnSpPr>
            <p:nvPr/>
          </p:nvCxnSpPr>
          <p:spPr>
            <a:xfrm>
              <a:off x="4740735" y="5201180"/>
              <a:ext cx="0" cy="203003"/>
            </a:xfrm>
            <a:prstGeom prst="line">
              <a:avLst/>
            </a:prstGeom>
            <a:ln w="2222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2F020430-1CDF-33FC-E4C9-91316497C029}"/>
                </a:ext>
              </a:extLst>
            </p:cNvPr>
            <p:cNvSpPr/>
            <p:nvPr/>
          </p:nvSpPr>
          <p:spPr>
            <a:xfrm>
              <a:off x="1707678" y="4310557"/>
              <a:ext cx="922789" cy="207362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8095552-802E-FFB7-F95B-3257CAF81D0E}"/>
                </a:ext>
              </a:extLst>
            </p:cNvPr>
            <p:cNvSpPr/>
            <p:nvPr/>
          </p:nvSpPr>
          <p:spPr>
            <a:xfrm>
              <a:off x="7680382" y="3428999"/>
              <a:ext cx="90431" cy="1641475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A10CF066-5FE0-9DB4-42E3-8EA2A239F470}"/>
                </a:ext>
              </a:extLst>
            </p:cNvPr>
            <p:cNvSpPr/>
            <p:nvPr/>
          </p:nvSpPr>
          <p:spPr>
            <a:xfrm>
              <a:off x="7770813" y="3389299"/>
              <a:ext cx="141641" cy="206857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3B48E828-74E2-14FA-86C0-92A3637CEC76}"/>
                </a:ext>
              </a:extLst>
            </p:cNvPr>
            <p:cNvSpPr/>
            <p:nvPr/>
          </p:nvSpPr>
          <p:spPr>
            <a:xfrm>
              <a:off x="2879582" y="3138487"/>
              <a:ext cx="325582" cy="125413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499AF1C-5A73-2045-565A-C2BF325E158B}"/>
                </a:ext>
              </a:extLst>
            </p:cNvPr>
            <p:cNvSpPr/>
            <p:nvPr/>
          </p:nvSpPr>
          <p:spPr>
            <a:xfrm>
              <a:off x="3678094" y="3733397"/>
              <a:ext cx="77931" cy="90892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E44AC064-7A4B-148E-04A0-EE018D45DC7B}"/>
                </a:ext>
              </a:extLst>
            </p:cNvPr>
            <p:cNvCxnSpPr>
              <a:cxnSpLocks/>
            </p:cNvCxnSpPr>
            <p:nvPr/>
          </p:nvCxnSpPr>
          <p:spPr>
            <a:xfrm>
              <a:off x="4021069" y="2611321"/>
              <a:ext cx="0" cy="309679"/>
            </a:xfrm>
            <a:prstGeom prst="line">
              <a:avLst/>
            </a:prstGeom>
            <a:ln>
              <a:solidFill>
                <a:srgbClr val="D776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710E7F71-50D0-6541-EE8F-80024900148A}"/>
                </a:ext>
              </a:extLst>
            </p:cNvPr>
            <p:cNvCxnSpPr>
              <a:cxnSpLocks/>
            </p:cNvCxnSpPr>
            <p:nvPr/>
          </p:nvCxnSpPr>
          <p:spPr>
            <a:xfrm>
              <a:off x="4021069" y="2921530"/>
              <a:ext cx="0" cy="3600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38C8F631-7686-DE10-6CDC-CE58E1416BF3}"/>
                </a:ext>
              </a:extLst>
            </p:cNvPr>
            <p:cNvSpPr/>
            <p:nvPr/>
          </p:nvSpPr>
          <p:spPr>
            <a:xfrm>
              <a:off x="3928373" y="2943712"/>
              <a:ext cx="276916" cy="45719"/>
            </a:xfrm>
            <a:prstGeom prst="rect">
              <a:avLst/>
            </a:prstGeom>
            <a:solidFill>
              <a:srgbClr val="E7E8E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17790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11382-91C3-A2DB-CA95-392E1CD5B4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17A66A-1352-1DB9-9354-7D5F3A020D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A669E84-78E9-515C-4CFD-7B1837029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3CCD5F5-4F66-8DC3-C0ED-8161348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0. </a:t>
            </a:r>
            <a:r>
              <a:rPr lang="ko-KR" altLang="en-US" sz="4000" b="1" i="0" spc="150" dirty="0"/>
              <a:t>해운대 놀러가기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70831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64ACB-B8A0-8B8E-50AE-F6949A866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730496-A872-5CFB-3130-C4429F828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한밭대에서 해운대 바다 놀러가기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72302-C21E-82F3-1317-6A67EB85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AEC86F-2434-0377-0126-D48FC4912B4A}"/>
              </a:ext>
            </a:extLst>
          </p:cNvPr>
          <p:cNvSpPr txBox="1"/>
          <p:nvPr/>
        </p:nvSpPr>
        <p:spPr>
          <a:xfrm>
            <a:off x="288790" y="958844"/>
            <a:ext cx="116936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경제학과 다니는 전승호와 유진영은 여름방학을 맞이하여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해운대 바다에 같이 놀러가기로 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이 둘은 일단 대전역에서 만나기로 했는데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교통수단을 선택해야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 바다까지 갈 수 있는 교통수단은 다음과 같이 </a:t>
            </a:r>
            <a:r>
              <a:rPr lang="en-US" altLang="ko-KR" sz="1600" spc="-50" dirty="0"/>
              <a:t>4</a:t>
            </a:r>
            <a:r>
              <a:rPr lang="ko-KR" altLang="en-US" sz="1600" spc="-50" dirty="0"/>
              <a:t>가지 이다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승용차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한밭대</a:t>
            </a:r>
            <a:r>
              <a:rPr lang="ko-KR" altLang="en-US" sz="1600" spc="-50" dirty="0"/>
              <a:t> → 해운대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한밭대에서 승용차를 타고 해운대까지 직접 운전해서 간다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892175" lvl="1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spc="-50" dirty="0"/>
              <a:t>기차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대전역 → 부산역 → 해운대</a:t>
            </a:r>
            <a:r>
              <a:rPr lang="en-US" altLang="ko-KR" sz="1600" spc="-5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를 타고 부산역에 가서</a:t>
            </a:r>
            <a:r>
              <a:rPr lang="en-US" altLang="ko-KR" sz="1600" spc="-50" dirty="0"/>
              <a:t>, 1003</a:t>
            </a:r>
            <a:r>
              <a:rPr lang="ko-KR" altLang="en-US" sz="1600" spc="-50" dirty="0"/>
              <a:t>번 시외버스를 타고 해운대까지 간다</a:t>
            </a:r>
            <a:r>
              <a:rPr lang="en-US" altLang="ko-KR" sz="1600" spc="-5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두 가지 선택지 중에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한 가지를 선택해야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평가 기준은 아래와 같이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정도로 생각하고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저비용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 저렴한 비용으로 도착하면 좋겠다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친환경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탄소배출을 가능한 적게 배출 하면서 도착하면 좋겠다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시간절약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 시간이 덜 걸렸으면 좋겠다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080716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7CB5F-EDBA-F4B3-586F-86008FDF8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72CE0F4-64A0-CAB4-7EA1-86F7F1627D9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FB0F506-1BC8-6D9F-8EF7-4B85A1A43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DAD9D70-6C9D-0B65-C668-12DA02770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1-1. </a:t>
            </a:r>
            <a:r>
              <a:rPr lang="ko-KR" altLang="en-US" sz="4000" b="1" i="0" spc="150" dirty="0"/>
              <a:t>자가용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비용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134785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F7B4F-F6FD-3197-5BC5-FEFC82BFF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8D6610-6E9F-47ED-DEE9-75808B6A92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승용차를 이용할 때 드는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6EC9CF-B32B-B1FF-F413-6A1EB6E4C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382E7C-D291-40A7-CD98-8FAE18EF3A74}"/>
              </a:ext>
            </a:extLst>
          </p:cNvPr>
          <p:cNvSpPr txBox="1"/>
          <p:nvPr/>
        </p:nvSpPr>
        <p:spPr>
          <a:xfrm>
            <a:off x="288790" y="958844"/>
            <a:ext cx="11250267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첫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승용차가 있어야 한다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차량 보유 비용</a:t>
            </a:r>
            <a:r>
              <a:rPr lang="en-US" altLang="ko-KR" sz="1600" spc="-50" dirty="0"/>
              <a:t>’)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자가용을 보유하고 있던지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렌터카를 빌리던지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택시를 타던지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해운대 갈 때 타고 갈 차가 필요하다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우리는 자가용을 보유하고 있어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자가용을 타고 간다고 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렌터카나 택시를 이용하면 해운대에 가기 위해 추가적으로 비용을 지출해야 하지만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이미 보유하고 있는 자가용을 이용하는 경우 차량 이용에 대한 비용을 추가적으로 지출하지 않아도 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이처럼 이미 비용을 지출해서 회수할 수 없는 비용을 매몰비용이라 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매몰비용은 내 의사결정 과정에 영향을 미치지 않는다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우리는 교통수단을 선택하는 과정에서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차량 보유 비용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은 포함하지 않는 것이 바람직하다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그럼에도 불구하고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해운대까지 내 자가용을 타고 갈 때 지출한 비용을 계산해보고 싶다면 부록을 참고하자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두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연료를 넣어야 한다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연료 비용</a:t>
            </a:r>
            <a:r>
              <a:rPr lang="en-US" altLang="ko-KR" sz="1600" spc="-50" dirty="0"/>
              <a:t>’)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해운대 갈 때 소비하는 연료양을 계산 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연료 종류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휘발유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경유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와 연비</a:t>
            </a:r>
            <a:r>
              <a:rPr lang="en-US" altLang="ko-KR" sz="1600" spc="-50" dirty="0"/>
              <a:t>(km/liter, km/kWh)</a:t>
            </a:r>
            <a:r>
              <a:rPr lang="ko-KR" altLang="en-US" sz="1600" spc="-50" dirty="0"/>
              <a:t>에 따라 달라진다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세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도로 사용료를 내야 한다</a:t>
            </a:r>
            <a:r>
              <a:rPr lang="en-US" altLang="ko-KR" sz="1600" spc="-50" dirty="0"/>
              <a:t>. (‘</a:t>
            </a:r>
            <a:r>
              <a:rPr lang="ko-KR" altLang="en-US" sz="1600" spc="-50" dirty="0"/>
              <a:t>통행료</a:t>
            </a:r>
            <a:r>
              <a:rPr lang="en-US" altLang="ko-KR" sz="1600" spc="-50" dirty="0"/>
              <a:t>’)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국도를 이용하면 통행료는 무료지만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시간이 너무 오래 걸린다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빠르게 도착할 수 있는 고속도로를 이용하자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국도이용시 거리는 </a:t>
            </a:r>
            <a:r>
              <a:rPr lang="en-US" altLang="ko-KR" sz="1600" spc="-50" dirty="0"/>
              <a:t>304km,</a:t>
            </a:r>
            <a:r>
              <a:rPr lang="ko-KR" altLang="en-US" sz="1600" spc="-50" dirty="0"/>
              <a:t> 통행료는</a:t>
            </a:r>
            <a:r>
              <a:rPr lang="en-US" altLang="ko-KR" sz="1600" spc="-50" dirty="0"/>
              <a:t> 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한편 고속도로이용시 거리는 </a:t>
            </a:r>
            <a:r>
              <a:rPr lang="en-US" altLang="ko-KR" sz="1600" spc="-50" dirty="0"/>
              <a:t>284km, </a:t>
            </a:r>
            <a:r>
              <a:rPr lang="ko-KR" altLang="en-US" sz="1600" spc="-50" dirty="0"/>
              <a:t>통행료는 </a:t>
            </a:r>
            <a:r>
              <a:rPr lang="en-US" altLang="ko-KR" sz="1600" spc="-50" dirty="0"/>
              <a:t>15,300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12954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74840-8B48-E7DB-7C16-FB30282D8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454F2F-EA8D-42D9-290D-D2305CE4B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정보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DDE70E-0904-C8AF-33B7-BB1C5F1254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D8B6D1-8974-ECEB-339F-70DB42491F6A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자가용으로 </a:t>
            </a:r>
            <a:r>
              <a:rPr lang="en-US" altLang="ko-KR" sz="1600" spc="-50" dirty="0"/>
              <a:t>‘2026 </a:t>
            </a:r>
            <a:r>
              <a:rPr lang="ko-KR" altLang="en-US" sz="1600" spc="-50" dirty="0"/>
              <a:t>아반떼 가솔린</a:t>
            </a:r>
            <a:r>
              <a:rPr lang="en-US" altLang="ko-KR" sz="1600" spc="-50" dirty="0"/>
              <a:t>’ </a:t>
            </a:r>
            <a:r>
              <a:rPr lang="ko-KR" altLang="en-US" sz="1600" spc="-50" dirty="0"/>
              <a:t>차량을 보유하고 있다고 하자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아래 </a:t>
            </a:r>
            <a:r>
              <a:rPr lang="ko-KR" altLang="en-US" sz="1600" spc="-50" dirty="0" err="1"/>
              <a:t>사진에서와</a:t>
            </a:r>
            <a:r>
              <a:rPr lang="ko-KR" altLang="en-US" sz="1600" spc="-50" dirty="0"/>
              <a:t> 같이 연비는 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리터당 </a:t>
            </a:r>
            <a:r>
              <a:rPr lang="en-US" altLang="ko-KR" sz="1600" spc="-50" dirty="0"/>
              <a:t>15km</a:t>
            </a:r>
            <a:r>
              <a:rPr lang="ko-KR" altLang="en-US" sz="1600" spc="-50" dirty="0"/>
              <a:t>를 주행할 수 있다</a:t>
            </a:r>
            <a:r>
              <a:rPr lang="en-US" altLang="ko-KR" sz="1600" spc="-5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차가 밀리면 시간은 좀 늘어날 수 있지만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일단 평일 아침 </a:t>
            </a:r>
            <a:r>
              <a:rPr lang="en-US" altLang="ko-KR" sz="1600" spc="-50" dirty="0"/>
              <a:t>08:30</a:t>
            </a:r>
            <a:r>
              <a:rPr lang="ko-KR" altLang="en-US" sz="1600" spc="-50" dirty="0"/>
              <a:t>을 기준으로 해보자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D7A5868-EE07-A5FA-E0F2-99B1F2D3DE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71563" y="4007805"/>
            <a:ext cx="3926046" cy="22127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D18A632-D170-9AC0-8076-38BBEB0F1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5261" y="3136495"/>
            <a:ext cx="4778565" cy="318910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D240B9-35BF-217E-55E3-56E078866F30}"/>
              </a:ext>
            </a:extLst>
          </p:cNvPr>
          <p:cNvSpPr txBox="1"/>
          <p:nvPr/>
        </p:nvSpPr>
        <p:spPr>
          <a:xfrm>
            <a:off x="8044543" y="3342904"/>
            <a:ext cx="217589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spc="-50" dirty="0"/>
              <a:t>&lt;3</a:t>
            </a:r>
            <a:r>
              <a:rPr lang="ko-KR" altLang="en-US" sz="1200" spc="-50" dirty="0"/>
              <a:t>월 </a:t>
            </a:r>
            <a:r>
              <a:rPr lang="en-US" altLang="ko-KR" sz="1200" spc="-50" dirty="0"/>
              <a:t>26</a:t>
            </a:r>
            <a:r>
              <a:rPr lang="ko-KR" altLang="en-US" sz="1200" spc="-50" dirty="0"/>
              <a:t>일 목요일 </a:t>
            </a:r>
            <a:r>
              <a:rPr lang="en-US" altLang="ko-KR" sz="1200" spc="-50" dirty="0"/>
              <a:t>08:30 </a:t>
            </a:r>
            <a:r>
              <a:rPr lang="ko-KR" altLang="en-US" sz="1200" spc="-50" dirty="0"/>
              <a:t>기준</a:t>
            </a:r>
            <a:r>
              <a:rPr lang="en-US" altLang="ko-KR" sz="1200" spc="-5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914400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2DC504-1771-02FA-3930-F158F1346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CE67B7-1176-760C-9756-509C04793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연료비용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F97747-3120-A353-071B-B9C16494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B3B1D-AACA-12BE-FB82-226042686C64}"/>
              </a:ext>
            </a:extLst>
          </p:cNvPr>
          <p:cNvSpPr txBox="1"/>
          <p:nvPr/>
        </p:nvSpPr>
        <p:spPr>
          <a:xfrm>
            <a:off x="288790" y="958844"/>
            <a:ext cx="116936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연료비용은 아래의 식과 같이 휘발유가격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차량 연비의 역수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주행거리의 곱을 통해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A5B633-BC92-17DA-BDBB-71AE6499BC63}"/>
                  </a:ext>
                </a:extLst>
              </p:cNvPr>
              <p:cNvSpPr txBox="1"/>
              <p:nvPr/>
            </p:nvSpPr>
            <p:spPr>
              <a:xfrm>
                <a:off x="1560142" y="1561159"/>
                <a:ext cx="7387007" cy="3293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연료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용</m:t>
                      </m:r>
                      <m:d>
                        <m:dPr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휘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유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가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격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sz="1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1400" i="1">
                              <a:latin typeface="Cambria Math" panose="02040503050406030204" pitchFamily="18" charset="0"/>
                            </a:rPr>
                            <m:t>연</m:t>
                          </m:r>
                          <m:r>
                            <a:rPr lang="ko-KR" altLang="en-US" sz="1400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</m:e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sz="1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num>
                        <m:den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주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리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3A5B633-BC92-17DA-BDBB-71AE6499BC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0142" y="1561159"/>
                <a:ext cx="7387007" cy="329386"/>
              </a:xfrm>
              <a:prstGeom prst="rect">
                <a:avLst/>
              </a:prstGeom>
              <a:blipFill>
                <a:blip r:embed="rId2"/>
                <a:stretch>
                  <a:fillRect t="-125926" b="-2074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그림 7">
            <a:extLst>
              <a:ext uri="{FF2B5EF4-FFF2-40B4-BE49-F238E27FC236}">
                <a16:creationId xmlns:a16="http://schemas.microsoft.com/office/drawing/2014/main" id="{2ED603FF-DF9F-6D1B-27F9-AB428CCB41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45582" y="2239682"/>
            <a:ext cx="3770168" cy="406586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8869C7-B8CE-264A-55D4-329382E03B8E}"/>
              </a:ext>
            </a:extLst>
          </p:cNvPr>
          <p:cNvSpPr txBox="1"/>
          <p:nvPr/>
        </p:nvSpPr>
        <p:spPr>
          <a:xfrm>
            <a:off x="288789" y="2077370"/>
            <a:ext cx="7387007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휘발유 가격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근처에서 가장 저렴한 주유소에서 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리터당 </a:t>
            </a:r>
            <a:r>
              <a:rPr lang="en-US" altLang="ko-KR" sz="1600" spc="-50" dirty="0"/>
              <a:t>1,787</a:t>
            </a:r>
            <a:r>
              <a:rPr lang="ko-KR" altLang="en-US" sz="1600" spc="-50" dirty="0"/>
              <a:t>원에 팔고 있으니 거기서 주유하려고 한다</a:t>
            </a:r>
            <a:r>
              <a:rPr lang="en-US" altLang="ko-KR" sz="1600" spc="-50" dirty="0"/>
              <a:t>. (3</a:t>
            </a:r>
            <a:r>
              <a:rPr lang="ko-KR" altLang="en-US" sz="1600" spc="-50" dirty="0"/>
              <a:t>월 </a:t>
            </a:r>
            <a:r>
              <a:rPr lang="en-US" altLang="ko-KR" sz="1600" spc="-50" dirty="0"/>
              <a:t>24</a:t>
            </a:r>
            <a:r>
              <a:rPr lang="ko-KR" altLang="en-US" sz="1600" spc="-50" dirty="0"/>
              <a:t>일 기준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연비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연비는 </a:t>
            </a:r>
            <a:r>
              <a:rPr lang="en-US" altLang="ko-KR" sz="1600" spc="-50" dirty="0"/>
              <a:t>15.0 km/liter</a:t>
            </a:r>
            <a:r>
              <a:rPr lang="ko-KR" altLang="en-US" sz="1600" spc="-50" dirty="0"/>
              <a:t> 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슬라이드 </a:t>
            </a:r>
            <a:r>
              <a:rPr lang="en-US" altLang="ko-KR" sz="1600" spc="-50" dirty="0"/>
              <a:t>7 </a:t>
            </a:r>
            <a:r>
              <a:rPr lang="ko-KR" altLang="en-US" sz="1600" spc="-50" dirty="0"/>
              <a:t>자가용정보 참고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주행거리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해운대까지는 총 </a:t>
            </a:r>
            <a:r>
              <a:rPr lang="en-US" altLang="ko-KR" sz="1600" spc="-50" dirty="0"/>
              <a:t>284km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연료비로 </a:t>
            </a:r>
            <a:r>
              <a:rPr lang="en-US" altLang="ko-KR" sz="1600" spc="-50" dirty="0"/>
              <a:t>33,834</a:t>
            </a:r>
            <a:r>
              <a:rPr lang="ko-KR" altLang="en-US" sz="1600" spc="-50" dirty="0"/>
              <a:t>원이 소요된다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30237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89E902-8B18-AA69-BF5C-36E50A52E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805ABF-96C2-B371-47A2-EC346C87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통행료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A274F3-3B66-A2E6-4D0B-FA65EB9C6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AB98F06-C9FD-CD50-298F-AC5252E28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920" y="1540454"/>
            <a:ext cx="5559290" cy="47523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FF04DCB-9FF3-BAB4-FA1D-976DEF4E4F61}"/>
              </a:ext>
            </a:extLst>
          </p:cNvPr>
          <p:cNvSpPr txBox="1"/>
          <p:nvPr/>
        </p:nvSpPr>
        <p:spPr>
          <a:xfrm>
            <a:off x="288790" y="947070"/>
            <a:ext cx="594423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우리는 경부고속도로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중앙고속도로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부산외곽순환고속도로</a:t>
            </a:r>
            <a:r>
              <a:rPr lang="ko-KR" altLang="en-US" sz="1600" spc="-50" dirty="0"/>
              <a:t> 총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종류의 고속도로를 이용할 예정이며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통행료로 총 </a:t>
            </a:r>
            <a:r>
              <a:rPr lang="en-US" altLang="ko-KR" sz="1600" spc="-50" dirty="0"/>
              <a:t>15,300</a:t>
            </a:r>
            <a:r>
              <a:rPr lang="ko-KR" altLang="en-US" sz="1600" spc="-50" dirty="0"/>
              <a:t>원이 소요된다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82185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507D3-EAFC-B90C-E9E8-67A7B2E3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1CAC47-6F3D-F192-35E9-F70DDAF755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해운대까지 드는 총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050459-53F8-D28A-583F-533EA6041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A4802E-C20A-63D0-CD7C-C97E579C7C16}"/>
              </a:ext>
            </a:extLst>
          </p:cNvPr>
          <p:cNvSpPr txBox="1"/>
          <p:nvPr/>
        </p:nvSpPr>
        <p:spPr>
          <a:xfrm>
            <a:off x="288790" y="958844"/>
            <a:ext cx="1150189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자가용을 타고 가는데 드는 비용을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가지로 나누어 계산해보았고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결과는 다음과 같았다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자가용 이용 비용</a:t>
            </a:r>
            <a:r>
              <a:rPr lang="en-US" altLang="ko-KR" sz="1600" spc="-50" dirty="0"/>
              <a:t>: 51,208 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연료 비용</a:t>
            </a:r>
            <a:r>
              <a:rPr lang="en-US" altLang="ko-KR" sz="1600" spc="-50" dirty="0"/>
              <a:t>: 33,834 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통행료</a:t>
            </a:r>
            <a:r>
              <a:rPr lang="en-US" altLang="ko-KR" sz="1600" spc="-50" dirty="0"/>
              <a:t>: 15,300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가지 항목의 비용을 모두 합치면 총 </a:t>
            </a:r>
            <a:r>
              <a:rPr lang="en-US" altLang="ko-KR" sz="1600" spc="-50" dirty="0"/>
              <a:t>100,342</a:t>
            </a:r>
            <a:r>
              <a:rPr lang="ko-KR" altLang="en-US" sz="1600" spc="-50" dirty="0"/>
              <a:t> 원이 든다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지금까지 총비용을 계산해보았고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자가용을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명이 이용하였으니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비용을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로 나누어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인당으로 계산해보면 아래와 같다</a:t>
            </a:r>
            <a:r>
              <a:rPr lang="en-US" altLang="ko-KR" sz="1600" spc="-50" dirty="0"/>
              <a:t>.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D5CBC0A-FED0-A9AD-44B6-ADA2F8DEDF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1113287"/>
              </p:ext>
            </p:extLst>
          </p:nvPr>
        </p:nvGraphicFramePr>
        <p:xfrm>
          <a:off x="1351533" y="4266100"/>
          <a:ext cx="7695945" cy="74283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39189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65536541"/>
                    </a:ext>
                  </a:extLst>
                </a:gridCol>
                <a:gridCol w="1539189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자가용 이용 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연료 비용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통행료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총 비용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51,208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33,834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15,300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100,342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인당 비용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25,604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16,917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7,650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50,171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0830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6D89C-5E89-47FF-FF37-56AF935B7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BA19D3F-3C09-2D77-30A2-72B2CDAABF9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3C076B2-0E02-B524-72F8-E25DFE0F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1B2E66B-0C69-642F-2A4E-8AE32C508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1-2. </a:t>
            </a:r>
            <a:r>
              <a:rPr lang="ko-KR" altLang="en-US" sz="4000" b="1" i="0" spc="150" dirty="0"/>
              <a:t>자가용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탄소배출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9529558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70BAF-E1B6-E67F-FDC4-4B809009E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F56FB-C5CB-981F-B304-49BC49097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099806-EB55-0461-2C42-DB1F74577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3382F0-FB6F-9A72-36C4-9B33B57980F4}"/>
              </a:ext>
            </a:extLst>
          </p:cNvPr>
          <p:cNvSpPr txBox="1"/>
          <p:nvPr/>
        </p:nvSpPr>
        <p:spPr>
          <a:xfrm>
            <a:off x="288790" y="958844"/>
            <a:ext cx="110459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승용차를 타고 갈 때의 탄소배출량은 휘발유의 소비량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발열량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탄소배출계수를 곱해서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자동차는 어떻게 움직이나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자동차 엑셀을 밟으면 휘발유가 연소되고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연소과정에서 생기는 힘으로 자동차 바퀴를 돌려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자동차가 움직인다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휘발유를 태우는데 왜 힘이 생기나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휘발유는 원래 힘을 가지고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리터가 얼마나 큰 힘을 낼 수 있는지 숫자로 나타낸 것이 발열량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혹은 열량</a:t>
            </a:r>
            <a:r>
              <a:rPr lang="en-US" altLang="ko-KR" sz="1600" spc="-50" dirty="0"/>
              <a:t>).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en-US" altLang="ko-KR" sz="1600" spc="-50" dirty="0"/>
              <a:t>※ </a:t>
            </a:r>
            <a:r>
              <a:rPr lang="ko-KR" altLang="en-US" sz="1600" spc="-50" dirty="0"/>
              <a:t>비유하자면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우리도 밥이나 빵을 먹고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힘으로 살아가고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다이어트를 하게 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빵 하나를 먹어도 칼로리를 체크하게 되는데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칼로리가 발열량이다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7D4B97-B884-337A-06F7-2148D1B8FB77}"/>
                  </a:ext>
                </a:extLst>
              </p:cNvPr>
              <p:cNvSpPr txBox="1"/>
              <p:nvPr/>
            </p:nvSpPr>
            <p:spPr>
              <a:xfrm>
                <a:off x="1953842" y="1645164"/>
                <a:ext cx="7844208" cy="4456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탄소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열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F7D4B97-B884-337A-06F7-2148D1B8FB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42" y="1645164"/>
                <a:ext cx="7844208" cy="445635"/>
              </a:xfrm>
              <a:prstGeom prst="rect">
                <a:avLst/>
              </a:prstGeom>
              <a:blipFill>
                <a:blip r:embed="rId2"/>
                <a:stretch>
                  <a:fillRect t="-126027" r="-3810" b="-19452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그림 5">
            <a:extLst>
              <a:ext uri="{FF2B5EF4-FFF2-40B4-BE49-F238E27FC236}">
                <a16:creationId xmlns:a16="http://schemas.microsoft.com/office/drawing/2014/main" id="{0689345B-F63E-9058-3C4F-19CF5305B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0224" y="5139331"/>
            <a:ext cx="2780532" cy="130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878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6DEC3-02F5-E329-E684-03D0E1DE1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DAE1C8-BE53-EF3E-0B1D-6BAED274B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E3AFB0-E192-0A83-A1A9-F3766AF52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A0A3F-E2BD-255B-12DB-E5AF30503E1E}"/>
              </a:ext>
            </a:extLst>
          </p:cNvPr>
          <p:cNvSpPr txBox="1"/>
          <p:nvPr/>
        </p:nvSpPr>
        <p:spPr>
          <a:xfrm>
            <a:off x="288790" y="958844"/>
            <a:ext cx="803728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발열량의 단위가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, 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앞서 수식에는 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MJ?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단팥빵에는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 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kcal?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spc="-50" dirty="0"/>
              <a:t>MJ</a:t>
            </a:r>
            <a:r>
              <a:rPr lang="ko-KR" altLang="en-US" sz="1600" spc="-50" dirty="0"/>
              <a:t>는</a:t>
            </a:r>
            <a:r>
              <a:rPr lang="ko-KR" altLang="en-US" sz="1600" b="1" spc="-50" dirty="0"/>
              <a:t> </a:t>
            </a:r>
            <a:r>
              <a:rPr lang="en-US" altLang="ko-KR" sz="1600" b="1" spc="-50" dirty="0"/>
              <a:t>M</a:t>
            </a:r>
            <a:r>
              <a:rPr lang="en-US" altLang="ko-KR" sz="1600" spc="-50" dirty="0"/>
              <a:t>ega </a:t>
            </a:r>
            <a:r>
              <a:rPr lang="en-US" altLang="ko-KR" sz="1600" b="1" spc="-50" dirty="0"/>
              <a:t>J</a:t>
            </a:r>
            <a:r>
              <a:rPr lang="en-US" altLang="ko-KR" sz="1600" spc="-50" dirty="0"/>
              <a:t>oule </a:t>
            </a:r>
            <a:r>
              <a:rPr lang="ko-KR" altLang="en-US" sz="1600" spc="-50" dirty="0"/>
              <a:t>의 약자이고</a:t>
            </a:r>
            <a:r>
              <a:rPr lang="en-US" altLang="ko-KR" sz="1600" spc="-50" dirty="0"/>
              <a:t>, </a:t>
            </a:r>
            <a:r>
              <a:rPr lang="en-US" altLang="ko-KR" sz="1600" b="1" spc="-50" dirty="0"/>
              <a:t>kcal</a:t>
            </a:r>
            <a:r>
              <a:rPr lang="ko-KR" altLang="en-US" sz="1600" spc="-50" dirty="0"/>
              <a:t>는 </a:t>
            </a:r>
            <a:r>
              <a:rPr lang="en-US" altLang="ko-KR" sz="1600" b="1" spc="-50" dirty="0"/>
              <a:t>k</a:t>
            </a:r>
            <a:r>
              <a:rPr lang="en-US" altLang="ko-KR" sz="1600" spc="-50" dirty="0"/>
              <a:t>ilo</a:t>
            </a:r>
            <a:r>
              <a:rPr lang="en-US" altLang="ko-KR" sz="1600" b="1" spc="-50" dirty="0"/>
              <a:t>cal</a:t>
            </a:r>
            <a:r>
              <a:rPr lang="en-US" altLang="ko-KR" sz="1600" spc="-50" dirty="0"/>
              <a:t>orie</a:t>
            </a:r>
            <a:r>
              <a:rPr lang="ko-KR" altLang="en-US" sz="1600" spc="-50" dirty="0"/>
              <a:t>의 약자이다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둘 모두 에너지의 크기를 나타내는 단위다</a:t>
            </a:r>
            <a:r>
              <a:rPr lang="en-US" altLang="ko-KR" sz="1600" spc="-5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MJ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kcal</a:t>
            </a:r>
            <a:r>
              <a:rPr lang="ko-KR" altLang="en-US" sz="1600" spc="-50" dirty="0"/>
              <a:t>는 서로 환산이 가능한 단위들이다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1MJ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239kcal</a:t>
            </a:r>
            <a:r>
              <a:rPr lang="ko-KR" altLang="en-US" sz="1600" spc="-50" dirty="0"/>
              <a:t>와 같다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전 슬라이드의 </a:t>
            </a:r>
            <a:r>
              <a:rPr lang="ko-KR" altLang="en-US" sz="1600" spc="-50" dirty="0" err="1"/>
              <a:t>단팥빵</a:t>
            </a:r>
            <a:r>
              <a:rPr lang="ko-KR" altLang="en-US" sz="1600" spc="-50" dirty="0"/>
              <a:t> 칼로리를 </a:t>
            </a:r>
            <a:r>
              <a:rPr lang="en-US" altLang="ko-KR" sz="1600" spc="-50" dirty="0"/>
              <a:t>1.11MJ</a:t>
            </a:r>
            <a:r>
              <a:rPr lang="ko-KR" altLang="en-US" sz="1600" spc="-50" dirty="0"/>
              <a:t>로 표기해도 상관없다는 뜻이다</a:t>
            </a:r>
            <a:r>
              <a:rPr lang="en-US" altLang="ko-KR" sz="1600" spc="-50" dirty="0"/>
              <a:t>.)</a:t>
            </a:r>
          </a:p>
          <a:p>
            <a:pPr marL="92075">
              <a:lnSpc>
                <a:spcPct val="150000"/>
              </a:lnSpc>
            </a:pPr>
            <a:endParaRPr lang="en-US" altLang="ko-KR" sz="1600" spc="-50" dirty="0"/>
          </a:p>
          <a:p>
            <a:pPr marL="92075">
              <a:lnSpc>
                <a:spcPct val="150000"/>
              </a:lnSpc>
            </a:pPr>
            <a:r>
              <a:rPr lang="en-US" altLang="ko-KR" sz="1600" spc="-50" dirty="0"/>
              <a:t>※ </a:t>
            </a:r>
            <a:r>
              <a:rPr lang="ko-KR" altLang="en-US" sz="1600" spc="-50" dirty="0"/>
              <a:t>비유하자면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길이를 </a:t>
            </a:r>
            <a:r>
              <a:rPr lang="en-US" altLang="ko-KR" sz="1600" spc="-50" dirty="0"/>
              <a:t>cm</a:t>
            </a:r>
            <a:r>
              <a:rPr lang="ko-KR" altLang="en-US" sz="1600" spc="-50" dirty="0"/>
              <a:t>로 재기도하고</a:t>
            </a:r>
            <a:r>
              <a:rPr lang="en-US" altLang="ko-KR" sz="1600" spc="-50" dirty="0"/>
              <a:t>, inch</a:t>
            </a:r>
            <a:r>
              <a:rPr lang="ko-KR" altLang="en-US" sz="1600" spc="-50" dirty="0"/>
              <a:t>로 재기도 한다</a:t>
            </a:r>
            <a:r>
              <a:rPr lang="en-US" altLang="ko-KR" sz="1600" spc="-50" dirty="0"/>
              <a:t>. (1cm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0.394 inch</a:t>
            </a:r>
            <a:r>
              <a:rPr lang="ko-KR" altLang="en-US" sz="1600" spc="-50" dirty="0"/>
              <a:t>와 같다</a:t>
            </a:r>
            <a:r>
              <a:rPr lang="en-US" altLang="ko-KR" sz="1600" spc="-50" dirty="0"/>
              <a:t>.) </a:t>
            </a:r>
            <a:r>
              <a:rPr lang="ko-KR" altLang="en-US" sz="1600" spc="-50" dirty="0"/>
              <a:t>또 다른 예로는 섭씨와 화씨</a:t>
            </a:r>
            <a:r>
              <a:rPr lang="en-US" altLang="ko-KR" sz="1600" spc="-50" dirty="0"/>
              <a:t>, km</a:t>
            </a:r>
            <a:r>
              <a:rPr lang="ko-KR" altLang="en-US" sz="1600" spc="-50" dirty="0"/>
              <a:t>와 </a:t>
            </a:r>
            <a:r>
              <a:rPr lang="en-US" altLang="ko-KR" sz="1600" spc="-50" dirty="0"/>
              <a:t>mile </a:t>
            </a:r>
            <a:r>
              <a:rPr lang="ko-KR" altLang="en-US" sz="1600" spc="-50" dirty="0"/>
              <a:t>등이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에너지도 똑같이 </a:t>
            </a:r>
            <a:r>
              <a:rPr lang="en-US" altLang="ko-KR" sz="1600" spc="-50" dirty="0"/>
              <a:t>MJ</a:t>
            </a:r>
            <a:r>
              <a:rPr lang="ko-KR" altLang="en-US" sz="1600" spc="-50" dirty="0"/>
              <a:t>로 재기도하고</a:t>
            </a:r>
            <a:r>
              <a:rPr lang="en-US" altLang="ko-KR" sz="1600" spc="-50" dirty="0"/>
              <a:t>, kcal</a:t>
            </a:r>
            <a:r>
              <a:rPr lang="ko-KR" altLang="en-US" sz="1600" spc="-50" dirty="0"/>
              <a:t>로 재기도 하는 것이다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 차는 휘발유 차량이고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오른쪽 표에 의하면 휘발유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리터를 연소시키면 </a:t>
            </a:r>
            <a:r>
              <a:rPr lang="en-US" altLang="ko-KR" sz="1600" spc="-50" dirty="0"/>
              <a:t>32.4MJ</a:t>
            </a:r>
            <a:r>
              <a:rPr lang="ko-KR" altLang="en-US" sz="1600" spc="-50" dirty="0"/>
              <a:t>의 에너지가 생긴다는 것을 알 수 있다</a:t>
            </a:r>
            <a:r>
              <a:rPr lang="en-US" altLang="ko-KR" sz="1600" spc="-50" dirty="0"/>
              <a:t>.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A022EA9-92F1-34F4-8642-823F511EDBC1}"/>
              </a:ext>
            </a:extLst>
          </p:cNvPr>
          <p:cNvGrpSpPr/>
          <p:nvPr/>
        </p:nvGrpSpPr>
        <p:grpSpPr>
          <a:xfrm>
            <a:off x="8528051" y="883082"/>
            <a:ext cx="3054350" cy="5291100"/>
            <a:chOff x="-1003299" y="1320800"/>
            <a:chExt cx="3054350" cy="5291100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98B20C12-2816-2A73-09B1-7F0525CA26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302" r="50889" b="39485"/>
            <a:stretch>
              <a:fillRect/>
            </a:stretch>
          </p:blipFill>
          <p:spPr>
            <a:xfrm>
              <a:off x="-1003299" y="1320800"/>
              <a:ext cx="3054350" cy="5291100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3E22738E-353D-37B1-3713-83A09B3CB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86173" t="4743" r="-161" b="93609"/>
            <a:stretch>
              <a:fillRect/>
            </a:stretch>
          </p:blipFill>
          <p:spPr>
            <a:xfrm>
              <a:off x="1123950" y="1460500"/>
              <a:ext cx="869949" cy="152400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208190D-4ADD-6414-D56B-DEA1FB104A32}"/>
              </a:ext>
            </a:extLst>
          </p:cNvPr>
          <p:cNvSpPr txBox="1"/>
          <p:nvPr/>
        </p:nvSpPr>
        <p:spPr>
          <a:xfrm>
            <a:off x="8409782" y="6241029"/>
            <a:ext cx="32908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https://tips.energy.or.kr/carbon/Ggas_tatistics03.do</a:t>
            </a:r>
          </a:p>
        </p:txBody>
      </p:sp>
    </p:spTree>
    <p:extLst>
      <p:ext uri="{BB962C8B-B14F-4D97-AF65-F5344CB8AC3E}">
        <p14:creationId xmlns:p14="http://schemas.microsoft.com/office/powerpoint/2010/main" val="1595733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B963A-678D-D82F-8C01-1FF58B09B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175F0B-7030-737A-835F-F1391F91E1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FC1411-20E8-1633-E5A9-27C3880E8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EDE803-9C99-33DA-A5EC-5045E8177FDD}"/>
              </a:ext>
            </a:extLst>
          </p:cNvPr>
          <p:cNvSpPr txBox="1"/>
          <p:nvPr/>
        </p:nvSpPr>
        <p:spPr>
          <a:xfrm>
            <a:off x="288790" y="958844"/>
            <a:ext cx="7178810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배출계수란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화석에너지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석유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석탄 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연소할 때 나오는 탄소의 양이다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화석에너지는 원래 탄소를 함유하고 있다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오른쪽 표를 보면 에너지 종류별로 탄소 함유량이 다른 것을 볼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참고로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우리가 신재생에너지라고 부르는 태양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바람에너지는 배출계수가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빛과 바람은 탄소를 함유하고 있지 않다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오른쪽 표에 보면 휘발유의 배출계수는 </a:t>
            </a:r>
            <a:r>
              <a:rPr lang="en-US" altLang="ko-KR" sz="1600" spc="-50" dirty="0"/>
              <a:t>0.000019731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/MJ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 err="1"/>
              <a:t>tC</a:t>
            </a:r>
            <a:r>
              <a:rPr lang="ko-KR" altLang="en-US" sz="1600" spc="-50" dirty="0"/>
              <a:t>는 </a:t>
            </a:r>
            <a:r>
              <a:rPr lang="en-US" altLang="ko-KR" sz="1600" b="1" spc="-50" dirty="0" err="1"/>
              <a:t>t</a:t>
            </a:r>
            <a:r>
              <a:rPr lang="en-US" altLang="ko-KR" sz="1600" spc="-50" dirty="0" err="1"/>
              <a:t>onne</a:t>
            </a:r>
            <a:r>
              <a:rPr lang="en-US" altLang="ko-KR" sz="1600" spc="-50" dirty="0"/>
              <a:t> of </a:t>
            </a:r>
            <a:r>
              <a:rPr lang="en-US" altLang="ko-KR" sz="1600" b="1" spc="-50" dirty="0"/>
              <a:t>C</a:t>
            </a:r>
            <a:r>
              <a:rPr lang="en-US" altLang="ko-KR" sz="1600" spc="-50" dirty="0"/>
              <a:t>arbon</a:t>
            </a:r>
            <a:r>
              <a:rPr lang="ko-KR" altLang="en-US" sz="1600" spc="-50" dirty="0"/>
              <a:t>의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약자 이다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무게를 측정하는 단위다</a:t>
            </a:r>
            <a:r>
              <a:rPr lang="en-US" altLang="ko-KR" sz="1600" spc="-50" dirty="0"/>
              <a:t>. </a:t>
            </a:r>
          </a:p>
          <a:p>
            <a:pPr marL="549275" lvl="1">
              <a:lnSpc>
                <a:spcPct val="150000"/>
              </a:lnSpc>
            </a:pPr>
            <a:r>
              <a:rPr lang="en-US" altLang="ko-KR" sz="1600" spc="-50" dirty="0"/>
              <a:t>    ※  </a:t>
            </a:r>
            <a:r>
              <a:rPr lang="ko-KR" altLang="en-US" sz="1600" spc="-50" dirty="0"/>
              <a:t>말그대로 탄소를 </a:t>
            </a:r>
            <a:r>
              <a:rPr lang="en-US" altLang="ko-KR" sz="1600" spc="-50" dirty="0"/>
              <a:t>1tC</a:t>
            </a:r>
            <a:r>
              <a:rPr lang="ko-KR" altLang="en-US" sz="1600" spc="-50" dirty="0"/>
              <a:t> 만큼 모아서 체중계에 재면 </a:t>
            </a:r>
            <a:r>
              <a:rPr lang="en-US" altLang="ko-KR" sz="1600" spc="-50" dirty="0"/>
              <a:t>1,000kg</a:t>
            </a:r>
            <a:r>
              <a:rPr lang="ko-KR" altLang="en-US" sz="1600" spc="-50" dirty="0"/>
              <a:t>이 나온다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휘발유를 </a:t>
            </a:r>
            <a:r>
              <a:rPr lang="en-US" altLang="ko-KR" sz="1600" spc="-50" dirty="0"/>
              <a:t>1MJ </a:t>
            </a:r>
            <a:r>
              <a:rPr lang="ko-KR" altLang="en-US" sz="1600" spc="-50" dirty="0"/>
              <a:t>만큼 연소를 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탄소가 </a:t>
            </a:r>
            <a:r>
              <a:rPr lang="en-US" altLang="ko-KR" sz="1600" spc="-50" dirty="0"/>
              <a:t>0.000019731 </a:t>
            </a:r>
            <a:r>
              <a:rPr lang="en-US" altLang="ko-KR" sz="1600" spc="-50" dirty="0" err="1"/>
              <a:t>tC</a:t>
            </a:r>
            <a:r>
              <a:rPr lang="ko-KR" altLang="en-US" sz="1600" spc="-50" dirty="0"/>
              <a:t>만큼 나온다는 의미다</a:t>
            </a:r>
            <a:r>
              <a:rPr lang="en-US" altLang="ko-KR" sz="1600" spc="-50" dirty="0"/>
              <a:t>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B2CEAB1-9E78-8444-4BD2-D15A06552C7D}"/>
              </a:ext>
            </a:extLst>
          </p:cNvPr>
          <p:cNvSpPr txBox="1"/>
          <p:nvPr/>
        </p:nvSpPr>
        <p:spPr>
          <a:xfrm>
            <a:off x="8649508" y="4682067"/>
            <a:ext cx="32908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dirty="0"/>
              <a:t>https://tips.energy.or.kr/carbon/Ggas_tatistics03.do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CD830B6-A8EC-4DC9-3AF6-A9AF142B8E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040" t="2754" b="31939"/>
          <a:stretch>
            <a:fillRect/>
          </a:stretch>
        </p:blipFill>
        <p:spPr>
          <a:xfrm>
            <a:off x="7607299" y="1219200"/>
            <a:ext cx="4193397" cy="3462867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E217310-7E9D-D075-8FD8-D65DF1E838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5" r="63751" b="97246"/>
          <a:stretch>
            <a:fillRect/>
          </a:stretch>
        </p:blipFill>
        <p:spPr>
          <a:xfrm>
            <a:off x="7607299" y="1073149"/>
            <a:ext cx="1741489" cy="146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76815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1BE09-0688-964A-B00B-E019F6B3C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FD30D-DA2B-43D7-460A-65EB32746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7C3BBA8-2062-12EA-5B46-B732DC92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A9B549-E92E-6BA8-0EB3-CE3A147EEAB1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10512560" cy="226068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탄소배출량 계산을 위한 첫번째 항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소비량을 계산해보자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아래의 식을 통해 해운대까지 휘발유 몇</a:t>
                </a:r>
                <a:r>
                  <a:rPr lang="en-US" altLang="ko-KR" sz="1600" spc="-50" dirty="0"/>
                  <a:t> </a:t>
                </a:r>
                <a:r>
                  <a:rPr lang="ko-KR" altLang="en-US" sz="1600" spc="-50" dirty="0"/>
                  <a:t>리터</a:t>
                </a:r>
                <a:r>
                  <a:rPr lang="en-US" altLang="ko-KR" sz="1600" spc="-50" dirty="0"/>
                  <a:t>(liter)</a:t>
                </a:r>
                <a:r>
                  <a:rPr lang="ko-KR" altLang="en-US" sz="1600" spc="-50" dirty="0"/>
                  <a:t>를 사용하게 될지 계산할 수 있다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해운대 까지 총 </a:t>
                </a:r>
                <a:r>
                  <a:rPr lang="en-US" altLang="ko-KR" sz="1600" spc="-50" dirty="0"/>
                  <a:t>284km </a:t>
                </a:r>
                <a:r>
                  <a:rPr lang="ko-KR" altLang="en-US" sz="1600" spc="-50" dirty="0"/>
                  <a:t>였고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내 차량의 연비는 </a:t>
                </a:r>
                <a:r>
                  <a:rPr lang="en-US" altLang="ko-KR" sz="1600" spc="-50" dirty="0"/>
                  <a:t>15.0km/liter </a:t>
                </a:r>
                <a:r>
                  <a:rPr lang="ko-KR" altLang="en-US" sz="1600" spc="-50" dirty="0"/>
                  <a:t>였다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따라서 해운대 까지 필요한 휘발유의 양은 </a:t>
                </a:r>
                <a:r>
                  <a:rPr lang="en-US" altLang="ko-KR" sz="1600" spc="-50" dirty="0"/>
                  <a:t>18.9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liter</a:t>
                </a:r>
                <a:r>
                  <a:rPr lang="ko-KR" altLang="en-US" sz="1600" spc="-50" dirty="0"/>
                  <a:t> 이다</a:t>
                </a:r>
                <a:r>
                  <a:rPr lang="en-US" altLang="ko-KR" sz="1600" spc="-50" dirty="0"/>
                  <a:t>. (284/15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spc="-50" dirty="0"/>
                  <a:t> 18.9)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6A9B549-E92E-6BA8-0EB3-CE3A147EEA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10512560" cy="2260683"/>
              </a:xfrm>
              <a:prstGeom prst="rect">
                <a:avLst/>
              </a:prstGeom>
              <a:blipFill>
                <a:blip r:embed="rId2"/>
                <a:stretch>
                  <a:fillRect b="-2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210BFA-5DE1-F6F9-7454-7336982D14F8}"/>
                  </a:ext>
                </a:extLst>
              </p:cNvPr>
              <p:cNvSpPr txBox="1"/>
              <p:nvPr/>
            </p:nvSpPr>
            <p:spPr>
              <a:xfrm>
                <a:off x="1646775" y="1865171"/>
                <a:ext cx="5948752" cy="3747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주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행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리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연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</m:e>
                        <m:sup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3210BFA-5DE1-F6F9-7454-7336982D1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6775" y="1865171"/>
                <a:ext cx="5948752" cy="374783"/>
              </a:xfrm>
              <a:prstGeom prst="rect">
                <a:avLst/>
              </a:prstGeom>
              <a:blipFill>
                <a:blip r:embed="rId3"/>
                <a:stretch>
                  <a:fillRect t="-157377" r="-1947" b="-2377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52933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60025-27CC-8526-6F09-0221CE2A4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7E4F58-20B2-28F3-A4FB-596D258A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3AAA7B-8D92-B26F-62E9-34105BAD8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892F93-BEB0-4B77-B46D-424C9360BE18}"/>
                  </a:ext>
                </a:extLst>
              </p:cNvPr>
              <p:cNvSpPr txBox="1"/>
              <p:nvPr/>
            </p:nvSpPr>
            <p:spPr>
              <a:xfrm>
                <a:off x="288789" y="958844"/>
                <a:ext cx="10430211" cy="4476675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자가용 </a:t>
                </a:r>
                <a:r>
                  <a:rPr lang="ko-KR" altLang="en-US" sz="1600" spc="-50" dirty="0" err="1"/>
                  <a:t>이용시</a:t>
                </a:r>
                <a:r>
                  <a:rPr lang="ko-KR" altLang="en-US" sz="1600" spc="-50" dirty="0"/>
                  <a:t> 나오는 탄소배출량을 계산하기 위한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가지 항목을 다 찾아보았다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휘발유 소비량</a:t>
                </a:r>
                <a:r>
                  <a:rPr lang="en-US" altLang="ko-KR" sz="1600" spc="-50" dirty="0"/>
                  <a:t>: 18.9 liter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휘발유 발열량</a:t>
                </a:r>
                <a:r>
                  <a:rPr lang="en-US" altLang="ko-KR" sz="1600" spc="-50" dirty="0"/>
                  <a:t>: 32.4 MJ/liter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휘발유 배출계수</a:t>
                </a:r>
                <a:r>
                  <a:rPr lang="en-US" altLang="ko-KR" sz="1600" spc="-50" dirty="0"/>
                  <a:t>: 0.000019731 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/MJ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18.9 x 32.4 x 0.000019731 </a:t>
                </a:r>
                <a14:m>
                  <m:oMath xmlns:m="http://schemas.openxmlformats.org/officeDocument/2006/math">
                    <m:r>
                      <a:rPr lang="en-US" altLang="ko-KR" sz="1600" i="1" spc="-5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spc="-50" dirty="0"/>
                  <a:t> 0.012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따라서 우리가 아반떼를 타고 해운대까지 주행하는데 총 </a:t>
                </a:r>
                <a:r>
                  <a:rPr lang="en-US" altLang="ko-KR" sz="1600" spc="-50" dirty="0"/>
                  <a:t>0.012</a:t>
                </a:r>
                <a:r>
                  <a:rPr lang="ko-KR" altLang="en-US" sz="1600" spc="-50" dirty="0"/>
                  <a:t>톤의 탄소</a:t>
                </a:r>
                <a:r>
                  <a:rPr lang="en-US" altLang="ko-KR" sz="1600" spc="-50" dirty="0"/>
                  <a:t>(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를 배출하게 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12kg (0.012</a:t>
                </a:r>
                <a:r>
                  <a:rPr lang="ko-KR" altLang="en-US" sz="1600" spc="-50" dirty="0"/>
                  <a:t>톤과 같다</a:t>
                </a:r>
                <a:r>
                  <a:rPr lang="en-US" altLang="ko-KR" sz="1600" spc="-50" dirty="0"/>
                  <a:t>)</a:t>
                </a:r>
                <a:r>
                  <a:rPr lang="ko-KR" altLang="en-US" sz="1600" spc="-50" dirty="0"/>
                  <a:t>의 탄소들은 대기로 날아가 흩어져서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온실가스 효과를 만들어낸다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지구는 매일 태양으로부터 열을 받아서 뜨거워지는 동시에 지구는 스스로 열을 방출을 하고 있다</a:t>
                </a:r>
                <a:r>
                  <a:rPr lang="en-US" altLang="ko-KR" sz="1600" spc="-50" dirty="0"/>
                  <a:t>.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대기에 머무르고 있는 탄소는 지구가 방출하는 열을 대기 밖으로 </a:t>
                </a:r>
                <a:r>
                  <a:rPr lang="ko-KR" altLang="en-US" sz="1600" spc="-50" dirty="0" err="1"/>
                  <a:t>못나가게끔</a:t>
                </a:r>
                <a:r>
                  <a:rPr lang="ko-KR" altLang="en-US" sz="1600" spc="-50" dirty="0"/>
                  <a:t> 그 모든 열을 흡수해버리는 성질이 있다</a:t>
                </a:r>
                <a:r>
                  <a:rPr lang="en-US" altLang="ko-KR" sz="1600" spc="-50" dirty="0"/>
                  <a:t>. </a:t>
                </a:r>
              </a:p>
              <a:p>
                <a:pPr marL="1292225" lvl="2" indent="-28575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ko-KR" altLang="en-US" sz="1600" spc="-50" dirty="0"/>
                  <a:t>그 결과 지구는 계속 뜨거워지고 있다</a:t>
                </a:r>
                <a:r>
                  <a:rPr lang="en-US" altLang="ko-KR" sz="1600" spc="-50" dirty="0"/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8892F93-BEB0-4B77-B46D-424C9360B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89" y="958844"/>
                <a:ext cx="10430211" cy="4476675"/>
              </a:xfrm>
              <a:prstGeom prst="rect">
                <a:avLst/>
              </a:prstGeom>
              <a:blipFill>
                <a:blip r:embed="rId2"/>
                <a:stretch>
                  <a:fillRect b="-68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97219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1E167-B445-A888-3401-FAAA3842A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C1C075-A6B6-6137-72EF-53A8B6FD21D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BE7618-A2A2-4921-F918-59258ABB8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59A5E32-4DC6-2AF0-CEFF-B25A1CDF5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2-1. </a:t>
            </a:r>
            <a:r>
              <a:rPr lang="ko-KR" altLang="en-US" sz="4000" b="1" i="0" spc="150" dirty="0"/>
              <a:t>대중교통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비용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2797673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D5620-9D09-0967-D4B1-3701ED1E8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86858D-38EB-C48E-7174-A5CFDA3D7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대중교통을 이용할 때 드는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775ED0-E006-131F-6624-D540ACB8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2F8E90-ED2B-2622-DE3A-AD7944097063}"/>
              </a:ext>
            </a:extLst>
          </p:cNvPr>
          <p:cNvSpPr txBox="1"/>
          <p:nvPr/>
        </p:nvSpPr>
        <p:spPr>
          <a:xfrm>
            <a:off x="288790" y="958844"/>
            <a:ext cx="1091051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기차를 이용하는 데 들어가는 비용은 간단하다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첫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대전역에서 부산역까지 기차표를 구입해야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SRT, KTX, ITX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3</a:t>
            </a:r>
            <a:r>
              <a:rPr lang="ko-KR" altLang="en-US" sz="1600" spc="-50" dirty="0"/>
              <a:t>종류가 있다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무궁화는 하루에 </a:t>
            </a:r>
            <a:r>
              <a:rPr lang="ko-KR" altLang="en-US" sz="1600" spc="-50" dirty="0" err="1"/>
              <a:t>몇대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안다니기</a:t>
            </a:r>
            <a:r>
              <a:rPr lang="ko-KR" altLang="en-US" sz="1600" spc="-50" dirty="0"/>
              <a:t> 때문에 제외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빠를 수록 운임요금이 비싸며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우리는 중간 정도 수준인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를 타고 간다</a:t>
            </a:r>
            <a:r>
              <a:rPr lang="en-US" altLang="ko-KR" sz="1600" spc="-50" dirty="0"/>
              <a:t>.</a:t>
            </a:r>
          </a:p>
          <a:p>
            <a:pPr marL="1006475" lvl="2">
              <a:lnSpc>
                <a:spcPct val="150000"/>
              </a:lnSpc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두 번째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부산역에서 해운대까지 버스비를 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40</a:t>
            </a:r>
            <a:r>
              <a:rPr lang="ko-KR" altLang="en-US" sz="1600" spc="-50" dirty="0"/>
              <a:t>번 버스</a:t>
            </a:r>
            <a:r>
              <a:rPr lang="en-US" altLang="ko-KR" sz="1600" spc="-50" dirty="0"/>
              <a:t>, 1001</a:t>
            </a:r>
            <a:r>
              <a:rPr lang="ko-KR" altLang="en-US" sz="1600" spc="-50" dirty="0"/>
              <a:t>번 버스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종류가 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이것도 마찬가지로 빠를 수록 버스요금이 싸다</a:t>
            </a:r>
            <a:r>
              <a:rPr lang="en-US" altLang="ko-KR" sz="1600" spc="-50" dirty="0"/>
              <a:t>.</a:t>
            </a:r>
          </a:p>
          <a:p>
            <a:pPr marL="1749425" lvl="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40</a:t>
            </a:r>
            <a:r>
              <a:rPr lang="ko-KR" altLang="en-US" sz="1600" spc="-50" dirty="0"/>
              <a:t>번 버스는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시간 </a:t>
            </a:r>
            <a:r>
              <a:rPr lang="en-US" altLang="ko-KR" sz="1600" spc="-50" dirty="0"/>
              <a:t>22</a:t>
            </a:r>
            <a:r>
              <a:rPr lang="ko-KR" altLang="en-US" sz="1600" spc="-50" dirty="0"/>
              <a:t>분이 걸리는데</a:t>
            </a:r>
            <a:r>
              <a:rPr lang="en-US" altLang="ko-KR" sz="1600" spc="-50" dirty="0"/>
              <a:t>, 1,550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1749425" lvl="3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1003</a:t>
            </a:r>
            <a:r>
              <a:rPr lang="ko-KR" altLang="en-US" sz="1600" spc="-50" dirty="0"/>
              <a:t>번 버스는 </a:t>
            </a:r>
            <a:r>
              <a:rPr lang="en-US" altLang="ko-KR" sz="1600" spc="-50" dirty="0"/>
              <a:t>56</a:t>
            </a:r>
            <a:r>
              <a:rPr lang="ko-KR" altLang="en-US" sz="1600" spc="-50" dirty="0"/>
              <a:t>분 걸리는데 </a:t>
            </a:r>
            <a:r>
              <a:rPr lang="en-US" altLang="ko-KR" sz="1600" spc="-50" dirty="0"/>
              <a:t>2,100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우리는 </a:t>
            </a:r>
            <a:r>
              <a:rPr lang="en-US" altLang="ko-KR" sz="1600" spc="-50" dirty="0"/>
              <a:t>1003</a:t>
            </a:r>
            <a:r>
              <a:rPr lang="ko-KR" altLang="en-US" sz="1600" spc="-50" dirty="0"/>
              <a:t>번 버스를 타고 간다</a:t>
            </a:r>
            <a:r>
              <a:rPr lang="en-US" altLang="ko-KR" sz="1600" spc="-50" dirty="0"/>
              <a:t>.</a:t>
            </a:r>
          </a:p>
          <a:p>
            <a:pPr marL="1006475" lvl="2">
              <a:lnSpc>
                <a:spcPct val="150000"/>
              </a:lnSpc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2827586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1B7B5-8E84-E0B4-98E9-A0D86F4D2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ED7F47-D686-4A0C-3D15-5E07C4267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대중교통을 이용할 때 드는 비용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CAEBC0-3736-D575-B597-D528A51AF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04B818-992B-F5E9-ED11-9FF9C7BF9A9E}"/>
              </a:ext>
            </a:extLst>
          </p:cNvPr>
          <p:cNvSpPr txBox="1"/>
          <p:nvPr/>
        </p:nvSpPr>
        <p:spPr>
          <a:xfrm>
            <a:off x="288790" y="958844"/>
            <a:ext cx="1091051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아래에서 보듯이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2</a:t>
            </a:r>
            <a:r>
              <a:rPr lang="ko-KR" altLang="en-US" sz="1600" spc="-50" dirty="0"/>
              <a:t>시간 </a:t>
            </a:r>
            <a:r>
              <a:rPr lang="en-US" altLang="ko-KR" sz="1600" spc="-50" dirty="0"/>
              <a:t>09</a:t>
            </a:r>
            <a:r>
              <a:rPr lang="ko-KR" altLang="en-US" sz="1600" spc="-50" dirty="0"/>
              <a:t>분이 걸리고</a:t>
            </a:r>
            <a:r>
              <a:rPr lang="en-US" altLang="ko-KR" sz="1600" spc="-50" dirty="0"/>
              <a:t>, 30,000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(</a:t>
            </a:r>
            <a:r>
              <a:rPr lang="ko-KR" altLang="en-US" sz="1600" spc="-50" dirty="0" err="1"/>
              <a:t>일반실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어른기준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든다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부산역에서 해운대로 갈 때는 </a:t>
            </a:r>
            <a:r>
              <a:rPr lang="en-US" altLang="ko-KR" sz="1600" spc="-50" dirty="0"/>
              <a:t>40</a:t>
            </a:r>
            <a:r>
              <a:rPr lang="ko-KR" altLang="en-US" sz="1600" spc="-50" dirty="0"/>
              <a:t>번 버스 혹은 </a:t>
            </a:r>
            <a:r>
              <a:rPr lang="en-US" altLang="ko-KR" sz="1600" spc="-50" dirty="0"/>
              <a:t>1001</a:t>
            </a:r>
            <a:r>
              <a:rPr lang="ko-KR" altLang="en-US" sz="1600" spc="-50" dirty="0"/>
              <a:t>번 버스를 타면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40</a:t>
            </a:r>
            <a:r>
              <a:rPr lang="ko-KR" altLang="en-US" sz="1600" spc="-50" dirty="0"/>
              <a:t>번 버스</a:t>
            </a:r>
            <a:r>
              <a:rPr lang="en-US" altLang="ko-KR" sz="1600" spc="-50" dirty="0"/>
              <a:t>: 1</a:t>
            </a:r>
            <a:r>
              <a:rPr lang="ko-KR" altLang="en-US" sz="1600" spc="-50" dirty="0"/>
              <a:t>시간 </a:t>
            </a:r>
            <a:r>
              <a:rPr lang="en-US" altLang="ko-KR" sz="1600" spc="-50" dirty="0"/>
              <a:t>22</a:t>
            </a:r>
            <a:r>
              <a:rPr lang="ko-KR" altLang="en-US" sz="1600" spc="-50" dirty="0"/>
              <a:t>분</a:t>
            </a:r>
            <a:r>
              <a:rPr lang="en-US" altLang="ko-KR" sz="1600" spc="-50" dirty="0"/>
              <a:t>, 1550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   1001</a:t>
            </a:r>
            <a:r>
              <a:rPr lang="ko-KR" altLang="en-US" sz="1600" spc="-50" dirty="0"/>
              <a:t>번 버스</a:t>
            </a:r>
            <a:r>
              <a:rPr lang="en-US" altLang="ko-KR" sz="1600" spc="-50" dirty="0"/>
              <a:t>: 58</a:t>
            </a:r>
            <a:r>
              <a:rPr lang="ko-KR" altLang="en-US" sz="1600" spc="-50" dirty="0"/>
              <a:t>분 </a:t>
            </a:r>
            <a:r>
              <a:rPr lang="en-US" altLang="ko-KR" sz="1600" spc="-50" dirty="0"/>
              <a:t>2,100</a:t>
            </a:r>
            <a:r>
              <a:rPr lang="ko-KR" altLang="en-US" sz="1600" spc="-50" dirty="0"/>
              <a:t>원</a:t>
            </a: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1001</a:t>
            </a:r>
            <a:r>
              <a:rPr lang="ko-KR" altLang="en-US" sz="1600" spc="-50" dirty="0"/>
              <a:t>번 버스를 이용하면 가격은 </a:t>
            </a:r>
            <a:r>
              <a:rPr lang="en-US" altLang="ko-KR" sz="1600" spc="-50" dirty="0"/>
              <a:t>600</a:t>
            </a:r>
            <a:r>
              <a:rPr lang="ko-KR" altLang="en-US" sz="1600" spc="-50" dirty="0"/>
              <a:t>원 더 내지만 </a:t>
            </a:r>
            <a:r>
              <a:rPr lang="en-US" altLang="ko-KR" sz="1600" spc="-50" dirty="0"/>
              <a:t>24</a:t>
            </a:r>
            <a:r>
              <a:rPr lang="ko-KR" altLang="en-US" sz="1600" spc="-50" dirty="0"/>
              <a:t>분이나 빨리 가므로</a:t>
            </a:r>
            <a:r>
              <a:rPr lang="en-US" altLang="ko-KR" sz="1600" spc="-50" dirty="0"/>
              <a:t>, 1001</a:t>
            </a:r>
            <a:r>
              <a:rPr lang="ko-KR" altLang="en-US" sz="1600" spc="-50" dirty="0"/>
              <a:t>번 버스를 이용하자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</a:t>
            </a:r>
            <a:r>
              <a:rPr lang="ko-KR" altLang="en-US" sz="1600" spc="-50" dirty="0" err="1"/>
              <a:t>기차비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30,000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버스비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2,100</a:t>
            </a:r>
            <a:r>
              <a:rPr lang="ko-KR" altLang="en-US" sz="1600" spc="-50" dirty="0"/>
              <a:t>원이 발생하므로 총 </a:t>
            </a:r>
            <a:r>
              <a:rPr lang="en-US" altLang="ko-KR" sz="1600" spc="-50" dirty="0"/>
              <a:t>32,100</a:t>
            </a:r>
            <a:r>
              <a:rPr lang="ko-KR" altLang="en-US" sz="1600" spc="-50" dirty="0"/>
              <a:t>원이 든다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CBB5336-8CD1-719D-5021-740FA940AA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6234"/>
          <a:stretch>
            <a:fillRect/>
          </a:stretch>
        </p:blipFill>
        <p:spPr>
          <a:xfrm>
            <a:off x="1833683" y="2047061"/>
            <a:ext cx="5058877" cy="28612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3083100F-77EF-FA97-289E-E81B3CF08C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9489" y="1859289"/>
            <a:ext cx="5067387" cy="189869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C21A4B4B-139C-162E-AEA3-1E4A4B1284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234"/>
          <a:stretch>
            <a:fillRect/>
          </a:stretch>
        </p:blipFill>
        <p:spPr>
          <a:xfrm>
            <a:off x="1833683" y="2333302"/>
            <a:ext cx="5058877" cy="286120"/>
          </a:xfrm>
          <a:prstGeom prst="rect">
            <a:avLst/>
          </a:prstGeom>
        </p:spPr>
      </p:pic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479A0694-A892-89CE-5678-A62A13838CE8}"/>
              </a:ext>
            </a:extLst>
          </p:cNvPr>
          <p:cNvSpPr/>
          <p:nvPr/>
        </p:nvSpPr>
        <p:spPr>
          <a:xfrm>
            <a:off x="6501449" y="2147074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A9F98FBB-9AB8-E389-8794-3B54EC50DD99}"/>
              </a:ext>
            </a:extLst>
          </p:cNvPr>
          <p:cNvSpPr/>
          <p:nvPr/>
        </p:nvSpPr>
        <p:spPr>
          <a:xfrm>
            <a:off x="6501449" y="2413090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1BD21FB6-CBE0-41FF-7512-D45941CF5A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4822" b="33783"/>
          <a:stretch>
            <a:fillRect/>
          </a:stretch>
        </p:blipFill>
        <p:spPr>
          <a:xfrm>
            <a:off x="1833683" y="2620875"/>
            <a:ext cx="5058877" cy="266030"/>
          </a:xfrm>
          <a:prstGeom prst="rect">
            <a:avLst/>
          </a:prstGeom>
        </p:spPr>
      </p:pic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590DF333-DC6A-2BE7-15F7-C7B5F3D0B32F}"/>
              </a:ext>
            </a:extLst>
          </p:cNvPr>
          <p:cNvSpPr/>
          <p:nvPr/>
        </p:nvSpPr>
        <p:spPr>
          <a:xfrm>
            <a:off x="6501449" y="2673415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38734C0E-9A2E-24FE-0BA2-1F14CC744EFD}"/>
              </a:ext>
            </a:extLst>
          </p:cNvPr>
          <p:cNvSpPr/>
          <p:nvPr/>
        </p:nvSpPr>
        <p:spPr>
          <a:xfrm>
            <a:off x="2174982" y="2155540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CD95EA25-2306-513C-7A26-86C8CFE27C33}"/>
              </a:ext>
            </a:extLst>
          </p:cNvPr>
          <p:cNvSpPr/>
          <p:nvPr/>
        </p:nvSpPr>
        <p:spPr>
          <a:xfrm>
            <a:off x="2174982" y="2421556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9BD70820-C578-D56C-1C53-9EB4D2594165}"/>
              </a:ext>
            </a:extLst>
          </p:cNvPr>
          <p:cNvSpPr/>
          <p:nvPr/>
        </p:nvSpPr>
        <p:spPr>
          <a:xfrm>
            <a:off x="2174982" y="2686114"/>
            <a:ext cx="391111" cy="111852"/>
          </a:xfrm>
          <a:prstGeom prst="roundRect">
            <a:avLst/>
          </a:prstGeom>
          <a:solidFill>
            <a:srgbClr val="FFFF00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3" name="연결선: 꺾임 32">
            <a:extLst>
              <a:ext uri="{FF2B5EF4-FFF2-40B4-BE49-F238E27FC236}">
                <a16:creationId xmlns:a16="http://schemas.microsoft.com/office/drawing/2014/main" id="{23D4DB8F-9F84-0C95-0736-C3F2D2036195}"/>
              </a:ext>
            </a:extLst>
          </p:cNvPr>
          <p:cNvCxnSpPr>
            <a:cxnSpLocks/>
            <a:stCxn id="24" idx="3"/>
            <a:endCxn id="8" idx="1"/>
          </p:cNvCxnSpPr>
          <p:nvPr/>
        </p:nvCxnSpPr>
        <p:spPr>
          <a:xfrm flipV="1">
            <a:off x="6892560" y="1381742"/>
            <a:ext cx="1625024" cy="8212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14D528D1-4D5F-01BB-515C-627C3804D4A9}"/>
              </a:ext>
            </a:extLst>
          </p:cNvPr>
          <p:cNvCxnSpPr>
            <a:cxnSpLocks/>
            <a:stCxn id="25" idx="3"/>
            <a:endCxn id="12" idx="1"/>
          </p:cNvCxnSpPr>
          <p:nvPr/>
        </p:nvCxnSpPr>
        <p:spPr>
          <a:xfrm>
            <a:off x="6892560" y="2469016"/>
            <a:ext cx="1625024" cy="8727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연결선: 꺾임 37">
            <a:extLst>
              <a:ext uri="{FF2B5EF4-FFF2-40B4-BE49-F238E27FC236}">
                <a16:creationId xmlns:a16="http://schemas.microsoft.com/office/drawing/2014/main" id="{251D3E19-554D-A321-BE51-C9C4596658D4}"/>
              </a:ext>
            </a:extLst>
          </p:cNvPr>
          <p:cNvCxnSpPr>
            <a:cxnSpLocks/>
            <a:stCxn id="26" idx="3"/>
            <a:endCxn id="10" idx="1"/>
          </p:cNvCxnSpPr>
          <p:nvPr/>
        </p:nvCxnSpPr>
        <p:spPr>
          <a:xfrm>
            <a:off x="6892560" y="2729341"/>
            <a:ext cx="1625024" cy="110503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그룹 8">
            <a:extLst>
              <a:ext uri="{FF2B5EF4-FFF2-40B4-BE49-F238E27FC236}">
                <a16:creationId xmlns:a16="http://schemas.microsoft.com/office/drawing/2014/main" id="{926A522E-CF77-BB2A-E552-891142D43A85}"/>
              </a:ext>
            </a:extLst>
          </p:cNvPr>
          <p:cNvGrpSpPr/>
          <p:nvPr/>
        </p:nvGrpSpPr>
        <p:grpSpPr>
          <a:xfrm>
            <a:off x="8517584" y="841742"/>
            <a:ext cx="2725312" cy="1080000"/>
            <a:chOff x="8132350" y="1163630"/>
            <a:chExt cx="2725312" cy="108000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FB003D2-D970-1D3D-6373-831D16E3A22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132350" y="1163630"/>
              <a:ext cx="2725312" cy="1080000"/>
            </a:xfrm>
            <a:prstGeom prst="rect">
              <a:avLst/>
            </a:prstGeom>
          </p:spPr>
        </p:pic>
        <p:sp>
          <p:nvSpPr>
            <p:cNvPr id="41" name="사각형: 둥근 모서리 40">
              <a:extLst>
                <a:ext uri="{FF2B5EF4-FFF2-40B4-BE49-F238E27FC236}">
                  <a16:creationId xmlns:a16="http://schemas.microsoft.com/office/drawing/2014/main" id="{07B7A2B5-3CC7-B10F-E791-E7C646CF6BD1}"/>
                </a:ext>
              </a:extLst>
            </p:cNvPr>
            <p:cNvSpPr/>
            <p:nvPr/>
          </p:nvSpPr>
          <p:spPr>
            <a:xfrm>
              <a:off x="8986416" y="1338507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BB1660EB-7463-8DFC-1C62-43D5AA7C7941}"/>
                </a:ext>
              </a:extLst>
            </p:cNvPr>
            <p:cNvSpPr/>
            <p:nvPr/>
          </p:nvSpPr>
          <p:spPr>
            <a:xfrm>
              <a:off x="9718782" y="1842274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A4FCF97-457D-B869-935D-30550C457398}"/>
              </a:ext>
            </a:extLst>
          </p:cNvPr>
          <p:cNvGrpSpPr/>
          <p:nvPr/>
        </p:nvGrpSpPr>
        <p:grpSpPr>
          <a:xfrm>
            <a:off x="8517584" y="2016293"/>
            <a:ext cx="2725312" cy="1080000"/>
            <a:chOff x="8132350" y="2440923"/>
            <a:chExt cx="2725312" cy="1080000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1001B8D0-521E-C215-4918-CD87150AD4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132350" y="2440923"/>
              <a:ext cx="2725312" cy="1080000"/>
            </a:xfrm>
            <a:prstGeom prst="rect">
              <a:avLst/>
            </a:prstGeom>
          </p:spPr>
        </p:pic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57AF628A-8416-ECCC-510B-990F4467D7CF}"/>
                </a:ext>
              </a:extLst>
            </p:cNvPr>
            <p:cNvSpPr/>
            <p:nvPr/>
          </p:nvSpPr>
          <p:spPr>
            <a:xfrm>
              <a:off x="8986416" y="2585005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사각형: 둥근 모서리 44">
              <a:extLst>
                <a:ext uri="{FF2B5EF4-FFF2-40B4-BE49-F238E27FC236}">
                  <a16:creationId xmlns:a16="http://schemas.microsoft.com/office/drawing/2014/main" id="{909CD181-ECA0-8BB1-FA24-49E59B5E6D05}"/>
                </a:ext>
              </a:extLst>
            </p:cNvPr>
            <p:cNvSpPr/>
            <p:nvPr/>
          </p:nvSpPr>
          <p:spPr>
            <a:xfrm>
              <a:off x="9718782" y="3103119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CC676ADD-0D03-819F-C1A4-507E4D21DEA2}"/>
              </a:ext>
            </a:extLst>
          </p:cNvPr>
          <p:cNvGrpSpPr/>
          <p:nvPr/>
        </p:nvGrpSpPr>
        <p:grpSpPr>
          <a:xfrm>
            <a:off x="8517584" y="3294373"/>
            <a:ext cx="2725312" cy="1080000"/>
            <a:chOff x="8132350" y="3645672"/>
            <a:chExt cx="2725312" cy="1080000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276F573D-730D-544F-41C1-10DCC0D390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8132350" y="3645672"/>
              <a:ext cx="2725312" cy="1080000"/>
            </a:xfrm>
            <a:prstGeom prst="rect">
              <a:avLst/>
            </a:prstGeom>
          </p:spPr>
        </p:pic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7A4BE913-CBD9-A765-7E30-92A6831AC946}"/>
                </a:ext>
              </a:extLst>
            </p:cNvPr>
            <p:cNvSpPr/>
            <p:nvPr/>
          </p:nvSpPr>
          <p:spPr>
            <a:xfrm>
              <a:off x="9003348" y="3794054"/>
              <a:ext cx="585151" cy="121711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E7279EFE-C00D-BDEF-1AC0-3129EEFDA6A4}"/>
                </a:ext>
              </a:extLst>
            </p:cNvPr>
            <p:cNvSpPr/>
            <p:nvPr/>
          </p:nvSpPr>
          <p:spPr>
            <a:xfrm>
              <a:off x="9718782" y="4296919"/>
              <a:ext cx="391111" cy="111852"/>
            </a:xfrm>
            <a:prstGeom prst="roundRect">
              <a:avLst/>
            </a:prstGeom>
            <a:solidFill>
              <a:srgbClr val="FFFF00">
                <a:alpha val="27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83996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18465-26F6-7E29-0D99-62F00570F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AF6BA4-2599-4906-C093-FF291846C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대중교통을 이용할 때 드는 비용 </a:t>
            </a:r>
            <a:r>
              <a:rPr lang="en-US" altLang="ko-KR" dirty="0"/>
              <a:t>(</a:t>
            </a:r>
            <a:r>
              <a:rPr lang="ko-KR" altLang="en-US" dirty="0"/>
              <a:t>부산 </a:t>
            </a:r>
            <a:r>
              <a:rPr lang="en-US" altLang="ko-KR" dirty="0"/>
              <a:t>1003</a:t>
            </a:r>
            <a:r>
              <a:rPr lang="ko-KR" altLang="en-US" dirty="0"/>
              <a:t>번 버스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B26109-4882-2E01-9123-252379FC3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4C8A50-6753-08D5-B029-991F0600620F}"/>
              </a:ext>
            </a:extLst>
          </p:cNvPr>
          <p:cNvSpPr txBox="1"/>
          <p:nvPr/>
        </p:nvSpPr>
        <p:spPr>
          <a:xfrm>
            <a:off x="288790" y="958844"/>
            <a:ext cx="10910513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부산역에서 해운대까지 총 </a:t>
            </a:r>
            <a:r>
              <a:rPr lang="en-US" altLang="ko-KR" sz="1600" spc="-50" dirty="0"/>
              <a:t>2,100</a:t>
            </a:r>
            <a:r>
              <a:rPr lang="ko-KR" altLang="en-US" sz="1600" spc="-50" dirty="0"/>
              <a:t>원이 든다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2361A99-028A-DAE4-8D58-0C31068E66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6134" y="1049611"/>
            <a:ext cx="2540131" cy="1720938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7D808C29-D248-DA66-5060-21008429C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6204" y="3026985"/>
            <a:ext cx="3796027" cy="3147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665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B0EC8-82DD-283D-D5B7-C72C7941C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5B78EB-1F96-BF37-608F-3788E2387F2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C523859-5A0A-74D8-8E0B-E7BA0C9B6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1903944-00F9-521B-2912-D6237ECFC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2-2. </a:t>
            </a:r>
            <a:r>
              <a:rPr lang="ko-KR" altLang="en-US" sz="4000" b="1" i="0" spc="150" dirty="0"/>
              <a:t>대중교통 </a:t>
            </a:r>
            <a:r>
              <a:rPr lang="en-US" altLang="ko-KR" sz="4000" b="1" i="0" spc="150" dirty="0"/>
              <a:t>(</a:t>
            </a:r>
            <a:r>
              <a:rPr lang="ko-KR" altLang="en-US" sz="4000" b="1" i="0" spc="150" dirty="0"/>
              <a:t>탄소배출</a:t>
            </a:r>
            <a:r>
              <a:rPr lang="en-US" altLang="ko-KR" sz="4000" b="1" i="0" spc="150" dirty="0"/>
              <a:t>)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0775779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FD39B-500A-F5DD-49DE-45EA05AAB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54B39-A61F-3F22-85AB-26DE4A2D9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AC5B68-9113-722F-6E94-99F1D8179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6E9431-CE9E-A19A-EFD8-1E4444EDFFB9}"/>
              </a:ext>
            </a:extLst>
          </p:cNvPr>
          <p:cNvSpPr txBox="1"/>
          <p:nvPr/>
        </p:nvSpPr>
        <p:spPr>
          <a:xfrm>
            <a:off x="288790" y="958844"/>
            <a:ext cx="110459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승용차의 탄소배출량을 계산한 것과 마찬가지로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기차와 버스의 </a:t>
            </a:r>
            <a:r>
              <a:rPr lang="ko-KR" altLang="en-US" sz="1600" spc="-50" dirty="0" err="1"/>
              <a:t>탄소배출량은도</a:t>
            </a:r>
            <a:r>
              <a:rPr lang="ko-KR" altLang="en-US" sz="1600" spc="-50" dirty="0"/>
              <a:t> 에너지 소비량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발열량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탄소배출계수를 곱해서 계산할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en-US" altLang="ko-KR" sz="1600" b="1" u="sng" dirty="0">
                <a:ln w="3175">
                  <a:noFill/>
                </a:ln>
                <a:latin typeface="+mn-ea"/>
              </a:rPr>
              <a:t>KTX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는 어떻게 움직이나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의 지붕에는 외부 전선이 항상 접촉되어 있다고 보면 된다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전선을 통해 외부에서 전력을 공급받고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 전력의 힘으로 모터를 굴리고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모터가 작동하면서 바퀴가 굴러가게 된다</a:t>
            </a:r>
            <a:r>
              <a:rPr lang="en-US" altLang="ko-KR" sz="1600" spc="-50" dirty="0"/>
              <a:t>.</a:t>
            </a:r>
            <a:r>
              <a:rPr lang="ko-KR" altLang="en-US" sz="1600" spc="-50" dirty="0"/>
              <a:t> 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 소비량은 왜 단위가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다른가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에너지형태에 따라 단위를 다르게 사용한다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단 아까 말한대로 단위 간 변환은 가능하다</a:t>
            </a:r>
            <a:r>
              <a:rPr lang="en-US" altLang="ko-KR" sz="1600" spc="-50" dirty="0"/>
              <a:t>.)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휘발유는 </a:t>
            </a:r>
            <a:r>
              <a:rPr lang="ko-KR" altLang="en-US" sz="1600" spc="-50" dirty="0" err="1"/>
              <a:t>액체니까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liter</a:t>
            </a:r>
            <a:r>
              <a:rPr lang="ko-KR" altLang="en-US" sz="1600" spc="-50" dirty="0"/>
              <a:t>로 고유단위를 표기하고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석탄은 </a:t>
            </a:r>
            <a:r>
              <a:rPr lang="ko-KR" altLang="en-US" sz="1600" spc="-50" dirty="0" err="1"/>
              <a:t>고체니까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kg</a:t>
            </a:r>
            <a:r>
              <a:rPr lang="ko-KR" altLang="en-US" sz="1600" spc="-50" dirty="0"/>
              <a:t>으로 고유단위를 표기한다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마찬가지로 전기는 전기의 형태이니까</a:t>
            </a:r>
            <a:r>
              <a:rPr lang="en-US" altLang="ko-KR" sz="1600" spc="-50" dirty="0"/>
              <a:t> </a:t>
            </a:r>
            <a:r>
              <a:rPr lang="en-US" altLang="ko-KR" sz="1600" spc="-50" dirty="0" err="1"/>
              <a:t>Wh</a:t>
            </a:r>
            <a:r>
              <a:rPr lang="ko-KR" altLang="en-US" sz="1600" spc="-50" dirty="0"/>
              <a:t>로 고유단위를 표기한다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b="1" spc="-50" dirty="0"/>
              <a:t>W</a:t>
            </a:r>
            <a:r>
              <a:rPr lang="en-US" altLang="ko-KR" sz="1600" spc="-50" dirty="0"/>
              <a:t>att</a:t>
            </a:r>
            <a:r>
              <a:rPr lang="en-US" altLang="ko-KR" sz="1600" b="1" spc="-50" dirty="0"/>
              <a:t>h</a:t>
            </a:r>
            <a:r>
              <a:rPr lang="en-US" altLang="ko-KR" sz="1600" spc="-50" dirty="0"/>
              <a:t>our</a:t>
            </a:r>
            <a:r>
              <a:rPr lang="ko-KR" altLang="en-US" sz="1600" spc="-50" dirty="0"/>
              <a:t>의 약자이다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1,000Wh = 1kWh,   1,000,000Wh = 1MWh </a:t>
            </a:r>
            <a:r>
              <a:rPr lang="ko-KR" altLang="en-US" sz="1600" spc="-50" dirty="0" err="1"/>
              <a:t>이런식으로</a:t>
            </a:r>
            <a:r>
              <a:rPr lang="ko-KR" altLang="en-US" sz="1600" spc="-50" dirty="0"/>
              <a:t> 단위가 커지면 치환해서 쓰기도 한다</a:t>
            </a:r>
            <a:r>
              <a:rPr lang="en-US" altLang="ko-KR" sz="1600" spc="-5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E7A3F-9DD8-E063-78F2-5F7521CF1F47}"/>
                  </a:ext>
                </a:extLst>
              </p:cNvPr>
              <p:cNvSpPr txBox="1"/>
              <p:nvPr/>
            </p:nvSpPr>
            <p:spPr>
              <a:xfrm>
                <a:off x="1953842" y="1890697"/>
                <a:ext cx="7844208" cy="4437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탄소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𝑀𝑊h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열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𝑀𝑊h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A8E7A3F-9DD8-E063-78F2-5F7521CF1F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42" y="1890697"/>
                <a:ext cx="7844208" cy="443776"/>
              </a:xfrm>
              <a:prstGeom prst="rect">
                <a:avLst/>
              </a:prstGeom>
              <a:blipFill>
                <a:blip r:embed="rId2"/>
                <a:stretch>
                  <a:fillRect t="-124658" r="-4821" b="-195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7542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644B0-DBF8-55D6-C845-A997EBC6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2E86E6-0EE9-3E12-BB6E-2994E73D7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C5D0A5-356B-F043-4AA7-F610F426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44FA3B-0893-5F21-0F7D-3DB230541098}"/>
              </a:ext>
            </a:extLst>
          </p:cNvPr>
          <p:cNvSpPr txBox="1"/>
          <p:nvPr/>
        </p:nvSpPr>
        <p:spPr>
          <a:xfrm>
            <a:off x="288790" y="958844"/>
            <a:ext cx="11045960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전기의 발열량은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1MWh</a:t>
            </a:r>
            <a:r>
              <a:rPr lang="ko-KR" altLang="en-US" sz="1600" spc="-50" dirty="0"/>
              <a:t>는 </a:t>
            </a:r>
            <a:r>
              <a:rPr lang="en-US" altLang="ko-KR" sz="1600" spc="-50" dirty="0"/>
              <a:t>3600MJ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전기에너지 </a:t>
            </a:r>
            <a:r>
              <a:rPr lang="en-US" altLang="ko-KR" sz="1600" spc="-50" dirty="0"/>
              <a:t>1MWh</a:t>
            </a:r>
            <a:r>
              <a:rPr lang="ko-KR" altLang="en-US" sz="1600" spc="-50" dirty="0"/>
              <a:t>는 </a:t>
            </a:r>
            <a:r>
              <a:rPr lang="en-US" altLang="ko-KR" sz="1600" b="1" spc="-50" dirty="0"/>
              <a:t>3,600</a:t>
            </a:r>
            <a:r>
              <a:rPr lang="en-US" altLang="ko-KR" sz="1600" spc="-50" dirty="0"/>
              <a:t>MJ </a:t>
            </a:r>
            <a:r>
              <a:rPr lang="ko-KR" altLang="en-US" sz="1600" spc="-50" dirty="0"/>
              <a:t>만큼 열을 낼 수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전기도 탄소배출을 하나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전기는 탄소를 갖고 있지 않으므로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탄소배출을 하지 않는다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다만 중요한 점은 전기를 만들 때는 화석연료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석탄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가스 등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사용하기 때문에 탄소배출을 한다</a:t>
            </a:r>
            <a:r>
              <a:rPr lang="en-US" altLang="ko-KR" sz="1600" spc="-5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b="1" u="sng" dirty="0">
              <a:ln w="3175">
                <a:noFill/>
              </a:ln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그럼 전기는 탄소배출계수가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없는건가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있다</a:t>
            </a:r>
            <a:r>
              <a:rPr lang="en-US" altLang="ko-KR" sz="1600" spc="-50" dirty="0"/>
              <a:t>. </a:t>
            </a:r>
            <a:r>
              <a:rPr lang="ko-KR" altLang="en-US" sz="1600" spc="-50" dirty="0"/>
              <a:t>전기의 탄소배출계수 </a:t>
            </a:r>
            <a:r>
              <a:rPr lang="en-US" altLang="ko-KR" sz="1600" spc="-50" dirty="0"/>
              <a:t> </a:t>
            </a:r>
            <a:r>
              <a:rPr lang="en-US" altLang="ko-KR" sz="1600" b="1" spc="-50" dirty="0"/>
              <a:t>0.000032</a:t>
            </a:r>
            <a:r>
              <a:rPr lang="en-US" altLang="ko-KR" sz="1600" spc="-50" dirty="0"/>
              <a:t> (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/MJ)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>
              <a:lnSpc>
                <a:spcPct val="150000"/>
              </a:lnSpc>
            </a:pPr>
            <a:r>
              <a:rPr lang="ko-KR" altLang="en-US" sz="1600" b="1" u="sng" dirty="0">
                <a:ln w="3175">
                  <a:noFill/>
                </a:ln>
                <a:latin typeface="+mn-ea"/>
              </a:rPr>
              <a:t>전기는 탄소배출을 </a:t>
            </a:r>
            <a:r>
              <a:rPr lang="ko-KR" altLang="en-US" sz="1600" b="1" u="sng" dirty="0" err="1">
                <a:ln w="3175">
                  <a:noFill/>
                </a:ln>
                <a:latin typeface="+mn-ea"/>
              </a:rPr>
              <a:t>안하는데</a:t>
            </a:r>
            <a:r>
              <a:rPr lang="ko-KR" altLang="en-US" sz="1600" b="1" u="sng" dirty="0">
                <a:ln w="3175">
                  <a:noFill/>
                </a:ln>
                <a:latin typeface="+mn-ea"/>
              </a:rPr>
              <a:t> 어떻게 탄소배출계수가 계산 되어 있나</a:t>
            </a:r>
            <a:r>
              <a:rPr lang="en-US" altLang="ko-KR" sz="1600" b="1" u="sng" dirty="0">
                <a:ln w="3175">
                  <a:noFill/>
                </a:ln>
                <a:latin typeface="+mn-ea"/>
              </a:rPr>
              <a:t>?</a:t>
            </a:r>
            <a:endParaRPr lang="en-US" altLang="ko-KR" sz="4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아까 </a:t>
            </a:r>
            <a:r>
              <a:rPr lang="ko-KR" altLang="en-US" sz="1600" spc="-50" dirty="0" err="1"/>
              <a:t>설명했다시피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전기는 애초에 만들어 질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화석연료를 연소해서 만들어지기 때문에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그때 나온 탄소배출량을 감안한 수치이다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즉 우리나라에서 전력 </a:t>
            </a:r>
            <a:r>
              <a:rPr lang="en-US" altLang="ko-KR" sz="1600" spc="-50" dirty="0"/>
              <a:t>1MWh</a:t>
            </a:r>
            <a:r>
              <a:rPr lang="ko-KR" altLang="en-US" sz="1600" spc="-50" dirty="0"/>
              <a:t>을 쓰면 </a:t>
            </a:r>
            <a:r>
              <a:rPr lang="en-US" altLang="ko-KR" sz="1600" spc="-50" dirty="0"/>
              <a:t>0.114tC</a:t>
            </a:r>
            <a:r>
              <a:rPr lang="ko-KR" altLang="en-US" sz="1600" spc="-50" dirty="0"/>
              <a:t>의 탄소를 배출한 것과 다름이 없다</a:t>
            </a:r>
            <a:r>
              <a:rPr lang="en-US" altLang="ko-KR" sz="1600" spc="-5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952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F71C33-4141-99F1-AB3D-904A196D3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B6AFF-3029-0ECA-D53B-400461C51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8C8B8D4-72CF-2E7D-DE99-C212830C0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064292"/>
            <a:ext cx="5562797" cy="302627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85D902-0E44-AA29-752B-BEF24C1FE333}"/>
                  </a:ext>
                </a:extLst>
              </p:cNvPr>
              <p:cNvSpPr txBox="1"/>
              <p:nvPr/>
            </p:nvSpPr>
            <p:spPr>
              <a:xfrm>
                <a:off x="288790" y="958844"/>
                <a:ext cx="5365250" cy="4107343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lstStyle/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ko-KR" sz="1600" spc="-50" dirty="0"/>
                  <a:t>KTX</a:t>
                </a:r>
                <a:r>
                  <a:rPr lang="ko-KR" altLang="en-US" sz="1600" spc="-50" dirty="0"/>
                  <a:t>로 대전에서 부산 갈 때 전력을 얼만큼 사용할까</a:t>
                </a:r>
                <a:r>
                  <a:rPr lang="en-US" altLang="ko-KR" sz="1600" spc="-50" dirty="0"/>
                  <a:t>?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KTX</a:t>
                </a:r>
                <a:r>
                  <a:rPr lang="ko-KR" altLang="en-US" sz="1600" spc="-50" dirty="0"/>
                  <a:t>는 </a:t>
                </a:r>
                <a:r>
                  <a:rPr lang="en-US" altLang="ko-KR" sz="1600" spc="-50" dirty="0"/>
                  <a:t>1km </a:t>
                </a:r>
                <a:r>
                  <a:rPr lang="ko-KR" altLang="en-US" sz="1600" spc="-50" dirty="0"/>
                  <a:t>가는데 </a:t>
                </a:r>
                <a:r>
                  <a:rPr lang="en-US" altLang="ko-KR" sz="1600" spc="-50" dirty="0"/>
                  <a:t>23.74kWh</a:t>
                </a:r>
                <a:r>
                  <a:rPr lang="ko-KR" altLang="en-US" sz="1600" spc="-50" dirty="0"/>
                  <a:t>를 사용한다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대전에서 부산 </a:t>
                </a:r>
                <a:r>
                  <a:rPr lang="ko-KR" altLang="en-US" sz="1600" spc="-50" dirty="0" err="1"/>
                  <a:t>갈때는</a:t>
                </a:r>
                <a:r>
                  <a:rPr lang="ko-KR" altLang="en-US" sz="1600" spc="-50" dirty="0"/>
                  <a:t> </a:t>
                </a:r>
                <a:r>
                  <a:rPr lang="en-US" altLang="ko-KR" sz="1600" spc="-50" dirty="0"/>
                  <a:t>258km</a:t>
                </a:r>
                <a:r>
                  <a:rPr lang="ko-KR" altLang="en-US" sz="1600" spc="-50" dirty="0"/>
                  <a:t> 가야하고</a:t>
                </a:r>
                <a:r>
                  <a:rPr lang="en-US" altLang="ko-KR" sz="1600" spc="-50" dirty="0"/>
                  <a:t>, </a:t>
                </a:r>
                <a:r>
                  <a:rPr lang="ko-KR" altLang="en-US" sz="1600" spc="-50" dirty="0"/>
                  <a:t>따라서 </a:t>
                </a:r>
                <a:r>
                  <a:rPr lang="en-US" altLang="ko-KR" sz="1600" spc="-50" dirty="0"/>
                  <a:t>6,125kWh, </a:t>
                </a:r>
                <a:r>
                  <a:rPr lang="ko-KR" altLang="en-US" sz="1600" spc="-50" dirty="0"/>
                  <a:t>즉 </a:t>
                </a:r>
                <a:r>
                  <a:rPr lang="en-US" altLang="ko-KR" sz="1600" spc="-50" dirty="0"/>
                  <a:t>6.125MWh</a:t>
                </a:r>
                <a:r>
                  <a:rPr lang="ko-KR" altLang="en-US" sz="1600" spc="-50" dirty="0"/>
                  <a:t>를 소비 한다</a:t>
                </a:r>
                <a:r>
                  <a:rPr lang="en-US" altLang="ko-KR" sz="1600" spc="-50" dirty="0"/>
                  <a:t>.</a:t>
                </a:r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endParaRPr lang="en-US" altLang="ko-KR" sz="1600" spc="-50" dirty="0"/>
              </a:p>
              <a:p>
                <a:pPr marL="377825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ko-KR" altLang="en-US" sz="1600" spc="-50" dirty="0"/>
                  <a:t>기차를 이용할 때 나오는 탄소배출량을 계산하기 위한 </a:t>
                </a:r>
                <a:r>
                  <a:rPr lang="en-US" altLang="ko-KR" sz="1600" spc="-50" dirty="0"/>
                  <a:t>3</a:t>
                </a:r>
                <a:r>
                  <a:rPr lang="ko-KR" altLang="en-US" sz="1600" spc="-50" dirty="0"/>
                  <a:t>가지 항목을 다 찾아 보았다</a:t>
                </a:r>
                <a:r>
                  <a:rPr lang="en-US" altLang="ko-KR" sz="1600" spc="-50" dirty="0"/>
                  <a:t>.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전기소비량</a:t>
                </a:r>
                <a:r>
                  <a:rPr lang="en-US" altLang="ko-KR" sz="1600" spc="-50" dirty="0"/>
                  <a:t>: 6.125 MWh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발열량</a:t>
                </a:r>
                <a:r>
                  <a:rPr lang="en-US" altLang="ko-KR" sz="1600" spc="-50" dirty="0"/>
                  <a:t>: 3600 MJ/MWh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ko-KR" altLang="en-US" sz="1600" spc="-50" dirty="0"/>
                  <a:t>배출계수</a:t>
                </a:r>
                <a:r>
                  <a:rPr lang="en-US" altLang="ko-KR" sz="1600" spc="-50" dirty="0"/>
                  <a:t>: 0.000032 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/MJ</a:t>
                </a:r>
              </a:p>
              <a:p>
                <a:pPr marL="835025" lvl="1" indent="-285750">
                  <a:lnSpc>
                    <a:spcPct val="150000"/>
                  </a:lnSpc>
                  <a:buFont typeface="Wingdings" panose="05000000000000000000" pitchFamily="2" charset="2"/>
                  <a:buChar char="ü"/>
                </a:pPr>
                <a:r>
                  <a:rPr lang="en-US" altLang="ko-KR" sz="1600" spc="-50" dirty="0"/>
                  <a:t>6.125 x 3,600 x 0.000032 </a:t>
                </a:r>
                <a:r>
                  <a:rPr lang="en-US" altLang="ko-KR" sz="1600" spc="-50" dirty="0" err="1"/>
                  <a:t>tC</a:t>
                </a:r>
                <a:r>
                  <a:rPr lang="en-US" altLang="ko-KR" sz="1600" spc="-50" dirty="0"/>
                  <a:t>/MJ </a:t>
                </a:r>
                <a14:m>
                  <m:oMath xmlns:m="http://schemas.openxmlformats.org/officeDocument/2006/math">
                    <m:r>
                      <a:rPr lang="en-US" altLang="ko-KR" sz="1600" i="1" spc="-5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altLang="ko-KR" sz="1600" spc="-50" dirty="0"/>
                  <a:t> 0.71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A85D902-0E44-AA29-752B-BEF24C1FE3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90" y="958844"/>
                <a:ext cx="5365250" cy="4107343"/>
              </a:xfrm>
              <a:prstGeom prst="rect">
                <a:avLst/>
              </a:prstGeom>
              <a:blipFill>
                <a:blip r:embed="rId3"/>
                <a:stretch>
                  <a:fillRect b="-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E323335-4013-8312-E7E0-855AF1F4B924}"/>
              </a:ext>
            </a:extLst>
          </p:cNvPr>
          <p:cNvSpPr txBox="1"/>
          <p:nvPr/>
        </p:nvSpPr>
        <p:spPr>
          <a:xfrm>
            <a:off x="7214235" y="4196013"/>
            <a:ext cx="37147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</a:t>
            </a:r>
            <a:r>
              <a:rPr lang="ko-KR" altLang="en-US" sz="1100" dirty="0"/>
              <a:t>https://www.joongang.co.kr/article/25263290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E7608-E01A-D867-7632-B962E984882D}"/>
              </a:ext>
            </a:extLst>
          </p:cNvPr>
          <p:cNvSpPr txBox="1"/>
          <p:nvPr/>
        </p:nvSpPr>
        <p:spPr>
          <a:xfrm>
            <a:off x="7214235" y="3959760"/>
            <a:ext cx="459676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/>
              <a:t>출처</a:t>
            </a:r>
            <a:r>
              <a:rPr lang="en-US" altLang="ko-KR" sz="1100" dirty="0"/>
              <a:t>: https://www.koreantrain.com/train-daejeon-busan?utm_source</a:t>
            </a:r>
            <a:endParaRPr lang="ko-KR" alt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0CAE76-7728-E278-4378-CFE9037BDD8E}"/>
              </a:ext>
            </a:extLst>
          </p:cNvPr>
          <p:cNvSpPr txBox="1"/>
          <p:nvPr/>
        </p:nvSpPr>
        <p:spPr>
          <a:xfrm>
            <a:off x="288790" y="5215884"/>
            <a:ext cx="11045960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따라서 우리가 탄 기차가 대전역에서 부산역까지 가는데 총 </a:t>
            </a:r>
            <a:r>
              <a:rPr lang="en-US" altLang="ko-KR" sz="1600" spc="-50" dirty="0"/>
              <a:t>0.71</a:t>
            </a:r>
            <a:r>
              <a:rPr lang="ko-KR" altLang="en-US" sz="1600" spc="-50" dirty="0"/>
              <a:t>톤의 탄소</a:t>
            </a:r>
            <a:r>
              <a:rPr lang="en-US" altLang="ko-KR" sz="1600" spc="-50" dirty="0"/>
              <a:t>(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를 간접적으로 배출하게 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기차가 달리면서 직접 배출한 탄소의 양은 </a:t>
            </a:r>
            <a:r>
              <a:rPr lang="en-US" altLang="ko-KR" sz="1600" spc="-50" dirty="0"/>
              <a:t>0 </a:t>
            </a:r>
            <a:r>
              <a:rPr lang="ko-KR" altLang="en-US" sz="1600" spc="-50" dirty="0"/>
              <a:t>이지만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기차가 달리기 위해 사용한 전력을 만드는데 배출한 탄소의 양이 </a:t>
            </a:r>
            <a:r>
              <a:rPr lang="en-US" altLang="ko-KR" sz="1600" spc="-50" dirty="0"/>
              <a:t>710kg </a:t>
            </a:r>
            <a:r>
              <a:rPr lang="ko-KR" altLang="en-US" sz="1600" spc="-50" dirty="0"/>
              <a:t>이라는 의미다</a:t>
            </a:r>
            <a:r>
              <a:rPr lang="en-US" altLang="ko-KR" sz="1600" spc="-5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545864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04CEC-6A08-07EF-D6EC-B86C5A90D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8E1B7D-A7B7-D210-DE11-AA810D8D4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</a:t>
            </a:r>
            <a:r>
              <a:rPr lang="ko-KR" altLang="en-US" dirty="0"/>
              <a:t>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B2B0E6-EB48-6AE3-B555-051AAB5F6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D3349D-A170-CCD1-C4F1-DE201511EE72}"/>
              </a:ext>
            </a:extLst>
          </p:cNvPr>
          <p:cNvSpPr txBox="1"/>
          <p:nvPr/>
        </p:nvSpPr>
        <p:spPr>
          <a:xfrm>
            <a:off x="288790" y="958844"/>
            <a:ext cx="110459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의 경우 나 혼자만 전기를 쓴 게 아니고</a:t>
            </a:r>
            <a:r>
              <a:rPr lang="en-US" altLang="ko-KR" sz="1600" spc="-50" dirty="0"/>
              <a:t>, KTX</a:t>
            </a:r>
            <a:r>
              <a:rPr lang="ko-KR" altLang="en-US" sz="1600" spc="-50" dirty="0"/>
              <a:t>에 탑승한 승객 전원이 다 같이 사용하였다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의 간접배출량으로 계산한 </a:t>
            </a:r>
            <a:r>
              <a:rPr lang="en-US" altLang="ko-KR" sz="1600" spc="-50" dirty="0"/>
              <a:t>710kg</a:t>
            </a:r>
            <a:r>
              <a:rPr lang="ko-KR" altLang="en-US" sz="1600" spc="-50" dirty="0"/>
              <a:t>는 대전에서 부산까지 이용한 승객의 숫자로 나누어야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그러나 대전에서 부산까지 이용한 승객을 조사한 통계도 없고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정확히 추론하는 것도 불가능하다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일단 우리가 알 수 있는 것은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에 마련된 좌석 수를 알 수 있고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적어도 이 좌석 수보다 승객이 더 많지는 않을 것이다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KTX</a:t>
            </a:r>
            <a:r>
              <a:rPr lang="ko-KR" altLang="en-US" sz="1600" spc="-50" dirty="0"/>
              <a:t>도 종류별로 좌석수가 다르나 가장 많이 운행하고 있는 </a:t>
            </a:r>
            <a:r>
              <a:rPr lang="en-US" altLang="ko-KR" sz="1600" spc="-50" dirty="0"/>
              <a:t>‘KTX’ </a:t>
            </a:r>
            <a:r>
              <a:rPr lang="ko-KR" altLang="en-US" sz="1600" spc="-50" dirty="0"/>
              <a:t>를 탄다고 가정하자</a:t>
            </a:r>
            <a:r>
              <a:rPr lang="en-US" altLang="ko-KR" sz="1600" spc="-50" dirty="0"/>
              <a:t>.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8ADEB71-71A0-6B74-65B0-4ECD1A2D0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218" y="3317240"/>
            <a:ext cx="4101992" cy="252524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747A04-1809-DB3E-32F0-5B738B7642A2}"/>
              </a:ext>
            </a:extLst>
          </p:cNvPr>
          <p:cNvSpPr txBox="1"/>
          <p:nvPr/>
        </p:nvSpPr>
        <p:spPr>
          <a:xfrm>
            <a:off x="288790" y="3219444"/>
            <a:ext cx="6955290" cy="299934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평일 하루 동안 </a:t>
            </a:r>
            <a:r>
              <a:rPr lang="en-US" altLang="ko-KR" sz="1600" spc="-50" dirty="0"/>
              <a:t>51</a:t>
            </a:r>
            <a:r>
              <a:rPr lang="ko-KR" altLang="en-US" sz="1600" spc="-50" dirty="0"/>
              <a:t>개의 </a:t>
            </a:r>
            <a:r>
              <a:rPr lang="en-US" altLang="ko-KR" sz="1600" spc="-50" dirty="0"/>
              <a:t>KTX</a:t>
            </a:r>
            <a:r>
              <a:rPr lang="ko-KR" altLang="en-US" sz="1600" spc="-50" dirty="0"/>
              <a:t>가 대전에서 부산으로 가는데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이 중 </a:t>
            </a:r>
            <a:r>
              <a:rPr lang="en-US" altLang="ko-KR" sz="1600" spc="-50" dirty="0"/>
              <a:t>‘KTX’</a:t>
            </a:r>
            <a:r>
              <a:rPr lang="ko-KR" altLang="en-US" sz="1600" spc="-50" dirty="0"/>
              <a:t>가 </a:t>
            </a:r>
            <a:r>
              <a:rPr lang="en-US" altLang="ko-KR" sz="1600" spc="-50" dirty="0"/>
              <a:t>41</a:t>
            </a:r>
            <a:r>
              <a:rPr lang="ko-KR" altLang="en-US" sz="1600" spc="-50" dirty="0"/>
              <a:t>대</a:t>
            </a:r>
            <a:r>
              <a:rPr lang="en-US" altLang="ko-KR" sz="1600" spc="-50" dirty="0"/>
              <a:t>, ‘KTX-</a:t>
            </a:r>
            <a:r>
              <a:rPr lang="ko-KR" altLang="en-US" sz="1600" spc="-50" dirty="0"/>
              <a:t>산천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이 </a:t>
            </a:r>
            <a:r>
              <a:rPr lang="en-US" altLang="ko-KR" sz="1600" spc="-50" dirty="0"/>
              <a:t>6</a:t>
            </a:r>
            <a:r>
              <a:rPr lang="ko-KR" altLang="en-US" sz="1600" spc="-50" dirty="0"/>
              <a:t>대</a:t>
            </a:r>
            <a:r>
              <a:rPr lang="en-US" altLang="ko-KR" sz="1600" spc="-50" dirty="0"/>
              <a:t>, ‘KTX-</a:t>
            </a:r>
            <a:r>
              <a:rPr lang="ko-KR" altLang="en-US" sz="1600" spc="-50" dirty="0"/>
              <a:t>청룡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이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대 운행한다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spc="-50" dirty="0"/>
              <a:t>(</a:t>
            </a:r>
            <a:r>
              <a:rPr lang="ko-KR" altLang="en-US" sz="1600" spc="-50" dirty="0"/>
              <a:t>좌석수</a:t>
            </a:r>
            <a:r>
              <a:rPr lang="en-US" altLang="ko-KR" sz="1600" spc="-50" dirty="0"/>
              <a:t>) KTX: 955</a:t>
            </a:r>
            <a:r>
              <a:rPr lang="ko-KR" altLang="en-US" sz="1600" spc="-50" dirty="0"/>
              <a:t>석</a:t>
            </a:r>
            <a:r>
              <a:rPr lang="en-US" altLang="ko-KR" sz="1600" spc="-50" dirty="0"/>
              <a:t>, KTX-</a:t>
            </a:r>
            <a:r>
              <a:rPr lang="ko-KR" altLang="en-US" sz="1600" spc="-50" dirty="0"/>
              <a:t>산천</a:t>
            </a:r>
            <a:r>
              <a:rPr lang="en-US" altLang="ko-KR" sz="1600" spc="-50" dirty="0"/>
              <a:t>: 379</a:t>
            </a:r>
            <a:r>
              <a:rPr lang="ko-KR" altLang="en-US" sz="1600" spc="-50" dirty="0"/>
              <a:t>석</a:t>
            </a:r>
            <a:r>
              <a:rPr lang="en-US" altLang="ko-KR" sz="1600" spc="-50" dirty="0"/>
              <a:t>,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요일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시간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구간별로 승객이 제 각각 이겠지만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탑승한 승객 수를 전체 좌석 수의 대략 </a:t>
            </a:r>
            <a:r>
              <a:rPr lang="en-US" altLang="ko-KR" sz="1600" spc="-50" dirty="0"/>
              <a:t>50% </a:t>
            </a:r>
            <a:r>
              <a:rPr lang="ko-KR" altLang="en-US" sz="1600" spc="-50" dirty="0"/>
              <a:t>정도 수준인 </a:t>
            </a:r>
            <a:r>
              <a:rPr lang="en-US" altLang="ko-KR" sz="1600" spc="-50" dirty="0"/>
              <a:t>500</a:t>
            </a:r>
            <a:r>
              <a:rPr lang="ko-KR" altLang="en-US" sz="1600" spc="-50" dirty="0"/>
              <a:t>명이라고 하자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결국 대전에서 부산까지 </a:t>
            </a:r>
            <a:r>
              <a:rPr lang="en-US" altLang="ko-KR" sz="1600" spc="-50" dirty="0"/>
              <a:t>KTX </a:t>
            </a:r>
            <a:r>
              <a:rPr lang="ko-KR" altLang="en-US" sz="1600" spc="-50" dirty="0"/>
              <a:t>타고 갈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내가 배출한 탄소양은 </a:t>
            </a:r>
            <a:r>
              <a:rPr lang="en-US" altLang="ko-KR" sz="1600" spc="-50" dirty="0"/>
              <a:t>1.42 kg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(=710kg/500</a:t>
            </a:r>
            <a:r>
              <a:rPr lang="ko-KR" altLang="en-US" sz="1600" spc="-50" dirty="0"/>
              <a:t>명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이 된다</a:t>
            </a:r>
            <a:r>
              <a:rPr lang="en-US" altLang="ko-KR" sz="1600" spc="-5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41180278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14C97-A171-0BB6-2FE7-470A4CE0A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7ED24A-71BF-F56A-475C-3C9A7F157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1003</a:t>
            </a:r>
            <a:r>
              <a:rPr lang="ko-KR" altLang="en-US" dirty="0"/>
              <a:t>번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69933-EF5A-063A-07E9-5A5003991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EAC932-78C6-C8AD-129E-CA62D8336522}"/>
              </a:ext>
            </a:extLst>
          </p:cNvPr>
          <p:cNvSpPr txBox="1"/>
          <p:nvPr/>
        </p:nvSpPr>
        <p:spPr>
          <a:xfrm>
            <a:off x="288790" y="958844"/>
            <a:ext cx="11045960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버스의 탄소배출량도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승용차의 탄소배출량을 계산할 때와 같은 방식으로 계산할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다만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승용차의 경우와 다른 점은 연료가 휘발유에서 경유로 바뀐다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휘발유와 경유는 가지고 있는 에너지양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발열량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도 다르고</a:t>
            </a:r>
            <a:r>
              <a:rPr lang="en-US" altLang="ko-KR" sz="1600" spc="-50" dirty="0"/>
              <a:t>, </a:t>
            </a:r>
            <a:r>
              <a:rPr lang="ko-KR" altLang="en-US" sz="1600" spc="-50" dirty="0" err="1"/>
              <a:t>탄소양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배출계수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도 다르다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따라서 식에 적용해야 하는 발열량이 바뀌고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또 배출계수 또한 바뀐다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경유버스의 연비는 </a:t>
            </a:r>
            <a:r>
              <a:rPr lang="en-US" altLang="ko-KR" sz="1600" spc="-50" dirty="0"/>
              <a:t>2.49km/liter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부산역에서 해운대까지 버스 노선의 거리는 </a:t>
            </a:r>
            <a:r>
              <a:rPr lang="en-US" altLang="ko-KR" sz="1600" spc="-50" dirty="0"/>
              <a:t>17km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경유의 발열량은 </a:t>
            </a:r>
            <a:r>
              <a:rPr lang="en-US" altLang="ko-KR" sz="1600" spc="-50" dirty="0"/>
              <a:t>37.8 MJ/liter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경유의 배출계수는 </a:t>
            </a:r>
            <a:r>
              <a:rPr lang="en-US" altLang="ko-KR" sz="1600" spc="-50" dirty="0"/>
              <a:t>0.000020090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/MJ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버스에는 승객이 </a:t>
            </a:r>
            <a:r>
              <a:rPr lang="en-US" altLang="ko-KR" sz="1600" spc="-50" dirty="0"/>
              <a:t>10</a:t>
            </a:r>
            <a:r>
              <a:rPr lang="ko-KR" altLang="en-US" sz="1600" spc="-50" dirty="0"/>
              <a:t>명이 타고 갔다고 하자</a:t>
            </a: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위 식에 수치들을 적용해보면 총 탄소배출량은 </a:t>
            </a:r>
            <a:r>
              <a:rPr lang="en-US" altLang="ko-KR" sz="1600" spc="-50" dirty="0"/>
              <a:t>0.0052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 (=5.2 </a:t>
            </a:r>
            <a:r>
              <a:rPr lang="en-US" altLang="ko-KR" sz="1600" spc="-50" dirty="0" err="1"/>
              <a:t>kgC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</a:t>
            </a:r>
            <a:r>
              <a:rPr lang="en-US" altLang="ko-KR" sz="1600" spc="-50" dirty="0"/>
              <a:t>1</a:t>
            </a:r>
            <a:r>
              <a:rPr lang="ko-KR" altLang="en-US" sz="1600" spc="-50" dirty="0"/>
              <a:t>인당 탄소배출량은 </a:t>
            </a:r>
            <a:r>
              <a:rPr lang="en-US" altLang="ko-KR" sz="1600" spc="-50" dirty="0"/>
              <a:t>0.00052 </a:t>
            </a:r>
            <a:r>
              <a:rPr lang="en-US" altLang="ko-KR" sz="1600" spc="-50" dirty="0" err="1"/>
              <a:t>tC</a:t>
            </a:r>
            <a:r>
              <a:rPr lang="en-US" altLang="ko-KR" sz="1600" spc="-50" dirty="0"/>
              <a:t> (=0.52kgC)</a:t>
            </a:r>
            <a:r>
              <a:rPr lang="ko-KR" altLang="en-US" sz="1600" spc="-50" dirty="0"/>
              <a:t>가 된다</a:t>
            </a:r>
            <a:r>
              <a:rPr lang="en-US" altLang="ko-KR" sz="1600" spc="-50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0AD301-BE17-FE13-F4A0-DD43A2D71778}"/>
                  </a:ext>
                </a:extLst>
              </p:cNvPr>
              <p:cNvSpPr txBox="1"/>
              <p:nvPr/>
            </p:nvSpPr>
            <p:spPr>
              <a:xfrm>
                <a:off x="1953842" y="2645924"/>
                <a:ext cx="7844208" cy="4456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탄소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소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열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𝑙𝑖𝑡𝑒𝑟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배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출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수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𝑡𝐶</m:t>
                          </m:r>
                        </m:num>
                        <m:den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𝑀𝐽</m:t>
                          </m:r>
                        </m:den>
                      </m:f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790AD301-BE17-FE13-F4A0-DD43A2D71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3842" y="2645924"/>
                <a:ext cx="7844208" cy="445635"/>
              </a:xfrm>
              <a:prstGeom prst="rect">
                <a:avLst/>
              </a:prstGeom>
              <a:blipFill>
                <a:blip r:embed="rId2"/>
                <a:stretch>
                  <a:fillRect t="-124658" r="-3810" b="-1958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063286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C6B7A-E263-4E10-6FC8-628F7326F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KTX </a:t>
            </a:r>
            <a:r>
              <a:rPr lang="ko-KR" altLang="en-US" dirty="0" err="1"/>
              <a:t>이용시</a:t>
            </a:r>
            <a:r>
              <a:rPr lang="ko-KR" altLang="en-US" dirty="0"/>
              <a:t> 탄소배출량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757C5F-D107-4398-4207-7BAEE7793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C63E35-8DC2-F0EF-A6DE-1A1640FF2F53}"/>
              </a:ext>
            </a:extLst>
          </p:cNvPr>
          <p:cNvSpPr txBox="1"/>
          <p:nvPr/>
        </p:nvSpPr>
        <p:spPr>
          <a:xfrm>
            <a:off x="288790" y="958844"/>
            <a:ext cx="11045960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 err="1"/>
              <a:t>ㅇㅇ</a:t>
            </a:r>
            <a:endParaRPr lang="en-US" altLang="ko-KR" sz="1600" spc="-50" dirty="0"/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A00D549-4CB3-9852-58E3-8EE7C10B03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656721"/>
              </p:ext>
            </p:extLst>
          </p:nvPr>
        </p:nvGraphicFramePr>
        <p:xfrm>
          <a:off x="513333" y="1898772"/>
          <a:ext cx="6942500" cy="3218969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35625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3036950207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205076024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자가용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인당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대중교통 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(1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인당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비용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자가용 이용 비용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25,604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연료 비용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16,917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통행료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7,650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표 요금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53447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50,171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탄소배출량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승용차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휘발유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6kgC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KTX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전기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1.42 </a:t>
                      </a:r>
                      <a:r>
                        <a:rPr 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버스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경유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0.52 </a:t>
                      </a:r>
                      <a:r>
                        <a:rPr lang="en-US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7568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6kgC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1.94 </a:t>
                      </a:r>
                      <a:r>
                        <a:rPr lang="en-US" sz="1300" b="0" kern="0" spc="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134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시간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시간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시간 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+mn-lt"/>
                          <a:ea typeface="+mn-ea"/>
                          <a:cs typeface="+mn-cs"/>
                        </a:rPr>
                        <a:t>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2147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1305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27981D2-4D3E-65CA-3E45-70E350AC53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419607"/>
              </p:ext>
            </p:extLst>
          </p:nvPr>
        </p:nvGraphicFramePr>
        <p:xfrm>
          <a:off x="7823200" y="1914964"/>
          <a:ext cx="3471250" cy="3186583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35625">
                  <a:extLst>
                    <a:ext uri="{9D8B030D-6E8A-4147-A177-3AD203B41FA5}">
                      <a16:colId xmlns:a16="http://schemas.microsoft.com/office/drawing/2014/main" val="3423487720"/>
                    </a:ext>
                  </a:extLst>
                </a:gridCol>
                <a:gridCol w="1735625">
                  <a:extLst>
                    <a:ext uri="{9D8B030D-6E8A-4147-A177-3AD203B41FA5}">
                      <a16:colId xmlns:a16="http://schemas.microsoft.com/office/drawing/2014/main" val="932047127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자가용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대중교통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91520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51,208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71804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33,834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21057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15,300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29120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sz="1300" b="0" kern="0" spc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6375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100,342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30,000 </a:t>
                      </a: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30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208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710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5974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6494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716.2 </a:t>
                      </a:r>
                      <a:r>
                        <a:rPr lang="en-US" altLang="ko-KR" sz="1300" b="0" kern="0" spc="0" dirty="0" err="1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kgC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639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3528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926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16852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97857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EDE1B-D2A3-1029-C107-0C1A84D47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5C92BD-5CC2-122A-4704-E431976A5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생각해보자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CA8F6C-93D3-E068-5D09-B17F218A1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CA114-3463-CCFA-4518-8FA1A44ED480}"/>
              </a:ext>
            </a:extLst>
          </p:cNvPr>
          <p:cNvSpPr txBox="1"/>
          <p:nvPr/>
        </p:nvSpPr>
        <p:spPr>
          <a:xfrm>
            <a:off x="288790" y="958844"/>
            <a:ext cx="11045960" cy="2630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교통수단을 선택할 때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차량 보유비용을 포함시켜서 계산하는 것이 올바른 접근이었을까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경제학에는 매몰비용이라는 개념이 있다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우리나라가 화석연료 사용 없이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신재생에너지로만 전력을 공급하고 있다면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전력배출계수는 어떻게 바뀔까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신재생에너지로만 전력을 공급하고 있다면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전력 배출계수는 </a:t>
            </a:r>
            <a:r>
              <a:rPr lang="en-US" altLang="ko-KR" sz="1600" spc="-50" dirty="0"/>
              <a:t>0</a:t>
            </a:r>
            <a:r>
              <a:rPr lang="ko-KR" altLang="en-US" sz="1600" spc="-50" dirty="0"/>
              <a:t>이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자가용을 타고 가는 경우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운전자는 운전만 하고 다른 일을 못하는 반면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기차를 타게 되면 그 시간에 다른 일을 할 수 있지 않나</a:t>
            </a:r>
            <a:r>
              <a:rPr lang="en-US" altLang="ko-KR" sz="1600" spc="-50" dirty="0"/>
              <a:t>?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234504337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C8B0EB-74B1-B51C-A4E6-7DD41C0B0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24993C-D1C3-8436-D8C1-21698BE6D1B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051A9577-CCBA-F474-5E82-99100C452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>
                <a:solidFill>
                  <a:schemeClr val="accent2"/>
                </a:solidFill>
              </a:rPr>
              <a:t>T</a:t>
            </a:r>
            <a:r>
              <a:rPr lang="en-US" altLang="ko-KR" sz="5400" i="0" spc="100"/>
              <a:t>hank you</a:t>
            </a:r>
            <a:endParaRPr lang="ko-KR" altLang="en-US" sz="5400" i="0" spc="10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898E0-926C-D8DA-8874-21A66F64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04048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CDAD2-3FF2-942E-F7AE-54E2718BA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309395-6F18-CC59-5674-D1B27E328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이용비용</a:t>
            </a:r>
            <a:r>
              <a:rPr lang="en-US" altLang="ko-KR" dirty="0"/>
              <a:t> (1)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467176-53D0-691F-6764-D49F52D19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6CF5297-0560-2A62-3538-1730F2AD1149}"/>
              </a:ext>
            </a:extLst>
          </p:cNvPr>
          <p:cNvSpPr txBox="1"/>
          <p:nvPr/>
        </p:nvSpPr>
        <p:spPr>
          <a:xfrm>
            <a:off x="288790" y="958844"/>
            <a:ext cx="10817360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해운대까지 주행할 때의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차량 보유비용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은 자가용을 </a:t>
            </a:r>
            <a:r>
              <a:rPr lang="en-US" altLang="ko-KR" sz="1600" spc="-50" dirty="0"/>
              <a:t>1km </a:t>
            </a:r>
            <a:r>
              <a:rPr lang="ko-KR" altLang="en-US" sz="1600" spc="-50" dirty="0"/>
              <a:t>주행할 때 들어가는 비용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단위비용</a:t>
            </a:r>
            <a:r>
              <a:rPr lang="en-US" altLang="ko-KR" sz="1600" spc="-50" dirty="0"/>
              <a:t>)</a:t>
            </a:r>
            <a:r>
              <a:rPr lang="ko-KR" altLang="en-US" sz="1600" spc="-50" dirty="0"/>
              <a:t>을 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거기에 해운대까지 주행할 거리를 곱하는 방식으로 계산하고자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단위비용은 자가용을 구입 한 시점 </a:t>
            </a:r>
            <a:r>
              <a:rPr lang="ko-KR" altLang="en-US" sz="1600" spc="-50" dirty="0" err="1"/>
              <a:t>부터</a:t>
            </a:r>
            <a:r>
              <a:rPr lang="ko-KR" altLang="en-US" sz="1600" spc="-50" dirty="0"/>
              <a:t> 수명이 다 할 때까지 </a:t>
            </a:r>
            <a:r>
              <a:rPr lang="en-US" altLang="ko-KR" sz="1600" spc="-50" dirty="0"/>
              <a:t>(</a:t>
            </a:r>
            <a:r>
              <a:rPr lang="ko-KR" altLang="en-US" sz="1600" spc="-50" dirty="0"/>
              <a:t>폐차</a:t>
            </a:r>
            <a:r>
              <a:rPr lang="en-US" altLang="ko-KR" sz="1600" spc="-50" dirty="0"/>
              <a:t>) </a:t>
            </a:r>
            <a:r>
              <a:rPr lang="ko-KR" altLang="en-US" sz="1600" spc="-50" dirty="0"/>
              <a:t>들어가는 모든 비용을 더해서 총 비용을 구하고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거기에 수명이 다 할 때까지의 총 주행거리를 나누어 계산하고자 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0101C6-203E-89E8-CAD2-5CA62492B0C5}"/>
                  </a:ext>
                </a:extLst>
              </p:cNvPr>
              <p:cNvSpPr txBox="1"/>
              <p:nvPr/>
            </p:nvSpPr>
            <p:spPr>
              <a:xfrm>
                <a:off x="1979983" y="1929459"/>
                <a:ext cx="7477714" cy="42344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>
                          <a:latin typeface="Cambria Math" panose="02040503050406030204" pitchFamily="18" charset="0"/>
                        </a:rPr>
                        <m:t>차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보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유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단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주행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거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리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</m:t>
                      </m:r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0101C6-203E-89E8-CAD2-5CA62492B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9983" y="1929459"/>
                <a:ext cx="7477714" cy="42344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89696C-7B11-7E53-3873-3CA48D70FE00}"/>
                  </a:ext>
                </a:extLst>
              </p:cNvPr>
              <p:cNvSpPr txBox="1"/>
              <p:nvPr/>
            </p:nvSpPr>
            <p:spPr>
              <a:xfrm>
                <a:off x="1572842" y="4686634"/>
                <a:ext cx="5981444" cy="6283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단위</m:t>
                      </m:r>
                      <m:r>
                        <a:rPr lang="ko-KR" altLang="en-US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i="1" smtClean="0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type m:val="skw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</m:num>
                        <m:den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𝑘𝑚</m:t>
                          </m:r>
                        </m:den>
                      </m:f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 =</m:t>
                      </m:r>
                      <m:f>
                        <m:f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비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용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원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총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주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행</m:t>
                          </m:r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거</m:t>
                          </m:r>
                          <m:r>
                            <a:rPr lang="ko-KR" altLang="en-US" i="1" smtClean="0">
                              <a:latin typeface="Cambria Math" panose="02040503050406030204" pitchFamily="18" charset="0"/>
                            </a:rPr>
                            <m:t>리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𝑘𝑚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ko-KR" altLang="en-US" sz="24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B89696C-7B11-7E53-3873-3CA48D70FE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2842" y="4686634"/>
                <a:ext cx="5981444" cy="6283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618818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74E17-79DB-CE1B-25FE-53BE539CE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E33B7E-7639-F55B-F933-B398D64856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이용비용</a:t>
            </a:r>
            <a:r>
              <a:rPr lang="en-US" altLang="ko-KR" dirty="0"/>
              <a:t> (2)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62804F-869D-5D98-D629-502A56538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EE19D0-7CC0-3307-8B0F-F2B340A1448E}"/>
              </a:ext>
            </a:extLst>
          </p:cNvPr>
          <p:cNvSpPr txBox="1"/>
          <p:nvPr/>
        </p:nvSpPr>
        <p:spPr>
          <a:xfrm>
            <a:off x="288790" y="958844"/>
            <a:ext cx="10512560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여기서 총 비용은 아래 수식처럼 차량구입비와 연간 운영비를 더한 것과 같다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차량구입비는 차를 구입할 때 한 번만 지불한다</a:t>
            </a:r>
            <a:r>
              <a:rPr lang="en-US" altLang="ko-KR" sz="1600" spc="-50" dirty="0"/>
              <a:t>. (25,000,000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연간 운영비는 </a:t>
            </a:r>
            <a:r>
              <a:rPr lang="en-US" altLang="ko-KR" sz="1600" spc="-50" dirty="0"/>
              <a:t>15</a:t>
            </a:r>
            <a:r>
              <a:rPr lang="ko-KR" altLang="en-US" sz="1600" spc="-50" dirty="0"/>
              <a:t>년 동안 매년 지불한다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매년 </a:t>
            </a:r>
            <a:r>
              <a:rPr lang="en-US" altLang="ko-KR" sz="1600" spc="-50" dirty="0"/>
              <a:t>1,500,000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연간 운영비는 미래에 발생하는 것이므로</a:t>
            </a:r>
            <a:r>
              <a:rPr lang="en-US" altLang="ko-KR" sz="1600" spc="-50" dirty="0"/>
              <a:t>,</a:t>
            </a:r>
            <a:r>
              <a:rPr lang="ko-KR" altLang="en-US" sz="1600" spc="-50" dirty="0"/>
              <a:t> 현재가치로 할인을 해주어야 한다</a:t>
            </a:r>
            <a:r>
              <a:rPr lang="en-US" altLang="ko-KR" sz="1600" spc="-5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할인율은 </a:t>
            </a:r>
            <a:r>
              <a:rPr lang="en-US" altLang="ko-KR" sz="1600" spc="-50" dirty="0"/>
              <a:t>5% </a:t>
            </a:r>
            <a:r>
              <a:rPr lang="ko-KR" altLang="en-US" sz="1600" spc="-50" dirty="0"/>
              <a:t>라고 하자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spc="-50" dirty="0"/>
              <a:t>위 식을 통해 총 비용을 계산해보면 </a:t>
            </a:r>
            <a:r>
              <a:rPr lang="en-US" altLang="ko-KR" sz="1600" spc="-50" dirty="0"/>
              <a:t>40,569,487</a:t>
            </a:r>
            <a:r>
              <a:rPr lang="ko-KR" altLang="en-US" sz="1600" spc="-50" dirty="0"/>
              <a:t>원 이다</a:t>
            </a:r>
            <a:r>
              <a:rPr lang="en-US" altLang="ko-KR" sz="1600" spc="-50" dirty="0"/>
              <a:t>. (</a:t>
            </a:r>
            <a:r>
              <a:rPr lang="ko-KR" altLang="en-US" sz="1600" spc="-50" dirty="0"/>
              <a:t>엑셀 참고</a:t>
            </a:r>
            <a:r>
              <a:rPr lang="en-US" altLang="ko-KR" sz="1600" spc="-50" dirty="0"/>
              <a:t>)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총 주행거리는 연간 주행거리의 합으로 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2025</a:t>
            </a:r>
            <a:r>
              <a:rPr lang="ko-KR" altLang="en-US" sz="1600" spc="-50" dirty="0"/>
              <a:t>년의 </a:t>
            </a:r>
            <a:r>
              <a:rPr lang="en-US" altLang="ko-KR" sz="1600" spc="-50" dirty="0"/>
              <a:t>1km</a:t>
            </a:r>
            <a:r>
              <a:rPr lang="ko-KR" altLang="en-US" sz="1600" spc="-50" dirty="0"/>
              <a:t>와</a:t>
            </a:r>
            <a:r>
              <a:rPr lang="en-US" altLang="ko-KR" sz="1600" spc="-50" dirty="0"/>
              <a:t> 2040</a:t>
            </a:r>
            <a:r>
              <a:rPr lang="ko-KR" altLang="en-US" sz="1600" spc="-50" dirty="0"/>
              <a:t>년의 </a:t>
            </a:r>
            <a:r>
              <a:rPr lang="en-US" altLang="ko-KR" sz="1600" spc="-50" dirty="0"/>
              <a:t>1km</a:t>
            </a:r>
            <a:r>
              <a:rPr lang="ko-KR" altLang="en-US" sz="1600" spc="-50" dirty="0"/>
              <a:t>의 길이는 언제나 같으므로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주행거리는 시간에 대해 할인을 할 필요가 없다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총 거리는 </a:t>
            </a:r>
            <a:r>
              <a:rPr lang="en-US" altLang="ko-KR" sz="1600" spc="-50" dirty="0"/>
              <a:t>225,000km (=15,000km/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 x 15</a:t>
            </a:r>
            <a:r>
              <a:rPr lang="ko-KR" altLang="en-US" sz="1600" spc="-50" dirty="0"/>
              <a:t>년</a:t>
            </a:r>
            <a:r>
              <a:rPr lang="en-US" altLang="ko-KR" sz="1600" spc="-5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3EDDE-7DFD-B910-AD3A-7928EBD79DC5}"/>
                  </a:ext>
                </a:extLst>
              </p:cNvPr>
              <p:cNvSpPr txBox="1"/>
              <p:nvPr/>
            </p:nvSpPr>
            <p:spPr>
              <a:xfrm>
                <a:off x="2831192" y="2876450"/>
                <a:ext cx="3699637" cy="6087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총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용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차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량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구</m:t>
                      </m:r>
                      <m:r>
                        <a:rPr lang="ko-KR" altLang="en-US" sz="1400" i="1" smtClean="0">
                          <a:latin typeface="Cambria Math" panose="02040503050406030204" pitchFamily="18" charset="0"/>
                        </a:rPr>
                        <m:t>입</m:t>
                      </m:r>
                      <m:r>
                        <a:rPr lang="ko-KR" altLang="en-US" sz="1400" i="1">
                          <a:latin typeface="Cambria Math" panose="02040503050406030204" pitchFamily="18" charset="0"/>
                        </a:rPr>
                        <m:t>비</m:t>
                      </m:r>
                      <m:r>
                        <a:rPr lang="en-US" altLang="ko-KR" sz="1400" b="0" i="1" smtClean="0">
                          <a:latin typeface="Cambria Math" panose="02040503050406030204" pitchFamily="18" charset="0"/>
                        </a:rPr>
                        <m:t>+ </m:t>
                      </m:r>
                      <m:nary>
                        <m:naryPr>
                          <m:chr m:val="∑"/>
                          <m:ctrl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ko-KR" sz="1400" b="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sup>
                        <m:e>
                          <m:f>
                            <m:fPr>
                              <m:ctrlPr>
                                <a:rPr lang="en-US" altLang="ko-KR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연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간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운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영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비</m:t>
                                  </m:r>
                                </m:e>
                                <m:sub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(1+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할</m:t>
                                  </m:r>
                                  <m:r>
                                    <a:rPr lang="ko-KR" altLang="en-US" sz="1400" i="1" smtClean="0">
                                      <a:latin typeface="Cambria Math" panose="02040503050406030204" pitchFamily="18" charset="0"/>
                                    </a:rPr>
                                    <m:t>인</m:t>
                                  </m:r>
                                  <m:r>
                                    <a:rPr lang="ko-KR" altLang="en-US" sz="1400" i="1">
                                      <a:latin typeface="Cambria Math" panose="02040503050406030204" pitchFamily="18" charset="0"/>
                                    </a:rPr>
                                    <m:t>율</m:t>
                                  </m:r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ko-KR" sz="14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ko-KR" altLang="en-US" sz="1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5C3EDDE-7DFD-B910-AD3A-7928EBD79D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1192" y="2876450"/>
                <a:ext cx="3699637" cy="608756"/>
              </a:xfrm>
              <a:prstGeom prst="rect">
                <a:avLst/>
              </a:prstGeom>
              <a:blipFill>
                <a:blip r:embed="rId2"/>
                <a:stretch>
                  <a:fillRect b="-100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007297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E8F4F4-103F-B6E9-846F-515EE80BC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7202FC-6827-CE45-5133-49059D888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에너지의 뜻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A73469-AD84-BCC9-D65B-29491723A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6A4F89-A9B3-C1D7-C4EF-6C0941B4E7B6}"/>
              </a:ext>
            </a:extLst>
          </p:cNvPr>
          <p:cNvSpPr txBox="1"/>
          <p:nvPr/>
        </p:nvSpPr>
        <p:spPr>
          <a:xfrm>
            <a:off x="288790" y="958844"/>
            <a:ext cx="1169366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보통 물리학에서는 에너지를 </a:t>
            </a:r>
            <a:r>
              <a:rPr lang="en-US" altLang="ko-KR" sz="1600" spc="-50" dirty="0"/>
              <a:t>‘</a:t>
            </a:r>
            <a:r>
              <a:rPr lang="ko-KR" altLang="en-US" sz="1600" b="1" spc="-50" dirty="0"/>
              <a:t>일</a:t>
            </a:r>
            <a:r>
              <a:rPr lang="en-US" altLang="ko-KR" sz="1600" b="1" spc="-50" dirty="0"/>
              <a:t>(work)</a:t>
            </a:r>
            <a:r>
              <a:rPr lang="ko-KR" altLang="en-US" sz="1600" b="1" spc="-50" dirty="0"/>
              <a:t>을 할 수 있는 능력</a:t>
            </a:r>
            <a:r>
              <a:rPr lang="en-US" altLang="ko-KR" sz="1600" spc="-50" dirty="0"/>
              <a:t>‘ </a:t>
            </a:r>
            <a:r>
              <a:rPr lang="ko-KR" altLang="en-US" sz="1600" spc="-50" dirty="0"/>
              <a:t>이라고 정의한다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에너지를 측정하는 단위는 줄</a:t>
            </a:r>
            <a:r>
              <a:rPr lang="en-US" altLang="ko-KR" sz="1600" spc="-50" dirty="0"/>
              <a:t>(Joule)</a:t>
            </a:r>
            <a:r>
              <a:rPr lang="ko-KR" altLang="en-US" sz="1600" spc="-50" dirty="0"/>
              <a:t>이다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줄</a:t>
            </a:r>
            <a:r>
              <a:rPr lang="en-US" altLang="ko-KR" sz="1600" spc="-50" dirty="0"/>
              <a:t>(Joule)</a:t>
            </a:r>
            <a:r>
              <a:rPr lang="ko-KR" altLang="en-US" sz="1600" spc="-50" dirty="0"/>
              <a:t>은 대략 </a:t>
            </a:r>
            <a:r>
              <a:rPr lang="en-US" altLang="ko-KR" sz="1600" spc="-50" dirty="0"/>
              <a:t>100g</a:t>
            </a:r>
            <a:r>
              <a:rPr lang="ko-KR" altLang="en-US" sz="1600" spc="-50" dirty="0"/>
              <a:t> </a:t>
            </a:r>
            <a:r>
              <a:rPr lang="ko-KR" altLang="en-US" sz="1600" spc="-50" dirty="0" err="1"/>
              <a:t>짜리</a:t>
            </a:r>
            <a:r>
              <a:rPr lang="ko-KR" altLang="en-US" sz="1600" spc="-50" dirty="0"/>
              <a:t> 사과 하나를 </a:t>
            </a:r>
            <a:r>
              <a:rPr lang="en-US" altLang="ko-KR" sz="1600" spc="-50" dirty="0"/>
              <a:t>10cm </a:t>
            </a:r>
            <a:r>
              <a:rPr lang="ko-KR" altLang="en-US" sz="1600" spc="-50" dirty="0"/>
              <a:t>들어올리는 데 필요한 에너지라고 생각하면 된다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spc="-50" dirty="0"/>
              <a:t>1</a:t>
            </a:r>
            <a:r>
              <a:rPr lang="ko-KR" altLang="en-US" sz="1600" spc="-50" dirty="0"/>
              <a:t>줄</a:t>
            </a:r>
            <a:r>
              <a:rPr lang="en-US" altLang="ko-KR" sz="1600" spc="-50" dirty="0"/>
              <a:t>(Joule)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0.00024kcal</a:t>
            </a:r>
            <a:r>
              <a:rPr lang="ko-KR" altLang="en-US" sz="1600" spc="-50" dirty="0"/>
              <a:t> 같다</a:t>
            </a:r>
            <a:r>
              <a:rPr lang="en-US" altLang="ko-KR" sz="1600" spc="-5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spc="-50" dirty="0"/>
          </a:p>
        </p:txBody>
      </p:sp>
    </p:spTree>
    <p:extLst>
      <p:ext uri="{BB962C8B-B14F-4D97-AF65-F5344CB8AC3E}">
        <p14:creationId xmlns:p14="http://schemas.microsoft.com/office/powerpoint/2010/main" val="19883590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63F1E-91F6-D414-2D4A-DB2E797ED5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6E0351-F03E-20EE-91C7-121CE564B1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자가용 이용비용 </a:t>
            </a:r>
            <a:r>
              <a:rPr lang="en-US" altLang="ko-KR" dirty="0"/>
              <a:t>(3)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BA8319-10DE-8A22-0CEA-A878BEE09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46</a:t>
            </a:fld>
            <a:endParaRPr lang="ko-KR" altLang="en-US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5091743-1918-8BCA-4D50-B1F31424E3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3920" y="1540454"/>
            <a:ext cx="5559290" cy="47523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4A87E5-2CC5-3A10-7114-03F397EF437C}"/>
              </a:ext>
            </a:extLst>
          </p:cNvPr>
          <p:cNvSpPr txBox="1"/>
          <p:nvPr/>
        </p:nvSpPr>
        <p:spPr>
          <a:xfrm>
            <a:off x="288790" y="947070"/>
            <a:ext cx="5944230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이제 총비용과 총거리를 알고 있으니</a:t>
            </a:r>
            <a:r>
              <a:rPr lang="en-US" altLang="ko-KR" sz="1600" spc="-50" dirty="0"/>
              <a:t>, </a:t>
            </a:r>
            <a:r>
              <a:rPr lang="ko-KR" altLang="en-US" sz="1600" spc="-50" dirty="0"/>
              <a:t>아반떼로 </a:t>
            </a:r>
            <a:r>
              <a:rPr lang="en-US" altLang="ko-KR" sz="1600" spc="-50" dirty="0"/>
              <a:t>1km</a:t>
            </a:r>
            <a:r>
              <a:rPr lang="ko-KR" altLang="en-US" sz="1600" spc="-50" dirty="0"/>
              <a:t>를 주행하는데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소요되는 평균비용을 구할 수 있다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spc="-50" dirty="0"/>
              <a:t>40,569,487</a:t>
            </a:r>
            <a:r>
              <a:rPr lang="ko-KR" altLang="en-US" sz="1600" spc="-50" dirty="0"/>
              <a:t>원 </a:t>
            </a:r>
            <a:r>
              <a:rPr lang="en-US" altLang="ko-KR" sz="1600" spc="-50" dirty="0"/>
              <a:t>/ 225,000km = 180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/km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5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50" dirty="0"/>
              <a:t>다시</a:t>
            </a:r>
            <a:r>
              <a:rPr lang="en-US" altLang="ko-KR" sz="1600" spc="-50" dirty="0"/>
              <a:t> </a:t>
            </a:r>
            <a:r>
              <a:rPr lang="ko-KR" altLang="en-US" sz="1600" spc="-50" dirty="0"/>
              <a:t>해운대 놀러가는 거를 생각해보자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오른쪽 그림에서 보는 것처럼 해운대까지 총 </a:t>
            </a:r>
            <a:r>
              <a:rPr lang="en-US" altLang="ko-KR" sz="1600" spc="-50" dirty="0"/>
              <a:t>284km</a:t>
            </a:r>
            <a:r>
              <a:rPr lang="ko-KR" altLang="en-US" sz="1600" spc="-50" dirty="0"/>
              <a:t>를 주행해야 한다</a:t>
            </a:r>
            <a:r>
              <a:rPr lang="en-US" altLang="ko-KR" sz="1600" spc="-5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50" dirty="0"/>
              <a:t>따라서 해운대까지의 </a:t>
            </a:r>
            <a:r>
              <a:rPr lang="en-US" altLang="ko-KR" sz="1600" spc="-50" dirty="0"/>
              <a:t>‘</a:t>
            </a:r>
            <a:r>
              <a:rPr lang="ko-KR" altLang="en-US" sz="1600" spc="-50" dirty="0"/>
              <a:t>자가용 이용비용</a:t>
            </a:r>
            <a:r>
              <a:rPr lang="en-US" altLang="ko-KR" sz="1600" spc="-50" dirty="0"/>
              <a:t>’</a:t>
            </a:r>
            <a:r>
              <a:rPr lang="ko-KR" altLang="en-US" sz="1600" spc="-50" dirty="0"/>
              <a:t>은 </a:t>
            </a:r>
            <a:r>
              <a:rPr lang="en-US" altLang="ko-KR" sz="1600" spc="-50" dirty="0"/>
              <a:t>51,208</a:t>
            </a:r>
            <a:r>
              <a:rPr lang="ko-KR" altLang="en-US" sz="1600" spc="-50" dirty="0"/>
              <a:t>원인 셈이다</a:t>
            </a:r>
            <a:r>
              <a:rPr lang="en-US" altLang="ko-KR" sz="1600" spc="-50" dirty="0"/>
              <a:t>. (180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/km x 284km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=</a:t>
            </a:r>
            <a:r>
              <a:rPr lang="ko-KR" altLang="en-US" sz="1600" spc="-50" dirty="0"/>
              <a:t> </a:t>
            </a:r>
            <a:r>
              <a:rPr lang="en-US" altLang="ko-KR" sz="1600" spc="-50" dirty="0"/>
              <a:t>51,208</a:t>
            </a:r>
            <a:r>
              <a:rPr lang="ko-KR" altLang="en-US" sz="1600" spc="-50" dirty="0"/>
              <a:t>원</a:t>
            </a:r>
            <a:r>
              <a:rPr lang="en-US" altLang="ko-KR" sz="1600" spc="-5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65704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7896</TotalTime>
  <Words>4032</Words>
  <Application>Microsoft Office PowerPoint</Application>
  <PresentationFormat>와이드스크린</PresentationFormat>
  <Paragraphs>524</Paragraphs>
  <Slides>46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3" baseType="lpstr">
      <vt:lpstr>HY헤드라인M</vt:lpstr>
      <vt:lpstr>KoPub돋움체 Light</vt:lpstr>
      <vt:lpstr>Arial</vt:lpstr>
      <vt:lpstr>Cambria Math</vt:lpstr>
      <vt:lpstr>Wingdings</vt:lpstr>
      <vt:lpstr>맑은 고딕</vt:lpstr>
      <vt:lpstr>Office 테마</vt:lpstr>
      <vt:lpstr>에 너 지 경 제</vt:lpstr>
      <vt:lpstr>에너지경제</vt:lpstr>
      <vt:lpstr>수업 개요</vt:lpstr>
      <vt:lpstr>생활 속의 에너지</vt:lpstr>
      <vt:lpstr>에너지의 종류</vt:lpstr>
      <vt:lpstr>에너지 공급과 수요</vt:lpstr>
      <vt:lpstr>에너지 공급과 수요</vt:lpstr>
      <vt:lpstr>에너지와 환경</vt:lpstr>
      <vt:lpstr>기상과 기후</vt:lpstr>
      <vt:lpstr>온실가스와 지구온난화</vt:lpstr>
      <vt:lpstr>온실가스와 지구온난화</vt:lpstr>
      <vt:lpstr>지구온난화와 기후변화</vt:lpstr>
      <vt:lpstr>지구온난화와 기후변화</vt:lpstr>
      <vt:lpstr>지구온난화 기후변화</vt:lpstr>
      <vt:lpstr>에너지 공급과 수요</vt:lpstr>
      <vt:lpstr>Section 0. 해운대 놀러가기</vt:lpstr>
      <vt:lpstr>한밭대에서 해운대 바다 놀러가기</vt:lpstr>
      <vt:lpstr>Section 1-1. 자가용 (비용)</vt:lpstr>
      <vt:lpstr>승용차를 이용할 때 드는 비용</vt:lpstr>
      <vt:lpstr>자가용 정보</vt:lpstr>
      <vt:lpstr>연료비용</vt:lpstr>
      <vt:lpstr>통행료</vt:lpstr>
      <vt:lpstr>해운대까지 드는 총 비용</vt:lpstr>
      <vt:lpstr>Section 1-2. 자가용 (탄소배출)</vt:lpstr>
      <vt:lpstr>자가용 이용시 탄소배출량</vt:lpstr>
      <vt:lpstr>자가용 이용시 탄소배출량</vt:lpstr>
      <vt:lpstr>자가용 이용시 탄소배출량</vt:lpstr>
      <vt:lpstr>자가용 이용시 탄소배출량</vt:lpstr>
      <vt:lpstr>자가용 이용시 탄소배출량</vt:lpstr>
      <vt:lpstr>Section 2-1. 대중교통 (비용)</vt:lpstr>
      <vt:lpstr>대중교통을 이용할 때 드는 비용</vt:lpstr>
      <vt:lpstr>대중교통을 이용할 때 드는 비용</vt:lpstr>
      <vt:lpstr>대중교통을 이용할 때 드는 비용 (부산 1003번 버스)</vt:lpstr>
      <vt:lpstr>Section 2-2. 대중교통 (탄소배출)</vt:lpstr>
      <vt:lpstr>KTX 이용시 탄소배출량</vt:lpstr>
      <vt:lpstr>KTX 이용시 탄소배출량</vt:lpstr>
      <vt:lpstr>KTX 이용시 탄소배출량</vt:lpstr>
      <vt:lpstr>KTX 이용시 탄소배출량</vt:lpstr>
      <vt:lpstr>1003번 이용시 탄소배출량</vt:lpstr>
      <vt:lpstr>KTX 이용시 탄소배출량</vt:lpstr>
      <vt:lpstr>생각해보자.</vt:lpstr>
      <vt:lpstr>Thank you</vt:lpstr>
      <vt:lpstr>자가용 이용비용 (1)</vt:lpstr>
      <vt:lpstr>자가용 이용비용 (2)</vt:lpstr>
      <vt:lpstr>에너지의 뜻</vt:lpstr>
      <vt:lpstr>자가용 이용비용 (3)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Seungho Jeon</cp:lastModifiedBy>
  <cp:revision>326</cp:revision>
  <dcterms:created xsi:type="dcterms:W3CDTF">2025-07-05T05:15:23Z</dcterms:created>
  <dcterms:modified xsi:type="dcterms:W3CDTF">2026-03-26T08:49:22Z</dcterms:modified>
</cp:coreProperties>
</file>