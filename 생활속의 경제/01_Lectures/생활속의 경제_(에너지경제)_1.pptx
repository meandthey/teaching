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26"/>
  </p:notesMasterIdLst>
  <p:sldIdLst>
    <p:sldId id="375" r:id="rId2"/>
    <p:sldId id="622" r:id="rId3"/>
    <p:sldId id="606" r:id="rId4"/>
    <p:sldId id="623" r:id="rId5"/>
    <p:sldId id="615" r:id="rId6"/>
    <p:sldId id="607" r:id="rId7"/>
    <p:sldId id="624" r:id="rId8"/>
    <p:sldId id="618" r:id="rId9"/>
    <p:sldId id="619" r:id="rId10"/>
    <p:sldId id="625" r:id="rId11"/>
    <p:sldId id="620" r:id="rId12"/>
    <p:sldId id="621" r:id="rId13"/>
    <p:sldId id="626" r:id="rId14"/>
    <p:sldId id="616" r:id="rId15"/>
    <p:sldId id="627" r:id="rId16"/>
    <p:sldId id="609" r:id="rId17"/>
    <p:sldId id="610" r:id="rId18"/>
    <p:sldId id="612" r:id="rId19"/>
    <p:sldId id="611" r:id="rId20"/>
    <p:sldId id="613" r:id="rId21"/>
    <p:sldId id="614" r:id="rId22"/>
    <p:sldId id="628" r:id="rId23"/>
    <p:sldId id="629" r:id="rId24"/>
    <p:sldId id="364" r:id="rId25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FEFEF"/>
    <a:srgbClr val="92714D"/>
    <a:srgbClr val="3B8380"/>
    <a:srgbClr val="A5D0CD"/>
    <a:srgbClr val="A67539"/>
    <a:srgbClr val="D77600"/>
    <a:srgbClr val="E7E8E8"/>
    <a:srgbClr val="E15F5F"/>
    <a:srgbClr val="F8F7FC"/>
    <a:srgbClr val="2D72B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5D4F822-9B6C-2312-BC7C-289E6CBD8A83}" v="204" dt="2025-07-20T13:57:47.285"/>
    <p1510:client id="{6FC94FB9-0A6B-4253-B3BE-E28497FA5913}" v="13" dt="2025-07-21T06:43:27.973"/>
    <p1510:client id="{ACAA3603-E3D6-4895-8F10-727493C87641}" v="65" dt="2025-07-21T00:56:35.769"/>
    <p1510:client id="{F2AEC958-FA13-3020-BC15-FF90776EF069}" v="4" dt="2025-07-21T06:39:02.781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6834" autoAdjust="0"/>
    <p:restoredTop sz="94660"/>
  </p:normalViewPr>
  <p:slideViewPr>
    <p:cSldViewPr snapToGrid="0">
      <p:cViewPr varScale="1">
        <p:scale>
          <a:sx n="90" d="100"/>
          <a:sy n="90" d="100"/>
        </p:scale>
        <p:origin x="68" y="13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microsoft.com/office/2015/10/relationships/revisionInfo" Target="revisionInfo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A5E00EF-AEA4-43E2-9451-8F9C59A39471}" type="datetimeFigureOut">
              <a:rPr lang="ko-KR" altLang="en-US" smtClean="0"/>
              <a:t>2026-03-30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6183C86-FCDD-4CD4-A668-4DF0BEDE3EB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5483682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9AB1E38-39C7-48C4-086A-B6EF68CA504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EE913856-496C-B1A2-D9C8-F0B2113C592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8D845EA-812B-B94C-5F91-4538C5B0842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D32C56F-BD27-4999-9E6D-D4EACE3DA9F4}" type="datetime1">
              <a:rPr lang="ko-KR" altLang="en-US" smtClean="0"/>
              <a:t>2026-03-30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127CC3D-4E75-B1F8-2261-C9EEA1AA9C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BF1B240-7572-2884-ADF8-CC4D01D436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183520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D86E21D-82E6-C9AF-A630-9F90B75413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B394455-1CD5-40DD-A267-639381E2942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A468D34-B903-2F96-71AD-0A335A08665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16B83F9E-22C9-45CA-9E85-070F1D3EF530}" type="datetime1">
              <a:rPr lang="ko-KR" altLang="en-US" smtClean="0"/>
              <a:t>2026-03-30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F736989-7205-0872-8F94-F68B3387B3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80E82D4-4058-837B-0186-DF1F17F36C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3793704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DE35CB0-2E64-7E17-7F11-3E336F1ABC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E2D50A24-08A9-B9E0-2E86-A56A1D9E742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D0B33A9-AC09-8991-549A-226E174EB90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03278F45-FB3C-4C4D-B89A-7BC3F5F229F6}" type="datetime1">
              <a:rPr lang="ko-KR" altLang="en-US" smtClean="0"/>
              <a:t>2026-03-30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9A77B79-B6C6-4181-A645-4655A0A56B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D7EF39A-AD25-8789-D43C-8EA119BB94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8245549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자유형: 도형 5">
            <a:extLst>
              <a:ext uri="{FF2B5EF4-FFF2-40B4-BE49-F238E27FC236}">
                <a16:creationId xmlns:a16="http://schemas.microsoft.com/office/drawing/2014/main" id="{6B2B1356-24BE-84BC-4DC7-3DE366037E84}"/>
              </a:ext>
            </a:extLst>
          </p:cNvPr>
          <p:cNvSpPr/>
          <p:nvPr userDrawn="1"/>
        </p:nvSpPr>
        <p:spPr>
          <a:xfrm>
            <a:off x="832348" y="226088"/>
            <a:ext cx="11070092" cy="399644"/>
          </a:xfrm>
          <a:custGeom>
            <a:avLst/>
            <a:gdLst>
              <a:gd name="connsiteX0" fmla="*/ 66609 w 11133508"/>
              <a:gd name="connsiteY0" fmla="*/ 0 h 399644"/>
              <a:gd name="connsiteX1" fmla="*/ 11066899 w 11133508"/>
              <a:gd name="connsiteY1" fmla="*/ 0 h 399644"/>
              <a:gd name="connsiteX2" fmla="*/ 11133508 w 11133508"/>
              <a:gd name="connsiteY2" fmla="*/ 66609 h 399644"/>
              <a:gd name="connsiteX3" fmla="*/ 11133508 w 11133508"/>
              <a:gd name="connsiteY3" fmla="*/ 333035 h 399644"/>
              <a:gd name="connsiteX4" fmla="*/ 11066899 w 11133508"/>
              <a:gd name="connsiteY4" fmla="*/ 399644 h 399644"/>
              <a:gd name="connsiteX5" fmla="*/ 613523 w 11133508"/>
              <a:gd name="connsiteY5" fmla="*/ 399644 h 399644"/>
              <a:gd name="connsiteX6" fmla="*/ 516629 w 11133508"/>
              <a:gd name="connsiteY6" fmla="*/ 232586 h 399644"/>
              <a:gd name="connsiteX7" fmla="*/ 419736 w 11133508"/>
              <a:gd name="connsiteY7" fmla="*/ 399644 h 399644"/>
              <a:gd name="connsiteX8" fmla="*/ 66609 w 11133508"/>
              <a:gd name="connsiteY8" fmla="*/ 399644 h 399644"/>
              <a:gd name="connsiteX9" fmla="*/ 0 w 11133508"/>
              <a:gd name="connsiteY9" fmla="*/ 333035 h 399644"/>
              <a:gd name="connsiteX10" fmla="*/ 0 w 11133508"/>
              <a:gd name="connsiteY10" fmla="*/ 66609 h 399644"/>
              <a:gd name="connsiteX11" fmla="*/ 66609 w 11133508"/>
              <a:gd name="connsiteY11" fmla="*/ 0 h 3996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1133508" h="399644">
                <a:moveTo>
                  <a:pt x="66609" y="0"/>
                </a:moveTo>
                <a:lnTo>
                  <a:pt x="11066899" y="0"/>
                </a:lnTo>
                <a:cubicBezTo>
                  <a:pt x="11103686" y="0"/>
                  <a:pt x="11133508" y="29822"/>
                  <a:pt x="11133508" y="66609"/>
                </a:cubicBezTo>
                <a:lnTo>
                  <a:pt x="11133508" y="333035"/>
                </a:lnTo>
                <a:cubicBezTo>
                  <a:pt x="11133508" y="369822"/>
                  <a:pt x="11103686" y="399644"/>
                  <a:pt x="11066899" y="399644"/>
                </a:cubicBezTo>
                <a:lnTo>
                  <a:pt x="613523" y="399644"/>
                </a:lnTo>
                <a:lnTo>
                  <a:pt x="516629" y="232586"/>
                </a:lnTo>
                <a:lnTo>
                  <a:pt x="419736" y="399644"/>
                </a:lnTo>
                <a:lnTo>
                  <a:pt x="66609" y="399644"/>
                </a:lnTo>
                <a:cubicBezTo>
                  <a:pt x="29822" y="399644"/>
                  <a:pt x="0" y="369822"/>
                  <a:pt x="0" y="333035"/>
                </a:cubicBezTo>
                <a:lnTo>
                  <a:pt x="0" y="66609"/>
                </a:lnTo>
                <a:cubicBezTo>
                  <a:pt x="0" y="29822"/>
                  <a:pt x="29822" y="0"/>
                  <a:pt x="66609" y="0"/>
                </a:cubicBezTo>
                <a:close/>
              </a:path>
            </a:pathLst>
          </a:custGeom>
          <a:solidFill>
            <a:schemeClr val="bg1"/>
          </a:solidFill>
          <a:ln w="92075" cap="rnd">
            <a:solidFill>
              <a:schemeClr val="bg1"/>
            </a:solidFill>
            <a:round/>
          </a:ln>
          <a:effectLst>
            <a:outerShdw blurRad="254000" dist="38100" dir="2700000" algn="tl" rotWithShape="0">
              <a:prstClr val="black">
                <a:alpha val="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174625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2603500" algn="l"/>
              </a:tabLst>
              <a:defRPr/>
            </a:pPr>
            <a:endParaRPr kumimoji="0" lang="ko-KR" altLang="en-US" sz="1600" b="0" i="0" u="none" strike="noStrike" kern="1200" cap="none" spc="0" normalizeH="0" baseline="0" noProof="0">
              <a:ln>
                <a:noFill/>
              </a:ln>
              <a:solidFill>
                <a:prstClr val="white">
                  <a:lumMod val="85000"/>
                </a:prstClr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0F930236-B5C8-D9A4-EA14-40915FCDBA70}"/>
              </a:ext>
            </a:extLst>
          </p:cNvPr>
          <p:cNvSpPr/>
          <p:nvPr userDrawn="1"/>
        </p:nvSpPr>
        <p:spPr>
          <a:xfrm>
            <a:off x="1037626" y="520066"/>
            <a:ext cx="635786" cy="15784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8374F9DA-878E-E86E-075B-62CFB99FBDF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38FDAC3C-35A6-415C-9F03-738A6AC328B1}" type="datetime1">
              <a:rPr lang="ko-KR" altLang="en-US" smtClean="0"/>
              <a:t>2026-03-30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E7EE000A-EE22-ABA9-FA89-DA9EA0B9A9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B5EA1F0-774A-3104-2C40-0915864269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  <p:pic>
        <p:nvPicPr>
          <p:cNvPr id="5" name="그림 4" descr="상징, 원, 로고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34F494D8-0B43-4288-8718-B3CEFA70206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9550" y="173911"/>
            <a:ext cx="503999" cy="503999"/>
          </a:xfrm>
          <a:prstGeom prst="rect">
            <a:avLst/>
          </a:prstGeom>
        </p:spPr>
      </p:pic>
      <p:grpSp>
        <p:nvGrpSpPr>
          <p:cNvPr id="7" name="그룹 6">
            <a:extLst>
              <a:ext uri="{FF2B5EF4-FFF2-40B4-BE49-F238E27FC236}">
                <a16:creationId xmlns:a16="http://schemas.microsoft.com/office/drawing/2014/main" id="{965ECDD4-C7AB-0780-5C56-AF0432547CDE}"/>
              </a:ext>
            </a:extLst>
          </p:cNvPr>
          <p:cNvGrpSpPr/>
          <p:nvPr userDrawn="1"/>
        </p:nvGrpSpPr>
        <p:grpSpPr>
          <a:xfrm>
            <a:off x="965438" y="334122"/>
            <a:ext cx="36002" cy="185944"/>
            <a:chOff x="398695" y="310309"/>
            <a:chExt cx="36002" cy="185944"/>
          </a:xfrm>
        </p:grpSpPr>
        <p:sp>
          <p:nvSpPr>
            <p:cNvPr id="8" name="타원 7">
              <a:extLst>
                <a:ext uri="{FF2B5EF4-FFF2-40B4-BE49-F238E27FC236}">
                  <a16:creationId xmlns:a16="http://schemas.microsoft.com/office/drawing/2014/main" id="{ED730A23-15D1-AC6C-BF3C-193DD65B5ED2}"/>
                </a:ext>
              </a:extLst>
            </p:cNvPr>
            <p:cNvSpPr/>
            <p:nvPr/>
          </p:nvSpPr>
          <p:spPr>
            <a:xfrm>
              <a:off x="398697" y="310309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9" name="타원 8">
              <a:extLst>
                <a:ext uri="{FF2B5EF4-FFF2-40B4-BE49-F238E27FC236}">
                  <a16:creationId xmlns:a16="http://schemas.microsoft.com/office/drawing/2014/main" id="{9A8DF95E-63D4-C269-1A9E-58D5FB253590}"/>
                </a:ext>
              </a:extLst>
            </p:cNvPr>
            <p:cNvSpPr/>
            <p:nvPr/>
          </p:nvSpPr>
          <p:spPr>
            <a:xfrm>
              <a:off x="398696" y="385281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0" name="타원 9">
              <a:extLst>
                <a:ext uri="{FF2B5EF4-FFF2-40B4-BE49-F238E27FC236}">
                  <a16:creationId xmlns:a16="http://schemas.microsoft.com/office/drawing/2014/main" id="{592BD15F-E509-254C-B07E-B9BE6F1576B5}"/>
                </a:ext>
              </a:extLst>
            </p:cNvPr>
            <p:cNvSpPr/>
            <p:nvPr/>
          </p:nvSpPr>
          <p:spPr>
            <a:xfrm>
              <a:off x="398695" y="460253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</p:grpSp>
      <p:sp>
        <p:nvSpPr>
          <p:cNvPr id="11" name="Freeform 9">
            <a:extLst>
              <a:ext uri="{FF2B5EF4-FFF2-40B4-BE49-F238E27FC236}">
                <a16:creationId xmlns:a16="http://schemas.microsoft.com/office/drawing/2014/main" id="{47220B64-BDC8-944A-0E1A-C71EB0647CDA}"/>
              </a:ext>
            </a:extLst>
          </p:cNvPr>
          <p:cNvSpPr>
            <a:spLocks/>
          </p:cNvSpPr>
          <p:nvPr userDrawn="1"/>
        </p:nvSpPr>
        <p:spPr bwMode="auto">
          <a:xfrm>
            <a:off x="11662598" y="370122"/>
            <a:ext cx="106877" cy="141044"/>
          </a:xfrm>
          <a:custGeom>
            <a:avLst/>
            <a:gdLst>
              <a:gd name="T0" fmla="*/ 1093 w 9310"/>
              <a:gd name="T1" fmla="*/ 12245 h 12286"/>
              <a:gd name="T2" fmla="*/ 582 w 9310"/>
              <a:gd name="T3" fmla="*/ 12007 h 12286"/>
              <a:gd name="T4" fmla="*/ 279 w 9310"/>
              <a:gd name="T5" fmla="*/ 11710 h 12286"/>
              <a:gd name="T6" fmla="*/ 42 w 9310"/>
              <a:gd name="T7" fmla="*/ 11209 h 12286"/>
              <a:gd name="T8" fmla="*/ 0 w 9310"/>
              <a:gd name="T9" fmla="*/ 1919 h 12286"/>
              <a:gd name="T10" fmla="*/ 117 w 9310"/>
              <a:gd name="T11" fmla="*/ 1260 h 12286"/>
              <a:gd name="T12" fmla="*/ 498 w 9310"/>
              <a:gd name="T13" fmla="*/ 629 h 12286"/>
              <a:gd name="T14" fmla="*/ 1088 w 9310"/>
              <a:gd name="T15" fmla="*/ 189 h 12286"/>
              <a:gd name="T16" fmla="*/ 1821 w 9310"/>
              <a:gd name="T17" fmla="*/ 1 h 12286"/>
              <a:gd name="T18" fmla="*/ 7682 w 9310"/>
              <a:gd name="T19" fmla="*/ 22 h 12286"/>
              <a:gd name="T20" fmla="*/ 8385 w 9310"/>
              <a:gd name="T21" fmla="*/ 278 h 12286"/>
              <a:gd name="T22" fmla="*/ 8929 w 9310"/>
              <a:gd name="T23" fmla="*/ 772 h 12286"/>
              <a:gd name="T24" fmla="*/ 9250 w 9310"/>
              <a:gd name="T25" fmla="*/ 1440 h 12286"/>
              <a:gd name="T26" fmla="*/ 9310 w 9310"/>
              <a:gd name="T27" fmla="*/ 8471 h 12286"/>
              <a:gd name="T28" fmla="*/ 9201 w 9310"/>
              <a:gd name="T29" fmla="*/ 8777 h 12286"/>
              <a:gd name="T30" fmla="*/ 8880 w 9310"/>
              <a:gd name="T31" fmla="*/ 8949 h 12286"/>
              <a:gd name="T32" fmla="*/ 8601 w 9310"/>
              <a:gd name="T33" fmla="*/ 8894 h 12286"/>
              <a:gd name="T34" fmla="*/ 8370 w 9310"/>
              <a:gd name="T35" fmla="*/ 8615 h 12286"/>
              <a:gd name="T36" fmla="*/ 8349 w 9310"/>
              <a:gd name="T37" fmla="*/ 1870 h 12286"/>
              <a:gd name="T38" fmla="*/ 8255 w 9310"/>
              <a:gd name="T39" fmla="*/ 1503 h 12286"/>
              <a:gd name="T40" fmla="*/ 8035 w 9310"/>
              <a:gd name="T41" fmla="*/ 1209 h 12286"/>
              <a:gd name="T42" fmla="*/ 7720 w 9310"/>
              <a:gd name="T43" fmla="*/ 1018 h 12286"/>
              <a:gd name="T44" fmla="*/ 7390 w 9310"/>
              <a:gd name="T45" fmla="*/ 960 h 12286"/>
              <a:gd name="T46" fmla="*/ 1680 w 9310"/>
              <a:gd name="T47" fmla="*/ 989 h 12286"/>
              <a:gd name="T48" fmla="*/ 1346 w 9310"/>
              <a:gd name="T49" fmla="*/ 1150 h 12286"/>
              <a:gd name="T50" fmla="*/ 1098 w 9310"/>
              <a:gd name="T51" fmla="*/ 1423 h 12286"/>
              <a:gd name="T52" fmla="*/ 970 w 9310"/>
              <a:gd name="T53" fmla="*/ 1774 h 12286"/>
              <a:gd name="T54" fmla="*/ 962 w 9310"/>
              <a:gd name="T55" fmla="*/ 10904 h 12286"/>
              <a:gd name="T56" fmla="*/ 1091 w 9310"/>
              <a:gd name="T57" fmla="*/ 11185 h 12286"/>
              <a:gd name="T58" fmla="*/ 1405 w 9310"/>
              <a:gd name="T59" fmla="*/ 11326 h 12286"/>
              <a:gd name="T60" fmla="*/ 1677 w 9310"/>
              <a:gd name="T61" fmla="*/ 11273 h 12286"/>
              <a:gd name="T62" fmla="*/ 4346 w 9310"/>
              <a:gd name="T63" fmla="*/ 8559 h 12286"/>
              <a:gd name="T64" fmla="*/ 4655 w 9310"/>
              <a:gd name="T65" fmla="*/ 8448 h 12286"/>
              <a:gd name="T66" fmla="*/ 4964 w 9310"/>
              <a:gd name="T67" fmla="*/ 8559 h 12286"/>
              <a:gd name="T68" fmla="*/ 7633 w 9310"/>
              <a:gd name="T69" fmla="*/ 11273 h 12286"/>
              <a:gd name="T70" fmla="*/ 7902 w 9310"/>
              <a:gd name="T71" fmla="*/ 11326 h 12286"/>
              <a:gd name="T72" fmla="*/ 8215 w 9310"/>
              <a:gd name="T73" fmla="*/ 11182 h 12286"/>
              <a:gd name="T74" fmla="*/ 8349 w 9310"/>
              <a:gd name="T75" fmla="*/ 10897 h 12286"/>
              <a:gd name="T76" fmla="*/ 8408 w 9310"/>
              <a:gd name="T77" fmla="*/ 10618 h 12286"/>
              <a:gd name="T78" fmla="*/ 8687 w 9310"/>
              <a:gd name="T79" fmla="*/ 10387 h 12286"/>
              <a:gd name="T80" fmla="*/ 8974 w 9310"/>
              <a:gd name="T81" fmla="*/ 10387 h 12286"/>
              <a:gd name="T82" fmla="*/ 9253 w 9310"/>
              <a:gd name="T83" fmla="*/ 10618 h 12286"/>
              <a:gd name="T84" fmla="*/ 9309 w 9310"/>
              <a:gd name="T85" fmla="*/ 10920 h 12286"/>
              <a:gd name="T86" fmla="*/ 9174 w 9310"/>
              <a:gd name="T87" fmla="*/ 11466 h 12286"/>
              <a:gd name="T88" fmla="*/ 8890 w 9310"/>
              <a:gd name="T89" fmla="*/ 11865 h 12286"/>
              <a:gd name="T90" fmla="*/ 8474 w 9310"/>
              <a:gd name="T91" fmla="*/ 12151 h 12286"/>
              <a:gd name="T92" fmla="*/ 7913 w 9310"/>
              <a:gd name="T93" fmla="*/ 12286 h 12286"/>
              <a:gd name="T94" fmla="*/ 7489 w 9310"/>
              <a:gd name="T95" fmla="*/ 12242 h 12286"/>
              <a:gd name="T96" fmla="*/ 6997 w 9310"/>
              <a:gd name="T97" fmla="*/ 12001 h 12286"/>
              <a:gd name="T98" fmla="*/ 2472 w 9310"/>
              <a:gd name="T99" fmla="*/ 11859 h 12286"/>
              <a:gd name="T100" fmla="*/ 2080 w 9310"/>
              <a:gd name="T101" fmla="*/ 12145 h 12286"/>
              <a:gd name="T102" fmla="*/ 1545 w 9310"/>
              <a:gd name="T103" fmla="*/ 12285 h 1228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</a:cxnLst>
            <a:rect l="0" t="0" r="r" b="b"/>
            <a:pathLst>
              <a:path w="9310" h="12286">
                <a:moveTo>
                  <a:pt x="1447" y="12286"/>
                </a:moveTo>
                <a:lnTo>
                  <a:pt x="1375" y="12286"/>
                </a:lnTo>
                <a:lnTo>
                  <a:pt x="1232" y="12272"/>
                </a:lnTo>
                <a:lnTo>
                  <a:pt x="1093" y="12245"/>
                </a:lnTo>
                <a:lnTo>
                  <a:pt x="957" y="12203"/>
                </a:lnTo>
                <a:lnTo>
                  <a:pt x="826" y="12150"/>
                </a:lnTo>
                <a:lnTo>
                  <a:pt x="700" y="12085"/>
                </a:lnTo>
                <a:lnTo>
                  <a:pt x="582" y="12007"/>
                </a:lnTo>
                <a:lnTo>
                  <a:pt x="471" y="11918"/>
                </a:lnTo>
                <a:lnTo>
                  <a:pt x="419" y="11869"/>
                </a:lnTo>
                <a:lnTo>
                  <a:pt x="370" y="11818"/>
                </a:lnTo>
                <a:lnTo>
                  <a:pt x="279" y="11710"/>
                </a:lnTo>
                <a:lnTo>
                  <a:pt x="202" y="11595"/>
                </a:lnTo>
                <a:lnTo>
                  <a:pt x="135" y="11471"/>
                </a:lnTo>
                <a:lnTo>
                  <a:pt x="82" y="11343"/>
                </a:lnTo>
                <a:lnTo>
                  <a:pt x="42" y="11209"/>
                </a:lnTo>
                <a:lnTo>
                  <a:pt x="14" y="11070"/>
                </a:lnTo>
                <a:lnTo>
                  <a:pt x="1" y="10927"/>
                </a:lnTo>
                <a:lnTo>
                  <a:pt x="0" y="10855"/>
                </a:lnTo>
                <a:lnTo>
                  <a:pt x="0" y="1919"/>
                </a:lnTo>
                <a:lnTo>
                  <a:pt x="1" y="1821"/>
                </a:lnTo>
                <a:lnTo>
                  <a:pt x="22" y="1627"/>
                </a:lnTo>
                <a:lnTo>
                  <a:pt x="60" y="1440"/>
                </a:lnTo>
                <a:lnTo>
                  <a:pt x="117" y="1260"/>
                </a:lnTo>
                <a:lnTo>
                  <a:pt x="189" y="1089"/>
                </a:lnTo>
                <a:lnTo>
                  <a:pt x="278" y="924"/>
                </a:lnTo>
                <a:lnTo>
                  <a:pt x="382" y="772"/>
                </a:lnTo>
                <a:lnTo>
                  <a:pt x="498" y="629"/>
                </a:lnTo>
                <a:lnTo>
                  <a:pt x="629" y="498"/>
                </a:lnTo>
                <a:lnTo>
                  <a:pt x="772" y="382"/>
                </a:lnTo>
                <a:lnTo>
                  <a:pt x="924" y="278"/>
                </a:lnTo>
                <a:lnTo>
                  <a:pt x="1088" y="189"/>
                </a:lnTo>
                <a:lnTo>
                  <a:pt x="1260" y="117"/>
                </a:lnTo>
                <a:lnTo>
                  <a:pt x="1440" y="60"/>
                </a:lnTo>
                <a:lnTo>
                  <a:pt x="1627" y="22"/>
                </a:lnTo>
                <a:lnTo>
                  <a:pt x="1821" y="1"/>
                </a:lnTo>
                <a:lnTo>
                  <a:pt x="1919" y="0"/>
                </a:lnTo>
                <a:lnTo>
                  <a:pt x="7390" y="0"/>
                </a:lnTo>
                <a:lnTo>
                  <a:pt x="7489" y="1"/>
                </a:lnTo>
                <a:lnTo>
                  <a:pt x="7682" y="22"/>
                </a:lnTo>
                <a:lnTo>
                  <a:pt x="7869" y="60"/>
                </a:lnTo>
                <a:lnTo>
                  <a:pt x="8049" y="117"/>
                </a:lnTo>
                <a:lnTo>
                  <a:pt x="8222" y="189"/>
                </a:lnTo>
                <a:lnTo>
                  <a:pt x="8385" y="278"/>
                </a:lnTo>
                <a:lnTo>
                  <a:pt x="8539" y="382"/>
                </a:lnTo>
                <a:lnTo>
                  <a:pt x="8681" y="498"/>
                </a:lnTo>
                <a:lnTo>
                  <a:pt x="8811" y="629"/>
                </a:lnTo>
                <a:lnTo>
                  <a:pt x="8929" y="772"/>
                </a:lnTo>
                <a:lnTo>
                  <a:pt x="9033" y="924"/>
                </a:lnTo>
                <a:lnTo>
                  <a:pt x="9120" y="1089"/>
                </a:lnTo>
                <a:lnTo>
                  <a:pt x="9194" y="1260"/>
                </a:lnTo>
                <a:lnTo>
                  <a:pt x="9250" y="1440"/>
                </a:lnTo>
                <a:lnTo>
                  <a:pt x="9289" y="1627"/>
                </a:lnTo>
                <a:lnTo>
                  <a:pt x="9308" y="1821"/>
                </a:lnTo>
                <a:lnTo>
                  <a:pt x="9310" y="1919"/>
                </a:lnTo>
                <a:lnTo>
                  <a:pt x="9310" y="8471"/>
                </a:lnTo>
                <a:lnTo>
                  <a:pt x="9308" y="8521"/>
                </a:lnTo>
                <a:lnTo>
                  <a:pt x="9289" y="8615"/>
                </a:lnTo>
                <a:lnTo>
                  <a:pt x="9253" y="8700"/>
                </a:lnTo>
                <a:lnTo>
                  <a:pt x="9201" y="8777"/>
                </a:lnTo>
                <a:lnTo>
                  <a:pt x="9136" y="8842"/>
                </a:lnTo>
                <a:lnTo>
                  <a:pt x="9058" y="8894"/>
                </a:lnTo>
                <a:lnTo>
                  <a:pt x="8974" y="8930"/>
                </a:lnTo>
                <a:lnTo>
                  <a:pt x="8880" y="8949"/>
                </a:lnTo>
                <a:lnTo>
                  <a:pt x="8830" y="8952"/>
                </a:lnTo>
                <a:lnTo>
                  <a:pt x="8781" y="8949"/>
                </a:lnTo>
                <a:lnTo>
                  <a:pt x="8687" y="8930"/>
                </a:lnTo>
                <a:lnTo>
                  <a:pt x="8601" y="8894"/>
                </a:lnTo>
                <a:lnTo>
                  <a:pt x="8524" y="8842"/>
                </a:lnTo>
                <a:lnTo>
                  <a:pt x="8460" y="8777"/>
                </a:lnTo>
                <a:lnTo>
                  <a:pt x="8408" y="8700"/>
                </a:lnTo>
                <a:lnTo>
                  <a:pt x="8370" y="8615"/>
                </a:lnTo>
                <a:lnTo>
                  <a:pt x="8352" y="8521"/>
                </a:lnTo>
                <a:lnTo>
                  <a:pt x="8350" y="8471"/>
                </a:lnTo>
                <a:lnTo>
                  <a:pt x="8350" y="1919"/>
                </a:lnTo>
                <a:lnTo>
                  <a:pt x="8349" y="1870"/>
                </a:lnTo>
                <a:lnTo>
                  <a:pt x="8340" y="1774"/>
                </a:lnTo>
                <a:lnTo>
                  <a:pt x="8320" y="1680"/>
                </a:lnTo>
                <a:lnTo>
                  <a:pt x="8293" y="1590"/>
                </a:lnTo>
                <a:lnTo>
                  <a:pt x="8255" y="1503"/>
                </a:lnTo>
                <a:lnTo>
                  <a:pt x="8211" y="1423"/>
                </a:lnTo>
                <a:lnTo>
                  <a:pt x="8160" y="1346"/>
                </a:lnTo>
                <a:lnTo>
                  <a:pt x="8101" y="1274"/>
                </a:lnTo>
                <a:lnTo>
                  <a:pt x="8035" y="1209"/>
                </a:lnTo>
                <a:lnTo>
                  <a:pt x="7964" y="1150"/>
                </a:lnTo>
                <a:lnTo>
                  <a:pt x="7888" y="1099"/>
                </a:lnTo>
                <a:lnTo>
                  <a:pt x="7806" y="1054"/>
                </a:lnTo>
                <a:lnTo>
                  <a:pt x="7720" y="1018"/>
                </a:lnTo>
                <a:lnTo>
                  <a:pt x="7630" y="989"/>
                </a:lnTo>
                <a:lnTo>
                  <a:pt x="7537" y="970"/>
                </a:lnTo>
                <a:lnTo>
                  <a:pt x="7440" y="960"/>
                </a:lnTo>
                <a:lnTo>
                  <a:pt x="7390" y="960"/>
                </a:lnTo>
                <a:lnTo>
                  <a:pt x="1919" y="960"/>
                </a:lnTo>
                <a:lnTo>
                  <a:pt x="1870" y="960"/>
                </a:lnTo>
                <a:lnTo>
                  <a:pt x="1774" y="970"/>
                </a:lnTo>
                <a:lnTo>
                  <a:pt x="1680" y="989"/>
                </a:lnTo>
                <a:lnTo>
                  <a:pt x="1589" y="1018"/>
                </a:lnTo>
                <a:lnTo>
                  <a:pt x="1503" y="1054"/>
                </a:lnTo>
                <a:lnTo>
                  <a:pt x="1422" y="1099"/>
                </a:lnTo>
                <a:lnTo>
                  <a:pt x="1346" y="1150"/>
                </a:lnTo>
                <a:lnTo>
                  <a:pt x="1274" y="1209"/>
                </a:lnTo>
                <a:lnTo>
                  <a:pt x="1209" y="1274"/>
                </a:lnTo>
                <a:lnTo>
                  <a:pt x="1150" y="1346"/>
                </a:lnTo>
                <a:lnTo>
                  <a:pt x="1098" y="1423"/>
                </a:lnTo>
                <a:lnTo>
                  <a:pt x="1054" y="1503"/>
                </a:lnTo>
                <a:lnTo>
                  <a:pt x="1018" y="1590"/>
                </a:lnTo>
                <a:lnTo>
                  <a:pt x="989" y="1680"/>
                </a:lnTo>
                <a:lnTo>
                  <a:pt x="970" y="1774"/>
                </a:lnTo>
                <a:lnTo>
                  <a:pt x="960" y="1870"/>
                </a:lnTo>
                <a:lnTo>
                  <a:pt x="960" y="1919"/>
                </a:lnTo>
                <a:lnTo>
                  <a:pt x="960" y="10855"/>
                </a:lnTo>
                <a:lnTo>
                  <a:pt x="962" y="10904"/>
                </a:lnTo>
                <a:lnTo>
                  <a:pt x="978" y="10995"/>
                </a:lnTo>
                <a:lnTo>
                  <a:pt x="1011" y="11078"/>
                </a:lnTo>
                <a:lnTo>
                  <a:pt x="1061" y="11152"/>
                </a:lnTo>
                <a:lnTo>
                  <a:pt x="1091" y="11185"/>
                </a:lnTo>
                <a:lnTo>
                  <a:pt x="1129" y="11218"/>
                </a:lnTo>
                <a:lnTo>
                  <a:pt x="1212" y="11271"/>
                </a:lnTo>
                <a:lnTo>
                  <a:pt x="1306" y="11307"/>
                </a:lnTo>
                <a:lnTo>
                  <a:pt x="1405" y="11326"/>
                </a:lnTo>
                <a:lnTo>
                  <a:pt x="1456" y="11327"/>
                </a:lnTo>
                <a:lnTo>
                  <a:pt x="1504" y="11325"/>
                </a:lnTo>
                <a:lnTo>
                  <a:pt x="1595" y="11307"/>
                </a:lnTo>
                <a:lnTo>
                  <a:pt x="1677" y="11273"/>
                </a:lnTo>
                <a:lnTo>
                  <a:pt x="1751" y="11222"/>
                </a:lnTo>
                <a:lnTo>
                  <a:pt x="1784" y="11191"/>
                </a:lnTo>
                <a:lnTo>
                  <a:pt x="4310" y="8592"/>
                </a:lnTo>
                <a:lnTo>
                  <a:pt x="4346" y="8559"/>
                </a:lnTo>
                <a:lnTo>
                  <a:pt x="4426" y="8505"/>
                </a:lnTo>
                <a:lnTo>
                  <a:pt x="4513" y="8468"/>
                </a:lnTo>
                <a:lnTo>
                  <a:pt x="4607" y="8449"/>
                </a:lnTo>
                <a:lnTo>
                  <a:pt x="4655" y="8448"/>
                </a:lnTo>
                <a:lnTo>
                  <a:pt x="4703" y="8449"/>
                </a:lnTo>
                <a:lnTo>
                  <a:pt x="4797" y="8468"/>
                </a:lnTo>
                <a:lnTo>
                  <a:pt x="4885" y="8505"/>
                </a:lnTo>
                <a:lnTo>
                  <a:pt x="4964" y="8559"/>
                </a:lnTo>
                <a:lnTo>
                  <a:pt x="4999" y="8592"/>
                </a:lnTo>
                <a:lnTo>
                  <a:pt x="7527" y="11191"/>
                </a:lnTo>
                <a:lnTo>
                  <a:pt x="7560" y="11222"/>
                </a:lnTo>
                <a:lnTo>
                  <a:pt x="7633" y="11273"/>
                </a:lnTo>
                <a:lnTo>
                  <a:pt x="7714" y="11307"/>
                </a:lnTo>
                <a:lnTo>
                  <a:pt x="7803" y="11325"/>
                </a:lnTo>
                <a:lnTo>
                  <a:pt x="7852" y="11327"/>
                </a:lnTo>
                <a:lnTo>
                  <a:pt x="7902" y="11326"/>
                </a:lnTo>
                <a:lnTo>
                  <a:pt x="8002" y="11306"/>
                </a:lnTo>
                <a:lnTo>
                  <a:pt x="8095" y="11270"/>
                </a:lnTo>
                <a:lnTo>
                  <a:pt x="8179" y="11215"/>
                </a:lnTo>
                <a:lnTo>
                  <a:pt x="8215" y="11182"/>
                </a:lnTo>
                <a:lnTo>
                  <a:pt x="8248" y="11148"/>
                </a:lnTo>
                <a:lnTo>
                  <a:pt x="8298" y="11073"/>
                </a:lnTo>
                <a:lnTo>
                  <a:pt x="8331" y="10989"/>
                </a:lnTo>
                <a:lnTo>
                  <a:pt x="8349" y="10897"/>
                </a:lnTo>
                <a:lnTo>
                  <a:pt x="8350" y="10847"/>
                </a:lnTo>
                <a:lnTo>
                  <a:pt x="8352" y="10798"/>
                </a:lnTo>
                <a:lnTo>
                  <a:pt x="8370" y="10704"/>
                </a:lnTo>
                <a:lnTo>
                  <a:pt x="8408" y="10618"/>
                </a:lnTo>
                <a:lnTo>
                  <a:pt x="8460" y="10541"/>
                </a:lnTo>
                <a:lnTo>
                  <a:pt x="8524" y="10477"/>
                </a:lnTo>
                <a:lnTo>
                  <a:pt x="8601" y="10425"/>
                </a:lnTo>
                <a:lnTo>
                  <a:pt x="8687" y="10387"/>
                </a:lnTo>
                <a:lnTo>
                  <a:pt x="8781" y="10369"/>
                </a:lnTo>
                <a:lnTo>
                  <a:pt x="8830" y="10367"/>
                </a:lnTo>
                <a:lnTo>
                  <a:pt x="8880" y="10369"/>
                </a:lnTo>
                <a:lnTo>
                  <a:pt x="8974" y="10387"/>
                </a:lnTo>
                <a:lnTo>
                  <a:pt x="9058" y="10425"/>
                </a:lnTo>
                <a:lnTo>
                  <a:pt x="9136" y="10477"/>
                </a:lnTo>
                <a:lnTo>
                  <a:pt x="9201" y="10541"/>
                </a:lnTo>
                <a:lnTo>
                  <a:pt x="9253" y="10618"/>
                </a:lnTo>
                <a:lnTo>
                  <a:pt x="9289" y="10704"/>
                </a:lnTo>
                <a:lnTo>
                  <a:pt x="9308" y="10798"/>
                </a:lnTo>
                <a:lnTo>
                  <a:pt x="9310" y="10847"/>
                </a:lnTo>
                <a:lnTo>
                  <a:pt x="9309" y="10920"/>
                </a:lnTo>
                <a:lnTo>
                  <a:pt x="9295" y="11063"/>
                </a:lnTo>
                <a:lnTo>
                  <a:pt x="9267" y="11202"/>
                </a:lnTo>
                <a:lnTo>
                  <a:pt x="9227" y="11336"/>
                </a:lnTo>
                <a:lnTo>
                  <a:pt x="9174" y="11466"/>
                </a:lnTo>
                <a:lnTo>
                  <a:pt x="9107" y="11588"/>
                </a:lnTo>
                <a:lnTo>
                  <a:pt x="9030" y="11705"/>
                </a:lnTo>
                <a:lnTo>
                  <a:pt x="8939" y="11814"/>
                </a:lnTo>
                <a:lnTo>
                  <a:pt x="8890" y="11865"/>
                </a:lnTo>
                <a:lnTo>
                  <a:pt x="8837" y="11915"/>
                </a:lnTo>
                <a:lnTo>
                  <a:pt x="8724" y="12006"/>
                </a:lnTo>
                <a:lnTo>
                  <a:pt x="8602" y="12085"/>
                </a:lnTo>
                <a:lnTo>
                  <a:pt x="8474" y="12151"/>
                </a:lnTo>
                <a:lnTo>
                  <a:pt x="8340" y="12206"/>
                </a:lnTo>
                <a:lnTo>
                  <a:pt x="8200" y="12246"/>
                </a:lnTo>
                <a:lnTo>
                  <a:pt x="8058" y="12273"/>
                </a:lnTo>
                <a:lnTo>
                  <a:pt x="7913" y="12286"/>
                </a:lnTo>
                <a:lnTo>
                  <a:pt x="7841" y="12286"/>
                </a:lnTo>
                <a:lnTo>
                  <a:pt x="7767" y="12285"/>
                </a:lnTo>
                <a:lnTo>
                  <a:pt x="7626" y="12269"/>
                </a:lnTo>
                <a:lnTo>
                  <a:pt x="7489" y="12242"/>
                </a:lnTo>
                <a:lnTo>
                  <a:pt x="7358" y="12200"/>
                </a:lnTo>
                <a:lnTo>
                  <a:pt x="7232" y="12147"/>
                </a:lnTo>
                <a:lnTo>
                  <a:pt x="7111" y="12079"/>
                </a:lnTo>
                <a:lnTo>
                  <a:pt x="6997" y="12001"/>
                </a:lnTo>
                <a:lnTo>
                  <a:pt x="6889" y="11911"/>
                </a:lnTo>
                <a:lnTo>
                  <a:pt x="6839" y="11859"/>
                </a:lnTo>
                <a:lnTo>
                  <a:pt x="4655" y="9615"/>
                </a:lnTo>
                <a:lnTo>
                  <a:pt x="2472" y="11859"/>
                </a:lnTo>
                <a:lnTo>
                  <a:pt x="2422" y="11909"/>
                </a:lnTo>
                <a:lnTo>
                  <a:pt x="2315" y="12000"/>
                </a:lnTo>
                <a:lnTo>
                  <a:pt x="2201" y="12079"/>
                </a:lnTo>
                <a:lnTo>
                  <a:pt x="2080" y="12145"/>
                </a:lnTo>
                <a:lnTo>
                  <a:pt x="1955" y="12199"/>
                </a:lnTo>
                <a:lnTo>
                  <a:pt x="1823" y="12240"/>
                </a:lnTo>
                <a:lnTo>
                  <a:pt x="1686" y="12269"/>
                </a:lnTo>
                <a:lnTo>
                  <a:pt x="1545" y="12285"/>
                </a:lnTo>
                <a:lnTo>
                  <a:pt x="1473" y="12286"/>
                </a:lnTo>
                <a:lnTo>
                  <a:pt x="1460" y="12286"/>
                </a:lnTo>
                <a:lnTo>
                  <a:pt x="1447" y="1228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3" name="제목 개체 틀 1">
            <a:extLst>
              <a:ext uri="{FF2B5EF4-FFF2-40B4-BE49-F238E27FC236}">
                <a16:creationId xmlns:a16="http://schemas.microsoft.com/office/drawing/2014/main" id="{8C980597-6F00-BBCB-9829-8C1C97B25C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7626" y="321093"/>
            <a:ext cx="10430212" cy="23353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ko-KR" altLang="en-US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94099829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FEEA165-3F0A-880B-9371-6CA4FC662C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C7F3832-D575-B192-C9E5-3F5F5AF820B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32A0875B-5012-C4D4-34DD-64942B1EC8C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5E6234D-EC06-5E2E-B205-92424C15624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07A0DF1-AEE6-4B0D-89D2-351E7B3EF65C}" type="datetime1">
              <a:rPr lang="ko-KR" altLang="en-US" smtClean="0"/>
              <a:t>2026-03-30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206D4A64-BD06-1C65-8FEE-8AB7FC5A97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3FEC033B-08C1-51C2-514D-21FE02EF1D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9209300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94C80B3-2773-0186-7384-F0AD5CD4FE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DF910DF1-53D0-7068-0730-1D1CCBC68FD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42A78ACE-35BC-CE88-0216-E9051C73F59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8A81F8D8-0F51-47D0-BB1F-D8D9CC14030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9E14E3C8-8748-5265-4FD0-09D2757103B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50C317E0-79A6-DDA2-6311-F5CA96E315E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A93B8C9-630F-4D57-944D-04FD37CECCD3}" type="datetime1">
              <a:rPr lang="ko-KR" altLang="en-US" smtClean="0"/>
              <a:t>2026-03-30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C64B9B9B-DE29-812B-D879-30570E55DE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781069FA-9B24-53DC-4E72-47AB792BD1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1218016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87BEAC6-B210-057A-EDB2-6820333F56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1C77D0B3-A47C-9147-4B3A-92CAB4BE49C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E986165A-AC43-4902-9541-874ECD310BA3}" type="datetime1">
              <a:rPr lang="ko-KR" altLang="en-US" smtClean="0"/>
              <a:t>2026-03-30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41131659-D086-7B2B-7BDA-2B7B4CA560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BA19E18-62FF-7A30-2F06-02E7580CA9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5750456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DE71917-1F20-572F-E94C-A526C06852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07D9E8E-1032-5491-08E1-2F612B3EA0A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55900DF7-AD67-D88E-48D9-88D790EC2DA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9CD9FBF-F3FA-7658-7936-0D1A2FF02DF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47E6EE6D-2B0E-43A9-87A2-7354CDB998F4}" type="datetime1">
              <a:rPr lang="ko-KR" altLang="en-US" smtClean="0"/>
              <a:t>2026-03-30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15A39D0C-3288-26C9-1E44-0431F48984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BB7CA71F-AE7D-1B55-21A0-1A87DCD4C6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5919040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85D7F17-3594-D182-A5C0-437C03D88C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E04DF7D6-CE8D-00BB-75E2-3478943B7DE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D5C66BC9-C6B7-805A-D64F-129BC272771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91EE813-70EE-6511-B077-F5126220657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CC5944E-0BC8-4FAA-9F94-6B4B05834E10}" type="datetime1">
              <a:rPr lang="ko-KR" altLang="en-US" smtClean="0"/>
              <a:t>2026-03-30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6D1B9F22-5574-7ED4-D06B-C97AF0BD9C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E4FEAF6C-BEDB-9F84-DFBC-95DABECC8F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1780768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95EE7C2-4CFD-C1E6-3632-13EC3CAC61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D19B1155-E241-263B-AF79-491CBDDA3BD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B6A664C-62FC-AE91-4AEB-8FAEB493B89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8EF4A19C-72C8-45CA-8E3F-68A7FA345D6C}" type="datetime1">
              <a:rPr lang="ko-KR" altLang="en-US" smtClean="0"/>
              <a:t>2026-03-30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3E9205B3-A98D-6C78-D6F4-825DDC6BBF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523C234-845E-B13B-0C99-9B2EEA171E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8862654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68451ECF-85EC-C955-3B84-54453192B08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1F7F4FAD-DE4B-C65A-B284-2FC60889FBF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B65CBDD-200F-9431-F587-79B0E4721B4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56A175B2-010B-4341-954C-5F8F5C70B124}" type="datetime1">
              <a:rPr lang="ko-KR" altLang="en-US" smtClean="0"/>
              <a:t>2026-03-30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10C0058-AB3B-AC27-3514-3ABE595D3F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393A7CF-BE0B-8336-2308-D2D5924009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0147275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7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" name="그림 30" descr="상징, 원, 로고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76D4470C-5E69-55C1-270F-9A78C936D5EB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9550" y="173911"/>
            <a:ext cx="503999" cy="503999"/>
          </a:xfrm>
          <a:prstGeom prst="rect">
            <a:avLst/>
          </a:prstGeom>
        </p:spPr>
      </p:pic>
      <p:sp>
        <p:nvSpPr>
          <p:cNvPr id="15" name="자유형: 도형 14">
            <a:extLst>
              <a:ext uri="{FF2B5EF4-FFF2-40B4-BE49-F238E27FC236}">
                <a16:creationId xmlns:a16="http://schemas.microsoft.com/office/drawing/2014/main" id="{B6D54C95-5DE1-BB83-7600-92BCFDA2E6BA}"/>
              </a:ext>
            </a:extLst>
          </p:cNvPr>
          <p:cNvSpPr/>
          <p:nvPr userDrawn="1"/>
        </p:nvSpPr>
        <p:spPr>
          <a:xfrm>
            <a:off x="832348" y="226088"/>
            <a:ext cx="11070092" cy="399644"/>
          </a:xfrm>
          <a:custGeom>
            <a:avLst/>
            <a:gdLst>
              <a:gd name="connsiteX0" fmla="*/ 66609 w 11133508"/>
              <a:gd name="connsiteY0" fmla="*/ 0 h 399644"/>
              <a:gd name="connsiteX1" fmla="*/ 11066899 w 11133508"/>
              <a:gd name="connsiteY1" fmla="*/ 0 h 399644"/>
              <a:gd name="connsiteX2" fmla="*/ 11133508 w 11133508"/>
              <a:gd name="connsiteY2" fmla="*/ 66609 h 399644"/>
              <a:gd name="connsiteX3" fmla="*/ 11133508 w 11133508"/>
              <a:gd name="connsiteY3" fmla="*/ 333035 h 399644"/>
              <a:gd name="connsiteX4" fmla="*/ 11066899 w 11133508"/>
              <a:gd name="connsiteY4" fmla="*/ 399644 h 399644"/>
              <a:gd name="connsiteX5" fmla="*/ 613523 w 11133508"/>
              <a:gd name="connsiteY5" fmla="*/ 399644 h 399644"/>
              <a:gd name="connsiteX6" fmla="*/ 516629 w 11133508"/>
              <a:gd name="connsiteY6" fmla="*/ 232586 h 399644"/>
              <a:gd name="connsiteX7" fmla="*/ 419736 w 11133508"/>
              <a:gd name="connsiteY7" fmla="*/ 399644 h 399644"/>
              <a:gd name="connsiteX8" fmla="*/ 66609 w 11133508"/>
              <a:gd name="connsiteY8" fmla="*/ 399644 h 399644"/>
              <a:gd name="connsiteX9" fmla="*/ 0 w 11133508"/>
              <a:gd name="connsiteY9" fmla="*/ 333035 h 399644"/>
              <a:gd name="connsiteX10" fmla="*/ 0 w 11133508"/>
              <a:gd name="connsiteY10" fmla="*/ 66609 h 399644"/>
              <a:gd name="connsiteX11" fmla="*/ 66609 w 11133508"/>
              <a:gd name="connsiteY11" fmla="*/ 0 h 3996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1133508" h="399644">
                <a:moveTo>
                  <a:pt x="66609" y="0"/>
                </a:moveTo>
                <a:lnTo>
                  <a:pt x="11066899" y="0"/>
                </a:lnTo>
                <a:cubicBezTo>
                  <a:pt x="11103686" y="0"/>
                  <a:pt x="11133508" y="29822"/>
                  <a:pt x="11133508" y="66609"/>
                </a:cubicBezTo>
                <a:lnTo>
                  <a:pt x="11133508" y="333035"/>
                </a:lnTo>
                <a:cubicBezTo>
                  <a:pt x="11133508" y="369822"/>
                  <a:pt x="11103686" y="399644"/>
                  <a:pt x="11066899" y="399644"/>
                </a:cubicBezTo>
                <a:lnTo>
                  <a:pt x="613523" y="399644"/>
                </a:lnTo>
                <a:lnTo>
                  <a:pt x="516629" y="232586"/>
                </a:lnTo>
                <a:lnTo>
                  <a:pt x="419736" y="399644"/>
                </a:lnTo>
                <a:lnTo>
                  <a:pt x="66609" y="399644"/>
                </a:lnTo>
                <a:cubicBezTo>
                  <a:pt x="29822" y="399644"/>
                  <a:pt x="0" y="369822"/>
                  <a:pt x="0" y="333035"/>
                </a:cubicBezTo>
                <a:lnTo>
                  <a:pt x="0" y="66609"/>
                </a:lnTo>
                <a:cubicBezTo>
                  <a:pt x="0" y="29822"/>
                  <a:pt x="29822" y="0"/>
                  <a:pt x="66609" y="0"/>
                </a:cubicBezTo>
                <a:close/>
              </a:path>
            </a:pathLst>
          </a:custGeom>
          <a:solidFill>
            <a:schemeClr val="bg1"/>
          </a:solidFill>
          <a:ln w="92075" cap="rnd">
            <a:solidFill>
              <a:schemeClr val="bg1"/>
            </a:solidFill>
            <a:round/>
          </a:ln>
          <a:effectLst>
            <a:outerShdw blurRad="254000" dist="38100" dir="2700000" algn="tl" rotWithShape="0">
              <a:prstClr val="black">
                <a:alpha val="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174625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2603500" algn="l"/>
              </a:tabLst>
              <a:defRPr/>
            </a:pPr>
            <a:endParaRPr kumimoji="0" lang="ko-KR" altLang="en-US" sz="1600" b="0" i="0" u="none" strike="noStrike" kern="1200" cap="none" spc="0" normalizeH="0" baseline="0" noProof="0">
              <a:ln>
                <a:noFill/>
              </a:ln>
              <a:solidFill>
                <a:prstClr val="white">
                  <a:lumMod val="85000"/>
                </a:prstClr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grpSp>
        <p:nvGrpSpPr>
          <p:cNvPr id="16" name="그룹 15">
            <a:extLst>
              <a:ext uri="{FF2B5EF4-FFF2-40B4-BE49-F238E27FC236}">
                <a16:creationId xmlns:a16="http://schemas.microsoft.com/office/drawing/2014/main" id="{3D9701EA-CA45-03D3-8629-CACB976B13C7}"/>
              </a:ext>
            </a:extLst>
          </p:cNvPr>
          <p:cNvGrpSpPr/>
          <p:nvPr userDrawn="1"/>
        </p:nvGrpSpPr>
        <p:grpSpPr>
          <a:xfrm>
            <a:off x="965438" y="334122"/>
            <a:ext cx="36002" cy="185944"/>
            <a:chOff x="398695" y="310309"/>
            <a:chExt cx="36002" cy="185944"/>
          </a:xfrm>
        </p:grpSpPr>
        <p:sp>
          <p:nvSpPr>
            <p:cNvPr id="17" name="타원 16">
              <a:extLst>
                <a:ext uri="{FF2B5EF4-FFF2-40B4-BE49-F238E27FC236}">
                  <a16:creationId xmlns:a16="http://schemas.microsoft.com/office/drawing/2014/main" id="{41659905-6BB4-F77A-C4B2-CD01EE50E9A3}"/>
                </a:ext>
              </a:extLst>
            </p:cNvPr>
            <p:cNvSpPr/>
            <p:nvPr/>
          </p:nvSpPr>
          <p:spPr>
            <a:xfrm>
              <a:off x="398697" y="310309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8" name="타원 17">
              <a:extLst>
                <a:ext uri="{FF2B5EF4-FFF2-40B4-BE49-F238E27FC236}">
                  <a16:creationId xmlns:a16="http://schemas.microsoft.com/office/drawing/2014/main" id="{56276BA2-601C-3FB1-B544-5F1FB3A4C59F}"/>
                </a:ext>
              </a:extLst>
            </p:cNvPr>
            <p:cNvSpPr/>
            <p:nvPr/>
          </p:nvSpPr>
          <p:spPr>
            <a:xfrm>
              <a:off x="398696" y="385281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  <p:sp>
          <p:nvSpPr>
            <p:cNvPr id="19" name="타원 18">
              <a:extLst>
                <a:ext uri="{FF2B5EF4-FFF2-40B4-BE49-F238E27FC236}">
                  <a16:creationId xmlns:a16="http://schemas.microsoft.com/office/drawing/2014/main" id="{6E75D259-5225-4C37-ABC2-39DA372499A1}"/>
                </a:ext>
              </a:extLst>
            </p:cNvPr>
            <p:cNvSpPr/>
            <p:nvPr/>
          </p:nvSpPr>
          <p:spPr>
            <a:xfrm>
              <a:off x="398695" y="460253"/>
              <a:ext cx="36000" cy="36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ko-KR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맑은 고딕" panose="020F0502020204030204"/>
                <a:ea typeface="맑은 고딕" panose="020B0503020000020004" pitchFamily="50" charset="-127"/>
                <a:cs typeface="+mn-cs"/>
              </a:endParaRPr>
            </a:p>
          </p:txBody>
        </p:sp>
      </p:grpSp>
      <p:sp>
        <p:nvSpPr>
          <p:cNvPr id="21" name="Freeform 9">
            <a:extLst>
              <a:ext uri="{FF2B5EF4-FFF2-40B4-BE49-F238E27FC236}">
                <a16:creationId xmlns:a16="http://schemas.microsoft.com/office/drawing/2014/main" id="{6514361D-8169-AF24-F568-2B5FC5AD42A2}"/>
              </a:ext>
            </a:extLst>
          </p:cNvPr>
          <p:cNvSpPr>
            <a:spLocks/>
          </p:cNvSpPr>
          <p:nvPr userDrawn="1"/>
        </p:nvSpPr>
        <p:spPr bwMode="auto">
          <a:xfrm>
            <a:off x="11662598" y="370122"/>
            <a:ext cx="106877" cy="141044"/>
          </a:xfrm>
          <a:custGeom>
            <a:avLst/>
            <a:gdLst>
              <a:gd name="T0" fmla="*/ 1093 w 9310"/>
              <a:gd name="T1" fmla="*/ 12245 h 12286"/>
              <a:gd name="T2" fmla="*/ 582 w 9310"/>
              <a:gd name="T3" fmla="*/ 12007 h 12286"/>
              <a:gd name="T4" fmla="*/ 279 w 9310"/>
              <a:gd name="T5" fmla="*/ 11710 h 12286"/>
              <a:gd name="T6" fmla="*/ 42 w 9310"/>
              <a:gd name="T7" fmla="*/ 11209 h 12286"/>
              <a:gd name="T8" fmla="*/ 0 w 9310"/>
              <a:gd name="T9" fmla="*/ 1919 h 12286"/>
              <a:gd name="T10" fmla="*/ 117 w 9310"/>
              <a:gd name="T11" fmla="*/ 1260 h 12286"/>
              <a:gd name="T12" fmla="*/ 498 w 9310"/>
              <a:gd name="T13" fmla="*/ 629 h 12286"/>
              <a:gd name="T14" fmla="*/ 1088 w 9310"/>
              <a:gd name="T15" fmla="*/ 189 h 12286"/>
              <a:gd name="T16" fmla="*/ 1821 w 9310"/>
              <a:gd name="T17" fmla="*/ 1 h 12286"/>
              <a:gd name="T18" fmla="*/ 7682 w 9310"/>
              <a:gd name="T19" fmla="*/ 22 h 12286"/>
              <a:gd name="T20" fmla="*/ 8385 w 9310"/>
              <a:gd name="T21" fmla="*/ 278 h 12286"/>
              <a:gd name="T22" fmla="*/ 8929 w 9310"/>
              <a:gd name="T23" fmla="*/ 772 h 12286"/>
              <a:gd name="T24" fmla="*/ 9250 w 9310"/>
              <a:gd name="T25" fmla="*/ 1440 h 12286"/>
              <a:gd name="T26" fmla="*/ 9310 w 9310"/>
              <a:gd name="T27" fmla="*/ 8471 h 12286"/>
              <a:gd name="T28" fmla="*/ 9201 w 9310"/>
              <a:gd name="T29" fmla="*/ 8777 h 12286"/>
              <a:gd name="T30" fmla="*/ 8880 w 9310"/>
              <a:gd name="T31" fmla="*/ 8949 h 12286"/>
              <a:gd name="T32" fmla="*/ 8601 w 9310"/>
              <a:gd name="T33" fmla="*/ 8894 h 12286"/>
              <a:gd name="T34" fmla="*/ 8370 w 9310"/>
              <a:gd name="T35" fmla="*/ 8615 h 12286"/>
              <a:gd name="T36" fmla="*/ 8349 w 9310"/>
              <a:gd name="T37" fmla="*/ 1870 h 12286"/>
              <a:gd name="T38" fmla="*/ 8255 w 9310"/>
              <a:gd name="T39" fmla="*/ 1503 h 12286"/>
              <a:gd name="T40" fmla="*/ 8035 w 9310"/>
              <a:gd name="T41" fmla="*/ 1209 h 12286"/>
              <a:gd name="T42" fmla="*/ 7720 w 9310"/>
              <a:gd name="T43" fmla="*/ 1018 h 12286"/>
              <a:gd name="T44" fmla="*/ 7390 w 9310"/>
              <a:gd name="T45" fmla="*/ 960 h 12286"/>
              <a:gd name="T46" fmla="*/ 1680 w 9310"/>
              <a:gd name="T47" fmla="*/ 989 h 12286"/>
              <a:gd name="T48" fmla="*/ 1346 w 9310"/>
              <a:gd name="T49" fmla="*/ 1150 h 12286"/>
              <a:gd name="T50" fmla="*/ 1098 w 9310"/>
              <a:gd name="T51" fmla="*/ 1423 h 12286"/>
              <a:gd name="T52" fmla="*/ 970 w 9310"/>
              <a:gd name="T53" fmla="*/ 1774 h 12286"/>
              <a:gd name="T54" fmla="*/ 962 w 9310"/>
              <a:gd name="T55" fmla="*/ 10904 h 12286"/>
              <a:gd name="T56" fmla="*/ 1091 w 9310"/>
              <a:gd name="T57" fmla="*/ 11185 h 12286"/>
              <a:gd name="T58" fmla="*/ 1405 w 9310"/>
              <a:gd name="T59" fmla="*/ 11326 h 12286"/>
              <a:gd name="T60" fmla="*/ 1677 w 9310"/>
              <a:gd name="T61" fmla="*/ 11273 h 12286"/>
              <a:gd name="T62" fmla="*/ 4346 w 9310"/>
              <a:gd name="T63" fmla="*/ 8559 h 12286"/>
              <a:gd name="T64" fmla="*/ 4655 w 9310"/>
              <a:gd name="T65" fmla="*/ 8448 h 12286"/>
              <a:gd name="T66" fmla="*/ 4964 w 9310"/>
              <a:gd name="T67" fmla="*/ 8559 h 12286"/>
              <a:gd name="T68" fmla="*/ 7633 w 9310"/>
              <a:gd name="T69" fmla="*/ 11273 h 12286"/>
              <a:gd name="T70" fmla="*/ 7902 w 9310"/>
              <a:gd name="T71" fmla="*/ 11326 h 12286"/>
              <a:gd name="T72" fmla="*/ 8215 w 9310"/>
              <a:gd name="T73" fmla="*/ 11182 h 12286"/>
              <a:gd name="T74" fmla="*/ 8349 w 9310"/>
              <a:gd name="T75" fmla="*/ 10897 h 12286"/>
              <a:gd name="T76" fmla="*/ 8408 w 9310"/>
              <a:gd name="T77" fmla="*/ 10618 h 12286"/>
              <a:gd name="T78" fmla="*/ 8687 w 9310"/>
              <a:gd name="T79" fmla="*/ 10387 h 12286"/>
              <a:gd name="T80" fmla="*/ 8974 w 9310"/>
              <a:gd name="T81" fmla="*/ 10387 h 12286"/>
              <a:gd name="T82" fmla="*/ 9253 w 9310"/>
              <a:gd name="T83" fmla="*/ 10618 h 12286"/>
              <a:gd name="T84" fmla="*/ 9309 w 9310"/>
              <a:gd name="T85" fmla="*/ 10920 h 12286"/>
              <a:gd name="T86" fmla="*/ 9174 w 9310"/>
              <a:gd name="T87" fmla="*/ 11466 h 12286"/>
              <a:gd name="T88" fmla="*/ 8890 w 9310"/>
              <a:gd name="T89" fmla="*/ 11865 h 12286"/>
              <a:gd name="T90" fmla="*/ 8474 w 9310"/>
              <a:gd name="T91" fmla="*/ 12151 h 12286"/>
              <a:gd name="T92" fmla="*/ 7913 w 9310"/>
              <a:gd name="T93" fmla="*/ 12286 h 12286"/>
              <a:gd name="T94" fmla="*/ 7489 w 9310"/>
              <a:gd name="T95" fmla="*/ 12242 h 12286"/>
              <a:gd name="T96" fmla="*/ 6997 w 9310"/>
              <a:gd name="T97" fmla="*/ 12001 h 12286"/>
              <a:gd name="T98" fmla="*/ 2472 w 9310"/>
              <a:gd name="T99" fmla="*/ 11859 h 12286"/>
              <a:gd name="T100" fmla="*/ 2080 w 9310"/>
              <a:gd name="T101" fmla="*/ 12145 h 12286"/>
              <a:gd name="T102" fmla="*/ 1545 w 9310"/>
              <a:gd name="T103" fmla="*/ 12285 h 1228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</a:cxnLst>
            <a:rect l="0" t="0" r="r" b="b"/>
            <a:pathLst>
              <a:path w="9310" h="12286">
                <a:moveTo>
                  <a:pt x="1447" y="12286"/>
                </a:moveTo>
                <a:lnTo>
                  <a:pt x="1375" y="12286"/>
                </a:lnTo>
                <a:lnTo>
                  <a:pt x="1232" y="12272"/>
                </a:lnTo>
                <a:lnTo>
                  <a:pt x="1093" y="12245"/>
                </a:lnTo>
                <a:lnTo>
                  <a:pt x="957" y="12203"/>
                </a:lnTo>
                <a:lnTo>
                  <a:pt x="826" y="12150"/>
                </a:lnTo>
                <a:lnTo>
                  <a:pt x="700" y="12085"/>
                </a:lnTo>
                <a:lnTo>
                  <a:pt x="582" y="12007"/>
                </a:lnTo>
                <a:lnTo>
                  <a:pt x="471" y="11918"/>
                </a:lnTo>
                <a:lnTo>
                  <a:pt x="419" y="11869"/>
                </a:lnTo>
                <a:lnTo>
                  <a:pt x="370" y="11818"/>
                </a:lnTo>
                <a:lnTo>
                  <a:pt x="279" y="11710"/>
                </a:lnTo>
                <a:lnTo>
                  <a:pt x="202" y="11595"/>
                </a:lnTo>
                <a:lnTo>
                  <a:pt x="135" y="11471"/>
                </a:lnTo>
                <a:lnTo>
                  <a:pt x="82" y="11343"/>
                </a:lnTo>
                <a:lnTo>
                  <a:pt x="42" y="11209"/>
                </a:lnTo>
                <a:lnTo>
                  <a:pt x="14" y="11070"/>
                </a:lnTo>
                <a:lnTo>
                  <a:pt x="1" y="10927"/>
                </a:lnTo>
                <a:lnTo>
                  <a:pt x="0" y="10855"/>
                </a:lnTo>
                <a:lnTo>
                  <a:pt x="0" y="1919"/>
                </a:lnTo>
                <a:lnTo>
                  <a:pt x="1" y="1821"/>
                </a:lnTo>
                <a:lnTo>
                  <a:pt x="22" y="1627"/>
                </a:lnTo>
                <a:lnTo>
                  <a:pt x="60" y="1440"/>
                </a:lnTo>
                <a:lnTo>
                  <a:pt x="117" y="1260"/>
                </a:lnTo>
                <a:lnTo>
                  <a:pt x="189" y="1089"/>
                </a:lnTo>
                <a:lnTo>
                  <a:pt x="278" y="924"/>
                </a:lnTo>
                <a:lnTo>
                  <a:pt x="382" y="772"/>
                </a:lnTo>
                <a:lnTo>
                  <a:pt x="498" y="629"/>
                </a:lnTo>
                <a:lnTo>
                  <a:pt x="629" y="498"/>
                </a:lnTo>
                <a:lnTo>
                  <a:pt x="772" y="382"/>
                </a:lnTo>
                <a:lnTo>
                  <a:pt x="924" y="278"/>
                </a:lnTo>
                <a:lnTo>
                  <a:pt x="1088" y="189"/>
                </a:lnTo>
                <a:lnTo>
                  <a:pt x="1260" y="117"/>
                </a:lnTo>
                <a:lnTo>
                  <a:pt x="1440" y="60"/>
                </a:lnTo>
                <a:lnTo>
                  <a:pt x="1627" y="22"/>
                </a:lnTo>
                <a:lnTo>
                  <a:pt x="1821" y="1"/>
                </a:lnTo>
                <a:lnTo>
                  <a:pt x="1919" y="0"/>
                </a:lnTo>
                <a:lnTo>
                  <a:pt x="7390" y="0"/>
                </a:lnTo>
                <a:lnTo>
                  <a:pt x="7489" y="1"/>
                </a:lnTo>
                <a:lnTo>
                  <a:pt x="7682" y="22"/>
                </a:lnTo>
                <a:lnTo>
                  <a:pt x="7869" y="60"/>
                </a:lnTo>
                <a:lnTo>
                  <a:pt x="8049" y="117"/>
                </a:lnTo>
                <a:lnTo>
                  <a:pt x="8222" y="189"/>
                </a:lnTo>
                <a:lnTo>
                  <a:pt x="8385" y="278"/>
                </a:lnTo>
                <a:lnTo>
                  <a:pt x="8539" y="382"/>
                </a:lnTo>
                <a:lnTo>
                  <a:pt x="8681" y="498"/>
                </a:lnTo>
                <a:lnTo>
                  <a:pt x="8811" y="629"/>
                </a:lnTo>
                <a:lnTo>
                  <a:pt x="8929" y="772"/>
                </a:lnTo>
                <a:lnTo>
                  <a:pt x="9033" y="924"/>
                </a:lnTo>
                <a:lnTo>
                  <a:pt x="9120" y="1089"/>
                </a:lnTo>
                <a:lnTo>
                  <a:pt x="9194" y="1260"/>
                </a:lnTo>
                <a:lnTo>
                  <a:pt x="9250" y="1440"/>
                </a:lnTo>
                <a:lnTo>
                  <a:pt x="9289" y="1627"/>
                </a:lnTo>
                <a:lnTo>
                  <a:pt x="9308" y="1821"/>
                </a:lnTo>
                <a:lnTo>
                  <a:pt x="9310" y="1919"/>
                </a:lnTo>
                <a:lnTo>
                  <a:pt x="9310" y="8471"/>
                </a:lnTo>
                <a:lnTo>
                  <a:pt x="9308" y="8521"/>
                </a:lnTo>
                <a:lnTo>
                  <a:pt x="9289" y="8615"/>
                </a:lnTo>
                <a:lnTo>
                  <a:pt x="9253" y="8700"/>
                </a:lnTo>
                <a:lnTo>
                  <a:pt x="9201" y="8777"/>
                </a:lnTo>
                <a:lnTo>
                  <a:pt x="9136" y="8842"/>
                </a:lnTo>
                <a:lnTo>
                  <a:pt x="9058" y="8894"/>
                </a:lnTo>
                <a:lnTo>
                  <a:pt x="8974" y="8930"/>
                </a:lnTo>
                <a:lnTo>
                  <a:pt x="8880" y="8949"/>
                </a:lnTo>
                <a:lnTo>
                  <a:pt x="8830" y="8952"/>
                </a:lnTo>
                <a:lnTo>
                  <a:pt x="8781" y="8949"/>
                </a:lnTo>
                <a:lnTo>
                  <a:pt x="8687" y="8930"/>
                </a:lnTo>
                <a:lnTo>
                  <a:pt x="8601" y="8894"/>
                </a:lnTo>
                <a:lnTo>
                  <a:pt x="8524" y="8842"/>
                </a:lnTo>
                <a:lnTo>
                  <a:pt x="8460" y="8777"/>
                </a:lnTo>
                <a:lnTo>
                  <a:pt x="8408" y="8700"/>
                </a:lnTo>
                <a:lnTo>
                  <a:pt x="8370" y="8615"/>
                </a:lnTo>
                <a:lnTo>
                  <a:pt x="8352" y="8521"/>
                </a:lnTo>
                <a:lnTo>
                  <a:pt x="8350" y="8471"/>
                </a:lnTo>
                <a:lnTo>
                  <a:pt x="8350" y="1919"/>
                </a:lnTo>
                <a:lnTo>
                  <a:pt x="8349" y="1870"/>
                </a:lnTo>
                <a:lnTo>
                  <a:pt x="8340" y="1774"/>
                </a:lnTo>
                <a:lnTo>
                  <a:pt x="8320" y="1680"/>
                </a:lnTo>
                <a:lnTo>
                  <a:pt x="8293" y="1590"/>
                </a:lnTo>
                <a:lnTo>
                  <a:pt x="8255" y="1503"/>
                </a:lnTo>
                <a:lnTo>
                  <a:pt x="8211" y="1423"/>
                </a:lnTo>
                <a:lnTo>
                  <a:pt x="8160" y="1346"/>
                </a:lnTo>
                <a:lnTo>
                  <a:pt x="8101" y="1274"/>
                </a:lnTo>
                <a:lnTo>
                  <a:pt x="8035" y="1209"/>
                </a:lnTo>
                <a:lnTo>
                  <a:pt x="7964" y="1150"/>
                </a:lnTo>
                <a:lnTo>
                  <a:pt x="7888" y="1099"/>
                </a:lnTo>
                <a:lnTo>
                  <a:pt x="7806" y="1054"/>
                </a:lnTo>
                <a:lnTo>
                  <a:pt x="7720" y="1018"/>
                </a:lnTo>
                <a:lnTo>
                  <a:pt x="7630" y="989"/>
                </a:lnTo>
                <a:lnTo>
                  <a:pt x="7537" y="970"/>
                </a:lnTo>
                <a:lnTo>
                  <a:pt x="7440" y="960"/>
                </a:lnTo>
                <a:lnTo>
                  <a:pt x="7390" y="960"/>
                </a:lnTo>
                <a:lnTo>
                  <a:pt x="1919" y="960"/>
                </a:lnTo>
                <a:lnTo>
                  <a:pt x="1870" y="960"/>
                </a:lnTo>
                <a:lnTo>
                  <a:pt x="1774" y="970"/>
                </a:lnTo>
                <a:lnTo>
                  <a:pt x="1680" y="989"/>
                </a:lnTo>
                <a:lnTo>
                  <a:pt x="1589" y="1018"/>
                </a:lnTo>
                <a:lnTo>
                  <a:pt x="1503" y="1054"/>
                </a:lnTo>
                <a:lnTo>
                  <a:pt x="1422" y="1099"/>
                </a:lnTo>
                <a:lnTo>
                  <a:pt x="1346" y="1150"/>
                </a:lnTo>
                <a:lnTo>
                  <a:pt x="1274" y="1209"/>
                </a:lnTo>
                <a:lnTo>
                  <a:pt x="1209" y="1274"/>
                </a:lnTo>
                <a:lnTo>
                  <a:pt x="1150" y="1346"/>
                </a:lnTo>
                <a:lnTo>
                  <a:pt x="1098" y="1423"/>
                </a:lnTo>
                <a:lnTo>
                  <a:pt x="1054" y="1503"/>
                </a:lnTo>
                <a:lnTo>
                  <a:pt x="1018" y="1590"/>
                </a:lnTo>
                <a:lnTo>
                  <a:pt x="989" y="1680"/>
                </a:lnTo>
                <a:lnTo>
                  <a:pt x="970" y="1774"/>
                </a:lnTo>
                <a:lnTo>
                  <a:pt x="960" y="1870"/>
                </a:lnTo>
                <a:lnTo>
                  <a:pt x="960" y="1919"/>
                </a:lnTo>
                <a:lnTo>
                  <a:pt x="960" y="10855"/>
                </a:lnTo>
                <a:lnTo>
                  <a:pt x="962" y="10904"/>
                </a:lnTo>
                <a:lnTo>
                  <a:pt x="978" y="10995"/>
                </a:lnTo>
                <a:lnTo>
                  <a:pt x="1011" y="11078"/>
                </a:lnTo>
                <a:lnTo>
                  <a:pt x="1061" y="11152"/>
                </a:lnTo>
                <a:lnTo>
                  <a:pt x="1091" y="11185"/>
                </a:lnTo>
                <a:lnTo>
                  <a:pt x="1129" y="11218"/>
                </a:lnTo>
                <a:lnTo>
                  <a:pt x="1212" y="11271"/>
                </a:lnTo>
                <a:lnTo>
                  <a:pt x="1306" y="11307"/>
                </a:lnTo>
                <a:lnTo>
                  <a:pt x="1405" y="11326"/>
                </a:lnTo>
                <a:lnTo>
                  <a:pt x="1456" y="11327"/>
                </a:lnTo>
                <a:lnTo>
                  <a:pt x="1504" y="11325"/>
                </a:lnTo>
                <a:lnTo>
                  <a:pt x="1595" y="11307"/>
                </a:lnTo>
                <a:lnTo>
                  <a:pt x="1677" y="11273"/>
                </a:lnTo>
                <a:lnTo>
                  <a:pt x="1751" y="11222"/>
                </a:lnTo>
                <a:lnTo>
                  <a:pt x="1784" y="11191"/>
                </a:lnTo>
                <a:lnTo>
                  <a:pt x="4310" y="8592"/>
                </a:lnTo>
                <a:lnTo>
                  <a:pt x="4346" y="8559"/>
                </a:lnTo>
                <a:lnTo>
                  <a:pt x="4426" y="8505"/>
                </a:lnTo>
                <a:lnTo>
                  <a:pt x="4513" y="8468"/>
                </a:lnTo>
                <a:lnTo>
                  <a:pt x="4607" y="8449"/>
                </a:lnTo>
                <a:lnTo>
                  <a:pt x="4655" y="8448"/>
                </a:lnTo>
                <a:lnTo>
                  <a:pt x="4703" y="8449"/>
                </a:lnTo>
                <a:lnTo>
                  <a:pt x="4797" y="8468"/>
                </a:lnTo>
                <a:lnTo>
                  <a:pt x="4885" y="8505"/>
                </a:lnTo>
                <a:lnTo>
                  <a:pt x="4964" y="8559"/>
                </a:lnTo>
                <a:lnTo>
                  <a:pt x="4999" y="8592"/>
                </a:lnTo>
                <a:lnTo>
                  <a:pt x="7527" y="11191"/>
                </a:lnTo>
                <a:lnTo>
                  <a:pt x="7560" y="11222"/>
                </a:lnTo>
                <a:lnTo>
                  <a:pt x="7633" y="11273"/>
                </a:lnTo>
                <a:lnTo>
                  <a:pt x="7714" y="11307"/>
                </a:lnTo>
                <a:lnTo>
                  <a:pt x="7803" y="11325"/>
                </a:lnTo>
                <a:lnTo>
                  <a:pt x="7852" y="11327"/>
                </a:lnTo>
                <a:lnTo>
                  <a:pt x="7902" y="11326"/>
                </a:lnTo>
                <a:lnTo>
                  <a:pt x="8002" y="11306"/>
                </a:lnTo>
                <a:lnTo>
                  <a:pt x="8095" y="11270"/>
                </a:lnTo>
                <a:lnTo>
                  <a:pt x="8179" y="11215"/>
                </a:lnTo>
                <a:lnTo>
                  <a:pt x="8215" y="11182"/>
                </a:lnTo>
                <a:lnTo>
                  <a:pt x="8248" y="11148"/>
                </a:lnTo>
                <a:lnTo>
                  <a:pt x="8298" y="11073"/>
                </a:lnTo>
                <a:lnTo>
                  <a:pt x="8331" y="10989"/>
                </a:lnTo>
                <a:lnTo>
                  <a:pt x="8349" y="10897"/>
                </a:lnTo>
                <a:lnTo>
                  <a:pt x="8350" y="10847"/>
                </a:lnTo>
                <a:lnTo>
                  <a:pt x="8352" y="10798"/>
                </a:lnTo>
                <a:lnTo>
                  <a:pt x="8370" y="10704"/>
                </a:lnTo>
                <a:lnTo>
                  <a:pt x="8408" y="10618"/>
                </a:lnTo>
                <a:lnTo>
                  <a:pt x="8460" y="10541"/>
                </a:lnTo>
                <a:lnTo>
                  <a:pt x="8524" y="10477"/>
                </a:lnTo>
                <a:lnTo>
                  <a:pt x="8601" y="10425"/>
                </a:lnTo>
                <a:lnTo>
                  <a:pt x="8687" y="10387"/>
                </a:lnTo>
                <a:lnTo>
                  <a:pt x="8781" y="10369"/>
                </a:lnTo>
                <a:lnTo>
                  <a:pt x="8830" y="10367"/>
                </a:lnTo>
                <a:lnTo>
                  <a:pt x="8880" y="10369"/>
                </a:lnTo>
                <a:lnTo>
                  <a:pt x="8974" y="10387"/>
                </a:lnTo>
                <a:lnTo>
                  <a:pt x="9058" y="10425"/>
                </a:lnTo>
                <a:lnTo>
                  <a:pt x="9136" y="10477"/>
                </a:lnTo>
                <a:lnTo>
                  <a:pt x="9201" y="10541"/>
                </a:lnTo>
                <a:lnTo>
                  <a:pt x="9253" y="10618"/>
                </a:lnTo>
                <a:lnTo>
                  <a:pt x="9289" y="10704"/>
                </a:lnTo>
                <a:lnTo>
                  <a:pt x="9308" y="10798"/>
                </a:lnTo>
                <a:lnTo>
                  <a:pt x="9310" y="10847"/>
                </a:lnTo>
                <a:lnTo>
                  <a:pt x="9309" y="10920"/>
                </a:lnTo>
                <a:lnTo>
                  <a:pt x="9295" y="11063"/>
                </a:lnTo>
                <a:lnTo>
                  <a:pt x="9267" y="11202"/>
                </a:lnTo>
                <a:lnTo>
                  <a:pt x="9227" y="11336"/>
                </a:lnTo>
                <a:lnTo>
                  <a:pt x="9174" y="11466"/>
                </a:lnTo>
                <a:lnTo>
                  <a:pt x="9107" y="11588"/>
                </a:lnTo>
                <a:lnTo>
                  <a:pt x="9030" y="11705"/>
                </a:lnTo>
                <a:lnTo>
                  <a:pt x="8939" y="11814"/>
                </a:lnTo>
                <a:lnTo>
                  <a:pt x="8890" y="11865"/>
                </a:lnTo>
                <a:lnTo>
                  <a:pt x="8837" y="11915"/>
                </a:lnTo>
                <a:lnTo>
                  <a:pt x="8724" y="12006"/>
                </a:lnTo>
                <a:lnTo>
                  <a:pt x="8602" y="12085"/>
                </a:lnTo>
                <a:lnTo>
                  <a:pt x="8474" y="12151"/>
                </a:lnTo>
                <a:lnTo>
                  <a:pt x="8340" y="12206"/>
                </a:lnTo>
                <a:lnTo>
                  <a:pt x="8200" y="12246"/>
                </a:lnTo>
                <a:lnTo>
                  <a:pt x="8058" y="12273"/>
                </a:lnTo>
                <a:lnTo>
                  <a:pt x="7913" y="12286"/>
                </a:lnTo>
                <a:lnTo>
                  <a:pt x="7841" y="12286"/>
                </a:lnTo>
                <a:lnTo>
                  <a:pt x="7767" y="12285"/>
                </a:lnTo>
                <a:lnTo>
                  <a:pt x="7626" y="12269"/>
                </a:lnTo>
                <a:lnTo>
                  <a:pt x="7489" y="12242"/>
                </a:lnTo>
                <a:lnTo>
                  <a:pt x="7358" y="12200"/>
                </a:lnTo>
                <a:lnTo>
                  <a:pt x="7232" y="12147"/>
                </a:lnTo>
                <a:lnTo>
                  <a:pt x="7111" y="12079"/>
                </a:lnTo>
                <a:lnTo>
                  <a:pt x="6997" y="12001"/>
                </a:lnTo>
                <a:lnTo>
                  <a:pt x="6889" y="11911"/>
                </a:lnTo>
                <a:lnTo>
                  <a:pt x="6839" y="11859"/>
                </a:lnTo>
                <a:lnTo>
                  <a:pt x="4655" y="9615"/>
                </a:lnTo>
                <a:lnTo>
                  <a:pt x="2472" y="11859"/>
                </a:lnTo>
                <a:lnTo>
                  <a:pt x="2422" y="11909"/>
                </a:lnTo>
                <a:lnTo>
                  <a:pt x="2315" y="12000"/>
                </a:lnTo>
                <a:lnTo>
                  <a:pt x="2201" y="12079"/>
                </a:lnTo>
                <a:lnTo>
                  <a:pt x="2080" y="12145"/>
                </a:lnTo>
                <a:lnTo>
                  <a:pt x="1955" y="12199"/>
                </a:lnTo>
                <a:lnTo>
                  <a:pt x="1823" y="12240"/>
                </a:lnTo>
                <a:lnTo>
                  <a:pt x="1686" y="12269"/>
                </a:lnTo>
                <a:lnTo>
                  <a:pt x="1545" y="12285"/>
                </a:lnTo>
                <a:lnTo>
                  <a:pt x="1473" y="12286"/>
                </a:lnTo>
                <a:lnTo>
                  <a:pt x="1460" y="12286"/>
                </a:lnTo>
                <a:lnTo>
                  <a:pt x="1447" y="12286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8" name="이등변 삼각형 27">
            <a:extLst>
              <a:ext uri="{FF2B5EF4-FFF2-40B4-BE49-F238E27FC236}">
                <a16:creationId xmlns:a16="http://schemas.microsoft.com/office/drawing/2014/main" id="{AD4066BA-D2BC-37E9-976A-8204B8EF9F62}"/>
              </a:ext>
            </a:extLst>
          </p:cNvPr>
          <p:cNvSpPr/>
          <p:nvPr userDrawn="1"/>
        </p:nvSpPr>
        <p:spPr>
          <a:xfrm>
            <a:off x="1235851" y="667970"/>
            <a:ext cx="211949" cy="182715"/>
          </a:xfrm>
          <a:prstGeom prst="triangle">
            <a:avLst/>
          </a:prstGeom>
          <a:solidFill>
            <a:schemeClr val="bg1"/>
          </a:solidFill>
          <a:ln w="47625" cap="rnd">
            <a:solidFill>
              <a:schemeClr val="bg1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4" name="사각형: 둥근 모서리 13">
            <a:extLst>
              <a:ext uri="{FF2B5EF4-FFF2-40B4-BE49-F238E27FC236}">
                <a16:creationId xmlns:a16="http://schemas.microsoft.com/office/drawing/2014/main" id="{81DE6459-0E1B-62B4-B07B-EB5555E53206}"/>
              </a:ext>
            </a:extLst>
          </p:cNvPr>
          <p:cNvSpPr/>
          <p:nvPr userDrawn="1"/>
        </p:nvSpPr>
        <p:spPr>
          <a:xfrm>
            <a:off x="209550" y="778044"/>
            <a:ext cx="11756306" cy="5832862"/>
          </a:xfrm>
          <a:prstGeom prst="roundRect">
            <a:avLst>
              <a:gd name="adj" fmla="val 1861"/>
            </a:avLst>
          </a:prstGeom>
          <a:solidFill>
            <a:schemeClr val="bg1"/>
          </a:solidFill>
          <a:ln w="92075" cap="rnd">
            <a:noFill/>
            <a:round/>
          </a:ln>
          <a:effectLst>
            <a:outerShdw blurRad="254000" dist="38100" dir="2700000" algn="tl" rotWithShape="0">
              <a:prstClr val="black">
                <a:alpha val="5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9468F272-B293-6379-50B0-01D6BCACCF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7626" y="321093"/>
            <a:ext cx="10430212" cy="23353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1675170-525C-B88C-2549-1515AC8C009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10559" y="1193822"/>
            <a:ext cx="10754289" cy="500130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86C6AE6-3A65-C287-7112-FF1BCC98D0A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239250" y="6611900"/>
            <a:ext cx="2743200" cy="23989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="1">
                <a:solidFill>
                  <a:schemeClr val="tx2"/>
                </a:solidFill>
                <a:latin typeface="+mn-lt"/>
              </a:defRPr>
            </a:lvl1pPr>
          </a:lstStyle>
          <a:p>
            <a:fld id="{109C872D-39A9-4065-8BF3-6A613116E2A1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048764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5" r:id="rId4"/>
    <p:sldLayoutId id="2147483652" r:id="rId5"/>
    <p:sldLayoutId id="2147483653" r:id="rId6"/>
    <p:sldLayoutId id="2147483654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2200" i="1" kern="1200">
          <a:solidFill>
            <a:schemeClr val="tx1"/>
          </a:solidFill>
          <a:latin typeface="HY헤드라인M" panose="02030600000101010101" pitchFamily="18" charset="-127"/>
          <a:ea typeface="HY헤드라인M" panose="02030600000101010101" pitchFamily="18" charset="-127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cpoint.or.kr/netzero/main.do" TargetMode="Externa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petroleum.or.kr/industry/story_2_1" TargetMode="External"/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.png"/><Relationship Id="rId4" Type="http://schemas.openxmlformats.org/officeDocument/2006/relationships/hyperlink" Target="https://askinno.com/archives/36348" TargetMode="Externa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dopco.co.kr/company/business-overview" TargetMode="External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svg"/><Relationship Id="rId2" Type="http://schemas.openxmlformats.org/officeDocument/2006/relationships/image" Target="../media/image8.sv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1.svg"/><Relationship Id="rId4" Type="http://schemas.openxmlformats.org/officeDocument/2006/relationships/image" Target="../media/image10.svg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hyperlink" Target="https://youtu.be/Kl08Po8yrEo?si=4VwWGmhbQWH0RQLK" TargetMode="External"/><Relationship Id="rId2" Type="http://schemas.openxmlformats.org/officeDocument/2006/relationships/hyperlink" Target="https://www.youtube.com/shorts/k4JpGtdyuMA" TargetMode="Externa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14.jpeg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gif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hyperlink" Target="https://www.youtube.com/watch?v=VkaXLPJW1Fg&amp;t=329s" TargetMode="Externa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959EC3-FDAD-5008-2635-A7E4EDD289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CEE82B6-2F0F-6FB8-F71F-495B423ABF8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69950" y="192979"/>
            <a:ext cx="10452100" cy="2912171"/>
          </a:xfrm>
          <a:effectLst>
            <a:reflection blurRad="50800" stA="45000" endPos="44000" dir="5400000" sy="-100000" algn="bl" rotWithShape="0"/>
          </a:effectLst>
        </p:spPr>
        <p:txBody>
          <a:bodyPr/>
          <a:lstStyle/>
          <a:p>
            <a:r>
              <a:rPr lang="ko-KR" altLang="en-US" sz="6600" b="1" i="0" dirty="0"/>
              <a:t>생 활 속 의   경 제</a:t>
            </a:r>
            <a:endParaRPr lang="ko-KR" altLang="en-US" i="0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AD3B6547-3B8C-6CD4-91B3-9723EB5A4D5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556665"/>
            <a:ext cx="9144000" cy="935960"/>
          </a:xfrm>
        </p:spPr>
        <p:txBody>
          <a:bodyPr>
            <a:normAutofit/>
          </a:bodyPr>
          <a:lstStyle/>
          <a:p>
            <a:endParaRPr lang="en-US" altLang="ko-KR" dirty="0"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r>
              <a:rPr lang="ko-KR" altLang="en-US" sz="2800" dirty="0">
                <a:latin typeface="HY헤드라인M" panose="02030600000101010101" pitchFamily="18" charset="-127"/>
                <a:ea typeface="HY헤드라인M" panose="02030600000101010101" pitchFamily="18" charset="-127"/>
              </a:rPr>
              <a:t>에너지 </a:t>
            </a:r>
            <a:r>
              <a:rPr lang="en-US" altLang="ko-KR" sz="2800" dirty="0">
                <a:latin typeface="HY헤드라인M" panose="02030600000101010101" pitchFamily="18" charset="-127"/>
                <a:ea typeface="HY헤드라인M" panose="02030600000101010101" pitchFamily="18" charset="-127"/>
              </a:rPr>
              <a:t>&amp; </a:t>
            </a:r>
            <a:r>
              <a:rPr lang="ko-KR" altLang="en-US" sz="2800" dirty="0">
                <a:latin typeface="HY헤드라인M" panose="02030600000101010101" pitchFamily="18" charset="-127"/>
                <a:ea typeface="HY헤드라인M" panose="02030600000101010101" pitchFamily="18" charset="-127"/>
              </a:rPr>
              <a:t>기후</a:t>
            </a:r>
            <a:endParaRPr lang="ko-KR" altLang="en-US" sz="1700" dirty="0">
              <a:latin typeface="+mn-ea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DD5F631-FC1F-A584-173C-4EA4C43A874E}"/>
              </a:ext>
            </a:extLst>
          </p:cNvPr>
          <p:cNvSpPr txBox="1"/>
          <p:nvPr/>
        </p:nvSpPr>
        <p:spPr>
          <a:xfrm>
            <a:off x="5499100" y="5036208"/>
            <a:ext cx="11938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800" dirty="0">
                <a:latin typeface="KoPub돋움체 Light" panose="02020603020101020101" pitchFamily="18" charset="-127"/>
                <a:ea typeface="KoPub돋움체 Light" panose="02020603020101020101" pitchFamily="18" charset="-127"/>
              </a:rPr>
              <a:t>전 승 호</a:t>
            </a:r>
            <a:endParaRPr lang="ko-KR" altLang="en-US" dirty="0">
              <a:latin typeface="KoPub돋움체 Light" panose="02020603020101020101" pitchFamily="18" charset="-127"/>
              <a:ea typeface="KoPub돋움체 Light" panose="02020603020101020101" pitchFamily="18" charset="-127"/>
            </a:endParaRPr>
          </a:p>
        </p:txBody>
      </p:sp>
      <p:pic>
        <p:nvPicPr>
          <p:cNvPr id="7" name="그림 6" descr="텍스트, 폰트, 그래픽, 스크린샷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2266D5C0-E865-7613-63AD-5D846835D6A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01325" y="6408811"/>
            <a:ext cx="1461138" cy="3150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34029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B0B03C-8CD9-666A-9243-F1644F66C5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CFF926D2-E065-E815-DA3E-22FD6B2D00E8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05C96E6-77BA-57A9-6050-5AB471CD46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9F7FB152-5A5D-A49E-2F07-921772E8BB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1. </a:t>
            </a:r>
            <a:r>
              <a:rPr lang="ko-KR" altLang="en-US" sz="4000" b="1" i="0" spc="150" dirty="0"/>
              <a:t>개 요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187382952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3D75C3-7FD4-D991-DE6F-BC19E3904B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12013E8-FF49-56CE-9C13-7E3A7809A3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에너지경제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DD4DDAD-111A-FCF3-241A-B8FA33E0B9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3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9E34A16-4778-BA05-E1A1-955B29D946C3}"/>
              </a:ext>
            </a:extLst>
          </p:cNvPr>
          <p:cNvSpPr txBox="1"/>
          <p:nvPr/>
        </p:nvSpPr>
        <p:spPr>
          <a:xfrm>
            <a:off x="288790" y="958844"/>
            <a:ext cx="11693660" cy="263001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에너지경제학은 에너지 공급 및 소비와 관련한 주제를 연구하는 분야로서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에너지의 생산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분배 그리고 소비 등 에너지 자원의 경제적 측면의 문제를 분석하는 분야이다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에너지경제학의 목표는 에너지 자원의 효율적 이용과 시장에서의 배분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에너지 정책의 영향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에너지와 환경의 상호작용을 분석하는 것이다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고효율 가전제품 구매비용 지원정책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차량 </a:t>
            </a:r>
            <a:r>
              <a:rPr lang="en-US" altLang="ko-KR" sz="1600" spc="-50" dirty="0"/>
              <a:t>5</a:t>
            </a:r>
            <a:r>
              <a:rPr lang="ko-KR" altLang="en-US" sz="1600" spc="-50" dirty="0"/>
              <a:t>부제 정책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태양광 보조금 정책 등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에너지경제학의 분석 대상은 석유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가스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석탄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전력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재생에너지 등 주요 에너지원을 포괄하며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에너지원의 물리적 특성과 시장구조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가격 결정 메커니즘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정책 도구 등을 이해하는 것을 바탕으로 한다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427660285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712AED-B479-7234-9161-24D33E13BA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4260C5C-1538-976F-F065-E676AA9561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에너지경제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9838B33-F24E-1F7D-647B-106D0A9C2A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4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1AEDA03-ED3B-D77C-2396-FFD35462640B}"/>
              </a:ext>
            </a:extLst>
          </p:cNvPr>
          <p:cNvSpPr txBox="1"/>
          <p:nvPr/>
        </p:nvSpPr>
        <p:spPr>
          <a:xfrm>
            <a:off x="288790" y="958844"/>
            <a:ext cx="11693660" cy="484600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과거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에너지와 산업혁명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석탄을 중심으로 한 증기기관은 산업 생산의 핵심동력 이었다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석유는 내연 기관 기술의 확산과 교통부문의 핵심 에너지원으로 자리하게 되었다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화석연료의 사용은 대기오염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온실가스 배출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기후변화 등의 문제를 초래하였다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현재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현대사회에서의 에너지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에너지 공급의 안정성은 경제 안정과 성장의 필수 요소로 작용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에너지 소비가 환경에 미치는 영향이 중요한 이슈로 대두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미래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지속가능한 에너지와 기후변화 대응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화석연료 소비중심에서 점진적으로 재생가능한 에너지원으로 이동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기술혁신이 에너지 시스템의 큰 변화를 몰고 올 것으로 예상</a:t>
            </a:r>
            <a:endParaRPr lang="en-US" altLang="ko-KR" sz="1600" spc="-50" dirty="0"/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에너지 저장 장치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스마트그리드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고효율 기기 등</a:t>
            </a:r>
            <a:endParaRPr lang="en-US" altLang="ko-KR" sz="1600" spc="-50" dirty="0"/>
          </a:p>
        </p:txBody>
      </p:sp>
    </p:spTree>
    <p:extLst>
      <p:ext uri="{BB962C8B-B14F-4D97-AF65-F5344CB8AC3E}">
        <p14:creationId xmlns:p14="http://schemas.microsoft.com/office/powerpoint/2010/main" val="280738550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E81B3A-25CC-FE56-D485-39A603558A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70788EC-9CCC-9B97-4486-2F64D3CC6B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생활 속의 에너지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00D27A6-459E-DEC8-BE45-A74A4C5D1F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5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F1F3F8D-6614-D54D-DA4A-2C56FD3F5945}"/>
              </a:ext>
            </a:extLst>
          </p:cNvPr>
          <p:cNvSpPr txBox="1"/>
          <p:nvPr/>
        </p:nvSpPr>
        <p:spPr>
          <a:xfrm>
            <a:off x="288790" y="958844"/>
            <a:ext cx="11693660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우리 일상 생활을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한번 살펴보자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핸드폰을 사용한다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당연히 충전을 해야 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전기는 저절로 생산되지 않는다</a:t>
            </a:r>
            <a:r>
              <a:rPr lang="en-US" altLang="ko-KR" sz="1600" spc="-50" dirty="0"/>
              <a:t>. 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전국 각지에서 석탄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가스 등을 태워서 만든 전기가 전선을 타고 이동해온 것이다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전기소비도 간접적인 화석연료 소비임을 잊지 말자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이동할 때 차를 탄다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대부분의 자가용은 휘발유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경유를 연료로 하는 경우가 많다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시내버스는 대부분 </a:t>
            </a:r>
            <a:r>
              <a:rPr lang="en-US" altLang="ko-KR" sz="1600" spc="-50" dirty="0"/>
              <a:t>CNG (Compressed Natural Gas)</a:t>
            </a:r>
            <a:r>
              <a:rPr lang="ko-KR" altLang="en-US" sz="1600" spc="-50" dirty="0"/>
              <a:t>를 연료로 사용한다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더우면 냉방기기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추우면 난방기기를 켠다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대부분 전기를 많이 사용하고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가스보일러를 사용하는 집도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밥을 먹어야 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요리 할 때 가스레인지를 켜면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가스를 사용한다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옷을 입는다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우리가 입고 있는 옷의 대부분이 합성섬유다</a:t>
            </a:r>
            <a:r>
              <a:rPr lang="en-US" altLang="ko-KR" sz="1600" spc="-50" dirty="0"/>
              <a:t>. 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합성섬유의 원료는 석유로부터 나온다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76062539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614CBF-8048-8A87-D698-A17E533EFD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198C714-55C4-66BD-6061-7CB55AD12D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수업 개요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FAE7D16-2ED3-2A61-78FC-090DADE0B5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6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7607F4F-D738-4AAA-FBE2-FCE64BE6F021}"/>
              </a:ext>
            </a:extLst>
          </p:cNvPr>
          <p:cNvSpPr txBox="1"/>
          <p:nvPr/>
        </p:nvSpPr>
        <p:spPr>
          <a:xfrm>
            <a:off x="288790" y="958844"/>
            <a:ext cx="11693660" cy="484600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2</a:t>
            </a:r>
            <a:r>
              <a:rPr lang="ko-KR" altLang="en-US" sz="1600" spc="-50" dirty="0"/>
              <a:t>주간에 걸쳐 다음의 내용을 다루고자 한다</a:t>
            </a:r>
            <a:r>
              <a:rPr lang="en-US" altLang="ko-KR" sz="1600" spc="-50" dirty="0"/>
              <a:t>.</a:t>
            </a:r>
          </a:p>
          <a:p>
            <a:pPr marL="434975" indent="-342900">
              <a:lnSpc>
                <a:spcPct val="150000"/>
              </a:lnSpc>
              <a:buFont typeface="+mj-lt"/>
              <a:buAutoNum type="arabicPeriod"/>
            </a:pPr>
            <a:endParaRPr lang="en-US" altLang="ko-KR" sz="1600" spc="-50" dirty="0"/>
          </a:p>
          <a:p>
            <a:pPr marL="434975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1600" spc="-50" dirty="0"/>
              <a:t>(</a:t>
            </a:r>
            <a:r>
              <a:rPr lang="ko-KR" altLang="en-US" sz="1600" spc="-50" dirty="0"/>
              <a:t>첫 시간</a:t>
            </a:r>
            <a:r>
              <a:rPr lang="en-US" altLang="ko-KR" sz="1600" spc="-50" dirty="0"/>
              <a:t>, 3/30(</a:t>
            </a:r>
            <a:r>
              <a:rPr lang="ko-KR" altLang="en-US" sz="1600" spc="-50" dirty="0"/>
              <a:t>월</a:t>
            </a:r>
            <a:r>
              <a:rPr lang="en-US" altLang="ko-KR" sz="1600" spc="-50" dirty="0"/>
              <a:t>)) </a:t>
            </a:r>
            <a:r>
              <a:rPr lang="ko-KR" altLang="en-US" sz="1600" spc="-50" dirty="0"/>
              <a:t>현재 우리가 살아가는 삶의 방식이 어떻게 기후변화를 일으키고 있는지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그 메커니즘을 살펴보자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에너지 소비 → 온실가스 배출 → 지구온난화 → 기후변화 → </a:t>
            </a:r>
            <a:r>
              <a:rPr lang="en-US" altLang="ko-KR" sz="1600" spc="-50" dirty="0"/>
              <a:t>?????? 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기후변화는 이미 시작이 되었고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따라서 기후변화 속에 살고 있지만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아직 미미한 수준이다</a:t>
            </a:r>
            <a:r>
              <a:rPr lang="en-US" altLang="ko-KR" sz="1600" spc="-50" dirty="0"/>
              <a:t>.</a:t>
            </a:r>
          </a:p>
          <a:p>
            <a:pPr marL="1806575" lvl="3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예전에는 관측되지 않았던 폭염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폭우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가뭄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등이 발생하고 있다</a:t>
            </a:r>
            <a:r>
              <a:rPr lang="en-US" altLang="ko-KR" sz="1600" spc="-50" dirty="0"/>
              <a:t>.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본격적으로 기후변화가 심해지면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우리 삶의 방식은 어떻게 변할까</a:t>
            </a:r>
            <a:r>
              <a:rPr lang="en-US" altLang="ko-KR" sz="1600" spc="-50" dirty="0"/>
              <a:t>??</a:t>
            </a:r>
          </a:p>
          <a:p>
            <a:pPr marL="1806575" lvl="3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지구상에 아직 겪어본 사람이 없다</a:t>
            </a:r>
            <a:r>
              <a:rPr lang="en-US" altLang="ko-KR" sz="1600" spc="-50" dirty="0"/>
              <a:t>. </a:t>
            </a:r>
            <a:r>
              <a:rPr lang="ko-KR" altLang="en-US" sz="1600" spc="-50" dirty="0"/>
              <a:t>어떤 사회가 될지 상상해보자</a:t>
            </a:r>
            <a:r>
              <a:rPr lang="en-US" altLang="ko-KR" sz="1600" spc="-50" dirty="0"/>
              <a:t>. (</a:t>
            </a:r>
            <a:r>
              <a:rPr lang="ko-KR" altLang="en-US" sz="1600" spc="-50" dirty="0"/>
              <a:t>이건 각자 알아서 숙제</a:t>
            </a:r>
            <a:r>
              <a:rPr lang="en-US" altLang="ko-KR" sz="1600" spc="-50" dirty="0"/>
              <a:t>)</a:t>
            </a:r>
          </a:p>
          <a:p>
            <a:pPr marL="1806575" lvl="3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  <a:p>
            <a:pPr marL="434975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1600" spc="-50" dirty="0"/>
              <a:t>(</a:t>
            </a:r>
            <a:r>
              <a:rPr lang="ko-KR" altLang="en-US" sz="1600" spc="-50" dirty="0"/>
              <a:t>두번째 시간</a:t>
            </a:r>
            <a:r>
              <a:rPr lang="en-US" altLang="ko-KR" sz="1600" spc="-50" dirty="0"/>
              <a:t>, 4/20(</a:t>
            </a:r>
            <a:r>
              <a:rPr lang="ko-KR" altLang="en-US" sz="1600" spc="-50" dirty="0"/>
              <a:t>월</a:t>
            </a:r>
            <a:r>
              <a:rPr lang="en-US" altLang="ko-KR" sz="1600" spc="-50" dirty="0"/>
              <a:t>)) </a:t>
            </a:r>
            <a:r>
              <a:rPr lang="ko-KR" altLang="en-US" sz="1600" spc="-50" dirty="0"/>
              <a:t>나부터 기후변화 대응을 위해 할 수 있는 일을 생각해보자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우선 생각해볼 수 있는 건</a:t>
            </a:r>
            <a:r>
              <a:rPr lang="en-US" altLang="ko-KR" sz="1600" spc="-50" dirty="0"/>
              <a:t>, </a:t>
            </a:r>
            <a:r>
              <a:rPr lang="ko-KR" altLang="en-US" sz="1600" spc="-50" dirty="0" err="1"/>
              <a:t>녹생생활</a:t>
            </a:r>
            <a:r>
              <a:rPr lang="ko-KR" altLang="en-US" sz="1600" spc="-50" dirty="0"/>
              <a:t> 실천활동을 하면 탄소중립포인트를 준다</a:t>
            </a:r>
            <a:r>
              <a:rPr lang="en-US" altLang="ko-KR" sz="1600" spc="-50" dirty="0"/>
              <a:t>.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우리도 대중교통을 이용하면 어떤 이유에서 탄소배출이 줄어 드는 건지 경제적으로 따져보는 시간을 가져보자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아주 사소한 일부터 습관을 들여보자</a:t>
            </a:r>
            <a:r>
              <a:rPr lang="en-US" altLang="ko-KR" sz="1600" spc="-50" dirty="0"/>
              <a:t>. </a:t>
            </a:r>
            <a:r>
              <a:rPr lang="ko-KR" altLang="en-US" sz="1600" spc="-50" dirty="0"/>
              <a:t>기후변화를 조금이라도 늦추거나 막을 수 있지 않을까</a:t>
            </a:r>
            <a:r>
              <a:rPr lang="en-US" altLang="ko-KR" sz="1600" spc="-50" dirty="0"/>
              <a:t>? (</a:t>
            </a:r>
            <a:r>
              <a:rPr lang="ko-KR" altLang="en-US" sz="1600" spc="-50" dirty="0"/>
              <a:t>이것도 각자 알아서 숙제</a:t>
            </a:r>
            <a:r>
              <a:rPr lang="en-US" altLang="ko-KR" sz="1600" spc="-50" dirty="0"/>
              <a:t>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DB44B9C-E16C-71EA-0C09-CF74E0EDE7D5}"/>
              </a:ext>
            </a:extLst>
          </p:cNvPr>
          <p:cNvSpPr txBox="1"/>
          <p:nvPr/>
        </p:nvSpPr>
        <p:spPr>
          <a:xfrm>
            <a:off x="8852670" y="4720074"/>
            <a:ext cx="312978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dirty="0"/>
              <a:t>※ </a:t>
            </a:r>
            <a:r>
              <a:rPr lang="ko-KR" altLang="en-US" sz="1200" dirty="0"/>
              <a:t>탄소중립 포인트 혜택 받기</a:t>
            </a:r>
            <a:r>
              <a:rPr lang="en-US" altLang="ko-KR" sz="1200" dirty="0"/>
              <a:t>: </a:t>
            </a:r>
            <a:r>
              <a:rPr lang="ko-KR" altLang="en-US" sz="1200" dirty="0">
                <a:hlinkClick r:id="rId2"/>
              </a:rPr>
              <a:t>클릭</a:t>
            </a:r>
            <a:endParaRPr lang="ko-KR" altLang="en-US" sz="1200" dirty="0"/>
          </a:p>
        </p:txBody>
      </p:sp>
    </p:spTree>
    <p:extLst>
      <p:ext uri="{BB962C8B-B14F-4D97-AF65-F5344CB8AC3E}">
        <p14:creationId xmlns:p14="http://schemas.microsoft.com/office/powerpoint/2010/main" val="316546669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C18FED-FBF3-FDD9-540C-F9534D905D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8164C06A-5978-8D92-29E0-A12DCED7E9B9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187AB47-7DBA-882A-19B4-F268C3F7D1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7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6E8C305B-9E02-82AD-8713-B11DD5DABC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2. </a:t>
            </a:r>
            <a:r>
              <a:rPr lang="ko-KR" altLang="en-US" sz="4000" b="1" i="0" spc="150" dirty="0"/>
              <a:t>에너지 종류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425647765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D24628-F716-3456-11F9-75E85A849F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4B87C41-359E-445E-4EF2-4B5F605AF1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에너지의 종류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7E43956-E5C6-A458-CAB5-589149DC6A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8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18362C4-F49E-3D27-18FB-240541FF84FE}"/>
              </a:ext>
            </a:extLst>
          </p:cNvPr>
          <p:cNvSpPr txBox="1"/>
          <p:nvPr/>
        </p:nvSpPr>
        <p:spPr>
          <a:xfrm>
            <a:off x="288790" y="958844"/>
            <a:ext cx="11693660" cy="521533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에너지는 여러 기준으로 나누어 볼 수 있지만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우선 </a:t>
            </a:r>
            <a:r>
              <a:rPr lang="en-US" altLang="ko-KR" sz="1600" spc="-50" dirty="0"/>
              <a:t>1</a:t>
            </a:r>
            <a:r>
              <a:rPr lang="ko-KR" altLang="en-US" sz="1600" spc="-50" dirty="0"/>
              <a:t>차 에너지와 </a:t>
            </a:r>
            <a:r>
              <a:rPr lang="en-US" altLang="ko-KR" sz="1600" spc="-50" dirty="0"/>
              <a:t>2</a:t>
            </a:r>
            <a:r>
              <a:rPr lang="ko-KR" altLang="en-US" sz="1600" spc="-50" dirty="0"/>
              <a:t>차 에너지로 나누어 볼 수 있다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b="1" spc="-50" dirty="0"/>
              <a:t>1</a:t>
            </a:r>
            <a:r>
              <a:rPr lang="ko-KR" altLang="en-US" sz="1600" b="1" spc="-50" dirty="0"/>
              <a:t>차에너지</a:t>
            </a:r>
            <a:r>
              <a:rPr lang="ko-KR" altLang="en-US" sz="1600" spc="-50" dirty="0"/>
              <a:t>는 어떤 가공이나 변환을 거치지 않은 자연 상태의 에너지를 말하며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다음과 같이 분류해볼 수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땅에서 채굴하는 석탄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석유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가스 등은 유한하기 때문에 </a:t>
            </a:r>
            <a:r>
              <a:rPr lang="ko-KR" altLang="en-US" sz="1600" b="1" spc="-50" dirty="0" err="1"/>
              <a:t>고갈성</a:t>
            </a:r>
            <a:r>
              <a:rPr lang="ko-KR" altLang="en-US" sz="1600" b="1" spc="-50" dirty="0"/>
              <a:t> 에너지</a:t>
            </a:r>
            <a:r>
              <a:rPr lang="ko-KR" altLang="en-US" sz="1600" spc="-50" dirty="0"/>
              <a:t> 라고 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태양으로 </a:t>
            </a:r>
            <a:r>
              <a:rPr lang="ko-KR" altLang="en-US" sz="1600" spc="-50" dirty="0" err="1"/>
              <a:t>부터</a:t>
            </a:r>
            <a:r>
              <a:rPr lang="ko-KR" altLang="en-US" sz="1600" spc="-50" dirty="0"/>
              <a:t> 오는 태양에너지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바람으로 부터 오는 바람에너지는 무한하기 때문에 </a:t>
            </a:r>
            <a:r>
              <a:rPr lang="ko-KR" altLang="en-US" sz="1600" b="1" spc="-50" dirty="0"/>
              <a:t>재생 에너지</a:t>
            </a:r>
            <a:r>
              <a:rPr lang="ko-KR" altLang="en-US" sz="1600" spc="-50" dirty="0"/>
              <a:t> 라고 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b="1" spc="-50" dirty="0"/>
              <a:t>2</a:t>
            </a:r>
            <a:r>
              <a:rPr lang="ko-KR" altLang="en-US" sz="1600" b="1" spc="-50" dirty="0"/>
              <a:t>차에너지</a:t>
            </a:r>
            <a:r>
              <a:rPr lang="ko-KR" altLang="en-US" sz="1600" spc="-50" dirty="0"/>
              <a:t>는 </a:t>
            </a:r>
            <a:r>
              <a:rPr lang="en-US" altLang="ko-KR" sz="1600" spc="-50" dirty="0"/>
              <a:t>1</a:t>
            </a:r>
            <a:r>
              <a:rPr lang="ko-KR" altLang="en-US" sz="1600" spc="-50" dirty="0"/>
              <a:t>차에너지를 변환</a:t>
            </a:r>
            <a:r>
              <a:rPr lang="en-US" altLang="ko-KR" sz="1600" spc="-50" dirty="0"/>
              <a:t>·</a:t>
            </a:r>
            <a:r>
              <a:rPr lang="ko-KR" altLang="en-US" sz="1600" spc="-50" dirty="0"/>
              <a:t>가공하여 우리가 사용하기 편리하게 만든 에너지를 말한다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땅에서 채굴한 석유는 바로 쓸 수 없다</a:t>
            </a:r>
            <a:r>
              <a:rPr lang="en-US" altLang="ko-KR" sz="1600" spc="-50" dirty="0"/>
              <a:t>. </a:t>
            </a:r>
            <a:r>
              <a:rPr lang="ko-KR" altLang="en-US" sz="1600" spc="-50" dirty="0"/>
              <a:t>불순물이 많아서 여러 석유제품들로 분류를 해야 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석유를 높은 온도에서 끓이면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아스팔트도 나오고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항공유도 나오고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휘발유도 나온다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즉 석유는 </a:t>
            </a:r>
            <a:r>
              <a:rPr lang="en-US" altLang="ko-KR" sz="1600" spc="-50" dirty="0"/>
              <a:t>1</a:t>
            </a:r>
            <a:r>
              <a:rPr lang="ko-KR" altLang="en-US" sz="1600" spc="-50" dirty="0"/>
              <a:t>차에너지 이고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아스팔트</a:t>
            </a:r>
            <a:r>
              <a:rPr lang="en-US" altLang="ko-KR" sz="1600" spc="-50" dirty="0"/>
              <a:t>, </a:t>
            </a:r>
            <a:r>
              <a:rPr lang="ko-KR" altLang="en-US" sz="1600" spc="-50" dirty="0" err="1"/>
              <a:t>항공유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휘발유 등이 </a:t>
            </a:r>
            <a:r>
              <a:rPr lang="en-US" altLang="ko-KR" sz="1600" spc="-50" dirty="0"/>
              <a:t>2</a:t>
            </a:r>
            <a:r>
              <a:rPr lang="ko-KR" altLang="en-US" sz="1600" spc="-50" dirty="0"/>
              <a:t>차 에너지이다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태양에너지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바람에너지도 바로 쓸 수 없다</a:t>
            </a:r>
            <a:r>
              <a:rPr lang="en-US" altLang="ko-KR" sz="1600" spc="-50" dirty="0"/>
              <a:t>. </a:t>
            </a:r>
            <a:r>
              <a:rPr lang="ko-KR" altLang="en-US" sz="1600" spc="-50" dirty="0"/>
              <a:t>태양광이나 풍력발전기를 통해 전기에너지로 바꿔야 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태양광 패널에 햇빛이 닿으면 전기가 생산되고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바람이 불어서 풍력날개가 돌아가면 전기가 생산된다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즉 태양에너지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바람에너지는 </a:t>
            </a:r>
            <a:r>
              <a:rPr lang="en-US" altLang="ko-KR" sz="1600" spc="-50" dirty="0"/>
              <a:t>1</a:t>
            </a:r>
            <a:r>
              <a:rPr lang="ko-KR" altLang="en-US" sz="1600" spc="-50" dirty="0"/>
              <a:t>차에너지 이고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전기가 </a:t>
            </a:r>
            <a:r>
              <a:rPr lang="en-US" altLang="ko-KR" sz="1600" spc="-50" dirty="0"/>
              <a:t>2</a:t>
            </a:r>
            <a:r>
              <a:rPr lang="ko-KR" altLang="en-US" sz="1600" spc="-50" dirty="0"/>
              <a:t>차에너지다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</p:txBody>
      </p:sp>
    </p:spTree>
    <p:extLst>
      <p:ext uri="{BB962C8B-B14F-4D97-AF65-F5344CB8AC3E}">
        <p14:creationId xmlns:p14="http://schemas.microsoft.com/office/powerpoint/2010/main" val="302515510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1ABFF5-7A07-9669-E1B0-3FCB3A712B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EF886B3-DA2D-95B7-563E-D1410478CF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국가 에너지 시스템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0D2BAFA-E8E8-6ED0-C5B3-F85F39DB4E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9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E7292EE-3066-048B-CC5E-441ADCF49812}"/>
              </a:ext>
            </a:extLst>
          </p:cNvPr>
          <p:cNvSpPr txBox="1"/>
          <p:nvPr/>
        </p:nvSpPr>
        <p:spPr>
          <a:xfrm>
            <a:off x="288790" y="958844"/>
            <a:ext cx="9623649" cy="414024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전체적으로 우리나라의 에너지는 어떻게 공급이 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어디에 소비되고 있는지 전체적으로 살펴보자</a:t>
            </a:r>
            <a:r>
              <a:rPr lang="en-US" altLang="ko-KR" sz="1600" spc="-50" dirty="0"/>
              <a:t>.</a:t>
            </a:r>
          </a:p>
        </p:txBody>
      </p:sp>
      <p:grpSp>
        <p:nvGrpSpPr>
          <p:cNvPr id="3" name="그룹 2">
            <a:extLst>
              <a:ext uri="{FF2B5EF4-FFF2-40B4-BE49-F238E27FC236}">
                <a16:creationId xmlns:a16="http://schemas.microsoft.com/office/drawing/2014/main" id="{CA73A029-06A1-121C-6923-32F9DC417D42}"/>
              </a:ext>
            </a:extLst>
          </p:cNvPr>
          <p:cNvGrpSpPr/>
          <p:nvPr/>
        </p:nvGrpSpPr>
        <p:grpSpPr>
          <a:xfrm>
            <a:off x="795972" y="1638300"/>
            <a:ext cx="10194874" cy="5035152"/>
            <a:chOff x="1642959" y="2388201"/>
            <a:chExt cx="6269495" cy="3089463"/>
          </a:xfrm>
        </p:grpSpPr>
        <p:pic>
          <p:nvPicPr>
            <p:cNvPr id="6" name="Picture 14">
              <a:extLst>
                <a:ext uri="{FF2B5EF4-FFF2-40B4-BE49-F238E27FC236}">
                  <a16:creationId xmlns:a16="http://schemas.microsoft.com/office/drawing/2014/main" id="{50E63222-FAF4-CADC-BB5D-0225EEFE3D9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b="28492"/>
            <a:stretch>
              <a:fillRect/>
            </a:stretch>
          </p:blipFill>
          <p:spPr>
            <a:xfrm>
              <a:off x="1694979" y="2388201"/>
              <a:ext cx="6217475" cy="3069672"/>
            </a:xfrm>
            <a:prstGeom prst="rect">
              <a:avLst/>
            </a:prstGeom>
          </p:spPr>
        </p:pic>
        <p:sp>
          <p:nvSpPr>
            <p:cNvPr id="7" name="직사각형 6">
              <a:extLst>
                <a:ext uri="{FF2B5EF4-FFF2-40B4-BE49-F238E27FC236}">
                  <a16:creationId xmlns:a16="http://schemas.microsoft.com/office/drawing/2014/main" id="{2A3A539F-DCDE-ABF0-691F-8CD16A1E69C4}"/>
                </a:ext>
              </a:extLst>
            </p:cNvPr>
            <p:cNvSpPr/>
            <p:nvPr/>
          </p:nvSpPr>
          <p:spPr>
            <a:xfrm>
              <a:off x="4454876" y="3870318"/>
              <a:ext cx="119550" cy="88105"/>
            </a:xfrm>
            <a:prstGeom prst="rect">
              <a:avLst/>
            </a:prstGeom>
            <a:solidFill>
              <a:srgbClr val="E7E8E8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" name="직사각형 7">
              <a:extLst>
                <a:ext uri="{FF2B5EF4-FFF2-40B4-BE49-F238E27FC236}">
                  <a16:creationId xmlns:a16="http://schemas.microsoft.com/office/drawing/2014/main" id="{0C38535F-2E35-A78E-DACD-36AFB3187B31}"/>
                </a:ext>
              </a:extLst>
            </p:cNvPr>
            <p:cNvSpPr/>
            <p:nvPr/>
          </p:nvSpPr>
          <p:spPr>
            <a:xfrm>
              <a:off x="1753076" y="4555161"/>
              <a:ext cx="972706" cy="833601"/>
            </a:xfrm>
            <a:prstGeom prst="rect">
              <a:avLst/>
            </a:prstGeom>
            <a:solidFill>
              <a:srgbClr val="E7E8E8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9" name="직사각형 8">
              <a:extLst>
                <a:ext uri="{FF2B5EF4-FFF2-40B4-BE49-F238E27FC236}">
                  <a16:creationId xmlns:a16="http://schemas.microsoft.com/office/drawing/2014/main" id="{51087289-E264-222A-8110-8943617EEF51}"/>
                </a:ext>
              </a:extLst>
            </p:cNvPr>
            <p:cNvSpPr/>
            <p:nvPr/>
          </p:nvSpPr>
          <p:spPr>
            <a:xfrm>
              <a:off x="3858936" y="2403960"/>
              <a:ext cx="1875114" cy="20736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" name="직사각형 9">
              <a:extLst>
                <a:ext uri="{FF2B5EF4-FFF2-40B4-BE49-F238E27FC236}">
                  <a16:creationId xmlns:a16="http://schemas.microsoft.com/office/drawing/2014/main" id="{91AA6CD9-FCBD-FFF0-C764-7D36EE478D74}"/>
                </a:ext>
              </a:extLst>
            </p:cNvPr>
            <p:cNvSpPr/>
            <p:nvPr/>
          </p:nvSpPr>
          <p:spPr>
            <a:xfrm>
              <a:off x="3802370" y="5228535"/>
              <a:ext cx="922789" cy="207362"/>
            </a:xfrm>
            <a:prstGeom prst="rect">
              <a:avLst/>
            </a:prstGeom>
            <a:solidFill>
              <a:srgbClr val="E7E8E8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" name="직사각형 10">
              <a:extLst>
                <a:ext uri="{FF2B5EF4-FFF2-40B4-BE49-F238E27FC236}">
                  <a16:creationId xmlns:a16="http://schemas.microsoft.com/office/drawing/2014/main" id="{A1CE3E7E-8D0C-11B6-3C16-B8DAA3492BCA}"/>
                </a:ext>
              </a:extLst>
            </p:cNvPr>
            <p:cNvSpPr/>
            <p:nvPr/>
          </p:nvSpPr>
          <p:spPr>
            <a:xfrm>
              <a:off x="4751697" y="5228535"/>
              <a:ext cx="922789" cy="207362"/>
            </a:xfrm>
            <a:prstGeom prst="rect">
              <a:avLst/>
            </a:prstGeom>
            <a:solidFill>
              <a:srgbClr val="E7E8E8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" name="직사각형 11">
              <a:extLst>
                <a:ext uri="{FF2B5EF4-FFF2-40B4-BE49-F238E27FC236}">
                  <a16:creationId xmlns:a16="http://schemas.microsoft.com/office/drawing/2014/main" id="{C7AA7EC2-EFE5-9FAF-2BF1-F2E1ECA056A0}"/>
                </a:ext>
              </a:extLst>
            </p:cNvPr>
            <p:cNvSpPr/>
            <p:nvPr/>
          </p:nvSpPr>
          <p:spPr>
            <a:xfrm>
              <a:off x="1642959" y="5443708"/>
              <a:ext cx="6217475" cy="33956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13" name="직선 연결선 12">
              <a:extLst>
                <a:ext uri="{FF2B5EF4-FFF2-40B4-BE49-F238E27FC236}">
                  <a16:creationId xmlns:a16="http://schemas.microsoft.com/office/drawing/2014/main" id="{94A3797B-A720-6A7D-F47C-D329D4EE45E8}"/>
                </a:ext>
              </a:extLst>
            </p:cNvPr>
            <p:cNvCxnSpPr>
              <a:cxnSpLocks/>
            </p:cNvCxnSpPr>
            <p:nvPr/>
          </p:nvCxnSpPr>
          <p:spPr>
            <a:xfrm>
              <a:off x="4740735" y="5201180"/>
              <a:ext cx="0" cy="203003"/>
            </a:xfrm>
            <a:prstGeom prst="line">
              <a:avLst/>
            </a:prstGeom>
            <a:ln w="22225"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4" name="직사각형 13">
              <a:extLst>
                <a:ext uri="{FF2B5EF4-FFF2-40B4-BE49-F238E27FC236}">
                  <a16:creationId xmlns:a16="http://schemas.microsoft.com/office/drawing/2014/main" id="{004E223E-E565-D4AE-A17C-470CFF9BA9E4}"/>
                </a:ext>
              </a:extLst>
            </p:cNvPr>
            <p:cNvSpPr/>
            <p:nvPr/>
          </p:nvSpPr>
          <p:spPr>
            <a:xfrm>
              <a:off x="1707678" y="4310557"/>
              <a:ext cx="922789" cy="207362"/>
            </a:xfrm>
            <a:prstGeom prst="rect">
              <a:avLst/>
            </a:prstGeom>
            <a:solidFill>
              <a:srgbClr val="E7E8E8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5" name="직사각형 14">
              <a:extLst>
                <a:ext uri="{FF2B5EF4-FFF2-40B4-BE49-F238E27FC236}">
                  <a16:creationId xmlns:a16="http://schemas.microsoft.com/office/drawing/2014/main" id="{648A3AF2-946B-F14A-A503-CB2743C60297}"/>
                </a:ext>
              </a:extLst>
            </p:cNvPr>
            <p:cNvSpPr/>
            <p:nvPr/>
          </p:nvSpPr>
          <p:spPr>
            <a:xfrm>
              <a:off x="7680382" y="3428999"/>
              <a:ext cx="90431" cy="1641475"/>
            </a:xfrm>
            <a:prstGeom prst="rect">
              <a:avLst/>
            </a:prstGeom>
            <a:solidFill>
              <a:srgbClr val="E7E8E8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6" name="직사각형 15">
              <a:extLst>
                <a:ext uri="{FF2B5EF4-FFF2-40B4-BE49-F238E27FC236}">
                  <a16:creationId xmlns:a16="http://schemas.microsoft.com/office/drawing/2014/main" id="{8F1B2254-8FAA-916D-1F49-08AB90CB4425}"/>
                </a:ext>
              </a:extLst>
            </p:cNvPr>
            <p:cNvSpPr/>
            <p:nvPr/>
          </p:nvSpPr>
          <p:spPr>
            <a:xfrm>
              <a:off x="7770813" y="3389299"/>
              <a:ext cx="141641" cy="2068574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7" name="직사각형 16">
              <a:extLst>
                <a:ext uri="{FF2B5EF4-FFF2-40B4-BE49-F238E27FC236}">
                  <a16:creationId xmlns:a16="http://schemas.microsoft.com/office/drawing/2014/main" id="{CE1B75C9-BBDD-7AA6-2C81-92ED5800B013}"/>
                </a:ext>
              </a:extLst>
            </p:cNvPr>
            <p:cNvSpPr/>
            <p:nvPr/>
          </p:nvSpPr>
          <p:spPr>
            <a:xfrm>
              <a:off x="2879582" y="3138487"/>
              <a:ext cx="325582" cy="125413"/>
            </a:xfrm>
            <a:prstGeom prst="rect">
              <a:avLst/>
            </a:prstGeom>
            <a:solidFill>
              <a:srgbClr val="E7E8E8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8" name="직사각형 17">
              <a:extLst>
                <a:ext uri="{FF2B5EF4-FFF2-40B4-BE49-F238E27FC236}">
                  <a16:creationId xmlns:a16="http://schemas.microsoft.com/office/drawing/2014/main" id="{26930EB1-4654-2150-8F99-FE8199CC6C4A}"/>
                </a:ext>
              </a:extLst>
            </p:cNvPr>
            <p:cNvSpPr/>
            <p:nvPr/>
          </p:nvSpPr>
          <p:spPr>
            <a:xfrm>
              <a:off x="3678094" y="3733397"/>
              <a:ext cx="77931" cy="90892"/>
            </a:xfrm>
            <a:prstGeom prst="rect">
              <a:avLst/>
            </a:prstGeom>
            <a:solidFill>
              <a:srgbClr val="E7E8E8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cxnSp>
          <p:nvCxnSpPr>
            <p:cNvPr id="19" name="직선 연결선 18">
              <a:extLst>
                <a:ext uri="{FF2B5EF4-FFF2-40B4-BE49-F238E27FC236}">
                  <a16:creationId xmlns:a16="http://schemas.microsoft.com/office/drawing/2014/main" id="{554B6D96-27FE-E09A-8517-981317756AF6}"/>
                </a:ext>
              </a:extLst>
            </p:cNvPr>
            <p:cNvCxnSpPr>
              <a:cxnSpLocks/>
            </p:cNvCxnSpPr>
            <p:nvPr/>
          </p:nvCxnSpPr>
          <p:spPr>
            <a:xfrm>
              <a:off x="4021069" y="2611321"/>
              <a:ext cx="0" cy="309679"/>
            </a:xfrm>
            <a:prstGeom prst="line">
              <a:avLst/>
            </a:prstGeom>
            <a:ln>
              <a:solidFill>
                <a:srgbClr val="D776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직선 연결선 19">
              <a:extLst>
                <a:ext uri="{FF2B5EF4-FFF2-40B4-BE49-F238E27FC236}">
                  <a16:creationId xmlns:a16="http://schemas.microsoft.com/office/drawing/2014/main" id="{7F2B8734-ABC7-603B-820E-416A5E35466C}"/>
                </a:ext>
              </a:extLst>
            </p:cNvPr>
            <p:cNvCxnSpPr>
              <a:cxnSpLocks/>
            </p:cNvCxnSpPr>
            <p:nvPr/>
          </p:nvCxnSpPr>
          <p:spPr>
            <a:xfrm>
              <a:off x="4021069" y="2921530"/>
              <a:ext cx="0" cy="36000"/>
            </a:xfrm>
            <a:prstGeom prst="line">
              <a:avLst/>
            </a:prstGeom>
            <a:ln>
              <a:solidFill>
                <a:schemeClr val="bg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1" name="직사각형 20">
              <a:extLst>
                <a:ext uri="{FF2B5EF4-FFF2-40B4-BE49-F238E27FC236}">
                  <a16:creationId xmlns:a16="http://schemas.microsoft.com/office/drawing/2014/main" id="{5CBCC563-6176-D1BF-CAC9-017043AA4CBC}"/>
                </a:ext>
              </a:extLst>
            </p:cNvPr>
            <p:cNvSpPr/>
            <p:nvPr/>
          </p:nvSpPr>
          <p:spPr>
            <a:xfrm>
              <a:off x="3928373" y="2943712"/>
              <a:ext cx="276916" cy="45719"/>
            </a:xfrm>
            <a:prstGeom prst="rect">
              <a:avLst/>
            </a:prstGeom>
            <a:solidFill>
              <a:srgbClr val="E7E8E8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22" name="TextBox 21">
            <a:extLst>
              <a:ext uri="{FF2B5EF4-FFF2-40B4-BE49-F238E27FC236}">
                <a16:creationId xmlns:a16="http://schemas.microsoft.com/office/drawing/2014/main" id="{AA189402-38E6-5F3D-E270-DA139406BF15}"/>
              </a:ext>
            </a:extLst>
          </p:cNvPr>
          <p:cNvSpPr txBox="1"/>
          <p:nvPr/>
        </p:nvSpPr>
        <p:spPr>
          <a:xfrm>
            <a:off x="3410787" y="1679072"/>
            <a:ext cx="4683827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spc="-50" dirty="0"/>
              <a:t>&lt;</a:t>
            </a:r>
            <a:r>
              <a:rPr lang="ko-KR" altLang="en-US" sz="1400" spc="-50" dirty="0"/>
              <a:t>에너지 공급과 수요</a:t>
            </a:r>
            <a:r>
              <a:rPr lang="en-US" altLang="ko-KR" sz="1400" spc="-50" dirty="0"/>
              <a:t>&gt;</a:t>
            </a:r>
            <a:endParaRPr lang="ko-KR" altLang="en-US" sz="1400" dirty="0"/>
          </a:p>
        </p:txBody>
      </p:sp>
      <p:sp>
        <p:nvSpPr>
          <p:cNvPr id="24" name="타원 23">
            <a:extLst>
              <a:ext uri="{FF2B5EF4-FFF2-40B4-BE49-F238E27FC236}">
                <a16:creationId xmlns:a16="http://schemas.microsoft.com/office/drawing/2014/main" id="{0F2C2631-A087-B3B1-BBA0-A4FEB15233E8}"/>
              </a:ext>
            </a:extLst>
          </p:cNvPr>
          <p:cNvSpPr/>
          <p:nvPr/>
        </p:nvSpPr>
        <p:spPr>
          <a:xfrm>
            <a:off x="864118" y="4847936"/>
            <a:ext cx="1301603" cy="378643"/>
          </a:xfrm>
          <a:prstGeom prst="ellipse">
            <a:avLst/>
          </a:prstGeom>
          <a:solidFill>
            <a:srgbClr val="FFFF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>
                <a:solidFill>
                  <a:schemeClr val="tx1"/>
                </a:solidFill>
              </a:rPr>
              <a:t>1</a:t>
            </a:r>
            <a:r>
              <a:rPr lang="ko-KR" altLang="en-US" sz="1200" dirty="0">
                <a:solidFill>
                  <a:schemeClr val="tx1"/>
                </a:solidFill>
              </a:rPr>
              <a:t>차에너지 </a:t>
            </a:r>
            <a:r>
              <a:rPr lang="en-US" altLang="ko-KR" sz="1200" dirty="0">
                <a:solidFill>
                  <a:schemeClr val="tx1"/>
                </a:solidFill>
              </a:rPr>
              <a:t>(</a:t>
            </a:r>
            <a:r>
              <a:rPr lang="ko-KR" altLang="en-US" sz="1200" dirty="0" err="1">
                <a:solidFill>
                  <a:schemeClr val="tx1"/>
                </a:solidFill>
              </a:rPr>
              <a:t>고갈성</a:t>
            </a:r>
            <a:r>
              <a:rPr lang="en-US" altLang="ko-KR" sz="1200" dirty="0">
                <a:solidFill>
                  <a:schemeClr val="tx1"/>
                </a:solidFill>
              </a:rPr>
              <a:t>)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  <p:sp>
        <p:nvSpPr>
          <p:cNvPr id="25" name="타원 24">
            <a:extLst>
              <a:ext uri="{FF2B5EF4-FFF2-40B4-BE49-F238E27FC236}">
                <a16:creationId xmlns:a16="http://schemas.microsoft.com/office/drawing/2014/main" id="{88811B5E-A2EC-79BB-9431-0EBB912B7AD5}"/>
              </a:ext>
            </a:extLst>
          </p:cNvPr>
          <p:cNvSpPr/>
          <p:nvPr/>
        </p:nvSpPr>
        <p:spPr>
          <a:xfrm>
            <a:off x="2685483" y="4199607"/>
            <a:ext cx="1301603" cy="378643"/>
          </a:xfrm>
          <a:prstGeom prst="ellipse">
            <a:avLst/>
          </a:prstGeom>
          <a:solidFill>
            <a:srgbClr val="FFFF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>
                <a:solidFill>
                  <a:schemeClr val="tx1"/>
                </a:solidFill>
              </a:rPr>
              <a:t>1</a:t>
            </a:r>
            <a:r>
              <a:rPr lang="ko-KR" altLang="en-US" sz="1200" dirty="0">
                <a:solidFill>
                  <a:schemeClr val="tx1"/>
                </a:solidFill>
              </a:rPr>
              <a:t>차에너지 </a:t>
            </a:r>
            <a:r>
              <a:rPr lang="en-US" altLang="ko-KR" sz="1200" dirty="0">
                <a:solidFill>
                  <a:schemeClr val="tx1"/>
                </a:solidFill>
              </a:rPr>
              <a:t>(</a:t>
            </a:r>
            <a:r>
              <a:rPr lang="ko-KR" altLang="en-US" sz="1200" dirty="0">
                <a:solidFill>
                  <a:schemeClr val="tx1"/>
                </a:solidFill>
              </a:rPr>
              <a:t>재생</a:t>
            </a:r>
            <a:r>
              <a:rPr lang="en-US" altLang="ko-KR" sz="1200" dirty="0">
                <a:solidFill>
                  <a:schemeClr val="tx1"/>
                </a:solidFill>
              </a:rPr>
              <a:t>)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  <p:sp>
        <p:nvSpPr>
          <p:cNvPr id="26" name="타원 25">
            <a:extLst>
              <a:ext uri="{FF2B5EF4-FFF2-40B4-BE49-F238E27FC236}">
                <a16:creationId xmlns:a16="http://schemas.microsoft.com/office/drawing/2014/main" id="{E4847CD5-3181-3EBD-A081-7EC77216BF43}"/>
              </a:ext>
            </a:extLst>
          </p:cNvPr>
          <p:cNvSpPr/>
          <p:nvPr/>
        </p:nvSpPr>
        <p:spPr>
          <a:xfrm>
            <a:off x="4318958" y="3235435"/>
            <a:ext cx="1301603" cy="378643"/>
          </a:xfrm>
          <a:prstGeom prst="ellipse">
            <a:avLst/>
          </a:prstGeom>
          <a:solidFill>
            <a:srgbClr val="FFFF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>
                <a:solidFill>
                  <a:schemeClr val="tx1"/>
                </a:solidFill>
              </a:rPr>
              <a:t>2</a:t>
            </a:r>
            <a:r>
              <a:rPr lang="ko-KR" altLang="en-US" sz="1200" dirty="0">
                <a:solidFill>
                  <a:schemeClr val="tx1"/>
                </a:solidFill>
              </a:rPr>
              <a:t>차에너지</a:t>
            </a:r>
          </a:p>
        </p:txBody>
      </p:sp>
      <p:sp>
        <p:nvSpPr>
          <p:cNvPr id="27" name="타원 26">
            <a:extLst>
              <a:ext uri="{FF2B5EF4-FFF2-40B4-BE49-F238E27FC236}">
                <a16:creationId xmlns:a16="http://schemas.microsoft.com/office/drawing/2014/main" id="{C211EEC6-6D70-4AD8-8C15-F71D319C6CCD}"/>
              </a:ext>
            </a:extLst>
          </p:cNvPr>
          <p:cNvSpPr/>
          <p:nvPr/>
        </p:nvSpPr>
        <p:spPr>
          <a:xfrm>
            <a:off x="9534244" y="2588881"/>
            <a:ext cx="1413156" cy="378643"/>
          </a:xfrm>
          <a:prstGeom prst="ellipse">
            <a:avLst/>
          </a:prstGeom>
          <a:solidFill>
            <a:srgbClr val="FFFF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>
                <a:solidFill>
                  <a:schemeClr val="tx1"/>
                </a:solidFill>
              </a:rPr>
              <a:t>에너지 소비</a:t>
            </a:r>
          </a:p>
        </p:txBody>
      </p:sp>
      <p:sp>
        <p:nvSpPr>
          <p:cNvPr id="28" name="타원 27">
            <a:extLst>
              <a:ext uri="{FF2B5EF4-FFF2-40B4-BE49-F238E27FC236}">
                <a16:creationId xmlns:a16="http://schemas.microsoft.com/office/drawing/2014/main" id="{D012D933-7016-AF29-633A-C65A6F575BE0}"/>
              </a:ext>
            </a:extLst>
          </p:cNvPr>
          <p:cNvSpPr/>
          <p:nvPr/>
        </p:nvSpPr>
        <p:spPr>
          <a:xfrm>
            <a:off x="6443910" y="5261686"/>
            <a:ext cx="1413156" cy="378643"/>
          </a:xfrm>
          <a:prstGeom prst="ellipse">
            <a:avLst/>
          </a:prstGeom>
          <a:solidFill>
            <a:srgbClr val="FFFF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>
                <a:solidFill>
                  <a:schemeClr val="tx1"/>
                </a:solidFill>
              </a:rPr>
              <a:t>에너지 시장</a:t>
            </a:r>
          </a:p>
        </p:txBody>
      </p:sp>
    </p:spTree>
    <p:extLst>
      <p:ext uri="{BB962C8B-B14F-4D97-AF65-F5344CB8AC3E}">
        <p14:creationId xmlns:p14="http://schemas.microsoft.com/office/powerpoint/2010/main" val="379893491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BCE269-C703-4883-B312-AEF8DBBC90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09FED5DF-A141-9E30-F268-84D1EAC8DE54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BCFA9C5-7009-CCA4-246A-EFD61FEA79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10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42E62BF0-F474-241D-DC3C-074D6E6575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3. </a:t>
            </a:r>
            <a:r>
              <a:rPr lang="ko-KR" altLang="en-US" sz="4000" b="1" i="0" spc="150" dirty="0"/>
              <a:t>석유제품의 공급과 수요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117014956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86C452-624A-7568-D541-60131CB27D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1B0F758-A521-7847-2DA8-213C88043B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석유제품의 공급과 수요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E96E4D4-99D4-EB50-02DA-227CC52F24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11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66B1698-70EB-AF35-F97C-3C03FDEA88D6}"/>
              </a:ext>
            </a:extLst>
          </p:cNvPr>
          <p:cNvSpPr txBox="1"/>
          <p:nvPr/>
        </p:nvSpPr>
        <p:spPr>
          <a:xfrm>
            <a:off x="288790" y="958844"/>
            <a:ext cx="11693660" cy="521533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우리가 주유소에서 넣는 휘발유가 어떻게 공급되어 온건지 살펴보자</a:t>
            </a:r>
            <a:r>
              <a:rPr lang="en-US" altLang="ko-KR" sz="1600" spc="-50" dirty="0"/>
              <a:t>. (</a:t>
            </a:r>
            <a:r>
              <a:rPr lang="ko-KR" altLang="en-US" sz="1600" spc="-50" dirty="0" err="1"/>
              <a:t>전슬라이드</a:t>
            </a:r>
            <a:r>
              <a:rPr lang="ko-KR" altLang="en-US" sz="1600" spc="-50" dirty="0"/>
              <a:t> 그림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원유 </a:t>
            </a:r>
            <a:r>
              <a:rPr lang="en-US" altLang="ko-KR" sz="1600" spc="-50" dirty="0"/>
              <a:t>&gt; </a:t>
            </a:r>
            <a:r>
              <a:rPr lang="ko-KR" altLang="en-US" sz="1600" spc="-50" dirty="0"/>
              <a:t>정유 </a:t>
            </a:r>
            <a:r>
              <a:rPr lang="en-US" altLang="ko-KR" sz="1600" spc="-50" dirty="0"/>
              <a:t>&gt; </a:t>
            </a:r>
            <a:r>
              <a:rPr lang="ko-KR" altLang="en-US" sz="1600" spc="-50" dirty="0"/>
              <a:t>유류시장 </a:t>
            </a:r>
            <a:r>
              <a:rPr lang="en-US" altLang="ko-KR" sz="1600" spc="-50" dirty="0"/>
              <a:t>&gt; </a:t>
            </a:r>
            <a:r>
              <a:rPr lang="ko-KR" altLang="en-US" sz="1600" spc="-50" dirty="0"/>
              <a:t>최종소비</a:t>
            </a:r>
            <a:r>
              <a:rPr lang="en-US" altLang="ko-KR" sz="1600" spc="-50" dirty="0"/>
              <a:t>)</a:t>
            </a:r>
          </a:p>
          <a:p>
            <a:pPr marL="892175" lvl="1" indent="-3429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600" spc="-50" dirty="0"/>
              <a:t>원유를 산유국으로부터 수입한다</a:t>
            </a:r>
            <a:r>
              <a:rPr lang="en-US" altLang="ko-KR" sz="1600" spc="-50" dirty="0"/>
              <a:t>. 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2023</a:t>
            </a:r>
            <a:r>
              <a:rPr lang="ko-KR" altLang="en-US" sz="1600" spc="-50" dirty="0"/>
              <a:t>년에는 원유 수입의 </a:t>
            </a:r>
            <a:r>
              <a:rPr lang="en-US" altLang="ko-KR" sz="1600" spc="-50" dirty="0"/>
              <a:t>72%</a:t>
            </a:r>
            <a:r>
              <a:rPr lang="ko-KR" altLang="en-US" sz="1600" spc="-50" dirty="0"/>
              <a:t>를 중동국가에서 수입해왔다</a:t>
            </a:r>
            <a:r>
              <a:rPr lang="en-US" altLang="ko-KR" sz="1600" spc="-50" dirty="0"/>
              <a:t>. (</a:t>
            </a:r>
            <a:r>
              <a:rPr lang="ko-KR" altLang="en-US" sz="1600" spc="-50" dirty="0"/>
              <a:t>사우디</a:t>
            </a:r>
            <a:r>
              <a:rPr lang="en-US" altLang="ko-KR" sz="1600" spc="-50" dirty="0"/>
              <a:t>, UAE,</a:t>
            </a:r>
            <a:r>
              <a:rPr lang="ko-KR" altLang="en-US" sz="1600" spc="-50" dirty="0"/>
              <a:t> 쿠웨이트 등</a:t>
            </a:r>
            <a:r>
              <a:rPr lang="en-US" altLang="ko-KR" sz="1600" spc="-50" dirty="0"/>
              <a:t>)</a:t>
            </a:r>
          </a:p>
          <a:p>
            <a:pPr marL="1806575" lvl="3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우리나라에서 빈 배가 사우디 </a:t>
            </a:r>
            <a:r>
              <a:rPr lang="ko-KR" altLang="en-US" sz="1600" spc="-50" dirty="0" err="1"/>
              <a:t>라스타누라항</a:t>
            </a:r>
            <a:r>
              <a:rPr lang="ko-KR" altLang="en-US" sz="1600" spc="-50" dirty="0"/>
              <a:t> 까지 </a:t>
            </a:r>
            <a:r>
              <a:rPr lang="en-US" altLang="ko-KR" sz="1600" spc="-50" dirty="0"/>
              <a:t>25,000km</a:t>
            </a:r>
            <a:r>
              <a:rPr lang="ko-KR" altLang="en-US" sz="1600" spc="-50" dirty="0"/>
              <a:t>를 항해</a:t>
            </a:r>
            <a:r>
              <a:rPr lang="en-US" altLang="ko-KR" sz="1600" spc="-50" dirty="0"/>
              <a:t>. (16</a:t>
            </a:r>
            <a:r>
              <a:rPr lang="ko-KR" altLang="en-US" sz="1600" spc="-50" dirty="0"/>
              <a:t>일 소요</a:t>
            </a:r>
            <a:r>
              <a:rPr lang="en-US" altLang="ko-KR" sz="1600" spc="-50" dirty="0"/>
              <a:t>)</a:t>
            </a:r>
          </a:p>
          <a:p>
            <a:pPr marL="1806575" lvl="3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원유를 선적하고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싣고</a:t>
            </a:r>
            <a:r>
              <a:rPr lang="en-US" altLang="ko-KR" sz="1600" spc="-50" dirty="0"/>
              <a:t>), </a:t>
            </a:r>
            <a:r>
              <a:rPr lang="ko-KR" altLang="en-US" sz="1600" spc="-50" dirty="0"/>
              <a:t>출항 준비</a:t>
            </a:r>
            <a:r>
              <a:rPr lang="en-US" altLang="ko-KR" sz="1600" spc="-50" dirty="0"/>
              <a:t>.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(3~4</a:t>
            </a:r>
            <a:r>
              <a:rPr lang="ko-KR" altLang="en-US" sz="1600" spc="-50" dirty="0"/>
              <a:t>일 소요</a:t>
            </a:r>
            <a:r>
              <a:rPr lang="en-US" altLang="ko-KR" sz="1600" spc="-50" dirty="0"/>
              <a:t>)</a:t>
            </a:r>
          </a:p>
          <a:p>
            <a:pPr marL="1806575" lvl="3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갔던 길을 다시 되돌아 옴</a:t>
            </a:r>
            <a:r>
              <a:rPr lang="en-US" altLang="ko-KR" sz="1600" spc="-50" dirty="0"/>
              <a:t>.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(21~22</a:t>
            </a:r>
            <a:r>
              <a:rPr lang="ko-KR" altLang="en-US" sz="1600" spc="-50" dirty="0"/>
              <a:t>일 소요</a:t>
            </a:r>
            <a:r>
              <a:rPr lang="en-US" altLang="ko-KR" sz="1600" spc="-50" dirty="0"/>
              <a:t>)</a:t>
            </a:r>
          </a:p>
          <a:p>
            <a:pPr marL="1806575" lvl="3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유조선에 실려온 원유는 파이프라인을 통해 저장탱크로 이동</a:t>
            </a:r>
            <a:r>
              <a:rPr lang="en-US" altLang="ko-KR" sz="1600" spc="-50" dirty="0"/>
              <a:t> (2~3</a:t>
            </a:r>
            <a:r>
              <a:rPr lang="ko-KR" altLang="en-US" sz="1600" spc="-50" dirty="0"/>
              <a:t>일 소요</a:t>
            </a:r>
            <a:r>
              <a:rPr lang="en-US" altLang="ko-KR" sz="1600" spc="-50" dirty="0"/>
              <a:t>)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892175" lvl="1" indent="-3429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600" spc="-50" dirty="0"/>
              <a:t>수입한 원유는 국내 각지에서 </a:t>
            </a:r>
            <a:r>
              <a:rPr lang="en-US" altLang="ko-KR" sz="1600" spc="-50" dirty="0"/>
              <a:t>(SK: </a:t>
            </a:r>
            <a:r>
              <a:rPr lang="ko-KR" altLang="en-US" sz="1600" spc="-50" dirty="0"/>
              <a:t>울산</a:t>
            </a:r>
            <a:r>
              <a:rPr lang="en-US" altLang="ko-KR" sz="1600" spc="-50" dirty="0"/>
              <a:t>, GS: </a:t>
            </a:r>
            <a:r>
              <a:rPr lang="ko-KR" altLang="en-US" sz="1600" spc="-50" dirty="0"/>
              <a:t>여수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현대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서산</a:t>
            </a:r>
            <a:r>
              <a:rPr lang="en-US" altLang="ko-KR" sz="1600" spc="-50" dirty="0"/>
              <a:t>, S</a:t>
            </a:r>
            <a:r>
              <a:rPr lang="ko-KR" altLang="en-US" sz="1600" spc="-50" dirty="0"/>
              <a:t>오일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울산</a:t>
            </a:r>
            <a:r>
              <a:rPr lang="en-US" altLang="ko-KR" sz="1600" spc="-50" dirty="0"/>
              <a:t>) </a:t>
            </a:r>
            <a:r>
              <a:rPr lang="ko-KR" altLang="en-US" sz="1600" spc="-50" dirty="0"/>
              <a:t>정유</a:t>
            </a:r>
            <a:r>
              <a:rPr lang="en-US" altLang="ko-KR" sz="1600" spc="-50" dirty="0"/>
              <a:t>(refining)</a:t>
            </a:r>
            <a:r>
              <a:rPr lang="ko-KR" altLang="en-US" sz="1600" spc="-50" dirty="0"/>
              <a:t>를 한다</a:t>
            </a:r>
            <a:endParaRPr lang="en-US" altLang="ko-KR" sz="1600" spc="-50" dirty="0"/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원유를 끓이면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끓는 점이 낮은 성분부터 기화</a:t>
            </a:r>
            <a:r>
              <a:rPr lang="en-US" altLang="ko-KR" sz="1600" spc="-50" dirty="0"/>
              <a:t>(</a:t>
            </a:r>
            <a:r>
              <a:rPr lang="ko-KR" altLang="en-US" sz="1600" spc="-50" dirty="0" err="1"/>
              <a:t>액체→기체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 된다</a:t>
            </a:r>
            <a:r>
              <a:rPr lang="en-US" altLang="ko-KR" sz="1600" spc="-50" dirty="0"/>
              <a:t>.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이런 정제 공정을 거쳐 다양한 석유제품을 만들어 낸다</a:t>
            </a:r>
            <a:r>
              <a:rPr lang="en-US" altLang="ko-KR" sz="1600" spc="-50" dirty="0"/>
              <a:t>.</a:t>
            </a:r>
          </a:p>
          <a:p>
            <a:pPr marL="1806575" lvl="3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여기서 석유제품이란 휘발유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경유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중유</a:t>
            </a:r>
            <a:r>
              <a:rPr lang="en-US" altLang="ko-KR" sz="1600" spc="-50" dirty="0"/>
              <a:t>, </a:t>
            </a:r>
            <a:r>
              <a:rPr lang="ko-KR" altLang="en-US" sz="1600" spc="-50" dirty="0" err="1"/>
              <a:t>납사</a:t>
            </a:r>
            <a:r>
              <a:rPr lang="ko-KR" altLang="en-US" sz="1600" spc="-50" dirty="0"/>
              <a:t> 등을 말한다</a:t>
            </a:r>
            <a:r>
              <a:rPr lang="en-US" altLang="ko-KR" sz="1600" spc="-50" dirty="0"/>
              <a:t>.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우리나라 정유사들의 세계 경쟁력은 매우 우수한 편이다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+mj-lt"/>
              <a:buAutoNum type="arabicPeriod"/>
            </a:pPr>
            <a:endParaRPr lang="en-US" altLang="ko-KR" sz="1600" spc="-50" dirty="0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41E74431-EFFD-DB9D-A4D7-5C5B16D4B93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784957" y="1511951"/>
            <a:ext cx="2118253" cy="159360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7" name="TextBox 26">
            <a:extLst>
              <a:ext uri="{FF2B5EF4-FFF2-40B4-BE49-F238E27FC236}">
                <a16:creationId xmlns:a16="http://schemas.microsoft.com/office/drawing/2014/main" id="{B6BBFB59-5B7F-FB75-BB4D-89AE41C43009}"/>
              </a:ext>
            </a:extLst>
          </p:cNvPr>
          <p:cNvSpPr txBox="1"/>
          <p:nvPr/>
        </p:nvSpPr>
        <p:spPr>
          <a:xfrm>
            <a:off x="9784957" y="3105310"/>
            <a:ext cx="2046287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000" dirty="0"/>
              <a:t>출처</a:t>
            </a:r>
            <a:r>
              <a:rPr lang="en-US" altLang="ko-KR" sz="1000" dirty="0"/>
              <a:t>: </a:t>
            </a:r>
            <a:r>
              <a:rPr lang="ko-KR" altLang="en-US" sz="1000" dirty="0"/>
              <a:t>대한석유협회</a:t>
            </a:r>
            <a:r>
              <a:rPr lang="en-US" altLang="ko-KR" sz="1000" dirty="0"/>
              <a:t>, </a:t>
            </a:r>
            <a:r>
              <a:rPr lang="ko-KR" altLang="en-US" sz="600" dirty="0">
                <a:hlinkClick r:id="rId3"/>
              </a:rPr>
              <a:t>https://www.petroleum.or.kr/industry/story_2_1</a:t>
            </a:r>
            <a:endParaRPr lang="en-US" altLang="ko-KR" sz="600" dirty="0"/>
          </a:p>
          <a:p>
            <a:r>
              <a:rPr lang="ko-KR" altLang="en-US" sz="600" dirty="0">
                <a:hlinkClick r:id="rId4"/>
              </a:rPr>
              <a:t>https://askinno.com/archives/36348</a:t>
            </a:r>
            <a:r>
              <a:rPr lang="ko-KR" altLang="en-US" sz="600" dirty="0"/>
              <a:t> </a:t>
            </a:r>
          </a:p>
        </p:txBody>
      </p:sp>
      <p:grpSp>
        <p:nvGrpSpPr>
          <p:cNvPr id="3" name="그룹 2">
            <a:extLst>
              <a:ext uri="{FF2B5EF4-FFF2-40B4-BE49-F238E27FC236}">
                <a16:creationId xmlns:a16="http://schemas.microsoft.com/office/drawing/2014/main" id="{C2A1C22D-9DA4-DC5A-4ACC-E205BC5436CB}"/>
              </a:ext>
            </a:extLst>
          </p:cNvPr>
          <p:cNvGrpSpPr/>
          <p:nvPr/>
        </p:nvGrpSpPr>
        <p:grpSpPr>
          <a:xfrm>
            <a:off x="8160041" y="4340086"/>
            <a:ext cx="3416853" cy="2060717"/>
            <a:chOff x="2218200" y="961242"/>
            <a:chExt cx="8636445" cy="5531134"/>
          </a:xfrm>
        </p:grpSpPr>
        <p:pic>
          <p:nvPicPr>
            <p:cNvPr id="6" name="그림 5">
              <a:extLst>
                <a:ext uri="{FF2B5EF4-FFF2-40B4-BE49-F238E27FC236}">
                  <a16:creationId xmlns:a16="http://schemas.microsoft.com/office/drawing/2014/main" id="{827BA132-B96B-D789-06E3-9993D5894702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2218201" y="961242"/>
              <a:ext cx="8636444" cy="5531134"/>
            </a:xfrm>
            <a:prstGeom prst="rect">
              <a:avLst/>
            </a:prstGeom>
          </p:spPr>
        </p:pic>
        <p:sp>
          <p:nvSpPr>
            <p:cNvPr id="7" name="직사각형 6">
              <a:extLst>
                <a:ext uri="{FF2B5EF4-FFF2-40B4-BE49-F238E27FC236}">
                  <a16:creationId xmlns:a16="http://schemas.microsoft.com/office/drawing/2014/main" id="{8EE9AE12-12C9-0E92-526F-C30FD1243DD2}"/>
                </a:ext>
              </a:extLst>
            </p:cNvPr>
            <p:cNvSpPr/>
            <p:nvPr/>
          </p:nvSpPr>
          <p:spPr>
            <a:xfrm>
              <a:off x="2218200" y="961242"/>
              <a:ext cx="894115" cy="1186340"/>
            </a:xfrm>
            <a:prstGeom prst="rect">
              <a:avLst/>
            </a:prstGeom>
            <a:solidFill>
              <a:srgbClr val="EFEFE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A62517F2-B5BF-F9B4-633D-27A39DF4A203}"/>
              </a:ext>
            </a:extLst>
          </p:cNvPr>
          <p:cNvSpPr txBox="1"/>
          <p:nvPr/>
        </p:nvSpPr>
        <p:spPr>
          <a:xfrm>
            <a:off x="8088025" y="6365679"/>
            <a:ext cx="4357043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000" dirty="0"/>
              <a:t>출처</a:t>
            </a:r>
            <a:r>
              <a:rPr lang="en-US" altLang="ko-KR" sz="1000" dirty="0"/>
              <a:t>: GS</a:t>
            </a:r>
            <a:r>
              <a:rPr lang="ko-KR" altLang="en-US" sz="1000" dirty="0" err="1"/>
              <a:t>칼텍스</a:t>
            </a:r>
            <a:r>
              <a:rPr lang="ko-KR" altLang="en-US" sz="1000" dirty="0"/>
              <a:t> </a:t>
            </a:r>
            <a:r>
              <a:rPr lang="en-US" altLang="ko-KR" sz="1000" dirty="0"/>
              <a:t>(</a:t>
            </a:r>
            <a:r>
              <a:rPr lang="ko-KR" altLang="en-US" sz="1000" dirty="0"/>
              <a:t>유튜브 영상</a:t>
            </a:r>
            <a:r>
              <a:rPr lang="en-US" altLang="ko-KR" sz="1000" dirty="0"/>
              <a:t>), </a:t>
            </a:r>
            <a:r>
              <a:rPr lang="en-US" altLang="ko-KR" sz="600" dirty="0"/>
              <a:t>https://www.youtube.com/watch?v=LRjQbVM5qOk</a:t>
            </a:r>
            <a:endParaRPr lang="ko-KR" altLang="en-US" sz="6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AAB11C7-8219-7F97-DD84-C115E1CEFF51}"/>
              </a:ext>
            </a:extLst>
          </p:cNvPr>
          <p:cNvSpPr txBox="1"/>
          <p:nvPr/>
        </p:nvSpPr>
        <p:spPr>
          <a:xfrm>
            <a:off x="9868466" y="3993539"/>
            <a:ext cx="1599371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spc="-50" dirty="0"/>
              <a:t>&lt;</a:t>
            </a:r>
            <a:r>
              <a:rPr lang="ko-KR" altLang="en-US" sz="1400" spc="-50" dirty="0"/>
              <a:t>정유 공정</a:t>
            </a:r>
            <a:r>
              <a:rPr lang="en-US" altLang="ko-KR" sz="1400" spc="-50" dirty="0"/>
              <a:t>: </a:t>
            </a:r>
            <a:r>
              <a:rPr lang="ko-KR" altLang="en-US" sz="1400" spc="-50" dirty="0"/>
              <a:t>증류</a:t>
            </a:r>
            <a:r>
              <a:rPr lang="en-US" altLang="ko-KR" sz="1400" spc="-50" dirty="0"/>
              <a:t>&gt;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96967979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626C156-46F3-A866-0826-7B0F3165DB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석유제품의 공급과 수요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4DC2C71-1B10-3B3F-2A50-BD9B132980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12</a:t>
            </a:fld>
            <a:endParaRPr lang="ko-KR" alt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34D1A09-48EF-EE76-C063-16EC1F02527E}"/>
              </a:ext>
            </a:extLst>
          </p:cNvPr>
          <p:cNvSpPr txBox="1"/>
          <p:nvPr/>
        </p:nvSpPr>
        <p:spPr>
          <a:xfrm>
            <a:off x="288790" y="958844"/>
            <a:ext cx="11693660" cy="5954002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892175" lvl="1" indent="-342900">
              <a:lnSpc>
                <a:spcPct val="150000"/>
              </a:lnSpc>
              <a:buFont typeface="+mj-lt"/>
              <a:buAutoNum type="arabicPeriod" startAt="3"/>
            </a:pPr>
            <a:r>
              <a:rPr lang="ko-KR" altLang="en-US" sz="1600" spc="-50" dirty="0"/>
              <a:t>원유를 끓여서 다양한 석유제품을 만들었다면 이제 유통단계를 거쳐 소비자에게 판매한다</a:t>
            </a:r>
            <a:r>
              <a:rPr lang="en-US" altLang="ko-KR" sz="1600" spc="-50" dirty="0"/>
              <a:t>. 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석유제품을 수출 할 때는 유조선을 활용하고</a:t>
            </a:r>
            <a:r>
              <a:rPr lang="en-US" altLang="ko-KR" sz="1600" spc="-50" dirty="0"/>
              <a:t>,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국내에는 송유관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파이프라인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을 통해 수송을 할 수도 있고</a:t>
            </a:r>
            <a:r>
              <a:rPr lang="en-US" altLang="ko-KR" sz="1600" spc="-50" dirty="0"/>
              <a:t> (</a:t>
            </a:r>
            <a:r>
              <a:rPr lang="ko-KR" altLang="en-US" sz="1600" spc="-50" dirty="0"/>
              <a:t>오른쪽 그림</a:t>
            </a:r>
            <a:r>
              <a:rPr lang="en-US" altLang="ko-KR" sz="1600" spc="-50" dirty="0"/>
              <a:t>)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유조차를 통해 수송을 할 수도 있다</a:t>
            </a:r>
            <a:r>
              <a:rPr lang="en-US" altLang="ko-KR" sz="1600" spc="-50" dirty="0"/>
              <a:t>.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892175" lvl="1" indent="-342900">
              <a:lnSpc>
                <a:spcPct val="150000"/>
              </a:lnSpc>
              <a:buFont typeface="+mj-lt"/>
              <a:buAutoNum type="arabicPeriod" startAt="3"/>
            </a:pPr>
            <a:r>
              <a:rPr lang="ko-KR" altLang="en-US" sz="1600" spc="-50" dirty="0"/>
              <a:t>석유제품의 최종소비처는 세 개의 부문으로 나누어 볼 수 있다</a:t>
            </a:r>
            <a:r>
              <a:rPr lang="en-US" altLang="ko-KR" sz="1600" spc="-50" dirty="0"/>
              <a:t>.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석유제품은 연료 혹은 원료로 사용이 된다</a:t>
            </a:r>
            <a:r>
              <a:rPr lang="en-US" altLang="ko-KR" sz="1600" spc="-50" dirty="0"/>
              <a:t>.</a:t>
            </a:r>
          </a:p>
          <a:p>
            <a:pPr marL="1806575" lvl="3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연료</a:t>
            </a:r>
            <a:r>
              <a:rPr lang="en-US" altLang="ko-KR" sz="1600" spc="-50" dirty="0"/>
              <a:t>(fuel): </a:t>
            </a:r>
            <a:r>
              <a:rPr lang="ko-KR" altLang="en-US" sz="1600" spc="-50" dirty="0"/>
              <a:t>태워서 에너지를 얻는다</a:t>
            </a:r>
            <a:r>
              <a:rPr lang="en-US" altLang="ko-KR" sz="1600" spc="-50" dirty="0"/>
              <a:t>. </a:t>
            </a:r>
            <a:r>
              <a:rPr lang="ko-KR" altLang="en-US" sz="1600" spc="-50" dirty="0"/>
              <a:t>석유제품이 품고 있던 탄소가 배출이 된다</a:t>
            </a:r>
            <a:r>
              <a:rPr lang="en-US" altLang="ko-KR" sz="1600" spc="-50" dirty="0"/>
              <a:t>. </a:t>
            </a:r>
          </a:p>
          <a:p>
            <a:pPr marL="1806575" lvl="3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원료</a:t>
            </a:r>
            <a:r>
              <a:rPr lang="en-US" altLang="ko-KR" sz="1600" spc="-50" dirty="0"/>
              <a:t>(feedstock): </a:t>
            </a:r>
            <a:r>
              <a:rPr lang="ko-KR" altLang="en-US" sz="1600" spc="-50" dirty="0"/>
              <a:t>재료로 쓴다</a:t>
            </a:r>
            <a:r>
              <a:rPr lang="en-US" altLang="ko-KR" sz="1600" spc="-50" dirty="0"/>
              <a:t>. </a:t>
            </a:r>
            <a:r>
              <a:rPr lang="ko-KR" altLang="en-US" sz="1600" spc="-50" dirty="0"/>
              <a:t>탄소가 그대로 제품에 저장이 되어 있다</a:t>
            </a:r>
            <a:r>
              <a:rPr lang="en-US" altLang="ko-KR" sz="1600" spc="-50" dirty="0"/>
              <a:t>.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산업부문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특히 화학산업 분야에서 </a:t>
            </a:r>
            <a:r>
              <a:rPr lang="ko-KR" altLang="en-US" sz="1600" b="1" spc="-50" dirty="0"/>
              <a:t>원료</a:t>
            </a:r>
            <a:r>
              <a:rPr lang="en-US" altLang="ko-KR" sz="1600" b="1" spc="-50" dirty="0"/>
              <a:t>(feedstock)</a:t>
            </a:r>
            <a:r>
              <a:rPr lang="ko-KR" altLang="en-US" sz="1600" spc="-50" dirty="0"/>
              <a:t>로 많이 쓰인다</a:t>
            </a:r>
            <a:r>
              <a:rPr lang="en-US" altLang="ko-KR" sz="1600" spc="-50" dirty="0"/>
              <a:t>.</a:t>
            </a:r>
          </a:p>
          <a:p>
            <a:pPr marL="1806575" lvl="3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합성섬유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옷</a:t>
            </a:r>
            <a:r>
              <a:rPr lang="en-US" altLang="ko-KR" sz="1600" spc="-50" dirty="0"/>
              <a:t>), </a:t>
            </a:r>
            <a:r>
              <a:rPr lang="ko-KR" altLang="en-US" sz="1600" spc="-50" dirty="0"/>
              <a:t>비료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농약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합성고무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합성세제 등 제조에 쓰인다</a:t>
            </a:r>
            <a:r>
              <a:rPr lang="en-US" altLang="ko-KR" sz="1600" spc="-50" dirty="0"/>
              <a:t>.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건물부문</a:t>
            </a:r>
            <a:r>
              <a:rPr lang="en-US" altLang="ko-KR" sz="1600" spc="-50" dirty="0"/>
              <a:t>: LPG, </a:t>
            </a:r>
            <a:r>
              <a:rPr lang="ko-KR" altLang="en-US" sz="1600" spc="-50" dirty="0"/>
              <a:t>등유를 많이 쓴다</a:t>
            </a:r>
            <a:r>
              <a:rPr lang="en-US" altLang="ko-KR" sz="1600" spc="-50" dirty="0"/>
              <a:t>. </a:t>
            </a:r>
            <a:r>
              <a:rPr lang="ko-KR" altLang="en-US" sz="1600" spc="-50" dirty="0"/>
              <a:t>연료로 쓰이며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다른 부문에 비해 석유제품의 소비량이 상대적으로 크지 않다</a:t>
            </a:r>
            <a:r>
              <a:rPr lang="en-US" altLang="ko-KR" sz="1600" spc="-50" dirty="0"/>
              <a:t>.</a:t>
            </a:r>
          </a:p>
          <a:p>
            <a:pPr marL="1806575" lvl="3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주로 겨울철 난방용으로 많이 쓰인다</a:t>
            </a:r>
            <a:r>
              <a:rPr lang="en-US" altLang="ko-KR" sz="1600" spc="-50" dirty="0"/>
              <a:t>.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교통부문</a:t>
            </a:r>
            <a:r>
              <a:rPr lang="en-US" altLang="ko-KR" sz="1600" spc="-50" dirty="0"/>
              <a:t>: </a:t>
            </a:r>
            <a:r>
              <a:rPr lang="ko-KR" altLang="en-US" sz="1600" spc="-50" dirty="0"/>
              <a:t>승용차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선박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항공기에 많이 쓰인다</a:t>
            </a:r>
            <a:r>
              <a:rPr lang="en-US" altLang="ko-KR" sz="1600" spc="-50" dirty="0"/>
              <a:t>.</a:t>
            </a:r>
          </a:p>
          <a:p>
            <a:pPr marL="1806575" lvl="3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산업부문과 달리 모든 석유제품이 </a:t>
            </a:r>
            <a:r>
              <a:rPr lang="ko-KR" altLang="en-US" sz="1600" b="1" spc="-50" dirty="0"/>
              <a:t>연료</a:t>
            </a:r>
            <a:r>
              <a:rPr lang="en-US" altLang="ko-KR" sz="1600" b="1" spc="-50" dirty="0"/>
              <a:t>(fuel)</a:t>
            </a:r>
            <a:r>
              <a:rPr lang="ko-KR" altLang="en-US" sz="1600" spc="-50" dirty="0"/>
              <a:t>로 쓰인다</a:t>
            </a:r>
            <a:r>
              <a:rPr lang="en-US" altLang="ko-KR" sz="1600" spc="-50" dirty="0"/>
              <a:t>.</a:t>
            </a:r>
          </a:p>
          <a:p>
            <a:pPr marL="1806575" lvl="3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4C549D2F-B3BD-74C2-F03D-A7B33E72333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80572" y="1409349"/>
            <a:ext cx="2207191" cy="2852257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9F75E0CA-C3BB-DADF-C960-ECCBDB22F810}"/>
              </a:ext>
            </a:extLst>
          </p:cNvPr>
          <p:cNvSpPr txBox="1"/>
          <p:nvPr/>
        </p:nvSpPr>
        <p:spPr>
          <a:xfrm>
            <a:off x="9484481" y="1101572"/>
            <a:ext cx="1599371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spc="-50" dirty="0"/>
              <a:t>&lt;</a:t>
            </a:r>
            <a:r>
              <a:rPr lang="ko-KR" altLang="en-US" sz="1400" spc="-50" dirty="0"/>
              <a:t>국내 송유관</a:t>
            </a:r>
            <a:r>
              <a:rPr lang="en-US" altLang="ko-KR" sz="1400" spc="-50" dirty="0"/>
              <a:t>&gt;</a:t>
            </a:r>
            <a:endParaRPr lang="ko-KR" altLang="en-US" sz="140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CFEBCA0-6D9A-9C7D-02DE-F6CD7F37381C}"/>
              </a:ext>
            </a:extLst>
          </p:cNvPr>
          <p:cNvSpPr txBox="1"/>
          <p:nvPr/>
        </p:nvSpPr>
        <p:spPr>
          <a:xfrm>
            <a:off x="10145713" y="3955339"/>
            <a:ext cx="2046287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000" dirty="0"/>
              <a:t>출처</a:t>
            </a:r>
            <a:r>
              <a:rPr lang="en-US" altLang="ko-KR" sz="1000" dirty="0"/>
              <a:t>: </a:t>
            </a:r>
            <a:r>
              <a:rPr lang="ko-KR" altLang="en-US" sz="1000" dirty="0"/>
              <a:t>대한송유관공사</a:t>
            </a:r>
            <a:r>
              <a:rPr lang="en-US" altLang="ko-KR" sz="1000" dirty="0"/>
              <a:t>, </a:t>
            </a:r>
            <a:r>
              <a:rPr lang="ko-KR" altLang="en-US" sz="600" dirty="0">
                <a:hlinkClick r:id="rId3"/>
              </a:rPr>
              <a:t>https://www.dopco.co.kr/company/business-overview</a:t>
            </a:r>
            <a:endParaRPr lang="ko-KR" altLang="en-US" sz="800" dirty="0"/>
          </a:p>
        </p:txBody>
      </p:sp>
    </p:spTree>
    <p:extLst>
      <p:ext uri="{BB962C8B-B14F-4D97-AF65-F5344CB8AC3E}">
        <p14:creationId xmlns:p14="http://schemas.microsoft.com/office/powerpoint/2010/main" val="69654593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9C42BD-6EF3-8C5C-0DCE-5AFE38EAC9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47375175-7FBD-DAE9-3B19-90B9F29669CE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69C4E87-E6B6-96F8-1986-D6711196B4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13</a:t>
            </a:fld>
            <a:endParaRPr lang="ko-KR" altLang="en-US"/>
          </a:p>
        </p:txBody>
      </p:sp>
      <p:sp>
        <p:nvSpPr>
          <p:cNvPr id="7" name="제목 1">
            <a:extLst>
              <a:ext uri="{FF2B5EF4-FFF2-40B4-BE49-F238E27FC236}">
                <a16:creationId xmlns:a16="http://schemas.microsoft.com/office/drawing/2014/main" id="{EDFD94E1-C279-D588-3A1F-93691CA607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3765550"/>
            <a:ext cx="11150600" cy="652818"/>
          </a:xfrm>
          <a:effectLst>
            <a:reflection blurRad="50800" stA="45000" endPos="44000" dir="5400000" sy="-100000" algn="bl" rotWithShape="0"/>
          </a:effectLst>
        </p:spPr>
        <p:txBody>
          <a:bodyPr anchor="b"/>
          <a:lstStyle/>
          <a:p>
            <a:r>
              <a:rPr lang="en-US" altLang="ko-KR" sz="4000" b="1" i="0" spc="150" dirty="0"/>
              <a:t>Section 4. </a:t>
            </a:r>
            <a:r>
              <a:rPr lang="ko-KR" altLang="en-US" sz="4000" b="1" i="0" spc="150" dirty="0"/>
              <a:t>에너지 소비와 기후변화</a:t>
            </a:r>
            <a:endParaRPr lang="ko-KR" altLang="en-US" sz="3600" i="0" spc="150" dirty="0"/>
          </a:p>
        </p:txBody>
      </p:sp>
    </p:spTree>
    <p:extLst>
      <p:ext uri="{BB962C8B-B14F-4D97-AF65-F5344CB8AC3E}">
        <p14:creationId xmlns:p14="http://schemas.microsoft.com/office/powerpoint/2010/main" val="97730090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D6A23D-68B9-511A-8DF2-69E6C2E8BD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CB26E8D-1566-C5FD-759C-9E3FD1806A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에너지와 환경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22F3CDF-2893-2EAA-EF59-9A35819278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14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C68A011-AF77-28B3-3A48-72BF368F166A}"/>
              </a:ext>
            </a:extLst>
          </p:cNvPr>
          <p:cNvSpPr txBox="1"/>
          <p:nvPr/>
        </p:nvSpPr>
        <p:spPr>
          <a:xfrm>
            <a:off x="288790" y="961732"/>
            <a:ext cx="11693660" cy="414024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에너지소비는 아래의 과정을 통해 기후 변화를 유발한다</a:t>
            </a:r>
            <a:r>
              <a:rPr lang="en-US" altLang="ko-KR" sz="1600" spc="-50" dirty="0"/>
              <a:t>.</a:t>
            </a:r>
          </a:p>
        </p:txBody>
      </p:sp>
      <p:grpSp>
        <p:nvGrpSpPr>
          <p:cNvPr id="11" name="그룹 10">
            <a:extLst>
              <a:ext uri="{FF2B5EF4-FFF2-40B4-BE49-F238E27FC236}">
                <a16:creationId xmlns:a16="http://schemas.microsoft.com/office/drawing/2014/main" id="{706567E8-CA34-5B11-A73E-C1C7F3D416F4}"/>
              </a:ext>
            </a:extLst>
          </p:cNvPr>
          <p:cNvGrpSpPr/>
          <p:nvPr/>
        </p:nvGrpSpPr>
        <p:grpSpPr>
          <a:xfrm>
            <a:off x="470393" y="1954717"/>
            <a:ext cx="2221292" cy="2484408"/>
            <a:chOff x="932645" y="2355565"/>
            <a:chExt cx="3185690" cy="3563040"/>
          </a:xfrm>
        </p:grpSpPr>
        <p:sp>
          <p:nvSpPr>
            <p:cNvPr id="12" name="자유형 9">
              <a:extLst>
                <a:ext uri="{FF2B5EF4-FFF2-40B4-BE49-F238E27FC236}">
                  <a16:creationId xmlns:a16="http://schemas.microsoft.com/office/drawing/2014/main" id="{35B1F759-BBE5-49C8-2D1D-8075ED0CEA83}"/>
                </a:ext>
              </a:extLst>
            </p:cNvPr>
            <p:cNvSpPr/>
            <p:nvPr/>
          </p:nvSpPr>
          <p:spPr>
            <a:xfrm>
              <a:off x="932645" y="2722074"/>
              <a:ext cx="3185690" cy="3196531"/>
            </a:xfrm>
            <a:custGeom>
              <a:avLst/>
              <a:gdLst>
                <a:gd name="connsiteX0" fmla="*/ 1209675 w 2411145"/>
                <a:gd name="connsiteY0" fmla="*/ 0 h 2419350"/>
                <a:gd name="connsiteX1" fmla="*/ 2394774 w 2411145"/>
                <a:gd name="connsiteY1" fmla="*/ 965883 h 2419350"/>
                <a:gd name="connsiteX2" fmla="*/ 2411145 w 2411145"/>
                <a:gd name="connsiteY2" fmla="*/ 1073150 h 2419350"/>
                <a:gd name="connsiteX3" fmla="*/ 2325828 w 2411145"/>
                <a:gd name="connsiteY3" fmla="*/ 1073150 h 2419350"/>
                <a:gd name="connsiteX4" fmla="*/ 2189303 w 2411145"/>
                <a:gd name="connsiteY4" fmla="*/ 1209675 h 2419350"/>
                <a:gd name="connsiteX5" fmla="*/ 2325828 w 2411145"/>
                <a:gd name="connsiteY5" fmla="*/ 1346200 h 2419350"/>
                <a:gd name="connsiteX6" fmla="*/ 2411145 w 2411145"/>
                <a:gd name="connsiteY6" fmla="*/ 1346200 h 2419350"/>
                <a:gd name="connsiteX7" fmla="*/ 2394774 w 2411145"/>
                <a:gd name="connsiteY7" fmla="*/ 1453467 h 2419350"/>
                <a:gd name="connsiteX8" fmla="*/ 1209675 w 2411145"/>
                <a:gd name="connsiteY8" fmla="*/ 2419350 h 2419350"/>
                <a:gd name="connsiteX9" fmla="*/ 0 w 2411145"/>
                <a:gd name="connsiteY9" fmla="*/ 1209675 h 2419350"/>
                <a:gd name="connsiteX10" fmla="*/ 1209675 w 2411145"/>
                <a:gd name="connsiteY10" fmla="*/ 0 h 24193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411145" h="2419350">
                  <a:moveTo>
                    <a:pt x="1209675" y="0"/>
                  </a:moveTo>
                  <a:cubicBezTo>
                    <a:pt x="1794250" y="0"/>
                    <a:pt x="2281976" y="414655"/>
                    <a:pt x="2394774" y="965883"/>
                  </a:cubicBezTo>
                  <a:lnTo>
                    <a:pt x="2411145" y="1073150"/>
                  </a:lnTo>
                  <a:lnTo>
                    <a:pt x="2325828" y="1073150"/>
                  </a:lnTo>
                  <a:cubicBezTo>
                    <a:pt x="2250427" y="1073150"/>
                    <a:pt x="2189303" y="1134274"/>
                    <a:pt x="2189303" y="1209675"/>
                  </a:cubicBezTo>
                  <a:cubicBezTo>
                    <a:pt x="2189303" y="1285076"/>
                    <a:pt x="2250427" y="1346200"/>
                    <a:pt x="2325828" y="1346200"/>
                  </a:cubicBezTo>
                  <a:lnTo>
                    <a:pt x="2411145" y="1346200"/>
                  </a:lnTo>
                  <a:lnTo>
                    <a:pt x="2394774" y="1453467"/>
                  </a:lnTo>
                  <a:cubicBezTo>
                    <a:pt x="2281976" y="2004695"/>
                    <a:pt x="1794250" y="2419350"/>
                    <a:pt x="1209675" y="2419350"/>
                  </a:cubicBezTo>
                  <a:cubicBezTo>
                    <a:pt x="541590" y="2419350"/>
                    <a:pt x="0" y="1877760"/>
                    <a:pt x="0" y="1209675"/>
                  </a:cubicBezTo>
                  <a:cubicBezTo>
                    <a:pt x="0" y="541590"/>
                    <a:pt x="541590" y="0"/>
                    <a:pt x="1209675" y="0"/>
                  </a:cubicBezTo>
                  <a:close/>
                </a:path>
              </a:pathLst>
            </a:custGeom>
            <a:solidFill>
              <a:schemeClr val="bg1"/>
            </a:solidFill>
            <a:ln w="19050">
              <a:solidFill>
                <a:schemeClr val="accent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3" name="직사각형 12">
              <a:extLst>
                <a:ext uri="{FF2B5EF4-FFF2-40B4-BE49-F238E27FC236}">
                  <a16:creationId xmlns:a16="http://schemas.microsoft.com/office/drawing/2014/main" id="{A71B66F7-944B-6BA5-4B28-B32C9E5A1198}"/>
                </a:ext>
              </a:extLst>
            </p:cNvPr>
            <p:cNvSpPr/>
            <p:nvPr/>
          </p:nvSpPr>
          <p:spPr>
            <a:xfrm>
              <a:off x="1108619" y="3369397"/>
              <a:ext cx="2768323" cy="1897749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>
                <a:lnSpc>
                  <a:spcPct val="150000"/>
                </a:lnSpc>
                <a:defRPr/>
              </a:pPr>
              <a:r>
                <a:rPr lang="ko-KR" altLang="en-US" sz="1600" dirty="0">
                  <a:solidFill>
                    <a:schemeClr val="accent4"/>
                  </a:solidFill>
                  <a:latin typeface="HY헤드라인M" panose="02030600000101010101" pitchFamily="18" charset="-127"/>
                  <a:ea typeface="HY헤드라인M" panose="02030600000101010101" pitchFamily="18" charset="-127"/>
                </a:rPr>
                <a:t>에너지 소비</a:t>
              </a:r>
              <a:endParaRPr lang="en-US" altLang="ko-KR" sz="1600" dirty="0">
                <a:solidFill>
                  <a:schemeClr val="accent4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endParaRPr>
            </a:p>
            <a:p>
              <a:pPr algn="ctr">
                <a:lnSpc>
                  <a:spcPct val="150000"/>
                </a:lnSpc>
                <a:defRPr/>
              </a:pPr>
              <a:r>
                <a:rPr lang="ko-KR" altLang="en-US" sz="1300" dirty="0"/>
                <a:t>현대사회에서 에너지를 사용하지 않고는 하루도 살아갈 수 없다</a:t>
              </a:r>
              <a:r>
                <a:rPr lang="en-US" altLang="ko-KR" sz="1300" dirty="0"/>
                <a:t>.</a:t>
              </a:r>
            </a:p>
          </p:txBody>
        </p:sp>
        <p:sp>
          <p:nvSpPr>
            <p:cNvPr id="15" name="타원 14">
              <a:extLst>
                <a:ext uri="{FF2B5EF4-FFF2-40B4-BE49-F238E27FC236}">
                  <a16:creationId xmlns:a16="http://schemas.microsoft.com/office/drawing/2014/main" id="{0570EE60-F866-6E30-0EDE-EA82DCC943C2}"/>
                </a:ext>
              </a:extLst>
            </p:cNvPr>
            <p:cNvSpPr/>
            <p:nvPr/>
          </p:nvSpPr>
          <p:spPr>
            <a:xfrm>
              <a:off x="2075643" y="2355565"/>
              <a:ext cx="877107" cy="877108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ko-KR" altLang="en-US">
                <a:solidFill>
                  <a:prstClr val="white"/>
                </a:solidFill>
              </a:endParaRPr>
            </a:p>
          </p:txBody>
        </p:sp>
      </p:grpSp>
      <p:grpSp>
        <p:nvGrpSpPr>
          <p:cNvPr id="35" name="그룹 34">
            <a:extLst>
              <a:ext uri="{FF2B5EF4-FFF2-40B4-BE49-F238E27FC236}">
                <a16:creationId xmlns:a16="http://schemas.microsoft.com/office/drawing/2014/main" id="{A07D7C41-C79A-B26C-19F3-74254306A628}"/>
              </a:ext>
            </a:extLst>
          </p:cNvPr>
          <p:cNvGrpSpPr/>
          <p:nvPr/>
        </p:nvGrpSpPr>
        <p:grpSpPr>
          <a:xfrm>
            <a:off x="3326451" y="1954717"/>
            <a:ext cx="2221292" cy="2484408"/>
            <a:chOff x="932645" y="2355565"/>
            <a:chExt cx="3185690" cy="3563040"/>
          </a:xfrm>
        </p:grpSpPr>
        <p:sp>
          <p:nvSpPr>
            <p:cNvPr id="36" name="자유형 9">
              <a:extLst>
                <a:ext uri="{FF2B5EF4-FFF2-40B4-BE49-F238E27FC236}">
                  <a16:creationId xmlns:a16="http://schemas.microsoft.com/office/drawing/2014/main" id="{83D3C074-85EF-701B-A998-E43F8C26B955}"/>
                </a:ext>
              </a:extLst>
            </p:cNvPr>
            <p:cNvSpPr/>
            <p:nvPr/>
          </p:nvSpPr>
          <p:spPr>
            <a:xfrm>
              <a:off x="932645" y="2722074"/>
              <a:ext cx="3185690" cy="3196531"/>
            </a:xfrm>
            <a:custGeom>
              <a:avLst/>
              <a:gdLst>
                <a:gd name="connsiteX0" fmla="*/ 1209675 w 2411145"/>
                <a:gd name="connsiteY0" fmla="*/ 0 h 2419350"/>
                <a:gd name="connsiteX1" fmla="*/ 2394774 w 2411145"/>
                <a:gd name="connsiteY1" fmla="*/ 965883 h 2419350"/>
                <a:gd name="connsiteX2" fmla="*/ 2411145 w 2411145"/>
                <a:gd name="connsiteY2" fmla="*/ 1073150 h 2419350"/>
                <a:gd name="connsiteX3" fmla="*/ 2325828 w 2411145"/>
                <a:gd name="connsiteY3" fmla="*/ 1073150 h 2419350"/>
                <a:gd name="connsiteX4" fmla="*/ 2189303 w 2411145"/>
                <a:gd name="connsiteY4" fmla="*/ 1209675 h 2419350"/>
                <a:gd name="connsiteX5" fmla="*/ 2325828 w 2411145"/>
                <a:gd name="connsiteY5" fmla="*/ 1346200 h 2419350"/>
                <a:gd name="connsiteX6" fmla="*/ 2411145 w 2411145"/>
                <a:gd name="connsiteY6" fmla="*/ 1346200 h 2419350"/>
                <a:gd name="connsiteX7" fmla="*/ 2394774 w 2411145"/>
                <a:gd name="connsiteY7" fmla="*/ 1453467 h 2419350"/>
                <a:gd name="connsiteX8" fmla="*/ 1209675 w 2411145"/>
                <a:gd name="connsiteY8" fmla="*/ 2419350 h 2419350"/>
                <a:gd name="connsiteX9" fmla="*/ 0 w 2411145"/>
                <a:gd name="connsiteY9" fmla="*/ 1209675 h 2419350"/>
                <a:gd name="connsiteX10" fmla="*/ 1209675 w 2411145"/>
                <a:gd name="connsiteY10" fmla="*/ 0 h 24193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411145" h="2419350">
                  <a:moveTo>
                    <a:pt x="1209675" y="0"/>
                  </a:moveTo>
                  <a:cubicBezTo>
                    <a:pt x="1794250" y="0"/>
                    <a:pt x="2281976" y="414655"/>
                    <a:pt x="2394774" y="965883"/>
                  </a:cubicBezTo>
                  <a:lnTo>
                    <a:pt x="2411145" y="1073150"/>
                  </a:lnTo>
                  <a:lnTo>
                    <a:pt x="2325828" y="1073150"/>
                  </a:lnTo>
                  <a:cubicBezTo>
                    <a:pt x="2250427" y="1073150"/>
                    <a:pt x="2189303" y="1134274"/>
                    <a:pt x="2189303" y="1209675"/>
                  </a:cubicBezTo>
                  <a:cubicBezTo>
                    <a:pt x="2189303" y="1285076"/>
                    <a:pt x="2250427" y="1346200"/>
                    <a:pt x="2325828" y="1346200"/>
                  </a:cubicBezTo>
                  <a:lnTo>
                    <a:pt x="2411145" y="1346200"/>
                  </a:lnTo>
                  <a:lnTo>
                    <a:pt x="2394774" y="1453467"/>
                  </a:lnTo>
                  <a:cubicBezTo>
                    <a:pt x="2281976" y="2004695"/>
                    <a:pt x="1794250" y="2419350"/>
                    <a:pt x="1209675" y="2419350"/>
                  </a:cubicBezTo>
                  <a:cubicBezTo>
                    <a:pt x="541590" y="2419350"/>
                    <a:pt x="0" y="1877760"/>
                    <a:pt x="0" y="1209675"/>
                  </a:cubicBezTo>
                  <a:cubicBezTo>
                    <a:pt x="0" y="541590"/>
                    <a:pt x="541590" y="0"/>
                    <a:pt x="1209675" y="0"/>
                  </a:cubicBezTo>
                  <a:close/>
                </a:path>
              </a:pathLst>
            </a:custGeom>
            <a:solidFill>
              <a:schemeClr val="bg1"/>
            </a:solidFill>
            <a:ln w="19050">
              <a:solidFill>
                <a:schemeClr val="accent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7" name="직사각형 36">
              <a:extLst>
                <a:ext uri="{FF2B5EF4-FFF2-40B4-BE49-F238E27FC236}">
                  <a16:creationId xmlns:a16="http://schemas.microsoft.com/office/drawing/2014/main" id="{9826243B-A00E-7A15-FAF2-E6216A5C2B4D}"/>
                </a:ext>
              </a:extLst>
            </p:cNvPr>
            <p:cNvSpPr/>
            <p:nvPr/>
          </p:nvSpPr>
          <p:spPr>
            <a:xfrm>
              <a:off x="1108619" y="3369397"/>
              <a:ext cx="2768323" cy="1897749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>
                <a:lnSpc>
                  <a:spcPct val="150000"/>
                </a:lnSpc>
                <a:defRPr/>
              </a:pPr>
              <a:r>
                <a:rPr lang="ko-KR" altLang="en-US" sz="1600" dirty="0">
                  <a:solidFill>
                    <a:schemeClr val="accent4"/>
                  </a:solidFill>
                  <a:latin typeface="HY헤드라인M" panose="02030600000101010101" pitchFamily="18" charset="-127"/>
                  <a:ea typeface="HY헤드라인M" panose="02030600000101010101" pitchFamily="18" charset="-127"/>
                </a:rPr>
                <a:t>온실가스 배출</a:t>
              </a:r>
              <a:endParaRPr lang="en-US" altLang="ko-KR" sz="1600" dirty="0">
                <a:solidFill>
                  <a:schemeClr val="accent4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endParaRPr>
            </a:p>
            <a:p>
              <a:pPr algn="ctr">
                <a:lnSpc>
                  <a:spcPct val="150000"/>
                </a:lnSpc>
                <a:defRPr/>
              </a:pPr>
              <a:r>
                <a:rPr lang="ko-KR" altLang="en-US" sz="1300" dirty="0"/>
                <a:t>화석에너지를 사용하면 온실가스 배출이 발생한다</a:t>
              </a:r>
            </a:p>
          </p:txBody>
        </p:sp>
        <p:sp>
          <p:nvSpPr>
            <p:cNvPr id="39" name="타원 38">
              <a:extLst>
                <a:ext uri="{FF2B5EF4-FFF2-40B4-BE49-F238E27FC236}">
                  <a16:creationId xmlns:a16="http://schemas.microsoft.com/office/drawing/2014/main" id="{AB0B786D-6F50-9D15-42A4-914E5D530AA0}"/>
                </a:ext>
              </a:extLst>
            </p:cNvPr>
            <p:cNvSpPr/>
            <p:nvPr/>
          </p:nvSpPr>
          <p:spPr>
            <a:xfrm>
              <a:off x="2075643" y="2355565"/>
              <a:ext cx="877107" cy="877108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ko-KR" altLang="en-US">
                <a:solidFill>
                  <a:prstClr val="white"/>
                </a:solidFill>
              </a:endParaRPr>
            </a:p>
          </p:txBody>
        </p:sp>
      </p:grpSp>
      <p:sp>
        <p:nvSpPr>
          <p:cNvPr id="42" name="자유형 9">
            <a:extLst>
              <a:ext uri="{FF2B5EF4-FFF2-40B4-BE49-F238E27FC236}">
                <a16:creationId xmlns:a16="http://schemas.microsoft.com/office/drawing/2014/main" id="{D2E5CC0B-7EBD-ADD6-DA19-7423FA6A9A29}"/>
              </a:ext>
            </a:extLst>
          </p:cNvPr>
          <p:cNvSpPr/>
          <p:nvPr/>
        </p:nvSpPr>
        <p:spPr>
          <a:xfrm>
            <a:off x="6182509" y="2210273"/>
            <a:ext cx="2221292" cy="2228852"/>
          </a:xfrm>
          <a:custGeom>
            <a:avLst/>
            <a:gdLst>
              <a:gd name="connsiteX0" fmla="*/ 1209675 w 2411145"/>
              <a:gd name="connsiteY0" fmla="*/ 0 h 2419350"/>
              <a:gd name="connsiteX1" fmla="*/ 2394774 w 2411145"/>
              <a:gd name="connsiteY1" fmla="*/ 965883 h 2419350"/>
              <a:gd name="connsiteX2" fmla="*/ 2411145 w 2411145"/>
              <a:gd name="connsiteY2" fmla="*/ 1073150 h 2419350"/>
              <a:gd name="connsiteX3" fmla="*/ 2325828 w 2411145"/>
              <a:gd name="connsiteY3" fmla="*/ 1073150 h 2419350"/>
              <a:gd name="connsiteX4" fmla="*/ 2189303 w 2411145"/>
              <a:gd name="connsiteY4" fmla="*/ 1209675 h 2419350"/>
              <a:gd name="connsiteX5" fmla="*/ 2325828 w 2411145"/>
              <a:gd name="connsiteY5" fmla="*/ 1346200 h 2419350"/>
              <a:gd name="connsiteX6" fmla="*/ 2411145 w 2411145"/>
              <a:gd name="connsiteY6" fmla="*/ 1346200 h 2419350"/>
              <a:gd name="connsiteX7" fmla="*/ 2394774 w 2411145"/>
              <a:gd name="connsiteY7" fmla="*/ 1453467 h 2419350"/>
              <a:gd name="connsiteX8" fmla="*/ 1209675 w 2411145"/>
              <a:gd name="connsiteY8" fmla="*/ 2419350 h 2419350"/>
              <a:gd name="connsiteX9" fmla="*/ 0 w 2411145"/>
              <a:gd name="connsiteY9" fmla="*/ 1209675 h 2419350"/>
              <a:gd name="connsiteX10" fmla="*/ 1209675 w 2411145"/>
              <a:gd name="connsiteY10" fmla="*/ 0 h 24193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2411145" h="2419350">
                <a:moveTo>
                  <a:pt x="1209675" y="0"/>
                </a:moveTo>
                <a:cubicBezTo>
                  <a:pt x="1794250" y="0"/>
                  <a:pt x="2281976" y="414655"/>
                  <a:pt x="2394774" y="965883"/>
                </a:cubicBezTo>
                <a:lnTo>
                  <a:pt x="2411145" y="1073150"/>
                </a:lnTo>
                <a:lnTo>
                  <a:pt x="2325828" y="1073150"/>
                </a:lnTo>
                <a:cubicBezTo>
                  <a:pt x="2250427" y="1073150"/>
                  <a:pt x="2189303" y="1134274"/>
                  <a:pt x="2189303" y="1209675"/>
                </a:cubicBezTo>
                <a:cubicBezTo>
                  <a:pt x="2189303" y="1285076"/>
                  <a:pt x="2250427" y="1346200"/>
                  <a:pt x="2325828" y="1346200"/>
                </a:cubicBezTo>
                <a:lnTo>
                  <a:pt x="2411145" y="1346200"/>
                </a:lnTo>
                <a:lnTo>
                  <a:pt x="2394774" y="1453467"/>
                </a:lnTo>
                <a:cubicBezTo>
                  <a:pt x="2281976" y="2004695"/>
                  <a:pt x="1794250" y="2419350"/>
                  <a:pt x="1209675" y="2419350"/>
                </a:cubicBezTo>
                <a:cubicBezTo>
                  <a:pt x="541590" y="2419350"/>
                  <a:pt x="0" y="1877760"/>
                  <a:pt x="0" y="1209675"/>
                </a:cubicBezTo>
                <a:cubicBezTo>
                  <a:pt x="0" y="541590"/>
                  <a:pt x="541590" y="0"/>
                  <a:pt x="1209675" y="0"/>
                </a:cubicBezTo>
                <a:close/>
              </a:path>
            </a:pathLst>
          </a:custGeom>
          <a:solidFill>
            <a:schemeClr val="bg1"/>
          </a:solidFill>
          <a:ln w="19050">
            <a:solidFill>
              <a:schemeClr val="accent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3" name="직사각형 42">
            <a:extLst>
              <a:ext uri="{FF2B5EF4-FFF2-40B4-BE49-F238E27FC236}">
                <a16:creationId xmlns:a16="http://schemas.microsoft.com/office/drawing/2014/main" id="{81C1A1BD-5266-EDD9-CD58-9380A0DCE368}"/>
              </a:ext>
            </a:extLst>
          </p:cNvPr>
          <p:cNvSpPr/>
          <p:nvPr/>
        </p:nvSpPr>
        <p:spPr>
          <a:xfrm>
            <a:off x="6305211" y="2661634"/>
            <a:ext cx="1930274" cy="132324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  <a:defRPr/>
            </a:pPr>
            <a:r>
              <a:rPr lang="ko-KR" altLang="en-US" sz="1600" dirty="0">
                <a:solidFill>
                  <a:schemeClr val="accent4"/>
                </a:solidFill>
                <a:latin typeface="HY헤드라인M" panose="02030600000101010101" pitchFamily="18" charset="-127"/>
                <a:ea typeface="HY헤드라인M" panose="02030600000101010101" pitchFamily="18" charset="-127"/>
              </a:rPr>
              <a:t>지구 온난화</a:t>
            </a:r>
            <a:endParaRPr lang="en-US" altLang="ko-KR" sz="1600" dirty="0">
              <a:solidFill>
                <a:schemeClr val="accent4"/>
              </a:solidFill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pPr algn="ctr">
              <a:lnSpc>
                <a:spcPct val="150000"/>
              </a:lnSpc>
              <a:defRPr/>
            </a:pPr>
            <a:r>
              <a:rPr lang="ko-KR" altLang="en-US" sz="1300" dirty="0"/>
              <a:t>온실가스가 대기에 쌓이면 지구 온도가 상승한다</a:t>
            </a:r>
            <a:r>
              <a:rPr lang="en-US" altLang="ko-KR" sz="1300" dirty="0"/>
              <a:t>.</a:t>
            </a:r>
            <a:endParaRPr lang="ko-KR" altLang="en-US" sz="1300" dirty="0"/>
          </a:p>
        </p:txBody>
      </p:sp>
      <p:sp>
        <p:nvSpPr>
          <p:cNvPr id="45" name="타원 44">
            <a:extLst>
              <a:ext uri="{FF2B5EF4-FFF2-40B4-BE49-F238E27FC236}">
                <a16:creationId xmlns:a16="http://schemas.microsoft.com/office/drawing/2014/main" id="{A8D83745-F018-CBBC-2153-0C20D00671FF}"/>
              </a:ext>
            </a:extLst>
          </p:cNvPr>
          <p:cNvSpPr/>
          <p:nvPr/>
        </p:nvSpPr>
        <p:spPr>
          <a:xfrm>
            <a:off x="6979489" y="1954717"/>
            <a:ext cx="611582" cy="611583"/>
          </a:xfrm>
          <a:prstGeom prst="ellips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ko-KR" altLang="en-US" dirty="0">
              <a:solidFill>
                <a:prstClr val="white"/>
              </a:solidFill>
            </a:endParaRPr>
          </a:p>
        </p:txBody>
      </p:sp>
      <p:grpSp>
        <p:nvGrpSpPr>
          <p:cNvPr id="47" name="그룹 46">
            <a:extLst>
              <a:ext uri="{FF2B5EF4-FFF2-40B4-BE49-F238E27FC236}">
                <a16:creationId xmlns:a16="http://schemas.microsoft.com/office/drawing/2014/main" id="{7A452D53-9594-3BC1-ADC7-3C57A9E7306E}"/>
              </a:ext>
            </a:extLst>
          </p:cNvPr>
          <p:cNvGrpSpPr/>
          <p:nvPr/>
        </p:nvGrpSpPr>
        <p:grpSpPr>
          <a:xfrm>
            <a:off x="9038568" y="1954717"/>
            <a:ext cx="2221292" cy="2484408"/>
            <a:chOff x="932645" y="2355565"/>
            <a:chExt cx="3185690" cy="3563040"/>
          </a:xfrm>
        </p:grpSpPr>
        <p:sp>
          <p:nvSpPr>
            <p:cNvPr id="48" name="자유형 9">
              <a:extLst>
                <a:ext uri="{FF2B5EF4-FFF2-40B4-BE49-F238E27FC236}">
                  <a16:creationId xmlns:a16="http://schemas.microsoft.com/office/drawing/2014/main" id="{1DAF1B2F-1925-0EBA-D565-B0D2BC7AB944}"/>
                </a:ext>
              </a:extLst>
            </p:cNvPr>
            <p:cNvSpPr/>
            <p:nvPr/>
          </p:nvSpPr>
          <p:spPr>
            <a:xfrm>
              <a:off x="932645" y="2722074"/>
              <a:ext cx="3185690" cy="3196531"/>
            </a:xfrm>
            <a:custGeom>
              <a:avLst/>
              <a:gdLst>
                <a:gd name="connsiteX0" fmla="*/ 1209675 w 2411145"/>
                <a:gd name="connsiteY0" fmla="*/ 0 h 2419350"/>
                <a:gd name="connsiteX1" fmla="*/ 2394774 w 2411145"/>
                <a:gd name="connsiteY1" fmla="*/ 965883 h 2419350"/>
                <a:gd name="connsiteX2" fmla="*/ 2411145 w 2411145"/>
                <a:gd name="connsiteY2" fmla="*/ 1073150 h 2419350"/>
                <a:gd name="connsiteX3" fmla="*/ 2325828 w 2411145"/>
                <a:gd name="connsiteY3" fmla="*/ 1073150 h 2419350"/>
                <a:gd name="connsiteX4" fmla="*/ 2189303 w 2411145"/>
                <a:gd name="connsiteY4" fmla="*/ 1209675 h 2419350"/>
                <a:gd name="connsiteX5" fmla="*/ 2325828 w 2411145"/>
                <a:gd name="connsiteY5" fmla="*/ 1346200 h 2419350"/>
                <a:gd name="connsiteX6" fmla="*/ 2411145 w 2411145"/>
                <a:gd name="connsiteY6" fmla="*/ 1346200 h 2419350"/>
                <a:gd name="connsiteX7" fmla="*/ 2394774 w 2411145"/>
                <a:gd name="connsiteY7" fmla="*/ 1453467 h 2419350"/>
                <a:gd name="connsiteX8" fmla="*/ 1209675 w 2411145"/>
                <a:gd name="connsiteY8" fmla="*/ 2419350 h 2419350"/>
                <a:gd name="connsiteX9" fmla="*/ 0 w 2411145"/>
                <a:gd name="connsiteY9" fmla="*/ 1209675 h 2419350"/>
                <a:gd name="connsiteX10" fmla="*/ 1209675 w 2411145"/>
                <a:gd name="connsiteY10" fmla="*/ 0 h 24193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411145" h="2419350">
                  <a:moveTo>
                    <a:pt x="1209675" y="0"/>
                  </a:moveTo>
                  <a:cubicBezTo>
                    <a:pt x="1794250" y="0"/>
                    <a:pt x="2281976" y="414655"/>
                    <a:pt x="2394774" y="965883"/>
                  </a:cubicBezTo>
                  <a:lnTo>
                    <a:pt x="2411145" y="1073150"/>
                  </a:lnTo>
                  <a:lnTo>
                    <a:pt x="2325828" y="1073150"/>
                  </a:lnTo>
                  <a:cubicBezTo>
                    <a:pt x="2250427" y="1073150"/>
                    <a:pt x="2189303" y="1134274"/>
                    <a:pt x="2189303" y="1209675"/>
                  </a:cubicBezTo>
                  <a:cubicBezTo>
                    <a:pt x="2189303" y="1285076"/>
                    <a:pt x="2250427" y="1346200"/>
                    <a:pt x="2325828" y="1346200"/>
                  </a:cubicBezTo>
                  <a:lnTo>
                    <a:pt x="2411145" y="1346200"/>
                  </a:lnTo>
                  <a:lnTo>
                    <a:pt x="2394774" y="1453467"/>
                  </a:lnTo>
                  <a:cubicBezTo>
                    <a:pt x="2281976" y="2004695"/>
                    <a:pt x="1794250" y="2419350"/>
                    <a:pt x="1209675" y="2419350"/>
                  </a:cubicBezTo>
                  <a:cubicBezTo>
                    <a:pt x="541590" y="2419350"/>
                    <a:pt x="0" y="1877760"/>
                    <a:pt x="0" y="1209675"/>
                  </a:cubicBezTo>
                  <a:cubicBezTo>
                    <a:pt x="0" y="541590"/>
                    <a:pt x="541590" y="0"/>
                    <a:pt x="1209675" y="0"/>
                  </a:cubicBezTo>
                  <a:close/>
                </a:path>
              </a:pathLst>
            </a:custGeom>
            <a:solidFill>
              <a:schemeClr val="bg1"/>
            </a:solidFill>
            <a:ln w="19050">
              <a:solidFill>
                <a:schemeClr val="accent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9" name="직사각형 48">
              <a:extLst>
                <a:ext uri="{FF2B5EF4-FFF2-40B4-BE49-F238E27FC236}">
                  <a16:creationId xmlns:a16="http://schemas.microsoft.com/office/drawing/2014/main" id="{00B63CB9-FE58-9883-9BF0-ED5F658CB37D}"/>
                </a:ext>
              </a:extLst>
            </p:cNvPr>
            <p:cNvSpPr/>
            <p:nvPr/>
          </p:nvSpPr>
          <p:spPr>
            <a:xfrm>
              <a:off x="1108619" y="3369397"/>
              <a:ext cx="2768323" cy="1897749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>
                <a:lnSpc>
                  <a:spcPct val="150000"/>
                </a:lnSpc>
                <a:defRPr/>
              </a:pPr>
              <a:r>
                <a:rPr lang="ko-KR" altLang="en-US" sz="1600" dirty="0">
                  <a:solidFill>
                    <a:schemeClr val="accent4"/>
                  </a:solidFill>
                  <a:latin typeface="HY헤드라인M" panose="02030600000101010101" pitchFamily="18" charset="-127"/>
                  <a:ea typeface="HY헤드라인M" panose="02030600000101010101" pitchFamily="18" charset="-127"/>
                </a:rPr>
                <a:t>기후 변화</a:t>
              </a:r>
              <a:endParaRPr lang="en-US" altLang="ko-KR" sz="1300" dirty="0"/>
            </a:p>
            <a:p>
              <a:pPr algn="ctr">
                <a:lnSpc>
                  <a:spcPct val="150000"/>
                </a:lnSpc>
                <a:defRPr/>
              </a:pPr>
              <a:r>
                <a:rPr lang="ko-KR" altLang="en-US" sz="1300" dirty="0"/>
                <a:t>지구온도가 상승하면 기후 시스템에 변화가 발생한다</a:t>
              </a:r>
              <a:r>
                <a:rPr lang="en-US" altLang="ko-KR" sz="1300" dirty="0"/>
                <a:t>.</a:t>
              </a:r>
              <a:endParaRPr lang="ko-KR" altLang="en-US" sz="1300" dirty="0"/>
            </a:p>
          </p:txBody>
        </p:sp>
        <p:sp>
          <p:nvSpPr>
            <p:cNvPr id="51" name="타원 50">
              <a:extLst>
                <a:ext uri="{FF2B5EF4-FFF2-40B4-BE49-F238E27FC236}">
                  <a16:creationId xmlns:a16="http://schemas.microsoft.com/office/drawing/2014/main" id="{A9021528-9393-D44E-5C94-4279011C88BC}"/>
                </a:ext>
              </a:extLst>
            </p:cNvPr>
            <p:cNvSpPr/>
            <p:nvPr/>
          </p:nvSpPr>
          <p:spPr>
            <a:xfrm>
              <a:off x="2075643" y="2355565"/>
              <a:ext cx="877107" cy="877108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defRPr/>
              </a:pPr>
              <a:endParaRPr lang="ko-KR" altLang="en-US">
                <a:solidFill>
                  <a:prstClr val="white"/>
                </a:solidFill>
              </a:endParaRPr>
            </a:p>
          </p:txBody>
        </p:sp>
      </p:grpSp>
      <p:cxnSp>
        <p:nvCxnSpPr>
          <p:cNvPr id="53" name="직선 화살표 연결선 52">
            <a:extLst>
              <a:ext uri="{FF2B5EF4-FFF2-40B4-BE49-F238E27FC236}">
                <a16:creationId xmlns:a16="http://schemas.microsoft.com/office/drawing/2014/main" id="{27926710-A20A-FA44-5EA0-D6C55E2F0F36}"/>
              </a:ext>
            </a:extLst>
          </p:cNvPr>
          <p:cNvCxnSpPr>
            <a:cxnSpLocks/>
          </p:cNvCxnSpPr>
          <p:nvPr/>
        </p:nvCxnSpPr>
        <p:spPr>
          <a:xfrm>
            <a:off x="2636537" y="3324699"/>
            <a:ext cx="596060" cy="0"/>
          </a:xfrm>
          <a:prstGeom prst="straightConnector1">
            <a:avLst/>
          </a:prstGeom>
          <a:ln w="66675" cap="rnd">
            <a:solidFill>
              <a:schemeClr val="accent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직선 화살표 연결선 54">
            <a:extLst>
              <a:ext uri="{FF2B5EF4-FFF2-40B4-BE49-F238E27FC236}">
                <a16:creationId xmlns:a16="http://schemas.microsoft.com/office/drawing/2014/main" id="{E08F45F8-D29A-29AE-6635-3861AD03646F}"/>
              </a:ext>
            </a:extLst>
          </p:cNvPr>
          <p:cNvCxnSpPr>
            <a:cxnSpLocks/>
          </p:cNvCxnSpPr>
          <p:nvPr/>
        </p:nvCxnSpPr>
        <p:spPr>
          <a:xfrm>
            <a:off x="5499940" y="3324699"/>
            <a:ext cx="596060" cy="0"/>
          </a:xfrm>
          <a:prstGeom prst="straightConnector1">
            <a:avLst/>
          </a:prstGeom>
          <a:ln w="66675" cap="rnd">
            <a:solidFill>
              <a:schemeClr val="accent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직선 화살표 연결선 55">
            <a:extLst>
              <a:ext uri="{FF2B5EF4-FFF2-40B4-BE49-F238E27FC236}">
                <a16:creationId xmlns:a16="http://schemas.microsoft.com/office/drawing/2014/main" id="{61DA9840-1C41-D357-4CE0-5EA7A6FEEF1D}"/>
              </a:ext>
            </a:extLst>
          </p:cNvPr>
          <p:cNvCxnSpPr>
            <a:cxnSpLocks/>
          </p:cNvCxnSpPr>
          <p:nvPr/>
        </p:nvCxnSpPr>
        <p:spPr>
          <a:xfrm>
            <a:off x="8324707" y="3324699"/>
            <a:ext cx="596060" cy="0"/>
          </a:xfrm>
          <a:prstGeom prst="straightConnector1">
            <a:avLst/>
          </a:prstGeom>
          <a:ln w="66675" cap="rnd">
            <a:solidFill>
              <a:schemeClr val="accent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8" name="그래픽 57" descr="석유통 윤곽선">
            <a:extLst>
              <a:ext uri="{FF2B5EF4-FFF2-40B4-BE49-F238E27FC236}">
                <a16:creationId xmlns:a16="http://schemas.microsoft.com/office/drawing/2014/main" id="{DD43C9F4-A89E-EBEC-6EF2-42876CF89A8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388705" y="2076157"/>
            <a:ext cx="384668" cy="384668"/>
          </a:xfrm>
          <a:prstGeom prst="rect">
            <a:avLst/>
          </a:prstGeom>
        </p:spPr>
      </p:pic>
      <p:pic>
        <p:nvPicPr>
          <p:cNvPr id="61" name="그래픽 60" descr="발전소 윤곽선">
            <a:extLst>
              <a:ext uri="{FF2B5EF4-FFF2-40B4-BE49-F238E27FC236}">
                <a16:creationId xmlns:a16="http://schemas.microsoft.com/office/drawing/2014/main" id="{0CF9BFFF-9C8F-FB8F-C700-23B90DB8A0B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244763" y="2051286"/>
            <a:ext cx="384668" cy="384668"/>
          </a:xfrm>
          <a:prstGeom prst="rect">
            <a:avLst/>
          </a:prstGeom>
        </p:spPr>
      </p:pic>
      <p:pic>
        <p:nvPicPr>
          <p:cNvPr id="63" name="그래픽 62" descr="지구본 - 아시아 단색으로 채워진">
            <a:extLst>
              <a:ext uri="{FF2B5EF4-FFF2-40B4-BE49-F238E27FC236}">
                <a16:creationId xmlns:a16="http://schemas.microsoft.com/office/drawing/2014/main" id="{C9E51B01-2A08-129B-FD13-87FF24CD8F3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847507" y="1962491"/>
            <a:ext cx="612000" cy="612000"/>
          </a:xfrm>
          <a:prstGeom prst="rect">
            <a:avLst/>
          </a:prstGeom>
        </p:spPr>
      </p:pic>
      <p:pic>
        <p:nvPicPr>
          <p:cNvPr id="65" name="그래픽 64" descr="온도계 단색으로 채워진">
            <a:extLst>
              <a:ext uri="{FF2B5EF4-FFF2-40B4-BE49-F238E27FC236}">
                <a16:creationId xmlns:a16="http://schemas.microsoft.com/office/drawing/2014/main" id="{70C6D910-A47C-4BD3-5266-D847286CA2C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077091" y="2044259"/>
            <a:ext cx="431292" cy="4312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133536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E77D1B-2B48-8FC9-81BA-8A3DD4BF7A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123DA73-52CB-2DB7-E2BA-22DBCDBF71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에너지와 환경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7C9AD2F-8DF3-EEC0-A440-92FD884D70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15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BD4F51C-B3D6-AE58-479B-361880092AB9}"/>
              </a:ext>
            </a:extLst>
          </p:cNvPr>
          <p:cNvSpPr txBox="1"/>
          <p:nvPr/>
        </p:nvSpPr>
        <p:spPr>
          <a:xfrm>
            <a:off x="288790" y="958844"/>
            <a:ext cx="11693660" cy="299934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석유제품과 같은 화석연료의 소비는 환경을 오염시키고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그리고 온실가스를 배출하여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기후변화를 일으킨다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이산화탄소</a:t>
            </a:r>
            <a:r>
              <a:rPr lang="en-US" altLang="ko-KR" sz="1600" spc="-50" dirty="0"/>
              <a:t>(CO</a:t>
            </a:r>
            <a:r>
              <a:rPr lang="en-US" altLang="ko-KR" sz="1600" spc="-50" baseline="-25000" dirty="0"/>
              <a:t>2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로 대표되는 </a:t>
            </a:r>
            <a:r>
              <a:rPr lang="ko-KR" altLang="en-US" sz="1600" b="1" spc="-50" dirty="0"/>
              <a:t>온실가스</a:t>
            </a:r>
            <a:r>
              <a:rPr lang="ko-KR" altLang="en-US" sz="1600" spc="-50" dirty="0"/>
              <a:t>는 지구온난화에 기여한다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이산화탄소를 포함하여 온실가스 종류는 총 </a:t>
            </a:r>
            <a:r>
              <a:rPr lang="en-US" altLang="ko-KR" sz="1600" spc="-50" dirty="0"/>
              <a:t>7</a:t>
            </a:r>
            <a:r>
              <a:rPr lang="ko-KR" altLang="en-US" sz="1600" spc="-50" dirty="0"/>
              <a:t>가지가 있다</a:t>
            </a:r>
            <a:r>
              <a:rPr lang="en-US" altLang="ko-KR" sz="1600" spc="-50" dirty="0"/>
              <a:t>. 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온실가스는 지구에 </a:t>
            </a:r>
            <a:r>
              <a:rPr lang="ko-KR" altLang="en-US" sz="1600" b="1" spc="-50" dirty="0"/>
              <a:t>기후변화</a:t>
            </a:r>
            <a:r>
              <a:rPr lang="ko-KR" altLang="en-US" sz="1600" spc="-50" dirty="0"/>
              <a:t>를 일으켜 우리가 사는 환경을 바꾸어 놓음으로써 인류를 위협한다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미세먼지로 대표되는 대기오염물질은 대기의 질 악화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건강 악화를 초래한다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온실가스와 달리 수십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수백 여가지의 대기오염물질이 있다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대기오염물질은 인간이 호흡하는 순간 몸에 바로 영향을 준다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</p:txBody>
      </p:sp>
    </p:spTree>
    <p:extLst>
      <p:ext uri="{BB962C8B-B14F-4D97-AF65-F5344CB8AC3E}">
        <p14:creationId xmlns:p14="http://schemas.microsoft.com/office/powerpoint/2010/main" val="227028672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2864A4-93B3-C2FB-5C29-8B9FB1D6D5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CF388CA-1C1D-A9B4-A301-0D9E640328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기상과 기후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DADB75B-F0C7-28A0-132F-248A2FD1BD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16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1CF5C66-068D-D769-8B64-0EF9EE729529}"/>
              </a:ext>
            </a:extLst>
          </p:cNvPr>
          <p:cNvSpPr txBox="1"/>
          <p:nvPr/>
        </p:nvSpPr>
        <p:spPr>
          <a:xfrm>
            <a:off x="288790" y="958844"/>
            <a:ext cx="11693660" cy="2814681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기상 </a:t>
            </a:r>
            <a:r>
              <a:rPr lang="en-US" altLang="ko-KR" sz="1600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(</a:t>
            </a:r>
            <a:r>
              <a:rPr lang="ko-KR" altLang="en-US" sz="1600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혹은 날씨</a:t>
            </a:r>
            <a:r>
              <a:rPr lang="en-US" altLang="ko-KR" sz="1600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, weather): </a:t>
            </a:r>
            <a:r>
              <a:rPr lang="ko-KR" altLang="en-US" sz="1600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그날 그날에 따른 지구의 기분</a:t>
            </a:r>
            <a:endParaRPr lang="en-US" altLang="ko-KR" sz="1600" u="sng" dirty="0">
              <a:ln w="3175">
                <a:noFill/>
              </a:ln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pPr>
              <a:lnSpc>
                <a:spcPct val="150000"/>
              </a:lnSpc>
            </a:pPr>
            <a:endParaRPr lang="en-US" altLang="ko-KR" sz="400" u="sng" dirty="0">
              <a:ln w="3175">
                <a:noFill/>
              </a:ln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대기 중에서 일어나는 여러 가지 물리 현상을 말하며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날씨는 시간별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일별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월별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계절별마다 다르다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아침과 저녁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오늘과 내일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이번달과 다음달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여름과 가을의 날씨는 다르다</a:t>
            </a:r>
            <a:endParaRPr lang="en-US" altLang="ko-KR" sz="1600" spc="-50" dirty="0"/>
          </a:p>
          <a:p>
            <a:pPr marL="92075">
              <a:lnSpc>
                <a:spcPct val="150000"/>
              </a:lnSpc>
            </a:pPr>
            <a:endParaRPr lang="en-US" altLang="ko-KR" sz="1600" u="sng" spc="-50" dirty="0">
              <a:ln w="3175">
                <a:noFill/>
              </a:ln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pPr>
              <a:lnSpc>
                <a:spcPct val="150000"/>
              </a:lnSpc>
            </a:pPr>
            <a:r>
              <a:rPr lang="ko-KR" altLang="en-US" sz="1600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기후 </a:t>
            </a:r>
            <a:r>
              <a:rPr lang="en-US" altLang="ko-KR" sz="1600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(climate): </a:t>
            </a:r>
            <a:r>
              <a:rPr lang="ko-KR" altLang="en-US" sz="1600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오랫동안 형성되어온 지구의 성격</a:t>
            </a:r>
            <a:endParaRPr lang="en-US" altLang="ko-KR" sz="1600" u="sng" dirty="0">
              <a:ln w="3175">
                <a:noFill/>
              </a:ln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pPr>
              <a:lnSpc>
                <a:spcPct val="150000"/>
              </a:lnSpc>
            </a:pPr>
            <a:endParaRPr lang="en-US" altLang="ko-KR" sz="400" u="sng" dirty="0">
              <a:ln w="3175">
                <a:noFill/>
              </a:ln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장기간에 걸친 기상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날씨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의 평균이나 변동의 특성을 말한다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한 지역에서 </a:t>
            </a:r>
            <a:r>
              <a:rPr lang="en-US" altLang="ko-KR" sz="1600" spc="-50" dirty="0"/>
              <a:t>30</a:t>
            </a:r>
            <a:r>
              <a:rPr lang="ko-KR" altLang="en-US" sz="1600" spc="-50" dirty="0"/>
              <a:t>년 이상 기온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강수량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풍향 등에 관한 정보가 기후의 바탕이 된다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54338851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9FFBCA-3BFD-6AF3-9948-B214E78BC4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102EB14-DC30-F053-DDC3-832480CE01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온실가스와 지구온난화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00DF142-A7EC-7241-3ABE-C998D5F782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17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0E87DE5-EAEF-7A55-E62E-D3595B566D14}"/>
              </a:ext>
            </a:extLst>
          </p:cNvPr>
          <p:cNvSpPr txBox="1"/>
          <p:nvPr/>
        </p:nvSpPr>
        <p:spPr>
          <a:xfrm>
            <a:off x="288790" y="958844"/>
            <a:ext cx="11693660" cy="521533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온실가스는 지구에서 방출하는 열을 흡수하여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지구를 뜨겁게 하여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기후변화를 일으키고 있다</a:t>
            </a:r>
            <a:r>
              <a:rPr lang="en-US" altLang="ko-KR" sz="1600" spc="-50" dirty="0"/>
              <a:t>. </a:t>
            </a:r>
            <a:r>
              <a:rPr lang="ko-KR" altLang="en-US" sz="1600" spc="-50" dirty="0"/>
              <a:t>그 원리는 아래와 같다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600" spc="-50" dirty="0"/>
              <a:t>태양은 지구로 엄청난 빛을 쏘고 있다</a:t>
            </a:r>
            <a:r>
              <a:rPr lang="en-US" altLang="ko-KR" sz="1600" spc="-50" dirty="0"/>
              <a:t>.  (</a:t>
            </a:r>
            <a:r>
              <a:rPr lang="ko-KR" altLang="en-US" sz="1600" spc="-50" dirty="0"/>
              <a:t>태양 →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지구</a:t>
            </a:r>
            <a:r>
              <a:rPr lang="en-US" altLang="ko-KR" sz="1600" spc="-50" dirty="0"/>
              <a:t>)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그 빛을 분류해보자면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자외선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가시광선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적외선</a:t>
            </a:r>
            <a:r>
              <a:rPr lang="en-US" altLang="ko-KR" sz="1600" spc="-50" dirty="0"/>
              <a:t>, 3</a:t>
            </a:r>
            <a:r>
              <a:rPr lang="ko-KR" altLang="en-US" sz="1600" spc="-50" dirty="0"/>
              <a:t>종류이다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600" spc="-50" dirty="0"/>
              <a:t>지구는 그 빛의 일부를 반사 시키거나 흡수시킨다</a:t>
            </a:r>
            <a:r>
              <a:rPr lang="en-US" altLang="ko-KR" sz="1600" spc="-50" dirty="0"/>
              <a:t>. 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지구 대기에 떠다니는 오존</a:t>
            </a:r>
            <a:r>
              <a:rPr lang="en-US" altLang="ko-KR" sz="1600" spc="-50" dirty="0"/>
              <a:t>(O</a:t>
            </a:r>
            <a:r>
              <a:rPr lang="en-US" altLang="ko-KR" sz="1600" spc="-50" baseline="-25000" dirty="0"/>
              <a:t>3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은 자외선을 흡수해주며</a:t>
            </a:r>
            <a:r>
              <a:rPr lang="en-US" altLang="ko-KR" sz="1600" spc="-50" dirty="0"/>
              <a:t>,</a:t>
            </a:r>
            <a:r>
              <a:rPr lang="ko-KR" altLang="en-US" sz="1600" spc="-50" dirty="0"/>
              <a:t> 우리를 보호해주는 역할을 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수증기는 적외선을 흡수하고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구름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먼지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미세입자는 빛을 흡수시키거나 산란 시킨다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극지방에 있는 빙하도 태양에서 온 빛을 반사 시킨다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600" spc="-50" dirty="0"/>
              <a:t>대기에서 흡수되거나 반사되지 않은 빛들은 지구 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대기와 지표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에 들어와서 흡수가 된다</a:t>
            </a:r>
            <a:r>
              <a:rPr lang="en-US" altLang="ko-KR" sz="1600" spc="-50" dirty="0"/>
              <a:t>.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식물들의 광합성에 필요한 에너지원이 된다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600" spc="-50" dirty="0"/>
              <a:t>지구는 태양으로부터 받은 빛들을 다시 적외선의 형태로 다시 방출한다</a:t>
            </a:r>
            <a:r>
              <a:rPr lang="en-US" altLang="ko-KR" sz="1600" spc="-50" dirty="0"/>
              <a:t>. (</a:t>
            </a:r>
            <a:r>
              <a:rPr lang="ko-KR" altLang="en-US" sz="1600" spc="-50" dirty="0"/>
              <a:t>지구 →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우주</a:t>
            </a:r>
            <a:r>
              <a:rPr lang="en-US" altLang="ko-KR" sz="1600" spc="-50" dirty="0"/>
              <a:t>)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방출하는 과정에서 대기에 있는 온실가스들은 나가려고 하는 적외선들을 매우 잘 흡수하는 성질이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위 과정에서 태양으로부터 받는 에너지보다 지구가 내보내는 에너지가 작으면 지구 온도는 계속 상승한다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따라서 우리는 지구가 적외선을 우주로 다시 잘 방출 할 수 있도록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대기에 있는 온실가스를 줄여야 하는 것이다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45131356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DBBF6A-CD5E-4BE0-DD3E-7D9C477736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18713C6-BEA8-DB73-C916-6245E180B3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온실가스와 지구온난화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B583296-B89F-F805-5721-39619C8B1E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18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D807993-7672-9BB2-5B0F-89B45010BE6A}"/>
              </a:ext>
            </a:extLst>
          </p:cNvPr>
          <p:cNvSpPr txBox="1"/>
          <p:nvPr/>
        </p:nvSpPr>
        <p:spPr>
          <a:xfrm>
            <a:off x="288790" y="958844"/>
            <a:ext cx="11693660" cy="414024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아래의 그림은 앞서 설명한 기후변화가 발생하는 메커니즘을 보여주고 있다</a:t>
            </a:r>
            <a:r>
              <a:rPr lang="en-US" altLang="ko-KR" sz="1600" spc="-50" dirty="0"/>
              <a:t>.</a:t>
            </a: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55AD2650-A0C9-5F84-EF21-0F857D06FF2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06608" y="1347956"/>
            <a:ext cx="7548872" cy="5263943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1BAB52A5-CFCF-1816-C65D-94B16A58C14E}"/>
              </a:ext>
            </a:extLst>
          </p:cNvPr>
          <p:cNvSpPr txBox="1"/>
          <p:nvPr/>
        </p:nvSpPr>
        <p:spPr>
          <a:xfrm>
            <a:off x="9503410" y="5982909"/>
            <a:ext cx="2531110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000" dirty="0"/>
              <a:t>출처</a:t>
            </a:r>
            <a:r>
              <a:rPr lang="en-US" altLang="ko-KR" sz="1000" dirty="0"/>
              <a:t>: </a:t>
            </a:r>
            <a:r>
              <a:rPr lang="ko-KR" altLang="en-US" sz="1000" dirty="0"/>
              <a:t>https://www.gihoo.or.kr/menu.es?mid=a30106000000</a:t>
            </a:r>
          </a:p>
        </p:txBody>
      </p:sp>
    </p:spTree>
    <p:extLst>
      <p:ext uri="{BB962C8B-B14F-4D97-AF65-F5344CB8AC3E}">
        <p14:creationId xmlns:p14="http://schemas.microsoft.com/office/powerpoint/2010/main" val="32412640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3FFDB9-2B6A-A538-CB78-32B4A47504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F8D0441-B11F-2F64-44D1-40EA3E7FCE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지구온난화와 기후변화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58BDC0F-85DD-F39F-CBE9-25EB79870A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19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B010323-F953-E782-9C9A-1F7AED022D33}"/>
              </a:ext>
            </a:extLst>
          </p:cNvPr>
          <p:cNvSpPr txBox="1"/>
          <p:nvPr/>
        </p:nvSpPr>
        <p:spPr>
          <a:xfrm>
            <a:off x="288790" y="958844"/>
            <a:ext cx="11693660" cy="3368679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온실가스는 </a:t>
            </a:r>
            <a:r>
              <a:rPr lang="ko-KR" altLang="en-US" sz="1600" b="1" spc="-50" dirty="0"/>
              <a:t>자연적</a:t>
            </a:r>
            <a:r>
              <a:rPr lang="ko-KR" altLang="en-US" sz="1600" spc="-50" dirty="0"/>
              <a:t>으로 발생하기도 하고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인류에 의해 </a:t>
            </a:r>
            <a:r>
              <a:rPr lang="ko-KR" altLang="en-US" sz="1600" b="1" spc="-50" dirty="0"/>
              <a:t>인위적</a:t>
            </a:r>
            <a:r>
              <a:rPr lang="ko-KR" altLang="en-US" sz="1600" spc="-50" dirty="0"/>
              <a:t>으로 발생하기도 한다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600" spc="-50" dirty="0"/>
              <a:t>자연적 원인으로는 화산 활동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습지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해양 등이 있다</a:t>
            </a:r>
            <a:r>
              <a:rPr lang="en-US" altLang="ko-KR" sz="1600" spc="-50" dirty="0"/>
              <a:t>.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화산 폭발이 일어나면 엄청난 양의 이산화탄소가 배출이 된다</a:t>
            </a:r>
            <a:r>
              <a:rPr lang="en-US" altLang="ko-KR" sz="1600" spc="-50" dirty="0"/>
              <a:t>.</a:t>
            </a:r>
          </a:p>
          <a:p>
            <a:pPr marL="1749425" lvl="3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공룡 멸종을 설명하는 이론 중에도 화산폭발설이 있다</a:t>
            </a:r>
            <a:r>
              <a:rPr lang="en-US" altLang="ko-KR" sz="1600" spc="-50" dirty="0"/>
              <a:t>. 6,600</a:t>
            </a:r>
            <a:r>
              <a:rPr lang="ko-KR" altLang="en-US" sz="1600" spc="-50" dirty="0"/>
              <a:t>만년 전 인도의 </a:t>
            </a:r>
            <a:r>
              <a:rPr lang="ko-KR" altLang="en-US" sz="1600" spc="-50" dirty="0" err="1"/>
              <a:t>데칸</a:t>
            </a:r>
            <a:r>
              <a:rPr lang="ko-KR" altLang="en-US" sz="1600" spc="-50" dirty="0"/>
              <a:t> 트랩이라는 곳에서 화산폭발이 일어났고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그로 인해 이산화탄소와 이산화황이 대량 배출되어 기후변화를 일으켜 공룡이 멸종했다는 설이다</a:t>
            </a:r>
            <a:r>
              <a:rPr lang="en-US" altLang="ko-KR" sz="1600" spc="-50" dirty="0"/>
              <a:t>.</a:t>
            </a:r>
          </a:p>
          <a:p>
            <a:pPr marL="1749425" lvl="3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endParaRPr lang="en-US" altLang="ko-KR" sz="1600" spc="-50" dirty="0"/>
          </a:p>
          <a:p>
            <a:pPr marL="892175" lvl="1" indent="-3429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600" spc="-50" dirty="0"/>
              <a:t>인위적 원인으로는 인류의 화석연료 사용이다</a:t>
            </a:r>
            <a:r>
              <a:rPr lang="en-US" altLang="ko-KR" sz="1600" spc="-50" dirty="0"/>
              <a:t>.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석탄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석유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가스 등 화석연료를 연소시키면 탄소가 배출된다</a:t>
            </a:r>
            <a:r>
              <a:rPr lang="en-US" altLang="ko-KR" sz="1600" spc="-50" dirty="0"/>
              <a:t>.</a:t>
            </a:r>
          </a:p>
          <a:p>
            <a:pPr marL="1806575" lvl="3" indent="-34290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spc="-50" dirty="0"/>
              <a:t>핸드폰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조명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자동차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공장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발전소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가스레인지 등등 우리는 하루도 화석연료를 쓰지 않고 살아갈 수 없다</a:t>
            </a:r>
            <a:r>
              <a:rPr lang="en-US" altLang="ko-KR" sz="1600" spc="-5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2648084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5220CF-8CE1-F6E6-3D2F-9A6AC0100B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CBAF9FF-44C7-3FC2-57DC-95E36BE975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지구온난화와 기후변화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81DEA0F-4A8D-2688-2585-1268316658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20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23EAE15-C645-AD84-AB50-7D741D314A04}"/>
              </a:ext>
            </a:extLst>
          </p:cNvPr>
          <p:cNvSpPr txBox="1"/>
          <p:nvPr/>
        </p:nvSpPr>
        <p:spPr>
          <a:xfrm>
            <a:off x="288790" y="958844"/>
            <a:ext cx="5953260" cy="558467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그렇다면 지구온난화의 이유는 자연적</a:t>
            </a:r>
            <a:r>
              <a:rPr lang="en-US" altLang="ko-KR" sz="1600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 </a:t>
            </a:r>
            <a:r>
              <a:rPr lang="ko-KR" altLang="en-US" sz="1600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원인 </a:t>
            </a:r>
            <a:r>
              <a:rPr lang="en-US" altLang="ko-KR" sz="1600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vs. </a:t>
            </a:r>
            <a:r>
              <a:rPr lang="ko-KR" altLang="en-US" sz="1600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인위적 원인</a:t>
            </a:r>
            <a:r>
              <a:rPr lang="en-US" altLang="ko-KR" sz="1600" u="sng" dirty="0">
                <a:ln w="3175">
                  <a:noFill/>
                </a:ln>
                <a:latin typeface="HY헤드라인M" panose="02030600000101010101" pitchFamily="18" charset="-127"/>
                <a:ea typeface="HY헤드라인M" panose="02030600000101010101" pitchFamily="18" charset="-127"/>
              </a:rPr>
              <a:t>?</a:t>
            </a:r>
            <a:endParaRPr lang="en-US" altLang="ko-KR" sz="400" u="sng" dirty="0">
              <a:ln w="3175">
                <a:noFill/>
              </a:ln>
              <a:latin typeface="HY헤드라인M" panose="02030600000101010101" pitchFamily="18" charset="-127"/>
              <a:ea typeface="HY헤드라인M" panose="02030600000101010101" pitchFamily="18" charset="-127"/>
            </a:endParaRP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인류가 사용하는 화석연료 때문이다</a:t>
            </a:r>
            <a:r>
              <a:rPr lang="en-US" altLang="ko-KR" sz="1600" spc="-50" dirty="0"/>
              <a:t>. (</a:t>
            </a:r>
            <a:r>
              <a:rPr lang="ko-KR" altLang="en-US" sz="1600" spc="-50" dirty="0"/>
              <a:t>인위적 원인</a:t>
            </a:r>
            <a:r>
              <a:rPr lang="en-US" altLang="ko-KR" sz="1600" spc="-50" dirty="0"/>
              <a:t>)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오른쪽 그림은 </a:t>
            </a:r>
            <a:r>
              <a:rPr lang="en-US" altLang="ko-KR" sz="1600" spc="-50" dirty="0"/>
              <a:t>1850</a:t>
            </a:r>
            <a:r>
              <a:rPr lang="ko-KR" altLang="en-US" sz="1600" spc="-50" dirty="0"/>
              <a:t>년 대비 지구의 온도가 얼마나 상승하고 있는지 보여주고 있다</a:t>
            </a:r>
            <a:r>
              <a:rPr lang="en-US" altLang="ko-KR" sz="1600" spc="-50" dirty="0"/>
              <a:t>. 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dirty="0"/>
              <a:t>observed: </a:t>
            </a:r>
            <a:r>
              <a:rPr lang="ko-KR" altLang="en-US" sz="1600" dirty="0"/>
              <a:t>실제로 관측한 지구 표면 온도</a:t>
            </a:r>
            <a:endParaRPr lang="en-US" altLang="ko-KR" sz="160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dirty="0">
                <a:solidFill>
                  <a:srgbClr val="A67539"/>
                </a:solidFill>
              </a:rPr>
              <a:t>simulated human&amp; natural: </a:t>
            </a:r>
            <a:r>
              <a:rPr lang="ko-KR" altLang="en-US" sz="1600" dirty="0">
                <a:solidFill>
                  <a:srgbClr val="A67539"/>
                </a:solidFill>
              </a:rPr>
              <a:t>컴퓨터 시뮬레이션 결과 </a:t>
            </a:r>
            <a:r>
              <a:rPr lang="en-US" altLang="ko-KR" sz="1600" dirty="0">
                <a:solidFill>
                  <a:srgbClr val="A67539"/>
                </a:solidFill>
              </a:rPr>
              <a:t>(</a:t>
            </a:r>
            <a:r>
              <a:rPr lang="ko-KR" altLang="en-US" sz="1600" dirty="0">
                <a:solidFill>
                  <a:srgbClr val="A67539"/>
                </a:solidFill>
              </a:rPr>
              <a:t>자연적 원인과 인위적 원인 모두 포함</a:t>
            </a:r>
            <a:r>
              <a:rPr lang="en-US" altLang="ko-KR" sz="1600" dirty="0">
                <a:solidFill>
                  <a:srgbClr val="A67539"/>
                </a:solidFill>
              </a:rPr>
              <a:t>)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>
                <a:solidFill>
                  <a:srgbClr val="A67539"/>
                </a:solidFill>
              </a:rPr>
              <a:t>시뮬레이션이 상당히 정확함을 보여준다 </a:t>
            </a:r>
            <a:r>
              <a:rPr lang="en-US" altLang="ko-KR" sz="1600" dirty="0">
                <a:solidFill>
                  <a:srgbClr val="A67539"/>
                </a:solidFill>
              </a:rPr>
              <a:t>(</a:t>
            </a:r>
            <a:r>
              <a:rPr lang="en-US" altLang="ko-KR" sz="1600" dirty="0"/>
              <a:t>observed</a:t>
            </a:r>
            <a:r>
              <a:rPr lang="ko-KR" altLang="en-US" sz="1600" dirty="0">
                <a:solidFill>
                  <a:srgbClr val="A67539"/>
                </a:solidFill>
              </a:rPr>
              <a:t>와 추이가 비슷한 것을 알 수 있다</a:t>
            </a:r>
            <a:r>
              <a:rPr lang="en-US" altLang="ko-KR" sz="1600" dirty="0">
                <a:solidFill>
                  <a:srgbClr val="A67539"/>
                </a:solidFill>
              </a:rPr>
              <a:t>.)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dirty="0">
                <a:solidFill>
                  <a:srgbClr val="3B8380"/>
                </a:solidFill>
              </a:rPr>
              <a:t>Simulated natural only: </a:t>
            </a:r>
            <a:r>
              <a:rPr lang="ko-KR" altLang="en-US" sz="1600" dirty="0">
                <a:solidFill>
                  <a:srgbClr val="3B8380"/>
                </a:solidFill>
              </a:rPr>
              <a:t>컴퓨터 시뮬레이션 결과 </a:t>
            </a:r>
            <a:r>
              <a:rPr lang="en-US" altLang="ko-KR" sz="1600" dirty="0">
                <a:solidFill>
                  <a:srgbClr val="3B8380"/>
                </a:solidFill>
              </a:rPr>
              <a:t>(</a:t>
            </a:r>
            <a:r>
              <a:rPr lang="ko-KR" altLang="en-US" sz="1600" dirty="0">
                <a:solidFill>
                  <a:srgbClr val="3B8380"/>
                </a:solidFill>
              </a:rPr>
              <a:t>자연적 원인만 발생했을 때</a:t>
            </a:r>
            <a:r>
              <a:rPr lang="en-US" altLang="ko-KR" sz="1600" dirty="0">
                <a:solidFill>
                  <a:srgbClr val="3B8380"/>
                </a:solidFill>
              </a:rPr>
              <a:t>)</a:t>
            </a:r>
          </a:p>
          <a:p>
            <a:pPr marL="1292225" lvl="2" indent="-285750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ko-KR" altLang="en-US" sz="1600" dirty="0">
                <a:solidFill>
                  <a:srgbClr val="3B8380"/>
                </a:solidFill>
              </a:rPr>
              <a:t>인류는 화석연료를 </a:t>
            </a:r>
            <a:r>
              <a:rPr lang="ko-KR" altLang="en-US" sz="1600" dirty="0" err="1">
                <a:solidFill>
                  <a:srgbClr val="3B8380"/>
                </a:solidFill>
              </a:rPr>
              <a:t>안쓰고</a:t>
            </a:r>
            <a:r>
              <a:rPr lang="en-US" altLang="ko-KR" sz="1600" dirty="0">
                <a:solidFill>
                  <a:srgbClr val="3B8380"/>
                </a:solidFill>
              </a:rPr>
              <a:t>, </a:t>
            </a:r>
            <a:r>
              <a:rPr lang="ko-KR" altLang="en-US" sz="1600" dirty="0">
                <a:solidFill>
                  <a:srgbClr val="3B8380"/>
                </a:solidFill>
              </a:rPr>
              <a:t>자연적 원인에 의해서만 온실가스가 나왔었다면 지구의 지표면 온도는 </a:t>
            </a:r>
            <a:r>
              <a:rPr lang="en-US" altLang="ko-KR" sz="1600" dirty="0">
                <a:solidFill>
                  <a:srgbClr val="3B8380"/>
                </a:solidFill>
              </a:rPr>
              <a:t>1850</a:t>
            </a:r>
            <a:r>
              <a:rPr lang="ko-KR" altLang="en-US" sz="1600" dirty="0">
                <a:solidFill>
                  <a:srgbClr val="3B8380"/>
                </a:solidFill>
              </a:rPr>
              <a:t>년 수준과 동일할 수 있음을 알려주고 있다</a:t>
            </a:r>
            <a:r>
              <a:rPr lang="en-US" altLang="ko-KR" sz="1600" dirty="0">
                <a:solidFill>
                  <a:srgbClr val="3B8380"/>
                </a:solidFill>
              </a:rPr>
              <a:t>.</a:t>
            </a:r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B56B5E58-D8D2-D0B9-8061-D9C9B36C59E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0123"/>
          <a:stretch>
            <a:fillRect/>
          </a:stretch>
        </p:blipFill>
        <p:spPr>
          <a:xfrm>
            <a:off x="6379906" y="1612899"/>
            <a:ext cx="5812094" cy="4453925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AAAFCFE8-E97A-69EB-94AF-776C4E8119E5}"/>
              </a:ext>
            </a:extLst>
          </p:cNvPr>
          <p:cNvSpPr txBox="1"/>
          <p:nvPr/>
        </p:nvSpPr>
        <p:spPr>
          <a:xfrm>
            <a:off x="8162223" y="6334901"/>
            <a:ext cx="253111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000" dirty="0"/>
              <a:t>출처</a:t>
            </a:r>
            <a:r>
              <a:rPr lang="en-US" altLang="ko-KR" sz="1000" dirty="0"/>
              <a:t>: IPCC 6</a:t>
            </a:r>
            <a:r>
              <a:rPr lang="ko-KR" altLang="en-US" sz="1000" dirty="0"/>
              <a:t>차보고서</a:t>
            </a:r>
            <a:r>
              <a:rPr lang="en-US" altLang="ko-KR" sz="1000" dirty="0"/>
              <a:t>, WGI_SPM</a:t>
            </a:r>
            <a:endParaRPr lang="ko-KR" altLang="en-US" sz="10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ECAC9FE-6982-0296-007C-C17F859EAE05}"/>
              </a:ext>
            </a:extLst>
          </p:cNvPr>
          <p:cNvSpPr txBox="1"/>
          <p:nvPr/>
        </p:nvSpPr>
        <p:spPr>
          <a:xfrm>
            <a:off x="6722043" y="1421367"/>
            <a:ext cx="4683827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spc="-50" dirty="0"/>
              <a:t>&lt;</a:t>
            </a:r>
            <a:r>
              <a:rPr lang="ko-KR" altLang="en-US" sz="1400" spc="-50" dirty="0"/>
              <a:t>전 지구 평균 지표면 온도 변화</a:t>
            </a:r>
            <a:r>
              <a:rPr lang="en-US" altLang="ko-KR" sz="1400" spc="-50" dirty="0"/>
              <a:t>: </a:t>
            </a:r>
          </a:p>
          <a:p>
            <a:pPr algn="ctr"/>
            <a:r>
              <a:rPr lang="ko-KR" altLang="en-US" sz="1400" spc="-50" dirty="0"/>
              <a:t>자연 요인과 인위적 요인의 영향 비교</a:t>
            </a:r>
            <a:r>
              <a:rPr lang="en-US" altLang="ko-KR" sz="1400" spc="-50" dirty="0"/>
              <a:t>&gt;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377043506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D5AD9C-C8F5-BADE-8A71-3436828C5C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FF66E28-80F3-EA9A-4C15-9CF71C4A39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지구온난화 기후변화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F40AAC5-7671-893F-68ED-BE38965FA8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21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6DB1A6A-BA3C-883D-3734-8AF49AB7212B}"/>
              </a:ext>
            </a:extLst>
          </p:cNvPr>
          <p:cNvSpPr txBox="1">
            <a:spLocks/>
          </p:cNvSpPr>
          <p:nvPr/>
        </p:nvSpPr>
        <p:spPr>
          <a:xfrm>
            <a:off x="288790" y="958844"/>
            <a:ext cx="7866643" cy="3738011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지구온도가 상승하면 기후에 변화가 발생할까</a:t>
            </a:r>
            <a:r>
              <a:rPr lang="en-US" altLang="ko-KR" sz="1600" spc="-50" dirty="0"/>
              <a:t>?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지구온도 상승은 단순히 지금보다 더 더워지는 것 그 이상을 의미한다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우리는 </a:t>
            </a:r>
            <a:r>
              <a:rPr lang="en-US" altLang="ko-KR" sz="1600" spc="-50" dirty="0"/>
              <a:t>2026</a:t>
            </a:r>
            <a:r>
              <a:rPr lang="ko-KR" altLang="en-US" sz="1600" spc="-50" dirty="0"/>
              <a:t>년 현재 기후변화 현상을 매년 겪고 있다</a:t>
            </a:r>
            <a:r>
              <a:rPr lang="en-US" altLang="ko-KR" sz="1600" spc="-50" dirty="0"/>
              <a:t>.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기상청</a:t>
            </a:r>
            <a:r>
              <a:rPr lang="en-US" altLang="ko-KR" sz="1600" spc="-50" dirty="0"/>
              <a:t> </a:t>
            </a:r>
            <a:r>
              <a:rPr lang="ko-KR" altLang="en-US" sz="1600" spc="-50" dirty="0" err="1"/>
              <a:t>쇼츠</a:t>
            </a:r>
            <a:r>
              <a:rPr lang="en-US" altLang="ko-KR" sz="1600" spc="-50" dirty="0"/>
              <a:t>: </a:t>
            </a:r>
            <a:r>
              <a:rPr lang="ko-KR" altLang="en-US" sz="1600" spc="-50" dirty="0">
                <a:hlinkClick r:id="rId2"/>
              </a:rPr>
              <a:t>지난 </a:t>
            </a:r>
            <a:r>
              <a:rPr lang="en-US" altLang="ko-KR" sz="1600" spc="-50" dirty="0">
                <a:hlinkClick r:id="rId2"/>
              </a:rPr>
              <a:t>113</a:t>
            </a:r>
            <a:r>
              <a:rPr lang="ko-KR" altLang="en-US" sz="1600" spc="-50" dirty="0">
                <a:hlinkClick r:id="rId2"/>
              </a:rPr>
              <a:t>년 우리나라의 기후는 어떻게 바뀌었을까</a:t>
            </a:r>
            <a:r>
              <a:rPr lang="en-US" altLang="ko-KR" sz="1600" spc="-50" dirty="0">
                <a:hlinkClick r:id="rId2"/>
              </a:rPr>
              <a:t>?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기후 재난영화의 명작이라 불리우는 </a:t>
            </a:r>
            <a:r>
              <a:rPr lang="en-US" altLang="ko-KR" sz="1600" spc="-50" dirty="0"/>
              <a:t>&lt;</a:t>
            </a:r>
            <a:r>
              <a:rPr lang="ko-KR" altLang="en-US" sz="1600" spc="-50" dirty="0" err="1"/>
              <a:t>투모로우</a:t>
            </a:r>
            <a:r>
              <a:rPr lang="en-US" altLang="ko-KR" sz="1600" spc="-50" dirty="0"/>
              <a:t>&gt;</a:t>
            </a:r>
            <a:r>
              <a:rPr lang="ko-KR" altLang="en-US" sz="1600" spc="-50" dirty="0"/>
              <a:t>에서 보여주는 전 지구적 기후변화의 한 예를 살펴보자</a:t>
            </a:r>
            <a:r>
              <a:rPr lang="en-US" altLang="ko-KR" sz="1600" spc="-50" dirty="0"/>
              <a:t>. </a:t>
            </a:r>
            <a:r>
              <a:rPr lang="ko-KR" altLang="en-US" sz="1600" spc="-50" dirty="0">
                <a:hlinkClick r:id="rId3"/>
              </a:rPr>
              <a:t>영화 </a:t>
            </a:r>
            <a:r>
              <a:rPr lang="en-US" altLang="ko-KR" sz="1600" spc="-50" dirty="0">
                <a:hlinkClick r:id="rId3"/>
              </a:rPr>
              <a:t>&lt;</a:t>
            </a:r>
            <a:r>
              <a:rPr lang="ko-KR" altLang="en-US" sz="1600" spc="-50" dirty="0" err="1">
                <a:hlinkClick r:id="rId3"/>
              </a:rPr>
              <a:t>투모로우</a:t>
            </a:r>
            <a:r>
              <a:rPr lang="en-US" altLang="ko-KR" sz="1600" spc="-50" dirty="0">
                <a:hlinkClick r:id="rId3"/>
              </a:rPr>
              <a:t>&gt; </a:t>
            </a:r>
            <a:r>
              <a:rPr lang="ko-KR" altLang="en-US" sz="1600" spc="-50" dirty="0">
                <a:hlinkClick r:id="rId3"/>
              </a:rPr>
              <a:t>리뷰</a:t>
            </a:r>
            <a:endParaRPr lang="en-US" altLang="ko-KR" sz="1600" spc="-50" dirty="0"/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0:30 ~ ‘</a:t>
            </a:r>
            <a:r>
              <a:rPr lang="ko-KR" altLang="en-US" sz="1600" spc="-50" dirty="0"/>
              <a:t>남극과 북극의 빙하가 해수로 유입 된다</a:t>
            </a:r>
            <a:r>
              <a:rPr lang="en-US" altLang="ko-KR" sz="1600" spc="-50" dirty="0"/>
              <a:t>’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600" spc="-50" dirty="0"/>
              <a:t>2:52 ~ ‘</a:t>
            </a:r>
            <a:r>
              <a:rPr lang="ko-KR" altLang="en-US" sz="1600" spc="-50" dirty="0"/>
              <a:t>해류변화가 기상변화를 일으키는 것 같다</a:t>
            </a:r>
            <a:r>
              <a:rPr lang="en-US" altLang="ko-KR" sz="1600" spc="-50" dirty="0"/>
              <a:t>’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en-US" altLang="ko-KR" sz="1600" spc="-50" dirty="0"/>
          </a:p>
        </p:txBody>
      </p:sp>
      <p:pic>
        <p:nvPicPr>
          <p:cNvPr id="1026" name="Picture 2" descr="지난 2004년 개봉한 영화 ‘투모로우’ 포스터. 이상기후로 지구 전체가 얼어붙은 재앙 상황에서 생존자들이 분투하는 모습을 그렸다. 이 영화 포스터는 자유의 여신상 코까지 눈이 쌓인 섬뜩한 모습으로 눈길을 끌었다. [투모로우 영화 포스터 캡쳐]">
            <a:extLst>
              <a:ext uri="{FF2B5EF4-FFF2-40B4-BE49-F238E27FC236}">
                <a16:creationId xmlns:a16="http://schemas.microsoft.com/office/drawing/2014/main" id="{0E886B9D-E34A-927B-679A-2A424A0EA0C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74807" y="2086378"/>
            <a:ext cx="2774524" cy="410629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8D85319F-CE63-8E1B-B0A8-92ABBBAEE1D2}"/>
              </a:ext>
            </a:extLst>
          </p:cNvPr>
          <p:cNvSpPr txBox="1"/>
          <p:nvPr/>
        </p:nvSpPr>
        <p:spPr>
          <a:xfrm>
            <a:off x="9362383" y="1778601"/>
            <a:ext cx="1599371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spc="-50" dirty="0"/>
              <a:t>&lt;</a:t>
            </a:r>
            <a:r>
              <a:rPr lang="ko-KR" altLang="en-US" sz="1400" spc="-50" dirty="0" err="1"/>
              <a:t>투모로우</a:t>
            </a:r>
            <a:r>
              <a:rPr lang="en-US" altLang="ko-KR" sz="1400" spc="-50" dirty="0"/>
              <a:t>&gt;</a:t>
            </a:r>
            <a:endParaRPr lang="ko-KR" altLang="en-US" sz="1400" dirty="0"/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E67FEE33-4133-5EED-1ADC-018ADB651E8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85751" y="4696855"/>
            <a:ext cx="3355824" cy="1840052"/>
          </a:xfrm>
          <a:prstGeom prst="rect">
            <a:avLst/>
          </a:prstGeom>
        </p:spPr>
      </p:pic>
      <p:pic>
        <p:nvPicPr>
          <p:cNvPr id="17" name="그림 16">
            <a:extLst>
              <a:ext uri="{FF2B5EF4-FFF2-40B4-BE49-F238E27FC236}">
                <a16:creationId xmlns:a16="http://schemas.microsoft.com/office/drawing/2014/main" id="{CD9BFFAE-A518-3619-A47E-23EC02E31FD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72961" y="4696855"/>
            <a:ext cx="3299029" cy="18400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0522075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8B19D8-5103-9CDE-57C5-7D81401BB1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4102222-B65D-D609-5D1D-397D54BF33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지구온난화 기후변화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0C22EFF-411C-0831-9059-9934497A93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22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30748AB-EE3B-387D-19B6-3EF3B23CE710}"/>
              </a:ext>
            </a:extLst>
          </p:cNvPr>
          <p:cNvSpPr txBox="1">
            <a:spLocks/>
          </p:cNvSpPr>
          <p:nvPr/>
        </p:nvSpPr>
        <p:spPr>
          <a:xfrm>
            <a:off x="288790" y="958844"/>
            <a:ext cx="11066083" cy="1891352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 err="1"/>
              <a:t>투모로우의</a:t>
            </a:r>
            <a:r>
              <a:rPr lang="ko-KR" altLang="en-US" sz="1600" spc="-50" dirty="0"/>
              <a:t> 주인공인 기후학자 잭 홀 박사는 다음과 같이 경고한다</a:t>
            </a:r>
            <a:r>
              <a:rPr lang="en-US" altLang="ko-KR" sz="1600" spc="-50" dirty="0"/>
              <a:t>.</a:t>
            </a:r>
          </a:p>
          <a:p>
            <a:pPr marL="549275" lvl="1">
              <a:lnSpc>
                <a:spcPct val="150000"/>
              </a:lnSpc>
            </a:pPr>
            <a:r>
              <a:rPr lang="en-US" altLang="ko-KR" sz="1600" spc="-50" dirty="0"/>
              <a:t>“ </a:t>
            </a:r>
            <a:r>
              <a:rPr lang="ko-KR" altLang="en-US" sz="1600" spc="-50" dirty="0"/>
              <a:t>급격한 지구 온난화로 인해 빙하가 녹고 바닷물이 차가워진다면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해류의 흐름이 바뀌게 되어서 지구 전체가 빙하로 뒤덮이는 거대한 재앙이 올 것이다</a:t>
            </a:r>
            <a:r>
              <a:rPr lang="en-US" altLang="ko-KR" sz="1600" spc="-50" dirty="0"/>
              <a:t>.”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여기서 말하는 해류의 흐름이라는 것은 </a:t>
            </a:r>
            <a:r>
              <a:rPr lang="ko-KR" altLang="en-US" sz="1600" b="1" spc="-50" dirty="0"/>
              <a:t>대서양 자오선 역전 순환</a:t>
            </a:r>
            <a:r>
              <a:rPr lang="ko-KR" altLang="en-US" sz="1600" spc="-50" dirty="0"/>
              <a:t> </a:t>
            </a:r>
            <a:r>
              <a:rPr lang="en-US" altLang="ko-KR" sz="1600" b="1" spc="-50" dirty="0"/>
              <a:t>(AMOC</a:t>
            </a:r>
            <a:r>
              <a:rPr lang="en-US" altLang="ko-KR" sz="1600" spc="-50" dirty="0"/>
              <a:t>; Atlantic Meridional Overturning Circulation) </a:t>
            </a:r>
            <a:r>
              <a:rPr lang="ko-KR" altLang="en-US" sz="1600" spc="-50" dirty="0"/>
              <a:t>인데 </a:t>
            </a:r>
            <a:r>
              <a:rPr lang="en-US" altLang="ko-KR" sz="1600" spc="-50" dirty="0"/>
              <a:t>AOMC</a:t>
            </a:r>
            <a:r>
              <a:rPr lang="ko-KR" altLang="en-US" sz="1600" spc="-50" dirty="0"/>
              <a:t>는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지구의 열 순환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즉 기후를 안정적으로 유지하는데 굉장히 중요한 역할을 한다</a:t>
            </a:r>
            <a:r>
              <a:rPr lang="en-US" altLang="ko-KR" sz="1600" spc="-50" dirty="0"/>
              <a:t>.</a:t>
            </a:r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3C3313A7-76CE-22DD-DDDB-722C2B009CC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063112" y="3368486"/>
            <a:ext cx="4776597" cy="277520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5A8F5CF7-824D-440B-FD0C-E55F441AD485}"/>
              </a:ext>
            </a:extLst>
          </p:cNvPr>
          <p:cNvSpPr txBox="1">
            <a:spLocks/>
          </p:cNvSpPr>
          <p:nvPr/>
        </p:nvSpPr>
        <p:spPr>
          <a:xfrm>
            <a:off x="288791" y="2864736"/>
            <a:ext cx="6721610" cy="263001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컨베이어벨트처럼 남반구와 열대 지방의 따뜻한 </a:t>
            </a:r>
            <a:r>
              <a:rPr lang="ko-KR" altLang="en-US" sz="1600" spc="-50" dirty="0" err="1"/>
              <a:t>표면수를</a:t>
            </a:r>
            <a:r>
              <a:rPr lang="ko-KR" altLang="en-US" sz="1600" spc="-50" dirty="0"/>
              <a:t> 차가운 북대서양 지역으로 이동시킨다</a:t>
            </a:r>
            <a:r>
              <a:rPr lang="en-US" altLang="ko-KR" sz="1600" spc="-50" dirty="0"/>
              <a:t>. </a:t>
            </a:r>
          </a:p>
          <a:p>
            <a:pPr marL="835025" lvl="1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북반구의 차갑고 염분이 많은 물은 심층수로 가라앉아 다시 남쪽으로 흘러 내려온다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en-US" sz="1600" spc="-50" dirty="0"/>
              <a:t>이런 과정을 통해</a:t>
            </a:r>
            <a:r>
              <a:rPr lang="en-US" altLang="ko-KR" sz="1600" spc="-50" dirty="0"/>
              <a:t>,</a:t>
            </a:r>
            <a:r>
              <a:rPr lang="ko-KR" altLang="en-US" sz="1600" spc="-50" dirty="0"/>
              <a:t> </a:t>
            </a:r>
            <a:r>
              <a:rPr lang="en-US" altLang="ko-KR" sz="1600" spc="-50" dirty="0"/>
              <a:t>AOMC</a:t>
            </a:r>
            <a:r>
              <a:rPr lang="ko-KR" altLang="en-US" sz="1600" spc="-50" dirty="0"/>
              <a:t>라는 거대한 순환류는 뜨거운 남반구를 식혀주고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얼어붙을 북반구를 데워주는 중요한 역할을 하게 된다</a:t>
            </a:r>
            <a:r>
              <a:rPr lang="en-US" altLang="ko-KR" sz="1600" spc="-50" dirty="0"/>
              <a:t>.</a:t>
            </a:r>
          </a:p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ko-KR" sz="1600" spc="-5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A874F4D-FB5D-0C8F-76CD-6B6A73FC7E12}"/>
              </a:ext>
            </a:extLst>
          </p:cNvPr>
          <p:cNvSpPr txBox="1"/>
          <p:nvPr/>
        </p:nvSpPr>
        <p:spPr>
          <a:xfrm>
            <a:off x="8084233" y="3010630"/>
            <a:ext cx="244406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ko-KR" sz="1400" spc="-50" dirty="0"/>
              <a:t>&lt;</a:t>
            </a:r>
            <a:r>
              <a:rPr lang="ko-KR" altLang="en-US" sz="1400" spc="-50" dirty="0"/>
              <a:t>대서양 자오선 역전 순환</a:t>
            </a:r>
            <a:r>
              <a:rPr lang="en-US" altLang="ko-KR" sz="1400" spc="-50" dirty="0"/>
              <a:t>&gt;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140734672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99290F-B354-D216-CCED-E5D9B93CE6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9BB4485-D87C-0E11-35D0-16414050A0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지구온난화 기후변화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7C6E824-E1C2-6309-99BF-AFDF36F2BD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23</a:t>
            </a:fld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6AA0F32-6467-6C10-345A-07347B523A60}"/>
              </a:ext>
            </a:extLst>
          </p:cNvPr>
          <p:cNvSpPr txBox="1">
            <a:spLocks/>
          </p:cNvSpPr>
          <p:nvPr/>
        </p:nvSpPr>
        <p:spPr>
          <a:xfrm>
            <a:off x="288790" y="958844"/>
            <a:ext cx="11066083" cy="447667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77825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&lt;</a:t>
            </a:r>
            <a:r>
              <a:rPr lang="ko-KR" altLang="en-US" sz="1600" spc="-50" dirty="0" err="1"/>
              <a:t>투모로우</a:t>
            </a:r>
            <a:r>
              <a:rPr lang="en-US" altLang="ko-KR" sz="1600" spc="-50" dirty="0"/>
              <a:t>&gt;</a:t>
            </a:r>
            <a:r>
              <a:rPr lang="ko-KR" altLang="en-US" sz="1600" spc="-50" dirty="0"/>
              <a:t>에서는 무슨 일이 발생 </a:t>
            </a:r>
            <a:r>
              <a:rPr lang="ko-KR" altLang="en-US" sz="1600" spc="-50" dirty="0" err="1"/>
              <a:t>한걸까</a:t>
            </a:r>
            <a:r>
              <a:rPr lang="en-US" altLang="ko-KR" sz="1600" spc="-50" dirty="0"/>
              <a:t>?</a:t>
            </a:r>
          </a:p>
          <a:p>
            <a:pPr marL="892175" lvl="1" indent="-3429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600" spc="-50" dirty="0"/>
              <a:t>지구 온난화가 발생하면서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극지방의 빙하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민물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가 해수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소금물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로 유입이 된다</a:t>
            </a:r>
            <a:r>
              <a:rPr lang="en-US" altLang="ko-KR" sz="1600" spc="-50" dirty="0"/>
              <a:t>.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빙하는 하늘에서 내리는 눈이 쌓이고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쌓여 우리가 보는 빙하가 된 것인데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따라서 염분기가 없는 민물이다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+mj-lt"/>
              <a:buAutoNum type="arabicPeriod"/>
            </a:pPr>
            <a:r>
              <a:rPr lang="ko-KR" altLang="en-US" sz="1600" spc="-50" dirty="0"/>
              <a:t>전 슬라이드에서 봤던 </a:t>
            </a:r>
            <a:r>
              <a:rPr lang="en-US" altLang="ko-KR" sz="1600" spc="-50" dirty="0"/>
              <a:t>AMOC</a:t>
            </a:r>
            <a:r>
              <a:rPr lang="ko-KR" altLang="en-US" sz="1600" spc="-50" dirty="0"/>
              <a:t>가 제대로</a:t>
            </a:r>
            <a:r>
              <a:rPr lang="en-US" altLang="ko-KR" sz="1600" spc="-50" dirty="0"/>
              <a:t> </a:t>
            </a:r>
            <a:r>
              <a:rPr lang="ko-KR" altLang="en-US" sz="1600" spc="-50" dirty="0"/>
              <a:t>작동하려면 열대지방의 해수와 극지방의 </a:t>
            </a:r>
            <a:r>
              <a:rPr lang="ko-KR" altLang="en-US" sz="1600" spc="-50" dirty="0" err="1"/>
              <a:t>해수간에</a:t>
            </a:r>
            <a:r>
              <a:rPr lang="ko-KR" altLang="en-US" sz="1600" spc="-50" dirty="0"/>
              <a:t> 염분차이가 있어야 하는데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극지방에 염분이 낮아져서 해류가 점차 약해진다</a:t>
            </a:r>
            <a:r>
              <a:rPr lang="en-US" altLang="ko-KR" sz="1600" spc="-50" dirty="0"/>
              <a:t>.</a:t>
            </a:r>
          </a:p>
          <a:p>
            <a:pPr marL="1349375" lvl="2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염분이 많은 차가운 물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극지방 해수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과 염분이 낮고 따뜻한 물이 만나면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염분이 많고 차가운 물이 밑으로 가라 앉으면서 바닷물의 흐름</a:t>
            </a:r>
            <a:r>
              <a:rPr lang="en-US" altLang="ko-KR" sz="1600" spc="-50" dirty="0"/>
              <a:t>(</a:t>
            </a:r>
            <a:r>
              <a:rPr lang="ko-KR" altLang="en-US" sz="1600" spc="-50" dirty="0"/>
              <a:t>해류</a:t>
            </a:r>
            <a:r>
              <a:rPr lang="en-US" altLang="ko-KR" sz="1600" spc="-50" dirty="0"/>
              <a:t>)</a:t>
            </a:r>
            <a:r>
              <a:rPr lang="ko-KR" altLang="en-US" sz="1600" spc="-50" dirty="0"/>
              <a:t>가 발생하는 것이다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1600" spc="-50" dirty="0"/>
              <a:t>AMOC</a:t>
            </a:r>
            <a:r>
              <a:rPr lang="ko-KR" altLang="en-US" sz="1600" spc="-50" dirty="0"/>
              <a:t>가 약해지면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바다물을 통해 열전달이 안되면서</a:t>
            </a:r>
            <a:r>
              <a:rPr lang="en-US" altLang="ko-KR" sz="1600" spc="-50" dirty="0"/>
              <a:t>, </a:t>
            </a:r>
            <a:r>
              <a:rPr lang="ko-KR" altLang="en-US" sz="1600" spc="-50" dirty="0"/>
              <a:t>기후 불균형이 생긴다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+mj-lt"/>
              <a:buAutoNum type="arabicPeriod"/>
            </a:pPr>
            <a:endParaRPr lang="en-US" altLang="ko-KR" sz="1600" spc="-50" dirty="0"/>
          </a:p>
          <a:p>
            <a:pPr marL="434975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1600" spc="-50" dirty="0"/>
              <a:t>&lt;</a:t>
            </a:r>
            <a:r>
              <a:rPr lang="ko-KR" altLang="en-US" sz="1600" spc="-50" dirty="0" err="1"/>
              <a:t>투모로우</a:t>
            </a:r>
            <a:r>
              <a:rPr lang="en-US" altLang="ko-KR" sz="1600" spc="-50" dirty="0"/>
              <a:t>&gt;</a:t>
            </a:r>
            <a:r>
              <a:rPr lang="ko-KR" altLang="en-US" sz="1600" spc="-50" dirty="0"/>
              <a:t>에서 발생한 일이 현실에서도 생길 수 있을까</a:t>
            </a:r>
            <a:r>
              <a:rPr lang="en-US" altLang="ko-KR" sz="1600" spc="-50" dirty="0"/>
              <a:t>?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 err="1"/>
              <a:t>투모로우의</a:t>
            </a:r>
            <a:r>
              <a:rPr lang="ko-KR" altLang="en-US" sz="1600" spc="-50" dirty="0"/>
              <a:t> 이야기가 </a:t>
            </a:r>
            <a:r>
              <a:rPr lang="en-US" altLang="ko-KR" sz="1600" spc="-50" dirty="0"/>
              <a:t>2023</a:t>
            </a:r>
            <a:r>
              <a:rPr lang="ko-KR" altLang="en-US" sz="1600" spc="-50" dirty="0"/>
              <a:t>년에 실제로 논문으로 발표 되었다</a:t>
            </a:r>
            <a:r>
              <a:rPr lang="en-US" altLang="ko-KR" sz="1600" spc="-50" dirty="0"/>
              <a:t>.</a:t>
            </a:r>
          </a:p>
          <a:p>
            <a:pPr marL="892175" lvl="1" indent="-3429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sz="1600" spc="-50" dirty="0"/>
              <a:t>관련뉴스</a:t>
            </a:r>
            <a:r>
              <a:rPr lang="en-US" altLang="ko-KR" sz="1600" spc="-50" dirty="0"/>
              <a:t>: </a:t>
            </a:r>
            <a:r>
              <a:rPr lang="en-US" altLang="ko-KR" sz="1600" spc="-50" dirty="0">
                <a:hlinkClick r:id="rId2"/>
              </a:rPr>
              <a:t>AMOC </a:t>
            </a:r>
            <a:r>
              <a:rPr lang="ko-KR" altLang="en-US" sz="1600" spc="-50" dirty="0">
                <a:hlinkClick r:id="rId2"/>
              </a:rPr>
              <a:t>붕괴 현실화</a:t>
            </a:r>
            <a:endParaRPr lang="en-US" altLang="ko-KR" sz="1600" spc="-50" dirty="0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14EBCD86-0EAA-A99C-4C13-2862AD748AF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48550" y="4059326"/>
            <a:ext cx="4146550" cy="2016063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138D6AC9-7BF1-31AB-AC1F-277AE032BB0F}"/>
              </a:ext>
            </a:extLst>
          </p:cNvPr>
          <p:cNvSpPr txBox="1"/>
          <p:nvPr/>
        </p:nvSpPr>
        <p:spPr>
          <a:xfrm>
            <a:off x="7381875" y="6057902"/>
            <a:ext cx="4429125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00" b="0" i="0" dirty="0">
                <a:solidFill>
                  <a:srgbClr val="222222"/>
                </a:solidFill>
                <a:effectLst/>
                <a:latin typeface="+mn-ea"/>
              </a:rPr>
              <a:t>Ditlevsen, P., &amp; Ditlevsen, S. (2023). Warning of a forthcoming collapse of the Atlantic meridional overturning circulation. </a:t>
            </a:r>
            <a:r>
              <a:rPr lang="en-US" altLang="ko-KR" sz="1000" b="0" i="1" dirty="0">
                <a:solidFill>
                  <a:srgbClr val="222222"/>
                </a:solidFill>
                <a:effectLst/>
                <a:latin typeface="+mn-ea"/>
              </a:rPr>
              <a:t>Nature Communications</a:t>
            </a:r>
            <a:r>
              <a:rPr lang="en-US" altLang="ko-KR" sz="1000" b="0" i="0" dirty="0">
                <a:solidFill>
                  <a:srgbClr val="222222"/>
                </a:solidFill>
                <a:effectLst/>
                <a:latin typeface="+mn-ea"/>
              </a:rPr>
              <a:t>, </a:t>
            </a:r>
            <a:r>
              <a:rPr lang="en-US" altLang="ko-KR" sz="1000" b="0" i="1" dirty="0">
                <a:solidFill>
                  <a:srgbClr val="222222"/>
                </a:solidFill>
                <a:effectLst/>
                <a:latin typeface="+mn-ea"/>
              </a:rPr>
              <a:t>14</a:t>
            </a:r>
            <a:r>
              <a:rPr lang="en-US" altLang="ko-KR" sz="1000" b="0" i="0" dirty="0">
                <a:solidFill>
                  <a:srgbClr val="222222"/>
                </a:solidFill>
                <a:effectLst/>
                <a:latin typeface="+mn-ea"/>
              </a:rPr>
              <a:t>(1), 1-12.</a:t>
            </a:r>
            <a:endParaRPr lang="ko-KR" altLang="en-US" sz="1000" dirty="0"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374854375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C8B0EB-74B1-B51C-A4E6-7DD41C0B04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 descr="텍스트, 로고, 원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C524993C-D1C3-8436-D8C1-21698BE6D1B3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2070" y="1673061"/>
            <a:ext cx="4167861" cy="4167861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051A9577-CCBA-F474-5E82-99100C452E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9"/>
            <a:ext cx="10515600" cy="2134292"/>
          </a:xfrm>
          <a:effectLst>
            <a:reflection blurRad="50800" stA="45000" endPos="44000" dir="5400000" sy="-100000" algn="bl" rotWithShape="0"/>
          </a:effectLst>
        </p:spPr>
        <p:txBody>
          <a:bodyPr/>
          <a:lstStyle/>
          <a:p>
            <a:r>
              <a:rPr lang="en-US" altLang="ko-KR" b="1" i="0" spc="150">
                <a:solidFill>
                  <a:schemeClr val="accent2"/>
                </a:solidFill>
              </a:rPr>
              <a:t>T</a:t>
            </a:r>
            <a:r>
              <a:rPr lang="en-US" altLang="ko-KR" sz="5400" i="0" spc="100"/>
              <a:t>hank you</a:t>
            </a:r>
            <a:endParaRPr lang="ko-KR" altLang="en-US" sz="5400" i="0" spc="10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F4898E0-926C-D8DA-8874-21A66F64BB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09C872D-39A9-4065-8BF3-6A613116E2A1}" type="slidenum">
              <a:rPr lang="ko-KR" altLang="en-US" smtClean="0"/>
              <a:t>24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3040487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사용자 지정 6">
      <a:dk1>
        <a:srgbClr val="262626"/>
      </a:dk1>
      <a:lt1>
        <a:sysClr val="window" lastClr="FFFFFF"/>
      </a:lt1>
      <a:dk2>
        <a:srgbClr val="262626"/>
      </a:dk2>
      <a:lt2>
        <a:srgbClr val="EFEFEF"/>
      </a:lt2>
      <a:accent1>
        <a:srgbClr val="2D72BE"/>
      </a:accent1>
      <a:accent2>
        <a:srgbClr val="E15F5F"/>
      </a:accent2>
      <a:accent3>
        <a:srgbClr val="DA9D6D"/>
      </a:accent3>
      <a:accent4>
        <a:srgbClr val="009AB7"/>
      </a:accent4>
      <a:accent5>
        <a:srgbClr val="FF6600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8719</TotalTime>
  <Words>2150</Words>
  <Application>Microsoft Office PowerPoint</Application>
  <PresentationFormat>와이드스크린</PresentationFormat>
  <Paragraphs>238</Paragraphs>
  <Slides>24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24</vt:i4>
      </vt:variant>
    </vt:vector>
  </HeadingPairs>
  <TitlesOfParts>
    <vt:vector size="30" baseType="lpstr">
      <vt:lpstr>HY헤드라인M</vt:lpstr>
      <vt:lpstr>KoPub돋움체 Light</vt:lpstr>
      <vt:lpstr>맑은 고딕</vt:lpstr>
      <vt:lpstr>Arial</vt:lpstr>
      <vt:lpstr>Wingdings</vt:lpstr>
      <vt:lpstr>Office 테마</vt:lpstr>
      <vt:lpstr>생 활 속 의   경 제</vt:lpstr>
      <vt:lpstr>Section 1. 개 요</vt:lpstr>
      <vt:lpstr>에너지경제</vt:lpstr>
      <vt:lpstr>에너지경제</vt:lpstr>
      <vt:lpstr>생활 속의 에너지</vt:lpstr>
      <vt:lpstr>수업 개요</vt:lpstr>
      <vt:lpstr>Section 2. 에너지 종류</vt:lpstr>
      <vt:lpstr>에너지의 종류</vt:lpstr>
      <vt:lpstr>국가 에너지 시스템</vt:lpstr>
      <vt:lpstr>Section 3. 석유제품의 공급과 수요</vt:lpstr>
      <vt:lpstr>석유제품의 공급과 수요</vt:lpstr>
      <vt:lpstr>석유제품의 공급과 수요</vt:lpstr>
      <vt:lpstr>Section 4. 에너지 소비와 기후변화</vt:lpstr>
      <vt:lpstr>에너지와 환경</vt:lpstr>
      <vt:lpstr>에너지와 환경</vt:lpstr>
      <vt:lpstr>기상과 기후</vt:lpstr>
      <vt:lpstr>온실가스와 지구온난화</vt:lpstr>
      <vt:lpstr>온실가스와 지구온난화</vt:lpstr>
      <vt:lpstr>지구온난화와 기후변화</vt:lpstr>
      <vt:lpstr>지구온난화와 기후변화</vt:lpstr>
      <vt:lpstr>지구온난화 기후변화</vt:lpstr>
      <vt:lpstr>지구온난화 기후변화</vt:lpstr>
      <vt:lpstr>지구온난화 기후변화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Minyoung Roh</dc:creator>
  <cp:lastModifiedBy>Seungho Jeon</cp:lastModifiedBy>
  <cp:revision>365</cp:revision>
  <dcterms:created xsi:type="dcterms:W3CDTF">2025-07-05T05:15:23Z</dcterms:created>
  <dcterms:modified xsi:type="dcterms:W3CDTF">2026-03-30T00:52:13Z</dcterms:modified>
</cp:coreProperties>
</file>