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0"/>
  </p:notesMasterIdLst>
  <p:sldIdLst>
    <p:sldId id="630" r:id="rId2"/>
    <p:sldId id="566" r:id="rId3"/>
    <p:sldId id="552" r:id="rId4"/>
    <p:sldId id="572" r:id="rId5"/>
    <p:sldId id="577" r:id="rId6"/>
    <p:sldId id="575" r:id="rId7"/>
    <p:sldId id="578" r:id="rId8"/>
    <p:sldId id="584" r:id="rId9"/>
    <p:sldId id="586" r:id="rId10"/>
    <p:sldId id="585" r:id="rId11"/>
    <p:sldId id="590" r:id="rId12"/>
    <p:sldId id="593" r:id="rId13"/>
    <p:sldId id="631" r:id="rId14"/>
    <p:sldId id="591" r:id="rId15"/>
    <p:sldId id="587" r:id="rId16"/>
    <p:sldId id="592" r:id="rId17"/>
    <p:sldId id="594" r:id="rId18"/>
    <p:sldId id="596" r:id="rId19"/>
    <p:sldId id="595" r:id="rId20"/>
    <p:sldId id="567" r:id="rId21"/>
    <p:sldId id="598" r:id="rId22"/>
    <p:sldId id="599" r:id="rId23"/>
    <p:sldId id="601" r:id="rId24"/>
    <p:sldId id="632" r:id="rId25"/>
    <p:sldId id="600" r:id="rId26"/>
    <p:sldId id="633" r:id="rId27"/>
    <p:sldId id="605" r:id="rId28"/>
    <p:sldId id="364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EFEF"/>
    <a:srgbClr val="92714D"/>
    <a:srgbClr val="3B8380"/>
    <a:srgbClr val="A5D0CD"/>
    <a:srgbClr val="A67539"/>
    <a:srgbClr val="D77600"/>
    <a:srgbClr val="E7E8E8"/>
    <a:srgbClr val="E15F5F"/>
    <a:srgbClr val="F8F7FC"/>
    <a:srgbClr val="2D72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34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64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ihoo.or.kr/gallery.es?mid=a30902000000&amp;bid=0018&amp;list_no=1120&amp;act=view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0F1D2-9E8E-C3E9-B686-412B97AD2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18470C-BB3F-51E5-FE87-18CD909CC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생 활 속 의   경 제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8B6D3E-D88D-51E5-3FC3-0798C87A6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ko-KR" altLang="en-US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에너지 </a:t>
            </a:r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&amp; </a:t>
            </a:r>
            <a:r>
              <a:rPr lang="ko-KR" altLang="en-US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기후 </a:t>
            </a:r>
            <a:r>
              <a:rPr lang="ko-KR" altLang="en-US" sz="2800" dirty="0" err="1">
                <a:latin typeface="HY헤드라인M" panose="02030600000101010101" pitchFamily="18" charset="-127"/>
                <a:ea typeface="HY헤드라인M" panose="02030600000101010101" pitchFamily="18" charset="-127"/>
              </a:rPr>
              <a:t>실천편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80C04-2808-9F11-3E5E-133BFF5DD02B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AB744E-4318-74B2-DFD4-1094D5F0D2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076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11382-91C3-A2DB-CA95-392E1CD5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17A66A-1352-1DB9-9354-7D5F3A020D2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669E84-78E9-515C-4CFD-7B1837029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3CCD5F5-4F66-8DC3-C0ED-816134872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ko-KR" altLang="en-US" sz="4000" b="1" i="0" spc="150" dirty="0"/>
              <a:t>부산 놀러가기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0831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부산 놀러가기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경제학과 다니는 </a:t>
            </a:r>
            <a:r>
              <a:rPr lang="ko-KR" altLang="en-US" sz="1600" spc="-50" dirty="0" err="1"/>
              <a:t>전승허와</a:t>
            </a:r>
            <a:r>
              <a:rPr lang="ko-KR" altLang="en-US" sz="1600" spc="-50" dirty="0"/>
              <a:t> 유진용은 여름방학을 맞이하여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부산에 같이 놀러가기로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둘은 일단 대전역에서 만나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부산역으로 일단 가기로 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뭘 타고 가야 기후변화 대응에 기여할 수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부산역까지 갈 수 있는 교통수단으로 아래의 두 가지 방법이 떠올랐다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승용차 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기차 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가지 선택지 중에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한 가지를 선택해야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평가 기준은 아래와 같이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정도로 생각하고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친환경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탄소를 가능한 적게 배출 하면서 도착하면 좋겠다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저비용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저렴한 비용으로 도착하면 좋겠다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시간절약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시간이 덜 걸렸으면 좋겠다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7CB5F-EDBA-F4B3-586F-86008FDF8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2CE0F4-64A0-CAB4-7EA1-86F7F1627D9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B0F506-1BC8-6D9F-8EF7-4B85A1A43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DAD9D70-6C9D-0B65-C668-12DA02770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1-1. </a:t>
            </a:r>
            <a:r>
              <a:rPr lang="ko-KR" altLang="en-US" sz="4000" b="1" i="0" spc="150" dirty="0"/>
              <a:t>자가용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비용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1347857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F7B4F-F6FD-3197-5BC5-FEFC82BFF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8D6610-6E9F-47ED-DEE9-75808B6A9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승용차를 이용할 때 드는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6EC9CF-B32B-B1FF-F413-6A1EB6E4C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382E7C-D291-40A7-CD98-8FAE18EF3A74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첫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승용차가 있어야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차량 보유 비용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자가용을 보유하고 있던지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렌터카를 빌리던지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택시를 타던지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부산역까지 갈 때 타고 갈 차가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우리는 자가용을 보유하고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자가용을 타고 간다고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렌터카나 택시를 이용하면 부산역에 가기 위해 추가적으로 비용을 지출해야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이미 보유하고 있는 자가용을 이용하는 경우 차량 이용에 대한 비용을 추가적으로 지출하지 않아도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이미 비용을 지출해서 회수할 수 없는 비용을 </a:t>
            </a:r>
            <a:r>
              <a:rPr lang="ko-KR" altLang="en-US" sz="1600" b="1" spc="-50" dirty="0"/>
              <a:t>매몰비용</a:t>
            </a:r>
            <a:r>
              <a:rPr lang="ko-KR" altLang="en-US" sz="1600" spc="-50" dirty="0"/>
              <a:t>이라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매몰비용은 현재 의사결정 과정에 영향을 미치지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우리는 교통수단을 선택하는 과정에서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차량 보유 비용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은 포함하지 않는 것이 바람직하다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연료를 넣어야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연료 비용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부산역까지 소비하는 연료양을 계산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종류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연비</a:t>
            </a:r>
            <a:r>
              <a:rPr lang="en-US" altLang="ko-KR" sz="1600" spc="-50" dirty="0"/>
              <a:t>(km/liter, km/kWh)</a:t>
            </a:r>
            <a:r>
              <a:rPr lang="ko-KR" altLang="en-US" sz="1600" spc="-50" dirty="0"/>
              <a:t>에 따라 달라진다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사용료를 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통행료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국도를 이용하면 통행료는 무료지만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시간이 너무 오래 걸린다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빠르게 도착할 수 있는 고속도로를 이용하자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고속도로이용시 거리는 </a:t>
            </a:r>
            <a:r>
              <a:rPr lang="en-US" altLang="ko-KR" sz="1600" spc="-50" dirty="0"/>
              <a:t>258km, </a:t>
            </a:r>
            <a:r>
              <a:rPr lang="ko-KR" altLang="en-US" sz="1600" spc="-50" dirty="0"/>
              <a:t>통행료는 </a:t>
            </a:r>
            <a:r>
              <a:rPr lang="en-US" altLang="ko-KR" sz="1600" spc="-50" dirty="0"/>
              <a:t>14,900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국도이용시 거리는 </a:t>
            </a:r>
            <a:r>
              <a:rPr lang="en-US" altLang="ko-KR" sz="1600" spc="-50" dirty="0"/>
              <a:t>270km,</a:t>
            </a:r>
            <a:r>
              <a:rPr lang="ko-KR" altLang="en-US" sz="1600" spc="-50" dirty="0"/>
              <a:t> 통행료는</a:t>
            </a:r>
            <a:r>
              <a:rPr lang="en-US" altLang="ko-KR" sz="1600" spc="-50" dirty="0"/>
              <a:t> 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61295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74840-8B48-E7DB-7C16-FB30282D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58E6AC3-76E3-DEFF-F4E4-7EF5A5BD7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098" y="2643920"/>
            <a:ext cx="6584361" cy="389298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8454F2F-EA8D-42D9-290D-D2305CE4B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정보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DDE70E-0904-C8AF-33B7-BB1C5F125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D8B6D1-8974-ECEB-339F-70DB42491F6A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자가용으로 </a:t>
            </a:r>
            <a:r>
              <a:rPr lang="en-US" altLang="ko-KR" sz="1600" spc="-50" dirty="0"/>
              <a:t>‘2026 </a:t>
            </a:r>
            <a:r>
              <a:rPr lang="ko-KR" altLang="en-US" sz="1600" spc="-50" dirty="0"/>
              <a:t>아반떼 가솔린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차량을 보유하고 있다고 하자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사진과 같이 연비는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리터당 </a:t>
            </a:r>
            <a:r>
              <a:rPr lang="en-US" altLang="ko-KR" sz="1600" spc="-50" dirty="0"/>
              <a:t>15km</a:t>
            </a:r>
            <a:r>
              <a:rPr lang="ko-KR" altLang="en-US" sz="1600" spc="-50" dirty="0"/>
              <a:t>를 주행할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차가 밀리면 시간은 좀 늘어날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금요일 오후 </a:t>
            </a:r>
            <a:r>
              <a:rPr lang="en-US" altLang="ko-KR" sz="1600" spc="-50" dirty="0"/>
              <a:t>15:00</a:t>
            </a:r>
            <a:r>
              <a:rPr lang="ko-KR" altLang="en-US" sz="1600" spc="-50" dirty="0"/>
              <a:t>에 출발해보자 </a:t>
            </a:r>
            <a:r>
              <a:rPr lang="en-US" altLang="ko-KR" sz="1600" spc="-50" dirty="0"/>
              <a:t>(3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분 소요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D7A5868-EE07-A5FA-E0F2-99B1F2D3DEB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1563" y="4007805"/>
            <a:ext cx="3926046" cy="22127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D240B9-35BF-217E-55E3-56E078866F30}"/>
              </a:ext>
            </a:extLst>
          </p:cNvPr>
          <p:cNvSpPr txBox="1"/>
          <p:nvPr/>
        </p:nvSpPr>
        <p:spPr>
          <a:xfrm>
            <a:off x="8481147" y="2389310"/>
            <a:ext cx="21758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&lt;4</a:t>
            </a:r>
            <a:r>
              <a:rPr lang="ko-KR" altLang="en-US" sz="1200" spc="-50" dirty="0"/>
              <a:t>월 </a:t>
            </a:r>
            <a:r>
              <a:rPr lang="en-US" altLang="ko-KR" sz="1200" spc="-50" dirty="0"/>
              <a:t>17</a:t>
            </a:r>
            <a:r>
              <a:rPr lang="ko-KR" altLang="en-US" sz="1200" spc="-50" dirty="0"/>
              <a:t>일 금요일 </a:t>
            </a:r>
            <a:r>
              <a:rPr lang="en-US" altLang="ko-KR" sz="1200" spc="-50" dirty="0"/>
              <a:t>15:00 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171784-B985-7E78-DF32-97AE717C6107}"/>
              </a:ext>
            </a:extLst>
          </p:cNvPr>
          <p:cNvSpPr txBox="1"/>
          <p:nvPr/>
        </p:nvSpPr>
        <p:spPr>
          <a:xfrm>
            <a:off x="2204217" y="6220544"/>
            <a:ext cx="217589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spc="-50"/>
              <a:t>현대차 공식홈페이지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3914400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DC504-1771-02FA-3930-F158F1346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CE67B7-1176-760C-9756-509C04793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연료비용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F97747-3120-A353-071B-B9C164949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B3B1D-AACA-12BE-FB82-226042686C64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연료비용은 아래의 식과 같이 휘발유가격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차량 연비의 역수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주행거리의 곱을 통해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A5B633-BC92-17DA-BDBB-71AE6499BC63}"/>
                  </a:ext>
                </a:extLst>
              </p:cNvPr>
              <p:cNvSpPr txBox="1"/>
              <p:nvPr/>
            </p:nvSpPr>
            <p:spPr>
              <a:xfrm>
                <a:off x="1560142" y="1561159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연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A5B633-BC92-17DA-BDBB-71AE6499B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142" y="1561159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58869C7-B8CE-264A-55D4-329382E03B8E}"/>
              </a:ext>
            </a:extLst>
          </p:cNvPr>
          <p:cNvSpPr txBox="1"/>
          <p:nvPr/>
        </p:nvSpPr>
        <p:spPr>
          <a:xfrm>
            <a:off x="288789" y="2077370"/>
            <a:ext cx="738700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휘발유 가격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근처에서 가장 저렴한 주유소에서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리터당 </a:t>
            </a:r>
            <a:r>
              <a:rPr lang="en-US" altLang="ko-KR" sz="1600" spc="-50" dirty="0"/>
              <a:t>1,980</a:t>
            </a:r>
            <a:r>
              <a:rPr lang="ko-KR" altLang="en-US" sz="1600" spc="-50" dirty="0"/>
              <a:t>원에 팔고 있으니 거기서 주유하려고 한다</a:t>
            </a:r>
            <a:r>
              <a:rPr lang="en-US" altLang="ko-KR" sz="1600" spc="-50" dirty="0"/>
              <a:t>. (4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17</a:t>
            </a:r>
            <a:r>
              <a:rPr lang="ko-KR" altLang="en-US" sz="1600" spc="-50" dirty="0"/>
              <a:t>일 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연비는 </a:t>
            </a:r>
            <a:r>
              <a:rPr lang="en-US" altLang="ko-KR" sz="1600" spc="-50" dirty="0"/>
              <a:t>15.0 km/liter</a:t>
            </a:r>
            <a:r>
              <a:rPr lang="ko-KR" altLang="en-US" sz="1600" spc="-50" dirty="0"/>
              <a:t> 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 슬라이드 아반떼 정보 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주행거리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부산역까지는 총 </a:t>
            </a:r>
            <a:r>
              <a:rPr lang="en-US" altLang="ko-KR" sz="1600" spc="-50" dirty="0"/>
              <a:t>258km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연료비로 </a:t>
            </a:r>
            <a:r>
              <a:rPr lang="en-US" altLang="ko-KR" sz="1600" spc="-50" dirty="0"/>
              <a:t>34,056</a:t>
            </a:r>
            <a:r>
              <a:rPr lang="ko-KR" altLang="en-US" sz="1600" spc="-50" dirty="0"/>
              <a:t>원이 소요된다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CEAF10-79E3-3F08-19A1-0F87361A144B}"/>
              </a:ext>
            </a:extLst>
          </p:cNvPr>
          <p:cNvSpPr txBox="1"/>
          <p:nvPr/>
        </p:nvSpPr>
        <p:spPr>
          <a:xfrm>
            <a:off x="8223569" y="2624628"/>
            <a:ext cx="21758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&lt;4</a:t>
            </a:r>
            <a:r>
              <a:rPr lang="ko-KR" altLang="en-US" sz="1200" spc="-50" dirty="0"/>
              <a:t>월 </a:t>
            </a:r>
            <a:r>
              <a:rPr lang="en-US" altLang="ko-KR" sz="1200" spc="-50" dirty="0"/>
              <a:t>17</a:t>
            </a:r>
            <a:r>
              <a:rPr lang="ko-KR" altLang="en-US" sz="1200" spc="-50" dirty="0"/>
              <a:t>일 금요일 </a:t>
            </a:r>
            <a:r>
              <a:rPr lang="en-US" altLang="ko-KR" sz="1200" spc="-50" dirty="0"/>
              <a:t>15:00 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6FFC94-2CD8-F8C9-A5CC-E7902E9C1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633" y="2903978"/>
            <a:ext cx="4871051" cy="359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0237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9E902-8B18-AA69-BF5C-36E50A52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805ABF-96C2-B371-47A2-EC346C87C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통행료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A274F3-3B66-A2E6-4D0B-FA65EB9C6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F04DCB-9FF3-BAB4-FA1D-976DEF4E4F61}"/>
              </a:ext>
            </a:extLst>
          </p:cNvPr>
          <p:cNvSpPr txBox="1"/>
          <p:nvPr/>
        </p:nvSpPr>
        <p:spPr>
          <a:xfrm>
            <a:off x="288790" y="947070"/>
            <a:ext cx="1072694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경부고속도로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중앙고속도로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부산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대구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중앙고속도로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삼락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대동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총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종류의 고속도로를 이용할 예정이며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통행료로 총 </a:t>
            </a:r>
            <a:r>
              <a:rPr lang="en-US" altLang="ko-KR" sz="1600" spc="-50" dirty="0"/>
              <a:t>14,900</a:t>
            </a:r>
            <a:r>
              <a:rPr lang="ko-KR" altLang="en-US" sz="1600" spc="-50" dirty="0"/>
              <a:t>원이 소요된다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6B992AA-BB00-7166-4C82-12982E146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2046" y="1754062"/>
            <a:ext cx="8089414" cy="4782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1858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507D3-EAFC-B90C-E9E8-67A7B2E3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1CAC47-6F3D-F192-35E9-F70DDAF75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부산역까지 드는 총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050459-53F8-D28A-583F-533EA6041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A4802E-C20A-63D0-CD7C-C97E579C7C16}"/>
              </a:ext>
            </a:extLst>
          </p:cNvPr>
          <p:cNvSpPr txBox="1"/>
          <p:nvPr/>
        </p:nvSpPr>
        <p:spPr>
          <a:xfrm>
            <a:off x="288790" y="958844"/>
            <a:ext cx="115018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부산역까지 자가용을 타고 가는데 드는 비용을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가지로 나누어 계산해보았고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결과는 다음과 같았다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 비용</a:t>
            </a:r>
            <a:r>
              <a:rPr lang="en-US" altLang="ko-KR" sz="1600" spc="-50" dirty="0"/>
              <a:t>: 34,056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통행료</a:t>
            </a:r>
            <a:r>
              <a:rPr lang="en-US" altLang="ko-KR" sz="1600" spc="-50" dirty="0"/>
              <a:t>: 14,900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가지 비용을 모두 합치면 총 </a:t>
            </a:r>
            <a:r>
              <a:rPr lang="en-US" altLang="ko-KR" sz="1600" spc="-50" dirty="0"/>
              <a:t>48,956</a:t>
            </a:r>
            <a:r>
              <a:rPr lang="ko-KR" altLang="en-US" sz="1600" spc="-50" dirty="0"/>
              <a:t> 원이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총비용을 계산해보았고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명이 이용하였으니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비용을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로 나누어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인당으로 계산해보면 아래와 같다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D5CBC0A-FED0-A9AD-44B6-ADA2F8DED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4035211"/>
              </p:ext>
            </p:extLst>
          </p:nvPr>
        </p:nvGraphicFramePr>
        <p:xfrm>
          <a:off x="1428806" y="3836804"/>
          <a:ext cx="6156756" cy="74283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연료 비용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통행료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 비용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34,056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14,900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48,956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인당 비용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17,028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7,450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24,478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00830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6D89C-5E89-47FF-FF37-56AF935B7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A19D3F-3C09-2D77-30A2-72B2CDAABF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C076B2-0E02-B524-72F8-E25DFE0FC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1B2E66B-0C69-642F-2A4E-8AE32C508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1-2. </a:t>
            </a:r>
            <a:r>
              <a:rPr lang="ko-KR" altLang="en-US" sz="4000" b="1" i="0" spc="150" dirty="0"/>
              <a:t>자가용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탄소배출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52955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70BAF-E1B6-E67F-FDC4-4B809009E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F56FB-C5CB-981F-B304-49BC49097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99806-EB55-0461-2C42-DB1F74577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3382F0-FB6F-9A72-36C4-9B33B57980F4}"/>
              </a:ext>
            </a:extLst>
          </p:cNvPr>
          <p:cNvSpPr txBox="1"/>
          <p:nvPr/>
        </p:nvSpPr>
        <p:spPr>
          <a:xfrm>
            <a:off x="288790" y="958844"/>
            <a:ext cx="110459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부산역까지 승용차를 타고 갈 때의 탄소배출량은 휘발유의 소비량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발열량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탄소배출계수를 곱해서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자동차는 어떻게 움직이나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자동차 엑셀을 밟으면 휘발유가 연소되고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연소과정에서 생기는 힘으로 자동차 바퀴를 돌려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자동차가 움직인다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휘발유를 태우는데 왜 힘이 생기나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휘발유는 원래 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가지고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리터가 얼마나 큰 힘을 낼 수 있는지 숫자로 나타낸 것이 발열량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열량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비유하자면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우리도 밥을 먹고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힘으로 살아가고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다이어트를 하게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빵 하나를 먹어도 칼로리를 체크하게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칼로리가 발열량이다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F7D4B97-B884-337A-06F7-2148D1B8FB77}"/>
                  </a:ext>
                </a:extLst>
              </p:cNvPr>
              <p:cNvSpPr txBox="1"/>
              <p:nvPr/>
            </p:nvSpPr>
            <p:spPr>
              <a:xfrm>
                <a:off x="1953842" y="1645164"/>
                <a:ext cx="7844208" cy="4456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탄소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F7D4B97-B884-337A-06F7-2148D1B8F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42" y="1645164"/>
                <a:ext cx="7844208" cy="445635"/>
              </a:xfrm>
              <a:prstGeom prst="rect">
                <a:avLst/>
              </a:prstGeom>
              <a:blipFill>
                <a:blip r:embed="rId2"/>
                <a:stretch>
                  <a:fillRect t="-126027" r="-3810" b="-1945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0689345B-F63E-9058-3C4F-19CF5305BA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224" y="5139331"/>
            <a:ext cx="2780532" cy="1300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878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DEC3-02F5-E329-E684-03D0E1DE1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AE1C8-BE53-EF3E-0B1D-6BAED274B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3AFB0-E192-0A83-A1A9-F3766AF52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A0A3F-E2BD-255B-12DB-E5AF30503E1E}"/>
              </a:ext>
            </a:extLst>
          </p:cNvPr>
          <p:cNvSpPr txBox="1"/>
          <p:nvPr/>
        </p:nvSpPr>
        <p:spPr>
          <a:xfrm>
            <a:off x="288790" y="958844"/>
            <a:ext cx="803728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발열량의 단위가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앞서 슬라이드의 수식에는 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MJ? 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단팥빵에는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kcal?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MJ</a:t>
            </a:r>
            <a:r>
              <a:rPr lang="ko-KR" altLang="en-US" sz="1600" spc="-50" dirty="0"/>
              <a:t>는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M</a:t>
            </a:r>
            <a:r>
              <a:rPr lang="en-US" altLang="ko-KR" sz="1600" spc="-50" dirty="0"/>
              <a:t>ega </a:t>
            </a:r>
            <a:r>
              <a:rPr lang="en-US" altLang="ko-KR" sz="1600" b="1" spc="-50" dirty="0"/>
              <a:t>J</a:t>
            </a:r>
            <a:r>
              <a:rPr lang="en-US" altLang="ko-KR" sz="1600" spc="-50" dirty="0"/>
              <a:t>oule </a:t>
            </a:r>
            <a:r>
              <a:rPr lang="ko-KR" altLang="en-US" sz="1600" spc="-50" dirty="0"/>
              <a:t>의 약자이고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kcal</a:t>
            </a:r>
            <a:r>
              <a:rPr lang="ko-KR" altLang="en-US" sz="1600" spc="-50" dirty="0"/>
              <a:t>는 </a:t>
            </a:r>
            <a:r>
              <a:rPr lang="en-US" altLang="ko-KR" sz="1600" b="1" spc="-50" dirty="0"/>
              <a:t>k</a:t>
            </a:r>
            <a:r>
              <a:rPr lang="en-US" altLang="ko-KR" sz="1600" spc="-50" dirty="0"/>
              <a:t>ilo</a:t>
            </a:r>
            <a:r>
              <a:rPr lang="en-US" altLang="ko-KR" sz="1600" b="1" spc="-50" dirty="0"/>
              <a:t>cal</a:t>
            </a:r>
            <a:r>
              <a:rPr lang="en-US" altLang="ko-KR" sz="1600" spc="-50" dirty="0"/>
              <a:t>orie</a:t>
            </a:r>
            <a:r>
              <a:rPr lang="ko-KR" altLang="en-US" sz="1600" spc="-50" dirty="0"/>
              <a:t>의 약자이다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 모두 에너지의 크기를 나타내는 단위다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MJ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kcal</a:t>
            </a:r>
            <a:r>
              <a:rPr lang="ko-KR" altLang="en-US" sz="1600" spc="-50" dirty="0"/>
              <a:t>는 서로 환산이 가능한 단위들이다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1MJ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239kcal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 슬라이드의 </a:t>
            </a:r>
            <a:r>
              <a:rPr lang="ko-KR" altLang="en-US" sz="1600" spc="-50" dirty="0" err="1"/>
              <a:t>단팥빵</a:t>
            </a:r>
            <a:r>
              <a:rPr lang="ko-KR" altLang="en-US" sz="1600" spc="-50" dirty="0"/>
              <a:t> 칼로리를 </a:t>
            </a:r>
            <a:r>
              <a:rPr lang="en-US" altLang="ko-KR" sz="1600" spc="-50" dirty="0"/>
              <a:t>1.13MJ (269/239)</a:t>
            </a:r>
            <a:r>
              <a:rPr lang="ko-KR" altLang="en-US" sz="1600" spc="-50" dirty="0"/>
              <a:t>로 표기해도 상관없다는 뜻이다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편의상 </a:t>
            </a:r>
            <a:r>
              <a:rPr lang="en-US" altLang="ko-KR" sz="1600" spc="-50" dirty="0"/>
              <a:t>kcal</a:t>
            </a:r>
            <a:r>
              <a:rPr lang="ko-KR" altLang="en-US" sz="1600" spc="-50" dirty="0"/>
              <a:t>로 통일하여 표현하고 있을 뿐이다</a:t>
            </a:r>
            <a:r>
              <a:rPr lang="en-US" altLang="ko-KR" sz="1600" spc="-50" dirty="0"/>
              <a:t>.)</a:t>
            </a:r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비유하자면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로 재기도하고</a:t>
            </a:r>
            <a:r>
              <a:rPr lang="en-US" altLang="ko-KR" sz="1600" spc="-50" dirty="0"/>
              <a:t>, inch</a:t>
            </a:r>
            <a:r>
              <a:rPr lang="ko-KR" altLang="en-US" sz="1600" spc="-50" dirty="0"/>
              <a:t>로 재기도 한다</a:t>
            </a:r>
            <a:r>
              <a:rPr lang="en-US" altLang="ko-KR" sz="1600" spc="-50" dirty="0"/>
              <a:t>. (1cm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0.394 inch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.) </a:t>
            </a:r>
            <a:r>
              <a:rPr lang="ko-KR" altLang="en-US" sz="1600" spc="-50" dirty="0"/>
              <a:t>또 다른 예로는 섭씨와 화씨</a:t>
            </a:r>
            <a:r>
              <a:rPr lang="en-US" altLang="ko-KR" sz="1600" spc="-50" dirty="0"/>
              <a:t>, km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mile </a:t>
            </a:r>
            <a:r>
              <a:rPr lang="ko-KR" altLang="en-US" sz="1600" spc="-50" dirty="0"/>
              <a:t>등이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에너지도 똑같이 </a:t>
            </a:r>
            <a:r>
              <a:rPr lang="en-US" altLang="ko-KR" sz="1600" spc="-50" dirty="0"/>
              <a:t>MJ</a:t>
            </a:r>
            <a:r>
              <a:rPr lang="ko-KR" altLang="en-US" sz="1600" spc="-50" dirty="0"/>
              <a:t>로 재기도하고</a:t>
            </a:r>
            <a:r>
              <a:rPr lang="en-US" altLang="ko-KR" sz="1600" spc="-50" dirty="0"/>
              <a:t>, kcal</a:t>
            </a:r>
            <a:r>
              <a:rPr lang="ko-KR" altLang="en-US" sz="1600" spc="-50" dirty="0"/>
              <a:t>로 재기도 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차는 휘발유 차량이고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오른쪽 표에 의하면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리터를 연소시키면 </a:t>
            </a:r>
            <a:r>
              <a:rPr lang="en-US" altLang="ko-KR" sz="1600" b="1" spc="-50" dirty="0"/>
              <a:t>32.4MJ</a:t>
            </a:r>
            <a:r>
              <a:rPr lang="ko-KR" altLang="en-US" sz="1600" spc="-50" dirty="0"/>
              <a:t>의 에너지가 생긴다는 것을 알 수 있다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A022EA9-92F1-34F4-8642-823F511EDBC1}"/>
              </a:ext>
            </a:extLst>
          </p:cNvPr>
          <p:cNvGrpSpPr/>
          <p:nvPr/>
        </p:nvGrpSpPr>
        <p:grpSpPr>
          <a:xfrm>
            <a:off x="8528051" y="883082"/>
            <a:ext cx="3054350" cy="5291100"/>
            <a:chOff x="-1003299" y="1320800"/>
            <a:chExt cx="3054350" cy="5291100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98B20C12-2816-2A73-09B1-7F0525CA2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302" r="50889" b="39485"/>
            <a:stretch>
              <a:fillRect/>
            </a:stretch>
          </p:blipFill>
          <p:spPr>
            <a:xfrm>
              <a:off x="-1003299" y="1320800"/>
              <a:ext cx="3054350" cy="5291100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3E22738E-353D-37B1-3713-83A09B3CB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6173" t="4743" r="-161" b="93609"/>
            <a:stretch>
              <a:fillRect/>
            </a:stretch>
          </p:blipFill>
          <p:spPr>
            <a:xfrm>
              <a:off x="1123950" y="1460500"/>
              <a:ext cx="869949" cy="152400"/>
            </a:xfrm>
            <a:prstGeom prst="rect">
              <a:avLst/>
            </a:prstGeom>
          </p:spPr>
        </p:pic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208190D-4ADD-6414-D56B-DEA1FB104A32}"/>
              </a:ext>
            </a:extLst>
          </p:cNvPr>
          <p:cNvSpPr txBox="1"/>
          <p:nvPr/>
        </p:nvSpPr>
        <p:spPr>
          <a:xfrm>
            <a:off x="8409782" y="6241029"/>
            <a:ext cx="32908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https://tips.energy.or.kr/carbon/Ggas_tatistics03.do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9A8AEB0-10A0-892A-E57F-29213E1E3643}"/>
              </a:ext>
            </a:extLst>
          </p:cNvPr>
          <p:cNvSpPr/>
          <p:nvPr/>
        </p:nvSpPr>
        <p:spPr>
          <a:xfrm>
            <a:off x="10294496" y="2050644"/>
            <a:ext cx="455070" cy="211745"/>
          </a:xfrm>
          <a:prstGeom prst="rect">
            <a:avLst/>
          </a:prstGeom>
          <a:solidFill>
            <a:srgbClr val="FFF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573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부산역까지 거리가 </a:t>
            </a:r>
            <a:r>
              <a:rPr lang="en-US" altLang="ko-KR" sz="1600" spc="-50" dirty="0"/>
              <a:t>284km </a:t>
            </a:r>
            <a:r>
              <a:rPr lang="ko-KR" altLang="en-US" sz="1600" spc="-50" dirty="0"/>
              <a:t>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이거를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 슬라이드에서 </a:t>
            </a:r>
            <a:r>
              <a:rPr lang="ko-KR" altLang="en-US" sz="1600" spc="-50" dirty="0" err="1"/>
              <a:t>단팥빵</a:t>
            </a:r>
            <a:r>
              <a:rPr lang="ko-KR" altLang="en-US" sz="1600" spc="-50" dirty="0"/>
              <a:t> 칼로리를</a:t>
            </a:r>
            <a:r>
              <a:rPr lang="en-US" altLang="ko-KR" sz="1600" spc="-50" dirty="0"/>
              <a:t> 265kcal</a:t>
            </a:r>
            <a:r>
              <a:rPr lang="ko-KR" altLang="en-US" sz="1600" spc="-50" dirty="0"/>
              <a:t>로 표현 안하고</a:t>
            </a:r>
            <a:r>
              <a:rPr lang="en-US" altLang="ko-KR" sz="1600" spc="-50" dirty="0"/>
              <a:t>, 0.265Mcal (</a:t>
            </a:r>
            <a:r>
              <a:rPr lang="ko-KR" altLang="en-US" sz="1600" spc="-50" dirty="0" err="1"/>
              <a:t>메가칼로리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5" y="2158283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9805039"/>
              </p:ext>
            </p:extLst>
          </p:nvPr>
        </p:nvGraphicFramePr>
        <p:xfrm>
          <a:off x="917945" y="3330261"/>
          <a:ext cx="6156757" cy="148567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B963A-678D-D82F-8C01-1FF58B09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175F0B-7030-737A-835F-F1391F91E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FC1411-20E8-1633-E5A9-27C3880E8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EDE803-9C99-33DA-A5EC-5045E8177FDD}"/>
              </a:ext>
            </a:extLst>
          </p:cNvPr>
          <p:cNvSpPr txBox="1"/>
          <p:nvPr/>
        </p:nvSpPr>
        <p:spPr>
          <a:xfrm>
            <a:off x="288790" y="958844"/>
            <a:ext cx="717881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배출계수란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화석에너지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석탄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연소할 때 나오는 탄소의 양이다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화석에너지는 원래 탄소를 함유하고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오른쪽 표를 보면 에너지 종류별로 탄소 함유량이 다른 것을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우리가 신재생에너지라고 부르는 태양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바람에너지는 배출계수가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빛과 바람은 탄소를 함유하고 있지 않기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 보면 휘발유의 배출계수는 </a:t>
            </a:r>
            <a:r>
              <a:rPr lang="en-US" altLang="ko-KR" sz="1600" spc="-50" dirty="0"/>
              <a:t>0.000019731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tC</a:t>
            </a:r>
            <a:r>
              <a:rPr lang="ko-KR" altLang="en-US" sz="1600" spc="-50" dirty="0"/>
              <a:t>는 </a:t>
            </a:r>
            <a:r>
              <a:rPr lang="en-US" altLang="ko-KR" sz="1600" b="1" spc="-50" dirty="0" err="1"/>
              <a:t>t</a:t>
            </a:r>
            <a:r>
              <a:rPr lang="en-US" altLang="ko-KR" sz="1600" spc="-50" dirty="0" err="1"/>
              <a:t>onne</a:t>
            </a:r>
            <a:r>
              <a:rPr lang="en-US" altLang="ko-KR" sz="1600" spc="-50" dirty="0"/>
              <a:t> of </a:t>
            </a:r>
            <a:r>
              <a:rPr lang="en-US" altLang="ko-KR" sz="1600" b="1" spc="-50" dirty="0"/>
              <a:t>C</a:t>
            </a:r>
            <a:r>
              <a:rPr lang="en-US" altLang="ko-KR" sz="1600" spc="-50" dirty="0"/>
              <a:t>arbon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약자 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무게를 측정하는 단위다</a:t>
            </a:r>
            <a:r>
              <a:rPr lang="en-US" altLang="ko-KR" sz="1600" spc="-50" dirty="0"/>
              <a:t>. 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    ※  </a:t>
            </a:r>
            <a:r>
              <a:rPr lang="ko-KR" altLang="en-US" sz="1600" spc="-50" dirty="0"/>
              <a:t>말그대로 탄소를 </a:t>
            </a:r>
            <a:r>
              <a:rPr lang="en-US" altLang="ko-KR" sz="1600" spc="-50" dirty="0"/>
              <a:t>1tC</a:t>
            </a:r>
            <a:r>
              <a:rPr lang="ko-KR" altLang="en-US" sz="1600" spc="-50" dirty="0"/>
              <a:t> 만큼을 체중계에 올려두면 </a:t>
            </a:r>
            <a:r>
              <a:rPr lang="en-US" altLang="ko-KR" sz="1600" spc="-50" dirty="0"/>
              <a:t>1,000kg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휘발유를 </a:t>
            </a:r>
            <a:r>
              <a:rPr lang="en-US" altLang="ko-KR" sz="1600" spc="-50" dirty="0"/>
              <a:t>1MJ </a:t>
            </a:r>
            <a:r>
              <a:rPr lang="ko-KR" altLang="en-US" sz="1600" spc="-50" dirty="0"/>
              <a:t>만큼 연소를 하면</a:t>
            </a:r>
            <a:r>
              <a:rPr lang="en-US" altLang="ko-KR" sz="1600" spc="-50" dirty="0"/>
              <a:t>, 0.000019731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만큼의 탄소가 배출 된다는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2CEAB1-9E78-8444-4BD2-D15A06552C7D}"/>
              </a:ext>
            </a:extLst>
          </p:cNvPr>
          <p:cNvSpPr txBox="1"/>
          <p:nvPr/>
        </p:nvSpPr>
        <p:spPr>
          <a:xfrm>
            <a:off x="8649508" y="4682067"/>
            <a:ext cx="32908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https://tips.energy.or.kr/carbon/Ggas_tatistics03.do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CD830B6-A8EC-4DC9-3AF6-A9AF142B8E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40" t="2754" b="31939"/>
          <a:stretch>
            <a:fillRect/>
          </a:stretch>
        </p:blipFill>
        <p:spPr>
          <a:xfrm>
            <a:off x="7607299" y="1219200"/>
            <a:ext cx="4193397" cy="346286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E217310-7E9D-D075-8FD8-D65DF1E838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" r="63751" b="97246"/>
          <a:stretch>
            <a:fillRect/>
          </a:stretch>
        </p:blipFill>
        <p:spPr>
          <a:xfrm>
            <a:off x="7607299" y="1073149"/>
            <a:ext cx="1741489" cy="14605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B4B07C05-E828-91A8-3CF4-28D7524AA0B2}"/>
              </a:ext>
            </a:extLst>
          </p:cNvPr>
          <p:cNvSpPr/>
          <p:nvPr/>
        </p:nvSpPr>
        <p:spPr>
          <a:xfrm>
            <a:off x="5344732" y="3975278"/>
            <a:ext cx="613893" cy="326265"/>
          </a:xfrm>
          <a:prstGeom prst="rect">
            <a:avLst/>
          </a:prstGeom>
          <a:solidFill>
            <a:srgbClr val="FFF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089BE18-DC5C-EBD4-78ED-DCCDCFFCF6F6}"/>
              </a:ext>
            </a:extLst>
          </p:cNvPr>
          <p:cNvSpPr/>
          <p:nvPr/>
        </p:nvSpPr>
        <p:spPr>
          <a:xfrm>
            <a:off x="11161690" y="3943082"/>
            <a:ext cx="274749" cy="186744"/>
          </a:xfrm>
          <a:prstGeom prst="rect">
            <a:avLst/>
          </a:prstGeom>
          <a:solidFill>
            <a:srgbClr val="FFF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EAEB1B6C-18AF-CDC8-1EE1-6CB4CFC5096C}"/>
              </a:ext>
            </a:extLst>
          </p:cNvPr>
          <p:cNvCxnSpPr>
            <a:cxnSpLocks/>
            <a:stCxn id="8" idx="1"/>
          </p:cNvCxnSpPr>
          <p:nvPr/>
        </p:nvCxnSpPr>
        <p:spPr>
          <a:xfrm rot="10800000" flipV="1">
            <a:off x="5954334" y="4036453"/>
            <a:ext cx="5207356" cy="101953"/>
          </a:xfrm>
          <a:prstGeom prst="bentConnector3">
            <a:avLst>
              <a:gd name="adj1" fmla="val 27000"/>
            </a:avLst>
          </a:prstGeom>
          <a:ln w="9525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F636D10-1B86-9673-FF4C-0EE10E49653D}"/>
              </a:ext>
            </a:extLst>
          </p:cNvPr>
          <p:cNvSpPr/>
          <p:nvPr/>
        </p:nvSpPr>
        <p:spPr>
          <a:xfrm>
            <a:off x="10121272" y="1687966"/>
            <a:ext cx="366424" cy="186744"/>
          </a:xfrm>
          <a:prstGeom prst="rect">
            <a:avLst/>
          </a:prstGeom>
          <a:solidFill>
            <a:srgbClr val="FFF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1FE5ABF1-50A0-4EA4-C832-93E837852220}"/>
              </a:ext>
            </a:extLst>
          </p:cNvPr>
          <p:cNvCxnSpPr>
            <a:cxnSpLocks/>
            <a:stCxn id="13" idx="1"/>
            <a:endCxn id="7" idx="3"/>
          </p:cNvCxnSpPr>
          <p:nvPr/>
        </p:nvCxnSpPr>
        <p:spPr>
          <a:xfrm rot="10800000" flipV="1">
            <a:off x="5958626" y="1781337"/>
            <a:ext cx="4162647" cy="2357073"/>
          </a:xfrm>
          <a:prstGeom prst="bentConnector3">
            <a:avLst>
              <a:gd name="adj1" fmla="val 8851"/>
            </a:avLst>
          </a:prstGeom>
          <a:ln w="9525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EF5ED3B-0B8F-19E4-C0E7-B7C36218F09D}"/>
              </a:ext>
            </a:extLst>
          </p:cNvPr>
          <p:cNvSpPr/>
          <p:nvPr/>
        </p:nvSpPr>
        <p:spPr>
          <a:xfrm>
            <a:off x="8558012" y="4997359"/>
            <a:ext cx="2346684" cy="680435"/>
          </a:xfrm>
          <a:prstGeom prst="rect">
            <a:avLst/>
          </a:prstGeom>
          <a:solidFill>
            <a:srgbClr val="FFF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2">
                    <a:lumMod val="75000"/>
                  </a:schemeClr>
                </a:solidFill>
              </a:rPr>
              <a:t>SI </a:t>
            </a:r>
            <a:r>
              <a:rPr lang="ko-KR" altLang="en-US" dirty="0" err="1">
                <a:solidFill>
                  <a:schemeClr val="accent2">
                    <a:lumMod val="75000"/>
                  </a:schemeClr>
                </a:solidFill>
              </a:rPr>
              <a:t>접두어를</a:t>
            </a:r>
            <a:r>
              <a:rPr lang="ko-KR" altLang="en-US" dirty="0">
                <a:solidFill>
                  <a:schemeClr val="accent2">
                    <a:lumMod val="75000"/>
                  </a:schemeClr>
                </a:solidFill>
              </a:rPr>
              <a:t> 활용한 단위 변환</a:t>
            </a:r>
            <a:r>
              <a:rPr lang="en-US" altLang="ko-KR" dirty="0">
                <a:solidFill>
                  <a:schemeClr val="accent2">
                    <a:lumMod val="75000"/>
                  </a:schemeClr>
                </a:solidFill>
              </a:rPr>
              <a:t>!</a:t>
            </a:r>
            <a:endParaRPr lang="ko-KR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43B512-CD3F-377C-C7C7-D6C6CD210DC0}"/>
              </a:ext>
            </a:extLst>
          </p:cNvPr>
          <p:cNvSpPr txBox="1"/>
          <p:nvPr/>
        </p:nvSpPr>
        <p:spPr>
          <a:xfrm>
            <a:off x="7651365" y="5677794"/>
            <a:ext cx="41626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spc="-50" dirty="0"/>
              <a:t> ※ 19.731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/TJ </a:t>
            </a:r>
            <a:r>
              <a:rPr lang="ko-KR" altLang="en-US" sz="1600" spc="-50" dirty="0"/>
              <a:t>라는 깔끔한 숫자를 굳이 </a:t>
            </a:r>
            <a:r>
              <a:rPr lang="en-US" altLang="ko-KR" sz="1600" spc="-50" dirty="0"/>
              <a:t>SI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활용하여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로 바꾼 이유는 슬라이드 </a:t>
            </a:r>
            <a:r>
              <a:rPr lang="en-US" altLang="ko-KR" sz="1600" spc="-50" dirty="0"/>
              <a:t>11</a:t>
            </a:r>
            <a:r>
              <a:rPr lang="ko-KR" altLang="en-US" sz="1600" spc="-50" dirty="0"/>
              <a:t>에서 봤듯이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약분을 하기 위함이다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7681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BE09-0688-964A-B00B-E019F6B3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6FD30D-DA2B-43D7-460A-65EB3274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C3BBA8-2062-12EA-5B46-B732DC929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A9B549-E92E-6BA8-0EB3-CE3A147EEAB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0512560" cy="226068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탄소배출량 계산을 위한 첫번째 항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소비량을 계산해보자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아래의 식을 통해 부산역까지 휘발유 몇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리터</a:t>
                </a:r>
                <a:r>
                  <a:rPr lang="en-US" altLang="ko-KR" sz="1600" spc="-50" dirty="0"/>
                  <a:t>(liter)</a:t>
                </a:r>
                <a:r>
                  <a:rPr lang="ko-KR" altLang="en-US" sz="1600" spc="-50" dirty="0"/>
                  <a:t>를 사용하게 될지 계산할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부산역 까지 총 </a:t>
                </a:r>
                <a:r>
                  <a:rPr lang="en-US" altLang="ko-KR" sz="1600" spc="-50" dirty="0"/>
                  <a:t>258km </a:t>
                </a:r>
                <a:r>
                  <a:rPr lang="ko-KR" altLang="en-US" sz="1600" spc="-50" dirty="0"/>
                  <a:t>였고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내 차량의 연비는 </a:t>
                </a:r>
                <a:r>
                  <a:rPr lang="en-US" altLang="ko-KR" sz="1600" spc="-50" dirty="0"/>
                  <a:t>15.0km/liter </a:t>
                </a:r>
                <a:r>
                  <a:rPr lang="ko-KR" altLang="en-US" sz="1600" spc="-50" dirty="0"/>
                  <a:t>였다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따라서 부산역 까지 필요한 휘발유의 양은 </a:t>
                </a:r>
                <a:r>
                  <a:rPr lang="en-US" altLang="ko-KR" sz="1600" spc="-50" dirty="0"/>
                  <a:t>17.2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liter</a:t>
                </a:r>
                <a:r>
                  <a:rPr lang="ko-KR" altLang="en-US" sz="1600" spc="-50" dirty="0"/>
                  <a:t> 이다</a:t>
                </a:r>
                <a:r>
                  <a:rPr lang="en-US" altLang="ko-KR" sz="1600" spc="-50" dirty="0"/>
                  <a:t>. (258/15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18.9)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A9B549-E92E-6BA8-0EB3-CE3A147EE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0512560" cy="2260683"/>
              </a:xfrm>
              <a:prstGeom prst="rect">
                <a:avLst/>
              </a:prstGeom>
              <a:blipFill>
                <a:blip r:embed="rId2"/>
                <a:stretch>
                  <a:fillRect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210BFA-5DE1-F6F9-7454-7336982D14F8}"/>
                  </a:ext>
                </a:extLst>
              </p:cNvPr>
              <p:cNvSpPr txBox="1"/>
              <p:nvPr/>
            </p:nvSpPr>
            <p:spPr>
              <a:xfrm>
                <a:off x="1646775" y="1865171"/>
                <a:ext cx="5948752" cy="3747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리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연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210BFA-5DE1-F6F9-7454-7336982D1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775" y="1865171"/>
                <a:ext cx="5948752" cy="374783"/>
              </a:xfrm>
              <a:prstGeom prst="rect">
                <a:avLst/>
              </a:prstGeom>
              <a:blipFill>
                <a:blip r:embed="rId3"/>
                <a:stretch>
                  <a:fillRect t="-157377" r="-1947" b="-2377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35293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60025-27CC-8526-6F09-0221CE2A4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7E4F58-20B2-28F3-A4FB-596D258A6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AAA7B-8D92-B26F-62E9-34105BAD8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892F93-BEB0-4B77-B46D-424C9360BE18}"/>
                  </a:ext>
                </a:extLst>
              </p:cNvPr>
              <p:cNvSpPr txBox="1"/>
              <p:nvPr/>
            </p:nvSpPr>
            <p:spPr>
              <a:xfrm>
                <a:off x="288789" y="958844"/>
                <a:ext cx="10430211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자가용 </a:t>
                </a:r>
                <a:r>
                  <a:rPr lang="ko-KR" altLang="en-US" sz="1600" spc="-50" dirty="0" err="1"/>
                  <a:t>이용시</a:t>
                </a:r>
                <a:r>
                  <a:rPr lang="ko-KR" altLang="en-US" sz="1600" spc="-50" dirty="0"/>
                  <a:t> 나오는 탄소배출량을 계산하기 위한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가지 항목을 다 찾아보았다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소비량</a:t>
                </a:r>
                <a:r>
                  <a:rPr lang="en-US" altLang="ko-KR" sz="1600" spc="-50" dirty="0"/>
                  <a:t>: 17.2 liter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발열량</a:t>
                </a:r>
                <a:r>
                  <a:rPr lang="en-US" altLang="ko-KR" sz="1600" spc="-50" dirty="0"/>
                  <a:t>: 32.4 MJ/liter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배출계수</a:t>
                </a:r>
                <a:r>
                  <a:rPr lang="en-US" altLang="ko-KR" sz="1600" spc="-50" dirty="0"/>
                  <a:t>: 0.000019731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17.2 x 32.4 x 0.000019731 </a:t>
                </a:r>
                <a14:m>
                  <m:oMath xmlns:m="http://schemas.openxmlformats.org/officeDocument/2006/math"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0.011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우리가 아반떼를 타고 부산역까지 주행하는데 총 </a:t>
                </a:r>
                <a:r>
                  <a:rPr lang="en-US" altLang="ko-KR" sz="1600" spc="-50" dirty="0"/>
                  <a:t>0.011</a:t>
                </a:r>
                <a:r>
                  <a:rPr lang="ko-KR" altLang="en-US" sz="1600" spc="-50" dirty="0"/>
                  <a:t>톤의 탄소</a:t>
                </a:r>
                <a:r>
                  <a:rPr lang="en-US" altLang="ko-KR" sz="1600" spc="-50" dirty="0"/>
                  <a:t>(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배출하게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11kg (0.011</a:t>
                </a:r>
                <a:r>
                  <a:rPr lang="ko-KR" altLang="en-US" sz="1600" spc="-50" dirty="0"/>
                  <a:t>톤과 같다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탄소들은 대기로 날아가 흩어져서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온실가스 효과를 만들어낸다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지구는 매일 태양으로부터 열을 받아서 뜨거워지는 동시에 지구는 스스로 열을 방출을 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우리가 배출한 탄소는 지구가 열을 우주 밖으로 방출할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대기에서 그 열을 흡수해버리는 성질이 있다</a:t>
                </a:r>
                <a:r>
                  <a:rPr lang="en-US" altLang="ko-KR" sz="1600" spc="-50" dirty="0"/>
                  <a:t>. 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 결과 지구는 계속 뜨거워지고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892F93-BEB0-4B77-B46D-424C9360BE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958844"/>
                <a:ext cx="10430211" cy="4476675"/>
              </a:xfrm>
              <a:prstGeom prst="rect">
                <a:avLst/>
              </a:prstGeom>
              <a:blipFill>
                <a:blip r:embed="rId2"/>
                <a:stretch>
                  <a:fillRect b="-6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97219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E167-B445-A888-3401-FAAA3842A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4C1C075-A6B6-6137-72EF-53A8B6FD21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E7618-A2A2-4921-F918-59258ABB8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59A5E32-4DC6-2AF0-CEFF-B25A1CDF5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2-1. KTX</a:t>
            </a:r>
            <a:r>
              <a:rPr lang="ko-KR" altLang="en-US" sz="4000" b="1" i="0" spc="150" dirty="0"/>
              <a:t>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비용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2797673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D5620-9D09-0967-D4B1-3701ED1E8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86858D-38EB-C48E-7174-A5CFDA3D7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대중교통을 이용할 때 드는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775ED0-E006-131F-6624-D540ACB84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2F8E90-ED2B-2622-DE3A-AD7944097063}"/>
              </a:ext>
            </a:extLst>
          </p:cNvPr>
          <p:cNvSpPr txBox="1"/>
          <p:nvPr/>
        </p:nvSpPr>
        <p:spPr>
          <a:xfrm>
            <a:off x="288790" y="958844"/>
            <a:ext cx="1091051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기차를 이용하는 데 들어가는 비용은 간단하다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대전역에서 부산역까지 기차표를 구입해야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SRT, KTX, ITX, </a:t>
            </a:r>
            <a:r>
              <a:rPr lang="ko-KR" altLang="en-US" sz="1600" spc="-50" dirty="0"/>
              <a:t>무궁화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종류가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빠를 수록 운임요금이 비싸며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우리는 배차가 가장 많은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를 타고 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아래에서 보듯이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분이 걸리고</a:t>
            </a:r>
            <a:r>
              <a:rPr lang="en-US" altLang="ko-KR" sz="1600" spc="-50" dirty="0"/>
              <a:t>, 36,200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일반실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어른기준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6C8F7D1-966A-82F7-E5FD-7AB8D9D93B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52" y="3776142"/>
            <a:ext cx="7379522" cy="190913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9FD9135-5422-7E68-49FE-4A86613BD9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0401" y="5456171"/>
            <a:ext cx="3498194" cy="102922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452AAFC0-574D-82FE-E7B9-B1845D93E4C1}"/>
              </a:ext>
            </a:extLst>
          </p:cNvPr>
          <p:cNvSpPr/>
          <p:nvPr/>
        </p:nvSpPr>
        <p:spPr>
          <a:xfrm>
            <a:off x="5696755" y="5260049"/>
            <a:ext cx="613893" cy="326265"/>
          </a:xfrm>
          <a:prstGeom prst="rect">
            <a:avLst/>
          </a:prstGeom>
          <a:solidFill>
            <a:srgbClr val="FFF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258CF29F-C6CC-69DE-D094-66C13BA542FF}"/>
              </a:ext>
            </a:extLst>
          </p:cNvPr>
          <p:cNvCxnSpPr>
            <a:cxnSpLocks/>
            <a:stCxn id="8" idx="2"/>
            <a:endCxn id="6" idx="1"/>
          </p:cNvCxnSpPr>
          <p:nvPr/>
        </p:nvCxnSpPr>
        <p:spPr>
          <a:xfrm rot="16200000" flipH="1">
            <a:off x="6904817" y="4685198"/>
            <a:ext cx="384468" cy="21866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2DBAD3C-34BA-1CA5-D97B-15679A251323}"/>
              </a:ext>
            </a:extLst>
          </p:cNvPr>
          <p:cNvSpPr txBox="1"/>
          <p:nvPr/>
        </p:nvSpPr>
        <p:spPr>
          <a:xfrm>
            <a:off x="8306878" y="4867998"/>
            <a:ext cx="33388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※ SRT </a:t>
            </a:r>
            <a:r>
              <a:rPr lang="ko-KR" altLang="en-US" sz="1200" spc="-50" dirty="0"/>
              <a:t>예매링크를 누르면</a:t>
            </a:r>
            <a:r>
              <a:rPr lang="en-US" altLang="ko-KR" sz="1200" spc="-50" dirty="0"/>
              <a:t>, SRT </a:t>
            </a:r>
            <a:r>
              <a:rPr lang="ko-KR" altLang="en-US" sz="1200" spc="-50" dirty="0"/>
              <a:t>홈페이지로 이동하고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가격은 아래와 같다</a:t>
            </a:r>
            <a:r>
              <a:rPr lang="en-US" altLang="ko-KR" sz="1200" spc="-50" dirty="0"/>
              <a:t>. (</a:t>
            </a:r>
            <a:r>
              <a:rPr lang="ko-KR" altLang="en-US" sz="1200" spc="-50" dirty="0"/>
              <a:t>단순 참고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82758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0EC8-82DD-283D-D5B7-C72C7941C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95B78EB-1F96-BF37-608F-3788E2387F2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523859-5A0A-74D8-8E0B-E7BA0C9B6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1903944-00F9-521B-2912-D6237ECFC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2-2. KTX</a:t>
            </a:r>
            <a:r>
              <a:rPr lang="ko-KR" altLang="en-US" sz="4000" b="1" i="0" spc="150" dirty="0"/>
              <a:t>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탄소배출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775779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FD39B-500A-F5DD-49DE-45EA05AAB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54B39-A61F-3F22-85AB-26DE4A2D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AC5B68-9113-722F-6E94-99F1D8179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6E9431-CE9E-A19A-EFD8-1E4444EDFFB9}"/>
              </a:ext>
            </a:extLst>
          </p:cNvPr>
          <p:cNvSpPr txBox="1"/>
          <p:nvPr/>
        </p:nvSpPr>
        <p:spPr>
          <a:xfrm>
            <a:off x="288790" y="958844"/>
            <a:ext cx="110459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승용차의 탄소배출량을 계산한 것과 마찬가지로</a:t>
            </a:r>
            <a:r>
              <a:rPr lang="en-US" altLang="ko-KR" sz="1600" spc="-50" dirty="0"/>
              <a:t>, KTX</a:t>
            </a:r>
            <a:r>
              <a:rPr lang="ko-KR" altLang="en-US" sz="1600" spc="-50" dirty="0"/>
              <a:t>의 </a:t>
            </a:r>
            <a:r>
              <a:rPr lang="ko-KR" altLang="en-US" sz="1600" spc="-50" dirty="0" err="1"/>
              <a:t>탄소배출량은도</a:t>
            </a:r>
            <a:r>
              <a:rPr lang="ko-KR" altLang="en-US" sz="1600" spc="-50" dirty="0"/>
              <a:t> 에너지 소비량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발열량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탄소배출계수를 곱해서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en-US" altLang="ko-KR" sz="1600" b="1" u="sng" dirty="0">
                <a:ln w="3175">
                  <a:noFill/>
                </a:ln>
                <a:latin typeface="+mn-ea"/>
              </a:rPr>
              <a:t>KTX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는 어떻게 움직이나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의 지붕에는 외부 전선이 항상 접촉되어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전선을 통해 외부에서 전력을 공급받고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전력의 힘으로 모터를 굴리고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모터가 작동하면서 바퀴가 굴러가게 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 소비량은 휘발유처럼 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liter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를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안쓰고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왜 다른 단위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(MWh)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를 쓰나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에너지형태에 따라 단위를 다르게 사용한다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단 아까 말한대로 열량을 기준으로 단위 간 변환은 가능하다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</a:t>
            </a:r>
            <a:r>
              <a:rPr lang="ko-KR" altLang="en-US" sz="1600" spc="-50" dirty="0" err="1"/>
              <a:t>액체니까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liter</a:t>
            </a:r>
            <a:r>
              <a:rPr lang="ko-KR" altLang="en-US" sz="1600" spc="-50" dirty="0"/>
              <a:t>로 고유단위를 표기하고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석탄은 </a:t>
            </a:r>
            <a:r>
              <a:rPr lang="ko-KR" altLang="en-US" sz="1600" spc="-50" dirty="0" err="1"/>
              <a:t>고체니까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kg</a:t>
            </a:r>
            <a:r>
              <a:rPr lang="ko-KR" altLang="en-US" sz="1600" spc="-50" dirty="0"/>
              <a:t>으로 고유단위를 표기한다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마찬가지로 전기는 전기의 형태이니까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고유단위를 표기한다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b="1" spc="-50" dirty="0"/>
              <a:t>W</a:t>
            </a:r>
            <a:r>
              <a:rPr lang="en-US" altLang="ko-KR" sz="1600" spc="-50" dirty="0"/>
              <a:t>att</a:t>
            </a:r>
            <a:r>
              <a:rPr lang="en-US" altLang="ko-KR" sz="1600" b="1" spc="-50" dirty="0"/>
              <a:t>h</a:t>
            </a:r>
            <a:r>
              <a:rPr lang="en-US" altLang="ko-KR" sz="1600" spc="-50" dirty="0"/>
              <a:t>our</a:t>
            </a:r>
            <a:r>
              <a:rPr lang="ko-KR" altLang="en-US" sz="1600" spc="-50" dirty="0"/>
              <a:t>의 약자이다</a:t>
            </a:r>
            <a:r>
              <a:rPr lang="en-US" altLang="ko-KR" sz="1600" spc="-50" dirty="0"/>
              <a:t>. </a:t>
            </a:r>
            <a:r>
              <a:rPr lang="ko-KR" altLang="en-US" sz="1600" spc="-50" dirty="0" err="1"/>
              <a:t>와트아워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와트시</a:t>
            </a:r>
            <a:r>
              <a:rPr lang="ko-KR" altLang="en-US" sz="1600" spc="-50" dirty="0"/>
              <a:t> 로 읽는다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1,000Wh = 1kWh,   1,000,000Wh = 1MWh     </a:t>
            </a:r>
            <a:r>
              <a:rPr lang="ko-KR" altLang="en-US" sz="1600" spc="-50" dirty="0"/>
              <a:t>아까 배웠듯이 단위가 커지면 </a:t>
            </a:r>
            <a:r>
              <a:rPr lang="en-US" altLang="ko-KR" sz="1600" spc="-50" dirty="0"/>
              <a:t>SI</a:t>
            </a:r>
            <a:r>
              <a:rPr lang="ko-KR" altLang="en-US" sz="1600" spc="-50" dirty="0"/>
              <a:t>단위계를 쓰자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A8E7A3F-9DD8-E063-78F2-5F7521CF1F47}"/>
                  </a:ext>
                </a:extLst>
              </p:cNvPr>
              <p:cNvSpPr txBox="1"/>
              <p:nvPr/>
            </p:nvSpPr>
            <p:spPr>
              <a:xfrm>
                <a:off x="1953842" y="1890697"/>
                <a:ext cx="7844208" cy="4437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탄소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𝑀𝑊h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𝑀𝑊h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A8E7A3F-9DD8-E063-78F2-5F7521CF1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42" y="1890697"/>
                <a:ext cx="7844208" cy="443776"/>
              </a:xfrm>
              <a:prstGeom prst="rect">
                <a:avLst/>
              </a:prstGeom>
              <a:blipFill>
                <a:blip r:embed="rId2"/>
                <a:stretch>
                  <a:fillRect t="-124658" r="-4821" b="-195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3754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644B0-DBF8-55D6-C845-A997EBC6D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2E86E6-0EE9-3E12-BB6E-2994E73D7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C5D0A5-356B-F043-4AA7-F610F426D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44FA3B-0893-5F21-0F7D-3DB230541098}"/>
              </a:ext>
            </a:extLst>
          </p:cNvPr>
          <p:cNvSpPr txBox="1"/>
          <p:nvPr/>
        </p:nvSpPr>
        <p:spPr>
          <a:xfrm>
            <a:off x="288790" y="958844"/>
            <a:ext cx="110459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전기의 발열량은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1MWh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3600MJ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</a:t>
            </a:r>
            <a:r>
              <a:rPr lang="en-US" altLang="ko-KR" sz="1600" spc="-50" dirty="0"/>
              <a:t>1MWh</a:t>
            </a:r>
            <a:r>
              <a:rPr lang="ko-KR" altLang="en-US" sz="1600" spc="-50" dirty="0"/>
              <a:t>는 </a:t>
            </a:r>
            <a:r>
              <a:rPr lang="en-US" altLang="ko-KR" sz="1600" b="1" spc="-50" dirty="0"/>
              <a:t>3,600</a:t>
            </a:r>
            <a:r>
              <a:rPr lang="en-US" altLang="ko-KR" sz="1600" spc="-50" dirty="0"/>
              <a:t>MJ </a:t>
            </a:r>
            <a:r>
              <a:rPr lang="ko-KR" altLang="en-US" sz="1600" spc="-50" dirty="0"/>
              <a:t>만큼 열을 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전기도 탄소배출을 하나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전기는 탄소를 갖고 있지 않으므로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탄소배출을 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중요한 점은 </a:t>
            </a:r>
            <a:r>
              <a:rPr lang="ko-KR" altLang="en-US" sz="1600" b="1" spc="-50" dirty="0"/>
              <a:t>전기를 만들 때는 화석연료 </a:t>
            </a:r>
            <a:r>
              <a:rPr lang="en-US" altLang="ko-KR" sz="1600" b="1" spc="-50" dirty="0"/>
              <a:t>(</a:t>
            </a:r>
            <a:r>
              <a:rPr lang="ko-KR" altLang="en-US" sz="1600" b="1" spc="-50" dirty="0"/>
              <a:t>석탄</a:t>
            </a:r>
            <a:r>
              <a:rPr lang="en-US" altLang="ko-KR" sz="1600" b="1" spc="-50" dirty="0"/>
              <a:t>, </a:t>
            </a:r>
            <a:r>
              <a:rPr lang="ko-KR" altLang="en-US" sz="1600" b="1" spc="-50" dirty="0"/>
              <a:t>가스 등</a:t>
            </a:r>
            <a:r>
              <a:rPr lang="en-US" altLang="ko-KR" sz="1600" b="1" spc="-50" dirty="0"/>
              <a:t>)</a:t>
            </a:r>
            <a:r>
              <a:rPr lang="ko-KR" altLang="en-US" sz="1600" b="1" spc="-50" dirty="0"/>
              <a:t>를 사용</a:t>
            </a:r>
            <a:r>
              <a:rPr lang="ko-KR" altLang="en-US" sz="1600" spc="-50" dirty="0"/>
              <a:t>하기 때문에 탄소배출을 한다</a:t>
            </a:r>
            <a:r>
              <a:rPr lang="en-US" altLang="ko-KR" sz="1600" spc="-5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600" b="1" u="sng" dirty="0">
              <a:ln w="3175">
                <a:noFill/>
              </a:ln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그럼 전기는 탄소배출계수가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없는건가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현재 우리나라의 전기 탄소배출계수</a:t>
            </a:r>
            <a:r>
              <a:rPr lang="en-US" altLang="ko-KR" sz="1600" spc="-50" dirty="0"/>
              <a:t> </a:t>
            </a:r>
            <a:r>
              <a:rPr lang="en-US" altLang="ko-KR" sz="1600" b="1" spc="-50" dirty="0"/>
              <a:t>0.000032</a:t>
            </a:r>
            <a:r>
              <a:rPr lang="en-US" altLang="ko-KR" sz="1600" spc="-50" dirty="0"/>
              <a:t> (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전기는 탄소배출을 안 하는데 어떻게 탄소배출계수가 계산 되어 있나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전기를 만들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화석연료를 연소해서 만들어지기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나온 탄소배출량을 감안한 수치이다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즉 우리나라에서 전력 </a:t>
            </a:r>
            <a:r>
              <a:rPr lang="en-US" altLang="ko-KR" sz="1600" spc="-50" dirty="0"/>
              <a:t>1MWh</a:t>
            </a:r>
            <a:r>
              <a:rPr lang="ko-KR" altLang="en-US" sz="1600" spc="-50" dirty="0"/>
              <a:t>을 쓰면 </a:t>
            </a:r>
            <a:r>
              <a:rPr lang="en-US" altLang="ko-KR" sz="1600" spc="-50" dirty="0"/>
              <a:t>0.114tC</a:t>
            </a:r>
            <a:r>
              <a:rPr lang="ko-KR" altLang="en-US" sz="1600" spc="-50" dirty="0"/>
              <a:t>의 탄소를 배출한 것과 다름이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재생에너지를 많이 활용하는 국가는 전기의 탄소배출계수가 낮다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같은 국가라도 시점별로 탄소배출계수가 달라진다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1952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F71C33-4141-99F1-AB3D-904A196D3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B6AFF-3029-0ECA-D53B-400461C51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C8B8D4-72CF-2E7D-DE99-C212830C0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64292"/>
            <a:ext cx="5562797" cy="30262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85D902-0E44-AA29-752B-BEF24C1FE333}"/>
                  </a:ext>
                </a:extLst>
              </p:cNvPr>
              <p:cNvSpPr txBox="1"/>
              <p:nvPr/>
            </p:nvSpPr>
            <p:spPr>
              <a:xfrm>
                <a:off x="288789" y="958844"/>
                <a:ext cx="6180697" cy="410804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KTX</a:t>
                </a:r>
                <a:r>
                  <a:rPr lang="ko-KR" altLang="en-US" sz="1600" spc="-50" dirty="0"/>
                  <a:t>로 대전에서 부산 갈 때 전력을 얼만큼 사용할까</a:t>
                </a:r>
                <a:r>
                  <a:rPr lang="en-US" altLang="ko-KR" sz="1600" spc="-50" dirty="0"/>
                  <a:t>?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KTX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1km </a:t>
                </a:r>
                <a:r>
                  <a:rPr lang="ko-KR" altLang="en-US" sz="1600" spc="-50" dirty="0"/>
                  <a:t>가는데 </a:t>
                </a:r>
                <a:r>
                  <a:rPr lang="en-US" altLang="ko-KR" sz="1600" spc="-50" dirty="0"/>
                  <a:t>23.74kWh</a:t>
                </a:r>
                <a:r>
                  <a:rPr lang="ko-KR" altLang="en-US" sz="1600" spc="-50" dirty="0"/>
                  <a:t>를 사용한다고 알려져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대전역에서 부산역까지 </a:t>
                </a:r>
                <a:r>
                  <a:rPr lang="en-US" altLang="ko-KR" sz="1600" spc="-50" dirty="0"/>
                  <a:t>258km</a:t>
                </a:r>
                <a:r>
                  <a:rPr lang="ko-KR" altLang="en-US" sz="1600" spc="-50" dirty="0"/>
                  <a:t> 가야하고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</a:t>
                </a:r>
                <a:r>
                  <a:rPr lang="en-US" altLang="ko-KR" sz="1600" spc="-50" dirty="0"/>
                  <a:t>6,125kWh 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 </m:t>
                    </m:r>
                  </m:oMath>
                </a14:m>
                <a:r>
                  <a:rPr lang="en-US" altLang="ko-KR" sz="1600" spc="-50" dirty="0"/>
                  <a:t>23.74 x 258), </a:t>
                </a:r>
                <a:r>
                  <a:rPr lang="ko-KR" altLang="en-US" sz="1600" spc="-50" dirty="0"/>
                  <a:t>즉 </a:t>
                </a:r>
                <a:r>
                  <a:rPr lang="en-US" altLang="ko-KR" sz="1600" spc="-50" dirty="0"/>
                  <a:t>6.125MWh</a:t>
                </a:r>
                <a:r>
                  <a:rPr lang="ko-KR" altLang="en-US" sz="1600" spc="-50" dirty="0"/>
                  <a:t>를 소비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기차를 이용할 때 나오는 탄소배출량을 계산하기 위한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가지 항목을 다 찾아 보았다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전기소비량</a:t>
                </a:r>
                <a:r>
                  <a:rPr lang="en-US" altLang="ko-KR" sz="1600" spc="-50" dirty="0"/>
                  <a:t>: 6.125 MWh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발열량</a:t>
                </a:r>
                <a:r>
                  <a:rPr lang="en-US" altLang="ko-KR" sz="1600" spc="-50" dirty="0"/>
                  <a:t>: 3600 MJ/MWh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배출계수</a:t>
                </a:r>
                <a:r>
                  <a:rPr lang="en-US" altLang="ko-KR" sz="1600" spc="-50" dirty="0"/>
                  <a:t>: 0.000032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6.125 x 3,600 x 0.000032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0.706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85D902-0E44-AA29-752B-BEF24C1FE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958844"/>
                <a:ext cx="6180697" cy="4108048"/>
              </a:xfrm>
              <a:prstGeom prst="rect">
                <a:avLst/>
              </a:prstGeom>
              <a:blipFill>
                <a:blip r:embed="rId3"/>
                <a:stretch>
                  <a:fillRect r="-197" b="-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E323335-4013-8312-E7E0-855AF1F4B924}"/>
              </a:ext>
            </a:extLst>
          </p:cNvPr>
          <p:cNvSpPr txBox="1"/>
          <p:nvPr/>
        </p:nvSpPr>
        <p:spPr>
          <a:xfrm>
            <a:off x="7214235" y="4196013"/>
            <a:ext cx="37147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출처</a:t>
            </a:r>
            <a:r>
              <a:rPr lang="en-US" altLang="ko-KR" sz="1100" dirty="0"/>
              <a:t>: </a:t>
            </a:r>
            <a:r>
              <a:rPr lang="ko-KR" altLang="en-US" sz="1100" dirty="0"/>
              <a:t>https://www.joongang.co.kr/article/25263290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4E7608-E01A-D867-7632-B962E984882D}"/>
              </a:ext>
            </a:extLst>
          </p:cNvPr>
          <p:cNvSpPr txBox="1"/>
          <p:nvPr/>
        </p:nvSpPr>
        <p:spPr>
          <a:xfrm>
            <a:off x="7214235" y="3959760"/>
            <a:ext cx="459676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출처</a:t>
            </a:r>
            <a:r>
              <a:rPr lang="en-US" altLang="ko-KR" sz="1100" dirty="0"/>
              <a:t>: https://www.koreantrain.com/train-daejeon-busan?utm_source</a:t>
            </a:r>
            <a:endParaRPr lang="ko-KR" altLang="en-US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0CAE76-7728-E278-4378-CFE9037BDD8E}"/>
              </a:ext>
            </a:extLst>
          </p:cNvPr>
          <p:cNvSpPr txBox="1"/>
          <p:nvPr/>
        </p:nvSpPr>
        <p:spPr>
          <a:xfrm>
            <a:off x="288790" y="5215884"/>
            <a:ext cx="110459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우리가 탄 기차가 대전역에서 부산역까지 가는데 총 </a:t>
            </a:r>
            <a:r>
              <a:rPr lang="en-US" altLang="ko-KR" sz="1600" spc="-50" dirty="0"/>
              <a:t>0.706</a:t>
            </a:r>
            <a:r>
              <a:rPr lang="ko-KR" altLang="en-US" sz="1600" spc="-50" dirty="0"/>
              <a:t>의 탄소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간접적으로 배출하게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기차가 달리면서 직접 배출한 탄소의 양은 </a:t>
            </a:r>
            <a:r>
              <a:rPr lang="en-US" altLang="ko-KR" sz="1600" spc="-50" dirty="0"/>
              <a:t>0 </a:t>
            </a:r>
            <a:r>
              <a:rPr lang="ko-KR" altLang="en-US" sz="1600" spc="-50" dirty="0"/>
              <a:t>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기차가 사용한 전력을 만드는데 배출한 탄소의 양이 </a:t>
            </a:r>
            <a:r>
              <a:rPr lang="en-US" altLang="ko-KR" sz="1600" spc="-50" dirty="0"/>
              <a:t>706kg </a:t>
            </a:r>
            <a:r>
              <a:rPr lang="ko-KR" altLang="en-US" sz="1600" spc="-50" dirty="0"/>
              <a:t>이라는 의미다</a:t>
            </a:r>
            <a:r>
              <a:rPr lang="en-US" altLang="ko-KR" sz="1600" spc="-50" dirty="0"/>
              <a:t>.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A3B0D17-3DCB-AF5A-D5FB-BDE2F2AE21EF}"/>
              </a:ext>
            </a:extLst>
          </p:cNvPr>
          <p:cNvSpPr/>
          <p:nvPr/>
        </p:nvSpPr>
        <p:spPr>
          <a:xfrm>
            <a:off x="10928985" y="3063081"/>
            <a:ext cx="734981" cy="186744"/>
          </a:xfrm>
          <a:prstGeom prst="rect">
            <a:avLst/>
          </a:prstGeom>
          <a:solidFill>
            <a:srgbClr val="FFF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5864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04CEC-6A08-07EF-D6EC-B86C5A90D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8E1B7D-A7B7-D210-DE11-AA810D8D4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B2B0E6-EB48-6AE3-B555-051AAB5F6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D3349D-A170-CCD1-C4F1-DE201511EE72}"/>
              </a:ext>
            </a:extLst>
          </p:cNvPr>
          <p:cNvSpPr txBox="1"/>
          <p:nvPr/>
        </p:nvSpPr>
        <p:spPr>
          <a:xfrm>
            <a:off x="288790" y="958844"/>
            <a:ext cx="1127643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의 경우 나 혼자만 전기를 쓴 게 아니고</a:t>
            </a:r>
            <a:r>
              <a:rPr lang="en-US" altLang="ko-KR" sz="1600" spc="-50" dirty="0"/>
              <a:t>, KTX</a:t>
            </a:r>
            <a:r>
              <a:rPr lang="ko-KR" altLang="en-US" sz="1600" spc="-50" dirty="0"/>
              <a:t>에 탑승한 승객 전원이 다 같이 사용하였다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의 간접배출량으로 계산한 </a:t>
            </a:r>
            <a:r>
              <a:rPr lang="en-US" altLang="ko-KR" sz="1600" spc="-50" dirty="0"/>
              <a:t>706kg</a:t>
            </a:r>
            <a:r>
              <a:rPr lang="ko-KR" altLang="en-US" sz="1600" spc="-50" dirty="0"/>
              <a:t>는 대전에서 부산까지 이용한 승객의 숫자로 나누어야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대전에서 부산까지 이용한 승객을 조사한 통계도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정확히 추론하는 것도 불가능하다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적어도 우리가 알 수 있는 것은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에 마련된 좌석 수를 알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적어도 이 좌석 수보다 승객이 더 많지는 않을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도 종류별로 좌석수가 다르나 가장 많이 운행하고 있는 </a:t>
            </a:r>
            <a:r>
              <a:rPr lang="en-US" altLang="ko-KR" sz="1600" spc="-50" dirty="0"/>
              <a:t>‘KTX’ </a:t>
            </a:r>
            <a:r>
              <a:rPr lang="ko-KR" altLang="en-US" sz="1600" spc="-50" dirty="0"/>
              <a:t>를 탄다고 가정하자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8ADEB71-71A0-6B74-65B0-4ECD1A2D0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218" y="3317240"/>
            <a:ext cx="4101992" cy="25252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8747A04-1809-DB3E-32F0-5B738B7642A2}"/>
              </a:ext>
            </a:extLst>
          </p:cNvPr>
          <p:cNvSpPr txBox="1"/>
          <p:nvPr/>
        </p:nvSpPr>
        <p:spPr>
          <a:xfrm>
            <a:off x="288790" y="3219444"/>
            <a:ext cx="695529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평일 하루 동안 </a:t>
            </a:r>
            <a:r>
              <a:rPr lang="en-US" altLang="ko-KR" sz="1600" spc="-50" dirty="0"/>
              <a:t>51</a:t>
            </a:r>
            <a:r>
              <a:rPr lang="ko-KR" altLang="en-US" sz="1600" spc="-50" dirty="0"/>
              <a:t>대의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가 대전에서 부산으로 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중 </a:t>
            </a:r>
            <a:r>
              <a:rPr lang="en-US" altLang="ko-KR" sz="1600" spc="-50" dirty="0"/>
              <a:t>‘KTX’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41</a:t>
            </a:r>
            <a:r>
              <a:rPr lang="ko-KR" altLang="en-US" sz="1600" spc="-50" dirty="0"/>
              <a:t>대</a:t>
            </a:r>
            <a:r>
              <a:rPr lang="en-US" altLang="ko-KR" sz="1600" spc="-50" dirty="0"/>
              <a:t>, ‘KTX-</a:t>
            </a:r>
            <a:r>
              <a:rPr lang="ko-KR" altLang="en-US" sz="1600" spc="-50" dirty="0"/>
              <a:t>산천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대</a:t>
            </a:r>
            <a:r>
              <a:rPr lang="en-US" altLang="ko-KR" sz="1600" spc="-50" dirty="0"/>
              <a:t>, ‘KTX-</a:t>
            </a:r>
            <a:r>
              <a:rPr lang="ko-KR" altLang="en-US" sz="1600" spc="-50" dirty="0"/>
              <a:t>청룡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대 운행한다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좌석수</a:t>
            </a:r>
            <a:r>
              <a:rPr lang="en-US" altLang="ko-KR" sz="1600" spc="-50" dirty="0"/>
              <a:t>) KTX: 955</a:t>
            </a:r>
            <a:r>
              <a:rPr lang="ko-KR" altLang="en-US" sz="1600" spc="-50" dirty="0"/>
              <a:t>석</a:t>
            </a:r>
            <a:r>
              <a:rPr lang="en-US" altLang="ko-KR" sz="1600" spc="-50" dirty="0"/>
              <a:t>, KTX-</a:t>
            </a:r>
            <a:r>
              <a:rPr lang="ko-KR" altLang="en-US" sz="1600" spc="-50" dirty="0"/>
              <a:t>산천</a:t>
            </a:r>
            <a:r>
              <a:rPr lang="en-US" altLang="ko-KR" sz="1600" spc="-50" dirty="0"/>
              <a:t>: 379</a:t>
            </a:r>
            <a:r>
              <a:rPr lang="ko-KR" altLang="en-US" sz="1600" spc="-50" dirty="0"/>
              <a:t>석</a:t>
            </a:r>
            <a:r>
              <a:rPr lang="en-US" altLang="ko-KR" sz="1600" spc="-50" dirty="0"/>
              <a:t>,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요일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구간별로 승객이 제 각각 이겠지만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탑승한 승객 수를 전체 좌석 수의 대략 </a:t>
            </a:r>
            <a:r>
              <a:rPr lang="en-US" altLang="ko-KR" sz="1600" spc="-50" dirty="0"/>
              <a:t>50% </a:t>
            </a:r>
            <a:r>
              <a:rPr lang="ko-KR" altLang="en-US" sz="1600" spc="-50" dirty="0"/>
              <a:t>정도 수준인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명이라고 하자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대전에서 부산까지 </a:t>
            </a:r>
            <a:r>
              <a:rPr lang="en-US" altLang="ko-KR" sz="1600" spc="-50" dirty="0"/>
              <a:t>KTX </a:t>
            </a:r>
            <a:r>
              <a:rPr lang="ko-KR" altLang="en-US" sz="1600" spc="-50" dirty="0"/>
              <a:t>타고 갈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내가 배출한 탄소양은 </a:t>
            </a:r>
            <a:r>
              <a:rPr lang="en-US" altLang="ko-KR" sz="1600" spc="-50" dirty="0"/>
              <a:t>1.41 kg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(=706kg/500</a:t>
            </a:r>
            <a:r>
              <a:rPr lang="ko-KR" altLang="en-US" sz="1600" spc="-50" dirty="0"/>
              <a:t>명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된다</a:t>
            </a:r>
            <a:r>
              <a:rPr lang="en-US" altLang="ko-KR" sz="1600" spc="-50" dirty="0"/>
              <a:t>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24FD00-6CCA-67E4-C7E1-327D831E64FA}"/>
              </a:ext>
            </a:extLst>
          </p:cNvPr>
          <p:cNvSpPr txBox="1"/>
          <p:nvPr/>
        </p:nvSpPr>
        <p:spPr>
          <a:xfrm>
            <a:off x="7771167" y="5842481"/>
            <a:ext cx="395719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https://www.korail.com/ticket/train/trainGuide/seatingPlan#</a:t>
            </a:r>
          </a:p>
        </p:txBody>
      </p:sp>
    </p:spTree>
    <p:extLst>
      <p:ext uri="{BB962C8B-B14F-4D97-AF65-F5344CB8AC3E}">
        <p14:creationId xmlns:p14="http://schemas.microsoft.com/office/powerpoint/2010/main" val="34118027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D5D75-AE08-9D14-F325-C3C8341CF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3DB650-9F62-B016-26E7-A51A5588C03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7DE89E-7FA9-E380-B128-BD46BE3D0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637780E-F9B8-5A05-4D28-481D17BB0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종합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789809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BC6B7A-E263-4E10-6FC8-628F7326F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en-US" altLang="ko-KR" dirty="0"/>
              <a:t>vs. KTX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757C5F-D107-4398-4207-7BAEE7793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C63E35-8DC2-F0EF-A6DE-1A1640FF2F53}"/>
              </a:ext>
            </a:extLst>
          </p:cNvPr>
          <p:cNvSpPr txBox="1"/>
          <p:nvPr/>
        </p:nvSpPr>
        <p:spPr>
          <a:xfrm>
            <a:off x="288790" y="958844"/>
            <a:ext cx="110459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계산한 것들을 종합해보자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여러분들은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어떤 교통수단을 택할 것인가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자가용이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보다 </a:t>
            </a:r>
            <a:r>
              <a:rPr lang="en-US" altLang="ko-KR" sz="1600" spc="-50" dirty="0"/>
              <a:t>11,722</a:t>
            </a:r>
            <a:r>
              <a:rPr lang="ko-KR" altLang="en-US" sz="1600" spc="-50" dirty="0"/>
              <a:t>원 정도 싸다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자가용 승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자가용의 탄소배출량은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보다 </a:t>
            </a:r>
            <a:r>
              <a:rPr lang="en-US" altLang="ko-KR" sz="1600" spc="-50" dirty="0"/>
              <a:t>3.9</a:t>
            </a:r>
            <a:r>
              <a:rPr lang="ko-KR" altLang="en-US" sz="1600" spc="-50" dirty="0"/>
              <a:t>배 많다</a:t>
            </a:r>
            <a:r>
              <a:rPr lang="en-US" altLang="ko-KR" sz="1600" spc="-50" dirty="0"/>
              <a:t>. (KTX </a:t>
            </a:r>
            <a:r>
              <a:rPr lang="ko-KR" altLang="en-US" sz="1600" spc="-50" dirty="0"/>
              <a:t>승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자가용을 타면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보다 </a:t>
            </a:r>
            <a:r>
              <a:rPr lang="en-US" altLang="ko-KR" sz="1600" spc="-50" dirty="0"/>
              <a:t>2.3</a:t>
            </a:r>
            <a:r>
              <a:rPr lang="ko-KR" altLang="en-US" sz="1600" spc="-50" dirty="0"/>
              <a:t>배 많은 시간이 걸린다 </a:t>
            </a:r>
            <a:r>
              <a:rPr lang="en-US" altLang="ko-KR" sz="1600" spc="-50" dirty="0"/>
              <a:t>(KTX </a:t>
            </a:r>
            <a:r>
              <a:rPr lang="ko-KR" altLang="en-US" sz="1600" spc="-50" dirty="0"/>
              <a:t>승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38834B0-4582-10CD-D311-3430A4F26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7651640"/>
              </p:ext>
            </p:extLst>
          </p:nvPr>
        </p:nvGraphicFramePr>
        <p:xfrm>
          <a:off x="889123" y="2087750"/>
          <a:ext cx="6413196" cy="12281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032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603299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60329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603299">
                  <a:extLst>
                    <a:ext uri="{9D8B030D-6E8A-4147-A177-3AD203B41FA5}">
                      <a16:colId xmlns:a16="http://schemas.microsoft.com/office/drawing/2014/main" val="1345002892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항 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자가용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KTX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비교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총비용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인당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24,478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36,200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 (24,478/36,200)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탄소 배출량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인당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5.50kg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1.41kg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 (5.50/1.41)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소요시간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(204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30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 (204/90)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93663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97857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F8630-9A74-D8AF-6C36-64512C0EC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7B0777-CDD3-6439-D815-CE30CDFB5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알 수 있었던 것들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5302E2-3DDA-66CD-AD4D-1ADBEEE77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9EB79A-5C3F-0F04-7AF5-02BDFDCEAB0F}"/>
              </a:ext>
            </a:extLst>
          </p:cNvPr>
          <p:cNvSpPr txBox="1"/>
          <p:nvPr/>
        </p:nvSpPr>
        <p:spPr>
          <a:xfrm>
            <a:off x="288790" y="958844"/>
            <a:ext cx="110459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전기소비도 탄소를 간접적으로 배출하고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심지어 전기가 휘발유보다 배출계수가 더 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아직 우리나라는 전기를 만드는데 화석연료를 많이 사용하고 있다는 뜻이다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앞으로 태양광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풍력 등 재생에너지를 지금보다 많이 활용하여 전기를 생산하면 전력 배출계수는 더 낮아진다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전기를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재생에너지로 생산하면 전력배출계수는 </a:t>
            </a:r>
            <a:r>
              <a:rPr lang="en-US" altLang="ko-KR" sz="1600" spc="-50" dirty="0"/>
              <a:t>0 </a:t>
            </a:r>
            <a:r>
              <a:rPr lang="ko-KR" altLang="en-US" sz="1600" spc="-50" dirty="0"/>
              <a:t>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훨씬 무거운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가 자가용보다 </a:t>
            </a:r>
            <a:r>
              <a:rPr lang="en-US" altLang="ko-KR" sz="1600" spc="-50" dirty="0"/>
              <a:t>1km </a:t>
            </a:r>
            <a:r>
              <a:rPr lang="ko-KR" altLang="en-US" sz="1600" spc="-50" dirty="0"/>
              <a:t>가는데 에너지가 많이 들긴 했지만</a:t>
            </a:r>
            <a:r>
              <a:rPr lang="en-US" altLang="ko-KR" sz="1600" spc="-50" dirty="0"/>
              <a:t>, KTX</a:t>
            </a:r>
            <a:r>
              <a:rPr lang="ko-KR" altLang="en-US" sz="1600" spc="-50" dirty="0"/>
              <a:t>는 많은 사람들을 태우고 다니기 때문에 훨씬 친환경적이었다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결론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왜 대중교통이 더 </a:t>
            </a:r>
            <a:r>
              <a:rPr lang="ko-KR" altLang="en-US" sz="1600" spc="-50" dirty="0" err="1"/>
              <a:t>친환경적인걸까</a:t>
            </a:r>
            <a:r>
              <a:rPr lang="en-US" altLang="ko-KR" sz="1600" spc="-50" dirty="0"/>
              <a:t>?)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전기는 생산방식에 따라 배출계수가 달라지는 것이었다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태양광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풍력 등 재생에너지를 통해 전력을 공급하면 전기의 배출계수는 휘발유보다 낮아질 가능성이 충분히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전기가 휘발유보다 탄소를 더 많이 배출하는 에너지원이었지만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대중교통은 사람을 한 번에 많이 </a:t>
            </a:r>
            <a:r>
              <a:rPr lang="ko-KR" altLang="en-US" sz="1600" spc="-50" dirty="0" err="1"/>
              <a:t>실어나르기</a:t>
            </a:r>
            <a:r>
              <a:rPr lang="ko-KR" altLang="en-US" sz="1600" spc="-50" dirty="0"/>
              <a:t> 때문에 효율적이었던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0032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EDE1B-D2A3-1029-C107-0C1A84D47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5C92BD-5CC2-122A-4704-E431976A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다른 생각해볼 것들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CA8F6C-93D3-E068-5D09-B17F218A1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7CA114-3463-CCFA-4518-8FA1A44ED480}"/>
              </a:ext>
            </a:extLst>
          </p:cNvPr>
          <p:cNvSpPr txBox="1"/>
          <p:nvPr/>
        </p:nvSpPr>
        <p:spPr>
          <a:xfrm>
            <a:off x="288790" y="958844"/>
            <a:ext cx="110459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이동비용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 측면에서 살펴보았는데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탄소배출과 시간도 비용으로 계산할 수 있지 않을까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탄소배출에 가격을 매기는 정책은 우리나라는 물론 많은 선진국들이 실제로 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아직 까지는 탄소배출이 많은 기업들을 대상으로만 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>
                <a:hlinkClick r:id="rId2"/>
              </a:rPr>
              <a:t>배출권거래제 정책 개요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‘</a:t>
            </a:r>
            <a:r>
              <a:rPr lang="ko-KR" altLang="en-US" sz="1600" spc="-50" dirty="0"/>
              <a:t>시간은 금이다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라는 말도 있듯이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사람의 임금을 고려하여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소요 시간을 비용으로도 계산할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심지어 자가용을 이용하면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운전자는 그 시간을 누리지 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명이 아닌 네 명이 놀러 간다면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인당 비용과 탄소배출량이 대폭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평소에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함께타기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를 실천해보자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자가용을 혼자 타고 다니면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대중교통 대비 비용 및 환경 측면에 매우 안 좋은 영향을 끼친다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450433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8898</TotalTime>
  <Words>2481</Words>
  <Application>Microsoft Office PowerPoint</Application>
  <PresentationFormat>와이드스크린</PresentationFormat>
  <Paragraphs>314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5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생 활 속 의   경 제</vt:lpstr>
      <vt:lpstr>부산 놀러가기</vt:lpstr>
      <vt:lpstr>부산 놀러가기</vt:lpstr>
      <vt:lpstr>Section 1-1. 자가용 (비용)</vt:lpstr>
      <vt:lpstr>승용차를 이용할 때 드는 비용</vt:lpstr>
      <vt:lpstr>자가용 정보</vt:lpstr>
      <vt:lpstr>연료비용</vt:lpstr>
      <vt:lpstr>통행료</vt:lpstr>
      <vt:lpstr>부산역까지 드는 총 비용</vt:lpstr>
      <vt:lpstr>Section 1-2. 자가용 (탄소배출)</vt:lpstr>
      <vt:lpstr>자가용 이용시 탄소배출량</vt:lpstr>
      <vt:lpstr>자가용 이용시 탄소배출량</vt:lpstr>
      <vt:lpstr>SI 접두어</vt:lpstr>
      <vt:lpstr>자가용 이용시 탄소배출량</vt:lpstr>
      <vt:lpstr>자가용 이용시 탄소배출량</vt:lpstr>
      <vt:lpstr>자가용 이용시 탄소배출량</vt:lpstr>
      <vt:lpstr>Section 2-1. KTX (비용)</vt:lpstr>
      <vt:lpstr>대중교통을 이용할 때 드는 비용</vt:lpstr>
      <vt:lpstr>Section 2-2. KTX (탄소배출)</vt:lpstr>
      <vt:lpstr>KTX 이용시 탄소배출량</vt:lpstr>
      <vt:lpstr>KTX 이용시 탄소배출량</vt:lpstr>
      <vt:lpstr>KTX 이용시 탄소배출량</vt:lpstr>
      <vt:lpstr>KTX 이용시 탄소배출량</vt:lpstr>
      <vt:lpstr>Section 3. 종합</vt:lpstr>
      <vt:lpstr>자가용 vs. KTX</vt:lpstr>
      <vt:lpstr>알 수 있었던 것들</vt:lpstr>
      <vt:lpstr>다른 생각해볼 것들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471</cp:revision>
  <dcterms:created xsi:type="dcterms:W3CDTF">2025-07-05T05:15:23Z</dcterms:created>
  <dcterms:modified xsi:type="dcterms:W3CDTF">2026-04-20T00:52:39Z</dcterms:modified>
</cp:coreProperties>
</file>