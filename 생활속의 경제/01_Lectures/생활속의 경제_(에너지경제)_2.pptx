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7"/>
  </p:notesMasterIdLst>
  <p:sldIdLst>
    <p:sldId id="375" r:id="rId2"/>
    <p:sldId id="622" r:id="rId3"/>
    <p:sldId id="606" r:id="rId4"/>
    <p:sldId id="623" r:id="rId5"/>
    <p:sldId id="615" r:id="rId6"/>
    <p:sldId id="607" r:id="rId7"/>
    <p:sldId id="624" r:id="rId8"/>
    <p:sldId id="618" r:id="rId9"/>
    <p:sldId id="619" r:id="rId10"/>
    <p:sldId id="625" r:id="rId11"/>
    <p:sldId id="620" r:id="rId12"/>
    <p:sldId id="621" r:id="rId13"/>
    <p:sldId id="626" r:id="rId14"/>
    <p:sldId id="616" r:id="rId15"/>
    <p:sldId id="627" r:id="rId16"/>
    <p:sldId id="609" r:id="rId17"/>
    <p:sldId id="610" r:id="rId18"/>
    <p:sldId id="612" r:id="rId19"/>
    <p:sldId id="611" r:id="rId20"/>
    <p:sldId id="613" r:id="rId21"/>
    <p:sldId id="614" r:id="rId22"/>
    <p:sldId id="628" r:id="rId23"/>
    <p:sldId id="629" r:id="rId24"/>
    <p:sldId id="630" r:id="rId25"/>
    <p:sldId id="566" r:id="rId26"/>
    <p:sldId id="552" r:id="rId27"/>
    <p:sldId id="572" r:id="rId28"/>
    <p:sldId id="577" r:id="rId29"/>
    <p:sldId id="575" r:id="rId30"/>
    <p:sldId id="578" r:id="rId31"/>
    <p:sldId id="584" r:id="rId32"/>
    <p:sldId id="586" r:id="rId33"/>
    <p:sldId id="585" r:id="rId34"/>
    <p:sldId id="590" r:id="rId35"/>
    <p:sldId id="593" r:id="rId36"/>
    <p:sldId id="591" r:id="rId37"/>
    <p:sldId id="587" r:id="rId38"/>
    <p:sldId id="592" r:id="rId39"/>
    <p:sldId id="594" r:id="rId40"/>
    <p:sldId id="596" r:id="rId41"/>
    <p:sldId id="597" r:id="rId42"/>
    <p:sldId id="602" r:id="rId43"/>
    <p:sldId id="595" r:id="rId44"/>
    <p:sldId id="567" r:id="rId45"/>
    <p:sldId id="598" r:id="rId46"/>
    <p:sldId id="599" r:id="rId47"/>
    <p:sldId id="601" r:id="rId48"/>
    <p:sldId id="603" r:id="rId49"/>
    <p:sldId id="600" r:id="rId50"/>
    <p:sldId id="605" r:id="rId51"/>
    <p:sldId id="364" r:id="rId52"/>
    <p:sldId id="579" r:id="rId53"/>
    <p:sldId id="576" r:id="rId54"/>
    <p:sldId id="617" r:id="rId55"/>
    <p:sldId id="582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3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4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point.or.kr/netzero/main.d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askinno.com/archives/36348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l08Po8yrEo?si=4VwWGmhbQWH0RQLK" TargetMode="External"/><Relationship Id="rId2" Type="http://schemas.openxmlformats.org/officeDocument/2006/relationships/hyperlink" Target="https://www.youtube.com/shorts/k4JpGtdyu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kaXLPJW1Fg&amp;t=329s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B03C-8CD9-666A-9243-F1644F66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F926D2-E065-E815-DA3E-22FD6B2D00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5C96E6-77BA-57A9-6050-5AB471CD4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F7FB152-5A5D-A49E-2F07-921772E8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73829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D75C3-7FD4-D991-DE6F-BC19E3904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013E8-FF49-56CE-9C13-7E3A7809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DDAD-111A-FCF3-241A-B8FA33E0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34A16-4778-BA05-E1A1-955B29D946C3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에너지경제학은 에너지 공급 및 소비와 관련한 주제를 연구하는 분야로서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에너지의 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 그리고 소비 등 에너지 자원의 경제적 측면의 문제를 분석하는 분야이다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목표는 에너지 자원의 효율적 이용과 시장에서의 배분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정책의 영향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에너지와 환경의 상호작용을 분석하는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고효율 가전제품 구매비용 지원정책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부제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태양광 보조금 정책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분석 대상은 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등 주요 에너지원을 포괄하며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에너지원의 물리적 특성과 시장구조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 결정 메커니즘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도구 등을 이해하는 것을 바탕으로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6602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12AED-B479-7234-9161-24D33E13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60C5C-1538-976F-F065-E676AA956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38B33-F24E-1F7D-647B-106D0A9C2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EDA03-ED3B-D77C-2396-FFD35462640B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에너지와 산업혁명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석탄을 중심으로 한 증기기관은 산업 생산의 핵심동력 이었다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내연 기관 기술의 확산과 교통부문의 핵심 에너지원으로 자리하게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화석연료의 사용은 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 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 등의 문제를 초래하였다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현대사회에서의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공급의 안정성은 경제 안정과 성장의 필수 요소로 작용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소비가 환경에 미치는 영향이 중요한 이슈로 대두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미래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지속가능한 에너지와 기후변화 대응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 소비중심에서 점진적으로 재생가능한 에너지원으로 이동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기술혁신이 에너지 시스템의 큰 변화를 몰고 올 것으로 예상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 저장 장치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스마트그리드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고효율 기기 등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807385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81B3A-25CC-FE56-D485-39A60355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0788EC-9CCC-9B97-4486-2F64D3CC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0D27A6-459E-DEC8-BE45-A74A4C5D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1F3F8D-6614-D54D-DA4A-2C56FD3F5945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일상 생활을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한번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당연히 충전을 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저절로 생산되지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전국 각지에서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등을 태워서 만든 전기가 전선을 타고 이동해온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전기소비도 간접적인 화석연료 소비임을 잊지 말자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이동할 때 차를 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대부분의 자가용은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경유를 연료로 하는 경우가 많다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시내버스는 대부분 </a:t>
            </a:r>
            <a:r>
              <a:rPr lang="en-US" altLang="ko-KR" sz="1600" spc="-50" dirty="0"/>
              <a:t>CNG (Compressed Natural Gas)</a:t>
            </a:r>
            <a:r>
              <a:rPr lang="ko-KR" altLang="en-US" sz="1600" spc="-50" dirty="0"/>
              <a:t>를 연료로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냉방기기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난방기기를 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전기를 많이 사용하고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가스보일러를 사용하는 집도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밥을 먹어야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요리 할 때 가스레인지를 켜면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입고 있는 옷의 대부분이 합성섬유다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합성섬유의 원료는 석유로부터 나온다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0625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14CBF-8048-8A87-D698-A17E533E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98C714-55C4-66BD-6061-7CB55AD1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 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E7D16-2ED3-2A61-78FC-090DADE0B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F4F-D738-4AAA-FBE2-FCE64BE6F021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주간에 걸쳐 다음의 내용을 다루고자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 시간</a:t>
            </a:r>
            <a:r>
              <a:rPr lang="en-US" altLang="ko-KR" sz="1600" spc="-50" dirty="0"/>
              <a:t>, 3/30(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현재 우리가 살아가는 삶의 방식이 어떻게 기후변화를 일으키고 있는지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메커니즘을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소비 → 온실가스 배출 → 지구온난화 → 기후변화 → </a:t>
            </a:r>
            <a:r>
              <a:rPr lang="en-US" altLang="ko-KR" sz="1600" spc="-50" dirty="0"/>
              <a:t>??????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기후변화는 이미 시작이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기후변화 속에 살고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아직 미미한 수준이다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예전에는 관측되지 않았던 폭염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폭우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등이 발생하고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본격적으로 기후변화가 심해지면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 삶의 방식은 어떻게 변할까</a:t>
            </a:r>
            <a:r>
              <a:rPr lang="en-US" altLang="ko-KR" sz="1600" spc="-50" dirty="0"/>
              <a:t>??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지구상에 아직 겪어본 사람이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어떤 사회가 될지 상상해보자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이건 각자 알아서 숙제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시간</a:t>
            </a:r>
            <a:r>
              <a:rPr lang="en-US" altLang="ko-KR" sz="1600" spc="-50" dirty="0"/>
              <a:t>, 4/20(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나부터 기후변화 대응을 위해 할 수 있는 일을 생각해보자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생각해볼 수 있는 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 대신 대중교통을 이용하면 탄소중립포인트를 준다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대중교통을 이용하면 어떤 이유에서 탄소배출이 줄어 드는 건지 경제적으로 따져보는 시간을 가져보자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아주 사소한 일부터 습관을 들여보자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기후변화를 조금이라도 늦추거나 막을 수 있지 않을까</a:t>
            </a:r>
            <a:r>
              <a:rPr lang="en-US" altLang="ko-KR" sz="1600" spc="-50" dirty="0"/>
              <a:t>? (</a:t>
            </a:r>
            <a:r>
              <a:rPr lang="ko-KR" altLang="en-US" sz="1600" spc="-50" dirty="0"/>
              <a:t>이것도 각자 알아서 숙제</a:t>
            </a:r>
            <a:r>
              <a:rPr lang="en-US" altLang="ko-KR" sz="1600" spc="-5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44B9C-E16C-71EA-0C09-CF74E0EDE7D5}"/>
              </a:ext>
            </a:extLst>
          </p:cNvPr>
          <p:cNvSpPr txBox="1"/>
          <p:nvPr/>
        </p:nvSpPr>
        <p:spPr>
          <a:xfrm>
            <a:off x="8852670" y="4720074"/>
            <a:ext cx="31297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탄소중립 포인트 혜택 받기</a:t>
            </a:r>
            <a:r>
              <a:rPr lang="en-US" altLang="ko-KR" sz="1200" dirty="0"/>
              <a:t>: </a:t>
            </a:r>
            <a:r>
              <a:rPr lang="ko-KR" altLang="en-US" sz="1200" dirty="0">
                <a:hlinkClick r:id="rId2"/>
              </a:rPr>
              <a:t>클릭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65466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8FED-FBF3-FDD9-540C-F9534D9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64C06A-5978-8D92-29E0-A12DCED7E9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7AB47-7DBA-882A-19B4-F268C3F7D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E8C305B-9E02-82AD-8713-B11DD5D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에너지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5647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628-F716-3456-11F9-75E85A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87C41-359E-445E-4EF2-4B5F605AF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E43956-E5C6-A458-CAB5-589149DC6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362C4-F49E-3D27-18FB-240541FF84FE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5155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BFF5-7A07-9669-E1B0-3FCB3A71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886B3-DA2D-95B7-563E-D141047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국가 에너지 시스템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2BAFA-E8E8-6ED0-C5B3-F85F39DB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292EE-3066-048B-CC5E-441ADCF49812}"/>
              </a:ext>
            </a:extLst>
          </p:cNvPr>
          <p:cNvSpPr txBox="1"/>
          <p:nvPr/>
        </p:nvSpPr>
        <p:spPr>
          <a:xfrm>
            <a:off x="288790" y="958844"/>
            <a:ext cx="9623649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전체적으로 우리나라의 에너지는 어떻게 공급이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어디에 소비되고 있는지 전체적으로 살펴보자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73A029-06A1-121C-6923-32F9DC417D42}"/>
              </a:ext>
            </a:extLst>
          </p:cNvPr>
          <p:cNvGrpSpPr/>
          <p:nvPr/>
        </p:nvGrpSpPr>
        <p:grpSpPr>
          <a:xfrm>
            <a:off x="795972" y="1638300"/>
            <a:ext cx="10194874" cy="5035152"/>
            <a:chOff x="1642959" y="2388201"/>
            <a:chExt cx="6269495" cy="3089463"/>
          </a:xfrm>
        </p:grpSpPr>
        <p:pic>
          <p:nvPicPr>
            <p:cNvPr id="6" name="Picture 14">
              <a:extLst>
                <a:ext uri="{FF2B5EF4-FFF2-40B4-BE49-F238E27FC236}">
                  <a16:creationId xmlns:a16="http://schemas.microsoft.com/office/drawing/2014/main" id="{50E63222-FAF4-CADC-BB5D-0225EEFE3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8492"/>
            <a:stretch>
              <a:fillRect/>
            </a:stretch>
          </p:blipFill>
          <p:spPr>
            <a:xfrm>
              <a:off x="1694979" y="2388201"/>
              <a:ext cx="6217475" cy="30696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A3A539F-DCDE-ABF0-691F-8CD16A1E69C4}"/>
                </a:ext>
              </a:extLst>
            </p:cNvPr>
            <p:cNvSpPr/>
            <p:nvPr/>
          </p:nvSpPr>
          <p:spPr>
            <a:xfrm>
              <a:off x="4454876" y="3870318"/>
              <a:ext cx="119550" cy="8810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C38535F-2E35-A78E-DACD-36AFB3187B31}"/>
                </a:ext>
              </a:extLst>
            </p:cNvPr>
            <p:cNvSpPr/>
            <p:nvPr/>
          </p:nvSpPr>
          <p:spPr>
            <a:xfrm>
              <a:off x="1753076" y="4555161"/>
              <a:ext cx="972706" cy="833601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1087289-E264-222A-8110-8943617EEF51}"/>
                </a:ext>
              </a:extLst>
            </p:cNvPr>
            <p:cNvSpPr/>
            <p:nvPr/>
          </p:nvSpPr>
          <p:spPr>
            <a:xfrm>
              <a:off x="3858936" y="2403960"/>
              <a:ext cx="1875114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1AA6CD9-FCBD-FFF0-C764-7D36EE478D74}"/>
                </a:ext>
              </a:extLst>
            </p:cNvPr>
            <p:cNvSpPr/>
            <p:nvPr/>
          </p:nvSpPr>
          <p:spPr>
            <a:xfrm>
              <a:off x="3802370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1CE3E7E-8D0C-11B6-3C16-B8DAA3492BCA}"/>
                </a:ext>
              </a:extLst>
            </p:cNvPr>
            <p:cNvSpPr/>
            <p:nvPr/>
          </p:nvSpPr>
          <p:spPr>
            <a:xfrm>
              <a:off x="4751697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7AA7EC2-EFE5-9FAF-2BF1-F2E1ECA056A0}"/>
                </a:ext>
              </a:extLst>
            </p:cNvPr>
            <p:cNvSpPr/>
            <p:nvPr/>
          </p:nvSpPr>
          <p:spPr>
            <a:xfrm>
              <a:off x="1642959" y="5443708"/>
              <a:ext cx="6217475" cy="339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4A3797B-A720-6A7D-F47C-D329D4EE45E8}"/>
                </a:ext>
              </a:extLst>
            </p:cNvPr>
            <p:cNvCxnSpPr>
              <a:cxnSpLocks/>
            </p:cNvCxnSpPr>
            <p:nvPr/>
          </p:nvCxnSpPr>
          <p:spPr>
            <a:xfrm>
              <a:off x="4740735" y="5201180"/>
              <a:ext cx="0" cy="203003"/>
            </a:xfrm>
            <a:prstGeom prst="line">
              <a:avLst/>
            </a:prstGeom>
            <a:ln w="2222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04E223E-E565-D4AE-A17C-470CFF9BA9E4}"/>
                </a:ext>
              </a:extLst>
            </p:cNvPr>
            <p:cNvSpPr/>
            <p:nvPr/>
          </p:nvSpPr>
          <p:spPr>
            <a:xfrm>
              <a:off x="1707678" y="4310557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48A3AF2-946B-F14A-A503-CB2743C60297}"/>
                </a:ext>
              </a:extLst>
            </p:cNvPr>
            <p:cNvSpPr/>
            <p:nvPr/>
          </p:nvSpPr>
          <p:spPr>
            <a:xfrm>
              <a:off x="7680382" y="3428999"/>
              <a:ext cx="90431" cy="164147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F1B2254-8FAA-916D-1F49-08AB90CB4425}"/>
                </a:ext>
              </a:extLst>
            </p:cNvPr>
            <p:cNvSpPr/>
            <p:nvPr/>
          </p:nvSpPr>
          <p:spPr>
            <a:xfrm>
              <a:off x="7770813" y="3389299"/>
              <a:ext cx="141641" cy="2068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E1B75C9-BBDD-7AA6-2C81-92ED5800B013}"/>
                </a:ext>
              </a:extLst>
            </p:cNvPr>
            <p:cNvSpPr/>
            <p:nvPr/>
          </p:nvSpPr>
          <p:spPr>
            <a:xfrm>
              <a:off x="2879582" y="3138487"/>
              <a:ext cx="325582" cy="125413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6930EB1-4654-2150-8F99-FE8199CC6C4A}"/>
                </a:ext>
              </a:extLst>
            </p:cNvPr>
            <p:cNvSpPr/>
            <p:nvPr/>
          </p:nvSpPr>
          <p:spPr>
            <a:xfrm>
              <a:off x="3678094" y="3733397"/>
              <a:ext cx="77931" cy="9089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54B6D96-27FE-E09A-8517-981317756AF6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611321"/>
              <a:ext cx="0" cy="309679"/>
            </a:xfrm>
            <a:prstGeom prst="line">
              <a:avLst/>
            </a:prstGeom>
            <a:ln>
              <a:solidFill>
                <a:srgbClr val="D77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7F2B8734-ABC7-603B-820E-416A5E35466C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921530"/>
              <a:ext cx="0" cy="36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BCC563-6176-D1BF-CAC9-017043AA4CBC}"/>
                </a:ext>
              </a:extLst>
            </p:cNvPr>
            <p:cNvSpPr/>
            <p:nvPr/>
          </p:nvSpPr>
          <p:spPr>
            <a:xfrm>
              <a:off x="3928373" y="2943712"/>
              <a:ext cx="276916" cy="45719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A189402-38E6-5F3D-E270-DA139406BF15}"/>
              </a:ext>
            </a:extLst>
          </p:cNvPr>
          <p:cNvSpPr txBox="1"/>
          <p:nvPr/>
        </p:nvSpPr>
        <p:spPr>
          <a:xfrm>
            <a:off x="3410787" y="1679072"/>
            <a:ext cx="46838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에너지 공급과 수요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2C2631-A087-B3B1-BBA0-A4FEB15233E8}"/>
              </a:ext>
            </a:extLst>
          </p:cNvPr>
          <p:cNvSpPr/>
          <p:nvPr/>
        </p:nvSpPr>
        <p:spPr>
          <a:xfrm>
            <a:off x="864118" y="4847936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 err="1">
                <a:solidFill>
                  <a:schemeClr val="tx1"/>
                </a:solidFill>
              </a:rPr>
              <a:t>고갈성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88811B5E-A2EC-79BB-9431-0EBB912B7AD5}"/>
              </a:ext>
            </a:extLst>
          </p:cNvPr>
          <p:cNvSpPr/>
          <p:nvPr/>
        </p:nvSpPr>
        <p:spPr>
          <a:xfrm>
            <a:off x="2685483" y="4199607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재생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4847CD5-3181-3EBD-A081-7EC77216BF43}"/>
              </a:ext>
            </a:extLst>
          </p:cNvPr>
          <p:cNvSpPr/>
          <p:nvPr/>
        </p:nvSpPr>
        <p:spPr>
          <a:xfrm>
            <a:off x="4318958" y="3235435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2</a:t>
            </a:r>
            <a:r>
              <a:rPr lang="ko-KR" altLang="en-US" sz="1200" dirty="0">
                <a:solidFill>
                  <a:schemeClr val="tx1"/>
                </a:solidFill>
              </a:rPr>
              <a:t>차에너지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211EEC6-6D70-4AD8-8C15-F71D319C6CCD}"/>
              </a:ext>
            </a:extLst>
          </p:cNvPr>
          <p:cNvSpPr/>
          <p:nvPr/>
        </p:nvSpPr>
        <p:spPr>
          <a:xfrm>
            <a:off x="9534244" y="2588881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소비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012D933-7016-AF29-633A-C65A6F575BE0}"/>
              </a:ext>
            </a:extLst>
          </p:cNvPr>
          <p:cNvSpPr/>
          <p:nvPr/>
        </p:nvSpPr>
        <p:spPr>
          <a:xfrm>
            <a:off x="6443910" y="5261686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시장</a:t>
            </a:r>
          </a:p>
        </p:txBody>
      </p:sp>
    </p:spTree>
    <p:extLst>
      <p:ext uri="{BB962C8B-B14F-4D97-AF65-F5344CB8AC3E}">
        <p14:creationId xmlns:p14="http://schemas.microsoft.com/office/powerpoint/2010/main" val="3798934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CE269-C703-4883-B312-AEF8DBBC9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FED5DF-A141-9E30-F268-84D1EAC8DE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FA9C5-7009-CCA4-246A-EFD61FEA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E62BF0-F474-241D-DC3C-074D6E657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석유제품의 공급과 수요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170149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전슬라이드</a:t>
            </a:r>
            <a:r>
              <a:rPr lang="ko-KR" altLang="en-US" sz="1600" spc="-50" dirty="0"/>
              <a:t> 그림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정유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유류시장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최종소비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160041" y="4340086"/>
            <a:ext cx="3416853" cy="2060717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연료로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C42BD-6EF3-8C5C-0DCE-5AFE38EA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375175-7FBD-DAE9-3B19-90B9F29669C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9C4E87-E6B6-96F8-1986-D6711196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FD94E1-C279-D588-3A1F-93691CA6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에너지 소비와 기후변화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77300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A23D-68B9-511A-8DF2-69E6C2E8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26E8D-1566-C5FD-759C-9E3FD1806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3CDF-2893-2EAA-EF59-9A3581927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8A011-AF77-28B3-3A48-72BF368F166A}"/>
              </a:ext>
            </a:extLst>
          </p:cNvPr>
          <p:cNvSpPr txBox="1"/>
          <p:nvPr/>
        </p:nvSpPr>
        <p:spPr>
          <a:xfrm>
            <a:off x="288790" y="961732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에너지소비는 아래의 과정을 통해 기후 변화를 유발한다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06567E8-CA34-5B11-A73E-C1C7F3D416F4}"/>
              </a:ext>
            </a:extLst>
          </p:cNvPr>
          <p:cNvGrpSpPr/>
          <p:nvPr/>
        </p:nvGrpSpPr>
        <p:grpSpPr>
          <a:xfrm>
            <a:off x="470393" y="1954717"/>
            <a:ext cx="2221292" cy="2484408"/>
            <a:chOff x="932645" y="2355565"/>
            <a:chExt cx="3185690" cy="3563040"/>
          </a:xfrm>
        </p:grpSpPr>
        <p:sp>
          <p:nvSpPr>
            <p:cNvPr id="12" name="자유형 9">
              <a:extLst>
                <a:ext uri="{FF2B5EF4-FFF2-40B4-BE49-F238E27FC236}">
                  <a16:creationId xmlns:a16="http://schemas.microsoft.com/office/drawing/2014/main" id="{35B1F759-BBE5-49C8-2D1D-8075ED0CEA83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71B66F7-944B-6BA5-4B28-B32C9E5A1198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에너지 소비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현대사회에서 에너지를 사용하지 않고는 하루도 살아갈 수 없다</a:t>
              </a:r>
              <a:r>
                <a:rPr lang="en-US" altLang="ko-KR" sz="1300" dirty="0"/>
                <a:t>.</a:t>
              </a: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570EE60-F866-6E30-0EDE-EA82DCC943C2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07D7C41-C79A-B26C-19F3-74254306A628}"/>
              </a:ext>
            </a:extLst>
          </p:cNvPr>
          <p:cNvGrpSpPr/>
          <p:nvPr/>
        </p:nvGrpSpPr>
        <p:grpSpPr>
          <a:xfrm>
            <a:off x="3326451" y="1954717"/>
            <a:ext cx="2221292" cy="2484408"/>
            <a:chOff x="932645" y="2355565"/>
            <a:chExt cx="3185690" cy="3563040"/>
          </a:xfrm>
        </p:grpSpPr>
        <p:sp>
          <p:nvSpPr>
            <p:cNvPr id="36" name="자유형 9">
              <a:extLst>
                <a:ext uri="{FF2B5EF4-FFF2-40B4-BE49-F238E27FC236}">
                  <a16:creationId xmlns:a16="http://schemas.microsoft.com/office/drawing/2014/main" id="{83D3C074-85EF-701B-A998-E43F8C26B955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826243B-A00E-7A15-FAF2-E6216A5C2B4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온실가스 배출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화석에너지를 사용하면 온실가스 배출이 발생한다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B0B786D-6F50-9D15-42A4-914E5D530AA0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42" name="자유형 9">
            <a:extLst>
              <a:ext uri="{FF2B5EF4-FFF2-40B4-BE49-F238E27FC236}">
                <a16:creationId xmlns:a16="http://schemas.microsoft.com/office/drawing/2014/main" id="{D2E5CC0B-7EBD-ADD6-DA19-7423FA6A9A29}"/>
              </a:ext>
            </a:extLst>
          </p:cNvPr>
          <p:cNvSpPr/>
          <p:nvPr/>
        </p:nvSpPr>
        <p:spPr>
          <a:xfrm>
            <a:off x="6182509" y="2210273"/>
            <a:ext cx="2221292" cy="2228852"/>
          </a:xfrm>
          <a:custGeom>
            <a:avLst/>
            <a:gdLst>
              <a:gd name="connsiteX0" fmla="*/ 1209675 w 2411145"/>
              <a:gd name="connsiteY0" fmla="*/ 0 h 2419350"/>
              <a:gd name="connsiteX1" fmla="*/ 2394774 w 2411145"/>
              <a:gd name="connsiteY1" fmla="*/ 965883 h 2419350"/>
              <a:gd name="connsiteX2" fmla="*/ 2411145 w 2411145"/>
              <a:gd name="connsiteY2" fmla="*/ 1073150 h 2419350"/>
              <a:gd name="connsiteX3" fmla="*/ 2325828 w 2411145"/>
              <a:gd name="connsiteY3" fmla="*/ 1073150 h 2419350"/>
              <a:gd name="connsiteX4" fmla="*/ 2189303 w 2411145"/>
              <a:gd name="connsiteY4" fmla="*/ 1209675 h 2419350"/>
              <a:gd name="connsiteX5" fmla="*/ 2325828 w 2411145"/>
              <a:gd name="connsiteY5" fmla="*/ 1346200 h 2419350"/>
              <a:gd name="connsiteX6" fmla="*/ 2411145 w 2411145"/>
              <a:gd name="connsiteY6" fmla="*/ 1346200 h 2419350"/>
              <a:gd name="connsiteX7" fmla="*/ 2394774 w 2411145"/>
              <a:gd name="connsiteY7" fmla="*/ 1453467 h 2419350"/>
              <a:gd name="connsiteX8" fmla="*/ 1209675 w 2411145"/>
              <a:gd name="connsiteY8" fmla="*/ 2419350 h 2419350"/>
              <a:gd name="connsiteX9" fmla="*/ 0 w 2411145"/>
              <a:gd name="connsiteY9" fmla="*/ 1209675 h 2419350"/>
              <a:gd name="connsiteX10" fmla="*/ 1209675 w 2411145"/>
              <a:gd name="connsiteY10" fmla="*/ 0 h 241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11145" h="2419350">
                <a:moveTo>
                  <a:pt x="1209675" y="0"/>
                </a:moveTo>
                <a:cubicBezTo>
                  <a:pt x="1794250" y="0"/>
                  <a:pt x="2281976" y="414655"/>
                  <a:pt x="2394774" y="965883"/>
                </a:cubicBezTo>
                <a:lnTo>
                  <a:pt x="2411145" y="1073150"/>
                </a:lnTo>
                <a:lnTo>
                  <a:pt x="2325828" y="1073150"/>
                </a:lnTo>
                <a:cubicBezTo>
                  <a:pt x="2250427" y="1073150"/>
                  <a:pt x="2189303" y="1134274"/>
                  <a:pt x="2189303" y="1209675"/>
                </a:cubicBezTo>
                <a:cubicBezTo>
                  <a:pt x="2189303" y="1285076"/>
                  <a:pt x="2250427" y="1346200"/>
                  <a:pt x="2325828" y="1346200"/>
                </a:cubicBezTo>
                <a:lnTo>
                  <a:pt x="2411145" y="1346200"/>
                </a:lnTo>
                <a:lnTo>
                  <a:pt x="2394774" y="1453467"/>
                </a:lnTo>
                <a:cubicBezTo>
                  <a:pt x="2281976" y="2004695"/>
                  <a:pt x="1794250" y="2419350"/>
                  <a:pt x="1209675" y="2419350"/>
                </a:cubicBezTo>
                <a:cubicBezTo>
                  <a:pt x="541590" y="2419350"/>
                  <a:pt x="0" y="1877760"/>
                  <a:pt x="0" y="1209675"/>
                </a:cubicBezTo>
                <a:cubicBezTo>
                  <a:pt x="0" y="541590"/>
                  <a:pt x="541590" y="0"/>
                  <a:pt x="1209675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C1A1BD-5266-EDD9-CD58-9380A0DCE368}"/>
              </a:ext>
            </a:extLst>
          </p:cNvPr>
          <p:cNvSpPr/>
          <p:nvPr/>
        </p:nvSpPr>
        <p:spPr>
          <a:xfrm>
            <a:off x="6305211" y="2661634"/>
            <a:ext cx="1930274" cy="13232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지구 온난화</a:t>
            </a:r>
            <a:endParaRPr lang="en-US" altLang="ko-KR" sz="1600" dirty="0">
              <a:solidFill>
                <a:schemeClr val="accent4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300" dirty="0"/>
              <a:t>온실가스가 대기에 쌓이면 지구 온도가 상승한다</a:t>
            </a:r>
            <a:r>
              <a:rPr lang="en-US" altLang="ko-KR" sz="1300" dirty="0"/>
              <a:t>.</a:t>
            </a:r>
            <a:endParaRPr lang="ko-KR" altLang="en-US" sz="1300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8D83745-F018-CBBC-2153-0C20D00671FF}"/>
              </a:ext>
            </a:extLst>
          </p:cNvPr>
          <p:cNvSpPr/>
          <p:nvPr/>
        </p:nvSpPr>
        <p:spPr>
          <a:xfrm>
            <a:off x="6979489" y="1954717"/>
            <a:ext cx="611582" cy="61158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A452D53-9594-3BC1-ADC7-3C57A9E7306E}"/>
              </a:ext>
            </a:extLst>
          </p:cNvPr>
          <p:cNvGrpSpPr/>
          <p:nvPr/>
        </p:nvGrpSpPr>
        <p:grpSpPr>
          <a:xfrm>
            <a:off x="9038568" y="1954717"/>
            <a:ext cx="2221292" cy="2484408"/>
            <a:chOff x="932645" y="2355565"/>
            <a:chExt cx="3185690" cy="3563040"/>
          </a:xfrm>
        </p:grpSpPr>
        <p:sp>
          <p:nvSpPr>
            <p:cNvPr id="48" name="자유형 9">
              <a:extLst>
                <a:ext uri="{FF2B5EF4-FFF2-40B4-BE49-F238E27FC236}">
                  <a16:creationId xmlns:a16="http://schemas.microsoft.com/office/drawing/2014/main" id="{1DAF1B2F-1925-0EBA-D565-B0D2BC7AB944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00B63CB9-FE58-9883-9BF0-ED5F658CB37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기후 변화</a:t>
              </a:r>
              <a:endParaRPr lang="en-US" altLang="ko-KR" sz="1300" dirty="0"/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지구온도가 상승하면 기후 시스템에 변화가 발생한다</a:t>
              </a:r>
              <a:r>
                <a:rPr lang="en-US" altLang="ko-KR" sz="1300" dirty="0"/>
                <a:t>.</a:t>
              </a:r>
              <a:endParaRPr lang="ko-KR" altLang="en-US" sz="13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A9021528-9393-D44E-5C94-4279011C88BC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926710-A20A-FA44-5EA0-D6C55E2F0F36}"/>
              </a:ext>
            </a:extLst>
          </p:cNvPr>
          <p:cNvCxnSpPr>
            <a:cxnSpLocks/>
          </p:cNvCxnSpPr>
          <p:nvPr/>
        </p:nvCxnSpPr>
        <p:spPr>
          <a:xfrm>
            <a:off x="263653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08F45F8-D29A-29AE-6635-3861AD03646F}"/>
              </a:ext>
            </a:extLst>
          </p:cNvPr>
          <p:cNvCxnSpPr>
            <a:cxnSpLocks/>
          </p:cNvCxnSpPr>
          <p:nvPr/>
        </p:nvCxnSpPr>
        <p:spPr>
          <a:xfrm>
            <a:off x="5499940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61DA9840-1C41-D357-4CE0-5EA7A6FEEF1D}"/>
              </a:ext>
            </a:extLst>
          </p:cNvPr>
          <p:cNvCxnSpPr>
            <a:cxnSpLocks/>
          </p:cNvCxnSpPr>
          <p:nvPr/>
        </p:nvCxnSpPr>
        <p:spPr>
          <a:xfrm>
            <a:off x="832470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그래픽 57" descr="석유통 윤곽선">
            <a:extLst>
              <a:ext uri="{FF2B5EF4-FFF2-40B4-BE49-F238E27FC236}">
                <a16:creationId xmlns:a16="http://schemas.microsoft.com/office/drawing/2014/main" id="{DD43C9F4-A89E-EBEC-6EF2-42876CF89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705" y="2076157"/>
            <a:ext cx="384668" cy="384668"/>
          </a:xfrm>
          <a:prstGeom prst="rect">
            <a:avLst/>
          </a:prstGeom>
        </p:spPr>
      </p:pic>
      <p:pic>
        <p:nvPicPr>
          <p:cNvPr id="61" name="그래픽 60" descr="발전소 윤곽선">
            <a:extLst>
              <a:ext uri="{FF2B5EF4-FFF2-40B4-BE49-F238E27FC236}">
                <a16:creationId xmlns:a16="http://schemas.microsoft.com/office/drawing/2014/main" id="{0CF9BFFF-9C8F-FB8F-C700-23B90DB8A0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4763" y="2051286"/>
            <a:ext cx="384668" cy="384668"/>
          </a:xfrm>
          <a:prstGeom prst="rect">
            <a:avLst/>
          </a:prstGeom>
        </p:spPr>
      </p:pic>
      <p:pic>
        <p:nvPicPr>
          <p:cNvPr id="63" name="그래픽 62" descr="지구본 - 아시아 단색으로 채워진">
            <a:extLst>
              <a:ext uri="{FF2B5EF4-FFF2-40B4-BE49-F238E27FC236}">
                <a16:creationId xmlns:a16="http://schemas.microsoft.com/office/drawing/2014/main" id="{C9E51B01-2A08-129B-FD13-87FF24CD8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47507" y="1962491"/>
            <a:ext cx="612000" cy="612000"/>
          </a:xfrm>
          <a:prstGeom prst="rect">
            <a:avLst/>
          </a:prstGeom>
        </p:spPr>
      </p:pic>
      <p:pic>
        <p:nvPicPr>
          <p:cNvPr id="65" name="그래픽 64" descr="온도계 단색으로 채워진">
            <a:extLst>
              <a:ext uri="{FF2B5EF4-FFF2-40B4-BE49-F238E27FC236}">
                <a16:creationId xmlns:a16="http://schemas.microsoft.com/office/drawing/2014/main" id="{70C6D910-A47C-4BD3-5266-D847286CA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7091" y="2044259"/>
            <a:ext cx="431292" cy="4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5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7D1B-2B48-8FC9-81BA-8A3DD4BF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23DA73-52CB-2DB7-E2BA-22DBCDBF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C9AD2F-8DF3-EEC0-A440-92FD884D7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4F51C-B3D6-AE58-479B-361880092AB9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석유제품과 같은 화석연료의 소비는 환경을 오염시키고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온실가스를 배출하여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기후변화를 일으킨다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(CO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대표되는 </a:t>
            </a:r>
            <a:r>
              <a:rPr lang="ko-KR" altLang="en-US" sz="1600" b="1" spc="-50" dirty="0"/>
              <a:t>온실가스</a:t>
            </a:r>
            <a:r>
              <a:rPr lang="ko-KR" altLang="en-US" sz="1600" spc="-50" dirty="0"/>
              <a:t>는 지구온난화에 기여한다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이산화탄소를 포함하여 온실가스 종류는 총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가지가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지구에 </a:t>
            </a:r>
            <a:r>
              <a:rPr lang="ko-KR" altLang="en-US" sz="1600" b="1" spc="-50" dirty="0"/>
              <a:t>기후변화</a:t>
            </a:r>
            <a:r>
              <a:rPr lang="ko-KR" altLang="en-US" sz="1600" spc="-50" dirty="0"/>
              <a:t>를 일으켜 우리가 사는 환경을 바꾸어 놓음으로써 인류를 위협한다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미세먼지로 대표되는 대기오염물질은 대기의 질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 악화를 초래한다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달리 수십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여가지의 대기오염물질이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인간이 호흡하는 순간 몸에 바로 영향을 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70286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864A4-93B3-C2FB-5C29-8B9FB1D6D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388CA-1C1D-A9B4-A301-0D9E6403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기상과 기후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DB75B-F0C7-28A0-132F-248A2FD1B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CF5C66-068D-D769-8B64-0EF9EE729529}"/>
              </a:ext>
            </a:extLst>
          </p:cNvPr>
          <p:cNvSpPr txBox="1"/>
          <p:nvPr/>
        </p:nvSpPr>
        <p:spPr>
          <a:xfrm>
            <a:off x="288790" y="958844"/>
            <a:ext cx="11693660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기상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혹은 날씨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, weather):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그날 그날에 따른 지구의 기분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 중에서 일어나는 여러 가지 물리 현상을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날씨는 시간별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월별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계절별마다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아침과 저녁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오늘과 내일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이번달과 다음달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가을의 날씨는 다르다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(climate):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오랫동안 형성되어온 지구의 성격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장기간에 걸친 기상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날씨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평균이나 변동의 특성을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지역에서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 이상 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관한 정보가 기후의 바탕이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338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FBCA-3BFD-6AF3-9948-B214E78B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2EB14-DC30-F053-DDC3-832480CE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0DF142-A7EC-7241-3ABE-C998D5F7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87DE5-EAEF-7A55-E62E-D3595B566D1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지구에서 방출하는 열을 흡수하여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지구를 뜨겁게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기후변화를 일으키고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원리는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태양은 지구로 엄청난 빛을 쏘고 있다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태양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빛을 분류해보자면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자외선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가시광선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적외선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종류이다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그 빛의 일부를 반사 시키거나 흡수시킨다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 대기에 떠다니는 오존</a:t>
            </a:r>
            <a:r>
              <a:rPr lang="en-US" altLang="ko-KR" sz="1600" spc="-50" dirty="0"/>
              <a:t>(O</a:t>
            </a:r>
            <a:r>
              <a:rPr lang="en-US" altLang="ko-KR" sz="1600" spc="-50" baseline="-25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자외선을 흡수해주며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우리를 보호해주는 역할을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수증기는 적외선을 흡수하고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먼지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미세입자는 빛을 흡수시키거나 산란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극지방에 있는 빙하도 태양에서 온 빛을 반사 시킨다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대기에서 흡수되거나 반사되지 않은 빛들은 지구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대기와 지표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들어와서 흡수가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식물들의 광합성에 필요한 에너지원이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태양으로부터 받은 빛들을 다시 적외선의 형태로 다시 방출한다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지구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방출하는 과정에서 대기에 있는 온실가스들은 나가려고 하는 적외선들을 매우 잘 흡수하는 성질이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과정에서 태양으로부터 받는 에너지보다 지구가 내보내는 에너지가 작으면 지구 온도는 계속 상승한다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지구가 적외선을 우주로 다시 잘 방출 할 수 있도록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대기에 있는 온실가스를 줄여야 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1313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BF6A-CD5E-4BE0-DD3E-7D9C4777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713C6-BEA8-DB73-C916-6245E180B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583296-B89F-F805-5721-39619C8B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07993-7672-9BB2-5B0F-89B45010BE6A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그림은 앞서 설명한 기후변화가 발생하는 메커니즘을 보여주고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AD2650-A0C9-5F84-EF21-0F857D06F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8" y="1347956"/>
            <a:ext cx="7548872" cy="5263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AB52A5-CFCF-1816-C65D-94B16A58C14E}"/>
              </a:ext>
            </a:extLst>
          </p:cNvPr>
          <p:cNvSpPr txBox="1"/>
          <p:nvPr/>
        </p:nvSpPr>
        <p:spPr>
          <a:xfrm>
            <a:off x="9503410" y="5982909"/>
            <a:ext cx="2531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https://www.gihoo.or.kr/menu.es?mid=a30106000000</a:t>
            </a:r>
          </a:p>
        </p:txBody>
      </p:sp>
    </p:spTree>
    <p:extLst>
      <p:ext uri="{BB962C8B-B14F-4D97-AF65-F5344CB8AC3E}">
        <p14:creationId xmlns:p14="http://schemas.microsoft.com/office/powerpoint/2010/main" val="324126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FFDB9-2B6A-A538-CB78-32B4A475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8D0441-B11F-2F64-44D1-40EA3E7F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8BDC0F-85DD-F39F-CBE9-25EB7987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10323-F953-E782-9C9A-1F7AED022D3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</a:t>
            </a:r>
            <a:r>
              <a:rPr lang="ko-KR" altLang="en-US" sz="1600" b="1" spc="-50" dirty="0"/>
              <a:t>자연적</a:t>
            </a:r>
            <a:r>
              <a:rPr lang="ko-KR" altLang="en-US" sz="1600" spc="-50" dirty="0"/>
              <a:t>으로 발생하기도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인류에 의해 </a:t>
            </a:r>
            <a:r>
              <a:rPr lang="ko-KR" altLang="en-US" sz="1600" b="1" spc="-50" dirty="0"/>
              <a:t>인위적</a:t>
            </a:r>
            <a:r>
              <a:rPr lang="ko-KR" altLang="en-US" sz="1600" spc="-50" dirty="0"/>
              <a:t>으로 발생하기도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자연적 원인으로는 화산 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습지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해양 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화산 폭발이 일어나면 엄청난 양의 이산화탄소가 배출이 된다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공룡 멸종을 설명하는 이론 중에도 화산폭발설이 있다</a:t>
            </a:r>
            <a:r>
              <a:rPr lang="en-US" altLang="ko-KR" sz="1600" spc="-50" dirty="0"/>
              <a:t>. 6,600</a:t>
            </a:r>
            <a:r>
              <a:rPr lang="ko-KR" altLang="en-US" sz="1600" spc="-50" dirty="0"/>
              <a:t>만년 전 인도의 </a:t>
            </a:r>
            <a:r>
              <a:rPr lang="ko-KR" altLang="en-US" sz="1600" spc="-50" dirty="0" err="1"/>
              <a:t>데칸</a:t>
            </a:r>
            <a:r>
              <a:rPr lang="ko-KR" altLang="en-US" sz="1600" spc="-50" dirty="0"/>
              <a:t> 트랩이라는 곳에서 화산폭발이 일어났고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인해 이산화탄소와 이산화황이 대량 배출되어 기후변화를 일으켜 공룡이 멸종했다는 설이다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인위적 원인으로는 인류의 화석연료 사용이다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 화석연료를 연소시키면 탄소가 배출된다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핸드폰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가스레인지 등등 우리는 하루도 화석연료를 쓰지 않고 살아갈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480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220CF-8CE1-F6E6-3D2F-9A6AC010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AF9FF-44C7-3FC2-57DC-95E36BE97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DEA0F-4A8D-2688-2585-126831665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EAE15-C645-AD84-AB50-7D741D314A04}"/>
              </a:ext>
            </a:extLst>
          </p:cNvPr>
          <p:cNvSpPr txBox="1"/>
          <p:nvPr/>
        </p:nvSpPr>
        <p:spPr>
          <a:xfrm>
            <a:off x="288790" y="958844"/>
            <a:ext cx="5953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그렇다면 지구온난화의 이유는 자연적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원인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인위적 원인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인류가 사용하는 화석연료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인위적 원인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그림은 </a:t>
            </a:r>
            <a:r>
              <a:rPr lang="en-US" altLang="ko-KR" sz="1600" spc="-50" dirty="0"/>
              <a:t>1850</a:t>
            </a:r>
            <a:r>
              <a:rPr lang="ko-KR" altLang="en-US" sz="1600" spc="-50" dirty="0"/>
              <a:t>년 대비 지구의 온도가 얼마나 상승하고 있는지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observed: </a:t>
            </a:r>
            <a:r>
              <a:rPr lang="ko-KR" altLang="en-US" sz="1600" dirty="0"/>
              <a:t>실제로 관측한 지구 표면 온도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A67539"/>
                </a:solidFill>
              </a:rPr>
              <a:t>simulated human&amp; natural: </a:t>
            </a:r>
            <a:r>
              <a:rPr lang="ko-KR" altLang="en-US" sz="1600" dirty="0">
                <a:solidFill>
                  <a:srgbClr val="A67539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ko-KR" altLang="en-US" sz="1600" dirty="0">
                <a:solidFill>
                  <a:srgbClr val="A67539"/>
                </a:solidFill>
              </a:rPr>
              <a:t>자연적 원인과 인위적 원인 모두 포함</a:t>
            </a:r>
            <a:r>
              <a:rPr lang="en-US" altLang="ko-KR" sz="1600" dirty="0">
                <a:solidFill>
                  <a:srgbClr val="A67539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A67539"/>
                </a:solidFill>
              </a:rPr>
              <a:t>시뮬레이션이 상당히 정확함을 보여준다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en-US" altLang="ko-KR" sz="1600" dirty="0"/>
              <a:t>observed</a:t>
            </a:r>
            <a:r>
              <a:rPr lang="ko-KR" altLang="en-US" sz="1600" dirty="0">
                <a:solidFill>
                  <a:srgbClr val="A67539"/>
                </a:solidFill>
              </a:rPr>
              <a:t>와 추이가 비슷한 것을 알 수 있다</a:t>
            </a:r>
            <a:r>
              <a:rPr lang="en-US" altLang="ko-KR" sz="1600" dirty="0">
                <a:solidFill>
                  <a:srgbClr val="A67539"/>
                </a:solidFill>
              </a:rPr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3B8380"/>
                </a:solidFill>
              </a:rPr>
              <a:t>Simulated natural only: </a:t>
            </a:r>
            <a:r>
              <a:rPr lang="ko-KR" altLang="en-US" sz="1600" dirty="0">
                <a:solidFill>
                  <a:srgbClr val="3B8380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3B8380"/>
                </a:solidFill>
              </a:rPr>
              <a:t>(</a:t>
            </a:r>
            <a:r>
              <a:rPr lang="ko-KR" altLang="en-US" sz="1600" dirty="0">
                <a:solidFill>
                  <a:srgbClr val="3B8380"/>
                </a:solidFill>
              </a:rPr>
              <a:t>자연적 원인만 발생했을 때</a:t>
            </a:r>
            <a:r>
              <a:rPr lang="en-US" altLang="ko-KR" sz="1600" dirty="0">
                <a:solidFill>
                  <a:srgbClr val="3B8380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3B8380"/>
                </a:solidFill>
              </a:rPr>
              <a:t>인류는 화석연료를 </a:t>
            </a:r>
            <a:r>
              <a:rPr lang="ko-KR" altLang="en-US" sz="1600" dirty="0" err="1">
                <a:solidFill>
                  <a:srgbClr val="3B8380"/>
                </a:solidFill>
              </a:rPr>
              <a:t>안쓰고</a:t>
            </a:r>
            <a:r>
              <a:rPr lang="en-US" altLang="ko-KR" sz="1600" dirty="0">
                <a:solidFill>
                  <a:srgbClr val="3B8380"/>
                </a:solidFill>
              </a:rPr>
              <a:t>, </a:t>
            </a:r>
            <a:r>
              <a:rPr lang="ko-KR" altLang="en-US" sz="1600" dirty="0">
                <a:solidFill>
                  <a:srgbClr val="3B8380"/>
                </a:solidFill>
              </a:rPr>
              <a:t>자연적 원인에 의해서만 온실가스가 나왔었다면 지구의 지표면 온도는 </a:t>
            </a:r>
            <a:r>
              <a:rPr lang="en-US" altLang="ko-KR" sz="1600" dirty="0">
                <a:solidFill>
                  <a:srgbClr val="3B8380"/>
                </a:solidFill>
              </a:rPr>
              <a:t>1850</a:t>
            </a:r>
            <a:r>
              <a:rPr lang="ko-KR" altLang="en-US" sz="1600" dirty="0">
                <a:solidFill>
                  <a:srgbClr val="3B8380"/>
                </a:solidFill>
              </a:rPr>
              <a:t>년 수준과 동일할 수 있음을 알려주고 있다</a:t>
            </a:r>
            <a:r>
              <a:rPr lang="en-US" altLang="ko-KR" sz="1600" dirty="0">
                <a:solidFill>
                  <a:srgbClr val="3B8380"/>
                </a:solidFill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56B5E58-D8D2-D0B9-8061-D9C9B36C5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23"/>
          <a:stretch>
            <a:fillRect/>
          </a:stretch>
        </p:blipFill>
        <p:spPr>
          <a:xfrm>
            <a:off x="6379906" y="1612899"/>
            <a:ext cx="5812094" cy="44539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AFCFE8-E97A-69EB-94AF-776C4E8119E5}"/>
              </a:ext>
            </a:extLst>
          </p:cNvPr>
          <p:cNvSpPr txBox="1"/>
          <p:nvPr/>
        </p:nvSpPr>
        <p:spPr>
          <a:xfrm>
            <a:off x="8162223" y="6334901"/>
            <a:ext cx="2531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IPCC 6</a:t>
            </a:r>
            <a:r>
              <a:rPr lang="ko-KR" altLang="en-US" sz="1000" dirty="0"/>
              <a:t>차보고서</a:t>
            </a:r>
            <a:r>
              <a:rPr lang="en-US" altLang="ko-KR" sz="1000" dirty="0"/>
              <a:t>, WGI_SPM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AC9FE-6982-0296-007C-C17F859EAE05}"/>
              </a:ext>
            </a:extLst>
          </p:cNvPr>
          <p:cNvSpPr txBox="1"/>
          <p:nvPr/>
        </p:nvSpPr>
        <p:spPr>
          <a:xfrm>
            <a:off x="6722043" y="1421367"/>
            <a:ext cx="4683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전 지구 평균 지표면 온도 변화</a:t>
            </a:r>
            <a:r>
              <a:rPr lang="en-US" altLang="ko-KR" sz="1400" spc="-50" dirty="0"/>
              <a:t>: </a:t>
            </a:r>
          </a:p>
          <a:p>
            <a:pPr algn="ctr"/>
            <a:r>
              <a:rPr lang="ko-KR" altLang="en-US" sz="1400" spc="-50" dirty="0"/>
              <a:t>자연 요인과 인위적 요인의 영향 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70435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5AD9C-C8F5-BADE-8A71-3436828C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66E28-80F3-EA9A-4C15-9CF71C4A3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40AAC5-7671-893F-68ED-BE38965F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B1A6A-BA3C-883D-3734-8AF49AB7212B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786664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지구온도가 상승하면 기후에 변화가 발생할까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지구온도 상승은 단순히 지금보다 더 더워지는 것 그 이상을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현재 기후변화 현상을 매년 겪고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기상청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쇼츠</a:t>
            </a:r>
            <a:r>
              <a:rPr lang="en-US" altLang="ko-KR" sz="1600" spc="-50" dirty="0"/>
              <a:t>: </a:t>
            </a:r>
            <a:r>
              <a:rPr lang="ko-KR" altLang="en-US" sz="1600" spc="-50" dirty="0">
                <a:hlinkClick r:id="rId2"/>
              </a:rPr>
              <a:t>지난 </a:t>
            </a:r>
            <a:r>
              <a:rPr lang="en-US" altLang="ko-KR" sz="1600" spc="-50" dirty="0">
                <a:hlinkClick r:id="rId2"/>
              </a:rPr>
              <a:t>113</a:t>
            </a:r>
            <a:r>
              <a:rPr lang="ko-KR" altLang="en-US" sz="1600" spc="-50" dirty="0">
                <a:hlinkClick r:id="rId2"/>
              </a:rPr>
              <a:t>년 우리나라의 기후는 어떻게 바뀌었을까</a:t>
            </a:r>
            <a:r>
              <a:rPr lang="en-US" altLang="ko-KR" sz="1600" spc="-50" dirty="0">
                <a:hlinkClick r:id="rId2"/>
              </a:rPr>
              <a:t>?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 재난영화의 명작이라 불리우는 </a:t>
            </a: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보여주는 전 지구적 기후변화의 한 예를 살펴보자</a:t>
            </a:r>
            <a:r>
              <a:rPr lang="en-US" altLang="ko-KR" sz="1600" spc="-50" dirty="0"/>
              <a:t>. </a:t>
            </a:r>
            <a:r>
              <a:rPr lang="ko-KR" altLang="en-US" sz="1600" spc="-50" dirty="0">
                <a:hlinkClick r:id="rId3"/>
              </a:rPr>
              <a:t>영화 </a:t>
            </a:r>
            <a:r>
              <a:rPr lang="en-US" altLang="ko-KR" sz="1600" spc="-50" dirty="0">
                <a:hlinkClick r:id="rId3"/>
              </a:rPr>
              <a:t>&lt;</a:t>
            </a:r>
            <a:r>
              <a:rPr lang="ko-KR" altLang="en-US" sz="1600" spc="-50" dirty="0" err="1">
                <a:hlinkClick r:id="rId3"/>
              </a:rPr>
              <a:t>투모로우</a:t>
            </a:r>
            <a:r>
              <a:rPr lang="en-US" altLang="ko-KR" sz="1600" spc="-50" dirty="0">
                <a:hlinkClick r:id="rId3"/>
              </a:rPr>
              <a:t>&gt; </a:t>
            </a:r>
            <a:r>
              <a:rPr lang="ko-KR" altLang="en-US" sz="1600" spc="-50" dirty="0">
                <a:hlinkClick r:id="rId3"/>
              </a:rPr>
              <a:t>리뷰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0:30 ~ ‘</a:t>
            </a:r>
            <a:r>
              <a:rPr lang="ko-KR" altLang="en-US" sz="1600" spc="-50" dirty="0"/>
              <a:t>남극과 북극의 빙하가 해수로 유입 된다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2:52 ~ ‘</a:t>
            </a:r>
            <a:r>
              <a:rPr lang="ko-KR" altLang="en-US" sz="1600" spc="-50" dirty="0"/>
              <a:t>해류변화가 기상변화를 일으키는 것 같다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026" name="Picture 2" descr="지난 2004년 개봉한 영화 ‘투모로우’ 포스터. 이상기후로 지구 전체가 얼어붙은 재앙 상황에서 생존자들이 분투하는 모습을 그렸다. 이 영화 포스터는 자유의 여신상 코까지 눈이 쌓인 섬뜩한 모습으로 눈길을 끌었다. [투모로우 영화 포스터 캡쳐]">
            <a:extLst>
              <a:ext uri="{FF2B5EF4-FFF2-40B4-BE49-F238E27FC236}">
                <a16:creationId xmlns:a16="http://schemas.microsoft.com/office/drawing/2014/main" id="{0E886B9D-E34A-927B-679A-2A424A0EA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807" y="2086378"/>
            <a:ext cx="2774524" cy="4106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85319F-CE63-8E1B-B0A8-92ABBBAEE1D2}"/>
              </a:ext>
            </a:extLst>
          </p:cNvPr>
          <p:cNvSpPr txBox="1"/>
          <p:nvPr/>
        </p:nvSpPr>
        <p:spPr>
          <a:xfrm>
            <a:off x="9362383" y="1778601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투모로우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67FEE33-4133-5EED-1ADC-018ADB651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751" y="4696855"/>
            <a:ext cx="3355824" cy="184005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D9BFFAE-A518-3619-A47E-23EC02E31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961" y="4696855"/>
            <a:ext cx="3299029" cy="184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2207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19D8-5103-9CDE-57C5-7D81401BB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102222-B65D-D609-5D1D-397D54BF3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C22EFF-411C-0831-9059-9934497A9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748AB-EE3B-387D-19B6-3EF3B23CE71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주인공인 기후학자 잭 홀 박사는 다음과 같이 경고한다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“ </a:t>
            </a:r>
            <a:r>
              <a:rPr lang="ko-KR" altLang="en-US" sz="1600" spc="-50" dirty="0"/>
              <a:t>급격한 지구 온난화로 인해 빙하가 녹고 바닷물이 차가워진다면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해류의 흐름이 바뀌게 되어서 지구 전체가 빙하로 뒤덮이는 거대한 재앙이 올 것이다</a:t>
            </a:r>
            <a:r>
              <a:rPr lang="en-US" altLang="ko-KR" sz="1600" spc="-50" dirty="0"/>
              <a:t>.”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말하는 해류의 흐름이라는 것은 </a:t>
            </a:r>
            <a:r>
              <a:rPr lang="ko-KR" altLang="en-US" sz="1600" b="1" spc="-50" dirty="0"/>
              <a:t>대서양 자오선 역전 순환</a:t>
            </a:r>
            <a:r>
              <a:rPr lang="ko-KR" altLang="en-US" sz="1600" spc="-50" dirty="0"/>
              <a:t> </a:t>
            </a:r>
            <a:r>
              <a:rPr lang="en-US" altLang="ko-KR" sz="1600" b="1" spc="-50" dirty="0"/>
              <a:t>(AMOC</a:t>
            </a:r>
            <a:r>
              <a:rPr lang="en-US" altLang="ko-KR" sz="1600" spc="-50" dirty="0"/>
              <a:t>; Atlantic Meridional Overturning Circulation) </a:t>
            </a:r>
            <a:r>
              <a:rPr lang="ko-KR" altLang="en-US" sz="1600" spc="-50" dirty="0"/>
              <a:t>인데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지구의 열 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기후를 안정적으로 유지하는데 굉장히 중요한 역할을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C3313A7-76CE-22DD-DDDB-722C2B009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3112" y="3368486"/>
            <a:ext cx="4776597" cy="2775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F5CF7-824D-440B-FD0C-E55F441AD485}"/>
              </a:ext>
            </a:extLst>
          </p:cNvPr>
          <p:cNvSpPr txBox="1">
            <a:spLocks/>
          </p:cNvSpPr>
          <p:nvPr/>
        </p:nvSpPr>
        <p:spPr>
          <a:xfrm>
            <a:off x="288791" y="2864736"/>
            <a:ext cx="67216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컨베이어벨트처럼 남반구와 열대 지방의 따뜻한 </a:t>
            </a:r>
            <a:r>
              <a:rPr lang="ko-KR" altLang="en-US" sz="1600" spc="-50" dirty="0" err="1"/>
              <a:t>표면수를</a:t>
            </a:r>
            <a:r>
              <a:rPr lang="ko-KR" altLang="en-US" sz="1600" spc="-50" dirty="0"/>
              <a:t> 차가운 북대서양 지역으로 이동시킨다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북반구의 차갑고 염분이 많은 물은 심층수로 가라앉아 다시 남쪽으로 흘러 내려온다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과정을 통해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라는 거대한 순환류는 뜨거운 남반구를 식혀주고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얼어붙을 북반구를 데워주는 중요한 역할을 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874F4D-FB5D-0C8F-76CD-6B6A73FC7E12}"/>
              </a:ext>
            </a:extLst>
          </p:cNvPr>
          <p:cNvSpPr txBox="1"/>
          <p:nvPr/>
        </p:nvSpPr>
        <p:spPr>
          <a:xfrm>
            <a:off x="8084233" y="3010630"/>
            <a:ext cx="2444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대서양 자오선 역전 순환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07346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9290F-B354-D216-CCED-E5D9B93C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BB4485-D87C-0E11-35D0-16414050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6E824-E1C2-6309-99BF-AFDF36F2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A0F32-6467-6C10-345A-07347B523A6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에서는 무슨 일이 발생 </a:t>
            </a:r>
            <a:r>
              <a:rPr lang="ko-KR" altLang="en-US" sz="1600" spc="-50" dirty="0" err="1"/>
              <a:t>한걸까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 온난화가 발생하면서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극지방의 빙하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민물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소금물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유입이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빙하는 하늘에서 내리는 눈이 쌓이고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쌓여 우리가 보는 빙하가 된 것인데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염분기가 없는 민물이다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전 슬라이드에서 봤던 </a:t>
            </a:r>
            <a:r>
              <a:rPr lang="en-US" altLang="ko-KR" sz="1600" spc="-50" dirty="0"/>
              <a:t>AMOC</a:t>
            </a:r>
            <a:r>
              <a:rPr lang="ko-KR" altLang="en-US" sz="1600" spc="-50" dirty="0"/>
              <a:t>가 제대로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작동하려면 열대지방의 해수와 극지방의 </a:t>
            </a:r>
            <a:r>
              <a:rPr lang="ko-KR" altLang="en-US" sz="1600" spc="-50" dirty="0" err="1"/>
              <a:t>해수간에</a:t>
            </a:r>
            <a:r>
              <a:rPr lang="ko-KR" altLang="en-US" sz="1600" spc="-50" dirty="0"/>
              <a:t> 염분차이가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극지방에 염분이 낮아져서 해류가 점차 약해진다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염분이 많은 차가운 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극지방 해수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염분이 낮고 따뜻한 물이 만나면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염분이 많고 차가운 물이 밑으로 가라 앉으면서 바닷물의 흐름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해류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발생하는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AMOC</a:t>
            </a:r>
            <a:r>
              <a:rPr lang="ko-KR" altLang="en-US" sz="1600" spc="-50" dirty="0"/>
              <a:t>가 약해지면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바다물을 통해 열전달이 안되면서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 불균형이 생긴다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발생한 일이 현실에서도 생길 수 있을까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이야기가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년에 실제로 논문으로 발표 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관련뉴스</a:t>
            </a:r>
            <a:r>
              <a:rPr lang="en-US" altLang="ko-KR" sz="1600" spc="-50" dirty="0"/>
              <a:t>: </a:t>
            </a:r>
            <a:r>
              <a:rPr lang="en-US" altLang="ko-KR" sz="1600" spc="-50" dirty="0">
                <a:hlinkClick r:id="rId2"/>
              </a:rPr>
              <a:t>AMOC </a:t>
            </a:r>
            <a:r>
              <a:rPr lang="ko-KR" altLang="en-US" sz="1600" spc="-50" dirty="0">
                <a:hlinkClick r:id="rId2"/>
              </a:rPr>
              <a:t>붕괴 현실화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EBCD86-0EAA-A99C-4C13-2862AD74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550" y="4059326"/>
            <a:ext cx="4146550" cy="20160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8D6AC9-7BF1-31AB-AC1F-277AE032BB0F}"/>
              </a:ext>
            </a:extLst>
          </p:cNvPr>
          <p:cNvSpPr txBox="1"/>
          <p:nvPr/>
        </p:nvSpPr>
        <p:spPr>
          <a:xfrm>
            <a:off x="7381875" y="6057902"/>
            <a:ext cx="4429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Ditlevsen, P., &amp; Ditlevsen, S. (2023). Warning of a forthcoming collapse of the Atlantic meridional overturning circulation.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Nature Communications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,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14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(1), 1-12.</a:t>
            </a:r>
            <a:endParaRPr lang="ko-KR" altLang="en-US" sz="1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8543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F1D2-9E8E-C3E9-B686-412B97AD2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8470C-BB3F-51E5-FE87-18CD909CC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8B6D3E-D88D-51E5-3FC3-0798C87A6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ko-KR" altLang="en-US" sz="2800" dirty="0" err="1">
                <a:latin typeface="HY헤드라인M" panose="02030600000101010101" pitchFamily="18" charset="-127"/>
                <a:ea typeface="HY헤드라인M" panose="02030600000101010101" pitchFamily="18" charset="-127"/>
              </a:rPr>
              <a:t>실천편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80C04-2808-9F11-3E5E-133BFF5DD02B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B744E-4318-74B2-DFD4-1094D5F0D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762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0. </a:t>
            </a:r>
            <a:r>
              <a:rPr lang="ko-KR" altLang="en-US" sz="4000" b="1" i="0" spc="150" dirty="0"/>
              <a:t>해운대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여름방학을 맞이하여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해운대 바다에 같이 놀러가기로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둘은 일단 대전역에서 만나기로 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교통수단을 선택해야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 바다까지 갈 수 있는 교통수단은 다음과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승용차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승용차를 타고 해운대까지 직접 운전해서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대전역 → 부산역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부산역에 가서</a:t>
            </a:r>
            <a:r>
              <a:rPr lang="en-US" altLang="ko-KR" sz="1600" spc="-50" dirty="0"/>
              <a:t>, 1003</a:t>
            </a:r>
            <a:r>
              <a:rPr lang="ko-KR" altLang="en-US" sz="1600" spc="-50" dirty="0"/>
              <a:t>번 시외버스를 타고 해운대까지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가지 선택지 중에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가지를 선택해야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평가 기준은 아래와 같이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정도로 생각하고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저렴한 비용으로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친환경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탄소배출을 가능한 적게 배출 하면서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시간절약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시간이 덜 걸렸으면 좋겠다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승용차를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 갈 때 타고 갈 차가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자가용을 보유하고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렌터카나 택시를 이용하면 해운대에 가기 위해 추가적으로 비용을 지출해야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보유하고 있는 자가용을 이용하는 경우 차량 이용에 대한 비용을 추가적으로 지출하지 않아도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이미 비용을 지출해서 회수할 수 없는 비용을 매몰비용이라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매몰비용은 내 의사결정 과정에 영향을 미치지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교통수단을 선택하는 과정에서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포함하지 않는 것이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해운대까지 내 자가용을 타고 갈 때 지출한 비용을 계산해보고 싶다면 부록을 참고하자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연료를 넣어야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해운대 갈 때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304km,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고속도로이용시 거리는 </a:t>
            </a:r>
            <a:r>
              <a:rPr lang="en-US" altLang="ko-KR" sz="1600" spc="-50" dirty="0"/>
              <a:t>284km,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</a:t>
            </a:r>
            <a:r>
              <a:rPr lang="ko-KR" altLang="en-US" sz="1600" spc="-50" dirty="0" err="1"/>
              <a:t>사진에서와</a:t>
            </a:r>
            <a:r>
              <a:rPr lang="ko-KR" altLang="en-US" sz="1600" spc="-50" dirty="0"/>
              <a:t>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차가 밀리면 시간은 좀 늘어날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평일 아침 </a:t>
            </a:r>
            <a:r>
              <a:rPr lang="en-US" altLang="ko-KR" sz="1600" spc="-50" dirty="0"/>
              <a:t>08:30</a:t>
            </a:r>
            <a:r>
              <a:rPr lang="ko-KR" altLang="en-US" sz="1600" spc="-50" dirty="0"/>
              <a:t>을 기준으로 해보자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1563" y="4007805"/>
            <a:ext cx="3926046" cy="22127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D18A632-D170-9AC0-8076-38BBEB0F1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261" y="3136495"/>
            <a:ext cx="4778565" cy="31891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240B9-35BF-217E-55E3-56E078866F30}"/>
              </a:ext>
            </a:extLst>
          </p:cNvPr>
          <p:cNvSpPr txBox="1"/>
          <p:nvPr/>
        </p:nvSpPr>
        <p:spPr>
          <a:xfrm>
            <a:off x="8044543" y="3342904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&lt;3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26</a:t>
            </a:r>
            <a:r>
              <a:rPr lang="ko-KR" altLang="en-US" sz="1200" spc="-50" dirty="0"/>
              <a:t>일 목요일 </a:t>
            </a:r>
            <a:r>
              <a:rPr lang="en-US" altLang="ko-KR" sz="1200" spc="-50" dirty="0"/>
              <a:t>08:30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2ED603FF-DF9F-6D1B-27F9-AB428CCB4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582" y="2239682"/>
            <a:ext cx="3770168" cy="40658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1,787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7 </a:t>
            </a:r>
            <a:r>
              <a:rPr lang="ko-KR" altLang="en-US" sz="1600" spc="-50" dirty="0"/>
              <a:t>자가용정보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해운대까지는 총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33,834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B98F06-C9FD-CD50-298F-AC5252E28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594423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부산외곽순환고속도로</a:t>
            </a:r>
            <a:r>
              <a:rPr lang="ko-KR" altLang="en-US" sz="1600" spc="-50" dirty="0"/>
              <a:t> 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해운대까지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150189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 이용 비용</a:t>
            </a:r>
            <a:r>
              <a:rPr lang="en-US" altLang="ko-KR" sz="1600" spc="-50" dirty="0"/>
              <a:t>: 51,208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33,834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15,300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항목의 비용을 모두 합치면 총 </a:t>
            </a:r>
            <a:r>
              <a:rPr lang="en-US" altLang="ko-KR" sz="1600" spc="-50" dirty="0"/>
              <a:t>100,342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총비용을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명이 이용하였으니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로 나누어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인당으로 계산해보면 아래와 같다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D5CBC0A-FED0-A9AD-44B6-ADA2F8DED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113287"/>
              </p:ext>
            </p:extLst>
          </p:nvPr>
        </p:nvGraphicFramePr>
        <p:xfrm>
          <a:off x="1351533" y="4266100"/>
          <a:ext cx="7695945" cy="7428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통행료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열량</a:t>
            </a:r>
            <a:r>
              <a:rPr lang="en-US" altLang="ko-KR" sz="1600" spc="-50" dirty="0"/>
              <a:t>).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밥이나 빵을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살아가고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224" y="5139331"/>
            <a:ext cx="2780532" cy="130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DEC3-02F5-E329-E684-03D0E1DE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AE1C8-BE53-EF3E-0B1D-6BAED274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3AFB0-E192-0A83-A1A9-F3766AF52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0A3F-E2BD-255B-12DB-E5AF30503E1E}"/>
              </a:ext>
            </a:extLst>
          </p:cNvPr>
          <p:cNvSpPr txBox="1"/>
          <p:nvPr/>
        </p:nvSpPr>
        <p:spPr>
          <a:xfrm>
            <a:off x="288790" y="958844"/>
            <a:ext cx="803728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앞서 수식에는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단팥빵에는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MJ</a:t>
            </a:r>
            <a:r>
              <a:rPr lang="ko-KR" altLang="en-US" sz="1600" spc="-50" dirty="0"/>
              <a:t>는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약자이고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kcal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MJ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는 서로 환산이 가능한 단위들이다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1MJ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239kcal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 </a:t>
            </a:r>
            <a:r>
              <a:rPr lang="en-US" altLang="ko-KR" sz="1600" spc="-50" dirty="0"/>
              <a:t>1.11MJ</a:t>
            </a:r>
            <a:r>
              <a:rPr lang="ko-KR" altLang="en-US" sz="1600" spc="-50" dirty="0"/>
              <a:t>로 표기해도 상관없다는 뜻이다</a:t>
            </a:r>
            <a:r>
              <a:rPr lang="en-US" altLang="ko-KR" sz="1600" spc="-50" dirty="0"/>
              <a:t>.)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차는 휘발유 차량이고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표에 의하면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리터를 연소시키면 </a:t>
            </a:r>
            <a:r>
              <a:rPr lang="en-US" altLang="ko-KR" sz="1600" spc="-50" dirty="0"/>
              <a:t>32.4MJ</a:t>
            </a:r>
            <a:r>
              <a:rPr lang="ko-KR" altLang="en-US" sz="1600" spc="-50" dirty="0"/>
              <a:t>의 에너지가 생긴다는 것을 알 수 있다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022EA9-92F1-34F4-8642-823F511EDBC1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8B20C12-2816-2A73-09B1-7F0525CA2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E22738E-353D-37B1-3713-83A09B3C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208190D-4ADD-6414-D56B-DEA1FB104A32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</p:spTree>
    <p:extLst>
      <p:ext uri="{BB962C8B-B14F-4D97-AF65-F5344CB8AC3E}">
        <p14:creationId xmlns:p14="http://schemas.microsoft.com/office/powerpoint/2010/main" val="159573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화석에너지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연소할 때 나오는 탄소의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화석에너지는 원래 탄소를 함유하고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오른쪽 표를 보면 에너지 종류별로 탄소 함유량이 다른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신재생에너지라고 부르는 태양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배출계수가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빛과 바람은 탄소를 함유하고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 보면 휘발유의 배출계수는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tC</a:t>
            </a:r>
            <a:r>
              <a:rPr lang="ko-KR" altLang="en-US" sz="1600" spc="-50" dirty="0"/>
              <a:t>는 </a:t>
            </a:r>
            <a:r>
              <a:rPr lang="en-US" altLang="ko-KR" sz="1600" b="1" spc="-50" dirty="0" err="1"/>
              <a:t>t</a:t>
            </a:r>
            <a:r>
              <a:rPr lang="en-US" altLang="ko-KR" sz="1600" spc="-50" dirty="0" err="1"/>
              <a:t>onne</a:t>
            </a:r>
            <a:r>
              <a:rPr lang="en-US" altLang="ko-KR" sz="1600" spc="-50" dirty="0"/>
              <a:t> of </a:t>
            </a:r>
            <a:r>
              <a:rPr lang="en-US" altLang="ko-KR" sz="1600" b="1" spc="-50" dirty="0"/>
              <a:t>C</a:t>
            </a:r>
            <a:r>
              <a:rPr lang="en-US" altLang="ko-KR" sz="1600" spc="-50" dirty="0"/>
              <a:t>arbon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약자 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무게를 측정하는 단위다</a:t>
            </a:r>
            <a:r>
              <a:rPr lang="en-US" altLang="ko-KR" sz="1600" spc="-50" dirty="0"/>
              <a:t>. 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※  </a:t>
            </a:r>
            <a:r>
              <a:rPr lang="ko-KR" altLang="en-US" sz="1600" spc="-50" dirty="0"/>
              <a:t>말그대로 탄소를 </a:t>
            </a:r>
            <a:r>
              <a:rPr lang="en-US" altLang="ko-KR" sz="1600" spc="-50" dirty="0"/>
              <a:t>1tC</a:t>
            </a:r>
            <a:r>
              <a:rPr lang="ko-KR" altLang="en-US" sz="1600" spc="-50" dirty="0"/>
              <a:t> 만큼 모아서 체중계에 재면 </a:t>
            </a:r>
            <a:r>
              <a:rPr lang="en-US" altLang="ko-KR" sz="1600" spc="-50" dirty="0"/>
              <a:t>1,000kg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휘발유를 </a:t>
            </a:r>
            <a:r>
              <a:rPr lang="en-US" altLang="ko-KR" sz="1600" spc="-50" dirty="0"/>
              <a:t>1MJ </a:t>
            </a:r>
            <a:r>
              <a:rPr lang="ko-KR" altLang="en-US" sz="1600" spc="-50" dirty="0"/>
              <a:t>만큼 연소를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탄소가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ko-KR" altLang="en-US" sz="1600" spc="-50" dirty="0"/>
              <a:t>만큼 나온다는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649508" y="4682067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탄소배출량 계산을 위한 첫번째 항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소비량을 계산해보자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아래의 식을 통해 해운대까지 휘발유 몇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리터</a:t>
                </a:r>
                <a:r>
                  <a:rPr lang="en-US" altLang="ko-KR" sz="1600" spc="-50" dirty="0"/>
                  <a:t>(liter)</a:t>
                </a:r>
                <a:r>
                  <a:rPr lang="ko-KR" altLang="en-US" sz="1600" spc="-50" dirty="0"/>
                  <a:t>를 사용하게 될지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해운대 까지 총 </a:t>
                </a:r>
                <a:r>
                  <a:rPr lang="en-US" altLang="ko-KR" sz="1600" spc="-50" dirty="0"/>
                  <a:t>284km </a:t>
                </a:r>
                <a:r>
                  <a:rPr lang="ko-KR" altLang="en-US" sz="1600" spc="-50" dirty="0"/>
                  <a:t>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 차량의 연비는 </a:t>
                </a:r>
                <a:r>
                  <a:rPr lang="en-US" altLang="ko-KR" sz="1600" spc="-50" dirty="0"/>
                  <a:t>15.0km/liter </a:t>
                </a:r>
                <a:r>
                  <a:rPr lang="ko-KR" altLang="en-US" sz="1600" spc="-50" dirty="0"/>
                  <a:t>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해운대 까지 필요한 휘발유의 양은 </a:t>
                </a:r>
                <a:r>
                  <a:rPr lang="en-US" altLang="ko-KR" sz="1600" spc="-50" dirty="0"/>
                  <a:t>18.9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liter</a:t>
                </a:r>
                <a:r>
                  <a:rPr lang="ko-KR" altLang="en-US" sz="1600" spc="-50" dirty="0"/>
                  <a:t> 이다</a:t>
                </a:r>
                <a:r>
                  <a:rPr lang="en-US" altLang="ko-KR" sz="1600" spc="-50" dirty="0"/>
                  <a:t>. (284/15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18.9)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/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blipFill>
                <a:blip r:embed="rId3"/>
                <a:stretch>
                  <a:fillRect t="-157377" r="-1947" b="-2377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60025-27CC-8526-6F09-0221CE2A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E4F58-20B2-28F3-A4FB-596D258A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AAA7B-8D92-B26F-62E9-34105BAD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자가용 </a:t>
                </a:r>
                <a:r>
                  <a:rPr lang="ko-KR" altLang="en-US" sz="1600" spc="-50" dirty="0" err="1"/>
                  <a:t>이용시</a:t>
                </a:r>
                <a:r>
                  <a:rPr lang="ko-KR" altLang="en-US" sz="1600" spc="-50" dirty="0"/>
                  <a:t>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소비량</a:t>
                </a:r>
                <a:r>
                  <a:rPr lang="en-US" altLang="ko-KR" sz="1600" spc="-50" dirty="0"/>
                  <a:t>: 18.9 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발열량</a:t>
                </a:r>
                <a:r>
                  <a:rPr lang="en-US" altLang="ko-KR" sz="1600" spc="-50" dirty="0"/>
                  <a:t>: 32.4 MJ/liter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배출계수</a:t>
                </a:r>
                <a:r>
                  <a:rPr lang="en-US" altLang="ko-KR" sz="1600" spc="-50" dirty="0"/>
                  <a:t>: 0.000019731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18.9 x 32.4 x 0.000019731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0.012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우리가 아반떼를 타고 해운대까지 주행하는데 총 </a:t>
                </a:r>
                <a:r>
                  <a:rPr lang="en-US" altLang="ko-KR" sz="1600" spc="-50" dirty="0"/>
                  <a:t>0.012</a:t>
                </a:r>
                <a:r>
                  <a:rPr lang="ko-KR" altLang="en-US" sz="1600" spc="-50" dirty="0"/>
                  <a:t>톤의 탄소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12kg (0.012</a:t>
                </a:r>
                <a:r>
                  <a:rPr lang="ko-KR" altLang="en-US" sz="1600" spc="-50" dirty="0"/>
                  <a:t>톤과 같다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탄소들은 대기로 날아가 흩어져서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온실가스 효과를 만들어낸다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지구는 매일 태양으로부터 열을 받아서 뜨거워지는 동시에 지구는 스스로 열을 방출을 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대기에 머무르고 있는 탄소는 지구가 방출하는 열을 대기 밖으로 </a:t>
                </a:r>
                <a:r>
                  <a:rPr lang="ko-KR" altLang="en-US" sz="1600" spc="-50" dirty="0" err="1"/>
                  <a:t>못나가게끔</a:t>
                </a:r>
                <a:r>
                  <a:rPr lang="ko-KR" altLang="en-US" sz="1600" spc="-50" dirty="0"/>
                  <a:t> 그 모든 열을 흡수해버리는 성질이 있다</a:t>
                </a:r>
                <a:r>
                  <a:rPr lang="en-US" altLang="ko-KR" sz="1600" spc="-5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 결과 지구는 계속 뜨거워지고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blipFill>
                <a:blip r:embed="rId2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7219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E167-B445-A888-3401-FAAA3842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C1C075-A6B6-6137-72EF-53A8B6FD21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E7618-A2A2-4921-F918-59258ABB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59A5E32-4DC6-2AF0-CEFF-B25A1CDF5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2-1.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79767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D5620-9D09-0967-D4B1-3701ED1E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6858D-38EB-C48E-7174-A5CFDA3D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775ED0-E006-131F-6624-D540ACB8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8E90-ED2B-2622-DE3A-AD7944097063}"/>
              </a:ext>
            </a:extLst>
          </p:cNvPr>
          <p:cNvSpPr txBox="1"/>
          <p:nvPr/>
        </p:nvSpPr>
        <p:spPr>
          <a:xfrm>
            <a:off x="288790" y="958844"/>
            <a:ext cx="1091051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기차를 이용하는 데 들어가는 비용은 간단하다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대전역에서 부산역까지 기차표를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SRT, KTX, ITX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무궁화는 하루에 </a:t>
            </a:r>
            <a:r>
              <a:rPr lang="ko-KR" altLang="en-US" sz="1600" spc="-50" dirty="0" err="1"/>
              <a:t>몇대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안다니기</a:t>
            </a:r>
            <a:r>
              <a:rPr lang="ko-KR" altLang="en-US" sz="1600" spc="-50" dirty="0"/>
              <a:t> 때문에 제외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빠를 수록 운임요금이 비싸며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우리는 중간 정도 수준인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부산역에서 해운대까지 버스비를 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이것도 마찬가지로 빠를 수록 버스요금이 싸다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분이 걸리는데</a:t>
            </a:r>
            <a:r>
              <a:rPr lang="en-US" altLang="ko-KR" sz="1600" spc="-50" dirty="0"/>
              <a:t>, 1,550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56</a:t>
            </a:r>
            <a:r>
              <a:rPr lang="ko-KR" altLang="en-US" sz="1600" spc="-50" dirty="0"/>
              <a:t>분 걸리는데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827586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B7B5-8E84-E0B4-98E9-A0D86F4D2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D7F47-D686-4A0C-3D15-5E07C426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AEBC0-3736-D575-B597-D528A51A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4B818-992B-F5E9-ED11-9FF9C7BF9A9E}"/>
              </a:ext>
            </a:extLst>
          </p:cNvPr>
          <p:cNvSpPr txBox="1"/>
          <p:nvPr/>
        </p:nvSpPr>
        <p:spPr>
          <a:xfrm>
            <a:off x="288790" y="958844"/>
            <a:ext cx="1091051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아래에서 보듯이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09</a:t>
            </a:r>
            <a:r>
              <a:rPr lang="ko-KR" altLang="en-US" sz="1600" spc="-50" dirty="0"/>
              <a:t>분이 걸리고</a:t>
            </a:r>
            <a:r>
              <a:rPr lang="en-US" altLang="ko-KR" sz="1600" spc="-50" dirty="0"/>
              <a:t>, 30,000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일반실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어른기준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해운대로 갈 때는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번 버스 혹은 </a:t>
            </a: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타면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, 1550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   1001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58</a:t>
            </a:r>
            <a:r>
              <a:rPr lang="ko-KR" altLang="en-US" sz="1600" spc="-50" dirty="0"/>
              <a:t>분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이용하면 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 더 내지만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분이나 빨리 가므로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버스를 이용하자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기차비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버스비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발생하므로 총 </a:t>
            </a:r>
            <a:r>
              <a:rPr lang="en-US" altLang="ko-KR" sz="1600" spc="-50" dirty="0"/>
              <a:t>32,100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CBB5336-8CD1-719D-5021-740FA940A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234"/>
          <a:stretch>
            <a:fillRect/>
          </a:stretch>
        </p:blipFill>
        <p:spPr>
          <a:xfrm>
            <a:off x="1833683" y="2047061"/>
            <a:ext cx="5058877" cy="28612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083100F-77EF-FA97-289E-E81B3CF08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489" y="1859289"/>
            <a:ext cx="5067387" cy="18986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21A4B4B-139C-162E-AEA3-1E4A4B1284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234"/>
          <a:stretch>
            <a:fillRect/>
          </a:stretch>
        </p:blipFill>
        <p:spPr>
          <a:xfrm>
            <a:off x="1833683" y="2333302"/>
            <a:ext cx="5058877" cy="286120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79A0694-A892-89CE-5678-A62A13838CE8}"/>
              </a:ext>
            </a:extLst>
          </p:cNvPr>
          <p:cNvSpPr/>
          <p:nvPr/>
        </p:nvSpPr>
        <p:spPr>
          <a:xfrm>
            <a:off x="6501449" y="214707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9F98FBB-9AB8-E389-8794-3B54EC50DD99}"/>
              </a:ext>
            </a:extLst>
          </p:cNvPr>
          <p:cNvSpPr/>
          <p:nvPr/>
        </p:nvSpPr>
        <p:spPr>
          <a:xfrm>
            <a:off x="6501449" y="241309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BD21FB6-CBE0-41FF-7512-D45941CF5A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822" b="33783"/>
          <a:stretch>
            <a:fillRect/>
          </a:stretch>
        </p:blipFill>
        <p:spPr>
          <a:xfrm>
            <a:off x="1833683" y="2620875"/>
            <a:ext cx="5058877" cy="26603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90DF333-DC6A-2BE7-15F7-C7B5F3D0B32F}"/>
              </a:ext>
            </a:extLst>
          </p:cNvPr>
          <p:cNvSpPr/>
          <p:nvPr/>
        </p:nvSpPr>
        <p:spPr>
          <a:xfrm>
            <a:off x="6501449" y="2673415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8734C0E-9A2E-24FE-0BA2-1F14CC744EFD}"/>
              </a:ext>
            </a:extLst>
          </p:cNvPr>
          <p:cNvSpPr/>
          <p:nvPr/>
        </p:nvSpPr>
        <p:spPr>
          <a:xfrm>
            <a:off x="2174982" y="215554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CD95EA25-2306-513C-7A26-86C8CFE27C33}"/>
              </a:ext>
            </a:extLst>
          </p:cNvPr>
          <p:cNvSpPr/>
          <p:nvPr/>
        </p:nvSpPr>
        <p:spPr>
          <a:xfrm>
            <a:off x="2174982" y="2421556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BD70820-C578-D56C-1C53-9EB4D2594165}"/>
              </a:ext>
            </a:extLst>
          </p:cNvPr>
          <p:cNvSpPr/>
          <p:nvPr/>
        </p:nvSpPr>
        <p:spPr>
          <a:xfrm>
            <a:off x="2174982" y="268611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23D4DB8F-9F84-0C95-0736-C3F2D2036195}"/>
              </a:ext>
            </a:extLst>
          </p:cNvPr>
          <p:cNvCxnSpPr>
            <a:cxnSpLocks/>
            <a:stCxn id="24" idx="3"/>
            <a:endCxn id="8" idx="1"/>
          </p:cNvCxnSpPr>
          <p:nvPr/>
        </p:nvCxnSpPr>
        <p:spPr>
          <a:xfrm flipV="1">
            <a:off x="6892560" y="1381742"/>
            <a:ext cx="1625024" cy="8212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14D528D1-4D5F-01BB-515C-627C3804D4A9}"/>
              </a:ext>
            </a:extLst>
          </p:cNvPr>
          <p:cNvCxnSpPr>
            <a:cxnSpLocks/>
            <a:stCxn id="25" idx="3"/>
            <a:endCxn id="12" idx="1"/>
          </p:cNvCxnSpPr>
          <p:nvPr/>
        </p:nvCxnSpPr>
        <p:spPr>
          <a:xfrm>
            <a:off x="6892560" y="2469016"/>
            <a:ext cx="1625024" cy="872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251D3E19-554D-A321-BE51-C9C4596658D4}"/>
              </a:ext>
            </a:extLst>
          </p:cNvPr>
          <p:cNvCxnSpPr>
            <a:cxnSpLocks/>
            <a:stCxn id="26" idx="3"/>
            <a:endCxn id="10" idx="1"/>
          </p:cNvCxnSpPr>
          <p:nvPr/>
        </p:nvCxnSpPr>
        <p:spPr>
          <a:xfrm>
            <a:off x="6892560" y="2729341"/>
            <a:ext cx="1625024" cy="11050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그룹 8">
            <a:extLst>
              <a:ext uri="{FF2B5EF4-FFF2-40B4-BE49-F238E27FC236}">
                <a16:creationId xmlns:a16="http://schemas.microsoft.com/office/drawing/2014/main" id="{926A522E-CF77-BB2A-E552-891142D43A85}"/>
              </a:ext>
            </a:extLst>
          </p:cNvPr>
          <p:cNvGrpSpPr/>
          <p:nvPr/>
        </p:nvGrpSpPr>
        <p:grpSpPr>
          <a:xfrm>
            <a:off x="8517584" y="841742"/>
            <a:ext cx="2725312" cy="1080000"/>
            <a:chOff x="8132350" y="1163630"/>
            <a:chExt cx="2725312" cy="10800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FB003D2-D970-1D3D-6373-831D16E3A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32350" y="1163630"/>
              <a:ext cx="2725312" cy="1080000"/>
            </a:xfrm>
            <a:prstGeom prst="rect">
              <a:avLst/>
            </a:prstGeom>
          </p:spPr>
        </p:pic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07B7A2B5-3CC7-B10F-E791-E7C646CF6BD1}"/>
                </a:ext>
              </a:extLst>
            </p:cNvPr>
            <p:cNvSpPr/>
            <p:nvPr/>
          </p:nvSpPr>
          <p:spPr>
            <a:xfrm>
              <a:off x="8986416" y="1338507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B1660EB-7463-8DFC-1C62-43D5AA7C7941}"/>
                </a:ext>
              </a:extLst>
            </p:cNvPr>
            <p:cNvSpPr/>
            <p:nvPr/>
          </p:nvSpPr>
          <p:spPr>
            <a:xfrm>
              <a:off x="9718782" y="1842274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A4FCF97-457D-B869-935D-30550C457398}"/>
              </a:ext>
            </a:extLst>
          </p:cNvPr>
          <p:cNvGrpSpPr/>
          <p:nvPr/>
        </p:nvGrpSpPr>
        <p:grpSpPr>
          <a:xfrm>
            <a:off x="8517584" y="2016293"/>
            <a:ext cx="2725312" cy="1080000"/>
            <a:chOff x="8132350" y="2440923"/>
            <a:chExt cx="2725312" cy="1080000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1001B8D0-521E-C215-4918-CD87150AD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32350" y="2440923"/>
              <a:ext cx="2725312" cy="1080000"/>
            </a:xfrm>
            <a:prstGeom prst="rect">
              <a:avLst/>
            </a:prstGeom>
          </p:spPr>
        </p:pic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57AF628A-8416-ECCC-510B-990F4467D7CF}"/>
                </a:ext>
              </a:extLst>
            </p:cNvPr>
            <p:cNvSpPr/>
            <p:nvPr/>
          </p:nvSpPr>
          <p:spPr>
            <a:xfrm>
              <a:off x="8986416" y="2585005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909CD181-ECA0-8BB1-FA24-49E59B5E6D05}"/>
                </a:ext>
              </a:extLst>
            </p:cNvPr>
            <p:cNvSpPr/>
            <p:nvPr/>
          </p:nvSpPr>
          <p:spPr>
            <a:xfrm>
              <a:off x="9718782" y="31031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C676ADD-0D03-819F-C1A4-507E4D21DEA2}"/>
              </a:ext>
            </a:extLst>
          </p:cNvPr>
          <p:cNvGrpSpPr/>
          <p:nvPr/>
        </p:nvGrpSpPr>
        <p:grpSpPr>
          <a:xfrm>
            <a:off x="8517584" y="3294373"/>
            <a:ext cx="2725312" cy="1080000"/>
            <a:chOff x="8132350" y="3645672"/>
            <a:chExt cx="2725312" cy="1080000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6F573D-730D-544F-41C1-10DCC0D39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32350" y="3645672"/>
              <a:ext cx="2725312" cy="1080000"/>
            </a:xfrm>
            <a:prstGeom prst="rect">
              <a:avLst/>
            </a:prstGeom>
          </p:spPr>
        </p:pic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A4BE913-CBD9-A765-7E30-92A6831AC946}"/>
                </a:ext>
              </a:extLst>
            </p:cNvPr>
            <p:cNvSpPr/>
            <p:nvPr/>
          </p:nvSpPr>
          <p:spPr>
            <a:xfrm>
              <a:off x="9003348" y="3794054"/>
              <a:ext cx="585151" cy="121711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7279EFE-C00D-BDEF-1AC0-3129EEFDA6A4}"/>
                </a:ext>
              </a:extLst>
            </p:cNvPr>
            <p:cNvSpPr/>
            <p:nvPr/>
          </p:nvSpPr>
          <p:spPr>
            <a:xfrm>
              <a:off x="9718782" y="42969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9969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18465-26F6-7E29-0D99-62F00570F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F6BA4-2599-4906-C093-FF291846C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 </a:t>
            </a:r>
            <a:r>
              <a:rPr lang="en-US" altLang="ko-KR" dirty="0"/>
              <a:t>(</a:t>
            </a:r>
            <a:r>
              <a:rPr lang="ko-KR" altLang="en-US" dirty="0"/>
              <a:t>부산 </a:t>
            </a:r>
            <a:r>
              <a:rPr lang="en-US" altLang="ko-KR" dirty="0"/>
              <a:t>1003</a:t>
            </a:r>
            <a:r>
              <a:rPr lang="ko-KR" altLang="en-US" dirty="0"/>
              <a:t>번 버스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B26109-4882-2E01-9123-252379FC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4C8A50-6753-08D5-B029-991F0600620F}"/>
              </a:ext>
            </a:extLst>
          </p:cNvPr>
          <p:cNvSpPr txBox="1"/>
          <p:nvPr/>
        </p:nvSpPr>
        <p:spPr>
          <a:xfrm>
            <a:off x="288790" y="958844"/>
            <a:ext cx="1091051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해운대까지 총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361A99-028A-DAE4-8D58-0C31068E6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34" y="1049611"/>
            <a:ext cx="2540131" cy="17209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D808C29-D248-DA66-5060-21008429C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204" y="3026985"/>
            <a:ext cx="3796027" cy="314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665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0EC8-82DD-283D-D5B7-C72C7941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5B78EB-1F96-BF37-608F-3788E2387F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23859-5A0A-74D8-8E0B-E7BA0C9B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1903944-00F9-521B-2912-D6237ECF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2-2.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775779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E9431-CE9E-A19A-EFD8-1E4444EDFFB9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승용차의 탄소배출량을 계산한 것과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기차와 버스의 </a:t>
            </a:r>
            <a:r>
              <a:rPr lang="ko-KR" altLang="en-US" sz="1600" spc="-50" dirty="0" err="1"/>
              <a:t>탄소배출량은도</a:t>
            </a:r>
            <a:r>
              <a:rPr lang="ko-KR" altLang="en-US" sz="1600" spc="-50" dirty="0"/>
              <a:t> 에너지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KTX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지붕에는 외부 전선이 항상 접촉되어 있다고 보면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전선을 통해 외부에서 전력을 공급받고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전력의 힘으로 모터를 굴리고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모터가 작동하면서 바퀴가 굴러가게 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 소비량은 왜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다른가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에너지형태에 따라 단위를 다르게 사용한다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단 아까 말한대로 단위 간 변환은 가능하다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</a:t>
            </a:r>
            <a:r>
              <a:rPr lang="ko-KR" altLang="en-US" sz="1600" spc="-50" dirty="0" err="1"/>
              <a:t>액체니까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liter</a:t>
            </a:r>
            <a:r>
              <a:rPr lang="ko-KR" altLang="en-US" sz="1600" spc="-50" dirty="0"/>
              <a:t>로 고유단위를 표기하고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석탄은 </a:t>
            </a:r>
            <a:r>
              <a:rPr lang="ko-KR" altLang="en-US" sz="1600" spc="-50" dirty="0" err="1"/>
              <a:t>고체니까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kg</a:t>
            </a:r>
            <a:r>
              <a:rPr lang="ko-KR" altLang="en-US" sz="1600" spc="-50" dirty="0"/>
              <a:t>으로 고유단위를 표기한다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전기는 전기의 형태이니까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고유단위를 표기한다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b="1" spc="-50" dirty="0"/>
              <a:t>W</a:t>
            </a:r>
            <a:r>
              <a:rPr lang="en-US" altLang="ko-KR" sz="1600" spc="-50" dirty="0"/>
              <a:t>att</a:t>
            </a:r>
            <a:r>
              <a:rPr lang="en-US" altLang="ko-KR" sz="1600" b="1" spc="-50" dirty="0"/>
              <a:t>h</a:t>
            </a:r>
            <a:r>
              <a:rPr lang="en-US" altLang="ko-KR" sz="1600" spc="-50" dirty="0"/>
              <a:t>our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1,000Wh = 1kWh,   1,000,000Wh = 1MWh </a:t>
            </a:r>
            <a:r>
              <a:rPr lang="ko-KR" altLang="en-US" sz="1600" spc="-50" dirty="0" err="1"/>
              <a:t>이런식으로</a:t>
            </a:r>
            <a:r>
              <a:rPr lang="ko-KR" altLang="en-US" sz="1600" spc="-50" dirty="0"/>
              <a:t> 단위가 커지면 치환해서 쓰기도 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/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blipFill>
                <a:blip r:embed="rId2"/>
                <a:stretch>
                  <a:fillRect t="-124658" r="-4821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44B0-DBF8-55D6-C845-A997EBC6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86E6-0EE9-3E12-BB6E-2994E73D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5D0A5-356B-F043-4AA7-F610F426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4FA3B-0893-5F21-0F7D-3DB230541098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전기의 발열량은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3600MJ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3,600</a:t>
            </a:r>
            <a:r>
              <a:rPr lang="en-US" altLang="ko-KR" sz="1600" spc="-50" dirty="0"/>
              <a:t>MJ </a:t>
            </a:r>
            <a:r>
              <a:rPr lang="ko-KR" altLang="en-US" sz="1600" spc="-50" dirty="0"/>
              <a:t>만큼 열을 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전기도 탄소배출을 하나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전기는 탄소를 갖고 있지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탄소배출을 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중요한 점은 전기를 만들 때는 화석연료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사용하기 때문에 탄소배출을 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b="1" u="sng" dirty="0">
              <a:ln w="3175">
                <a:noFill/>
              </a:ln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그럼 전기는 탄소배출계수가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없는건가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전기의 탄소배출계수 </a:t>
            </a:r>
            <a:r>
              <a:rPr lang="en-US" altLang="ko-KR" sz="1600" spc="-50" dirty="0"/>
              <a:t> </a:t>
            </a:r>
            <a:r>
              <a:rPr lang="en-US" altLang="ko-KR" sz="1600" b="1" spc="-50" dirty="0"/>
              <a:t>0.000032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전기는 탄소배출을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안하는데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어떻게 탄소배출계수가 계산 되어 있나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애초에 만들어 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화석연료를 연소해서 만들어지기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나온 탄소배출량을 감안한 수치이다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우리나라에서 전력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을 쓰면 </a:t>
            </a:r>
            <a:r>
              <a:rPr lang="en-US" altLang="ko-KR" sz="1600" spc="-50" dirty="0"/>
              <a:t>0.114tC</a:t>
            </a:r>
            <a:r>
              <a:rPr lang="ko-KR" altLang="en-US" sz="1600" spc="-50" dirty="0"/>
              <a:t>의 탄소를 배출한 것과 다름이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52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71C33-4141-99F1-AB3D-904A196D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B6AFF-3029-0ECA-D53B-400461C5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C8B8D4-72CF-2E7D-DE99-C212830C0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64292"/>
            <a:ext cx="5562797" cy="30262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로 대전에서 부산 갈 때 전력을 얼만큼 사용할까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1km </a:t>
                </a:r>
                <a:r>
                  <a:rPr lang="ko-KR" altLang="en-US" sz="1600" spc="-50" dirty="0"/>
                  <a:t>가는데 </a:t>
                </a:r>
                <a:r>
                  <a:rPr lang="en-US" altLang="ko-KR" sz="1600" spc="-50" dirty="0"/>
                  <a:t>23.74kWh</a:t>
                </a:r>
                <a:r>
                  <a:rPr lang="ko-KR" altLang="en-US" sz="1600" spc="-50" dirty="0"/>
                  <a:t>를 사용한다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대전에서 부산 </a:t>
                </a:r>
                <a:r>
                  <a:rPr lang="ko-KR" altLang="en-US" sz="1600" spc="-50" dirty="0" err="1"/>
                  <a:t>갈때는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258km</a:t>
                </a:r>
                <a:r>
                  <a:rPr lang="ko-KR" altLang="en-US" sz="1600" spc="-50" dirty="0"/>
                  <a:t> 가야하고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6,125kWh,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6.125MWh</a:t>
                </a:r>
                <a:r>
                  <a:rPr lang="ko-KR" altLang="en-US" sz="1600" spc="-50" dirty="0"/>
                  <a:t>를 소비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기차를 이용할 때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 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전기소비량</a:t>
                </a:r>
                <a:r>
                  <a:rPr lang="en-US" altLang="ko-KR" sz="1600" spc="-50" dirty="0"/>
                  <a:t>: 6.125 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발열량</a:t>
                </a:r>
                <a:r>
                  <a:rPr lang="en-US" altLang="ko-KR" sz="1600" spc="-50" dirty="0"/>
                  <a:t>: 3600 MJ/MWh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배출계수</a:t>
                </a:r>
                <a:r>
                  <a:rPr lang="en-US" altLang="ko-KR" sz="1600" spc="-50" dirty="0"/>
                  <a:t>: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6.125 x 3,600 x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0.71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blipFill>
                <a:blip r:embed="rId3"/>
                <a:stretch>
                  <a:fillRect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E323335-4013-8312-E7E0-855AF1F4B924}"/>
              </a:ext>
            </a:extLst>
          </p:cNvPr>
          <p:cNvSpPr txBox="1"/>
          <p:nvPr/>
        </p:nvSpPr>
        <p:spPr>
          <a:xfrm>
            <a:off x="7214235" y="4196013"/>
            <a:ext cx="3714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</a:t>
            </a:r>
            <a:r>
              <a:rPr lang="ko-KR" altLang="en-US" sz="1100" dirty="0"/>
              <a:t>https://www.joongang.co.kr/article/25263290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E7608-E01A-D867-7632-B962E984882D}"/>
              </a:ext>
            </a:extLst>
          </p:cNvPr>
          <p:cNvSpPr txBox="1"/>
          <p:nvPr/>
        </p:nvSpPr>
        <p:spPr>
          <a:xfrm>
            <a:off x="7214235" y="3959760"/>
            <a:ext cx="45967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https://www.koreantrain.com/train-daejeon-busan?utm_source</a:t>
            </a:r>
            <a:endParaRPr lang="ko-KR" alt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CAE76-7728-E278-4378-CFE9037BDD8E}"/>
              </a:ext>
            </a:extLst>
          </p:cNvPr>
          <p:cNvSpPr txBox="1"/>
          <p:nvPr/>
        </p:nvSpPr>
        <p:spPr>
          <a:xfrm>
            <a:off x="288790" y="5215884"/>
            <a:ext cx="110459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우리가 탄 기차가 대전역에서 부산역까지 가는데 총 </a:t>
            </a:r>
            <a:r>
              <a:rPr lang="en-US" altLang="ko-KR" sz="1600" spc="-50" dirty="0"/>
              <a:t>0.71</a:t>
            </a:r>
            <a:r>
              <a:rPr lang="ko-KR" altLang="en-US" sz="1600" spc="-50" dirty="0"/>
              <a:t>톤의 탄소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간접적으로 배출하게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기차가 달리면서 직접 배출한 탄소의 양은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기차가 달리기 위해 사용한 전력을 만드는데 배출한 탄소의 양이 </a:t>
            </a:r>
            <a:r>
              <a:rPr lang="en-US" altLang="ko-KR" sz="1600" spc="-50" dirty="0"/>
              <a:t>710kg </a:t>
            </a:r>
            <a:r>
              <a:rPr lang="ko-KR" altLang="en-US" sz="1600" spc="-50" dirty="0"/>
              <a:t>이라는 의미다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54586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4CEC-6A08-07EF-D6EC-B86C5A90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E1B7D-A7B7-D210-DE11-AA810D8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B2B0E6-EB48-6AE3-B555-051AAB5F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3349D-A170-CCD1-C4F1-DE201511EE72}"/>
              </a:ext>
            </a:extLst>
          </p:cNvPr>
          <p:cNvSpPr txBox="1"/>
          <p:nvPr/>
        </p:nvSpPr>
        <p:spPr>
          <a:xfrm>
            <a:off x="288790" y="958844"/>
            <a:ext cx="110459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경우 나 혼자만 전기를 쓴 게 아니고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에 탑승한 승객 전원이 다 같이 사용하였다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의 간접배출량으로 계산한 </a:t>
            </a:r>
            <a:r>
              <a:rPr lang="en-US" altLang="ko-KR" sz="1600" spc="-50" dirty="0"/>
              <a:t>710kg</a:t>
            </a:r>
            <a:r>
              <a:rPr lang="ko-KR" altLang="en-US" sz="1600" spc="-50" dirty="0"/>
              <a:t>는 대전에서 부산까지 이용한 승객의 숫자로 나누어야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대전에서 부산까지 이용한 승객을 조사한 통계도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정확히 추론하는 것도 불가능하다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일단 우리가 알 수 있는 것은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에 마련된 좌석 수를 알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적어도 이 좌석 수보다 승객이 더 많지는 않을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도 종류별로 좌석수가 다르나 가장 많이 운행하고 있는 </a:t>
            </a:r>
            <a:r>
              <a:rPr lang="en-US" altLang="ko-KR" sz="1600" spc="-50" dirty="0"/>
              <a:t>‘KTX’ </a:t>
            </a:r>
            <a:r>
              <a:rPr lang="ko-KR" altLang="en-US" sz="1600" spc="-50" dirty="0"/>
              <a:t>를 탄다고 가정하자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ADEB71-71A0-6B74-65B0-4ECD1A2D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18" y="3317240"/>
            <a:ext cx="4101992" cy="25252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47A04-1809-DB3E-32F0-5B738B7642A2}"/>
              </a:ext>
            </a:extLst>
          </p:cNvPr>
          <p:cNvSpPr txBox="1"/>
          <p:nvPr/>
        </p:nvSpPr>
        <p:spPr>
          <a:xfrm>
            <a:off x="288790" y="3219444"/>
            <a:ext cx="695529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평일 하루 동안 </a:t>
            </a:r>
            <a:r>
              <a:rPr lang="en-US" altLang="ko-KR" sz="1600" spc="-50" dirty="0"/>
              <a:t>51</a:t>
            </a:r>
            <a:r>
              <a:rPr lang="ko-KR" altLang="en-US" sz="1600" spc="-50" dirty="0"/>
              <a:t>개의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대전에서 부산으로 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 </a:t>
            </a:r>
            <a:r>
              <a:rPr lang="en-US" altLang="ko-KR" sz="1600" spc="-50" dirty="0"/>
              <a:t>‘KTX’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청룡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대 운행한다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좌석수</a:t>
            </a:r>
            <a:r>
              <a:rPr lang="en-US" altLang="ko-KR" sz="1600" spc="-50" dirty="0"/>
              <a:t>) KTX: 955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: 379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요일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구간별로 승객이 제 각각 이겠지만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탑승한 승객 수를 전체 좌석 수의 대략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정도 수준인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명이라고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대전에서 부산까지 </a:t>
            </a:r>
            <a:r>
              <a:rPr lang="en-US" altLang="ko-KR" sz="1600" spc="-50" dirty="0"/>
              <a:t>KTX </a:t>
            </a:r>
            <a:r>
              <a:rPr lang="ko-KR" altLang="en-US" sz="1600" spc="-50" dirty="0"/>
              <a:t>타고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내가 배출한 탄소양은 </a:t>
            </a:r>
            <a:r>
              <a:rPr lang="en-US" altLang="ko-KR" sz="1600" spc="-50" dirty="0"/>
              <a:t>1.42 kg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(=710kg/500</a:t>
            </a:r>
            <a:r>
              <a:rPr lang="ko-KR" altLang="en-US" sz="1600" spc="-50" dirty="0"/>
              <a:t>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118027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14C97-A171-0BB6-2FE7-470A4CE0A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ED24A-71BF-F56A-475C-3C9A7F1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1003</a:t>
            </a:r>
            <a:r>
              <a:rPr lang="ko-KR" altLang="en-US" dirty="0"/>
              <a:t>번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69933-EF5A-063A-07E9-5A500399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AC932-78C6-C8AD-129E-CA62D8336522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버스의 탄소배출량도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탄소배출량을 계산할 때와 같은 방식으로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경우와 다른 점은 연료가 휘발유에서 경유로 바뀐다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휘발유와 경유는 가지고 있는 에너지양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탄소양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배출계수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식에 적용해야 하는 발열량이 바뀌고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배출계수 또한 바뀐다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경유버스의 연비는 </a:t>
            </a:r>
            <a:r>
              <a:rPr lang="en-US" altLang="ko-KR" sz="1600" spc="-50" dirty="0"/>
              <a:t>2.49km/liter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부산역에서 해운대까지 버스 노선의 거리는 </a:t>
            </a:r>
            <a:r>
              <a:rPr lang="en-US" altLang="ko-KR" sz="1600" spc="-50" dirty="0"/>
              <a:t>17km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발열량은 </a:t>
            </a:r>
            <a:r>
              <a:rPr lang="en-US" altLang="ko-KR" sz="1600" spc="-50" dirty="0"/>
              <a:t>37.8 MJ/liter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배출계수는 </a:t>
            </a:r>
            <a:r>
              <a:rPr lang="en-US" altLang="ko-KR" sz="1600" spc="-50" dirty="0"/>
              <a:t>0.000020090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버스에는 승객이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명이 타고 갔다고 하자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식에 수치들을 적용해보면 총 탄소배출량은 </a:t>
            </a:r>
            <a:r>
              <a:rPr lang="en-US" altLang="ko-KR" sz="1600" spc="-50" dirty="0"/>
              <a:t>0.0052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(=5.2 </a:t>
            </a:r>
            <a:r>
              <a:rPr lang="en-US" altLang="ko-KR" sz="1600" spc="-50" dirty="0" err="1"/>
              <a:t>kgC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탄소배출량은 </a:t>
            </a:r>
            <a:r>
              <a:rPr lang="en-US" altLang="ko-KR" sz="1600" spc="-50" dirty="0"/>
              <a:t>0.00052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(=0.52kgC)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/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4658" r="-3810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3286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C6B7A-E263-4E10-6FC8-628F7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57C5F-D107-4398-4207-7BAEE7793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C63E35-8DC2-F0EF-A6DE-1A1640FF2F53}"/>
              </a:ext>
            </a:extLst>
          </p:cNvPr>
          <p:cNvSpPr txBox="1"/>
          <p:nvPr/>
        </p:nvSpPr>
        <p:spPr>
          <a:xfrm>
            <a:off x="288790" y="958844"/>
            <a:ext cx="110459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ㅇㅇ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A00D549-4CB3-9852-58E3-8EE7C10B03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656721"/>
              </p:ext>
            </p:extLst>
          </p:nvPr>
        </p:nvGraphicFramePr>
        <p:xfrm>
          <a:off x="513333" y="1898772"/>
          <a:ext cx="6942500" cy="32189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통행료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표 요금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3447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탄소배출량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승용차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휘발유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KTX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버스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1.94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27981D2-4D3E-65CA-3E45-70E350AC5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419607"/>
              </p:ext>
            </p:extLst>
          </p:nvPr>
        </p:nvGraphicFramePr>
        <p:xfrm>
          <a:off x="7823200" y="1914964"/>
          <a:ext cx="3471250" cy="31865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3423487720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932047127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152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80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10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12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375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30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20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710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9741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494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716.2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39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3528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92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685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857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EDE1B-D2A3-1029-C107-0C1A84D4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C92BD-5CC2-122A-4704-E431976A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생각해보자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A8F6C-93D3-E068-5D09-B17F218A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CA114-3463-CCFA-4518-8FA1A44ED480}"/>
              </a:ext>
            </a:extLst>
          </p:cNvPr>
          <p:cNvSpPr txBox="1"/>
          <p:nvPr/>
        </p:nvSpPr>
        <p:spPr>
          <a:xfrm>
            <a:off x="288790" y="958844"/>
            <a:ext cx="110459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교통수단을 선택할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보유비용을 포함시켜서 계산하는 것이 올바른 접근이었을까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경제학에는 매몰비용이라는 개념이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우리나라가 화석연료 사용 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전력배출계수는 어떻게 바뀔까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전력 배출계수는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자가용을 타고 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운전자는 운전만 하고 다른 일을 못하는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기차를 타게 되면 그 시간에 다른 일을 할 수 있지 않나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450433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CDAD2-3FF2-942E-F7AE-54E2718B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09395-6F18-CC59-5674-D1B27E328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467176-53D0-691F-6764-D49F52D1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CF5297-0560-2A62-3538-1730F2AD1149}"/>
              </a:ext>
            </a:extLst>
          </p:cNvPr>
          <p:cNvSpPr txBox="1"/>
          <p:nvPr/>
        </p:nvSpPr>
        <p:spPr>
          <a:xfrm>
            <a:off x="288790" y="958844"/>
            <a:ext cx="108173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주행할 때의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자가용을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주행할 때 들어가는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단위비용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해운대까지 주행할 거리를 곱하는 방식으로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단위비용은 자가용을 구입 한 시점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수명이 다 할 때까지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폐차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들어가는 모든 비용을 더해서 총 비용을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수명이 다 할 때까지의 총 주행거리를 나누어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/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보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주행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/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단위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용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주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행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리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188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74E17-79DB-CE1B-25FE-53BE539C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E33B7E-7639-F55B-F933-B398D6485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62804F-869D-5D98-D629-502A5653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E19D0-7CC0-3307-8B0F-F2B340A1448E}"/>
              </a:ext>
            </a:extLst>
          </p:cNvPr>
          <p:cNvSpPr txBox="1"/>
          <p:nvPr/>
        </p:nvSpPr>
        <p:spPr>
          <a:xfrm>
            <a:off x="288790" y="958844"/>
            <a:ext cx="105125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총 비용은 아래 수식처럼 차량구입비와 연간 운영비를 더한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차량구입비는 차를 구입할 때 한 번만 지불한다</a:t>
            </a:r>
            <a:r>
              <a:rPr lang="en-US" altLang="ko-KR" sz="1600" spc="-50" dirty="0"/>
              <a:t>. (25,000,000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연간 운영비는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년 동안 매년 지불한다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매년 </a:t>
            </a:r>
            <a:r>
              <a:rPr lang="en-US" altLang="ko-KR" sz="1600" spc="-50" dirty="0"/>
              <a:t>1,500,000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연간 운영비는 미래에 발생하는 것이므로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현재가치로 할인을 해주어야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할인율은 </a:t>
            </a:r>
            <a:r>
              <a:rPr lang="en-US" altLang="ko-KR" sz="1600" spc="-50" dirty="0"/>
              <a:t>5% </a:t>
            </a:r>
            <a:r>
              <a:rPr lang="ko-KR" altLang="en-US" sz="1600" spc="-50" dirty="0"/>
              <a:t>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위 식을 통해 총 비용을 계산해보면 </a:t>
            </a: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엑셀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총 주행거리는 연간 주행거리의 합으로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와</a:t>
            </a:r>
            <a:r>
              <a:rPr lang="en-US" altLang="ko-KR" sz="1600" spc="-50" dirty="0"/>
              <a:t> 2040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의 길이는 언제나 같으므로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주행거리는 시간에 대해 할인을 할 필요가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총 거리는 </a:t>
            </a:r>
            <a:r>
              <a:rPr lang="en-US" altLang="ko-KR" sz="1600" spc="-50" dirty="0"/>
              <a:t>225,000km (=15,000km/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x 15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/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총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입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  <m:e>
                          <m:f>
                            <m:f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연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간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운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영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비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할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인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율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blipFill>
                <a:blip r:embed="rId2"/>
                <a:stretch>
                  <a:fillRect b="-1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7297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8F4F4-103F-B6E9-846F-515EE80B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202FC-6827-CE45-5133-49059D888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뜻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73469-AD84-BCC9-D65B-29491723A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6A4F89-A9B3-C1D7-C4EF-6C0941B4E7B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보통 물리학에서는 에너지를 </a:t>
            </a:r>
            <a:r>
              <a:rPr lang="en-US" altLang="ko-KR" sz="1600" spc="-50" dirty="0"/>
              <a:t>‘</a:t>
            </a:r>
            <a:r>
              <a:rPr lang="ko-KR" altLang="en-US" sz="1600" b="1" spc="-50" dirty="0"/>
              <a:t>일</a:t>
            </a:r>
            <a:r>
              <a:rPr lang="en-US" altLang="ko-KR" sz="1600" b="1" spc="-50" dirty="0"/>
              <a:t>(work)</a:t>
            </a:r>
            <a:r>
              <a:rPr lang="ko-KR" altLang="en-US" sz="1600" b="1" spc="-50" dirty="0"/>
              <a:t>을 할 수 있는 능력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이라고 정의한다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에너지를 측정하는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대략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사과 하나를 </a:t>
            </a:r>
            <a:r>
              <a:rPr lang="en-US" altLang="ko-KR" sz="1600" spc="-50" dirty="0"/>
              <a:t>10cm </a:t>
            </a:r>
            <a:r>
              <a:rPr lang="ko-KR" altLang="en-US" sz="1600" spc="-50" dirty="0"/>
              <a:t>들어올리는 데 필요한 에너지라고 생각하면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0.00024kcal</a:t>
            </a:r>
            <a:r>
              <a:rPr lang="ko-KR" altLang="en-US" sz="1600" spc="-50" dirty="0"/>
              <a:t>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88359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63F1E-91F6-D414-2D4A-DB2E797ED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E0351-F03E-20EE-91C7-121CE564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A8319-10DE-8A22-0CEA-A878BEE0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5091743-1918-8BCA-4D50-B1F31424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4A87E5-2CC5-3A10-7114-03F397EF437C}"/>
              </a:ext>
            </a:extLst>
          </p:cNvPr>
          <p:cNvSpPr txBox="1"/>
          <p:nvPr/>
        </p:nvSpPr>
        <p:spPr>
          <a:xfrm>
            <a:off x="288790" y="947070"/>
            <a:ext cx="594423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총비용과 총거리를 알고 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아반떼로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를 주행하는데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소요되는 평균비용을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/ 225,000km = 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해운대 놀러가는 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그림에서 보는 것처럼 해운대까지 총 </a:t>
            </a:r>
            <a:r>
              <a:rPr lang="en-US" altLang="ko-KR" sz="1600" spc="-50" dirty="0"/>
              <a:t>284km</a:t>
            </a:r>
            <a:r>
              <a:rPr lang="ko-KR" altLang="en-US" sz="1600" spc="-50" dirty="0"/>
              <a:t>를 주행해야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해운대까지의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자가용 이용비용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원인 셈이다</a:t>
            </a:r>
            <a:r>
              <a:rPr lang="en-US" altLang="ko-KR" sz="1600" spc="-50" dirty="0"/>
              <a:t>. (180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 x 284km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65704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8603</TotalTime>
  <Words>4815</Words>
  <Application>Microsoft Office PowerPoint</Application>
  <PresentationFormat>와이드스크린</PresentationFormat>
  <Paragraphs>602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생 활 속 의   경 제</vt:lpstr>
      <vt:lpstr>Section 1. 개 요</vt:lpstr>
      <vt:lpstr>에너지경제</vt:lpstr>
      <vt:lpstr>에너지경제</vt:lpstr>
      <vt:lpstr>생활 속의 에너지</vt:lpstr>
      <vt:lpstr>수업 개요</vt:lpstr>
      <vt:lpstr>Section 2. 에너지 종류</vt:lpstr>
      <vt:lpstr>에너지의 종류</vt:lpstr>
      <vt:lpstr>국가 에너지 시스템</vt:lpstr>
      <vt:lpstr>Section 3. 석유제품의 공급과 수요</vt:lpstr>
      <vt:lpstr>석유제품의 공급과 수요</vt:lpstr>
      <vt:lpstr>석유제품의 공급과 수요</vt:lpstr>
      <vt:lpstr>Section 4. 에너지 소비와 기후변화</vt:lpstr>
      <vt:lpstr>에너지와 환경</vt:lpstr>
      <vt:lpstr>에너지와 환경</vt:lpstr>
      <vt:lpstr>기상과 기후</vt:lpstr>
      <vt:lpstr>온실가스와 지구온난화</vt:lpstr>
      <vt:lpstr>온실가스와 지구온난화</vt:lpstr>
      <vt:lpstr>지구온난화와 기후변화</vt:lpstr>
      <vt:lpstr>지구온난화와 기후변화</vt:lpstr>
      <vt:lpstr>지구온난화 기후변화</vt:lpstr>
      <vt:lpstr>지구온난화 기후변화</vt:lpstr>
      <vt:lpstr>지구온난화 기후변화</vt:lpstr>
      <vt:lpstr>생 활 속 의   경 제</vt:lpstr>
      <vt:lpstr>Section 0. 해운대 놀러가기</vt:lpstr>
      <vt:lpstr>한밭대에서 해운대 바다 놀러가기</vt:lpstr>
      <vt:lpstr>Section 1-1. 자가용 (비용)</vt:lpstr>
      <vt:lpstr>승용차를 이용할 때 드는 비용</vt:lpstr>
      <vt:lpstr>자가용 정보</vt:lpstr>
      <vt:lpstr>연료비용</vt:lpstr>
      <vt:lpstr>통행료</vt:lpstr>
      <vt:lpstr>해운대까지 드는 총 비용</vt:lpstr>
      <vt:lpstr>Section 1-2. 자가용 (탄소배출)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Section 2-1. 대중교통 (비용)</vt:lpstr>
      <vt:lpstr>대중교통을 이용할 때 드는 비용</vt:lpstr>
      <vt:lpstr>대중교통을 이용할 때 드는 비용</vt:lpstr>
      <vt:lpstr>대중교통을 이용할 때 드는 비용 (부산 1003번 버스)</vt:lpstr>
      <vt:lpstr>Section 2-2. 대중교통 (탄소배출)</vt:lpstr>
      <vt:lpstr>KTX 이용시 탄소배출량</vt:lpstr>
      <vt:lpstr>KTX 이용시 탄소배출량</vt:lpstr>
      <vt:lpstr>KTX 이용시 탄소배출량</vt:lpstr>
      <vt:lpstr>KTX 이용시 탄소배출량</vt:lpstr>
      <vt:lpstr>1003번 이용시 탄소배출량</vt:lpstr>
      <vt:lpstr>KTX 이용시 탄소배출량</vt:lpstr>
      <vt:lpstr>생각해보자.</vt:lpstr>
      <vt:lpstr>Thank you</vt:lpstr>
      <vt:lpstr>자가용 이용비용 (1)</vt:lpstr>
      <vt:lpstr>자가용 이용비용 (2)</vt:lpstr>
      <vt:lpstr>에너지의 뜻</vt:lpstr>
      <vt:lpstr>자가용 이용비용 (3)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360</cp:revision>
  <dcterms:created xsi:type="dcterms:W3CDTF">2025-07-05T05:15:23Z</dcterms:created>
  <dcterms:modified xsi:type="dcterms:W3CDTF">2026-03-29T22:54:59Z</dcterms:modified>
</cp:coreProperties>
</file>