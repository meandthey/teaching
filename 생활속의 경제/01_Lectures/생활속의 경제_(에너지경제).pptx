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375" r:id="rId2"/>
    <p:sldId id="566" r:id="rId3"/>
    <p:sldId id="552" r:id="rId4"/>
    <p:sldId id="568" r:id="rId5"/>
    <p:sldId id="572" r:id="rId6"/>
    <p:sldId id="577" r:id="rId7"/>
    <p:sldId id="575" r:id="rId8"/>
    <p:sldId id="579" r:id="rId9"/>
    <p:sldId id="576" r:id="rId10"/>
    <p:sldId id="582" r:id="rId11"/>
    <p:sldId id="578" r:id="rId12"/>
    <p:sldId id="584" r:id="rId13"/>
    <p:sldId id="586" r:id="rId14"/>
    <p:sldId id="585" r:id="rId15"/>
    <p:sldId id="590" r:id="rId16"/>
    <p:sldId id="587" r:id="rId17"/>
    <p:sldId id="593" r:id="rId18"/>
    <p:sldId id="591" r:id="rId19"/>
    <p:sldId id="592" r:id="rId20"/>
    <p:sldId id="589" r:id="rId21"/>
    <p:sldId id="588" r:id="rId22"/>
    <p:sldId id="569" r:id="rId23"/>
    <p:sldId id="574" r:id="rId24"/>
    <p:sldId id="573" r:id="rId25"/>
    <p:sldId id="567" r:id="rId26"/>
    <p:sldId id="571" r:id="rId27"/>
    <p:sldId id="570" r:id="rId28"/>
    <p:sldId id="364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2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 err="1"/>
              <a:t>에</a:t>
            </a:r>
            <a:r>
              <a:rPr lang="ko-KR" altLang="en-US" sz="6600" b="1" i="0" dirty="0"/>
              <a:t> 너 지 경 제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0. </a:t>
            </a:r>
            <a:r>
              <a:rPr lang="ko-KR" altLang="en-US" sz="4000" b="1" i="0" spc="150" dirty="0"/>
              <a:t>해운대 놀러가기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해운대 바다에 같이 놀러가기로 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 바다까지 갈 수 있는 교통수단은 다음과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 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승용차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승용차를 타고 해운대까지 직접 운전해서 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시외버스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대전복합터미널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</a:t>
            </a:r>
            <a:r>
              <a:rPr lang="en-US" altLang="ko-KR" sz="1600" spc="-50" dirty="0"/>
              <a:t>102</a:t>
            </a:r>
            <a:r>
              <a:rPr lang="ko-KR" altLang="en-US" sz="1600" spc="-50" dirty="0"/>
              <a:t>번 시내버스를 타고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대전복합터미널에 가서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시외버스를 타고 해운대까지 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기차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현충원역 → 대전역 → 부산역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현충원역까지 </a:t>
            </a:r>
            <a:r>
              <a:rPr lang="en-US" altLang="ko-KR" sz="1600" spc="-50" dirty="0"/>
              <a:t>102</a:t>
            </a:r>
            <a:r>
              <a:rPr lang="ko-KR" altLang="en-US" sz="1600" spc="-50" dirty="0"/>
              <a:t>번 시내버스를 타고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현충원역에 가서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지하철을 타고 대전역에 가서</a:t>
            </a:r>
            <a:r>
              <a:rPr lang="en-US" altLang="ko-KR" sz="1600" spc="-50" dirty="0"/>
              <a:t>, KTX</a:t>
            </a:r>
            <a:r>
              <a:rPr lang="ko-KR" altLang="en-US" sz="1600" spc="-50" dirty="0"/>
              <a:t>를 타고 부산역에 가서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시외버스를 타고 해운대까지 간다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자전거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자전거를 타고 </a:t>
            </a:r>
            <a:r>
              <a:rPr lang="ko-KR" altLang="en-US" sz="1600" spc="-50" dirty="0" err="1"/>
              <a:t>낭만있게</a:t>
            </a:r>
            <a:r>
              <a:rPr lang="ko-KR" altLang="en-US" sz="1600" spc="-50" dirty="0"/>
              <a:t> 해운대까지 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A2F5-443D-9CA4-0BF7-21FC6268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19DC6-128B-CEBB-E130-E8B0ECC9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BA756E-2BD4-9E58-074D-36DEB579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8DE65-5978-D665-8F7C-9EFF58F9DA4A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가지 교통 수단 중 합리적인 선택을 하기 위해 다음의 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 사람당 총 비용을 계산해본다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시간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총 시간을 계산해본다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탄소배출량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톤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83428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CB5F-EDBA-F4B3-586F-86008FDF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CE0F4-64A0-CAB4-7EA1-86F7F162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0F506-1BC8-6D9F-8EF7-4B85A1A4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AD9D70-6C9D-0B65-C668-12DA0277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1-1.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3478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B4F-F6FD-3197-5BC5-FEFC82BF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6610-6E9F-47ED-DEE9-75808B6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EC9CF-B32B-B1FF-F413-6A1EB6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2E7C-D291-40A7-CD98-8FAE18EF3A74}"/>
              </a:ext>
            </a:extLst>
          </p:cNvPr>
          <p:cNvSpPr txBox="1"/>
          <p:nvPr/>
        </p:nvSpPr>
        <p:spPr>
          <a:xfrm>
            <a:off x="288790" y="958844"/>
            <a:ext cx="1125026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승용차를 이용하는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들어가는 비용을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승용차가 있어야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자가용을 보유하고 있던지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렌터카를 빌리던지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택시를 타던지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 갈 때 승용차를 사용한 비용은 계산되어야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보통 자가용을 보유하고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타고 간다고 해보자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자가용을 타고 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 시점에서 자가용 이용비용이 실제로 발생 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구입비와 유지비용에 이미 일부 포함되어 있다고 보는 것이 합당하다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연료를 넣어야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부산 갈 때 소비하는 연료양을 계산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종류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연비</a:t>
            </a:r>
            <a:r>
              <a:rPr lang="en-US" altLang="ko-KR" sz="1600" spc="-50" dirty="0"/>
              <a:t>(km/liter, km/kWh)</a:t>
            </a:r>
            <a:r>
              <a:rPr lang="ko-KR" altLang="en-US" sz="1600" spc="-50" dirty="0"/>
              <a:t>에 따라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사용료를 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통행료</a:t>
            </a:r>
            <a:r>
              <a:rPr lang="en-US" altLang="ko-KR" sz="1600" spc="-50" dirty="0"/>
              <a:t>’)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국도를 이용하면 통행료는 무료지만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시간이 너무 오래 걸린다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빠르게 도착할 수 있는 고속도로를 이용하자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국도이용시 거리는 </a:t>
            </a:r>
            <a:r>
              <a:rPr lang="en-US" altLang="ko-KR" sz="1600" spc="-50" dirty="0"/>
              <a:t>304km,</a:t>
            </a:r>
            <a:r>
              <a:rPr lang="ko-KR" altLang="en-US" sz="1600" spc="-50" dirty="0"/>
              <a:t> 통행료는</a:t>
            </a:r>
            <a:r>
              <a:rPr lang="en-US" altLang="ko-KR" sz="1600" spc="-50" dirty="0"/>
              <a:t> 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고속도로이용시 거리는 </a:t>
            </a:r>
            <a:r>
              <a:rPr lang="en-US" altLang="ko-KR" sz="1600" spc="-50" dirty="0"/>
              <a:t>284km, </a:t>
            </a:r>
            <a:r>
              <a:rPr lang="ko-KR" altLang="en-US" sz="1600" spc="-50" dirty="0"/>
              <a:t>통행료는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295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840-8B48-E7DB-7C16-FB30282D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4F2F-EA8D-42D9-290D-D2305CE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DE70E-0904-C8AF-33B7-BB1C5F1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8B6D1-8974-ECEB-339F-70DB42491F6A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자가용으로 </a:t>
            </a:r>
            <a:r>
              <a:rPr lang="en-US" altLang="ko-KR" sz="1600" spc="-50" dirty="0"/>
              <a:t>‘2026 </a:t>
            </a:r>
            <a:r>
              <a:rPr lang="ko-KR" altLang="en-US" sz="1600" spc="-50" dirty="0"/>
              <a:t>아반떼 가솔린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차량을 보유하고 있다고 하자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차량구입비로 </a:t>
            </a:r>
            <a:r>
              <a:rPr lang="en-US" altLang="ko-KR" sz="1600" spc="-50" dirty="0"/>
              <a:t>25,000,000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취등록세 포함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지불하였다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운영비로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자동차세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보험료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정비비용 포함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매년 지불하고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주행거리는 </a:t>
            </a:r>
            <a:r>
              <a:rPr lang="en-US" altLang="ko-KR" sz="1600" spc="-50" dirty="0"/>
              <a:t>15,000km 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15</a:t>
            </a:r>
            <a:r>
              <a:rPr lang="ko-KR" altLang="en-US" sz="1600" spc="-50" dirty="0"/>
              <a:t>년 동안 탈 계획이다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보이는 것과 같이 연비는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15km</a:t>
            </a:r>
            <a:r>
              <a:rPr lang="ko-KR" altLang="en-US" sz="1600" spc="-50" dirty="0"/>
              <a:t>를 주행할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A5868-EE07-A5FA-E0F2-99B1F2D3D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20667" y="2996139"/>
            <a:ext cx="6156472" cy="346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0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DAD2-3FF2-942E-F7AE-54E2718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09395-6F18-CC59-5674-D1B27E3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7176-53D0-691F-6764-D49F52D1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F5297-0560-2A62-3538-1730F2AD1149}"/>
              </a:ext>
            </a:extLst>
          </p:cNvPr>
          <p:cNvSpPr txBox="1"/>
          <p:nvPr/>
        </p:nvSpPr>
        <p:spPr>
          <a:xfrm>
            <a:off x="288790" y="958844"/>
            <a:ext cx="108173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주행할 때의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자가용을 </a:t>
            </a:r>
            <a:r>
              <a:rPr lang="en-US" altLang="ko-KR" sz="1600" spc="-50" dirty="0"/>
              <a:t>1km </a:t>
            </a:r>
            <a:r>
              <a:rPr lang="ko-KR" altLang="en-US" sz="1600" spc="-50" dirty="0"/>
              <a:t>주행할 때 들어가는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단위비용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해운대까지 주행할 거리를 곱하는 방식으로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단위비용은 자가용이 수명이 다 할 때까지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폐차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들어가는 모든 비용을 더해서 총 비용을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수명이 다 할 때까지의 총 주행거리를 나누어서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/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자가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주행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/>
              <p:nvPr/>
            </p:nvSpPr>
            <p:spPr>
              <a:xfrm>
                <a:off x="1572842" y="4559634"/>
                <a:ext cx="5981444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단위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리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2" y="4559634"/>
                <a:ext cx="5981444" cy="628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8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4E17-79DB-CE1B-25FE-53BE539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3B7E-7639-F55B-F933-B398D648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2804F-869D-5D98-D629-502A565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E19D0-7CC0-3307-8B0F-F2B340A1448E}"/>
              </a:ext>
            </a:extLst>
          </p:cNvPr>
          <p:cNvSpPr txBox="1"/>
          <p:nvPr/>
        </p:nvSpPr>
        <p:spPr>
          <a:xfrm>
            <a:off x="288790" y="958844"/>
            <a:ext cx="105125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여기서 총 비용은 아래 수식처럼 차량구입비와 운영비를 더한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차량구입비는 차를 구입할 때 한 번만 지불한다</a:t>
            </a:r>
            <a:r>
              <a:rPr lang="en-US" altLang="ko-KR" sz="1600" spc="-50" dirty="0"/>
              <a:t>. (25,000,000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운영비는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년 동안 매년 지불한다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매년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운영비는 미래에 발생하므로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현재가치로 할인을 해주어야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할인율은 </a:t>
            </a:r>
            <a:r>
              <a:rPr lang="en-US" altLang="ko-KR" sz="1600" spc="-50" dirty="0"/>
              <a:t>5% </a:t>
            </a:r>
            <a:r>
              <a:rPr lang="ko-KR" altLang="en-US" sz="1600" spc="-50" dirty="0"/>
              <a:t>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위 식을 통해 총비용을 계산해보면 </a:t>
            </a: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엑셀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총 주행거리는 연간 주행거리의 합으로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와</a:t>
            </a:r>
            <a:r>
              <a:rPr lang="en-US" altLang="ko-KR" sz="1600" spc="-50" dirty="0"/>
              <a:t> 2040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의 길이는 언제나 같으므로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주행거리는 시간에 대해 할인을 할 필요가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총 거리는 </a:t>
            </a:r>
            <a:r>
              <a:rPr lang="en-US" altLang="ko-KR" sz="1600" spc="-50" dirty="0"/>
              <a:t>225,000km (=15,000km/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x 15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/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총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입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운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영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비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할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인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율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blipFill>
                <a:blip r:embed="rId2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729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F1E-91F6-D414-2D4A-DB2E797E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0351-F03E-20EE-91C7-121CE564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A8319-10DE-8A22-0CEA-A878BEE0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091743-1918-8BCA-4D50-B1F3142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A87E5-2CC5-3A10-7114-03F397EF437C}"/>
              </a:ext>
            </a:extLst>
          </p:cNvPr>
          <p:cNvSpPr txBox="1"/>
          <p:nvPr/>
        </p:nvSpPr>
        <p:spPr>
          <a:xfrm>
            <a:off x="288790" y="947070"/>
            <a:ext cx="594423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총비용과 총거리를 알고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아반떼로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를 주행하는데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소요되는 평균비용을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/ 225,000km = 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해운대 놀러가는 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그림에서 보는 것처럼 해운대까지 총 </a:t>
            </a:r>
            <a:r>
              <a:rPr lang="en-US" altLang="ko-KR" sz="1600" spc="-50" dirty="0"/>
              <a:t>284km</a:t>
            </a:r>
            <a:r>
              <a:rPr lang="ko-KR" altLang="en-US" sz="1600" spc="-50" dirty="0"/>
              <a:t>를 주행해야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해운대까지의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원인 셈이다</a:t>
            </a:r>
            <a:r>
              <a:rPr lang="en-US" altLang="ko-KR" sz="1600" spc="-50" dirty="0"/>
              <a:t>. (180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 x 284km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70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504-1771-02FA-3930-F158F134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67B7-1176-760C-9756-509C0479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97747-3120-A353-071B-B9C1649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B3B1D-AACA-12BE-FB82-226042686C64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연료비용은 아래의 식과 같이 휘발유가격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연비의 역수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주행거리의 곱을 통해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/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2ED603FF-DF9F-6D1B-27F9-AB428CCB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82" y="2239682"/>
            <a:ext cx="3770168" cy="4065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869C7-B8CE-264A-55D4-329382E03B8E}"/>
              </a:ext>
            </a:extLst>
          </p:cNvPr>
          <p:cNvSpPr txBox="1"/>
          <p:nvPr/>
        </p:nvSpPr>
        <p:spPr>
          <a:xfrm>
            <a:off x="288789" y="2077370"/>
            <a:ext cx="738700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휘발유 가격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근처에서 가장 저렴한 주유소에서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1,787</a:t>
            </a:r>
            <a:r>
              <a:rPr lang="ko-KR" altLang="en-US" sz="1600" spc="-50" dirty="0"/>
              <a:t>원에 팔고 있으니 거기서 주유하려고 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일 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연비는 </a:t>
            </a:r>
            <a:r>
              <a:rPr lang="en-US" altLang="ko-KR" sz="1600" spc="-50" dirty="0"/>
              <a:t>15.0 km/liter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7 </a:t>
            </a:r>
            <a:r>
              <a:rPr lang="ko-KR" altLang="en-US" sz="1600" spc="-50" dirty="0"/>
              <a:t>자가용정보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주행거리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해운대까지는 총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연료비로 </a:t>
            </a:r>
            <a:r>
              <a:rPr lang="en-US" altLang="ko-KR" sz="1600" spc="-50" dirty="0"/>
              <a:t>33,834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02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02-8B18-AA69-BF5C-36E50A52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5ABF-96C2-B371-47A2-EC346C87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통행료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74F3-3B66-A2E6-4D0B-FA65EB9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B98F06-C9FD-CD50-298F-AC5252E2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04DCB-9FF3-BAB4-FA1D-976DEF4E4F61}"/>
              </a:ext>
            </a:extLst>
          </p:cNvPr>
          <p:cNvSpPr txBox="1"/>
          <p:nvPr/>
        </p:nvSpPr>
        <p:spPr>
          <a:xfrm>
            <a:off x="288790" y="947070"/>
            <a:ext cx="594423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경부고속도로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부산외곽순환고속도로</a:t>
            </a:r>
            <a:r>
              <a:rPr lang="ko-KR" altLang="en-US" sz="1600" spc="-50" dirty="0"/>
              <a:t> 총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종류의 고속도로를 이용할 예정이며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통행료로 총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18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7D3-EAFC-B90C-E9E8-67A7B2E3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AC47-6F3D-F192-35E9-F70DDAF7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해운대까지 드는 총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0459-53F8-D28A-583F-533EA604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802E-C20A-63D0-CD7C-C97E579C7C16}"/>
              </a:ext>
            </a:extLst>
          </p:cNvPr>
          <p:cNvSpPr txBox="1"/>
          <p:nvPr/>
        </p:nvSpPr>
        <p:spPr>
          <a:xfrm>
            <a:off x="288790" y="958844"/>
            <a:ext cx="105125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자가용을 타고 가는데 드는 비용을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가지로 나누어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결과는 다음과 같았다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 이용 비용</a:t>
            </a:r>
            <a:r>
              <a:rPr lang="en-US" altLang="ko-KR" sz="1600" spc="-50" dirty="0"/>
              <a:t>: 51,208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: 33,834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통행료</a:t>
            </a:r>
            <a:r>
              <a:rPr lang="en-US" altLang="ko-KR" sz="1600" spc="-50" dirty="0"/>
              <a:t>: 15,300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항목의 비용을 모두 합치면 총 </a:t>
            </a:r>
            <a:r>
              <a:rPr lang="en-US" altLang="ko-KR" sz="1600" spc="-50" dirty="0"/>
              <a:t>100,342</a:t>
            </a:r>
            <a:r>
              <a:rPr lang="ko-KR" altLang="en-US" sz="1600" spc="-50" dirty="0"/>
              <a:t> 원이 든다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008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9C-5E89-47FF-FF37-56AF935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A19D3F-3C09-2D77-30A2-72B2CDAA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76B2-0E02-B524-72F8-E25DFE0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1B2E66B-0C69-642F-2A4E-8AE32C50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1-2.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5295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0BAF-E1B6-E67F-FDC4-4B80900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F56FB-C5CB-981F-B304-49BC490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99806-EB55-0461-2C42-DB1F7457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382F0-FB6F-9A72-36C4-9B33B57980F4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승용차를 타고 갈 때의 탄소배출량은 휘발유의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자동차는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엑셀을 밟으면 휘발유가 연소되고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연소과정에서 생기는 힘으로 자동차 바퀴를 돌려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자동차가 움직인다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휘발유를 태우는데 왜 힘이 생기나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휘발유는 원래 힘을 가지고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리터가 얼마나 큰 힘을 낼 수 있는지 숫자로 나타낸 것이 발열량이다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우리도 밥이나 빵을 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힘으로 움직이고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다이어트를 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빵 하나를 먹어도 칼로리를 체크하게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칼로리가 발열량이다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/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6027" r="-3810" b="-194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689345B-F63E-9058-3C4F-19CF530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4" y="5139331"/>
            <a:ext cx="2780532" cy="1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8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BE09-0688-964A-B00B-E019F6B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D30D-DA2B-43D7-460A-65EB3274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3BBA8-2062-12EA-5B46-B732DC9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9B549-E92E-6BA8-0EB3-CE3A147EEAB1}"/>
              </a:ext>
            </a:extLst>
          </p:cNvPr>
          <p:cNvSpPr txBox="1"/>
          <p:nvPr/>
        </p:nvSpPr>
        <p:spPr>
          <a:xfrm>
            <a:off x="288790" y="958844"/>
            <a:ext cx="105125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식을 통해 해운대까지 휘발유 몇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리터</a:t>
            </a:r>
            <a:r>
              <a:rPr lang="en-US" altLang="ko-KR" sz="1600" spc="-50" dirty="0"/>
              <a:t>(liter)</a:t>
            </a:r>
            <a:r>
              <a:rPr lang="ko-KR" altLang="en-US" sz="1600" spc="-50" dirty="0"/>
              <a:t>를 사용하게 될지 계산해보자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해운대 까지 총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연비가 </a:t>
            </a:r>
            <a:r>
              <a:rPr lang="en-US" altLang="ko-KR" sz="1600" spc="-50" dirty="0"/>
              <a:t>15.0km/liter </a:t>
            </a:r>
            <a:r>
              <a:rPr lang="ko-KR" altLang="en-US" sz="1600" spc="-50" dirty="0"/>
              <a:t>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 까지 필요한 휘발유의 양은 </a:t>
            </a:r>
            <a:r>
              <a:rPr lang="en-US" altLang="ko-KR" sz="1600" spc="-50" dirty="0"/>
              <a:t>18.9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(284/15 = 18.9)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/>
              <p:nvPr/>
            </p:nvSpPr>
            <p:spPr>
              <a:xfrm>
                <a:off x="1646775" y="1605119"/>
                <a:ext cx="5948752" cy="374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775" y="1605119"/>
                <a:ext cx="5948752" cy="374783"/>
              </a:xfrm>
              <a:prstGeom prst="rect">
                <a:avLst/>
              </a:prstGeom>
              <a:blipFill>
                <a:blip r:embed="rId2"/>
                <a:stretch>
                  <a:fillRect t="-153226" r="-1947" b="-2338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9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DEC3-02F5-E329-E684-03D0E1DE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E1C8-BE53-EF3E-0B1D-6BAED274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3AFB0-E192-0A83-A1A9-F3766AF5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A0A3F-E2BD-255B-12DB-E5AF30503E1E}"/>
              </a:ext>
            </a:extLst>
          </p:cNvPr>
          <p:cNvSpPr txBox="1"/>
          <p:nvPr/>
        </p:nvSpPr>
        <p:spPr>
          <a:xfrm>
            <a:off x="288790" y="958844"/>
            <a:ext cx="810591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발열량의 단위가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MJ? kcal?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MJ</a:t>
            </a:r>
            <a:r>
              <a:rPr lang="ko-KR" altLang="en-US" sz="1600" spc="-50" dirty="0"/>
              <a:t>는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M</a:t>
            </a:r>
            <a:r>
              <a:rPr lang="en-US" altLang="ko-KR" sz="1600" spc="-50" dirty="0"/>
              <a:t>ega </a:t>
            </a:r>
            <a:r>
              <a:rPr lang="en-US" altLang="ko-KR" sz="1600" b="1" spc="-50" dirty="0"/>
              <a:t>J</a:t>
            </a:r>
            <a:r>
              <a:rPr lang="en-US" altLang="ko-KR" sz="1600" spc="-50" dirty="0"/>
              <a:t>oule </a:t>
            </a:r>
            <a:r>
              <a:rPr lang="ko-KR" altLang="en-US" sz="1600" spc="-50" dirty="0"/>
              <a:t>의 약자이고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kcal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k</a:t>
            </a:r>
            <a:r>
              <a:rPr lang="en-US" altLang="ko-KR" sz="1600" spc="-50" dirty="0"/>
              <a:t>ilo</a:t>
            </a:r>
            <a:r>
              <a:rPr lang="en-US" altLang="ko-KR" sz="1600" b="1" spc="-50" dirty="0"/>
              <a:t>cal</a:t>
            </a:r>
            <a:r>
              <a:rPr lang="en-US" altLang="ko-KR" sz="1600" spc="-50" dirty="0"/>
              <a:t>orie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 모두 에너지의 크기를 나타내는 단위다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즉 환산이 가능한 단위들이다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2MJ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1MJ</a:t>
            </a:r>
            <a:r>
              <a:rPr lang="ko-KR" altLang="en-US" sz="1600" spc="-50" dirty="0"/>
              <a:t>보다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 더 많은 에너지를 의미한다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또 온도를 섭씨로 재기도 하고 화씨로 재기도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022EA9-92F1-34F4-8642-823F511EDBC1}"/>
              </a:ext>
            </a:extLst>
          </p:cNvPr>
          <p:cNvGrpSpPr/>
          <p:nvPr/>
        </p:nvGrpSpPr>
        <p:grpSpPr>
          <a:xfrm>
            <a:off x="8528051" y="883082"/>
            <a:ext cx="3054350" cy="5291100"/>
            <a:chOff x="-1003299" y="1320800"/>
            <a:chExt cx="3054350" cy="52911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B20C12-2816-2A73-09B1-7F0525CA2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02" r="50889" b="39485"/>
            <a:stretch>
              <a:fillRect/>
            </a:stretch>
          </p:blipFill>
          <p:spPr>
            <a:xfrm>
              <a:off x="-1003299" y="1320800"/>
              <a:ext cx="3054350" cy="52911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E22738E-353D-37B1-3713-83A09B3C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73" t="4743" r="-161" b="93609"/>
            <a:stretch>
              <a:fillRect/>
            </a:stretch>
          </p:blipFill>
          <p:spPr>
            <a:xfrm>
              <a:off x="1123950" y="1460500"/>
              <a:ext cx="869949" cy="1524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8190D-4ADD-6414-D56B-DEA1FB104A32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</p:spTree>
    <p:extLst>
      <p:ext uri="{BB962C8B-B14F-4D97-AF65-F5344CB8AC3E}">
        <p14:creationId xmlns:p14="http://schemas.microsoft.com/office/powerpoint/2010/main" val="159573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63A-678D-D82F-8C01-1FF58B09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75F0B-7030-737A-835F-F1391F91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C1411-20E8-1633-E5A9-27C3880E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DE803-9C99-33DA-A5EC-5045E8177FDD}"/>
              </a:ext>
            </a:extLst>
          </p:cNvPr>
          <p:cNvSpPr txBox="1"/>
          <p:nvPr/>
        </p:nvSpPr>
        <p:spPr>
          <a:xfrm>
            <a:off x="288790" y="958844"/>
            <a:ext cx="717881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배출계수란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에너지를 쓸 때 나오는 탄소의 양이다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 보면 휘발유의 배출계수는 </a:t>
            </a:r>
            <a:r>
              <a:rPr lang="en-US" altLang="ko-KR" sz="1600" spc="-50" dirty="0"/>
              <a:t>0.019731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tC</a:t>
            </a:r>
            <a:r>
              <a:rPr lang="ko-KR" altLang="en-US" sz="1600" spc="-50" dirty="0"/>
              <a:t>는 </a:t>
            </a:r>
            <a:r>
              <a:rPr lang="en-US" altLang="ko-KR" sz="1600" b="1" spc="-50" dirty="0" err="1"/>
              <a:t>t</a:t>
            </a:r>
            <a:r>
              <a:rPr lang="en-US" altLang="ko-KR" sz="1600" spc="-50" dirty="0" err="1"/>
              <a:t>onne</a:t>
            </a:r>
            <a:r>
              <a:rPr lang="en-US" altLang="ko-KR" sz="1600" spc="-50" dirty="0"/>
              <a:t> of </a:t>
            </a:r>
            <a:r>
              <a:rPr lang="en-US" altLang="ko-KR" sz="1600" b="1" spc="-50" dirty="0"/>
              <a:t>C</a:t>
            </a:r>
            <a:r>
              <a:rPr lang="en-US" altLang="ko-KR" sz="1600" spc="-50" dirty="0"/>
              <a:t>arbon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약자 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무게를 측정하는 단위다</a:t>
            </a:r>
            <a:r>
              <a:rPr lang="en-US" altLang="ko-KR" sz="1600" spc="-50" dirty="0"/>
              <a:t>. 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    ※  </a:t>
            </a:r>
            <a:r>
              <a:rPr lang="ko-KR" altLang="en-US" sz="1600" spc="-50" dirty="0"/>
              <a:t>말그대로 </a:t>
            </a:r>
            <a:r>
              <a:rPr lang="en-US" altLang="ko-KR" sz="1600" spc="-50" dirty="0"/>
              <a:t>1tC</a:t>
            </a:r>
            <a:r>
              <a:rPr lang="ko-KR" altLang="en-US" sz="1600" spc="-50" dirty="0"/>
              <a:t>를 체중계에 재면 </a:t>
            </a:r>
            <a:r>
              <a:rPr lang="en-US" altLang="ko-KR" sz="1600" spc="-50" dirty="0"/>
              <a:t>1,000kg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휘발유를 </a:t>
            </a:r>
            <a:r>
              <a:rPr lang="en-US" altLang="ko-KR" sz="1600" spc="-50" dirty="0"/>
              <a:t>1MJ </a:t>
            </a:r>
            <a:r>
              <a:rPr lang="ko-KR" altLang="en-US" sz="1600" spc="-50" dirty="0"/>
              <a:t>만큼 연소를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탄소가 </a:t>
            </a:r>
            <a:r>
              <a:rPr lang="en-US" altLang="ko-KR" sz="1600" spc="-50" dirty="0"/>
              <a:t>0.019731 </a:t>
            </a:r>
            <a:r>
              <a:rPr lang="en-US" altLang="ko-KR" sz="1600" spc="-50" dirty="0" err="1"/>
              <a:t>tC</a:t>
            </a:r>
            <a:r>
              <a:rPr lang="ko-KR" altLang="en-US" sz="1600" spc="-50" dirty="0"/>
              <a:t>만큼 나온다는 의미다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EAB1-9E78-8444-4BD2-D15A06552C7D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830B6-A8EC-4DC9-3AF6-A9AF142B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0" t="2754" b="31939"/>
          <a:stretch>
            <a:fillRect/>
          </a:stretch>
        </p:blipFill>
        <p:spPr>
          <a:xfrm>
            <a:off x="7607299" y="1219200"/>
            <a:ext cx="4193397" cy="34628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217310-7E9D-D075-8FD8-D65DF1E83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" r="63751" b="97246"/>
          <a:stretch>
            <a:fillRect/>
          </a:stretch>
        </p:blipFill>
        <p:spPr>
          <a:xfrm>
            <a:off x="7607299" y="1073149"/>
            <a:ext cx="1741489" cy="1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81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025-27CC-8526-6F09-0221CE2A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E4F58-20B2-28F3-A4FB-596D258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AAA7B-8D92-B26F-62E9-34105BAD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92F93-BEB0-4B77-B46D-424C9360BE18}"/>
              </a:ext>
            </a:extLst>
          </p:cNvPr>
          <p:cNvSpPr txBox="1"/>
          <p:nvPr/>
        </p:nvSpPr>
        <p:spPr>
          <a:xfrm>
            <a:off x="288789" y="958844"/>
            <a:ext cx="10430211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 </a:t>
            </a:r>
            <a:r>
              <a:rPr lang="ko-KR" altLang="en-US" sz="1600" spc="-50" dirty="0" err="1"/>
              <a:t>이용시</a:t>
            </a:r>
            <a:r>
              <a:rPr lang="ko-KR" altLang="en-US" sz="1600" spc="-50" dirty="0"/>
              <a:t> 나오는 탄소배출량을 계산하기 위한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항목을 다 찾아보았다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 소비량</a:t>
            </a:r>
            <a:r>
              <a:rPr lang="en-US" altLang="ko-KR" sz="1600" spc="-50" dirty="0"/>
              <a:t>: 18.9 liter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 발열량</a:t>
            </a:r>
            <a:r>
              <a:rPr lang="en-US" altLang="ko-KR" sz="1600" spc="-50" dirty="0"/>
              <a:t>: 32.4 MJ/liter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 배출계수</a:t>
            </a:r>
            <a:r>
              <a:rPr lang="en-US" altLang="ko-KR" sz="1600" spc="-50" dirty="0"/>
              <a:t>: 0.019731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33972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48C1-0311-D545-F491-E9E90CEB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AF448-5B5F-8C60-6871-B7712F3B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F6582-4154-0E0F-97E1-44E33213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BFAF2-1B60-F8B8-9796-D4AADA2E5A30}"/>
              </a:ext>
            </a:extLst>
          </p:cNvPr>
          <p:cNvSpPr txBox="1"/>
          <p:nvPr/>
        </p:nvSpPr>
        <p:spPr>
          <a:xfrm>
            <a:off x="288790" y="958844"/>
            <a:ext cx="105125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F196B8-4DEC-782A-A8F5-489B64FE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48" y="321093"/>
            <a:ext cx="4293552" cy="638446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2BF9223-491B-CCED-87A7-650359642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485"/>
          <a:stretch>
            <a:fillRect/>
          </a:stretch>
        </p:blipFill>
        <p:spPr>
          <a:xfrm>
            <a:off x="1718243" y="1114843"/>
            <a:ext cx="4293552" cy="386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63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A2DC-11D7-D56C-A082-CEE730ABC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CD460-E897-C121-EAD1-CE059A51C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BE2544-0714-2D10-C40C-6C6EE72A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8FA35-9C40-E47B-C45A-C6A5543E82C3}"/>
              </a:ext>
            </a:extLst>
          </p:cNvPr>
          <p:cNvSpPr txBox="1"/>
          <p:nvPr/>
        </p:nvSpPr>
        <p:spPr>
          <a:xfrm>
            <a:off x="288790" y="958844"/>
            <a:ext cx="105125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20E031-77BF-BACC-9458-0715A820C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493" y="1073149"/>
            <a:ext cx="4822204" cy="53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12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9AA0-5CDE-38F1-EF38-E6D2AC30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6C6EF-50E4-A96F-F3A7-5180147226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7C279-8712-4E23-C9C0-2524B91C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E609EC0-1B5D-68A5-B3E6-75BDBE76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시외버스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278528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9231-20AB-777E-51A4-85BC69E4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CFF640-B1AE-5C48-3E21-19B18401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2E4D35-D537-850B-F6C6-399C9F34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D3D840C-4C76-2665-C46D-EAFC8BB0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기차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42565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481C-1D9D-7CB2-E5FA-BAC4C715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E74664-C59C-7450-E457-C7C1AE8A2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E796B-0E97-4DC5-C97C-83B3D306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9D770F2-07B6-6ACC-50A4-1B370D99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자전거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92353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D39B-500A-F5DD-49DE-45EA05A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54B39-A61F-3F22-85AB-26DE4A2D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C5B68-9113-722F-6E94-99F1D81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047AC-B914-7D9A-F59D-987369713737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해운대 바다에 같이 놀러가기로 하였다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FAE51D-4082-00E8-99D1-C9BB0FA0F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67" y="3545497"/>
            <a:ext cx="6953607" cy="17971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F836E8-35CE-5DCE-65EF-809E96897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57" y="3054730"/>
            <a:ext cx="3416078" cy="25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5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6EAE-40B1-2DD5-2AF9-C0B31EFA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E21FB-81A3-4C6F-39C7-55F0A228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01C618-5313-4919-CCA4-E18BFDC4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EB807-0A10-F24B-8777-7C0B648207CF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해운대 바다에 같이 놀러가기로 하였다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8E328F-787E-F7E0-05B5-CF9DD77C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67" y="3545497"/>
            <a:ext cx="6953607" cy="17971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A4CF76-6505-7545-084A-85D703E8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57" y="3054730"/>
            <a:ext cx="3416078" cy="25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C1A5-C21E-6735-3811-5B066E12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41D060-B309-7EDF-8886-C968BEBE13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F96CA-DF2D-4F31-0D3E-F88EBAAD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F3B19D8-0696-C765-F6A5-BC37EF39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재정학 연구의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62705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6729</TotalTime>
  <Words>1290</Words>
  <Application>Microsoft Office PowerPoint</Application>
  <PresentationFormat>와이드스크린</PresentationFormat>
  <Paragraphs>178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에 너 지 경 제</vt:lpstr>
      <vt:lpstr>Section 0. 해운대 놀러가기</vt:lpstr>
      <vt:lpstr>한밭대에서 해운대 바다 놀러가기</vt:lpstr>
      <vt:lpstr>한밭대에서 해운대 바다 놀러가기</vt:lpstr>
      <vt:lpstr>Section 1-1. 자가용 (비용)</vt:lpstr>
      <vt:lpstr>한밭대에서 해운대 바다 놀러가기</vt:lpstr>
      <vt:lpstr>자가용 정보</vt:lpstr>
      <vt:lpstr>자가용 이용비용 (1)</vt:lpstr>
      <vt:lpstr>자가용 이용비용 (2)</vt:lpstr>
      <vt:lpstr>자가용 이용비용 (3)</vt:lpstr>
      <vt:lpstr>연료비용</vt:lpstr>
      <vt:lpstr>통행료</vt:lpstr>
      <vt:lpstr>해운대까지 드는 총 비용</vt:lpstr>
      <vt:lpstr>Section 1-2. 자가용 (탄소배출)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Section 2. 시외버스</vt:lpstr>
      <vt:lpstr>Section 3. 기차</vt:lpstr>
      <vt:lpstr>Section 4. 자전거</vt:lpstr>
      <vt:lpstr>한밭대에서 해운대 바다 놀러가기</vt:lpstr>
      <vt:lpstr>한밭대에서 해운대 바다 놀러가기</vt:lpstr>
      <vt:lpstr>Section 5. 재정학 연구의 역사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199</cp:revision>
  <dcterms:created xsi:type="dcterms:W3CDTF">2025-07-05T05:15:23Z</dcterms:created>
  <dcterms:modified xsi:type="dcterms:W3CDTF">2026-03-24T13:52:10Z</dcterms:modified>
</cp:coreProperties>
</file>