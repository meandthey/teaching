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8"/>
  </p:notesMasterIdLst>
  <p:sldIdLst>
    <p:sldId id="375" r:id="rId2"/>
    <p:sldId id="566" r:id="rId3"/>
    <p:sldId id="552" r:id="rId4"/>
    <p:sldId id="568" r:id="rId5"/>
    <p:sldId id="572" r:id="rId6"/>
    <p:sldId id="577" r:id="rId7"/>
    <p:sldId id="575" r:id="rId8"/>
    <p:sldId id="579" r:id="rId9"/>
    <p:sldId id="576" r:id="rId10"/>
    <p:sldId id="582" r:id="rId11"/>
    <p:sldId id="578" r:id="rId12"/>
    <p:sldId id="584" r:id="rId13"/>
    <p:sldId id="586" r:id="rId14"/>
    <p:sldId id="585" r:id="rId15"/>
    <p:sldId id="590" r:id="rId16"/>
    <p:sldId id="587" r:id="rId17"/>
    <p:sldId id="591" r:id="rId18"/>
    <p:sldId id="589" r:id="rId19"/>
    <p:sldId id="588" r:id="rId20"/>
    <p:sldId id="569" r:id="rId21"/>
    <p:sldId id="574" r:id="rId22"/>
    <p:sldId id="573" r:id="rId23"/>
    <p:sldId id="567" r:id="rId24"/>
    <p:sldId id="571" r:id="rId25"/>
    <p:sldId id="570" r:id="rId26"/>
    <p:sldId id="364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6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 err="1"/>
              <a:t>에</a:t>
            </a:r>
            <a:r>
              <a:rPr lang="ko-KR" altLang="en-US" sz="6600" b="1" i="0" dirty="0"/>
              <a:t> 너 지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11382-91C3-A2DB-CA95-392E1CD5B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17A66A-1352-1DB9-9354-7D5F3A020D2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669E84-78E9-515C-4CFD-7B1837029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3CCD5F5-4F66-8DC3-C0ED-8161348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0. </a:t>
            </a:r>
            <a:r>
              <a:rPr lang="ko-KR" altLang="en-US" sz="4000" b="1" i="0" spc="150" dirty="0"/>
              <a:t>지금 해운대 놀러가기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0831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전승호와 유진영은 해운대 바다에 같이 놀러가기로 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 바다까지 갈 수 있는 교통수단은 다음과 같이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가지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자가용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한밭대에서 아반떼를 타고 해운대까지 직접 운전해서 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시외버스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→ 대전복합터미널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한밭대에서 </a:t>
            </a:r>
            <a:r>
              <a:rPr lang="en-US" altLang="ko-KR" sz="1600" spc="-50" dirty="0"/>
              <a:t>102</a:t>
            </a:r>
            <a:r>
              <a:rPr lang="ko-KR" altLang="en-US" sz="1600" spc="-50" dirty="0"/>
              <a:t>번 시내버스를 타고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대전복합터미널에 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시외버스를 타고 해운대까지 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기차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→ 현충원역 → 대전역 → 부산역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한밭대에서 현충원역까지 </a:t>
            </a:r>
            <a:r>
              <a:rPr lang="en-US" altLang="ko-KR" sz="1600" spc="-50" dirty="0"/>
              <a:t>102</a:t>
            </a:r>
            <a:r>
              <a:rPr lang="ko-KR" altLang="en-US" sz="1600" spc="-50" dirty="0"/>
              <a:t>번 시내버스를 타고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현충원역에 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지하철을 타고 대전역에 가서</a:t>
            </a:r>
            <a:r>
              <a:rPr lang="en-US" altLang="ko-KR" sz="1600" spc="-50" dirty="0"/>
              <a:t>, KTX</a:t>
            </a:r>
            <a:r>
              <a:rPr lang="ko-KR" altLang="en-US" sz="1600" spc="-50" dirty="0"/>
              <a:t>를 타고 부산역에 가서</a:t>
            </a:r>
            <a:r>
              <a:rPr lang="en-US" altLang="ko-KR" sz="1600" spc="-50" dirty="0"/>
              <a:t>, 1001</a:t>
            </a:r>
            <a:r>
              <a:rPr lang="ko-KR" altLang="en-US" sz="1600" spc="-50" dirty="0"/>
              <a:t>번 시외버스를 타고 해운대까지 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자전거 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→ 해운대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한밭대에서 자전거를 타고 </a:t>
            </a:r>
            <a:r>
              <a:rPr lang="ko-KR" altLang="en-US" sz="1600" spc="-50" dirty="0" err="1"/>
              <a:t>낭만있게</a:t>
            </a:r>
            <a:r>
              <a:rPr lang="ko-KR" altLang="en-US" sz="1600" spc="-50" dirty="0"/>
              <a:t> 해운대까지 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A2F5-443D-9CA4-0BF7-21FC6268C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F19DC6-128B-CEBB-E130-E8B0ECC93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A756E-2BD4-9E58-074D-36DEB5796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38DE65-5978-D665-8F7C-9EFF58F9DA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가지 교통 수단 중 합리적인 선택을 하기 위해 다음의 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 사람당 총 비용을 계산해본다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시간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 시간을 계산해본다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탄소배출량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톤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834286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7CB5F-EDBA-F4B3-586F-86008FDF8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72CE0F4-64A0-CAB4-7EA1-86F7F1627D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B0F506-1BC8-6D9F-8EF7-4B85A1A43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AD9D70-6C9D-0B65-C668-12DA02770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1-1.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비용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1347857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7B4F-F6FD-3197-5BC5-FEFC82BFF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D6610-6E9F-47ED-DEE9-75808B6A9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6EC9CF-B32B-B1FF-F413-6A1EB6E4C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82E7C-D291-40A7-CD98-8FAE18EF3A74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승용차를 이용하는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들어가는 비용을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승용차가 있어야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자가용 이용비용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자가용을 보유하고 있던지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렌터카를 빌리던지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택시를 타던지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해운대 갈 때 사용한 비용은 계산되어야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보통 자가용을 보유하고 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자가용을 타고 간다고 해보자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자가용을 타고 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 시점에서 자가용의 이용비용이 실제로 발생하는 항목은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구입비와 유지비용에 이미 포함되어 있다고 보는 것이 합당하다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연료비를 내야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기름 값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부산 갈 때 소비하는 연료양을 계산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종류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연비</a:t>
            </a:r>
            <a:r>
              <a:rPr lang="en-US" altLang="ko-KR" sz="1600" spc="-50" dirty="0"/>
              <a:t>(km/liter, km/kWh)</a:t>
            </a:r>
            <a:r>
              <a:rPr lang="ko-KR" altLang="en-US" sz="1600" spc="-50" dirty="0"/>
              <a:t>에 따라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번째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사용료를 내야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통행료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국도를 이용하면 통행료는 무료지만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시간이 너무 오래 걸린다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빠르게 도착할 수 있는 고속도로를 이용하자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국도이용시 거리는 </a:t>
            </a:r>
            <a:r>
              <a:rPr lang="en-US" altLang="ko-KR" sz="1600" spc="-50" dirty="0"/>
              <a:t>304km,</a:t>
            </a:r>
            <a:r>
              <a:rPr lang="ko-KR" altLang="en-US" sz="1600" spc="-50" dirty="0"/>
              <a:t> 통행료는</a:t>
            </a:r>
            <a:r>
              <a:rPr lang="en-US" altLang="ko-KR" sz="1600" spc="-50" dirty="0"/>
              <a:t> 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고속도로이용시 거리는 </a:t>
            </a:r>
            <a:r>
              <a:rPr lang="en-US" altLang="ko-KR" sz="1600" spc="-50" dirty="0"/>
              <a:t>284km, </a:t>
            </a:r>
            <a:r>
              <a:rPr lang="ko-KR" altLang="en-US" sz="1600" spc="-50" dirty="0"/>
              <a:t>통행료는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61295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4840-8B48-E7DB-7C16-FB30282D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54F2F-EA8D-42D9-290D-D2305CE4B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정보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DDE70E-0904-C8AF-33B7-BB1C5F125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D8B6D1-8974-ECEB-339F-70DB42491F6A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자가용으로 </a:t>
            </a:r>
            <a:r>
              <a:rPr lang="en-US" altLang="ko-KR" sz="1600" spc="-50" dirty="0"/>
              <a:t>‘2026 </a:t>
            </a:r>
            <a:r>
              <a:rPr lang="ko-KR" altLang="en-US" sz="1600" spc="-50" dirty="0"/>
              <a:t>아반떼 가솔린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차량을 보유하고 있다고 하자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차량구입비로 </a:t>
            </a:r>
            <a:r>
              <a:rPr lang="en-US" altLang="ko-KR" sz="1600" spc="-50" dirty="0"/>
              <a:t>25,000,000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취등록세 포함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지불하였다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연간 운영비로 </a:t>
            </a:r>
            <a:r>
              <a:rPr lang="en-US" altLang="ko-KR" sz="1600" spc="-50" dirty="0"/>
              <a:t>1,500,000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자동차세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정비비용 포함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매년 지불하고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연간 주행거리는 </a:t>
            </a:r>
            <a:r>
              <a:rPr lang="en-US" altLang="ko-KR" sz="1600" spc="-50" dirty="0"/>
              <a:t>15,000km 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15</a:t>
            </a:r>
            <a:r>
              <a:rPr lang="ko-KR" altLang="en-US" sz="1600" spc="-50" dirty="0"/>
              <a:t>년 동안 탈 계획이다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보이는 것과 같이 연비는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15km</a:t>
            </a:r>
            <a:r>
              <a:rPr lang="ko-KR" altLang="en-US" sz="1600" spc="-50" dirty="0"/>
              <a:t>를 주행할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7A5868-EE07-A5FA-E0F2-99B1F2D3D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689" y="3307358"/>
            <a:ext cx="5566061" cy="313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400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CDAD2-3FF2-942E-F7AE-54E2718BA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09395-6F18-CC59-5674-D1B27E328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(1)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467176-53D0-691F-6764-D49F52D19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CF5297-0560-2A62-3538-1730F2AD1149}"/>
              </a:ext>
            </a:extLst>
          </p:cNvPr>
          <p:cNvSpPr txBox="1"/>
          <p:nvPr/>
        </p:nvSpPr>
        <p:spPr>
          <a:xfrm>
            <a:off x="288790" y="958844"/>
            <a:ext cx="108173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주행할 때의 자가용 이용비용은 자가용을 </a:t>
            </a:r>
            <a:r>
              <a:rPr lang="en-US" altLang="ko-KR" sz="1600" spc="-50" dirty="0"/>
              <a:t>1km </a:t>
            </a:r>
            <a:r>
              <a:rPr lang="ko-KR" altLang="en-US" sz="1600" spc="-50" dirty="0"/>
              <a:t>주행할 때 들어가는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단위비용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해운대까지 주행할 거리를 곱하는 방식으로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단위비용은 자가용이 수명이 다 할 때까지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폐차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들어가는 모든 비용을 더해서 총 비용을 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거기에 수명이 다 할 때까지의 총 주행거리를 나누어서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/>
              <p:nvPr/>
            </p:nvSpPr>
            <p:spPr>
              <a:xfrm>
                <a:off x="1572842" y="1929459"/>
                <a:ext cx="9488858" cy="4234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해운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지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의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자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이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운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대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지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의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주행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50101C6-203E-89E8-CAD2-5CA62492B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842" y="1929459"/>
                <a:ext cx="9488858" cy="4234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/>
              <p:nvPr/>
            </p:nvSpPr>
            <p:spPr>
              <a:xfrm>
                <a:off x="1572842" y="4559634"/>
                <a:ext cx="5981444" cy="597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단위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용</m:t>
                          </m:r>
                        </m:num>
                        <m:den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총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주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행</m:t>
                          </m:r>
                          <m:r>
                            <a:rPr lang="ko-KR" altLang="en-US" i="1">
                              <a:latin typeface="Cambria Math" panose="02040503050406030204" pitchFamily="18" charset="0"/>
                            </a:rPr>
                            <m:t>거</m:t>
                          </m:r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리</m:t>
                          </m:r>
                        </m:den>
                      </m:f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B89696C-7B11-7E53-3873-3CA48D70FE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2842" y="4559634"/>
                <a:ext cx="5981444" cy="5976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6188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74E17-79DB-CE1B-25FE-53BE539C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E33B7E-7639-F55B-F933-B398D6485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</a:t>
            </a:r>
            <a:r>
              <a:rPr lang="en-US" altLang="ko-KR" dirty="0"/>
              <a:t> (2)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62804F-869D-5D98-D629-502A56538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EE19D0-7CC0-3307-8B0F-F2B340A1448E}"/>
              </a:ext>
            </a:extLst>
          </p:cNvPr>
          <p:cNvSpPr txBox="1"/>
          <p:nvPr/>
        </p:nvSpPr>
        <p:spPr>
          <a:xfrm>
            <a:off x="288790" y="958844"/>
            <a:ext cx="105125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여기서 총 비용은 아래 수식처럼 차량구입비와 운영비를 더한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차량구입비는 차를 구입할 때 한번만 지불한다</a:t>
            </a:r>
            <a:r>
              <a:rPr lang="en-US" altLang="ko-KR" sz="1600" spc="-50" dirty="0"/>
              <a:t>. (25,000,000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운영비는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년 동안 매년 지불한다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매년 </a:t>
            </a:r>
            <a:r>
              <a:rPr lang="en-US" altLang="ko-KR" sz="1600" spc="-50" dirty="0"/>
              <a:t>1,500,000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운영비가 발생하는 시점이 다르기 때문에 현재가치로 할인을 해주어야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할인율은 </a:t>
            </a:r>
            <a:r>
              <a:rPr lang="en-US" altLang="ko-KR" sz="1600" spc="-50" dirty="0"/>
              <a:t>5% </a:t>
            </a:r>
            <a:r>
              <a:rPr lang="ko-KR" altLang="en-US" sz="1600" spc="-50" dirty="0"/>
              <a:t>라고 하자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위 식을 통해 총비용을 계산해보면 </a:t>
            </a: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총 주행거리는 연간 주행거리의 합으로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주행거리는 </a:t>
            </a: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의 길이와</a:t>
            </a:r>
            <a:r>
              <a:rPr lang="en-US" altLang="ko-KR" sz="1600" spc="-50" dirty="0"/>
              <a:t> 2040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의 길이는 언제나 같으므로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시간에 대해 할인을 할 필요가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총 거리는 </a:t>
            </a:r>
            <a:r>
              <a:rPr lang="en-US" altLang="ko-KR" sz="1600" spc="-50" dirty="0"/>
              <a:t>225,000km (=15,000km/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x 15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/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총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입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+ </m:t>
                      </m:r>
                      <m:nary>
                        <m:naryPr>
                          <m:chr m:val="∑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  <m:e>
                          <m:f>
                            <m:f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운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영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비</m:t>
                                  </m:r>
                                </m:e>
                                <m:sub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sSup>
                                <m:sSupPr>
                                  <m:ctrlP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(1+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할</m:t>
                                  </m:r>
                                  <m:r>
                                    <a:rPr lang="ko-KR" altLang="en-US" sz="1400" i="1" smtClean="0">
                                      <a:latin typeface="Cambria Math" panose="02040503050406030204" pitchFamily="18" charset="0"/>
                                    </a:rPr>
                                    <m:t>인</m:t>
                                  </m:r>
                                  <m:r>
                                    <a:rPr lang="ko-KR" altLang="en-US" sz="1400" i="1">
                                      <a:latin typeface="Cambria Math" panose="02040503050406030204" pitchFamily="18" charset="0"/>
                                    </a:rPr>
                                    <m:t>율</m:t>
                                  </m:r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altLang="ko-KR" sz="1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5C3EDDE-7DFD-B910-AD3A-7928EBD79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1192" y="2876450"/>
                <a:ext cx="3699637" cy="608756"/>
              </a:xfrm>
              <a:prstGeom prst="rect">
                <a:avLst/>
              </a:prstGeom>
              <a:blipFill>
                <a:blip r:embed="rId2"/>
                <a:stretch>
                  <a:fillRect b="-1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72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63F1E-91F6-D414-2D4A-DB2E797ED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6E0351-F03E-20EE-91C7-121CE564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이용비용 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BA8319-10DE-8A22-0CEA-A878BEE0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5091743-1918-8BCA-4D50-B1F31424E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44A87E5-2CC5-3A10-7114-03F397EF437C}"/>
              </a:ext>
            </a:extLst>
          </p:cNvPr>
          <p:cNvSpPr txBox="1"/>
          <p:nvPr/>
        </p:nvSpPr>
        <p:spPr>
          <a:xfrm>
            <a:off x="288790" y="947070"/>
            <a:ext cx="594423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총비용과 총거리를 알고 있으니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아반떼로 </a:t>
            </a:r>
            <a:r>
              <a:rPr lang="en-US" altLang="ko-KR" sz="1600" spc="-50" dirty="0"/>
              <a:t>1km</a:t>
            </a:r>
            <a:r>
              <a:rPr lang="ko-KR" altLang="en-US" sz="1600" spc="-50" dirty="0"/>
              <a:t>를 주행하는데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소요되는 평균비용을 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40,569,487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/ 225,000km = 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해운대 놀러가는 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그림에서 보는 것처럼 해운대까지 총 </a:t>
            </a:r>
            <a:r>
              <a:rPr lang="en-US" altLang="ko-KR" sz="1600" spc="-50" dirty="0"/>
              <a:t>284km</a:t>
            </a:r>
            <a:r>
              <a:rPr lang="ko-KR" altLang="en-US" sz="1600" spc="-50" dirty="0"/>
              <a:t>를 주행해야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해운대까지의 자가용 이용비용은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원인 셈이다</a:t>
            </a:r>
            <a:r>
              <a:rPr lang="en-US" altLang="ko-KR" sz="1600" spc="-50" dirty="0"/>
              <a:t>. (180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/km x 284km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51,208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65704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DC504-1771-02FA-3930-F158F1346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CE67B7-1176-760C-9756-509C04793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F97747-3120-A353-071B-B9C16494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B3B1D-AACA-12BE-FB82-226042686C64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연료비용은 아래의 식과 같이 휘발유가격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연비의 역수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주행거리의 곱을 통해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/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altLang="ko-KR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A5B633-BC92-17DA-BDBB-71AE6499B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0142" y="1561159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>
            <a:extLst>
              <a:ext uri="{FF2B5EF4-FFF2-40B4-BE49-F238E27FC236}">
                <a16:creationId xmlns:a16="http://schemas.microsoft.com/office/drawing/2014/main" id="{2ED603FF-DF9F-6D1B-27F9-AB428CCB4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582" y="2239682"/>
            <a:ext cx="3770168" cy="40658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58869C7-B8CE-264A-55D4-329382E03B8E}"/>
              </a:ext>
            </a:extLst>
          </p:cNvPr>
          <p:cNvSpPr txBox="1"/>
          <p:nvPr/>
        </p:nvSpPr>
        <p:spPr>
          <a:xfrm>
            <a:off x="288789" y="2077370"/>
            <a:ext cx="738700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휘발유 가격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근처에서 가장 저렴한 주유소에서 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리터당 </a:t>
            </a:r>
            <a:r>
              <a:rPr lang="en-US" altLang="ko-KR" sz="1600" spc="-50" dirty="0"/>
              <a:t>1,787</a:t>
            </a:r>
            <a:r>
              <a:rPr lang="ko-KR" altLang="en-US" sz="1600" spc="-50" dirty="0"/>
              <a:t>원에 팔고 있으니 거기서 주유하려고 한다</a:t>
            </a:r>
            <a:r>
              <a:rPr lang="en-US" altLang="ko-KR" sz="1600" spc="-50" dirty="0"/>
              <a:t>. (3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일 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연비는 </a:t>
            </a:r>
            <a:r>
              <a:rPr lang="en-US" altLang="ko-KR" sz="1600" spc="-50" dirty="0"/>
              <a:t>15.0 km/liter</a:t>
            </a:r>
            <a:r>
              <a:rPr lang="ko-KR" altLang="en-US" sz="1600" spc="-50" dirty="0"/>
              <a:t> 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7 </a:t>
            </a:r>
            <a:r>
              <a:rPr lang="ko-KR" altLang="en-US" sz="1600" spc="-50" dirty="0"/>
              <a:t>자가용정보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주행거리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해운대까지는 총 </a:t>
            </a:r>
            <a:r>
              <a:rPr lang="en-US" altLang="ko-KR" sz="1600" spc="-50" dirty="0"/>
              <a:t>284km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연료비로 </a:t>
            </a:r>
            <a:r>
              <a:rPr lang="en-US" altLang="ko-KR" sz="1600" spc="-50" dirty="0"/>
              <a:t>33,834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93023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E902-8B18-AA69-BF5C-36E50A52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805ABF-96C2-B371-47A2-EC346C87C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통행료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A274F3-3B66-A2E6-4D0B-FA65EB9C6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AB98F06-C9FD-CD50-298F-AC5252E28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20" y="1540454"/>
            <a:ext cx="5559290" cy="47523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F04DCB-9FF3-BAB4-FA1D-976DEF4E4F61}"/>
              </a:ext>
            </a:extLst>
          </p:cNvPr>
          <p:cNvSpPr txBox="1"/>
          <p:nvPr/>
        </p:nvSpPr>
        <p:spPr>
          <a:xfrm>
            <a:off x="288790" y="947070"/>
            <a:ext cx="594423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경부고속도로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중앙고속도로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부산외곽순환고속도로</a:t>
            </a:r>
            <a:r>
              <a:rPr lang="ko-KR" altLang="en-US" sz="1600" spc="-50" dirty="0"/>
              <a:t> 총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종류의 고속도로를 이용할 예정이며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통행료로 총 </a:t>
            </a:r>
            <a:r>
              <a:rPr lang="en-US" altLang="ko-KR" sz="1600" spc="-50" dirty="0"/>
              <a:t>15,300</a:t>
            </a:r>
            <a:r>
              <a:rPr lang="ko-KR" altLang="en-US" sz="1600" spc="-50" dirty="0"/>
              <a:t>원이 소요된다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82185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507D3-EAFC-B90C-E9E8-67A7B2E39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1CAC47-6F3D-F192-35E9-F70DDAF75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해운대까지 드는 총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050459-53F8-D28A-583F-533EA604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A4802E-C20A-63D0-CD7C-C97E579C7C16}"/>
              </a:ext>
            </a:extLst>
          </p:cNvPr>
          <p:cNvSpPr txBox="1"/>
          <p:nvPr/>
        </p:nvSpPr>
        <p:spPr>
          <a:xfrm>
            <a:off x="288790" y="958844"/>
            <a:ext cx="105125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자가용을 타고 가는데 드는 비용을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가지로 나누어 계산해보았고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결과는 다음과 같았다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자가용 이용 비용</a:t>
            </a:r>
            <a:r>
              <a:rPr lang="en-US" altLang="ko-KR" sz="1600" spc="-50" dirty="0"/>
              <a:t>: 51,208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 비용</a:t>
            </a:r>
            <a:r>
              <a:rPr lang="en-US" altLang="ko-KR" sz="1600" spc="-50" dirty="0"/>
              <a:t>: 33,834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통행료</a:t>
            </a:r>
            <a:r>
              <a:rPr lang="en-US" altLang="ko-KR" sz="1600" spc="-50" dirty="0"/>
              <a:t>: 15,300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항목의 비용을 모두 합치면 총 </a:t>
            </a:r>
            <a:r>
              <a:rPr lang="en-US" altLang="ko-KR" sz="1600" spc="-50" dirty="0"/>
              <a:t>100,342</a:t>
            </a:r>
            <a:r>
              <a:rPr lang="ko-KR" altLang="en-US" sz="1600" spc="-50" dirty="0"/>
              <a:t> 원이 든다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00830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6D89C-5E89-47FF-FF37-56AF935B7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A19D3F-3C09-2D77-30A2-72B2CDAAB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C076B2-0E02-B524-72F8-E25DFE0F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1B2E66B-0C69-642F-2A4E-8AE32C508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1-2. </a:t>
            </a:r>
            <a:r>
              <a:rPr lang="ko-KR" altLang="en-US" sz="4000" b="1" i="0" spc="150" dirty="0"/>
              <a:t>자가용 </a:t>
            </a:r>
            <a:r>
              <a:rPr lang="en-US" altLang="ko-KR" sz="4000" b="1" i="0" spc="150" dirty="0"/>
              <a:t>(</a:t>
            </a:r>
            <a:r>
              <a:rPr lang="ko-KR" altLang="en-US" sz="4000" b="1" i="0" spc="150" dirty="0"/>
              <a:t>탄소배출</a:t>
            </a:r>
            <a:r>
              <a:rPr lang="en-US" altLang="ko-KR" sz="4000" b="1" i="0" spc="150" dirty="0"/>
              <a:t>)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52955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0BAF-E1B6-E67F-FDC4-4B809009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F56FB-C5CB-981F-B304-49BC49097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99806-EB55-0461-2C42-DB1F74577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382F0-FB6F-9A72-36C4-9B33B57980F4}"/>
              </a:ext>
            </a:extLst>
          </p:cNvPr>
          <p:cNvSpPr txBox="1"/>
          <p:nvPr/>
        </p:nvSpPr>
        <p:spPr>
          <a:xfrm>
            <a:off x="288790" y="958844"/>
            <a:ext cx="110459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해운대까지 승용차를 타고 갈 때의 탄소배출량은 휘발유의 소비량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발열량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탄소배출계수를 곱해서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자동차는 어떻게 움직이나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자동차 엑셀을 밟으면 휘발유가 연소되고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연소과정에서 생기는 힘으로 자동차 바퀴를 돌려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자동차가 움직인다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휘발유를 태우는데 왜 힘이 생기나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휘발유는 원래 힘을 가지고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휘발유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리터가 얼마나 큰 힘을 낼 수 있는지 숫자로 나타낸 것이 발열량이다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우리도 밥이나 빵을 먹고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힘으로 움직이고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다이어트를 하게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빵 하나를 먹어도 칼로리를 체크하게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칼로리가 발열량이다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/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탄소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소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배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출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계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수</m:t>
                      </m:r>
                      <m:r>
                        <a:rPr lang="en-US" altLang="ko-KR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𝑡𝐶</m:t>
                          </m:r>
                        </m:num>
                        <m:den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𝑀𝐽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F7D4B97-B884-337A-06F7-2148D1B8F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42" y="1645164"/>
                <a:ext cx="7844208" cy="445635"/>
              </a:xfrm>
              <a:prstGeom prst="rect">
                <a:avLst/>
              </a:prstGeom>
              <a:blipFill>
                <a:blip r:embed="rId2"/>
                <a:stretch>
                  <a:fillRect t="-126027" r="-3810" b="-1945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0689345B-F63E-9058-3C4F-19CF5305B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6087" y="5478245"/>
            <a:ext cx="2027363" cy="94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787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BE09-0688-964A-B00B-E019F6B3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6FD30D-DA2B-43D7-460A-65EB32746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C3BBA8-2062-12EA-5B46-B732DC929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50B608-25FC-6FB9-A112-B9AE210C140C}"/>
              </a:ext>
            </a:extLst>
          </p:cNvPr>
          <p:cNvSpPr txBox="1"/>
          <p:nvPr/>
        </p:nvSpPr>
        <p:spPr>
          <a:xfrm>
            <a:off x="288790" y="958844"/>
            <a:ext cx="810591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발열량의 단위가 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MJ? kcal?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M</a:t>
            </a:r>
            <a:r>
              <a:rPr lang="en-US" altLang="ko-KR" sz="1600" spc="-50" dirty="0"/>
              <a:t>ega </a:t>
            </a:r>
            <a:r>
              <a:rPr lang="en-US" altLang="ko-KR" sz="1600" b="1" spc="-50" dirty="0"/>
              <a:t>J</a:t>
            </a:r>
            <a:r>
              <a:rPr lang="en-US" altLang="ko-KR" sz="1600" spc="-50" dirty="0"/>
              <a:t>oule 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k</a:t>
            </a:r>
            <a:r>
              <a:rPr lang="en-US" altLang="ko-KR" sz="1600" spc="-50" dirty="0"/>
              <a:t>ilo</a:t>
            </a:r>
            <a:r>
              <a:rPr lang="en-US" altLang="ko-KR" sz="1600" b="1" spc="-50" dirty="0"/>
              <a:t>cal</a:t>
            </a:r>
            <a:r>
              <a:rPr lang="en-US" altLang="ko-KR" sz="1600" spc="-50" dirty="0"/>
              <a:t>orie</a:t>
            </a:r>
            <a:r>
              <a:rPr lang="ko-KR" altLang="en-US" sz="1600" spc="-50" dirty="0"/>
              <a:t>의 약자이다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 모두 에너지의 크기를 나타내는 단위다</a:t>
            </a:r>
            <a:r>
              <a:rPr lang="en-US" altLang="ko-KR" sz="1600" spc="-50" dirty="0"/>
              <a:t>. 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</a:t>
            </a:r>
            <a:r>
              <a:rPr lang="ko-KR" altLang="en-US" sz="1600" spc="-50" dirty="0"/>
              <a:t>비유하자면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inch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온도를 섭씨로 재기도 하고 화씨로 재기도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에너지도 똑같이 </a:t>
            </a:r>
            <a:r>
              <a:rPr lang="en-US" altLang="ko-KR" sz="1600" spc="-50" dirty="0"/>
              <a:t>MJ</a:t>
            </a:r>
            <a:r>
              <a:rPr lang="ko-KR" altLang="en-US" sz="1600" spc="-50" dirty="0"/>
              <a:t>로 재기도하고</a:t>
            </a:r>
            <a:r>
              <a:rPr lang="en-US" altLang="ko-KR" sz="1600" spc="-50" dirty="0"/>
              <a:t>, kcal</a:t>
            </a:r>
            <a:r>
              <a:rPr lang="ko-KR" altLang="en-US" sz="1600" spc="-50" dirty="0"/>
              <a:t>로 재기도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7927635-282D-CE64-6180-7746C64DEB82}"/>
              </a:ext>
            </a:extLst>
          </p:cNvPr>
          <p:cNvGrpSpPr/>
          <p:nvPr/>
        </p:nvGrpSpPr>
        <p:grpSpPr>
          <a:xfrm>
            <a:off x="8528051" y="883082"/>
            <a:ext cx="3054350" cy="5291100"/>
            <a:chOff x="-1003299" y="1320800"/>
            <a:chExt cx="3054350" cy="5291100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2AB12EE-163F-CA66-4E47-1EE477161E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302" r="50889" b="39485"/>
            <a:stretch>
              <a:fillRect/>
            </a:stretch>
          </p:blipFill>
          <p:spPr>
            <a:xfrm>
              <a:off x="-1003299" y="1320800"/>
              <a:ext cx="3054350" cy="5291100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9990B6F-1C37-4F1E-74CE-8B2B31A2A4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6173" t="4743" r="-161" b="93609"/>
            <a:stretch>
              <a:fillRect/>
            </a:stretch>
          </p:blipFill>
          <p:spPr>
            <a:xfrm>
              <a:off x="1123950" y="1460500"/>
              <a:ext cx="869949" cy="152400"/>
            </a:xfrm>
            <a:prstGeom prst="rect">
              <a:avLst/>
            </a:prstGeom>
          </p:spPr>
        </p:pic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BBA9D3A-52B1-0D0D-B3F7-40152578F8F6}"/>
              </a:ext>
            </a:extLst>
          </p:cNvPr>
          <p:cNvSpPr txBox="1"/>
          <p:nvPr/>
        </p:nvSpPr>
        <p:spPr>
          <a:xfrm>
            <a:off x="8409782" y="6241029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</p:spTree>
    <p:extLst>
      <p:ext uri="{BB962C8B-B14F-4D97-AF65-F5344CB8AC3E}">
        <p14:creationId xmlns:p14="http://schemas.microsoft.com/office/powerpoint/2010/main" val="7135293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963A-678D-D82F-8C01-1FF58B09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175F0B-7030-737A-835F-F1391F91E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C1411-20E8-1633-E5A9-27C3880E8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EDE803-9C99-33DA-A5EC-5045E8177FDD}"/>
              </a:ext>
            </a:extLst>
          </p:cNvPr>
          <p:cNvSpPr txBox="1"/>
          <p:nvPr/>
        </p:nvSpPr>
        <p:spPr>
          <a:xfrm>
            <a:off x="288790" y="958844"/>
            <a:ext cx="717881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배출계수가 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 모두 에너지의 크기를 나타내는 단위다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2CEAB1-9E78-8444-4BD2-D15A06552C7D}"/>
              </a:ext>
            </a:extLst>
          </p:cNvPr>
          <p:cNvSpPr txBox="1"/>
          <p:nvPr/>
        </p:nvSpPr>
        <p:spPr>
          <a:xfrm>
            <a:off x="8409782" y="6241029"/>
            <a:ext cx="329088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/>
              <a:t>https://tips.energy.or.kr/carbon/Ggas_tatistics03.do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CD830B6-A8EC-4DC9-3AF6-A9AF142B8E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40" t="2754" b="31939"/>
          <a:stretch>
            <a:fillRect/>
          </a:stretch>
        </p:blipFill>
        <p:spPr>
          <a:xfrm>
            <a:off x="7607299" y="1219200"/>
            <a:ext cx="4193397" cy="34628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E217310-7E9D-D075-8FD8-D65DF1E838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" r="63751" b="97246"/>
          <a:stretch>
            <a:fillRect/>
          </a:stretch>
        </p:blipFill>
        <p:spPr>
          <a:xfrm>
            <a:off x="7607299" y="1073149"/>
            <a:ext cx="1741489" cy="146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6815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448C1-0311-D545-F491-E9E90CEB0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6AF448-5B5F-8C60-6871-B7712F3B1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F6582-4154-0E0F-97E1-44E332134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ABFAF2-1B60-F8B8-9796-D4AADA2E5A30}"/>
              </a:ext>
            </a:extLst>
          </p:cNvPr>
          <p:cNvSpPr txBox="1"/>
          <p:nvPr/>
        </p:nvSpPr>
        <p:spPr>
          <a:xfrm>
            <a:off x="288790" y="958844"/>
            <a:ext cx="105125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ㅇㅇ</a:t>
            </a:r>
            <a:endParaRPr lang="en-US" altLang="ko-KR" sz="1600" spc="-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AF196B8-4DEC-782A-A8F5-489B64FEA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1248" y="321093"/>
            <a:ext cx="4293552" cy="638446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2BF9223-491B-CCED-87A7-6503596420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9485"/>
          <a:stretch>
            <a:fillRect/>
          </a:stretch>
        </p:blipFill>
        <p:spPr>
          <a:xfrm>
            <a:off x="1718243" y="1114843"/>
            <a:ext cx="4293552" cy="386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663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4A2DC-11D7-D56C-A082-CEE730ABC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CD460-E897-C121-EAD1-CE059A51C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자가용 </a:t>
            </a:r>
            <a:r>
              <a:rPr lang="ko-KR" altLang="en-US" dirty="0" err="1"/>
              <a:t>이용시</a:t>
            </a:r>
            <a:r>
              <a:rPr lang="ko-KR" altLang="en-US" dirty="0"/>
              <a:t> 탄소배출량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BE2544-0714-2D10-C40C-6C6EE72A1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8FA35-9C40-E47B-C45A-C6A5543E82C3}"/>
              </a:ext>
            </a:extLst>
          </p:cNvPr>
          <p:cNvSpPr txBox="1"/>
          <p:nvPr/>
        </p:nvSpPr>
        <p:spPr>
          <a:xfrm>
            <a:off x="288790" y="958844"/>
            <a:ext cx="105125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ㅇㅇ</a:t>
            </a: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20E031-77BF-BACC-9458-0715A820C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8493" y="1073149"/>
            <a:ext cx="4822204" cy="530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12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29AA0-5CDE-38F1-EF38-E6D2AC306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56C6EF-50E4-A96F-F3A7-51801472266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87C279-8712-4E23-C9C0-2524B91CC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E609EC0-1B5D-68A5-B3E6-75BDBE76F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시외버스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78528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E9231-20AB-777E-51A4-85BC69E4F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CFF640-B1AE-5C48-3E21-19B1840108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2E4D35-D537-850B-F6C6-399C9F34B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D3D840C-4C76-2665-C46D-EAFC8BB03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기차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42565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3481C-1D9D-7CB2-E5FA-BAC4C715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E74664-C59C-7450-E457-C7C1AE8A26C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1E796B-0E97-4DC5-C97C-83B3D306A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9D770F2-07B6-6ACC-50A4-1B370D99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자전거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2353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FD39B-500A-F5DD-49DE-45EA05AAB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54B39-A61F-3F22-85AB-26DE4A2D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AC5B68-9113-722F-6E94-99F1D8179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047AC-B914-7D9A-F59D-987369713737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전승호와 유진영은 해운대 바다에 같이 놀러가기로 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BFAE51D-4082-00E8-99D1-C9BB0FA0F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167" y="3545497"/>
            <a:ext cx="6953607" cy="17971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7F836E8-35CE-5DCE-65EF-809E96897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157" y="3054730"/>
            <a:ext cx="3416078" cy="2545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754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36EAE-40B1-2DD5-2AF9-C0B31EFA5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4E21FB-81A3-4C6F-39C7-55F0A2282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한밭대에서 해운대 바다 놀러가기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01C618-5313-4919-CCA4-E18BFDC45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2EB807-0A10-F24B-8777-7C0B648207CF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한밭대</a:t>
            </a:r>
            <a:r>
              <a:rPr lang="ko-KR" altLang="en-US" sz="1600" spc="-50" dirty="0"/>
              <a:t> 경제학과 다니는 전승호와 유진영은 해운대 바다에 같이 놀러가기로 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E98E328F-787E-F7E0-05B5-CF9DD77C9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167" y="3545497"/>
            <a:ext cx="6953607" cy="17971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FA4CF76-6505-7545-084A-85D703E83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157" y="3054730"/>
            <a:ext cx="3416078" cy="2545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7361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C1A5-C21E-6735-3811-5B066E12C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41D060-B309-7EDF-8886-C968BEBE13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6F96CA-DF2D-4F31-0D3E-F88EBAAD7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F3B19D8-0696-C765-F6A5-BC37EF393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재정학 연구의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1627052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6689</TotalTime>
  <Words>1123</Words>
  <Application>Microsoft Office PowerPoint</Application>
  <PresentationFormat>와이드스크린</PresentationFormat>
  <Paragraphs>157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에 너 지 경 제</vt:lpstr>
      <vt:lpstr>Section 0. 지금 해운대 놀러가기</vt:lpstr>
      <vt:lpstr>한밭대에서 해운대 바다 놀러가기</vt:lpstr>
      <vt:lpstr>한밭대에서 해운대 바다 놀러가기</vt:lpstr>
      <vt:lpstr>Section 1-1. 자가용 (비용)</vt:lpstr>
      <vt:lpstr>한밭대에서 해운대 바다 놀러가기</vt:lpstr>
      <vt:lpstr>자가용 정보</vt:lpstr>
      <vt:lpstr>자가용 이용비용 (1)</vt:lpstr>
      <vt:lpstr>자가용 이용비용 (2)</vt:lpstr>
      <vt:lpstr>자가용 이용비용 (3)</vt:lpstr>
      <vt:lpstr>연료비용</vt:lpstr>
      <vt:lpstr>통행료</vt:lpstr>
      <vt:lpstr>해운대까지 드는 총 비용</vt:lpstr>
      <vt:lpstr>Section 1-2. 자가용 (탄소배출)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자가용 이용시 탄소배출량</vt:lpstr>
      <vt:lpstr>Section 2. 시외버스</vt:lpstr>
      <vt:lpstr>Section 3. 기차</vt:lpstr>
      <vt:lpstr>Section 4. 자전거</vt:lpstr>
      <vt:lpstr>한밭대에서 해운대 바다 놀러가기</vt:lpstr>
      <vt:lpstr>한밭대에서 해운대 바다 놀러가기</vt:lpstr>
      <vt:lpstr>Section 5. 재정학 연구의 역사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177</cp:revision>
  <dcterms:created xsi:type="dcterms:W3CDTF">2025-07-05T05:15:23Z</dcterms:created>
  <dcterms:modified xsi:type="dcterms:W3CDTF">2026-03-24T08:50:59Z</dcterms:modified>
</cp:coreProperties>
</file>