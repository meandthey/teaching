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5"/>
  </p:notesMasterIdLst>
  <p:sldIdLst>
    <p:sldId id="630" r:id="rId2"/>
    <p:sldId id="566" r:id="rId3"/>
    <p:sldId id="552" r:id="rId4"/>
    <p:sldId id="572" r:id="rId5"/>
    <p:sldId id="577" r:id="rId6"/>
    <p:sldId id="575" r:id="rId7"/>
    <p:sldId id="578" r:id="rId8"/>
    <p:sldId id="584" r:id="rId9"/>
    <p:sldId id="586" r:id="rId10"/>
    <p:sldId id="585" r:id="rId11"/>
    <p:sldId id="590" r:id="rId12"/>
    <p:sldId id="593" r:id="rId13"/>
    <p:sldId id="631" r:id="rId14"/>
    <p:sldId id="591" r:id="rId15"/>
    <p:sldId id="587" r:id="rId16"/>
    <p:sldId id="592" r:id="rId17"/>
    <p:sldId id="594" r:id="rId18"/>
    <p:sldId id="596" r:id="rId19"/>
    <p:sldId id="595" r:id="rId20"/>
    <p:sldId id="567" r:id="rId21"/>
    <p:sldId id="598" r:id="rId22"/>
    <p:sldId id="599" r:id="rId23"/>
    <p:sldId id="601" r:id="rId24"/>
    <p:sldId id="603" r:id="rId25"/>
    <p:sldId id="600" r:id="rId26"/>
    <p:sldId id="605" r:id="rId27"/>
    <p:sldId id="364" r:id="rId28"/>
    <p:sldId id="602" r:id="rId29"/>
    <p:sldId id="632" r:id="rId30"/>
    <p:sldId id="579" r:id="rId31"/>
    <p:sldId id="576" r:id="rId32"/>
    <p:sldId id="617" r:id="rId33"/>
    <p:sldId id="582" r:id="rId3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EFEF"/>
    <a:srgbClr val="92714D"/>
    <a:srgbClr val="3B8380"/>
    <a:srgbClr val="A5D0CD"/>
    <a:srgbClr val="A67539"/>
    <a:srgbClr val="D77600"/>
    <a:srgbClr val="E7E8E8"/>
    <a:srgbClr val="E15F5F"/>
    <a:srgbClr val="F8F7FC"/>
    <a:srgbClr val="2D72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834" autoAdjust="0"/>
    <p:restoredTop sz="94660"/>
  </p:normalViewPr>
  <p:slideViewPr>
    <p:cSldViewPr snapToGrid="0">
      <p:cViewPr varScale="1">
        <p:scale>
          <a:sx n="148" d="100"/>
          <a:sy n="148" d="100"/>
        </p:scale>
        <p:origin x="14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0F1D2-9E8E-C3E9-B686-412B97AD2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18470C-BB3F-51E5-FE87-18CD909CC1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192979"/>
            <a:ext cx="10452100" cy="2912171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6600" b="1" i="0" dirty="0"/>
              <a:t>생 활 속 의   경 제</a:t>
            </a:r>
            <a:endParaRPr lang="ko-KR" altLang="en-US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78B6D3E-D88D-51E5-3FC3-0798C87A6A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6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ko-KR" altLang="en-US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에너지 </a:t>
            </a:r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&amp; </a:t>
            </a:r>
            <a:r>
              <a:rPr lang="ko-KR" altLang="en-US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기후 </a:t>
            </a:r>
            <a:r>
              <a:rPr lang="ko-KR" altLang="en-US" sz="28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실천편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480C04-2808-9F11-3E5E-133BFF5DD02B}"/>
              </a:ext>
            </a:extLst>
          </p:cNvPr>
          <p:cNvSpPr txBox="1"/>
          <p:nvPr/>
        </p:nvSpPr>
        <p:spPr>
          <a:xfrm>
            <a:off x="5499100" y="5036208"/>
            <a:ext cx="119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 승 호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AAB744E-4318-74B2-DFD4-1094D5F0D2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076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11382-91C3-A2DB-CA95-392E1CD5B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17A66A-1352-1DB9-9354-7D5F3A020D2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669E84-78E9-515C-4CFD-7B1837029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E3CCD5F5-4F66-8DC3-C0ED-81613487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0. </a:t>
            </a:r>
            <a:r>
              <a:rPr lang="ko-KR" altLang="en-US" sz="4000" b="1" i="0" spc="150" dirty="0"/>
              <a:t>해운대 놀러가기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70831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64ACB-B8A0-8B8E-50AE-F6949A866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730496-A872-5CFB-3130-C4429F828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한밭대에서 해운대 바다 놀러가기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D72302-C21E-82F3-1317-6A67EB852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AEC86F-2434-0377-0126-D48FC4912B4A}"/>
              </a:ext>
            </a:extLst>
          </p:cNvPr>
          <p:cNvSpPr txBox="1"/>
          <p:nvPr/>
        </p:nvSpPr>
        <p:spPr>
          <a:xfrm>
            <a:off x="288790" y="958844"/>
            <a:ext cx="11693660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한밭대</a:t>
            </a:r>
            <a:r>
              <a:rPr lang="ko-KR" altLang="en-US" sz="1600" spc="-50" dirty="0"/>
              <a:t> 경제학과 다니는 </a:t>
            </a:r>
            <a:r>
              <a:rPr lang="ko-KR" altLang="en-US" sz="1600" spc="-50" dirty="0" err="1"/>
              <a:t>전승허와</a:t>
            </a:r>
            <a:r>
              <a:rPr lang="ko-KR" altLang="en-US" sz="1600" spc="-50" dirty="0"/>
              <a:t> 유진용은 여름방학을 맞이하여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해운대 바다에 같이 놀러가기로 하였다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 둘은 일단 대전역에서 만나기로 했는데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뭘 타고 가야 기후변화를 막을 수 있을까</a:t>
            </a:r>
            <a:r>
              <a:rPr lang="en-US" altLang="ko-KR" sz="1600" spc="-50" dirty="0"/>
              <a:t>?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해운대까지 갈 수 있는 교통수단으로 아래의 두 가지 방법이 떠올랐다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spc="-50" dirty="0"/>
              <a:t>승용차 </a:t>
            </a:r>
            <a:r>
              <a:rPr lang="en-US" altLang="ko-KR" sz="1600" spc="-50" dirty="0"/>
              <a:t>(</a:t>
            </a:r>
            <a:r>
              <a:rPr lang="ko-KR" altLang="en-US" sz="1600" spc="-50" dirty="0" err="1"/>
              <a:t>한밭대</a:t>
            </a:r>
            <a:r>
              <a:rPr lang="ko-KR" altLang="en-US" sz="1600" spc="-50" dirty="0"/>
              <a:t> → 해운대</a:t>
            </a:r>
            <a:r>
              <a:rPr lang="en-US" altLang="ko-KR" sz="1600" spc="-50" dirty="0"/>
              <a:t>)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한밭대에서 승용차를 타고 해운대까지 직접 운전해서 간다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892175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spc="-50" dirty="0"/>
              <a:t>기차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대전역 → 부산역 → 해운대</a:t>
            </a:r>
            <a:r>
              <a:rPr lang="en-US" altLang="ko-KR" sz="1600" spc="-50" dirty="0"/>
              <a:t>)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KTX</a:t>
            </a:r>
            <a:r>
              <a:rPr lang="ko-KR" altLang="en-US" sz="1600" spc="-50" dirty="0"/>
              <a:t>를 타고 부산역에 가서</a:t>
            </a:r>
            <a:r>
              <a:rPr lang="en-US" altLang="ko-KR" sz="1600" spc="-50" dirty="0"/>
              <a:t>, 1003</a:t>
            </a:r>
            <a:r>
              <a:rPr lang="ko-KR" altLang="en-US" sz="1600" spc="-50" dirty="0"/>
              <a:t>번 시외버스를 타고 해운대까지 간다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두 가지 선택지 중에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한 가지를 선택해야 하는데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평가 기준은 아래와 같이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가지 정도로 생각하고 있다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저비용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해운대까지 저렴한 비용으로 도착하면 좋겠다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친환경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해운대까지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탄소배출을 가능한 적게 배출 하면서 도착하면 좋겠다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시간절약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해운대까지 시간이 덜 걸렸으면 좋겠다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08071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7CB5F-EDBA-F4B3-586F-86008FDF8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72CE0F4-64A0-CAB4-7EA1-86F7F1627D9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B0F506-1BC8-6D9F-8EF7-4B85A1A43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EDAD9D70-6C9D-0B65-C668-12DA02770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1-1. </a:t>
            </a:r>
            <a:r>
              <a:rPr lang="ko-KR" altLang="en-US" sz="4000" b="1" i="0" spc="150" dirty="0"/>
              <a:t>자가용 </a:t>
            </a:r>
            <a:r>
              <a:rPr lang="en-US" altLang="ko-KR" sz="4000" b="1" i="0" spc="150" dirty="0"/>
              <a:t>(</a:t>
            </a:r>
            <a:r>
              <a:rPr lang="ko-KR" altLang="en-US" sz="4000" b="1" i="0" spc="150" dirty="0"/>
              <a:t>비용</a:t>
            </a:r>
            <a:r>
              <a:rPr lang="en-US" altLang="ko-KR" sz="4000" b="1" i="0" spc="150" dirty="0"/>
              <a:t>)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4134785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F7B4F-F6FD-3197-5BC5-FEFC82BFF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8D6610-6E9F-47ED-DEE9-75808B6A9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승용차를 이용할 때 드는 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6EC9CF-B32B-B1FF-F413-6A1EB6E4C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382E7C-D291-40A7-CD98-8FAE18EF3A74}"/>
              </a:ext>
            </a:extLst>
          </p:cNvPr>
          <p:cNvSpPr txBox="1"/>
          <p:nvPr/>
        </p:nvSpPr>
        <p:spPr>
          <a:xfrm>
            <a:off x="288790" y="958844"/>
            <a:ext cx="11250267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첫 번째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승용차가 있어야 한다</a:t>
            </a:r>
            <a:r>
              <a:rPr lang="en-US" altLang="ko-KR" sz="1600" spc="-50" dirty="0"/>
              <a:t>. (‘</a:t>
            </a:r>
            <a:r>
              <a:rPr lang="ko-KR" altLang="en-US" sz="1600" spc="-50" dirty="0"/>
              <a:t>차량 보유 비용</a:t>
            </a:r>
            <a:r>
              <a:rPr lang="en-US" altLang="ko-KR" sz="1600" spc="-50" dirty="0"/>
              <a:t>’)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자가용을 보유하고 있던지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렌터카를 빌리던지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택시를 타던지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해운대 갈 때 타고 갈 차가 필요하다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우리는 자가용을 보유하고 있어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자가용을 타고 간다고 해보자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렌터카나 택시를 이용하면 해운대에 가기 위해 추가적으로 비용을 지출해야 하지만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이미 보유하고 있는 자가용을 이용하는 경우 차량 이용에 대한 비용을 추가적으로 지출하지 않아도 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이처럼 이미 비용을 지출해서 회수할 수 없는 비용을 </a:t>
            </a:r>
            <a:r>
              <a:rPr lang="ko-KR" altLang="en-US" sz="1600" b="1" spc="-50" dirty="0"/>
              <a:t>매몰비용</a:t>
            </a:r>
            <a:r>
              <a:rPr lang="ko-KR" altLang="en-US" sz="1600" spc="-50" dirty="0"/>
              <a:t>이라 하는데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매몰비용은 현재 의사결정 과정에 영향을 미치지 않는다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우리는 교통수단을 선택하는 과정에서 </a:t>
            </a:r>
            <a:r>
              <a:rPr lang="en-US" altLang="ko-KR" sz="1600" spc="-50" dirty="0"/>
              <a:t>‘</a:t>
            </a:r>
            <a:r>
              <a:rPr lang="ko-KR" altLang="en-US" sz="1600" spc="-50" dirty="0"/>
              <a:t>차량 보유 비용</a:t>
            </a:r>
            <a:r>
              <a:rPr lang="en-US" altLang="ko-KR" sz="1600" spc="-50" dirty="0"/>
              <a:t>’</a:t>
            </a:r>
            <a:r>
              <a:rPr lang="ko-KR" altLang="en-US" sz="1600" spc="-50" dirty="0"/>
              <a:t>은 포함하지 않는 것이 바람직하다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그럼에도 불구하고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해운대까지 내 자가용을 타고 갈 때 지출한 비용을 계산해보고 싶다면 부록을 참고하자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두 번째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연료를 넣어야 한다</a:t>
            </a:r>
            <a:r>
              <a:rPr lang="en-US" altLang="ko-KR" sz="1600" spc="-50" dirty="0"/>
              <a:t>. (‘</a:t>
            </a:r>
            <a:r>
              <a:rPr lang="ko-KR" altLang="en-US" sz="1600" spc="-50" dirty="0"/>
              <a:t>연료 비용</a:t>
            </a:r>
            <a:r>
              <a:rPr lang="en-US" altLang="ko-KR" sz="1600" spc="-50" dirty="0"/>
              <a:t>’)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해운대 갈 때 소비하는 연료양을 계산 해야 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연료 종류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휘발유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경유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전기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와 연비</a:t>
            </a:r>
            <a:r>
              <a:rPr lang="en-US" altLang="ko-KR" sz="1600" spc="-50" dirty="0"/>
              <a:t>(km/liter, km/kWh)</a:t>
            </a:r>
            <a:r>
              <a:rPr lang="ko-KR" altLang="en-US" sz="1600" spc="-50" dirty="0"/>
              <a:t>에 따라 달라진다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세 번째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도로 사용료를 내야 한다</a:t>
            </a:r>
            <a:r>
              <a:rPr lang="en-US" altLang="ko-KR" sz="1600" spc="-50" dirty="0"/>
              <a:t>. (‘</a:t>
            </a:r>
            <a:r>
              <a:rPr lang="ko-KR" altLang="en-US" sz="1600" spc="-50" dirty="0"/>
              <a:t>통행료</a:t>
            </a:r>
            <a:r>
              <a:rPr lang="en-US" altLang="ko-KR" sz="1600" spc="-50" dirty="0"/>
              <a:t>’)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국도를 이용하면 통행료는 무료지만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시간이 너무 오래 걸린다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빠르게 도착할 수 있는 고속도로를 이용하자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고속도로이용시 거리는 </a:t>
            </a:r>
            <a:r>
              <a:rPr lang="en-US" altLang="ko-KR" sz="1600" spc="-50" dirty="0"/>
              <a:t>258km, </a:t>
            </a:r>
            <a:r>
              <a:rPr lang="ko-KR" altLang="en-US" sz="1600" spc="-50" dirty="0"/>
              <a:t>통행료는 </a:t>
            </a:r>
            <a:r>
              <a:rPr lang="en-US" altLang="ko-KR" sz="1600" spc="-50" dirty="0"/>
              <a:t>14,900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한편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국도이용시 거리는 </a:t>
            </a:r>
            <a:r>
              <a:rPr lang="en-US" altLang="ko-KR" sz="1600" spc="-50" dirty="0"/>
              <a:t>270km,</a:t>
            </a:r>
            <a:r>
              <a:rPr lang="ko-KR" altLang="en-US" sz="1600" spc="-50" dirty="0"/>
              <a:t> 통행료는</a:t>
            </a:r>
            <a:r>
              <a:rPr lang="en-US" altLang="ko-KR" sz="1600" spc="-50" dirty="0"/>
              <a:t> 0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61295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74840-8B48-E7DB-7C16-FB30282D8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C58E6AC3-76E3-DEFF-F4E4-7EF5A5BD7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098" y="2643920"/>
            <a:ext cx="6584361" cy="389298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8454F2F-EA8D-42D9-290D-D2305CE4B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자가용 정보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DDE70E-0904-C8AF-33B7-BB1C5F125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D8B6D1-8974-ECEB-339F-70DB42491F6A}"/>
              </a:ext>
            </a:extLst>
          </p:cNvPr>
          <p:cNvSpPr txBox="1"/>
          <p:nvPr/>
        </p:nvSpPr>
        <p:spPr>
          <a:xfrm>
            <a:off x="288790" y="958844"/>
            <a:ext cx="11693660" cy="11526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자가용으로 </a:t>
            </a:r>
            <a:r>
              <a:rPr lang="en-US" altLang="ko-KR" sz="1600" spc="-50" dirty="0"/>
              <a:t>‘2026 </a:t>
            </a:r>
            <a:r>
              <a:rPr lang="ko-KR" altLang="en-US" sz="1600" spc="-50" dirty="0"/>
              <a:t>아반떼 가솔린</a:t>
            </a:r>
            <a:r>
              <a:rPr lang="en-US" altLang="ko-KR" sz="1600" spc="-50" dirty="0"/>
              <a:t>’ </a:t>
            </a:r>
            <a:r>
              <a:rPr lang="ko-KR" altLang="en-US" sz="1600" spc="-50" dirty="0"/>
              <a:t>차량을 보유하고 있다고 하자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아래 사진과 같이 연비는 휘발유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리터당 </a:t>
            </a:r>
            <a:r>
              <a:rPr lang="en-US" altLang="ko-KR" sz="1600" spc="-50" dirty="0"/>
              <a:t>15km</a:t>
            </a:r>
            <a:r>
              <a:rPr lang="ko-KR" altLang="en-US" sz="1600" spc="-50" dirty="0"/>
              <a:t>를 주행할 수 있다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차가 밀리면 시간은 좀 늘어날 수 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일단 금요일 오후 </a:t>
            </a:r>
            <a:r>
              <a:rPr lang="en-US" altLang="ko-KR" sz="1600" spc="-50" dirty="0"/>
              <a:t>15:00</a:t>
            </a:r>
            <a:r>
              <a:rPr lang="ko-KR" altLang="en-US" sz="1600" spc="-50" dirty="0"/>
              <a:t>에 출발해보자</a:t>
            </a:r>
            <a:endParaRPr lang="en-US" altLang="ko-KR" sz="1600" spc="-5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D7A5868-EE07-A5FA-E0F2-99B1F2D3DEB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1563" y="4007805"/>
            <a:ext cx="3926046" cy="22127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CD240B9-35BF-217E-55E3-56E078866F30}"/>
              </a:ext>
            </a:extLst>
          </p:cNvPr>
          <p:cNvSpPr txBox="1"/>
          <p:nvPr/>
        </p:nvSpPr>
        <p:spPr>
          <a:xfrm>
            <a:off x="8481147" y="2389310"/>
            <a:ext cx="21758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spc="-50" dirty="0"/>
              <a:t>&lt;4</a:t>
            </a:r>
            <a:r>
              <a:rPr lang="ko-KR" altLang="en-US" sz="1200" spc="-50" dirty="0"/>
              <a:t>월 </a:t>
            </a:r>
            <a:r>
              <a:rPr lang="en-US" altLang="ko-KR" sz="1200" spc="-50" dirty="0"/>
              <a:t>17</a:t>
            </a:r>
            <a:r>
              <a:rPr lang="ko-KR" altLang="en-US" sz="1200" spc="-50" dirty="0"/>
              <a:t>일 금요일 </a:t>
            </a:r>
            <a:r>
              <a:rPr lang="en-US" altLang="ko-KR" sz="1200" spc="-50" dirty="0"/>
              <a:t>15:00 </a:t>
            </a:r>
            <a:r>
              <a:rPr lang="ko-KR" altLang="en-US" sz="1200" spc="-50" dirty="0"/>
              <a:t>기준</a:t>
            </a:r>
            <a:r>
              <a:rPr lang="en-US" altLang="ko-KR" sz="1200" spc="-50" dirty="0"/>
              <a:t>&gt;</a:t>
            </a:r>
            <a:endParaRPr lang="ko-KR" alt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171784-B985-7E78-DF32-97AE717C6107}"/>
              </a:ext>
            </a:extLst>
          </p:cNvPr>
          <p:cNvSpPr txBox="1"/>
          <p:nvPr/>
        </p:nvSpPr>
        <p:spPr>
          <a:xfrm>
            <a:off x="2204217" y="6220544"/>
            <a:ext cx="217589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spc="-50"/>
              <a:t>현대차 공식홈페이지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3914400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DC504-1771-02FA-3930-F158F1346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CE67B7-1176-760C-9756-509C04793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연료비용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F97747-3120-A353-071B-B9C164949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2B3B1D-AACA-12BE-FB82-226042686C64}"/>
              </a:ext>
            </a:extLst>
          </p:cNvPr>
          <p:cNvSpPr txBox="1"/>
          <p:nvPr/>
        </p:nvSpPr>
        <p:spPr>
          <a:xfrm>
            <a:off x="288790" y="958844"/>
            <a:ext cx="11693660" cy="11526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연료비용은 아래의 식과 같이 휘발유가격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차량 연비의 역수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주행거리의 곱을 통해 계산할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3A5B633-BC92-17DA-BDBB-71AE6499BC63}"/>
                  </a:ext>
                </a:extLst>
              </p:cNvPr>
              <p:cNvSpPr txBox="1"/>
              <p:nvPr/>
            </p:nvSpPr>
            <p:spPr>
              <a:xfrm>
                <a:off x="1560142" y="1561159"/>
                <a:ext cx="7387007" cy="32938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연료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비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용</m:t>
                      </m:r>
                      <m:d>
                        <m:d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원</m:t>
                          </m:r>
                        </m:e>
                      </m:d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휘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발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유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가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격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원</m:t>
                          </m:r>
                        </m:num>
                        <m:den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𝑙𝑖𝑡𝑒𝑟</m:t>
                          </m:r>
                        </m:den>
                      </m:f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연</m:t>
                          </m:r>
                          <m:r>
                            <a:rPr lang="ko-KR" altLang="en-US" sz="1400" i="1" smtClean="0">
                              <a:latin typeface="Cambria Math" panose="02040503050406030204" pitchFamily="18" charset="0"/>
                            </a:rPr>
                            <m:t>비</m:t>
                          </m:r>
                        </m:e>
                        <m:sup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𝑙𝑖𝑡𝑒𝑟</m:t>
                          </m:r>
                        </m:num>
                        <m:den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𝑘𝑚</m:t>
                          </m:r>
                        </m:den>
                      </m:f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altLang="ko-KR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주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행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거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리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𝑘𝑚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3A5B633-BC92-17DA-BDBB-71AE6499BC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0142" y="1561159"/>
                <a:ext cx="7387007" cy="329386"/>
              </a:xfrm>
              <a:prstGeom prst="rect">
                <a:avLst/>
              </a:prstGeom>
              <a:blipFill>
                <a:blip r:embed="rId2"/>
                <a:stretch>
                  <a:fillRect t="-125926" b="-2074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558869C7-B8CE-264A-55D4-329382E03B8E}"/>
              </a:ext>
            </a:extLst>
          </p:cNvPr>
          <p:cNvSpPr txBox="1"/>
          <p:nvPr/>
        </p:nvSpPr>
        <p:spPr>
          <a:xfrm>
            <a:off x="288789" y="2077370"/>
            <a:ext cx="7387007" cy="1891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휘발유 가격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근처에서 가장 저렴한 주유소에서 휘발유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리터당 </a:t>
            </a:r>
            <a:r>
              <a:rPr lang="en-US" altLang="ko-KR" sz="1600" spc="-50" dirty="0"/>
              <a:t>1,980</a:t>
            </a:r>
            <a:r>
              <a:rPr lang="ko-KR" altLang="en-US" sz="1600" spc="-50" dirty="0"/>
              <a:t>원에 팔고 있으니 거기서 주유하려고 한다</a:t>
            </a:r>
            <a:r>
              <a:rPr lang="en-US" altLang="ko-KR" sz="1600" spc="-50" dirty="0"/>
              <a:t>. (4</a:t>
            </a:r>
            <a:r>
              <a:rPr lang="ko-KR" altLang="en-US" sz="1600" spc="-50" dirty="0"/>
              <a:t>월 </a:t>
            </a:r>
            <a:r>
              <a:rPr lang="en-US" altLang="ko-KR" sz="1600" spc="-50" dirty="0"/>
              <a:t>17</a:t>
            </a:r>
            <a:r>
              <a:rPr lang="ko-KR" altLang="en-US" sz="1600" spc="-50" dirty="0"/>
              <a:t>일 기준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연비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연비는 </a:t>
            </a:r>
            <a:r>
              <a:rPr lang="en-US" altLang="ko-KR" sz="1600" spc="-50" dirty="0"/>
              <a:t>15.0 km/liter</a:t>
            </a:r>
            <a:r>
              <a:rPr lang="ko-KR" altLang="en-US" sz="1600" spc="-50" dirty="0"/>
              <a:t> 이다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전 슬라이드 아반떼 정보 참고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주행거리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부산역까지는 총 </a:t>
            </a:r>
            <a:r>
              <a:rPr lang="en-US" altLang="ko-KR" sz="1600" spc="-50" dirty="0"/>
              <a:t>258km 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연료비로 </a:t>
            </a:r>
            <a:r>
              <a:rPr lang="en-US" altLang="ko-KR" sz="1600" spc="-50" dirty="0"/>
              <a:t>34,056</a:t>
            </a:r>
            <a:r>
              <a:rPr lang="ko-KR" altLang="en-US" sz="1600" spc="-50" dirty="0"/>
              <a:t>원이 소요된다</a:t>
            </a:r>
            <a:r>
              <a:rPr lang="en-US" altLang="ko-KR" sz="1600" spc="-50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CEAF10-79E3-3F08-19A1-0F87361A144B}"/>
              </a:ext>
            </a:extLst>
          </p:cNvPr>
          <p:cNvSpPr txBox="1"/>
          <p:nvPr/>
        </p:nvSpPr>
        <p:spPr>
          <a:xfrm>
            <a:off x="8223569" y="2624628"/>
            <a:ext cx="21758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spc="-50" dirty="0"/>
              <a:t>&lt;4</a:t>
            </a:r>
            <a:r>
              <a:rPr lang="ko-KR" altLang="en-US" sz="1200" spc="-50" dirty="0"/>
              <a:t>월 </a:t>
            </a:r>
            <a:r>
              <a:rPr lang="en-US" altLang="ko-KR" sz="1200" spc="-50" dirty="0"/>
              <a:t>17</a:t>
            </a:r>
            <a:r>
              <a:rPr lang="ko-KR" altLang="en-US" sz="1200" spc="-50" dirty="0"/>
              <a:t>일 금요일 </a:t>
            </a:r>
            <a:r>
              <a:rPr lang="en-US" altLang="ko-KR" sz="1200" spc="-50" dirty="0"/>
              <a:t>15:00 </a:t>
            </a:r>
            <a:r>
              <a:rPr lang="ko-KR" altLang="en-US" sz="1200" spc="-50" dirty="0"/>
              <a:t>기준</a:t>
            </a:r>
            <a:r>
              <a:rPr lang="en-US" altLang="ko-KR" sz="1200" spc="-50" dirty="0"/>
              <a:t>&gt;</a:t>
            </a:r>
            <a:endParaRPr lang="ko-KR" altLang="en-US" sz="12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B6FFC94-2CD8-F8C9-A5CC-E7902E9C1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4633" y="2903978"/>
            <a:ext cx="4871051" cy="359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023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9E902-8B18-AA69-BF5C-36E50A52E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805ABF-96C2-B371-47A2-EC346C87C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통행료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A274F3-3B66-A2E6-4D0B-FA65EB9C6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F04DCB-9FF3-BAB4-FA1D-976DEF4E4F61}"/>
              </a:ext>
            </a:extLst>
          </p:cNvPr>
          <p:cNvSpPr txBox="1"/>
          <p:nvPr/>
        </p:nvSpPr>
        <p:spPr>
          <a:xfrm>
            <a:off x="288790" y="947070"/>
            <a:ext cx="10726940" cy="7833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우리는 경부고속도로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중앙고속도로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부산</a:t>
            </a:r>
            <a:r>
              <a:rPr lang="en-US" altLang="ko-KR" sz="1600" spc="-50" dirty="0"/>
              <a:t>-</a:t>
            </a:r>
            <a:r>
              <a:rPr lang="ko-KR" altLang="en-US" sz="1600" spc="-50" dirty="0"/>
              <a:t>대구</a:t>
            </a:r>
            <a:r>
              <a:rPr lang="en-US" altLang="ko-KR" sz="1600" spc="-50" dirty="0"/>
              <a:t>), </a:t>
            </a:r>
            <a:r>
              <a:rPr lang="ko-KR" altLang="en-US" sz="1600" spc="-50" dirty="0"/>
              <a:t>중앙고속도로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삼락</a:t>
            </a:r>
            <a:r>
              <a:rPr lang="en-US" altLang="ko-KR" sz="1600" spc="-50" dirty="0"/>
              <a:t>-</a:t>
            </a:r>
            <a:r>
              <a:rPr lang="ko-KR" altLang="en-US" sz="1600" spc="-50" dirty="0"/>
              <a:t>대동</a:t>
            </a:r>
            <a:r>
              <a:rPr lang="en-US" altLang="ko-KR" sz="1600" spc="-50" dirty="0"/>
              <a:t>), </a:t>
            </a:r>
            <a:r>
              <a:rPr lang="ko-KR" altLang="en-US" sz="1600" spc="-50" dirty="0"/>
              <a:t>총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종류의 고속도로를 이용할 예정이며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통행료로 총 </a:t>
            </a:r>
            <a:r>
              <a:rPr lang="en-US" altLang="ko-KR" sz="1600" spc="-50" dirty="0"/>
              <a:t>14,900</a:t>
            </a:r>
            <a:r>
              <a:rPr lang="ko-KR" altLang="en-US" sz="1600" spc="-50" dirty="0"/>
              <a:t>원이 소요된다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6B992AA-BB00-7166-4C82-12982E146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2046" y="1754062"/>
            <a:ext cx="8089414" cy="4782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185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507D3-EAFC-B90C-E9E8-67A7B2E39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1CAC47-6F3D-F192-35E9-F70DDAF75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해운대까지 드는 총 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050459-53F8-D28A-583F-533EA6041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A4802E-C20A-63D0-CD7C-C97E579C7C16}"/>
              </a:ext>
            </a:extLst>
          </p:cNvPr>
          <p:cNvSpPr txBox="1"/>
          <p:nvPr/>
        </p:nvSpPr>
        <p:spPr>
          <a:xfrm>
            <a:off x="288790" y="958844"/>
            <a:ext cx="11501890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해운대까지 자가용을 타고 가는데 드는 비용을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가지로 나누어 계산해보았고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결과는 다음과 같았다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연료 비용</a:t>
            </a:r>
            <a:r>
              <a:rPr lang="en-US" altLang="ko-KR" sz="1600" spc="-50" dirty="0"/>
              <a:t>: 34,056 </a:t>
            </a:r>
            <a:r>
              <a:rPr lang="ko-KR" altLang="en-US" sz="1600" spc="-50" dirty="0"/>
              <a:t>원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통행료</a:t>
            </a:r>
            <a:r>
              <a:rPr lang="en-US" altLang="ko-KR" sz="1600" spc="-50" dirty="0"/>
              <a:t>: 14,900</a:t>
            </a:r>
            <a:r>
              <a:rPr lang="ko-KR" altLang="en-US" sz="1600" spc="-50" dirty="0"/>
              <a:t>원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두 가지 비용을 모두 합치면 총 </a:t>
            </a:r>
            <a:r>
              <a:rPr lang="en-US" altLang="ko-KR" sz="1600" spc="-50" dirty="0"/>
              <a:t>48,956</a:t>
            </a:r>
            <a:r>
              <a:rPr lang="ko-KR" altLang="en-US" sz="1600" spc="-50" dirty="0"/>
              <a:t> 원이 든다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지금까지 총비용을 계산해보았고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자가용을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명이 이용하였으니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비용을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로 나누어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인당으로 계산해보면 아래와 같다</a:t>
            </a:r>
            <a:r>
              <a:rPr lang="en-US" altLang="ko-KR" sz="1600" spc="-50" dirty="0"/>
              <a:t>.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D5CBC0A-FED0-A9AD-44B6-ADA2F8DEDF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300616"/>
              </p:ext>
            </p:extLst>
          </p:nvPr>
        </p:nvGraphicFramePr>
        <p:xfrm>
          <a:off x="1351533" y="4266100"/>
          <a:ext cx="6156756" cy="74283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539189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539189">
                  <a:extLst>
                    <a:ext uri="{9D8B030D-6E8A-4147-A177-3AD203B41FA5}">
                      <a16:colId xmlns:a16="http://schemas.microsoft.com/office/drawing/2014/main" val="2699398209"/>
                    </a:ext>
                  </a:extLst>
                </a:gridCol>
                <a:gridCol w="1539189">
                  <a:extLst>
                    <a:ext uri="{9D8B030D-6E8A-4147-A177-3AD203B41FA5}">
                      <a16:colId xmlns:a16="http://schemas.microsoft.com/office/drawing/2014/main" val="65536541"/>
                    </a:ext>
                  </a:extLst>
                </a:gridCol>
                <a:gridCol w="1539189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1586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연료 비용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통행료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합계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총 비용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34,056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14,900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48,956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인당 비용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17,028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7,450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24,478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0083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6D89C-5E89-47FF-FF37-56AF935B7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BA19D3F-3C09-2D77-30A2-72B2CDAABF9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C076B2-0E02-B524-72F8-E25DFE0FC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41B2E66B-0C69-642F-2A4E-8AE32C508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1-2. </a:t>
            </a:r>
            <a:r>
              <a:rPr lang="ko-KR" altLang="en-US" sz="4000" b="1" i="0" spc="150" dirty="0"/>
              <a:t>자가용 </a:t>
            </a:r>
            <a:r>
              <a:rPr lang="en-US" altLang="ko-KR" sz="4000" b="1" i="0" spc="150" dirty="0"/>
              <a:t>(</a:t>
            </a:r>
            <a:r>
              <a:rPr lang="ko-KR" altLang="en-US" sz="4000" b="1" i="0" spc="150" dirty="0"/>
              <a:t>탄소배출</a:t>
            </a:r>
            <a:r>
              <a:rPr lang="en-US" altLang="ko-KR" sz="4000" b="1" i="0" spc="150" dirty="0"/>
              <a:t>)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952955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70BAF-E1B6-E67F-FDC4-4B809009E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DF56FB-C5CB-981F-B304-49BC49097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자가용 </a:t>
            </a:r>
            <a:r>
              <a:rPr lang="ko-KR" altLang="en-US" dirty="0" err="1"/>
              <a:t>이용시</a:t>
            </a:r>
            <a:r>
              <a:rPr lang="ko-KR" altLang="en-US" dirty="0"/>
              <a:t> 탄소배출량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099806-EB55-0461-2C42-DB1F74577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3382F0-FB6F-9A72-36C4-9B33B57980F4}"/>
              </a:ext>
            </a:extLst>
          </p:cNvPr>
          <p:cNvSpPr txBox="1"/>
          <p:nvPr/>
        </p:nvSpPr>
        <p:spPr>
          <a:xfrm>
            <a:off x="288790" y="958844"/>
            <a:ext cx="11045960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해운대까지 승용차를 타고 갈 때의 탄소배출량은 휘발유의 소비량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발열량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탄소배출계수를 곱해서 계산할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b="1" u="sng" dirty="0">
                <a:ln w="3175">
                  <a:noFill/>
                </a:ln>
                <a:latin typeface="+mn-ea"/>
              </a:rPr>
              <a:t>자동차는 어떻게 움직이나</a:t>
            </a:r>
            <a:r>
              <a:rPr lang="en-US" altLang="ko-KR" sz="1600" b="1" u="sng" dirty="0">
                <a:ln w="3175">
                  <a:noFill/>
                </a:ln>
                <a:latin typeface="+mn-ea"/>
              </a:rPr>
              <a:t>?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자동차 엑셀을 밟으면 휘발유가 연소되고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연소과정에서 생기는 힘으로 자동차 바퀴를 돌려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자동차가 움직인다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b="1" u="sng" dirty="0">
                <a:ln w="3175">
                  <a:noFill/>
                </a:ln>
                <a:latin typeface="+mn-ea"/>
              </a:rPr>
              <a:t>휘발유를 태우는데 왜 힘이 생기나</a:t>
            </a:r>
            <a:r>
              <a:rPr lang="en-US" altLang="ko-KR" sz="1600" b="1" u="sng" dirty="0">
                <a:ln w="3175">
                  <a:noFill/>
                </a:ln>
                <a:latin typeface="+mn-ea"/>
              </a:rPr>
              <a:t>?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휘발유는 원래 힘을 가지고 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휘발유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리터가 얼마나 큰 힘을 낼 수 있는지 숫자로 나타낸 것이 발열량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혹은 열량</a:t>
            </a:r>
            <a:r>
              <a:rPr lang="en-US" altLang="ko-KR" sz="1600" spc="-50" dirty="0"/>
              <a:t>).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92075">
              <a:lnSpc>
                <a:spcPct val="150000"/>
              </a:lnSpc>
            </a:pPr>
            <a:r>
              <a:rPr lang="en-US" altLang="ko-KR" sz="1600" spc="-50" dirty="0"/>
              <a:t>※ </a:t>
            </a:r>
            <a:r>
              <a:rPr lang="ko-KR" altLang="en-US" sz="1600" spc="-50" dirty="0"/>
              <a:t>비유하자면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우리도 밥이나 빵을 먹고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힘으로 살아가고 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다이어트를 하게 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빵 하나를 먹어도 칼로리를 체크하게 되는데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칼로리가 발열량이다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F7D4B97-B884-337A-06F7-2148D1B8FB77}"/>
                  </a:ext>
                </a:extLst>
              </p:cNvPr>
              <p:cNvSpPr txBox="1"/>
              <p:nvPr/>
            </p:nvSpPr>
            <p:spPr>
              <a:xfrm>
                <a:off x="1953842" y="1645164"/>
                <a:ext cx="7844208" cy="4456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탄소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배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출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량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𝑡𝐶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소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비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량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𝑙𝑖𝑡𝑒𝑟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발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열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량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𝑀𝐽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𝑙𝑖𝑡𝑒𝑟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배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출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계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수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𝑡𝐶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𝑀𝐽</m:t>
                          </m:r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F7D4B97-B884-337A-06F7-2148D1B8FB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3842" y="1645164"/>
                <a:ext cx="7844208" cy="445635"/>
              </a:xfrm>
              <a:prstGeom prst="rect">
                <a:avLst/>
              </a:prstGeom>
              <a:blipFill>
                <a:blip r:embed="rId2"/>
                <a:stretch>
                  <a:fillRect t="-126027" r="-3810" b="-19452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5">
            <a:extLst>
              <a:ext uri="{FF2B5EF4-FFF2-40B4-BE49-F238E27FC236}">
                <a16:creationId xmlns:a16="http://schemas.microsoft.com/office/drawing/2014/main" id="{0689345B-F63E-9058-3C4F-19CF5305BA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0224" y="5139331"/>
            <a:ext cx="2780532" cy="1300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878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6DEC3-02F5-E329-E684-03D0E1DE1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DAE1C8-BE53-EF3E-0B1D-6BAED274B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자가용 </a:t>
            </a:r>
            <a:r>
              <a:rPr lang="ko-KR" altLang="en-US" dirty="0" err="1"/>
              <a:t>이용시</a:t>
            </a:r>
            <a:r>
              <a:rPr lang="ko-KR" altLang="en-US" dirty="0"/>
              <a:t> 탄소배출량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E3AFB0-E192-0A83-A1A9-F3766AF52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AA0A3F-E2BD-255B-12DB-E5AF30503E1E}"/>
              </a:ext>
            </a:extLst>
          </p:cNvPr>
          <p:cNvSpPr txBox="1"/>
          <p:nvPr/>
        </p:nvSpPr>
        <p:spPr>
          <a:xfrm>
            <a:off x="288790" y="958844"/>
            <a:ext cx="803728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u="sng" dirty="0">
                <a:ln w="3175">
                  <a:noFill/>
                </a:ln>
                <a:latin typeface="+mn-ea"/>
              </a:rPr>
              <a:t>발열량의 단위가</a:t>
            </a:r>
            <a:r>
              <a:rPr lang="en-US" altLang="ko-KR" sz="1600" b="1" u="sng" dirty="0">
                <a:ln w="3175">
                  <a:noFill/>
                </a:ln>
                <a:latin typeface="+mn-ea"/>
              </a:rPr>
              <a:t>, </a:t>
            </a:r>
            <a:r>
              <a:rPr lang="ko-KR" altLang="en-US" sz="1600" b="1" u="sng" dirty="0">
                <a:ln w="3175">
                  <a:noFill/>
                </a:ln>
                <a:latin typeface="+mn-ea"/>
              </a:rPr>
              <a:t>앞서 수식에는 </a:t>
            </a:r>
            <a:r>
              <a:rPr lang="en-US" altLang="ko-KR" sz="1600" b="1" u="sng" dirty="0">
                <a:ln w="3175">
                  <a:noFill/>
                </a:ln>
                <a:latin typeface="+mn-ea"/>
              </a:rPr>
              <a:t>MJ? </a:t>
            </a:r>
            <a:r>
              <a:rPr lang="ko-KR" altLang="en-US" sz="1600" b="1" u="sng" dirty="0" err="1">
                <a:ln w="3175">
                  <a:noFill/>
                </a:ln>
                <a:latin typeface="+mn-ea"/>
              </a:rPr>
              <a:t>단팥빵에는</a:t>
            </a:r>
            <a:r>
              <a:rPr lang="ko-KR" altLang="en-US" sz="1600" b="1" u="sng" dirty="0">
                <a:ln w="3175">
                  <a:noFill/>
                </a:ln>
                <a:latin typeface="+mn-ea"/>
              </a:rPr>
              <a:t> </a:t>
            </a:r>
            <a:r>
              <a:rPr lang="en-US" altLang="ko-KR" sz="1600" b="1" u="sng" dirty="0">
                <a:ln w="3175">
                  <a:noFill/>
                </a:ln>
                <a:latin typeface="+mn-ea"/>
              </a:rPr>
              <a:t>kcal?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spc="-50" dirty="0"/>
              <a:t>MJ</a:t>
            </a:r>
            <a:r>
              <a:rPr lang="ko-KR" altLang="en-US" sz="1600" spc="-50" dirty="0"/>
              <a:t>는</a:t>
            </a:r>
            <a:r>
              <a:rPr lang="ko-KR" altLang="en-US" sz="1600" b="1" spc="-50" dirty="0"/>
              <a:t> </a:t>
            </a:r>
            <a:r>
              <a:rPr lang="en-US" altLang="ko-KR" sz="1600" b="1" spc="-50" dirty="0"/>
              <a:t>M</a:t>
            </a:r>
            <a:r>
              <a:rPr lang="en-US" altLang="ko-KR" sz="1600" spc="-50" dirty="0"/>
              <a:t>ega </a:t>
            </a:r>
            <a:r>
              <a:rPr lang="en-US" altLang="ko-KR" sz="1600" b="1" spc="-50" dirty="0"/>
              <a:t>J</a:t>
            </a:r>
            <a:r>
              <a:rPr lang="en-US" altLang="ko-KR" sz="1600" spc="-50" dirty="0"/>
              <a:t>oule </a:t>
            </a:r>
            <a:r>
              <a:rPr lang="ko-KR" altLang="en-US" sz="1600" spc="-50" dirty="0"/>
              <a:t>의 약자이고</a:t>
            </a:r>
            <a:r>
              <a:rPr lang="en-US" altLang="ko-KR" sz="1600" spc="-50" dirty="0"/>
              <a:t>, </a:t>
            </a:r>
            <a:r>
              <a:rPr lang="en-US" altLang="ko-KR" sz="1600" b="1" spc="-50" dirty="0"/>
              <a:t>kcal</a:t>
            </a:r>
            <a:r>
              <a:rPr lang="ko-KR" altLang="en-US" sz="1600" spc="-50" dirty="0"/>
              <a:t>는 </a:t>
            </a:r>
            <a:r>
              <a:rPr lang="en-US" altLang="ko-KR" sz="1600" b="1" spc="-50" dirty="0"/>
              <a:t>k</a:t>
            </a:r>
            <a:r>
              <a:rPr lang="en-US" altLang="ko-KR" sz="1600" spc="-50" dirty="0"/>
              <a:t>ilo</a:t>
            </a:r>
            <a:r>
              <a:rPr lang="en-US" altLang="ko-KR" sz="1600" b="1" spc="-50" dirty="0"/>
              <a:t>cal</a:t>
            </a:r>
            <a:r>
              <a:rPr lang="en-US" altLang="ko-KR" sz="1600" spc="-50" dirty="0"/>
              <a:t>orie</a:t>
            </a:r>
            <a:r>
              <a:rPr lang="ko-KR" altLang="en-US" sz="1600" spc="-50" dirty="0"/>
              <a:t>의 약자이다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둘 모두 에너지의 크기를 나타내는 단위다</a:t>
            </a:r>
            <a:r>
              <a:rPr lang="en-US" altLang="ko-KR" sz="1600" spc="-50" dirty="0"/>
              <a:t>. 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MJ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kcal</a:t>
            </a:r>
            <a:r>
              <a:rPr lang="ko-KR" altLang="en-US" sz="1600" spc="-50" dirty="0"/>
              <a:t>는 서로 환산이 가능한 단위들이다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1MJ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239kcal</a:t>
            </a:r>
            <a:r>
              <a:rPr lang="ko-KR" altLang="en-US" sz="1600" spc="-50" dirty="0"/>
              <a:t>와 같다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전 슬라이드의 </a:t>
            </a:r>
            <a:r>
              <a:rPr lang="ko-KR" altLang="en-US" sz="1600" spc="-50" dirty="0" err="1"/>
              <a:t>단팥빵</a:t>
            </a:r>
            <a:r>
              <a:rPr lang="ko-KR" altLang="en-US" sz="1600" spc="-50" dirty="0"/>
              <a:t> 칼로리를 </a:t>
            </a:r>
            <a:r>
              <a:rPr lang="en-US" altLang="ko-KR" sz="1600" spc="-50" dirty="0"/>
              <a:t>1.11MJ</a:t>
            </a:r>
            <a:r>
              <a:rPr lang="ko-KR" altLang="en-US" sz="1600" spc="-50" dirty="0"/>
              <a:t>로 표기해도 상관없다는 뜻이다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관습상 </a:t>
            </a:r>
            <a:r>
              <a:rPr lang="en-US" altLang="ko-KR" sz="1600" spc="-50" dirty="0"/>
              <a:t>kcal</a:t>
            </a:r>
            <a:r>
              <a:rPr lang="ko-KR" altLang="en-US" sz="1600" spc="-50" dirty="0"/>
              <a:t>로 표현하고 있을 뿐이다</a:t>
            </a:r>
            <a:r>
              <a:rPr lang="en-US" altLang="ko-KR" sz="1600" spc="-50" dirty="0"/>
              <a:t>.)</a:t>
            </a:r>
          </a:p>
          <a:p>
            <a:pPr marL="92075">
              <a:lnSpc>
                <a:spcPct val="150000"/>
              </a:lnSpc>
            </a:pPr>
            <a:endParaRPr lang="en-US" altLang="ko-KR" sz="1600" spc="-50" dirty="0"/>
          </a:p>
          <a:p>
            <a:pPr marL="92075">
              <a:lnSpc>
                <a:spcPct val="150000"/>
              </a:lnSpc>
            </a:pPr>
            <a:r>
              <a:rPr lang="en-US" altLang="ko-KR" sz="1600" spc="-50" dirty="0"/>
              <a:t>※ </a:t>
            </a:r>
            <a:r>
              <a:rPr lang="ko-KR" altLang="en-US" sz="1600" spc="-50" dirty="0"/>
              <a:t>비유하자면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길이를 </a:t>
            </a:r>
            <a:r>
              <a:rPr lang="en-US" altLang="ko-KR" sz="1600" spc="-50" dirty="0"/>
              <a:t>cm</a:t>
            </a:r>
            <a:r>
              <a:rPr lang="ko-KR" altLang="en-US" sz="1600" spc="-50" dirty="0"/>
              <a:t>로 재기도하고</a:t>
            </a:r>
            <a:r>
              <a:rPr lang="en-US" altLang="ko-KR" sz="1600" spc="-50" dirty="0"/>
              <a:t>, inch</a:t>
            </a:r>
            <a:r>
              <a:rPr lang="ko-KR" altLang="en-US" sz="1600" spc="-50" dirty="0"/>
              <a:t>로 재기도 한다</a:t>
            </a:r>
            <a:r>
              <a:rPr lang="en-US" altLang="ko-KR" sz="1600" spc="-50" dirty="0"/>
              <a:t>. (1cm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0.394 inch</a:t>
            </a:r>
            <a:r>
              <a:rPr lang="ko-KR" altLang="en-US" sz="1600" spc="-50" dirty="0"/>
              <a:t>와 같다</a:t>
            </a:r>
            <a:r>
              <a:rPr lang="en-US" altLang="ko-KR" sz="1600" spc="-50" dirty="0"/>
              <a:t>.) </a:t>
            </a:r>
            <a:r>
              <a:rPr lang="ko-KR" altLang="en-US" sz="1600" spc="-50" dirty="0"/>
              <a:t>또 다른 예로는 섭씨와 화씨</a:t>
            </a:r>
            <a:r>
              <a:rPr lang="en-US" altLang="ko-KR" sz="1600" spc="-50" dirty="0"/>
              <a:t>, km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mile </a:t>
            </a:r>
            <a:r>
              <a:rPr lang="ko-KR" altLang="en-US" sz="1600" spc="-50" dirty="0"/>
              <a:t>등이 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에너지도 똑같이 </a:t>
            </a:r>
            <a:r>
              <a:rPr lang="en-US" altLang="ko-KR" sz="1600" spc="-50" dirty="0"/>
              <a:t>MJ</a:t>
            </a:r>
            <a:r>
              <a:rPr lang="ko-KR" altLang="en-US" sz="1600" spc="-50" dirty="0"/>
              <a:t>로 재기도하고</a:t>
            </a:r>
            <a:r>
              <a:rPr lang="en-US" altLang="ko-KR" sz="1600" spc="-50" dirty="0"/>
              <a:t>, kcal</a:t>
            </a:r>
            <a:r>
              <a:rPr lang="ko-KR" altLang="en-US" sz="1600" spc="-50" dirty="0"/>
              <a:t>로 재기도 하는 것이다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우리 차는 휘발유 차량이고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오른쪽 표에 의하면 휘발유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리터를 연소시키면 </a:t>
            </a:r>
            <a:r>
              <a:rPr lang="en-US" altLang="ko-KR" sz="1600" b="1" spc="-50" dirty="0"/>
              <a:t>32.4MJ</a:t>
            </a:r>
            <a:r>
              <a:rPr lang="ko-KR" altLang="en-US" sz="1600" spc="-50" dirty="0"/>
              <a:t>의 에너지가 생긴다는 것을 알 수 있다</a:t>
            </a:r>
            <a:r>
              <a:rPr lang="en-US" altLang="ko-KR" sz="1600" spc="-50" dirty="0"/>
              <a:t>.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4A022EA9-92F1-34F4-8642-823F511EDBC1}"/>
              </a:ext>
            </a:extLst>
          </p:cNvPr>
          <p:cNvGrpSpPr/>
          <p:nvPr/>
        </p:nvGrpSpPr>
        <p:grpSpPr>
          <a:xfrm>
            <a:off x="8528051" y="883082"/>
            <a:ext cx="3054350" cy="5291100"/>
            <a:chOff x="-1003299" y="1320800"/>
            <a:chExt cx="3054350" cy="5291100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98B20C12-2816-2A73-09B1-7F0525CA26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302" r="50889" b="39485"/>
            <a:stretch>
              <a:fillRect/>
            </a:stretch>
          </p:blipFill>
          <p:spPr>
            <a:xfrm>
              <a:off x="-1003299" y="1320800"/>
              <a:ext cx="3054350" cy="5291100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3E22738E-353D-37B1-3713-83A09B3CB5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86173" t="4743" r="-161" b="93609"/>
            <a:stretch>
              <a:fillRect/>
            </a:stretch>
          </p:blipFill>
          <p:spPr>
            <a:xfrm>
              <a:off x="1123950" y="1460500"/>
              <a:ext cx="869949" cy="152400"/>
            </a:xfrm>
            <a:prstGeom prst="rect">
              <a:avLst/>
            </a:prstGeom>
          </p:spPr>
        </p:pic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0208190D-4ADD-6414-D56B-DEA1FB104A32}"/>
              </a:ext>
            </a:extLst>
          </p:cNvPr>
          <p:cNvSpPr txBox="1"/>
          <p:nvPr/>
        </p:nvSpPr>
        <p:spPr>
          <a:xfrm>
            <a:off x="8409782" y="6241029"/>
            <a:ext cx="32908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/>
              <a:t>https://tips.energy.or.kr/carbon/Ggas_tatistics03.do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9A8AEB0-10A0-892A-E57F-29213E1E3643}"/>
              </a:ext>
            </a:extLst>
          </p:cNvPr>
          <p:cNvSpPr/>
          <p:nvPr/>
        </p:nvSpPr>
        <p:spPr>
          <a:xfrm>
            <a:off x="10294496" y="2050644"/>
            <a:ext cx="455070" cy="211745"/>
          </a:xfrm>
          <a:prstGeom prst="rect">
            <a:avLst/>
          </a:prstGeom>
          <a:solidFill>
            <a:srgbClr val="FFFF00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5733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03222F-C683-AD65-D283-AE30AFDA8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 </a:t>
            </a:r>
            <a:r>
              <a:rPr lang="ko-KR" altLang="en-US" dirty="0"/>
              <a:t>접두어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8583F4-A729-47CF-A318-D08799C0E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FA2FB6-C5ED-9F02-34BB-9636C91CEC3B}"/>
              </a:ext>
            </a:extLst>
          </p:cNvPr>
          <p:cNvSpPr txBox="1"/>
          <p:nvPr/>
        </p:nvSpPr>
        <p:spPr>
          <a:xfrm>
            <a:off x="288790" y="958844"/>
            <a:ext cx="11229216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u="sng" dirty="0">
                <a:ln w="3175">
                  <a:noFill/>
                </a:ln>
                <a:latin typeface="+mn-ea"/>
              </a:rPr>
              <a:t>평소에 들어본 킬로</a:t>
            </a:r>
            <a:r>
              <a:rPr lang="en-US" altLang="ko-KR" sz="1600" b="1" u="sng" dirty="0">
                <a:ln w="3175">
                  <a:noFill/>
                </a:ln>
                <a:latin typeface="+mn-ea"/>
              </a:rPr>
              <a:t>, </a:t>
            </a:r>
            <a:r>
              <a:rPr lang="ko-KR" altLang="en-US" sz="1600" b="1" u="sng" dirty="0">
                <a:ln w="3175">
                  <a:noFill/>
                </a:ln>
                <a:latin typeface="+mn-ea"/>
              </a:rPr>
              <a:t>메가</a:t>
            </a:r>
            <a:r>
              <a:rPr lang="en-US" altLang="ko-KR" sz="1600" b="1" u="sng" dirty="0">
                <a:ln w="3175">
                  <a:noFill/>
                </a:ln>
                <a:latin typeface="+mn-ea"/>
              </a:rPr>
              <a:t>, </a:t>
            </a:r>
            <a:r>
              <a:rPr lang="ko-KR" altLang="en-US" sz="1600" b="1" u="sng" dirty="0">
                <a:ln w="3175">
                  <a:noFill/>
                </a:ln>
                <a:latin typeface="+mn-ea"/>
              </a:rPr>
              <a:t>기가</a:t>
            </a:r>
            <a:r>
              <a:rPr lang="en-US" altLang="ko-KR" sz="1600" b="1" u="sng" dirty="0">
                <a:ln w="3175">
                  <a:noFill/>
                </a:ln>
                <a:latin typeface="+mn-ea"/>
              </a:rPr>
              <a:t> </a:t>
            </a:r>
            <a:r>
              <a:rPr lang="ko-KR" altLang="en-US" sz="1600" b="1" u="sng" dirty="0">
                <a:ln w="3175">
                  <a:noFill/>
                </a:ln>
                <a:latin typeface="+mn-ea"/>
              </a:rPr>
              <a:t>이런 단위가 </a:t>
            </a:r>
            <a:r>
              <a:rPr lang="ko-KR" altLang="en-US" sz="1600" b="1" u="sng" dirty="0" err="1">
                <a:ln w="3175">
                  <a:noFill/>
                </a:ln>
                <a:latin typeface="+mn-ea"/>
              </a:rPr>
              <a:t>뭘까</a:t>
            </a:r>
            <a:r>
              <a:rPr lang="en-US" altLang="ko-KR" sz="1600" b="1" u="sng" dirty="0">
                <a:ln w="3175">
                  <a:noFill/>
                </a:ln>
                <a:latin typeface="+mn-ea"/>
              </a:rPr>
              <a:t>?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킬로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메가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기가와 같은 단위를 </a:t>
            </a:r>
            <a:r>
              <a:rPr lang="en-US" altLang="ko-KR" sz="1600" spc="-50" dirty="0"/>
              <a:t>SI </a:t>
            </a:r>
            <a:r>
              <a:rPr lang="ko-KR" altLang="en-US" sz="1600" spc="-50" dirty="0" err="1"/>
              <a:t>접두어라고</a:t>
            </a:r>
            <a:r>
              <a:rPr lang="ko-KR" altLang="en-US" sz="1600" spc="-50" dirty="0"/>
              <a:t> 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너무 큰 숫자를 표기할 때</a:t>
            </a:r>
            <a:r>
              <a:rPr lang="en-US" altLang="ko-KR" sz="1600" spc="-50" dirty="0"/>
              <a:t>, 0</a:t>
            </a:r>
            <a:r>
              <a:rPr lang="ko-KR" altLang="en-US" sz="1600" spc="-50" dirty="0"/>
              <a:t>을 보기 힘들게 많이 표시하지 말고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접두어를</a:t>
            </a:r>
            <a:r>
              <a:rPr lang="ko-KR" altLang="en-US" sz="1600" spc="-50" dirty="0"/>
              <a:t> 활용하자는 약속이다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첫번째 파일의 크기는 눈에 쉽게 들어오고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읽기도 편하다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오른쪽 예시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두번째 파일의 크기는 바로 눈에 쉽게 안 들어오고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읽기 불편하다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이러한 불편함을 없애고자 </a:t>
            </a:r>
            <a:r>
              <a:rPr lang="en-US" altLang="ko-KR" sz="1600" spc="-50" dirty="0"/>
              <a:t>1,000</a:t>
            </a:r>
            <a:r>
              <a:rPr lang="ko-KR" altLang="en-US" sz="1600" spc="-50" dirty="0"/>
              <a:t>배씩 단위를 만들어 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SI </a:t>
            </a:r>
            <a:r>
              <a:rPr lang="ko-KR" altLang="en-US" sz="1600" spc="-50" dirty="0" err="1"/>
              <a:t>접두어를</a:t>
            </a:r>
            <a:r>
              <a:rPr lang="ko-KR" altLang="en-US" sz="1600" spc="-50" dirty="0"/>
              <a:t> 활용해서 두번째 파일을 읽어보면 </a:t>
            </a:r>
            <a:r>
              <a:rPr lang="en-US" altLang="ko-KR" sz="1600" spc="-50" dirty="0"/>
              <a:t>107.9</a:t>
            </a:r>
            <a:r>
              <a:rPr lang="ko-KR" altLang="en-US" sz="1600" spc="-50" dirty="0"/>
              <a:t>메가바이트 혹은 </a:t>
            </a:r>
            <a:r>
              <a:rPr lang="en-US" altLang="ko-KR" sz="1600" spc="-50" dirty="0"/>
              <a:t>1.079 </a:t>
            </a:r>
            <a:r>
              <a:rPr lang="ko-KR" altLang="en-US" sz="1600" spc="-50" dirty="0"/>
              <a:t>기가바이트 라고 읽을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아까 해운대까지 거리가 </a:t>
            </a:r>
            <a:r>
              <a:rPr lang="en-US" altLang="ko-KR" sz="1600" spc="-50" dirty="0"/>
              <a:t>284km </a:t>
            </a:r>
            <a:r>
              <a:rPr lang="ko-KR" altLang="en-US" sz="1600" spc="-50" dirty="0"/>
              <a:t>였는데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이거를 </a:t>
            </a:r>
            <a:r>
              <a:rPr lang="en-US" altLang="ko-KR" sz="1600" spc="-50" dirty="0"/>
              <a:t>0.284Mm (</a:t>
            </a:r>
            <a:r>
              <a:rPr lang="ko-KR" altLang="en-US" sz="1600" spc="-50" dirty="0" err="1"/>
              <a:t>메가미터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로 표현할 수도 있다</a:t>
            </a:r>
            <a:r>
              <a:rPr lang="en-US" altLang="ko-KR" sz="1600" spc="-5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앞 슬라이드에서 </a:t>
            </a:r>
            <a:r>
              <a:rPr lang="ko-KR" altLang="en-US" sz="1600" spc="-50" dirty="0" err="1"/>
              <a:t>단팥빵</a:t>
            </a:r>
            <a:r>
              <a:rPr lang="ko-KR" altLang="en-US" sz="1600" spc="-50" dirty="0"/>
              <a:t> 칼로리를</a:t>
            </a:r>
            <a:r>
              <a:rPr lang="en-US" altLang="ko-KR" sz="1600" spc="-50" dirty="0"/>
              <a:t> 265kcal</a:t>
            </a:r>
            <a:r>
              <a:rPr lang="ko-KR" altLang="en-US" sz="1600" spc="-50" dirty="0"/>
              <a:t>로 표현 안하고</a:t>
            </a:r>
            <a:r>
              <a:rPr lang="en-US" altLang="ko-KR" sz="1600" spc="-50" dirty="0"/>
              <a:t>, 0.265Mcal (</a:t>
            </a:r>
            <a:r>
              <a:rPr lang="ko-KR" altLang="en-US" sz="1600" spc="-50" dirty="0" err="1"/>
              <a:t>메가칼로리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라고 표현할 수도 있다</a:t>
            </a:r>
            <a:r>
              <a:rPr lang="en-US" altLang="ko-KR" sz="1600" spc="-50" dirty="0"/>
              <a:t>.</a:t>
            </a:r>
          </a:p>
          <a:p>
            <a:pPr marL="92075">
              <a:lnSpc>
                <a:spcPct val="150000"/>
              </a:lnSpc>
            </a:pPr>
            <a:r>
              <a:rPr lang="en-US" altLang="ko-KR" sz="1600" spc="-50" dirty="0"/>
              <a:t>※  </a:t>
            </a:r>
            <a:r>
              <a:rPr lang="ko-KR" altLang="en-US" sz="1600" spc="-50" dirty="0"/>
              <a:t>이런 식으로 읽어도 틀린 말은 아니지만 보통 일상생활에서는 상대방이 알아듣기 쉽게 적절한 단위를 쓰며 생활하자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7039E972-0D3D-2DAA-CAEB-C7C3ABFCC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115" y="2158283"/>
            <a:ext cx="4339358" cy="769513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B17D570E-DFCE-B125-7566-3F3CB9847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9805039"/>
              </p:ext>
            </p:extLst>
          </p:nvPr>
        </p:nvGraphicFramePr>
        <p:xfrm>
          <a:off x="917945" y="3330261"/>
          <a:ext cx="6156757" cy="148567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539189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539189">
                  <a:extLst>
                    <a:ext uri="{9D8B030D-6E8A-4147-A177-3AD203B41FA5}">
                      <a16:colId xmlns:a16="http://schemas.microsoft.com/office/drawing/2014/main" val="3036950207"/>
                    </a:ext>
                  </a:extLst>
                </a:gridCol>
                <a:gridCol w="1539190">
                  <a:extLst>
                    <a:ext uri="{9D8B030D-6E8A-4147-A177-3AD203B41FA5}">
                      <a16:colId xmlns:a16="http://schemas.microsoft.com/office/drawing/2014/main" val="2699398209"/>
                    </a:ext>
                  </a:extLst>
                </a:gridCol>
                <a:gridCol w="1539189">
                  <a:extLst>
                    <a:ext uri="{9D8B030D-6E8A-4147-A177-3AD203B41FA5}">
                      <a16:colId xmlns:a16="http://schemas.microsoft.com/office/drawing/2014/main" val="65536541"/>
                    </a:ext>
                  </a:extLst>
                </a:gridCol>
              </a:tblGrid>
              <a:tr h="1586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기호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10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 거듭제곱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십진법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킬로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en-US" altLang="ko-KR" sz="1300" b="0" kern="0" spc="0" baseline="30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1,000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메가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en-US" altLang="ko-KR" sz="1300" b="0" kern="0" spc="0" baseline="30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1,000,000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73522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기가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en-US" altLang="ko-KR" sz="1300" b="0" kern="0" spc="0" baseline="30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1,000,000,000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5595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테라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en-US" altLang="ko-KR" sz="1300" b="0" kern="0" spc="0" baseline="30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1,000,000,000,000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922772"/>
                  </a:ext>
                </a:extLst>
              </a:tr>
              <a:tr h="0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···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계속해서 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1,000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배씩 나가며 현재 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en-US" altLang="ko-KR" sz="1300" b="0" kern="0" spc="0" baseline="30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r>
                        <a:rPr lang="en-US" altLang="ko-KR" sz="1300" b="0" kern="0" spc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1300" b="0" kern="0" spc="0" baseline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퀘타</a:t>
                      </a:r>
                      <a:r>
                        <a:rPr lang="en-US" altLang="ko-KR" sz="1300" b="0" kern="0" spc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300" b="0" kern="0" spc="0" baseline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quetta</a:t>
                      </a:r>
                      <a:r>
                        <a:rPr lang="en-US" altLang="ko-KR" sz="1300" b="0" kern="0" spc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Q)</a:t>
                      </a:r>
                      <a:r>
                        <a:rPr lang="ko-KR" altLang="en-US" sz="1300" b="0" kern="0" spc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까지 정의되어 있음</a:t>
                      </a:r>
                      <a:endParaRPr lang="en-US" altLang="ko-KR" sz="1300" b="0" kern="0" spc="0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11468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B963A-678D-D82F-8C01-1FF58B09B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175F0B-7030-737A-835F-F1391F91E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자가용 </a:t>
            </a:r>
            <a:r>
              <a:rPr lang="ko-KR" altLang="en-US" dirty="0" err="1"/>
              <a:t>이용시</a:t>
            </a:r>
            <a:r>
              <a:rPr lang="ko-KR" altLang="en-US" dirty="0"/>
              <a:t> 탄소배출량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FC1411-20E8-1633-E5A9-27C3880E8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EDE803-9C99-33DA-A5EC-5045E8177FDD}"/>
              </a:ext>
            </a:extLst>
          </p:cNvPr>
          <p:cNvSpPr txBox="1"/>
          <p:nvPr/>
        </p:nvSpPr>
        <p:spPr>
          <a:xfrm>
            <a:off x="288790" y="958844"/>
            <a:ext cx="7178810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u="sng" dirty="0">
                <a:ln w="3175">
                  <a:noFill/>
                </a:ln>
                <a:latin typeface="+mn-ea"/>
              </a:rPr>
              <a:t>배출계수란</a:t>
            </a:r>
            <a:r>
              <a:rPr lang="en-US" altLang="ko-KR" sz="1600" b="1" u="sng" dirty="0">
                <a:ln w="3175">
                  <a:noFill/>
                </a:ln>
                <a:latin typeface="+mn-ea"/>
              </a:rPr>
              <a:t>?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화석에너지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석유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석탄 등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를 연소할 때 나오는 탄소의 양이다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화석에너지는 원래 탄소를 함유하고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오른쪽 표를 보면 에너지 종류별로 탄소 함유량이 다른 것을 볼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참고로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우리가 신재생에너지라고 부르는 태양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바람에너지는 배출계수가 </a:t>
            </a:r>
            <a:r>
              <a:rPr lang="en-US" altLang="ko-KR" sz="1600" spc="-50" dirty="0"/>
              <a:t>0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빛과 바람은 탄소를 함유하고 있지 않기 때문이다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오른쪽 표에 보면 휘발유의 배출계수는 </a:t>
            </a:r>
            <a:r>
              <a:rPr lang="en-US" altLang="ko-KR" sz="1600" spc="-50" dirty="0"/>
              <a:t>0.000019731 </a:t>
            </a:r>
            <a:r>
              <a:rPr lang="en-US" altLang="ko-KR" sz="1600" spc="-50" dirty="0" err="1"/>
              <a:t>tC</a:t>
            </a:r>
            <a:r>
              <a:rPr lang="en-US" altLang="ko-KR" sz="1600" spc="-50" dirty="0"/>
              <a:t>/MJ 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 err="1"/>
              <a:t>tC</a:t>
            </a:r>
            <a:r>
              <a:rPr lang="ko-KR" altLang="en-US" sz="1600" spc="-50" dirty="0"/>
              <a:t>는 </a:t>
            </a:r>
            <a:r>
              <a:rPr lang="en-US" altLang="ko-KR" sz="1600" b="1" spc="-50" dirty="0" err="1"/>
              <a:t>t</a:t>
            </a:r>
            <a:r>
              <a:rPr lang="en-US" altLang="ko-KR" sz="1600" spc="-50" dirty="0" err="1"/>
              <a:t>onne</a:t>
            </a:r>
            <a:r>
              <a:rPr lang="en-US" altLang="ko-KR" sz="1600" spc="-50" dirty="0"/>
              <a:t> of </a:t>
            </a:r>
            <a:r>
              <a:rPr lang="en-US" altLang="ko-KR" sz="1600" b="1" spc="-50" dirty="0"/>
              <a:t>C</a:t>
            </a:r>
            <a:r>
              <a:rPr lang="en-US" altLang="ko-KR" sz="1600" spc="-50" dirty="0"/>
              <a:t>arbon</a:t>
            </a:r>
            <a:r>
              <a:rPr lang="ko-KR" altLang="en-US" sz="1600" spc="-50" dirty="0"/>
              <a:t>의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약자 이다</a:t>
            </a:r>
            <a:r>
              <a:rPr lang="en-US" altLang="ko-KR" sz="1600" spc="-50" dirty="0"/>
              <a:t>.</a:t>
            </a:r>
            <a:r>
              <a:rPr lang="ko-KR" altLang="en-US" sz="1600" spc="-50" dirty="0"/>
              <a:t> 무게를 측정하는 단위다</a:t>
            </a:r>
            <a:r>
              <a:rPr lang="en-US" altLang="ko-KR" sz="1600" spc="-50" dirty="0"/>
              <a:t>. </a:t>
            </a:r>
          </a:p>
          <a:p>
            <a:pPr marL="549275" lvl="1">
              <a:lnSpc>
                <a:spcPct val="150000"/>
              </a:lnSpc>
            </a:pPr>
            <a:r>
              <a:rPr lang="en-US" altLang="ko-KR" sz="1600" spc="-50" dirty="0"/>
              <a:t>    ※  </a:t>
            </a:r>
            <a:r>
              <a:rPr lang="ko-KR" altLang="en-US" sz="1600" spc="-50" dirty="0"/>
              <a:t>말그대로 탄소를 </a:t>
            </a:r>
            <a:r>
              <a:rPr lang="en-US" altLang="ko-KR" sz="1600" spc="-50" dirty="0"/>
              <a:t>1tC</a:t>
            </a:r>
            <a:r>
              <a:rPr lang="ko-KR" altLang="en-US" sz="1600" spc="-50" dirty="0"/>
              <a:t> 만큼을 체중계에 올려두면 </a:t>
            </a:r>
            <a:r>
              <a:rPr lang="en-US" altLang="ko-KR" sz="1600" spc="-50" dirty="0"/>
              <a:t>1,000kg</a:t>
            </a:r>
            <a:r>
              <a:rPr lang="ko-KR" altLang="en-US" sz="1600" spc="-50" dirty="0"/>
              <a:t>이 나온다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휘발유를 </a:t>
            </a:r>
            <a:r>
              <a:rPr lang="en-US" altLang="ko-KR" sz="1600" spc="-50" dirty="0"/>
              <a:t>1MJ </a:t>
            </a:r>
            <a:r>
              <a:rPr lang="ko-KR" altLang="en-US" sz="1600" spc="-50" dirty="0"/>
              <a:t>만큼 연소를 하면</a:t>
            </a:r>
            <a:r>
              <a:rPr lang="en-US" altLang="ko-KR" sz="1600" spc="-50" dirty="0"/>
              <a:t>, 0.000019731 </a:t>
            </a:r>
            <a:r>
              <a:rPr lang="en-US" altLang="ko-KR" sz="1600" spc="-50" dirty="0" err="1"/>
              <a:t>tC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만큼의 탄소가 배출 된다는 의미다</a:t>
            </a:r>
            <a:r>
              <a:rPr lang="en-US" altLang="ko-KR" sz="1600" spc="-50" dirty="0"/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2CEAB1-9E78-8444-4BD2-D15A06552C7D}"/>
              </a:ext>
            </a:extLst>
          </p:cNvPr>
          <p:cNvSpPr txBox="1"/>
          <p:nvPr/>
        </p:nvSpPr>
        <p:spPr>
          <a:xfrm>
            <a:off x="8649508" y="4682067"/>
            <a:ext cx="32908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/>
              <a:t>https://tips.energy.or.kr/carbon/Ggas_tatistics03.do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CD830B6-A8EC-4DC9-3AF6-A9AF142B8E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040" t="2754" b="31939"/>
          <a:stretch>
            <a:fillRect/>
          </a:stretch>
        </p:blipFill>
        <p:spPr>
          <a:xfrm>
            <a:off x="7607299" y="1219200"/>
            <a:ext cx="4193397" cy="346286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E217310-7E9D-D075-8FD8-D65DF1E838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5" r="63751" b="97246"/>
          <a:stretch>
            <a:fillRect/>
          </a:stretch>
        </p:blipFill>
        <p:spPr>
          <a:xfrm>
            <a:off x="7607299" y="1073149"/>
            <a:ext cx="1741489" cy="146051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B4B07C05-E828-91A8-3CF4-28D7524AA0B2}"/>
              </a:ext>
            </a:extLst>
          </p:cNvPr>
          <p:cNvSpPr/>
          <p:nvPr/>
        </p:nvSpPr>
        <p:spPr>
          <a:xfrm>
            <a:off x="5344732" y="3975278"/>
            <a:ext cx="613893" cy="326265"/>
          </a:xfrm>
          <a:prstGeom prst="rect">
            <a:avLst/>
          </a:prstGeom>
          <a:solidFill>
            <a:srgbClr val="FFFF00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089BE18-DC5C-EBD4-78ED-DCCDCFFCF6F6}"/>
              </a:ext>
            </a:extLst>
          </p:cNvPr>
          <p:cNvSpPr/>
          <p:nvPr/>
        </p:nvSpPr>
        <p:spPr>
          <a:xfrm>
            <a:off x="11161690" y="3943082"/>
            <a:ext cx="274749" cy="186744"/>
          </a:xfrm>
          <a:prstGeom prst="rect">
            <a:avLst/>
          </a:prstGeom>
          <a:solidFill>
            <a:srgbClr val="FFFF00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EAEB1B6C-18AF-CDC8-1EE1-6CB4CFC5096C}"/>
              </a:ext>
            </a:extLst>
          </p:cNvPr>
          <p:cNvCxnSpPr>
            <a:cxnSpLocks/>
            <a:stCxn id="8" idx="1"/>
          </p:cNvCxnSpPr>
          <p:nvPr/>
        </p:nvCxnSpPr>
        <p:spPr>
          <a:xfrm rot="10800000" flipV="1">
            <a:off x="5954334" y="4036453"/>
            <a:ext cx="5207356" cy="101953"/>
          </a:xfrm>
          <a:prstGeom prst="bentConnector3">
            <a:avLst>
              <a:gd name="adj1" fmla="val 27000"/>
            </a:avLst>
          </a:prstGeom>
          <a:ln w="9525"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F636D10-1B86-9673-FF4C-0EE10E49653D}"/>
              </a:ext>
            </a:extLst>
          </p:cNvPr>
          <p:cNvSpPr/>
          <p:nvPr/>
        </p:nvSpPr>
        <p:spPr>
          <a:xfrm>
            <a:off x="10121272" y="1687966"/>
            <a:ext cx="366424" cy="186744"/>
          </a:xfrm>
          <a:prstGeom prst="rect">
            <a:avLst/>
          </a:prstGeom>
          <a:solidFill>
            <a:srgbClr val="FFFF00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1FE5ABF1-50A0-4EA4-C832-93E837852220}"/>
              </a:ext>
            </a:extLst>
          </p:cNvPr>
          <p:cNvCxnSpPr>
            <a:cxnSpLocks/>
            <a:stCxn id="13" idx="1"/>
            <a:endCxn id="7" idx="3"/>
          </p:cNvCxnSpPr>
          <p:nvPr/>
        </p:nvCxnSpPr>
        <p:spPr>
          <a:xfrm rot="10800000" flipV="1">
            <a:off x="5958626" y="1781337"/>
            <a:ext cx="4162647" cy="2357073"/>
          </a:xfrm>
          <a:prstGeom prst="bentConnector3">
            <a:avLst>
              <a:gd name="adj1" fmla="val 8851"/>
            </a:avLst>
          </a:prstGeom>
          <a:ln w="9525"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EF5ED3B-0B8F-19E4-C0E7-B7C36218F09D}"/>
              </a:ext>
            </a:extLst>
          </p:cNvPr>
          <p:cNvSpPr/>
          <p:nvPr/>
        </p:nvSpPr>
        <p:spPr>
          <a:xfrm>
            <a:off x="8558012" y="4997359"/>
            <a:ext cx="2346684" cy="680435"/>
          </a:xfrm>
          <a:prstGeom prst="rect">
            <a:avLst/>
          </a:prstGeom>
          <a:solidFill>
            <a:srgbClr val="FFFF00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accent2">
                    <a:lumMod val="75000"/>
                  </a:schemeClr>
                </a:solidFill>
              </a:rPr>
              <a:t>SI </a:t>
            </a:r>
            <a:r>
              <a:rPr lang="ko-KR" altLang="en-US" dirty="0" err="1">
                <a:solidFill>
                  <a:schemeClr val="accent2">
                    <a:lumMod val="75000"/>
                  </a:schemeClr>
                </a:solidFill>
              </a:rPr>
              <a:t>접두어를</a:t>
            </a:r>
            <a:r>
              <a:rPr lang="ko-KR" altLang="en-US" dirty="0">
                <a:solidFill>
                  <a:schemeClr val="accent2">
                    <a:lumMod val="75000"/>
                  </a:schemeClr>
                </a:solidFill>
              </a:rPr>
              <a:t> 활용한 단위 변환</a:t>
            </a:r>
            <a:r>
              <a:rPr lang="en-US" altLang="ko-KR" dirty="0">
                <a:solidFill>
                  <a:schemeClr val="accent2">
                    <a:lumMod val="75000"/>
                  </a:schemeClr>
                </a:solidFill>
              </a:rPr>
              <a:t>!</a:t>
            </a:r>
            <a:endParaRPr lang="ko-KR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043B512-CD3F-377C-C7C7-D6C6CD210DC0}"/>
              </a:ext>
            </a:extLst>
          </p:cNvPr>
          <p:cNvSpPr txBox="1"/>
          <p:nvPr/>
        </p:nvSpPr>
        <p:spPr>
          <a:xfrm>
            <a:off x="7651365" y="5677794"/>
            <a:ext cx="41626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spc="-50" dirty="0"/>
              <a:t> ※ 19.731 </a:t>
            </a:r>
            <a:r>
              <a:rPr lang="en-US" altLang="ko-KR" sz="1600" spc="-50" dirty="0" err="1"/>
              <a:t>tC</a:t>
            </a:r>
            <a:r>
              <a:rPr lang="en-US" altLang="ko-KR" sz="1600" spc="-50" dirty="0"/>
              <a:t>/TJ </a:t>
            </a:r>
            <a:r>
              <a:rPr lang="ko-KR" altLang="en-US" sz="1600" spc="-50" dirty="0"/>
              <a:t>라는 깔끔한 숫자를 굳이 </a:t>
            </a:r>
            <a:r>
              <a:rPr lang="en-US" altLang="ko-KR" sz="1600" spc="-50" dirty="0"/>
              <a:t>SI</a:t>
            </a:r>
            <a:r>
              <a:rPr lang="ko-KR" altLang="en-US" sz="1600" spc="-50" dirty="0" err="1"/>
              <a:t>접두어를</a:t>
            </a:r>
            <a:r>
              <a:rPr lang="ko-KR" altLang="en-US" sz="1600" spc="-50" dirty="0"/>
              <a:t> 활용하여 </a:t>
            </a:r>
            <a:r>
              <a:rPr lang="en-US" altLang="ko-KR" sz="1600" spc="-50" dirty="0" err="1"/>
              <a:t>tC</a:t>
            </a:r>
            <a:r>
              <a:rPr lang="en-US" altLang="ko-KR" sz="1600" spc="-50" dirty="0"/>
              <a:t>/MJ </a:t>
            </a:r>
            <a:r>
              <a:rPr lang="ko-KR" altLang="en-US" sz="1600" spc="-50" dirty="0"/>
              <a:t>로 바뀐 이유는 슬라이드 </a:t>
            </a:r>
            <a:r>
              <a:rPr lang="en-US" altLang="ko-KR" sz="1600" spc="-50" dirty="0"/>
              <a:t>11</a:t>
            </a:r>
            <a:r>
              <a:rPr lang="ko-KR" altLang="en-US" sz="1600" spc="-50" dirty="0"/>
              <a:t>에서 봤듯이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약분을 하기 위함이다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176815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1BE09-0688-964A-B00B-E019F6B3C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6FD30D-DA2B-43D7-460A-65EB32746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자가용 </a:t>
            </a:r>
            <a:r>
              <a:rPr lang="ko-KR" altLang="en-US" dirty="0" err="1"/>
              <a:t>이용시</a:t>
            </a:r>
            <a:r>
              <a:rPr lang="ko-KR" altLang="en-US" dirty="0"/>
              <a:t> 탄소배출량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C3BBA8-2062-12EA-5B46-B732DC929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15</a:t>
            </a:fld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6A9B549-E92E-6BA8-0EB3-CE3A147EEAB1}"/>
                  </a:ext>
                </a:extLst>
              </p:cNvPr>
              <p:cNvSpPr txBox="1"/>
              <p:nvPr/>
            </p:nvSpPr>
            <p:spPr>
              <a:xfrm>
                <a:off x="288790" y="958844"/>
                <a:ext cx="10512560" cy="226068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탄소배출량 계산을 위한 첫번째 항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소비량을 계산해보자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아래의 식을 통해 해운대까지 휘발유 몇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리터</a:t>
                </a:r>
                <a:r>
                  <a:rPr lang="en-US" altLang="ko-KR" sz="1600" spc="-50" dirty="0"/>
                  <a:t>(liter)</a:t>
                </a:r>
                <a:r>
                  <a:rPr lang="ko-KR" altLang="en-US" sz="1600" spc="-50" dirty="0"/>
                  <a:t>를 사용하게 될지 계산할 수 있다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해운대 까지 총 </a:t>
                </a:r>
                <a:r>
                  <a:rPr lang="en-US" altLang="ko-KR" sz="1600" spc="-50" dirty="0"/>
                  <a:t>258km </a:t>
                </a:r>
                <a:r>
                  <a:rPr lang="ko-KR" altLang="en-US" sz="1600" spc="-50" dirty="0"/>
                  <a:t>였고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내 차량의 연비는 </a:t>
                </a:r>
                <a:r>
                  <a:rPr lang="en-US" altLang="ko-KR" sz="1600" spc="-50" dirty="0"/>
                  <a:t>15.0km/liter </a:t>
                </a:r>
                <a:r>
                  <a:rPr lang="ko-KR" altLang="en-US" sz="1600" spc="-50" dirty="0"/>
                  <a:t>였다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따라서 해운대 까지 필요한 휘발유의 양은 </a:t>
                </a:r>
                <a:r>
                  <a:rPr lang="en-US" altLang="ko-KR" sz="1600" spc="-50" dirty="0"/>
                  <a:t>17.2</a:t>
                </a:r>
                <a:r>
                  <a:rPr lang="ko-KR" altLang="en-US" sz="1600" spc="-50" dirty="0"/>
                  <a:t> </a:t>
                </a:r>
                <a:r>
                  <a:rPr lang="en-US" altLang="ko-KR" sz="1600" spc="-50" dirty="0"/>
                  <a:t>liter</a:t>
                </a:r>
                <a:r>
                  <a:rPr lang="ko-KR" altLang="en-US" sz="1600" spc="-50" dirty="0"/>
                  <a:t> 이다</a:t>
                </a:r>
                <a:r>
                  <a:rPr lang="en-US" altLang="ko-KR" sz="1600" spc="-50" dirty="0"/>
                  <a:t>. (258/15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altLang="ko-KR" sz="1600" spc="-50" dirty="0"/>
                  <a:t> 18.9)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6A9B549-E92E-6BA8-0EB3-CE3A147EEA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958844"/>
                <a:ext cx="10512560" cy="2260683"/>
              </a:xfrm>
              <a:prstGeom prst="rect">
                <a:avLst/>
              </a:prstGeom>
              <a:blipFill>
                <a:blip r:embed="rId2"/>
                <a:stretch>
                  <a:fillRect b="-24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3210BFA-5DE1-F6F9-7454-7336982D14F8}"/>
                  </a:ext>
                </a:extLst>
              </p:cNvPr>
              <p:cNvSpPr txBox="1"/>
              <p:nvPr/>
            </p:nvSpPr>
            <p:spPr>
              <a:xfrm>
                <a:off x="1646775" y="1865171"/>
                <a:ext cx="5948752" cy="3747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소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비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량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𝑙𝑖𝑡𝑒𝑟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주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행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거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리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𝑘𝑚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연</m:t>
                          </m:r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비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𝑙𝑖𝑡𝑒𝑟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𝑘𝑚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3210BFA-5DE1-F6F9-7454-7336982D14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6775" y="1865171"/>
                <a:ext cx="5948752" cy="374783"/>
              </a:xfrm>
              <a:prstGeom prst="rect">
                <a:avLst/>
              </a:prstGeom>
              <a:blipFill>
                <a:blip r:embed="rId3"/>
                <a:stretch>
                  <a:fillRect t="-157377" r="-1947" b="-2377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35293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60025-27CC-8526-6F09-0221CE2A4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7E4F58-20B2-28F3-A4FB-596D258A6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자가용 </a:t>
            </a:r>
            <a:r>
              <a:rPr lang="ko-KR" altLang="en-US" dirty="0" err="1"/>
              <a:t>이용시</a:t>
            </a:r>
            <a:r>
              <a:rPr lang="ko-KR" altLang="en-US" dirty="0"/>
              <a:t> 탄소배출량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3AAA7B-8D92-B26F-62E9-34105BAD8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16</a:t>
            </a:fld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892F93-BEB0-4B77-B46D-424C9360BE18}"/>
                  </a:ext>
                </a:extLst>
              </p:cNvPr>
              <p:cNvSpPr txBox="1"/>
              <p:nvPr/>
            </p:nvSpPr>
            <p:spPr>
              <a:xfrm>
                <a:off x="288789" y="958844"/>
                <a:ext cx="10430211" cy="447667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자가용 </a:t>
                </a:r>
                <a:r>
                  <a:rPr lang="ko-KR" altLang="en-US" sz="1600" spc="-50" dirty="0" err="1"/>
                  <a:t>이용시</a:t>
                </a:r>
                <a:r>
                  <a:rPr lang="ko-KR" altLang="en-US" sz="1600" spc="-50" dirty="0"/>
                  <a:t> 나오는 탄소배출량을 계산하기 위한 </a:t>
                </a:r>
                <a:r>
                  <a:rPr lang="en-US" altLang="ko-KR" sz="1600" spc="-50" dirty="0"/>
                  <a:t>3</a:t>
                </a:r>
                <a:r>
                  <a:rPr lang="ko-KR" altLang="en-US" sz="1600" spc="-50" dirty="0"/>
                  <a:t>가지 항목을 다 찾아보았다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휘발유 소비량</a:t>
                </a:r>
                <a:r>
                  <a:rPr lang="en-US" altLang="ko-KR" sz="1600" spc="-50" dirty="0"/>
                  <a:t>: 17.2 liter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휘발유 발열량</a:t>
                </a:r>
                <a:r>
                  <a:rPr lang="en-US" altLang="ko-KR" sz="1600" spc="-50" dirty="0"/>
                  <a:t>: 32.4 MJ/liter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휘발유 배출계수</a:t>
                </a:r>
                <a:r>
                  <a:rPr lang="en-US" altLang="ko-KR" sz="1600" spc="-50" dirty="0"/>
                  <a:t>: 0.000019731 </a:t>
                </a:r>
                <a:r>
                  <a:rPr lang="en-US" altLang="ko-KR" sz="1600" spc="-50" dirty="0" err="1"/>
                  <a:t>tC</a:t>
                </a:r>
                <a:r>
                  <a:rPr lang="en-US" altLang="ko-KR" sz="1600" spc="-50" dirty="0"/>
                  <a:t>/MJ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17.2 x 32.4 x 0.000019731 </a:t>
                </a:r>
                <a14:m>
                  <m:oMath xmlns:m="http://schemas.openxmlformats.org/officeDocument/2006/math">
                    <m:r>
                      <a:rPr lang="en-US" altLang="ko-KR" sz="1600" i="1" spc="-5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altLang="ko-KR" sz="1600" spc="-50" dirty="0"/>
                  <a:t> 0.011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따라서 우리가 아반떼를 타고 해운대까지 주행하는데 총 </a:t>
                </a:r>
                <a:r>
                  <a:rPr lang="en-US" altLang="ko-KR" sz="1600" spc="-50" dirty="0"/>
                  <a:t>0.011</a:t>
                </a:r>
                <a:r>
                  <a:rPr lang="ko-KR" altLang="en-US" sz="1600" spc="-50" dirty="0"/>
                  <a:t>톤의 탄소</a:t>
                </a:r>
                <a:r>
                  <a:rPr lang="en-US" altLang="ko-KR" sz="1600" spc="-50" dirty="0"/>
                  <a:t>(</a:t>
                </a:r>
                <a:r>
                  <a:rPr lang="en-US" altLang="ko-KR" sz="1600" spc="-50" dirty="0" err="1"/>
                  <a:t>tC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를 배출하게 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12kg (0.011</a:t>
                </a:r>
                <a:r>
                  <a:rPr lang="ko-KR" altLang="en-US" sz="1600" spc="-50" dirty="0"/>
                  <a:t>톤과 같다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의 탄소들은 대기로 날아가 흩어져서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온실가스 효과를 만들어낸다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지구는 매일 태양으로부터 열을 받아서 뜨거워지는 동시에 지구는 스스로 열을 방출을 하고 있다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대기에 머무르고 있는 탄소는 지구가 방출하는 열을 대기 밖으로 </a:t>
                </a:r>
                <a:r>
                  <a:rPr lang="ko-KR" altLang="en-US" sz="1600" spc="-50" dirty="0" err="1"/>
                  <a:t>못나가게끔</a:t>
                </a:r>
                <a:r>
                  <a:rPr lang="ko-KR" altLang="en-US" sz="1600" spc="-50" dirty="0"/>
                  <a:t> 그 모든 열을 흡수해버리는 성질이 있다</a:t>
                </a:r>
                <a:r>
                  <a:rPr lang="en-US" altLang="ko-KR" sz="1600" spc="-50" dirty="0"/>
                  <a:t>. 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그 결과 지구는 계속 뜨거워지고 있다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892F93-BEB0-4B77-B46D-424C9360BE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89" y="958844"/>
                <a:ext cx="10430211" cy="4476675"/>
              </a:xfrm>
              <a:prstGeom prst="rect">
                <a:avLst/>
              </a:prstGeom>
              <a:blipFill>
                <a:blip r:embed="rId2"/>
                <a:stretch>
                  <a:fillRect b="-68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97219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1E167-B445-A888-3401-FAAA3842A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4C1C075-A6B6-6137-72EF-53A8B6FD21D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BE7618-A2A2-4921-F918-59258ABB8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59A5E32-4DC6-2AF0-CEFF-B25A1CDF5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2-1. </a:t>
            </a:r>
            <a:r>
              <a:rPr lang="ko-KR" altLang="en-US" sz="4000" b="1" i="0" spc="150" dirty="0"/>
              <a:t>대중교통 </a:t>
            </a:r>
            <a:r>
              <a:rPr lang="en-US" altLang="ko-KR" sz="4000" b="1" i="0" spc="150" dirty="0"/>
              <a:t>(</a:t>
            </a:r>
            <a:r>
              <a:rPr lang="ko-KR" altLang="en-US" sz="4000" b="1" i="0" spc="150" dirty="0"/>
              <a:t>비용</a:t>
            </a:r>
            <a:r>
              <a:rPr lang="en-US" altLang="ko-KR" sz="4000" b="1" i="0" spc="150" dirty="0"/>
              <a:t>)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12797673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D5620-9D09-0967-D4B1-3701ED1E8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86858D-38EB-C48E-7174-A5CFDA3D7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대중교통을 이용할 때 드는 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775ED0-E006-131F-6624-D540ACB84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2F8E90-ED2B-2622-DE3A-AD7944097063}"/>
              </a:ext>
            </a:extLst>
          </p:cNvPr>
          <p:cNvSpPr txBox="1"/>
          <p:nvPr/>
        </p:nvSpPr>
        <p:spPr>
          <a:xfrm>
            <a:off x="288790" y="958844"/>
            <a:ext cx="10910513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기차를 이용하는 데 들어가는 비용은 간단하다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첫 번째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대전역에서 부산역까지 기차표를 구입해야 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SRT, KTX, ITX, </a:t>
            </a:r>
            <a:r>
              <a:rPr lang="ko-KR" altLang="en-US" sz="1600" spc="-50" dirty="0"/>
              <a:t>무궁화 </a:t>
            </a:r>
            <a:r>
              <a:rPr lang="en-US" altLang="ko-KR" sz="1600" spc="-50" dirty="0"/>
              <a:t>4</a:t>
            </a:r>
            <a:r>
              <a:rPr lang="ko-KR" altLang="en-US" sz="1600" spc="-50" dirty="0"/>
              <a:t>종류가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빠를 수록 운임요금이 비싸며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우리는 배차가 가장 많은 </a:t>
            </a:r>
            <a:r>
              <a:rPr lang="en-US" altLang="ko-KR" sz="1600" spc="-50" dirty="0"/>
              <a:t>KTX</a:t>
            </a:r>
            <a:r>
              <a:rPr lang="ko-KR" altLang="en-US" sz="1600" spc="-50" dirty="0"/>
              <a:t>를 타고 간다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아래에서 보듯이 </a:t>
            </a:r>
            <a:r>
              <a:rPr lang="en-US" altLang="ko-KR" sz="1600" spc="-50" dirty="0"/>
              <a:t>KTX</a:t>
            </a:r>
            <a:r>
              <a:rPr lang="ko-KR" altLang="en-US" sz="1600" spc="-50" dirty="0"/>
              <a:t>는</a:t>
            </a:r>
            <a:r>
              <a:rPr lang="en-US" altLang="ko-KR" sz="1600" spc="-50" dirty="0"/>
              <a:t> 1</a:t>
            </a:r>
            <a:r>
              <a:rPr lang="ko-KR" altLang="en-US" sz="1600" spc="-50" dirty="0"/>
              <a:t>시간 </a:t>
            </a:r>
            <a:r>
              <a:rPr lang="en-US" altLang="ko-KR" sz="1600" spc="-50" dirty="0"/>
              <a:t>30</a:t>
            </a:r>
            <a:r>
              <a:rPr lang="ko-KR" altLang="en-US" sz="1600" spc="-50" dirty="0"/>
              <a:t>분이 걸리고</a:t>
            </a:r>
            <a:r>
              <a:rPr lang="en-US" altLang="ko-KR" sz="1600" spc="-50" dirty="0"/>
              <a:t>, 36,200</a:t>
            </a:r>
            <a:r>
              <a:rPr lang="ko-KR" altLang="en-US" sz="1600" spc="-50" dirty="0"/>
              <a:t>원 </a:t>
            </a:r>
            <a:r>
              <a:rPr lang="en-US" altLang="ko-KR" sz="1600" spc="-50" dirty="0"/>
              <a:t>(</a:t>
            </a:r>
            <a:r>
              <a:rPr lang="ko-KR" altLang="en-US" sz="1600" spc="-50" dirty="0" err="1"/>
              <a:t>일반실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어른기준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이 든다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6C8F7D1-966A-82F7-E5FD-7AB8D9D93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252" y="3776142"/>
            <a:ext cx="7379522" cy="190913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9FD9135-5422-7E68-49FE-4A86613BD9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0401" y="5456171"/>
            <a:ext cx="3498194" cy="1029221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452AAFC0-574D-82FE-E7B9-B1845D93E4C1}"/>
              </a:ext>
            </a:extLst>
          </p:cNvPr>
          <p:cNvSpPr/>
          <p:nvPr/>
        </p:nvSpPr>
        <p:spPr>
          <a:xfrm>
            <a:off x="5696755" y="5260049"/>
            <a:ext cx="613893" cy="326265"/>
          </a:xfrm>
          <a:prstGeom prst="rect">
            <a:avLst/>
          </a:prstGeom>
          <a:solidFill>
            <a:srgbClr val="FFFF00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258CF29F-C6CC-69DE-D094-66C13BA542FF}"/>
              </a:ext>
            </a:extLst>
          </p:cNvPr>
          <p:cNvCxnSpPr>
            <a:cxnSpLocks/>
            <a:stCxn id="8" idx="2"/>
            <a:endCxn id="6" idx="1"/>
          </p:cNvCxnSpPr>
          <p:nvPr/>
        </p:nvCxnSpPr>
        <p:spPr>
          <a:xfrm rot="16200000" flipH="1">
            <a:off x="6904817" y="4685198"/>
            <a:ext cx="384468" cy="218669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2DBAD3C-34BA-1CA5-D97B-15679A251323}"/>
              </a:ext>
            </a:extLst>
          </p:cNvPr>
          <p:cNvSpPr txBox="1"/>
          <p:nvPr/>
        </p:nvSpPr>
        <p:spPr>
          <a:xfrm>
            <a:off x="8306878" y="4867998"/>
            <a:ext cx="33388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spc="-50" dirty="0"/>
              <a:t>※ SRT </a:t>
            </a:r>
            <a:r>
              <a:rPr lang="ko-KR" altLang="en-US" sz="1200" spc="-50" dirty="0"/>
              <a:t>예매링크를 누르면</a:t>
            </a:r>
            <a:r>
              <a:rPr lang="en-US" altLang="ko-KR" sz="1200" spc="-50" dirty="0"/>
              <a:t>, SRT </a:t>
            </a:r>
            <a:r>
              <a:rPr lang="ko-KR" altLang="en-US" sz="1200" spc="-50" dirty="0"/>
              <a:t>홈페이지로 이동하고</a:t>
            </a:r>
            <a:r>
              <a:rPr lang="en-US" altLang="ko-KR" sz="1200" spc="-50" dirty="0"/>
              <a:t>, </a:t>
            </a:r>
            <a:r>
              <a:rPr lang="ko-KR" altLang="en-US" sz="1200" spc="-50" dirty="0"/>
              <a:t>가격은 아래와 같다</a:t>
            </a:r>
            <a:r>
              <a:rPr lang="en-US" altLang="ko-KR" sz="1200" spc="-50" dirty="0"/>
              <a:t>. (</a:t>
            </a:r>
            <a:r>
              <a:rPr lang="ko-KR" altLang="en-US" sz="1200" spc="-50" dirty="0"/>
              <a:t>단순 참고</a:t>
            </a:r>
            <a:r>
              <a:rPr lang="en-US" altLang="ko-KR" sz="1200" spc="-50" dirty="0"/>
              <a:t>)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2827586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B0EC8-82DD-283D-D5B7-C72C7941C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95B78EB-1F96-BF37-608F-3788E2387F2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523859-5A0A-74D8-8E0B-E7BA0C9B6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1903944-00F9-521B-2912-D6237ECFC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2-2. </a:t>
            </a:r>
            <a:r>
              <a:rPr lang="ko-KR" altLang="en-US" sz="4000" b="1" i="0" spc="150" dirty="0"/>
              <a:t>대중교통 </a:t>
            </a:r>
            <a:r>
              <a:rPr lang="en-US" altLang="ko-KR" sz="4000" b="1" i="0" spc="150" dirty="0"/>
              <a:t>(</a:t>
            </a:r>
            <a:r>
              <a:rPr lang="ko-KR" altLang="en-US" sz="4000" b="1" i="0" spc="150" dirty="0"/>
              <a:t>탄소배출</a:t>
            </a:r>
            <a:r>
              <a:rPr lang="en-US" altLang="ko-KR" sz="4000" b="1" i="0" spc="150" dirty="0"/>
              <a:t>)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10775779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FD39B-500A-F5DD-49DE-45EA05AAB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054B39-A61F-3F22-85AB-26DE4A2D9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KTX</a:t>
            </a:r>
            <a:r>
              <a:rPr lang="ko-KR" altLang="en-US" dirty="0"/>
              <a:t> </a:t>
            </a:r>
            <a:r>
              <a:rPr lang="ko-KR" altLang="en-US" dirty="0" err="1"/>
              <a:t>이용시</a:t>
            </a:r>
            <a:r>
              <a:rPr lang="ko-KR" altLang="en-US" dirty="0"/>
              <a:t> 탄소배출량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AC5B68-9113-722F-6E94-99F1D8179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6E9431-CE9E-A19A-EFD8-1E4444EDFFB9}"/>
              </a:ext>
            </a:extLst>
          </p:cNvPr>
          <p:cNvSpPr txBox="1"/>
          <p:nvPr/>
        </p:nvSpPr>
        <p:spPr>
          <a:xfrm>
            <a:off x="288790" y="958844"/>
            <a:ext cx="11045960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승용차의 탄소배출량을 계산한 것과 마찬가지로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기차와 버스의 </a:t>
            </a:r>
            <a:r>
              <a:rPr lang="ko-KR" altLang="en-US" sz="1600" spc="-50" dirty="0" err="1"/>
              <a:t>탄소배출량은도</a:t>
            </a:r>
            <a:r>
              <a:rPr lang="ko-KR" altLang="en-US" sz="1600" spc="-50" dirty="0"/>
              <a:t> 에너지 소비량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발열량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탄소배출계수를 곱해서 계산할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en-US" altLang="ko-KR" sz="1600" b="1" u="sng" dirty="0">
                <a:ln w="3175">
                  <a:noFill/>
                </a:ln>
                <a:latin typeface="+mn-ea"/>
              </a:rPr>
              <a:t>KTX</a:t>
            </a:r>
            <a:r>
              <a:rPr lang="ko-KR" altLang="en-US" sz="1600" b="1" u="sng" dirty="0">
                <a:ln w="3175">
                  <a:noFill/>
                </a:ln>
                <a:latin typeface="+mn-ea"/>
              </a:rPr>
              <a:t>는 어떻게 움직이나</a:t>
            </a:r>
            <a:r>
              <a:rPr lang="en-US" altLang="ko-KR" sz="1600" b="1" u="sng" dirty="0">
                <a:ln w="3175">
                  <a:noFill/>
                </a:ln>
                <a:latin typeface="+mn-ea"/>
              </a:rPr>
              <a:t>?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KTX</a:t>
            </a:r>
            <a:r>
              <a:rPr lang="ko-KR" altLang="en-US" sz="1600" spc="-50" dirty="0"/>
              <a:t>의 지붕에는 외부 전선이 항상 접촉되어 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전선을 통해 외부에서 전력을 공급받고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전력의 힘으로 모터를 굴리고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모터가 작동하면서 바퀴가 굴러가게 된다</a:t>
            </a:r>
            <a:r>
              <a:rPr lang="en-US" altLang="ko-KR" sz="1600" spc="-50" dirty="0"/>
              <a:t>.</a:t>
            </a:r>
            <a:r>
              <a:rPr lang="ko-KR" altLang="en-US" sz="1600" spc="-50" dirty="0"/>
              <a:t> 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b="1" u="sng" dirty="0">
                <a:ln w="3175">
                  <a:noFill/>
                </a:ln>
                <a:latin typeface="+mn-ea"/>
              </a:rPr>
              <a:t>전기 소비량은 휘발유처럼 </a:t>
            </a:r>
            <a:r>
              <a:rPr lang="en-US" altLang="ko-KR" sz="1600" b="1" u="sng" dirty="0">
                <a:ln w="3175">
                  <a:noFill/>
                </a:ln>
                <a:latin typeface="+mn-ea"/>
              </a:rPr>
              <a:t>liter</a:t>
            </a:r>
            <a:r>
              <a:rPr lang="ko-KR" altLang="en-US" sz="1600" b="1" u="sng" dirty="0">
                <a:ln w="3175">
                  <a:noFill/>
                </a:ln>
                <a:latin typeface="+mn-ea"/>
              </a:rPr>
              <a:t>를 </a:t>
            </a:r>
            <a:r>
              <a:rPr lang="ko-KR" altLang="en-US" sz="1600" b="1" u="sng" dirty="0" err="1">
                <a:ln w="3175">
                  <a:noFill/>
                </a:ln>
                <a:latin typeface="+mn-ea"/>
              </a:rPr>
              <a:t>안쓰고</a:t>
            </a:r>
            <a:r>
              <a:rPr lang="ko-KR" altLang="en-US" sz="1600" b="1" u="sng" dirty="0">
                <a:ln w="3175">
                  <a:noFill/>
                </a:ln>
                <a:latin typeface="+mn-ea"/>
              </a:rPr>
              <a:t> 왜 다른 단위</a:t>
            </a:r>
            <a:r>
              <a:rPr lang="en-US" altLang="ko-KR" sz="1600" b="1" u="sng" dirty="0">
                <a:ln w="3175">
                  <a:noFill/>
                </a:ln>
                <a:latin typeface="+mn-ea"/>
              </a:rPr>
              <a:t>(MWh)</a:t>
            </a:r>
            <a:r>
              <a:rPr lang="ko-KR" altLang="en-US" sz="1600" b="1" u="sng" dirty="0">
                <a:ln w="3175">
                  <a:noFill/>
                </a:ln>
                <a:latin typeface="+mn-ea"/>
              </a:rPr>
              <a:t>를 쓰나</a:t>
            </a:r>
            <a:r>
              <a:rPr lang="en-US" altLang="ko-KR" sz="1600" b="1" u="sng" dirty="0">
                <a:ln w="3175">
                  <a:noFill/>
                </a:ln>
                <a:latin typeface="+mn-ea"/>
              </a:rPr>
              <a:t>?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에너지형태에 따라 단위를 다르게 사용한다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단 아까 말한대로 단위 간 변환은 가능하다</a:t>
            </a:r>
            <a:r>
              <a:rPr lang="en-US" altLang="ko-KR" sz="1600" spc="-50" dirty="0"/>
              <a:t>.)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휘발유는 </a:t>
            </a:r>
            <a:r>
              <a:rPr lang="ko-KR" altLang="en-US" sz="1600" spc="-50" dirty="0" err="1"/>
              <a:t>액체니까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liter</a:t>
            </a:r>
            <a:r>
              <a:rPr lang="ko-KR" altLang="en-US" sz="1600" spc="-50" dirty="0"/>
              <a:t>로 고유단위를 표기하고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석탄은 </a:t>
            </a:r>
            <a:r>
              <a:rPr lang="ko-KR" altLang="en-US" sz="1600" spc="-50" dirty="0" err="1"/>
              <a:t>고체니까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kg</a:t>
            </a:r>
            <a:r>
              <a:rPr lang="ko-KR" altLang="en-US" sz="1600" spc="-50" dirty="0"/>
              <a:t>으로 고유단위를 표기한다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마찬가지로 전기는 전기의 형태이니까</a:t>
            </a:r>
            <a:r>
              <a:rPr lang="en-US" altLang="ko-KR" sz="1600" spc="-50" dirty="0"/>
              <a:t> </a:t>
            </a:r>
            <a:r>
              <a:rPr lang="en-US" altLang="ko-KR" sz="1600" spc="-50" dirty="0" err="1"/>
              <a:t>Wh</a:t>
            </a:r>
            <a:r>
              <a:rPr lang="ko-KR" altLang="en-US" sz="1600" spc="-50" dirty="0"/>
              <a:t>로 고유단위를 표기한다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b="1" spc="-50" dirty="0"/>
              <a:t>W</a:t>
            </a:r>
            <a:r>
              <a:rPr lang="en-US" altLang="ko-KR" sz="1600" spc="-50" dirty="0"/>
              <a:t>att</a:t>
            </a:r>
            <a:r>
              <a:rPr lang="en-US" altLang="ko-KR" sz="1600" b="1" spc="-50" dirty="0"/>
              <a:t>h</a:t>
            </a:r>
            <a:r>
              <a:rPr lang="en-US" altLang="ko-KR" sz="1600" spc="-50" dirty="0"/>
              <a:t>our</a:t>
            </a:r>
            <a:r>
              <a:rPr lang="ko-KR" altLang="en-US" sz="1600" spc="-50" dirty="0"/>
              <a:t>의 약자이다</a:t>
            </a:r>
            <a:r>
              <a:rPr lang="en-US" altLang="ko-KR" sz="1600" spc="-50" dirty="0"/>
              <a:t>. </a:t>
            </a:r>
            <a:r>
              <a:rPr lang="ko-KR" altLang="en-US" sz="1600" spc="-50" dirty="0" err="1"/>
              <a:t>와트아워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혹은 </a:t>
            </a:r>
            <a:r>
              <a:rPr lang="ko-KR" altLang="en-US" sz="1600" spc="-50" dirty="0" err="1"/>
              <a:t>와트시</a:t>
            </a:r>
            <a:r>
              <a:rPr lang="ko-KR" altLang="en-US" sz="1600" spc="-50" dirty="0"/>
              <a:t> 로 읽는다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1,000Wh = 1kWh,   1,000,000Wh = 1MWh     </a:t>
            </a:r>
            <a:r>
              <a:rPr lang="ko-KR" altLang="en-US" sz="1600" spc="-50" dirty="0"/>
              <a:t>아까 배웠듯이 단위가 커지면 </a:t>
            </a:r>
            <a:r>
              <a:rPr lang="en-US" altLang="ko-KR" sz="1600" spc="-50" dirty="0"/>
              <a:t>SI</a:t>
            </a:r>
            <a:r>
              <a:rPr lang="ko-KR" altLang="en-US" sz="1600" spc="-50" dirty="0"/>
              <a:t>단위계를 쓴다</a:t>
            </a:r>
            <a:r>
              <a:rPr lang="en-US" altLang="ko-KR" sz="1600" spc="-5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A8E7A3F-9DD8-E063-78F2-5F7521CF1F47}"/>
                  </a:ext>
                </a:extLst>
              </p:cNvPr>
              <p:cNvSpPr txBox="1"/>
              <p:nvPr/>
            </p:nvSpPr>
            <p:spPr>
              <a:xfrm>
                <a:off x="1953842" y="1890697"/>
                <a:ext cx="7844208" cy="44377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탄소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배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출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량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𝑡𝐶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소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비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량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𝑀𝑊h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발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열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량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𝑀𝐽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𝑀𝑊h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배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출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계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수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𝑡𝐶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𝑀𝐽</m:t>
                          </m:r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A8E7A3F-9DD8-E063-78F2-5F7521CF1F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3842" y="1890697"/>
                <a:ext cx="7844208" cy="443776"/>
              </a:xfrm>
              <a:prstGeom prst="rect">
                <a:avLst/>
              </a:prstGeom>
              <a:blipFill>
                <a:blip r:embed="rId2"/>
                <a:stretch>
                  <a:fillRect t="-124658" r="-4821" b="-1958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37542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644B0-DBF8-55D6-C845-A997EBC6D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2E86E6-0EE9-3E12-BB6E-2994E73D7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KTX</a:t>
            </a:r>
            <a:r>
              <a:rPr lang="ko-KR" altLang="en-US" dirty="0"/>
              <a:t> </a:t>
            </a:r>
            <a:r>
              <a:rPr lang="ko-KR" altLang="en-US" dirty="0" err="1"/>
              <a:t>이용시</a:t>
            </a:r>
            <a:r>
              <a:rPr lang="ko-KR" altLang="en-US" dirty="0"/>
              <a:t> 탄소배출량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C5D0A5-356B-F043-4AA7-F610F426D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44FA3B-0893-5F21-0F7D-3DB230541098}"/>
              </a:ext>
            </a:extLst>
          </p:cNvPr>
          <p:cNvSpPr txBox="1"/>
          <p:nvPr/>
        </p:nvSpPr>
        <p:spPr>
          <a:xfrm>
            <a:off x="288790" y="958844"/>
            <a:ext cx="11045960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u="sng" dirty="0">
                <a:ln w="3175">
                  <a:noFill/>
                </a:ln>
                <a:latin typeface="+mn-ea"/>
              </a:rPr>
              <a:t>전기의 발열량은</a:t>
            </a:r>
            <a:r>
              <a:rPr lang="en-US" altLang="ko-KR" sz="1600" b="1" u="sng" dirty="0">
                <a:ln w="3175">
                  <a:noFill/>
                </a:ln>
                <a:latin typeface="+mn-ea"/>
              </a:rPr>
              <a:t>?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1MWh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3600MJ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전기에너지 </a:t>
            </a:r>
            <a:r>
              <a:rPr lang="en-US" altLang="ko-KR" sz="1600" spc="-50" dirty="0"/>
              <a:t>1MWh</a:t>
            </a:r>
            <a:r>
              <a:rPr lang="ko-KR" altLang="en-US" sz="1600" spc="-50" dirty="0"/>
              <a:t>는 </a:t>
            </a:r>
            <a:r>
              <a:rPr lang="en-US" altLang="ko-KR" sz="1600" b="1" spc="-50" dirty="0"/>
              <a:t>3,600</a:t>
            </a:r>
            <a:r>
              <a:rPr lang="en-US" altLang="ko-KR" sz="1600" spc="-50" dirty="0"/>
              <a:t>MJ </a:t>
            </a:r>
            <a:r>
              <a:rPr lang="ko-KR" altLang="en-US" sz="1600" spc="-50" dirty="0"/>
              <a:t>만큼 열을 낼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b="1" u="sng" dirty="0">
                <a:ln w="3175">
                  <a:noFill/>
                </a:ln>
                <a:latin typeface="+mn-ea"/>
              </a:rPr>
              <a:t>전기도 탄소배출을 하나</a:t>
            </a:r>
            <a:r>
              <a:rPr lang="en-US" altLang="ko-KR" sz="1600" b="1" u="sng" dirty="0">
                <a:ln w="3175">
                  <a:noFill/>
                </a:ln>
                <a:latin typeface="+mn-ea"/>
              </a:rPr>
              <a:t>?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전기는 탄소를 갖고 있지 않으므로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탄소배출을 하지 않는다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다만 중요한 점은 </a:t>
            </a:r>
            <a:r>
              <a:rPr lang="ko-KR" altLang="en-US" sz="1600" b="1" spc="-50" dirty="0"/>
              <a:t>전기를 만들 때는 화석연료 </a:t>
            </a:r>
            <a:r>
              <a:rPr lang="en-US" altLang="ko-KR" sz="1600" b="1" spc="-50" dirty="0"/>
              <a:t>(</a:t>
            </a:r>
            <a:r>
              <a:rPr lang="ko-KR" altLang="en-US" sz="1600" b="1" spc="-50" dirty="0"/>
              <a:t>석탄</a:t>
            </a:r>
            <a:r>
              <a:rPr lang="en-US" altLang="ko-KR" sz="1600" b="1" spc="-50" dirty="0"/>
              <a:t>, </a:t>
            </a:r>
            <a:r>
              <a:rPr lang="ko-KR" altLang="en-US" sz="1600" b="1" spc="-50" dirty="0"/>
              <a:t>가스 등</a:t>
            </a:r>
            <a:r>
              <a:rPr lang="en-US" altLang="ko-KR" sz="1600" b="1" spc="-50" dirty="0"/>
              <a:t>)</a:t>
            </a:r>
            <a:r>
              <a:rPr lang="ko-KR" altLang="en-US" sz="1600" b="1" spc="-50" dirty="0"/>
              <a:t>를 사용</a:t>
            </a:r>
            <a:r>
              <a:rPr lang="ko-KR" altLang="en-US" sz="1600" spc="-50" dirty="0"/>
              <a:t>하기 때문에 탄소배출을 한다</a:t>
            </a:r>
            <a:r>
              <a:rPr lang="en-US" altLang="ko-KR" sz="1600" spc="-5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1600" b="1" u="sng" dirty="0">
              <a:ln w="3175">
                <a:noFill/>
              </a:ln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600" b="1" u="sng" dirty="0">
                <a:ln w="3175">
                  <a:noFill/>
                </a:ln>
                <a:latin typeface="+mn-ea"/>
              </a:rPr>
              <a:t>그럼 전기는 탄소배출계수가 </a:t>
            </a:r>
            <a:r>
              <a:rPr lang="ko-KR" altLang="en-US" sz="1600" b="1" u="sng" dirty="0" err="1">
                <a:ln w="3175">
                  <a:noFill/>
                </a:ln>
                <a:latin typeface="+mn-ea"/>
              </a:rPr>
              <a:t>없는건가</a:t>
            </a:r>
            <a:r>
              <a:rPr lang="en-US" altLang="ko-KR" sz="1600" b="1" u="sng" dirty="0">
                <a:ln w="3175">
                  <a:noFill/>
                </a:ln>
                <a:latin typeface="+mn-ea"/>
              </a:rPr>
              <a:t>?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전기의 탄소배출계수 </a:t>
            </a:r>
            <a:r>
              <a:rPr lang="en-US" altLang="ko-KR" sz="1600" spc="-50" dirty="0"/>
              <a:t> </a:t>
            </a:r>
            <a:r>
              <a:rPr lang="en-US" altLang="ko-KR" sz="1600" b="1" spc="-50" dirty="0"/>
              <a:t>0.000032</a:t>
            </a:r>
            <a:r>
              <a:rPr lang="en-US" altLang="ko-KR" sz="1600" spc="-50" dirty="0"/>
              <a:t> (</a:t>
            </a:r>
            <a:r>
              <a:rPr lang="en-US" altLang="ko-KR" sz="1600" spc="-50" dirty="0" err="1"/>
              <a:t>tC</a:t>
            </a:r>
            <a:r>
              <a:rPr lang="en-US" altLang="ko-KR" sz="1600" spc="-50" dirty="0"/>
              <a:t>/MJ) 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b="1" u="sng" dirty="0">
                <a:ln w="3175">
                  <a:noFill/>
                </a:ln>
                <a:latin typeface="+mn-ea"/>
              </a:rPr>
              <a:t>전기는 탄소배출을 안 하는데 어떻게 탄소배출계수가 계산 되어 있나</a:t>
            </a:r>
            <a:r>
              <a:rPr lang="en-US" altLang="ko-KR" sz="1600" b="1" u="sng" dirty="0">
                <a:ln w="3175">
                  <a:noFill/>
                </a:ln>
                <a:latin typeface="+mn-ea"/>
              </a:rPr>
              <a:t>?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전기를 만들 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화석연료를 연소해서 만들어지기 때문에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그때 나온 탄소배출량을 감안한 수치이다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즉 우리나라에서 전력 </a:t>
            </a:r>
            <a:r>
              <a:rPr lang="en-US" altLang="ko-KR" sz="1600" spc="-50" dirty="0"/>
              <a:t>1MWh</a:t>
            </a:r>
            <a:r>
              <a:rPr lang="ko-KR" altLang="en-US" sz="1600" spc="-50" dirty="0"/>
              <a:t>을 쓰면 </a:t>
            </a:r>
            <a:r>
              <a:rPr lang="en-US" altLang="ko-KR" sz="1600" spc="-50" dirty="0"/>
              <a:t>0.114tC</a:t>
            </a:r>
            <a:r>
              <a:rPr lang="ko-KR" altLang="en-US" sz="1600" spc="-50" dirty="0"/>
              <a:t>의 탄소를 배출한 것과 다름이 없다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1952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F71C33-4141-99F1-AB3D-904A196D3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KTX</a:t>
            </a:r>
            <a:r>
              <a:rPr lang="ko-KR" altLang="en-US" dirty="0"/>
              <a:t> </a:t>
            </a:r>
            <a:r>
              <a:rPr lang="ko-KR" altLang="en-US" dirty="0" err="1"/>
              <a:t>이용시</a:t>
            </a:r>
            <a:r>
              <a:rPr lang="ko-KR" altLang="en-US" dirty="0"/>
              <a:t> 탄소배출량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2B6AFF-3029-0ECA-D53B-400461C51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22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8C8B8D4-72CF-2E7D-DE99-C212830C0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64292"/>
            <a:ext cx="5562797" cy="302627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A85D902-0E44-AA29-752B-BEF24C1FE333}"/>
                  </a:ext>
                </a:extLst>
              </p:cNvPr>
              <p:cNvSpPr txBox="1"/>
              <p:nvPr/>
            </p:nvSpPr>
            <p:spPr>
              <a:xfrm>
                <a:off x="288790" y="958844"/>
                <a:ext cx="5365250" cy="410734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spc="-50" dirty="0"/>
                  <a:t>KTX</a:t>
                </a:r>
                <a:r>
                  <a:rPr lang="ko-KR" altLang="en-US" sz="1600" spc="-50" dirty="0"/>
                  <a:t>로 대전에서 부산 갈 때 전력을 얼만큼 사용할까</a:t>
                </a:r>
                <a:r>
                  <a:rPr lang="en-US" altLang="ko-KR" sz="1600" spc="-50" dirty="0"/>
                  <a:t>?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KTX</a:t>
                </a:r>
                <a:r>
                  <a:rPr lang="ko-KR" altLang="en-US" sz="1600" spc="-50" dirty="0"/>
                  <a:t>는 </a:t>
                </a:r>
                <a:r>
                  <a:rPr lang="en-US" altLang="ko-KR" sz="1600" spc="-50" dirty="0"/>
                  <a:t>1km </a:t>
                </a:r>
                <a:r>
                  <a:rPr lang="ko-KR" altLang="en-US" sz="1600" spc="-50" dirty="0"/>
                  <a:t>가는데 </a:t>
                </a:r>
                <a:r>
                  <a:rPr lang="en-US" altLang="ko-KR" sz="1600" spc="-50" dirty="0"/>
                  <a:t>23.74kWh</a:t>
                </a:r>
                <a:r>
                  <a:rPr lang="ko-KR" altLang="en-US" sz="1600" spc="-50" dirty="0"/>
                  <a:t>를 사용한다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대전역에서 부산역까지 </a:t>
                </a:r>
                <a:r>
                  <a:rPr lang="en-US" altLang="ko-KR" sz="1600" spc="-50" dirty="0"/>
                  <a:t>258km</a:t>
                </a:r>
                <a:r>
                  <a:rPr lang="ko-KR" altLang="en-US" sz="1600" spc="-50" dirty="0"/>
                  <a:t> 가야하고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따라서 </a:t>
                </a:r>
                <a:r>
                  <a:rPr lang="en-US" altLang="ko-KR" sz="1600" spc="-50" dirty="0"/>
                  <a:t>6,125kWh, </a:t>
                </a:r>
                <a:r>
                  <a:rPr lang="ko-KR" altLang="en-US" sz="1600" spc="-50" dirty="0"/>
                  <a:t>즉 </a:t>
                </a:r>
                <a:r>
                  <a:rPr lang="en-US" altLang="ko-KR" sz="1600" spc="-50" dirty="0"/>
                  <a:t>6.125MWh</a:t>
                </a:r>
                <a:r>
                  <a:rPr lang="ko-KR" altLang="en-US" sz="1600" spc="-50" dirty="0"/>
                  <a:t>를 소비 한다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기차를 이용할 때 나오는 탄소배출량을 계산하기 위한 </a:t>
                </a:r>
                <a:r>
                  <a:rPr lang="en-US" altLang="ko-KR" sz="1600" spc="-50" dirty="0"/>
                  <a:t>3</a:t>
                </a:r>
                <a:r>
                  <a:rPr lang="ko-KR" altLang="en-US" sz="1600" spc="-50" dirty="0"/>
                  <a:t>가지 항목을 다 찾아 보았다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전기소비량</a:t>
                </a:r>
                <a:r>
                  <a:rPr lang="en-US" altLang="ko-KR" sz="1600" spc="-50" dirty="0"/>
                  <a:t>: 6.125 MWh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발열량</a:t>
                </a:r>
                <a:r>
                  <a:rPr lang="en-US" altLang="ko-KR" sz="1600" spc="-50" dirty="0"/>
                  <a:t>: 3600 MJ/MWh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배출계수</a:t>
                </a:r>
                <a:r>
                  <a:rPr lang="en-US" altLang="ko-KR" sz="1600" spc="-50" dirty="0"/>
                  <a:t>: 0.000032 </a:t>
                </a:r>
                <a:r>
                  <a:rPr lang="en-US" altLang="ko-KR" sz="1600" spc="-50" dirty="0" err="1"/>
                  <a:t>tC</a:t>
                </a:r>
                <a:r>
                  <a:rPr lang="en-US" altLang="ko-KR" sz="1600" spc="-50" dirty="0"/>
                  <a:t>/MJ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6.125 x 3,600 x 0.000032 </a:t>
                </a:r>
                <a:r>
                  <a:rPr lang="en-US" altLang="ko-KR" sz="1600" spc="-50" dirty="0" err="1"/>
                  <a:t>tC</a:t>
                </a:r>
                <a:r>
                  <a:rPr lang="en-US" altLang="ko-KR" sz="1600" spc="-50" dirty="0"/>
                  <a:t>/MJ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altLang="ko-KR" sz="1600" spc="-50" dirty="0"/>
                  <a:t> 0.706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A85D902-0E44-AA29-752B-BEF24C1FE3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958844"/>
                <a:ext cx="5365250" cy="4107343"/>
              </a:xfrm>
              <a:prstGeom prst="rect">
                <a:avLst/>
              </a:prstGeom>
              <a:blipFill>
                <a:blip r:embed="rId3"/>
                <a:stretch>
                  <a:fillRect b="-8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E323335-4013-8312-E7E0-855AF1F4B924}"/>
              </a:ext>
            </a:extLst>
          </p:cNvPr>
          <p:cNvSpPr txBox="1"/>
          <p:nvPr/>
        </p:nvSpPr>
        <p:spPr>
          <a:xfrm>
            <a:off x="7214235" y="4196013"/>
            <a:ext cx="37147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출처</a:t>
            </a:r>
            <a:r>
              <a:rPr lang="en-US" altLang="ko-KR" sz="1100" dirty="0"/>
              <a:t>: </a:t>
            </a:r>
            <a:r>
              <a:rPr lang="ko-KR" altLang="en-US" sz="1100" dirty="0"/>
              <a:t>https://www.joongang.co.kr/article/25263290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4E7608-E01A-D867-7632-B962E984882D}"/>
              </a:ext>
            </a:extLst>
          </p:cNvPr>
          <p:cNvSpPr txBox="1"/>
          <p:nvPr/>
        </p:nvSpPr>
        <p:spPr>
          <a:xfrm>
            <a:off x="7214235" y="3959760"/>
            <a:ext cx="459676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출처</a:t>
            </a:r>
            <a:r>
              <a:rPr lang="en-US" altLang="ko-KR" sz="1100" dirty="0"/>
              <a:t>: https://www.koreantrain.com/train-daejeon-busan?utm_source</a:t>
            </a:r>
            <a:endParaRPr lang="ko-KR" altLang="en-US" sz="11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0CAE76-7728-E278-4378-CFE9037BDD8E}"/>
              </a:ext>
            </a:extLst>
          </p:cNvPr>
          <p:cNvSpPr txBox="1"/>
          <p:nvPr/>
        </p:nvSpPr>
        <p:spPr>
          <a:xfrm>
            <a:off x="288790" y="5215884"/>
            <a:ext cx="11045960" cy="11526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따라서 우리가 탄 기차가 대전역에서 부산역까지 가는데 총 </a:t>
            </a:r>
            <a:r>
              <a:rPr lang="en-US" altLang="ko-KR" sz="1600" spc="-50" dirty="0"/>
              <a:t>0.706</a:t>
            </a:r>
            <a:r>
              <a:rPr lang="ko-KR" altLang="en-US" sz="1600" spc="-50" dirty="0"/>
              <a:t>의 탄소</a:t>
            </a:r>
            <a:r>
              <a:rPr lang="en-US" altLang="ko-KR" sz="1600" spc="-50" dirty="0"/>
              <a:t>(</a:t>
            </a:r>
            <a:r>
              <a:rPr lang="en-US" altLang="ko-KR" sz="1600" spc="-50" dirty="0" err="1"/>
              <a:t>tC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를 간접적으로 배출하게 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기차가 달리면서 직접 배출한 탄소의 양은 </a:t>
            </a:r>
            <a:r>
              <a:rPr lang="en-US" altLang="ko-KR" sz="1600" spc="-50" dirty="0"/>
              <a:t>0 </a:t>
            </a:r>
            <a:r>
              <a:rPr lang="ko-KR" altLang="en-US" sz="1600" spc="-50" dirty="0"/>
              <a:t>이지만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기차가 달리기 위해 사용한 전력을 만드는데 배출한 탄소의 양이 </a:t>
            </a:r>
            <a:r>
              <a:rPr lang="en-US" altLang="ko-KR" sz="1600" spc="-50" dirty="0"/>
              <a:t>706kg </a:t>
            </a:r>
            <a:r>
              <a:rPr lang="ko-KR" altLang="en-US" sz="1600" spc="-50" dirty="0"/>
              <a:t>이라는 의미다</a:t>
            </a:r>
            <a:r>
              <a:rPr lang="en-US" altLang="ko-KR" sz="1600" spc="-50" dirty="0"/>
              <a:t>.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A3B0D17-3DCB-AF5A-D5FB-BDE2F2AE21EF}"/>
              </a:ext>
            </a:extLst>
          </p:cNvPr>
          <p:cNvSpPr/>
          <p:nvPr/>
        </p:nvSpPr>
        <p:spPr>
          <a:xfrm>
            <a:off x="10928985" y="3063081"/>
            <a:ext cx="734981" cy="186744"/>
          </a:xfrm>
          <a:prstGeom prst="rect">
            <a:avLst/>
          </a:prstGeom>
          <a:solidFill>
            <a:srgbClr val="FFFF00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45864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04CEC-6A08-07EF-D6EC-B86C5A90D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8E1B7D-A7B7-D210-DE11-AA810D8D4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KTX</a:t>
            </a:r>
            <a:r>
              <a:rPr lang="ko-KR" altLang="en-US" dirty="0"/>
              <a:t> </a:t>
            </a:r>
            <a:r>
              <a:rPr lang="ko-KR" altLang="en-US" dirty="0" err="1"/>
              <a:t>이용시</a:t>
            </a:r>
            <a:r>
              <a:rPr lang="ko-KR" altLang="en-US" dirty="0"/>
              <a:t> 탄소배출량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B2B0E6-EB48-6AE3-B555-051AAB5F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D3349D-A170-CCD1-C4F1-DE201511EE72}"/>
              </a:ext>
            </a:extLst>
          </p:cNvPr>
          <p:cNvSpPr txBox="1"/>
          <p:nvPr/>
        </p:nvSpPr>
        <p:spPr>
          <a:xfrm>
            <a:off x="288790" y="958844"/>
            <a:ext cx="11276438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KTX</a:t>
            </a:r>
            <a:r>
              <a:rPr lang="ko-KR" altLang="en-US" sz="1600" spc="-50" dirty="0"/>
              <a:t>의 경우 나 혼자만 전기를 쓴 게 아니고</a:t>
            </a:r>
            <a:r>
              <a:rPr lang="en-US" altLang="ko-KR" sz="1600" spc="-50" dirty="0"/>
              <a:t>, KTX</a:t>
            </a:r>
            <a:r>
              <a:rPr lang="ko-KR" altLang="en-US" sz="1600" spc="-50" dirty="0"/>
              <a:t>에 탑승한 승객 전원이 다 같이 사용하였다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</a:t>
            </a:r>
            <a:r>
              <a:rPr lang="en-US" altLang="ko-KR" sz="1600" spc="-50" dirty="0"/>
              <a:t>KTX</a:t>
            </a:r>
            <a:r>
              <a:rPr lang="ko-KR" altLang="en-US" sz="1600" spc="-50" dirty="0"/>
              <a:t>의 간접배출량으로 계산한 </a:t>
            </a:r>
            <a:r>
              <a:rPr lang="en-US" altLang="ko-KR" sz="1600" spc="-50" dirty="0"/>
              <a:t>706kg</a:t>
            </a:r>
            <a:r>
              <a:rPr lang="ko-KR" altLang="en-US" sz="1600" spc="-50" dirty="0"/>
              <a:t>는 대전에서 부산까지 이용한 승객의 숫자로 나누어야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그러나 대전에서 부산까지 이용한 승객을 조사한 통계도 없고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정확히 추론하는 것도 불가능하다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적어도 우리가 알 수 있는 것은 </a:t>
            </a:r>
            <a:r>
              <a:rPr lang="en-US" altLang="ko-KR" sz="1600" spc="-50" dirty="0"/>
              <a:t>KTX</a:t>
            </a:r>
            <a:r>
              <a:rPr lang="ko-KR" altLang="en-US" sz="1600" spc="-50" dirty="0"/>
              <a:t>에 마련된 좌석 수를 알 수 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적어도 이 좌석 수보다 승객이 더 많지는 않을 것이다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KTX</a:t>
            </a:r>
            <a:r>
              <a:rPr lang="ko-KR" altLang="en-US" sz="1600" spc="-50" dirty="0"/>
              <a:t>도 종류별로 좌석수가 다르나 가장 많이 운행하고 있는 </a:t>
            </a:r>
            <a:r>
              <a:rPr lang="en-US" altLang="ko-KR" sz="1600" spc="-50" dirty="0"/>
              <a:t>‘KTX’ </a:t>
            </a:r>
            <a:r>
              <a:rPr lang="ko-KR" altLang="en-US" sz="1600" spc="-50" dirty="0"/>
              <a:t>를 탄다고 가정하자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8ADEB71-71A0-6B74-65B0-4ECD1A2D0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1218" y="3317240"/>
            <a:ext cx="4101992" cy="252524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8747A04-1809-DB3E-32F0-5B738B7642A2}"/>
              </a:ext>
            </a:extLst>
          </p:cNvPr>
          <p:cNvSpPr txBox="1"/>
          <p:nvPr/>
        </p:nvSpPr>
        <p:spPr>
          <a:xfrm>
            <a:off x="288790" y="3219444"/>
            <a:ext cx="6955290" cy="2999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평일 하루 동안 </a:t>
            </a:r>
            <a:r>
              <a:rPr lang="en-US" altLang="ko-KR" sz="1600" spc="-50" dirty="0"/>
              <a:t>51</a:t>
            </a:r>
            <a:r>
              <a:rPr lang="ko-KR" altLang="en-US" sz="1600" spc="-50" dirty="0"/>
              <a:t>개의 </a:t>
            </a:r>
            <a:r>
              <a:rPr lang="en-US" altLang="ko-KR" sz="1600" spc="-50" dirty="0"/>
              <a:t>KTX</a:t>
            </a:r>
            <a:r>
              <a:rPr lang="ko-KR" altLang="en-US" sz="1600" spc="-50" dirty="0"/>
              <a:t>가 대전에서 부산으로 가는데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 중 </a:t>
            </a:r>
            <a:r>
              <a:rPr lang="en-US" altLang="ko-KR" sz="1600" spc="-50" dirty="0"/>
              <a:t>‘KTX’</a:t>
            </a:r>
            <a:r>
              <a:rPr lang="ko-KR" altLang="en-US" sz="1600" spc="-50" dirty="0"/>
              <a:t>가 </a:t>
            </a:r>
            <a:r>
              <a:rPr lang="en-US" altLang="ko-KR" sz="1600" spc="-50" dirty="0"/>
              <a:t>41</a:t>
            </a:r>
            <a:r>
              <a:rPr lang="ko-KR" altLang="en-US" sz="1600" spc="-50" dirty="0"/>
              <a:t>대</a:t>
            </a:r>
            <a:r>
              <a:rPr lang="en-US" altLang="ko-KR" sz="1600" spc="-50" dirty="0"/>
              <a:t>, ‘KTX-</a:t>
            </a:r>
            <a:r>
              <a:rPr lang="ko-KR" altLang="en-US" sz="1600" spc="-50" dirty="0"/>
              <a:t>산천</a:t>
            </a:r>
            <a:r>
              <a:rPr lang="en-US" altLang="ko-KR" sz="1600" spc="-50" dirty="0"/>
              <a:t>’</a:t>
            </a:r>
            <a:r>
              <a:rPr lang="ko-KR" altLang="en-US" sz="1600" spc="-50" dirty="0"/>
              <a:t>이 </a:t>
            </a:r>
            <a:r>
              <a:rPr lang="en-US" altLang="ko-KR" sz="1600" spc="-50" dirty="0"/>
              <a:t>6</a:t>
            </a:r>
            <a:r>
              <a:rPr lang="ko-KR" altLang="en-US" sz="1600" spc="-50" dirty="0"/>
              <a:t>대</a:t>
            </a:r>
            <a:r>
              <a:rPr lang="en-US" altLang="ko-KR" sz="1600" spc="-50" dirty="0"/>
              <a:t>, ‘KTX-</a:t>
            </a:r>
            <a:r>
              <a:rPr lang="ko-KR" altLang="en-US" sz="1600" spc="-50" dirty="0"/>
              <a:t>청룡</a:t>
            </a:r>
            <a:r>
              <a:rPr lang="en-US" altLang="ko-KR" sz="1600" spc="-50" dirty="0"/>
              <a:t>’</a:t>
            </a:r>
            <a:r>
              <a:rPr lang="ko-KR" altLang="en-US" sz="1600" spc="-50" dirty="0"/>
              <a:t>이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대 운행한다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좌석수</a:t>
            </a:r>
            <a:r>
              <a:rPr lang="en-US" altLang="ko-KR" sz="1600" spc="-50" dirty="0"/>
              <a:t>) KTX: 955</a:t>
            </a:r>
            <a:r>
              <a:rPr lang="ko-KR" altLang="en-US" sz="1600" spc="-50" dirty="0"/>
              <a:t>석</a:t>
            </a:r>
            <a:r>
              <a:rPr lang="en-US" altLang="ko-KR" sz="1600" spc="-50" dirty="0"/>
              <a:t>, KTX-</a:t>
            </a:r>
            <a:r>
              <a:rPr lang="ko-KR" altLang="en-US" sz="1600" spc="-50" dirty="0"/>
              <a:t>산천</a:t>
            </a:r>
            <a:r>
              <a:rPr lang="en-US" altLang="ko-KR" sz="1600" spc="-50" dirty="0"/>
              <a:t>: 379</a:t>
            </a:r>
            <a:r>
              <a:rPr lang="ko-KR" altLang="en-US" sz="1600" spc="-50" dirty="0"/>
              <a:t>석</a:t>
            </a:r>
            <a:r>
              <a:rPr lang="en-US" altLang="ko-KR" sz="1600" spc="-50" dirty="0"/>
              <a:t>,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요일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시간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구간별로 승객이 제 각각 이겠지만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탑승한 승객 수를 전체 좌석 수의 대략 </a:t>
            </a:r>
            <a:r>
              <a:rPr lang="en-US" altLang="ko-KR" sz="1600" spc="-50" dirty="0"/>
              <a:t>50% </a:t>
            </a:r>
            <a:r>
              <a:rPr lang="ko-KR" altLang="en-US" sz="1600" spc="-50" dirty="0"/>
              <a:t>정도 수준인 </a:t>
            </a:r>
            <a:r>
              <a:rPr lang="en-US" altLang="ko-KR" sz="1600" spc="-50" dirty="0"/>
              <a:t>500</a:t>
            </a:r>
            <a:r>
              <a:rPr lang="ko-KR" altLang="en-US" sz="1600" spc="-50" dirty="0"/>
              <a:t>명이라고 하자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결국 대전에서 부산까지 </a:t>
            </a:r>
            <a:r>
              <a:rPr lang="en-US" altLang="ko-KR" sz="1600" spc="-50" dirty="0"/>
              <a:t>KTX </a:t>
            </a:r>
            <a:r>
              <a:rPr lang="ko-KR" altLang="en-US" sz="1600" spc="-50" dirty="0"/>
              <a:t>타고 갈 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내가 배출한 탄소양은 </a:t>
            </a:r>
            <a:r>
              <a:rPr lang="en-US" altLang="ko-KR" sz="1600" spc="-50" dirty="0"/>
              <a:t>1.41 kg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(=706kg/500</a:t>
            </a:r>
            <a:r>
              <a:rPr lang="ko-KR" altLang="en-US" sz="1600" spc="-50" dirty="0"/>
              <a:t>명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이 된다</a:t>
            </a:r>
            <a:r>
              <a:rPr lang="en-US" altLang="ko-KR" sz="1600" spc="-5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4118027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14C97-A171-0BB6-2FE7-470A4CE0A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7ED24A-71BF-F56A-475C-3C9A7F157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1003</a:t>
            </a:r>
            <a:r>
              <a:rPr lang="ko-KR" altLang="en-US" dirty="0"/>
              <a:t>번 </a:t>
            </a:r>
            <a:r>
              <a:rPr lang="ko-KR" altLang="en-US" dirty="0" err="1"/>
              <a:t>이용시</a:t>
            </a:r>
            <a:r>
              <a:rPr lang="ko-KR" altLang="en-US" dirty="0"/>
              <a:t> 탄소배출량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269933-EF5A-063A-07E9-5A5003991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EAC932-78C6-C8AD-129E-CA62D8336522}"/>
              </a:ext>
            </a:extLst>
          </p:cNvPr>
          <p:cNvSpPr txBox="1"/>
          <p:nvPr/>
        </p:nvSpPr>
        <p:spPr>
          <a:xfrm>
            <a:off x="288790" y="958844"/>
            <a:ext cx="11045960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버스의 탄소배출량도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승용차의 탄소배출량을 계산할 때와 같은 방식으로 계산할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다만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승용차의 경우와 다른 점은 연료가 휘발유에서 경유로 바뀐다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휘발유와 경유는 가지고 있는 에너지양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발열량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도 다르고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탄소양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배출계수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도 다르다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따라서 식에 적용해야 하는 발열량이 바뀌고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또 배출계수 또한 바뀐다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경유버스의 연비는 </a:t>
            </a:r>
            <a:r>
              <a:rPr lang="en-US" altLang="ko-KR" sz="1600" spc="-50" dirty="0"/>
              <a:t>2.49km/liter 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부산역에서 해운대까지 버스 노선의 거리는 </a:t>
            </a:r>
            <a:r>
              <a:rPr lang="en-US" altLang="ko-KR" sz="1600" spc="-50" dirty="0"/>
              <a:t>17km 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경유의 발열량은 </a:t>
            </a:r>
            <a:r>
              <a:rPr lang="en-US" altLang="ko-KR" sz="1600" spc="-50" dirty="0"/>
              <a:t>37.8 MJ/liter 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경유의 배출계수는 </a:t>
            </a:r>
            <a:r>
              <a:rPr lang="en-US" altLang="ko-KR" sz="1600" spc="-50" dirty="0"/>
              <a:t>0.000020090 </a:t>
            </a:r>
            <a:r>
              <a:rPr lang="en-US" altLang="ko-KR" sz="1600" spc="-50" dirty="0" err="1"/>
              <a:t>tC</a:t>
            </a:r>
            <a:r>
              <a:rPr lang="en-US" altLang="ko-KR" sz="1600" spc="-50" dirty="0"/>
              <a:t>/MJ 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버스에는 승객이 </a:t>
            </a:r>
            <a:r>
              <a:rPr lang="en-US" altLang="ko-KR" sz="1600" spc="-50" dirty="0"/>
              <a:t>10</a:t>
            </a:r>
            <a:r>
              <a:rPr lang="ko-KR" altLang="en-US" sz="1600" spc="-50" dirty="0"/>
              <a:t>명이 타고 갔다고 하자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위 식에 수치들을 적용해보면 총 탄소배출량은 </a:t>
            </a:r>
            <a:r>
              <a:rPr lang="en-US" altLang="ko-KR" sz="1600" spc="-50" dirty="0"/>
              <a:t>0.0052 </a:t>
            </a:r>
            <a:r>
              <a:rPr lang="en-US" altLang="ko-KR" sz="1600" spc="-50" dirty="0" err="1"/>
              <a:t>tC</a:t>
            </a:r>
            <a:r>
              <a:rPr lang="en-US" altLang="ko-KR" sz="1600" spc="-50" dirty="0"/>
              <a:t> (=5.2 </a:t>
            </a:r>
            <a:r>
              <a:rPr lang="en-US" altLang="ko-KR" sz="1600" spc="-50" dirty="0" err="1"/>
              <a:t>kgC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인당 탄소배출량은 </a:t>
            </a:r>
            <a:r>
              <a:rPr lang="en-US" altLang="ko-KR" sz="1600" spc="-50" dirty="0"/>
              <a:t>0.00052 </a:t>
            </a:r>
            <a:r>
              <a:rPr lang="en-US" altLang="ko-KR" sz="1600" spc="-50" dirty="0" err="1"/>
              <a:t>tC</a:t>
            </a:r>
            <a:r>
              <a:rPr lang="en-US" altLang="ko-KR" sz="1600" spc="-50" dirty="0"/>
              <a:t> (=0.52kgC)</a:t>
            </a:r>
            <a:r>
              <a:rPr lang="ko-KR" altLang="en-US" sz="1600" spc="-50" dirty="0"/>
              <a:t>가 된다</a:t>
            </a:r>
            <a:r>
              <a:rPr lang="en-US" altLang="ko-KR" sz="1600" spc="-5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90AD301-BE17-FE13-F4A0-DD43A2D71778}"/>
                  </a:ext>
                </a:extLst>
              </p:cNvPr>
              <p:cNvSpPr txBox="1"/>
              <p:nvPr/>
            </p:nvSpPr>
            <p:spPr>
              <a:xfrm>
                <a:off x="1953842" y="2645924"/>
                <a:ext cx="7844208" cy="4456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탄소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배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출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량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𝑡𝐶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소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비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량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𝑙𝑖𝑡𝑒𝑟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발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열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량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𝑀𝐽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𝑙𝑖𝑡𝑒𝑟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배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출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계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수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𝑡𝐶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𝑀𝐽</m:t>
                          </m:r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90AD301-BE17-FE13-F4A0-DD43A2D717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3842" y="2645924"/>
                <a:ext cx="7844208" cy="445635"/>
              </a:xfrm>
              <a:prstGeom prst="rect">
                <a:avLst/>
              </a:prstGeom>
              <a:blipFill>
                <a:blip r:embed="rId2"/>
                <a:stretch>
                  <a:fillRect t="-124658" r="-3810" b="-1958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63286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BC6B7A-E263-4E10-6FC8-628F7326F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KTX </a:t>
            </a:r>
            <a:r>
              <a:rPr lang="ko-KR" altLang="en-US" dirty="0" err="1"/>
              <a:t>이용시</a:t>
            </a:r>
            <a:r>
              <a:rPr lang="ko-KR" altLang="en-US" dirty="0"/>
              <a:t> 탄소배출량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757C5F-D107-4398-4207-7BAEE7793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C63E35-8DC2-F0EF-A6DE-1A1640FF2F53}"/>
              </a:ext>
            </a:extLst>
          </p:cNvPr>
          <p:cNvSpPr txBox="1"/>
          <p:nvPr/>
        </p:nvSpPr>
        <p:spPr>
          <a:xfrm>
            <a:off x="288790" y="958844"/>
            <a:ext cx="11045960" cy="4140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ㅇㅇ</a:t>
            </a:r>
            <a:endParaRPr lang="en-US" altLang="ko-KR" sz="1600" spc="-50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A00D549-4CB3-9852-58E3-8EE7C10B03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8656721"/>
              </p:ext>
            </p:extLst>
          </p:nvPr>
        </p:nvGraphicFramePr>
        <p:xfrm>
          <a:off x="513333" y="1898772"/>
          <a:ext cx="6942500" cy="321896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35625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735625">
                  <a:extLst>
                    <a:ext uri="{9D8B030D-6E8A-4147-A177-3AD203B41FA5}">
                      <a16:colId xmlns:a16="http://schemas.microsoft.com/office/drawing/2014/main" val="3036950207"/>
                    </a:ext>
                  </a:extLst>
                </a:gridCol>
                <a:gridCol w="1735625">
                  <a:extLst>
                    <a:ext uri="{9D8B030D-6E8A-4147-A177-3AD203B41FA5}">
                      <a16:colId xmlns:a16="http://schemas.microsoft.com/office/drawing/2014/main" val="4205076024"/>
                    </a:ext>
                  </a:extLst>
                </a:gridCol>
                <a:gridCol w="1735625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1586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자가용 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인당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대중교통 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인당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비용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자가용 이용 비용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25,604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연료 비용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16,917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통행료</a:t>
                      </a:r>
                      <a:endParaRPr lang="en-US" sz="1300" b="0" kern="0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7,650 </a:t>
                      </a: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sz="1300" b="0" kern="0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표 요금</a:t>
                      </a:r>
                      <a:endParaRPr lang="en-US" sz="1300" b="0" kern="0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30,000 </a:t>
                      </a: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sz="1300" b="0" kern="0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553447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합계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50,171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30,000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탄소배출량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승용차 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휘발유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6kgC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KTX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전기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1.42 </a:t>
                      </a:r>
                      <a:r>
                        <a:rPr lang="en-US" sz="1300" b="0" kern="0" spc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kgC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0577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버스 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경유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0.52 </a:t>
                      </a:r>
                      <a:r>
                        <a:rPr lang="en-US" sz="1300" b="0" kern="0" spc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kgC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75687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합계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6kgC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1.94 </a:t>
                      </a:r>
                      <a:r>
                        <a:rPr lang="en-US" sz="1300" b="0" kern="0" spc="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kgC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134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시간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시간 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분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시간 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33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분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214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1305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927981D2-4D3E-65CA-3E45-70E350AC53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5419607"/>
              </p:ext>
            </p:extLst>
          </p:nvPr>
        </p:nvGraphicFramePr>
        <p:xfrm>
          <a:off x="7823200" y="1914964"/>
          <a:ext cx="3471250" cy="318658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35625">
                  <a:extLst>
                    <a:ext uri="{9D8B030D-6E8A-4147-A177-3AD203B41FA5}">
                      <a16:colId xmlns:a16="http://schemas.microsoft.com/office/drawing/2014/main" val="3423487720"/>
                    </a:ext>
                  </a:extLst>
                </a:gridCol>
                <a:gridCol w="1735625">
                  <a:extLst>
                    <a:ext uri="{9D8B030D-6E8A-4147-A177-3AD203B41FA5}">
                      <a16:colId xmlns:a16="http://schemas.microsoft.com/office/drawing/2014/main" val="932047127"/>
                    </a:ext>
                  </a:extLst>
                </a:gridCol>
              </a:tblGrid>
              <a:tr h="1586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자가용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대중교통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1520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51,208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7180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33,834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2105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15,300 </a:t>
                      </a: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sz="1300" b="0" kern="0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29120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30,000 </a:t>
                      </a: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sz="1300" b="0" kern="0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375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100,342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30,000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8306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 </a:t>
                      </a:r>
                      <a:r>
                        <a:rPr lang="en-US" altLang="ko-KR" sz="1300" b="0" kern="0" spc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kgC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20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710 </a:t>
                      </a:r>
                      <a:r>
                        <a:rPr lang="en-US" altLang="ko-KR" sz="1300" b="0" kern="0" spc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kgC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5974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5.2 </a:t>
                      </a:r>
                      <a:r>
                        <a:rPr lang="en-US" altLang="ko-KR" sz="1300" b="0" kern="0" spc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kgC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64945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 </a:t>
                      </a:r>
                      <a:r>
                        <a:rPr lang="en-US" altLang="ko-KR" sz="1300" b="0" kern="0" spc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kgC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716.2 </a:t>
                      </a:r>
                      <a:r>
                        <a:rPr lang="en-US" altLang="ko-KR" sz="1300" b="0" kern="0" spc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kgC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6393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3528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09264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6852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97857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EDE1B-D2A3-1029-C107-0C1A84D47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5C92BD-5CC2-122A-4704-E431976A5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생각해보자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CA8F6C-93D3-E068-5D09-B17F218A1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7CA114-3463-CCFA-4518-8FA1A44ED480}"/>
              </a:ext>
            </a:extLst>
          </p:cNvPr>
          <p:cNvSpPr txBox="1"/>
          <p:nvPr/>
        </p:nvSpPr>
        <p:spPr>
          <a:xfrm>
            <a:off x="288790" y="958844"/>
            <a:ext cx="11045960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교통수단을 선택할 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차량 보유비용을 포함시켜서 계산하는 것이 올바른 접근이었을까</a:t>
            </a:r>
            <a:r>
              <a:rPr lang="en-US" altLang="ko-KR" sz="1600" spc="-50" dirty="0"/>
              <a:t>?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경제학에는 매몰비용이라는 개념이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우리나라가 화석연료 사용 없이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신재생에너지로만 전력을 공급하고 있다면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전력배출계수는 어떻게 바뀔까</a:t>
            </a:r>
            <a:r>
              <a:rPr lang="en-US" altLang="ko-KR" sz="1600" spc="-50" dirty="0"/>
              <a:t>?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신재생에너지로만 전력을 공급하고 있다면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전력 배출계수는 </a:t>
            </a:r>
            <a:r>
              <a:rPr lang="en-US" altLang="ko-KR" sz="1600" spc="-50" dirty="0"/>
              <a:t>0</a:t>
            </a:r>
            <a:r>
              <a:rPr lang="ko-KR" altLang="en-US" sz="1600" spc="-50" dirty="0"/>
              <a:t>이 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자가용을 타고 가는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운전자는 운전만 하고 다른 일을 못하는 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기차를 타게 되면 그 시간에 다른 일을 할 수 있지 않나</a:t>
            </a:r>
            <a:r>
              <a:rPr lang="en-US" altLang="ko-KR" sz="1600" spc="-50" dirty="0"/>
              <a:t>?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23450433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8B0EB-74B1-B51C-A4E6-7DD41C0B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24993C-D1C3-8436-D8C1-21698BE6D1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51A9577-CCBA-F474-5E82-99100C45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>
                <a:solidFill>
                  <a:schemeClr val="accent2"/>
                </a:solidFill>
              </a:rPr>
              <a:t>T</a:t>
            </a:r>
            <a:r>
              <a:rPr lang="en-US" altLang="ko-KR" sz="5400" i="0" spc="100"/>
              <a:t>hank you</a:t>
            </a:r>
            <a:endParaRPr lang="ko-KR" altLang="en-US" sz="5400" i="0" spc="1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898E0-926C-D8DA-8874-21A66F64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4048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18465-26F6-7E29-0D99-62F00570F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AF6BA4-2599-4906-C093-FF291846C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대중교통을 이용할 때 드는 비용 </a:t>
            </a:r>
            <a:r>
              <a:rPr lang="en-US" altLang="ko-KR" dirty="0"/>
              <a:t>(</a:t>
            </a:r>
            <a:r>
              <a:rPr lang="ko-KR" altLang="en-US" dirty="0"/>
              <a:t>부산 </a:t>
            </a:r>
            <a:r>
              <a:rPr lang="en-US" altLang="ko-KR" dirty="0"/>
              <a:t>1003</a:t>
            </a:r>
            <a:r>
              <a:rPr lang="ko-KR" altLang="en-US" dirty="0"/>
              <a:t>번 버스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B26109-4882-2E01-9123-252379FC3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4C8A50-6753-08D5-B029-991F0600620F}"/>
              </a:ext>
            </a:extLst>
          </p:cNvPr>
          <p:cNvSpPr txBox="1"/>
          <p:nvPr/>
        </p:nvSpPr>
        <p:spPr>
          <a:xfrm>
            <a:off x="288790" y="958844"/>
            <a:ext cx="10910513" cy="2999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부산역에서 해운대까지 총 </a:t>
            </a:r>
            <a:r>
              <a:rPr lang="en-US" altLang="ko-KR" sz="1600" spc="-50" dirty="0"/>
              <a:t>2,100</a:t>
            </a:r>
            <a:r>
              <a:rPr lang="ko-KR" altLang="en-US" sz="1600" spc="-50" dirty="0"/>
              <a:t>원이 든다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2361A99-028A-DAE4-8D58-0C31068E6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6134" y="1049611"/>
            <a:ext cx="2540131" cy="172093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D808C29-D248-DA66-5060-21008429C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6204" y="3026985"/>
            <a:ext cx="3796027" cy="3147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5665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51D83-381D-C8B4-0EB8-CB08629E4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AAB0A9-A8F0-A089-7E2B-42F4AAEE5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대중교통을 이용할 때 드는 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762BDB-7A6D-D1A3-3F64-6EC986A8B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7AE69F-CDD7-93EB-4A37-1A4447561DAD}"/>
              </a:ext>
            </a:extLst>
          </p:cNvPr>
          <p:cNvSpPr txBox="1"/>
          <p:nvPr/>
        </p:nvSpPr>
        <p:spPr>
          <a:xfrm>
            <a:off x="288790" y="958844"/>
            <a:ext cx="10910513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아래에서 보듯이 </a:t>
            </a:r>
            <a:r>
              <a:rPr lang="en-US" altLang="ko-KR" sz="1600" spc="-50" dirty="0"/>
              <a:t>KTX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시간 </a:t>
            </a:r>
            <a:r>
              <a:rPr lang="en-US" altLang="ko-KR" sz="1600" spc="-50" dirty="0"/>
              <a:t>09</a:t>
            </a:r>
            <a:r>
              <a:rPr lang="ko-KR" altLang="en-US" sz="1600" spc="-50" dirty="0"/>
              <a:t>분이 걸리고</a:t>
            </a:r>
            <a:r>
              <a:rPr lang="en-US" altLang="ko-KR" sz="1600" spc="-50" dirty="0"/>
              <a:t>, 30,000</a:t>
            </a:r>
            <a:r>
              <a:rPr lang="ko-KR" altLang="en-US" sz="1600" spc="-50" dirty="0"/>
              <a:t>원 </a:t>
            </a:r>
            <a:r>
              <a:rPr lang="en-US" altLang="ko-KR" sz="1600" spc="-50" dirty="0"/>
              <a:t>(</a:t>
            </a:r>
            <a:r>
              <a:rPr lang="ko-KR" altLang="en-US" sz="1600" spc="-50" dirty="0" err="1"/>
              <a:t>일반실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어른기준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이 든다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부산역에서 해운대로 갈 때는 </a:t>
            </a:r>
            <a:r>
              <a:rPr lang="en-US" altLang="ko-KR" sz="1600" spc="-50" dirty="0"/>
              <a:t>40</a:t>
            </a:r>
            <a:r>
              <a:rPr lang="ko-KR" altLang="en-US" sz="1600" spc="-50" dirty="0"/>
              <a:t>번 버스 혹은 </a:t>
            </a:r>
            <a:r>
              <a:rPr lang="en-US" altLang="ko-KR" sz="1600" spc="-50" dirty="0"/>
              <a:t>1001</a:t>
            </a:r>
            <a:r>
              <a:rPr lang="ko-KR" altLang="en-US" sz="1600" spc="-50" dirty="0"/>
              <a:t>번 버스를 타면 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40</a:t>
            </a:r>
            <a:r>
              <a:rPr lang="ko-KR" altLang="en-US" sz="1600" spc="-50" dirty="0"/>
              <a:t>번 버스</a:t>
            </a:r>
            <a:r>
              <a:rPr lang="en-US" altLang="ko-KR" sz="1600" spc="-50" dirty="0"/>
              <a:t>: 1</a:t>
            </a:r>
            <a:r>
              <a:rPr lang="ko-KR" altLang="en-US" sz="1600" spc="-50" dirty="0"/>
              <a:t>시간 </a:t>
            </a:r>
            <a:r>
              <a:rPr lang="en-US" altLang="ko-KR" sz="1600" spc="-50" dirty="0"/>
              <a:t>22</a:t>
            </a:r>
            <a:r>
              <a:rPr lang="ko-KR" altLang="en-US" sz="1600" spc="-50" dirty="0"/>
              <a:t>분</a:t>
            </a:r>
            <a:r>
              <a:rPr lang="en-US" altLang="ko-KR" sz="1600" spc="-50" dirty="0"/>
              <a:t>, 1550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,    1001</a:t>
            </a:r>
            <a:r>
              <a:rPr lang="ko-KR" altLang="en-US" sz="1600" spc="-50" dirty="0"/>
              <a:t>번 버스</a:t>
            </a:r>
            <a:r>
              <a:rPr lang="en-US" altLang="ko-KR" sz="1600" spc="-50" dirty="0"/>
              <a:t>: 58</a:t>
            </a:r>
            <a:r>
              <a:rPr lang="ko-KR" altLang="en-US" sz="1600" spc="-50" dirty="0"/>
              <a:t>분 </a:t>
            </a:r>
            <a:r>
              <a:rPr lang="en-US" altLang="ko-KR" sz="1600" spc="-50" dirty="0"/>
              <a:t>2,100</a:t>
            </a:r>
            <a:r>
              <a:rPr lang="ko-KR" altLang="en-US" sz="1600" spc="-50" dirty="0"/>
              <a:t>원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1001</a:t>
            </a:r>
            <a:r>
              <a:rPr lang="ko-KR" altLang="en-US" sz="1600" spc="-50" dirty="0"/>
              <a:t>번 버스를 이용하면 가격은 </a:t>
            </a:r>
            <a:r>
              <a:rPr lang="en-US" altLang="ko-KR" sz="1600" spc="-50" dirty="0"/>
              <a:t>600</a:t>
            </a:r>
            <a:r>
              <a:rPr lang="ko-KR" altLang="en-US" sz="1600" spc="-50" dirty="0"/>
              <a:t>원 더 내지만 </a:t>
            </a:r>
            <a:r>
              <a:rPr lang="en-US" altLang="ko-KR" sz="1600" spc="-50" dirty="0"/>
              <a:t>24</a:t>
            </a:r>
            <a:r>
              <a:rPr lang="ko-KR" altLang="en-US" sz="1600" spc="-50" dirty="0"/>
              <a:t>분이나 빨리 가므로</a:t>
            </a:r>
            <a:r>
              <a:rPr lang="en-US" altLang="ko-KR" sz="1600" spc="-50" dirty="0"/>
              <a:t>, 1001</a:t>
            </a:r>
            <a:r>
              <a:rPr lang="ko-KR" altLang="en-US" sz="1600" spc="-50" dirty="0"/>
              <a:t>번 버스를 이용하자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따라서 </a:t>
            </a:r>
            <a:r>
              <a:rPr lang="ko-KR" altLang="en-US" sz="1600" spc="-50" dirty="0" err="1"/>
              <a:t>기차비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30,000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버스비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2,100</a:t>
            </a:r>
            <a:r>
              <a:rPr lang="ko-KR" altLang="en-US" sz="1600" spc="-50" dirty="0"/>
              <a:t>원이 발생하므로 총 </a:t>
            </a:r>
            <a:r>
              <a:rPr lang="en-US" altLang="ko-KR" sz="1600" spc="-50" dirty="0"/>
              <a:t>32,100</a:t>
            </a:r>
            <a:r>
              <a:rPr lang="ko-KR" altLang="en-US" sz="1600" spc="-50" dirty="0"/>
              <a:t>원이 든다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6B30DBA-31FE-D02B-882D-0452231A18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6234"/>
          <a:stretch>
            <a:fillRect/>
          </a:stretch>
        </p:blipFill>
        <p:spPr>
          <a:xfrm>
            <a:off x="1833683" y="2047061"/>
            <a:ext cx="5058877" cy="28612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F21F2A9B-08C3-8061-1DA9-706FA793CD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9489" y="1859289"/>
            <a:ext cx="5067387" cy="189869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A1A88938-9546-49FE-D61B-DF5F884288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6234"/>
          <a:stretch>
            <a:fillRect/>
          </a:stretch>
        </p:blipFill>
        <p:spPr>
          <a:xfrm>
            <a:off x="1833683" y="2333302"/>
            <a:ext cx="5058877" cy="286120"/>
          </a:xfrm>
          <a:prstGeom prst="rect">
            <a:avLst/>
          </a:prstGeom>
        </p:spPr>
      </p:pic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B48DB7DD-8F51-A464-7EDB-2A070E35DDE7}"/>
              </a:ext>
            </a:extLst>
          </p:cNvPr>
          <p:cNvSpPr/>
          <p:nvPr/>
        </p:nvSpPr>
        <p:spPr>
          <a:xfrm>
            <a:off x="6501449" y="2147074"/>
            <a:ext cx="391111" cy="111852"/>
          </a:xfrm>
          <a:prstGeom prst="roundRect">
            <a:avLst/>
          </a:prstGeom>
          <a:solidFill>
            <a:srgbClr val="FFFF0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801FEABE-F2A2-DA68-27E9-6258C102D231}"/>
              </a:ext>
            </a:extLst>
          </p:cNvPr>
          <p:cNvSpPr/>
          <p:nvPr/>
        </p:nvSpPr>
        <p:spPr>
          <a:xfrm>
            <a:off x="6501449" y="2413090"/>
            <a:ext cx="391111" cy="111852"/>
          </a:xfrm>
          <a:prstGeom prst="roundRect">
            <a:avLst/>
          </a:prstGeom>
          <a:solidFill>
            <a:srgbClr val="FFFF0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94C17CA5-AEB6-BB6F-A5A8-E41DFFD4B1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822" b="33783"/>
          <a:stretch>
            <a:fillRect/>
          </a:stretch>
        </p:blipFill>
        <p:spPr>
          <a:xfrm>
            <a:off x="1833683" y="2620875"/>
            <a:ext cx="5058877" cy="266030"/>
          </a:xfrm>
          <a:prstGeom prst="rect">
            <a:avLst/>
          </a:prstGeom>
        </p:spPr>
      </p:pic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722FCBBD-195A-1895-71EF-A78865F58436}"/>
              </a:ext>
            </a:extLst>
          </p:cNvPr>
          <p:cNvSpPr/>
          <p:nvPr/>
        </p:nvSpPr>
        <p:spPr>
          <a:xfrm>
            <a:off x="6501449" y="2673415"/>
            <a:ext cx="391111" cy="111852"/>
          </a:xfrm>
          <a:prstGeom prst="roundRect">
            <a:avLst/>
          </a:prstGeom>
          <a:solidFill>
            <a:srgbClr val="FFFF0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421DBC1E-484C-002F-B6F2-6B814E142953}"/>
              </a:ext>
            </a:extLst>
          </p:cNvPr>
          <p:cNvSpPr/>
          <p:nvPr/>
        </p:nvSpPr>
        <p:spPr>
          <a:xfrm>
            <a:off x="2174982" y="2155540"/>
            <a:ext cx="391111" cy="111852"/>
          </a:xfrm>
          <a:prstGeom prst="roundRect">
            <a:avLst/>
          </a:prstGeom>
          <a:solidFill>
            <a:srgbClr val="FFFF0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F5DE5040-1F28-F4E0-BA52-05FA348AABA2}"/>
              </a:ext>
            </a:extLst>
          </p:cNvPr>
          <p:cNvSpPr/>
          <p:nvPr/>
        </p:nvSpPr>
        <p:spPr>
          <a:xfrm>
            <a:off x="2174982" y="2421556"/>
            <a:ext cx="391111" cy="111852"/>
          </a:xfrm>
          <a:prstGeom prst="roundRect">
            <a:avLst/>
          </a:prstGeom>
          <a:solidFill>
            <a:srgbClr val="FFFF0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CF4A59F3-61B0-53BC-7188-F74A508C4C95}"/>
              </a:ext>
            </a:extLst>
          </p:cNvPr>
          <p:cNvSpPr/>
          <p:nvPr/>
        </p:nvSpPr>
        <p:spPr>
          <a:xfrm>
            <a:off x="2174982" y="2686114"/>
            <a:ext cx="391111" cy="111852"/>
          </a:xfrm>
          <a:prstGeom prst="roundRect">
            <a:avLst/>
          </a:prstGeom>
          <a:solidFill>
            <a:srgbClr val="FFFF0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1FD5A32D-7B87-C71A-923B-5CD352A820B2}"/>
              </a:ext>
            </a:extLst>
          </p:cNvPr>
          <p:cNvCxnSpPr>
            <a:cxnSpLocks/>
            <a:stCxn id="24" idx="3"/>
            <a:endCxn id="8" idx="1"/>
          </p:cNvCxnSpPr>
          <p:nvPr/>
        </p:nvCxnSpPr>
        <p:spPr>
          <a:xfrm flipV="1">
            <a:off x="6892560" y="1381742"/>
            <a:ext cx="1625024" cy="82125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39E2A88A-6957-A2AB-6B21-28AF0D898A31}"/>
              </a:ext>
            </a:extLst>
          </p:cNvPr>
          <p:cNvCxnSpPr>
            <a:cxnSpLocks/>
            <a:stCxn id="25" idx="3"/>
            <a:endCxn id="12" idx="1"/>
          </p:cNvCxnSpPr>
          <p:nvPr/>
        </p:nvCxnSpPr>
        <p:spPr>
          <a:xfrm>
            <a:off x="6892560" y="2469016"/>
            <a:ext cx="1625024" cy="8727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연결선: 꺾임 37">
            <a:extLst>
              <a:ext uri="{FF2B5EF4-FFF2-40B4-BE49-F238E27FC236}">
                <a16:creationId xmlns:a16="http://schemas.microsoft.com/office/drawing/2014/main" id="{A65C69D2-4E8D-FC53-1F57-DC40610C8D10}"/>
              </a:ext>
            </a:extLst>
          </p:cNvPr>
          <p:cNvCxnSpPr>
            <a:cxnSpLocks/>
            <a:stCxn id="26" idx="3"/>
            <a:endCxn id="10" idx="1"/>
          </p:cNvCxnSpPr>
          <p:nvPr/>
        </p:nvCxnSpPr>
        <p:spPr>
          <a:xfrm>
            <a:off x="6892560" y="2729341"/>
            <a:ext cx="1625024" cy="110503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그룹 8">
            <a:extLst>
              <a:ext uri="{FF2B5EF4-FFF2-40B4-BE49-F238E27FC236}">
                <a16:creationId xmlns:a16="http://schemas.microsoft.com/office/drawing/2014/main" id="{65854DC3-4B73-D52D-1058-999A2AF4EE6C}"/>
              </a:ext>
            </a:extLst>
          </p:cNvPr>
          <p:cNvGrpSpPr/>
          <p:nvPr/>
        </p:nvGrpSpPr>
        <p:grpSpPr>
          <a:xfrm>
            <a:off x="8517584" y="841742"/>
            <a:ext cx="2725312" cy="1080000"/>
            <a:chOff x="8132350" y="1163630"/>
            <a:chExt cx="2725312" cy="1080000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D2F73048-8841-2D72-6D30-40DDE318B3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32350" y="1163630"/>
              <a:ext cx="2725312" cy="1080000"/>
            </a:xfrm>
            <a:prstGeom prst="rect">
              <a:avLst/>
            </a:prstGeom>
          </p:spPr>
        </p:pic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FB56862A-C18D-E2C4-AF57-5EC9FA52716E}"/>
                </a:ext>
              </a:extLst>
            </p:cNvPr>
            <p:cNvSpPr/>
            <p:nvPr/>
          </p:nvSpPr>
          <p:spPr>
            <a:xfrm>
              <a:off x="8986416" y="1338507"/>
              <a:ext cx="391111" cy="111852"/>
            </a:xfrm>
            <a:prstGeom prst="roundRect">
              <a:avLst/>
            </a:prstGeom>
            <a:solidFill>
              <a:srgbClr val="FFFF00">
                <a:alpha val="2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사각형: 둥근 모서리 43">
              <a:extLst>
                <a:ext uri="{FF2B5EF4-FFF2-40B4-BE49-F238E27FC236}">
                  <a16:creationId xmlns:a16="http://schemas.microsoft.com/office/drawing/2014/main" id="{F406FCA8-DF79-35AF-CC48-E897A7A46BF6}"/>
                </a:ext>
              </a:extLst>
            </p:cNvPr>
            <p:cNvSpPr/>
            <p:nvPr/>
          </p:nvSpPr>
          <p:spPr>
            <a:xfrm>
              <a:off x="9718782" y="1842274"/>
              <a:ext cx="391111" cy="111852"/>
            </a:xfrm>
            <a:prstGeom prst="roundRect">
              <a:avLst/>
            </a:prstGeom>
            <a:solidFill>
              <a:srgbClr val="FFFF00">
                <a:alpha val="2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47C16BD5-4AE1-26AC-8220-95A77A57AF9A}"/>
              </a:ext>
            </a:extLst>
          </p:cNvPr>
          <p:cNvGrpSpPr/>
          <p:nvPr/>
        </p:nvGrpSpPr>
        <p:grpSpPr>
          <a:xfrm>
            <a:off x="8517584" y="2016293"/>
            <a:ext cx="2725312" cy="1080000"/>
            <a:chOff x="8132350" y="2440923"/>
            <a:chExt cx="2725312" cy="1080000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8F0DCB26-C906-D08E-C9AD-DFD67FF50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32350" y="2440923"/>
              <a:ext cx="2725312" cy="1080000"/>
            </a:xfrm>
            <a:prstGeom prst="rect">
              <a:avLst/>
            </a:prstGeom>
          </p:spPr>
        </p:pic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654D51D6-AB3A-2FE1-2BEF-C3D5C3AC0409}"/>
                </a:ext>
              </a:extLst>
            </p:cNvPr>
            <p:cNvSpPr/>
            <p:nvPr/>
          </p:nvSpPr>
          <p:spPr>
            <a:xfrm>
              <a:off x="8986416" y="2585005"/>
              <a:ext cx="391111" cy="111852"/>
            </a:xfrm>
            <a:prstGeom prst="roundRect">
              <a:avLst/>
            </a:prstGeom>
            <a:solidFill>
              <a:srgbClr val="FFFF00">
                <a:alpha val="2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ABF41F37-87C8-D7F7-4359-DC27ABD856A4}"/>
                </a:ext>
              </a:extLst>
            </p:cNvPr>
            <p:cNvSpPr/>
            <p:nvPr/>
          </p:nvSpPr>
          <p:spPr>
            <a:xfrm>
              <a:off x="9718782" y="3103119"/>
              <a:ext cx="391111" cy="111852"/>
            </a:xfrm>
            <a:prstGeom prst="roundRect">
              <a:avLst/>
            </a:prstGeom>
            <a:solidFill>
              <a:srgbClr val="FFFF00">
                <a:alpha val="2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2DC94365-91C7-57D6-AE64-208A31FB6BE6}"/>
              </a:ext>
            </a:extLst>
          </p:cNvPr>
          <p:cNvGrpSpPr/>
          <p:nvPr/>
        </p:nvGrpSpPr>
        <p:grpSpPr>
          <a:xfrm>
            <a:off x="8517584" y="3294373"/>
            <a:ext cx="2725312" cy="1080000"/>
            <a:chOff x="8132350" y="3645672"/>
            <a:chExt cx="2725312" cy="1080000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82AEB750-54DF-736E-D9AB-15098C4FEC7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32350" y="3645672"/>
              <a:ext cx="2725312" cy="1080000"/>
            </a:xfrm>
            <a:prstGeom prst="rect">
              <a:avLst/>
            </a:prstGeom>
          </p:spPr>
        </p:pic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6BF6F2DF-9ECF-0D41-3E93-E4B6171E2555}"/>
                </a:ext>
              </a:extLst>
            </p:cNvPr>
            <p:cNvSpPr/>
            <p:nvPr/>
          </p:nvSpPr>
          <p:spPr>
            <a:xfrm>
              <a:off x="9003348" y="3794054"/>
              <a:ext cx="585151" cy="121711"/>
            </a:xfrm>
            <a:prstGeom prst="roundRect">
              <a:avLst/>
            </a:prstGeom>
            <a:solidFill>
              <a:srgbClr val="FFFF00">
                <a:alpha val="2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사각형: 둥근 모서리 45">
              <a:extLst>
                <a:ext uri="{FF2B5EF4-FFF2-40B4-BE49-F238E27FC236}">
                  <a16:creationId xmlns:a16="http://schemas.microsoft.com/office/drawing/2014/main" id="{3791B8F5-353D-039C-8A84-A95FCF712E4B}"/>
                </a:ext>
              </a:extLst>
            </p:cNvPr>
            <p:cNvSpPr/>
            <p:nvPr/>
          </p:nvSpPr>
          <p:spPr>
            <a:xfrm>
              <a:off x="9718782" y="4296919"/>
              <a:ext cx="391111" cy="111852"/>
            </a:xfrm>
            <a:prstGeom prst="roundRect">
              <a:avLst/>
            </a:prstGeom>
            <a:solidFill>
              <a:srgbClr val="FFFF00">
                <a:alpha val="2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515110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CDAD2-3FF2-942E-F7AE-54E2718BA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309395-6F18-CC59-5674-D1B27E328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자가용 이용비용</a:t>
            </a:r>
            <a:r>
              <a:rPr lang="en-US" altLang="ko-KR" dirty="0"/>
              <a:t> (1)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467176-53D0-691F-6764-D49F52D19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CF5297-0560-2A62-3538-1730F2AD1149}"/>
              </a:ext>
            </a:extLst>
          </p:cNvPr>
          <p:cNvSpPr txBox="1"/>
          <p:nvPr/>
        </p:nvSpPr>
        <p:spPr>
          <a:xfrm>
            <a:off x="288790" y="958844"/>
            <a:ext cx="10817360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해운대까지 주행할 때의 </a:t>
            </a:r>
            <a:r>
              <a:rPr lang="en-US" altLang="ko-KR" sz="1600" spc="-50" dirty="0"/>
              <a:t>‘</a:t>
            </a:r>
            <a:r>
              <a:rPr lang="ko-KR" altLang="en-US" sz="1600" spc="-50" dirty="0"/>
              <a:t>차량 보유비용</a:t>
            </a:r>
            <a:r>
              <a:rPr lang="en-US" altLang="ko-KR" sz="1600" spc="-50" dirty="0"/>
              <a:t>’</a:t>
            </a:r>
            <a:r>
              <a:rPr lang="ko-KR" altLang="en-US" sz="1600" spc="-50" dirty="0"/>
              <a:t>은 자가용을 </a:t>
            </a:r>
            <a:r>
              <a:rPr lang="en-US" altLang="ko-KR" sz="1600" spc="-50" dirty="0"/>
              <a:t>1km </a:t>
            </a:r>
            <a:r>
              <a:rPr lang="ko-KR" altLang="en-US" sz="1600" spc="-50" dirty="0"/>
              <a:t>주행할 때 들어가는 비용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단위비용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을 구하고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거기에 해운대까지 주행할 거리를 곱하는 방식으로 계산하고자 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단위비용은 자가용을 구입 한 시점 </a:t>
            </a:r>
            <a:r>
              <a:rPr lang="ko-KR" altLang="en-US" sz="1600" spc="-50" dirty="0" err="1"/>
              <a:t>부터</a:t>
            </a:r>
            <a:r>
              <a:rPr lang="ko-KR" altLang="en-US" sz="1600" spc="-50" dirty="0"/>
              <a:t> 수명이 다 할 때까지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폐차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들어가는 모든 비용을 더해서 총 비용을 구하고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거기에 수명이 다 할 때까지의 총 주행거리를 나누어 계산하고자 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50101C6-203E-89E8-CAD2-5CA62492B0C5}"/>
                  </a:ext>
                </a:extLst>
              </p:cNvPr>
              <p:cNvSpPr txBox="1"/>
              <p:nvPr/>
            </p:nvSpPr>
            <p:spPr>
              <a:xfrm>
                <a:off x="1979983" y="1929459"/>
                <a:ext cx="7477714" cy="4234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>
                          <a:latin typeface="Cambria Math" panose="02040503050406030204" pitchFamily="18" charset="0"/>
                        </a:rPr>
                        <m:t>차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량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보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유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비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용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원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단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위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비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용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원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𝑘𝑚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주행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거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리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𝑘𝑚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50101C6-203E-89E8-CAD2-5CA62492B0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983" y="1929459"/>
                <a:ext cx="7477714" cy="42344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B89696C-7B11-7E53-3873-3CA48D70FE00}"/>
                  </a:ext>
                </a:extLst>
              </p:cNvPr>
              <p:cNvSpPr txBox="1"/>
              <p:nvPr/>
            </p:nvSpPr>
            <p:spPr>
              <a:xfrm>
                <a:off x="1572842" y="4686634"/>
                <a:ext cx="5981444" cy="6283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단위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비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용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원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𝑘𝑚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 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총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비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용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원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총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주</m:t>
                          </m:r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행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거</m:t>
                          </m:r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리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𝑘𝑚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B89696C-7B11-7E53-3873-3CA48D70FE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2842" y="4686634"/>
                <a:ext cx="5981444" cy="6283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61881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74E17-79DB-CE1B-25FE-53BE539CE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E33B7E-7639-F55B-F933-B398D6485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자가용 이용비용</a:t>
            </a:r>
            <a:r>
              <a:rPr lang="en-US" altLang="ko-KR" dirty="0"/>
              <a:t> (2)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62804F-869D-5D98-D629-502A56538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EE19D0-7CC0-3307-8B0F-F2B340A1448E}"/>
              </a:ext>
            </a:extLst>
          </p:cNvPr>
          <p:cNvSpPr txBox="1"/>
          <p:nvPr/>
        </p:nvSpPr>
        <p:spPr>
          <a:xfrm>
            <a:off x="288790" y="958844"/>
            <a:ext cx="10512560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여기서 총 비용은 아래 수식처럼 차량구입비와 연간 운영비를 더한 것과 같다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차량구입비는 차를 구입할 때 한 번만 지불한다</a:t>
            </a:r>
            <a:r>
              <a:rPr lang="en-US" altLang="ko-KR" sz="1600" spc="-50" dirty="0"/>
              <a:t>. (25,000,000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연간 운영비는 </a:t>
            </a:r>
            <a:r>
              <a:rPr lang="en-US" altLang="ko-KR" sz="1600" spc="-50" dirty="0"/>
              <a:t>15</a:t>
            </a:r>
            <a:r>
              <a:rPr lang="ko-KR" altLang="en-US" sz="1600" spc="-50" dirty="0"/>
              <a:t>년 동안 매년 지불한다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매년 </a:t>
            </a:r>
            <a:r>
              <a:rPr lang="en-US" altLang="ko-KR" sz="1600" spc="-50" dirty="0"/>
              <a:t>1,500,000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연간 운영비는 미래에 발생하는 것이므로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현재가치로 할인을 해주어야 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할인율은 </a:t>
            </a:r>
            <a:r>
              <a:rPr lang="en-US" altLang="ko-KR" sz="1600" spc="-50" dirty="0"/>
              <a:t>5% </a:t>
            </a:r>
            <a:r>
              <a:rPr lang="ko-KR" altLang="en-US" sz="1600" spc="-50" dirty="0"/>
              <a:t>라고 하자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위 식을 통해 총 비용을 계산해보면 </a:t>
            </a:r>
            <a:r>
              <a:rPr lang="en-US" altLang="ko-KR" sz="1600" spc="-50" dirty="0"/>
              <a:t>40,569,487</a:t>
            </a:r>
            <a:r>
              <a:rPr lang="ko-KR" altLang="en-US" sz="1600" spc="-50" dirty="0"/>
              <a:t>원 이다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엑셀 참고</a:t>
            </a:r>
            <a:r>
              <a:rPr lang="en-US" altLang="ko-KR" sz="1600" spc="-50" dirty="0"/>
              <a:t>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총 주행거리는 연간 주행거리의 합으로 구할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2025</a:t>
            </a:r>
            <a:r>
              <a:rPr lang="ko-KR" altLang="en-US" sz="1600" spc="-50" dirty="0"/>
              <a:t>년의 </a:t>
            </a:r>
            <a:r>
              <a:rPr lang="en-US" altLang="ko-KR" sz="1600" spc="-50" dirty="0"/>
              <a:t>1km</a:t>
            </a:r>
            <a:r>
              <a:rPr lang="ko-KR" altLang="en-US" sz="1600" spc="-50" dirty="0"/>
              <a:t>와</a:t>
            </a:r>
            <a:r>
              <a:rPr lang="en-US" altLang="ko-KR" sz="1600" spc="-50" dirty="0"/>
              <a:t> 2040</a:t>
            </a:r>
            <a:r>
              <a:rPr lang="ko-KR" altLang="en-US" sz="1600" spc="-50" dirty="0"/>
              <a:t>년의 </a:t>
            </a:r>
            <a:r>
              <a:rPr lang="en-US" altLang="ko-KR" sz="1600" spc="-50" dirty="0"/>
              <a:t>1km</a:t>
            </a:r>
            <a:r>
              <a:rPr lang="ko-KR" altLang="en-US" sz="1600" spc="-50" dirty="0"/>
              <a:t>의 길이는 언제나 같으므로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주행거리는 시간에 대해 할인을 할 필요가 없다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총 거리는 </a:t>
            </a:r>
            <a:r>
              <a:rPr lang="en-US" altLang="ko-KR" sz="1600" spc="-50" dirty="0"/>
              <a:t>225,000km (=15,000km/</a:t>
            </a:r>
            <a:r>
              <a:rPr lang="ko-KR" altLang="en-US" sz="1600" spc="-50" dirty="0"/>
              <a:t>년</a:t>
            </a:r>
            <a:r>
              <a:rPr lang="en-US" altLang="ko-KR" sz="1600" spc="-50" dirty="0"/>
              <a:t> x 15</a:t>
            </a:r>
            <a:r>
              <a:rPr lang="ko-KR" altLang="en-US" sz="1600" spc="-50" dirty="0"/>
              <a:t>년</a:t>
            </a:r>
            <a:r>
              <a:rPr lang="en-US" altLang="ko-KR" sz="1600" spc="-50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5C3EDDE-7DFD-B910-AD3A-7928EBD79DC5}"/>
                  </a:ext>
                </a:extLst>
              </p:cNvPr>
              <p:cNvSpPr txBox="1"/>
              <p:nvPr/>
            </p:nvSpPr>
            <p:spPr>
              <a:xfrm>
                <a:off x="2831192" y="2876450"/>
                <a:ext cx="3699637" cy="60875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총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비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용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차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량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구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입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비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+ </m:t>
                      </m:r>
                      <m:nary>
                        <m:naryPr>
                          <m:chr m:val="∑"/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sup>
                        <m:e>
                          <m:f>
                            <m:f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400" i="1">
                                      <a:latin typeface="Cambria Math" panose="02040503050406030204" pitchFamily="18" charset="0"/>
                                    </a:rPr>
                                    <m:t>연</m:t>
                                  </m:r>
                                  <m:r>
                                    <a:rPr lang="ko-KR" altLang="en-US" sz="1400" i="1" smtClean="0">
                                      <a:latin typeface="Cambria Math" panose="02040503050406030204" pitchFamily="18" charset="0"/>
                                    </a:rPr>
                                    <m:t>간</m:t>
                                  </m:r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ko-KR" altLang="en-US" sz="1400" i="1">
                                      <a:latin typeface="Cambria Math" panose="02040503050406030204" pitchFamily="18" charset="0"/>
                                    </a:rPr>
                                    <m:t>운</m:t>
                                  </m:r>
                                  <m:r>
                                    <a:rPr lang="ko-KR" altLang="en-US" sz="1400" i="1" smtClean="0">
                                      <a:latin typeface="Cambria Math" panose="02040503050406030204" pitchFamily="18" charset="0"/>
                                    </a:rPr>
                                    <m:t>영</m:t>
                                  </m:r>
                                  <m:r>
                                    <a:rPr lang="ko-KR" altLang="en-US" sz="1400" i="1">
                                      <a:latin typeface="Cambria Math" panose="02040503050406030204" pitchFamily="18" charset="0"/>
                                    </a:rPr>
                                    <m:t>비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num>
                            <m:den>
                              <m:sSup>
                                <m:sSupPr>
                                  <m:ctrlP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(1+</m:t>
                                  </m:r>
                                  <m:r>
                                    <a:rPr lang="ko-KR" altLang="en-US" sz="1400" i="1">
                                      <a:latin typeface="Cambria Math" panose="02040503050406030204" pitchFamily="18" charset="0"/>
                                    </a:rPr>
                                    <m:t>할</m:t>
                                  </m:r>
                                  <m:r>
                                    <a:rPr lang="ko-KR" altLang="en-US" sz="1400" i="1" smtClean="0">
                                      <a:latin typeface="Cambria Math" panose="02040503050406030204" pitchFamily="18" charset="0"/>
                                    </a:rPr>
                                    <m:t>인</m:t>
                                  </m:r>
                                  <m:r>
                                    <a:rPr lang="ko-KR" altLang="en-US" sz="1400" i="1">
                                      <a:latin typeface="Cambria Math" panose="02040503050406030204" pitchFamily="18" charset="0"/>
                                    </a:rPr>
                                    <m:t>율</m:t>
                                  </m:r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5C3EDDE-7DFD-B910-AD3A-7928EBD79D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1192" y="2876450"/>
                <a:ext cx="3699637" cy="608756"/>
              </a:xfrm>
              <a:prstGeom prst="rect">
                <a:avLst/>
              </a:prstGeom>
              <a:blipFill>
                <a:blip r:embed="rId2"/>
                <a:stretch>
                  <a:fillRect b="-1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07297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8F4F4-103F-B6E9-846F-515EE80BC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7202FC-6827-CE45-5133-49059D888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에너지의 뜻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A73469-AD84-BCC9-D65B-29491723A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6A4F89-A9B3-C1D7-C4EF-6C0941B4E7B6}"/>
              </a:ext>
            </a:extLst>
          </p:cNvPr>
          <p:cNvSpPr txBox="1"/>
          <p:nvPr/>
        </p:nvSpPr>
        <p:spPr>
          <a:xfrm>
            <a:off x="288790" y="958844"/>
            <a:ext cx="11693660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보통 물리학에서는 에너지를 </a:t>
            </a:r>
            <a:r>
              <a:rPr lang="en-US" altLang="ko-KR" sz="1600" spc="-50" dirty="0"/>
              <a:t>‘</a:t>
            </a:r>
            <a:r>
              <a:rPr lang="ko-KR" altLang="en-US" sz="1600" b="1" spc="-50" dirty="0"/>
              <a:t>일</a:t>
            </a:r>
            <a:r>
              <a:rPr lang="en-US" altLang="ko-KR" sz="1600" b="1" spc="-50" dirty="0"/>
              <a:t>(work)</a:t>
            </a:r>
            <a:r>
              <a:rPr lang="ko-KR" altLang="en-US" sz="1600" b="1" spc="-50" dirty="0"/>
              <a:t>을 할 수 있는 능력</a:t>
            </a:r>
            <a:r>
              <a:rPr lang="en-US" altLang="ko-KR" sz="1600" spc="-50" dirty="0"/>
              <a:t>‘ </a:t>
            </a:r>
            <a:r>
              <a:rPr lang="ko-KR" altLang="en-US" sz="1600" spc="-50" dirty="0"/>
              <a:t>이라고 정의한다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에너지를 측정하는 단위는 줄</a:t>
            </a:r>
            <a:r>
              <a:rPr lang="en-US" altLang="ko-KR" sz="1600" spc="-50" dirty="0"/>
              <a:t>(Joule)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1</a:t>
            </a:r>
            <a:r>
              <a:rPr lang="ko-KR" altLang="en-US" sz="1600" spc="-50" dirty="0"/>
              <a:t>줄</a:t>
            </a:r>
            <a:r>
              <a:rPr lang="en-US" altLang="ko-KR" sz="1600" spc="-50" dirty="0"/>
              <a:t>(Joule)</a:t>
            </a:r>
            <a:r>
              <a:rPr lang="ko-KR" altLang="en-US" sz="1600" spc="-50" dirty="0"/>
              <a:t>은 대략 </a:t>
            </a:r>
            <a:r>
              <a:rPr lang="en-US" altLang="ko-KR" sz="1600" spc="-50" dirty="0"/>
              <a:t>100g</a:t>
            </a:r>
            <a:r>
              <a:rPr lang="ko-KR" altLang="en-US" sz="1600" spc="-50" dirty="0"/>
              <a:t> </a:t>
            </a:r>
            <a:r>
              <a:rPr lang="ko-KR" altLang="en-US" sz="1600" spc="-50" dirty="0" err="1"/>
              <a:t>짜리</a:t>
            </a:r>
            <a:r>
              <a:rPr lang="ko-KR" altLang="en-US" sz="1600" spc="-50" dirty="0"/>
              <a:t> 사과 하나를 </a:t>
            </a:r>
            <a:r>
              <a:rPr lang="en-US" altLang="ko-KR" sz="1600" spc="-50" dirty="0"/>
              <a:t>10cm </a:t>
            </a:r>
            <a:r>
              <a:rPr lang="ko-KR" altLang="en-US" sz="1600" spc="-50" dirty="0"/>
              <a:t>들어올리는 데 필요한 에너지라고 생각하면 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1</a:t>
            </a:r>
            <a:r>
              <a:rPr lang="ko-KR" altLang="en-US" sz="1600" spc="-50" dirty="0"/>
              <a:t>줄</a:t>
            </a:r>
            <a:r>
              <a:rPr lang="en-US" altLang="ko-KR" sz="1600" spc="-50" dirty="0"/>
              <a:t>(Joule)</a:t>
            </a:r>
            <a:r>
              <a:rPr lang="ko-KR" altLang="en-US" sz="1600" spc="-50" dirty="0"/>
              <a:t>은 </a:t>
            </a:r>
            <a:r>
              <a:rPr lang="en-US" altLang="ko-KR" sz="1600" spc="-50" dirty="0"/>
              <a:t>0.00024kcal</a:t>
            </a:r>
            <a:r>
              <a:rPr lang="ko-KR" altLang="en-US" sz="1600" spc="-50" dirty="0"/>
              <a:t> 같다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1988359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63F1E-91F6-D414-2D4A-DB2E797ED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6E0351-F03E-20EE-91C7-121CE564B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자가용 이용비용 </a:t>
            </a:r>
            <a:r>
              <a:rPr lang="en-US" altLang="ko-KR" dirty="0"/>
              <a:t>(3)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BA8319-10DE-8A22-0CEA-A878BEE09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33</a:t>
            </a:fld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5091743-1918-8BCA-4D50-B1F31424E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3920" y="1540454"/>
            <a:ext cx="5559290" cy="475239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44A87E5-2CC5-3A10-7114-03F397EF437C}"/>
              </a:ext>
            </a:extLst>
          </p:cNvPr>
          <p:cNvSpPr txBox="1"/>
          <p:nvPr/>
        </p:nvSpPr>
        <p:spPr>
          <a:xfrm>
            <a:off x="288790" y="947070"/>
            <a:ext cx="5944230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이제 총비용과 총거리를 알고 있으니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아반떼로 </a:t>
            </a:r>
            <a:r>
              <a:rPr lang="en-US" altLang="ko-KR" sz="1600" spc="-50" dirty="0"/>
              <a:t>1km</a:t>
            </a:r>
            <a:r>
              <a:rPr lang="ko-KR" altLang="en-US" sz="1600" spc="-50" dirty="0"/>
              <a:t>를 주행하는데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소요되는 평균비용을 구할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40,569,487</a:t>
            </a:r>
            <a:r>
              <a:rPr lang="ko-KR" altLang="en-US" sz="1600" spc="-50" dirty="0"/>
              <a:t>원 </a:t>
            </a:r>
            <a:r>
              <a:rPr lang="en-US" altLang="ko-KR" sz="1600" spc="-50" dirty="0"/>
              <a:t>/ 225,000km = 180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/km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다시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해운대 놀러가는 거를 생각해보자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오른쪽 그림에서 보는 것처럼 해운대까지 총 </a:t>
            </a:r>
            <a:r>
              <a:rPr lang="en-US" altLang="ko-KR" sz="1600" spc="-50" dirty="0"/>
              <a:t>284km</a:t>
            </a:r>
            <a:r>
              <a:rPr lang="ko-KR" altLang="en-US" sz="1600" spc="-50" dirty="0"/>
              <a:t>를 주행해야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해운대까지의 </a:t>
            </a:r>
            <a:r>
              <a:rPr lang="en-US" altLang="ko-KR" sz="1600" spc="-50" dirty="0"/>
              <a:t>‘</a:t>
            </a:r>
            <a:r>
              <a:rPr lang="ko-KR" altLang="en-US" sz="1600" spc="-50" dirty="0"/>
              <a:t>자가용 이용비용</a:t>
            </a:r>
            <a:r>
              <a:rPr lang="en-US" altLang="ko-KR" sz="1600" spc="-50" dirty="0"/>
              <a:t>’</a:t>
            </a:r>
            <a:r>
              <a:rPr lang="ko-KR" altLang="en-US" sz="1600" spc="-50" dirty="0"/>
              <a:t>은 </a:t>
            </a:r>
            <a:r>
              <a:rPr lang="en-US" altLang="ko-KR" sz="1600" spc="-50" dirty="0"/>
              <a:t>51,208</a:t>
            </a:r>
            <a:r>
              <a:rPr lang="ko-KR" altLang="en-US" sz="1600" spc="-50" dirty="0"/>
              <a:t>원인 셈이다</a:t>
            </a:r>
            <a:r>
              <a:rPr lang="en-US" altLang="ko-KR" sz="1600" spc="-50" dirty="0"/>
              <a:t>. (180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/km x 284km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=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51,208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65704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8759</TotalTime>
  <Words>2889</Words>
  <Application>Microsoft Office PowerPoint</Application>
  <PresentationFormat>와이드스크린</PresentationFormat>
  <Paragraphs>401</Paragraphs>
  <Slides>33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40" baseType="lpstr">
      <vt:lpstr>HY헤드라인M</vt:lpstr>
      <vt:lpstr>KoPub돋움체 Light</vt:lpstr>
      <vt:lpstr>맑은 고딕</vt:lpstr>
      <vt:lpstr>Arial</vt:lpstr>
      <vt:lpstr>Cambria Math</vt:lpstr>
      <vt:lpstr>Wingdings</vt:lpstr>
      <vt:lpstr>Office 테마</vt:lpstr>
      <vt:lpstr>생 활 속 의   경 제</vt:lpstr>
      <vt:lpstr>Section 0. 해운대 놀러가기</vt:lpstr>
      <vt:lpstr>한밭대에서 해운대 바다 놀러가기</vt:lpstr>
      <vt:lpstr>Section 1-1. 자가용 (비용)</vt:lpstr>
      <vt:lpstr>승용차를 이용할 때 드는 비용</vt:lpstr>
      <vt:lpstr>자가용 정보</vt:lpstr>
      <vt:lpstr>연료비용</vt:lpstr>
      <vt:lpstr>통행료</vt:lpstr>
      <vt:lpstr>해운대까지 드는 총 비용</vt:lpstr>
      <vt:lpstr>Section 1-2. 자가용 (탄소배출)</vt:lpstr>
      <vt:lpstr>자가용 이용시 탄소배출량</vt:lpstr>
      <vt:lpstr>자가용 이용시 탄소배출량</vt:lpstr>
      <vt:lpstr>SI 접두어</vt:lpstr>
      <vt:lpstr>자가용 이용시 탄소배출량</vt:lpstr>
      <vt:lpstr>자가용 이용시 탄소배출량</vt:lpstr>
      <vt:lpstr>자가용 이용시 탄소배출량</vt:lpstr>
      <vt:lpstr>Section 2-1. 대중교통 (비용)</vt:lpstr>
      <vt:lpstr>대중교통을 이용할 때 드는 비용</vt:lpstr>
      <vt:lpstr>Section 2-2. 대중교통 (탄소배출)</vt:lpstr>
      <vt:lpstr>KTX 이용시 탄소배출량</vt:lpstr>
      <vt:lpstr>KTX 이용시 탄소배출량</vt:lpstr>
      <vt:lpstr>KTX 이용시 탄소배출량</vt:lpstr>
      <vt:lpstr>KTX 이용시 탄소배출량</vt:lpstr>
      <vt:lpstr>1003번 이용시 탄소배출량</vt:lpstr>
      <vt:lpstr>KTX 이용시 탄소배출량</vt:lpstr>
      <vt:lpstr>생각해보자.</vt:lpstr>
      <vt:lpstr>Thank you</vt:lpstr>
      <vt:lpstr>대중교통을 이용할 때 드는 비용 (부산 1003번 버스)</vt:lpstr>
      <vt:lpstr>대중교통을 이용할 때 드는 비용</vt:lpstr>
      <vt:lpstr>자가용 이용비용 (1)</vt:lpstr>
      <vt:lpstr>자가용 이용비용 (2)</vt:lpstr>
      <vt:lpstr>에너지의 뜻</vt:lpstr>
      <vt:lpstr>자가용 이용비용 (3)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Seungho Jeon</cp:lastModifiedBy>
  <cp:revision>416</cp:revision>
  <dcterms:created xsi:type="dcterms:W3CDTF">2025-07-05T05:15:23Z</dcterms:created>
  <dcterms:modified xsi:type="dcterms:W3CDTF">2026-04-17T06:58:48Z</dcterms:modified>
</cp:coreProperties>
</file>