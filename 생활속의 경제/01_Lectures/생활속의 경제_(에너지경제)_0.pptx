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375" r:id="rId2"/>
    <p:sldId id="566" r:id="rId3"/>
    <p:sldId id="552" r:id="rId4"/>
    <p:sldId id="572" r:id="rId5"/>
    <p:sldId id="577" r:id="rId6"/>
    <p:sldId id="575" r:id="rId7"/>
    <p:sldId id="579" r:id="rId8"/>
    <p:sldId id="576" r:id="rId9"/>
    <p:sldId id="582" r:id="rId10"/>
    <p:sldId id="578" r:id="rId11"/>
    <p:sldId id="584" r:id="rId12"/>
    <p:sldId id="586" r:id="rId13"/>
    <p:sldId id="585" r:id="rId14"/>
    <p:sldId id="590" r:id="rId15"/>
    <p:sldId id="593" r:id="rId16"/>
    <p:sldId id="591" r:id="rId17"/>
    <p:sldId id="587" r:id="rId18"/>
    <p:sldId id="592" r:id="rId19"/>
    <p:sldId id="594" r:id="rId20"/>
    <p:sldId id="596" r:id="rId21"/>
    <p:sldId id="597" r:id="rId22"/>
    <p:sldId id="602" r:id="rId23"/>
    <p:sldId id="595" r:id="rId24"/>
    <p:sldId id="567" r:id="rId25"/>
    <p:sldId id="598" r:id="rId26"/>
    <p:sldId id="599" r:id="rId27"/>
    <p:sldId id="601" r:id="rId28"/>
    <p:sldId id="603" r:id="rId29"/>
    <p:sldId id="600" r:id="rId30"/>
    <p:sldId id="605" r:id="rId31"/>
    <p:sldId id="570" r:id="rId32"/>
    <p:sldId id="364" r:id="rId33"/>
    <p:sldId id="604" r:id="rId34"/>
    <p:sldId id="571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2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 err="1"/>
              <a:t>에</a:t>
            </a:r>
            <a:r>
              <a:rPr lang="ko-KR" altLang="en-US" sz="6600" b="1" i="0" dirty="0"/>
              <a:t> 너 지 경 제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0. </a:t>
            </a:r>
            <a:r>
              <a:rPr lang="ko-KR" altLang="en-US" sz="4000" b="1" i="0" spc="150" dirty="0"/>
              <a:t>해운대 놀러가기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전승호와 유진영은 여름방학을 맞이하여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해운대 바다에 같이 놀러가기로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둘은 일단 대전역에서 만나기로 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교통수단을 선택해야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 바다까지 갈 수 있는 교통수단은 다음과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 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승용차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승용차를 타고 해운대까지 직접 운전해서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기차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대전역 → 부산역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부산역에 가서</a:t>
            </a:r>
            <a:r>
              <a:rPr lang="en-US" altLang="ko-KR" sz="1600" spc="-50" dirty="0"/>
              <a:t>, 1003</a:t>
            </a:r>
            <a:r>
              <a:rPr lang="ko-KR" altLang="en-US" sz="1600" spc="-50" dirty="0"/>
              <a:t>번 시외버스를 타고 해운대까지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가지 선택지 중에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 가지를 선택해야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평가 기준은 아래와 같이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정도로 생각하고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저비용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저렴한 비용으로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친환경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탄소배출을 가능한 적게 배출 하면서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시간절약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시간이 덜 걸렸으면 좋겠다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CB5F-EDBA-F4B3-586F-86008FDF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CE0F4-64A0-CAB4-7EA1-86F7F1627D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0F506-1BC8-6D9F-8EF7-4B85A1A4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AD9D70-6C9D-0B65-C668-12DA0277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1-1.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3478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B4F-F6FD-3197-5BC5-FEFC82BF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D6610-6E9F-47ED-DEE9-75808B6A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승용차를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EC9CF-B32B-B1FF-F413-6A1EB6E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82E7C-D291-40A7-CD98-8FAE18EF3A74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승용차를 이용하는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들어가는 비용을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승용차가 있어야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자가용을 보유하고 있던지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렌터카를 빌리던지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택시를 타던지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 갈 때 승용차를 사용한 비용은 계산되어야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자가용을 보유하고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타고 간다고 해보자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자가용을 타고 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 시점에서 자가용 이용비용이 실제로 발생 하지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구입비와 유지비용에 이미 일부 포함되어 있다고 보는 것이 합당하다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연료를 넣어야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’)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해운대 갈 때 소비하는 연료양을 계산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종류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연비</a:t>
            </a:r>
            <a:r>
              <a:rPr lang="en-US" altLang="ko-KR" sz="1600" spc="-50" dirty="0"/>
              <a:t>(km/liter, km/kWh)</a:t>
            </a:r>
            <a:r>
              <a:rPr lang="ko-KR" altLang="en-US" sz="1600" spc="-50" dirty="0"/>
              <a:t>에 따라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사용료를 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통행료</a:t>
            </a:r>
            <a:r>
              <a:rPr lang="en-US" altLang="ko-KR" sz="1600" spc="-50" dirty="0"/>
              <a:t>’)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국도를 이용하면 통행료는 무료지만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시간이 너무 오래 걸린다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빠르게 도착할 수 있는 고속도로를 이용하자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국도이용시 거리는 </a:t>
            </a:r>
            <a:r>
              <a:rPr lang="en-US" altLang="ko-KR" sz="1600" spc="-50" dirty="0"/>
              <a:t>304km,</a:t>
            </a:r>
            <a:r>
              <a:rPr lang="ko-KR" altLang="en-US" sz="1600" spc="-50" dirty="0"/>
              <a:t> 통행료는</a:t>
            </a:r>
            <a:r>
              <a:rPr lang="en-US" altLang="ko-KR" sz="1600" spc="-50" dirty="0"/>
              <a:t> 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고속도로이용시 거리는 </a:t>
            </a:r>
            <a:r>
              <a:rPr lang="en-US" altLang="ko-KR" sz="1600" spc="-50" dirty="0"/>
              <a:t>284km, </a:t>
            </a:r>
            <a:r>
              <a:rPr lang="ko-KR" altLang="en-US" sz="1600" spc="-50" dirty="0"/>
              <a:t>통행료는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29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4840-8B48-E7DB-7C16-FB30282D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54F2F-EA8D-42D9-290D-D2305CE4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DE70E-0904-C8AF-33B7-BB1C5F12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8B6D1-8974-ECEB-339F-70DB42491F6A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자가용으로 </a:t>
            </a:r>
            <a:r>
              <a:rPr lang="en-US" altLang="ko-KR" sz="1600" spc="-50" dirty="0"/>
              <a:t>‘2026 </a:t>
            </a:r>
            <a:r>
              <a:rPr lang="ko-KR" altLang="en-US" sz="1600" spc="-50" dirty="0"/>
              <a:t>아반떼 가솔린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차량을 보유하고 있다고 하자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차량구입비로 </a:t>
            </a:r>
            <a:r>
              <a:rPr lang="en-US" altLang="ko-KR" sz="1600" spc="-50" dirty="0"/>
              <a:t>25,000,000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취등록세 포함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지불하였다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운영비로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자동차세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정비비용 포함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매년 지불하고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주행거리는 </a:t>
            </a:r>
            <a:r>
              <a:rPr lang="en-US" altLang="ko-KR" sz="1600" spc="-50" dirty="0"/>
              <a:t>15,000km </a:t>
            </a:r>
            <a:r>
              <a:rPr lang="ko-KR" altLang="en-US" sz="1600" spc="-50" dirty="0"/>
              <a:t>이며</a:t>
            </a:r>
            <a:r>
              <a:rPr lang="en-US" altLang="ko-KR" sz="1600" spc="-50" dirty="0"/>
              <a:t>, 15</a:t>
            </a:r>
            <a:r>
              <a:rPr lang="ko-KR" altLang="en-US" sz="1600" spc="-50" dirty="0"/>
              <a:t>년 동안 탈 계획이다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보이는 것과 같이 연비는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15km</a:t>
            </a:r>
            <a:r>
              <a:rPr lang="ko-KR" altLang="en-US" sz="1600" spc="-50" dirty="0"/>
              <a:t>를 주행할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A5868-EE07-A5FA-E0F2-99B1F2D3DE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20667" y="2996139"/>
            <a:ext cx="6156472" cy="346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0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DAD2-3FF2-942E-F7AE-54E2718B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09395-6F18-CC59-5674-D1B27E32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67176-53D0-691F-6764-D49F52D1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F5297-0560-2A62-3538-1730F2AD1149}"/>
              </a:ext>
            </a:extLst>
          </p:cNvPr>
          <p:cNvSpPr txBox="1"/>
          <p:nvPr/>
        </p:nvSpPr>
        <p:spPr>
          <a:xfrm>
            <a:off x="288790" y="958844"/>
            <a:ext cx="108173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주행할 때의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자가용을 </a:t>
            </a:r>
            <a:r>
              <a:rPr lang="en-US" altLang="ko-KR" sz="1600" spc="-50" dirty="0"/>
              <a:t>1km </a:t>
            </a:r>
            <a:r>
              <a:rPr lang="ko-KR" altLang="en-US" sz="1600" spc="-50" dirty="0"/>
              <a:t>주행할 때 들어가는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단위비용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해운대까지 주행할 거리를 곱하는 방식으로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단위비용은 자가용을 구입 한 시점 </a:t>
            </a:r>
            <a:r>
              <a:rPr lang="ko-KR" altLang="en-US" sz="1600" spc="-50" dirty="0" err="1"/>
              <a:t>부터</a:t>
            </a:r>
            <a:r>
              <a:rPr lang="ko-KR" altLang="en-US" sz="1600" spc="-50" dirty="0"/>
              <a:t> 수명이 다 할 때까지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폐차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들어가는 모든 비용을 더해서 총 비용을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수명이 다 할 때까지의 총 주행거리를 나누어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/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주행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/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단위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용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주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행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리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18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4E17-79DB-CE1B-25FE-53BE539C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3B7E-7639-F55B-F933-B398D648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2804F-869D-5D98-D629-502A565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E19D0-7CC0-3307-8B0F-F2B340A1448E}"/>
              </a:ext>
            </a:extLst>
          </p:cNvPr>
          <p:cNvSpPr txBox="1"/>
          <p:nvPr/>
        </p:nvSpPr>
        <p:spPr>
          <a:xfrm>
            <a:off x="288790" y="958844"/>
            <a:ext cx="105125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여기서 총 비용은 아래 수식처럼 차량구입비와 연간 운영비를 더한 것과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차량구입비는 차를 구입할 때 한 번만 지불한다</a:t>
            </a:r>
            <a:r>
              <a:rPr lang="en-US" altLang="ko-KR" sz="1600" spc="-50" dirty="0"/>
              <a:t>. (25,000,000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운영비는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년 동안 매년 지불한다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매년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연간 운영비는 미래에 발생하는 것이므로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현재가치로 할인을 해주어야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할인율은 </a:t>
            </a:r>
            <a:r>
              <a:rPr lang="en-US" altLang="ko-KR" sz="1600" spc="-50" dirty="0"/>
              <a:t>5% </a:t>
            </a:r>
            <a:r>
              <a:rPr lang="ko-KR" altLang="en-US" sz="1600" spc="-50" dirty="0"/>
              <a:t>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위 식을 통해 총 비용을 계산해보면 </a:t>
            </a: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엑셀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총 주행거리는 연간 주행거리의 합으로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와</a:t>
            </a:r>
            <a:r>
              <a:rPr lang="en-US" altLang="ko-KR" sz="1600" spc="-50" dirty="0"/>
              <a:t> 2040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의 길이는 언제나 같으므로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주행거리는 시간에 대해 할인을 할 필요가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총 거리는 </a:t>
            </a:r>
            <a:r>
              <a:rPr lang="en-US" altLang="ko-KR" sz="1600" spc="-50" dirty="0"/>
              <a:t>225,000km (=15,000km/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x 15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/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입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연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간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운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영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비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할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인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율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blipFill>
                <a:blip r:embed="rId2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72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3F1E-91F6-D414-2D4A-DB2E797E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E0351-F03E-20EE-91C7-121CE564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A8319-10DE-8A22-0CEA-A878BEE0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091743-1918-8BCA-4D50-B1F31424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4A87E5-2CC5-3A10-7114-03F397EF437C}"/>
              </a:ext>
            </a:extLst>
          </p:cNvPr>
          <p:cNvSpPr txBox="1"/>
          <p:nvPr/>
        </p:nvSpPr>
        <p:spPr>
          <a:xfrm>
            <a:off x="288790" y="947070"/>
            <a:ext cx="594423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총비용과 총거리를 알고 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아반떼로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를 주행하는데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소요되는 평균비용을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/ 225,000km = 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해운대 놀러가는 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그림에서 보는 것처럼 해운대까지 총 </a:t>
            </a:r>
            <a:r>
              <a:rPr lang="en-US" altLang="ko-KR" sz="1600" spc="-50" dirty="0"/>
              <a:t>284km</a:t>
            </a:r>
            <a:r>
              <a:rPr lang="ko-KR" altLang="en-US" sz="1600" spc="-50" dirty="0"/>
              <a:t>를 주행해야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해운대까지의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원인 셈이다</a:t>
            </a:r>
            <a:r>
              <a:rPr lang="en-US" altLang="ko-KR" sz="1600" spc="-50" dirty="0"/>
              <a:t>. (180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 x 284km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570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C504-1771-02FA-3930-F158F134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E67B7-1176-760C-9756-509C0479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연료비용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97747-3120-A353-071B-B9C16494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B3B1D-AACA-12BE-FB82-226042686C64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연료비용은 아래의 식과 같이 휘발유가격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연비의 역수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주행거리의 곱을 통해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/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2ED603FF-DF9F-6D1B-27F9-AB428CCB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582" y="2239682"/>
            <a:ext cx="3770168" cy="4065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869C7-B8CE-264A-55D4-329382E03B8E}"/>
              </a:ext>
            </a:extLst>
          </p:cNvPr>
          <p:cNvSpPr txBox="1"/>
          <p:nvPr/>
        </p:nvSpPr>
        <p:spPr>
          <a:xfrm>
            <a:off x="288789" y="2077370"/>
            <a:ext cx="738700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휘발유 가격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근처에서 가장 저렴한 주유소에서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1,787</a:t>
            </a:r>
            <a:r>
              <a:rPr lang="ko-KR" altLang="en-US" sz="1600" spc="-50" dirty="0"/>
              <a:t>원에 팔고 있으니 거기서 주유하려고 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일 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연비는 </a:t>
            </a:r>
            <a:r>
              <a:rPr lang="en-US" altLang="ko-KR" sz="1600" spc="-50" dirty="0"/>
              <a:t>15.0 km/liter</a:t>
            </a:r>
            <a:r>
              <a:rPr lang="ko-KR" altLang="en-US" sz="1600" spc="-50" dirty="0"/>
              <a:t>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7 </a:t>
            </a:r>
            <a:r>
              <a:rPr lang="ko-KR" altLang="en-US" sz="1600" spc="-50" dirty="0"/>
              <a:t>자가용정보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주행거리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해운대까지는 총 </a:t>
            </a:r>
            <a:r>
              <a:rPr lang="en-US" altLang="ko-KR" sz="1600" spc="-50" dirty="0"/>
              <a:t>284km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연료비로 </a:t>
            </a:r>
            <a:r>
              <a:rPr lang="en-US" altLang="ko-KR" sz="1600" spc="-50" dirty="0"/>
              <a:t>33,834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02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E902-8B18-AA69-BF5C-36E50A52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5ABF-96C2-B371-47A2-EC346C87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통행료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274F3-3B66-A2E6-4D0B-FA65EB9C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B98F06-C9FD-CD50-298F-AC5252E2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04DCB-9FF3-BAB4-FA1D-976DEF4E4F61}"/>
              </a:ext>
            </a:extLst>
          </p:cNvPr>
          <p:cNvSpPr txBox="1"/>
          <p:nvPr/>
        </p:nvSpPr>
        <p:spPr>
          <a:xfrm>
            <a:off x="288790" y="947070"/>
            <a:ext cx="594423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경부고속도로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부산외곽순환고속도로</a:t>
            </a:r>
            <a:r>
              <a:rPr lang="ko-KR" altLang="en-US" sz="1600" spc="-50" dirty="0"/>
              <a:t> 총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종류의 고속도로를 이용할 예정이며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통행료로 총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18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7D3-EAFC-B90C-E9E8-67A7B2E3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AC47-6F3D-F192-35E9-F70DDAF7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해운대까지 드는 총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50459-53F8-D28A-583F-533EA604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4802E-C20A-63D0-CD7C-C97E579C7C16}"/>
              </a:ext>
            </a:extLst>
          </p:cNvPr>
          <p:cNvSpPr txBox="1"/>
          <p:nvPr/>
        </p:nvSpPr>
        <p:spPr>
          <a:xfrm>
            <a:off x="288790" y="958844"/>
            <a:ext cx="1150189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자가용을 타고 가는데 드는 비용을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가지로 나누어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결과는 다음과 같았다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 이용 비용</a:t>
            </a:r>
            <a:r>
              <a:rPr lang="en-US" altLang="ko-KR" sz="1600" spc="-50" dirty="0"/>
              <a:t>: 51,208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: 33,834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통행료</a:t>
            </a:r>
            <a:r>
              <a:rPr lang="en-US" altLang="ko-KR" sz="1600" spc="-50" dirty="0"/>
              <a:t>: 15,300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항목의 비용을 모두 합치면 총 </a:t>
            </a:r>
            <a:r>
              <a:rPr lang="en-US" altLang="ko-KR" sz="1600" spc="-50" dirty="0"/>
              <a:t>100,342</a:t>
            </a:r>
            <a:r>
              <a:rPr lang="ko-KR" altLang="en-US" sz="1600" spc="-50" dirty="0"/>
              <a:t> 원이 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총비용을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명이 이용하였으니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로 나누어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인당으로 계산해보면 아래와 같다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5CBC0A-FED0-A9AD-44B6-ADA2F8DED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13287"/>
              </p:ext>
            </p:extLst>
          </p:nvPr>
        </p:nvGraphicFramePr>
        <p:xfrm>
          <a:off x="1351533" y="4266100"/>
          <a:ext cx="7695945" cy="7428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통행료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인당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08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D89C-5E89-47FF-FF37-56AF935B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A19D3F-3C09-2D77-30A2-72B2CDAA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076B2-0E02-B524-72F8-E25DFE0F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1B2E66B-0C69-642F-2A4E-8AE32C50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1-2.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52955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0BAF-E1B6-E67F-FDC4-4B80900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F56FB-C5CB-981F-B304-49BC4909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99806-EB55-0461-2C42-DB1F7457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382F0-FB6F-9A72-36C4-9B33B57980F4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승용차를 타고 갈 때의 탄소배출량은 휘발유의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자동차는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엑셀을 밟으면 휘발유가 연소되고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연소과정에서 생기는 힘으로 자동차 바퀴를 돌려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자동차가 움직인다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휘발유를 태우는데 왜 힘이 생기나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휘발유는 원래 힘을 가지고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리터가 얼마나 큰 힘을 낼 수 있는지 숫자로 나타낸 것이 발열량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열량</a:t>
            </a:r>
            <a:r>
              <a:rPr lang="en-US" altLang="ko-KR" sz="1600" spc="-50" dirty="0"/>
              <a:t>).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우리도 밥이나 빵을 먹고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힘으로 살아가고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다이어트를 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빵 하나를 먹어도 칼로리를 체크하게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칼로리가 발열량이다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/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6027" r="-3810" b="-194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689345B-F63E-9058-3C4F-19CF5305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24" y="5139331"/>
            <a:ext cx="2780532" cy="1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7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DEC3-02F5-E329-E684-03D0E1DE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AE1C8-BE53-EF3E-0B1D-6BAED274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3AFB0-E192-0A83-A1A9-F3766AF5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A0A3F-E2BD-255B-12DB-E5AF30503E1E}"/>
              </a:ext>
            </a:extLst>
          </p:cNvPr>
          <p:cNvSpPr txBox="1"/>
          <p:nvPr/>
        </p:nvSpPr>
        <p:spPr>
          <a:xfrm>
            <a:off x="288790" y="958844"/>
            <a:ext cx="803728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발열량의 단위가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앞서 수식에는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MJ?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단팥빵에는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kcal?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MJ</a:t>
            </a:r>
            <a:r>
              <a:rPr lang="ko-KR" altLang="en-US" sz="1600" spc="-50" dirty="0"/>
              <a:t>는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M</a:t>
            </a:r>
            <a:r>
              <a:rPr lang="en-US" altLang="ko-KR" sz="1600" spc="-50" dirty="0"/>
              <a:t>ega </a:t>
            </a:r>
            <a:r>
              <a:rPr lang="en-US" altLang="ko-KR" sz="1600" b="1" spc="-50" dirty="0"/>
              <a:t>J</a:t>
            </a:r>
            <a:r>
              <a:rPr lang="en-US" altLang="ko-KR" sz="1600" spc="-50" dirty="0"/>
              <a:t>oule </a:t>
            </a:r>
            <a:r>
              <a:rPr lang="ko-KR" altLang="en-US" sz="1600" spc="-50" dirty="0"/>
              <a:t>의 약자이고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kcal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k</a:t>
            </a:r>
            <a:r>
              <a:rPr lang="en-US" altLang="ko-KR" sz="1600" spc="-50" dirty="0"/>
              <a:t>ilo</a:t>
            </a:r>
            <a:r>
              <a:rPr lang="en-US" altLang="ko-KR" sz="1600" b="1" spc="-50" dirty="0"/>
              <a:t>cal</a:t>
            </a:r>
            <a:r>
              <a:rPr lang="en-US" altLang="ko-KR" sz="1600" spc="-50" dirty="0"/>
              <a:t>orie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 모두 에너지의 크기를 나타내는 단위다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MJ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kcal</a:t>
            </a:r>
            <a:r>
              <a:rPr lang="ko-KR" altLang="en-US" sz="1600" spc="-50" dirty="0"/>
              <a:t>는 서로 환산이 가능한 단위들이다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1MJ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239kcal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슬라이드의 </a:t>
            </a:r>
            <a:r>
              <a:rPr lang="ko-KR" altLang="en-US" sz="1600" spc="-50" dirty="0" err="1"/>
              <a:t>단팥빵</a:t>
            </a:r>
            <a:r>
              <a:rPr lang="ko-KR" altLang="en-US" sz="1600" spc="-50" dirty="0"/>
              <a:t> 칼로리를 </a:t>
            </a:r>
            <a:r>
              <a:rPr lang="en-US" altLang="ko-KR" sz="1600" spc="-50" dirty="0"/>
              <a:t>1.11MJ</a:t>
            </a:r>
            <a:r>
              <a:rPr lang="ko-KR" altLang="en-US" sz="1600" spc="-50" dirty="0"/>
              <a:t>로 표기해도 상관없다는 뜻이다</a:t>
            </a:r>
            <a:r>
              <a:rPr lang="en-US" altLang="ko-KR" sz="1600" spc="-50" dirty="0"/>
              <a:t>.)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inch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 (1cm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0.394 inch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.) </a:t>
            </a:r>
            <a:r>
              <a:rPr lang="ko-KR" altLang="en-US" sz="1600" spc="-50" dirty="0"/>
              <a:t>또 다른 예로는 섭씨와 화씨</a:t>
            </a:r>
            <a:r>
              <a:rPr lang="en-US" altLang="ko-KR" sz="1600" spc="-50" dirty="0"/>
              <a:t>, km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mile </a:t>
            </a:r>
            <a:r>
              <a:rPr lang="ko-KR" altLang="en-US" sz="1600" spc="-50" dirty="0"/>
              <a:t>등이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에너지도 똑같이 </a:t>
            </a:r>
            <a:r>
              <a:rPr lang="en-US" altLang="ko-KR" sz="1600" spc="-50" dirty="0"/>
              <a:t>MJ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kcal</a:t>
            </a:r>
            <a:r>
              <a:rPr lang="ko-KR" altLang="en-US" sz="1600" spc="-50" dirty="0"/>
              <a:t>로 재기도 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차는 휘발유 차량이고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오른쪽 표에 의하면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리터를 연소시키면 </a:t>
            </a:r>
            <a:r>
              <a:rPr lang="en-US" altLang="ko-KR" sz="1600" spc="-50" dirty="0"/>
              <a:t>32.4MJ</a:t>
            </a:r>
            <a:r>
              <a:rPr lang="ko-KR" altLang="en-US" sz="1600" spc="-50" dirty="0"/>
              <a:t>의 에너지가 생긴다는 것을 알 수 있다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022EA9-92F1-34F4-8642-823F511EDBC1}"/>
              </a:ext>
            </a:extLst>
          </p:cNvPr>
          <p:cNvGrpSpPr/>
          <p:nvPr/>
        </p:nvGrpSpPr>
        <p:grpSpPr>
          <a:xfrm>
            <a:off x="8528051" y="883082"/>
            <a:ext cx="3054350" cy="5291100"/>
            <a:chOff x="-1003299" y="1320800"/>
            <a:chExt cx="3054350" cy="529110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8B20C12-2816-2A73-09B1-7F0525CA2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02" r="50889" b="39485"/>
            <a:stretch>
              <a:fillRect/>
            </a:stretch>
          </p:blipFill>
          <p:spPr>
            <a:xfrm>
              <a:off x="-1003299" y="1320800"/>
              <a:ext cx="3054350" cy="52911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E22738E-353D-37B1-3713-83A09B3CB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173" t="4743" r="-161" b="93609"/>
            <a:stretch>
              <a:fillRect/>
            </a:stretch>
          </p:blipFill>
          <p:spPr>
            <a:xfrm>
              <a:off x="1123950" y="1460500"/>
              <a:ext cx="869949" cy="1524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08190D-4ADD-6414-D56B-DEA1FB104A32}"/>
              </a:ext>
            </a:extLst>
          </p:cNvPr>
          <p:cNvSpPr txBox="1"/>
          <p:nvPr/>
        </p:nvSpPr>
        <p:spPr>
          <a:xfrm>
            <a:off x="8409782" y="6241029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</p:spTree>
    <p:extLst>
      <p:ext uri="{BB962C8B-B14F-4D97-AF65-F5344CB8AC3E}">
        <p14:creationId xmlns:p14="http://schemas.microsoft.com/office/powerpoint/2010/main" val="159573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963A-678D-D82F-8C01-1FF58B09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75F0B-7030-737A-835F-F1391F91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C1411-20E8-1633-E5A9-27C3880E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DE803-9C99-33DA-A5EC-5045E8177FDD}"/>
              </a:ext>
            </a:extLst>
          </p:cNvPr>
          <p:cNvSpPr txBox="1"/>
          <p:nvPr/>
        </p:nvSpPr>
        <p:spPr>
          <a:xfrm>
            <a:off x="288790" y="958844"/>
            <a:ext cx="717881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배출계수란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화석에너지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연소할 때 나오는 탄소의 양이다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화석에너지는 원래 탄소를 함유하고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오른쪽 표를 보면 에너지 종류별로 탄소 함유량이 다른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우리가 신재생에너지라고 부르는 태양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바람에너지는 배출계수가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빛과 바람은 탄소를 함유하고 있지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 보면 휘발유의 배출계수는 </a:t>
            </a:r>
            <a:r>
              <a:rPr lang="en-US" altLang="ko-KR" sz="1600" spc="-50" dirty="0"/>
              <a:t>0.000019731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tC</a:t>
            </a:r>
            <a:r>
              <a:rPr lang="ko-KR" altLang="en-US" sz="1600" spc="-50" dirty="0"/>
              <a:t>는 </a:t>
            </a:r>
            <a:r>
              <a:rPr lang="en-US" altLang="ko-KR" sz="1600" b="1" spc="-50" dirty="0" err="1"/>
              <a:t>t</a:t>
            </a:r>
            <a:r>
              <a:rPr lang="en-US" altLang="ko-KR" sz="1600" spc="-50" dirty="0" err="1"/>
              <a:t>onne</a:t>
            </a:r>
            <a:r>
              <a:rPr lang="en-US" altLang="ko-KR" sz="1600" spc="-50" dirty="0"/>
              <a:t> of </a:t>
            </a:r>
            <a:r>
              <a:rPr lang="en-US" altLang="ko-KR" sz="1600" b="1" spc="-50" dirty="0"/>
              <a:t>C</a:t>
            </a:r>
            <a:r>
              <a:rPr lang="en-US" altLang="ko-KR" sz="1600" spc="-50" dirty="0"/>
              <a:t>arbon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약자 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무게를 측정하는 단위다</a:t>
            </a:r>
            <a:r>
              <a:rPr lang="en-US" altLang="ko-KR" sz="1600" spc="-50" dirty="0"/>
              <a:t>. 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    ※  </a:t>
            </a:r>
            <a:r>
              <a:rPr lang="ko-KR" altLang="en-US" sz="1600" spc="-50" dirty="0"/>
              <a:t>말그대로 탄소를 </a:t>
            </a:r>
            <a:r>
              <a:rPr lang="en-US" altLang="ko-KR" sz="1600" spc="-50" dirty="0"/>
              <a:t>1tC</a:t>
            </a:r>
            <a:r>
              <a:rPr lang="ko-KR" altLang="en-US" sz="1600" spc="-50" dirty="0"/>
              <a:t> 만큼 모아서 체중계에 재면 </a:t>
            </a:r>
            <a:r>
              <a:rPr lang="en-US" altLang="ko-KR" sz="1600" spc="-50" dirty="0"/>
              <a:t>1,000kg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휘발유를 </a:t>
            </a:r>
            <a:r>
              <a:rPr lang="en-US" altLang="ko-KR" sz="1600" spc="-50" dirty="0"/>
              <a:t>1MJ </a:t>
            </a:r>
            <a:r>
              <a:rPr lang="ko-KR" altLang="en-US" sz="1600" spc="-50" dirty="0"/>
              <a:t>만큼 연소를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탄소가 </a:t>
            </a:r>
            <a:r>
              <a:rPr lang="en-US" altLang="ko-KR" sz="1600" spc="-50" dirty="0"/>
              <a:t>0.000019731 </a:t>
            </a:r>
            <a:r>
              <a:rPr lang="en-US" altLang="ko-KR" sz="1600" spc="-50" dirty="0" err="1"/>
              <a:t>tC</a:t>
            </a:r>
            <a:r>
              <a:rPr lang="ko-KR" altLang="en-US" sz="1600" spc="-50" dirty="0"/>
              <a:t>만큼 나온다는 의미다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CEAB1-9E78-8444-4BD2-D15A06552C7D}"/>
              </a:ext>
            </a:extLst>
          </p:cNvPr>
          <p:cNvSpPr txBox="1"/>
          <p:nvPr/>
        </p:nvSpPr>
        <p:spPr>
          <a:xfrm>
            <a:off x="8649508" y="4682067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830B6-A8EC-4DC9-3AF6-A9AF142B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40" t="2754" b="31939"/>
          <a:stretch>
            <a:fillRect/>
          </a:stretch>
        </p:blipFill>
        <p:spPr>
          <a:xfrm>
            <a:off x="7607299" y="1219200"/>
            <a:ext cx="4193397" cy="34628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217310-7E9D-D075-8FD8-D65DF1E83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" r="63751" b="97246"/>
          <a:stretch>
            <a:fillRect/>
          </a:stretch>
        </p:blipFill>
        <p:spPr>
          <a:xfrm>
            <a:off x="7607299" y="1073149"/>
            <a:ext cx="1741489" cy="14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81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BE09-0688-964A-B00B-E019F6B3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D30D-DA2B-43D7-460A-65EB3274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C3BBA8-2062-12EA-5B46-B732DC92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탄소배출량 계산을 위한 첫번째 항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소비량을 계산해보자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아래의 식을 통해 해운대까지 휘발유 몇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리터</a:t>
                </a:r>
                <a:r>
                  <a:rPr lang="en-US" altLang="ko-KR" sz="1600" spc="-50" dirty="0"/>
                  <a:t>(liter)</a:t>
                </a:r>
                <a:r>
                  <a:rPr lang="ko-KR" altLang="en-US" sz="1600" spc="-50" dirty="0"/>
                  <a:t>를 사용하게 될지 계산할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해운대 까지 총 </a:t>
                </a:r>
                <a:r>
                  <a:rPr lang="en-US" altLang="ko-KR" sz="1600" spc="-50" dirty="0"/>
                  <a:t>284km </a:t>
                </a:r>
                <a:r>
                  <a:rPr lang="ko-KR" altLang="en-US" sz="1600" spc="-50" dirty="0"/>
                  <a:t>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내 차량의 연비는 </a:t>
                </a:r>
                <a:r>
                  <a:rPr lang="en-US" altLang="ko-KR" sz="1600" spc="-50" dirty="0"/>
                  <a:t>15.0km/liter </a:t>
                </a:r>
                <a:r>
                  <a:rPr lang="ko-KR" altLang="en-US" sz="1600" spc="-50" dirty="0"/>
                  <a:t>였다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해운대 까지 필요한 휘발유의 양은 </a:t>
                </a:r>
                <a:r>
                  <a:rPr lang="en-US" altLang="ko-KR" sz="1600" spc="-50" dirty="0"/>
                  <a:t>18.9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liter</a:t>
                </a:r>
                <a:r>
                  <a:rPr lang="ko-KR" altLang="en-US" sz="1600" spc="-50" dirty="0"/>
                  <a:t> 이다</a:t>
                </a:r>
                <a:r>
                  <a:rPr lang="en-US" altLang="ko-KR" sz="1600" spc="-50" dirty="0"/>
                  <a:t>. (284/15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18.9)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blipFill>
                <a:blip r:embed="rId2"/>
                <a:stretch>
                  <a:fillRect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/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blipFill>
                <a:blip r:embed="rId3"/>
                <a:stretch>
                  <a:fillRect t="-157377" r="-1947" b="-2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29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0025-27CC-8526-6F09-0221CE2A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E4F58-20B2-28F3-A4FB-596D258A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AAA7B-8D92-B26F-62E9-34105BAD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/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자가용 </a:t>
                </a:r>
                <a:r>
                  <a:rPr lang="ko-KR" altLang="en-US" sz="1600" spc="-50" dirty="0" err="1"/>
                  <a:t>이용시</a:t>
                </a:r>
                <a:r>
                  <a:rPr lang="ko-KR" altLang="en-US" sz="1600" spc="-50" dirty="0"/>
                  <a:t>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소비량</a:t>
                </a:r>
                <a:r>
                  <a:rPr lang="en-US" altLang="ko-KR" sz="1600" spc="-50" dirty="0"/>
                  <a:t>: 18.9 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발열량</a:t>
                </a:r>
                <a:r>
                  <a:rPr lang="en-US" altLang="ko-KR" sz="1600" spc="-50" dirty="0"/>
                  <a:t>: 32.4 MJ/liter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배출계수</a:t>
                </a:r>
                <a:r>
                  <a:rPr lang="en-US" altLang="ko-KR" sz="1600" spc="-50" dirty="0"/>
                  <a:t>: 0.000019731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18.9 x 32.4 x 0.000019731 </a:t>
                </a:r>
                <a14:m>
                  <m:oMath xmlns:m="http://schemas.openxmlformats.org/officeDocument/2006/math"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0.012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우리가 아반떼를 타고 해운대까지 주행하는데 총 </a:t>
                </a:r>
                <a:r>
                  <a:rPr lang="en-US" altLang="ko-KR" sz="1600" spc="-50" dirty="0"/>
                  <a:t>0.012</a:t>
                </a:r>
                <a:r>
                  <a:rPr lang="ko-KR" altLang="en-US" sz="1600" spc="-50" dirty="0"/>
                  <a:t>톤의 탄소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배출하게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12kg (0.012</a:t>
                </a:r>
                <a:r>
                  <a:rPr lang="ko-KR" altLang="en-US" sz="1600" spc="-50" dirty="0"/>
                  <a:t>톤과 같다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탄소들은 대기로 날아가 흩어져서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온실가스 효과를 만들어낸다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지구는 매일 태양으로부터 열을 받아서 뜨거워지는 동시에 지구는 스스로 열을 방출을 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대기에 머무르고 있는 탄소는 지구가 방출하는 열을 대기 밖으로 </a:t>
                </a:r>
                <a:r>
                  <a:rPr lang="ko-KR" altLang="en-US" sz="1600" spc="-50" dirty="0" err="1"/>
                  <a:t>못나가게끔</a:t>
                </a:r>
                <a:r>
                  <a:rPr lang="ko-KR" altLang="en-US" sz="1600" spc="-50" dirty="0"/>
                  <a:t> 그 모든 열을 흡수해버리는 성질이 있다</a:t>
                </a:r>
                <a:r>
                  <a:rPr lang="en-US" altLang="ko-KR" sz="1600" spc="-50" dirty="0"/>
                  <a:t>. 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 결과 지구는 계속 뜨거워지고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blipFill>
                <a:blip r:embed="rId2"/>
                <a:stretch>
                  <a:fillRect b="-6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721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E167-B445-A888-3401-FAAA3842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C1C075-A6B6-6137-72EF-53A8B6FD21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E7618-A2A2-4921-F918-59258ABB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59A5E32-4DC6-2AF0-CEFF-B25A1CDF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2-1.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279767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5620-9D09-0967-D4B1-3701ED1E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6858D-38EB-C48E-7174-A5CFDA3D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75ED0-E006-131F-6624-D540ACB8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8E90-ED2B-2622-DE3A-AD7944097063}"/>
              </a:ext>
            </a:extLst>
          </p:cNvPr>
          <p:cNvSpPr txBox="1"/>
          <p:nvPr/>
        </p:nvSpPr>
        <p:spPr>
          <a:xfrm>
            <a:off x="288790" y="958844"/>
            <a:ext cx="1091051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기차를 이용하는 데 들어가는 비용은 간단하다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대전역에서 부산역까지 기차표를 구입해야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SRT, KTX, ITX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무궁화는 하루에 </a:t>
            </a:r>
            <a:r>
              <a:rPr lang="ko-KR" altLang="en-US" sz="1600" spc="-50" dirty="0" err="1"/>
              <a:t>몇대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안다니기</a:t>
            </a:r>
            <a:r>
              <a:rPr lang="ko-KR" altLang="en-US" sz="1600" spc="-50" dirty="0"/>
              <a:t> 때문에 제외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빠를 수록 운임요금이 비싸며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우리는 중간 정도 수준인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간다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부산역에서 해운대까지 버스비를 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이것도 마찬가지로 빠를 수록 버스요금이 싸다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분이 걸리는데</a:t>
            </a:r>
            <a:r>
              <a:rPr lang="en-US" altLang="ko-KR" sz="1600" spc="-50" dirty="0"/>
              <a:t>, 1,550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1003</a:t>
            </a:r>
            <a:r>
              <a:rPr lang="ko-KR" altLang="en-US" sz="1600" spc="-50" dirty="0"/>
              <a:t>번 버스는 </a:t>
            </a:r>
            <a:r>
              <a:rPr lang="en-US" altLang="ko-KR" sz="1600" spc="-50" dirty="0"/>
              <a:t>56</a:t>
            </a:r>
            <a:r>
              <a:rPr lang="ko-KR" altLang="en-US" sz="1600" spc="-50" dirty="0"/>
              <a:t>분 걸리는데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</a:t>
            </a:r>
            <a:r>
              <a:rPr lang="en-US" altLang="ko-KR" sz="1600" spc="-50" dirty="0"/>
              <a:t>1003</a:t>
            </a:r>
            <a:r>
              <a:rPr lang="ko-KR" altLang="en-US" sz="1600" spc="-50" dirty="0"/>
              <a:t>번 버스를 타고 간다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282758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B7B5-8E84-E0B4-98E9-A0D86F4D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D7F47-D686-4A0C-3D15-5E07C426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AEBC0-3736-D575-B597-D528A51A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4B818-992B-F5E9-ED11-9FF9C7BF9A9E}"/>
              </a:ext>
            </a:extLst>
          </p:cNvPr>
          <p:cNvSpPr txBox="1"/>
          <p:nvPr/>
        </p:nvSpPr>
        <p:spPr>
          <a:xfrm>
            <a:off x="288790" y="958844"/>
            <a:ext cx="1091051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아래에서 보듯이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09</a:t>
            </a:r>
            <a:r>
              <a:rPr lang="ko-KR" altLang="en-US" sz="1600" spc="-50" dirty="0"/>
              <a:t>분이 걸리고</a:t>
            </a:r>
            <a:r>
              <a:rPr lang="en-US" altLang="ko-KR" sz="1600" spc="-50" dirty="0"/>
              <a:t>, 30,000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일반실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어른기준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해운대로 갈 때는 </a:t>
            </a:r>
            <a:r>
              <a:rPr lang="en-US" altLang="ko-KR" sz="1600" spc="-50" dirty="0"/>
              <a:t>40</a:t>
            </a:r>
            <a:r>
              <a:rPr lang="ko-KR" altLang="en-US" sz="1600" spc="-50" dirty="0"/>
              <a:t>번 버스 혹은 </a:t>
            </a: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타면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, 1550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   1001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58</a:t>
            </a:r>
            <a:r>
              <a:rPr lang="ko-KR" altLang="en-US" sz="1600" spc="-50" dirty="0"/>
              <a:t>분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이용하면 가격은 </a:t>
            </a:r>
            <a:r>
              <a:rPr lang="en-US" altLang="ko-KR" sz="1600" spc="-50" dirty="0"/>
              <a:t>600</a:t>
            </a:r>
            <a:r>
              <a:rPr lang="ko-KR" altLang="en-US" sz="1600" spc="-50" dirty="0"/>
              <a:t>원 더 내지만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분이나 빨리 가므로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버스를 이용하자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</a:t>
            </a:r>
            <a:r>
              <a:rPr lang="ko-KR" altLang="en-US" sz="1600" spc="-50" dirty="0" err="1"/>
              <a:t>기차비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버스비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발생하므로 총 </a:t>
            </a:r>
            <a:r>
              <a:rPr lang="en-US" altLang="ko-KR" sz="1600" spc="-50" dirty="0"/>
              <a:t>32,100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BB5336-8CD1-719D-5021-740FA940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234"/>
          <a:stretch>
            <a:fillRect/>
          </a:stretch>
        </p:blipFill>
        <p:spPr>
          <a:xfrm>
            <a:off x="1833683" y="2047061"/>
            <a:ext cx="5058877" cy="2861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083100F-77EF-FA97-289E-E81B3CF08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489" y="1859289"/>
            <a:ext cx="5067387" cy="1898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21A4B4B-139C-162E-AEA3-1E4A4B12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34"/>
          <a:stretch>
            <a:fillRect/>
          </a:stretch>
        </p:blipFill>
        <p:spPr>
          <a:xfrm>
            <a:off x="1833683" y="2333302"/>
            <a:ext cx="5058877" cy="28612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79A0694-A892-89CE-5678-A62A13838CE8}"/>
              </a:ext>
            </a:extLst>
          </p:cNvPr>
          <p:cNvSpPr/>
          <p:nvPr/>
        </p:nvSpPr>
        <p:spPr>
          <a:xfrm>
            <a:off x="6501449" y="214707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9F98FBB-9AB8-E389-8794-3B54EC50DD99}"/>
              </a:ext>
            </a:extLst>
          </p:cNvPr>
          <p:cNvSpPr/>
          <p:nvPr/>
        </p:nvSpPr>
        <p:spPr>
          <a:xfrm>
            <a:off x="6501449" y="241309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BD21FB6-CBE0-41FF-7512-D45941CF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22" b="33783"/>
          <a:stretch>
            <a:fillRect/>
          </a:stretch>
        </p:blipFill>
        <p:spPr>
          <a:xfrm>
            <a:off x="1833683" y="2620875"/>
            <a:ext cx="5058877" cy="266030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0DF333-DC6A-2BE7-15F7-C7B5F3D0B32F}"/>
              </a:ext>
            </a:extLst>
          </p:cNvPr>
          <p:cNvSpPr/>
          <p:nvPr/>
        </p:nvSpPr>
        <p:spPr>
          <a:xfrm>
            <a:off x="6501449" y="2673415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8734C0E-9A2E-24FE-0BA2-1F14CC744EFD}"/>
              </a:ext>
            </a:extLst>
          </p:cNvPr>
          <p:cNvSpPr/>
          <p:nvPr/>
        </p:nvSpPr>
        <p:spPr>
          <a:xfrm>
            <a:off x="2174982" y="215554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D95EA25-2306-513C-7A26-86C8CFE27C33}"/>
              </a:ext>
            </a:extLst>
          </p:cNvPr>
          <p:cNvSpPr/>
          <p:nvPr/>
        </p:nvSpPr>
        <p:spPr>
          <a:xfrm>
            <a:off x="2174982" y="2421556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D70820-C578-D56C-1C53-9EB4D2594165}"/>
              </a:ext>
            </a:extLst>
          </p:cNvPr>
          <p:cNvSpPr/>
          <p:nvPr/>
        </p:nvSpPr>
        <p:spPr>
          <a:xfrm>
            <a:off x="2174982" y="268611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23D4DB8F-9F84-0C95-0736-C3F2D2036195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 flipV="1">
            <a:off x="6892560" y="1381742"/>
            <a:ext cx="1625024" cy="8212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4D528D1-4D5F-01BB-515C-627C3804D4A9}"/>
              </a:ext>
            </a:extLst>
          </p:cNvPr>
          <p:cNvCxnSpPr>
            <a:cxnSpLocks/>
            <a:stCxn id="25" idx="3"/>
            <a:endCxn id="12" idx="1"/>
          </p:cNvCxnSpPr>
          <p:nvPr/>
        </p:nvCxnSpPr>
        <p:spPr>
          <a:xfrm>
            <a:off x="6892560" y="2469016"/>
            <a:ext cx="1625024" cy="872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251D3E19-554D-A321-BE51-C9C4596658D4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>
            <a:off x="6892560" y="2729341"/>
            <a:ext cx="1625024" cy="1105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926A522E-CF77-BB2A-E552-891142D43A85}"/>
              </a:ext>
            </a:extLst>
          </p:cNvPr>
          <p:cNvGrpSpPr/>
          <p:nvPr/>
        </p:nvGrpSpPr>
        <p:grpSpPr>
          <a:xfrm>
            <a:off x="8517584" y="841742"/>
            <a:ext cx="2725312" cy="1080000"/>
            <a:chOff x="8132350" y="1163630"/>
            <a:chExt cx="2725312" cy="1080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FB003D2-D970-1D3D-6373-831D16E3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2350" y="1163630"/>
              <a:ext cx="2725312" cy="1080000"/>
            </a:xfrm>
            <a:prstGeom prst="rect">
              <a:avLst/>
            </a:prstGeom>
          </p:spPr>
        </p:pic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07B7A2B5-3CC7-B10F-E791-E7C646CF6BD1}"/>
                </a:ext>
              </a:extLst>
            </p:cNvPr>
            <p:cNvSpPr/>
            <p:nvPr/>
          </p:nvSpPr>
          <p:spPr>
            <a:xfrm>
              <a:off x="8986416" y="1338507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BB1660EB-7463-8DFC-1C62-43D5AA7C7941}"/>
                </a:ext>
              </a:extLst>
            </p:cNvPr>
            <p:cNvSpPr/>
            <p:nvPr/>
          </p:nvSpPr>
          <p:spPr>
            <a:xfrm>
              <a:off x="9718782" y="1842274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A4FCF97-457D-B869-935D-30550C457398}"/>
              </a:ext>
            </a:extLst>
          </p:cNvPr>
          <p:cNvGrpSpPr/>
          <p:nvPr/>
        </p:nvGrpSpPr>
        <p:grpSpPr>
          <a:xfrm>
            <a:off x="8517584" y="2016293"/>
            <a:ext cx="2725312" cy="1080000"/>
            <a:chOff x="8132350" y="2440923"/>
            <a:chExt cx="2725312" cy="1080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001B8D0-521E-C215-4918-CD87150A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2350" y="2440923"/>
              <a:ext cx="2725312" cy="108000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57AF628A-8416-ECCC-510B-990F4467D7CF}"/>
                </a:ext>
              </a:extLst>
            </p:cNvPr>
            <p:cNvSpPr/>
            <p:nvPr/>
          </p:nvSpPr>
          <p:spPr>
            <a:xfrm>
              <a:off x="8986416" y="2585005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909CD181-ECA0-8BB1-FA24-49E59B5E6D05}"/>
                </a:ext>
              </a:extLst>
            </p:cNvPr>
            <p:cNvSpPr/>
            <p:nvPr/>
          </p:nvSpPr>
          <p:spPr>
            <a:xfrm>
              <a:off x="9718782" y="31031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C676ADD-0D03-819F-C1A4-507E4D21DEA2}"/>
              </a:ext>
            </a:extLst>
          </p:cNvPr>
          <p:cNvGrpSpPr/>
          <p:nvPr/>
        </p:nvGrpSpPr>
        <p:grpSpPr>
          <a:xfrm>
            <a:off x="8517584" y="3294373"/>
            <a:ext cx="2725312" cy="1080000"/>
            <a:chOff x="8132350" y="3645672"/>
            <a:chExt cx="2725312" cy="1080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76F573D-730D-544F-41C1-10DCC0D39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2350" y="3645672"/>
              <a:ext cx="2725312" cy="1080000"/>
            </a:xfrm>
            <a:prstGeom prst="rect">
              <a:avLst/>
            </a:prstGeom>
          </p:spPr>
        </p:pic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A4BE913-CBD9-A765-7E30-92A6831AC946}"/>
                </a:ext>
              </a:extLst>
            </p:cNvPr>
            <p:cNvSpPr/>
            <p:nvPr/>
          </p:nvSpPr>
          <p:spPr>
            <a:xfrm>
              <a:off x="9003348" y="3794054"/>
              <a:ext cx="585151" cy="121711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E7279EFE-C00D-BDEF-1AC0-3129EEFDA6A4}"/>
                </a:ext>
              </a:extLst>
            </p:cNvPr>
            <p:cNvSpPr/>
            <p:nvPr/>
          </p:nvSpPr>
          <p:spPr>
            <a:xfrm>
              <a:off x="9718782" y="42969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996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8465-26F6-7E29-0D99-62F00570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F6BA4-2599-4906-C093-FF291846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 </a:t>
            </a:r>
            <a:r>
              <a:rPr lang="en-US" altLang="ko-KR" dirty="0"/>
              <a:t>(</a:t>
            </a:r>
            <a:r>
              <a:rPr lang="ko-KR" altLang="en-US" dirty="0"/>
              <a:t>부산 </a:t>
            </a:r>
            <a:r>
              <a:rPr lang="en-US" altLang="ko-KR" dirty="0"/>
              <a:t>1003</a:t>
            </a:r>
            <a:r>
              <a:rPr lang="ko-KR" altLang="en-US" dirty="0"/>
              <a:t>번 버스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B26109-4882-2E01-9123-252379FC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C8A50-6753-08D5-B029-991F0600620F}"/>
              </a:ext>
            </a:extLst>
          </p:cNvPr>
          <p:cNvSpPr txBox="1"/>
          <p:nvPr/>
        </p:nvSpPr>
        <p:spPr>
          <a:xfrm>
            <a:off x="288790" y="958844"/>
            <a:ext cx="1091051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해운대까지 총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361A99-028A-DAE4-8D58-0C31068E6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34" y="1049611"/>
            <a:ext cx="2540131" cy="17209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808C29-D248-DA66-5060-21008429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04" y="3026985"/>
            <a:ext cx="3796027" cy="314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66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0EC8-82DD-283D-D5B7-C72C7941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5B78EB-1F96-BF37-608F-3788E2387F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23859-5A0A-74D8-8E0B-E7BA0C9B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1903944-00F9-521B-2912-D6237EC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2-2.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77577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D39B-500A-F5DD-49DE-45EA05AA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54B39-A61F-3F22-85AB-26DE4A2D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C5B68-9113-722F-6E94-99F1D817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E9431-CE9E-A19A-EFD8-1E4444EDFFB9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승용차의 탄소배출량을 계산한 것과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기차와 버스의 </a:t>
            </a:r>
            <a:r>
              <a:rPr lang="ko-KR" altLang="en-US" sz="1600" spc="-50" dirty="0" err="1"/>
              <a:t>탄소배출량은도</a:t>
            </a:r>
            <a:r>
              <a:rPr lang="ko-KR" altLang="en-US" sz="1600" spc="-50" dirty="0"/>
              <a:t> 에너지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KTX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지붕에는 외부 전선이 항상 접촉되어 있다고 보면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전선을 통해 외부에서 전력을 공급받고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전력의 힘으로 모터를 굴리고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모터가 작동하면서 바퀴가 굴러가게 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 소비량은 왜 단위가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다른가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에너지형태에 따라 단위를 다르게 사용한다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단 아까 말한대로 단위 간 변환은 가능하다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휘발유는 </a:t>
            </a:r>
            <a:r>
              <a:rPr lang="ko-KR" altLang="en-US" sz="1600" spc="-50" dirty="0" err="1"/>
              <a:t>액체니까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liter</a:t>
            </a:r>
            <a:r>
              <a:rPr lang="ko-KR" altLang="en-US" sz="1600" spc="-50" dirty="0"/>
              <a:t>로 고유단위를 표기하고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석탄은 </a:t>
            </a:r>
            <a:r>
              <a:rPr lang="ko-KR" altLang="en-US" sz="1600" spc="-50" dirty="0" err="1"/>
              <a:t>고체니까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kg</a:t>
            </a:r>
            <a:r>
              <a:rPr lang="ko-KR" altLang="en-US" sz="1600" spc="-50" dirty="0"/>
              <a:t>으로 고유단위를 표기한다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마찬가지로 전기는 전기의 형태이니까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 고유단위를 표기한다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b="1" spc="-50" dirty="0"/>
              <a:t>W</a:t>
            </a:r>
            <a:r>
              <a:rPr lang="en-US" altLang="ko-KR" sz="1600" spc="-50" dirty="0"/>
              <a:t>att</a:t>
            </a:r>
            <a:r>
              <a:rPr lang="en-US" altLang="ko-KR" sz="1600" b="1" spc="-50" dirty="0"/>
              <a:t>h</a:t>
            </a:r>
            <a:r>
              <a:rPr lang="en-US" altLang="ko-KR" sz="1600" spc="-50" dirty="0"/>
              <a:t>our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1,000Wh = 1kWh,   1,000,000Wh = 1MWh </a:t>
            </a:r>
            <a:r>
              <a:rPr lang="ko-KR" altLang="en-US" sz="1600" spc="-50" dirty="0" err="1"/>
              <a:t>이런식으로</a:t>
            </a:r>
            <a:r>
              <a:rPr lang="ko-KR" altLang="en-US" sz="1600" spc="-50" dirty="0"/>
              <a:t> 단위가 커지면 치환해서 쓰기도 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/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blipFill>
                <a:blip r:embed="rId2"/>
                <a:stretch>
                  <a:fillRect t="-124658" r="-4821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54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44B0-DBF8-55D6-C845-A997EBC6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E86E6-0EE9-3E12-BB6E-2994E73D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5D0A5-356B-F043-4AA7-F610F426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4FA3B-0893-5F21-0F7D-3DB230541098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전기의 발열량은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3600MJ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전기에너지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3,600</a:t>
            </a:r>
            <a:r>
              <a:rPr lang="en-US" altLang="ko-KR" sz="1600" spc="-50" dirty="0"/>
              <a:t>MJ </a:t>
            </a:r>
            <a:r>
              <a:rPr lang="ko-KR" altLang="en-US" sz="1600" spc="-50" dirty="0"/>
              <a:t>만큼 열을 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전기도 탄소배출을 하나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전기는 탄소를 갖고 있지 않으므로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탄소배출을 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중요한 점은 전기를 만들 때는 화석연료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사용하기 때문에 탄소배출을 한다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1" u="sng" dirty="0">
              <a:ln w="3175">
                <a:noFill/>
              </a:ln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그럼 전기는 탄소배출계수가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없는건가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전기의 탄소배출계수 </a:t>
            </a:r>
            <a:r>
              <a:rPr lang="en-US" altLang="ko-KR" sz="1600" spc="-50" dirty="0"/>
              <a:t> </a:t>
            </a:r>
            <a:r>
              <a:rPr lang="en-US" altLang="ko-KR" sz="1600" b="1" spc="-50" dirty="0"/>
              <a:t>0.000032</a:t>
            </a:r>
            <a:r>
              <a:rPr lang="en-US" altLang="ko-KR" sz="1600" spc="-50" dirty="0"/>
              <a:t> 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전기는 탄소배출을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안하는데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어떻게 탄소배출계수가 계산 되어 있나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전기는 애초에 만들어 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화석연료를 연소해서 만들어지기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그때 나온 탄소배출량을 감안한 수치이다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우리나라에서 전력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을 쓰면 </a:t>
            </a:r>
            <a:r>
              <a:rPr lang="en-US" altLang="ko-KR" sz="1600" spc="-50" dirty="0"/>
              <a:t>0.114tC</a:t>
            </a:r>
            <a:r>
              <a:rPr lang="ko-KR" altLang="en-US" sz="1600" spc="-50" dirty="0"/>
              <a:t>의 탄소를 배출한 것과 다름이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5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71C33-4141-99F1-AB3D-904A196D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B6AFF-3029-0ECA-D53B-400461C5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C8B8D4-72CF-2E7D-DE99-C212830C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64292"/>
            <a:ext cx="5562797" cy="30262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로 대전에서 부산 갈 때 전력을 얼만큼 사용할까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1km </a:t>
                </a:r>
                <a:r>
                  <a:rPr lang="ko-KR" altLang="en-US" sz="1600" spc="-50" dirty="0"/>
                  <a:t>가는데 </a:t>
                </a:r>
                <a:r>
                  <a:rPr lang="en-US" altLang="ko-KR" sz="1600" spc="-50" dirty="0"/>
                  <a:t>23.74kWh</a:t>
                </a:r>
                <a:r>
                  <a:rPr lang="ko-KR" altLang="en-US" sz="1600" spc="-50" dirty="0"/>
                  <a:t>를 사용한다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대전에서 부산 </a:t>
                </a:r>
                <a:r>
                  <a:rPr lang="ko-KR" altLang="en-US" sz="1600" spc="-50" dirty="0" err="1"/>
                  <a:t>갈때는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258km</a:t>
                </a:r>
                <a:r>
                  <a:rPr lang="ko-KR" altLang="en-US" sz="1600" spc="-50" dirty="0"/>
                  <a:t> 가야하고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6,125kWh, </a:t>
                </a:r>
                <a:r>
                  <a:rPr lang="ko-KR" altLang="en-US" sz="1600" spc="-50" dirty="0"/>
                  <a:t>즉 </a:t>
                </a:r>
                <a:r>
                  <a:rPr lang="en-US" altLang="ko-KR" sz="1600" spc="-50" dirty="0"/>
                  <a:t>6.125MWh</a:t>
                </a:r>
                <a:r>
                  <a:rPr lang="ko-KR" altLang="en-US" sz="1600" spc="-50" dirty="0"/>
                  <a:t>를 소비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기차를 이용할 때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 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전기소비량</a:t>
                </a:r>
                <a:r>
                  <a:rPr lang="en-US" altLang="ko-KR" sz="1600" spc="-50" dirty="0"/>
                  <a:t>: 6.125 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발열량</a:t>
                </a:r>
                <a:r>
                  <a:rPr lang="en-US" altLang="ko-KR" sz="1600" spc="-50" dirty="0"/>
                  <a:t>: 3600 MJ/MWh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배출계수</a:t>
                </a:r>
                <a:r>
                  <a:rPr lang="en-US" altLang="ko-KR" sz="1600" spc="-50" dirty="0"/>
                  <a:t>: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6.125 x 3,600 x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0.71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blipFill>
                <a:blip r:embed="rId3"/>
                <a:stretch>
                  <a:fillRect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E323335-4013-8312-E7E0-855AF1F4B924}"/>
              </a:ext>
            </a:extLst>
          </p:cNvPr>
          <p:cNvSpPr txBox="1"/>
          <p:nvPr/>
        </p:nvSpPr>
        <p:spPr>
          <a:xfrm>
            <a:off x="7214235" y="4196013"/>
            <a:ext cx="3714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en-US" sz="1100" dirty="0"/>
              <a:t>https://www.joongang.co.kr/article/25263290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E7608-E01A-D867-7632-B962E984882D}"/>
              </a:ext>
            </a:extLst>
          </p:cNvPr>
          <p:cNvSpPr txBox="1"/>
          <p:nvPr/>
        </p:nvSpPr>
        <p:spPr>
          <a:xfrm>
            <a:off x="7214235" y="3959760"/>
            <a:ext cx="45967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https://www.koreantrain.com/train-daejeon-busan?utm_source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CAE76-7728-E278-4378-CFE9037BDD8E}"/>
              </a:ext>
            </a:extLst>
          </p:cNvPr>
          <p:cNvSpPr txBox="1"/>
          <p:nvPr/>
        </p:nvSpPr>
        <p:spPr>
          <a:xfrm>
            <a:off x="288790" y="5215884"/>
            <a:ext cx="110459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우리가 탄 기차가 대전역에서 부산역까지 가는데 총 </a:t>
            </a:r>
            <a:r>
              <a:rPr lang="en-US" altLang="ko-KR" sz="1600" spc="-50" dirty="0"/>
              <a:t>0.71</a:t>
            </a:r>
            <a:r>
              <a:rPr lang="ko-KR" altLang="en-US" sz="1600" spc="-50" dirty="0"/>
              <a:t>톤의 탄소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간접적으로 배출하게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기차가 달리면서 직접 배출한 탄소의 양은 </a:t>
            </a:r>
            <a:r>
              <a:rPr lang="en-US" altLang="ko-KR" sz="1600" spc="-50" dirty="0"/>
              <a:t>0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기차가 달리기 위해 사용한 전력을 만드는데 배출한 탄소의 양이 </a:t>
            </a:r>
            <a:r>
              <a:rPr lang="en-US" altLang="ko-KR" sz="1600" spc="-50" dirty="0"/>
              <a:t>710kg </a:t>
            </a:r>
            <a:r>
              <a:rPr lang="ko-KR" altLang="en-US" sz="1600" spc="-50" dirty="0"/>
              <a:t>이라는 의미다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4586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4CEC-6A08-07EF-D6EC-B86C5A90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1B7D-A7B7-D210-DE11-AA810D8D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2B0E6-EB48-6AE3-B555-051AAB5F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3349D-A170-CCD1-C4F1-DE201511EE72}"/>
              </a:ext>
            </a:extLst>
          </p:cNvPr>
          <p:cNvSpPr txBox="1"/>
          <p:nvPr/>
        </p:nvSpPr>
        <p:spPr>
          <a:xfrm>
            <a:off x="288790" y="958844"/>
            <a:ext cx="110459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경우 나 혼자만 전기를 쓴 게 아니고</a:t>
            </a:r>
            <a:r>
              <a:rPr lang="en-US" altLang="ko-KR" sz="1600" spc="-50" dirty="0"/>
              <a:t>, KTX</a:t>
            </a:r>
            <a:r>
              <a:rPr lang="ko-KR" altLang="en-US" sz="1600" spc="-50" dirty="0"/>
              <a:t>에 탑승한 승객 전원이 다 같이 사용하였다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의 간접배출량으로 계산한 </a:t>
            </a:r>
            <a:r>
              <a:rPr lang="en-US" altLang="ko-KR" sz="1600" spc="-50" dirty="0"/>
              <a:t>710kg</a:t>
            </a:r>
            <a:r>
              <a:rPr lang="ko-KR" altLang="en-US" sz="1600" spc="-50" dirty="0"/>
              <a:t>는 대전에서 부산까지 이용한 승객의 숫자로 나누어야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대전에서 부산까지 이용한 승객을 조사한 통계도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정확히 추론하는 것도 불가능하다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일단 우리가 알 수 있는 것은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에 마련된 좌석 수를 알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적어도 이 좌석 수보다 승객이 더 많지는 않을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도 종류별로 좌석수가 다르나 가장 많이 운행하고 있는 </a:t>
            </a:r>
            <a:r>
              <a:rPr lang="en-US" altLang="ko-KR" sz="1600" spc="-50" dirty="0"/>
              <a:t>‘KTX’ </a:t>
            </a:r>
            <a:r>
              <a:rPr lang="ko-KR" altLang="en-US" sz="1600" spc="-50" dirty="0"/>
              <a:t>를 탄다고 가정하자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ADEB71-71A0-6B74-65B0-4ECD1A2D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18" y="3317240"/>
            <a:ext cx="4101992" cy="25252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47A04-1809-DB3E-32F0-5B738B7642A2}"/>
              </a:ext>
            </a:extLst>
          </p:cNvPr>
          <p:cNvSpPr txBox="1"/>
          <p:nvPr/>
        </p:nvSpPr>
        <p:spPr>
          <a:xfrm>
            <a:off x="288790" y="3219444"/>
            <a:ext cx="695529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평일 하루 동안 </a:t>
            </a:r>
            <a:r>
              <a:rPr lang="en-US" altLang="ko-KR" sz="1600" spc="-50" dirty="0"/>
              <a:t>51</a:t>
            </a:r>
            <a:r>
              <a:rPr lang="ko-KR" altLang="en-US" sz="1600" spc="-50" dirty="0"/>
              <a:t>개의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가 대전에서 부산으로 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 </a:t>
            </a:r>
            <a:r>
              <a:rPr lang="en-US" altLang="ko-KR" sz="1600" spc="-50" dirty="0"/>
              <a:t>‘KTX’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청룡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대 운행한다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좌석수</a:t>
            </a:r>
            <a:r>
              <a:rPr lang="en-US" altLang="ko-KR" sz="1600" spc="-50" dirty="0"/>
              <a:t>) KTX: 955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: 379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요일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구간별로 승객이 제 각각 이겠지만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탑승한 승객 수를 전체 좌석 수의 대략 </a:t>
            </a:r>
            <a:r>
              <a:rPr lang="en-US" altLang="ko-KR" sz="1600" spc="-50" dirty="0"/>
              <a:t>50% </a:t>
            </a:r>
            <a:r>
              <a:rPr lang="ko-KR" altLang="en-US" sz="1600" spc="-50" dirty="0"/>
              <a:t>정도 수준인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명이라고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대전에서 부산까지 </a:t>
            </a:r>
            <a:r>
              <a:rPr lang="en-US" altLang="ko-KR" sz="1600" spc="-50" dirty="0"/>
              <a:t>KTX </a:t>
            </a:r>
            <a:r>
              <a:rPr lang="ko-KR" altLang="en-US" sz="1600" spc="-50" dirty="0"/>
              <a:t>타고 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내가 배출한 탄소양은 </a:t>
            </a:r>
            <a:r>
              <a:rPr lang="en-US" altLang="ko-KR" sz="1600" spc="-50" dirty="0"/>
              <a:t>1.42 kg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(=710kg/500</a:t>
            </a:r>
            <a:r>
              <a:rPr lang="ko-KR" altLang="en-US" sz="1600" spc="-50" dirty="0"/>
              <a:t>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1802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4C97-A171-0BB6-2FE7-470A4CE0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ED24A-71BF-F56A-475C-3C9A7F15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1003</a:t>
            </a:r>
            <a:r>
              <a:rPr lang="ko-KR" altLang="en-US" dirty="0"/>
              <a:t>번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69933-EF5A-063A-07E9-5A500399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AC932-78C6-C8AD-129E-CA62D8336522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버스의 탄소배출량도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탄소배출량을 계산할 때와 같은 방식으로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경우와 다른 점은 연료가 휘발유에서 경유로 바뀐다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휘발유와 경유는 가지고 있는 에너지양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탄소양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배출계수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식에 적용해야 하는 발열량이 바뀌고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배출계수 또한 바뀐다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경유버스의 연비는 </a:t>
            </a:r>
            <a:r>
              <a:rPr lang="en-US" altLang="ko-KR" sz="1600" spc="-50" dirty="0"/>
              <a:t>2.49km/liter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부산역에서 해운대까지 버스 노선의 거리는 </a:t>
            </a:r>
            <a:r>
              <a:rPr lang="en-US" altLang="ko-KR" sz="1600" spc="-50" dirty="0"/>
              <a:t>17km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발열량은 </a:t>
            </a:r>
            <a:r>
              <a:rPr lang="en-US" altLang="ko-KR" sz="1600" spc="-50" dirty="0"/>
              <a:t>37.8 MJ/liter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배출계수는 </a:t>
            </a:r>
            <a:r>
              <a:rPr lang="en-US" altLang="ko-KR" sz="1600" spc="-50" dirty="0"/>
              <a:t>0.000020090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버스에는 승객이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명이 타고 갔다고 하자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식에 수치들을 적용해보면 총 탄소배출량은 </a:t>
            </a:r>
            <a:r>
              <a:rPr lang="en-US" altLang="ko-KR" sz="1600" spc="-50" dirty="0"/>
              <a:t>0.0052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(=5.2 </a:t>
            </a:r>
            <a:r>
              <a:rPr lang="en-US" altLang="ko-KR" sz="1600" spc="-50" dirty="0" err="1"/>
              <a:t>kgC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탄소배출량은 </a:t>
            </a:r>
            <a:r>
              <a:rPr lang="en-US" altLang="ko-KR" sz="1600" spc="-50" dirty="0"/>
              <a:t>0.00052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(=0.52kgC)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/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4658" r="-3810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328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6B7A-E263-4E10-6FC8-628F7326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57C5F-D107-4398-4207-7BAEE779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63E35-8DC2-F0EF-A6DE-1A1640FF2F53}"/>
              </a:ext>
            </a:extLst>
          </p:cNvPr>
          <p:cNvSpPr txBox="1"/>
          <p:nvPr/>
        </p:nvSpPr>
        <p:spPr>
          <a:xfrm>
            <a:off x="288790" y="958844"/>
            <a:ext cx="110459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00D549-4CB3-9852-58E3-8EE7C10B0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56721"/>
              </p:ext>
            </p:extLst>
          </p:nvPr>
        </p:nvGraphicFramePr>
        <p:xfrm>
          <a:off x="513333" y="1898772"/>
          <a:ext cx="6942500" cy="321896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통행료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 요금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344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탄소배출량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승용차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휘발유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KTX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전기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버스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1.94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27981D2-4D3E-65CA-3E45-70E350AC5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19607"/>
              </p:ext>
            </p:extLst>
          </p:nvPr>
        </p:nvGraphicFramePr>
        <p:xfrm>
          <a:off x="7823200" y="1914964"/>
          <a:ext cx="3471250" cy="31865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3423487720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932047127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5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8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0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30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0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7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9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716.2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3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2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2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8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785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DE1B-D2A3-1029-C107-0C1A84D4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C92BD-5CC2-122A-4704-E431976A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A8F6C-93D3-E068-5D09-B17F218A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CA114-3463-CCFA-4518-8FA1A44ED480}"/>
              </a:ext>
            </a:extLst>
          </p:cNvPr>
          <p:cNvSpPr txBox="1"/>
          <p:nvPr/>
        </p:nvSpPr>
        <p:spPr>
          <a:xfrm>
            <a:off x="288790" y="958844"/>
            <a:ext cx="110459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교통수단을 선택할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보유비용을 포함시켜서 계산하는 것이 올바른 접근이었을까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경제학에는 매몰비용이라는 개념이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우리나라가 화석연료 사용 없이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전력배출계수는 어떻게 바뀔까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전력 배출계수는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자가용을 타고 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운전자는 운전만 하고 다른 일을 못하는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기차를 타게 되면 그 시간에 다른 일을 할 수 있지 않나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45043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C1A5-C21E-6735-3811-5B066E12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41D060-B309-7EDF-8886-C968BEBE13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6F96CA-DF2D-4F31-0D3E-F88EBAAD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3B19D8-0696-C765-F6A5-BC37EF39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재정학 연구의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62705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B63A-5202-1755-CE64-46E4065B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ADC0F-FAC9-0263-78D9-60716AB4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136226-109C-31FE-AB2D-BC2FCEA6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6D0FC-2DFC-6EA0-8135-61FB2FE6EF90}"/>
              </a:ext>
            </a:extLst>
          </p:cNvPr>
          <p:cNvSpPr txBox="1"/>
          <p:nvPr/>
        </p:nvSpPr>
        <p:spPr>
          <a:xfrm>
            <a:off x="288790" y="958844"/>
            <a:ext cx="110459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22F6B9E-A474-6D6F-876F-FDE4DE1F1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488017"/>
              </p:ext>
            </p:extLst>
          </p:nvPr>
        </p:nvGraphicFramePr>
        <p:xfrm>
          <a:off x="2565400" y="2399092"/>
          <a:ext cx="3471250" cy="31865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3423487720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932047127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5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8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0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30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0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7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9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716.2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3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2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2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8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973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6EAE-40B1-2DD5-2AF9-C0B31EFA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E21FB-81A3-4C6F-39C7-55F0A228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01C618-5313-4919-CCA4-E18BFDC4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EB807-0A10-F24B-8777-7C0B648207CF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전승호와 유진영은 해운대 바다에 같이 놀러가기로 하였다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8E328F-787E-F7E0-05B5-CF9DD77C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167" y="3545497"/>
            <a:ext cx="6953607" cy="17971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A4CF76-6505-7545-084A-85D703E8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57" y="3054730"/>
            <a:ext cx="3416078" cy="254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3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7302</TotalTime>
  <Words>2637</Words>
  <Application>Microsoft Office PowerPoint</Application>
  <PresentationFormat>와이드스크린</PresentationFormat>
  <Paragraphs>385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에 너 지 경 제</vt:lpstr>
      <vt:lpstr>Section 0. 해운대 놀러가기</vt:lpstr>
      <vt:lpstr>한밭대에서 해운대 바다 놀러가기</vt:lpstr>
      <vt:lpstr>Section 1-1. 자가용 (비용)</vt:lpstr>
      <vt:lpstr>승용차를 이용할 때 드는 비용</vt:lpstr>
      <vt:lpstr>자가용 정보</vt:lpstr>
      <vt:lpstr>자가용 이용비용 (1)</vt:lpstr>
      <vt:lpstr>자가용 이용비용 (2)</vt:lpstr>
      <vt:lpstr>자가용 이용비용 (3)</vt:lpstr>
      <vt:lpstr>연료비용</vt:lpstr>
      <vt:lpstr>통행료</vt:lpstr>
      <vt:lpstr>해운대까지 드는 총 비용</vt:lpstr>
      <vt:lpstr>Section 1-2. 자가용 (탄소배출)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Section 2-1. 대중교통 (비용)</vt:lpstr>
      <vt:lpstr>대중교통을 이용할 때 드는 비용</vt:lpstr>
      <vt:lpstr>대중교통을 이용할 때 드는 비용</vt:lpstr>
      <vt:lpstr>대중교통을 이용할 때 드는 비용 (부산 1003번 버스)</vt:lpstr>
      <vt:lpstr>Section 2-2. 대중교통 (탄소배출)</vt:lpstr>
      <vt:lpstr>KTX 이용시 탄소배출량</vt:lpstr>
      <vt:lpstr>KTX 이용시 탄소배출량</vt:lpstr>
      <vt:lpstr>KTX 이용시 탄소배출량</vt:lpstr>
      <vt:lpstr>KTX 이용시 탄소배출량</vt:lpstr>
      <vt:lpstr>1003번 이용시 탄소배출량</vt:lpstr>
      <vt:lpstr>KTX 이용시 탄소배출량</vt:lpstr>
      <vt:lpstr>생각해보자.</vt:lpstr>
      <vt:lpstr>Section 5. 재정학 연구의 역사</vt:lpstr>
      <vt:lpstr>Thank you</vt:lpstr>
      <vt:lpstr>KTX 이용시 탄소배출량</vt:lpstr>
      <vt:lpstr>한밭대에서 해운대 바다 놀러가기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252</cp:revision>
  <dcterms:created xsi:type="dcterms:W3CDTF">2025-07-05T05:15:23Z</dcterms:created>
  <dcterms:modified xsi:type="dcterms:W3CDTF">2026-03-25T08:53:48Z</dcterms:modified>
</cp:coreProperties>
</file>