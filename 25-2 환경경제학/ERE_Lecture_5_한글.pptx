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7"/>
  </p:notesMasterIdLst>
  <p:sldIdLst>
    <p:sldId id="375" r:id="rId2"/>
    <p:sldId id="405" r:id="rId3"/>
    <p:sldId id="506" r:id="rId4"/>
    <p:sldId id="507" r:id="rId5"/>
    <p:sldId id="508" r:id="rId6"/>
    <p:sldId id="509" r:id="rId7"/>
    <p:sldId id="510" r:id="rId8"/>
    <p:sldId id="511" r:id="rId9"/>
    <p:sldId id="513" r:id="rId10"/>
    <p:sldId id="505" r:id="rId11"/>
    <p:sldId id="464" r:id="rId12"/>
    <p:sldId id="502" r:id="rId13"/>
    <p:sldId id="504" r:id="rId14"/>
    <p:sldId id="503" r:id="rId15"/>
    <p:sldId id="491" r:id="rId16"/>
    <p:sldId id="501" r:id="rId17"/>
    <p:sldId id="492" r:id="rId18"/>
    <p:sldId id="493" r:id="rId19"/>
    <p:sldId id="495" r:id="rId20"/>
    <p:sldId id="494" r:id="rId21"/>
    <p:sldId id="496" r:id="rId22"/>
    <p:sldId id="466" r:id="rId23"/>
    <p:sldId id="497" r:id="rId24"/>
    <p:sldId id="499" r:id="rId25"/>
    <p:sldId id="364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4EF"/>
    <a:srgbClr val="070B12"/>
    <a:srgbClr val="0000FF"/>
    <a:srgbClr val="E9E9E9"/>
    <a:srgbClr val="FFFFFF"/>
    <a:srgbClr val="E15F5F"/>
    <a:srgbClr val="F8F7FC"/>
    <a:srgbClr val="2D72BE"/>
    <a:srgbClr val="0047A0"/>
    <a:srgbClr val="E36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07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</a:t>
            </a:r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- 5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3861790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ko-KR" altLang="en-US" sz="4000" b="1" i="0" spc="150" dirty="0"/>
              <a:t>생산비용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91BB2-C869-187B-02AA-0C6EEB012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C2FAB-93CF-CFE1-C308-E76EA3B1A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총수입</a:t>
            </a:r>
            <a:r>
              <a:rPr lang="en-US" altLang="ko-KR" dirty="0"/>
              <a:t>, </a:t>
            </a:r>
            <a:r>
              <a:rPr lang="ko-KR" altLang="en-US" dirty="0"/>
              <a:t>총비용</a:t>
            </a:r>
            <a:r>
              <a:rPr lang="en-US" altLang="ko-KR" dirty="0"/>
              <a:t>, </a:t>
            </a:r>
            <a:r>
              <a:rPr lang="ko-KR" altLang="en-US" dirty="0"/>
              <a:t>이윤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ECBCC1-73B1-58C0-ED77-7F618A6A7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2FF17-6944-92DB-71CA-EBCBF5ECEFE7}"/>
              </a:ext>
            </a:extLst>
          </p:cNvPr>
          <p:cNvSpPr txBox="1"/>
          <p:nvPr/>
        </p:nvSpPr>
        <p:spPr>
          <a:xfrm>
            <a:off x="678873" y="958844"/>
            <a:ext cx="1125912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기업의 목표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기업은 이윤을 추구하기 위해 존재하고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이윤 극대화가 최종 목표이다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이윤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총수입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총비용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경제학에서 말하는 총비용은 명시적비용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회계비용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과 암묵적 비용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기회비용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합이다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명시적 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어느 과자공장 주인의 밀가루 구입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근로자들의 임금 등은 현금으로 실제 지출을 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암묵적 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과자공장 주인이 컴퓨터 프로그래머여서 과장공장을 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취직을 하면 </a:t>
            </a:r>
            <a:r>
              <a:rPr lang="en-US" altLang="ko-KR" sz="1600" spc="-50" dirty="0"/>
              <a:t>1,000</a:t>
            </a:r>
            <a:r>
              <a:rPr lang="ko-KR" altLang="en-US" sz="1600" spc="-50" dirty="0"/>
              <a:t>원의 임금을 받을 수 있다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과자공장 주인이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만원을 주고 공장을 인수했다고 하자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명시적 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공장인수를 위해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만원을 지출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암묵적 비용</a:t>
            </a:r>
            <a:r>
              <a:rPr lang="en-US" altLang="ko-KR" sz="1600" spc="-50" dirty="0"/>
              <a:t>) 100</a:t>
            </a:r>
            <a:r>
              <a:rPr lang="ko-KR" altLang="en-US" sz="1600" spc="-50" dirty="0"/>
              <a:t>만원을 연이자 </a:t>
            </a:r>
            <a:r>
              <a:rPr lang="en-US" altLang="ko-KR" sz="1600" spc="-50" dirty="0"/>
              <a:t>5%</a:t>
            </a:r>
            <a:r>
              <a:rPr lang="ko-KR" altLang="en-US" sz="1600" spc="-50" dirty="0"/>
              <a:t>인 계좌에 두었다면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년간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만원의 이자소득을 벌었을 것이므로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만원은 기회비용에 포함이 되어야 한다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11916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4D73D-547B-6441-2FCB-F7918C92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A3268-A7DD-408F-4735-5EF60E54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경제학적 이윤과 회계학적 이윤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AD10BD-EEA3-663B-97A8-4AB25E5F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BB9F8-3730-7FE9-C439-FBBCBA59F47D}"/>
              </a:ext>
            </a:extLst>
          </p:cNvPr>
          <p:cNvSpPr txBox="1"/>
          <p:nvPr/>
        </p:nvSpPr>
        <p:spPr>
          <a:xfrm>
            <a:off x="678873" y="958844"/>
            <a:ext cx="11259127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경제학적 이윤 </a:t>
            </a:r>
            <a:r>
              <a:rPr lang="en-US" altLang="ko-KR" sz="1600" spc="-50" dirty="0"/>
              <a:t>=</a:t>
            </a:r>
            <a:r>
              <a:rPr lang="ko-KR" altLang="en-US" sz="1600" spc="-50" dirty="0"/>
              <a:t> 총수입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 –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명시적비용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–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암묵적비용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회계학적 이윤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=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총수입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–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명시적비용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회계사는 암묵적 비용을 무시하므로 회계학적 이윤은 경제학적 이윤보다 크다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다시 말하면 어떤 기업의 경제학적 이윤이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이더라도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실제 회계장부상의 이윤은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보다 크기 때문에 사업을 계속 할 수 있다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. (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나중에 배우겠지만 장기적으로 기업들의 이윤은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임에도 불구하고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기업들은 사업을 지속한다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</a:t>
            </a:r>
            <a:endParaRPr lang="en-US" altLang="ko-KR" sz="1600" spc="-5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A36BDE-05E5-AEB0-A8F6-0926F7553C16}"/>
              </a:ext>
            </a:extLst>
          </p:cNvPr>
          <p:cNvSpPr/>
          <p:nvPr/>
        </p:nvSpPr>
        <p:spPr>
          <a:xfrm>
            <a:off x="2616199" y="3518323"/>
            <a:ext cx="1710267" cy="708954"/>
          </a:xfrm>
          <a:prstGeom prst="rect">
            <a:avLst/>
          </a:prstGeom>
          <a:solidFill>
            <a:srgbClr val="BCD4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경제학적 이윤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BEF4DF-2D0B-5489-1E95-8275C1CB49F7}"/>
              </a:ext>
            </a:extLst>
          </p:cNvPr>
          <p:cNvSpPr/>
          <p:nvPr/>
        </p:nvSpPr>
        <p:spPr>
          <a:xfrm>
            <a:off x="2616199" y="4227277"/>
            <a:ext cx="1710267" cy="7089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암묵적 비용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4C8D40-2D59-2131-99D1-0B1831BA9CC6}"/>
              </a:ext>
            </a:extLst>
          </p:cNvPr>
          <p:cNvSpPr/>
          <p:nvPr/>
        </p:nvSpPr>
        <p:spPr>
          <a:xfrm>
            <a:off x="2616199" y="4936230"/>
            <a:ext cx="1710267" cy="10056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명시적 비용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FDF2D9-9E10-0574-765E-421B4F2714BE}"/>
              </a:ext>
            </a:extLst>
          </p:cNvPr>
          <p:cNvSpPr/>
          <p:nvPr/>
        </p:nvSpPr>
        <p:spPr>
          <a:xfrm>
            <a:off x="6722526" y="3518322"/>
            <a:ext cx="1710267" cy="1417907"/>
          </a:xfrm>
          <a:prstGeom prst="rect">
            <a:avLst/>
          </a:prstGeom>
          <a:solidFill>
            <a:srgbClr val="BCD4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회계학적 이윤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F39884-511F-D456-5B8E-BD55D0D8C84D}"/>
              </a:ext>
            </a:extLst>
          </p:cNvPr>
          <p:cNvSpPr/>
          <p:nvPr/>
        </p:nvSpPr>
        <p:spPr>
          <a:xfrm>
            <a:off x="6722526" y="4936230"/>
            <a:ext cx="1710267" cy="10056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명시적 비용</a:t>
            </a:r>
          </a:p>
        </p:txBody>
      </p:sp>
      <p:sp>
        <p:nvSpPr>
          <p:cNvPr id="11" name="왼쪽 중괄호 10">
            <a:extLst>
              <a:ext uri="{FF2B5EF4-FFF2-40B4-BE49-F238E27FC236}">
                <a16:creationId xmlns:a16="http://schemas.microsoft.com/office/drawing/2014/main" id="{5E24A7EE-94F8-69AC-6D97-1940C5EEAD54}"/>
              </a:ext>
            </a:extLst>
          </p:cNvPr>
          <p:cNvSpPr/>
          <p:nvPr/>
        </p:nvSpPr>
        <p:spPr>
          <a:xfrm>
            <a:off x="1993900" y="3528909"/>
            <a:ext cx="537633" cy="241299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0748F3-9B2F-608C-C5F0-35DA1452C6DE}"/>
              </a:ext>
            </a:extLst>
          </p:cNvPr>
          <p:cNvSpPr txBox="1"/>
          <p:nvPr/>
        </p:nvSpPr>
        <p:spPr>
          <a:xfrm>
            <a:off x="1140884" y="4540156"/>
            <a:ext cx="88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spc="-50">
                <a:latin typeface="맑은 고딕" panose="020B0503020000020004" pitchFamily="50" charset="-127"/>
              </a:rPr>
              <a:t>총수입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2C160B-068F-6724-D4A7-C738BF971E1B}"/>
              </a:ext>
            </a:extLst>
          </p:cNvPr>
          <p:cNvSpPr txBox="1"/>
          <p:nvPr/>
        </p:nvSpPr>
        <p:spPr>
          <a:xfrm>
            <a:off x="2283882" y="6174222"/>
            <a:ext cx="2453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spc="-50" dirty="0">
                <a:latin typeface="맑은 고딕" panose="020B0503020000020004" pitchFamily="50" charset="-127"/>
              </a:rPr>
              <a:t>경제학자가 </a:t>
            </a:r>
            <a:r>
              <a:rPr lang="ko-KR" altLang="en-US" sz="1800" spc="-50">
                <a:latin typeface="맑은 고딕" panose="020B0503020000020004" pitchFamily="50" charset="-127"/>
              </a:rPr>
              <a:t>보는 </a:t>
            </a:r>
            <a:r>
              <a:rPr lang="ko-KR" altLang="en-US" spc="-50">
                <a:latin typeface="맑은 고딕" panose="020B0503020000020004" pitchFamily="50" charset="-127"/>
              </a:rPr>
              <a:t>기업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69148F-1CE5-D7AB-D1F1-74B0FA431B2D}"/>
              </a:ext>
            </a:extLst>
          </p:cNvPr>
          <p:cNvSpPr txBox="1"/>
          <p:nvPr/>
        </p:nvSpPr>
        <p:spPr>
          <a:xfrm>
            <a:off x="6390216" y="6174222"/>
            <a:ext cx="2453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spc="-50" dirty="0">
                <a:latin typeface="맑은 고딕" panose="020B0503020000020004" pitchFamily="50" charset="-127"/>
              </a:rPr>
              <a:t>회계사가 보는 </a:t>
            </a:r>
            <a:r>
              <a:rPr lang="ko-KR" altLang="en-US" spc="-50" dirty="0">
                <a:latin typeface="맑은 고딕" panose="020B0503020000020004" pitchFamily="50" charset="-127"/>
              </a:rPr>
              <a:t>기업</a:t>
            </a:r>
            <a:endParaRPr lang="ko-KR" altLang="en-US" dirty="0"/>
          </a:p>
        </p:txBody>
      </p:sp>
      <p:sp>
        <p:nvSpPr>
          <p:cNvPr id="17" name="왼쪽 중괄호 16">
            <a:extLst>
              <a:ext uri="{FF2B5EF4-FFF2-40B4-BE49-F238E27FC236}">
                <a16:creationId xmlns:a16="http://schemas.microsoft.com/office/drawing/2014/main" id="{44A2279C-1882-19D9-3002-0001E21F2C8E}"/>
              </a:ext>
            </a:extLst>
          </p:cNvPr>
          <p:cNvSpPr/>
          <p:nvPr/>
        </p:nvSpPr>
        <p:spPr>
          <a:xfrm flipH="1">
            <a:off x="4400546" y="4227277"/>
            <a:ext cx="298454" cy="1710393"/>
          </a:xfrm>
          <a:prstGeom prst="leftBrace">
            <a:avLst>
              <a:gd name="adj1" fmla="val 8333"/>
              <a:gd name="adj2" fmla="val 484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C5FCD5-3E3B-1538-FD01-9048555D2799}"/>
              </a:ext>
            </a:extLst>
          </p:cNvPr>
          <p:cNvSpPr txBox="1"/>
          <p:nvPr/>
        </p:nvSpPr>
        <p:spPr>
          <a:xfrm>
            <a:off x="4682067" y="4879079"/>
            <a:ext cx="1413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spc="-50" dirty="0">
                <a:latin typeface="맑은 고딕" panose="020B0503020000020004" pitchFamily="50" charset="-127"/>
              </a:rPr>
              <a:t>총 기회비용</a:t>
            </a:r>
            <a:endParaRPr lang="ko-KR" altLang="en-US" dirty="0"/>
          </a:p>
        </p:txBody>
      </p:sp>
      <p:sp>
        <p:nvSpPr>
          <p:cNvPr id="19" name="왼쪽 중괄호 18">
            <a:extLst>
              <a:ext uri="{FF2B5EF4-FFF2-40B4-BE49-F238E27FC236}">
                <a16:creationId xmlns:a16="http://schemas.microsoft.com/office/drawing/2014/main" id="{6A5A5F12-ECFE-5546-560D-E65428991D07}"/>
              </a:ext>
            </a:extLst>
          </p:cNvPr>
          <p:cNvSpPr/>
          <p:nvPr/>
        </p:nvSpPr>
        <p:spPr>
          <a:xfrm flipH="1">
            <a:off x="8544980" y="3518322"/>
            <a:ext cx="298454" cy="2398181"/>
          </a:xfrm>
          <a:prstGeom prst="leftBrace">
            <a:avLst>
              <a:gd name="adj1" fmla="val 8333"/>
              <a:gd name="adj2" fmla="val 484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3147F4-229A-3B3C-C4A2-84FAC5220C42}"/>
              </a:ext>
            </a:extLst>
          </p:cNvPr>
          <p:cNvSpPr txBox="1"/>
          <p:nvPr/>
        </p:nvSpPr>
        <p:spPr>
          <a:xfrm>
            <a:off x="8808507" y="4510525"/>
            <a:ext cx="88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spc="-50">
                <a:latin typeface="맑은 고딕" panose="020B0503020000020004" pitchFamily="50" charset="-127"/>
              </a:rPr>
              <a:t>총수입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5593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C359B-D9A3-2147-B2E3-941FF0CB4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051A2-FFCF-1340-8EB4-1C7A5ABF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생산과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12DCFB-7F15-6B1B-FD4A-2B01A9E7D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A8A7BF-2A4A-238A-7336-A2EC306BCC2B}"/>
              </a:ext>
            </a:extLst>
          </p:cNvPr>
          <p:cNvSpPr txBox="1"/>
          <p:nvPr/>
        </p:nvSpPr>
        <p:spPr>
          <a:xfrm>
            <a:off x="678873" y="958844"/>
            <a:ext cx="1125912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단기적으로 과자공장의 규모는 고정 되어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과자 생산량을 늘리기 위해서는 근로자를 더 고용하는 방법 밖에 없다고 가정하자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공장 규모는 하루 아침에 늘릴 수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근로자는 수일 내에 고용할 수 있다는 점을 상기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아래의 표는 과자 생산에 투입된 근로자 수와 생산량의 관계를 보여주고 있다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한계생산물은 생산요소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근로자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의 투입량을 한 단위 증가시킬 때 창출되는 산출량의 증가분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근로자가 없다가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1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명을 고용하면 산출량이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에서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50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으로 증가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근로자가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1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명이었다가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1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명을 추가로 고용하면 산출량이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50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에서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90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으로 증가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공장비용은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30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으로 고정되어 있고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인건비는 근로자당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10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원이다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총비용은 공장비용과 인건비의 합이다</a:t>
            </a:r>
            <a:endParaRPr lang="en-US" altLang="ko-KR" sz="1600" spc="-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B49D4C5-F151-CF61-C102-DAE69AD15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161402"/>
              </p:ext>
            </p:extLst>
          </p:nvPr>
        </p:nvGraphicFramePr>
        <p:xfrm>
          <a:off x="646260" y="4130583"/>
          <a:ext cx="10899480" cy="222975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6580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816580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816580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816580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1816580">
                  <a:extLst>
                    <a:ext uri="{9D8B030D-6E8A-4147-A177-3AD203B41FA5}">
                      <a16:colId xmlns:a16="http://schemas.microsoft.com/office/drawing/2014/main" val="1380906892"/>
                    </a:ext>
                  </a:extLst>
                </a:gridCol>
                <a:gridCol w="181658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근로자 수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산출량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시간당 과자 생산량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노동의 한계생산물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공장비용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인건비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공장비용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인건비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FB485CF2-2523-DB87-401E-FA6FE0E2EF35}"/>
              </a:ext>
            </a:extLst>
          </p:cNvPr>
          <p:cNvSpPr txBox="1"/>
          <p:nvPr/>
        </p:nvSpPr>
        <p:spPr>
          <a:xfrm>
            <a:off x="4969972" y="4696983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50</a:t>
            </a:r>
            <a:endParaRPr lang="ko-KR" altLang="en-US" sz="13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31B229-1C32-EE2B-CD7E-3183905DA63F}"/>
              </a:ext>
            </a:extLst>
          </p:cNvPr>
          <p:cNvSpPr txBox="1"/>
          <p:nvPr/>
        </p:nvSpPr>
        <p:spPr>
          <a:xfrm>
            <a:off x="4969972" y="4953089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40</a:t>
            </a:r>
            <a:endParaRPr lang="ko-KR" altLang="en-US" sz="13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37B10D-A0AA-C4E0-1710-CC4E3F19A33A}"/>
              </a:ext>
            </a:extLst>
          </p:cNvPr>
          <p:cNvSpPr txBox="1"/>
          <p:nvPr/>
        </p:nvSpPr>
        <p:spPr>
          <a:xfrm>
            <a:off x="4969972" y="520080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30</a:t>
            </a:r>
            <a:endParaRPr lang="ko-KR" altLang="en-US" sz="13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10EF21-225D-810A-A8AF-67939FBD59B2}"/>
              </a:ext>
            </a:extLst>
          </p:cNvPr>
          <p:cNvSpPr txBox="1"/>
          <p:nvPr/>
        </p:nvSpPr>
        <p:spPr>
          <a:xfrm>
            <a:off x="4969972" y="5440510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20</a:t>
            </a:r>
            <a:endParaRPr lang="ko-KR" altLang="en-US" sz="13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39FD38-183C-BF06-77B6-FA15FBAE501C}"/>
              </a:ext>
            </a:extLst>
          </p:cNvPr>
          <p:cNvSpPr txBox="1"/>
          <p:nvPr/>
        </p:nvSpPr>
        <p:spPr>
          <a:xfrm>
            <a:off x="4969972" y="5688845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10</a:t>
            </a:r>
            <a:endParaRPr lang="ko-KR" altLang="en-US" sz="13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9A951A-0C07-552F-B092-FD0F73ADCC51}"/>
              </a:ext>
            </a:extLst>
          </p:cNvPr>
          <p:cNvSpPr txBox="1"/>
          <p:nvPr/>
        </p:nvSpPr>
        <p:spPr>
          <a:xfrm>
            <a:off x="4969972" y="5938171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5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2705802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FD8D1-07F4-EF2B-0397-D69C559E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생산함수와 총비용함수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9021A8-25B4-2FF0-9B4A-8D684899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그림 7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5B81A8-B34C-4292-EB02-8D9873E22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45" y="3294800"/>
            <a:ext cx="2832099" cy="3242107"/>
          </a:xfrm>
          <a:prstGeom prst="rect">
            <a:avLst/>
          </a:prstGeom>
        </p:spPr>
      </p:pic>
      <p:pic>
        <p:nvPicPr>
          <p:cNvPr id="10" name="그림 9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85E7E0-D531-2CA1-E871-B61AA3004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340" y="3294800"/>
            <a:ext cx="2832099" cy="32421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B75D0B4-1023-7B12-0BD9-F73FF1C6CFB8}"/>
              </a:ext>
            </a:extLst>
          </p:cNvPr>
          <p:cNvSpPr txBox="1"/>
          <p:nvPr/>
        </p:nvSpPr>
        <p:spPr>
          <a:xfrm>
            <a:off x="678873" y="958844"/>
            <a:ext cx="6610927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생산함수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생산요소 투입량과 산출량의 관계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투입되는 근로자 수가 증가할수록 생산함수는 더욱 </a:t>
            </a:r>
            <a:r>
              <a:rPr lang="ko-KR" altLang="en-US" sz="1600" spc="-50" dirty="0" err="1"/>
              <a:t>평평해진다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이를 한계생산물 체감현상이라 부른다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총비용곡선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제품 산출량과 총생산비용의 관계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산출량이 증가함에 따라 총비용곡선의 기울기는 더욱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급해진다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이러한 특성은 한계생산물 체감현상으로 비롯된다</a:t>
            </a:r>
            <a:endParaRPr lang="en-US" altLang="ko-KR" sz="1600" spc="-50" dirty="0"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461CD57-BDB4-35AA-74D3-2A9B83F5C40A}"/>
              </a:ext>
            </a:extLst>
          </p:cNvPr>
          <p:cNvSpPr/>
          <p:nvPr/>
        </p:nvSpPr>
        <p:spPr>
          <a:xfrm>
            <a:off x="8065348" y="877115"/>
            <a:ext cx="3663067" cy="4315492"/>
          </a:xfrm>
          <a:prstGeom prst="roundRect">
            <a:avLst>
              <a:gd name="adj" fmla="val 5387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D7C4D-DEA5-31D7-654E-0628E7495E85}"/>
              </a:ext>
            </a:extLst>
          </p:cNvPr>
          <p:cNvSpPr txBox="1"/>
          <p:nvPr/>
        </p:nvSpPr>
        <p:spPr>
          <a:xfrm>
            <a:off x="8105556" y="698916"/>
            <a:ext cx="3622859" cy="1215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한계생산물은 왜 체감할까</a:t>
            </a:r>
            <a:endParaRPr lang="en-US" altLang="ko-KR" sz="500" dirty="0"/>
          </a:p>
          <a:p>
            <a:pPr>
              <a:lnSpc>
                <a:spcPct val="120000"/>
              </a:lnSpc>
            </a:pPr>
            <a:r>
              <a:rPr lang="ko-KR" altLang="en-US" sz="1200" dirty="0"/>
              <a:t>작업장의 설비는 고정되어 있는 상태에서 근로자가 늘어남에 따라 작업장은 혼잡해지고</a:t>
            </a:r>
            <a:r>
              <a:rPr lang="en-US" altLang="ko-KR" sz="1200" dirty="0"/>
              <a:t>, </a:t>
            </a:r>
            <a:r>
              <a:rPr lang="ko-KR" altLang="en-US" sz="1200" dirty="0"/>
              <a:t>따라서 근로자를 추가로 고용할 때 추가되는 과자의 생산량은 점점 적어진다</a:t>
            </a:r>
            <a:r>
              <a:rPr lang="en-US" altLang="ko-KR" sz="1200" dirty="0"/>
              <a:t>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090E648-3EA1-A997-6AAA-F32DF4852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022" y="2043007"/>
            <a:ext cx="3557277" cy="29221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A2D9DE7-659C-2CDF-1DB4-C87A2D0618A2}"/>
              </a:ext>
            </a:extLst>
          </p:cNvPr>
          <p:cNvSpPr txBox="1"/>
          <p:nvPr/>
        </p:nvSpPr>
        <p:spPr>
          <a:xfrm>
            <a:off x="9578721" y="4962630"/>
            <a:ext cx="21199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50" dirty="0"/>
              <a:t>이미지 출처</a:t>
            </a:r>
            <a:r>
              <a:rPr lang="en-US" altLang="ko-KR" sz="800" spc="-50" dirty="0"/>
              <a:t>: </a:t>
            </a:r>
            <a:r>
              <a:rPr lang="ko-KR" altLang="en-US" sz="800" spc="-50" dirty="0"/>
              <a:t>https://danbi-zoa.tistory.com/1406</a:t>
            </a: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95AAE93B-EC7E-C403-11F2-6548E9BBB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31" y="5499857"/>
            <a:ext cx="4874519" cy="104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66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C5C08-5508-B4A6-21B6-9457AE84A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여러가지 비용 개념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6E08FC-DF65-5C0F-B904-23B6175B5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4B18DF-B8E6-0C4E-2621-301363AD9997}"/>
              </a:ext>
            </a:extLst>
          </p:cNvPr>
          <p:cNvSpPr txBox="1"/>
          <p:nvPr/>
        </p:nvSpPr>
        <p:spPr>
          <a:xfrm>
            <a:off x="678873" y="958844"/>
            <a:ext cx="1125912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과자공장의 예는 생산함수와 총비용곡선의 관계를 보여주었다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아래 커피가게의 예를 통해 비용 측면에서 연관된 여러가지 비용 개념을 도출해보자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고정비용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: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생산량에 따라 변하지 않는 비용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커피머신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건물 임대료 등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가변비용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: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생산량에 따라 변하는 비용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원두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종업원 임금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등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5F0B475-0E6E-147C-98DD-5023E39DD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037397"/>
              </p:ext>
            </p:extLst>
          </p:nvPr>
        </p:nvGraphicFramePr>
        <p:xfrm>
          <a:off x="646260" y="2954565"/>
          <a:ext cx="10899480" cy="33079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243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4283011541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1380906892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커피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생산량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(Total Cost, TC)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고정비용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(Fixed Cost, FC)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가변비용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(Variable Cost, VC)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평균고정비용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(Average Fixed Cost, AFC)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평균가변비용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(Average Variable Cost, AVC)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평균총비용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(Average Total Cost, ATC)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한계비용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(Marginal Cost)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0.40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5.40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2.40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0.75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0.60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0.60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0.70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0.43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1.43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977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4791902-29A7-70B5-6184-B4663FCB2B52}"/>
              </a:ext>
            </a:extLst>
          </p:cNvPr>
          <p:cNvSpPr txBox="1"/>
          <p:nvPr/>
        </p:nvSpPr>
        <p:spPr>
          <a:xfrm>
            <a:off x="10527065" y="4111749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0.70</a:t>
            </a:r>
            <a:endParaRPr lang="ko-KR" alt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A9E5C3-3432-9A86-A9EE-677C8D3D9EEE}"/>
              </a:ext>
            </a:extLst>
          </p:cNvPr>
          <p:cNvSpPr txBox="1"/>
          <p:nvPr/>
        </p:nvSpPr>
        <p:spPr>
          <a:xfrm>
            <a:off x="10527065" y="4359715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0.90</a:t>
            </a:r>
            <a:endParaRPr lang="ko-KR" alt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2B471C-D203-F2A0-A694-731FBB474CA6}"/>
              </a:ext>
            </a:extLst>
          </p:cNvPr>
          <p:cNvSpPr txBox="1"/>
          <p:nvPr/>
        </p:nvSpPr>
        <p:spPr>
          <a:xfrm>
            <a:off x="10527065" y="4607681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1.10</a:t>
            </a:r>
            <a:endParaRPr lang="ko-KR" alt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660D88-12CB-BC12-6BF9-EC3EDE2B030F}"/>
              </a:ext>
            </a:extLst>
          </p:cNvPr>
          <p:cNvSpPr txBox="1"/>
          <p:nvPr/>
        </p:nvSpPr>
        <p:spPr>
          <a:xfrm>
            <a:off x="10527065" y="4855647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1.30</a:t>
            </a:r>
            <a:endParaRPr lang="ko-KR" alt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FB72D6-2069-DADB-6719-76BDCB1F7D25}"/>
              </a:ext>
            </a:extLst>
          </p:cNvPr>
          <p:cNvSpPr txBox="1"/>
          <p:nvPr/>
        </p:nvSpPr>
        <p:spPr>
          <a:xfrm>
            <a:off x="10527065" y="5103613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1.50</a:t>
            </a:r>
            <a:endParaRPr lang="ko-KR" alt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47D837-A975-4EDE-41AD-C1F12584C799}"/>
              </a:ext>
            </a:extLst>
          </p:cNvPr>
          <p:cNvSpPr txBox="1"/>
          <p:nvPr/>
        </p:nvSpPr>
        <p:spPr>
          <a:xfrm>
            <a:off x="10527065" y="5351579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1.70</a:t>
            </a:r>
            <a:endParaRPr lang="ko-KR" altLang="en-US" sz="13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5A4C5A-5E6A-9DBC-28ED-83F5D91982C8}"/>
              </a:ext>
            </a:extLst>
          </p:cNvPr>
          <p:cNvSpPr txBox="1"/>
          <p:nvPr/>
        </p:nvSpPr>
        <p:spPr>
          <a:xfrm>
            <a:off x="10527065" y="5599545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1.90</a:t>
            </a:r>
            <a:endParaRPr lang="ko-KR" alt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D212BA-C595-8A24-0720-058B28822B0D}"/>
              </a:ext>
            </a:extLst>
          </p:cNvPr>
          <p:cNvSpPr txBox="1"/>
          <p:nvPr/>
        </p:nvSpPr>
        <p:spPr>
          <a:xfrm>
            <a:off x="10527065" y="5847514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2.10</a:t>
            </a:r>
            <a:endParaRPr lang="ko-KR" alt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71FC38-9A25-6F03-5391-E17868437368}"/>
              </a:ext>
            </a:extLst>
          </p:cNvPr>
          <p:cNvSpPr txBox="1"/>
          <p:nvPr/>
        </p:nvSpPr>
        <p:spPr>
          <a:xfrm>
            <a:off x="10527065" y="3615817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0.30</a:t>
            </a:r>
            <a:endParaRPr lang="ko-KR" altLang="en-US" sz="13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108AE1-06D0-5BBC-5790-ECAECCED8841}"/>
              </a:ext>
            </a:extLst>
          </p:cNvPr>
          <p:cNvSpPr txBox="1"/>
          <p:nvPr/>
        </p:nvSpPr>
        <p:spPr>
          <a:xfrm>
            <a:off x="10527065" y="3863783"/>
            <a:ext cx="64099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0.50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2547720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C08A7-BD5D-9E47-5616-9212399DC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여러가지 비용 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DEEA12-31F7-C184-8600-C467BF82E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07A3E5-10EC-E1E2-59D9-EBFAD46365F3}"/>
              </a:ext>
            </a:extLst>
          </p:cNvPr>
          <p:cNvSpPr txBox="1"/>
          <p:nvPr/>
        </p:nvSpPr>
        <p:spPr>
          <a:xfrm>
            <a:off x="165793" y="958844"/>
            <a:ext cx="664648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커피가게의 여러가지 비용은 오른쪽 그래프로 그릴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커피가게 뿐 아니라 일반적인 기업의 비용곡선은 아래와 같이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3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가지 보편적인 특성이 있다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.</a:t>
            </a:r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>
                <a:latin typeface="맑은 고딕" panose="020B0503020000020004" pitchFamily="50" charset="-127"/>
              </a:rPr>
              <a:t>1.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우상향의 한계비용곡선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(MC)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한계생산물이 체감하기 때문에 나타나는 현상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>
                <a:latin typeface="맑은 고딕" panose="020B0503020000020004" pitchFamily="50" charset="-127"/>
              </a:rPr>
              <a:t>2. U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자 모양의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평균총비용곡선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(ATC)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>
                <a:latin typeface="맑은 고딕" panose="020B0503020000020004" pitchFamily="50" charset="-127"/>
              </a:rPr>
              <a:t>평균총비용은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평균고정비용과 평균가변비용의 합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평균고정비용은 산출량이 증가할수록 계속 감소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평균가변비용은 산출량이 증가할수록 계속 증가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>
                <a:latin typeface="맑은 고딕" panose="020B0503020000020004" pitchFamily="50" charset="-127"/>
              </a:rPr>
              <a:t>3.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한계비용은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평균총비용의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최소점을 항상 지나간다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한계비용이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평균총비용보다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작을 때는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평균총비용이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하락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한계비용이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평균총비용보다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클 때는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평균총비용이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상승</a:t>
            </a:r>
            <a:endParaRPr lang="en-US" altLang="ko-KR" sz="1600" spc="-50" dirty="0">
              <a:latin typeface="맑은 고딕" panose="020B0503020000020004" pitchFamily="50" charset="-127"/>
            </a:endParaRPr>
          </a:p>
        </p:txBody>
      </p:sp>
      <p:pic>
        <p:nvPicPr>
          <p:cNvPr id="17" name="그림 16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F583FD-938C-1255-9212-8F8ED8CB8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79" y="797560"/>
            <a:ext cx="5213927" cy="596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067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도표, 라인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90384E-0764-8297-26F8-D72EAA3EA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611" y="817880"/>
            <a:ext cx="4845820" cy="554736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2F0B50D-7BAF-917B-7D24-8500BC0A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전형적인 비용곡선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040DEC-FD6C-BF84-2BDF-653FABE3E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6C7D7-DD58-2DB6-496A-3AA93C89ABB5}"/>
              </a:ext>
            </a:extLst>
          </p:cNvPr>
          <p:cNvSpPr txBox="1"/>
          <p:nvPr/>
        </p:nvSpPr>
        <p:spPr>
          <a:xfrm>
            <a:off x="678873" y="958844"/>
            <a:ext cx="6778567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우리가 살펴본 예시에서는 한계생산물 체감현상으로 인해 처음부터 한계비용이 상승하는 것으로 가정하였다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실제 기업들은 이보다 조금 더 복잡하다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첫번째 근로자가 투입되었을 때부터 한계생산물이 체감하지는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아주 초기에는 혼자 일하는 것보다는 몇몇 근로자들이 팀을 이루어 분담하면 생산 효율이 높아질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기업들은 아주 초기에 산출량이 증가할 때는 한계생산물이 증가하다가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한참 뒤에 한계생산물이 체감하기 시작한다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664013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5875E-1F13-3EA7-2904-69E05BBD9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C0C284-5A70-48F9-F583-22DF08FC7D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8FBD06-2AA1-D6C2-4B76-7374B34BA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DFA097A-4048-18BB-11B0-DDDD4271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3861790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ko-KR" altLang="en-US" sz="4000" b="1" i="0" spc="150"/>
              <a:t>완전경쟁시장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125639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D47B-3CCB-DC76-DEE1-957297C2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9B18E-1AF5-7C5D-E8D6-121DAE1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완전경쟁시장이란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61A13-1995-61DA-69E2-756E2866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40175-7246-01B2-807C-586EF82479E8}"/>
              </a:ext>
            </a:extLst>
          </p:cNvPr>
          <p:cNvSpPr txBox="1"/>
          <p:nvPr/>
        </p:nvSpPr>
        <p:spPr>
          <a:xfrm>
            <a:off x="678873" y="958844"/>
            <a:ext cx="11397079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완전경쟁시장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동일한 상품을 취급하는 수많은 공급자와 수요자로 구성되어 모든 사람이 가격수용자인 시장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아래와 같은 큰 특징이 있다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/>
              <a:t>(1) </a:t>
            </a:r>
            <a:r>
              <a:rPr lang="ko-KR" altLang="en-US" sz="1600" spc="-50" dirty="0"/>
              <a:t>수많은 수요자와 공급자가 존재한다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/>
              <a:t>(2) </a:t>
            </a:r>
            <a:r>
              <a:rPr lang="ko-KR" altLang="en-US" sz="1600" spc="-50" dirty="0"/>
              <a:t>공급자들이 공급하는 물건이 거의 동일하다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/>
              <a:t>(3) </a:t>
            </a:r>
            <a:r>
              <a:rPr lang="ko-KR" altLang="en-US" sz="1600" spc="-50" dirty="0"/>
              <a:t>기업들이 자유롭게 진입하고 퇴출할 수 있다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(1)</a:t>
            </a:r>
            <a:r>
              <a:rPr lang="ko-KR" altLang="en-US" sz="1600" spc="-50" dirty="0"/>
              <a:t>과 </a:t>
            </a:r>
            <a:r>
              <a:rPr lang="en-US" altLang="ko-KR" sz="1600" spc="-50" dirty="0"/>
              <a:t>(2)</a:t>
            </a:r>
            <a:r>
              <a:rPr lang="ko-KR" altLang="en-US" sz="1600" spc="-50" dirty="0"/>
              <a:t>의 조건 때문에 어느 개별 수요자나 공급자도 시장가격에 영향을 미칠 수 없다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개별 우유 소비자들은 시장 규모에 비해 적은 양을 소비하므로 시장가격에 영향을 미칠 수 없다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개별 우유 공급자들 또한 사실상 동질의 상품을 판매하므로 시장가격에 영향을 미칠 수 없다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공급자는 시장가격에서 얼마든지 판매할 수 있기 때문에 굳이 가격을 인하할 이유가 없다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반대로 가격을 조금이라도 인상한다면 소비자들은 모두 다른 우유 공급자에게 갈 것이다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(3)</a:t>
            </a:r>
            <a:r>
              <a:rPr lang="ko-KR" altLang="en-US" sz="1600" spc="-50" dirty="0"/>
              <a:t>의 조건은 완전경쟁시장의 장기 균형에 중요한 영향을 미친다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장기 균형에서는 기업들의 이윤은 </a:t>
            </a:r>
            <a:r>
              <a:rPr lang="en-US" altLang="ko-KR" sz="1600" spc="-50" dirty="0"/>
              <a:t>0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종전 기업들이 이윤을 내고 있다면 잠재적 경쟁 기업들은 시장에 진입할 유인이 있다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종전 기업들이 손실을 보고 있다면 일부 기업들은 시장에서 퇴출할 유인이 있다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501516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7EFBFE-E7BD-2D05-5537-20E97C64C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경쟁시장 기업의 총수입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FDF94-9621-7304-64D4-45E843B92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75D0EC97-A3CA-9543-A421-006E13E5EF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8415996"/>
                  </p:ext>
                </p:extLst>
              </p:nvPr>
            </p:nvGraphicFramePr>
            <p:xfrm>
              <a:off x="646260" y="3753819"/>
              <a:ext cx="10899480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79896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수량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가격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𝐏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총수입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𝑷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×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평균수입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𝐀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한계수입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𝐌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/∆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75D0EC97-A3CA-9543-A421-006E13E5EF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8415996"/>
                  </p:ext>
                </p:extLst>
              </p:nvPr>
            </p:nvGraphicFramePr>
            <p:xfrm>
              <a:off x="646260" y="3753819"/>
              <a:ext cx="10899480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79896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7" t="-6494" r="-403631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81" t="-6494" r="-304762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117" t="-6494" r="-203911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961" t="-6494" r="-104482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838" t="-6494" r="-4190" b="-4987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7F2951D-8272-1E31-D53B-FACAFA721E85}"/>
              </a:ext>
            </a:extLst>
          </p:cNvPr>
          <p:cNvSpPr txBox="1"/>
          <p:nvPr/>
        </p:nvSpPr>
        <p:spPr>
          <a:xfrm>
            <a:off x="10168507" y="4320219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6</a:t>
            </a:r>
            <a:endParaRPr lang="ko-KR" altLang="en-US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6C67ED-54EA-ADE1-D605-1CCC6CFE33F8}"/>
              </a:ext>
            </a:extLst>
          </p:cNvPr>
          <p:cNvSpPr txBox="1"/>
          <p:nvPr/>
        </p:nvSpPr>
        <p:spPr>
          <a:xfrm>
            <a:off x="10168507" y="4576325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6</a:t>
            </a:r>
            <a:endParaRPr lang="ko-KR" alt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860E91-3153-5CAC-03D2-0061F4D9A615}"/>
              </a:ext>
            </a:extLst>
          </p:cNvPr>
          <p:cNvSpPr txBox="1"/>
          <p:nvPr/>
        </p:nvSpPr>
        <p:spPr>
          <a:xfrm>
            <a:off x="10168507" y="4824043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6</a:t>
            </a:r>
            <a:endParaRPr lang="ko-KR" alt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89850F-D2CB-5866-6442-810846C2C9C5}"/>
              </a:ext>
            </a:extLst>
          </p:cNvPr>
          <p:cNvSpPr txBox="1"/>
          <p:nvPr/>
        </p:nvSpPr>
        <p:spPr>
          <a:xfrm>
            <a:off x="10168507" y="5063746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6</a:t>
            </a:r>
            <a:endParaRPr lang="ko-KR" alt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5ADD1B-D8AD-6007-BEA9-6FD283E5A09E}"/>
              </a:ext>
            </a:extLst>
          </p:cNvPr>
          <p:cNvSpPr txBox="1"/>
          <p:nvPr/>
        </p:nvSpPr>
        <p:spPr>
          <a:xfrm>
            <a:off x="10168507" y="5312081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6</a:t>
            </a:r>
            <a:endParaRPr lang="ko-KR" alt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715226-6FD1-357E-B12A-7E0052FF6EBE}"/>
              </a:ext>
            </a:extLst>
          </p:cNvPr>
          <p:cNvSpPr txBox="1"/>
          <p:nvPr/>
        </p:nvSpPr>
        <p:spPr>
          <a:xfrm>
            <a:off x="10168507" y="556140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6</a:t>
            </a:r>
            <a:endParaRPr lang="ko-KR" alt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94F691-2B56-EFBB-BAE0-FDFE079097E1}"/>
              </a:ext>
            </a:extLst>
          </p:cNvPr>
          <p:cNvSpPr txBox="1"/>
          <p:nvPr/>
        </p:nvSpPr>
        <p:spPr>
          <a:xfrm>
            <a:off x="10168507" y="581763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6</a:t>
            </a:r>
            <a:endParaRPr lang="ko-KR" alt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DB6FF9-0FED-A2AB-3621-126EE47AA033}"/>
              </a:ext>
            </a:extLst>
          </p:cNvPr>
          <p:cNvSpPr txBox="1"/>
          <p:nvPr/>
        </p:nvSpPr>
        <p:spPr>
          <a:xfrm>
            <a:off x="10168507" y="6077808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6</a:t>
            </a:r>
            <a:endParaRPr lang="ko-KR" alt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8271A2-7EF9-F9FB-5C20-0462703EC803}"/>
              </a:ext>
            </a:extLst>
          </p:cNvPr>
          <p:cNvSpPr txBox="1"/>
          <p:nvPr/>
        </p:nvSpPr>
        <p:spPr>
          <a:xfrm>
            <a:off x="678873" y="958844"/>
            <a:ext cx="1123768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표와 같이 우유를 생산하는 농장을 생각해보자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세계 우유시장에 비해 규모가 작은 농장이다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표의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열과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열은 우유의 수량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총수입은 가격에 수량을 곱한 값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평균수입은 총수입을 수량으로 나눈 값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한계수입은 상품을 한 단위 더 판매했을 때 발생하는 총수입의 변화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808258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1173D-0E7F-86D6-C92B-F05B3D7D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29F666-F97E-C797-8006-65FF9A198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경쟁시장 기업의 이윤극대화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07DD98-508A-411A-0BEA-A0D1B413A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C4052615-345E-880D-7105-3964C4A7E69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46260" y="3753819"/>
              <a:ext cx="10899483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557069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4214129067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2310669025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수량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총수입</a:t>
                          </a:r>
                          <a:endParaRPr lang="en-US" altLang="ko-KR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  <a:p>
                          <a:pPr algn="ctr" latinLnBrk="1"/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𝑷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×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총비용</a:t>
                          </a:r>
                          <a:endParaRPr lang="en-US" altLang="ko-KR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  <a:p>
                          <a:pPr algn="ctr" latinLnBrk="1"/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𝑻𝑪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이윤</a:t>
                          </a:r>
                          <a:endParaRPr lang="en-US" altLang="ko-KR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𝑻𝑪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한계수입</a:t>
                          </a:r>
                          <a:endParaRPr lang="en-US" altLang="ko-KR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𝑴𝑹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/∆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한계비용</a:t>
                          </a:r>
                          <a:endParaRPr lang="en-US" altLang="ko-KR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  <a:p>
                          <a:pPr algn="ctr" latinLnBrk="1"/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𝑴𝑪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𝑻𝑪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/∆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이윤의 변화</a:t>
                          </a:r>
                          <a:endParaRPr lang="en-US" altLang="ko-KR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  <a:p>
                          <a:pPr algn="ctr" latinLnBrk="1"/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𝑴𝑹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𝑴𝑪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C4052615-345E-880D-7105-3964C4A7E69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46260" y="3753819"/>
              <a:ext cx="10899483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557069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4214129067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2310669025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1557069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61" t="-6494" r="-607059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63" t="-6494" r="-504688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353" t="-6494" r="-406667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172" t="-6494" r="-305078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745" t="-6494" r="-206275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781" t="-6494" r="-105469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3137" t="-6494" r="-5882" b="-4987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08440BB-94C8-3843-8F76-D9B156E7110E}"/>
              </a:ext>
            </a:extLst>
          </p:cNvPr>
          <p:cNvSpPr txBox="1"/>
          <p:nvPr/>
        </p:nvSpPr>
        <p:spPr>
          <a:xfrm>
            <a:off x="10557973" y="4320219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4</a:t>
            </a:r>
            <a:endParaRPr lang="ko-KR" altLang="en-US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3911C7-9C5E-D6BF-DD54-773308BF8E49}"/>
              </a:ext>
            </a:extLst>
          </p:cNvPr>
          <p:cNvSpPr txBox="1"/>
          <p:nvPr/>
        </p:nvSpPr>
        <p:spPr>
          <a:xfrm>
            <a:off x="10557973" y="4576325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3</a:t>
            </a:r>
            <a:endParaRPr lang="ko-KR" alt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7B746F-364D-73D5-7877-76CFC8B27C08}"/>
              </a:ext>
            </a:extLst>
          </p:cNvPr>
          <p:cNvSpPr txBox="1"/>
          <p:nvPr/>
        </p:nvSpPr>
        <p:spPr>
          <a:xfrm>
            <a:off x="10557973" y="4824043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2</a:t>
            </a:r>
            <a:endParaRPr lang="ko-KR" alt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17240B-A129-04A0-96C6-8D43778B0DFD}"/>
              </a:ext>
            </a:extLst>
          </p:cNvPr>
          <p:cNvSpPr txBox="1"/>
          <p:nvPr/>
        </p:nvSpPr>
        <p:spPr>
          <a:xfrm>
            <a:off x="10557973" y="5063746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1</a:t>
            </a:r>
            <a:endParaRPr lang="ko-KR" alt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8F2CE7-E90D-DD12-D530-D4F56EF46DD7}"/>
              </a:ext>
            </a:extLst>
          </p:cNvPr>
          <p:cNvSpPr txBox="1"/>
          <p:nvPr/>
        </p:nvSpPr>
        <p:spPr>
          <a:xfrm>
            <a:off x="10557973" y="5312081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0</a:t>
            </a:r>
            <a:endParaRPr lang="ko-KR" alt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8D548C-0811-C2DB-F161-522881A424F6}"/>
              </a:ext>
            </a:extLst>
          </p:cNvPr>
          <p:cNvSpPr txBox="1"/>
          <p:nvPr/>
        </p:nvSpPr>
        <p:spPr>
          <a:xfrm>
            <a:off x="10557973" y="556140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-1</a:t>
            </a:r>
            <a:endParaRPr lang="ko-KR" alt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40B210-2401-125A-1957-C14B4667B0C8}"/>
              </a:ext>
            </a:extLst>
          </p:cNvPr>
          <p:cNvSpPr txBox="1"/>
          <p:nvPr/>
        </p:nvSpPr>
        <p:spPr>
          <a:xfrm>
            <a:off x="10557973" y="581763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-2</a:t>
            </a:r>
            <a:endParaRPr lang="ko-KR" alt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781E03-8A82-F2FF-EE25-BF109C2A70B2}"/>
              </a:ext>
            </a:extLst>
          </p:cNvPr>
          <p:cNvSpPr txBox="1"/>
          <p:nvPr/>
        </p:nvSpPr>
        <p:spPr>
          <a:xfrm>
            <a:off x="10557973" y="6077808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-3</a:t>
            </a:r>
            <a:endParaRPr lang="ko-KR" alt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035564-9C81-1E59-90EA-37AFABE66D63}"/>
              </a:ext>
            </a:extLst>
          </p:cNvPr>
          <p:cNvSpPr txBox="1"/>
          <p:nvPr/>
        </p:nvSpPr>
        <p:spPr>
          <a:xfrm>
            <a:off x="678873" y="958844"/>
            <a:ext cx="11237687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아래표는 앞선 표에서 우유농장의 비용과 이윤에 대한 정보를 추가 되었다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3</a:t>
            </a:r>
            <a:r>
              <a:rPr lang="ko-KR" altLang="en-US" sz="1600" spc="-50" dirty="0"/>
              <a:t>열은 총비용이며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총비용은 고정비용과 가변비용을 더한 금액이며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여기서 고정비용은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원임을 알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가변비용은 생산량에 따라 다름을 알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</a:t>
            </a:r>
            <a:r>
              <a:rPr lang="ko-KR" altLang="en-US" sz="1600" spc="-50" dirty="0"/>
              <a:t>열은 이윤을 나타내며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총수입에서 총비용을 뺀 나머지 금액이다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생산량이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단위 </a:t>
            </a:r>
            <a:r>
              <a:rPr lang="ko-KR" altLang="en-US" sz="1600" spc="-50" dirty="0" err="1"/>
              <a:t>일때</a:t>
            </a:r>
            <a:r>
              <a:rPr lang="ko-KR" altLang="en-US" sz="1600" spc="-50" dirty="0"/>
              <a:t> 이윤이 극대화 된다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이윤이 극대화되는 지점은 한계수입과 한계비용을 비교하여 결정할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한계수입이 한계비용보다 크다면 이 농장은 추가수입이 추가비용보다 크다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한계수입이 한계비용보다 작다면 이 농장은 추가비용이 추가수입보다 크다</a:t>
            </a:r>
            <a:endParaRPr lang="en-US" altLang="ko-KR" sz="1600" spc="-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91E67A-50BB-76FE-89C0-15AF139A8069}"/>
              </a:ext>
            </a:extLst>
          </p:cNvPr>
          <p:cNvSpPr txBox="1"/>
          <p:nvPr/>
        </p:nvSpPr>
        <p:spPr>
          <a:xfrm>
            <a:off x="7433773" y="4320219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6</a:t>
            </a:r>
            <a:endParaRPr lang="ko-KR" altLang="en-US" sz="13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2B8F01-F5D2-20FA-25B8-83E2416CFEDD}"/>
              </a:ext>
            </a:extLst>
          </p:cNvPr>
          <p:cNvSpPr txBox="1"/>
          <p:nvPr/>
        </p:nvSpPr>
        <p:spPr>
          <a:xfrm>
            <a:off x="7433773" y="4576325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6</a:t>
            </a:r>
            <a:endParaRPr lang="ko-KR" alt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EC7676-C998-6E8C-F0FF-2F751993049E}"/>
              </a:ext>
            </a:extLst>
          </p:cNvPr>
          <p:cNvSpPr txBox="1"/>
          <p:nvPr/>
        </p:nvSpPr>
        <p:spPr>
          <a:xfrm>
            <a:off x="7433773" y="4824043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6</a:t>
            </a:r>
            <a:endParaRPr lang="ko-KR" alt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19A859-3414-8695-CF75-032FADCAABD1}"/>
              </a:ext>
            </a:extLst>
          </p:cNvPr>
          <p:cNvSpPr txBox="1"/>
          <p:nvPr/>
        </p:nvSpPr>
        <p:spPr>
          <a:xfrm>
            <a:off x="7433773" y="5063746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6</a:t>
            </a:r>
            <a:endParaRPr lang="ko-KR" altLang="en-US" sz="13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4B26F4-5E93-A352-9A03-B5E0A0F3FB7E}"/>
              </a:ext>
            </a:extLst>
          </p:cNvPr>
          <p:cNvSpPr txBox="1"/>
          <p:nvPr/>
        </p:nvSpPr>
        <p:spPr>
          <a:xfrm>
            <a:off x="7433773" y="5312081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6</a:t>
            </a:r>
            <a:endParaRPr lang="ko-KR" altLang="en-US" sz="13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838591-52A3-F6D1-534B-98D08A5F5911}"/>
              </a:ext>
            </a:extLst>
          </p:cNvPr>
          <p:cNvSpPr txBox="1"/>
          <p:nvPr/>
        </p:nvSpPr>
        <p:spPr>
          <a:xfrm>
            <a:off x="7433773" y="556140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6</a:t>
            </a:r>
            <a:endParaRPr lang="ko-KR" altLang="en-US" sz="13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C8D082-5084-36E5-B1B9-919D4EF4DCFC}"/>
              </a:ext>
            </a:extLst>
          </p:cNvPr>
          <p:cNvSpPr txBox="1"/>
          <p:nvPr/>
        </p:nvSpPr>
        <p:spPr>
          <a:xfrm>
            <a:off x="7433773" y="581763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6</a:t>
            </a:r>
            <a:endParaRPr lang="ko-KR" altLang="en-US" sz="13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EAF440-1728-0B8A-9F09-6DCE96982430}"/>
              </a:ext>
            </a:extLst>
          </p:cNvPr>
          <p:cNvSpPr txBox="1"/>
          <p:nvPr/>
        </p:nvSpPr>
        <p:spPr>
          <a:xfrm>
            <a:off x="7433773" y="6077808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6</a:t>
            </a:r>
            <a:endParaRPr lang="ko-KR" altLang="en-US" sz="13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7061EF-7D8E-DAFC-95D6-B7E653A0DD52}"/>
              </a:ext>
            </a:extLst>
          </p:cNvPr>
          <p:cNvSpPr txBox="1"/>
          <p:nvPr/>
        </p:nvSpPr>
        <p:spPr>
          <a:xfrm>
            <a:off x="8995873" y="4320219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2</a:t>
            </a:r>
            <a:endParaRPr lang="ko-KR" altLang="en-US" sz="13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52E5E3-B4E2-824B-B13C-3999ADF848A0}"/>
              </a:ext>
            </a:extLst>
          </p:cNvPr>
          <p:cNvSpPr txBox="1"/>
          <p:nvPr/>
        </p:nvSpPr>
        <p:spPr>
          <a:xfrm>
            <a:off x="8995873" y="4576325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3</a:t>
            </a:r>
            <a:endParaRPr lang="ko-KR" altLang="en-US" sz="13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83AFD3-ACDF-9D9A-FF0E-92449DFEA706}"/>
              </a:ext>
            </a:extLst>
          </p:cNvPr>
          <p:cNvSpPr txBox="1"/>
          <p:nvPr/>
        </p:nvSpPr>
        <p:spPr>
          <a:xfrm>
            <a:off x="8995873" y="4824043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4</a:t>
            </a:r>
            <a:endParaRPr lang="ko-KR" altLang="en-US" sz="13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1E9A8F-CF17-B287-98EB-4E3A380E684C}"/>
              </a:ext>
            </a:extLst>
          </p:cNvPr>
          <p:cNvSpPr txBox="1"/>
          <p:nvPr/>
        </p:nvSpPr>
        <p:spPr>
          <a:xfrm>
            <a:off x="8995873" y="5063746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5</a:t>
            </a:r>
            <a:endParaRPr lang="ko-KR" altLang="en-US" sz="13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06C21E-FF44-566A-1AD8-24EC1E6CD327}"/>
              </a:ext>
            </a:extLst>
          </p:cNvPr>
          <p:cNvSpPr txBox="1"/>
          <p:nvPr/>
        </p:nvSpPr>
        <p:spPr>
          <a:xfrm>
            <a:off x="8995873" y="5312081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6</a:t>
            </a:r>
            <a:endParaRPr lang="ko-KR" altLang="en-US" sz="13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8A2BA2-E0F5-E277-8BB1-0B78C6B3196F}"/>
              </a:ext>
            </a:extLst>
          </p:cNvPr>
          <p:cNvSpPr txBox="1"/>
          <p:nvPr/>
        </p:nvSpPr>
        <p:spPr>
          <a:xfrm>
            <a:off x="8995873" y="556140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7</a:t>
            </a:r>
            <a:endParaRPr lang="ko-KR" altLang="en-US" sz="13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1764EA-2C61-87CA-9808-93E27A746625}"/>
              </a:ext>
            </a:extLst>
          </p:cNvPr>
          <p:cNvSpPr txBox="1"/>
          <p:nvPr/>
        </p:nvSpPr>
        <p:spPr>
          <a:xfrm>
            <a:off x="8995873" y="581763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8</a:t>
            </a:r>
            <a:endParaRPr lang="ko-KR" altLang="en-US" sz="13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E62249-9B92-07DE-11AD-C98AA6134C52}"/>
              </a:ext>
            </a:extLst>
          </p:cNvPr>
          <p:cNvSpPr txBox="1"/>
          <p:nvPr/>
        </p:nvSpPr>
        <p:spPr>
          <a:xfrm>
            <a:off x="8995873" y="6077808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/>
              <a:t>9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73444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56D12-E017-1A71-0DF8-B9E887CF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25F150-6E0C-8307-1DC9-D2C5D819B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711" y="1066800"/>
            <a:ext cx="4717096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C4EE84F-E346-6624-0C46-FFC017AB9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한계비용곡선과 공급량의 결정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489736-0214-A3B1-AF95-429DB0CE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CF856F-A617-2FBC-C9C1-1A26699A400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936893" cy="522239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비용곡선에 대한 간략한 특징을 살펴보자 </a:t>
                </a:r>
                <a:r>
                  <a:rPr lang="en-US" altLang="ko-KR" sz="1600" spc="-50" dirty="0"/>
                  <a:t>(MC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ATC)</a:t>
                </a:r>
                <a:endParaRPr lang="ko-KR" altLang="en-US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한계비용곡선</a:t>
                </a:r>
                <a:r>
                  <a:rPr lang="en-US" altLang="ko-KR" sz="1600" spc="-50" dirty="0"/>
                  <a:t>(MC) </a:t>
                </a:r>
                <a:r>
                  <a:rPr lang="ko-KR" altLang="en-US" sz="1600" spc="-50" dirty="0"/>
                  <a:t>은 </a:t>
                </a:r>
                <a:r>
                  <a:rPr lang="ko-KR" altLang="en-US" sz="1600" spc="-50" dirty="0" err="1"/>
                  <a:t>우상향한다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평균총비용곡선</a:t>
                </a:r>
                <a:r>
                  <a:rPr lang="en-US" altLang="ko-KR" sz="1600" spc="-50" dirty="0"/>
                  <a:t>(ATC)</a:t>
                </a:r>
                <a:r>
                  <a:rPr lang="ko-KR" altLang="en-US" sz="1600" spc="-50" dirty="0"/>
                  <a:t>은 </a:t>
                </a:r>
                <a:r>
                  <a:rPr lang="en-US" altLang="ko-KR" sz="1600" spc="-50" dirty="0"/>
                  <a:t>U</a:t>
                </a:r>
                <a:r>
                  <a:rPr lang="ko-KR" altLang="en-US" sz="1600" spc="-50" dirty="0"/>
                  <a:t>자형이다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한계비용곡선</a:t>
                </a:r>
                <a:r>
                  <a:rPr lang="en-US" altLang="ko-KR" sz="1600" spc="-50" dirty="0"/>
                  <a:t>(MC)</a:t>
                </a:r>
                <a:r>
                  <a:rPr lang="ko-KR" altLang="en-US" sz="1600" spc="-50" dirty="0"/>
                  <a:t>은 </a:t>
                </a:r>
                <a:r>
                  <a:rPr lang="ko-KR" altLang="en-US" sz="1600" spc="-50" dirty="0" err="1"/>
                  <a:t>평균총비용곡선</a:t>
                </a:r>
                <a:r>
                  <a:rPr lang="en-US" altLang="ko-KR" sz="1600" spc="-50" dirty="0"/>
                  <a:t>(ATC)</a:t>
                </a:r>
                <a:r>
                  <a:rPr lang="ko-KR" altLang="en-US" sz="1600" spc="-50" dirty="0"/>
                  <a:t>의 최저점을 지난다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시장가격은 수평인 직선 </a:t>
                </a:r>
                <a:r>
                  <a:rPr lang="en-US" altLang="ko-KR" sz="1600" spc="-50" dirty="0"/>
                  <a:t>P</a:t>
                </a:r>
                <a:r>
                  <a:rPr lang="ko-KR" altLang="en-US" sz="1600" spc="-50" dirty="0"/>
                  <a:t>로 나타난다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가격은 기업의 평균수입이자 한계수입과 같다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가격선이 수평인 것은 이 기업이 </a:t>
                </a:r>
                <a:r>
                  <a:rPr lang="ko-KR" altLang="en-US" sz="1600" spc="-50" dirty="0" err="1"/>
                  <a:t>가격수용자이기</a:t>
                </a:r>
                <a:r>
                  <a:rPr lang="ko-KR" altLang="en-US" sz="1600" spc="-50" dirty="0"/>
                  <a:t> 때문이다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그래프에서 이윤극대화 생산량은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𝑀𝐴𝑋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임</m:t>
                    </m:r>
                  </m:oMath>
                </a14:m>
                <a:r>
                  <a:rPr lang="ko-KR" altLang="en-US" sz="1600" spc="-50" dirty="0"/>
                  <a:t>을 알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𝑀𝐴𝑋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보다 적게 생산하면 한계수입이 한계비용보다 크다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𝑀𝐴𝑋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보다 많이 생산하면 한계비용이 한계수입보다 크다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이윤극대화를 위한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가지 일반원리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한계수입이 한계비용보다 크면 기업은 생산량을 늘려야 한다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한계비용이 한계수입보다 크면 기업은 생산량을 줄여야 한다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이윤이 극대화되는 생산량에서는 한계수입과 한계비용이 일치한다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CF856F-A617-2FBC-C9C1-1A26699A4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936893" cy="5222392"/>
              </a:xfrm>
              <a:prstGeom prst="rect">
                <a:avLst/>
              </a:prstGeom>
              <a:blipFill>
                <a:blip r:embed="rId3"/>
                <a:stretch>
                  <a:fillRect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5611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1498-10E7-351D-FF1D-58DB4A2B6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3C97DD-DF12-9FE0-38ED-8D14A4155D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DD6416-638A-50D9-0553-0BD1F4AA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D57C21A-8672-813B-BEC8-3D9C53D1C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647097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ko-KR" altLang="en-US" sz="4000" b="1" i="0" spc="150" dirty="0"/>
              <a:t>독 점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275971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6CF4D-A5AF-DE76-7F9F-6DD79458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DF085D-948C-C2C0-63AF-6951C46DA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독점이란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CA1BA3-2E15-0B76-FDBC-4F3C3F41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09899-946F-884E-7D8B-D8EC88782CD2}"/>
              </a:ext>
            </a:extLst>
          </p:cNvPr>
          <p:cNvSpPr txBox="1"/>
          <p:nvPr/>
        </p:nvSpPr>
        <p:spPr>
          <a:xfrm>
            <a:off x="678873" y="958844"/>
            <a:ext cx="11397079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독점기업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어느 기업이 공급하는 상품에 밀접한 대체재가 존재하지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재화를 한 공급자가 공급하고 있으면 그 기업은 독점기업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독점기업이 발생하는 이유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생산요소의 독점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중요한 생산요소를 한 기업이 소유하는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영국의 </a:t>
            </a:r>
            <a:r>
              <a:rPr lang="ko-KR" altLang="en-US" sz="1600" spc="-50" dirty="0" err="1"/>
              <a:t>드비어스</a:t>
            </a:r>
            <a:r>
              <a:rPr lang="ko-KR" altLang="en-US" sz="1600" spc="-50" dirty="0"/>
              <a:t> 회사가 남아공의 다이아몬드를 독점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정부규제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정부가 한 기업에게 독점 생산권을 부여한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 혹은 예술작품에 특허권이나 저작권을 부여하는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생산기술 혹은 자연독점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한 기업이 생산할 때의 생산비용이 여러 기업이 생산하는 것보다 낮은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철도사업에서 선로 건설 및 유지 비용은 너무 크기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막대한 고정비용 지출로 인해 기업경쟁이 </a:t>
            </a:r>
            <a:r>
              <a:rPr lang="ko-KR" altLang="en-US" sz="1600" spc="-50" dirty="0" err="1"/>
              <a:t>힘듬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한국전력공사는 송전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소매 시장을 독점하고 있는데 어떤 경우에 해당할까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정한 독점이자 동시에 자연독점의 성격을 갖고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762189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A5485-32E6-A400-1319-20E77901D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BA1AF-E360-81A5-9F95-02D75FF3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독점기업의 생산과 가격 결정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67FF2E-136B-BB6A-FC52-1E62DDF19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9A6747-0FB2-EB48-EC45-48C46F22B01F}"/>
              </a:ext>
            </a:extLst>
          </p:cNvPr>
          <p:cNvSpPr txBox="1"/>
          <p:nvPr/>
        </p:nvSpPr>
        <p:spPr>
          <a:xfrm>
            <a:off x="678873" y="958844"/>
            <a:ext cx="11237687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독점시장 기업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경쟁시장 기업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경쟁시장 기업은 시장 규모에 비해 너무 작아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자신이 생산한 재화의 가격에 아무런 영향을 미치지 못함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왼쪽그래프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주어지는 시장가격에 얼마든지 자기가 원하는 물량을 판매할 수 있음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독점시장 기업은 시장의 유일한 공급자이므로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생산량 조절을 통해 시장가격에 영향을 미칠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오른쪽그래프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독점기업은 시장의 수요곡선 그 자체를 직면함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독점기업이 가격을 인상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인하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하면 시장수요가 줄고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늘고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생산량을 줄이면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늘리면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가격이 상승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하락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6" name="그림 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08AB59-325A-6B37-4B8B-69BD8192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55" y="3369759"/>
            <a:ext cx="2700894" cy="3091908"/>
          </a:xfrm>
          <a:prstGeom prst="rect">
            <a:avLst/>
          </a:prstGeom>
        </p:spPr>
      </p:pic>
      <p:pic>
        <p:nvPicPr>
          <p:cNvPr id="8" name="그림 7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7FFD61-AA36-3E79-7BCF-16A8D0F29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249" y="3383843"/>
            <a:ext cx="2700894" cy="309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77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A8900C-5CAA-05B0-0FEE-C8B65A81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독점기업의 총수입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6ECD6-9BAD-B1F0-FDA3-B7EE1E0A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FF88C8-68D0-1062-40D9-C07C6BAEA336}"/>
              </a:ext>
            </a:extLst>
          </p:cNvPr>
          <p:cNvSpPr txBox="1"/>
          <p:nvPr/>
        </p:nvSpPr>
        <p:spPr>
          <a:xfrm>
            <a:off x="678873" y="958844"/>
            <a:ext cx="11237687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표와 같이 어느 마을에 식수를 공급하는 독점기업을 생각해보자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표의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열과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열은 독점기업이 공급하는 재화에 대한 수요곡선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물의 수량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가격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총수입은 가격에 수량을 곱한 값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평균수입은 총수입을 수량으로 나눈 값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한계수입은 상품을 한 단위 더 판매했을 때 발생하는 총수입의 변화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독점기업의 한계수입은 상품가격보다 항상 작음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판매량을 늘리려면 반드시 모든 수요자에 대해 가격을 인하해야 하기 때문</a:t>
            </a: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C714D86F-9554-99AC-1FBC-FDCB482324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9372091"/>
                  </p:ext>
                </p:extLst>
              </p:nvPr>
            </p:nvGraphicFramePr>
            <p:xfrm>
              <a:off x="646260" y="3753819"/>
              <a:ext cx="10899480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79896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물의 수량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가격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𝐏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총수입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𝑷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×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평균수입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𝐀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한계수입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𝐌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/∆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11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C714D86F-9554-99AC-1FBC-FDCB482324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9372091"/>
                  </p:ext>
                </p:extLst>
              </p:nvPr>
            </p:nvGraphicFramePr>
            <p:xfrm>
              <a:off x="646260" y="3753819"/>
              <a:ext cx="10899480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79896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7" t="-6494" r="-403631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81" t="-6494" r="-304762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117" t="-6494" r="-203911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961" t="-6494" r="-104482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838" t="-6494" r="-4190" b="-4987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11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2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8D580E7-90C8-9B23-B238-E47AE79ED8C3}"/>
              </a:ext>
            </a:extLst>
          </p:cNvPr>
          <p:cNvSpPr txBox="1"/>
          <p:nvPr/>
        </p:nvSpPr>
        <p:spPr>
          <a:xfrm>
            <a:off x="10168507" y="4320219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10</a:t>
            </a:r>
            <a:endParaRPr lang="ko-KR" alt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8BA265-AB50-4B8E-0129-04E4F556E581}"/>
              </a:ext>
            </a:extLst>
          </p:cNvPr>
          <p:cNvSpPr txBox="1"/>
          <p:nvPr/>
        </p:nvSpPr>
        <p:spPr>
          <a:xfrm>
            <a:off x="10168507" y="4576325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8</a:t>
            </a:r>
            <a:endParaRPr lang="ko-KR" alt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AF5ABC-F3D6-E33C-FC2F-6204476CE404}"/>
              </a:ext>
            </a:extLst>
          </p:cNvPr>
          <p:cNvSpPr txBox="1"/>
          <p:nvPr/>
        </p:nvSpPr>
        <p:spPr>
          <a:xfrm>
            <a:off x="10168507" y="4824043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6</a:t>
            </a:r>
            <a:endParaRPr lang="ko-KR" alt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826B3A-BC89-7735-653B-2D5F8D0C049C}"/>
              </a:ext>
            </a:extLst>
          </p:cNvPr>
          <p:cNvSpPr txBox="1"/>
          <p:nvPr/>
        </p:nvSpPr>
        <p:spPr>
          <a:xfrm>
            <a:off x="10168507" y="5063746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4</a:t>
            </a:r>
            <a:endParaRPr lang="ko-KR" alt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882574-3F2E-D346-B76A-8C4247D28322}"/>
              </a:ext>
            </a:extLst>
          </p:cNvPr>
          <p:cNvSpPr txBox="1"/>
          <p:nvPr/>
        </p:nvSpPr>
        <p:spPr>
          <a:xfrm>
            <a:off x="10168507" y="5312081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2</a:t>
            </a:r>
            <a:endParaRPr lang="ko-KR" altLang="en-US" sz="13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5E1E55-1ED4-66D7-CBC6-72E5C600A392}"/>
              </a:ext>
            </a:extLst>
          </p:cNvPr>
          <p:cNvSpPr txBox="1"/>
          <p:nvPr/>
        </p:nvSpPr>
        <p:spPr>
          <a:xfrm>
            <a:off x="10168507" y="556140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0</a:t>
            </a:r>
            <a:endParaRPr lang="ko-KR" alt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91582D-F5E7-D084-9402-DC32A9741657}"/>
              </a:ext>
            </a:extLst>
          </p:cNvPr>
          <p:cNvSpPr txBox="1"/>
          <p:nvPr/>
        </p:nvSpPr>
        <p:spPr>
          <a:xfrm>
            <a:off x="10168507" y="581763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-2</a:t>
            </a:r>
            <a:endParaRPr lang="ko-KR" alt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AF867-4CBB-DAAF-9D99-A11E3723A954}"/>
              </a:ext>
            </a:extLst>
          </p:cNvPr>
          <p:cNvSpPr txBox="1"/>
          <p:nvPr/>
        </p:nvSpPr>
        <p:spPr>
          <a:xfrm>
            <a:off x="10168507" y="6077808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-4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139698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1BA04-9197-C7A6-F430-42F0AA49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32902-D39C-ABD0-90D5-F5FA6C13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독점기업의 총수입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BDA706-B1C0-B541-BD2C-73FE609E9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C63094-AFC4-800E-18D2-53D3DBA7E27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866867" cy="26300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독점기업이 판매량을 늘리면 두 가지 효과가 발생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산출효과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판매량이 증가하므로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가 증가하므로 총수입 증가 효과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가격효과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가격이 하락했으므로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ko-KR" altLang="en-US" sz="1600" spc="-50" dirty="0"/>
                  <a:t>가 작아지므로 총수입 감소 효과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경쟁시장 기업은 한 단위의 상품을 더 팔면 추가로 들어오는 수입은 시장가격 그 자체가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전에 팔던 수량에 대해 가격을 인하할 필요가 없음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독점기업은 한 단위의 상품을 더 팔기 위해서는 가격을 인하해야 하는데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전에 팔고 있던 모든 수량에 대해서도 가격을 인하 해야함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C63094-AFC4-800E-18D2-53D3DBA7E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866867" cy="2630015"/>
              </a:xfrm>
              <a:prstGeom prst="rect">
                <a:avLst/>
              </a:prstGeom>
              <a:blipFill>
                <a:blip r:embed="rId2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3B3B8875-5D98-DDF4-1CEC-B34A771FFC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6967204"/>
                  </p:ext>
                </p:extLst>
              </p:nvPr>
            </p:nvGraphicFramePr>
            <p:xfrm>
              <a:off x="646260" y="3753819"/>
              <a:ext cx="10899480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79896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물의 수량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가격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𝐏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총수입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𝑷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×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평균수입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𝐀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한계수입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0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𝐌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𝑻𝑹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/∆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11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3B3B8875-5D98-DDF4-1CEC-B34A771FFC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6967204"/>
                  </p:ext>
                </p:extLst>
              </p:nvPr>
            </p:nvGraphicFramePr>
            <p:xfrm>
              <a:off x="646260" y="3753819"/>
              <a:ext cx="10899480" cy="27137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79896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798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7" t="-6494" r="-403631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81" t="-6494" r="-304762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117" t="-6494" r="-203911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961" t="-6494" r="-104482" b="-498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838" t="-6494" r="-4190" b="-4987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11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altLang="ko-KR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0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1305777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ADAF74E-E4DA-F213-5595-29275E44F5CB}"/>
              </a:ext>
            </a:extLst>
          </p:cNvPr>
          <p:cNvSpPr txBox="1"/>
          <p:nvPr/>
        </p:nvSpPr>
        <p:spPr>
          <a:xfrm>
            <a:off x="10168507" y="4320219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10</a:t>
            </a:r>
            <a:endParaRPr lang="ko-KR" alt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003978-7C48-E76B-5B73-E16CC44EBCC2}"/>
              </a:ext>
            </a:extLst>
          </p:cNvPr>
          <p:cNvSpPr txBox="1"/>
          <p:nvPr/>
        </p:nvSpPr>
        <p:spPr>
          <a:xfrm>
            <a:off x="10168507" y="4576325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8</a:t>
            </a:r>
            <a:endParaRPr lang="ko-KR" alt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5DA75C-E8D6-6E7A-5F39-024A35BEA29C}"/>
              </a:ext>
            </a:extLst>
          </p:cNvPr>
          <p:cNvSpPr txBox="1"/>
          <p:nvPr/>
        </p:nvSpPr>
        <p:spPr>
          <a:xfrm>
            <a:off x="10168507" y="4824043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6</a:t>
            </a:r>
            <a:endParaRPr lang="ko-KR" alt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39D277-AC7F-AA5D-D279-7E94D5654514}"/>
              </a:ext>
            </a:extLst>
          </p:cNvPr>
          <p:cNvSpPr txBox="1"/>
          <p:nvPr/>
        </p:nvSpPr>
        <p:spPr>
          <a:xfrm>
            <a:off x="10168507" y="5063746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4</a:t>
            </a:r>
            <a:endParaRPr lang="ko-KR" alt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9FD069-70A9-5EC1-45E8-34244AD391F6}"/>
              </a:ext>
            </a:extLst>
          </p:cNvPr>
          <p:cNvSpPr txBox="1"/>
          <p:nvPr/>
        </p:nvSpPr>
        <p:spPr>
          <a:xfrm>
            <a:off x="10168507" y="5312081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2</a:t>
            </a:r>
            <a:endParaRPr lang="ko-KR" altLang="en-US" sz="13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1E8CDD-4854-FF99-AF40-66726BBEB10E}"/>
              </a:ext>
            </a:extLst>
          </p:cNvPr>
          <p:cNvSpPr txBox="1"/>
          <p:nvPr/>
        </p:nvSpPr>
        <p:spPr>
          <a:xfrm>
            <a:off x="10168507" y="556140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0</a:t>
            </a:r>
            <a:endParaRPr lang="ko-KR" alt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BE1670-30DB-7A39-4C5B-9F7A162722B2}"/>
              </a:ext>
            </a:extLst>
          </p:cNvPr>
          <p:cNvSpPr txBox="1"/>
          <p:nvPr/>
        </p:nvSpPr>
        <p:spPr>
          <a:xfrm>
            <a:off x="10168507" y="5817637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-2</a:t>
            </a:r>
            <a:endParaRPr lang="ko-KR" alt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B149DC-52DF-5715-02B6-A6A17EABF984}"/>
              </a:ext>
            </a:extLst>
          </p:cNvPr>
          <p:cNvSpPr txBox="1"/>
          <p:nvPr/>
        </p:nvSpPr>
        <p:spPr>
          <a:xfrm>
            <a:off x="10168507" y="6077808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-4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405810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22BA7-C173-AD9F-FF8F-A0E4A1117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B94BF-99E1-057A-D040-FE2138CD0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독점기업의 총수입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90BEA3-EED0-B64A-60B1-D7C791330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BDFB05-6BCF-6F7E-2881-A78EF9BD8848}"/>
              </a:ext>
            </a:extLst>
          </p:cNvPr>
          <p:cNvSpPr txBox="1"/>
          <p:nvPr/>
        </p:nvSpPr>
        <p:spPr>
          <a:xfrm>
            <a:off x="678873" y="958844"/>
            <a:ext cx="64643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그래프는 독점기업의 수요곡선과 한계수입곡선을 보여줌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곡선은 가격 축에서 절편이 항상 같음 </a:t>
            </a:r>
            <a:r>
              <a:rPr lang="en-US" altLang="ko-KR" sz="1600" spc="-50" dirty="0"/>
              <a:t>(y</a:t>
            </a:r>
            <a:r>
              <a:rPr lang="ko-KR" altLang="en-US" sz="1600" spc="-50" dirty="0"/>
              <a:t>축 절편은 </a:t>
            </a:r>
            <a:r>
              <a:rPr lang="en-US" altLang="ko-KR" sz="1600" spc="-50" dirty="0"/>
              <a:t>11)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첫번째 판매량의 한계수입은 가격 그 자체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번째 단위 이후에는 한계수입이 가격보다 </a:t>
            </a:r>
            <a:r>
              <a:rPr lang="ko-KR" altLang="en-US" sz="1600" spc="-50" dirty="0" err="1"/>
              <a:t>작아짐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수량을 늘려가다 보면 가격효과가 산출효과를 능가하면 한계수입은 마이너스가 될 수 도 있음</a:t>
            </a:r>
            <a:endParaRPr lang="en-US" altLang="ko-KR" sz="1600" spc="-50" dirty="0"/>
          </a:p>
        </p:txBody>
      </p:sp>
      <p:pic>
        <p:nvPicPr>
          <p:cNvPr id="10" name="그림 9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39BB95-A779-A612-CC50-5CBD4BBE1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526" y="946144"/>
            <a:ext cx="4818217" cy="5515761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C6A3C5F-4835-9091-7CDB-E1D0E0963786}"/>
              </a:ext>
            </a:extLst>
          </p:cNvPr>
          <p:cNvCxnSpPr>
            <a:cxnSpLocks/>
          </p:cNvCxnSpPr>
          <p:nvPr/>
        </p:nvCxnSpPr>
        <p:spPr>
          <a:xfrm rot="16200000">
            <a:off x="11409680" y="1638300"/>
            <a:ext cx="878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616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24FC0-30AF-4D03-20C3-AECC27B8B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E3562-68ED-5583-ACB0-94D1B01E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독점기업의 이윤 극대화 조건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F45EB-3965-892E-2DE3-CAB4CB34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17F04C-2553-FCAD-0A29-21AE68978710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531465" cy="55853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독점기업의 이윤 극대화를 위한 생산량 결정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일 때는 한계비용이 한계수입보다 작으므로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한 단위 더 생산한다면 추가로 들어오는 수입이 추가로 발생하는 비용보다 크기 때문에 생산량을 증가시킬 유인이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일 때는 한계수입이 한계비용보다 작으므로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생산량을 줄일 유인이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𝑀𝐴𝑋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일 때는 생산량을 증가시킬 유인도 없고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감소시킬 유인도 없는 이윤극대화 생산량임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독점기업도 경쟁시장 기업과 마찬가지로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한계수입과 한계비용이 일치하는 생산량을 선택함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그래프에서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점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ko-KR" sz="1600" spc="-50" dirty="0"/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중요한 차이는 경쟁시장 기업의 한계수입은 가격과 같은 반면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한계수입이 수평선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독점시장 기업의 한계수입은 가격보다 낮음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한계수입이 </a:t>
                </a:r>
                <a:r>
                  <a:rPr lang="ko-KR" altLang="en-US" sz="1600" spc="-50" dirty="0" err="1"/>
                  <a:t>우하향</a:t>
                </a:r>
                <a:r>
                  <a:rPr lang="ko-KR" altLang="en-US" sz="1600" spc="-50" dirty="0"/>
                  <a:t> 곡선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경쟁시장 기업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독점시장 기업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17F04C-2553-FCAD-0A29-21AE68978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531465" cy="5585375"/>
              </a:xfrm>
              <a:prstGeom prst="rect">
                <a:avLst/>
              </a:prstGeom>
              <a:blipFill>
                <a:blip r:embed="rId2"/>
                <a:stretch>
                  <a:fillRect r="-93" b="-3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7AC0FC-BD05-D7C4-A629-B333BC96E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738" y="949302"/>
            <a:ext cx="4717096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8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03B7-6D08-6C48-A947-3583E76C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C8E76-06F0-57B5-6899-C9156D00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독점기업의 이윤 극대화 조건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A0456B-89FA-1F2C-2EDF-2A13FB89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B9EF57-5391-4690-7314-5A48F7DD2B88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531465" cy="26307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독점기업의 이윤 극대화를 위한 가격 결정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수요곡선은 주어진 수요량에 대한 수요자들의 최대 지불용의를 나타냄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독점기업은 수요곡선에서 이 생산량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𝑀𝐴𝑋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판매할 수 있는 최고가격을 찾아냄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오른쪽 그래프에서 독점기업이 이윤을 극대화하는 가격은 수요곡선상에 있는 점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ko-KR" altLang="en-US" sz="1600" spc="-50" dirty="0"/>
                  <a:t>와 같음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B9EF57-5391-4690-7314-5A48F7DD2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531465" cy="2630720"/>
              </a:xfrm>
              <a:prstGeom prst="rect">
                <a:avLst/>
              </a:prstGeom>
              <a:blipFill>
                <a:blip r:embed="rId2"/>
                <a:stretch>
                  <a:fillRect r="-373" b="-18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9">
            <a:extLst>
              <a:ext uri="{FF2B5EF4-FFF2-40B4-BE49-F238E27FC236}">
                <a16:creationId xmlns:a16="http://schemas.microsoft.com/office/drawing/2014/main" id="{F814532C-26A7-9BB5-9921-472A9A0BD9F7}"/>
              </a:ext>
            </a:extLst>
          </p:cNvPr>
          <p:cNvSpPr/>
          <p:nvPr/>
        </p:nvSpPr>
        <p:spPr>
          <a:xfrm>
            <a:off x="8185639" y="6035919"/>
            <a:ext cx="325315" cy="320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C356A6-66A5-5C04-A83E-70A590D0E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658" y="954382"/>
            <a:ext cx="4717096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126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90630-59A1-9BD3-54AA-3786EE3B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2B1811-5F4A-8ACC-672B-8BC249537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622" y="939142"/>
            <a:ext cx="4717096" cy="5400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E433B44-6C73-61C7-6FE7-6E3C933AD8CE}"/>
              </a:ext>
            </a:extLst>
          </p:cNvPr>
          <p:cNvSpPr/>
          <p:nvPr/>
        </p:nvSpPr>
        <p:spPr>
          <a:xfrm>
            <a:off x="7847253" y="3248142"/>
            <a:ext cx="1139268" cy="1745497"/>
          </a:xfrm>
          <a:prstGeom prst="rect">
            <a:avLst/>
          </a:prstGeom>
          <a:solidFill>
            <a:schemeClr val="accent1">
              <a:lumMod val="20000"/>
              <a:lumOff val="8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4F79D7-52F2-0414-17EB-BE58E69C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독점기업의 이윤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F89DB4-BA07-8FDC-FB54-C31342132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2CBA8-F8CF-A6C8-6FB6-A0B1E4AFB146}"/>
                  </a:ext>
                </a:extLst>
              </p:cNvPr>
              <p:cNvSpPr txBox="1"/>
              <p:nvPr/>
            </p:nvSpPr>
            <p:spPr>
              <a:xfrm>
                <a:off x="386773" y="958844"/>
                <a:ext cx="6944306" cy="256038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이윤 </a:t>
                </a:r>
                <a:r>
                  <a:rPr lang="en-US" altLang="ko-KR" sz="1600" spc="-50" dirty="0"/>
                  <a:t>=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𝑇𝑅</m:t>
                    </m:r>
                  </m:oMath>
                </a14:m>
                <a:r>
                  <a:rPr lang="en-US" altLang="ko-KR" sz="1600" spc="-50" dirty="0"/>
                  <a:t> (</a:t>
                </a:r>
                <a:r>
                  <a:rPr lang="ko-KR" altLang="en-US" sz="1600" spc="-50" dirty="0"/>
                  <a:t>총수입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–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1600" spc="-50" dirty="0"/>
                  <a:t> (</a:t>
                </a:r>
                <a:r>
                  <a:rPr lang="ko-KR" altLang="en-US" sz="1600" spc="-50" dirty="0"/>
                  <a:t>총비용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이윤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𝑇𝑅</m:t>
                            </m:r>
                          </m:num>
                          <m:den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den>
                        </m:f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𝑇𝐶</m:t>
                            </m:r>
                          </m:num>
                          <m:den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den>
                        </m:f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이윤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𝐴𝑇𝐶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그래프에서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𝐵𝐶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(</a:t>
                </a:r>
                <a:r>
                  <a:rPr lang="ko-KR" altLang="en-US" sz="1600" spc="-50" dirty="0"/>
                  <a:t>직사각형의 높이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가격에서 총 비용을 뺀 것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𝐴𝑇𝐶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𝐷𝐶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(</a:t>
                </a:r>
                <a:r>
                  <a:rPr lang="ko-KR" altLang="en-US" sz="1600" spc="-50" dirty="0"/>
                  <a:t>직사각형의 밑변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이윤 극대화 생산량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𝑀𝐴𝑋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직사각형의 면적이 독점기업의 이윤임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2CBA8-F8CF-A6C8-6FB6-A0B1E4AFB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73" y="958844"/>
                <a:ext cx="6944306" cy="2560381"/>
              </a:xfrm>
              <a:prstGeom prst="rect">
                <a:avLst/>
              </a:prstGeom>
              <a:blipFill>
                <a:blip r:embed="rId3"/>
                <a:stretch>
                  <a:fillRect b="-2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0D69A94-D1ED-B9DF-B97E-56A325ED4202}"/>
              </a:ext>
            </a:extLst>
          </p:cNvPr>
          <p:cNvSpPr txBox="1"/>
          <p:nvPr/>
        </p:nvSpPr>
        <p:spPr>
          <a:xfrm>
            <a:off x="7883211" y="3776605"/>
            <a:ext cx="1103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spc="-50"/>
              <a:t>독점기업의 이윤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19629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0BAF-4CDF-88D6-3391-444B1845D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2B5507-F86D-AF41-CA2A-1996B7EC7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672E00-23ED-BC09-06C4-8C2D82E1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8D600E-1332-DDF3-9926-948F5BADE103}"/>
              </a:ext>
            </a:extLst>
          </p:cNvPr>
          <p:cNvSpPr txBox="1"/>
          <p:nvPr/>
        </p:nvSpPr>
        <p:spPr>
          <a:xfrm>
            <a:off x="386773" y="958844"/>
            <a:ext cx="1131627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완전경쟁시장에서는 경제적 손실이 없음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독점시장에서는 경제적 순손실이 발생함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독점기업은 가격을 한계비용보다 높게 설정하기 때문에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소비자 중 일부는 재화의 생산비보다 지불용의가 높음에도 불구하고 재화를 소비하지 못함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2AC1FD-84F7-EAD0-0E44-9A09D4736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673" y="2715261"/>
            <a:ext cx="3223673" cy="38121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AB1463C-3332-B4B1-670A-863D6D155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403" y="2724786"/>
            <a:ext cx="3223673" cy="381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435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12730</TotalTime>
  <Words>2170</Words>
  <Application>Microsoft Office PowerPoint</Application>
  <PresentationFormat>와이드스크린</PresentationFormat>
  <Paragraphs>580</Paragraphs>
  <Slides>25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환경경제학</vt:lpstr>
      <vt:lpstr>생산비용</vt:lpstr>
      <vt:lpstr>총수입, 총비용, 이윤</vt:lpstr>
      <vt:lpstr>경제학적 이윤과 회계학적 이윤</vt:lpstr>
      <vt:lpstr>생산과 비용</vt:lpstr>
      <vt:lpstr>생산함수와 총비용함수</vt:lpstr>
      <vt:lpstr>여러가지 비용 개념</vt:lpstr>
      <vt:lpstr>여러가지 비용 곡선</vt:lpstr>
      <vt:lpstr>전형적인 비용곡선</vt:lpstr>
      <vt:lpstr>완전경쟁시장</vt:lpstr>
      <vt:lpstr>완전경쟁시장이란</vt:lpstr>
      <vt:lpstr>경쟁시장 기업의 총수입</vt:lpstr>
      <vt:lpstr>경쟁시장 기업의 이윤극대화</vt:lpstr>
      <vt:lpstr>한계비용곡선과 공급량의 결정</vt:lpstr>
      <vt:lpstr>독 점</vt:lpstr>
      <vt:lpstr>독점이란</vt:lpstr>
      <vt:lpstr>독점기업의 생산과 가격 결정</vt:lpstr>
      <vt:lpstr>독점기업의 총수입</vt:lpstr>
      <vt:lpstr>독점기업의 총수입</vt:lpstr>
      <vt:lpstr>독점기업의 총수입</vt:lpstr>
      <vt:lpstr>독점기업의 이윤 극대화 조건</vt:lpstr>
      <vt:lpstr>독점기업의 이윤 극대화 조건</vt:lpstr>
      <vt:lpstr>독점기업의 이윤</vt:lpstr>
      <vt:lpstr>독점의 비효율성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387</cp:revision>
  <dcterms:created xsi:type="dcterms:W3CDTF">2025-07-05T05:15:23Z</dcterms:created>
  <dcterms:modified xsi:type="dcterms:W3CDTF">2025-09-28T23:35:00Z</dcterms:modified>
</cp:coreProperties>
</file>