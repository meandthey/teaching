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375" r:id="rId2"/>
    <p:sldId id="405" r:id="rId3"/>
    <p:sldId id="550" r:id="rId4"/>
    <p:sldId id="654" r:id="rId5"/>
    <p:sldId id="655" r:id="rId6"/>
    <p:sldId id="673" r:id="rId7"/>
    <p:sldId id="674" r:id="rId8"/>
    <p:sldId id="675" r:id="rId9"/>
    <p:sldId id="676" r:id="rId10"/>
    <p:sldId id="677" r:id="rId11"/>
    <p:sldId id="679" r:id="rId12"/>
    <p:sldId id="680" r:id="rId13"/>
    <p:sldId id="68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070B12"/>
    <a:srgbClr val="0202FF"/>
    <a:srgbClr val="0000FF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- 14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전 지구적 차원의 환경문제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24" y="3765550"/>
            <a:ext cx="11311214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환경문제에 관한 국제협력의 어려움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F56B9-FEC2-FADD-BA53-2332117D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8FECB-D813-180C-990B-E3DD9062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A1B2F-893D-543E-DBA0-90281BE368CF}"/>
              </a:ext>
            </a:extLst>
          </p:cNvPr>
          <p:cNvSpPr txBox="1"/>
          <p:nvPr/>
        </p:nvSpPr>
        <p:spPr>
          <a:xfrm>
            <a:off x="678872" y="958844"/>
            <a:ext cx="110950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 환경문제에서는 미세먼지나 산성비 같은 오염피해가 몇 개의 국가에 걸쳐 나타나는 월경오염물질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온실가스와 같은 전 지구적 오염물질의 중요성이 갈수록 커지고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 지구적 오염물질은 여타 오염물질과는 달리 일단 배출되면 지구 전체의 환경오염을 유발하는 인류 공동의 문제가 되기 때문에 국제협력이 필요하다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 지구적 오염은 인류 역사상 비교적 최근에 발생하는 현상이어서 피해 규모가 불확실하다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오염물질의 저감비용을 분담하는데 있어 국가 간 형평성 문제가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각국은 자국의 이익을 먼저 생각하므로 오염물질 관리에 있어 무임승차 문제가 있다</a:t>
            </a:r>
            <a:r>
              <a:rPr lang="en-US" altLang="ko-KR" sz="1600" spc="-50" dirty="0"/>
              <a:t>. (Ch.4 </a:t>
            </a:r>
            <a:r>
              <a:rPr lang="ko-KR" altLang="en-US" sz="1600" spc="-50" dirty="0"/>
              <a:t>무임승차 내용 참고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무임승차 문제가 발생하는 것을 방지하고자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국제기구나 당사국들은 국제환경협약을 체결하여 국제적 환경문제를 해결하고자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협약의 목적은 각국을 협조적으로 행동하도록 유도하여 공동의 환경문제를 해결하는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협약체결이 반드시 각국의 태도를 협조적으로 변하게 하는 것은 아니다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2356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13E9B-C978-39D6-6468-FBA884FF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D3973-E930-7ACC-8B26-5ECA8101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8D028-CCDE-E48D-6EEB-E4788BE4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46D7A-E551-69B3-738F-390A7AFA5A44}"/>
              </a:ext>
            </a:extLst>
          </p:cNvPr>
          <p:cNvSpPr txBox="1"/>
          <p:nvPr/>
        </p:nvSpPr>
        <p:spPr>
          <a:xfrm>
            <a:off x="678872" y="958844"/>
            <a:ext cx="1109507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 5</a:t>
            </a:r>
            <a:r>
              <a:rPr lang="ko-KR" altLang="en-US" sz="1600" spc="-50" dirty="0"/>
              <a:t>에서 살펴보았듯이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같이 용의자의 딜레마라는 현상이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셀의 첫 번째 숫자는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국의 이득을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숫자는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국의 이득을 나타낸다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국가가 서로 협조하고 오염물질을 관리하는 것이 두 국가 후생의 합을 극대화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상대방이 어떤 선택을 하든 자신은 비협조를 선택하는 것이 더 낫기 때문에 결국 두 국가 모두 비협조를 선택하게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국가 모두 손해를 보게 되는 결과가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위의 표는 단순한 예이지만 환경문제를 국제적 협조체제 기반으로 해결하는 것이 어렵다는 점을 보여준다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예를 들어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국이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국의 협조를 끌어내기 위해 자신은 어떤 일이 있어도 협조할 것이라고 공언한다고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그 공언은 신뢰를 얻지 못한다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왜냐하면 막상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협조하면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본인도 협조하여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을 얻기보다는 협조하지 않고</a:t>
            </a:r>
            <a:r>
              <a:rPr lang="en-US" altLang="ko-KR" sz="1600" spc="-50" dirty="0"/>
              <a:t>, 2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얻어가려고 하기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협조행위를 도출해내는 한 가지 방법은 비협조적 행위를 할 때 제재를 하는 것이다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CE42D6BE-B4E7-C3A9-5C2A-852E96D86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048358"/>
              </p:ext>
            </p:extLst>
          </p:nvPr>
        </p:nvGraphicFramePr>
        <p:xfrm>
          <a:off x="2022484" y="3308564"/>
          <a:ext cx="6485469" cy="7453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6182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63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137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1,   1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-1,   2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175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   -1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0,   0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5FE1BE5-FE00-810E-7856-D0A29BDFC15D}"/>
              </a:ext>
            </a:extLst>
          </p:cNvPr>
          <p:cNvSpPr txBox="1"/>
          <p:nvPr/>
        </p:nvSpPr>
        <p:spPr>
          <a:xfrm>
            <a:off x="5848905" y="2970328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B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C01AE-2F30-0726-9A1C-AF29935A141D}"/>
              </a:ext>
            </a:extLst>
          </p:cNvPr>
          <p:cNvSpPr txBox="1"/>
          <p:nvPr/>
        </p:nvSpPr>
        <p:spPr>
          <a:xfrm>
            <a:off x="1085542" y="3668829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A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362228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06F9-E0AD-ED66-3277-8F3B3B0C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B540C-8BD9-36B5-D6F9-FBC04D19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4CA67-D702-E155-B0A7-C93D9A036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E409C-0364-95F1-A48F-FDE1A498BCF8}"/>
              </a:ext>
            </a:extLst>
          </p:cNvPr>
          <p:cNvSpPr txBox="1"/>
          <p:nvPr/>
        </p:nvSpPr>
        <p:spPr>
          <a:xfrm>
            <a:off x="678872" y="958844"/>
            <a:ext cx="110950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비협조를 선택하는 나라는 상대국에게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만큼의 벌금을 지급해야 한다고 합의했다고 해보자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표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아래의 상황에서는 상대방이 어떤 행위를 하든 협조를 선택하는 것이 더 나으므로 둘 다 협조를 선택한다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두 국가 사이의 이러한 합의는 구속력을 갖기 어렵다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왜냐하면 협약 위반자를 색출하고 또 제재할 수 있는 강력한 국제기구가 존재하지 않아서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합의를 위반한 국가로부터 실제로 벌금을 받아내기 어렵기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대상국가가 많은 경우를 생각해보면 국제협약을 가입 및 유지하는 것은 더더욱 어렵다는 것을 알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협약 자체가 협약 내용을 지키도록 하게끔 동기를 부여하는 속성을 가지고 있어야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9B161E92-878C-3D33-F7DE-1412AE310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03468"/>
              </p:ext>
            </p:extLst>
          </p:nvPr>
        </p:nvGraphicFramePr>
        <p:xfrm>
          <a:off x="2022484" y="2931069"/>
          <a:ext cx="6485469" cy="7453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6182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2161823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63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137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1,   1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1,   0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175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비협조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0,   1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0,   0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DF7771-1708-766C-AE5D-8242E8B88599}"/>
              </a:ext>
            </a:extLst>
          </p:cNvPr>
          <p:cNvSpPr txBox="1"/>
          <p:nvPr/>
        </p:nvSpPr>
        <p:spPr>
          <a:xfrm>
            <a:off x="5848905" y="2592833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B</a:t>
            </a:r>
            <a:endParaRPr lang="ko-KR" alt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4FF4B-5794-4285-09A5-D23BE36B8EF5}"/>
              </a:ext>
            </a:extLst>
          </p:cNvPr>
          <p:cNvSpPr txBox="1"/>
          <p:nvPr/>
        </p:nvSpPr>
        <p:spPr>
          <a:xfrm>
            <a:off x="1085542" y="3291334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>
                <a:latin typeface="+mn-ea"/>
              </a:rPr>
              <a:t>국가 </a:t>
            </a:r>
            <a:r>
              <a:rPr lang="en-US" altLang="ko-KR" sz="1300" b="1" kern="0" dirty="0">
                <a:latin typeface="+mn-ea"/>
              </a:rPr>
              <a:t>A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78810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DD19-06B1-6E28-D556-5C3941A9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A4FAE-596A-AE56-D9B4-0C807005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0CD13-7C3C-83E1-E0CB-CD20821D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29E19-731E-1601-7014-0941D64AEB83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54421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국가가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중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개의 국가가 국제협약에 가입하고 나머지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개의 국가는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가입하지 않는다고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국가들은 모두 동질적이고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가입하는지 안 </a:t>
                </a:r>
                <a:r>
                  <a:rPr lang="ko-KR" altLang="en-US" sz="1600" spc="-50" dirty="0" err="1"/>
                  <a:t>하는지의</a:t>
                </a:r>
                <a:r>
                  <a:rPr lang="ko-KR" altLang="en-US" sz="1600" spc="-50" dirty="0"/>
                  <a:t> 차이만 있을 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다른 조건은 같다고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협약에 가입하지 않는 국가의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가입한 국가의 </a:t>
                </a:r>
                <a:r>
                  <a:rPr lang="ko-KR" altLang="en-US" sz="1600" spc="-50" dirty="0" err="1"/>
                  <a:t>저감량을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국가들은 두 가지에 대해 의사결정을 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가입할지 결정해야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각국의 저감비용은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저감편익은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이며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1600" spc="-50" dirty="0"/>
                  <a:t> 이라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각국은 자국 저감비용만 부담하지만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배출저감의 편익은 다른 국가의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의해서도 영향을 받는다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국가가 협약에 가입하지 않았다면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국가는 자국의 이익만을 극대화하며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극대화 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선택한다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또 다른 국가는 협약에 가입했다면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국가는 자신을 포함하는 가입국 전체의 이득을 극대화하는 선택을 해야 하므로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극대화하는 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결정해야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함수의 형태를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𝑏𝐴</m:t>
                    </m:r>
                  </m:oMath>
                </a14:m>
                <a:r>
                  <a:rPr lang="en-US" altLang="ko-KR" sz="1600" spc="-50" dirty="0"/>
                  <a:t>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이라고 가정해보자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여기서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뒷장 계속 </a:t>
                </a:r>
                <a:r>
                  <a:rPr lang="en-US" altLang="ko-KR" sz="1600" spc="-50" dirty="0"/>
                  <a:t>&gt;&gt;)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929E19-731E-1601-7014-0941D64AE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5442195"/>
              </a:xfrm>
              <a:prstGeom prst="rect">
                <a:avLst/>
              </a:prstGeom>
              <a:blipFill>
                <a:blip r:embed="rId2"/>
                <a:stretch>
                  <a:fillRect r="-220" b="-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59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C0D0-F2DB-A290-434E-DC8741CA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37DDF-BCBB-EC3B-9C64-636E185A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E9C95-ADE2-380E-9B72-A58EC676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39558D-D1AB-E40F-DC0C-85994E287365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44749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뒷장에 이어 계속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이익 극대화를 위해 협약에 가입하지 않은 국가는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, </a:t>
                </a:r>
                <a:r>
                  <a:rPr lang="ko-KR" altLang="en-US" sz="1600" spc="-50" dirty="0"/>
                  <a:t>한편 협약에 가입한 국가는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𝑀𝑏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 </a:t>
                </a:r>
                <a:r>
                  <a:rPr lang="ko-KR" altLang="en-US" sz="1600" spc="-50" dirty="0"/>
                  <a:t>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선택한다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1600" spc="-50" dirty="0"/>
                  <a:t>,  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𝑏𝐴</m:t>
                    </m:r>
                  </m:oMath>
                </a14:m>
                <a:r>
                  <a:rPr lang="en-US" altLang="ko-KR" sz="1600" spc="-50" dirty="0"/>
                  <a:t>,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주어져 있을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두개의 각 식을 최대화 해주는 각각의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를 구해보면 위의 결과를 얻게 되니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직접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확인 해보길 바란다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국이 선택하게 되는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가입한 국가는 가입하지 않은 국가에 비해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배만큼 많은 오염물질을 저감해야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 세계의 </a:t>
                </a:r>
                <a:r>
                  <a:rPr lang="ko-KR" altLang="en-US" sz="1600" spc="-50" dirty="0" err="1"/>
                  <a:t>저감량은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l-GR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l-GR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l-GR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과 같이 결정되고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가입국과 미가입국의 이득은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결정된다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이므로 협약에 가입하지 않은 나라가 더 큰 이득을 얻게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39558D-D1AB-E40F-DC0C-85994E287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4474943"/>
              </a:xfrm>
              <a:prstGeom prst="rect">
                <a:avLst/>
              </a:prstGeom>
              <a:blipFill>
                <a:blip r:embed="rId2"/>
                <a:stretch>
                  <a:fillRect b="-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39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49C6-310D-1497-F614-63A11520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3C5E7-E9CD-2F7A-B029-85213D3D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B4E74-6B30-01B5-7D53-8FB6321F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7FC1C0-D961-DDC0-A569-47EEFD5E5B1B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 때 각국은 국제협약에 가입할지 안 할지를 어떻게 결정할까</a:t>
                </a:r>
                <a:r>
                  <a:rPr lang="en-US" altLang="ko-KR" sz="1600" spc="-50" dirty="0"/>
                  <a:t>?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다시 말해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가입국의 수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크기는 어떻게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어느 정도 크기의 안정적 국제협약이 존재할 수 있을까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현재의 국제협약이 지속되기 위해서는 현재의 협약 가입국은 탈퇴할 의사가 없어야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가입되어 있는 국가가 탈퇴하게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저감량이</a:t>
                </a:r>
                <a:r>
                  <a:rPr lang="ko-KR" altLang="en-US" sz="1600" spc="-50" dirty="0"/>
                  <a:t> 적어지므로 무임승차 이득을 얻을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그러나 이 때 전 세계의 </a:t>
                </a:r>
                <a:r>
                  <a:rPr lang="ko-KR" altLang="en-US" sz="1600" spc="-50" dirty="0" err="1"/>
                  <a:t>저감량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가 줄어들고 그로 인해 저감편익이 감소하게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동시에 현재 가입하지 않은 국가도 의사결정을 바꾸어 협약에 가입할 이유가 없어야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가입하지 않은 국가가 추가로 협약에 가입하면 전 세계 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증가로 인한 편익이 늘어난다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그러나 이 때 무임승차자로 행동할 수 없기 때문에 손해를 보게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협약 가입국의 수가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가입국과 미가입국의 이득을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다음 두 조건이 동시에 충족될 때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sz="1600" spc="-50" dirty="0"/>
                  <a:t>개의 나라가 가입한 현재의 국제협약이 유지되게 된다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위에 기술한 설명을 수식으로 표현하면 아래와 같다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내적 안정성 조건</a:t>
                </a:r>
                <a:r>
                  <a:rPr lang="en-US" altLang="ko-KR" sz="1600" spc="-50" dirty="0"/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)≥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현재의 협약 가입국이 협약에서 탈퇴할 유인을 갖지 않을 조건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외적 안정성 조건</a:t>
                </a:r>
                <a:r>
                  <a:rPr lang="en-US" altLang="ko-KR" sz="1600" spc="-50" dirty="0"/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현재의 미가입국이 입장을 바꾸어 협약에 가입하지 않을 조건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7FC1C0-D961-DDC0-A569-47EEFD5E5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5584670"/>
              </a:xfrm>
              <a:prstGeom prst="rect">
                <a:avLst/>
              </a:prstGeom>
              <a:blipFill>
                <a:blip r:embed="rId2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32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BD23-143A-EF33-DC08-A72F7AB9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0EB1D-21C3-5FC6-F7D6-115B171E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5F391-754E-9A16-9F88-4547F7D9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6B2C1A-E928-C385-0566-6FF6BC31447F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지금까지 내용을 종합해보면 국제환경협약이 안정적으로 유지되려면 두 가지 안정성 조건과 균형 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동시에 충족되어야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몇 개의 국가가 가입할지는 파라미터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값에 따라 결정된다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예를 들어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모두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이라고 가정하고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지구에 세 국가만이 있어서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은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이라고 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상황은 아래의 표에 정리되어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(3, 3)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 모두 </a:t>
                </a:r>
                <a:r>
                  <a:rPr lang="en-US" altLang="ko-KR" sz="1600" spc="-50" dirty="0"/>
                  <a:t>4.5</a:t>
                </a:r>
                <a:r>
                  <a:rPr lang="ko-KR" altLang="en-US" sz="1600" spc="-50" dirty="0"/>
                  <a:t>로 동일하기 때문에 기존의 회원국이 협약을 탈퇴할 인센티브는 갖지 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세 나라 모두가 참여하는 협약이 유지될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6B2C1A-E928-C385-0566-6FF6BC314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4107343"/>
              </a:xfrm>
              <a:prstGeom prst="rect">
                <a:avLst/>
              </a:prstGeom>
              <a:blipFill>
                <a:blip r:embed="rId2"/>
                <a:stretch>
                  <a:fillRect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3">
                <a:extLst>
                  <a:ext uri="{FF2B5EF4-FFF2-40B4-BE49-F238E27FC236}">
                    <a16:creationId xmlns:a16="http://schemas.microsoft.com/office/drawing/2014/main" id="{31901F05-9340-D17C-4615-5DC3D7E2A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3947214"/>
                  </p:ext>
                </p:extLst>
              </p:nvPr>
            </p:nvGraphicFramePr>
            <p:xfrm>
              <a:off x="2253180" y="3056310"/>
              <a:ext cx="6941154" cy="102954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366395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076476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24071013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1497744155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8670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5791586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7767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3">
                <a:extLst>
                  <a:ext uri="{FF2B5EF4-FFF2-40B4-BE49-F238E27FC236}">
                    <a16:creationId xmlns:a16="http://schemas.microsoft.com/office/drawing/2014/main" id="{31901F05-9340-D17C-4615-5DC3D7E2A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3947214"/>
                  </p:ext>
                </p:extLst>
              </p:nvPr>
            </p:nvGraphicFramePr>
            <p:xfrm>
              <a:off x="2253180" y="3056310"/>
              <a:ext cx="6941154" cy="102954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366395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07647627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240710130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1497744155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8670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32" t="-10638" r="-5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632" t="-10638" r="-4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632" t="-10638" r="-3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632" t="-10638" r="-2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632" t="-10638" r="-107368" b="-29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632" t="-10638" r="-7368" b="-291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5791586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8.5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37767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38323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0560-F0B2-52E0-E811-0E3FF8FC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4465B-7625-6726-10C9-45B00727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8FDD2B-27F3-2344-667E-B3533E23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3FE14F-E61E-2250-A1F4-6C8CB6877467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한편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지구에 다섯 국가만이 있어서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은 </a:t>
                </a: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일 때의 상황은 아래와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5,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3)</m:t>
                    </m:r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, 2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모두 </a:t>
                </a:r>
                <a:r>
                  <a:rPr lang="en-US" altLang="ko-KR" sz="1600" spc="-50" dirty="0"/>
                  <a:t>6.5</a:t>
                </a:r>
                <a:r>
                  <a:rPr lang="ko-KR" altLang="en-US" sz="1600" spc="-50" dirty="0"/>
                  <a:t>로 동일하기 때문에 기존 회원이 탈퇴할 인센티브는 없다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3)</m:t>
                    </m:r>
                  </m:oMath>
                </a14:m>
                <a:r>
                  <a:rPr lang="ko-KR" altLang="en-US" sz="1600" spc="-50" dirty="0"/>
                  <a:t> 은 </a:t>
                </a:r>
                <a:r>
                  <a:rPr lang="en-US" altLang="ko-KR" sz="1600" spc="-50" dirty="0"/>
                  <a:t>10.5</a:t>
                </a:r>
                <a:r>
                  <a:rPr lang="ko-KR" altLang="en-US" sz="1600" spc="-50" dirty="0"/>
                  <a:t>인 반면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9</a:t>
                </a:r>
                <a:r>
                  <a:rPr lang="ko-KR" altLang="en-US" sz="1600" spc="-50" dirty="0"/>
                  <a:t>이기 때문에 기존의 협약 미가입국이 입장을 바꾸어 협약에 가입할 필요성도 느끼지 못한다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다섯 국가가 있을 경우에도 국제협약은 세 국가로 유지된다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지금까지 살펴본 저감편익과 비용구조에서는 전체 국가의 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큰 경우라 하더라도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안정적으로 유지될 수 있는 국제 협약 규모는 세 나라이다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이러한 결과가 발생하는 이유는 협약 가입국의 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늘어날수록 협약을 탈퇴하여 무임승차자가 되려는 욕구가 더 강해지기 때문이다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3FE14F-E61E-2250-A1F4-6C8CB6877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5215338"/>
              </a:xfrm>
              <a:prstGeom prst="rect">
                <a:avLst/>
              </a:prstGeom>
              <a:blipFill>
                <a:blip r:embed="rId2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4ADBFC5-5546-A5C8-13D7-4173C4A89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161561"/>
                  </p:ext>
                </p:extLst>
              </p:nvPr>
            </p:nvGraphicFramePr>
            <p:xfrm>
              <a:off x="2253180" y="1567112"/>
              <a:ext cx="6941154" cy="149082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3732325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78399928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4665764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88681539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89896872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2158936780"/>
                        </a:ext>
                      </a:extLst>
                    </a:gridCol>
                  </a:tblGrid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200" b="1" i="1" kern="0" spc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𝑵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𝑴</m:t>
                                </m:r>
                                <m:r>
                                  <a:rPr lang="en-US" altLang="ko-KR" sz="1200" b="1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83065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439056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820029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604753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9071828"/>
                      </a:ext>
                    </a:extLst>
                  </a:tr>
                  <a:tr h="2444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7862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4ADBFC5-5546-A5C8-13D7-4173C4A89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161561"/>
                  </p:ext>
                </p:extLst>
              </p:nvPr>
            </p:nvGraphicFramePr>
            <p:xfrm>
              <a:off x="2253180" y="1567112"/>
              <a:ext cx="6941154" cy="149082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156859">
                      <a:extLst>
                        <a:ext uri="{9D8B030D-6E8A-4147-A177-3AD203B41FA5}">
                          <a16:colId xmlns:a16="http://schemas.microsoft.com/office/drawing/2014/main" val="3732325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78399928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46657647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3886815399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4089896872"/>
                        </a:ext>
                      </a:extLst>
                    </a:gridCol>
                    <a:gridCol w="1156859">
                      <a:extLst>
                        <a:ext uri="{9D8B030D-6E8A-4147-A177-3AD203B41FA5}">
                          <a16:colId xmlns:a16="http://schemas.microsoft.com/office/drawing/2014/main" val="2158936780"/>
                        </a:ext>
                      </a:extLst>
                    </a:gridCol>
                  </a:tblGrid>
                  <a:tr h="2527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32" t="-11905" r="-5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632" t="-11905" r="-4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632" t="-11905" r="-3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2632" t="-11905" r="-2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632" t="-11905" r="-10736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632" t="-11905" r="-7368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83065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439056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2820029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10.5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604753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16.5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9071828"/>
                      </a:ext>
                    </a:extLst>
                  </a:tr>
                  <a:tr h="2476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12.5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24.5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7862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954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A4D0-1BC8-6930-6471-FBB70AAA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C99E2-9666-6F0F-9F46-F763B580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8D9D2-729E-9013-CAE6-63110525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0561C-E88B-76F9-1DB1-A7DF60BFEE31}"/>
              </a:ext>
            </a:extLst>
          </p:cNvPr>
          <p:cNvSpPr txBox="1"/>
          <p:nvPr/>
        </p:nvSpPr>
        <p:spPr>
          <a:xfrm>
            <a:off x="678872" y="958844"/>
            <a:ext cx="11233495" cy="6323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이상에서 살펴 본 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대부분의 이론적 연구는 조약 </a:t>
            </a:r>
            <a:r>
              <a:rPr lang="ko-KR" altLang="en-US" sz="1600" spc="-50" dirty="0" err="1"/>
              <a:t>미가입</a:t>
            </a:r>
            <a:r>
              <a:rPr lang="ko-KR" altLang="en-US" sz="1600" spc="-50" dirty="0"/>
              <a:t> 시 얻는 무임승차 욕구가 너무 크기 때문에 최대 협약 가입국이 두세 나라에 불과하거나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안정적인 협약 자체가 존재하지 않는다는 결론을 내리고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이론과는 달리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현실에서는 약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개 정도의 환경 및 자원 관련 국제협약이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유지되고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이론과 현실 간에 상반된 결과는 현실에서는 조약가입의 이득을 탈퇴 시 잃게 되는 손실보다 더 크게 하는 다른 장치가 있기 때문이라고 간주할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아래와 같은 이유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장치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있을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첫째는 가입국과 비가입국의 역할을 차등화 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가입국이 먼저 의사결정 하는 것을 허용하는 것이다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여러 나라가 참여하는 국제협약은 개별 미가입국에 비해서는 환경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자원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미치는 정도가 크기 때문에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주도권을 쥐게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국제협약기구가 먼저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결정할 때 미가입국들의 반응을 예상하고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선택할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이 이론은 비가입국이 국제협약으로 하여금 먼저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결정하도록 순순히 허용하는지에 대한 설명이 약하다는 문제가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둘째는 당사국들의 전략적인 관계가 지속적으로 반복 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당장은 기후변화 협상에 </a:t>
            </a:r>
            <a:r>
              <a:rPr lang="ko-KR" altLang="en-US" sz="1600" spc="-50" dirty="0" err="1"/>
              <a:t>미참여</a:t>
            </a:r>
            <a:r>
              <a:rPr lang="ko-KR" altLang="en-US" sz="1600" spc="-50" dirty="0"/>
              <a:t> 하는 것이 더 이득을 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 진행될 다른 </a:t>
            </a:r>
            <a:r>
              <a:rPr lang="en-US" altLang="ko-KR" sz="1600" spc="-50" dirty="0"/>
              <a:t>FTA, WTO</a:t>
            </a:r>
            <a:r>
              <a:rPr lang="ko-KR" altLang="en-US" sz="1600" spc="-50" dirty="0"/>
              <a:t>등의 협상에서 이번 기후변화 참여를 통해 상대국의 협조를 얻을 수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협상에 참여하는 것이 더 이득일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151124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EDA3-5CC4-C55F-95A5-A9397187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0E5C1-A1B0-46E5-AE1B-1A4272C2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환경문제에 관한 국제협력의 어려움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D3D13-8FD7-67EE-83F9-C54EAE92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2E4622-F22C-C965-584A-3E887FBC8D14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036354" cy="500855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셋째는 협약 서명국들은 회원국의 수에 연계된 환경정책을 사용할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예를 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일정 수준의 가입국 수가 되지 않으면 조약을 해체하여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기존의 협약에 가입한 국가들도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ko-KR" altLang="en-US" sz="1600" spc="-50" dirty="0"/>
                  <a:t> 만큼만 저감하는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실제로도 대부분이 이러한 전략을 사용하고 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몬트리올의정서의 경우 </a:t>
                </a:r>
                <a:r>
                  <a:rPr lang="en-US" altLang="ko-KR" sz="1600" spc="-50" dirty="0"/>
                  <a:t>11</a:t>
                </a:r>
                <a:r>
                  <a:rPr lang="ko-KR" altLang="en-US" sz="1600" spc="-50" dirty="0"/>
                  <a:t>개국 이상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 세계 소비의 </a:t>
                </a:r>
                <a:r>
                  <a:rPr lang="en-US" altLang="ko-KR" sz="1600" spc="-50" dirty="0"/>
                  <a:t>2/3 </a:t>
                </a:r>
                <a:r>
                  <a:rPr lang="ko-KR" altLang="en-US" sz="1600" spc="-50" dirty="0"/>
                  <a:t>이상을 차지하는 국가가 가입하여야 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넷째는 협약가입에 대한 대가를 지불할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예를 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협약에 참여하여 큰 이득을 보는 국가가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손실을 보게 되는 국가에게 자신의 이득 중 일부를 지불하는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경우 규모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지급 방식에 대해 교섭이 진행되야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회원국의 교섭력에 의해 결정될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다섯째는 협약가입 여부를 국제무역과 연계할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예를 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환경협약에 가입하지 않는 국가에 대해서는 관련 제품을 회원국과 거래하는 것을 금지하는 것이다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현실에서도 많이 사용되며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다만 무역자유화를 추구하는 </a:t>
                </a:r>
                <a:r>
                  <a:rPr lang="en-US" altLang="ko-KR" sz="1600" spc="-50" dirty="0"/>
                  <a:t>WTO </a:t>
                </a:r>
                <a:r>
                  <a:rPr lang="ko-KR" altLang="en-US" sz="1600" spc="-50" dirty="0"/>
                  <a:t>등의 방침에 어긋나지 않아야 하는 제약을 가지고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2E4622-F22C-C965-584A-3E887FBC8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036354" cy="5008551"/>
              </a:xfrm>
              <a:prstGeom prst="rect">
                <a:avLst/>
              </a:prstGeom>
              <a:blipFill>
                <a:blip r:embed="rId2"/>
                <a:stretch>
                  <a:fillRect r="-497" b="-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68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19047</TotalTime>
  <Words>1722</Words>
  <Application>Microsoft Office PowerPoint</Application>
  <PresentationFormat>와이드스크린</PresentationFormat>
  <Paragraphs>208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21  전 지구적 차원의 환경문제</vt:lpstr>
      <vt:lpstr>Section 1. 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  <vt:lpstr>환경문제에 관한 국제협력의 어려움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721</cp:revision>
  <dcterms:created xsi:type="dcterms:W3CDTF">2025-07-05T05:15:23Z</dcterms:created>
  <dcterms:modified xsi:type="dcterms:W3CDTF">2025-12-07T07:57:13Z</dcterms:modified>
</cp:coreProperties>
</file>