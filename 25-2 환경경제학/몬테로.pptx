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572" r:id="rId2"/>
    <p:sldId id="573" r:id="rId3"/>
    <p:sldId id="574" r:id="rId4"/>
    <p:sldId id="575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0.png"/><Relationship Id="rId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F1B6-04F9-5256-47B7-F3BBC9DC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5622A0-31BC-56B1-3A8A-C4DAF5A35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870635-91EA-AC38-A272-0685D273CFC9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870635-91EA-AC38-A272-0685D273C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7A313D-29B8-058B-7D23-63A58AF1195D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7A313D-29B8-058B-7D23-63A58AF11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AAA644B0-5420-867E-F3E9-DD2D2F86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F439A-17AC-D050-FA53-BE540905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CBBFB-462A-8CCE-A721-D7C8C4590D38}"/>
                  </a:ext>
                </a:extLst>
              </p:cNvPr>
              <p:cNvSpPr txBox="1"/>
              <p:nvPr/>
            </p:nvSpPr>
            <p:spPr>
              <a:xfrm>
                <a:off x="94368" y="958844"/>
                <a:ext cx="7194879" cy="5585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Montero (2008)</a:t>
                </a:r>
                <a:r>
                  <a:rPr lang="ko-KR" altLang="en-US" sz="1600" dirty="0"/>
                  <a:t>은 오염원이 한계저감비용 정보를 드러나게끔 하는 또 다른 방법을 소개하고 있다</a:t>
                </a:r>
                <a:r>
                  <a:rPr lang="en-US" altLang="ko-KR" sz="1600" dirty="0"/>
                  <a:t>. Montero </a:t>
                </a:r>
                <a:r>
                  <a:rPr lang="ko-KR" altLang="en-US" sz="1600" dirty="0"/>
                  <a:t>메커니즘은 아래와 같이 진행된다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한계저감비용을 과소보고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하고 있다고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를  </a:t>
                </a:r>
                <a:r>
                  <a:rPr lang="ko-KR" altLang="en-US" sz="1600" dirty="0"/>
                  <a:t>충족하는 양의 배출권을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 금액에 오염원에게 판매한다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 err="1"/>
                  <a:t>배출권</a:t>
                </a:r>
                <a:r>
                  <a:rPr lang="ko-KR" altLang="en-US" sz="1600" dirty="0"/>
                  <a:t> 판매액 중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의 비율을 오염원에게 돌려준다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즉 오염원은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금액 만큼을 되돌려 받는다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위와 같이 정책이 실행되면 오염원은 자신에게 가장 유리한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를 제출한다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정부는 오염원의 행위를 염두에 두고 최적의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를 정해 거짓된 보고 유인을 아예 없애려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이때 최적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 아래와 같아야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는 오염의 총피해액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는 평균피해액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한계피해액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CBBFB-462A-8CCE-A721-D7C8C4590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8" y="958844"/>
                <a:ext cx="7194879" cy="5585375"/>
              </a:xfrm>
              <a:prstGeom prst="rect">
                <a:avLst/>
              </a:prstGeom>
              <a:blipFill>
                <a:blip r:embed="rId5"/>
                <a:stretch>
                  <a:fillRect r="-169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F16F0D-0F28-1513-DF6F-B0F4A7BCF007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F16F0D-0F28-1513-DF6F-B0F4A7BCF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3C9402-3F09-11D8-9547-E824B61920F7}"/>
                  </a:ext>
                </a:extLst>
              </p:cNvPr>
              <p:cNvSpPr txBox="1"/>
              <p:nvPr/>
            </p:nvSpPr>
            <p:spPr>
              <a:xfrm>
                <a:off x="1182059" y="5470304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3C9402-3F09-11D8-9547-E824B6192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59" y="5470304"/>
                <a:ext cx="4135507" cy="669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52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33EC-0CE4-E26B-EAED-FCA08BBC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E78862-6481-4424-F357-688C1066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4567A9-54B3-9034-DE81-4D036D2035F5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4567A9-54B3-9034-DE81-4D036D203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128A10-D6F9-85FA-A014-1653054E3FFB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128A10-D6F9-85FA-A014-1653054E3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73FE2A01-28E4-392B-547A-5F943915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BDEDE-9E1B-8173-D6A3-FA4A6BE8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60B1D-79EB-AD5D-E839-42F32E62CCF9}"/>
                  </a:ext>
                </a:extLst>
              </p:cNvPr>
              <p:cNvSpPr txBox="1"/>
              <p:nvPr/>
            </p:nvSpPr>
            <p:spPr>
              <a:xfrm>
                <a:off x="187501" y="958844"/>
                <a:ext cx="7186965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이때 최적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 아래와 같아야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한계피해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가 커질 때 계속 증가하면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새로 한 단위 배출되는 오염물질이 유발하는 피해가 이미 배출된 오염물질이 단위당 유발했던 피해보다 크기 때문에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의 관계가 성립한다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</a:t>
                </a:r>
                <a14:m>
                  <m:oMath xmlns:m="http://schemas.openxmlformats.org/officeDocument/2006/math">
                    <m:r>
                      <a:rPr lang="el-GR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0</a:t>
                </a:r>
                <a:r>
                  <a:rPr lang="ko-KR" altLang="en-US" sz="1600" dirty="0"/>
                  <a:t>과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사이의 어떤 값이 된다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dirty="0"/>
                  <a:t> </a:t>
                </a:r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정부가 반환율인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를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으로 선택하게 되면 기업은 과소보고를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하게 되고</a:t>
                </a:r>
                <a:r>
                  <a:rPr lang="en-US" altLang="ko-KR" sz="1600" dirty="0"/>
                  <a:t>, 1</a:t>
                </a:r>
                <a:r>
                  <a:rPr lang="ko-KR" altLang="en-US" sz="1600" dirty="0"/>
                  <a:t>로 선택하게 되면 기업은 과대보고를 하게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60B1D-79EB-AD5D-E839-42F32E62C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1" y="958844"/>
                <a:ext cx="7186965" cy="4476675"/>
              </a:xfrm>
              <a:prstGeom prst="rect">
                <a:avLst/>
              </a:prstGeom>
              <a:blipFill>
                <a:blip r:embed="rId5"/>
                <a:stretch>
                  <a:fillRect r="-1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3B1B-5620-7805-FD76-CE6625FDF878}"/>
                  </a:ext>
                </a:extLst>
              </p:cNvPr>
              <p:cNvSpPr txBox="1"/>
              <p:nvPr/>
            </p:nvSpPr>
            <p:spPr>
              <a:xfrm>
                <a:off x="530351" y="1563457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3B1B-5620-7805-FD76-CE6625FD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1" y="1563457"/>
                <a:ext cx="4135507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44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7E19-E8E2-ED23-CDAD-C8A1836F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E8113E-C267-6776-24C2-152CC603E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0674EB-84E1-1180-95F5-A11A2A0FE853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0674EB-84E1-1180-95F5-A11A2A0F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40B955-C45B-26A4-C55C-5A01AAAB8DFF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40B955-C45B-26A4-C55C-5A01AAAB8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C1C088-5CA7-7928-82D4-9523E0367F6E}"/>
              </a:ext>
            </a:extLst>
          </p:cNvPr>
          <p:cNvSpPr txBox="1"/>
          <p:nvPr/>
        </p:nvSpPr>
        <p:spPr>
          <a:xfrm>
            <a:off x="9188786" y="371337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e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D2A1EC-F6EB-9205-9F8E-12D9257227E5}"/>
              </a:ext>
            </a:extLst>
          </p:cNvPr>
          <p:cNvSpPr txBox="1"/>
          <p:nvPr/>
        </p:nvSpPr>
        <p:spPr>
          <a:xfrm>
            <a:off x="9209335" y="4164550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f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636BFE-AC6C-1C24-1C29-7031C67C268F}"/>
              </a:ext>
            </a:extLst>
          </p:cNvPr>
          <p:cNvSpPr txBox="1"/>
          <p:nvPr/>
        </p:nvSpPr>
        <p:spPr>
          <a:xfrm>
            <a:off x="9415272" y="4516235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g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6A9989-2B1D-8663-C9C6-CB0519D36922}"/>
              </a:ext>
            </a:extLst>
          </p:cNvPr>
          <p:cNvSpPr txBox="1"/>
          <p:nvPr/>
        </p:nvSpPr>
        <p:spPr>
          <a:xfrm>
            <a:off x="8621880" y="5351950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A9AA2A-79EA-C041-1573-EFD74D5279C9}"/>
              </a:ext>
            </a:extLst>
          </p:cNvPr>
          <p:cNvSpPr txBox="1"/>
          <p:nvPr/>
        </p:nvSpPr>
        <p:spPr>
          <a:xfrm>
            <a:off x="8222085" y="490197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1EB8CB-FF2E-4F4F-6567-3624FBBF4357}"/>
              </a:ext>
            </a:extLst>
          </p:cNvPr>
          <p:cNvSpPr txBox="1"/>
          <p:nvPr/>
        </p:nvSpPr>
        <p:spPr>
          <a:xfrm>
            <a:off x="8222085" y="421981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5938B-3CFF-13BA-BBE4-CCC69671472F}"/>
              </a:ext>
            </a:extLst>
          </p:cNvPr>
          <p:cNvSpPr txBox="1"/>
          <p:nvPr/>
        </p:nvSpPr>
        <p:spPr>
          <a:xfrm>
            <a:off x="8845885" y="413371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d</a:t>
            </a:r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7EBC3C-D6FA-F351-2877-B265B7FC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C2800-C1EE-CAE7-BFA0-441EC542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3CC02-A58D-0DB9-892C-F84AAF4CEE7E}"/>
              </a:ext>
            </a:extLst>
          </p:cNvPr>
          <p:cNvSpPr txBox="1"/>
          <p:nvPr/>
        </p:nvSpPr>
        <p:spPr>
          <a:xfrm>
            <a:off x="9788323" y="5621213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93DF3-DFC0-53BB-8073-A2C1EF70793D}"/>
              </a:ext>
            </a:extLst>
          </p:cNvPr>
          <p:cNvSpPr txBox="1"/>
          <p:nvPr/>
        </p:nvSpPr>
        <p:spPr>
          <a:xfrm>
            <a:off x="9285097" y="537019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F4A80-6F8E-AAF3-1E59-FAD2762052CB}"/>
              </a:ext>
            </a:extLst>
          </p:cNvPr>
          <p:cNvSpPr txBox="1"/>
          <p:nvPr/>
        </p:nvSpPr>
        <p:spPr>
          <a:xfrm>
            <a:off x="9946405" y="453182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607D0B-3E22-8F2C-2493-74235A0686A5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607D0B-3E22-8F2C-2493-74235A068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D62D9-640F-1535-E042-89D53540F73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600" spc="-50" dirty="0"/>
                  <a:t>인 경우로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과소보고를 선택하는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제대로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배포가격은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</a:t>
                </a:r>
                <a:r>
                  <a:rPr lang="en-US" altLang="ko-KR" sz="1600" spc="-50" dirty="0" err="1"/>
                  <a:t>a+b+c+d+f+g+h</a:t>
                </a:r>
                <a:r>
                  <a:rPr lang="ko-KR" altLang="en-US" sz="1600" spc="-50" dirty="0"/>
                  <a:t> 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 비용은 </a:t>
                </a:r>
                <a:r>
                  <a:rPr lang="en-US" altLang="ko-KR" sz="1600" spc="-50" dirty="0" err="1"/>
                  <a:t>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a+b+c+d+f+g+h+i+j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축소하여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</a:t>
                </a:r>
                <a:r>
                  <a:rPr lang="en-US" altLang="ko-KR" sz="1600" spc="-50" dirty="0" err="1"/>
                  <a:t>b+c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e+f+g+h+i+j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b+c+e+f+g+h+i+j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한계저감비용을 축소하여 제출하면 </a:t>
                </a:r>
                <a:r>
                  <a:rPr lang="en-US" altLang="ko-KR" sz="1600" spc="-50" dirty="0" err="1"/>
                  <a:t>a+d-e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비용을 절감할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 err="1"/>
                  <a:t>Bulckaen</a:t>
                </a:r>
                <a:r>
                  <a:rPr lang="en-US" altLang="ko-KR" sz="1600" spc="-50" dirty="0"/>
                  <a:t> (1997)</a:t>
                </a:r>
                <a:r>
                  <a:rPr lang="ko-KR" altLang="en-US" sz="1600" spc="-50" dirty="0"/>
                  <a:t>에 따르면 사회적 최적인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에서는 면적 </a:t>
                </a:r>
                <a:r>
                  <a:rPr lang="en-US" altLang="ko-KR" sz="1600" spc="-50" dirty="0" err="1"/>
                  <a:t>a+d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보다 큼을 확인하였다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D62D9-640F-1535-E042-89D53540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4846007"/>
              </a:xfrm>
              <a:prstGeom prst="rect">
                <a:avLst/>
              </a:prstGeom>
              <a:blipFill>
                <a:blip r:embed="rId6"/>
                <a:stretch>
                  <a:fillRect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B3F59-F9DA-EDBC-1C99-7269FC81E6D5}"/>
                  </a:ext>
                </a:extLst>
              </p:cNvPr>
              <p:cNvSpPr txBox="1"/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200" dirty="0"/>
                  <a:t>인 경우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B3F59-F9DA-EDBC-1C99-7269FC81E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20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703C-AD8D-6A53-7703-F94B0EF6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596256-ACB4-286F-1D17-B20685DE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033" y="1099161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747837-CBA9-F401-9F24-1A12A142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9BC658-5721-CB40-5E2F-76C3053D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AC1FD-E515-A97D-9711-C943DA777AFA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600" spc="-50" dirty="0"/>
                  <a:t>인 경우로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과대보고를 선택하는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제대로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배포가격은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전액 환불 받게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 비용은 </a:t>
                </a:r>
                <a:r>
                  <a:rPr lang="en-US" altLang="ko-KR" sz="1600" spc="-50" dirty="0" err="1"/>
                  <a:t>a+b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a+b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과장하여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전액 환불 받게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/>
                  <a:t>b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한계저감비용을 과장하여 제출하면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 비용을 절감할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종합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설정하면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한계저감비용을 과소보고 혹은 과대보고 하게 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spc="-50" dirty="0"/>
                  <a:t>를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사이의 값으로 정하여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거짓보고 유인을 없앨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AC1FD-E515-A97D-9711-C943DA777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3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0793CB-F0AC-5E16-AD00-273F548D6753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0793CB-F0AC-5E16-AD00-273F548D6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7ED7C1-F8A6-BD7D-70D6-27AC3B51B7DC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7ED7C1-F8A6-BD7D-70D6-27AC3B51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94A2D22-3690-0BF6-70E6-6ADD64047EA8}"/>
              </a:ext>
            </a:extLst>
          </p:cNvPr>
          <p:cNvSpPr txBox="1"/>
          <p:nvPr/>
        </p:nvSpPr>
        <p:spPr>
          <a:xfrm>
            <a:off x="9788323" y="5621213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79B503-D303-8979-5132-5575922AA8DA}"/>
              </a:ext>
            </a:extLst>
          </p:cNvPr>
          <p:cNvSpPr txBox="1"/>
          <p:nvPr/>
        </p:nvSpPr>
        <p:spPr>
          <a:xfrm>
            <a:off x="9285097" y="537019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7D88EAD-E3D1-1C82-7F6B-F5E296125730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7D88EAD-E3D1-1C82-7F6B-F5E296125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3110F0-21B0-DF37-46B6-85683A6FCFD1}"/>
                  </a:ext>
                </a:extLst>
              </p:cNvPr>
              <p:cNvSpPr txBox="1"/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200" dirty="0"/>
                  <a:t>인 경우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3110F0-21B0-DF37-46B6-85683A6FC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702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12305</TotalTime>
  <Words>625</Words>
  <Application>Microsoft Office PowerPoint</Application>
  <PresentationFormat>와이드스크린</PresentationFormat>
  <Paragraphs>76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HY헤드라인M</vt:lpstr>
      <vt:lpstr>맑은 고딕</vt:lpstr>
      <vt:lpstr>Arial</vt:lpstr>
      <vt:lpstr>Cambria Math</vt:lpstr>
      <vt:lpstr>Wingdings</vt:lpstr>
      <vt:lpstr>Office 테마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435</cp:revision>
  <dcterms:created xsi:type="dcterms:W3CDTF">2025-07-05T05:15:23Z</dcterms:created>
  <dcterms:modified xsi:type="dcterms:W3CDTF">2025-10-27T06:55:18Z</dcterms:modified>
</cp:coreProperties>
</file>