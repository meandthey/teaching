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375" r:id="rId2"/>
    <p:sldId id="405" r:id="rId3"/>
    <p:sldId id="492" r:id="rId4"/>
    <p:sldId id="493" r:id="rId5"/>
    <p:sldId id="467" r:id="rId6"/>
    <p:sldId id="468" r:id="rId7"/>
    <p:sldId id="469" r:id="rId8"/>
    <p:sldId id="470" r:id="rId9"/>
    <p:sldId id="472" r:id="rId10"/>
    <p:sldId id="474" r:id="rId11"/>
    <p:sldId id="475" r:id="rId12"/>
    <p:sldId id="476" r:id="rId13"/>
    <p:sldId id="477" r:id="rId14"/>
    <p:sldId id="479" r:id="rId15"/>
    <p:sldId id="478" r:id="rId16"/>
    <p:sldId id="480" r:id="rId17"/>
    <p:sldId id="481" r:id="rId18"/>
    <p:sldId id="482" r:id="rId19"/>
    <p:sldId id="483" r:id="rId20"/>
    <p:sldId id="484" r:id="rId21"/>
    <p:sldId id="486" r:id="rId22"/>
    <p:sldId id="487" r:id="rId23"/>
    <p:sldId id="488" r:id="rId24"/>
    <p:sldId id="489" r:id="rId25"/>
    <p:sldId id="490" r:id="rId26"/>
    <p:sldId id="36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42E4BC-D226-A979-538E-7A6D32E2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1"/>
          <a:stretch>
            <a:fillRect/>
          </a:stretch>
        </p:blipFill>
        <p:spPr>
          <a:xfrm>
            <a:off x="7731230" y="1255309"/>
            <a:ext cx="4393258" cy="48099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오염원은 자신이 배출하는 오염물질에 대해 단위당 특정 금액의 부과금을 정부에 납부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blipFill>
                <a:blip r:embed="rId3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98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DB810-82C2-2770-F730-64EC095B8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923" y="1109042"/>
            <a:ext cx="4184338" cy="4790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이단계</a:t>
                </a:r>
                <a:r>
                  <a:rPr lang="ko-KR" altLang="en-US" sz="1600" spc="-50" dirty="0"/>
                  <a:t>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blipFill>
                <a:blip r:embed="rId3"/>
                <a:stretch>
                  <a:fillRect l="-430" r="-430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9FF7E33-1559-8F12-A2B3-4250AA6830C7}"/>
              </a:ext>
            </a:extLst>
          </p:cNvPr>
          <p:cNvSpPr txBox="1"/>
          <p:nvPr/>
        </p:nvSpPr>
        <p:spPr>
          <a:xfrm>
            <a:off x="8454030" y="499403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a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AAEF3-77D3-D5AA-2278-7D044FEEF302}"/>
              </a:ext>
            </a:extLst>
          </p:cNvPr>
          <p:cNvSpPr txBox="1"/>
          <p:nvPr/>
        </p:nvSpPr>
        <p:spPr>
          <a:xfrm>
            <a:off x="9166046" y="5147927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EB462-27FE-6962-4EF6-441502251544}"/>
              </a:ext>
            </a:extLst>
          </p:cNvPr>
          <p:cNvSpPr txBox="1"/>
          <p:nvPr/>
        </p:nvSpPr>
        <p:spPr>
          <a:xfrm>
            <a:off x="9302718" y="49422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c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85D64-B82A-039E-B9F1-4A327AD6E761}"/>
              </a:ext>
            </a:extLst>
          </p:cNvPr>
          <p:cNvSpPr txBox="1"/>
          <p:nvPr/>
        </p:nvSpPr>
        <p:spPr>
          <a:xfrm>
            <a:off x="9534810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d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7312F-129C-C39C-9C72-127D60876007}"/>
              </a:ext>
            </a:extLst>
          </p:cNvPr>
          <p:cNvSpPr txBox="1"/>
          <p:nvPr/>
        </p:nvSpPr>
        <p:spPr>
          <a:xfrm>
            <a:off x="9845637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0800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 descr="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10E71E-6FD7-F01C-D980-DF7D0909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165" y="3016061"/>
            <a:ext cx="6308521" cy="3591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267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blipFill>
                <a:blip r:embed="rId4"/>
                <a:stretch>
                  <a:fillRect l="-756" b="-44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직관적으로 혹은 상식적으로 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이는 아래와 같이 수식으로 도출할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blipFill>
                <a:blip r:embed="rId2"/>
                <a:stretch>
                  <a:fillRect l="-295" r="-649" b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   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뒷장에 이어 계속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의미함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699BEB-E638-C837-1C03-50CBAD56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388" y="1171157"/>
            <a:ext cx="4537062" cy="536575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A0E323A-57BB-B134-F273-041A0CA95D0B}"/>
              </a:ext>
            </a:extLst>
          </p:cNvPr>
          <p:cNvCxnSpPr>
            <a:cxnSpLocks/>
          </p:cNvCxnSpPr>
          <p:nvPr/>
        </p:nvCxnSpPr>
        <p:spPr>
          <a:xfrm flipH="1">
            <a:off x="8718550" y="385403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E8742C-0BAF-2826-A6C3-85F7D71FA41A}"/>
              </a:ext>
            </a:extLst>
          </p:cNvPr>
          <p:cNvSpPr txBox="1"/>
          <p:nvPr/>
        </p:nvSpPr>
        <p:spPr>
          <a:xfrm>
            <a:off x="8318500" y="48921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4DE905-F8A3-E331-571A-3BF7E2349949}"/>
              </a:ext>
            </a:extLst>
          </p:cNvPr>
          <p:cNvSpPr txBox="1"/>
          <p:nvPr/>
        </p:nvSpPr>
        <p:spPr>
          <a:xfrm>
            <a:off x="8984375" y="52096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10C73-5A81-C442-A680-CFBB7D247010}"/>
              </a:ext>
            </a:extLst>
          </p:cNvPr>
          <p:cNvSpPr txBox="1"/>
          <p:nvPr/>
        </p:nvSpPr>
        <p:spPr>
          <a:xfrm>
            <a:off x="9520075" y="539432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2C889-2544-EA61-E1CB-A60EABE25BF6}"/>
              </a:ext>
            </a:extLst>
          </p:cNvPr>
          <p:cNvSpPr txBox="1"/>
          <p:nvPr/>
        </p:nvSpPr>
        <p:spPr>
          <a:xfrm>
            <a:off x="9109075" y="4376486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072BF-C166-8C4C-F44C-A4692FCA8C81}"/>
              </a:ext>
            </a:extLst>
          </p:cNvPr>
          <p:cNvSpPr txBox="1"/>
          <p:nvPr/>
        </p:nvSpPr>
        <p:spPr>
          <a:xfrm>
            <a:off x="9520075" y="4840327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c+d</a:t>
                </a:r>
                <a:r>
                  <a:rPr lang="en-US" altLang="ko-KR" sz="1600" spc="-50"/>
                  <a:t>&gt;d)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blipFill>
                <a:blip r:embed="rId3"/>
                <a:stretch>
                  <a:fillRect r="-437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배출부과금제도의 장점을 가지고 있음과 동시에 집행비용을 절약할 수 있는 정책수단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AB9A58-8177-142B-34A7-D126A613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842" y="2564934"/>
            <a:ext cx="3341608" cy="38253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제품부과금 혹은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상품세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환경관련 이유를 제외하고 이미 다양한 세금을 생산량 기반으로 징수하고 있음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l="-369" r="-295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69547743-C357-68C5-03E1-8AA762334512}"/>
              </a:ext>
            </a:extLst>
          </p:cNvPr>
          <p:cNvSpPr/>
          <p:nvPr/>
        </p:nvSpPr>
        <p:spPr>
          <a:xfrm>
            <a:off x="9685090" y="4543831"/>
            <a:ext cx="226503" cy="594908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/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4017CC-B7A9-9AB6-D340-B35DE512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84" y="2330667"/>
            <a:ext cx="3674303" cy="4206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blipFill>
                <a:blip r:embed="rId3"/>
                <a:stretch>
                  <a:fillRect r="-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7C0C1A57-685C-64D5-F331-1AA0D4C5E5E7}"/>
              </a:ext>
            </a:extLst>
          </p:cNvPr>
          <p:cNvSpPr/>
          <p:nvPr/>
        </p:nvSpPr>
        <p:spPr>
          <a:xfrm>
            <a:off x="9849330" y="4711787"/>
            <a:ext cx="226503" cy="1342937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/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CB0DEB-81C1-3522-F5D7-ADA9A1C4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771" y="1134532"/>
            <a:ext cx="4784679" cy="5477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3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08F19-F65E-7BDA-11FD-67F085EB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blipFill>
                <a:blip r:embed="rId2"/>
                <a:stretch>
                  <a:fillRect l="-460" b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5859C-0BB6-4FF9-2093-8C8D646A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배출부과금과 저감보조금이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1" spc="-5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blipFill>
                <a:blip r:embed="rId2"/>
                <a:stretch>
                  <a:fillRect l="-271" r="-271" b="-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165DAF-CF68-F2C1-52EF-29EC47CE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65" y="817926"/>
            <a:ext cx="4887835" cy="55954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46E4C31A-A84D-9B90-6266-4B64772AC06B}"/>
              </a:ext>
            </a:extLst>
          </p:cNvPr>
          <p:cNvSpPr/>
          <p:nvPr/>
        </p:nvSpPr>
        <p:spPr>
          <a:xfrm>
            <a:off x="7693237" y="2514688"/>
            <a:ext cx="226503" cy="874626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/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0788E0-75D7-5929-F32F-7A82BB51B949}"/>
              </a:ext>
            </a:extLst>
          </p:cNvPr>
          <p:cNvSpPr txBox="1"/>
          <p:nvPr/>
        </p:nvSpPr>
        <p:spPr>
          <a:xfrm>
            <a:off x="8304127" y="272888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FB1E9-BE2E-CCC3-2D84-D305BB794BC2}"/>
              </a:ext>
            </a:extLst>
          </p:cNvPr>
          <p:cNvSpPr txBox="1"/>
          <p:nvPr/>
        </p:nvSpPr>
        <p:spPr>
          <a:xfrm>
            <a:off x="9184630" y="287989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3B13F15-FA5F-5988-402B-92E8990BE1B1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9" name="그림 8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52E153-0E81-5586-EA34-39321E46E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305BBC-4414-837E-6060-1AB2F7A47698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429BD7-824C-A463-E389-A9988ECB2BC9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856BEA-74EC-5B8A-C1AA-85CC21C35A46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331819-BDB6-9D56-DFA5-505916C374CC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D78934-A8C8-83C4-8CC0-DC60B4F42679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20D4A6-B67A-6888-E65E-2A6CFDBEDE99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29FCBA-895A-1348-D06C-C3F35029F0CC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2824C9-4F04-FB60-9B32-205D12C0149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B8037E-6A5D-2459-A6EB-3E44700FCD37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09F694-2262-F9A2-2B4A-9D086E07D1B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C86793-A0E6-A176-28A9-D8EC0B9CE2DA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C1BA18-A432-1478-A297-A94499573EB9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E76B64-E5EC-0AF7-8BD0-777F07070B5C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A9C0A1-1FA3-7606-4636-ECA1313888E0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1B0619-C987-D177-4639-5B8127621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AFACD5-1206-E254-31A3-7887EF96B48D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51CB4B-F4EC-2F79-451C-60475067FE63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1FC7AB-6E27-94C0-EA4F-E1EADE1FED1A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399FA6-FAE9-B20E-823A-7B6C6B82B9B6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E4DA52-B0BA-59E3-0059-DE95B28AC25A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29EE2B-FFEF-6BE7-91B6-37116E40DF37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9208EB-2C47-685D-1678-AF31CC3BFE1B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192EE9-30E4-B94E-5974-F05F3EDC60AF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63944-34A8-B956-8BB1-56A9DEEB384E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2E69F2-2800-2ED1-8CD2-AA11FC35EE5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CBBDFB-F4FD-D8BC-8DD5-D87FB3AFD714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863288-B5DE-D7B9-C55E-65236BF1C29D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A6CE94-E00C-4C2F-BA29-51A5E2194BD0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68687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spc="-50" dirty="0"/>
                  <a:t>는 배출량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생산량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sz="1600" spc="-50" dirty="0"/>
                  <a:t>는 임의의 비례상수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686878"/>
              </a:xfrm>
              <a:prstGeom prst="rect">
                <a:avLst/>
              </a:prstGeom>
              <a:blipFill>
                <a:blip r:embed="rId3"/>
                <a:stretch>
                  <a:fillRect r="-253" b="-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AEB6E3-9FA9-7F6B-6077-7C893034F0C6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38FC4FE-5D5B-A8E1-6C62-A6A14E3A6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A004D5-CE89-0BB9-D3DF-9D5767BF2FB7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A9DBB8-834E-58D5-8811-0FF782249687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BD89D1-33F8-949B-C395-DDD31353CA80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129AAF-AFF7-66A2-2F72-34068B76E212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E7960B-08BE-A699-AB3E-D3EE8521F26C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AF7F61-68B3-3E59-9266-3A148D8D2CC4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BA1DAB-4717-42ED-86C3-9523E873EAC9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BE1E7-1E9D-DE9D-8A28-63F6472BE00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4129BA-0B0A-D095-7B4D-AD824D8DEAD3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0064B0-98C5-49A1-9164-34A72E7F60C4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C693D0-1A36-7BFA-40C0-991DABC64EAC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3B53D7F-8014-ADDB-CF5C-9AA5AF222FB4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43F99B-579B-62D1-17E4-C8204F687B74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10478</TotalTime>
  <Words>2814</Words>
  <Application>Microsoft Office PowerPoint</Application>
  <PresentationFormat>와이드스크린</PresentationFormat>
  <Paragraphs>315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7  배출부과금과 보조금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</vt:lpstr>
      <vt:lpstr>쌀 vs. 논 어디에 보조를 해야 하나?</vt:lpstr>
      <vt:lpstr>폐기물예치금제도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354</cp:revision>
  <dcterms:created xsi:type="dcterms:W3CDTF">2025-07-05T05:15:23Z</dcterms:created>
  <dcterms:modified xsi:type="dcterms:W3CDTF">2025-10-09T00:11:24Z</dcterms:modified>
</cp:coreProperties>
</file>