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518" r:id="rId2"/>
    <p:sldId id="519" r:id="rId3"/>
    <p:sldId id="520" r:id="rId4"/>
    <p:sldId id="521" r:id="rId5"/>
    <p:sldId id="522" r:id="rId6"/>
    <p:sldId id="523" r:id="rId7"/>
    <p:sldId id="524" r:id="rId8"/>
    <p:sldId id="525" r:id="rId9"/>
    <p:sldId id="526" r:id="rId10"/>
    <p:sldId id="527" r:id="rId11"/>
    <p:sldId id="528" r:id="rId12"/>
    <p:sldId id="529" r:id="rId13"/>
    <p:sldId id="512" r:id="rId14"/>
  </p:sldIdLst>
  <p:sldSz cx="18288000" cy="10287000"/>
  <p:notesSz cx="6858000" cy="9144000"/>
  <p:embeddedFontLst>
    <p:embeddedFont>
      <p:font typeface="Gmarket Sans Medium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343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6896100"/>
            <a:ext cx="726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2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. </a:t>
            </a:r>
            <a:r>
              <a:rPr lang="ko-KR" altLang="en-US" sz="5400" b="1" i="0" u="none" strike="noStrike" spc="-200" dirty="0" err="1">
                <a:solidFill>
                  <a:srgbClr val="505050"/>
                </a:solidFill>
                <a:latin typeface="+mj-ea"/>
                <a:ea typeface="+mj-ea"/>
              </a:rPr>
              <a:t>취업목표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 설정 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9691039" y="2867024"/>
            <a:ext cx="8590034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698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78900" y="5203825"/>
            <a:ext cx="69977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518025"/>
            <a:ext cx="1371600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89523" y="1969298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79100" y="4505325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직무 탐색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93200" y="45815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78900" y="6169025"/>
            <a:ext cx="699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5457825"/>
            <a:ext cx="1371600" cy="41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579100" y="5445124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기업 탐색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93200" y="55213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6423025"/>
            <a:ext cx="1371600" cy="419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579100" y="6450013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목표 기업 분석 보고서 작성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093200" y="64738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POINT.03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04DE6F0-BEF0-411B-A74D-5D8C9DE1256A}"/>
              </a:ext>
            </a:extLst>
          </p:cNvPr>
          <p:cNvSpPr txBox="1"/>
          <p:nvPr/>
        </p:nvSpPr>
        <p:spPr>
          <a:xfrm>
            <a:off x="8589523" y="3375025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01.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관심 직무</a:t>
            </a: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,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 산업</a:t>
            </a: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,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기업 선정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p.11</a:t>
            </a:r>
          </a:p>
        </p:txBody>
      </p:sp>
      <p:pic>
        <p:nvPicPr>
          <p:cNvPr id="28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53500" y="7152553"/>
            <a:ext cx="6997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8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9283" y="1040599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내가 할 수 있는 직무 뭐가 있을까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?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71749" y="2781300"/>
            <a:ext cx="2738251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ctr">
              <a:lnSpc>
                <a:spcPct val="136119"/>
              </a:lnSpc>
              <a:buFont typeface="Wingdings" panose="05000000000000000000" pitchFamily="2" charset="2"/>
              <a:buChar char="§"/>
            </a:pP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산업별 </a:t>
            </a:r>
            <a:r>
              <a:rPr lang="ko-KR" altLang="en-US" sz="2400" b="1" spc="-100" dirty="0" err="1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직무찾기</a:t>
            </a:r>
            <a:endParaRPr lang="en-US" sz="2400" b="1" i="0" u="none" strike="noStrike" spc="-100" dirty="0">
              <a:solidFill>
                <a:schemeClr val="tx1">
                  <a:alpha val="54118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p.12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8B60E85D-ED54-4560-AE56-40DC45B3133F}"/>
              </a:ext>
            </a:extLst>
          </p:cNvPr>
          <p:cNvSpPr txBox="1"/>
          <p:nvPr/>
        </p:nvSpPr>
        <p:spPr>
          <a:xfrm>
            <a:off x="1203080" y="3292718"/>
            <a:ext cx="16299923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산업과 직무</a:t>
            </a:r>
            <a:r>
              <a:rPr lang="en-US" altLang="ko-KR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기업을 이해하기 위한 가장 좋은 방법은 하나의 제품이 소비자에게 전달되기까지의 여러 과정을 살펴보는 것</a:t>
            </a:r>
            <a:endParaRPr lang="en-US" sz="2400" b="1" i="0" u="none" strike="noStrike" spc="-100" dirty="0">
              <a:solidFill>
                <a:schemeClr val="tx1">
                  <a:alpha val="54118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748106C-B031-434A-A985-84A87A8C6288}"/>
              </a:ext>
            </a:extLst>
          </p:cNvPr>
          <p:cNvSpPr/>
          <p:nvPr/>
        </p:nvSpPr>
        <p:spPr>
          <a:xfrm>
            <a:off x="7200153" y="5325348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4E0311C-D133-4240-99FC-6FF41CC35A40}"/>
              </a:ext>
            </a:extLst>
          </p:cNvPr>
          <p:cNvSpPr/>
          <p:nvPr/>
        </p:nvSpPr>
        <p:spPr>
          <a:xfrm>
            <a:off x="9080500" y="7498083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454DE8-294D-4527-9388-C55DC1A0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228" y="4844013"/>
            <a:ext cx="4467688" cy="38250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0E85767-1380-4BCA-857C-DAAA7EE33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302" y="4242099"/>
            <a:ext cx="9143999" cy="5148717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7">
            <a:extLst>
              <a:ext uri="{FF2B5EF4-FFF2-40B4-BE49-F238E27FC236}">
                <a16:creationId xmlns:a16="http://schemas.microsoft.com/office/drawing/2014/main" id="{4439306F-E0F6-49EF-9C1F-E229A9B786CC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17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9285" y="896183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직무별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주요 업무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79500" y="3001568"/>
            <a:ext cx="5397500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ctr">
              <a:lnSpc>
                <a:spcPct val="136119"/>
              </a:lnSpc>
              <a:buFont typeface="Wingdings" panose="05000000000000000000" pitchFamily="2" charset="2"/>
              <a:buChar char="§"/>
            </a:pPr>
            <a:r>
              <a:rPr lang="ko-KR" altLang="en-US" sz="24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계열별 주요 업무</a:t>
            </a:r>
            <a:r>
              <a:rPr lang="en-US" altLang="ko-KR" sz="24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4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교재 </a:t>
            </a:r>
            <a:r>
              <a:rPr lang="en-US" altLang="ko-KR" sz="24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p.13~14 </a:t>
            </a:r>
            <a:r>
              <a:rPr lang="ko-KR" altLang="en-US" sz="24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참고</a:t>
            </a:r>
            <a:r>
              <a:rPr lang="en-US" altLang="ko-KR" sz="24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)</a:t>
            </a:r>
            <a:endParaRPr lang="en-US" sz="24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p.13~14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748106C-B031-434A-A985-84A87A8C6288}"/>
              </a:ext>
            </a:extLst>
          </p:cNvPr>
          <p:cNvSpPr/>
          <p:nvPr/>
        </p:nvSpPr>
        <p:spPr>
          <a:xfrm>
            <a:off x="7200153" y="5325348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4E0311C-D133-4240-99FC-6FF41CC35A40}"/>
              </a:ext>
            </a:extLst>
          </p:cNvPr>
          <p:cNvSpPr/>
          <p:nvPr/>
        </p:nvSpPr>
        <p:spPr>
          <a:xfrm>
            <a:off x="9080500" y="7498083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7F57ABF-9047-4CA6-917F-B05CACC0B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042" y="3733799"/>
            <a:ext cx="8380580" cy="55258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285E9B-CBA1-45CD-946C-541C648D2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3733799"/>
            <a:ext cx="7871761" cy="5926809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7D771B10-CA1F-4795-BA15-CA11D01B5F0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795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638" y="961034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직무 분석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p.15~18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748106C-B031-434A-A985-84A87A8C6288}"/>
              </a:ext>
            </a:extLst>
          </p:cNvPr>
          <p:cNvSpPr/>
          <p:nvPr/>
        </p:nvSpPr>
        <p:spPr>
          <a:xfrm>
            <a:off x="7200153" y="5325348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4E0311C-D133-4240-99FC-6FF41CC35A40}"/>
              </a:ext>
            </a:extLst>
          </p:cNvPr>
          <p:cNvSpPr/>
          <p:nvPr/>
        </p:nvSpPr>
        <p:spPr>
          <a:xfrm>
            <a:off x="9080500" y="7498083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3">
            <a:extLst>
              <a:ext uri="{FF2B5EF4-FFF2-40B4-BE49-F238E27FC236}">
                <a16:creationId xmlns:a16="http://schemas.microsoft.com/office/drawing/2014/main" id="{1CDB66F2-1645-46C2-9FEA-6033B23538E1}"/>
              </a:ext>
            </a:extLst>
          </p:cNvPr>
          <p:cNvSpPr txBox="1"/>
          <p:nvPr/>
        </p:nvSpPr>
        <p:spPr>
          <a:xfrm>
            <a:off x="8815656" y="3194230"/>
            <a:ext cx="7759700" cy="7246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직업정보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 err="1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현직자인터뷰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임금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/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업무 활동</a:t>
            </a:r>
            <a:endParaRPr lang="en-US" sz="24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EBCB9926-3594-4866-804A-185009EE8693}"/>
              </a:ext>
            </a:extLst>
          </p:cNvPr>
          <p:cNvSpPr txBox="1"/>
          <p:nvPr/>
        </p:nvSpPr>
        <p:spPr>
          <a:xfrm>
            <a:off x="303749" y="3168667"/>
            <a:ext cx="7759700" cy="7246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직무수행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(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지식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기술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태도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)#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직무능력 진단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공정채용</a:t>
            </a:r>
            <a:endParaRPr lang="en-US" sz="24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D64C93A-5BCF-44C9-91BA-2963026A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3" y="4030588"/>
            <a:ext cx="8525577" cy="48906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69BC052-E37D-4020-971C-2048F65ED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973" y="3066920"/>
            <a:ext cx="1712856" cy="13992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67A7E60-C9F3-49E0-B69E-42745BA3F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586" y="4046695"/>
            <a:ext cx="7535327" cy="48584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74EE59-B06A-4BFD-AA32-7DB24F669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44154" y="3250595"/>
            <a:ext cx="1107760" cy="1130905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7C38EFEC-930A-4AB5-BF60-C9902F298108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021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638" y="961034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직무 분석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p.15~18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748106C-B031-434A-A985-84A87A8C6288}"/>
              </a:ext>
            </a:extLst>
          </p:cNvPr>
          <p:cNvSpPr/>
          <p:nvPr/>
        </p:nvSpPr>
        <p:spPr>
          <a:xfrm>
            <a:off x="7200153" y="5325348"/>
            <a:ext cx="9144000" cy="9281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상품전략 수립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전략기획</a:t>
            </a:r>
            <a:r>
              <a:rPr lang="en-US" altLang="ko-KR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, </a:t>
            </a:r>
            <a:r>
              <a:rPr lang="ko-KR" altLang="en-US" b="1" dirty="0">
                <a:solidFill>
                  <a:srgbClr val="FFF7EC"/>
                </a:solidFill>
                <a:latin typeface="+mn-ea"/>
                <a:cs typeface="Saira ExtraCondensed Semi-Bold"/>
                <a:sym typeface="Saira ExtraCondensed Semi-Bold"/>
              </a:rPr>
              <a:t>마케팅</a:t>
            </a:r>
            <a:endParaRPr lang="en-US" altLang="ko-KR" b="1" dirty="0">
              <a:solidFill>
                <a:srgbClr val="FFF7EC"/>
              </a:solidFill>
              <a:latin typeface="+mn-ea"/>
              <a:cs typeface="Saira ExtraCondensed Semi-Bold"/>
              <a:sym typeface="Saira ExtraCondensed Semi-Bold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3">
            <a:extLst>
              <a:ext uri="{FF2B5EF4-FFF2-40B4-BE49-F238E27FC236}">
                <a16:creationId xmlns:a16="http://schemas.microsoft.com/office/drawing/2014/main" id="{EBCB9926-3594-4866-804A-185009EE8693}"/>
              </a:ext>
            </a:extLst>
          </p:cNvPr>
          <p:cNvSpPr txBox="1"/>
          <p:nvPr/>
        </p:nvSpPr>
        <p:spPr>
          <a:xfrm>
            <a:off x="836085" y="3168667"/>
            <a:ext cx="7227363" cy="7246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6119"/>
              </a:lnSpc>
            </a:pP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자소서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실제 자소서 기출 문항</a:t>
            </a:r>
            <a:endParaRPr lang="en-US" sz="24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124057-939E-4A8E-8CBC-74A4A0D7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20" y="4037914"/>
            <a:ext cx="8202160" cy="49155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617F83-A56A-4C7C-9DFD-F9E8D0884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233" y="3364122"/>
            <a:ext cx="1107760" cy="1092200"/>
          </a:xfrm>
          <a:prstGeom prst="rect">
            <a:avLst/>
          </a:prstGeom>
        </p:spPr>
      </p:pic>
      <p:sp>
        <p:nvSpPr>
          <p:cNvPr id="17" name="TextBox 23">
            <a:extLst>
              <a:ext uri="{FF2B5EF4-FFF2-40B4-BE49-F238E27FC236}">
                <a16:creationId xmlns:a16="http://schemas.microsoft.com/office/drawing/2014/main" id="{C625C029-06D7-4AB8-8E08-82B62E46023E}"/>
              </a:ext>
            </a:extLst>
          </p:cNvPr>
          <p:cNvSpPr txBox="1"/>
          <p:nvPr/>
        </p:nvSpPr>
        <p:spPr>
          <a:xfrm>
            <a:off x="9184756" y="3169445"/>
            <a:ext cx="7759700" cy="7246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 err="1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현직자멘토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직무교육</a:t>
            </a:r>
            <a:r>
              <a:rPr lang="en-US" altLang="ko-KR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#42</a:t>
            </a:r>
            <a:r>
              <a:rPr lang="ko-KR" altLang="en-US" sz="24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만개 이상 커리어 조언</a:t>
            </a:r>
            <a:endParaRPr lang="en-US" sz="24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3DBA4C7-940B-4AB5-B2ED-4B85C62FE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564" y="4037914"/>
            <a:ext cx="7759699" cy="486276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D7941D1-DF80-44E9-956E-F6FC914A3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44153" y="3168667"/>
            <a:ext cx="1360110" cy="1201757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2A66D577-79E9-4FD3-A84D-19EE6822144E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191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638" y="961034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나에게 맞는 기업을 찾아라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p.19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0">
            <a:extLst>
              <a:ext uri="{FF2B5EF4-FFF2-40B4-BE49-F238E27FC236}">
                <a16:creationId xmlns:a16="http://schemas.microsoft.com/office/drawing/2014/main" id="{B59EE867-DA96-46CC-A9CA-DBEC62407227}"/>
              </a:ext>
            </a:extLst>
          </p:cNvPr>
          <p:cNvSpPr txBox="1"/>
          <p:nvPr/>
        </p:nvSpPr>
        <p:spPr>
          <a:xfrm>
            <a:off x="927100" y="3012629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spc="-100" dirty="0">
                <a:solidFill>
                  <a:schemeClr val="accent2"/>
                </a:solidFill>
                <a:latin typeface="+mn-ea"/>
              </a:rPr>
              <a:t>목표기업 탐색하기</a:t>
            </a:r>
            <a:endParaRPr lang="ko-KR" sz="2800" b="1" i="0" u="sng" strike="noStrike" spc="-100" dirty="0">
              <a:solidFill>
                <a:schemeClr val="accent2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D9EB15-CE33-41D3-A9CF-095BB813B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55007"/>
            <a:ext cx="7715250" cy="3936872"/>
          </a:xfrm>
          <a:prstGeom prst="rect">
            <a:avLst/>
          </a:prstGeom>
        </p:spPr>
      </p:pic>
      <p:sp>
        <p:nvSpPr>
          <p:cNvPr id="17" name="TextBox 20">
            <a:extLst>
              <a:ext uri="{FF2B5EF4-FFF2-40B4-BE49-F238E27FC236}">
                <a16:creationId xmlns:a16="http://schemas.microsoft.com/office/drawing/2014/main" id="{6F46DFF6-B16B-46EF-AD7C-9F77BB7CEC55}"/>
              </a:ext>
            </a:extLst>
          </p:cNvPr>
          <p:cNvSpPr txBox="1"/>
          <p:nvPr/>
        </p:nvSpPr>
        <p:spPr>
          <a:xfrm>
            <a:off x="899108" y="4028750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Tx/>
              <a:buChar char="-"/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산업 분야별 통계자료와 산업 동향 확인</a:t>
            </a:r>
            <a:endParaRPr lang="en-US" altLang="ko-KR" sz="2800" b="1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57200" lvl="0" indent="-457200" algn="l">
              <a:lnSpc>
                <a:spcPct val="99600"/>
              </a:lnSpc>
              <a:buFontTx/>
              <a:buChar char="-"/>
            </a:pPr>
            <a:r>
              <a:rPr lang="ko-KR" altLang="en-US" sz="28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산업에 대한 최근 이슈와 동향 분석</a:t>
            </a:r>
            <a:endParaRPr lang="en-US" altLang="ko-KR" sz="2800" b="1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57200" lvl="0" indent="-457200" algn="l">
              <a:lnSpc>
                <a:spcPct val="99600"/>
              </a:lnSpc>
              <a:buFontTx/>
              <a:buChar char="-"/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산업에 대한 최근 이슈와 동향 보고서 확인</a:t>
            </a:r>
            <a:endParaRPr lang="en-US" altLang="ko-KR" sz="2800" b="1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3E01DAA-8056-4350-BDDB-65473CCCB748}"/>
              </a:ext>
            </a:extLst>
          </p:cNvPr>
          <p:cNvSpPr/>
          <p:nvPr/>
        </p:nvSpPr>
        <p:spPr>
          <a:xfrm>
            <a:off x="14672070" y="7316682"/>
            <a:ext cx="3331822" cy="2075199"/>
          </a:xfrm>
          <a:custGeom>
            <a:avLst/>
            <a:gdLst/>
            <a:ahLst/>
            <a:cxnLst/>
            <a:rect l="l" t="t" r="r" b="b"/>
            <a:pathLst>
              <a:path w="4178344" h="4185955">
                <a:moveTo>
                  <a:pt x="0" y="0"/>
                </a:moveTo>
                <a:lnTo>
                  <a:pt x="4178345" y="0"/>
                </a:lnTo>
                <a:lnTo>
                  <a:pt x="4178345" y="4185955"/>
                </a:lnTo>
                <a:lnTo>
                  <a:pt x="0" y="418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7730EA08-81F0-405B-BE08-E367DAEB7E56}"/>
              </a:ext>
            </a:extLst>
          </p:cNvPr>
          <p:cNvSpPr txBox="1"/>
          <p:nvPr/>
        </p:nvSpPr>
        <p:spPr>
          <a:xfrm>
            <a:off x="10720128" y="3212386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i="0" strike="noStrike" spc="-100" dirty="0">
                <a:solidFill>
                  <a:schemeClr val="tx2"/>
                </a:solidFill>
                <a:latin typeface="+mn-ea"/>
              </a:rPr>
              <a:t>활용 </a:t>
            </a:r>
            <a:r>
              <a:rPr lang="en-US" altLang="ko-KR" sz="2800" b="1" i="0" strike="noStrike" spc="-100" dirty="0">
                <a:solidFill>
                  <a:schemeClr val="tx2"/>
                </a:solidFill>
                <a:latin typeface="+mn-ea"/>
              </a:rPr>
              <a:t>TIP</a:t>
            </a:r>
            <a:endParaRPr lang="ko-KR" sz="2800" b="1" i="0" strike="noStrike" spc="-1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5BF633FE-0AC7-44E2-8526-E6BFE6C55432}"/>
              </a:ext>
            </a:extLst>
          </p:cNvPr>
          <p:cNvSpPr txBox="1"/>
          <p:nvPr/>
        </p:nvSpPr>
        <p:spPr>
          <a:xfrm>
            <a:off x="9465338" y="5176839"/>
            <a:ext cx="829667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514350" lvl="0" indent="-514350" algn="l">
              <a:lnSpc>
                <a:spcPct val="99600"/>
              </a:lnSpc>
              <a:buFont typeface="+mj-lt"/>
              <a:buAutoNum type="arabicPeriod"/>
            </a:pPr>
            <a:r>
              <a:rPr lang="ko-KR" altLang="en-US" sz="2800" b="1" spc="-100" dirty="0">
                <a:solidFill>
                  <a:schemeClr val="tx2"/>
                </a:solidFill>
                <a:highlight>
                  <a:srgbClr val="D2D8E5"/>
                </a:highlight>
                <a:latin typeface="+mn-ea"/>
              </a:rPr>
              <a:t>자기소개서나 면접에서 강조할 역량과 능력에 대한 산업 배경지식을 증명할 수 있는 자료로 </a:t>
            </a:r>
            <a:r>
              <a:rPr lang="ko-KR" altLang="en-US" sz="2800" b="1" spc="-100" dirty="0">
                <a:solidFill>
                  <a:schemeClr val="tx2"/>
                </a:solidFill>
                <a:latin typeface="+mn-ea"/>
              </a:rPr>
              <a:t>활용 가능</a:t>
            </a:r>
            <a:endParaRPr lang="en-US" altLang="ko-KR" sz="2800" b="1" spc="-100" dirty="0">
              <a:solidFill>
                <a:schemeClr val="tx2"/>
              </a:solidFill>
              <a:latin typeface="+mn-ea"/>
            </a:endParaRPr>
          </a:p>
          <a:p>
            <a:pPr marL="514350" lvl="0" indent="-514350" algn="l">
              <a:lnSpc>
                <a:spcPct val="99600"/>
              </a:lnSpc>
              <a:buFont typeface="+mj-lt"/>
              <a:buAutoNum type="arabicPeriod"/>
            </a:pPr>
            <a:endParaRPr lang="en-US" altLang="ko-KR" sz="2800" b="1" spc="-100" dirty="0">
              <a:solidFill>
                <a:schemeClr val="tx2"/>
              </a:solidFill>
              <a:latin typeface="+mn-ea"/>
            </a:endParaRPr>
          </a:p>
          <a:p>
            <a:pPr marL="514350" lvl="0" indent="-514350" algn="l">
              <a:lnSpc>
                <a:spcPct val="99600"/>
              </a:lnSpc>
              <a:buFont typeface="+mj-lt"/>
              <a:buAutoNum type="arabicPeriod"/>
            </a:pPr>
            <a:r>
              <a:rPr lang="en-US" altLang="ko-KR" sz="2800" b="1" i="0" strike="noStrike" spc="-100" dirty="0">
                <a:solidFill>
                  <a:schemeClr val="tx2"/>
                </a:solidFill>
                <a:latin typeface="+mn-ea"/>
              </a:rPr>
              <a:t>ISTANS </a:t>
            </a:r>
            <a:r>
              <a:rPr lang="ko-KR" altLang="en-US" sz="2800" b="1" i="0" strike="noStrike" spc="-100" dirty="0">
                <a:solidFill>
                  <a:schemeClr val="tx2"/>
                </a:solidFill>
                <a:latin typeface="+mn-ea"/>
              </a:rPr>
              <a:t>보고서의 경우 내용이 길지 않고 아이디어를 얻을 수 있는 자료들이 많아 각종 보고서 및 기획서에 활용 가능</a:t>
            </a:r>
            <a:endParaRPr lang="ko-KR" sz="2800" b="1" i="0" strike="noStrike" spc="-100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7617DA9-58E1-4B3C-ABF5-0C66CD9F4F74}"/>
              </a:ext>
            </a:extLst>
          </p:cNvPr>
          <p:cNvGrpSpPr/>
          <p:nvPr/>
        </p:nvGrpSpPr>
        <p:grpSpPr>
          <a:xfrm>
            <a:off x="9626603" y="3218577"/>
            <a:ext cx="888998" cy="877044"/>
            <a:chOff x="6714091" y="4762500"/>
            <a:chExt cx="2027736" cy="1902723"/>
          </a:xfrm>
        </p:grpSpPr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3E8B723C-B8C1-4C51-95B7-4F8B7B082AEA}"/>
                </a:ext>
              </a:extLst>
            </p:cNvPr>
            <p:cNvGrpSpPr/>
            <p:nvPr/>
          </p:nvGrpSpPr>
          <p:grpSpPr>
            <a:xfrm>
              <a:off x="6714091" y="4762500"/>
              <a:ext cx="2027736" cy="1902723"/>
              <a:chOff x="0" y="0"/>
              <a:chExt cx="479645" cy="450074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B5DC29A4-A421-465E-B70F-0151776401CE}"/>
                  </a:ext>
                </a:extLst>
              </p:cNvPr>
              <p:cNvSpPr/>
              <p:nvPr/>
            </p:nvSpPr>
            <p:spPr>
              <a:xfrm>
                <a:off x="0" y="0"/>
                <a:ext cx="479645" cy="450074"/>
              </a:xfrm>
              <a:custGeom>
                <a:avLst/>
                <a:gdLst/>
                <a:ahLst/>
                <a:cxnLst/>
                <a:rect l="l" t="t" r="r" b="b"/>
                <a:pathLst>
                  <a:path w="479645" h="450074">
                    <a:moveTo>
                      <a:pt x="76360" y="0"/>
                    </a:moveTo>
                    <a:lnTo>
                      <a:pt x="403285" y="0"/>
                    </a:lnTo>
                    <a:cubicBezTo>
                      <a:pt x="423537" y="0"/>
                      <a:pt x="442959" y="8045"/>
                      <a:pt x="457279" y="22365"/>
                    </a:cubicBezTo>
                    <a:cubicBezTo>
                      <a:pt x="471600" y="36686"/>
                      <a:pt x="479645" y="56108"/>
                      <a:pt x="479645" y="76360"/>
                    </a:cubicBezTo>
                    <a:lnTo>
                      <a:pt x="479645" y="373714"/>
                    </a:lnTo>
                    <a:cubicBezTo>
                      <a:pt x="479645" y="393966"/>
                      <a:pt x="471600" y="413388"/>
                      <a:pt x="457279" y="427708"/>
                    </a:cubicBezTo>
                    <a:cubicBezTo>
                      <a:pt x="442959" y="442029"/>
                      <a:pt x="423537" y="450074"/>
                      <a:pt x="403285" y="450074"/>
                    </a:cubicBezTo>
                    <a:lnTo>
                      <a:pt x="76360" y="450074"/>
                    </a:lnTo>
                    <a:cubicBezTo>
                      <a:pt x="56108" y="450074"/>
                      <a:pt x="36686" y="442029"/>
                      <a:pt x="22365" y="427708"/>
                    </a:cubicBezTo>
                    <a:cubicBezTo>
                      <a:pt x="8045" y="413388"/>
                      <a:pt x="0" y="393966"/>
                      <a:pt x="0" y="373714"/>
                    </a:cubicBezTo>
                    <a:lnTo>
                      <a:pt x="0" y="76360"/>
                    </a:lnTo>
                    <a:cubicBezTo>
                      <a:pt x="0" y="56108"/>
                      <a:pt x="8045" y="36686"/>
                      <a:pt x="22365" y="22365"/>
                    </a:cubicBezTo>
                    <a:cubicBezTo>
                      <a:pt x="36686" y="8045"/>
                      <a:pt x="56108" y="0"/>
                      <a:pt x="7636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12">
                <a:extLst>
                  <a:ext uri="{FF2B5EF4-FFF2-40B4-BE49-F238E27FC236}">
                    <a16:creationId xmlns:a16="http://schemas.microsoft.com/office/drawing/2014/main" id="{6C04154B-3A5D-43A6-B6EF-2A2ED2692F3D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479645" cy="4310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8584F70F-4E5B-4E4E-8185-07A29415AEFD}"/>
                </a:ext>
              </a:extLst>
            </p:cNvPr>
            <p:cNvSpPr/>
            <p:nvPr/>
          </p:nvSpPr>
          <p:spPr>
            <a:xfrm>
              <a:off x="7160153" y="5148317"/>
              <a:ext cx="1132278" cy="1129447"/>
            </a:xfrm>
            <a:custGeom>
              <a:avLst/>
              <a:gdLst/>
              <a:ahLst/>
              <a:cxnLst/>
              <a:rect l="l" t="t" r="r" b="b"/>
              <a:pathLst>
                <a:path w="1132278" h="1129447">
                  <a:moveTo>
                    <a:pt x="0" y="0"/>
                  </a:moveTo>
                  <a:lnTo>
                    <a:pt x="1132278" y="0"/>
                  </a:lnTo>
                  <a:lnTo>
                    <a:pt x="1132278" y="1129447"/>
                  </a:lnTo>
                  <a:lnTo>
                    <a:pt x="0" y="1129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0F579465-48B1-467C-B23D-48E50210523C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839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638" y="961034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목표기업 분석하기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06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p.20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5">
            <a:extLst>
              <a:ext uri="{FF2B5EF4-FFF2-40B4-BE49-F238E27FC236}">
                <a16:creationId xmlns:a16="http://schemas.microsoft.com/office/drawing/2014/main" id="{63E01DAA-8056-4350-BDDB-65473CCCB748}"/>
              </a:ext>
            </a:extLst>
          </p:cNvPr>
          <p:cNvSpPr/>
          <p:nvPr/>
        </p:nvSpPr>
        <p:spPr>
          <a:xfrm>
            <a:off x="14289963" y="1762026"/>
            <a:ext cx="3331822" cy="2075199"/>
          </a:xfrm>
          <a:custGeom>
            <a:avLst/>
            <a:gdLst/>
            <a:ahLst/>
            <a:cxnLst/>
            <a:rect l="l" t="t" r="r" b="b"/>
            <a:pathLst>
              <a:path w="4178344" h="4185955">
                <a:moveTo>
                  <a:pt x="0" y="0"/>
                </a:moveTo>
                <a:lnTo>
                  <a:pt x="4178345" y="0"/>
                </a:lnTo>
                <a:lnTo>
                  <a:pt x="4178345" y="4185955"/>
                </a:lnTo>
                <a:lnTo>
                  <a:pt x="0" y="4185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45">
            <a:extLst>
              <a:ext uri="{FF2B5EF4-FFF2-40B4-BE49-F238E27FC236}">
                <a16:creationId xmlns:a16="http://schemas.microsoft.com/office/drawing/2014/main" id="{1FA44A73-57EB-42AE-96BC-91BE27C74849}"/>
              </a:ext>
            </a:extLst>
          </p:cNvPr>
          <p:cNvSpPr/>
          <p:nvPr/>
        </p:nvSpPr>
        <p:spPr>
          <a:xfrm>
            <a:off x="5613400" y="3629821"/>
            <a:ext cx="6455029" cy="5610743"/>
          </a:xfrm>
          <a:custGeom>
            <a:avLst/>
            <a:gdLst/>
            <a:ahLst/>
            <a:cxnLst/>
            <a:rect l="l" t="t" r="r" b="b"/>
            <a:pathLst>
              <a:path w="5921629" h="5610743">
                <a:moveTo>
                  <a:pt x="0" y="0"/>
                </a:moveTo>
                <a:lnTo>
                  <a:pt x="5921629" y="0"/>
                </a:lnTo>
                <a:lnTo>
                  <a:pt x="5921629" y="5610743"/>
                </a:lnTo>
                <a:lnTo>
                  <a:pt x="0" y="5610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Box 51">
            <a:extLst>
              <a:ext uri="{FF2B5EF4-FFF2-40B4-BE49-F238E27FC236}">
                <a16:creationId xmlns:a16="http://schemas.microsoft.com/office/drawing/2014/main" id="{9C0AE5A0-151A-4C40-89D0-0577C3357CC0}"/>
              </a:ext>
            </a:extLst>
          </p:cNvPr>
          <p:cNvSpPr txBox="1"/>
          <p:nvPr/>
        </p:nvSpPr>
        <p:spPr>
          <a:xfrm>
            <a:off x="6832600" y="4614600"/>
            <a:ext cx="1833849" cy="311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  <a:cs typeface="TDTD순고딕 Bold"/>
                <a:sym typeface="TDTD순고딕 Bold"/>
              </a:rPr>
              <a:t>회사 연혁</a:t>
            </a:r>
            <a:endParaRPr lang="en-US" sz="2800" b="1" dirty="0">
              <a:solidFill>
                <a:schemeClr val="bg1"/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sp>
        <p:nvSpPr>
          <p:cNvPr id="36" name="TextBox 52">
            <a:extLst>
              <a:ext uri="{FF2B5EF4-FFF2-40B4-BE49-F238E27FC236}">
                <a16:creationId xmlns:a16="http://schemas.microsoft.com/office/drawing/2014/main" id="{B38E41EB-2442-44D2-9C21-0E33D02D57F1}"/>
              </a:ext>
            </a:extLst>
          </p:cNvPr>
          <p:cNvSpPr txBox="1"/>
          <p:nvPr/>
        </p:nvSpPr>
        <p:spPr>
          <a:xfrm>
            <a:off x="7844666" y="6073117"/>
            <a:ext cx="1992496" cy="844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ko-KR" altLang="en-US" sz="2800" b="1" u="none" strike="noStrike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기업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분</a:t>
            </a:r>
            <a:r>
              <a:rPr lang="ko-KR" altLang="en-US" sz="2800" b="1" u="none" strike="noStrike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석 </a:t>
            </a:r>
            <a:endParaRPr lang="en-US" altLang="ko-KR" sz="2800" b="1" u="none" strike="noStrike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  <a:cs typeface="블랙슈트"/>
              <a:sym typeface="블랙슈트"/>
            </a:endParaRPr>
          </a:p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ko-KR" altLang="en-US" sz="2800" b="1" u="none" strike="noStrike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블랙슈트"/>
                <a:sym typeface="블랙슈트"/>
              </a:rPr>
              <a:t>항목</a:t>
            </a:r>
            <a:endParaRPr lang="en-US" sz="2800" b="1" u="none" strike="noStrike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  <a:cs typeface="블랙슈트"/>
              <a:sym typeface="블랙슈트"/>
            </a:endParaRP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6089912D-4AF5-4A38-9411-17D587F85F91}"/>
              </a:ext>
            </a:extLst>
          </p:cNvPr>
          <p:cNvSpPr txBox="1"/>
          <p:nvPr/>
        </p:nvSpPr>
        <p:spPr>
          <a:xfrm>
            <a:off x="8968724" y="4541983"/>
            <a:ext cx="1833849" cy="311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  <a:cs typeface="TDTD순고딕 Bold"/>
                <a:sym typeface="TDTD순고딕 Bold"/>
              </a:rPr>
              <a:t>기업 문화</a:t>
            </a:r>
            <a:endParaRPr lang="en-US" sz="2800" b="1" dirty="0">
              <a:solidFill>
                <a:schemeClr val="bg1"/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sp>
        <p:nvSpPr>
          <p:cNvPr id="38" name="TextBox 51">
            <a:extLst>
              <a:ext uri="{FF2B5EF4-FFF2-40B4-BE49-F238E27FC236}">
                <a16:creationId xmlns:a16="http://schemas.microsoft.com/office/drawing/2014/main" id="{57B9AB40-5AB6-461D-8A48-4F23E588470D}"/>
              </a:ext>
            </a:extLst>
          </p:cNvPr>
          <p:cNvSpPr txBox="1"/>
          <p:nvPr/>
        </p:nvSpPr>
        <p:spPr>
          <a:xfrm>
            <a:off x="10199479" y="6050471"/>
            <a:ext cx="1833849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  <a:cs typeface="TDTD순고딕 Bold"/>
                <a:sym typeface="TDTD순고딕 Bold"/>
              </a:rPr>
              <a:t>브랜드 이미지</a:t>
            </a:r>
            <a:endParaRPr lang="en-US" sz="2800" b="1" dirty="0">
              <a:solidFill>
                <a:schemeClr val="bg1"/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sp>
        <p:nvSpPr>
          <p:cNvPr id="39" name="TextBox 51">
            <a:extLst>
              <a:ext uri="{FF2B5EF4-FFF2-40B4-BE49-F238E27FC236}">
                <a16:creationId xmlns:a16="http://schemas.microsoft.com/office/drawing/2014/main" id="{D915E8DA-DD89-4330-B9C3-3A896A10F82D}"/>
              </a:ext>
            </a:extLst>
          </p:cNvPr>
          <p:cNvSpPr txBox="1"/>
          <p:nvPr/>
        </p:nvSpPr>
        <p:spPr>
          <a:xfrm>
            <a:off x="5777753" y="6347366"/>
            <a:ext cx="1833849" cy="311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  <a:cs typeface="TDTD순고딕 Bold"/>
                <a:sym typeface="TDTD순고딕 Bold"/>
              </a:rPr>
              <a:t>사업 분야</a:t>
            </a:r>
            <a:endParaRPr lang="en-US" sz="2800" b="1" dirty="0">
              <a:solidFill>
                <a:schemeClr val="bg1"/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sp>
        <p:nvSpPr>
          <p:cNvPr id="40" name="TextBox 51">
            <a:extLst>
              <a:ext uri="{FF2B5EF4-FFF2-40B4-BE49-F238E27FC236}">
                <a16:creationId xmlns:a16="http://schemas.microsoft.com/office/drawing/2014/main" id="{8D01BEB4-756E-43D8-8C76-7BA5CF45C8CB}"/>
              </a:ext>
            </a:extLst>
          </p:cNvPr>
          <p:cNvSpPr txBox="1"/>
          <p:nvPr/>
        </p:nvSpPr>
        <p:spPr>
          <a:xfrm>
            <a:off x="6832599" y="8133422"/>
            <a:ext cx="1833849" cy="311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  <a:cs typeface="TDTD순고딕 Bold"/>
                <a:sym typeface="TDTD순고딕 Bold"/>
              </a:rPr>
              <a:t>재무제표</a:t>
            </a:r>
            <a:endParaRPr lang="en-US" sz="2800" b="1" dirty="0">
              <a:solidFill>
                <a:schemeClr val="bg1"/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sp>
        <p:nvSpPr>
          <p:cNvPr id="41" name="TextBox 51">
            <a:extLst>
              <a:ext uri="{FF2B5EF4-FFF2-40B4-BE49-F238E27FC236}">
                <a16:creationId xmlns:a16="http://schemas.microsoft.com/office/drawing/2014/main" id="{6E5EEE1C-6C7E-46B1-B8A1-CECA1CF9FE53}"/>
              </a:ext>
            </a:extLst>
          </p:cNvPr>
          <p:cNvSpPr txBox="1"/>
          <p:nvPr/>
        </p:nvSpPr>
        <p:spPr>
          <a:xfrm>
            <a:off x="9033917" y="8100147"/>
            <a:ext cx="1833849" cy="311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  <a:cs typeface="TDTD순고딕 Bold"/>
                <a:sym typeface="TDTD순고딕 Bold"/>
              </a:rPr>
              <a:t>기업 이슈</a:t>
            </a:r>
            <a:endParaRPr lang="en-US" sz="2800" b="1" dirty="0">
              <a:solidFill>
                <a:schemeClr val="bg1"/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pic>
        <p:nvPicPr>
          <p:cNvPr id="44" name="Picture 11">
            <a:extLst>
              <a:ext uri="{FF2B5EF4-FFF2-40B4-BE49-F238E27FC236}">
                <a16:creationId xmlns:a16="http://schemas.microsoft.com/office/drawing/2014/main" id="{D9B69C7A-B85D-44E8-AA2C-3CE7545705A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5682" y="8279331"/>
            <a:ext cx="622300" cy="63500"/>
          </a:xfrm>
          <a:prstGeom prst="rect">
            <a:avLst/>
          </a:prstGeom>
        </p:spPr>
      </p:pic>
      <p:sp>
        <p:nvSpPr>
          <p:cNvPr id="45" name="TextBox 19">
            <a:extLst>
              <a:ext uri="{FF2B5EF4-FFF2-40B4-BE49-F238E27FC236}">
                <a16:creationId xmlns:a16="http://schemas.microsoft.com/office/drawing/2014/main" id="{0318E904-5785-4AE3-B5CB-A4E19A58F219}"/>
              </a:ext>
            </a:extLst>
          </p:cNvPr>
          <p:cNvSpPr txBox="1"/>
          <p:nvPr/>
        </p:nvSpPr>
        <p:spPr>
          <a:xfrm>
            <a:off x="1679202" y="7935701"/>
            <a:ext cx="4258983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>
              <a:lnSpc>
                <a:spcPct val="14359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매출액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: 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회사 성장성 판단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  <a:p>
            <a:pPr marL="285750" lvl="0" indent="-285750">
              <a:lnSpc>
                <a:spcPct val="14359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영업이익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: 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기업의 수익성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  <a:p>
            <a:pPr marL="285750" lvl="0" indent="-285750">
              <a:lnSpc>
                <a:spcPct val="14359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당기순이익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: 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수익에서 지출한 모든 경비를 제외한 순수 이익</a:t>
            </a:r>
            <a:endParaRPr lang="en-US" sz="2000" b="0" i="0" u="none" strike="noStrike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</p:txBody>
      </p:sp>
      <p:pic>
        <p:nvPicPr>
          <p:cNvPr id="46" name="Picture 11">
            <a:extLst>
              <a:ext uri="{FF2B5EF4-FFF2-40B4-BE49-F238E27FC236}">
                <a16:creationId xmlns:a16="http://schemas.microsoft.com/office/drawing/2014/main" id="{40517B9E-21C6-4F79-AAA8-7EDD0BFC90A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9531" y="4629227"/>
            <a:ext cx="622300" cy="63500"/>
          </a:xfrm>
          <a:prstGeom prst="rect">
            <a:avLst/>
          </a:prstGeom>
        </p:spPr>
      </p:pic>
      <p:sp>
        <p:nvSpPr>
          <p:cNvPr id="47" name="TextBox 19">
            <a:extLst>
              <a:ext uri="{FF2B5EF4-FFF2-40B4-BE49-F238E27FC236}">
                <a16:creationId xmlns:a16="http://schemas.microsoft.com/office/drawing/2014/main" id="{011B4C7E-3D05-456B-A485-5907AB22107E}"/>
              </a:ext>
            </a:extLst>
          </p:cNvPr>
          <p:cNvSpPr txBox="1"/>
          <p:nvPr/>
        </p:nvSpPr>
        <p:spPr>
          <a:xfrm>
            <a:off x="12236036" y="4074850"/>
            <a:ext cx="5731997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3590"/>
              </a:lnSpc>
            </a:pP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CJ ‘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님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’ </a:t>
            </a:r>
            <a:r>
              <a:rPr lang="ko-KR" altLang="en-US" sz="2000" b="1" spc="-100" dirty="0" err="1">
                <a:solidFill>
                  <a:srgbClr val="6B6862">
                    <a:alpha val="87059"/>
                  </a:srgbClr>
                </a:solidFill>
                <a:latin typeface="+mn-ea"/>
              </a:rPr>
              <a:t>호칭부르기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, 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아모레퍼시픽 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‘</a:t>
            </a:r>
            <a:r>
              <a:rPr lang="ko-KR" altLang="en-US" sz="2000" b="1" spc="-100" dirty="0" err="1">
                <a:solidFill>
                  <a:srgbClr val="6B6862">
                    <a:alpha val="87059"/>
                  </a:srgbClr>
                </a:solidFill>
                <a:latin typeface="+mn-ea"/>
              </a:rPr>
              <a:t>생일자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 반차제도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’</a:t>
            </a:r>
            <a:endParaRPr lang="en-US" sz="2000" b="0" i="0" u="none" strike="noStrike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</p:txBody>
      </p:sp>
      <p:pic>
        <p:nvPicPr>
          <p:cNvPr id="48" name="Picture 11">
            <a:extLst>
              <a:ext uri="{FF2B5EF4-FFF2-40B4-BE49-F238E27FC236}">
                <a16:creationId xmlns:a16="http://schemas.microsoft.com/office/drawing/2014/main" id="{227D1C8D-5D17-46F9-BB25-BE1064E6E2D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32782" y="6393807"/>
            <a:ext cx="622300" cy="63500"/>
          </a:xfrm>
          <a:prstGeom prst="rect">
            <a:avLst/>
          </a:prstGeom>
        </p:spPr>
      </p:pic>
      <p:sp>
        <p:nvSpPr>
          <p:cNvPr id="49" name="TextBox 19">
            <a:extLst>
              <a:ext uri="{FF2B5EF4-FFF2-40B4-BE49-F238E27FC236}">
                <a16:creationId xmlns:a16="http://schemas.microsoft.com/office/drawing/2014/main" id="{C7F366FF-41DC-4B71-8E26-E0E71B3696D8}"/>
              </a:ext>
            </a:extLst>
          </p:cNvPr>
          <p:cNvSpPr txBox="1"/>
          <p:nvPr/>
        </p:nvSpPr>
        <p:spPr>
          <a:xfrm>
            <a:off x="13037830" y="5854057"/>
            <a:ext cx="5731997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브랜드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, CI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가 가진 의미 파악</a:t>
            </a:r>
            <a:endParaRPr lang="en-US" sz="2000" b="0" i="0" u="none" strike="noStrike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</p:txBody>
      </p:sp>
      <p:pic>
        <p:nvPicPr>
          <p:cNvPr id="50" name="Picture 11">
            <a:extLst>
              <a:ext uri="{FF2B5EF4-FFF2-40B4-BE49-F238E27FC236}">
                <a16:creationId xmlns:a16="http://schemas.microsoft.com/office/drawing/2014/main" id="{04045B2C-4642-4B81-9C36-7F7F77EA9B6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6750" y="8155109"/>
            <a:ext cx="622300" cy="63500"/>
          </a:xfrm>
          <a:prstGeom prst="rect">
            <a:avLst/>
          </a:prstGeom>
        </p:spPr>
      </p:pic>
      <p:sp>
        <p:nvSpPr>
          <p:cNvPr id="52" name="TextBox 19">
            <a:extLst>
              <a:ext uri="{FF2B5EF4-FFF2-40B4-BE49-F238E27FC236}">
                <a16:creationId xmlns:a16="http://schemas.microsoft.com/office/drawing/2014/main" id="{E1B1BA7F-195E-4327-B847-6A0E50560A06}"/>
              </a:ext>
            </a:extLst>
          </p:cNvPr>
          <p:cNvSpPr txBox="1"/>
          <p:nvPr/>
        </p:nvSpPr>
        <p:spPr>
          <a:xfrm>
            <a:off x="12188034" y="7749644"/>
            <a:ext cx="5731997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업계분석 및 최근 기업뉴스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새로운 사업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기업에 영향을 미칠 수 있는 이슈</a:t>
            </a:r>
            <a:endParaRPr lang="en-US" sz="2000" b="0" i="0" u="none" strike="noStrike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</p:txBody>
      </p:sp>
      <p:pic>
        <p:nvPicPr>
          <p:cNvPr id="54" name="Picture 11">
            <a:extLst>
              <a:ext uri="{FF2B5EF4-FFF2-40B4-BE49-F238E27FC236}">
                <a16:creationId xmlns:a16="http://schemas.microsoft.com/office/drawing/2014/main" id="{F1041383-3E2E-4419-AADF-8DE1C86FCCD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6559" y="6393807"/>
            <a:ext cx="622300" cy="63500"/>
          </a:xfrm>
          <a:prstGeom prst="rect">
            <a:avLst/>
          </a:prstGeom>
        </p:spPr>
      </p:pic>
      <p:sp>
        <p:nvSpPr>
          <p:cNvPr id="55" name="TextBox 19">
            <a:extLst>
              <a:ext uri="{FF2B5EF4-FFF2-40B4-BE49-F238E27FC236}">
                <a16:creationId xmlns:a16="http://schemas.microsoft.com/office/drawing/2014/main" id="{06C136A5-689C-47E6-9C6B-02A19345FA93}"/>
              </a:ext>
            </a:extLst>
          </p:cNvPr>
          <p:cNvSpPr txBox="1"/>
          <p:nvPr/>
        </p:nvSpPr>
        <p:spPr>
          <a:xfrm>
            <a:off x="525867" y="5963588"/>
            <a:ext cx="3991087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주요 사업분야를 한눈에 파악하도록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간략하게 정리</a:t>
            </a:r>
            <a:endParaRPr lang="en-US" sz="2000" b="0" i="0" u="none" strike="noStrike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</p:txBody>
      </p:sp>
      <p:pic>
        <p:nvPicPr>
          <p:cNvPr id="56" name="Picture 11">
            <a:extLst>
              <a:ext uri="{FF2B5EF4-FFF2-40B4-BE49-F238E27FC236}">
                <a16:creationId xmlns:a16="http://schemas.microsoft.com/office/drawing/2014/main" id="{382EB781-5AC7-4B88-AC75-6969CF0E79E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9785" y="4666530"/>
            <a:ext cx="622300" cy="63500"/>
          </a:xfrm>
          <a:prstGeom prst="rect">
            <a:avLst/>
          </a:prstGeom>
        </p:spPr>
      </p:pic>
      <p:sp>
        <p:nvSpPr>
          <p:cNvPr id="57" name="TextBox 19">
            <a:extLst>
              <a:ext uri="{FF2B5EF4-FFF2-40B4-BE49-F238E27FC236}">
                <a16:creationId xmlns:a16="http://schemas.microsoft.com/office/drawing/2014/main" id="{108EFBB9-0F3F-47A9-A1C6-1DED325E410C}"/>
              </a:ext>
            </a:extLst>
          </p:cNvPr>
          <p:cNvSpPr txBox="1"/>
          <p:nvPr/>
        </p:nvSpPr>
        <p:spPr>
          <a:xfrm>
            <a:off x="1679202" y="4121227"/>
            <a:ext cx="3991087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회사의 이력을 정리하면서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  <a:p>
            <a:pPr lvl="0">
              <a:lnSpc>
                <a:spcPct val="143590"/>
              </a:lnSpc>
            </a:pP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고객</a:t>
            </a:r>
            <a:r>
              <a:rPr lang="en-US" altLang="ko-KR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, </a:t>
            </a:r>
            <a:r>
              <a:rPr lang="ko-KR" altLang="en-US" sz="2000" b="1" spc="-100" dirty="0">
                <a:solidFill>
                  <a:srgbClr val="6B6862">
                    <a:alpha val="87059"/>
                  </a:srgbClr>
                </a:solidFill>
                <a:latin typeface="+mn-ea"/>
              </a:rPr>
              <a:t>관계사 등 회사 제반 정보 이해</a:t>
            </a:r>
            <a:endParaRPr lang="en-US" altLang="ko-KR" sz="2000" b="1" spc="-100" dirty="0">
              <a:solidFill>
                <a:srgbClr val="6B6862">
                  <a:alpha val="87059"/>
                </a:srgbClr>
              </a:solidFill>
              <a:latin typeface="+mn-ea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72DFBE4-EB3A-49B3-ACD2-B755EDFE33A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40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638" y="961034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목표기업 분석하기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07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p.21~22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D3E4B7C-18AA-4BF3-B547-8F620C7ED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892875"/>
            <a:ext cx="1287428" cy="1204113"/>
          </a:xfrm>
          <a:prstGeom prst="rect">
            <a:avLst/>
          </a:prstGeom>
        </p:spPr>
      </p:pic>
      <p:sp>
        <p:nvSpPr>
          <p:cNvPr id="34" name="TextBox 20">
            <a:extLst>
              <a:ext uri="{FF2B5EF4-FFF2-40B4-BE49-F238E27FC236}">
                <a16:creationId xmlns:a16="http://schemas.microsoft.com/office/drawing/2014/main" id="{730F9801-672C-40E9-AB71-ABD315DC471D}"/>
              </a:ext>
            </a:extLst>
          </p:cNvPr>
          <p:cNvSpPr txBox="1"/>
          <p:nvPr/>
        </p:nvSpPr>
        <p:spPr>
          <a:xfrm>
            <a:off x="666215" y="3113342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spc="-10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잡코리아</a:t>
            </a:r>
            <a:r>
              <a:rPr lang="ko-KR" altLang="en-US" sz="2800" b="1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기업 분석 보고서</a:t>
            </a:r>
            <a:endParaRPr lang="ko-KR" sz="2800" b="1" i="0" u="sng" strike="noStrike" spc="-100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5F30E1-04EA-4922-A3DC-7054D997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96989"/>
            <a:ext cx="8664597" cy="41707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9BEF042-4D47-4FD9-B885-F3794F49F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0572" y="2892875"/>
            <a:ext cx="1516028" cy="1369489"/>
          </a:xfrm>
          <a:prstGeom prst="rect">
            <a:avLst/>
          </a:prstGeom>
        </p:spPr>
      </p:pic>
      <p:sp>
        <p:nvSpPr>
          <p:cNvPr id="42" name="TextBox 20">
            <a:extLst>
              <a:ext uri="{FF2B5EF4-FFF2-40B4-BE49-F238E27FC236}">
                <a16:creationId xmlns:a16="http://schemas.microsoft.com/office/drawing/2014/main" id="{4CBFEC06-5168-4271-81E6-A87651EB4143}"/>
              </a:ext>
            </a:extLst>
          </p:cNvPr>
          <p:cNvSpPr txBox="1"/>
          <p:nvPr/>
        </p:nvSpPr>
        <p:spPr>
          <a:xfrm>
            <a:off x="9744552" y="3102823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사람인 기업연구소</a:t>
            </a:r>
            <a:endParaRPr lang="ko-KR" sz="2800" b="1" i="0" u="sng" strike="noStrike" spc="-100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938F5D6-D043-4CAE-B786-FB47AF572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5587" y="4176571"/>
            <a:ext cx="8309921" cy="4091130"/>
          </a:xfrm>
          <a:prstGeom prst="rect">
            <a:avLst/>
          </a:prstGeom>
        </p:spPr>
      </p:pic>
      <p:sp>
        <p:nvSpPr>
          <p:cNvPr id="43" name="TextBox 20">
            <a:extLst>
              <a:ext uri="{FF2B5EF4-FFF2-40B4-BE49-F238E27FC236}">
                <a16:creationId xmlns:a16="http://schemas.microsoft.com/office/drawing/2014/main" id="{D44333BA-A764-4E64-B8B7-662DB8DAA53E}"/>
              </a:ext>
            </a:extLst>
          </p:cNvPr>
          <p:cNvSpPr txBox="1"/>
          <p:nvPr/>
        </p:nvSpPr>
        <p:spPr>
          <a:xfrm>
            <a:off x="927100" y="8660337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기업의 기본적인 채용분석과 기업정보</a:t>
            </a:r>
            <a:endParaRPr lang="en-US" altLang="ko-KR" sz="22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업계 트렌드나 기업 이슈</a:t>
            </a:r>
            <a:endParaRPr lang="en-US" altLang="ko-KR" sz="2200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기업의 장단점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분석 자료</a:t>
            </a:r>
            <a:endParaRPr lang="ko-KR" sz="22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A81D7E14-AF40-409A-A474-10079815DBE3}"/>
              </a:ext>
            </a:extLst>
          </p:cNvPr>
          <p:cNvSpPr txBox="1"/>
          <p:nvPr/>
        </p:nvSpPr>
        <p:spPr>
          <a:xfrm>
            <a:off x="10019106" y="8604208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기업개요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연혁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직원구성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복리후생 등 기업정보</a:t>
            </a:r>
            <a:endParaRPr lang="en-US" altLang="ko-KR" sz="22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실제 면접 후기</a:t>
            </a:r>
            <a:endParaRPr lang="en-US" altLang="ko-KR" sz="2200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i="0" strike="noStrike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현직자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퇴사자가 알려주는 기업리뷰</a:t>
            </a:r>
            <a:endParaRPr lang="ko-KR" sz="22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44992A0C-4860-4B32-BB3F-F6F06DBBE223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4863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638" y="961034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목표기업 분석하기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08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p.21~22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20">
            <a:extLst>
              <a:ext uri="{FF2B5EF4-FFF2-40B4-BE49-F238E27FC236}">
                <a16:creationId xmlns:a16="http://schemas.microsoft.com/office/drawing/2014/main" id="{730F9801-672C-40E9-AB71-ABD315DC471D}"/>
              </a:ext>
            </a:extLst>
          </p:cNvPr>
          <p:cNvSpPr txBox="1"/>
          <p:nvPr/>
        </p:nvSpPr>
        <p:spPr>
          <a:xfrm>
            <a:off x="666215" y="3113342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spc="-10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잡플래닛</a:t>
            </a:r>
            <a:endParaRPr lang="ko-KR" sz="2800" b="1" i="0" u="sng" strike="noStrike" spc="-100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D44333BA-A764-4E64-B8B7-662DB8DAA53E}"/>
              </a:ext>
            </a:extLst>
          </p:cNvPr>
          <p:cNvSpPr txBox="1"/>
          <p:nvPr/>
        </p:nvSpPr>
        <p:spPr>
          <a:xfrm>
            <a:off x="927100" y="8660337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실제 근무 후기</a:t>
            </a:r>
            <a:r>
              <a:rPr lang="en-US" altLang="ko-KR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유료</a:t>
            </a:r>
            <a:r>
              <a:rPr lang="en-US" altLang="ko-KR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기업리뷰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연봉</a:t>
            </a:r>
            <a:r>
              <a:rPr lang="en-US" altLang="ko-KR" sz="2200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면접 후기 등</a:t>
            </a:r>
            <a:endParaRPr lang="ko-KR" sz="22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AD5F2A-64CD-4A3B-B789-3E048B203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65" y="3831234"/>
            <a:ext cx="7625314" cy="443646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305EE6E-4DBC-433F-9710-7054F3844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097204"/>
            <a:ext cx="1066800" cy="927637"/>
          </a:xfrm>
          <a:prstGeom prst="rect">
            <a:avLst/>
          </a:prstGeom>
        </p:spPr>
      </p:pic>
      <p:sp>
        <p:nvSpPr>
          <p:cNvPr id="17" name="Freeform 12">
            <a:extLst>
              <a:ext uri="{FF2B5EF4-FFF2-40B4-BE49-F238E27FC236}">
                <a16:creationId xmlns:a16="http://schemas.microsoft.com/office/drawing/2014/main" id="{51217329-9386-4C39-9A48-BA8A48F9E532}"/>
              </a:ext>
            </a:extLst>
          </p:cNvPr>
          <p:cNvSpPr/>
          <p:nvPr/>
        </p:nvSpPr>
        <p:spPr>
          <a:xfrm>
            <a:off x="10210800" y="4024841"/>
            <a:ext cx="5493575" cy="4114798"/>
          </a:xfrm>
          <a:custGeom>
            <a:avLst/>
            <a:gdLst/>
            <a:ahLst/>
            <a:cxnLst/>
            <a:rect l="l" t="t" r="r" b="b"/>
            <a:pathLst>
              <a:path w="3071992" h="2748036">
                <a:moveTo>
                  <a:pt x="0" y="0"/>
                </a:moveTo>
                <a:lnTo>
                  <a:pt x="3071992" y="0"/>
                </a:lnTo>
                <a:lnTo>
                  <a:pt x="3071992" y="2748037"/>
                </a:lnTo>
                <a:lnTo>
                  <a:pt x="0" y="27480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9B1E2422-09CE-4AC0-9FB6-790076FEE510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319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11">
            <a:extLst>
              <a:ext uri="{FF2B5EF4-FFF2-40B4-BE49-F238E27FC236}">
                <a16:creationId xmlns:a16="http://schemas.microsoft.com/office/drawing/2014/main" id="{11366E2E-C9B3-4FD1-AAEC-F75F720AB039}"/>
              </a:ext>
            </a:extLst>
          </p:cNvPr>
          <p:cNvSpPr txBox="1"/>
          <p:nvPr/>
        </p:nvSpPr>
        <p:spPr>
          <a:xfrm>
            <a:off x="7658100" y="2777601"/>
            <a:ext cx="10820400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919"/>
              </a:lnSpc>
            </a:pPr>
            <a:r>
              <a:rPr lang="en-US" sz="3200" b="1" u="none" strike="noStrike" spc="-181" dirty="0">
                <a:solidFill>
                  <a:srgbClr val="020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DTD순고딕 Bold"/>
                <a:sym typeface="TDTD순고딕 Bold"/>
              </a:rPr>
              <a:t>“</a:t>
            </a:r>
            <a:r>
              <a:rPr lang="ko-KR" altLang="en-US" sz="3200" b="1" u="none" strike="noStrike" spc="-181" dirty="0">
                <a:solidFill>
                  <a:srgbClr val="020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DTD순고딕 Bold"/>
                <a:sym typeface="TDTD순고딕 Bold"/>
              </a:rPr>
              <a:t> </a:t>
            </a:r>
            <a:r>
              <a:rPr lang="ko-KR" altLang="en-US" sz="3200" b="1" spc="-181" dirty="0">
                <a:solidFill>
                  <a:srgbClr val="020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DTD순고딕 Bold"/>
                <a:sym typeface="TDTD순고딕 Bold"/>
              </a:rPr>
              <a:t>선배와의 대화 프로그램</a:t>
            </a:r>
            <a:r>
              <a:rPr lang="en-US" altLang="ko-KR" sz="3200" b="1" spc="-181" dirty="0">
                <a:solidFill>
                  <a:srgbClr val="020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DTD순고딕 Bold"/>
                <a:sym typeface="TDTD순고딕 Bold"/>
              </a:rPr>
              <a:t> “</a:t>
            </a:r>
          </a:p>
        </p:txBody>
      </p:sp>
      <p:sp>
        <p:nvSpPr>
          <p:cNvPr id="33" name="Freeform 2">
            <a:extLst>
              <a:ext uri="{FF2B5EF4-FFF2-40B4-BE49-F238E27FC236}">
                <a16:creationId xmlns:a16="http://schemas.microsoft.com/office/drawing/2014/main" id="{23F27F18-4A1D-4490-AB7C-350ACF47B69B}"/>
              </a:ext>
            </a:extLst>
          </p:cNvPr>
          <p:cNvSpPr/>
          <p:nvPr/>
        </p:nvSpPr>
        <p:spPr>
          <a:xfrm>
            <a:off x="1600200" y="3619500"/>
            <a:ext cx="4712110" cy="5480665"/>
          </a:xfrm>
          <a:custGeom>
            <a:avLst/>
            <a:gdLst/>
            <a:ahLst/>
            <a:cxnLst/>
            <a:rect l="l" t="t" r="r" b="b"/>
            <a:pathLst>
              <a:path w="8543999" h="8450792">
                <a:moveTo>
                  <a:pt x="0" y="0"/>
                </a:moveTo>
                <a:lnTo>
                  <a:pt x="8543999" y="0"/>
                </a:lnTo>
                <a:lnTo>
                  <a:pt x="8543999" y="8450792"/>
                </a:lnTo>
                <a:lnTo>
                  <a:pt x="0" y="8450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028C80-8C70-4DC8-9ECC-76CA3A5B24F3}"/>
              </a:ext>
            </a:extLst>
          </p:cNvPr>
          <p:cNvSpPr txBox="1"/>
          <p:nvPr/>
        </p:nvSpPr>
        <p:spPr>
          <a:xfrm>
            <a:off x="7696200" y="3410782"/>
            <a:ext cx="10820400" cy="3465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기업 합격 노하우 공개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u="none" strike="noStrike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입사 지원 기업이 원하는 </a:t>
            </a:r>
            <a:r>
              <a:rPr lang="ko-KR" altLang="en-US" sz="2400" b="1" u="none" strike="noStrike" spc="-181" dirty="0" err="1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인재상</a:t>
            </a:r>
            <a:r>
              <a:rPr lang="ko-KR" altLang="en-US" sz="2400" b="1" u="none" strike="noStrike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 파악 가능</a:t>
            </a:r>
            <a:endParaRPr lang="en-US" altLang="ko-KR" sz="2400" b="1" u="none" strike="noStrike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지원 직무의 직무역량 이해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u="none" strike="noStrike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입사 지원 기업의 실제 업무 환경 및 업무 내용 대비 가능</a:t>
            </a:r>
            <a:endParaRPr lang="en-US" altLang="ko-KR" sz="2400" b="1" u="none" strike="noStrike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입사 지원 기업의 이슈 및 비전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u="none" strike="noStrike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졸업 선배와의 네트워크 구축 가능</a:t>
            </a:r>
            <a:endParaRPr lang="en-US" altLang="ko-KR" sz="2400" b="1" u="none" strike="noStrike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marL="457200" lvl="0" indent="-457200" algn="just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입사지원서 작성</a:t>
            </a:r>
            <a:r>
              <a:rPr lang="en-US" altLang="ko-KR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, </a:t>
            </a: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면접 등 취업노하우 제공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7C713CF-BEAF-4747-824E-907F9E7F9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7352776"/>
            <a:ext cx="9677400" cy="2010071"/>
          </a:xfrm>
          <a:prstGeom prst="rect">
            <a:avLst/>
          </a:prstGeom>
        </p:spPr>
      </p:pic>
      <p:sp>
        <p:nvSpPr>
          <p:cNvPr id="36" name="TextBox 2">
            <a:extLst>
              <a:ext uri="{FF2B5EF4-FFF2-40B4-BE49-F238E27FC236}">
                <a16:creationId xmlns:a16="http://schemas.microsoft.com/office/drawing/2014/main" id="{5EF60F40-0D48-45C3-A566-A65CE4D927CA}"/>
              </a:ext>
            </a:extLst>
          </p:cNvPr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졸업 선배들이 들려주는 합격비법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2" name="Picture 20">
            <a:extLst>
              <a:ext uri="{FF2B5EF4-FFF2-40B4-BE49-F238E27FC236}">
                <a16:creationId xmlns:a16="http://schemas.microsoft.com/office/drawing/2014/main" id="{9FF97CCB-5FD2-4DF7-B63F-8923A2416A0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3" name="TextBox 24">
            <a:extLst>
              <a:ext uri="{FF2B5EF4-FFF2-40B4-BE49-F238E27FC236}">
                <a16:creationId xmlns:a16="http://schemas.microsoft.com/office/drawing/2014/main" id="{750DB351-C62C-4AE8-ADAE-13E2EF26B17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09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437D23-3D11-4BB7-ABA7-F060E80D3DAF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p.23~31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46CB4A-6174-4435-82BB-C2BF8EC2C04F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025BABE3-04F7-4473-AE5D-8187BA2BD562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22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목표기업 분석 보고서</a:t>
            </a:r>
            <a:endParaRPr lang="en-US" sz="48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17551" y="2664859"/>
            <a:ext cx="14636139" cy="702482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8D75B8B1-E5CB-4A37-936C-EB8978DDA723}"/>
              </a:ext>
            </a:extLst>
          </p:cNvPr>
          <p:cNvSpPr txBox="1"/>
          <p:nvPr/>
        </p:nvSpPr>
        <p:spPr>
          <a:xfrm>
            <a:off x="1600200" y="5502893"/>
            <a:ext cx="5708969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★ 제시된 양식 외 비전</a:t>
            </a:r>
            <a:r>
              <a:rPr lang="en-US" altLang="ko-KR" sz="2800" b="1" spc="-100" dirty="0">
                <a:solidFill>
                  <a:schemeClr val="tx2"/>
                </a:solidFill>
                <a:latin typeface="+mj-ea"/>
                <a:ea typeface="+mj-ea"/>
              </a:rPr>
              <a:t>/</a:t>
            </a: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경영이념</a:t>
            </a:r>
            <a:r>
              <a:rPr lang="en-US" altLang="ko-KR" sz="2800" b="1" spc="-100" dirty="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업종전망</a:t>
            </a:r>
            <a:r>
              <a:rPr lang="en-US" altLang="ko-KR" sz="2800" b="1" spc="-100" dirty="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주요고객</a:t>
            </a:r>
            <a:r>
              <a:rPr lang="en-US" altLang="ko-KR" sz="2800" b="1" spc="-100" dirty="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경쟁사</a:t>
            </a:r>
            <a:r>
              <a:rPr lang="en-US" altLang="ko-KR" sz="2800" b="1" spc="-100" dirty="0">
                <a:solidFill>
                  <a:schemeClr val="tx2"/>
                </a:solidFill>
                <a:latin typeface="+mj-ea"/>
                <a:ea typeface="+mj-ea"/>
              </a:rPr>
              <a:t>/</a:t>
            </a: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경쟁상품 등을 파악하여 작성하기</a:t>
            </a:r>
            <a:endParaRPr lang="en-US" sz="2800" b="1" i="0" u="none" strike="noStrike" spc="-1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p.32~34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049F76-4A70-4634-A7AD-0C1B9006F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571" y="3077113"/>
            <a:ext cx="6647229" cy="620031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B5118807-3448-443E-9DC1-F3A10044A4C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20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546</Words>
  <Application>Microsoft Office PowerPoint</Application>
  <PresentationFormat>사용자 지정</PresentationFormat>
  <Paragraphs>126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Arial</vt:lpstr>
      <vt:lpstr>굴림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147</cp:revision>
  <dcterms:created xsi:type="dcterms:W3CDTF">2006-08-16T00:00:00Z</dcterms:created>
  <dcterms:modified xsi:type="dcterms:W3CDTF">2026-03-03T06:51:21Z</dcterms:modified>
</cp:coreProperties>
</file>