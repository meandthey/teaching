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455" r:id="rId2"/>
    <p:sldId id="456" r:id="rId3"/>
    <p:sldId id="457" r:id="rId4"/>
    <p:sldId id="530" r:id="rId5"/>
    <p:sldId id="531" r:id="rId6"/>
    <p:sldId id="464" r:id="rId7"/>
    <p:sldId id="512" r:id="rId8"/>
  </p:sldIdLst>
  <p:sldSz cx="18288000" cy="10287000"/>
  <p:notesSz cx="6858000" cy="9144000"/>
  <p:embeddedFontLst>
    <p:embeddedFont>
      <p:font typeface="Gmarket Sans Medium" panose="020B0600000101010101" charset="-127"/>
      <p:regular r:id="rId10"/>
    </p:embeddedFont>
    <p:embeddedFont>
      <p:font typeface="나눔고딕" pitchFamily="2" charset="-127"/>
      <p:regular r:id="rId11"/>
      <p:bold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933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10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88717" y="7200900"/>
            <a:ext cx="89154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spc="-200" dirty="0">
                <a:solidFill>
                  <a:srgbClr val="505050"/>
                </a:solidFill>
                <a:latin typeface="+mj-ea"/>
                <a:ea typeface="+mj-ea"/>
              </a:rPr>
              <a:t>9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endParaRPr lang="en-US" altLang="ko-KR" sz="5400" b="1" spc="-200" dirty="0">
              <a:solidFill>
                <a:srgbClr val="505050"/>
              </a:solidFill>
              <a:latin typeface="+mj-ea"/>
              <a:ea typeface="+mj-ea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5400" b="1" spc="-200" dirty="0">
                <a:solidFill>
                  <a:srgbClr val="505050"/>
                </a:solidFill>
                <a:latin typeface="+mj-ea"/>
                <a:ea typeface="+mj-ea"/>
              </a:rPr>
              <a:t>비즈니스의 이해 및 역량강화</a:t>
            </a:r>
            <a:endParaRPr lang="ko-KR" sz="48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10286999" y="2867024"/>
            <a:ext cx="7994073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440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p.99</a:t>
            </a:r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FBD3F5F7-8E0E-40C1-BDB2-489C80FD054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758917" y="5281980"/>
            <a:ext cx="6997700" cy="12700"/>
          </a:xfrm>
          <a:prstGeom prst="rect">
            <a:avLst/>
          </a:prstGeom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6D4BB9DB-91EB-4059-982E-71857755C5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8917" y="4630648"/>
            <a:ext cx="1371600" cy="419100"/>
          </a:xfrm>
          <a:prstGeom prst="rect">
            <a:avLst/>
          </a:prstGeom>
        </p:spPr>
      </p:pic>
      <p:sp>
        <p:nvSpPr>
          <p:cNvPr id="21" name="TextBox 9">
            <a:extLst>
              <a:ext uri="{FF2B5EF4-FFF2-40B4-BE49-F238E27FC236}">
                <a16:creationId xmlns:a16="http://schemas.microsoft.com/office/drawing/2014/main" id="{5ACDCC49-0AA6-4E02-8D03-8591BBE5136C}"/>
              </a:ext>
            </a:extLst>
          </p:cNvPr>
          <p:cNvSpPr txBox="1"/>
          <p:nvPr/>
        </p:nvSpPr>
        <p:spPr>
          <a:xfrm>
            <a:off x="8460467" y="1699197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6D2C1AE9-A7E9-428F-A25A-042BAF14BC9A}"/>
              </a:ext>
            </a:extLst>
          </p:cNvPr>
          <p:cNvSpPr txBox="1"/>
          <p:nvPr/>
        </p:nvSpPr>
        <p:spPr>
          <a:xfrm>
            <a:off x="10384517" y="4541748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비즈니스의 꽃은 </a:t>
            </a:r>
            <a:r>
              <a:rPr lang="en-US" altLang="ko-KR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‘</a:t>
            </a: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영업</a:t>
            </a:r>
            <a:r>
              <a:rPr lang="en-US" altLang="ko-KR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’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FB5DD4B4-EA03-4924-9B73-9837A74C57CD}"/>
              </a:ext>
            </a:extLst>
          </p:cNvPr>
          <p:cNvSpPr txBox="1"/>
          <p:nvPr/>
        </p:nvSpPr>
        <p:spPr>
          <a:xfrm>
            <a:off x="8898617" y="4694148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BB80527-EEEC-41FE-9A05-0815C04BF11E}"/>
              </a:ext>
            </a:extLst>
          </p:cNvPr>
          <p:cNvSpPr txBox="1"/>
          <p:nvPr/>
        </p:nvSpPr>
        <p:spPr>
          <a:xfrm>
            <a:off x="8331538" y="3459243"/>
            <a:ext cx="9956461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742950" lvl="0" indent="-742950">
              <a:lnSpc>
                <a:spcPct val="99600"/>
              </a:lnSpc>
              <a:buAutoNum type="arabicPeriod"/>
            </a:pP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영업</a:t>
            </a: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(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영업관리</a:t>
            </a: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)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 직무 및 요구역량 탐색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pic>
        <p:nvPicPr>
          <p:cNvPr id="30" name="Picture 3">
            <a:extLst>
              <a:ext uri="{FF2B5EF4-FFF2-40B4-BE49-F238E27FC236}">
                <a16:creationId xmlns:a16="http://schemas.microsoft.com/office/drawing/2014/main" id="{708B87B2-A919-4BB9-9FF1-7E13A847996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793246" y="6199385"/>
            <a:ext cx="6997700" cy="12700"/>
          </a:xfrm>
          <a:prstGeom prst="rect">
            <a:avLst/>
          </a:prstGeom>
        </p:spPr>
      </p:pic>
      <p:pic>
        <p:nvPicPr>
          <p:cNvPr id="31" name="Picture 4">
            <a:extLst>
              <a:ext uri="{FF2B5EF4-FFF2-40B4-BE49-F238E27FC236}">
                <a16:creationId xmlns:a16="http://schemas.microsoft.com/office/drawing/2014/main" id="{53D3377E-E6D7-43D7-BA6F-A30FA046C3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3245" y="5548053"/>
            <a:ext cx="1371600" cy="419100"/>
          </a:xfrm>
          <a:prstGeom prst="rect">
            <a:avLst/>
          </a:prstGeom>
        </p:spPr>
      </p:pic>
      <p:sp>
        <p:nvSpPr>
          <p:cNvPr id="32" name="TextBox 10">
            <a:extLst>
              <a:ext uri="{FF2B5EF4-FFF2-40B4-BE49-F238E27FC236}">
                <a16:creationId xmlns:a16="http://schemas.microsoft.com/office/drawing/2014/main" id="{237FAAEB-07BA-4B27-8F82-D2B3C1EF7052}"/>
              </a:ext>
            </a:extLst>
          </p:cNvPr>
          <p:cNvSpPr txBox="1"/>
          <p:nvPr/>
        </p:nvSpPr>
        <p:spPr>
          <a:xfrm>
            <a:off x="10418845" y="5459153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영업</a:t>
            </a:r>
            <a:r>
              <a:rPr lang="en-US" altLang="ko-KR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(</a:t>
            </a: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영업관리</a:t>
            </a:r>
            <a:r>
              <a:rPr lang="en-US" altLang="ko-KR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) </a:t>
            </a: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직무 기본 탐색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3DCB58D3-726A-4E46-B5DC-6E7BC76C4BC8}"/>
              </a:ext>
            </a:extLst>
          </p:cNvPr>
          <p:cNvSpPr txBox="1"/>
          <p:nvPr/>
        </p:nvSpPr>
        <p:spPr>
          <a:xfrm>
            <a:off x="8932945" y="5611553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POINT.02</a:t>
            </a: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8F7FE328-68CC-492F-9F3E-38C15E0444A9}"/>
              </a:ext>
            </a:extLst>
          </p:cNvPr>
          <p:cNvSpPr txBox="1"/>
          <p:nvPr/>
        </p:nvSpPr>
        <p:spPr>
          <a:xfrm>
            <a:off x="8433243" y="6575415"/>
            <a:ext cx="9385300" cy="105184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4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2.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  비즈니스 매너 이해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pic>
        <p:nvPicPr>
          <p:cNvPr id="25" name="Picture 3">
            <a:extLst>
              <a:ext uri="{FF2B5EF4-FFF2-40B4-BE49-F238E27FC236}">
                <a16:creationId xmlns:a16="http://schemas.microsoft.com/office/drawing/2014/main" id="{41EFA1C7-3CC4-47F2-BF32-421C03B2DAC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738036" y="8365004"/>
            <a:ext cx="6997700" cy="12700"/>
          </a:xfrm>
          <a:prstGeom prst="rect">
            <a:avLst/>
          </a:prstGeom>
        </p:spPr>
      </p:pic>
      <p:pic>
        <p:nvPicPr>
          <p:cNvPr id="35" name="Picture 4">
            <a:extLst>
              <a:ext uri="{FF2B5EF4-FFF2-40B4-BE49-F238E27FC236}">
                <a16:creationId xmlns:a16="http://schemas.microsoft.com/office/drawing/2014/main" id="{159C4CB4-FC6B-4AC4-B073-CE4584C9A8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8036" y="7713672"/>
            <a:ext cx="1371600" cy="419100"/>
          </a:xfrm>
          <a:prstGeom prst="rect">
            <a:avLst/>
          </a:prstGeom>
        </p:spPr>
      </p:pic>
      <p:sp>
        <p:nvSpPr>
          <p:cNvPr id="36" name="TextBox 10">
            <a:extLst>
              <a:ext uri="{FF2B5EF4-FFF2-40B4-BE49-F238E27FC236}">
                <a16:creationId xmlns:a16="http://schemas.microsoft.com/office/drawing/2014/main" id="{7874CC2F-966F-4800-87D8-7A6860D58326}"/>
              </a:ext>
            </a:extLst>
          </p:cNvPr>
          <p:cNvSpPr txBox="1"/>
          <p:nvPr/>
        </p:nvSpPr>
        <p:spPr>
          <a:xfrm>
            <a:off x="10363636" y="7624772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비즈니스 매너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0ABFC724-1801-4DA7-A520-0B741C6F327C}"/>
              </a:ext>
            </a:extLst>
          </p:cNvPr>
          <p:cNvSpPr txBox="1"/>
          <p:nvPr/>
        </p:nvSpPr>
        <p:spPr>
          <a:xfrm>
            <a:off x="8877736" y="7777172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pic>
        <p:nvPicPr>
          <p:cNvPr id="38" name="Picture 3">
            <a:extLst>
              <a:ext uri="{FF2B5EF4-FFF2-40B4-BE49-F238E27FC236}">
                <a16:creationId xmlns:a16="http://schemas.microsoft.com/office/drawing/2014/main" id="{3A08697D-CDAC-41ED-B44C-EDFFFA86B90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772364" y="9282409"/>
            <a:ext cx="6997700" cy="12700"/>
          </a:xfrm>
          <a:prstGeom prst="rect">
            <a:avLst/>
          </a:prstGeom>
        </p:spPr>
      </p:pic>
      <p:pic>
        <p:nvPicPr>
          <p:cNvPr id="39" name="Picture 4">
            <a:extLst>
              <a:ext uri="{FF2B5EF4-FFF2-40B4-BE49-F238E27FC236}">
                <a16:creationId xmlns:a16="http://schemas.microsoft.com/office/drawing/2014/main" id="{E5D97CD2-4945-46DC-83E6-57871FAEF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2364" y="8631077"/>
            <a:ext cx="1371600" cy="419100"/>
          </a:xfrm>
          <a:prstGeom prst="rect">
            <a:avLst/>
          </a:prstGeom>
        </p:spPr>
      </p:pic>
      <p:sp>
        <p:nvSpPr>
          <p:cNvPr id="40" name="TextBox 10">
            <a:extLst>
              <a:ext uri="{FF2B5EF4-FFF2-40B4-BE49-F238E27FC236}">
                <a16:creationId xmlns:a16="http://schemas.microsoft.com/office/drawing/2014/main" id="{ACFBA783-7698-453B-831D-C0239579828E}"/>
              </a:ext>
            </a:extLst>
          </p:cNvPr>
          <p:cNvSpPr txBox="1"/>
          <p:nvPr/>
        </p:nvSpPr>
        <p:spPr>
          <a:xfrm>
            <a:off x="10397964" y="8542177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직장 매너 스스로 갖추기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1CAC2A9E-C9B6-4E03-AA1B-A8F8FADD54A8}"/>
              </a:ext>
            </a:extLst>
          </p:cNvPr>
          <p:cNvSpPr txBox="1"/>
          <p:nvPr/>
        </p:nvSpPr>
        <p:spPr>
          <a:xfrm>
            <a:off x="8912064" y="8694577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POINT.02</a:t>
            </a:r>
          </a:p>
        </p:txBody>
      </p:sp>
    </p:spTree>
    <p:extLst>
      <p:ext uri="{BB962C8B-B14F-4D97-AF65-F5344CB8AC3E}">
        <p14:creationId xmlns:p14="http://schemas.microsoft.com/office/powerpoint/2010/main" val="331057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24200" y="1006160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비즈니스의 꽃은 </a:t>
            </a:r>
            <a:r>
              <a:rPr lang="en-US" altLang="ko-KR" sz="6200" b="1" spc="-500" dirty="0">
                <a:solidFill>
                  <a:srgbClr val="505050"/>
                </a:solidFill>
                <a:latin typeface="Gmarket Sans Medium"/>
              </a:rPr>
              <a:t>‘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영업</a:t>
            </a:r>
            <a:r>
              <a:rPr lang="en-US" altLang="ko-KR" sz="6200" b="1" spc="-500" dirty="0">
                <a:solidFill>
                  <a:srgbClr val="505050"/>
                </a:solidFill>
                <a:latin typeface="Gmarket Sans Medium"/>
              </a:rPr>
              <a:t>’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7" name="Picture 20">
            <a:extLst>
              <a:ext uri="{FF2B5EF4-FFF2-40B4-BE49-F238E27FC236}">
                <a16:creationId xmlns:a16="http://schemas.microsoft.com/office/drawing/2014/main" id="{581E111A-60B0-4F08-8021-25FC9495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1" name="TextBox 24">
            <a:extLst>
              <a:ext uri="{FF2B5EF4-FFF2-40B4-BE49-F238E27FC236}">
                <a16:creationId xmlns:a16="http://schemas.microsoft.com/office/drawing/2014/main" id="{0D59A901-6463-4687-9715-4D43C24F5E45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3BA2F72-70FA-4245-B673-0C42FECADA68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C00D09-46DD-4131-BDED-6019AD2050B0}"/>
              </a:ext>
            </a:extLst>
          </p:cNvPr>
          <p:cNvSpPr/>
          <p:nvPr/>
        </p:nvSpPr>
        <p:spPr>
          <a:xfrm>
            <a:off x="15716851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p.110</a:t>
            </a:r>
          </a:p>
        </p:txBody>
      </p:sp>
      <p:pic>
        <p:nvPicPr>
          <p:cNvPr id="34" name="Google Shape;85;p13" descr="image.png">
            <a:extLst>
              <a:ext uri="{FF2B5EF4-FFF2-40B4-BE49-F238E27FC236}">
                <a16:creationId xmlns:a16="http://schemas.microsoft.com/office/drawing/2014/main" id="{6278B8C5-F746-4A05-9C6E-DCE2763CA9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2876550"/>
            <a:ext cx="7058025" cy="665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86;p13" descr="image.png">
            <a:extLst>
              <a:ext uri="{FF2B5EF4-FFF2-40B4-BE49-F238E27FC236}">
                <a16:creationId xmlns:a16="http://schemas.microsoft.com/office/drawing/2014/main" id="{5010934D-ACFB-4778-84A4-F2C09EDA1B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43900" y="2876550"/>
            <a:ext cx="9086850" cy="1882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87;p13" descr="image.png">
            <a:extLst>
              <a:ext uri="{FF2B5EF4-FFF2-40B4-BE49-F238E27FC236}">
                <a16:creationId xmlns:a16="http://schemas.microsoft.com/office/drawing/2014/main" id="{A088608A-9C79-43EA-B868-2F8544502CE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43900" y="5264124"/>
            <a:ext cx="9086850" cy="1882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88;p13" descr="image.png">
            <a:extLst>
              <a:ext uri="{FF2B5EF4-FFF2-40B4-BE49-F238E27FC236}">
                <a16:creationId xmlns:a16="http://schemas.microsoft.com/office/drawing/2014/main" id="{DA5D733E-99AD-434E-976E-1CFF4FCC79C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43900" y="7651700"/>
            <a:ext cx="9086850" cy="1882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91;p13" descr="image.png">
            <a:extLst>
              <a:ext uri="{FF2B5EF4-FFF2-40B4-BE49-F238E27FC236}">
                <a16:creationId xmlns:a16="http://schemas.microsoft.com/office/drawing/2014/main" id="{7BC04E65-9DCA-47E2-BAC7-D4AECDB6060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57313" y="3614142"/>
            <a:ext cx="60579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92;p13">
            <a:extLst>
              <a:ext uri="{FF2B5EF4-FFF2-40B4-BE49-F238E27FC236}">
                <a16:creationId xmlns:a16="http://schemas.microsoft.com/office/drawing/2014/main" id="{25F1CC39-BEF5-4D9D-B377-187D84341120}"/>
              </a:ext>
            </a:extLst>
          </p:cNvPr>
          <p:cNvSpPr txBox="1"/>
          <p:nvPr/>
        </p:nvSpPr>
        <p:spPr>
          <a:xfrm>
            <a:off x="1357313" y="4471393"/>
            <a:ext cx="6360795" cy="126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9952"/>
              </a:lnSpc>
            </a:pPr>
            <a:r>
              <a:rPr lang="en-US" sz="3150" b="1" dirty="0" err="1">
                <a:solidFill>
                  <a:srgbClr val="FFFFFF"/>
                </a:solidFill>
                <a:latin typeface="+mj-ea"/>
                <a:ea typeface="+mj-ea"/>
                <a:cs typeface="Arial"/>
                <a:sym typeface="Arial"/>
              </a:rPr>
              <a:t>비즈니스의</a:t>
            </a:r>
            <a:r>
              <a:rPr lang="en-US" sz="3150" b="1" dirty="0">
                <a:solidFill>
                  <a:srgbClr val="FFFFFF"/>
                </a:solidFill>
                <a:latin typeface="+mj-ea"/>
                <a:ea typeface="+mj-ea"/>
                <a:cs typeface="Arial"/>
                <a:sym typeface="Arial"/>
              </a:rPr>
              <a:t> 꽃,</a:t>
            </a:r>
            <a:br>
              <a:rPr lang="en-US" sz="2700" b="1" dirty="0">
                <a:solidFill>
                  <a:schemeClr val="dk1"/>
                </a:solidFill>
                <a:latin typeface="+mj-ea"/>
                <a:ea typeface="+mj-ea"/>
                <a:cs typeface="Calibri"/>
                <a:sym typeface="Calibri"/>
              </a:rPr>
            </a:br>
            <a:r>
              <a:rPr lang="en-US" sz="3150" b="1" dirty="0">
                <a:solidFill>
                  <a:srgbClr val="FFFFFF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3150" b="1" dirty="0" err="1">
                <a:solidFill>
                  <a:srgbClr val="FFFFFF"/>
                </a:solidFill>
                <a:latin typeface="+mj-ea"/>
                <a:ea typeface="+mj-ea"/>
                <a:cs typeface="Arial"/>
                <a:sym typeface="Arial"/>
              </a:rPr>
              <a:t>영업의</a:t>
            </a:r>
            <a:r>
              <a:rPr lang="en-US" sz="3150" b="1" dirty="0">
                <a:solidFill>
                  <a:srgbClr val="FFFFFF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3150" b="1" dirty="0" err="1">
                <a:solidFill>
                  <a:srgbClr val="FFFFFF"/>
                </a:solidFill>
                <a:latin typeface="+mj-ea"/>
                <a:ea typeface="+mj-ea"/>
                <a:cs typeface="Arial"/>
                <a:sym typeface="Arial"/>
              </a:rPr>
              <a:t>본질과</a:t>
            </a:r>
            <a:r>
              <a:rPr lang="en-US" sz="3150" b="1" dirty="0">
                <a:solidFill>
                  <a:srgbClr val="FFFFFF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3150" b="1" dirty="0" err="1">
                <a:solidFill>
                  <a:srgbClr val="FFFFFF"/>
                </a:solidFill>
                <a:latin typeface="+mj-ea"/>
                <a:ea typeface="+mj-ea"/>
                <a:cs typeface="Arial"/>
                <a:sym typeface="Arial"/>
              </a:rPr>
              <a:t>역량</a:t>
            </a:r>
            <a:endParaRPr sz="2700" b="1" dirty="0">
              <a:latin typeface="+mj-ea"/>
              <a:ea typeface="+mj-ea"/>
            </a:endParaRPr>
          </a:p>
        </p:txBody>
      </p:sp>
      <p:sp>
        <p:nvSpPr>
          <p:cNvPr id="43" name="Google Shape;93;p13">
            <a:extLst>
              <a:ext uri="{FF2B5EF4-FFF2-40B4-BE49-F238E27FC236}">
                <a16:creationId xmlns:a16="http://schemas.microsoft.com/office/drawing/2014/main" id="{7CCACCF7-4AC0-4874-AF4C-EF53D3DAB975}"/>
              </a:ext>
            </a:extLst>
          </p:cNvPr>
          <p:cNvSpPr txBox="1"/>
          <p:nvPr/>
        </p:nvSpPr>
        <p:spPr>
          <a:xfrm>
            <a:off x="1614488" y="5797004"/>
            <a:ext cx="580072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b="1" dirty="0" err="1">
                <a:solidFill>
                  <a:srgbClr val="F8FAFC"/>
                </a:solidFill>
                <a:latin typeface="+mj-ea"/>
                <a:ea typeface="+mj-ea"/>
                <a:cs typeface="Arial"/>
                <a:sym typeface="Arial"/>
              </a:rPr>
              <a:t>고객</a:t>
            </a:r>
            <a:r>
              <a:rPr lang="en-US" b="1" dirty="0">
                <a:solidFill>
                  <a:srgbClr val="F8FAFC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F8FAFC"/>
                </a:solidFill>
                <a:latin typeface="+mj-ea"/>
                <a:ea typeface="+mj-ea"/>
                <a:cs typeface="Arial"/>
                <a:sym typeface="Arial"/>
              </a:rPr>
              <a:t>니즈</a:t>
            </a:r>
            <a:r>
              <a:rPr lang="en-US" b="1" dirty="0">
                <a:solidFill>
                  <a:srgbClr val="F8FAFC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F8FAFC"/>
                </a:solidFill>
                <a:latin typeface="+mj-ea"/>
                <a:ea typeface="+mj-ea"/>
                <a:cs typeface="Arial"/>
                <a:sym typeface="Arial"/>
              </a:rPr>
              <a:t>파악</a:t>
            </a:r>
            <a:r>
              <a:rPr lang="en-US" b="1" dirty="0">
                <a:solidFill>
                  <a:srgbClr val="F8FAFC"/>
                </a:solidFill>
                <a:latin typeface="+mj-ea"/>
                <a:ea typeface="+mj-ea"/>
                <a:cs typeface="Arial"/>
                <a:sym typeface="Arial"/>
              </a:rPr>
              <a:t> 및</a:t>
            </a:r>
            <a:endParaRPr sz="2700" b="1" dirty="0">
              <a:latin typeface="+mj-ea"/>
              <a:ea typeface="+mj-ea"/>
            </a:endParaRPr>
          </a:p>
        </p:txBody>
      </p:sp>
      <p:sp>
        <p:nvSpPr>
          <p:cNvPr id="44" name="Google Shape;94;p13">
            <a:extLst>
              <a:ext uri="{FF2B5EF4-FFF2-40B4-BE49-F238E27FC236}">
                <a16:creationId xmlns:a16="http://schemas.microsoft.com/office/drawing/2014/main" id="{BE7452B2-1718-473F-91C2-9ADA1DC3AF60}"/>
              </a:ext>
            </a:extLst>
          </p:cNvPr>
          <p:cNvSpPr txBox="1"/>
          <p:nvPr/>
        </p:nvSpPr>
        <p:spPr>
          <a:xfrm>
            <a:off x="1614488" y="6431235"/>
            <a:ext cx="580072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b="1">
                <a:solidFill>
                  <a:srgbClr val="F8FAFC"/>
                </a:solidFill>
                <a:latin typeface="+mj-ea"/>
                <a:ea typeface="+mj-ea"/>
                <a:cs typeface="Arial"/>
                <a:sym typeface="Arial"/>
              </a:rPr>
              <a:t>기업 전체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45" name="Google Shape;95;p13">
            <a:extLst>
              <a:ext uri="{FF2B5EF4-FFF2-40B4-BE49-F238E27FC236}">
                <a16:creationId xmlns:a16="http://schemas.microsoft.com/office/drawing/2014/main" id="{ADCD3C89-D9ED-49EF-B469-58E40E2D44D5}"/>
              </a:ext>
            </a:extLst>
          </p:cNvPr>
          <p:cNvSpPr txBox="1"/>
          <p:nvPr/>
        </p:nvSpPr>
        <p:spPr>
          <a:xfrm>
            <a:off x="1614488" y="7065465"/>
            <a:ext cx="580072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b="1">
                <a:solidFill>
                  <a:srgbClr val="F8FAFC"/>
                </a:solidFill>
                <a:latin typeface="+mj-ea"/>
                <a:ea typeface="+mj-ea"/>
                <a:cs typeface="Arial"/>
                <a:sym typeface="Arial"/>
              </a:rPr>
              <a:t>단순 판매 너머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68" name="Google Shape;96;p13">
            <a:extLst>
              <a:ext uri="{FF2B5EF4-FFF2-40B4-BE49-F238E27FC236}">
                <a16:creationId xmlns:a16="http://schemas.microsoft.com/office/drawing/2014/main" id="{16D0ED11-CD09-4D18-BE92-84C9570F54F6}"/>
              </a:ext>
            </a:extLst>
          </p:cNvPr>
          <p:cNvSpPr txBox="1"/>
          <p:nvPr/>
        </p:nvSpPr>
        <p:spPr>
          <a:xfrm>
            <a:off x="1614488" y="7699697"/>
            <a:ext cx="580072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b="1">
                <a:solidFill>
                  <a:srgbClr val="F8FAFC"/>
                </a:solidFill>
                <a:latin typeface="+mj-ea"/>
                <a:ea typeface="+mj-ea"/>
                <a:cs typeface="Arial"/>
                <a:sym typeface="Arial"/>
              </a:rPr>
              <a:t>돌발상황 대처를 위한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69" name="Google Shape;97;p13">
            <a:extLst>
              <a:ext uri="{FF2B5EF4-FFF2-40B4-BE49-F238E27FC236}">
                <a16:creationId xmlns:a16="http://schemas.microsoft.com/office/drawing/2014/main" id="{3C01A0CC-E654-4375-A777-E1293CFF1E6D}"/>
              </a:ext>
            </a:extLst>
          </p:cNvPr>
          <p:cNvSpPr txBox="1"/>
          <p:nvPr/>
        </p:nvSpPr>
        <p:spPr>
          <a:xfrm>
            <a:off x="1614488" y="8333928"/>
            <a:ext cx="580072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b="1">
                <a:solidFill>
                  <a:srgbClr val="F8FAFC"/>
                </a:solidFill>
                <a:latin typeface="+mj-ea"/>
                <a:ea typeface="+mj-ea"/>
                <a:cs typeface="Arial"/>
                <a:sym typeface="Arial"/>
              </a:rPr>
              <a:t>거절을 극복하는</a:t>
            </a:r>
            <a:endParaRPr sz="2700" b="1">
              <a:latin typeface="+mj-ea"/>
              <a:ea typeface="+mj-ea"/>
            </a:endParaRPr>
          </a:p>
        </p:txBody>
      </p:sp>
      <p:pic>
        <p:nvPicPr>
          <p:cNvPr id="70" name="Google Shape;98;p13" descr="image.png">
            <a:extLst>
              <a:ext uri="{FF2B5EF4-FFF2-40B4-BE49-F238E27FC236}">
                <a16:creationId xmlns:a16="http://schemas.microsoft.com/office/drawing/2014/main" id="{8FFDD5CE-860F-464C-A55B-9F93ACE9862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58250" y="3389337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99;p13" descr="image.png">
            <a:extLst>
              <a:ext uri="{FF2B5EF4-FFF2-40B4-BE49-F238E27FC236}">
                <a16:creationId xmlns:a16="http://schemas.microsoft.com/office/drawing/2014/main" id="{DFD251D9-F52D-4475-A8B5-BDC2CC24A01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58250" y="5776913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100;p13" descr="image.png">
            <a:extLst>
              <a:ext uri="{FF2B5EF4-FFF2-40B4-BE49-F238E27FC236}">
                <a16:creationId xmlns:a16="http://schemas.microsoft.com/office/drawing/2014/main" id="{5013094C-684B-455A-B0CD-A2DFD9D1401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58250" y="81644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101;p13">
            <a:extLst>
              <a:ext uri="{FF2B5EF4-FFF2-40B4-BE49-F238E27FC236}">
                <a16:creationId xmlns:a16="http://schemas.microsoft.com/office/drawing/2014/main" id="{34EA9836-4B0C-406C-A6ED-B32F20852372}"/>
              </a:ext>
            </a:extLst>
          </p:cNvPr>
          <p:cNvSpPr txBox="1"/>
          <p:nvPr/>
        </p:nvSpPr>
        <p:spPr>
          <a:xfrm>
            <a:off x="1357313" y="5854154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 b="1">
                <a:solidFill>
                  <a:srgbClr val="60A5FA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 b="1">
              <a:latin typeface="+mj-ea"/>
              <a:ea typeface="+mj-ea"/>
            </a:endParaRPr>
          </a:p>
        </p:txBody>
      </p:sp>
      <p:pic>
        <p:nvPicPr>
          <p:cNvPr id="74" name="Google Shape;102;p13" descr="image.png">
            <a:extLst>
              <a:ext uri="{FF2B5EF4-FFF2-40B4-BE49-F238E27FC236}">
                <a16:creationId xmlns:a16="http://schemas.microsoft.com/office/drawing/2014/main" id="{FB1546A0-5665-43AF-AF87-1117A8EFADA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68737" y="5825579"/>
            <a:ext cx="187010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103;p13">
            <a:extLst>
              <a:ext uri="{FF2B5EF4-FFF2-40B4-BE49-F238E27FC236}">
                <a16:creationId xmlns:a16="http://schemas.microsoft.com/office/drawing/2014/main" id="{79E4368D-E86F-4918-96F5-496EE89ED4B4}"/>
              </a:ext>
            </a:extLst>
          </p:cNvPr>
          <p:cNvSpPr txBox="1"/>
          <p:nvPr/>
        </p:nvSpPr>
        <p:spPr>
          <a:xfrm>
            <a:off x="1357313" y="6488386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 b="1">
                <a:solidFill>
                  <a:srgbClr val="60A5FA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 b="1">
              <a:latin typeface="+mj-ea"/>
              <a:ea typeface="+mj-ea"/>
            </a:endParaRPr>
          </a:p>
        </p:txBody>
      </p:sp>
      <p:pic>
        <p:nvPicPr>
          <p:cNvPr id="76" name="Google Shape;104;p13" descr="image.png">
            <a:extLst>
              <a:ext uri="{FF2B5EF4-FFF2-40B4-BE49-F238E27FC236}">
                <a16:creationId xmlns:a16="http://schemas.microsoft.com/office/drawing/2014/main" id="{0CCA7028-8761-44AA-9820-FA076369828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655912" y="6459811"/>
            <a:ext cx="2975148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105;p13">
            <a:extLst>
              <a:ext uri="{FF2B5EF4-FFF2-40B4-BE49-F238E27FC236}">
                <a16:creationId xmlns:a16="http://schemas.microsoft.com/office/drawing/2014/main" id="{F94F4854-3BA1-42F8-890E-02A76C16B8CB}"/>
              </a:ext>
            </a:extLst>
          </p:cNvPr>
          <p:cNvSpPr txBox="1"/>
          <p:nvPr/>
        </p:nvSpPr>
        <p:spPr>
          <a:xfrm>
            <a:off x="1357313" y="7122616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 b="1">
                <a:solidFill>
                  <a:srgbClr val="60A5FA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 b="1">
              <a:latin typeface="+mj-ea"/>
              <a:ea typeface="+mj-ea"/>
            </a:endParaRPr>
          </a:p>
        </p:txBody>
      </p:sp>
      <p:pic>
        <p:nvPicPr>
          <p:cNvPr id="78" name="Google Shape;106;p13" descr="image.png">
            <a:extLst>
              <a:ext uri="{FF2B5EF4-FFF2-40B4-BE49-F238E27FC236}">
                <a16:creationId xmlns:a16="http://schemas.microsoft.com/office/drawing/2014/main" id="{7F945AEA-8401-4414-BED0-35E10DD94CA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176737" y="7094041"/>
            <a:ext cx="232730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107;p13">
            <a:extLst>
              <a:ext uri="{FF2B5EF4-FFF2-40B4-BE49-F238E27FC236}">
                <a16:creationId xmlns:a16="http://schemas.microsoft.com/office/drawing/2014/main" id="{403E95BA-2E58-45E8-9A39-665CE2CFF024}"/>
              </a:ext>
            </a:extLst>
          </p:cNvPr>
          <p:cNvSpPr txBox="1"/>
          <p:nvPr/>
        </p:nvSpPr>
        <p:spPr>
          <a:xfrm>
            <a:off x="1357313" y="7756847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 b="1">
                <a:solidFill>
                  <a:srgbClr val="60A5FA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 b="1">
              <a:latin typeface="+mj-ea"/>
              <a:ea typeface="+mj-ea"/>
            </a:endParaRPr>
          </a:p>
        </p:txBody>
      </p:sp>
      <p:pic>
        <p:nvPicPr>
          <p:cNvPr id="80" name="Google Shape;108;p13" descr="image.png">
            <a:extLst>
              <a:ext uri="{FF2B5EF4-FFF2-40B4-BE49-F238E27FC236}">
                <a16:creationId xmlns:a16="http://schemas.microsoft.com/office/drawing/2014/main" id="{4133E704-920E-4428-8185-8053E6D2E96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862537" y="7728272"/>
            <a:ext cx="2390924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109;p13">
            <a:extLst>
              <a:ext uri="{FF2B5EF4-FFF2-40B4-BE49-F238E27FC236}">
                <a16:creationId xmlns:a16="http://schemas.microsoft.com/office/drawing/2014/main" id="{84D76393-0606-4808-95C1-919565F480BE}"/>
              </a:ext>
            </a:extLst>
          </p:cNvPr>
          <p:cNvSpPr txBox="1"/>
          <p:nvPr/>
        </p:nvSpPr>
        <p:spPr>
          <a:xfrm>
            <a:off x="1357313" y="8391079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 b="1">
                <a:solidFill>
                  <a:srgbClr val="60A5FA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 b="1">
              <a:latin typeface="+mj-ea"/>
              <a:ea typeface="+mj-ea"/>
            </a:endParaRPr>
          </a:p>
        </p:txBody>
      </p:sp>
      <p:pic>
        <p:nvPicPr>
          <p:cNvPr id="82" name="Google Shape;110;p13" descr="image.png">
            <a:extLst>
              <a:ext uri="{FF2B5EF4-FFF2-40B4-BE49-F238E27FC236}">
                <a16:creationId xmlns:a16="http://schemas.microsoft.com/office/drawing/2014/main" id="{7DE495B8-0802-42F8-B2BB-13896CAE6C54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341713" y="8362504"/>
            <a:ext cx="2327300" cy="242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111;p13" descr="image.png">
            <a:extLst>
              <a:ext uri="{FF2B5EF4-FFF2-40B4-BE49-F238E27FC236}">
                <a16:creationId xmlns:a16="http://schemas.microsoft.com/office/drawing/2014/main" id="{92498E52-EA9C-4737-9994-D2C58BB25530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108281" y="3617937"/>
            <a:ext cx="357188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112;p13">
            <a:extLst>
              <a:ext uri="{FF2B5EF4-FFF2-40B4-BE49-F238E27FC236}">
                <a16:creationId xmlns:a16="http://schemas.microsoft.com/office/drawing/2014/main" id="{3271385C-79D0-4735-AED4-28F0B4CC4D22}"/>
              </a:ext>
            </a:extLst>
          </p:cNvPr>
          <p:cNvSpPr txBox="1"/>
          <p:nvPr/>
        </p:nvSpPr>
        <p:spPr>
          <a:xfrm>
            <a:off x="10072688" y="3248026"/>
            <a:ext cx="6120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1. 영업 기획 (Planning)</a:t>
            </a:r>
            <a:endParaRPr sz="2800">
              <a:latin typeface="+mj-ea"/>
              <a:ea typeface="+mj-ea"/>
            </a:endParaRPr>
          </a:p>
        </p:txBody>
      </p:sp>
      <p:sp>
        <p:nvSpPr>
          <p:cNvPr id="85" name="Google Shape;113;p13">
            <a:extLst>
              <a:ext uri="{FF2B5EF4-FFF2-40B4-BE49-F238E27FC236}">
                <a16:creationId xmlns:a16="http://schemas.microsoft.com/office/drawing/2014/main" id="{D8494702-67ED-42EC-84CF-851DC2D6C2F6}"/>
              </a:ext>
            </a:extLst>
          </p:cNvPr>
          <p:cNvSpPr txBox="1"/>
          <p:nvPr/>
        </p:nvSpPr>
        <p:spPr>
          <a:xfrm>
            <a:off x="10072687" y="3748088"/>
            <a:ext cx="6857999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3277"/>
              </a:lnSpc>
            </a:pP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대내외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경영환경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분석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바탕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사업</a:t>
            </a:r>
            <a:r>
              <a:rPr lang="en-US" sz="2000" b="1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방향성</a:t>
            </a:r>
            <a:r>
              <a:rPr lang="en-US" sz="2000" b="1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sz="2000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목표</a:t>
            </a:r>
            <a:r>
              <a:rPr lang="en-US" sz="2000" b="1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수립</a:t>
            </a:r>
            <a:br>
              <a:rPr lang="en-US" sz="2800" dirty="0">
                <a:solidFill>
                  <a:schemeClr val="dk1"/>
                </a:solidFill>
                <a:latin typeface="+mj-ea"/>
                <a:ea typeface="+mj-ea"/>
                <a:cs typeface="Calibri"/>
                <a:sym typeface="Calibri"/>
              </a:rPr>
            </a:b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효과적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영업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관리를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위한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세일즈</a:t>
            </a:r>
            <a:r>
              <a:rPr lang="en-US" sz="2000" b="1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정책</a:t>
            </a:r>
            <a:r>
              <a:rPr lang="en-US" sz="2000" b="1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sz="2000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위기</a:t>
            </a:r>
            <a:r>
              <a:rPr lang="en-US" sz="2000" b="1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대응책</a:t>
            </a:r>
            <a:r>
              <a:rPr lang="en-US" sz="2000" b="1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기획</a:t>
            </a:r>
            <a:endParaRPr sz="2800" dirty="0">
              <a:latin typeface="+mj-ea"/>
              <a:ea typeface="+mj-ea"/>
            </a:endParaRPr>
          </a:p>
        </p:txBody>
      </p:sp>
      <p:pic>
        <p:nvPicPr>
          <p:cNvPr id="86" name="Google Shape;114;p13" descr="image.png">
            <a:extLst>
              <a:ext uri="{FF2B5EF4-FFF2-40B4-BE49-F238E27FC236}">
                <a16:creationId xmlns:a16="http://schemas.microsoft.com/office/drawing/2014/main" id="{7BA42DBB-561A-42D1-9BD5-B0C4A43A68BD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086850" y="6005513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115;p13">
            <a:extLst>
              <a:ext uri="{FF2B5EF4-FFF2-40B4-BE49-F238E27FC236}">
                <a16:creationId xmlns:a16="http://schemas.microsoft.com/office/drawing/2014/main" id="{34E31123-F2DF-4915-A672-A0312BA2AACF}"/>
              </a:ext>
            </a:extLst>
          </p:cNvPr>
          <p:cNvSpPr txBox="1"/>
          <p:nvPr/>
        </p:nvSpPr>
        <p:spPr>
          <a:xfrm>
            <a:off x="10072688" y="5635600"/>
            <a:ext cx="64944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2. 영업 관리 (Management)</a:t>
            </a:r>
            <a:endParaRPr sz="2800">
              <a:latin typeface="+mj-ea"/>
              <a:ea typeface="+mj-ea"/>
            </a:endParaRPr>
          </a:p>
        </p:txBody>
      </p:sp>
      <p:sp>
        <p:nvSpPr>
          <p:cNvPr id="88" name="Google Shape;116;p13">
            <a:extLst>
              <a:ext uri="{FF2B5EF4-FFF2-40B4-BE49-F238E27FC236}">
                <a16:creationId xmlns:a16="http://schemas.microsoft.com/office/drawing/2014/main" id="{3F309EBF-30D8-41CF-BAD7-68A235478DC6}"/>
              </a:ext>
            </a:extLst>
          </p:cNvPr>
          <p:cNvSpPr txBox="1"/>
          <p:nvPr/>
        </p:nvSpPr>
        <p:spPr>
          <a:xfrm>
            <a:off x="10072687" y="6135662"/>
            <a:ext cx="7276367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3277"/>
              </a:lnSpc>
            </a:pPr>
            <a:r>
              <a:rPr lang="en-US" sz="200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수립된 계획 기반 </a:t>
            </a:r>
            <a:r>
              <a:rPr lang="en-US" sz="2000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실제 프로모션 실행 및 거래처 관리</a:t>
            </a:r>
            <a:br>
              <a:rPr lang="en-US" sz="2800">
                <a:solidFill>
                  <a:schemeClr val="dk1"/>
                </a:solidFill>
                <a:latin typeface="+mj-ea"/>
                <a:ea typeface="+mj-ea"/>
                <a:cs typeface="Calibri"/>
                <a:sym typeface="Calibri"/>
              </a:rPr>
            </a:br>
            <a:r>
              <a:rPr lang="en-US" sz="200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매출 현황, 성장률 분석 통한 </a:t>
            </a:r>
            <a:r>
              <a:rPr lang="en-US" sz="2000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목표 달성률 극대화 및 실적 결산</a:t>
            </a:r>
            <a:endParaRPr sz="2800">
              <a:latin typeface="+mj-ea"/>
              <a:ea typeface="+mj-ea"/>
            </a:endParaRPr>
          </a:p>
        </p:txBody>
      </p:sp>
      <p:pic>
        <p:nvPicPr>
          <p:cNvPr id="89" name="Google Shape;117;p13" descr="image.png">
            <a:extLst>
              <a:ext uri="{FF2B5EF4-FFF2-40B4-BE49-F238E27FC236}">
                <a16:creationId xmlns:a16="http://schemas.microsoft.com/office/drawing/2014/main" id="{683FB55D-1B0A-40A3-9D2B-64BAE9A3DE3E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086850" y="8393087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118;p13">
            <a:extLst>
              <a:ext uri="{FF2B5EF4-FFF2-40B4-BE49-F238E27FC236}">
                <a16:creationId xmlns:a16="http://schemas.microsoft.com/office/drawing/2014/main" id="{A906E5EE-C5C0-4B21-BB9F-EA1B2FB825CE}"/>
              </a:ext>
            </a:extLst>
          </p:cNvPr>
          <p:cNvSpPr txBox="1"/>
          <p:nvPr/>
        </p:nvSpPr>
        <p:spPr>
          <a:xfrm>
            <a:off x="10072688" y="8023175"/>
            <a:ext cx="6387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3. 영업 지원 (Support)</a:t>
            </a:r>
            <a:endParaRPr sz="2800">
              <a:latin typeface="+mj-ea"/>
              <a:ea typeface="+mj-ea"/>
            </a:endParaRPr>
          </a:p>
        </p:txBody>
      </p:sp>
      <p:sp>
        <p:nvSpPr>
          <p:cNvPr id="91" name="Google Shape;119;p13">
            <a:extLst>
              <a:ext uri="{FF2B5EF4-FFF2-40B4-BE49-F238E27FC236}">
                <a16:creationId xmlns:a16="http://schemas.microsoft.com/office/drawing/2014/main" id="{75AED6DE-F6DF-4C37-A5BB-BA9A20612D2A}"/>
              </a:ext>
            </a:extLst>
          </p:cNvPr>
          <p:cNvSpPr txBox="1"/>
          <p:nvPr/>
        </p:nvSpPr>
        <p:spPr>
          <a:xfrm>
            <a:off x="10072688" y="8523238"/>
            <a:ext cx="7156871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3277"/>
              </a:lnSpc>
            </a:pPr>
            <a:r>
              <a:rPr lang="en-US" sz="200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표준화된 관리 체제 구축 바탕 </a:t>
            </a:r>
            <a:r>
              <a:rPr lang="en-US" sz="2000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일선 영업 활동 후방 지원</a:t>
            </a:r>
            <a:br>
              <a:rPr lang="en-US" sz="2800">
                <a:solidFill>
                  <a:schemeClr val="dk1"/>
                </a:solidFill>
                <a:latin typeface="+mj-ea"/>
                <a:ea typeface="+mj-ea"/>
                <a:cs typeface="Calibri"/>
                <a:sym typeface="Calibri"/>
              </a:rPr>
            </a:br>
            <a:r>
              <a:rPr lang="en-US" sz="200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수금 실적, 지출, 이윤 집계 등 </a:t>
            </a:r>
            <a:r>
              <a:rPr lang="en-US" sz="2000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회계 및 계약서 통합 관리 수행</a:t>
            </a:r>
            <a:endParaRPr sz="2800">
              <a:latin typeface="+mj-ea"/>
              <a:ea typeface="+mj-ea"/>
            </a:endParaRPr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B7B30214-AF2F-4CA4-8BA9-1AFBC79C92B9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5025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0" y="956921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이공계 기술영업 알아보기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7" name="Picture 20">
            <a:extLst>
              <a:ext uri="{FF2B5EF4-FFF2-40B4-BE49-F238E27FC236}">
                <a16:creationId xmlns:a16="http://schemas.microsoft.com/office/drawing/2014/main" id="{581E111A-60B0-4F08-8021-25FC9495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1" name="TextBox 24">
            <a:extLst>
              <a:ext uri="{FF2B5EF4-FFF2-40B4-BE49-F238E27FC236}">
                <a16:creationId xmlns:a16="http://schemas.microsoft.com/office/drawing/2014/main" id="{0D59A901-6463-4687-9715-4D43C24F5E45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02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3BA2F72-70FA-4245-B673-0C42FECADA68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C00D09-46DD-4131-BDED-6019AD2050B0}"/>
              </a:ext>
            </a:extLst>
          </p:cNvPr>
          <p:cNvSpPr/>
          <p:nvPr/>
        </p:nvSpPr>
        <p:spPr>
          <a:xfrm>
            <a:off x="15150991" y="9632434"/>
            <a:ext cx="2582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p.112~113</a:t>
            </a:r>
          </a:p>
        </p:txBody>
      </p:sp>
      <p:pic>
        <p:nvPicPr>
          <p:cNvPr id="41" name="Google Shape;125;p14" descr="image.png">
            <a:extLst>
              <a:ext uri="{FF2B5EF4-FFF2-40B4-BE49-F238E27FC236}">
                <a16:creationId xmlns:a16="http://schemas.microsoft.com/office/drawing/2014/main" id="{9C0E3A97-FAA6-4BFB-BC72-F68FF586D2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2743201"/>
            <a:ext cx="16573500" cy="1414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126;p14" descr="image.png">
            <a:extLst>
              <a:ext uri="{FF2B5EF4-FFF2-40B4-BE49-F238E27FC236}">
                <a16:creationId xmlns:a16="http://schemas.microsoft.com/office/drawing/2014/main" id="{E62C1A11-571E-49C9-A9F0-6F45CD2802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8373889"/>
            <a:ext cx="168211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127;p14" descr="image.png">
            <a:extLst>
              <a:ext uri="{FF2B5EF4-FFF2-40B4-BE49-F238E27FC236}">
                <a16:creationId xmlns:a16="http://schemas.microsoft.com/office/drawing/2014/main" id="{72A02617-396B-4A04-B796-4F81CB81A1A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52725" y="3019426"/>
            <a:ext cx="2838747" cy="814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128;p14" descr="image.png">
            <a:extLst>
              <a:ext uri="{FF2B5EF4-FFF2-40B4-BE49-F238E27FC236}">
                <a16:creationId xmlns:a16="http://schemas.microsoft.com/office/drawing/2014/main" id="{DD1DF348-7844-4833-8B25-D9145610F0B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34449" y="3019426"/>
            <a:ext cx="2381994" cy="814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129;p14" descr="image.png">
            <a:extLst>
              <a:ext uri="{FF2B5EF4-FFF2-40B4-BE49-F238E27FC236}">
                <a16:creationId xmlns:a16="http://schemas.microsoft.com/office/drawing/2014/main" id="{8B367915-9A43-4A29-8FA4-9AAAFC444C1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4343177"/>
            <a:ext cx="5286375" cy="386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130;p14" descr="image.png">
            <a:extLst>
              <a:ext uri="{FF2B5EF4-FFF2-40B4-BE49-F238E27FC236}">
                <a16:creationId xmlns:a16="http://schemas.microsoft.com/office/drawing/2014/main" id="{F1F71E7C-526C-496E-8222-C14582C8F8B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00813" y="4343177"/>
            <a:ext cx="5286375" cy="386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131;p14" descr="image.png">
            <a:extLst>
              <a:ext uri="{FF2B5EF4-FFF2-40B4-BE49-F238E27FC236}">
                <a16:creationId xmlns:a16="http://schemas.microsoft.com/office/drawing/2014/main" id="{A38B0BD9-EA8C-465B-9349-1865833630B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144375" y="4343177"/>
            <a:ext cx="5286375" cy="386878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134;p14">
            <a:extLst>
              <a:ext uri="{FF2B5EF4-FFF2-40B4-BE49-F238E27FC236}">
                <a16:creationId xmlns:a16="http://schemas.microsoft.com/office/drawing/2014/main" id="{3A33B4DD-63FD-4DCF-9A18-30A61500ACE1}"/>
              </a:ext>
            </a:extLst>
          </p:cNvPr>
          <p:cNvSpPr txBox="1"/>
          <p:nvPr/>
        </p:nvSpPr>
        <p:spPr>
          <a:xfrm>
            <a:off x="10402193" y="3200177"/>
            <a:ext cx="250478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375" dirty="0">
                <a:solidFill>
                  <a:srgbClr val="94A3B8"/>
                </a:solidFill>
                <a:latin typeface="+mj-ea"/>
                <a:ea typeface="+mj-ea"/>
                <a:cs typeface="Arial"/>
                <a:sym typeface="Arial"/>
              </a:rPr>
              <a:t>=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53" name="Google Shape;135;p14">
            <a:extLst>
              <a:ext uri="{FF2B5EF4-FFF2-40B4-BE49-F238E27FC236}">
                <a16:creationId xmlns:a16="http://schemas.microsoft.com/office/drawing/2014/main" id="{AB86FA73-60E8-4D2C-B0AA-20B4BC8D101F}"/>
              </a:ext>
            </a:extLst>
          </p:cNvPr>
          <p:cNvSpPr txBox="1"/>
          <p:nvPr/>
        </p:nvSpPr>
        <p:spPr>
          <a:xfrm>
            <a:off x="10822707" y="3077195"/>
            <a:ext cx="5901779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9958"/>
              </a:lnSpc>
            </a:pPr>
            <a:r>
              <a:rPr lang="en-US" sz="3600" dirty="0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Technical Sales </a:t>
            </a:r>
            <a:r>
              <a:rPr lang="en-US" sz="3600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(</a:t>
            </a:r>
            <a:r>
              <a:rPr lang="en-US" sz="3600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기술영업</a:t>
            </a:r>
            <a:r>
              <a:rPr lang="en-US" sz="3600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)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54" name="Google Shape;136;p14">
            <a:extLst>
              <a:ext uri="{FF2B5EF4-FFF2-40B4-BE49-F238E27FC236}">
                <a16:creationId xmlns:a16="http://schemas.microsoft.com/office/drawing/2014/main" id="{5D0E2C79-D568-41D0-8614-5C6B12B967CA}"/>
              </a:ext>
            </a:extLst>
          </p:cNvPr>
          <p:cNvSpPr txBox="1"/>
          <p:nvPr/>
        </p:nvSpPr>
        <p:spPr>
          <a:xfrm>
            <a:off x="1714500" y="8756239"/>
            <a:ext cx="1943322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025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진출</a:t>
            </a:r>
            <a:r>
              <a:rPr lang="en-US" sz="2025" b="1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유망</a:t>
            </a:r>
            <a:r>
              <a:rPr lang="en-US" sz="2025" b="1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25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산업군</a:t>
            </a:r>
            <a:endParaRPr sz="2700" dirty="0">
              <a:latin typeface="+mj-ea"/>
              <a:ea typeface="+mj-ea"/>
            </a:endParaRPr>
          </a:p>
        </p:txBody>
      </p:sp>
      <p:pic>
        <p:nvPicPr>
          <p:cNvPr id="55" name="Google Shape;137;p14" descr="image.png">
            <a:extLst>
              <a:ext uri="{FF2B5EF4-FFF2-40B4-BE49-F238E27FC236}">
                <a16:creationId xmlns:a16="http://schemas.microsoft.com/office/drawing/2014/main" id="{29C6C548-D669-4964-A852-14A487C63BC0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77224" y="3214464"/>
            <a:ext cx="3714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138;p14">
            <a:extLst>
              <a:ext uri="{FF2B5EF4-FFF2-40B4-BE49-F238E27FC236}">
                <a16:creationId xmlns:a16="http://schemas.microsoft.com/office/drawing/2014/main" id="{A0F4DA5D-AD7E-4636-AACF-1C3DA913BF0D}"/>
              </a:ext>
            </a:extLst>
          </p:cNvPr>
          <p:cNvSpPr txBox="1"/>
          <p:nvPr/>
        </p:nvSpPr>
        <p:spPr>
          <a:xfrm>
            <a:off x="1657350" y="4805846"/>
            <a:ext cx="432054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250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직무의 정의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57" name="Google Shape;139;p14">
            <a:extLst>
              <a:ext uri="{FF2B5EF4-FFF2-40B4-BE49-F238E27FC236}">
                <a16:creationId xmlns:a16="http://schemas.microsoft.com/office/drawing/2014/main" id="{85A5216E-5F4B-4AC6-81A1-B1CE7C14FEF5}"/>
              </a:ext>
            </a:extLst>
          </p:cNvPr>
          <p:cNvSpPr txBox="1"/>
          <p:nvPr/>
        </p:nvSpPr>
        <p:spPr>
          <a:xfrm>
            <a:off x="7343775" y="4805846"/>
            <a:ext cx="4275534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250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선택해야 하는 이유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58" name="Google Shape;140;p14">
            <a:extLst>
              <a:ext uri="{FF2B5EF4-FFF2-40B4-BE49-F238E27FC236}">
                <a16:creationId xmlns:a16="http://schemas.microsoft.com/office/drawing/2014/main" id="{A60B49DD-DAE3-4B2D-8717-2FBF2BAE98A2}"/>
              </a:ext>
            </a:extLst>
          </p:cNvPr>
          <p:cNvSpPr txBox="1"/>
          <p:nvPr/>
        </p:nvSpPr>
        <p:spPr>
          <a:xfrm>
            <a:off x="13015913" y="4805846"/>
            <a:ext cx="424553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250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필수 요구 역량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59" name="Google Shape;141;p14" descr="image.png">
            <a:extLst>
              <a:ext uri="{FF2B5EF4-FFF2-40B4-BE49-F238E27FC236}">
                <a16:creationId xmlns:a16="http://schemas.microsoft.com/office/drawing/2014/main" id="{F850E9CA-CEE7-43D7-8B2B-ED028C78470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85875" y="8802513"/>
            <a:ext cx="2857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142;p14" descr="image.png">
            <a:extLst>
              <a:ext uri="{FF2B5EF4-FFF2-40B4-BE49-F238E27FC236}">
                <a16:creationId xmlns:a16="http://schemas.microsoft.com/office/drawing/2014/main" id="{23E0A899-F565-4D2B-819C-4B0DE6011C19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943573" y="8659639"/>
            <a:ext cx="3557588" cy="528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143;p14" descr="image.png">
            <a:extLst>
              <a:ext uri="{FF2B5EF4-FFF2-40B4-BE49-F238E27FC236}">
                <a16:creationId xmlns:a16="http://schemas.microsoft.com/office/drawing/2014/main" id="{4434E03D-78D7-4274-B1A9-B75BE4022D5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672610" y="8659639"/>
            <a:ext cx="3009974" cy="528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144;p14" descr="image.png">
            <a:extLst>
              <a:ext uri="{FF2B5EF4-FFF2-40B4-BE49-F238E27FC236}">
                <a16:creationId xmlns:a16="http://schemas.microsoft.com/office/drawing/2014/main" id="{19EB8AD5-F751-40D5-BD5D-51561CE3C02F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854035" y="8659639"/>
            <a:ext cx="3200400" cy="528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145;p14" descr="image.png">
            <a:extLst>
              <a:ext uri="{FF2B5EF4-FFF2-40B4-BE49-F238E27FC236}">
                <a16:creationId xmlns:a16="http://schemas.microsoft.com/office/drawing/2014/main" id="{CA83A368-6EF3-48B0-A6F5-21B7D95C06BF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4315852" y="8659639"/>
            <a:ext cx="3224286" cy="528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147;p14" descr="image.png">
            <a:extLst>
              <a:ext uri="{FF2B5EF4-FFF2-40B4-BE49-F238E27FC236}">
                <a16:creationId xmlns:a16="http://schemas.microsoft.com/office/drawing/2014/main" id="{62884E19-3555-442D-B96F-38E606F71C96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228725" y="483609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148;p14">
            <a:extLst>
              <a:ext uri="{FF2B5EF4-FFF2-40B4-BE49-F238E27FC236}">
                <a16:creationId xmlns:a16="http://schemas.microsoft.com/office/drawing/2014/main" id="{A13582C4-5161-451A-95B1-9728BCD8EA50}"/>
              </a:ext>
            </a:extLst>
          </p:cNvPr>
          <p:cNvSpPr txBox="1"/>
          <p:nvPr/>
        </p:nvSpPr>
        <p:spPr>
          <a:xfrm>
            <a:off x="1485900" y="5386164"/>
            <a:ext cx="4286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고객사의 기술적 난제를 </a:t>
            </a:r>
            <a:r>
              <a:rPr lang="en-US" sz="1913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자사 솔루션으로 해결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6" name="Google Shape;149;p14">
            <a:extLst>
              <a:ext uri="{FF2B5EF4-FFF2-40B4-BE49-F238E27FC236}">
                <a16:creationId xmlns:a16="http://schemas.microsoft.com/office/drawing/2014/main" id="{B46087B8-1582-4B56-A0C8-7D568A06AB82}"/>
              </a:ext>
            </a:extLst>
          </p:cNvPr>
          <p:cNvSpPr txBox="1"/>
          <p:nvPr/>
        </p:nvSpPr>
        <p:spPr>
          <a:xfrm>
            <a:off x="1485900" y="6237609"/>
            <a:ext cx="4286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단순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판매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(Sales)가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아닌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기술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상담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(Consulting)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중심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67" name="Google Shape;150;p14">
            <a:extLst>
              <a:ext uri="{FF2B5EF4-FFF2-40B4-BE49-F238E27FC236}">
                <a16:creationId xmlns:a16="http://schemas.microsoft.com/office/drawing/2014/main" id="{989071E8-12B0-40CE-A6F8-F4113174D684}"/>
              </a:ext>
            </a:extLst>
          </p:cNvPr>
          <p:cNvSpPr txBox="1"/>
          <p:nvPr/>
        </p:nvSpPr>
        <p:spPr>
          <a:xfrm>
            <a:off x="1485900" y="7089056"/>
            <a:ext cx="4286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자사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R&amp;D와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고객사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엔지니어를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잇는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기술적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가교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역할</a:t>
            </a:r>
            <a:endParaRPr sz="2700" dirty="0">
              <a:latin typeface="+mj-ea"/>
              <a:ea typeface="+mj-ea"/>
            </a:endParaRPr>
          </a:p>
        </p:txBody>
      </p:sp>
      <p:pic>
        <p:nvPicPr>
          <p:cNvPr id="92" name="Google Shape;151;p14" descr="image.png">
            <a:extLst>
              <a:ext uri="{FF2B5EF4-FFF2-40B4-BE49-F238E27FC236}">
                <a16:creationId xmlns:a16="http://schemas.microsoft.com/office/drawing/2014/main" id="{5992B67E-19F7-4AE7-9FD7-4E1C496D295A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872288" y="4836095"/>
            <a:ext cx="328613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152;p14">
            <a:extLst>
              <a:ext uri="{FF2B5EF4-FFF2-40B4-BE49-F238E27FC236}">
                <a16:creationId xmlns:a16="http://schemas.microsoft.com/office/drawing/2014/main" id="{E659E52E-A6B7-473D-98BC-E6C1F6529379}"/>
              </a:ext>
            </a:extLst>
          </p:cNvPr>
          <p:cNvSpPr txBox="1"/>
          <p:nvPr/>
        </p:nvSpPr>
        <p:spPr>
          <a:xfrm>
            <a:off x="7129463" y="5386164"/>
            <a:ext cx="4286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데이터와 스펙으로 일하는 </a:t>
            </a:r>
            <a:r>
              <a:rPr lang="en-US" sz="1913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대체 불가능한 전문성 확보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94" name="Google Shape;153;p14">
            <a:extLst>
              <a:ext uri="{FF2B5EF4-FFF2-40B4-BE49-F238E27FC236}">
                <a16:creationId xmlns:a16="http://schemas.microsoft.com/office/drawing/2014/main" id="{695EDEE0-C011-4AF6-AE55-644D38FCA5D9}"/>
              </a:ext>
            </a:extLst>
          </p:cNvPr>
          <p:cNvSpPr txBox="1"/>
          <p:nvPr/>
        </p:nvSpPr>
        <p:spPr>
          <a:xfrm>
            <a:off x="7129463" y="6237609"/>
            <a:ext cx="4286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PM(Product Manager),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사업개발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등 </a:t>
            </a:r>
          </a:p>
          <a:p>
            <a:pPr>
              <a:lnSpc>
                <a:spcPct val="140000"/>
              </a:lnSpc>
            </a:pP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폭넓은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커리어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확장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95" name="Google Shape;154;p14">
            <a:extLst>
              <a:ext uri="{FF2B5EF4-FFF2-40B4-BE49-F238E27FC236}">
                <a16:creationId xmlns:a16="http://schemas.microsoft.com/office/drawing/2014/main" id="{80757F8A-6B12-44C3-BDE3-A0CFB375CE7B}"/>
              </a:ext>
            </a:extLst>
          </p:cNvPr>
          <p:cNvSpPr txBox="1"/>
          <p:nvPr/>
        </p:nvSpPr>
        <p:spPr>
          <a:xfrm>
            <a:off x="7129463" y="7089056"/>
            <a:ext cx="4286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전공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지식에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영업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인센티브가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더해진</a:t>
            </a:r>
            <a:endParaRPr lang="en-US" sz="1913" dirty="0">
              <a:solidFill>
                <a:srgbClr val="334155"/>
              </a:solidFill>
              <a:latin typeface="+mj-ea"/>
              <a:ea typeface="+mj-ea"/>
              <a:cs typeface="Arial"/>
              <a:sym typeface="Arial"/>
            </a:endParaRPr>
          </a:p>
          <a:p>
            <a:pPr>
              <a:lnSpc>
                <a:spcPct val="140000"/>
              </a:lnSpc>
            </a:pP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상위권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보상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체계</a:t>
            </a:r>
            <a:endParaRPr sz="2700" dirty="0">
              <a:latin typeface="+mj-ea"/>
              <a:ea typeface="+mj-ea"/>
            </a:endParaRPr>
          </a:p>
        </p:txBody>
      </p:sp>
      <p:pic>
        <p:nvPicPr>
          <p:cNvPr id="96" name="Google Shape;155;p14" descr="image.png">
            <a:extLst>
              <a:ext uri="{FF2B5EF4-FFF2-40B4-BE49-F238E27FC236}">
                <a16:creationId xmlns:a16="http://schemas.microsoft.com/office/drawing/2014/main" id="{4734FA38-FCD3-49FE-8A74-C2D6DFDBA70F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2515851" y="4836095"/>
            <a:ext cx="357188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156;p14">
            <a:extLst>
              <a:ext uri="{FF2B5EF4-FFF2-40B4-BE49-F238E27FC236}">
                <a16:creationId xmlns:a16="http://schemas.microsoft.com/office/drawing/2014/main" id="{C113EB1A-3540-4895-BA73-092120BF126B}"/>
              </a:ext>
            </a:extLst>
          </p:cNvPr>
          <p:cNvSpPr txBox="1"/>
          <p:nvPr/>
        </p:nvSpPr>
        <p:spPr>
          <a:xfrm>
            <a:off x="12773025" y="5386164"/>
            <a:ext cx="4286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복잡한 전공/기술 용어를 </a:t>
            </a:r>
            <a:r>
              <a:rPr lang="en-US" sz="1913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비즈니스 언어로 변환(번역) 능력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98" name="Google Shape;157;p14">
            <a:extLst>
              <a:ext uri="{FF2B5EF4-FFF2-40B4-BE49-F238E27FC236}">
                <a16:creationId xmlns:a16="http://schemas.microsoft.com/office/drawing/2014/main" id="{78E8DEAD-6FFF-4E76-89B9-54E90663A4BE}"/>
              </a:ext>
            </a:extLst>
          </p:cNvPr>
          <p:cNvSpPr txBox="1"/>
          <p:nvPr/>
        </p:nvSpPr>
        <p:spPr>
          <a:xfrm>
            <a:off x="12773025" y="6237609"/>
            <a:ext cx="4286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실패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원인을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분석하고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끝내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해결하는</a:t>
            </a:r>
            <a:endParaRPr lang="en-US" sz="1913" dirty="0">
              <a:solidFill>
                <a:srgbClr val="334155"/>
              </a:solidFill>
              <a:latin typeface="+mj-ea"/>
              <a:ea typeface="+mj-ea"/>
              <a:cs typeface="Arial"/>
              <a:sym typeface="Arial"/>
            </a:endParaRPr>
          </a:p>
          <a:p>
            <a:pPr>
              <a:lnSpc>
                <a:spcPct val="140000"/>
              </a:lnSpc>
            </a:pP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집요한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문제해결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의지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99" name="Google Shape;158;p14">
            <a:extLst>
              <a:ext uri="{FF2B5EF4-FFF2-40B4-BE49-F238E27FC236}">
                <a16:creationId xmlns:a16="http://schemas.microsoft.com/office/drawing/2014/main" id="{ACBCE010-F164-4B5B-9BBB-264E7C0E52F7}"/>
              </a:ext>
            </a:extLst>
          </p:cNvPr>
          <p:cNvSpPr txBox="1"/>
          <p:nvPr/>
        </p:nvSpPr>
        <p:spPr>
          <a:xfrm>
            <a:off x="12773025" y="7089056"/>
            <a:ext cx="4286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솔루션 도입 시의 비용 대비 효율(ROI)을 산출하는 </a:t>
            </a:r>
            <a:r>
              <a:rPr lang="en-US" sz="1913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숫자 감각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0" name="Google Shape;159;p14">
            <a:extLst>
              <a:ext uri="{FF2B5EF4-FFF2-40B4-BE49-F238E27FC236}">
                <a16:creationId xmlns:a16="http://schemas.microsoft.com/office/drawing/2014/main" id="{C745B6FB-FBBD-4F74-BBDB-B4CC7911222B}"/>
              </a:ext>
            </a:extLst>
          </p:cNvPr>
          <p:cNvSpPr txBox="1"/>
          <p:nvPr/>
        </p:nvSpPr>
        <p:spPr>
          <a:xfrm>
            <a:off x="1228726" y="5443315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1" name="Google Shape;160;p14">
            <a:extLst>
              <a:ext uri="{FF2B5EF4-FFF2-40B4-BE49-F238E27FC236}">
                <a16:creationId xmlns:a16="http://schemas.microsoft.com/office/drawing/2014/main" id="{5233EFA4-853E-4521-BF49-F0E610E1226E}"/>
              </a:ext>
            </a:extLst>
          </p:cNvPr>
          <p:cNvSpPr txBox="1"/>
          <p:nvPr/>
        </p:nvSpPr>
        <p:spPr>
          <a:xfrm>
            <a:off x="1228726" y="6294760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2" name="Google Shape;161;p14">
            <a:extLst>
              <a:ext uri="{FF2B5EF4-FFF2-40B4-BE49-F238E27FC236}">
                <a16:creationId xmlns:a16="http://schemas.microsoft.com/office/drawing/2014/main" id="{2038F887-AB62-4F18-8D74-8278676EC13C}"/>
              </a:ext>
            </a:extLst>
          </p:cNvPr>
          <p:cNvSpPr txBox="1"/>
          <p:nvPr/>
        </p:nvSpPr>
        <p:spPr>
          <a:xfrm>
            <a:off x="1228726" y="7146206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3" name="Google Shape;162;p14">
            <a:extLst>
              <a:ext uri="{FF2B5EF4-FFF2-40B4-BE49-F238E27FC236}">
                <a16:creationId xmlns:a16="http://schemas.microsoft.com/office/drawing/2014/main" id="{7551B362-1E09-4CB9-B717-C0FB9514B8A6}"/>
              </a:ext>
            </a:extLst>
          </p:cNvPr>
          <p:cNvSpPr txBox="1"/>
          <p:nvPr/>
        </p:nvSpPr>
        <p:spPr>
          <a:xfrm>
            <a:off x="6872288" y="5443315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4" name="Google Shape;163;p14">
            <a:extLst>
              <a:ext uri="{FF2B5EF4-FFF2-40B4-BE49-F238E27FC236}">
                <a16:creationId xmlns:a16="http://schemas.microsoft.com/office/drawing/2014/main" id="{B1FC817C-BE0B-494B-A8DE-99DF48C68D34}"/>
              </a:ext>
            </a:extLst>
          </p:cNvPr>
          <p:cNvSpPr txBox="1"/>
          <p:nvPr/>
        </p:nvSpPr>
        <p:spPr>
          <a:xfrm>
            <a:off x="6872288" y="6294760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5" name="Google Shape;164;p14">
            <a:extLst>
              <a:ext uri="{FF2B5EF4-FFF2-40B4-BE49-F238E27FC236}">
                <a16:creationId xmlns:a16="http://schemas.microsoft.com/office/drawing/2014/main" id="{33A32816-1AB1-4FA7-8B78-E9802ABF0293}"/>
              </a:ext>
            </a:extLst>
          </p:cNvPr>
          <p:cNvSpPr txBox="1"/>
          <p:nvPr/>
        </p:nvSpPr>
        <p:spPr>
          <a:xfrm>
            <a:off x="6872288" y="7146206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6" name="Google Shape;165;p14">
            <a:extLst>
              <a:ext uri="{FF2B5EF4-FFF2-40B4-BE49-F238E27FC236}">
                <a16:creationId xmlns:a16="http://schemas.microsoft.com/office/drawing/2014/main" id="{E252B57E-5E44-47A2-8003-1E3FAEC63BD5}"/>
              </a:ext>
            </a:extLst>
          </p:cNvPr>
          <p:cNvSpPr txBox="1"/>
          <p:nvPr/>
        </p:nvSpPr>
        <p:spPr>
          <a:xfrm>
            <a:off x="12515851" y="5443315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7" name="Google Shape;166;p14">
            <a:extLst>
              <a:ext uri="{FF2B5EF4-FFF2-40B4-BE49-F238E27FC236}">
                <a16:creationId xmlns:a16="http://schemas.microsoft.com/office/drawing/2014/main" id="{02DF066A-4979-4600-AFD7-A48B47834B7E}"/>
              </a:ext>
            </a:extLst>
          </p:cNvPr>
          <p:cNvSpPr txBox="1"/>
          <p:nvPr/>
        </p:nvSpPr>
        <p:spPr>
          <a:xfrm>
            <a:off x="12515851" y="6294760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8" name="Google Shape;167;p14">
            <a:extLst>
              <a:ext uri="{FF2B5EF4-FFF2-40B4-BE49-F238E27FC236}">
                <a16:creationId xmlns:a16="http://schemas.microsoft.com/office/drawing/2014/main" id="{B462E396-E104-4C0E-8367-1FFEA4041779}"/>
              </a:ext>
            </a:extLst>
          </p:cNvPr>
          <p:cNvSpPr txBox="1"/>
          <p:nvPr/>
        </p:nvSpPr>
        <p:spPr>
          <a:xfrm>
            <a:off x="12515851" y="7146206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8" name="TextBox 7">
            <a:extLst>
              <a:ext uri="{FF2B5EF4-FFF2-40B4-BE49-F238E27FC236}">
                <a16:creationId xmlns:a16="http://schemas.microsoft.com/office/drawing/2014/main" id="{B526C691-7480-4718-B383-A3C1E8D7466E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1005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19400" y="882650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비즈니스 매너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7" name="Picture 20">
            <a:extLst>
              <a:ext uri="{FF2B5EF4-FFF2-40B4-BE49-F238E27FC236}">
                <a16:creationId xmlns:a16="http://schemas.microsoft.com/office/drawing/2014/main" id="{581E111A-60B0-4F08-8021-25FC9495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1" name="TextBox 24">
            <a:extLst>
              <a:ext uri="{FF2B5EF4-FFF2-40B4-BE49-F238E27FC236}">
                <a16:creationId xmlns:a16="http://schemas.microsoft.com/office/drawing/2014/main" id="{0D59A901-6463-4687-9715-4D43C24F5E45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03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3BA2F72-70FA-4245-B673-0C42FECADA68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C00D09-46DD-4131-BDED-6019AD2050B0}"/>
              </a:ext>
            </a:extLst>
          </p:cNvPr>
          <p:cNvSpPr/>
          <p:nvPr/>
        </p:nvSpPr>
        <p:spPr>
          <a:xfrm>
            <a:off x="15150991" y="9632434"/>
            <a:ext cx="2582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p.113~119</a:t>
            </a:r>
          </a:p>
        </p:txBody>
      </p:sp>
      <p:pic>
        <p:nvPicPr>
          <p:cNvPr id="7" name="Google Shape;160;p15" descr="image.png">
            <a:extLst>
              <a:ext uri="{FF2B5EF4-FFF2-40B4-BE49-F238E27FC236}">
                <a16:creationId xmlns:a16="http://schemas.microsoft.com/office/drawing/2014/main" id="{0FBF6666-4013-4707-BD87-751074531D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1" y="2838452"/>
            <a:ext cx="8072438" cy="3443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61;p15" descr="image.png">
            <a:extLst>
              <a:ext uri="{FF2B5EF4-FFF2-40B4-BE49-F238E27FC236}">
                <a16:creationId xmlns:a16="http://schemas.microsoft.com/office/drawing/2014/main" id="{6FF31CFD-951F-4835-9EEA-929640989A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58313" y="2838452"/>
            <a:ext cx="8072438" cy="3443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2;p15" descr="image.png">
            <a:extLst>
              <a:ext uri="{FF2B5EF4-FFF2-40B4-BE49-F238E27FC236}">
                <a16:creationId xmlns:a16="http://schemas.microsoft.com/office/drawing/2014/main" id="{6FC46BBA-7EF3-4DFF-8081-352F939DF84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1" y="6470972"/>
            <a:ext cx="8072438" cy="319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63;p15" descr="image.png">
            <a:extLst>
              <a:ext uri="{FF2B5EF4-FFF2-40B4-BE49-F238E27FC236}">
                <a16:creationId xmlns:a16="http://schemas.microsoft.com/office/drawing/2014/main" id="{9092DD9B-2682-4A11-9528-A9E83E9B634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58313" y="6470972"/>
            <a:ext cx="8072438" cy="319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66;p15" descr="image.png">
            <a:extLst>
              <a:ext uri="{FF2B5EF4-FFF2-40B4-BE49-F238E27FC236}">
                <a16:creationId xmlns:a16="http://schemas.microsoft.com/office/drawing/2014/main" id="{EA33A104-CB80-4E22-A7C2-D8426F10ED6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71599" y="3095521"/>
            <a:ext cx="636591" cy="41444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67;p15">
            <a:extLst>
              <a:ext uri="{FF2B5EF4-FFF2-40B4-BE49-F238E27FC236}">
                <a16:creationId xmlns:a16="http://schemas.microsoft.com/office/drawing/2014/main" id="{34D22BA5-DBD4-498D-81DF-17ED08DECFEB}"/>
              </a:ext>
            </a:extLst>
          </p:cNvPr>
          <p:cNvSpPr txBox="1"/>
          <p:nvPr/>
        </p:nvSpPr>
        <p:spPr>
          <a:xfrm>
            <a:off x="2214563" y="3111106"/>
            <a:ext cx="2562594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기본 업무 예절</a:t>
            </a:r>
            <a:endParaRPr sz="2700"/>
          </a:p>
        </p:txBody>
      </p:sp>
      <p:sp>
        <p:nvSpPr>
          <p:cNvPr id="13" name="Google Shape;168;p15">
            <a:extLst>
              <a:ext uri="{FF2B5EF4-FFF2-40B4-BE49-F238E27FC236}">
                <a16:creationId xmlns:a16="http://schemas.microsoft.com/office/drawing/2014/main" id="{4CC35368-E13B-481B-871D-8C5282709207}"/>
              </a:ext>
            </a:extLst>
          </p:cNvPr>
          <p:cNvSpPr txBox="1"/>
          <p:nvPr/>
        </p:nvSpPr>
        <p:spPr>
          <a:xfrm>
            <a:off x="1628776" y="4159970"/>
            <a:ext cx="6872288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출근 시간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20분 전 도착 및 당일 업무 준비 완료</a:t>
            </a:r>
            <a:endParaRPr sz="2700"/>
          </a:p>
        </p:txBody>
      </p:sp>
      <p:sp>
        <p:nvSpPr>
          <p:cNvPr id="14" name="Google Shape;169;p15">
            <a:extLst>
              <a:ext uri="{FF2B5EF4-FFF2-40B4-BE49-F238E27FC236}">
                <a16:creationId xmlns:a16="http://schemas.microsoft.com/office/drawing/2014/main" id="{BD6D99E1-9CD2-4635-B061-7B5E1194B92F}"/>
              </a:ext>
            </a:extLst>
          </p:cNvPr>
          <p:cNvSpPr txBox="1"/>
          <p:nvPr/>
        </p:nvSpPr>
        <p:spPr>
          <a:xfrm>
            <a:off x="1628776" y="4671418"/>
            <a:ext cx="6872288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마주치는 모든 상사 및 동료에게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밝고 정중한 인사 생활화</a:t>
            </a:r>
            <a:endParaRPr sz="2700"/>
          </a:p>
        </p:txBody>
      </p:sp>
      <p:sp>
        <p:nvSpPr>
          <p:cNvPr id="15" name="Google Shape;170;p15">
            <a:extLst>
              <a:ext uri="{FF2B5EF4-FFF2-40B4-BE49-F238E27FC236}">
                <a16:creationId xmlns:a16="http://schemas.microsoft.com/office/drawing/2014/main" id="{095900A4-7C9F-4998-8FF1-DC8B3E7D4DCF}"/>
              </a:ext>
            </a:extLst>
          </p:cNvPr>
          <p:cNvSpPr txBox="1"/>
          <p:nvPr/>
        </p:nvSpPr>
        <p:spPr>
          <a:xfrm>
            <a:off x="1628776" y="5182865"/>
            <a:ext cx="6872288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직속 상급자 호출 시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이름 뒤 '직위' 사용</a:t>
            </a: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(예: 김OO 부장님)</a:t>
            </a:r>
            <a:endParaRPr sz="2700"/>
          </a:p>
        </p:txBody>
      </p:sp>
      <p:sp>
        <p:nvSpPr>
          <p:cNvPr id="16" name="Google Shape;171;p15">
            <a:extLst>
              <a:ext uri="{FF2B5EF4-FFF2-40B4-BE49-F238E27FC236}">
                <a16:creationId xmlns:a16="http://schemas.microsoft.com/office/drawing/2014/main" id="{DE70302B-6CC0-4C16-9BB9-491CFD62A602}"/>
              </a:ext>
            </a:extLst>
          </p:cNvPr>
          <p:cNvSpPr txBox="1"/>
          <p:nvPr/>
        </p:nvSpPr>
        <p:spPr>
          <a:xfrm>
            <a:off x="1628776" y="5694313"/>
            <a:ext cx="6872288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지각/결근 등 근태 특이사항 발생 시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반드시 유선으로 사전 보고</a:t>
            </a:r>
            <a:endParaRPr sz="2700"/>
          </a:p>
        </p:txBody>
      </p:sp>
      <p:pic>
        <p:nvPicPr>
          <p:cNvPr id="17" name="Google Shape;172;p15" descr="image.png">
            <a:extLst>
              <a:ext uri="{FF2B5EF4-FFF2-40B4-BE49-F238E27FC236}">
                <a16:creationId xmlns:a16="http://schemas.microsoft.com/office/drawing/2014/main" id="{5E9F83FA-459C-4524-A252-10419F6D15F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72662" y="3095521"/>
            <a:ext cx="636591" cy="41444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73;p15">
            <a:extLst>
              <a:ext uri="{FF2B5EF4-FFF2-40B4-BE49-F238E27FC236}">
                <a16:creationId xmlns:a16="http://schemas.microsoft.com/office/drawing/2014/main" id="{6FFD3CD1-1001-493C-B94F-DFE132AF3A94}"/>
              </a:ext>
            </a:extLst>
          </p:cNvPr>
          <p:cNvSpPr txBox="1"/>
          <p:nvPr/>
        </p:nvSpPr>
        <p:spPr>
          <a:xfrm>
            <a:off x="10715626" y="3111106"/>
            <a:ext cx="2562594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상사 보고 예절</a:t>
            </a:r>
            <a:endParaRPr sz="2700"/>
          </a:p>
        </p:txBody>
      </p:sp>
      <p:sp>
        <p:nvSpPr>
          <p:cNvPr id="19" name="Google Shape;174;p15">
            <a:extLst>
              <a:ext uri="{FF2B5EF4-FFF2-40B4-BE49-F238E27FC236}">
                <a16:creationId xmlns:a16="http://schemas.microsoft.com/office/drawing/2014/main" id="{BC55799C-2F96-4A7D-A9F1-5C6A5DC4BD84}"/>
              </a:ext>
            </a:extLst>
          </p:cNvPr>
          <p:cNvSpPr txBox="1"/>
          <p:nvPr/>
        </p:nvSpPr>
        <p:spPr>
          <a:xfrm>
            <a:off x="10129838" y="4071790"/>
            <a:ext cx="6872288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업무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지시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수령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시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반드시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메모장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지참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및 5W1H(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육하원칙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기록</a:t>
            </a:r>
            <a:endParaRPr sz="2700" dirty="0"/>
          </a:p>
        </p:txBody>
      </p:sp>
      <p:sp>
        <p:nvSpPr>
          <p:cNvPr id="20" name="Google Shape;175;p15">
            <a:extLst>
              <a:ext uri="{FF2B5EF4-FFF2-40B4-BE49-F238E27FC236}">
                <a16:creationId xmlns:a16="http://schemas.microsoft.com/office/drawing/2014/main" id="{CFFC264C-6875-4768-B7E7-9B571E8679A3}"/>
              </a:ext>
            </a:extLst>
          </p:cNvPr>
          <p:cNvSpPr txBox="1"/>
          <p:nvPr/>
        </p:nvSpPr>
        <p:spPr>
          <a:xfrm>
            <a:off x="10129837" y="4580335"/>
            <a:ext cx="7729537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진행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기간이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긴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업무는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중간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진행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상황을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수시로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보고</a:t>
            </a:r>
            <a:endParaRPr sz="2700" dirty="0"/>
          </a:p>
        </p:txBody>
      </p:sp>
      <p:sp>
        <p:nvSpPr>
          <p:cNvPr id="21" name="Google Shape;176;p15">
            <a:extLst>
              <a:ext uri="{FF2B5EF4-FFF2-40B4-BE49-F238E27FC236}">
                <a16:creationId xmlns:a16="http://schemas.microsoft.com/office/drawing/2014/main" id="{09F601A3-3868-4F2B-854F-485153298013}"/>
              </a:ext>
            </a:extLst>
          </p:cNvPr>
          <p:cNvSpPr txBox="1"/>
          <p:nvPr/>
        </p:nvSpPr>
        <p:spPr>
          <a:xfrm>
            <a:off x="10129838" y="5062760"/>
            <a:ext cx="6872288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장황한 부연 설명 지양 및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가장 중요한 '결론'부터 우선 보고</a:t>
            </a:r>
            <a:endParaRPr sz="2700"/>
          </a:p>
        </p:txBody>
      </p:sp>
      <p:sp>
        <p:nvSpPr>
          <p:cNvPr id="22" name="Google Shape;177;p15">
            <a:extLst>
              <a:ext uri="{FF2B5EF4-FFF2-40B4-BE49-F238E27FC236}">
                <a16:creationId xmlns:a16="http://schemas.microsoft.com/office/drawing/2014/main" id="{233F79A3-D810-47E8-94A2-6DFD50C8C751}"/>
              </a:ext>
            </a:extLst>
          </p:cNvPr>
          <p:cNvSpPr txBox="1"/>
          <p:nvPr/>
        </p:nvSpPr>
        <p:spPr>
          <a:xfrm>
            <a:off x="10129838" y="5562229"/>
            <a:ext cx="7300910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문제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발생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시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혼자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덮지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않고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대안을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마련하여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즉시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상급자에게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공유</a:t>
            </a:r>
            <a:endParaRPr sz="2700" dirty="0"/>
          </a:p>
        </p:txBody>
      </p:sp>
      <p:pic>
        <p:nvPicPr>
          <p:cNvPr id="23" name="Google Shape;178;p15" descr="image.png">
            <a:extLst>
              <a:ext uri="{FF2B5EF4-FFF2-40B4-BE49-F238E27FC236}">
                <a16:creationId xmlns:a16="http://schemas.microsoft.com/office/drawing/2014/main" id="{B43147AF-F5E8-47B9-B51F-A9B037D9D83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71600" y="6685284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79;p15">
            <a:extLst>
              <a:ext uri="{FF2B5EF4-FFF2-40B4-BE49-F238E27FC236}">
                <a16:creationId xmlns:a16="http://schemas.microsoft.com/office/drawing/2014/main" id="{03921993-2ED8-44E4-BAD5-51D62B7B1972}"/>
              </a:ext>
            </a:extLst>
          </p:cNvPr>
          <p:cNvSpPr txBox="1"/>
          <p:nvPr/>
        </p:nvSpPr>
        <p:spPr>
          <a:xfrm>
            <a:off x="2214563" y="6785297"/>
            <a:ext cx="319071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오프라인 회의 예절</a:t>
            </a:r>
            <a:endParaRPr sz="2700"/>
          </a:p>
        </p:txBody>
      </p:sp>
      <p:sp>
        <p:nvSpPr>
          <p:cNvPr id="25" name="Google Shape;180;p15">
            <a:extLst>
              <a:ext uri="{FF2B5EF4-FFF2-40B4-BE49-F238E27FC236}">
                <a16:creationId xmlns:a16="http://schemas.microsoft.com/office/drawing/2014/main" id="{94B01146-7652-4078-A47E-A933E25BB01F}"/>
              </a:ext>
            </a:extLst>
          </p:cNvPr>
          <p:cNvSpPr txBox="1"/>
          <p:nvPr/>
        </p:nvSpPr>
        <p:spPr>
          <a:xfrm>
            <a:off x="1628776" y="7499672"/>
            <a:ext cx="7058024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회의 시작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5분 전 착석 완료 및 필요 자료(노트/펜 등) 세팅</a:t>
            </a:r>
            <a:endParaRPr sz="2700"/>
          </a:p>
        </p:txBody>
      </p:sp>
      <p:sp>
        <p:nvSpPr>
          <p:cNvPr id="26" name="Google Shape;181;p15">
            <a:extLst>
              <a:ext uri="{FF2B5EF4-FFF2-40B4-BE49-F238E27FC236}">
                <a16:creationId xmlns:a16="http://schemas.microsoft.com/office/drawing/2014/main" id="{59E63CFC-9EEC-4C3C-A6A9-9E9021920607}"/>
              </a:ext>
            </a:extLst>
          </p:cNvPr>
          <p:cNvSpPr txBox="1"/>
          <p:nvPr/>
        </p:nvSpPr>
        <p:spPr>
          <a:xfrm>
            <a:off x="1628776" y="8011119"/>
            <a:ext cx="7058024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상석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출입문에서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가장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ko-KR" alt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먼 곳</a:t>
            </a:r>
            <a:r>
              <a:rPr lang="en-US" altLang="ko-KR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을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양보하고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하석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착석</a:t>
            </a:r>
            <a:endParaRPr sz="2700" dirty="0"/>
          </a:p>
        </p:txBody>
      </p:sp>
      <p:sp>
        <p:nvSpPr>
          <p:cNvPr id="28" name="Google Shape;182;p15">
            <a:extLst>
              <a:ext uri="{FF2B5EF4-FFF2-40B4-BE49-F238E27FC236}">
                <a16:creationId xmlns:a16="http://schemas.microsoft.com/office/drawing/2014/main" id="{FCBA3FC3-FF0F-4F5C-BC01-5B38679BE37B}"/>
              </a:ext>
            </a:extLst>
          </p:cNvPr>
          <p:cNvSpPr txBox="1"/>
          <p:nvPr/>
        </p:nvSpPr>
        <p:spPr>
          <a:xfrm>
            <a:off x="1628776" y="8538716"/>
            <a:ext cx="7058024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발언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시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직급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이름을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밝히고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타인의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발언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중간에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끼어들기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금지</a:t>
            </a:r>
            <a:endParaRPr sz="2700" dirty="0"/>
          </a:p>
        </p:txBody>
      </p:sp>
      <p:sp>
        <p:nvSpPr>
          <p:cNvPr id="29" name="Google Shape;183;p15">
            <a:extLst>
              <a:ext uri="{FF2B5EF4-FFF2-40B4-BE49-F238E27FC236}">
                <a16:creationId xmlns:a16="http://schemas.microsoft.com/office/drawing/2014/main" id="{4C1B09FB-71D3-4014-92C1-45EE672BDABB}"/>
              </a:ext>
            </a:extLst>
          </p:cNvPr>
          <p:cNvSpPr txBox="1"/>
          <p:nvPr/>
        </p:nvSpPr>
        <p:spPr>
          <a:xfrm>
            <a:off x="1628776" y="9047261"/>
            <a:ext cx="7058024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스마트폰 확인, 사적인 잡담 등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회의 몰입을 방해하는 행동 금지</a:t>
            </a:r>
            <a:endParaRPr sz="2700"/>
          </a:p>
        </p:txBody>
      </p:sp>
      <p:pic>
        <p:nvPicPr>
          <p:cNvPr id="30" name="Google Shape;184;p15" descr="image.png">
            <a:extLst>
              <a:ext uri="{FF2B5EF4-FFF2-40B4-BE49-F238E27FC236}">
                <a16:creationId xmlns:a16="http://schemas.microsoft.com/office/drawing/2014/main" id="{DF0D6178-CBF1-438E-B048-C9152ACFCFE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72663" y="6685284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185;p15">
            <a:extLst>
              <a:ext uri="{FF2B5EF4-FFF2-40B4-BE49-F238E27FC236}">
                <a16:creationId xmlns:a16="http://schemas.microsoft.com/office/drawing/2014/main" id="{731B1F59-FD02-410C-862A-2E27E46D7FE8}"/>
              </a:ext>
            </a:extLst>
          </p:cNvPr>
          <p:cNvSpPr txBox="1"/>
          <p:nvPr/>
        </p:nvSpPr>
        <p:spPr>
          <a:xfrm>
            <a:off x="10715626" y="6785297"/>
            <a:ext cx="418083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4. 이메일 커뮤니케이션 예절</a:t>
            </a:r>
            <a:endParaRPr sz="2700"/>
          </a:p>
        </p:txBody>
      </p:sp>
      <p:sp>
        <p:nvSpPr>
          <p:cNvPr id="33" name="Google Shape;186;p15">
            <a:extLst>
              <a:ext uri="{FF2B5EF4-FFF2-40B4-BE49-F238E27FC236}">
                <a16:creationId xmlns:a16="http://schemas.microsoft.com/office/drawing/2014/main" id="{C36C1998-66FE-4505-89EC-F05388552EBB}"/>
              </a:ext>
            </a:extLst>
          </p:cNvPr>
          <p:cNvSpPr txBox="1"/>
          <p:nvPr/>
        </p:nvSpPr>
        <p:spPr>
          <a:xfrm>
            <a:off x="10129838" y="7652072"/>
            <a:ext cx="7058024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소속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분류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활용하여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메일의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목적이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뚜렷이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드러나는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제목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작성</a:t>
            </a:r>
            <a:endParaRPr sz="2700" dirty="0"/>
          </a:p>
        </p:txBody>
      </p:sp>
      <p:sp>
        <p:nvSpPr>
          <p:cNvPr id="34" name="Google Shape;187;p15">
            <a:extLst>
              <a:ext uri="{FF2B5EF4-FFF2-40B4-BE49-F238E27FC236}">
                <a16:creationId xmlns:a16="http://schemas.microsoft.com/office/drawing/2014/main" id="{17237752-4522-4335-91E1-9FCA36386E67}"/>
              </a:ext>
            </a:extLst>
          </p:cNvPr>
          <p:cNvSpPr txBox="1"/>
          <p:nvPr/>
        </p:nvSpPr>
        <p:spPr>
          <a:xfrm>
            <a:off x="10129838" y="8141568"/>
            <a:ext cx="7058024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업무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연관자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파악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후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수신자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(To)와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참조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(CC)를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명확히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구분</a:t>
            </a:r>
            <a:endParaRPr sz="2700" dirty="0"/>
          </a:p>
        </p:txBody>
      </p:sp>
      <p:sp>
        <p:nvSpPr>
          <p:cNvPr id="35" name="Google Shape;188;p15">
            <a:extLst>
              <a:ext uri="{FF2B5EF4-FFF2-40B4-BE49-F238E27FC236}">
                <a16:creationId xmlns:a16="http://schemas.microsoft.com/office/drawing/2014/main" id="{CC20B983-16A8-4788-B80E-98D80B55E09D}"/>
              </a:ext>
            </a:extLst>
          </p:cNvPr>
          <p:cNvSpPr txBox="1"/>
          <p:nvPr/>
        </p:nvSpPr>
        <p:spPr>
          <a:xfrm>
            <a:off x="10129838" y="8669163"/>
            <a:ext cx="7058024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본문 하단에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공식 서명(소속, 이름, 직함, 연락처) 삽입 필수</a:t>
            </a:r>
            <a:endParaRPr sz="2700"/>
          </a:p>
        </p:txBody>
      </p:sp>
      <p:sp>
        <p:nvSpPr>
          <p:cNvPr id="36" name="Google Shape;189;p15">
            <a:extLst>
              <a:ext uri="{FF2B5EF4-FFF2-40B4-BE49-F238E27FC236}">
                <a16:creationId xmlns:a16="http://schemas.microsoft.com/office/drawing/2014/main" id="{6A36EBD7-A48B-43B8-85F7-EB015752C5EF}"/>
              </a:ext>
            </a:extLst>
          </p:cNvPr>
          <p:cNvSpPr txBox="1"/>
          <p:nvPr/>
        </p:nvSpPr>
        <p:spPr>
          <a:xfrm>
            <a:off x="10129837" y="9123461"/>
            <a:ext cx="7300911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발송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전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오탈자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첨부파일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누락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수신자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주소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최종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크로스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체크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진행</a:t>
            </a:r>
            <a:endParaRPr sz="2700" dirty="0"/>
          </a:p>
        </p:txBody>
      </p:sp>
      <p:sp>
        <p:nvSpPr>
          <p:cNvPr id="37" name="Google Shape;190;p15">
            <a:extLst>
              <a:ext uri="{FF2B5EF4-FFF2-40B4-BE49-F238E27FC236}">
                <a16:creationId xmlns:a16="http://schemas.microsoft.com/office/drawing/2014/main" id="{04A257DF-AAD7-4EA6-8496-AE0FFF472379}"/>
              </a:ext>
            </a:extLst>
          </p:cNvPr>
          <p:cNvSpPr txBox="1"/>
          <p:nvPr/>
        </p:nvSpPr>
        <p:spPr>
          <a:xfrm>
            <a:off x="1371600" y="4144999"/>
            <a:ext cx="86808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39" name="Google Shape;191;p15">
            <a:extLst>
              <a:ext uri="{FF2B5EF4-FFF2-40B4-BE49-F238E27FC236}">
                <a16:creationId xmlns:a16="http://schemas.microsoft.com/office/drawing/2014/main" id="{03BC0E3B-7ABD-4E7B-9EEB-9D072AEEB49A}"/>
              </a:ext>
            </a:extLst>
          </p:cNvPr>
          <p:cNvSpPr txBox="1"/>
          <p:nvPr/>
        </p:nvSpPr>
        <p:spPr>
          <a:xfrm>
            <a:off x="1371600" y="4656446"/>
            <a:ext cx="86808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41" name="Google Shape;192;p15">
            <a:extLst>
              <a:ext uri="{FF2B5EF4-FFF2-40B4-BE49-F238E27FC236}">
                <a16:creationId xmlns:a16="http://schemas.microsoft.com/office/drawing/2014/main" id="{89D5101E-49C2-46C2-ACE5-FADE412D1109}"/>
              </a:ext>
            </a:extLst>
          </p:cNvPr>
          <p:cNvSpPr txBox="1"/>
          <p:nvPr/>
        </p:nvSpPr>
        <p:spPr>
          <a:xfrm>
            <a:off x="1371600" y="5167894"/>
            <a:ext cx="86808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42" name="Google Shape;193;p15">
            <a:extLst>
              <a:ext uri="{FF2B5EF4-FFF2-40B4-BE49-F238E27FC236}">
                <a16:creationId xmlns:a16="http://schemas.microsoft.com/office/drawing/2014/main" id="{A4AC018C-CCE5-4B1B-84E8-735975D07D9B}"/>
              </a:ext>
            </a:extLst>
          </p:cNvPr>
          <p:cNvSpPr txBox="1"/>
          <p:nvPr/>
        </p:nvSpPr>
        <p:spPr>
          <a:xfrm>
            <a:off x="1371600" y="5679341"/>
            <a:ext cx="86808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43" name="Google Shape;194;p15">
            <a:extLst>
              <a:ext uri="{FF2B5EF4-FFF2-40B4-BE49-F238E27FC236}">
                <a16:creationId xmlns:a16="http://schemas.microsoft.com/office/drawing/2014/main" id="{20E356BC-DF2C-4058-8CD7-4FECDF7CBAC7}"/>
              </a:ext>
            </a:extLst>
          </p:cNvPr>
          <p:cNvSpPr txBox="1"/>
          <p:nvPr/>
        </p:nvSpPr>
        <p:spPr>
          <a:xfrm>
            <a:off x="9872663" y="4144999"/>
            <a:ext cx="86808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44" name="Google Shape;195;p15">
            <a:extLst>
              <a:ext uri="{FF2B5EF4-FFF2-40B4-BE49-F238E27FC236}">
                <a16:creationId xmlns:a16="http://schemas.microsoft.com/office/drawing/2014/main" id="{F411085B-FD40-4C7F-A981-D3B5FE5DC8F4}"/>
              </a:ext>
            </a:extLst>
          </p:cNvPr>
          <p:cNvSpPr txBox="1"/>
          <p:nvPr/>
        </p:nvSpPr>
        <p:spPr>
          <a:xfrm>
            <a:off x="9872663" y="4653544"/>
            <a:ext cx="86808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45" name="Google Shape;196;p15">
            <a:extLst>
              <a:ext uri="{FF2B5EF4-FFF2-40B4-BE49-F238E27FC236}">
                <a16:creationId xmlns:a16="http://schemas.microsoft.com/office/drawing/2014/main" id="{5E8594D4-3A51-47C6-B9D0-1C9A83163B7C}"/>
              </a:ext>
            </a:extLst>
          </p:cNvPr>
          <p:cNvSpPr txBox="1"/>
          <p:nvPr/>
        </p:nvSpPr>
        <p:spPr>
          <a:xfrm>
            <a:off x="9872663" y="5143039"/>
            <a:ext cx="86808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 dirty="0"/>
          </a:p>
        </p:txBody>
      </p:sp>
      <p:sp>
        <p:nvSpPr>
          <p:cNvPr id="46" name="Google Shape;197;p15">
            <a:extLst>
              <a:ext uri="{FF2B5EF4-FFF2-40B4-BE49-F238E27FC236}">
                <a16:creationId xmlns:a16="http://schemas.microsoft.com/office/drawing/2014/main" id="{1CB5F1FB-66F7-44CE-BA79-F56D842BD0AB}"/>
              </a:ext>
            </a:extLst>
          </p:cNvPr>
          <p:cNvSpPr txBox="1"/>
          <p:nvPr/>
        </p:nvSpPr>
        <p:spPr>
          <a:xfrm>
            <a:off x="9872663" y="5635438"/>
            <a:ext cx="86808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47" name="Google Shape;198;p15">
            <a:extLst>
              <a:ext uri="{FF2B5EF4-FFF2-40B4-BE49-F238E27FC236}">
                <a16:creationId xmlns:a16="http://schemas.microsoft.com/office/drawing/2014/main" id="{012BAE74-7609-48D3-86BF-3A131568D362}"/>
              </a:ext>
            </a:extLst>
          </p:cNvPr>
          <p:cNvSpPr txBox="1"/>
          <p:nvPr/>
        </p:nvSpPr>
        <p:spPr>
          <a:xfrm>
            <a:off x="1371600" y="7542534"/>
            <a:ext cx="89154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48" name="Google Shape;199;p15">
            <a:extLst>
              <a:ext uri="{FF2B5EF4-FFF2-40B4-BE49-F238E27FC236}">
                <a16:creationId xmlns:a16="http://schemas.microsoft.com/office/drawing/2014/main" id="{79BF7D21-6166-44AB-87D5-BEF41977F26F}"/>
              </a:ext>
            </a:extLst>
          </p:cNvPr>
          <p:cNvSpPr txBox="1"/>
          <p:nvPr/>
        </p:nvSpPr>
        <p:spPr>
          <a:xfrm>
            <a:off x="1371600" y="8053982"/>
            <a:ext cx="89154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49" name="Google Shape;200;p15">
            <a:extLst>
              <a:ext uri="{FF2B5EF4-FFF2-40B4-BE49-F238E27FC236}">
                <a16:creationId xmlns:a16="http://schemas.microsoft.com/office/drawing/2014/main" id="{F9512052-B051-4907-8752-E76235CAC12F}"/>
              </a:ext>
            </a:extLst>
          </p:cNvPr>
          <p:cNvSpPr txBox="1"/>
          <p:nvPr/>
        </p:nvSpPr>
        <p:spPr>
          <a:xfrm>
            <a:off x="1371600" y="8581578"/>
            <a:ext cx="89154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50" name="Google Shape;201;p15">
            <a:extLst>
              <a:ext uri="{FF2B5EF4-FFF2-40B4-BE49-F238E27FC236}">
                <a16:creationId xmlns:a16="http://schemas.microsoft.com/office/drawing/2014/main" id="{8FC310C1-2141-4FC9-BC85-ADFA29C3F3AB}"/>
              </a:ext>
            </a:extLst>
          </p:cNvPr>
          <p:cNvSpPr txBox="1"/>
          <p:nvPr/>
        </p:nvSpPr>
        <p:spPr>
          <a:xfrm>
            <a:off x="1371600" y="9090123"/>
            <a:ext cx="89154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51" name="Google Shape;202;p15">
            <a:extLst>
              <a:ext uri="{FF2B5EF4-FFF2-40B4-BE49-F238E27FC236}">
                <a16:creationId xmlns:a16="http://schemas.microsoft.com/office/drawing/2014/main" id="{021863AE-4A47-4D28-AD15-DA0FE0C72588}"/>
              </a:ext>
            </a:extLst>
          </p:cNvPr>
          <p:cNvSpPr txBox="1"/>
          <p:nvPr/>
        </p:nvSpPr>
        <p:spPr>
          <a:xfrm>
            <a:off x="9872663" y="7694934"/>
            <a:ext cx="89154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52" name="Google Shape;203;p15">
            <a:extLst>
              <a:ext uri="{FF2B5EF4-FFF2-40B4-BE49-F238E27FC236}">
                <a16:creationId xmlns:a16="http://schemas.microsoft.com/office/drawing/2014/main" id="{10DBE482-99D0-42FD-A6C1-1F4E6FD62313}"/>
              </a:ext>
            </a:extLst>
          </p:cNvPr>
          <p:cNvSpPr txBox="1"/>
          <p:nvPr/>
        </p:nvSpPr>
        <p:spPr>
          <a:xfrm>
            <a:off x="9872663" y="8184431"/>
            <a:ext cx="89154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53" name="Google Shape;204;p15">
            <a:extLst>
              <a:ext uri="{FF2B5EF4-FFF2-40B4-BE49-F238E27FC236}">
                <a16:creationId xmlns:a16="http://schemas.microsoft.com/office/drawing/2014/main" id="{64B2C871-ABA7-44B3-B0B7-325166378C1F}"/>
              </a:ext>
            </a:extLst>
          </p:cNvPr>
          <p:cNvSpPr txBox="1"/>
          <p:nvPr/>
        </p:nvSpPr>
        <p:spPr>
          <a:xfrm>
            <a:off x="9872663" y="8712026"/>
            <a:ext cx="89154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54" name="Google Shape;205;p15">
            <a:extLst>
              <a:ext uri="{FF2B5EF4-FFF2-40B4-BE49-F238E27FC236}">
                <a16:creationId xmlns:a16="http://schemas.microsoft.com/office/drawing/2014/main" id="{07ABD494-85EE-4015-A0DD-F67CB9EE4409}"/>
              </a:ext>
            </a:extLst>
          </p:cNvPr>
          <p:cNvSpPr txBox="1"/>
          <p:nvPr/>
        </p:nvSpPr>
        <p:spPr>
          <a:xfrm>
            <a:off x="9872663" y="9166323"/>
            <a:ext cx="89154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55" name="TextBox 20">
            <a:extLst>
              <a:ext uri="{FF2B5EF4-FFF2-40B4-BE49-F238E27FC236}">
                <a16:creationId xmlns:a16="http://schemas.microsoft.com/office/drawing/2014/main" id="{BB57B195-44B9-4607-B916-53799CB9946F}"/>
              </a:ext>
            </a:extLst>
          </p:cNvPr>
          <p:cNvSpPr txBox="1"/>
          <p:nvPr/>
        </p:nvSpPr>
        <p:spPr>
          <a:xfrm>
            <a:off x="3514189" y="1514764"/>
            <a:ext cx="14268985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일을 하는 직장</a:t>
            </a:r>
            <a:r>
              <a:rPr lang="en-US" altLang="ko-KR" sz="2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업무예절은 중요하다</a:t>
            </a:r>
            <a:r>
              <a:rPr lang="en-US" altLang="ko-KR" sz="2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r>
              <a:rPr lang="ko-KR" altLang="en-US" sz="2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회사는 학교와 다르다는 것을 인지하자</a:t>
            </a:r>
            <a:r>
              <a:rPr lang="en-US" altLang="ko-KR" sz="2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2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세부 내용은 교재 참고</a:t>
            </a:r>
            <a:r>
              <a:rPr lang="en-US" altLang="ko-KR" sz="2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ko-KR" sz="2400" i="0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B9762012-BCFB-4E39-8A53-F5F866CC3DBE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4481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83499" y="724719"/>
            <a:ext cx="11954472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1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비즈니스 매너 체험하기</a:t>
            </a:r>
            <a:endParaRPr lang="en-US" sz="4800" b="1" i="0" u="none" strike="noStrike" spc="-100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1089345" y="2603682"/>
            <a:ext cx="12709193" cy="6650643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4517974" y="5344799"/>
            <a:ext cx="3544039" cy="3882909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23252" y="972141"/>
            <a:ext cx="122092" cy="590205"/>
            <a:chOff x="0" y="0"/>
            <a:chExt cx="444637" cy="309271"/>
          </a:xfrm>
          <a:solidFill>
            <a:schemeClr val="accent1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9A815AB-D1C1-46C5-828D-047DF18C9AD2}"/>
              </a:ext>
            </a:extLst>
          </p:cNvPr>
          <p:cNvSpPr txBox="1"/>
          <p:nvPr/>
        </p:nvSpPr>
        <p:spPr>
          <a:xfrm>
            <a:off x="1501842" y="5344799"/>
            <a:ext cx="4861689" cy="1590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교재 본문에서 공부한 비즈니스 매너를 워크시트지에 작성 후</a:t>
            </a:r>
            <a:endParaRPr lang="en-US" altLang="ko-KR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b="1" spc="-181" dirty="0">
                <a:solidFill>
                  <a:srgbClr val="02020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DTD순고딕 Bold"/>
                <a:sym typeface="TDTD순고딕 Bold"/>
              </a:rPr>
              <a:t>친구들과 롤플레이 체험하기</a:t>
            </a:r>
            <a:endParaRPr lang="en-US" altLang="ko-KR" sz="2400" b="1" spc="-181" dirty="0">
              <a:solidFill>
                <a:srgbClr val="020202"/>
              </a:solidFill>
              <a:latin typeface="+mn-ea"/>
              <a:cs typeface="TDTD순고딕 Bold"/>
              <a:sym typeface="TDTD순고딕 Bold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36F4D69-11D5-4CB9-8178-130CF24767E9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7C19150-3CBF-403E-A72F-C0C1BD71C0D9}"/>
              </a:ext>
            </a:extLst>
          </p:cNvPr>
          <p:cNvSpPr/>
          <p:nvPr/>
        </p:nvSpPr>
        <p:spPr>
          <a:xfrm>
            <a:off x="15635099" y="9632434"/>
            <a:ext cx="209852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 120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4571CF-A993-4845-9267-14CA617BA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595" y="2869955"/>
            <a:ext cx="6523376" cy="6159745"/>
          </a:xfrm>
          <a:prstGeom prst="rect">
            <a:avLst/>
          </a:prstGeom>
        </p:spPr>
      </p:pic>
      <p:sp>
        <p:nvSpPr>
          <p:cNvPr id="16" name="TextBox 7">
            <a:extLst>
              <a:ext uri="{FF2B5EF4-FFF2-40B4-BE49-F238E27FC236}">
                <a16:creationId xmlns:a16="http://schemas.microsoft.com/office/drawing/2014/main" id="{F7F07AA7-2B7F-42EB-A199-864A18A9C4A9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0876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 descr="비둘기 윤곽선">
            <a:extLst>
              <a:ext uri="{FF2B5EF4-FFF2-40B4-BE49-F238E27FC236}">
                <a16:creationId xmlns:a16="http://schemas.microsoft.com/office/drawing/2014/main" id="{EFF2BA02-4EAF-3FDC-7AF3-A273B57B2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0" y="483539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628</Words>
  <Application>Microsoft Office PowerPoint</Application>
  <PresentationFormat>사용자 지정</PresentationFormat>
  <Paragraphs>121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Arial</vt:lpstr>
      <vt:lpstr>굴림</vt:lpstr>
      <vt:lpstr>나눔고딕</vt:lpstr>
      <vt:lpstr>Calibri</vt:lpstr>
      <vt:lpstr>맑은 고딕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146</cp:revision>
  <dcterms:created xsi:type="dcterms:W3CDTF">2006-08-16T00:00:00Z</dcterms:created>
  <dcterms:modified xsi:type="dcterms:W3CDTF">2026-03-03T07:07:11Z</dcterms:modified>
</cp:coreProperties>
</file>