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340" r:id="rId2"/>
    <p:sldId id="341" r:id="rId3"/>
    <p:sldId id="342" r:id="rId4"/>
    <p:sldId id="519" r:id="rId5"/>
    <p:sldId id="518" r:id="rId6"/>
    <p:sldId id="520" r:id="rId7"/>
    <p:sldId id="343" r:id="rId8"/>
    <p:sldId id="512" r:id="rId9"/>
  </p:sldIdLst>
  <p:sldSz cx="18288000" cy="10287000"/>
  <p:notesSz cx="6858000" cy="9144000"/>
  <p:embeddedFontLst>
    <p:embeddedFont>
      <p:font typeface="Gmarket Sans Medium" panose="020B0600000101010101" charset="-127"/>
      <p:regular r:id="rId11"/>
    </p:embeddedFont>
    <p:embeddedFont>
      <p:font typeface="Pretendard Regular" panose="020B0600000101010101" charset="-127"/>
      <p:regular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8E5"/>
    <a:srgbClr val="FF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 autoAdjust="0"/>
    <p:restoredTop sz="94622" autoAdjust="0"/>
  </p:normalViewPr>
  <p:slideViewPr>
    <p:cSldViewPr>
      <p:cViewPr varScale="1">
        <p:scale>
          <a:sx n="99" d="100"/>
          <a:sy n="99" d="100"/>
        </p:scale>
        <p:origin x="78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1B1C3-5D0E-4806-BAAA-95815FF0384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8C21A-DA85-4505-A54C-645BC087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144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0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42900" y="1663700"/>
            <a:ext cx="6223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14070" y="5629275"/>
            <a:ext cx="889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58570" y="1346200"/>
            <a:ext cx="97155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진로설계 </a:t>
            </a:r>
            <a:r>
              <a:rPr lang="en-US" altLang="ko-KR" sz="6600" b="1" dirty="0">
                <a:solidFill>
                  <a:srgbClr val="505050"/>
                </a:solidFill>
                <a:latin typeface="+mj-ea"/>
                <a:ea typeface="+mj-ea"/>
              </a:rPr>
              <a:t>4.</a:t>
            </a:r>
          </a:p>
          <a:p>
            <a:pPr lvl="0" algn="l">
              <a:lnSpc>
                <a:spcPct val="99600"/>
              </a:lnSpc>
            </a:pP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취업전략과</a:t>
            </a: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 </a:t>
            </a: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실전취업</a:t>
            </a:r>
            <a:endParaRPr lang="en-US" sz="6600" b="1" i="0" u="none" strike="noStrike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3000" y="6896100"/>
            <a:ext cx="72644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3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주차</a:t>
            </a: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. 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취업목표 설정 </a:t>
            </a: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2</a:t>
            </a:r>
            <a:endParaRPr lang="ko-KR" sz="5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6C7F429-F160-47A6-8A64-C27B90CB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442126"/>
            <a:ext cx="2798834" cy="600243"/>
          </a:xfrm>
          <a:prstGeom prst="rect">
            <a:avLst/>
          </a:pr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17094926-8E90-413A-924D-78830B690DF0}"/>
              </a:ext>
            </a:extLst>
          </p:cNvPr>
          <p:cNvSpPr/>
          <p:nvPr/>
        </p:nvSpPr>
        <p:spPr>
          <a:xfrm>
            <a:off x="9691039" y="2867024"/>
            <a:ext cx="8590034" cy="7302501"/>
          </a:xfrm>
          <a:custGeom>
            <a:avLst/>
            <a:gdLst/>
            <a:ahLst/>
            <a:cxnLst/>
            <a:rect l="l" t="t" r="r" b="b"/>
            <a:pathLst>
              <a:path w="9256196" h="8229600">
                <a:moveTo>
                  <a:pt x="0" y="0"/>
                </a:moveTo>
                <a:lnTo>
                  <a:pt x="9256196" y="0"/>
                </a:lnTo>
                <a:lnTo>
                  <a:pt x="925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27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331ADB4-7088-4FC4-8485-F6FACADEFEA6}"/>
              </a:ext>
            </a:extLst>
          </p:cNvPr>
          <p:cNvSpPr/>
          <p:nvPr/>
        </p:nvSpPr>
        <p:spPr>
          <a:xfrm>
            <a:off x="7696200" y="-266700"/>
            <a:ext cx="10591800" cy="10896595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9076177" y="5840217"/>
            <a:ext cx="69977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0777" y="5154417"/>
            <a:ext cx="1371600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686800" y="2605690"/>
            <a:ext cx="659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400" dirty="0">
                <a:solidFill>
                  <a:srgbClr val="505050"/>
                </a:solidFill>
                <a:latin typeface="+mj-ea"/>
                <a:ea typeface="+mj-ea"/>
              </a:rPr>
              <a:t>학습목표</a:t>
            </a:r>
            <a:endParaRPr lang="ko-KR" sz="4800" b="1" i="0" u="none" strike="noStrike" spc="-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676377" y="5141717"/>
            <a:ext cx="4953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취업목표 설정</a:t>
            </a:r>
            <a:endParaRPr lang="ko-KR" sz="2800" b="1" i="0" u="none" strike="noStrike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90477" y="5217917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9076177" y="6805417"/>
            <a:ext cx="69977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0777" y="6094217"/>
            <a:ext cx="1371600" cy="419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676377" y="6081516"/>
            <a:ext cx="5575300" cy="5635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관심 채용정보 리스트 작성</a:t>
            </a:r>
            <a:endParaRPr lang="ko-KR" sz="2800" b="1" i="0" u="none" strike="noStrike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190477" y="6157717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>
                <a:solidFill>
                  <a:srgbClr val="F8F8F8"/>
                </a:solidFill>
                <a:latin typeface="+mn-ea"/>
              </a:rPr>
              <a:t>POINT.02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6699729-652E-4AF5-BBEC-235E549CDDA1}"/>
              </a:ext>
            </a:extLst>
          </p:cNvPr>
          <p:cNvSpPr/>
          <p:nvPr/>
        </p:nvSpPr>
        <p:spPr>
          <a:xfrm>
            <a:off x="707715" y="2357437"/>
            <a:ext cx="6239185" cy="6937375"/>
          </a:xfrm>
          <a:custGeom>
            <a:avLst/>
            <a:gdLst/>
            <a:ahLst/>
            <a:cxnLst/>
            <a:rect l="l" t="t" r="r" b="b"/>
            <a:pathLst>
              <a:path w="5550107" h="4763001">
                <a:moveTo>
                  <a:pt x="0" y="0"/>
                </a:moveTo>
                <a:lnTo>
                  <a:pt x="5550106" y="0"/>
                </a:lnTo>
                <a:lnTo>
                  <a:pt x="5550106" y="4763001"/>
                </a:lnTo>
                <a:lnTo>
                  <a:pt x="0" y="47630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F04DE6F0-BEF0-411B-A74D-5D8C9DE1256A}"/>
              </a:ext>
            </a:extLst>
          </p:cNvPr>
          <p:cNvSpPr txBox="1"/>
          <p:nvPr/>
        </p:nvSpPr>
        <p:spPr>
          <a:xfrm>
            <a:off x="8686800" y="4011417"/>
            <a:ext cx="85852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01. 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취업목표 설정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A16FAA1-C23E-4D18-9DCD-E7CB520FE825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p.27</a:t>
            </a:r>
          </a:p>
        </p:txBody>
      </p:sp>
    </p:spTree>
    <p:extLst>
      <p:ext uri="{BB962C8B-B14F-4D97-AF65-F5344CB8AC3E}">
        <p14:creationId xmlns:p14="http://schemas.microsoft.com/office/powerpoint/2010/main" val="3892502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99285" y="896183"/>
            <a:ext cx="13907515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취업목표 설정하기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417090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p.38~39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9D820C5-C61D-4FC0-88A0-5DB513FA5B3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20">
            <a:extLst>
              <a:ext uri="{FF2B5EF4-FFF2-40B4-BE49-F238E27FC236}">
                <a16:creationId xmlns:a16="http://schemas.microsoft.com/office/drawing/2014/main" id="{9108223B-7120-4CA8-B079-06C93A13C194}"/>
              </a:ext>
            </a:extLst>
          </p:cNvPr>
          <p:cNvSpPr txBox="1"/>
          <p:nvPr/>
        </p:nvSpPr>
        <p:spPr>
          <a:xfrm>
            <a:off x="1930400" y="2188882"/>
            <a:ext cx="16490201" cy="8163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1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채용포털</a:t>
            </a:r>
            <a:r>
              <a:rPr lang="ko-KR" altLang="en-US" sz="24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사이트를 통해 </a:t>
            </a:r>
            <a:r>
              <a:rPr lang="ko-KR" altLang="en-US" sz="2400" b="1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직무별</a:t>
            </a:r>
            <a:r>
              <a:rPr lang="ko-KR" altLang="en-US" sz="24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요구역량을 확인하고 관심 산업과 직무분야 등 취업목표 설정하기</a:t>
            </a:r>
            <a:endParaRPr lang="ko-KR" sz="2400" b="1" i="0" u="sng" strike="noStrike" spc="-1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D0BD8DDB-4366-47E0-A895-AC70A70C3F6C}"/>
              </a:ext>
            </a:extLst>
          </p:cNvPr>
          <p:cNvSpPr txBox="1"/>
          <p:nvPr/>
        </p:nvSpPr>
        <p:spPr>
          <a:xfrm>
            <a:off x="9720667" y="3242159"/>
            <a:ext cx="8026402" cy="8163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800" b="1" spc="-100">
                <a:solidFill>
                  <a:schemeClr val="accent6">
                    <a:lumMod val="50000"/>
                  </a:schemeClr>
                </a:solidFill>
                <a:latin typeface="+mn-ea"/>
              </a:rPr>
              <a:t>사람인 활용하</a:t>
            </a:r>
            <a:r>
              <a:rPr lang="ko-KR" altLang="en-US" sz="2800" b="1" i="0" strike="noStrike" spc="-100">
                <a:solidFill>
                  <a:schemeClr val="accent6">
                    <a:lumMod val="50000"/>
                  </a:schemeClr>
                </a:solidFill>
                <a:latin typeface="+mn-ea"/>
              </a:rPr>
              <a:t>기</a:t>
            </a:r>
            <a:endParaRPr lang="ko-KR" sz="2800" b="1" i="0" strike="noStrike" spc="-10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B1BBD1-7AFE-4739-8A5D-A4ACD763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57" y="4062454"/>
            <a:ext cx="7613117" cy="5569971"/>
          </a:xfrm>
          <a:prstGeom prst="rect">
            <a:avLst/>
          </a:prstGeom>
        </p:spPr>
      </p:pic>
      <p:sp>
        <p:nvSpPr>
          <p:cNvPr id="16" name="TextBox 20">
            <a:extLst>
              <a:ext uri="{FF2B5EF4-FFF2-40B4-BE49-F238E27FC236}">
                <a16:creationId xmlns:a16="http://schemas.microsoft.com/office/drawing/2014/main" id="{8CA54E4B-36CA-4A8A-9605-593057ACA27B}"/>
              </a:ext>
            </a:extLst>
          </p:cNvPr>
          <p:cNvSpPr txBox="1"/>
          <p:nvPr/>
        </p:nvSpPr>
        <p:spPr>
          <a:xfrm>
            <a:off x="818615" y="3265742"/>
            <a:ext cx="8026402" cy="8163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en-US" altLang="ko-KR" sz="2800" b="1" i="0" strike="noStrike" spc="-1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Indeed </a:t>
            </a:r>
            <a:r>
              <a:rPr lang="ko-KR" altLang="en-US" sz="2800" b="1" i="0" strike="noStrike" spc="-1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활용하기</a:t>
            </a:r>
            <a:endParaRPr lang="ko-KR" sz="2800" b="1" i="0" strike="noStrike" spc="-10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77E22F-5090-4214-BCC3-F3C8F1986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61" y="4051587"/>
            <a:ext cx="7968376" cy="5339229"/>
          </a:xfrm>
          <a:prstGeom prst="rect">
            <a:avLst/>
          </a:prstGeom>
        </p:spPr>
      </p:pic>
      <p:sp>
        <p:nvSpPr>
          <p:cNvPr id="12" name="TextBox 7">
            <a:extLst>
              <a:ext uri="{FF2B5EF4-FFF2-40B4-BE49-F238E27FC236}">
                <a16:creationId xmlns:a16="http://schemas.microsoft.com/office/drawing/2014/main" id="{3860A3DB-A261-4C86-8FC8-5D5E73B51391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0952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99285" y="896183"/>
            <a:ext cx="13907515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고용</a:t>
            </a:r>
            <a:r>
              <a:rPr lang="en-US" altLang="ko-KR" sz="6200" b="1" spc="-500" dirty="0">
                <a:solidFill>
                  <a:srgbClr val="505050"/>
                </a:solidFill>
                <a:latin typeface="Gmarket Sans Medium"/>
              </a:rPr>
              <a:t>24 </a:t>
            </a:r>
            <a:r>
              <a:rPr lang="ko-KR" altLang="en-US" sz="6200" b="1" spc="-500" dirty="0" err="1">
                <a:solidFill>
                  <a:srgbClr val="505050"/>
                </a:solidFill>
                <a:latin typeface="Gmarket Sans Medium"/>
              </a:rPr>
              <a:t>잡케어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 직업설계서 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02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410550" y="9632434"/>
            <a:ext cx="23230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p.40~41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9D820C5-C61D-4FC0-88A0-5DB513FA5B3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130681D-71D2-4372-99B3-1CDBE8884A05}"/>
              </a:ext>
            </a:extLst>
          </p:cNvPr>
          <p:cNvSpPr txBox="1"/>
          <p:nvPr/>
        </p:nvSpPr>
        <p:spPr>
          <a:xfrm>
            <a:off x="228600" y="9528447"/>
            <a:ext cx="7709491" cy="6596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1100" dirty="0">
                <a:solidFill>
                  <a:srgbClr val="000000"/>
                </a:solidFill>
                <a:latin typeface="+mj-ea"/>
                <a:ea typeface="+mj-ea"/>
              </a:rPr>
              <a:t>이미지 출처</a:t>
            </a:r>
            <a:r>
              <a:rPr lang="en-US" altLang="ko-KR" sz="1100" dirty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ko-KR" altLang="en-US" sz="1100" dirty="0">
                <a:solidFill>
                  <a:srgbClr val="000000"/>
                </a:solidFill>
                <a:latin typeface="+mj-ea"/>
                <a:ea typeface="+mj-ea"/>
              </a:rPr>
              <a:t>휴대전화로 간편한 진로탐색</a:t>
            </a:r>
            <a:r>
              <a:rPr lang="en-US" altLang="ko-KR" sz="1100" dirty="0">
                <a:solidFill>
                  <a:srgbClr val="000000"/>
                </a:solidFill>
                <a:latin typeface="+mj-ea"/>
                <a:ea typeface="+mj-ea"/>
              </a:rPr>
              <a:t> ‘</a:t>
            </a:r>
            <a:r>
              <a:rPr lang="ko-KR" altLang="en-US" sz="1100" dirty="0">
                <a:solidFill>
                  <a:srgbClr val="000000"/>
                </a:solidFill>
                <a:latin typeface="+mj-ea"/>
                <a:ea typeface="+mj-ea"/>
              </a:rPr>
              <a:t>모바일 </a:t>
            </a:r>
            <a:r>
              <a:rPr lang="ko-KR" altLang="en-US" sz="1100" dirty="0" err="1">
                <a:solidFill>
                  <a:srgbClr val="000000"/>
                </a:solidFill>
                <a:latin typeface="+mj-ea"/>
                <a:ea typeface="+mj-ea"/>
              </a:rPr>
              <a:t>잡케어</a:t>
            </a:r>
            <a:r>
              <a:rPr lang="ko-KR" altLang="en-US" sz="1100" dirty="0">
                <a:solidFill>
                  <a:srgbClr val="000000"/>
                </a:solidFill>
                <a:latin typeface="+mj-ea"/>
                <a:ea typeface="+mj-ea"/>
              </a:rPr>
              <a:t> 서비스</a:t>
            </a:r>
            <a:r>
              <a:rPr lang="en-US" altLang="ko-KR" sz="1100" dirty="0">
                <a:solidFill>
                  <a:srgbClr val="000000"/>
                </a:solidFill>
                <a:latin typeface="+mj-ea"/>
                <a:ea typeface="+mj-ea"/>
              </a:rPr>
              <a:t>’</a:t>
            </a:r>
          </a:p>
          <a:p>
            <a:pPr lvl="0" algn="ctr">
              <a:lnSpc>
                <a:spcPct val="107899"/>
              </a:lnSpc>
            </a:pPr>
            <a:r>
              <a:rPr lang="en-US" sz="1100" dirty="0">
                <a:solidFill>
                  <a:srgbClr val="000000"/>
                </a:solidFill>
                <a:latin typeface="+mj-ea"/>
                <a:ea typeface="+mj-ea"/>
              </a:rPr>
              <a:t>https://www.1conomynews.co.kr/news/articleView.html?idxno=32310</a:t>
            </a:r>
            <a:endParaRPr lang="en-US" sz="1100" b="0" i="0" u="none" strike="noStrike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5" name="TextBox 20">
            <a:extLst>
              <a:ext uri="{FF2B5EF4-FFF2-40B4-BE49-F238E27FC236}">
                <a16:creationId xmlns:a16="http://schemas.microsoft.com/office/drawing/2014/main" id="{07BBFB82-5CE5-45AC-B033-6C11295C137F}"/>
              </a:ext>
            </a:extLst>
          </p:cNvPr>
          <p:cNvSpPr txBox="1"/>
          <p:nvPr/>
        </p:nvSpPr>
        <p:spPr>
          <a:xfrm>
            <a:off x="1260519" y="3005637"/>
            <a:ext cx="4191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2100" b="0" i="0" u="none" strike="noStrike" dirty="0">
                <a:solidFill>
                  <a:srgbClr val="FFFFFF"/>
                </a:solidFill>
                <a:latin typeface="Pretendard Regular"/>
              </a:rPr>
              <a:t>2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AB5888F-D527-410A-85DF-589DC3C17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09" y="3068229"/>
            <a:ext cx="6153150" cy="611094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F582B3F-2EE8-421D-8CEE-28EBF78E3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091" y="3102700"/>
            <a:ext cx="9664109" cy="35911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E4F1A3-D9BE-4CD1-8311-F8AB03D29B32}"/>
              </a:ext>
            </a:extLst>
          </p:cNvPr>
          <p:cNvSpPr txBox="1"/>
          <p:nvPr/>
        </p:nvSpPr>
        <p:spPr>
          <a:xfrm>
            <a:off x="8167403" y="7561529"/>
            <a:ext cx="9791700" cy="8163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ko-KR" altLang="en-US" sz="2400" b="1" spc="-1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D2D8E5"/>
                </a:highlight>
                <a:latin typeface="+mn-ea"/>
              </a:rPr>
              <a:t>개인의 이력정보를 분석하여 보유한 직무역량을 기재하고 연관 직업 추천</a:t>
            </a:r>
            <a:endParaRPr lang="en-US" altLang="ko-KR" sz="2400" b="1" spc="-1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D2D8E5"/>
              </a:highlight>
              <a:latin typeface="+mn-ea"/>
            </a:endParaRPr>
          </a:p>
          <a:p>
            <a:pPr lvl="0">
              <a:lnSpc>
                <a:spcPct val="99600"/>
              </a:lnSpc>
            </a:pPr>
            <a:endParaRPr lang="en-US" altLang="ko-KR" sz="2400" b="1" spc="-1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D2D8E5"/>
              </a:highlight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en-US" altLang="ko-KR" sz="2400" b="1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24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1. </a:t>
            </a:r>
            <a:r>
              <a:rPr lang="ko-KR" altLang="en-US" sz="24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직업별 필요한 역량 및 보유 역량 제시를 통해 경력개발 경로 제공</a:t>
            </a:r>
            <a:endParaRPr lang="en-US" altLang="ko-KR" sz="2400" b="1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vl="0">
              <a:lnSpc>
                <a:spcPct val="99600"/>
              </a:lnSpc>
            </a:pPr>
            <a:r>
              <a:rPr lang="en-US" altLang="ko-KR" sz="2400" b="1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2. </a:t>
            </a:r>
            <a:r>
              <a:rPr lang="ko-KR" altLang="en-US" sz="2400" b="1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임금</a:t>
            </a:r>
            <a:r>
              <a:rPr lang="en-US" altLang="ko-KR" sz="2400" b="1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400" b="1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자격</a:t>
            </a:r>
            <a:r>
              <a:rPr lang="en-US" altLang="ko-KR" sz="2400" b="1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400" b="1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일자리</a:t>
            </a:r>
            <a:r>
              <a:rPr lang="en-US" altLang="ko-KR" sz="2400" b="1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400" b="1" i="0" strike="noStrike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훈련 등의 시장정보와 추천 정보 제공</a:t>
            </a:r>
            <a:endParaRPr lang="ko-KR" sz="2400" b="1" i="0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5DF0B055-D651-4FAD-B3C0-C771D1E4E2AA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7440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99285" y="896183"/>
            <a:ext cx="13907515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고용</a:t>
            </a:r>
            <a:r>
              <a:rPr lang="en-US" altLang="ko-KR" sz="6200" b="1" spc="-500" dirty="0">
                <a:solidFill>
                  <a:srgbClr val="505050"/>
                </a:solidFill>
                <a:latin typeface="Gmarket Sans Medium"/>
              </a:rPr>
              <a:t>24 </a:t>
            </a:r>
            <a:r>
              <a:rPr lang="ko-KR" altLang="en-US" sz="6200" b="1" spc="-500" dirty="0" err="1">
                <a:solidFill>
                  <a:srgbClr val="505050"/>
                </a:solidFill>
                <a:latin typeface="Gmarket Sans Medium"/>
              </a:rPr>
              <a:t>잡케어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 직업설계서 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03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843361" y="9632434"/>
            <a:ext cx="189026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p.41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9D820C5-C61D-4FC0-88A0-5DB513FA5B3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0">
            <a:extLst>
              <a:ext uri="{FF2B5EF4-FFF2-40B4-BE49-F238E27FC236}">
                <a16:creationId xmlns:a16="http://schemas.microsoft.com/office/drawing/2014/main" id="{A0398436-FCA5-449A-920B-3F7284D6F80B}"/>
              </a:ext>
            </a:extLst>
          </p:cNvPr>
          <p:cNvSpPr txBox="1"/>
          <p:nvPr/>
        </p:nvSpPr>
        <p:spPr>
          <a:xfrm>
            <a:off x="1260519" y="3006061"/>
            <a:ext cx="4191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2100" b="0" i="0" u="none" strike="noStrike" dirty="0">
                <a:solidFill>
                  <a:srgbClr val="FFFFFF"/>
                </a:solidFill>
                <a:latin typeface="Pretendard Regular"/>
              </a:rPr>
              <a:t>2</a:t>
            </a: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8EA51B10-B53A-48E2-85D2-AB0F40B912B5}"/>
              </a:ext>
            </a:extLst>
          </p:cNvPr>
          <p:cNvSpPr txBox="1"/>
          <p:nvPr/>
        </p:nvSpPr>
        <p:spPr>
          <a:xfrm>
            <a:off x="666214" y="2615819"/>
            <a:ext cx="14268985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 algn="l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800" b="1" i="0" u="sng" strike="noStrike" spc="-100" dirty="0" err="1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잡케어</a:t>
            </a:r>
            <a:r>
              <a:rPr lang="ko-KR" altLang="en-US" sz="2800" b="1" i="0" u="sng" strike="noStrike" spc="-1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직업설계서는 </a:t>
            </a:r>
            <a:r>
              <a:rPr lang="en-US" altLang="ko-KR" sz="2800" b="1" i="0" u="sng" strike="noStrike" spc="-1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AI</a:t>
            </a:r>
            <a:r>
              <a:rPr lang="ko-KR" altLang="en-US" sz="2800" b="1" i="0" u="sng" strike="noStrike" spc="-1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가 사용자의 관심사항</a:t>
            </a:r>
            <a:r>
              <a:rPr lang="en-US" altLang="ko-KR" sz="2800" b="1" i="0" u="sng" strike="noStrike" spc="-1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2800" b="1" i="0" u="sng" strike="noStrike" spc="-1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프로필을 분석하여 적합한 직업을 추천</a:t>
            </a:r>
            <a:endParaRPr lang="ko-KR" sz="2800" b="1" i="0" u="sng" strike="noStrike" spc="-100" dirty="0">
              <a:solidFill>
                <a:schemeClr val="accent6">
                  <a:lumMod val="50000"/>
                </a:schemeClr>
              </a:solidFill>
              <a:highlight>
                <a:srgbClr val="FFFF00"/>
              </a:highlight>
              <a:latin typeface="+mn-ea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05C1EAAC-8DF7-4DFD-904D-EF061AD1F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959" y="4263326"/>
            <a:ext cx="8445500" cy="4861062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81B90B19-0B31-4F20-8532-2E6DBA7ABE31}"/>
              </a:ext>
            </a:extLst>
          </p:cNvPr>
          <p:cNvGrpSpPr/>
          <p:nvPr/>
        </p:nvGrpSpPr>
        <p:grpSpPr>
          <a:xfrm>
            <a:off x="9915556" y="4451334"/>
            <a:ext cx="896450" cy="925369"/>
            <a:chOff x="9913037" y="2173527"/>
            <a:chExt cx="1563400" cy="1563400"/>
          </a:xfrm>
        </p:grpSpPr>
        <p:grpSp>
          <p:nvGrpSpPr>
            <p:cNvPr id="27" name="Group 10">
              <a:extLst>
                <a:ext uri="{FF2B5EF4-FFF2-40B4-BE49-F238E27FC236}">
                  <a16:creationId xmlns:a16="http://schemas.microsoft.com/office/drawing/2014/main" id="{C2ED35AC-3CC9-4459-8F34-2FD25917131C}"/>
                </a:ext>
              </a:extLst>
            </p:cNvPr>
            <p:cNvGrpSpPr/>
            <p:nvPr/>
          </p:nvGrpSpPr>
          <p:grpSpPr>
            <a:xfrm>
              <a:off x="9913037" y="2173527"/>
              <a:ext cx="1563400" cy="1563400"/>
              <a:chOff x="0" y="0"/>
              <a:chExt cx="369810" cy="369810"/>
            </a:xfrm>
          </p:grpSpPr>
          <p:sp>
            <p:nvSpPr>
              <p:cNvPr id="29" name="Freeform 11">
                <a:extLst>
                  <a:ext uri="{FF2B5EF4-FFF2-40B4-BE49-F238E27FC236}">
                    <a16:creationId xmlns:a16="http://schemas.microsoft.com/office/drawing/2014/main" id="{F34B5AD0-438A-4174-9BA0-B61AB3B957DF}"/>
                  </a:ext>
                </a:extLst>
              </p:cNvPr>
              <p:cNvSpPr/>
              <p:nvPr/>
            </p:nvSpPr>
            <p:spPr>
              <a:xfrm>
                <a:off x="0" y="0"/>
                <a:ext cx="369810" cy="369810"/>
              </a:xfrm>
              <a:custGeom>
                <a:avLst/>
                <a:gdLst/>
                <a:ahLst/>
                <a:cxnLst/>
                <a:rect l="l" t="t" r="r" b="b"/>
                <a:pathLst>
                  <a:path w="369810" h="369810">
                    <a:moveTo>
                      <a:pt x="99040" y="0"/>
                    </a:moveTo>
                    <a:lnTo>
                      <a:pt x="270770" y="0"/>
                    </a:lnTo>
                    <a:cubicBezTo>
                      <a:pt x="297037" y="0"/>
                      <a:pt x="322228" y="10434"/>
                      <a:pt x="340802" y="29008"/>
                    </a:cubicBezTo>
                    <a:cubicBezTo>
                      <a:pt x="359375" y="47582"/>
                      <a:pt x="369810" y="72773"/>
                      <a:pt x="369810" y="99040"/>
                    </a:cubicBezTo>
                    <a:lnTo>
                      <a:pt x="369810" y="270770"/>
                    </a:lnTo>
                    <a:cubicBezTo>
                      <a:pt x="369810" y="297037"/>
                      <a:pt x="359375" y="322228"/>
                      <a:pt x="340802" y="340802"/>
                    </a:cubicBezTo>
                    <a:cubicBezTo>
                      <a:pt x="322228" y="359375"/>
                      <a:pt x="297037" y="369810"/>
                      <a:pt x="270770" y="369810"/>
                    </a:cubicBezTo>
                    <a:lnTo>
                      <a:pt x="99040" y="369810"/>
                    </a:lnTo>
                    <a:cubicBezTo>
                      <a:pt x="72773" y="369810"/>
                      <a:pt x="47582" y="359375"/>
                      <a:pt x="29008" y="340802"/>
                    </a:cubicBezTo>
                    <a:cubicBezTo>
                      <a:pt x="10434" y="322228"/>
                      <a:pt x="0" y="297037"/>
                      <a:pt x="0" y="270770"/>
                    </a:cubicBezTo>
                    <a:lnTo>
                      <a:pt x="0" y="99040"/>
                    </a:lnTo>
                    <a:cubicBezTo>
                      <a:pt x="0" y="72773"/>
                      <a:pt x="10434" y="47582"/>
                      <a:pt x="29008" y="29008"/>
                    </a:cubicBezTo>
                    <a:cubicBezTo>
                      <a:pt x="47582" y="10434"/>
                      <a:pt x="72773" y="0"/>
                      <a:pt x="99040" y="0"/>
                    </a:cubicBezTo>
                    <a:close/>
                  </a:path>
                </a:pathLst>
              </a:custGeom>
              <a:solidFill>
                <a:srgbClr val="1A79E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12">
                <a:extLst>
                  <a:ext uri="{FF2B5EF4-FFF2-40B4-BE49-F238E27FC236}">
                    <a16:creationId xmlns:a16="http://schemas.microsoft.com/office/drawing/2014/main" id="{C076AC1C-0DBE-4130-A55F-352D0942EC15}"/>
                  </a:ext>
                </a:extLst>
              </p:cNvPr>
              <p:cNvSpPr txBox="1"/>
              <p:nvPr/>
            </p:nvSpPr>
            <p:spPr>
              <a:xfrm>
                <a:off x="0" y="19050"/>
                <a:ext cx="369810" cy="3507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4"/>
                  </a:lnSpc>
                </a:pPr>
                <a:endParaRPr/>
              </a:p>
            </p:txBody>
          </p:sp>
        </p:grp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AEA0D182-ACD9-4476-92FA-8B3D13775F2E}"/>
                </a:ext>
              </a:extLst>
            </p:cNvPr>
            <p:cNvSpPr/>
            <p:nvPr/>
          </p:nvSpPr>
          <p:spPr>
            <a:xfrm>
              <a:off x="10108247" y="2482369"/>
              <a:ext cx="1172980" cy="945715"/>
            </a:xfrm>
            <a:custGeom>
              <a:avLst/>
              <a:gdLst/>
              <a:ahLst/>
              <a:cxnLst/>
              <a:rect l="l" t="t" r="r" b="b"/>
              <a:pathLst>
                <a:path w="1172980" h="945715">
                  <a:moveTo>
                    <a:pt x="0" y="0"/>
                  </a:moveTo>
                  <a:lnTo>
                    <a:pt x="1172980" y="0"/>
                  </a:lnTo>
                  <a:lnTo>
                    <a:pt x="1172980" y="945715"/>
                  </a:lnTo>
                  <a:lnTo>
                    <a:pt x="0" y="945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27F6382-4D4F-42DC-A76D-C4B52006AB4A}"/>
              </a:ext>
            </a:extLst>
          </p:cNvPr>
          <p:cNvGrpSpPr/>
          <p:nvPr/>
        </p:nvGrpSpPr>
        <p:grpSpPr>
          <a:xfrm>
            <a:off x="9939486" y="6986765"/>
            <a:ext cx="896450" cy="877701"/>
            <a:chOff x="9913037" y="3970945"/>
            <a:chExt cx="1563400" cy="1563400"/>
          </a:xfrm>
        </p:grpSpPr>
        <p:grpSp>
          <p:nvGrpSpPr>
            <p:cNvPr id="32" name="Group 16">
              <a:extLst>
                <a:ext uri="{FF2B5EF4-FFF2-40B4-BE49-F238E27FC236}">
                  <a16:creationId xmlns:a16="http://schemas.microsoft.com/office/drawing/2014/main" id="{534646F9-EE7E-41E8-B1D8-646622D6D45F}"/>
                </a:ext>
              </a:extLst>
            </p:cNvPr>
            <p:cNvGrpSpPr/>
            <p:nvPr/>
          </p:nvGrpSpPr>
          <p:grpSpPr>
            <a:xfrm>
              <a:off x="9913037" y="3970945"/>
              <a:ext cx="1563400" cy="1563400"/>
              <a:chOff x="0" y="0"/>
              <a:chExt cx="369810" cy="369810"/>
            </a:xfrm>
          </p:grpSpPr>
          <p:sp>
            <p:nvSpPr>
              <p:cNvPr id="34" name="Freeform 17">
                <a:extLst>
                  <a:ext uri="{FF2B5EF4-FFF2-40B4-BE49-F238E27FC236}">
                    <a16:creationId xmlns:a16="http://schemas.microsoft.com/office/drawing/2014/main" id="{A135426F-8119-486B-8F55-C0A9E3FEE4CC}"/>
                  </a:ext>
                </a:extLst>
              </p:cNvPr>
              <p:cNvSpPr/>
              <p:nvPr/>
            </p:nvSpPr>
            <p:spPr>
              <a:xfrm>
                <a:off x="0" y="0"/>
                <a:ext cx="369810" cy="369810"/>
              </a:xfrm>
              <a:custGeom>
                <a:avLst/>
                <a:gdLst/>
                <a:ahLst/>
                <a:cxnLst/>
                <a:rect l="l" t="t" r="r" b="b"/>
                <a:pathLst>
                  <a:path w="369810" h="369810">
                    <a:moveTo>
                      <a:pt x="99040" y="0"/>
                    </a:moveTo>
                    <a:lnTo>
                      <a:pt x="270770" y="0"/>
                    </a:lnTo>
                    <a:cubicBezTo>
                      <a:pt x="297037" y="0"/>
                      <a:pt x="322228" y="10434"/>
                      <a:pt x="340802" y="29008"/>
                    </a:cubicBezTo>
                    <a:cubicBezTo>
                      <a:pt x="359375" y="47582"/>
                      <a:pt x="369810" y="72773"/>
                      <a:pt x="369810" y="99040"/>
                    </a:cubicBezTo>
                    <a:lnTo>
                      <a:pt x="369810" y="270770"/>
                    </a:lnTo>
                    <a:cubicBezTo>
                      <a:pt x="369810" y="297037"/>
                      <a:pt x="359375" y="322228"/>
                      <a:pt x="340802" y="340802"/>
                    </a:cubicBezTo>
                    <a:cubicBezTo>
                      <a:pt x="322228" y="359375"/>
                      <a:pt x="297037" y="369810"/>
                      <a:pt x="270770" y="369810"/>
                    </a:cubicBezTo>
                    <a:lnTo>
                      <a:pt x="99040" y="369810"/>
                    </a:lnTo>
                    <a:cubicBezTo>
                      <a:pt x="72773" y="369810"/>
                      <a:pt x="47582" y="359375"/>
                      <a:pt x="29008" y="340802"/>
                    </a:cubicBezTo>
                    <a:cubicBezTo>
                      <a:pt x="10434" y="322228"/>
                      <a:pt x="0" y="297037"/>
                      <a:pt x="0" y="270770"/>
                    </a:cubicBezTo>
                    <a:lnTo>
                      <a:pt x="0" y="99040"/>
                    </a:lnTo>
                    <a:cubicBezTo>
                      <a:pt x="0" y="72773"/>
                      <a:pt x="10434" y="47582"/>
                      <a:pt x="29008" y="29008"/>
                    </a:cubicBezTo>
                    <a:cubicBezTo>
                      <a:pt x="47582" y="10434"/>
                      <a:pt x="72773" y="0"/>
                      <a:pt x="99040" y="0"/>
                    </a:cubicBezTo>
                    <a:close/>
                  </a:path>
                </a:pathLst>
              </a:custGeom>
              <a:solidFill>
                <a:srgbClr val="1A79E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5" name="TextBox 18">
                <a:extLst>
                  <a:ext uri="{FF2B5EF4-FFF2-40B4-BE49-F238E27FC236}">
                    <a16:creationId xmlns:a16="http://schemas.microsoft.com/office/drawing/2014/main" id="{95BA9128-C5D4-4E5A-9AD3-7977003841DF}"/>
                  </a:ext>
                </a:extLst>
              </p:cNvPr>
              <p:cNvSpPr txBox="1"/>
              <p:nvPr/>
            </p:nvSpPr>
            <p:spPr>
              <a:xfrm>
                <a:off x="0" y="19050"/>
                <a:ext cx="369810" cy="3507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4"/>
                  </a:lnSpc>
                </a:pPr>
                <a:endParaRPr/>
              </a:p>
            </p:txBody>
          </p:sp>
        </p:grp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3B41B381-6F97-4FDF-8A74-A4820D1DC6FA}"/>
                </a:ext>
              </a:extLst>
            </p:cNvPr>
            <p:cNvSpPr/>
            <p:nvPr/>
          </p:nvSpPr>
          <p:spPr>
            <a:xfrm>
              <a:off x="10274480" y="4236991"/>
              <a:ext cx="840515" cy="1031306"/>
            </a:xfrm>
            <a:custGeom>
              <a:avLst/>
              <a:gdLst/>
              <a:ahLst/>
              <a:cxnLst/>
              <a:rect l="l" t="t" r="r" b="b"/>
              <a:pathLst>
                <a:path w="840515" h="1031306">
                  <a:moveTo>
                    <a:pt x="0" y="0"/>
                  </a:moveTo>
                  <a:lnTo>
                    <a:pt x="840514" y="0"/>
                  </a:lnTo>
                  <a:lnTo>
                    <a:pt x="840514" y="1031307"/>
                  </a:lnTo>
                  <a:lnTo>
                    <a:pt x="0" y="1031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6" name="TextBox 28">
            <a:extLst>
              <a:ext uri="{FF2B5EF4-FFF2-40B4-BE49-F238E27FC236}">
                <a16:creationId xmlns:a16="http://schemas.microsoft.com/office/drawing/2014/main" id="{F43CE25B-91AB-4278-BB1D-42FD55AB4403}"/>
              </a:ext>
            </a:extLst>
          </p:cNvPr>
          <p:cNvSpPr txBox="1"/>
          <p:nvPr/>
        </p:nvSpPr>
        <p:spPr>
          <a:xfrm>
            <a:off x="11125200" y="4660735"/>
            <a:ext cx="543657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10"/>
              </a:lnSpc>
            </a:pPr>
            <a:r>
              <a:rPr lang="en-US" altLang="ko-KR" sz="3200" b="1" dirty="0">
                <a:solidFill>
                  <a:srgbClr val="1A79EA"/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1.</a:t>
            </a:r>
            <a:r>
              <a:rPr lang="ko-KR" altLang="en-US" sz="3200" b="1" dirty="0">
                <a:solidFill>
                  <a:srgbClr val="1A79EA"/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 직업 설계서 만들기</a:t>
            </a:r>
            <a:endParaRPr lang="en-US" sz="3200" b="1" dirty="0">
              <a:solidFill>
                <a:srgbClr val="1A79EA"/>
              </a:solidFill>
              <a:latin typeface="+mj-ea"/>
              <a:ea typeface="+mj-ea"/>
              <a:cs typeface="29LT Bukra Semi Condensed Bold"/>
              <a:sym typeface="29LT Bukra Semi Condensed Bold"/>
            </a:endParaRPr>
          </a:p>
        </p:txBody>
      </p:sp>
      <p:sp>
        <p:nvSpPr>
          <p:cNvPr id="37" name="TextBox 28">
            <a:extLst>
              <a:ext uri="{FF2B5EF4-FFF2-40B4-BE49-F238E27FC236}">
                <a16:creationId xmlns:a16="http://schemas.microsoft.com/office/drawing/2014/main" id="{7D952DD8-B11D-4B58-A254-8F801FCD35E5}"/>
              </a:ext>
            </a:extLst>
          </p:cNvPr>
          <p:cNvSpPr txBox="1"/>
          <p:nvPr/>
        </p:nvSpPr>
        <p:spPr>
          <a:xfrm>
            <a:off x="11125200" y="7220430"/>
            <a:ext cx="543657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10"/>
              </a:lnSpc>
            </a:pPr>
            <a:r>
              <a:rPr lang="en-US" altLang="ko-KR" sz="3200" b="1" dirty="0">
                <a:solidFill>
                  <a:srgbClr val="1A79EA"/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2. </a:t>
            </a:r>
            <a:r>
              <a:rPr lang="ko-KR" altLang="en-US" sz="3200" b="1" dirty="0">
                <a:solidFill>
                  <a:srgbClr val="1A79EA"/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나의 직업 설계서</a:t>
            </a:r>
            <a:endParaRPr lang="en-US" sz="3200" b="1" dirty="0">
              <a:solidFill>
                <a:srgbClr val="1A79EA"/>
              </a:solidFill>
              <a:latin typeface="+mj-ea"/>
              <a:ea typeface="+mj-ea"/>
              <a:cs typeface="29LT Bukra Semi Condensed Bold"/>
              <a:sym typeface="29LT Bukra Semi Condensed Bold"/>
            </a:endParaRPr>
          </a:p>
        </p:txBody>
      </p:sp>
      <p:sp>
        <p:nvSpPr>
          <p:cNvPr id="38" name="TextBox 28">
            <a:extLst>
              <a:ext uri="{FF2B5EF4-FFF2-40B4-BE49-F238E27FC236}">
                <a16:creationId xmlns:a16="http://schemas.microsoft.com/office/drawing/2014/main" id="{37D80F1A-8E92-4AA8-9380-25016808E377}"/>
              </a:ext>
            </a:extLst>
          </p:cNvPr>
          <p:cNvSpPr txBox="1"/>
          <p:nvPr/>
        </p:nvSpPr>
        <p:spPr>
          <a:xfrm>
            <a:off x="11295554" y="5326485"/>
            <a:ext cx="6281964" cy="1198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10"/>
              </a:lnSpc>
            </a:pP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관심 있는 키워드나 문장을 입력하여 새로운 직업을 탐색하고 프로필을 작성하여 나만의 맞춤형 직업설계서 생성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29LT Bukra Semi Condensed Bold"/>
              <a:sym typeface="29LT Bukra Semi Condensed Bold"/>
            </a:endParaRPr>
          </a:p>
        </p:txBody>
      </p:sp>
      <p:sp>
        <p:nvSpPr>
          <p:cNvPr id="39" name="TextBox 28">
            <a:extLst>
              <a:ext uri="{FF2B5EF4-FFF2-40B4-BE49-F238E27FC236}">
                <a16:creationId xmlns:a16="http://schemas.microsoft.com/office/drawing/2014/main" id="{291C503D-F9AB-4424-B3B5-F8E0E1869407}"/>
              </a:ext>
            </a:extLst>
          </p:cNvPr>
          <p:cNvSpPr txBox="1"/>
          <p:nvPr/>
        </p:nvSpPr>
        <p:spPr>
          <a:xfrm>
            <a:off x="11331413" y="7898981"/>
            <a:ext cx="6607742" cy="1198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10"/>
              </a:lnSpc>
            </a:pP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직업설계서를 통해 내가 보유한 직무능력을 파악하고 경력개발에 필요한 시장정보 확인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29LT Bukra Semi Condensed Bold"/>
              <a:sym typeface="29LT Bukra Semi Condensed Bold"/>
            </a:endParaRPr>
          </a:p>
          <a:p>
            <a:pPr>
              <a:lnSpc>
                <a:spcPts val="321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AI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가 맞춤형 일자리와 직업훈련</a:t>
            </a: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, 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자격증 등 추천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29LT Bukra Semi Condensed Bold"/>
              <a:sym typeface="29LT Bukra Semi Condensed Bold"/>
            </a:endParaRP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F2B6C152-00A4-4A40-AA20-E04D4BD6B4C3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7865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483499" y="724719"/>
            <a:ext cx="10756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개인별 취업활동계획</a:t>
            </a:r>
            <a:r>
              <a:rPr lang="en-US" altLang="ko-KR" sz="48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(IAP) </a:t>
            </a:r>
            <a:r>
              <a:rPr lang="ko-KR" altLang="en-US" sz="48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작성하기</a:t>
            </a:r>
            <a:endParaRPr lang="en-US" sz="4800" b="1" i="0" u="none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993FFB-FE35-4B1A-9121-0FE40A8425F4}"/>
              </a:ext>
            </a:extLst>
          </p:cNvPr>
          <p:cNvSpPr/>
          <p:nvPr/>
        </p:nvSpPr>
        <p:spPr bwMode="auto">
          <a:xfrm>
            <a:off x="1023253" y="2344250"/>
            <a:ext cx="13454748" cy="7322654"/>
          </a:xfrm>
          <a:prstGeom prst="rect">
            <a:avLst/>
          </a:prstGeom>
          <a:noFill/>
          <a:ln w="9525" cap="flat" cmpd="sng" algn="ctr">
            <a:solidFill>
              <a:srgbClr val="CECE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2592" eaLnBrk="1" latinLnBrk="1" hangingPunct="1"/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4859001" y="5676900"/>
            <a:ext cx="3203012" cy="3550807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23252" y="972141"/>
            <a:ext cx="122092" cy="590205"/>
            <a:chOff x="0" y="0"/>
            <a:chExt cx="444637" cy="309271"/>
          </a:xfrm>
          <a:solidFill>
            <a:schemeClr val="accent6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18" name="TextBox 3">
            <a:extLst>
              <a:ext uri="{FF2B5EF4-FFF2-40B4-BE49-F238E27FC236}">
                <a16:creationId xmlns:a16="http://schemas.microsoft.com/office/drawing/2014/main" id="{8D75B8B1-E5CB-4A37-936C-EB8978DDA723}"/>
              </a:ext>
            </a:extLst>
          </p:cNvPr>
          <p:cNvSpPr txBox="1"/>
          <p:nvPr/>
        </p:nvSpPr>
        <p:spPr>
          <a:xfrm>
            <a:off x="609600" y="2203977"/>
            <a:ext cx="13978502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0000"/>
              </a:lnSpc>
            </a:pPr>
            <a:r>
              <a:rPr lang="ko-KR" altLang="en-US" sz="2400" b="1" i="0" u="none" strike="noStrike" spc="-100" dirty="0">
                <a:solidFill>
                  <a:schemeClr val="tx2"/>
                </a:solidFill>
                <a:highlight>
                  <a:srgbClr val="D2D8E5"/>
                </a:highlight>
                <a:latin typeface="+mj-ea"/>
                <a:ea typeface="+mj-ea"/>
              </a:rPr>
              <a:t>고용</a:t>
            </a:r>
            <a:r>
              <a:rPr lang="en-US" altLang="ko-KR" sz="2400" b="1" i="0" u="none" strike="noStrike" spc="-100" dirty="0">
                <a:solidFill>
                  <a:schemeClr val="tx2"/>
                </a:solidFill>
                <a:highlight>
                  <a:srgbClr val="D2D8E5"/>
                </a:highlight>
                <a:latin typeface="+mj-ea"/>
                <a:ea typeface="+mj-ea"/>
              </a:rPr>
              <a:t>24 </a:t>
            </a:r>
            <a:r>
              <a:rPr lang="ko-KR" altLang="en-US" sz="2400" b="1" i="0" u="none" strike="noStrike" spc="-100" dirty="0" err="1">
                <a:solidFill>
                  <a:schemeClr val="tx2"/>
                </a:solidFill>
                <a:highlight>
                  <a:srgbClr val="D2D8E5"/>
                </a:highlight>
                <a:latin typeface="+mj-ea"/>
                <a:ea typeface="+mj-ea"/>
              </a:rPr>
              <a:t>잡케어를</a:t>
            </a:r>
            <a:r>
              <a:rPr lang="ko-KR" altLang="en-US" sz="2400" b="1" i="0" u="none" strike="noStrike" spc="-100" dirty="0">
                <a:solidFill>
                  <a:schemeClr val="tx2"/>
                </a:solidFill>
                <a:highlight>
                  <a:srgbClr val="D2D8E5"/>
                </a:highlight>
                <a:latin typeface="+mj-ea"/>
                <a:ea typeface="+mj-ea"/>
              </a:rPr>
              <a:t> 활용해 나의 직업설계서와 </a:t>
            </a:r>
            <a:r>
              <a:rPr lang="en-US" altLang="ko-KR" sz="2400" b="1" i="0" u="none" strike="noStrike" spc="-100" dirty="0">
                <a:solidFill>
                  <a:schemeClr val="tx2"/>
                </a:solidFill>
                <a:highlight>
                  <a:srgbClr val="D2D8E5"/>
                </a:highlight>
                <a:latin typeface="+mj-ea"/>
                <a:ea typeface="+mj-ea"/>
              </a:rPr>
              <a:t>AI</a:t>
            </a:r>
            <a:r>
              <a:rPr lang="ko-KR" altLang="en-US" sz="2400" b="1" i="0" u="none" strike="noStrike" spc="-100" dirty="0">
                <a:solidFill>
                  <a:schemeClr val="tx2"/>
                </a:solidFill>
                <a:highlight>
                  <a:srgbClr val="D2D8E5"/>
                </a:highlight>
                <a:latin typeface="+mj-ea"/>
                <a:ea typeface="+mj-ea"/>
              </a:rPr>
              <a:t>추천정보를 확인 후 개인별 역량개발 계획 작성하기</a:t>
            </a:r>
            <a:endParaRPr lang="en-US" sz="2400" b="1" i="0" u="none" strike="noStrike" spc="-100" dirty="0">
              <a:solidFill>
                <a:schemeClr val="tx2"/>
              </a:solidFill>
              <a:highlight>
                <a:srgbClr val="D2D8E5"/>
              </a:highlight>
              <a:latin typeface="+mj-ea"/>
              <a:ea typeface="+mj-ea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417090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p.42~43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4B76C31-4AEA-4D86-97BA-98E3F01AF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8" y="3181877"/>
            <a:ext cx="6175242" cy="636221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C55F1F9-898E-48D1-8DE3-577011E4D4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599" y="3181876"/>
            <a:ext cx="6370006" cy="6362213"/>
          </a:xfrm>
          <a:prstGeom prst="rect">
            <a:avLst/>
          </a:prstGeom>
        </p:spPr>
      </p:pic>
      <p:sp>
        <p:nvSpPr>
          <p:cNvPr id="14" name="TextBox 7">
            <a:extLst>
              <a:ext uri="{FF2B5EF4-FFF2-40B4-BE49-F238E27FC236}">
                <a16:creationId xmlns:a16="http://schemas.microsoft.com/office/drawing/2014/main" id="{35857C4E-C6D1-4E23-B655-02F1A84E5164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2638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483499" y="724719"/>
            <a:ext cx="10756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관심 채용정보리스트</a:t>
            </a:r>
            <a:endParaRPr lang="en-US" sz="4800" b="1" i="0" u="none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993FFB-FE35-4B1A-9121-0FE40A8425F4}"/>
              </a:ext>
            </a:extLst>
          </p:cNvPr>
          <p:cNvSpPr/>
          <p:nvPr/>
        </p:nvSpPr>
        <p:spPr bwMode="auto">
          <a:xfrm>
            <a:off x="1017551" y="2664859"/>
            <a:ext cx="14636139" cy="7024824"/>
          </a:xfrm>
          <a:prstGeom prst="rect">
            <a:avLst/>
          </a:prstGeom>
          <a:noFill/>
          <a:ln w="9525" cap="flat" cmpd="sng" algn="ctr">
            <a:solidFill>
              <a:srgbClr val="CECE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2592" eaLnBrk="1" latinLnBrk="1" hangingPunct="1"/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5070629" y="5676900"/>
            <a:ext cx="2991383" cy="3550807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23252" y="972141"/>
            <a:ext cx="122092" cy="590205"/>
            <a:chOff x="0" y="0"/>
            <a:chExt cx="444637" cy="309271"/>
          </a:xfrm>
          <a:solidFill>
            <a:schemeClr val="accent6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18" name="TextBox 3">
            <a:extLst>
              <a:ext uri="{FF2B5EF4-FFF2-40B4-BE49-F238E27FC236}">
                <a16:creationId xmlns:a16="http://schemas.microsoft.com/office/drawing/2014/main" id="{8D75B8B1-E5CB-4A37-936C-EB8978DDA723}"/>
              </a:ext>
            </a:extLst>
          </p:cNvPr>
          <p:cNvSpPr txBox="1"/>
          <p:nvPr/>
        </p:nvSpPr>
        <p:spPr>
          <a:xfrm>
            <a:off x="1337698" y="5688321"/>
            <a:ext cx="5708969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0000"/>
              </a:lnSpc>
            </a:pPr>
            <a:r>
              <a:rPr lang="ko-KR" altLang="en-US" sz="2400" b="1" spc="-100" dirty="0">
                <a:solidFill>
                  <a:schemeClr val="tx2"/>
                </a:solidFill>
                <a:latin typeface="+mj-ea"/>
                <a:ea typeface="+mj-ea"/>
              </a:rPr>
              <a:t>관심있는 기업의 채용정보를 엑셀에 </a:t>
            </a:r>
            <a:r>
              <a:rPr lang="en-US" altLang="ko-KR" sz="2400" b="1" spc="-100" dirty="0">
                <a:solidFill>
                  <a:schemeClr val="tx2"/>
                </a:solidFill>
                <a:latin typeface="+mj-ea"/>
                <a:ea typeface="+mj-ea"/>
              </a:rPr>
              <a:t>30</a:t>
            </a:r>
            <a:r>
              <a:rPr lang="ko-KR" altLang="en-US" sz="2400" b="1" spc="-100" dirty="0">
                <a:solidFill>
                  <a:schemeClr val="tx2"/>
                </a:solidFill>
                <a:latin typeface="+mj-ea"/>
                <a:ea typeface="+mj-ea"/>
              </a:rPr>
              <a:t>개 이상 정리하고 목표기업과 직무를 정해서 실제 지원해보기</a:t>
            </a:r>
            <a:endParaRPr lang="en-US" sz="2400" b="1" i="0" u="none" strike="noStrike" spc="-1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p.44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E8E2754-DD6A-463F-87E0-A65526354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2933700"/>
            <a:ext cx="6324600" cy="6563513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366330EE-191A-4D8B-B273-C1B407079B1B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1869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05B58-4173-494C-B001-534AE8A2965F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7830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4898C7-20ED-40B2-9557-F33C4D2533B7}"/>
              </a:ext>
            </a:extLst>
          </p:cNvPr>
          <p:cNvGrpSpPr/>
          <p:nvPr/>
        </p:nvGrpSpPr>
        <p:grpSpPr>
          <a:xfrm>
            <a:off x="11124059" y="3384249"/>
            <a:ext cx="6984303" cy="6092409"/>
            <a:chOff x="11506200" y="2552700"/>
            <a:chExt cx="5778544" cy="593855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A09D13B-98F2-402C-BBE4-BF7A60DC25BD}"/>
                </a:ext>
              </a:extLst>
            </p:cNvPr>
            <p:cNvSpPr/>
            <p:nvPr/>
          </p:nvSpPr>
          <p:spPr>
            <a:xfrm>
              <a:off x="11734800" y="2781302"/>
              <a:ext cx="5549944" cy="5709954"/>
            </a:xfrm>
            <a:custGeom>
              <a:avLst/>
              <a:gdLst/>
              <a:ahLst/>
              <a:cxnLst/>
              <a:rect l="l" t="t" r="r" b="b"/>
              <a:pathLst>
                <a:path w="4178344" h="4185955">
                  <a:moveTo>
                    <a:pt x="0" y="0"/>
                  </a:moveTo>
                  <a:lnTo>
                    <a:pt x="4178345" y="0"/>
                  </a:lnTo>
                  <a:lnTo>
                    <a:pt x="4178345" y="4185955"/>
                  </a:lnTo>
                  <a:lnTo>
                    <a:pt x="0" y="418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50AD5B-61F0-4F12-B093-AE3DB817DE84}"/>
                </a:ext>
              </a:extLst>
            </p:cNvPr>
            <p:cNvSpPr/>
            <p:nvPr/>
          </p:nvSpPr>
          <p:spPr>
            <a:xfrm>
              <a:off x="11506200" y="2552700"/>
              <a:ext cx="2971800" cy="2438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12">
            <a:extLst>
              <a:ext uri="{FF2B5EF4-FFF2-40B4-BE49-F238E27FC236}">
                <a16:creationId xmlns:a16="http://schemas.microsoft.com/office/drawing/2014/main" id="{899571DC-E70C-46E9-8DFB-31A843627F24}"/>
              </a:ext>
            </a:extLst>
          </p:cNvPr>
          <p:cNvSpPr txBox="1"/>
          <p:nvPr/>
        </p:nvSpPr>
        <p:spPr>
          <a:xfrm>
            <a:off x="1588251" y="5053403"/>
            <a:ext cx="14057395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응원합니다</a:t>
            </a:r>
            <a:r>
              <a:rPr lang="en-US" altLang="ko-KR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.</a:t>
            </a:r>
            <a:endParaRPr lang="en-US" sz="9600" b="1" spc="-571" dirty="0">
              <a:solidFill>
                <a:srgbClr val="524843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D3FA91B-46D5-419B-875F-26E8B1A28A63}"/>
              </a:ext>
            </a:extLst>
          </p:cNvPr>
          <p:cNvSpPr txBox="1"/>
          <p:nvPr/>
        </p:nvSpPr>
        <p:spPr>
          <a:xfrm>
            <a:off x="1524000" y="3609261"/>
            <a:ext cx="14706600" cy="136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8800" b="1" spc="-571" dirty="0">
                <a:solidFill>
                  <a:srgbClr val="B3C1BE"/>
                </a:solidFill>
                <a:latin typeface="+mj-ea"/>
                <a:ea typeface="+mj-ea"/>
                <a:cs typeface="210 도시락"/>
                <a:sym typeface="210 도시락"/>
              </a:rPr>
              <a:t>여러분의 취업 성공을</a:t>
            </a:r>
            <a:endParaRPr lang="en-US" sz="8800" b="1" spc="-571" dirty="0">
              <a:solidFill>
                <a:srgbClr val="B3C1BE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3402C13-7587-45CB-8917-4FFACE6189DD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894D6227-3C1C-4B2A-9775-1148C382D9D0}"/>
              </a:ext>
            </a:extLst>
          </p:cNvPr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래픽 2" descr="비둘기 윤곽선">
            <a:extLst>
              <a:ext uri="{FF2B5EF4-FFF2-40B4-BE49-F238E27FC236}">
                <a16:creationId xmlns:a16="http://schemas.microsoft.com/office/drawing/2014/main" id="{EFF2BA02-4EAF-3FDC-7AF3-A273B57B2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0" y="483539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2239</TotalTime>
  <Words>283</Words>
  <Application>Microsoft Office PowerPoint</Application>
  <PresentationFormat>사용자 지정</PresentationFormat>
  <Paragraphs>53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굴림</vt:lpstr>
      <vt:lpstr>Arial</vt:lpstr>
      <vt:lpstr>Pretendard Regular</vt:lpstr>
      <vt:lpstr>Calibri</vt:lpstr>
      <vt:lpstr>Wingdings</vt:lpstr>
      <vt:lpstr>맑은 고딕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BEI</dc:creator>
  <cp:lastModifiedBy>Seungho Jeon</cp:lastModifiedBy>
  <cp:revision>146</cp:revision>
  <dcterms:created xsi:type="dcterms:W3CDTF">2006-08-16T00:00:00Z</dcterms:created>
  <dcterms:modified xsi:type="dcterms:W3CDTF">2026-03-03T07:05:22Z</dcterms:modified>
</cp:coreProperties>
</file>