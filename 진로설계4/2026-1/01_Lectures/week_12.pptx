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489" r:id="rId2"/>
    <p:sldId id="490" r:id="rId3"/>
    <p:sldId id="491" r:id="rId4"/>
    <p:sldId id="492" r:id="rId5"/>
    <p:sldId id="493" r:id="rId6"/>
    <p:sldId id="533" r:id="rId7"/>
    <p:sldId id="497" r:id="rId8"/>
    <p:sldId id="498" r:id="rId9"/>
    <p:sldId id="512" r:id="rId10"/>
  </p:sldIdLst>
  <p:sldSz cx="18288000" cy="10287000"/>
  <p:notesSz cx="6858000" cy="9144000"/>
  <p:embeddedFontLst>
    <p:embeddedFont>
      <p:font typeface="Gmarket Sans Medium" panose="020B0600000101010101" charset="-127"/>
      <p:regular r:id="rId12"/>
    </p:embeddedFont>
    <p:embeddedFont>
      <p:font typeface="Poppins Black" panose="00000A00000000000000" pitchFamily="2" charset="0"/>
      <p:bold r:id="rId13"/>
      <p:boldItalic r:id="rId14"/>
    </p:embeddedFont>
    <p:embeddedFont>
      <p:font typeface="나눔고딕" pitchFamily="2" charset="-127"/>
      <p:regular r:id="rId15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792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0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10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sv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0AAB2-2151-4F0E-BECD-2254447C2225}"/>
              </a:ext>
            </a:extLst>
          </p:cNvPr>
          <p:cNvSpPr txBox="1"/>
          <p:nvPr/>
        </p:nvSpPr>
        <p:spPr>
          <a:xfrm>
            <a:off x="814070" y="7200900"/>
            <a:ext cx="1046353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12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면접전형 이해 </a:t>
            </a: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2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3465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p.145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539D38E0-E062-49F7-B798-C625C248E4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58917" y="5281980"/>
            <a:ext cx="6997700" cy="127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C0C8D4C-B301-4D2C-AB4B-0C8CE92BA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917" y="4630648"/>
            <a:ext cx="1371600" cy="41910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80DDE51F-2E7D-4CBD-B760-E64AF0ED92D3}"/>
              </a:ext>
            </a:extLst>
          </p:cNvPr>
          <p:cNvSpPr txBox="1"/>
          <p:nvPr/>
        </p:nvSpPr>
        <p:spPr>
          <a:xfrm>
            <a:off x="10384517" y="4541748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1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분 자기소개 </a:t>
            </a:r>
            <a:r>
              <a:rPr lang="ko-KR" altLang="en-US" sz="2800" b="1" spc="-100" dirty="0" err="1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전략법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 파악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80F0904-9259-4845-A85C-F140E6F3B5C1}"/>
              </a:ext>
            </a:extLst>
          </p:cNvPr>
          <p:cNvSpPr txBox="1"/>
          <p:nvPr/>
        </p:nvSpPr>
        <p:spPr>
          <a:xfrm>
            <a:off x="8898617" y="4694148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E1E7C5E-7B59-476A-85CA-43A381863587}"/>
              </a:ext>
            </a:extLst>
          </p:cNvPr>
          <p:cNvSpPr txBox="1"/>
          <p:nvPr/>
        </p:nvSpPr>
        <p:spPr>
          <a:xfrm>
            <a:off x="8331539" y="3459243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분 자기소개 준비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52136E24-756F-4D1A-9958-AD98E2749A8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93245" y="6199385"/>
            <a:ext cx="6997700" cy="12700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0AA122A6-779B-4914-A53E-3909AD9F3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245" y="5548053"/>
            <a:ext cx="1371600" cy="419100"/>
          </a:xfrm>
          <a:prstGeom prst="rect">
            <a:avLst/>
          </a:prstGeom>
        </p:spPr>
      </p:pic>
      <p:sp>
        <p:nvSpPr>
          <p:cNvPr id="19" name="TextBox 10">
            <a:extLst>
              <a:ext uri="{FF2B5EF4-FFF2-40B4-BE49-F238E27FC236}">
                <a16:creationId xmlns:a16="http://schemas.microsoft.com/office/drawing/2014/main" id="{F6EF63AF-B16C-42A7-9D64-735461FCD4B9}"/>
              </a:ext>
            </a:extLst>
          </p:cNvPr>
          <p:cNvSpPr txBox="1"/>
          <p:nvPr/>
        </p:nvSpPr>
        <p:spPr>
          <a:xfrm>
            <a:off x="10418845" y="5459153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1</a:t>
            </a: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분 자기소개 준비하기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C9448F10-9B07-4228-8945-0B164906ED16}"/>
              </a:ext>
            </a:extLst>
          </p:cNvPr>
          <p:cNvSpPr txBox="1"/>
          <p:nvPr/>
        </p:nvSpPr>
        <p:spPr>
          <a:xfrm>
            <a:off x="8932945" y="5611553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F33B388A-940B-4726-BBD8-20891715C79F}"/>
              </a:ext>
            </a:extLst>
          </p:cNvPr>
          <p:cNvSpPr txBox="1"/>
          <p:nvPr/>
        </p:nvSpPr>
        <p:spPr>
          <a:xfrm>
            <a:off x="8331539" y="1948216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F59BF972-C179-445C-861C-940E860AD012}"/>
              </a:ext>
            </a:extLst>
          </p:cNvPr>
          <p:cNvSpPr txBox="1"/>
          <p:nvPr/>
        </p:nvSpPr>
        <p:spPr>
          <a:xfrm>
            <a:off x="8365867" y="6623809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2.  </a:t>
            </a:r>
            <a:r>
              <a:rPr lang="ko-KR" altLang="en-US" sz="4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모의면접 진행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42690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2861832" y="995089"/>
            <a:ext cx="13825133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시선을 사로잡는 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1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분 자기소개 핵심 전략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5150992" y="9632434"/>
            <a:ext cx="25826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p.146~147</a:t>
            </a:r>
          </a:p>
        </p:txBody>
      </p:sp>
      <p:pic>
        <p:nvPicPr>
          <p:cNvPr id="77" name="Google Shape;85;p13" descr="image.png">
            <a:extLst>
              <a:ext uri="{FF2B5EF4-FFF2-40B4-BE49-F238E27FC236}">
                <a16:creationId xmlns:a16="http://schemas.microsoft.com/office/drawing/2014/main" id="{D4F4ACE6-91CE-47DB-A4A6-1AE1FC1317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3075" y="2643714"/>
            <a:ext cx="8084046" cy="69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86;p13" descr="image.png">
            <a:extLst>
              <a:ext uri="{FF2B5EF4-FFF2-40B4-BE49-F238E27FC236}">
                <a16:creationId xmlns:a16="http://schemas.microsoft.com/office/drawing/2014/main" id="{23003E0C-2567-4CC8-BDA7-4A7800AA6C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5987" y="4043889"/>
            <a:ext cx="7198221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87;p13" descr="image.png">
            <a:extLst>
              <a:ext uri="{FF2B5EF4-FFF2-40B4-BE49-F238E27FC236}">
                <a16:creationId xmlns:a16="http://schemas.microsoft.com/office/drawing/2014/main" id="{C3326FF0-674A-4A46-8CDF-08553E7795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5987" y="5458352"/>
            <a:ext cx="7198221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8;p13" descr="image.png">
            <a:extLst>
              <a:ext uri="{FF2B5EF4-FFF2-40B4-BE49-F238E27FC236}">
                <a16:creationId xmlns:a16="http://schemas.microsoft.com/office/drawing/2014/main" id="{EA8237C8-9E6A-4166-BB49-BB95E10D45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05987" y="6872814"/>
            <a:ext cx="7198221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9;p13" descr="image.png">
            <a:extLst>
              <a:ext uri="{FF2B5EF4-FFF2-40B4-BE49-F238E27FC236}">
                <a16:creationId xmlns:a16="http://schemas.microsoft.com/office/drawing/2014/main" id="{1077BAB4-D2A5-4414-B708-93CEC53317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5987" y="8287276"/>
            <a:ext cx="7198221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92;p13">
            <a:extLst>
              <a:ext uri="{FF2B5EF4-FFF2-40B4-BE49-F238E27FC236}">
                <a16:creationId xmlns:a16="http://schemas.microsoft.com/office/drawing/2014/main" id="{CCB590B2-A08E-4870-99D4-1CF84A47B7B0}"/>
              </a:ext>
            </a:extLst>
          </p:cNvPr>
          <p:cNvSpPr txBox="1"/>
          <p:nvPr/>
        </p:nvSpPr>
        <p:spPr>
          <a:xfrm>
            <a:off x="9626032" y="3086627"/>
            <a:ext cx="755813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75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필승의 K-S-A 스피치 구조</a:t>
            </a:r>
            <a:endParaRPr sz="2700"/>
          </a:p>
        </p:txBody>
      </p:sp>
      <p:sp>
        <p:nvSpPr>
          <p:cNvPr id="83" name="Google Shape;93;p13">
            <a:extLst>
              <a:ext uri="{FF2B5EF4-FFF2-40B4-BE49-F238E27FC236}">
                <a16:creationId xmlns:a16="http://schemas.microsoft.com/office/drawing/2014/main" id="{6E64F276-FDD5-45EC-A71A-93FCAB71C91B}"/>
              </a:ext>
            </a:extLst>
          </p:cNvPr>
          <p:cNvSpPr/>
          <p:nvPr/>
        </p:nvSpPr>
        <p:spPr>
          <a:xfrm>
            <a:off x="9805987" y="3729564"/>
            <a:ext cx="7198221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94;p13" descr="image.png">
            <a:extLst>
              <a:ext uri="{FF2B5EF4-FFF2-40B4-BE49-F238E27FC236}">
                <a16:creationId xmlns:a16="http://schemas.microsoft.com/office/drawing/2014/main" id="{B8441884-D900-4E4A-9FB2-97FA8C10414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02247" y="3327951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95;p13" descr="image.png">
            <a:extLst>
              <a:ext uri="{FF2B5EF4-FFF2-40B4-BE49-F238E27FC236}">
                <a16:creationId xmlns:a16="http://schemas.microsoft.com/office/drawing/2014/main" id="{07A2B40C-92AF-43B4-BE15-3112767895D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02247" y="531078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96;p13" descr="image.png">
            <a:extLst>
              <a:ext uri="{FF2B5EF4-FFF2-40B4-BE49-F238E27FC236}">
                <a16:creationId xmlns:a16="http://schemas.microsoft.com/office/drawing/2014/main" id="{4A6C8334-56FD-4DEB-BDC4-CB2C18833E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02247" y="7293625"/>
            <a:ext cx="4286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97;p13">
            <a:extLst>
              <a:ext uri="{FF2B5EF4-FFF2-40B4-BE49-F238E27FC236}">
                <a16:creationId xmlns:a16="http://schemas.microsoft.com/office/drawing/2014/main" id="{35B56894-EDEE-4EC7-926F-2AF2B93C383B}"/>
              </a:ext>
            </a:extLst>
          </p:cNvPr>
          <p:cNvSpPr txBox="1"/>
          <p:nvPr/>
        </p:nvSpPr>
        <p:spPr>
          <a:xfrm>
            <a:off x="10106025" y="4236770"/>
            <a:ext cx="4286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>
                <a:solidFill>
                  <a:schemeClr val="tx2"/>
                </a:solidFill>
                <a:latin typeface="Poppins Black"/>
                <a:ea typeface="Poppins Black"/>
                <a:cs typeface="Poppins Black"/>
                <a:sym typeface="Poppins Black"/>
              </a:rPr>
              <a:t>K</a:t>
            </a:r>
            <a:endParaRPr sz="2700" b="1">
              <a:solidFill>
                <a:schemeClr val="tx2"/>
              </a:solidFill>
            </a:endParaRPr>
          </a:p>
        </p:txBody>
      </p:sp>
      <p:sp>
        <p:nvSpPr>
          <p:cNvPr id="88" name="Google Shape;98;p13">
            <a:extLst>
              <a:ext uri="{FF2B5EF4-FFF2-40B4-BE49-F238E27FC236}">
                <a16:creationId xmlns:a16="http://schemas.microsoft.com/office/drawing/2014/main" id="{689E5C15-4057-48EE-B90E-FC0ACBF5E5EC}"/>
              </a:ext>
            </a:extLst>
          </p:cNvPr>
          <p:cNvSpPr txBox="1"/>
          <p:nvPr/>
        </p:nvSpPr>
        <p:spPr>
          <a:xfrm>
            <a:off x="10106025" y="5651232"/>
            <a:ext cx="3429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>
                <a:solidFill>
                  <a:schemeClr val="tx2"/>
                </a:solidFill>
                <a:latin typeface="Poppins Black"/>
                <a:ea typeface="Poppins Black"/>
                <a:cs typeface="Poppins Black"/>
                <a:sym typeface="Poppins Black"/>
              </a:rPr>
              <a:t>S</a:t>
            </a:r>
            <a:endParaRPr sz="2700" b="1">
              <a:solidFill>
                <a:schemeClr val="tx2"/>
              </a:solidFill>
            </a:endParaRPr>
          </a:p>
        </p:txBody>
      </p:sp>
      <p:sp>
        <p:nvSpPr>
          <p:cNvPr id="89" name="Google Shape;99;p13">
            <a:extLst>
              <a:ext uri="{FF2B5EF4-FFF2-40B4-BE49-F238E27FC236}">
                <a16:creationId xmlns:a16="http://schemas.microsoft.com/office/drawing/2014/main" id="{06852159-E6B1-4DC5-9D15-7B77F40141A7}"/>
              </a:ext>
            </a:extLst>
          </p:cNvPr>
          <p:cNvSpPr txBox="1"/>
          <p:nvPr/>
        </p:nvSpPr>
        <p:spPr>
          <a:xfrm>
            <a:off x="10106025" y="7065695"/>
            <a:ext cx="442913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>
                <a:solidFill>
                  <a:schemeClr val="tx2"/>
                </a:solidFill>
                <a:latin typeface="Poppins Black"/>
                <a:ea typeface="Poppins Black"/>
                <a:cs typeface="Poppins Black"/>
                <a:sym typeface="Poppins Black"/>
              </a:rPr>
              <a:t>A</a:t>
            </a:r>
            <a:endParaRPr sz="2700" b="1">
              <a:solidFill>
                <a:schemeClr val="tx2"/>
              </a:solidFill>
            </a:endParaRPr>
          </a:p>
        </p:txBody>
      </p:sp>
      <p:pic>
        <p:nvPicPr>
          <p:cNvPr id="90" name="Google Shape;100;p13" descr="image.png">
            <a:extLst>
              <a:ext uri="{FF2B5EF4-FFF2-40B4-BE49-F238E27FC236}">
                <a16:creationId xmlns:a16="http://schemas.microsoft.com/office/drawing/2014/main" id="{6F7CF9FC-3268-4595-BC0C-7AE5585DE97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71423" y="8473014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101;p13">
            <a:extLst>
              <a:ext uri="{FF2B5EF4-FFF2-40B4-BE49-F238E27FC236}">
                <a16:creationId xmlns:a16="http://schemas.microsoft.com/office/drawing/2014/main" id="{F5524801-D194-4383-B5E0-9A3EB9593744}"/>
              </a:ext>
            </a:extLst>
          </p:cNvPr>
          <p:cNvSpPr txBox="1"/>
          <p:nvPr/>
        </p:nvSpPr>
        <p:spPr>
          <a:xfrm>
            <a:off x="1988048" y="2972327"/>
            <a:ext cx="67536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원 포인트(One-Point) 집중 어필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92" name="Google Shape;102;p13">
            <a:extLst>
              <a:ext uri="{FF2B5EF4-FFF2-40B4-BE49-F238E27FC236}">
                <a16:creationId xmlns:a16="http://schemas.microsoft.com/office/drawing/2014/main" id="{83BCBA1A-41C7-4BA3-A5EE-874ABC88B835}"/>
              </a:ext>
            </a:extLst>
          </p:cNvPr>
          <p:cNvSpPr txBox="1"/>
          <p:nvPr/>
        </p:nvSpPr>
        <p:spPr>
          <a:xfrm>
            <a:off x="1988048" y="3443814"/>
            <a:ext cx="6432053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백화점식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경험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나열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절대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금지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sz="2000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직무와</a:t>
            </a:r>
            <a:r>
              <a:rPr lang="en-US" sz="2000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가장</a:t>
            </a:r>
            <a:r>
              <a:rPr lang="en-US" sz="2000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연관성</a:t>
            </a:r>
            <a:r>
              <a:rPr lang="en-US" sz="2000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높은</a:t>
            </a:r>
            <a:r>
              <a:rPr lang="en-US" sz="2000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핵심</a:t>
            </a:r>
            <a:r>
              <a:rPr lang="en-US" sz="2000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강점</a:t>
            </a:r>
            <a:r>
              <a:rPr lang="en-US" sz="2000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1가지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에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포커스</a:t>
            </a:r>
            <a:endParaRPr sz="2800" dirty="0">
              <a:latin typeface="+mj-ea"/>
              <a:ea typeface="+mj-ea"/>
            </a:endParaRPr>
          </a:p>
        </p:txBody>
      </p:sp>
      <p:sp>
        <p:nvSpPr>
          <p:cNvPr id="93" name="Google Shape;103;p13">
            <a:extLst>
              <a:ext uri="{FF2B5EF4-FFF2-40B4-BE49-F238E27FC236}">
                <a16:creationId xmlns:a16="http://schemas.microsoft.com/office/drawing/2014/main" id="{D413C7CE-B049-43FC-B6F0-C3C1D32E1988}"/>
              </a:ext>
            </a:extLst>
          </p:cNvPr>
          <p:cNvSpPr txBox="1"/>
          <p:nvPr/>
        </p:nvSpPr>
        <p:spPr>
          <a:xfrm>
            <a:off x="1988048" y="4955163"/>
            <a:ext cx="67536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밝고 생기 있는 오프닝 리드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94" name="Google Shape;104;p13">
            <a:extLst>
              <a:ext uri="{FF2B5EF4-FFF2-40B4-BE49-F238E27FC236}">
                <a16:creationId xmlns:a16="http://schemas.microsoft.com/office/drawing/2014/main" id="{5C27AEEB-7B05-4369-B2E7-DB3C6156C5AB}"/>
              </a:ext>
            </a:extLst>
          </p:cNvPr>
          <p:cNvSpPr txBox="1"/>
          <p:nvPr/>
        </p:nvSpPr>
        <p:spPr>
          <a:xfrm>
            <a:off x="1988048" y="5426651"/>
            <a:ext cx="6432053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200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잠긴 목소리와 긴장감을 탈피하고, </a:t>
            </a:r>
            <a:r>
              <a:rPr lang="en-US" sz="2000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가장 경쾌하고 자신감 있는 톤</a:t>
            </a:r>
            <a:r>
              <a:rPr lang="en-US" sz="200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으로 첫인상 각인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95" name="Google Shape;105;p13">
            <a:extLst>
              <a:ext uri="{FF2B5EF4-FFF2-40B4-BE49-F238E27FC236}">
                <a16:creationId xmlns:a16="http://schemas.microsoft.com/office/drawing/2014/main" id="{EEB34B85-2924-4D0F-8043-E6C1E43FF770}"/>
              </a:ext>
            </a:extLst>
          </p:cNvPr>
          <p:cNvSpPr txBox="1"/>
          <p:nvPr/>
        </p:nvSpPr>
        <p:spPr>
          <a:xfrm>
            <a:off x="2016623" y="6938000"/>
            <a:ext cx="67236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이름</a:t>
            </a:r>
            <a:r>
              <a:rPr lang="ko-KR" altLang="en-US" sz="24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에</a:t>
            </a:r>
            <a:r>
              <a:rPr lang="en-US" sz="24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해설</a:t>
            </a:r>
            <a:r>
              <a:rPr lang="en-US" sz="24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(Hook) </a:t>
            </a:r>
            <a:r>
              <a:rPr lang="en-US" sz="24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부여</a:t>
            </a:r>
            <a:endParaRPr sz="2800" dirty="0">
              <a:latin typeface="+mj-ea"/>
              <a:ea typeface="+mj-ea"/>
            </a:endParaRPr>
          </a:p>
        </p:txBody>
      </p:sp>
      <p:sp>
        <p:nvSpPr>
          <p:cNvPr id="96" name="Google Shape;106;p13">
            <a:extLst>
              <a:ext uri="{FF2B5EF4-FFF2-40B4-BE49-F238E27FC236}">
                <a16:creationId xmlns:a16="http://schemas.microsoft.com/office/drawing/2014/main" id="{E06A8E6B-BEB6-4D65-8204-803447330EEB}"/>
              </a:ext>
            </a:extLst>
          </p:cNvPr>
          <p:cNvSpPr txBox="1"/>
          <p:nvPr/>
        </p:nvSpPr>
        <p:spPr>
          <a:xfrm>
            <a:off x="2016623" y="7409487"/>
            <a:ext cx="643205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단순한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번호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/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이름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나열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안녕하십니까</a:t>
            </a:r>
            <a:r>
              <a:rPr lang="en-US" altLang="ko-KR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? </a:t>
            </a:r>
            <a:r>
              <a:rPr lang="ko-KR" alt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캡틴 아메리카의 정직함과 </a:t>
            </a:r>
            <a:r>
              <a:rPr lang="ko-KR" alt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아이언맨의</a:t>
            </a:r>
            <a:r>
              <a:rPr lang="ko-KR" alt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기획력을 닮은 </a:t>
            </a:r>
            <a:r>
              <a:rPr lang="en-US" altLang="ko-KR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00</a:t>
            </a:r>
            <a:r>
              <a:rPr lang="ko-KR" alt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기업의 </a:t>
            </a:r>
            <a:r>
              <a:rPr lang="ko-KR" altLang="en-US" sz="2000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히어로가될</a:t>
            </a:r>
            <a:r>
              <a:rPr lang="ko-KR" alt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000</a:t>
            </a:r>
            <a:r>
              <a:rPr lang="ko-KR" altLang="en-US" sz="2000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입니다</a:t>
            </a:r>
            <a:endParaRPr sz="2800" dirty="0">
              <a:latin typeface="+mj-ea"/>
              <a:ea typeface="+mj-ea"/>
            </a:endParaRPr>
          </a:p>
        </p:txBody>
      </p:sp>
      <p:sp>
        <p:nvSpPr>
          <p:cNvPr id="97" name="Google Shape;107;p13">
            <a:extLst>
              <a:ext uri="{FF2B5EF4-FFF2-40B4-BE49-F238E27FC236}">
                <a16:creationId xmlns:a16="http://schemas.microsoft.com/office/drawing/2014/main" id="{BA11D872-EE93-4524-9F32-681882264098}"/>
              </a:ext>
            </a:extLst>
          </p:cNvPr>
          <p:cNvSpPr txBox="1"/>
          <p:nvPr/>
        </p:nvSpPr>
        <p:spPr>
          <a:xfrm>
            <a:off x="10820400" y="4315351"/>
            <a:ext cx="617795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Knowledge (지식)</a:t>
            </a:r>
            <a:endParaRPr sz="2700"/>
          </a:p>
        </p:txBody>
      </p:sp>
      <p:sp>
        <p:nvSpPr>
          <p:cNvPr id="98" name="Google Shape;108;p13">
            <a:extLst>
              <a:ext uri="{FF2B5EF4-FFF2-40B4-BE49-F238E27FC236}">
                <a16:creationId xmlns:a16="http://schemas.microsoft.com/office/drawing/2014/main" id="{46267DD2-C21E-42E5-9A1E-03DCAFFB5416}"/>
              </a:ext>
            </a:extLst>
          </p:cNvPr>
          <p:cNvSpPr txBox="1"/>
          <p:nvPr/>
        </p:nvSpPr>
        <p:spPr>
          <a:xfrm>
            <a:off x="13138993" y="4191230"/>
            <a:ext cx="588377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직무</a:t>
            </a:r>
            <a:r>
              <a:rPr 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수행에</a:t>
            </a:r>
            <a:r>
              <a:rPr 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필요한</a:t>
            </a:r>
            <a:r>
              <a:rPr 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전공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지식</a:t>
            </a:r>
            <a:r>
              <a:rPr 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어필</a:t>
            </a:r>
            <a:endParaRPr sz="2700" dirty="0"/>
          </a:p>
        </p:txBody>
      </p:sp>
      <p:sp>
        <p:nvSpPr>
          <p:cNvPr id="99" name="Google Shape;109;p13">
            <a:extLst>
              <a:ext uri="{FF2B5EF4-FFF2-40B4-BE49-F238E27FC236}">
                <a16:creationId xmlns:a16="http://schemas.microsoft.com/office/drawing/2014/main" id="{B8B7FDA7-9064-48A6-B831-5182326F79F3}"/>
              </a:ext>
            </a:extLst>
          </p:cNvPr>
          <p:cNvSpPr txBox="1"/>
          <p:nvPr/>
        </p:nvSpPr>
        <p:spPr>
          <a:xfrm>
            <a:off x="10820400" y="5729814"/>
            <a:ext cx="617795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Skill (보유 기술)</a:t>
            </a:r>
            <a:endParaRPr sz="2700"/>
          </a:p>
        </p:txBody>
      </p:sp>
      <p:sp>
        <p:nvSpPr>
          <p:cNvPr id="100" name="Google Shape;110;p13">
            <a:extLst>
              <a:ext uri="{FF2B5EF4-FFF2-40B4-BE49-F238E27FC236}">
                <a16:creationId xmlns:a16="http://schemas.microsoft.com/office/drawing/2014/main" id="{7BAE63E5-85C6-48E2-B347-08C8597EF092}"/>
              </a:ext>
            </a:extLst>
          </p:cNvPr>
          <p:cNvSpPr txBox="1"/>
          <p:nvPr/>
        </p:nvSpPr>
        <p:spPr>
          <a:xfrm>
            <a:off x="12831514" y="5637249"/>
            <a:ext cx="588377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실무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투입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가능한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경험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기술</a:t>
            </a:r>
            <a:r>
              <a:rPr 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증명</a:t>
            </a:r>
            <a:endParaRPr sz="2700" dirty="0"/>
          </a:p>
        </p:txBody>
      </p:sp>
      <p:sp>
        <p:nvSpPr>
          <p:cNvPr id="101" name="Google Shape;111;p13">
            <a:extLst>
              <a:ext uri="{FF2B5EF4-FFF2-40B4-BE49-F238E27FC236}">
                <a16:creationId xmlns:a16="http://schemas.microsoft.com/office/drawing/2014/main" id="{3135CDF8-B0BF-4C80-AFD0-F2D1EF3D4469}"/>
              </a:ext>
            </a:extLst>
          </p:cNvPr>
          <p:cNvSpPr txBox="1"/>
          <p:nvPr/>
        </p:nvSpPr>
        <p:spPr>
          <a:xfrm>
            <a:off x="10820400" y="7144276"/>
            <a:ext cx="617795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Attitude (태도)</a:t>
            </a:r>
            <a:endParaRPr sz="2700"/>
          </a:p>
        </p:txBody>
      </p:sp>
      <p:sp>
        <p:nvSpPr>
          <p:cNvPr id="102" name="Google Shape;112;p13">
            <a:extLst>
              <a:ext uri="{FF2B5EF4-FFF2-40B4-BE49-F238E27FC236}">
                <a16:creationId xmlns:a16="http://schemas.microsoft.com/office/drawing/2014/main" id="{85FB2317-7193-4CBD-93E1-9139765CCEE5}"/>
              </a:ext>
            </a:extLst>
          </p:cNvPr>
          <p:cNvSpPr txBox="1"/>
          <p:nvPr/>
        </p:nvSpPr>
        <p:spPr>
          <a:xfrm>
            <a:off x="12649200" y="7140461"/>
            <a:ext cx="588377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보이지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않는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추상적</a:t>
            </a: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역량</a:t>
            </a:r>
            <a:endParaRPr sz="2700" dirty="0"/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FB3EEE68-4480-4A70-85FD-0974530024C0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Google Shape;108;p13">
            <a:extLst>
              <a:ext uri="{FF2B5EF4-FFF2-40B4-BE49-F238E27FC236}">
                <a16:creationId xmlns:a16="http://schemas.microsoft.com/office/drawing/2014/main" id="{1C8B09AC-72ED-4499-9151-A6E38FB25BE3}"/>
              </a:ext>
            </a:extLst>
          </p:cNvPr>
          <p:cNvSpPr txBox="1"/>
          <p:nvPr/>
        </p:nvSpPr>
        <p:spPr>
          <a:xfrm>
            <a:off x="10803194" y="4700567"/>
            <a:ext cx="588377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회계직무에 필요한 회계원리</a:t>
            </a:r>
            <a:r>
              <a:rPr lang="en-US" altLang="ko-KR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688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중급회계 등을 공부했습니다</a:t>
            </a:r>
            <a:endParaRPr sz="2700" dirty="0"/>
          </a:p>
        </p:txBody>
      </p:sp>
      <p:sp>
        <p:nvSpPr>
          <p:cNvPr id="36" name="Google Shape;110;p13">
            <a:extLst>
              <a:ext uri="{FF2B5EF4-FFF2-40B4-BE49-F238E27FC236}">
                <a16:creationId xmlns:a16="http://schemas.microsoft.com/office/drawing/2014/main" id="{D0C5E375-625E-4539-AE03-31C016C32500}"/>
              </a:ext>
            </a:extLst>
          </p:cNvPr>
          <p:cNvSpPr txBox="1"/>
          <p:nvPr/>
        </p:nvSpPr>
        <p:spPr>
          <a:xfrm>
            <a:off x="10828032" y="6161916"/>
            <a:ext cx="6170327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ko-KR" alt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학년 때 </a:t>
            </a:r>
            <a:r>
              <a:rPr lang="en-US" altLang="ko-KR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alt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년간 법인기업에서 세금 관련 인턴을 했기 때문에 실무 투입이 가능합니다</a:t>
            </a:r>
            <a:r>
              <a:rPr lang="en-US" altLang="ko-KR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700" dirty="0"/>
          </a:p>
        </p:txBody>
      </p:sp>
      <p:sp>
        <p:nvSpPr>
          <p:cNvPr id="37" name="Google Shape;112;p13">
            <a:extLst>
              <a:ext uri="{FF2B5EF4-FFF2-40B4-BE49-F238E27FC236}">
                <a16:creationId xmlns:a16="http://schemas.microsoft.com/office/drawing/2014/main" id="{EB38C0F9-CDC6-427E-8CDD-5F7DEDEE98DF}"/>
              </a:ext>
            </a:extLst>
          </p:cNvPr>
          <p:cNvSpPr txBox="1"/>
          <p:nvPr/>
        </p:nvSpPr>
        <p:spPr>
          <a:xfrm>
            <a:off x="10869819" y="7597440"/>
            <a:ext cx="588377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688" b="1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회계 직무에서 필요한 책임감과 꼼꼼함이 있습니다</a:t>
            </a:r>
            <a:endParaRPr sz="2700" dirty="0"/>
          </a:p>
        </p:txBody>
      </p:sp>
    </p:spTree>
    <p:extLst>
      <p:ext uri="{BB962C8B-B14F-4D97-AF65-F5344CB8AC3E}">
        <p14:creationId xmlns:p14="http://schemas.microsoft.com/office/powerpoint/2010/main" val="228040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242243" y="982928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스피치 스펙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633362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5806496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p.147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E531F836-F3C9-4870-AD22-3EEF1CEA6423}"/>
              </a:ext>
            </a:extLst>
          </p:cNvPr>
          <p:cNvSpPr txBox="1"/>
          <p:nvPr/>
        </p:nvSpPr>
        <p:spPr>
          <a:xfrm>
            <a:off x="1728329" y="1769307"/>
            <a:ext cx="16559671" cy="131388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이미지 스펙과 함께 말로 전달되는 것에서 나오는 컨텐츠와 목소리</a:t>
            </a:r>
            <a:r>
              <a:rPr lang="en-US" altLang="ko-KR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바디랭귀지까지</a:t>
            </a:r>
            <a:r>
              <a:rPr lang="ko-KR" altLang="en-US" sz="24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스피치 스펙</a:t>
            </a:r>
            <a:endParaRPr lang="en-US" altLang="ko-KR" sz="2400" b="1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11" name="Google Shape;151;p15" descr="image.png">
            <a:extLst>
              <a:ext uri="{FF2B5EF4-FFF2-40B4-BE49-F238E27FC236}">
                <a16:creationId xmlns:a16="http://schemas.microsoft.com/office/drawing/2014/main" id="{98E76DE6-4970-448A-8A19-9D2DD41A40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260176"/>
            <a:ext cx="16573500" cy="1974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52;p15" descr="image.png">
            <a:extLst>
              <a:ext uri="{FF2B5EF4-FFF2-40B4-BE49-F238E27FC236}">
                <a16:creationId xmlns:a16="http://schemas.microsoft.com/office/drawing/2014/main" id="{6310CFC7-45AD-4625-83BD-024C162D73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395144"/>
            <a:ext cx="8143875" cy="1845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53;p15" descr="image.png">
            <a:extLst>
              <a:ext uri="{FF2B5EF4-FFF2-40B4-BE49-F238E27FC236}">
                <a16:creationId xmlns:a16="http://schemas.microsoft.com/office/drawing/2014/main" id="{E8645F2F-A701-4FE9-824C-DC40818B80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6875" y="5395144"/>
            <a:ext cx="8143875" cy="186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54;p15" descr="image.png">
            <a:extLst>
              <a:ext uri="{FF2B5EF4-FFF2-40B4-BE49-F238E27FC236}">
                <a16:creationId xmlns:a16="http://schemas.microsoft.com/office/drawing/2014/main" id="{D2F46D76-1ED2-4F22-AAA9-CE53FC0F310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7473742"/>
            <a:ext cx="8143875" cy="1845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5;p15" descr="image.png">
            <a:extLst>
              <a:ext uri="{FF2B5EF4-FFF2-40B4-BE49-F238E27FC236}">
                <a16:creationId xmlns:a16="http://schemas.microsoft.com/office/drawing/2014/main" id="{6A9059A6-8D32-4B85-9751-E3319C76FE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6875" y="7473742"/>
            <a:ext cx="8143875" cy="181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58;p15" descr="image.png">
            <a:extLst>
              <a:ext uri="{FF2B5EF4-FFF2-40B4-BE49-F238E27FC236}">
                <a16:creationId xmlns:a16="http://schemas.microsoft.com/office/drawing/2014/main" id="{6A1C2219-4563-4A7A-9AA9-DFCAB8CAF3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02026" y="3741713"/>
            <a:ext cx="642938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59;p15">
            <a:extLst>
              <a:ext uri="{FF2B5EF4-FFF2-40B4-BE49-F238E27FC236}">
                <a16:creationId xmlns:a16="http://schemas.microsoft.com/office/drawing/2014/main" id="{A5286479-108B-41A8-8E25-FDB2C590E935}"/>
              </a:ext>
            </a:extLst>
          </p:cNvPr>
          <p:cNvSpPr txBox="1"/>
          <p:nvPr/>
        </p:nvSpPr>
        <p:spPr>
          <a:xfrm>
            <a:off x="1443038" y="3463108"/>
            <a:ext cx="15496937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면접관의</a:t>
            </a:r>
            <a:r>
              <a:rPr lang="en-US" sz="29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귀를</a:t>
            </a:r>
            <a:r>
              <a:rPr lang="en-US" sz="29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여는</a:t>
            </a:r>
            <a:r>
              <a:rPr lang="en-US" sz="29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스피치</a:t>
            </a:r>
            <a:r>
              <a:rPr lang="en-US" sz="29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스펙</a:t>
            </a:r>
            <a:r>
              <a:rPr lang="en-US" sz="2925" b="1" dirty="0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(Speech Spec)</a:t>
            </a:r>
            <a:endParaRPr sz="2700" b="1" dirty="0">
              <a:latin typeface="+mj-ea"/>
              <a:ea typeface="+mj-ea"/>
            </a:endParaRPr>
          </a:p>
        </p:txBody>
      </p:sp>
      <p:sp>
        <p:nvSpPr>
          <p:cNvPr id="22" name="Google Shape;160;p15">
            <a:extLst>
              <a:ext uri="{FF2B5EF4-FFF2-40B4-BE49-F238E27FC236}">
                <a16:creationId xmlns:a16="http://schemas.microsoft.com/office/drawing/2014/main" id="{B205972D-115A-490A-AD5F-29925A922046}"/>
              </a:ext>
            </a:extLst>
          </p:cNvPr>
          <p:cNvSpPr txBox="1"/>
          <p:nvPr/>
        </p:nvSpPr>
        <p:spPr>
          <a:xfrm>
            <a:off x="1443038" y="4106045"/>
            <a:ext cx="14758988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토익, 학점 등 데이터로 보이는 정량적 스펙 외에, </a:t>
            </a:r>
            <a:r>
              <a:rPr lang="en-US" sz="2025" b="1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목소리 톤, 전달력, 콘텐츠의 논리성, 바디랭귀지</a:t>
            </a:r>
            <a:r>
              <a:rPr lang="en-US" sz="2025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등 말로써 전달되는 모든 요소가 합격을 결정짓는 강력한 무형의 스펙입니다.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23" name="Google Shape;161;p15" descr="image.png">
            <a:extLst>
              <a:ext uri="{FF2B5EF4-FFF2-40B4-BE49-F238E27FC236}">
                <a16:creationId xmlns:a16="http://schemas.microsoft.com/office/drawing/2014/main" id="{12752E48-19F2-4C39-855E-EF0A2EAF1CE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1" y="5609456"/>
            <a:ext cx="385763" cy="44291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62;p15">
            <a:extLst>
              <a:ext uri="{FF2B5EF4-FFF2-40B4-BE49-F238E27FC236}">
                <a16:creationId xmlns:a16="http://schemas.microsoft.com/office/drawing/2014/main" id="{D9D1E465-769A-4DC9-9D70-ABF5BA91C9E5}"/>
              </a:ext>
            </a:extLst>
          </p:cNvPr>
          <p:cNvSpPr txBox="1"/>
          <p:nvPr/>
        </p:nvSpPr>
        <p:spPr>
          <a:xfrm>
            <a:off x="1228725" y="6781031"/>
            <a:ext cx="7400925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1688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- L기업</a:t>
            </a:r>
            <a:r>
              <a:rPr lang="en-US" sz="1688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 인사담당 부장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25" name="Google Shape;163;p15" descr="image.png">
            <a:extLst>
              <a:ext uri="{FF2B5EF4-FFF2-40B4-BE49-F238E27FC236}">
                <a16:creationId xmlns:a16="http://schemas.microsoft.com/office/drawing/2014/main" id="{4F4CFC3F-6B01-459A-916B-08CEF2CBDA0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2626" y="5609456"/>
            <a:ext cx="385763" cy="44291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64;p15">
            <a:extLst>
              <a:ext uri="{FF2B5EF4-FFF2-40B4-BE49-F238E27FC236}">
                <a16:creationId xmlns:a16="http://schemas.microsoft.com/office/drawing/2014/main" id="{206FD4CD-6C30-4229-8D69-03A789225A21}"/>
              </a:ext>
            </a:extLst>
          </p:cNvPr>
          <p:cNvSpPr txBox="1"/>
          <p:nvPr/>
        </p:nvSpPr>
        <p:spPr>
          <a:xfrm>
            <a:off x="9658350" y="6781031"/>
            <a:ext cx="7400925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1688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- S기업</a:t>
            </a:r>
            <a:r>
              <a:rPr lang="en-US" sz="1688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 인사담당 상무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27" name="Google Shape;165;p15" descr="image.png">
            <a:extLst>
              <a:ext uri="{FF2B5EF4-FFF2-40B4-BE49-F238E27FC236}">
                <a16:creationId xmlns:a16="http://schemas.microsoft.com/office/drawing/2014/main" id="{A1D1B2CA-CBA8-446C-BF2C-C84522C9AC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1" y="7688055"/>
            <a:ext cx="385763" cy="4429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66;p15">
            <a:extLst>
              <a:ext uri="{FF2B5EF4-FFF2-40B4-BE49-F238E27FC236}">
                <a16:creationId xmlns:a16="http://schemas.microsoft.com/office/drawing/2014/main" id="{18AA35A0-368B-4412-A734-5FDF50758002}"/>
              </a:ext>
            </a:extLst>
          </p:cNvPr>
          <p:cNvSpPr txBox="1"/>
          <p:nvPr/>
        </p:nvSpPr>
        <p:spPr>
          <a:xfrm>
            <a:off x="1228725" y="8859630"/>
            <a:ext cx="7400925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1688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- D기업</a:t>
            </a:r>
            <a:r>
              <a:rPr lang="en-US" sz="1688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 인사담당 부장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29" name="Google Shape;167;p15" descr="image.png">
            <a:extLst>
              <a:ext uri="{FF2B5EF4-FFF2-40B4-BE49-F238E27FC236}">
                <a16:creationId xmlns:a16="http://schemas.microsoft.com/office/drawing/2014/main" id="{B5B39418-A0CA-4268-8C0C-8D75BD730D0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2626" y="7688055"/>
            <a:ext cx="385763" cy="4429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68;p15">
            <a:extLst>
              <a:ext uri="{FF2B5EF4-FFF2-40B4-BE49-F238E27FC236}">
                <a16:creationId xmlns:a16="http://schemas.microsoft.com/office/drawing/2014/main" id="{35E4BF11-9E4A-49F4-91C2-E684CF3EB087}"/>
              </a:ext>
            </a:extLst>
          </p:cNvPr>
          <p:cNvSpPr txBox="1"/>
          <p:nvPr/>
        </p:nvSpPr>
        <p:spPr>
          <a:xfrm>
            <a:off x="9658350" y="8859630"/>
            <a:ext cx="7400925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sz="1688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- H기업</a:t>
            </a:r>
            <a:r>
              <a:rPr lang="en-US" sz="1688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 인사담당 차장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1" name="Google Shape;169;p15">
            <a:extLst>
              <a:ext uri="{FF2B5EF4-FFF2-40B4-BE49-F238E27FC236}">
                <a16:creationId xmlns:a16="http://schemas.microsoft.com/office/drawing/2014/main" id="{8800CCA7-B2FC-485E-A5B1-5CE5ECAA6B70}"/>
              </a:ext>
            </a:extLst>
          </p:cNvPr>
          <p:cNvSpPr txBox="1"/>
          <p:nvPr/>
        </p:nvSpPr>
        <p:spPr>
          <a:xfrm>
            <a:off x="1228725" y="5766618"/>
            <a:ext cx="74009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"장황한 서론은 피하고, 결론부터 간결하게 두괄식으로 답변하십시오."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2" name="Google Shape;170;p15">
            <a:extLst>
              <a:ext uri="{FF2B5EF4-FFF2-40B4-BE49-F238E27FC236}">
                <a16:creationId xmlns:a16="http://schemas.microsoft.com/office/drawing/2014/main" id="{00403B5C-EA20-49F8-9A1E-34EFDD9D0552}"/>
              </a:ext>
            </a:extLst>
          </p:cNvPr>
          <p:cNvSpPr txBox="1"/>
          <p:nvPr/>
        </p:nvSpPr>
        <p:spPr>
          <a:xfrm>
            <a:off x="9658350" y="5766618"/>
            <a:ext cx="74009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"구체적인 경험을 완벽한 근거로 삼아 논리적으로 자신의 강점을 주장하십시오."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3" name="Google Shape;171;p15">
            <a:extLst>
              <a:ext uri="{FF2B5EF4-FFF2-40B4-BE49-F238E27FC236}">
                <a16:creationId xmlns:a16="http://schemas.microsoft.com/office/drawing/2014/main" id="{668FB716-86B9-4188-966A-757316D5FD84}"/>
              </a:ext>
            </a:extLst>
          </p:cNvPr>
          <p:cNvSpPr txBox="1"/>
          <p:nvPr/>
        </p:nvSpPr>
        <p:spPr>
          <a:xfrm>
            <a:off x="1228725" y="7845217"/>
            <a:ext cx="74009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"우물쭈물하지 않는 힘 있는 목소리와 단호한 말투가 최상의 전달력을 만듭니다."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4" name="Google Shape;172;p15">
            <a:extLst>
              <a:ext uri="{FF2B5EF4-FFF2-40B4-BE49-F238E27FC236}">
                <a16:creationId xmlns:a16="http://schemas.microsoft.com/office/drawing/2014/main" id="{2A924FD8-352E-40DB-85B7-FB82A01B06FD}"/>
              </a:ext>
            </a:extLst>
          </p:cNvPr>
          <p:cNvSpPr txBox="1"/>
          <p:nvPr/>
        </p:nvSpPr>
        <p:spPr>
          <a:xfrm>
            <a:off x="9658350" y="7845217"/>
            <a:ext cx="74009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"회사의 비전에 대한 의지를 보이고, 무조건 직무 중심의 역량으로 연결하십시오."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2CA519CD-EAB5-46D5-882A-2137D174A0B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46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242243" y="982928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1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분 자기</a:t>
            </a: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PR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p.149~150</a:t>
            </a:r>
          </a:p>
        </p:txBody>
      </p:sp>
      <p:pic>
        <p:nvPicPr>
          <p:cNvPr id="20" name="Google Shape;118;p14" descr="image.png">
            <a:extLst>
              <a:ext uri="{FF2B5EF4-FFF2-40B4-BE49-F238E27FC236}">
                <a16:creationId xmlns:a16="http://schemas.microsoft.com/office/drawing/2014/main" id="{85E78D2F-9240-4FF1-B5BF-CA3F2DEBB5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285666"/>
            <a:ext cx="5333925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19;p14" descr="image.png">
            <a:extLst>
              <a:ext uri="{FF2B5EF4-FFF2-40B4-BE49-F238E27FC236}">
                <a16:creationId xmlns:a16="http://schemas.microsoft.com/office/drawing/2014/main" id="{C486C5CE-36C9-4823-919A-F5FE1FAE67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6925" y="3285666"/>
            <a:ext cx="5333925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20;p14" descr="image.png">
            <a:extLst>
              <a:ext uri="{FF2B5EF4-FFF2-40B4-BE49-F238E27FC236}">
                <a16:creationId xmlns:a16="http://schemas.microsoft.com/office/drawing/2014/main" id="{F6CD535C-EEDA-45C3-BB87-AFEF9C758B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96600" y="3285666"/>
            <a:ext cx="5333925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21;p14" descr="image.png">
            <a:extLst>
              <a:ext uri="{FF2B5EF4-FFF2-40B4-BE49-F238E27FC236}">
                <a16:creationId xmlns:a16="http://schemas.microsoft.com/office/drawing/2014/main" id="{B46D8661-7C78-4ACE-921F-9F64B018AA4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1" y="5214478"/>
            <a:ext cx="8072438" cy="42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22;p14" descr="image.png">
            <a:extLst>
              <a:ext uri="{FF2B5EF4-FFF2-40B4-BE49-F238E27FC236}">
                <a16:creationId xmlns:a16="http://schemas.microsoft.com/office/drawing/2014/main" id="{9BD7A4F6-B322-46C1-A640-EBC80DC5183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58313" y="5214478"/>
            <a:ext cx="8072438" cy="422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23;p14" descr="image.png">
            <a:extLst>
              <a:ext uri="{FF2B5EF4-FFF2-40B4-BE49-F238E27FC236}">
                <a16:creationId xmlns:a16="http://schemas.microsoft.com/office/drawing/2014/main" id="{42088429-D3A0-4876-ADC5-382AF6A2BBF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43013" y="4985879"/>
            <a:ext cx="1728787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24;p14" descr="image.png">
            <a:extLst>
              <a:ext uri="{FF2B5EF4-FFF2-40B4-BE49-F238E27FC236}">
                <a16:creationId xmlns:a16="http://schemas.microsoft.com/office/drawing/2014/main" id="{2C1C2D66-B173-417E-9ECE-8605034A0D6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3013" y="5600241"/>
            <a:ext cx="7300913" cy="155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25;p14" descr="image.png">
            <a:extLst>
              <a:ext uri="{FF2B5EF4-FFF2-40B4-BE49-F238E27FC236}">
                <a16:creationId xmlns:a16="http://schemas.microsoft.com/office/drawing/2014/main" id="{AD119BD4-9366-4746-BB90-5BB256DEA0C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3013" y="7371891"/>
            <a:ext cx="7300913" cy="155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26;p14" descr="image.png">
            <a:extLst>
              <a:ext uri="{FF2B5EF4-FFF2-40B4-BE49-F238E27FC236}">
                <a16:creationId xmlns:a16="http://schemas.microsoft.com/office/drawing/2014/main" id="{337256D1-A690-47A4-A198-E8F5CF92111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44076" y="4985879"/>
            <a:ext cx="2300288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7;p14" descr="image.png">
            <a:extLst>
              <a:ext uri="{FF2B5EF4-FFF2-40B4-BE49-F238E27FC236}">
                <a16:creationId xmlns:a16="http://schemas.microsoft.com/office/drawing/2014/main" id="{B33D7015-3C40-47C2-872E-4355F63A483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44076" y="5600241"/>
            <a:ext cx="7300913" cy="155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28;p14" descr="image.png">
            <a:extLst>
              <a:ext uri="{FF2B5EF4-FFF2-40B4-BE49-F238E27FC236}">
                <a16:creationId xmlns:a16="http://schemas.microsoft.com/office/drawing/2014/main" id="{539AD2DD-1C2E-4041-A9DC-8B63B8FDC24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44076" y="7371891"/>
            <a:ext cx="7300913" cy="155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31;p14" descr="image.png">
            <a:extLst>
              <a:ext uri="{FF2B5EF4-FFF2-40B4-BE49-F238E27FC236}">
                <a16:creationId xmlns:a16="http://schemas.microsoft.com/office/drawing/2014/main" id="{C221E24D-92AC-4F29-92A5-C714A6AF169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74070" y="3571416"/>
            <a:ext cx="500063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32;p14" descr="image.png">
            <a:extLst>
              <a:ext uri="{FF2B5EF4-FFF2-40B4-BE49-F238E27FC236}">
                <a16:creationId xmlns:a16="http://schemas.microsoft.com/office/drawing/2014/main" id="{645DF1F0-DBD3-4C03-A0E2-84B616B0016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65183" y="3571416"/>
            <a:ext cx="35718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33;p14" descr="image.png">
            <a:extLst>
              <a:ext uri="{FF2B5EF4-FFF2-40B4-BE49-F238E27FC236}">
                <a16:creationId xmlns:a16="http://schemas.microsoft.com/office/drawing/2014/main" id="{C469B576-9BE7-4134-8947-C1F072BD411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584859" y="3571416"/>
            <a:ext cx="357188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34;p14">
            <a:extLst>
              <a:ext uri="{FF2B5EF4-FFF2-40B4-BE49-F238E27FC236}">
                <a16:creationId xmlns:a16="http://schemas.microsoft.com/office/drawing/2014/main" id="{51AA98FC-D28F-42B7-BB02-BFD1D9F1F7A6}"/>
              </a:ext>
            </a:extLst>
          </p:cNvPr>
          <p:cNvSpPr txBox="1"/>
          <p:nvPr/>
        </p:nvSpPr>
        <p:spPr>
          <a:xfrm>
            <a:off x="1557338" y="5857416"/>
            <a:ext cx="70658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13" tIns="0" rIns="0" bIns="0" anchor="t" anchorCtr="0">
            <a:spAutoFit/>
          </a:bodyPr>
          <a:lstStyle/>
          <a:p>
            <a:r>
              <a:rPr lang="en-US" sz="20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/</a:t>
            </a:r>
            <a:r>
              <a:rPr lang="en-US" sz="20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기업에</a:t>
            </a:r>
            <a:r>
              <a:rPr 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대한</a:t>
            </a:r>
            <a:r>
              <a:rPr 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구체적</a:t>
            </a:r>
            <a:r>
              <a:rPr 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고민</a:t>
            </a:r>
            <a:r>
              <a:rPr 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해외영업</a:t>
            </a:r>
            <a:r>
              <a:rPr 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)</a:t>
            </a:r>
            <a:endParaRPr sz="2800" dirty="0">
              <a:latin typeface="+mj-ea"/>
              <a:ea typeface="+mj-ea"/>
            </a:endParaRPr>
          </a:p>
        </p:txBody>
      </p:sp>
      <p:sp>
        <p:nvSpPr>
          <p:cNvPr id="40" name="Google Shape;135;p14">
            <a:extLst>
              <a:ext uri="{FF2B5EF4-FFF2-40B4-BE49-F238E27FC236}">
                <a16:creationId xmlns:a16="http://schemas.microsoft.com/office/drawing/2014/main" id="{332EE241-962F-482F-84AB-67A1BE307B12}"/>
              </a:ext>
            </a:extLst>
          </p:cNvPr>
          <p:cNvSpPr txBox="1"/>
          <p:nvPr/>
        </p:nvSpPr>
        <p:spPr>
          <a:xfrm>
            <a:off x="1557338" y="6300328"/>
            <a:ext cx="672941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단순 열정이 아닌, 타겟 시장(중국)의 니즈를 파악하여 </a:t>
            </a:r>
            <a:r>
              <a:rPr lang="en-US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자사 제품의 구체적인 진출 아이디어를 선제적으로 제시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1" name="Google Shape;136;p14">
            <a:extLst>
              <a:ext uri="{FF2B5EF4-FFF2-40B4-BE49-F238E27FC236}">
                <a16:creationId xmlns:a16="http://schemas.microsoft.com/office/drawing/2014/main" id="{D93AB8D1-44D6-4769-9E67-934A768D3617}"/>
              </a:ext>
            </a:extLst>
          </p:cNvPr>
          <p:cNvSpPr txBox="1"/>
          <p:nvPr/>
        </p:nvSpPr>
        <p:spPr>
          <a:xfrm>
            <a:off x="1557338" y="7629066"/>
            <a:ext cx="70658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13" tIns="0" rIns="0" bIns="0" anchor="t" anchorCtr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문제해결 역량 중심 어필 (R&amp;D)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2" name="Google Shape;137;p14">
            <a:extLst>
              <a:ext uri="{FF2B5EF4-FFF2-40B4-BE49-F238E27FC236}">
                <a16:creationId xmlns:a16="http://schemas.microsoft.com/office/drawing/2014/main" id="{DE32B737-DF96-4230-A130-839F13FDD130}"/>
              </a:ext>
            </a:extLst>
          </p:cNvPr>
          <p:cNvSpPr txBox="1"/>
          <p:nvPr/>
        </p:nvSpPr>
        <p:spPr>
          <a:xfrm>
            <a:off x="1557338" y="8071978"/>
            <a:ext cx="672941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전공 지식을 활용하여 실패 원인을 찾고 </a:t>
            </a:r>
            <a:r>
              <a:rPr lang="en-US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새로운 접근법으로 성과(우수상 등)를 이뤄낸 실제 사례 증명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3" name="Google Shape;138;p14">
            <a:extLst>
              <a:ext uri="{FF2B5EF4-FFF2-40B4-BE49-F238E27FC236}">
                <a16:creationId xmlns:a16="http://schemas.microsoft.com/office/drawing/2014/main" id="{E630B12C-86C8-42C8-9CD5-2ABADF0D8857}"/>
              </a:ext>
            </a:extLst>
          </p:cNvPr>
          <p:cNvSpPr txBox="1"/>
          <p:nvPr/>
        </p:nvSpPr>
        <p:spPr>
          <a:xfrm>
            <a:off x="10058400" y="5857416"/>
            <a:ext cx="70658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738" tIns="0" rIns="0" bIns="0" anchor="t" anchorCtr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3가지 이상의 역량 무작위 나열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4" name="Google Shape;139;p14">
            <a:extLst>
              <a:ext uri="{FF2B5EF4-FFF2-40B4-BE49-F238E27FC236}">
                <a16:creationId xmlns:a16="http://schemas.microsoft.com/office/drawing/2014/main" id="{D39AE2A7-BA7B-46BC-8952-FAED14180B71}"/>
              </a:ext>
            </a:extLst>
          </p:cNvPr>
          <p:cNvSpPr txBox="1"/>
          <p:nvPr/>
        </p:nvSpPr>
        <p:spPr>
          <a:xfrm>
            <a:off x="10058401" y="6300328"/>
            <a:ext cx="672941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글로벌 역량, 서비스 마인드, 소통, 도전정신 등 </a:t>
            </a:r>
            <a:r>
              <a:rPr lang="en-US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너무 많은 단어를 나열하여 기억에 남는 것이 없음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5" name="Google Shape;140;p14">
            <a:extLst>
              <a:ext uri="{FF2B5EF4-FFF2-40B4-BE49-F238E27FC236}">
                <a16:creationId xmlns:a16="http://schemas.microsoft.com/office/drawing/2014/main" id="{56807526-0FF3-473F-B23D-0380E5050BD6}"/>
              </a:ext>
            </a:extLst>
          </p:cNvPr>
          <p:cNvSpPr txBox="1"/>
          <p:nvPr/>
        </p:nvSpPr>
        <p:spPr>
          <a:xfrm>
            <a:off x="10058400" y="7629066"/>
            <a:ext cx="70658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738" tIns="0" rIns="0" bIns="0" anchor="t" anchorCtr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자기 자신이 없는 뜬구름 잡기</a:t>
            </a:r>
            <a:endParaRPr sz="2800">
              <a:latin typeface="+mj-ea"/>
              <a:ea typeface="+mj-ea"/>
            </a:endParaRPr>
          </a:p>
        </p:txBody>
      </p:sp>
      <p:sp>
        <p:nvSpPr>
          <p:cNvPr id="46" name="Google Shape;141;p14">
            <a:extLst>
              <a:ext uri="{FF2B5EF4-FFF2-40B4-BE49-F238E27FC236}">
                <a16:creationId xmlns:a16="http://schemas.microsoft.com/office/drawing/2014/main" id="{2D8FE78E-79BE-42AF-AF1A-4141E26CE92A}"/>
              </a:ext>
            </a:extLst>
          </p:cNvPr>
          <p:cNvSpPr txBox="1"/>
          <p:nvPr/>
        </p:nvSpPr>
        <p:spPr>
          <a:xfrm>
            <a:off x="10058401" y="8071978"/>
            <a:ext cx="672941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"박지성 같은 두 개의 심장" 등 </a:t>
            </a:r>
            <a:r>
              <a:rPr lang="en-US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유명인 소개에 치중하거나, 근거 에피소드 없는 미사여구(정직함 등) 남발</a:t>
            </a:r>
            <a:endParaRPr sz="2800">
              <a:latin typeface="+mj-ea"/>
              <a:ea typeface="+mj-ea"/>
            </a:endParaRPr>
          </a:p>
        </p:txBody>
      </p:sp>
      <p:pic>
        <p:nvPicPr>
          <p:cNvPr id="47" name="Google Shape;142;p14" descr="image.png">
            <a:extLst>
              <a:ext uri="{FF2B5EF4-FFF2-40B4-BE49-F238E27FC236}">
                <a16:creationId xmlns:a16="http://schemas.microsoft.com/office/drawing/2014/main" id="{C4DC6FE9-2885-47CC-912F-70F8CB22F14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557338" y="5885991"/>
            <a:ext cx="214313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43;p14" descr="image.png">
            <a:extLst>
              <a:ext uri="{FF2B5EF4-FFF2-40B4-BE49-F238E27FC236}">
                <a16:creationId xmlns:a16="http://schemas.microsoft.com/office/drawing/2014/main" id="{BADEAE8D-8848-4218-A734-F6EACF26D4E7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557338" y="7657641"/>
            <a:ext cx="214313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44;p14" descr="image.png">
            <a:extLst>
              <a:ext uri="{FF2B5EF4-FFF2-40B4-BE49-F238E27FC236}">
                <a16:creationId xmlns:a16="http://schemas.microsoft.com/office/drawing/2014/main" id="{D99103FD-6EE3-474C-855E-754FB16D7E7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058401" y="5885991"/>
            <a:ext cx="185738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45;p14" descr="image.png">
            <a:extLst>
              <a:ext uri="{FF2B5EF4-FFF2-40B4-BE49-F238E27FC236}">
                <a16:creationId xmlns:a16="http://schemas.microsoft.com/office/drawing/2014/main" id="{30743F0A-4B2A-4908-83FA-D5327D5232BE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058401" y="7657641"/>
            <a:ext cx="18573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TextBox 7">
            <a:extLst>
              <a:ext uri="{FF2B5EF4-FFF2-40B4-BE49-F238E27FC236}">
                <a16:creationId xmlns:a16="http://schemas.microsoft.com/office/drawing/2014/main" id="{137D9245-D48C-499C-B1B2-E3E7D141222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Google Shape;134;p14">
            <a:extLst>
              <a:ext uri="{FF2B5EF4-FFF2-40B4-BE49-F238E27FC236}">
                <a16:creationId xmlns:a16="http://schemas.microsoft.com/office/drawing/2014/main" id="{95995DA2-096A-45FE-9957-B20FCA0B41EE}"/>
              </a:ext>
            </a:extLst>
          </p:cNvPr>
          <p:cNvSpPr txBox="1"/>
          <p:nvPr/>
        </p:nvSpPr>
        <p:spPr>
          <a:xfrm>
            <a:off x="2824997" y="5232040"/>
            <a:ext cx="70658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13" tIns="0" rIns="0" bIns="0" anchor="t" anchorCtr="0">
            <a:spAutoFit/>
          </a:bodyPr>
          <a:lstStyle/>
          <a:p>
            <a:r>
              <a:rPr lang="ko-KR" alt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교재 </a:t>
            </a:r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49</a:t>
            </a:r>
            <a:r>
              <a:rPr lang="ko-KR" alt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페이지 사례 참고</a:t>
            </a:r>
            <a:endParaRPr sz="2800" dirty="0">
              <a:latin typeface="+mj-ea"/>
              <a:ea typeface="+mj-ea"/>
            </a:endParaRPr>
          </a:p>
        </p:txBody>
      </p:sp>
      <p:sp>
        <p:nvSpPr>
          <p:cNvPr id="53" name="Google Shape;134;p14">
            <a:extLst>
              <a:ext uri="{FF2B5EF4-FFF2-40B4-BE49-F238E27FC236}">
                <a16:creationId xmlns:a16="http://schemas.microsoft.com/office/drawing/2014/main" id="{C014B2EB-2667-4F13-80B8-33CC5C43424F}"/>
              </a:ext>
            </a:extLst>
          </p:cNvPr>
          <p:cNvSpPr txBox="1"/>
          <p:nvPr/>
        </p:nvSpPr>
        <p:spPr>
          <a:xfrm>
            <a:off x="11908217" y="5267102"/>
            <a:ext cx="70658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13" tIns="0" rIns="0" bIns="0" anchor="t" anchorCtr="0">
            <a:spAutoFit/>
          </a:bodyPr>
          <a:lstStyle/>
          <a:p>
            <a:r>
              <a:rPr lang="ko-KR" altLang="en-US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교재 </a:t>
            </a:r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159</a:t>
            </a:r>
            <a:r>
              <a:rPr lang="ko-KR" altLang="en-US" sz="200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페이지 사례 참고</a:t>
            </a:r>
            <a:endParaRPr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5540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242243" y="982928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모의면접 실습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633362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5240636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p.151~152</a:t>
            </a:r>
          </a:p>
        </p:txBody>
      </p:sp>
      <p:pic>
        <p:nvPicPr>
          <p:cNvPr id="35" name="Google Shape;178;p16" descr="image.png">
            <a:extLst>
              <a:ext uri="{FF2B5EF4-FFF2-40B4-BE49-F238E27FC236}">
                <a16:creationId xmlns:a16="http://schemas.microsoft.com/office/drawing/2014/main" id="{24C94A9B-A87E-49F9-91CC-446507ABCF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843213"/>
            <a:ext cx="1657350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79;p16" descr="image.png">
            <a:extLst>
              <a:ext uri="{FF2B5EF4-FFF2-40B4-BE49-F238E27FC236}">
                <a16:creationId xmlns:a16="http://schemas.microsoft.com/office/drawing/2014/main" id="{D68AC927-5E8E-4FD0-B8FA-8E167F8031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1" y="5637758"/>
            <a:ext cx="8072438" cy="393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80;p16" descr="image.png">
            <a:extLst>
              <a:ext uri="{FF2B5EF4-FFF2-40B4-BE49-F238E27FC236}">
                <a16:creationId xmlns:a16="http://schemas.microsoft.com/office/drawing/2014/main" id="{11230736-5149-4DF2-B2E2-50195DAC41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58313" y="5637758"/>
            <a:ext cx="8072438" cy="393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81;p16" descr="image.png">
            <a:extLst>
              <a:ext uri="{FF2B5EF4-FFF2-40B4-BE49-F238E27FC236}">
                <a16:creationId xmlns:a16="http://schemas.microsoft.com/office/drawing/2014/main" id="{2CF8AF54-B09C-4BA6-AE15-A5ED4C181F9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1225" y="6723608"/>
            <a:ext cx="352186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82;p16" descr="image.png">
            <a:extLst>
              <a:ext uri="{FF2B5EF4-FFF2-40B4-BE49-F238E27FC236}">
                <a16:creationId xmlns:a16="http://schemas.microsoft.com/office/drawing/2014/main" id="{DBC5D921-CB73-442C-8E37-2C7F0F6C4A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65968" y="6723608"/>
            <a:ext cx="352186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83;p16" descr="image.png">
            <a:extLst>
              <a:ext uri="{FF2B5EF4-FFF2-40B4-BE49-F238E27FC236}">
                <a16:creationId xmlns:a16="http://schemas.microsoft.com/office/drawing/2014/main" id="{9E6892B5-4507-4FD9-B0F8-BB5050F552A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01225" y="7509421"/>
            <a:ext cx="352186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84;p16" descr="image.png">
            <a:extLst>
              <a:ext uri="{FF2B5EF4-FFF2-40B4-BE49-F238E27FC236}">
                <a16:creationId xmlns:a16="http://schemas.microsoft.com/office/drawing/2014/main" id="{66FB3374-F677-4989-BCBB-856218E024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65968" y="7509421"/>
            <a:ext cx="352186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85;p16" descr="image.png">
            <a:extLst>
              <a:ext uri="{FF2B5EF4-FFF2-40B4-BE49-F238E27FC236}">
                <a16:creationId xmlns:a16="http://schemas.microsoft.com/office/drawing/2014/main" id="{AF13B115-A273-4C57-BE01-ABE6308A3ED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01225" y="8295233"/>
            <a:ext cx="352186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86;p16" descr="image.png">
            <a:extLst>
              <a:ext uri="{FF2B5EF4-FFF2-40B4-BE49-F238E27FC236}">
                <a16:creationId xmlns:a16="http://schemas.microsoft.com/office/drawing/2014/main" id="{52A4ABE3-81E3-493F-B8F3-CEDE3333AFF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465968" y="8295233"/>
            <a:ext cx="3521868" cy="642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89;p16" descr="image.png">
            <a:extLst>
              <a:ext uri="{FF2B5EF4-FFF2-40B4-BE49-F238E27FC236}">
                <a16:creationId xmlns:a16="http://schemas.microsoft.com/office/drawing/2014/main" id="{5D842209-0B15-4C25-A386-35250FA5774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81003" y="3766232"/>
            <a:ext cx="21431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90;p16" descr="image.png">
            <a:extLst>
              <a:ext uri="{FF2B5EF4-FFF2-40B4-BE49-F238E27FC236}">
                <a16:creationId xmlns:a16="http://schemas.microsoft.com/office/drawing/2014/main" id="{1ED92683-2158-425B-8E5A-E1D0FB90B78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859862" y="3766232"/>
            <a:ext cx="21431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91;p16" descr="image.png">
            <a:extLst>
              <a:ext uri="{FF2B5EF4-FFF2-40B4-BE49-F238E27FC236}">
                <a16:creationId xmlns:a16="http://schemas.microsoft.com/office/drawing/2014/main" id="{033C8AAB-D378-449E-8A22-E4479AAB4A0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938720" y="3766232"/>
            <a:ext cx="21431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92;p16" descr="image.png">
            <a:extLst>
              <a:ext uri="{FF2B5EF4-FFF2-40B4-BE49-F238E27FC236}">
                <a16:creationId xmlns:a16="http://schemas.microsoft.com/office/drawing/2014/main" id="{729326DB-6F79-42FA-9CD6-BFAD55D4453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596976" y="3096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193;p16">
            <a:extLst>
              <a:ext uri="{FF2B5EF4-FFF2-40B4-BE49-F238E27FC236}">
                <a16:creationId xmlns:a16="http://schemas.microsoft.com/office/drawing/2014/main" id="{5514796F-D863-467A-9739-C501F8CDE890}"/>
              </a:ext>
            </a:extLst>
          </p:cNvPr>
          <p:cNvSpPr txBox="1"/>
          <p:nvPr/>
        </p:nvSpPr>
        <p:spPr>
          <a:xfrm>
            <a:off x="1708476" y="4154897"/>
            <a:ext cx="282691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1. 문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열고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입장</a:t>
            </a:r>
            <a:br>
              <a:rPr lang="en-US" sz="28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</a:b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첫인상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및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자세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관찰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)</a:t>
            </a:r>
            <a:endParaRPr sz="2800" dirty="0">
              <a:latin typeface="+mn-ea"/>
            </a:endParaRPr>
          </a:p>
        </p:txBody>
      </p:sp>
      <p:pic>
        <p:nvPicPr>
          <p:cNvPr id="50" name="Google Shape;194;p16" descr="image.png">
            <a:extLst>
              <a:ext uri="{FF2B5EF4-FFF2-40B4-BE49-F238E27FC236}">
                <a16:creationId xmlns:a16="http://schemas.microsoft.com/office/drawing/2014/main" id="{608D10A9-B736-491E-80C7-DEB57FFAA3A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5834" y="3096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195;p16">
            <a:extLst>
              <a:ext uri="{FF2B5EF4-FFF2-40B4-BE49-F238E27FC236}">
                <a16:creationId xmlns:a16="http://schemas.microsoft.com/office/drawing/2014/main" id="{FC6565FA-C300-4320-B632-BFD1ED286661}"/>
              </a:ext>
            </a:extLst>
          </p:cNvPr>
          <p:cNvSpPr txBox="1"/>
          <p:nvPr/>
        </p:nvSpPr>
        <p:spPr>
          <a:xfrm>
            <a:off x="5514018" y="4154897"/>
            <a:ext cx="31336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2.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실전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질의응답</a:t>
            </a:r>
            <a:br>
              <a:rPr lang="en-US" sz="28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</a:b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논리성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및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답변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시간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체크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)</a:t>
            </a:r>
            <a:endParaRPr sz="2800" dirty="0">
              <a:latin typeface="+mn-ea"/>
            </a:endParaRPr>
          </a:p>
        </p:txBody>
      </p:sp>
      <p:pic>
        <p:nvPicPr>
          <p:cNvPr id="52" name="Google Shape;196;p16" descr="image.png">
            <a:extLst>
              <a:ext uri="{FF2B5EF4-FFF2-40B4-BE49-F238E27FC236}">
                <a16:creationId xmlns:a16="http://schemas.microsoft.com/office/drawing/2014/main" id="{07ABA312-7780-488D-A132-8FC8EAC800C9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54691" y="3096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197;p16">
            <a:extLst>
              <a:ext uri="{FF2B5EF4-FFF2-40B4-BE49-F238E27FC236}">
                <a16:creationId xmlns:a16="http://schemas.microsoft.com/office/drawing/2014/main" id="{777F433C-B99A-4D69-B24E-B6CED957C07D}"/>
              </a:ext>
            </a:extLst>
          </p:cNvPr>
          <p:cNvSpPr txBox="1"/>
          <p:nvPr/>
        </p:nvSpPr>
        <p:spPr>
          <a:xfrm>
            <a:off x="9712892" y="4154897"/>
            <a:ext cx="282691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3.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동영상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촬영</a:t>
            </a:r>
            <a:br>
              <a:rPr lang="en-US" sz="28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</a:b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나쁜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화법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및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습관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분석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)</a:t>
            </a:r>
            <a:endParaRPr sz="2800" dirty="0">
              <a:latin typeface="+mn-ea"/>
            </a:endParaRPr>
          </a:p>
        </p:txBody>
      </p:sp>
      <p:pic>
        <p:nvPicPr>
          <p:cNvPr id="54" name="Google Shape;198;p16" descr="image.png">
            <a:extLst>
              <a:ext uri="{FF2B5EF4-FFF2-40B4-BE49-F238E27FC236}">
                <a16:creationId xmlns:a16="http://schemas.microsoft.com/office/drawing/2014/main" id="{2790E092-0B83-4B47-A405-9D433565490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4833550" y="30967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199;p16">
            <a:extLst>
              <a:ext uri="{FF2B5EF4-FFF2-40B4-BE49-F238E27FC236}">
                <a16:creationId xmlns:a16="http://schemas.microsoft.com/office/drawing/2014/main" id="{83C2F2D8-738F-43C0-A9D8-D2E5E42BBAE0}"/>
              </a:ext>
            </a:extLst>
          </p:cNvPr>
          <p:cNvSpPr txBox="1"/>
          <p:nvPr/>
        </p:nvSpPr>
        <p:spPr>
          <a:xfrm>
            <a:off x="13585005" y="4154897"/>
            <a:ext cx="340283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4.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평가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및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피드백</a:t>
            </a:r>
            <a:br>
              <a:rPr lang="en-US" sz="2800" dirty="0">
                <a:solidFill>
                  <a:schemeClr val="dk1"/>
                </a:solidFill>
                <a:latin typeface="+mn-ea"/>
                <a:cs typeface="Calibri"/>
                <a:sym typeface="Calibri"/>
              </a:rPr>
            </a:b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면접평가표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기반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단점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보완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)</a:t>
            </a:r>
            <a:endParaRPr sz="2800" dirty="0">
              <a:latin typeface="+mn-ea"/>
            </a:endParaRPr>
          </a:p>
        </p:txBody>
      </p:sp>
      <p:sp>
        <p:nvSpPr>
          <p:cNvPr id="56" name="Google Shape;200;p16">
            <a:extLst>
              <a:ext uri="{FF2B5EF4-FFF2-40B4-BE49-F238E27FC236}">
                <a16:creationId xmlns:a16="http://schemas.microsoft.com/office/drawing/2014/main" id="{69B56A13-B3C3-41EF-B1F3-71820B2D1462}"/>
              </a:ext>
            </a:extLst>
          </p:cNvPr>
          <p:cNvSpPr txBox="1"/>
          <p:nvPr/>
        </p:nvSpPr>
        <p:spPr>
          <a:xfrm>
            <a:off x="1728788" y="6060311"/>
            <a:ext cx="70958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1E3A8A"/>
                </a:solidFill>
                <a:latin typeface="+mn-ea"/>
                <a:cs typeface="Arial"/>
                <a:sym typeface="Arial"/>
              </a:rPr>
              <a:t>모의면접 핵심 점검 포인트</a:t>
            </a:r>
            <a:endParaRPr sz="2800">
              <a:latin typeface="+mn-ea"/>
            </a:endParaRPr>
          </a:p>
        </p:txBody>
      </p:sp>
      <p:sp>
        <p:nvSpPr>
          <p:cNvPr id="57" name="Google Shape;201;p16">
            <a:extLst>
              <a:ext uri="{FF2B5EF4-FFF2-40B4-BE49-F238E27FC236}">
                <a16:creationId xmlns:a16="http://schemas.microsoft.com/office/drawing/2014/main" id="{C061E0E3-D0B6-47AB-AEDB-C9D7D6646EB0}"/>
              </a:ext>
            </a:extLst>
          </p:cNvPr>
          <p:cNvSpPr txBox="1"/>
          <p:nvPr/>
        </p:nvSpPr>
        <p:spPr>
          <a:xfrm>
            <a:off x="10229851" y="6060311"/>
            <a:ext cx="70958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1E3A8A"/>
                </a:solidFill>
                <a:latin typeface="+mn-ea"/>
                <a:cs typeface="Arial"/>
                <a:sym typeface="Arial"/>
              </a:rPr>
              <a:t>필수 대비 기초 빈출 질문</a:t>
            </a:r>
            <a:endParaRPr sz="2800">
              <a:latin typeface="+mn-ea"/>
            </a:endParaRPr>
          </a:p>
        </p:txBody>
      </p:sp>
      <p:pic>
        <p:nvPicPr>
          <p:cNvPr id="58" name="Google Shape;202;p16" descr="image.png">
            <a:extLst>
              <a:ext uri="{FF2B5EF4-FFF2-40B4-BE49-F238E27FC236}">
                <a16:creationId xmlns:a16="http://schemas.microsoft.com/office/drawing/2014/main" id="{F139C7A7-EC79-48D2-8FF6-6AA7B97180B0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832721" y="3353875"/>
            <a:ext cx="38576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03;p16" descr="image.png">
            <a:extLst>
              <a:ext uri="{FF2B5EF4-FFF2-40B4-BE49-F238E27FC236}">
                <a16:creationId xmlns:a16="http://schemas.microsoft.com/office/drawing/2014/main" id="{D22350AD-F752-4E0A-BE73-E69586117DF5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890147" y="33538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04;p16" descr="image.png">
            <a:extLst>
              <a:ext uri="{FF2B5EF4-FFF2-40B4-BE49-F238E27FC236}">
                <a16:creationId xmlns:a16="http://schemas.microsoft.com/office/drawing/2014/main" id="{46A5D685-E7D8-492C-9D57-02C470466B05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990436" y="3353875"/>
            <a:ext cx="38576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05;p16" descr="image.png">
            <a:extLst>
              <a:ext uri="{FF2B5EF4-FFF2-40B4-BE49-F238E27FC236}">
                <a16:creationId xmlns:a16="http://schemas.microsoft.com/office/drawing/2014/main" id="{67846FB8-E7B7-428C-9E41-6C34F1771A97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133587" y="335387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206;p16" descr="image.png">
            <a:extLst>
              <a:ext uri="{FF2B5EF4-FFF2-40B4-BE49-F238E27FC236}">
                <a16:creationId xmlns:a16="http://schemas.microsoft.com/office/drawing/2014/main" id="{A095C4F3-41FA-4F6B-9170-A922954446FE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300163" y="6102101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207;p16">
            <a:extLst>
              <a:ext uri="{FF2B5EF4-FFF2-40B4-BE49-F238E27FC236}">
                <a16:creationId xmlns:a16="http://schemas.microsoft.com/office/drawing/2014/main" id="{60DE37B5-0EB9-4A16-96EC-3CFD3C2BD902}"/>
              </a:ext>
            </a:extLst>
          </p:cNvPr>
          <p:cNvSpPr txBox="1"/>
          <p:nvPr/>
        </p:nvSpPr>
        <p:spPr>
          <a:xfrm>
            <a:off x="1557338" y="6723608"/>
            <a:ext cx="69294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rgbClr val="334155"/>
                </a:solidFill>
                <a:latin typeface="+mn-ea"/>
                <a:cs typeface="Arial"/>
                <a:sym typeface="Arial"/>
              </a:rPr>
              <a:t>웃고 떠드는 분위기 지양, </a:t>
            </a:r>
            <a:r>
              <a:rPr lang="en-US" sz="2000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실전과 100% 동일한 긴장감 조성</a:t>
            </a:r>
            <a:endParaRPr sz="2800">
              <a:latin typeface="+mn-ea"/>
            </a:endParaRPr>
          </a:p>
        </p:txBody>
      </p:sp>
      <p:sp>
        <p:nvSpPr>
          <p:cNvPr id="64" name="Google Shape;208;p16">
            <a:extLst>
              <a:ext uri="{FF2B5EF4-FFF2-40B4-BE49-F238E27FC236}">
                <a16:creationId xmlns:a16="http://schemas.microsoft.com/office/drawing/2014/main" id="{259F5840-FE1C-41A6-BF45-C1C8FA209ABD}"/>
              </a:ext>
            </a:extLst>
          </p:cNvPr>
          <p:cNvSpPr txBox="1"/>
          <p:nvPr/>
        </p:nvSpPr>
        <p:spPr>
          <a:xfrm>
            <a:off x="1557338" y="7235055"/>
            <a:ext cx="69294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rgbClr val="334155"/>
                </a:solidFill>
                <a:latin typeface="+mn-ea"/>
                <a:cs typeface="Arial"/>
                <a:sym typeface="Arial"/>
              </a:rPr>
              <a:t>면접일이 다가오면 </a:t>
            </a:r>
            <a:r>
              <a:rPr lang="en-US" sz="2000" b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실제 정장/구두 착용 후 시뮬레이션</a:t>
            </a:r>
            <a:endParaRPr sz="2800">
              <a:latin typeface="+mn-ea"/>
            </a:endParaRPr>
          </a:p>
        </p:txBody>
      </p:sp>
      <p:sp>
        <p:nvSpPr>
          <p:cNvPr id="65" name="Google Shape;209;p16">
            <a:extLst>
              <a:ext uri="{FF2B5EF4-FFF2-40B4-BE49-F238E27FC236}">
                <a16:creationId xmlns:a16="http://schemas.microsoft.com/office/drawing/2014/main" id="{B6692300-A7F5-41F7-AFF8-7531D7839F9D}"/>
              </a:ext>
            </a:extLst>
          </p:cNvPr>
          <p:cNvSpPr txBox="1"/>
          <p:nvPr/>
        </p:nvSpPr>
        <p:spPr>
          <a:xfrm>
            <a:off x="1557338" y="7746503"/>
            <a:ext cx="69294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장황한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답변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방지를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위해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답변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시간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(초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단위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)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엄격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체크</a:t>
            </a:r>
            <a:endParaRPr sz="2800" dirty="0">
              <a:latin typeface="+mn-ea"/>
            </a:endParaRPr>
          </a:p>
        </p:txBody>
      </p:sp>
      <p:sp>
        <p:nvSpPr>
          <p:cNvPr id="66" name="Google Shape;210;p16">
            <a:extLst>
              <a:ext uri="{FF2B5EF4-FFF2-40B4-BE49-F238E27FC236}">
                <a16:creationId xmlns:a16="http://schemas.microsoft.com/office/drawing/2014/main" id="{38B6C4F4-478B-43D6-891D-B6F00E2BD814}"/>
              </a:ext>
            </a:extLst>
          </p:cNvPr>
          <p:cNvSpPr txBox="1"/>
          <p:nvPr/>
        </p:nvSpPr>
        <p:spPr>
          <a:xfrm>
            <a:off x="1557338" y="8257952"/>
            <a:ext cx="730252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실제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임원진과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유사한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40~50대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연령층을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면접관으로</a:t>
            </a:r>
            <a:r>
              <a:rPr lang="en-US" sz="2000" b="1" dirty="0">
                <a:solidFill>
                  <a:srgbClr val="0F172A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+mn-ea"/>
                <a:cs typeface="Arial"/>
                <a:sym typeface="Arial"/>
              </a:rPr>
              <a:t>섭외</a:t>
            </a:r>
            <a:r>
              <a:rPr lang="en-US" sz="2000" dirty="0">
                <a:solidFill>
                  <a:srgbClr val="334155"/>
                </a:solidFill>
                <a:latin typeface="+mn-ea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+mn-ea"/>
                <a:cs typeface="Arial"/>
                <a:sym typeface="Arial"/>
              </a:rPr>
              <a:t>권장</a:t>
            </a:r>
            <a:endParaRPr sz="2800" dirty="0">
              <a:latin typeface="+mn-ea"/>
            </a:endParaRPr>
          </a:p>
        </p:txBody>
      </p:sp>
      <p:pic>
        <p:nvPicPr>
          <p:cNvPr id="67" name="Google Shape;211;p16" descr="image.png">
            <a:extLst>
              <a:ext uri="{FF2B5EF4-FFF2-40B4-BE49-F238E27FC236}">
                <a16:creationId xmlns:a16="http://schemas.microsoft.com/office/drawing/2014/main" id="{6F21F719-A112-4A70-AC4D-C4385B23DFD0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9801225" y="6102101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12;p16">
            <a:extLst>
              <a:ext uri="{FF2B5EF4-FFF2-40B4-BE49-F238E27FC236}">
                <a16:creationId xmlns:a16="http://schemas.microsoft.com/office/drawing/2014/main" id="{2A9D66BF-0A41-40C0-BCAB-76641FFED054}"/>
              </a:ext>
            </a:extLst>
          </p:cNvPr>
          <p:cNvSpPr txBox="1"/>
          <p:nvPr/>
        </p:nvSpPr>
        <p:spPr>
          <a:xfrm>
            <a:off x="1300163" y="6780758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800">
              <a:latin typeface="+mn-ea"/>
            </a:endParaRPr>
          </a:p>
        </p:txBody>
      </p:sp>
      <p:sp>
        <p:nvSpPr>
          <p:cNvPr id="69" name="Google Shape;213;p16">
            <a:extLst>
              <a:ext uri="{FF2B5EF4-FFF2-40B4-BE49-F238E27FC236}">
                <a16:creationId xmlns:a16="http://schemas.microsoft.com/office/drawing/2014/main" id="{BE5F2F22-A9EE-4381-97A8-A68159862412}"/>
              </a:ext>
            </a:extLst>
          </p:cNvPr>
          <p:cNvSpPr txBox="1"/>
          <p:nvPr/>
        </p:nvSpPr>
        <p:spPr>
          <a:xfrm>
            <a:off x="1300163" y="7292206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800">
              <a:latin typeface="+mn-ea"/>
            </a:endParaRPr>
          </a:p>
        </p:txBody>
      </p:sp>
      <p:sp>
        <p:nvSpPr>
          <p:cNvPr id="70" name="Google Shape;214;p16">
            <a:extLst>
              <a:ext uri="{FF2B5EF4-FFF2-40B4-BE49-F238E27FC236}">
                <a16:creationId xmlns:a16="http://schemas.microsoft.com/office/drawing/2014/main" id="{9C492FE3-0154-4C39-9EDE-7DFF40036C5E}"/>
              </a:ext>
            </a:extLst>
          </p:cNvPr>
          <p:cNvSpPr txBox="1"/>
          <p:nvPr/>
        </p:nvSpPr>
        <p:spPr>
          <a:xfrm>
            <a:off x="1300163" y="7803653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800">
              <a:latin typeface="+mn-ea"/>
            </a:endParaRPr>
          </a:p>
        </p:txBody>
      </p:sp>
      <p:sp>
        <p:nvSpPr>
          <p:cNvPr id="71" name="Google Shape;215;p16">
            <a:extLst>
              <a:ext uri="{FF2B5EF4-FFF2-40B4-BE49-F238E27FC236}">
                <a16:creationId xmlns:a16="http://schemas.microsoft.com/office/drawing/2014/main" id="{DA38731F-C6BC-4164-BD01-1589EC4060E1}"/>
              </a:ext>
            </a:extLst>
          </p:cNvPr>
          <p:cNvSpPr txBox="1"/>
          <p:nvPr/>
        </p:nvSpPr>
        <p:spPr>
          <a:xfrm>
            <a:off x="1300163" y="8315102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+mn-ea"/>
                <a:cs typeface="Arial"/>
                <a:sym typeface="Arial"/>
              </a:rPr>
              <a:t>■</a:t>
            </a:r>
            <a:endParaRPr sz="2800">
              <a:latin typeface="+mn-ea"/>
            </a:endParaRPr>
          </a:p>
        </p:txBody>
      </p:sp>
      <p:sp>
        <p:nvSpPr>
          <p:cNvPr id="72" name="TextBox 7">
            <a:extLst>
              <a:ext uri="{FF2B5EF4-FFF2-40B4-BE49-F238E27FC236}">
                <a16:creationId xmlns:a16="http://schemas.microsoft.com/office/drawing/2014/main" id="{5D463C3A-FC1D-4B13-9D5B-17CC9E83ADDA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485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200" b="1" spc="-500" dirty="0">
                <a:solidFill>
                  <a:srgbClr val="505050"/>
                </a:solidFill>
                <a:latin typeface="Gmarket Sans Medium"/>
              </a:rPr>
              <a:t>AI</a:t>
            </a: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 역량검사 체험하기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9B2711E-CDB9-4D02-9F8B-7716953DEA17}"/>
              </a:ext>
            </a:extLst>
          </p:cNvPr>
          <p:cNvGrpSpPr/>
          <p:nvPr/>
        </p:nvGrpSpPr>
        <p:grpSpPr>
          <a:xfrm>
            <a:off x="9689602" y="3615613"/>
            <a:ext cx="905426" cy="860114"/>
            <a:chOff x="1874274" y="4762500"/>
            <a:chExt cx="2027736" cy="1902723"/>
          </a:xfrm>
        </p:grpSpPr>
        <p:grpSp>
          <p:nvGrpSpPr>
            <p:cNvPr id="47" name="Group 13">
              <a:extLst>
                <a:ext uri="{FF2B5EF4-FFF2-40B4-BE49-F238E27FC236}">
                  <a16:creationId xmlns:a16="http://schemas.microsoft.com/office/drawing/2014/main" id="{54634B54-B5D1-4C2B-AAA5-C1D0EEF05901}"/>
                </a:ext>
              </a:extLst>
            </p:cNvPr>
            <p:cNvGrpSpPr/>
            <p:nvPr/>
          </p:nvGrpSpPr>
          <p:grpSpPr>
            <a:xfrm>
              <a:off x="1874274" y="4762500"/>
              <a:ext cx="2027736" cy="1902723"/>
              <a:chOff x="0" y="0"/>
              <a:chExt cx="479645" cy="450074"/>
            </a:xfrm>
          </p:grpSpPr>
          <p:sp>
            <p:nvSpPr>
              <p:cNvPr id="49" name="Freeform 14">
                <a:extLst>
                  <a:ext uri="{FF2B5EF4-FFF2-40B4-BE49-F238E27FC236}">
                    <a16:creationId xmlns:a16="http://schemas.microsoft.com/office/drawing/2014/main" id="{B492E070-CDEA-4242-800E-8699F8F5BBDF}"/>
                  </a:ext>
                </a:extLst>
              </p:cNvPr>
              <p:cNvSpPr/>
              <p:nvPr/>
            </p:nvSpPr>
            <p:spPr>
              <a:xfrm>
                <a:off x="0" y="0"/>
                <a:ext cx="479645" cy="450074"/>
              </a:xfrm>
              <a:custGeom>
                <a:avLst/>
                <a:gdLst/>
                <a:ahLst/>
                <a:cxnLst/>
                <a:rect l="l" t="t" r="r" b="b"/>
                <a:pathLst>
                  <a:path w="479645" h="450074">
                    <a:moveTo>
                      <a:pt x="76360" y="0"/>
                    </a:moveTo>
                    <a:lnTo>
                      <a:pt x="403285" y="0"/>
                    </a:lnTo>
                    <a:cubicBezTo>
                      <a:pt x="423537" y="0"/>
                      <a:pt x="442959" y="8045"/>
                      <a:pt x="457279" y="22365"/>
                    </a:cubicBezTo>
                    <a:cubicBezTo>
                      <a:pt x="471600" y="36686"/>
                      <a:pt x="479645" y="56108"/>
                      <a:pt x="479645" y="76360"/>
                    </a:cubicBezTo>
                    <a:lnTo>
                      <a:pt x="479645" y="373714"/>
                    </a:lnTo>
                    <a:cubicBezTo>
                      <a:pt x="479645" y="393966"/>
                      <a:pt x="471600" y="413388"/>
                      <a:pt x="457279" y="427708"/>
                    </a:cubicBezTo>
                    <a:cubicBezTo>
                      <a:pt x="442959" y="442029"/>
                      <a:pt x="423537" y="450074"/>
                      <a:pt x="403285" y="450074"/>
                    </a:cubicBezTo>
                    <a:lnTo>
                      <a:pt x="76360" y="450074"/>
                    </a:lnTo>
                    <a:cubicBezTo>
                      <a:pt x="56108" y="450074"/>
                      <a:pt x="36686" y="442029"/>
                      <a:pt x="22365" y="427708"/>
                    </a:cubicBezTo>
                    <a:cubicBezTo>
                      <a:pt x="8045" y="413388"/>
                      <a:pt x="0" y="393966"/>
                      <a:pt x="0" y="373714"/>
                    </a:cubicBezTo>
                    <a:lnTo>
                      <a:pt x="0" y="76360"/>
                    </a:lnTo>
                    <a:cubicBezTo>
                      <a:pt x="0" y="56108"/>
                      <a:pt x="8045" y="36686"/>
                      <a:pt x="22365" y="22365"/>
                    </a:cubicBezTo>
                    <a:cubicBezTo>
                      <a:pt x="36686" y="8045"/>
                      <a:pt x="56108" y="0"/>
                      <a:pt x="7636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Box 15">
                <a:extLst>
                  <a:ext uri="{FF2B5EF4-FFF2-40B4-BE49-F238E27FC236}">
                    <a16:creationId xmlns:a16="http://schemas.microsoft.com/office/drawing/2014/main" id="{CA2AE108-DFE3-4915-850D-435F9F2FBDEE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479645" cy="4310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F5EAEF35-D97B-4657-A776-D4CE0DB969D6}"/>
                </a:ext>
              </a:extLst>
            </p:cNvPr>
            <p:cNvSpPr/>
            <p:nvPr/>
          </p:nvSpPr>
          <p:spPr>
            <a:xfrm>
              <a:off x="2326354" y="5149958"/>
              <a:ext cx="1123576" cy="1127806"/>
            </a:xfrm>
            <a:custGeom>
              <a:avLst/>
              <a:gdLst/>
              <a:ahLst/>
              <a:cxnLst/>
              <a:rect l="l" t="t" r="r" b="b"/>
              <a:pathLst>
                <a:path w="1123576" h="1127806">
                  <a:moveTo>
                    <a:pt x="0" y="0"/>
                  </a:moveTo>
                  <a:lnTo>
                    <a:pt x="1123576" y="0"/>
                  </a:lnTo>
                  <a:lnTo>
                    <a:pt x="1123576" y="1127806"/>
                  </a:lnTo>
                  <a:lnTo>
                    <a:pt x="0" y="112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A3ED89A-2C2C-44B2-8A42-CCF3DBA4E6F3}"/>
              </a:ext>
            </a:extLst>
          </p:cNvPr>
          <p:cNvGrpSpPr/>
          <p:nvPr/>
        </p:nvGrpSpPr>
        <p:grpSpPr>
          <a:xfrm>
            <a:off x="9708653" y="4918739"/>
            <a:ext cx="905425" cy="860113"/>
            <a:chOff x="6714091" y="4762500"/>
            <a:chExt cx="2027736" cy="1902723"/>
          </a:xfrm>
        </p:grpSpPr>
        <p:grpSp>
          <p:nvGrpSpPr>
            <p:cNvPr id="52" name="Group 10">
              <a:extLst>
                <a:ext uri="{FF2B5EF4-FFF2-40B4-BE49-F238E27FC236}">
                  <a16:creationId xmlns:a16="http://schemas.microsoft.com/office/drawing/2014/main" id="{FB809908-5228-4835-84C6-E8091389EECD}"/>
                </a:ext>
              </a:extLst>
            </p:cNvPr>
            <p:cNvGrpSpPr/>
            <p:nvPr/>
          </p:nvGrpSpPr>
          <p:grpSpPr>
            <a:xfrm>
              <a:off x="6714091" y="4762500"/>
              <a:ext cx="2027736" cy="1902723"/>
              <a:chOff x="0" y="0"/>
              <a:chExt cx="479645" cy="450074"/>
            </a:xfrm>
          </p:grpSpPr>
          <p:sp>
            <p:nvSpPr>
              <p:cNvPr id="54" name="Freeform 11">
                <a:extLst>
                  <a:ext uri="{FF2B5EF4-FFF2-40B4-BE49-F238E27FC236}">
                    <a16:creationId xmlns:a16="http://schemas.microsoft.com/office/drawing/2014/main" id="{A0527AD5-4B0E-4429-B324-AAC2282A1A96}"/>
                  </a:ext>
                </a:extLst>
              </p:cNvPr>
              <p:cNvSpPr/>
              <p:nvPr/>
            </p:nvSpPr>
            <p:spPr>
              <a:xfrm>
                <a:off x="0" y="0"/>
                <a:ext cx="479645" cy="450074"/>
              </a:xfrm>
              <a:custGeom>
                <a:avLst/>
                <a:gdLst/>
                <a:ahLst/>
                <a:cxnLst/>
                <a:rect l="l" t="t" r="r" b="b"/>
                <a:pathLst>
                  <a:path w="479645" h="450074">
                    <a:moveTo>
                      <a:pt x="76360" y="0"/>
                    </a:moveTo>
                    <a:lnTo>
                      <a:pt x="403285" y="0"/>
                    </a:lnTo>
                    <a:cubicBezTo>
                      <a:pt x="423537" y="0"/>
                      <a:pt x="442959" y="8045"/>
                      <a:pt x="457279" y="22365"/>
                    </a:cubicBezTo>
                    <a:cubicBezTo>
                      <a:pt x="471600" y="36686"/>
                      <a:pt x="479645" y="56108"/>
                      <a:pt x="479645" y="76360"/>
                    </a:cubicBezTo>
                    <a:lnTo>
                      <a:pt x="479645" y="373714"/>
                    </a:lnTo>
                    <a:cubicBezTo>
                      <a:pt x="479645" y="393966"/>
                      <a:pt x="471600" y="413388"/>
                      <a:pt x="457279" y="427708"/>
                    </a:cubicBezTo>
                    <a:cubicBezTo>
                      <a:pt x="442959" y="442029"/>
                      <a:pt x="423537" y="450074"/>
                      <a:pt x="403285" y="450074"/>
                    </a:cubicBezTo>
                    <a:lnTo>
                      <a:pt x="76360" y="450074"/>
                    </a:lnTo>
                    <a:cubicBezTo>
                      <a:pt x="56108" y="450074"/>
                      <a:pt x="36686" y="442029"/>
                      <a:pt x="22365" y="427708"/>
                    </a:cubicBezTo>
                    <a:cubicBezTo>
                      <a:pt x="8045" y="413388"/>
                      <a:pt x="0" y="393966"/>
                      <a:pt x="0" y="373714"/>
                    </a:cubicBezTo>
                    <a:lnTo>
                      <a:pt x="0" y="76360"/>
                    </a:lnTo>
                    <a:cubicBezTo>
                      <a:pt x="0" y="56108"/>
                      <a:pt x="8045" y="36686"/>
                      <a:pt x="22365" y="22365"/>
                    </a:cubicBezTo>
                    <a:cubicBezTo>
                      <a:pt x="36686" y="8045"/>
                      <a:pt x="56108" y="0"/>
                      <a:pt x="7636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12">
                <a:extLst>
                  <a:ext uri="{FF2B5EF4-FFF2-40B4-BE49-F238E27FC236}">
                    <a16:creationId xmlns:a16="http://schemas.microsoft.com/office/drawing/2014/main" id="{637BC893-597E-4F28-BBAD-5380392941A8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479645" cy="4310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E6CC82F2-D1B8-4AA0-A652-F407B80D36F6}"/>
                </a:ext>
              </a:extLst>
            </p:cNvPr>
            <p:cNvSpPr/>
            <p:nvPr/>
          </p:nvSpPr>
          <p:spPr>
            <a:xfrm>
              <a:off x="7160153" y="5148317"/>
              <a:ext cx="1132278" cy="1129447"/>
            </a:xfrm>
            <a:custGeom>
              <a:avLst/>
              <a:gdLst/>
              <a:ahLst/>
              <a:cxnLst/>
              <a:rect l="l" t="t" r="r" b="b"/>
              <a:pathLst>
                <a:path w="1132278" h="1129447">
                  <a:moveTo>
                    <a:pt x="0" y="0"/>
                  </a:moveTo>
                  <a:lnTo>
                    <a:pt x="1132278" y="0"/>
                  </a:lnTo>
                  <a:lnTo>
                    <a:pt x="1132278" y="1129447"/>
                  </a:lnTo>
                  <a:lnTo>
                    <a:pt x="0" y="1129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233D204-AA0F-4237-8CFC-84B6F49D58AC}"/>
              </a:ext>
            </a:extLst>
          </p:cNvPr>
          <p:cNvGrpSpPr/>
          <p:nvPr/>
        </p:nvGrpSpPr>
        <p:grpSpPr>
          <a:xfrm>
            <a:off x="9708653" y="7556364"/>
            <a:ext cx="905426" cy="890167"/>
            <a:chOff x="11550574" y="4762500"/>
            <a:chExt cx="2027736" cy="1902723"/>
          </a:xfrm>
        </p:grpSpPr>
        <p:grpSp>
          <p:nvGrpSpPr>
            <p:cNvPr id="60" name="Group 16">
              <a:extLst>
                <a:ext uri="{FF2B5EF4-FFF2-40B4-BE49-F238E27FC236}">
                  <a16:creationId xmlns:a16="http://schemas.microsoft.com/office/drawing/2014/main" id="{D47D724C-F756-4797-88AF-4BFA3E45DD35}"/>
                </a:ext>
              </a:extLst>
            </p:cNvPr>
            <p:cNvGrpSpPr/>
            <p:nvPr/>
          </p:nvGrpSpPr>
          <p:grpSpPr>
            <a:xfrm>
              <a:off x="11550574" y="4762500"/>
              <a:ext cx="2027736" cy="1902723"/>
              <a:chOff x="0" y="0"/>
              <a:chExt cx="479645" cy="450074"/>
            </a:xfrm>
          </p:grpSpPr>
          <p:sp>
            <p:nvSpPr>
              <p:cNvPr id="63" name="Freeform 17">
                <a:extLst>
                  <a:ext uri="{FF2B5EF4-FFF2-40B4-BE49-F238E27FC236}">
                    <a16:creationId xmlns:a16="http://schemas.microsoft.com/office/drawing/2014/main" id="{80F34EAC-EF10-4489-AA2F-304542C4F7D4}"/>
                  </a:ext>
                </a:extLst>
              </p:cNvPr>
              <p:cNvSpPr/>
              <p:nvPr/>
            </p:nvSpPr>
            <p:spPr>
              <a:xfrm>
                <a:off x="0" y="0"/>
                <a:ext cx="479645" cy="450074"/>
              </a:xfrm>
              <a:custGeom>
                <a:avLst/>
                <a:gdLst/>
                <a:ahLst/>
                <a:cxnLst/>
                <a:rect l="l" t="t" r="r" b="b"/>
                <a:pathLst>
                  <a:path w="479645" h="450074">
                    <a:moveTo>
                      <a:pt x="76360" y="0"/>
                    </a:moveTo>
                    <a:lnTo>
                      <a:pt x="403285" y="0"/>
                    </a:lnTo>
                    <a:cubicBezTo>
                      <a:pt x="423537" y="0"/>
                      <a:pt x="442959" y="8045"/>
                      <a:pt x="457279" y="22365"/>
                    </a:cubicBezTo>
                    <a:cubicBezTo>
                      <a:pt x="471600" y="36686"/>
                      <a:pt x="479645" y="56108"/>
                      <a:pt x="479645" y="76360"/>
                    </a:cubicBezTo>
                    <a:lnTo>
                      <a:pt x="479645" y="373714"/>
                    </a:lnTo>
                    <a:cubicBezTo>
                      <a:pt x="479645" y="393966"/>
                      <a:pt x="471600" y="413388"/>
                      <a:pt x="457279" y="427708"/>
                    </a:cubicBezTo>
                    <a:cubicBezTo>
                      <a:pt x="442959" y="442029"/>
                      <a:pt x="423537" y="450074"/>
                      <a:pt x="403285" y="450074"/>
                    </a:cubicBezTo>
                    <a:lnTo>
                      <a:pt x="76360" y="450074"/>
                    </a:lnTo>
                    <a:cubicBezTo>
                      <a:pt x="56108" y="450074"/>
                      <a:pt x="36686" y="442029"/>
                      <a:pt x="22365" y="427708"/>
                    </a:cubicBezTo>
                    <a:cubicBezTo>
                      <a:pt x="8045" y="413388"/>
                      <a:pt x="0" y="393966"/>
                      <a:pt x="0" y="373714"/>
                    </a:cubicBezTo>
                    <a:lnTo>
                      <a:pt x="0" y="76360"/>
                    </a:lnTo>
                    <a:cubicBezTo>
                      <a:pt x="0" y="56108"/>
                      <a:pt x="8045" y="36686"/>
                      <a:pt x="22365" y="22365"/>
                    </a:cubicBezTo>
                    <a:cubicBezTo>
                      <a:pt x="36686" y="8045"/>
                      <a:pt x="56108" y="0"/>
                      <a:pt x="7636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18">
                <a:extLst>
                  <a:ext uri="{FF2B5EF4-FFF2-40B4-BE49-F238E27FC236}">
                    <a16:creationId xmlns:a16="http://schemas.microsoft.com/office/drawing/2014/main" id="{4C2468E5-550B-460A-9ECA-A9ADE06B3238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479645" cy="4310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A2BB4A49-4F9D-4F2F-A119-540F4CECE81D}"/>
                </a:ext>
              </a:extLst>
            </p:cNvPr>
            <p:cNvSpPr/>
            <p:nvPr/>
          </p:nvSpPr>
          <p:spPr>
            <a:xfrm>
              <a:off x="11932077" y="5098709"/>
              <a:ext cx="1264730" cy="1217303"/>
            </a:xfrm>
            <a:custGeom>
              <a:avLst/>
              <a:gdLst/>
              <a:ahLst/>
              <a:cxnLst/>
              <a:rect l="l" t="t" r="r" b="b"/>
              <a:pathLst>
                <a:path w="1264730" h="1217303">
                  <a:moveTo>
                    <a:pt x="0" y="0"/>
                  </a:moveTo>
                  <a:lnTo>
                    <a:pt x="1264730" y="0"/>
                  </a:lnTo>
                  <a:lnTo>
                    <a:pt x="1264730" y="1217303"/>
                  </a:lnTo>
                  <a:lnTo>
                    <a:pt x="0" y="121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5" name="TextBox 28">
            <a:extLst>
              <a:ext uri="{FF2B5EF4-FFF2-40B4-BE49-F238E27FC236}">
                <a16:creationId xmlns:a16="http://schemas.microsoft.com/office/drawing/2014/main" id="{E443E8EE-7D12-487E-87A4-4681164E1CE7}"/>
              </a:ext>
            </a:extLst>
          </p:cNvPr>
          <p:cNvSpPr txBox="1"/>
          <p:nvPr/>
        </p:nvSpPr>
        <p:spPr>
          <a:xfrm>
            <a:off x="10889418" y="3837938"/>
            <a:ext cx="457474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AI </a:t>
            </a:r>
            <a:r>
              <a:rPr lang="ko-KR" altLang="en-US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역량 검사 유형 파악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94" name="TextBox 28">
            <a:extLst>
              <a:ext uri="{FF2B5EF4-FFF2-40B4-BE49-F238E27FC236}">
                <a16:creationId xmlns:a16="http://schemas.microsoft.com/office/drawing/2014/main" id="{5FC25E6A-12F2-439E-BA35-85A4C20A416F}"/>
              </a:ext>
            </a:extLst>
          </p:cNvPr>
          <p:cNvSpPr txBox="1"/>
          <p:nvPr/>
        </p:nvSpPr>
        <p:spPr>
          <a:xfrm>
            <a:off x="10958110" y="4958114"/>
            <a:ext cx="709203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AI</a:t>
            </a:r>
            <a:r>
              <a:rPr lang="ko-KR" altLang="en-US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 역량검사 플랫폼에서 제공하는 모의 검사 실시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95" name="TextBox 28">
            <a:extLst>
              <a:ext uri="{FF2B5EF4-FFF2-40B4-BE49-F238E27FC236}">
                <a16:creationId xmlns:a16="http://schemas.microsoft.com/office/drawing/2014/main" id="{FAD92F5F-0049-43EF-91E8-1A4106C19C7D}"/>
              </a:ext>
            </a:extLst>
          </p:cNvPr>
          <p:cNvSpPr txBox="1"/>
          <p:nvPr/>
        </p:nvSpPr>
        <p:spPr>
          <a:xfrm>
            <a:off x="10958110" y="6261476"/>
            <a:ext cx="6919926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AI </a:t>
            </a:r>
            <a:r>
              <a:rPr lang="ko-KR" altLang="en-US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면접에 대비하여 예상 질문에 대한 답변 미리 연습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sp>
        <p:nvSpPr>
          <p:cNvPr id="96" name="TextBox 28">
            <a:extLst>
              <a:ext uri="{FF2B5EF4-FFF2-40B4-BE49-F238E27FC236}">
                <a16:creationId xmlns:a16="http://schemas.microsoft.com/office/drawing/2014/main" id="{1BC980F8-F96A-4C31-9333-E12D0F2B8469}"/>
              </a:ext>
            </a:extLst>
          </p:cNvPr>
          <p:cNvSpPr txBox="1"/>
          <p:nvPr/>
        </p:nvSpPr>
        <p:spPr>
          <a:xfrm>
            <a:off x="10993969" y="7658708"/>
            <a:ext cx="6959433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0"/>
              </a:lnSpc>
            </a:pPr>
            <a:r>
              <a:rPr lang="ko-KR" altLang="en-US" sz="2800" b="1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자신의 강점과 약점을 파악하고 기업이 요구하는 역량과 연결하여 어필</a:t>
            </a:r>
            <a:endParaRPr lang="en-US" sz="2800" b="1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567A0E0-10D6-4078-95EA-313A89C7FBBB}"/>
              </a:ext>
            </a:extLst>
          </p:cNvPr>
          <p:cNvGrpSpPr/>
          <p:nvPr/>
        </p:nvGrpSpPr>
        <p:grpSpPr>
          <a:xfrm>
            <a:off x="9692623" y="6217631"/>
            <a:ext cx="921456" cy="871922"/>
            <a:chOff x="9913037" y="7569887"/>
            <a:chExt cx="1563400" cy="1563400"/>
          </a:xfrm>
        </p:grpSpPr>
        <p:grpSp>
          <p:nvGrpSpPr>
            <p:cNvPr id="98" name="Group 19">
              <a:extLst>
                <a:ext uri="{FF2B5EF4-FFF2-40B4-BE49-F238E27FC236}">
                  <a16:creationId xmlns:a16="http://schemas.microsoft.com/office/drawing/2014/main" id="{F953E416-DDB8-4286-879D-E8A146C6490B}"/>
                </a:ext>
              </a:extLst>
            </p:cNvPr>
            <p:cNvGrpSpPr/>
            <p:nvPr/>
          </p:nvGrpSpPr>
          <p:grpSpPr>
            <a:xfrm>
              <a:off x="9913037" y="7569887"/>
              <a:ext cx="1563400" cy="1563400"/>
              <a:chOff x="0" y="0"/>
              <a:chExt cx="369810" cy="369810"/>
            </a:xfrm>
          </p:grpSpPr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5B6C0C41-7ED2-41C2-B0DB-E0EABCA7C0BA}"/>
                  </a:ext>
                </a:extLst>
              </p:cNvPr>
              <p:cNvSpPr/>
              <p:nvPr/>
            </p:nvSpPr>
            <p:spPr>
              <a:xfrm>
                <a:off x="0" y="0"/>
                <a:ext cx="369810" cy="369810"/>
              </a:xfrm>
              <a:custGeom>
                <a:avLst/>
                <a:gdLst/>
                <a:ahLst/>
                <a:cxnLst/>
                <a:rect l="l" t="t" r="r" b="b"/>
                <a:pathLst>
                  <a:path w="369810" h="369810">
                    <a:moveTo>
                      <a:pt x="99040" y="0"/>
                    </a:moveTo>
                    <a:lnTo>
                      <a:pt x="270770" y="0"/>
                    </a:lnTo>
                    <a:cubicBezTo>
                      <a:pt x="297037" y="0"/>
                      <a:pt x="322228" y="10434"/>
                      <a:pt x="340802" y="29008"/>
                    </a:cubicBezTo>
                    <a:cubicBezTo>
                      <a:pt x="359375" y="47582"/>
                      <a:pt x="369810" y="72773"/>
                      <a:pt x="369810" y="99040"/>
                    </a:cubicBezTo>
                    <a:lnTo>
                      <a:pt x="369810" y="270770"/>
                    </a:lnTo>
                    <a:cubicBezTo>
                      <a:pt x="369810" y="297037"/>
                      <a:pt x="359375" y="322228"/>
                      <a:pt x="340802" y="340802"/>
                    </a:cubicBezTo>
                    <a:cubicBezTo>
                      <a:pt x="322228" y="359375"/>
                      <a:pt x="297037" y="369810"/>
                      <a:pt x="270770" y="369810"/>
                    </a:cubicBezTo>
                    <a:lnTo>
                      <a:pt x="99040" y="369810"/>
                    </a:lnTo>
                    <a:cubicBezTo>
                      <a:pt x="72773" y="369810"/>
                      <a:pt x="47582" y="359375"/>
                      <a:pt x="29008" y="340802"/>
                    </a:cubicBezTo>
                    <a:cubicBezTo>
                      <a:pt x="10434" y="322228"/>
                      <a:pt x="0" y="297037"/>
                      <a:pt x="0" y="270770"/>
                    </a:cubicBezTo>
                    <a:lnTo>
                      <a:pt x="0" y="99040"/>
                    </a:lnTo>
                    <a:cubicBezTo>
                      <a:pt x="0" y="72773"/>
                      <a:pt x="10434" y="47582"/>
                      <a:pt x="29008" y="29008"/>
                    </a:cubicBezTo>
                    <a:cubicBezTo>
                      <a:pt x="47582" y="10434"/>
                      <a:pt x="72773" y="0"/>
                      <a:pt x="99040" y="0"/>
                    </a:cubicBezTo>
                    <a:close/>
                  </a:path>
                </a:pathLst>
              </a:custGeom>
              <a:solidFill>
                <a:srgbClr val="1A79E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21">
                <a:extLst>
                  <a:ext uri="{FF2B5EF4-FFF2-40B4-BE49-F238E27FC236}">
                    <a16:creationId xmlns:a16="http://schemas.microsoft.com/office/drawing/2014/main" id="{17E66E34-9643-46E1-A080-496C95AFAF20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369810" cy="350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4"/>
                  </a:lnSpc>
                </a:pPr>
                <a:endParaRPr/>
              </a:p>
            </p:txBody>
          </p:sp>
        </p:grpSp>
        <p:sp>
          <p:nvSpPr>
            <p:cNvPr id="99" name="Freeform 25">
              <a:extLst>
                <a:ext uri="{FF2B5EF4-FFF2-40B4-BE49-F238E27FC236}">
                  <a16:creationId xmlns:a16="http://schemas.microsoft.com/office/drawing/2014/main" id="{7C54C282-66BF-4F0C-B122-C343FF320607}"/>
                </a:ext>
              </a:extLst>
            </p:cNvPr>
            <p:cNvSpPr/>
            <p:nvPr/>
          </p:nvSpPr>
          <p:spPr>
            <a:xfrm>
              <a:off x="10200241" y="7843760"/>
              <a:ext cx="988992" cy="1015653"/>
            </a:xfrm>
            <a:custGeom>
              <a:avLst/>
              <a:gdLst/>
              <a:ahLst/>
              <a:cxnLst/>
              <a:rect l="l" t="t" r="r" b="b"/>
              <a:pathLst>
                <a:path w="988992" h="1015653">
                  <a:moveTo>
                    <a:pt x="0" y="0"/>
                  </a:moveTo>
                  <a:lnTo>
                    <a:pt x="988992" y="0"/>
                  </a:lnTo>
                  <a:lnTo>
                    <a:pt x="988992" y="1015653"/>
                  </a:lnTo>
                  <a:lnTo>
                    <a:pt x="0" y="1015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198645E-82D4-4B5D-B832-89AFCA01E0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103" y="3652020"/>
            <a:ext cx="8389626" cy="4244086"/>
          </a:xfrm>
          <a:prstGeom prst="rect">
            <a:avLst/>
          </a:prstGeom>
        </p:spPr>
      </p:pic>
      <p:sp>
        <p:nvSpPr>
          <p:cNvPr id="105" name="TextBox 14">
            <a:extLst>
              <a:ext uri="{FF2B5EF4-FFF2-40B4-BE49-F238E27FC236}">
                <a16:creationId xmlns:a16="http://schemas.microsoft.com/office/drawing/2014/main" id="{2C05B654-E002-4D4B-B827-1E7817AEE279}"/>
              </a:ext>
            </a:extLst>
          </p:cNvPr>
          <p:cNvSpPr txBox="1"/>
          <p:nvPr/>
        </p:nvSpPr>
        <p:spPr>
          <a:xfrm>
            <a:off x="2614528" y="8051370"/>
            <a:ext cx="606987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 Bold"/>
                <a:sym typeface="윤고딕 Bold"/>
              </a:rPr>
              <a:t>AI </a:t>
            </a: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역량검사</a:t>
            </a:r>
            <a:r>
              <a:rPr lang="en-US" sz="2400" b="1" dirty="0">
                <a:latin typeface="+mj-ea"/>
                <a:ea typeface="+mj-ea"/>
                <a:cs typeface="윤고딕 Bold"/>
                <a:sym typeface="윤고딕 Bold"/>
              </a:rPr>
              <a:t> </a:t>
            </a: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체험하기</a:t>
            </a:r>
            <a:endParaRPr lang="en-US" altLang="ko-KR" sz="2400" b="1" dirty="0">
              <a:latin typeface="+mj-ea"/>
              <a:ea typeface="+mj-ea"/>
              <a:cs typeface="윤고딕 Bold"/>
              <a:sym typeface="윤고딕 Bold"/>
            </a:endParaRPr>
          </a:p>
          <a:p>
            <a:pPr marL="0" lvl="0" indent="0" algn="l">
              <a:spcBef>
                <a:spcPct val="0"/>
              </a:spcBef>
            </a:pPr>
            <a:r>
              <a:rPr lang="ko-KR" altLang="en-US" sz="2400" b="1" dirty="0">
                <a:latin typeface="+mj-ea"/>
                <a:ea typeface="+mj-ea"/>
                <a:cs typeface="윤고딕 Bold"/>
                <a:sym typeface="윤고딕 Bold"/>
              </a:rPr>
              <a:t>잡다</a:t>
            </a:r>
            <a:endParaRPr lang="en-US" sz="2400" b="1" dirty="0">
              <a:latin typeface="+mj-ea"/>
              <a:ea typeface="+mj-ea"/>
              <a:cs typeface="윤고딕 Bold"/>
              <a:sym typeface="윤고딕 Bold"/>
            </a:endParaRPr>
          </a:p>
        </p:txBody>
      </p:sp>
      <p:sp>
        <p:nvSpPr>
          <p:cNvPr id="106" name="TextBox 15">
            <a:extLst>
              <a:ext uri="{FF2B5EF4-FFF2-40B4-BE49-F238E27FC236}">
                <a16:creationId xmlns:a16="http://schemas.microsoft.com/office/drawing/2014/main" id="{2501C7D9-38EA-4E8A-8A55-291CEF580DBC}"/>
              </a:ext>
            </a:extLst>
          </p:cNvPr>
          <p:cNvSpPr txBox="1"/>
          <p:nvPr/>
        </p:nvSpPr>
        <p:spPr>
          <a:xfrm>
            <a:off x="2597928" y="9094666"/>
            <a:ext cx="6400800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087"/>
              </a:lnSpc>
              <a:spcBef>
                <a:spcPct val="0"/>
              </a:spcBef>
            </a:pPr>
            <a:r>
              <a:rPr lang="en-US" sz="2400" b="1" dirty="0">
                <a:latin typeface="+mj-ea"/>
                <a:ea typeface="+mj-ea"/>
                <a:cs typeface="윤고딕"/>
                <a:sym typeface="윤고딕"/>
              </a:rPr>
              <a:t>https://</a:t>
            </a:r>
            <a:r>
              <a:rPr lang="en-US" altLang="ko-KR" sz="2400" b="1" dirty="0">
                <a:latin typeface="+mj-ea"/>
                <a:ea typeface="+mj-ea"/>
                <a:cs typeface="윤고딕"/>
                <a:sym typeface="윤고딕"/>
              </a:rPr>
              <a:t>www.jobda.im/</a:t>
            </a:r>
            <a:endParaRPr lang="en-US" sz="2400" b="1" dirty="0">
              <a:latin typeface="+mj-ea"/>
              <a:ea typeface="+mj-ea"/>
              <a:cs typeface="윤고딕"/>
              <a:sym typeface="윤고딕"/>
            </a:endParaRPr>
          </a:p>
        </p:txBody>
      </p:sp>
      <p:sp>
        <p:nvSpPr>
          <p:cNvPr id="107" name="AutoShape 16">
            <a:extLst>
              <a:ext uri="{FF2B5EF4-FFF2-40B4-BE49-F238E27FC236}">
                <a16:creationId xmlns:a16="http://schemas.microsoft.com/office/drawing/2014/main" id="{80F204B8-9905-493D-BD50-80DAA9E1DC7B}"/>
              </a:ext>
            </a:extLst>
          </p:cNvPr>
          <p:cNvSpPr/>
          <p:nvPr/>
        </p:nvSpPr>
        <p:spPr>
          <a:xfrm flipV="1">
            <a:off x="2614528" y="8913165"/>
            <a:ext cx="3386320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2DFE45-6F2A-40AD-914D-EB2064DD47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880" y="7957671"/>
            <a:ext cx="1516990" cy="1430305"/>
          </a:xfrm>
          <a:prstGeom prst="rect">
            <a:avLst/>
          </a:prstGeom>
        </p:spPr>
      </p:pic>
      <p:sp>
        <p:nvSpPr>
          <p:cNvPr id="36" name="TextBox 24">
            <a:extLst>
              <a:ext uri="{FF2B5EF4-FFF2-40B4-BE49-F238E27FC236}">
                <a16:creationId xmlns:a16="http://schemas.microsoft.com/office/drawing/2014/main" id="{A99D3097-5AA5-4127-9BC9-2527B6D99D9D}"/>
              </a:ext>
            </a:extLst>
          </p:cNvPr>
          <p:cNvSpPr txBox="1"/>
          <p:nvPr/>
        </p:nvSpPr>
        <p:spPr>
          <a:xfrm>
            <a:off x="660976" y="2905806"/>
            <a:ext cx="16675504" cy="394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altLang="ko-KR" sz="2000" b="1" spc="-409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코어 고딕 E Semi-Bold"/>
                <a:sym typeface="코어 고딕 E Semi-Bold"/>
              </a:rPr>
              <a:t>‘</a:t>
            </a:r>
            <a:r>
              <a:rPr lang="ko-KR" altLang="en-US" sz="2000" b="1" spc="-409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코어 고딕 E Semi-Bold"/>
                <a:sym typeface="코어 고딕 E Semi-Bold"/>
              </a:rPr>
              <a:t>잡다</a:t>
            </a:r>
            <a:r>
              <a:rPr lang="en-US" altLang="ko-KR" sz="2000" b="1" spc="-409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코어 고딕 E Semi-Bold"/>
                <a:sym typeface="코어 고딕 E Semi-Bold"/>
              </a:rPr>
              <a:t>’ </a:t>
            </a:r>
            <a:r>
              <a:rPr lang="ko-KR" altLang="en-US" sz="2000" b="1" spc="-409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코어 고딕 E Semi-Bold"/>
                <a:sym typeface="코어 고딕 E Semi-Bold"/>
              </a:rPr>
              <a:t>역량센터의 튜토리얼을 통해 충분히 연습하고 월 </a:t>
            </a:r>
            <a:r>
              <a:rPr lang="en-US" altLang="ko-KR" sz="2000" b="1" spc="-409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코어 고딕 E Semi-Bold"/>
                <a:sym typeface="코어 고딕 E Semi-Bold"/>
              </a:rPr>
              <a:t>3</a:t>
            </a:r>
            <a:r>
              <a:rPr lang="ko-KR" altLang="en-US" sz="2000" b="1" spc="-409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코어 고딕 E Semi-Bold"/>
                <a:sym typeface="코어 고딕 E Semi-Bold"/>
              </a:rPr>
              <a:t>회 제공되는 실전 기회를 통해 역량검사 응시 가능</a:t>
            </a:r>
            <a:endParaRPr lang="en-US" sz="2000" b="1" spc="-409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코어 고딕 E Semi-Bold"/>
              <a:sym typeface="코어 고딕 E Semi-Bold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F77B52B-05AC-474E-A894-39B6192D91E8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7A3690-E090-43B0-8D33-7A1FD607EEFC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p.141~142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DCFF6165-3873-4E52-9CB7-9F8E954EED52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288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면접평가표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79733" y="2625385"/>
            <a:ext cx="14843095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614919" y="5753100"/>
            <a:ext cx="2447093" cy="3474608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Text Box 58">
            <a:extLst>
              <a:ext uri="{FF2B5EF4-FFF2-40B4-BE49-F238E27FC236}">
                <a16:creationId xmlns:a16="http://schemas.microsoft.com/office/drawing/2014/main" id="{8B923F7C-6B9B-4125-B028-54067288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252" y="4770660"/>
            <a:ext cx="5168281" cy="2678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자기소개서를 기반으로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모의면접을 실시해보자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모의면접 시 </a:t>
            </a:r>
            <a:r>
              <a:rPr lang="ko-KR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면접자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면접관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ctr"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역할을 나누고 면접관은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면접평가표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(p.156) </a:t>
            </a:r>
          </a:p>
          <a:p>
            <a:pPr algn="ctr"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활용하여 평가해보기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AF23F9-415D-4A58-AD70-2B10394C6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975" y="3612723"/>
            <a:ext cx="4486703" cy="5557835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C74C603-50F9-4D2D-BAC9-AD0B6DF870D3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EF9D4D-4E73-4B83-A35A-C04E561C1143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p.155~157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BEA7E9F-DC78-4971-B385-7BACF3391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7225" y="3555573"/>
            <a:ext cx="4133766" cy="5614985"/>
          </a:xfrm>
          <a:prstGeom prst="rect">
            <a:avLst/>
          </a:prstGeom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2EB904DB-D9D2-4754-B623-59038962E828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763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684</Words>
  <Application>Microsoft Office PowerPoint</Application>
  <PresentationFormat>사용자 지정</PresentationFormat>
  <Paragraphs>110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Arial</vt:lpstr>
      <vt:lpstr>굴림</vt:lpstr>
      <vt:lpstr>Poppins Black</vt:lpstr>
      <vt:lpstr>Calibri</vt:lpstr>
      <vt:lpstr>나눔고딕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2026-03-03T07:10:01Z</dcterms:modified>
</cp:coreProperties>
</file>