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412" r:id="rId2"/>
    <p:sldId id="413" r:id="rId3"/>
    <p:sldId id="415" r:id="rId4"/>
    <p:sldId id="416" r:id="rId5"/>
    <p:sldId id="417" r:id="rId6"/>
    <p:sldId id="420" r:id="rId7"/>
    <p:sldId id="512" r:id="rId8"/>
  </p:sldIdLst>
  <p:sldSz cx="18288000" cy="10287000"/>
  <p:notesSz cx="6858000" cy="9144000"/>
  <p:embeddedFontLst>
    <p:embeddedFont>
      <p:font typeface="Gmarket Sans Medium" panose="020B0600000101010101" charset="-127"/>
      <p:regular r:id="rId10"/>
    </p:embeddedFont>
    <p:embeddedFont>
      <p:font typeface="맑은 고딕" panose="020B0503020000020004" pitchFamily="50" charset="-127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8E5"/>
    <a:srgbClr val="FF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 autoAdjust="0"/>
    <p:restoredTop sz="94622" autoAdjust="0"/>
  </p:normalViewPr>
  <p:slideViewPr>
    <p:cSldViewPr>
      <p:cViewPr varScale="1">
        <p:scale>
          <a:sx n="99" d="100"/>
          <a:sy n="99" d="100"/>
        </p:scale>
        <p:origin x="78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1B1C3-5D0E-4806-BAAA-95815FF0384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8C21A-DA85-4505-A54C-645BC087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129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0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42900" y="1663700"/>
            <a:ext cx="6223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14070" y="5629275"/>
            <a:ext cx="889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58570" y="1346200"/>
            <a:ext cx="97155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진로설계 </a:t>
            </a:r>
            <a:r>
              <a:rPr lang="en-US" altLang="ko-KR" sz="6600" b="1" dirty="0">
                <a:solidFill>
                  <a:srgbClr val="505050"/>
                </a:solidFill>
                <a:latin typeface="+mj-ea"/>
                <a:ea typeface="+mj-ea"/>
              </a:rPr>
              <a:t>4.</a:t>
            </a:r>
          </a:p>
          <a:p>
            <a:pPr lvl="0" algn="l">
              <a:lnSpc>
                <a:spcPct val="99600"/>
              </a:lnSpc>
            </a:pP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취업전략과</a:t>
            </a: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 </a:t>
            </a: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실전취업</a:t>
            </a:r>
            <a:endParaRPr lang="en-US" sz="6600" b="1" i="0" u="none" strike="noStrike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3000" y="6896100"/>
            <a:ext cx="76962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6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주차</a:t>
            </a: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. 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입사지원서 작성 </a:t>
            </a:r>
            <a:r>
              <a:rPr lang="en-US" altLang="ko-KR" sz="5400" b="1" spc="-200" dirty="0">
                <a:solidFill>
                  <a:srgbClr val="505050"/>
                </a:solidFill>
                <a:latin typeface="+mj-ea"/>
                <a:ea typeface="+mj-ea"/>
              </a:rPr>
              <a:t>2</a:t>
            </a:r>
          </a:p>
          <a:p>
            <a:pPr lvl="0" algn="l">
              <a:lnSpc>
                <a:spcPct val="99600"/>
              </a:lnSpc>
            </a:pPr>
            <a:r>
              <a:rPr lang="en-US" altLang="ko-KR" sz="48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(13</a:t>
            </a:r>
            <a:r>
              <a:rPr lang="ko-KR" altLang="en-US" sz="48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주까지 완성 후 서류 지원</a:t>
            </a:r>
            <a:r>
              <a:rPr lang="en-US" altLang="ko-KR" sz="48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)</a:t>
            </a:r>
            <a:endParaRPr lang="ko-KR" sz="48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6C7F429-F160-47A6-8A64-C27B90CB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442126"/>
            <a:ext cx="2798834" cy="600243"/>
          </a:xfrm>
          <a:prstGeom prst="rect">
            <a:avLst/>
          </a:pr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17094926-8E90-413A-924D-78830B690DF0}"/>
              </a:ext>
            </a:extLst>
          </p:cNvPr>
          <p:cNvSpPr/>
          <p:nvPr/>
        </p:nvSpPr>
        <p:spPr>
          <a:xfrm>
            <a:off x="9691039" y="2867024"/>
            <a:ext cx="8590034" cy="7302501"/>
          </a:xfrm>
          <a:custGeom>
            <a:avLst/>
            <a:gdLst/>
            <a:ahLst/>
            <a:cxnLst/>
            <a:rect l="l" t="t" r="r" b="b"/>
            <a:pathLst>
              <a:path w="9256196" h="8229600">
                <a:moveTo>
                  <a:pt x="0" y="0"/>
                </a:moveTo>
                <a:lnTo>
                  <a:pt x="9256196" y="0"/>
                </a:lnTo>
                <a:lnTo>
                  <a:pt x="925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38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331ADB4-7088-4FC4-8485-F6FACADEFEA6}"/>
              </a:ext>
            </a:extLst>
          </p:cNvPr>
          <p:cNvSpPr/>
          <p:nvPr/>
        </p:nvSpPr>
        <p:spPr>
          <a:xfrm>
            <a:off x="7696200" y="-266700"/>
            <a:ext cx="10591800" cy="10896595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8962177" y="6314407"/>
            <a:ext cx="69977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6777" y="5628607"/>
            <a:ext cx="1371600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699500" y="2291019"/>
            <a:ext cx="659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400" dirty="0">
                <a:solidFill>
                  <a:srgbClr val="505050"/>
                </a:solidFill>
                <a:latin typeface="+mj-ea"/>
                <a:ea typeface="+mj-ea"/>
              </a:rPr>
              <a:t>학습목표</a:t>
            </a:r>
            <a:endParaRPr lang="ko-KR" sz="4800" b="1" i="0" u="none" strike="noStrike" spc="-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591799" y="5615907"/>
            <a:ext cx="7107977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목표기업 및 직무기반</a:t>
            </a:r>
            <a:r>
              <a:rPr lang="en-US" altLang="ko-KR" sz="2800" b="1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 </a:t>
            </a:r>
            <a:r>
              <a:rPr lang="ko-KR" altLang="en-US" sz="2800" b="1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자기소개서 작성 완성</a:t>
            </a:r>
            <a:endParaRPr lang="ko-KR" sz="2800" b="1" i="0" u="none" strike="noStrike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076477" y="5692107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8962177" y="7279607"/>
            <a:ext cx="69977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6777" y="6568407"/>
            <a:ext cx="1371600" cy="419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562377" y="6555706"/>
            <a:ext cx="6413500" cy="5635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목표기업 및 직무기반 입사지원서 작성</a:t>
            </a:r>
            <a:endParaRPr lang="ko-KR" sz="2800" b="1" i="0" u="none" strike="noStrike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076477" y="6631907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>
                <a:solidFill>
                  <a:srgbClr val="F8F8F8"/>
                </a:solidFill>
                <a:latin typeface="+mn-ea"/>
              </a:rPr>
              <a:t>POINT.02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6699729-652E-4AF5-BBEC-235E549CDDA1}"/>
              </a:ext>
            </a:extLst>
          </p:cNvPr>
          <p:cNvSpPr/>
          <p:nvPr/>
        </p:nvSpPr>
        <p:spPr>
          <a:xfrm>
            <a:off x="707715" y="2357437"/>
            <a:ext cx="6239185" cy="6937375"/>
          </a:xfrm>
          <a:custGeom>
            <a:avLst/>
            <a:gdLst/>
            <a:ahLst/>
            <a:cxnLst/>
            <a:rect l="l" t="t" r="r" b="b"/>
            <a:pathLst>
              <a:path w="5550107" h="4763001">
                <a:moveTo>
                  <a:pt x="0" y="0"/>
                </a:moveTo>
                <a:lnTo>
                  <a:pt x="5550106" y="0"/>
                </a:lnTo>
                <a:lnTo>
                  <a:pt x="5550106" y="4763001"/>
                </a:lnTo>
                <a:lnTo>
                  <a:pt x="0" y="47630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F04DE6F0-BEF0-411B-A74D-5D8C9DE1256A}"/>
              </a:ext>
            </a:extLst>
          </p:cNvPr>
          <p:cNvSpPr txBox="1"/>
          <p:nvPr/>
        </p:nvSpPr>
        <p:spPr>
          <a:xfrm>
            <a:off x="8699500" y="4025628"/>
            <a:ext cx="85852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742950" lvl="0" indent="-742950" algn="l">
              <a:lnSpc>
                <a:spcPct val="99600"/>
              </a:lnSpc>
              <a:buAutoNum type="arabicPeriod"/>
            </a:pP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목표기업 및 직무기반 </a:t>
            </a:r>
            <a:endParaRPr lang="en-US" altLang="ko-KR" sz="4400" b="1" spc="-200" dirty="0">
              <a:solidFill>
                <a:srgbClr val="505050"/>
              </a:solidFill>
              <a:latin typeface="+mj-ea"/>
              <a:ea typeface="+mj-ea"/>
            </a:endParaRPr>
          </a:p>
          <a:p>
            <a:pPr lvl="0" algn="l">
              <a:lnSpc>
                <a:spcPct val="99600"/>
              </a:lnSpc>
            </a:pP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    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이력서</a:t>
            </a: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, 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자기소개서 완성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A16FAA1-C23E-4D18-9DCD-E7CB520FE825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p.79</a:t>
            </a:r>
          </a:p>
        </p:txBody>
      </p:sp>
    </p:spTree>
    <p:extLst>
      <p:ext uri="{BB962C8B-B14F-4D97-AF65-F5344CB8AC3E}">
        <p14:creationId xmlns:p14="http://schemas.microsoft.com/office/powerpoint/2010/main" val="3076726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71800" y="1069181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자기소개서 문항 트렌드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9C350B33-5FDF-415B-BABC-1C47DC2F809A}"/>
              </a:ext>
            </a:extLst>
          </p:cNvPr>
          <p:cNvSpPr txBox="1"/>
          <p:nvPr/>
        </p:nvSpPr>
        <p:spPr>
          <a:xfrm>
            <a:off x="10439400" y="9291497"/>
            <a:ext cx="5575300" cy="5635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sz="2800" b="1" i="0" u="none" strike="noStrike" spc="-100" dirty="0">
              <a:solidFill>
                <a:schemeClr val="tx1">
                  <a:alpha val="97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1" name="Picture 20">
            <a:extLst>
              <a:ext uri="{FF2B5EF4-FFF2-40B4-BE49-F238E27FC236}">
                <a16:creationId xmlns:a16="http://schemas.microsoft.com/office/drawing/2014/main" id="{46A4F283-9E54-4143-B063-7F63B3D478F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2" name="TextBox 24">
            <a:extLst>
              <a:ext uri="{FF2B5EF4-FFF2-40B4-BE49-F238E27FC236}">
                <a16:creationId xmlns:a16="http://schemas.microsoft.com/office/drawing/2014/main" id="{CCF4E930-5931-418F-8DF9-50EC281821B0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E372B59-9A3B-42D7-9728-92FD7BFCEFD3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1063E25-268C-4824-BE6C-E1BC43354EC1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p.80</a:t>
            </a:r>
          </a:p>
        </p:txBody>
      </p:sp>
      <p:pic>
        <p:nvPicPr>
          <p:cNvPr id="11" name="Google Shape;85;p13" descr="image.png">
            <a:extLst>
              <a:ext uri="{FF2B5EF4-FFF2-40B4-BE49-F238E27FC236}">
                <a16:creationId xmlns:a16="http://schemas.microsoft.com/office/drawing/2014/main" id="{629CDF77-7210-4913-8CBF-64054C51B1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3028950"/>
            <a:ext cx="8001000" cy="65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86;p13" descr="image.png">
            <a:extLst>
              <a:ext uri="{FF2B5EF4-FFF2-40B4-BE49-F238E27FC236}">
                <a16:creationId xmlns:a16="http://schemas.microsoft.com/office/drawing/2014/main" id="{A6C7D404-90B1-4A3E-83E9-4D0684B6C1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29750" y="3028950"/>
            <a:ext cx="8001000" cy="65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87;p13" descr="image.png">
            <a:extLst>
              <a:ext uri="{FF2B5EF4-FFF2-40B4-BE49-F238E27FC236}">
                <a16:creationId xmlns:a16="http://schemas.microsoft.com/office/drawing/2014/main" id="{5426280E-CA1B-4662-A630-6DA6E9AB903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57325" y="7069410"/>
            <a:ext cx="6972300" cy="115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88;p13" descr="image.png">
            <a:extLst>
              <a:ext uri="{FF2B5EF4-FFF2-40B4-BE49-F238E27FC236}">
                <a16:creationId xmlns:a16="http://schemas.microsoft.com/office/drawing/2014/main" id="{CF82D8E6-11DC-4661-B3F8-7CD50DAB871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44100" y="7389316"/>
            <a:ext cx="6972300" cy="115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1;p13" descr="image.png">
            <a:extLst>
              <a:ext uri="{FF2B5EF4-FFF2-40B4-BE49-F238E27FC236}">
                <a16:creationId xmlns:a16="http://schemas.microsoft.com/office/drawing/2014/main" id="{CFA8C6E0-A551-45FF-AEF5-6BE8956DB48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71601" y="3671888"/>
            <a:ext cx="385763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92;p13">
            <a:extLst>
              <a:ext uri="{FF2B5EF4-FFF2-40B4-BE49-F238E27FC236}">
                <a16:creationId xmlns:a16="http://schemas.microsoft.com/office/drawing/2014/main" id="{2D7AAF79-8711-4C56-9CEF-EEB1609D8908}"/>
              </a:ext>
            </a:extLst>
          </p:cNvPr>
          <p:cNvSpPr txBox="1"/>
          <p:nvPr/>
        </p:nvSpPr>
        <p:spPr>
          <a:xfrm>
            <a:off x="1371600" y="4471988"/>
            <a:ext cx="7320915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925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'</a:t>
            </a:r>
            <a:r>
              <a:rPr lang="en-US" sz="2925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도전</a:t>
            </a:r>
            <a:r>
              <a:rPr lang="en-US" sz="2925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925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경험</a:t>
            </a:r>
            <a:r>
              <a:rPr lang="en-US" sz="2925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' </a:t>
            </a:r>
            <a:r>
              <a:rPr lang="en-US" sz="2925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문항의</a:t>
            </a:r>
            <a:r>
              <a:rPr lang="en-US" sz="2925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925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압도적</a:t>
            </a:r>
            <a:r>
              <a:rPr lang="en-US" sz="2925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925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증가</a:t>
            </a:r>
            <a:endParaRPr sz="2700" dirty="0">
              <a:latin typeface="+mj-ea"/>
              <a:ea typeface="+mj-ea"/>
            </a:endParaRPr>
          </a:p>
        </p:txBody>
      </p:sp>
      <p:pic>
        <p:nvPicPr>
          <p:cNvPr id="17" name="Google Shape;93;p13" descr="image.png">
            <a:extLst>
              <a:ext uri="{FF2B5EF4-FFF2-40B4-BE49-F238E27FC236}">
                <a16:creationId xmlns:a16="http://schemas.microsoft.com/office/drawing/2014/main" id="{8D651F87-6334-42AA-8890-52B8901ADA9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44100" y="3671888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94;p13">
            <a:extLst>
              <a:ext uri="{FF2B5EF4-FFF2-40B4-BE49-F238E27FC236}">
                <a16:creationId xmlns:a16="http://schemas.microsoft.com/office/drawing/2014/main" id="{36917F77-A025-4D8D-ABC4-46060B707D41}"/>
              </a:ext>
            </a:extLst>
          </p:cNvPr>
          <p:cNvSpPr txBox="1"/>
          <p:nvPr/>
        </p:nvSpPr>
        <p:spPr>
          <a:xfrm>
            <a:off x="9944100" y="4471988"/>
            <a:ext cx="7320915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925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'</a:t>
            </a:r>
            <a:r>
              <a:rPr lang="en-US" sz="2925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직무</a:t>
            </a:r>
            <a:r>
              <a:rPr lang="en-US" sz="2925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925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역량</a:t>
            </a:r>
            <a:r>
              <a:rPr lang="en-US" sz="2925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925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중심</a:t>
            </a:r>
            <a:r>
              <a:rPr lang="en-US" sz="2925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' </a:t>
            </a:r>
            <a:r>
              <a:rPr lang="en-US" sz="2925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어필</a:t>
            </a:r>
            <a:r>
              <a:rPr lang="en-US" sz="2925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925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필수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19" name="Google Shape;95;p13">
            <a:extLst>
              <a:ext uri="{FF2B5EF4-FFF2-40B4-BE49-F238E27FC236}">
                <a16:creationId xmlns:a16="http://schemas.microsoft.com/office/drawing/2014/main" id="{ADD58B1C-2DB1-4310-B166-8FA4E83DB9B6}"/>
              </a:ext>
            </a:extLst>
          </p:cNvPr>
          <p:cNvSpPr txBox="1"/>
          <p:nvPr/>
        </p:nvSpPr>
        <p:spPr>
          <a:xfrm>
            <a:off x="1628775" y="5329238"/>
            <a:ext cx="6715125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포스트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코로나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시대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새로운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길을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개척하는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혁신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인재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선호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20" name="Google Shape;96;p13">
            <a:extLst>
              <a:ext uri="{FF2B5EF4-FFF2-40B4-BE49-F238E27FC236}">
                <a16:creationId xmlns:a16="http://schemas.microsoft.com/office/drawing/2014/main" id="{5F610E07-CE65-4A3B-95F1-80C08F84789A}"/>
              </a:ext>
            </a:extLst>
          </p:cNvPr>
          <p:cNvSpPr txBox="1"/>
          <p:nvPr/>
        </p:nvSpPr>
        <p:spPr>
          <a:xfrm>
            <a:off x="1628775" y="5840685"/>
            <a:ext cx="7229475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남들이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시도하지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않은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목표를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스스로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설정하고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돌파하는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능력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검증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21" name="Google Shape;97;p13">
            <a:extLst>
              <a:ext uri="{FF2B5EF4-FFF2-40B4-BE49-F238E27FC236}">
                <a16:creationId xmlns:a16="http://schemas.microsoft.com/office/drawing/2014/main" id="{3E3B3670-618A-42F2-87EB-837BC0711B45}"/>
              </a:ext>
            </a:extLst>
          </p:cNvPr>
          <p:cNvSpPr txBox="1"/>
          <p:nvPr/>
        </p:nvSpPr>
        <p:spPr>
          <a:xfrm>
            <a:off x="1628775" y="6407406"/>
            <a:ext cx="6715125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개인의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성장을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넘어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조직의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높은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성과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창출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가능성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평가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22" name="Google Shape;98;p13">
            <a:extLst>
              <a:ext uri="{FF2B5EF4-FFF2-40B4-BE49-F238E27FC236}">
                <a16:creationId xmlns:a16="http://schemas.microsoft.com/office/drawing/2014/main" id="{566EE61C-8364-42F2-86F6-1AC8CAF89A13}"/>
              </a:ext>
            </a:extLst>
          </p:cNvPr>
          <p:cNvSpPr txBox="1"/>
          <p:nvPr/>
        </p:nvSpPr>
        <p:spPr>
          <a:xfrm>
            <a:off x="1814512" y="7222114"/>
            <a:ext cx="63436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기출</a:t>
            </a: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키워드</a:t>
            </a: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: #</a:t>
            </a:r>
            <a:r>
              <a:rPr lang="en-US" dirty="0" err="1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열정적_도전</a:t>
            </a: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 #</a:t>
            </a:r>
            <a:r>
              <a:rPr lang="en-US" dirty="0" err="1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가장_도전적이었던_경험</a:t>
            </a: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 #</a:t>
            </a:r>
            <a:r>
              <a:rPr lang="en-US" dirty="0" err="1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실패를_극복한_사례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23" name="Google Shape;99;p13">
            <a:extLst>
              <a:ext uri="{FF2B5EF4-FFF2-40B4-BE49-F238E27FC236}">
                <a16:creationId xmlns:a16="http://schemas.microsoft.com/office/drawing/2014/main" id="{634569BE-11FD-4A80-A633-4DBA5D48269B}"/>
              </a:ext>
            </a:extLst>
          </p:cNvPr>
          <p:cNvSpPr txBox="1"/>
          <p:nvPr/>
        </p:nvSpPr>
        <p:spPr>
          <a:xfrm>
            <a:off x="10201275" y="5329238"/>
            <a:ext cx="6715125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인사담당자의 최고 평가 비중은 언제나 </a:t>
            </a:r>
            <a:r>
              <a:rPr lang="en-US" sz="1913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'직무 역량'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24" name="Google Shape;100;p13">
            <a:extLst>
              <a:ext uri="{FF2B5EF4-FFF2-40B4-BE49-F238E27FC236}">
                <a16:creationId xmlns:a16="http://schemas.microsoft.com/office/drawing/2014/main" id="{20CEF47A-AC92-4AAE-8192-ECC4184DB429}"/>
              </a:ext>
            </a:extLst>
          </p:cNvPr>
          <p:cNvSpPr txBox="1"/>
          <p:nvPr/>
        </p:nvSpPr>
        <p:spPr>
          <a:xfrm>
            <a:off x="10201275" y="5840685"/>
            <a:ext cx="6715125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모호하고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다방면의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인재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지양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➔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직무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특화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스페셜리스트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요구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25" name="Google Shape;101;p13">
            <a:extLst>
              <a:ext uri="{FF2B5EF4-FFF2-40B4-BE49-F238E27FC236}">
                <a16:creationId xmlns:a16="http://schemas.microsoft.com/office/drawing/2014/main" id="{223FF91F-9F6E-4E57-A615-AEE12E37A94B}"/>
              </a:ext>
            </a:extLst>
          </p:cNvPr>
          <p:cNvSpPr txBox="1"/>
          <p:nvPr/>
        </p:nvSpPr>
        <p:spPr>
          <a:xfrm>
            <a:off x="10201275" y="6352133"/>
            <a:ext cx="7063740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단순한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열정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나열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금지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➔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지원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직무와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100%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매칭되는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경험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선별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26" name="Google Shape;102;p13">
            <a:extLst>
              <a:ext uri="{FF2B5EF4-FFF2-40B4-BE49-F238E27FC236}">
                <a16:creationId xmlns:a16="http://schemas.microsoft.com/office/drawing/2014/main" id="{1D9530DD-AEC2-407F-939B-D54E0AF7BEFE}"/>
              </a:ext>
            </a:extLst>
          </p:cNvPr>
          <p:cNvSpPr txBox="1"/>
          <p:nvPr/>
        </p:nvSpPr>
        <p:spPr>
          <a:xfrm>
            <a:off x="10365014" y="7528439"/>
            <a:ext cx="63436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핵심</a:t>
            </a: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포인트</a:t>
            </a: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: "</a:t>
            </a:r>
            <a:r>
              <a:rPr lang="en-US" dirty="0" err="1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모든</a:t>
            </a: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지원자가</a:t>
            </a: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인재상을</a:t>
            </a: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어필합니다</a:t>
            </a: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. </a:t>
            </a:r>
            <a:r>
              <a:rPr lang="en-US" dirty="0" err="1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합격은</a:t>
            </a: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 '</a:t>
            </a:r>
            <a:r>
              <a:rPr lang="en-US" dirty="0" err="1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직무</a:t>
            </a: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전문성'에서</a:t>
            </a: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갈립니다</a:t>
            </a:r>
            <a:r>
              <a:rPr lang="en-US" dirty="0">
                <a:solidFill>
                  <a:srgbClr val="1E293B"/>
                </a:solidFill>
                <a:latin typeface="+mj-ea"/>
                <a:ea typeface="+mj-ea"/>
                <a:cs typeface="Arial"/>
                <a:sym typeface="Arial"/>
              </a:rPr>
              <a:t>."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27" name="Google Shape;103;p13">
            <a:extLst>
              <a:ext uri="{FF2B5EF4-FFF2-40B4-BE49-F238E27FC236}">
                <a16:creationId xmlns:a16="http://schemas.microsoft.com/office/drawing/2014/main" id="{2BD7D3BC-7505-43F5-9A6A-0636AE3BD091}"/>
              </a:ext>
            </a:extLst>
          </p:cNvPr>
          <p:cNvSpPr txBox="1"/>
          <p:nvPr/>
        </p:nvSpPr>
        <p:spPr>
          <a:xfrm>
            <a:off x="1371600" y="5372100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28" name="Google Shape;104;p13">
            <a:extLst>
              <a:ext uri="{FF2B5EF4-FFF2-40B4-BE49-F238E27FC236}">
                <a16:creationId xmlns:a16="http://schemas.microsoft.com/office/drawing/2014/main" id="{4E03E78A-710E-4A4D-B0F1-11F89A0800EB}"/>
              </a:ext>
            </a:extLst>
          </p:cNvPr>
          <p:cNvSpPr txBox="1"/>
          <p:nvPr/>
        </p:nvSpPr>
        <p:spPr>
          <a:xfrm>
            <a:off x="1371600" y="5883548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33" name="Google Shape;105;p13">
            <a:extLst>
              <a:ext uri="{FF2B5EF4-FFF2-40B4-BE49-F238E27FC236}">
                <a16:creationId xmlns:a16="http://schemas.microsoft.com/office/drawing/2014/main" id="{25C77594-46A4-4EEC-A680-73B453D8E1FD}"/>
              </a:ext>
            </a:extLst>
          </p:cNvPr>
          <p:cNvSpPr txBox="1"/>
          <p:nvPr/>
        </p:nvSpPr>
        <p:spPr>
          <a:xfrm>
            <a:off x="1371600" y="6450269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34" name="Google Shape;106;p13" descr="image.png">
            <a:extLst>
              <a:ext uri="{FF2B5EF4-FFF2-40B4-BE49-F238E27FC236}">
                <a16:creationId xmlns:a16="http://schemas.microsoft.com/office/drawing/2014/main" id="{C1278674-E874-4AC7-B75F-A4B38D71570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0225" y="735515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107;p13">
            <a:extLst>
              <a:ext uri="{FF2B5EF4-FFF2-40B4-BE49-F238E27FC236}">
                <a16:creationId xmlns:a16="http://schemas.microsoft.com/office/drawing/2014/main" id="{9160D48E-73A9-4690-8CC8-8ADDE85E8B1A}"/>
              </a:ext>
            </a:extLst>
          </p:cNvPr>
          <p:cNvSpPr txBox="1"/>
          <p:nvPr/>
        </p:nvSpPr>
        <p:spPr>
          <a:xfrm>
            <a:off x="9944100" y="5372100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39" name="Google Shape;108;p13">
            <a:extLst>
              <a:ext uri="{FF2B5EF4-FFF2-40B4-BE49-F238E27FC236}">
                <a16:creationId xmlns:a16="http://schemas.microsoft.com/office/drawing/2014/main" id="{AB74170D-8694-4868-B6AE-6D99D0F121DC}"/>
              </a:ext>
            </a:extLst>
          </p:cNvPr>
          <p:cNvSpPr txBox="1"/>
          <p:nvPr/>
        </p:nvSpPr>
        <p:spPr>
          <a:xfrm>
            <a:off x="9944100" y="5883548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40" name="Google Shape;109;p13">
            <a:extLst>
              <a:ext uri="{FF2B5EF4-FFF2-40B4-BE49-F238E27FC236}">
                <a16:creationId xmlns:a16="http://schemas.microsoft.com/office/drawing/2014/main" id="{A81E1A98-F046-4364-A925-80458AA5D132}"/>
              </a:ext>
            </a:extLst>
          </p:cNvPr>
          <p:cNvSpPr txBox="1"/>
          <p:nvPr/>
        </p:nvSpPr>
        <p:spPr>
          <a:xfrm>
            <a:off x="9944100" y="639499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pic>
        <p:nvPicPr>
          <p:cNvPr id="41" name="Google Shape;110;p13" descr="image.png">
            <a:extLst>
              <a:ext uri="{FF2B5EF4-FFF2-40B4-BE49-F238E27FC236}">
                <a16:creationId xmlns:a16="http://schemas.microsoft.com/office/drawing/2014/main" id="{F1852762-89A2-42AD-88C6-D002EC90029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87000" y="767506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97;p13">
            <a:extLst>
              <a:ext uri="{FF2B5EF4-FFF2-40B4-BE49-F238E27FC236}">
                <a16:creationId xmlns:a16="http://schemas.microsoft.com/office/drawing/2014/main" id="{B88CA835-B6A7-4B50-BCCD-D62DF9CD8F60}"/>
              </a:ext>
            </a:extLst>
          </p:cNvPr>
          <p:cNvSpPr txBox="1"/>
          <p:nvPr/>
        </p:nvSpPr>
        <p:spPr>
          <a:xfrm>
            <a:off x="1414462" y="8413636"/>
            <a:ext cx="7862701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미래에셋증권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“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가장 열정적으로 도전했던 경험“</a:t>
            </a:r>
            <a:endParaRPr lang="en-US" altLang="ko-KR" dirty="0">
              <a:solidFill>
                <a:srgbClr val="334155"/>
              </a:solidFill>
              <a:latin typeface="+mj-ea"/>
              <a:ea typeface="+mj-ea"/>
              <a:cs typeface="Arial"/>
              <a:sym typeface="Arial"/>
            </a:endParaRPr>
          </a:p>
          <a:p>
            <a:pPr>
              <a:lnSpc>
                <a:spcPct val="140000"/>
              </a:lnSpc>
            </a:pP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한샘 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“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도전 경험 중 하나 선택하여 달성하기 위한 목표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노력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과정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결과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)</a:t>
            </a:r>
          </a:p>
        </p:txBody>
      </p:sp>
      <p:sp>
        <p:nvSpPr>
          <p:cNvPr id="37" name="Freeform 8">
            <a:extLst>
              <a:ext uri="{FF2B5EF4-FFF2-40B4-BE49-F238E27FC236}">
                <a16:creationId xmlns:a16="http://schemas.microsoft.com/office/drawing/2014/main" id="{150CDCBE-D515-438E-91CA-C75DB577BBFA}"/>
              </a:ext>
            </a:extLst>
          </p:cNvPr>
          <p:cNvSpPr/>
          <p:nvPr/>
        </p:nvSpPr>
        <p:spPr>
          <a:xfrm>
            <a:off x="14083665" y="3149108"/>
            <a:ext cx="3181350" cy="1382367"/>
          </a:xfrm>
          <a:custGeom>
            <a:avLst/>
            <a:gdLst/>
            <a:ahLst/>
            <a:cxnLst/>
            <a:rect l="l" t="t" r="r" b="b"/>
            <a:pathLst>
              <a:path w="9480179" h="7635853">
                <a:moveTo>
                  <a:pt x="0" y="0"/>
                </a:moveTo>
                <a:lnTo>
                  <a:pt x="9480179" y="0"/>
                </a:lnTo>
                <a:lnTo>
                  <a:pt x="9480179" y="7635853"/>
                </a:lnTo>
                <a:lnTo>
                  <a:pt x="0" y="76358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1C23502D-D5C1-4005-870D-083469DAE4B5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173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2">
            <a:extLst>
              <a:ext uri="{FF2B5EF4-FFF2-40B4-BE49-F238E27FC236}">
                <a16:creationId xmlns:a16="http://schemas.microsoft.com/office/drawing/2014/main" id="{526C07B6-50F4-4E8A-84E1-FF82662988D4}"/>
              </a:ext>
            </a:extLst>
          </p:cNvPr>
          <p:cNvSpPr txBox="1"/>
          <p:nvPr/>
        </p:nvSpPr>
        <p:spPr>
          <a:xfrm>
            <a:off x="1778000" y="1090349"/>
            <a:ext cx="148971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00" b="1" spc="-500" dirty="0">
                <a:solidFill>
                  <a:srgbClr val="505050"/>
                </a:solidFill>
                <a:latin typeface="Gmarket Sans Medium"/>
              </a:rPr>
              <a:t>직무기반 자기소개서 작성하기</a:t>
            </a:r>
            <a:endParaRPr lang="ko-KR" sz="54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sp>
        <p:nvSpPr>
          <p:cNvPr id="56" name="TextBox 28">
            <a:extLst>
              <a:ext uri="{FF2B5EF4-FFF2-40B4-BE49-F238E27FC236}">
                <a16:creationId xmlns:a16="http://schemas.microsoft.com/office/drawing/2014/main" id="{7ECA845D-965F-4C49-9CD3-15BC196E2A8A}"/>
              </a:ext>
            </a:extLst>
          </p:cNvPr>
          <p:cNvSpPr txBox="1"/>
          <p:nvPr/>
        </p:nvSpPr>
        <p:spPr>
          <a:xfrm>
            <a:off x="857252" y="2863186"/>
            <a:ext cx="7790591" cy="371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21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>
                <a:solidFill>
                  <a:schemeClr val="tx2"/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직무 역량 기반 자기소개서 </a:t>
            </a:r>
            <a:r>
              <a:rPr lang="en-US" altLang="ko-KR" sz="2000" b="1" dirty="0">
                <a:solidFill>
                  <a:schemeClr val="tx2"/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Story telling </a:t>
            </a:r>
            <a:r>
              <a:rPr lang="ko-KR" altLang="en-US" sz="2000" b="1" dirty="0">
                <a:solidFill>
                  <a:schemeClr val="tx2"/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구조</a:t>
            </a:r>
            <a:r>
              <a:rPr lang="en-US" altLang="ko-KR" sz="2000" b="1" dirty="0">
                <a:solidFill>
                  <a:schemeClr val="tx2"/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(STAR</a:t>
            </a:r>
            <a:r>
              <a:rPr lang="ko-KR" altLang="en-US" sz="2000" b="1" dirty="0">
                <a:solidFill>
                  <a:schemeClr val="tx2"/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기법</a:t>
            </a:r>
            <a:r>
              <a:rPr lang="en-US" altLang="ko-KR" sz="2000" b="1" dirty="0">
                <a:solidFill>
                  <a:schemeClr val="tx2"/>
                </a:solidFill>
                <a:latin typeface="+mj-ea"/>
                <a:ea typeface="+mj-ea"/>
                <a:cs typeface="29LT Bukra Semi Condensed Bold"/>
                <a:sym typeface="29LT Bukra Semi Condensed Bold"/>
              </a:rPr>
              <a:t>)</a:t>
            </a:r>
            <a:endParaRPr lang="en-US" sz="2000" b="1" dirty="0">
              <a:solidFill>
                <a:schemeClr val="tx2"/>
              </a:solidFill>
              <a:latin typeface="+mj-ea"/>
              <a:ea typeface="+mj-ea"/>
              <a:cs typeface="29LT Bukra Semi Condensed Bold"/>
              <a:sym typeface="29LT Bukra Semi Condensed Bold"/>
            </a:endParaRPr>
          </a:p>
        </p:txBody>
      </p:sp>
      <p:pic>
        <p:nvPicPr>
          <p:cNvPr id="30" name="Picture 20">
            <a:extLst>
              <a:ext uri="{FF2B5EF4-FFF2-40B4-BE49-F238E27FC236}">
                <a16:creationId xmlns:a16="http://schemas.microsoft.com/office/drawing/2014/main" id="{0E98976C-1367-4ED9-A6DA-C69149F0C9B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2" name="TextBox 24">
            <a:extLst>
              <a:ext uri="{FF2B5EF4-FFF2-40B4-BE49-F238E27FC236}">
                <a16:creationId xmlns:a16="http://schemas.microsoft.com/office/drawing/2014/main" id="{9BDD9619-43D7-460F-9D8D-0E5625987CCE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02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D8D8FEA-3A2E-4175-B613-2D260F79A7C1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4FF61B9-23A8-46D2-AD23-0B6D8D49C93F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p.81</a:t>
            </a:r>
          </a:p>
        </p:txBody>
      </p:sp>
      <p:pic>
        <p:nvPicPr>
          <p:cNvPr id="74" name="Google Shape;116;p14" descr="image.png">
            <a:extLst>
              <a:ext uri="{FF2B5EF4-FFF2-40B4-BE49-F238E27FC236}">
                <a16:creationId xmlns:a16="http://schemas.microsoft.com/office/drawing/2014/main" id="{37E183C8-4B7E-49CB-99C6-BA72204E15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2" y="3463077"/>
            <a:ext cx="2961530" cy="4896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117;p14" descr="image.png">
            <a:extLst>
              <a:ext uri="{FF2B5EF4-FFF2-40B4-BE49-F238E27FC236}">
                <a16:creationId xmlns:a16="http://schemas.microsoft.com/office/drawing/2014/main" id="{6D1ACC3F-EC2E-46B9-BCD2-F8316FA6E71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3094" y="3463077"/>
            <a:ext cx="2961530" cy="4896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118;p14" descr="image.png">
            <a:extLst>
              <a:ext uri="{FF2B5EF4-FFF2-40B4-BE49-F238E27FC236}">
                <a16:creationId xmlns:a16="http://schemas.microsoft.com/office/drawing/2014/main" id="{B560DC73-AA0E-4720-B3D7-D46648B70E3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08937" y="3463077"/>
            <a:ext cx="3870126" cy="4896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119;p14" descr="image.png">
            <a:extLst>
              <a:ext uri="{FF2B5EF4-FFF2-40B4-BE49-F238E27FC236}">
                <a16:creationId xmlns:a16="http://schemas.microsoft.com/office/drawing/2014/main" id="{5B2DD877-FD2D-4D6B-BB5C-DF8789F1493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93377" y="3463077"/>
            <a:ext cx="2961530" cy="4896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120;p14" descr="image.png">
            <a:extLst>
              <a:ext uri="{FF2B5EF4-FFF2-40B4-BE49-F238E27FC236}">
                <a16:creationId xmlns:a16="http://schemas.microsoft.com/office/drawing/2014/main" id="{97EFE808-EB07-421F-844B-C0802844D63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469221" y="3463077"/>
            <a:ext cx="2961530" cy="4896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121;p14" descr="image.png">
            <a:extLst>
              <a:ext uri="{FF2B5EF4-FFF2-40B4-BE49-F238E27FC236}">
                <a16:creationId xmlns:a16="http://schemas.microsoft.com/office/drawing/2014/main" id="{D8DE824E-4C46-4427-B19C-080FF9F9A08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1539" y="3477365"/>
            <a:ext cx="2932955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122;p14" descr="image.png">
            <a:extLst>
              <a:ext uri="{FF2B5EF4-FFF2-40B4-BE49-F238E27FC236}">
                <a16:creationId xmlns:a16="http://schemas.microsoft.com/office/drawing/2014/main" id="{B5D447D5-3141-4EE6-BFE1-0EF075D1B2F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047381" y="3477365"/>
            <a:ext cx="2932955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123;p14" descr="image.png">
            <a:extLst>
              <a:ext uri="{FF2B5EF4-FFF2-40B4-BE49-F238E27FC236}">
                <a16:creationId xmlns:a16="http://schemas.microsoft.com/office/drawing/2014/main" id="{63EE01E9-EF07-4FFA-87BF-F9AD0629158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37512" y="3491652"/>
            <a:ext cx="3812976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124;p14" descr="image.png">
            <a:extLst>
              <a:ext uri="{FF2B5EF4-FFF2-40B4-BE49-F238E27FC236}">
                <a16:creationId xmlns:a16="http://schemas.microsoft.com/office/drawing/2014/main" id="{7D6EF335-C231-4604-B383-7247622F16F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307665" y="3477365"/>
            <a:ext cx="2932955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125;p14" descr="image.png">
            <a:extLst>
              <a:ext uri="{FF2B5EF4-FFF2-40B4-BE49-F238E27FC236}">
                <a16:creationId xmlns:a16="http://schemas.microsoft.com/office/drawing/2014/main" id="{0BD05D2E-964F-4FFD-83E1-8BDA5C8C3E8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483508" y="3477365"/>
            <a:ext cx="2932955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126;p14" descr="image.png">
            <a:extLst>
              <a:ext uri="{FF2B5EF4-FFF2-40B4-BE49-F238E27FC236}">
                <a16:creationId xmlns:a16="http://schemas.microsoft.com/office/drawing/2014/main" id="{8F0DA363-D31E-4457-8071-5744A892A64E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31889" y="6676169"/>
            <a:ext cx="2361455" cy="1462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127;p14" descr="image.png">
            <a:extLst>
              <a:ext uri="{FF2B5EF4-FFF2-40B4-BE49-F238E27FC236}">
                <a16:creationId xmlns:a16="http://schemas.microsoft.com/office/drawing/2014/main" id="{E8B23B79-6750-49C3-B964-3B44179A813C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274096" y="6661211"/>
            <a:ext cx="2361455" cy="1462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128;p14" descr="image.png">
            <a:extLst>
              <a:ext uri="{FF2B5EF4-FFF2-40B4-BE49-F238E27FC236}">
                <a16:creationId xmlns:a16="http://schemas.microsoft.com/office/drawing/2014/main" id="{B0C7F7A3-B4C3-4281-B25A-62BA7972C71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523262" y="6463452"/>
            <a:ext cx="3241476" cy="174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129;p14" descr="image.png">
            <a:extLst>
              <a:ext uri="{FF2B5EF4-FFF2-40B4-BE49-F238E27FC236}">
                <a16:creationId xmlns:a16="http://schemas.microsoft.com/office/drawing/2014/main" id="{A59F975F-AE6F-4B7D-B5AE-05C669529904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604301" y="6608490"/>
            <a:ext cx="2361455" cy="1462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130;p14" descr="image.png">
            <a:extLst>
              <a:ext uri="{FF2B5EF4-FFF2-40B4-BE49-F238E27FC236}">
                <a16:creationId xmlns:a16="http://schemas.microsoft.com/office/drawing/2014/main" id="{11D05B34-8D87-4390-8CDA-EF4F50121C06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4710221" y="6608490"/>
            <a:ext cx="2361455" cy="146268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133;p14">
            <a:extLst>
              <a:ext uri="{FF2B5EF4-FFF2-40B4-BE49-F238E27FC236}">
                <a16:creationId xmlns:a16="http://schemas.microsoft.com/office/drawing/2014/main" id="{5C7C731C-91CE-4D12-9F0B-BE39A1397EB4}"/>
              </a:ext>
            </a:extLst>
          </p:cNvPr>
          <p:cNvSpPr txBox="1"/>
          <p:nvPr/>
        </p:nvSpPr>
        <p:spPr>
          <a:xfrm>
            <a:off x="1157289" y="3763115"/>
            <a:ext cx="236145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500" b="1">
                <a:solidFill>
                  <a:srgbClr val="2563EB"/>
                </a:solidFill>
                <a:latin typeface="+mj-ea"/>
                <a:ea typeface="+mj-ea"/>
                <a:cs typeface="Poppins Black"/>
                <a:sym typeface="Poppins Black"/>
              </a:rPr>
              <a:t>S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90" name="Google Shape;134;p14">
            <a:extLst>
              <a:ext uri="{FF2B5EF4-FFF2-40B4-BE49-F238E27FC236}">
                <a16:creationId xmlns:a16="http://schemas.microsoft.com/office/drawing/2014/main" id="{A319590D-06C7-43BD-AAA2-32E155489F0A}"/>
              </a:ext>
            </a:extLst>
          </p:cNvPr>
          <p:cNvSpPr txBox="1"/>
          <p:nvPr/>
        </p:nvSpPr>
        <p:spPr>
          <a:xfrm>
            <a:off x="1098252" y="4406052"/>
            <a:ext cx="247952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2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Situation (상황)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91" name="Google Shape;135;p14">
            <a:extLst>
              <a:ext uri="{FF2B5EF4-FFF2-40B4-BE49-F238E27FC236}">
                <a16:creationId xmlns:a16="http://schemas.microsoft.com/office/drawing/2014/main" id="{E4AD5AAB-CCF8-4363-8238-1F3B48B0212D}"/>
              </a:ext>
            </a:extLst>
          </p:cNvPr>
          <p:cNvSpPr txBox="1"/>
          <p:nvPr/>
        </p:nvSpPr>
        <p:spPr>
          <a:xfrm>
            <a:off x="1157289" y="5334740"/>
            <a:ext cx="2361455" cy="72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 b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경험의 배경 및 주어진 구체적 상황 기술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92" name="Google Shape;136;p14">
            <a:extLst>
              <a:ext uri="{FF2B5EF4-FFF2-40B4-BE49-F238E27FC236}">
                <a16:creationId xmlns:a16="http://schemas.microsoft.com/office/drawing/2014/main" id="{2AD3932E-48BF-454E-8BE7-0A076ABFDA06}"/>
              </a:ext>
            </a:extLst>
          </p:cNvPr>
          <p:cNvSpPr txBox="1"/>
          <p:nvPr/>
        </p:nvSpPr>
        <p:spPr>
          <a:xfrm>
            <a:off x="4333131" y="3763115"/>
            <a:ext cx="236145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500" b="1">
                <a:solidFill>
                  <a:srgbClr val="2563EB"/>
                </a:solidFill>
                <a:latin typeface="+mj-ea"/>
                <a:ea typeface="+mj-ea"/>
                <a:cs typeface="Poppins Black"/>
                <a:sym typeface="Poppins Black"/>
              </a:rPr>
              <a:t>T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93" name="Google Shape;137;p14">
            <a:extLst>
              <a:ext uri="{FF2B5EF4-FFF2-40B4-BE49-F238E27FC236}">
                <a16:creationId xmlns:a16="http://schemas.microsoft.com/office/drawing/2014/main" id="{1B002B4B-4C77-4178-9064-F307827C8400}"/>
              </a:ext>
            </a:extLst>
          </p:cNvPr>
          <p:cNvSpPr txBox="1"/>
          <p:nvPr/>
        </p:nvSpPr>
        <p:spPr>
          <a:xfrm>
            <a:off x="4274096" y="4406052"/>
            <a:ext cx="247952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2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Task (과제/목표)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94" name="Google Shape;138;p14">
            <a:extLst>
              <a:ext uri="{FF2B5EF4-FFF2-40B4-BE49-F238E27FC236}">
                <a16:creationId xmlns:a16="http://schemas.microsoft.com/office/drawing/2014/main" id="{48AE0517-8D72-4D11-AB46-E4D27A40D3F3}"/>
              </a:ext>
            </a:extLst>
          </p:cNvPr>
          <p:cNvSpPr txBox="1"/>
          <p:nvPr/>
        </p:nvSpPr>
        <p:spPr>
          <a:xfrm>
            <a:off x="4333131" y="5334740"/>
            <a:ext cx="2361455" cy="109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 b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통상적 노력을 뛰어넘는 도전적 목표 및 장애 요인 제시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95" name="Google Shape;139;p14">
            <a:extLst>
              <a:ext uri="{FF2B5EF4-FFF2-40B4-BE49-F238E27FC236}">
                <a16:creationId xmlns:a16="http://schemas.microsoft.com/office/drawing/2014/main" id="{56B7D154-8E6D-4D06-A23C-CDC0EE07219E}"/>
              </a:ext>
            </a:extLst>
          </p:cNvPr>
          <p:cNvSpPr txBox="1"/>
          <p:nvPr/>
        </p:nvSpPr>
        <p:spPr>
          <a:xfrm>
            <a:off x="7523262" y="3777403"/>
            <a:ext cx="3241476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500" b="1">
                <a:solidFill>
                  <a:srgbClr val="2563EB"/>
                </a:solidFill>
                <a:latin typeface="+mj-ea"/>
                <a:ea typeface="+mj-ea"/>
                <a:cs typeface="Poppins Black"/>
                <a:sym typeface="Poppins Black"/>
              </a:rPr>
              <a:t>A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96" name="Google Shape;140;p14">
            <a:extLst>
              <a:ext uri="{FF2B5EF4-FFF2-40B4-BE49-F238E27FC236}">
                <a16:creationId xmlns:a16="http://schemas.microsoft.com/office/drawing/2014/main" id="{47E41ED5-ACED-4774-B1A9-698FE87C4AC1}"/>
              </a:ext>
            </a:extLst>
          </p:cNvPr>
          <p:cNvSpPr txBox="1"/>
          <p:nvPr/>
        </p:nvSpPr>
        <p:spPr>
          <a:xfrm>
            <a:off x="7442226" y="4420340"/>
            <a:ext cx="340355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2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Action (행동) </a:t>
            </a:r>
            <a:r>
              <a:rPr lang="en-US" sz="2025" b="1">
                <a:solidFill>
                  <a:srgbClr val="EF4444"/>
                </a:solidFill>
                <a:latin typeface="+mj-ea"/>
                <a:ea typeface="+mj-ea"/>
                <a:cs typeface="Arial"/>
                <a:sym typeface="Arial"/>
              </a:rPr>
              <a:t>[가장 중요]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97" name="Google Shape;141;p14">
            <a:extLst>
              <a:ext uri="{FF2B5EF4-FFF2-40B4-BE49-F238E27FC236}">
                <a16:creationId xmlns:a16="http://schemas.microsoft.com/office/drawing/2014/main" id="{2DC51238-8966-46B9-A1A8-5D87D6351EB3}"/>
              </a:ext>
            </a:extLst>
          </p:cNvPr>
          <p:cNvSpPr txBox="1"/>
          <p:nvPr/>
        </p:nvSpPr>
        <p:spPr>
          <a:xfrm>
            <a:off x="7523262" y="5349028"/>
            <a:ext cx="3322514" cy="109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장애물</a:t>
            </a:r>
            <a:r>
              <a:rPr lang="en-US" sz="1688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극복</a:t>
            </a:r>
            <a:r>
              <a:rPr lang="en-US" sz="1688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sz="1688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목표</a:t>
            </a:r>
            <a:r>
              <a:rPr lang="en-US" sz="1688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달성을</a:t>
            </a:r>
            <a:r>
              <a:rPr lang="en-US" sz="1688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위한</a:t>
            </a:r>
            <a:r>
              <a:rPr lang="en-US" sz="1688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본인만의</a:t>
            </a:r>
            <a:r>
              <a:rPr lang="en-US" sz="1688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창의적</a:t>
            </a:r>
            <a:r>
              <a:rPr lang="en-US" sz="1688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/</a:t>
            </a:r>
            <a:r>
              <a:rPr lang="en-US" sz="1688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주도적</a:t>
            </a:r>
            <a:r>
              <a:rPr lang="en-US" sz="1688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노력</a:t>
            </a:r>
            <a:r>
              <a:rPr lang="en-US" sz="1688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상세</a:t>
            </a:r>
            <a:r>
              <a:rPr lang="en-US" sz="1688" b="1" dirty="0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기술</a:t>
            </a:r>
            <a:endParaRPr sz="2700" b="1" dirty="0">
              <a:latin typeface="+mj-ea"/>
              <a:ea typeface="+mj-ea"/>
            </a:endParaRPr>
          </a:p>
        </p:txBody>
      </p:sp>
      <p:sp>
        <p:nvSpPr>
          <p:cNvPr id="98" name="Google Shape;142;p14">
            <a:extLst>
              <a:ext uri="{FF2B5EF4-FFF2-40B4-BE49-F238E27FC236}">
                <a16:creationId xmlns:a16="http://schemas.microsoft.com/office/drawing/2014/main" id="{84F25991-ECB9-472A-9DAA-4EF830DD9D51}"/>
              </a:ext>
            </a:extLst>
          </p:cNvPr>
          <p:cNvSpPr txBox="1"/>
          <p:nvPr/>
        </p:nvSpPr>
        <p:spPr>
          <a:xfrm>
            <a:off x="11593415" y="3763115"/>
            <a:ext cx="236145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500" b="1">
                <a:solidFill>
                  <a:srgbClr val="2563EB"/>
                </a:solidFill>
                <a:latin typeface="+mj-ea"/>
                <a:ea typeface="+mj-ea"/>
                <a:cs typeface="Poppins Black"/>
                <a:sym typeface="Poppins Black"/>
              </a:rPr>
              <a:t>R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99" name="Google Shape;143;p14">
            <a:extLst>
              <a:ext uri="{FF2B5EF4-FFF2-40B4-BE49-F238E27FC236}">
                <a16:creationId xmlns:a16="http://schemas.microsoft.com/office/drawing/2014/main" id="{9C864669-B482-4D15-B78A-42E5E698E12B}"/>
              </a:ext>
            </a:extLst>
          </p:cNvPr>
          <p:cNvSpPr txBox="1"/>
          <p:nvPr/>
        </p:nvSpPr>
        <p:spPr>
          <a:xfrm>
            <a:off x="11534378" y="4406052"/>
            <a:ext cx="247952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2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Result (결과)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100" name="Google Shape;144;p14">
            <a:extLst>
              <a:ext uri="{FF2B5EF4-FFF2-40B4-BE49-F238E27FC236}">
                <a16:creationId xmlns:a16="http://schemas.microsoft.com/office/drawing/2014/main" id="{50223633-B487-4CD1-83EF-69588FEB436B}"/>
              </a:ext>
            </a:extLst>
          </p:cNvPr>
          <p:cNvSpPr txBox="1"/>
          <p:nvPr/>
        </p:nvSpPr>
        <p:spPr>
          <a:xfrm>
            <a:off x="11593415" y="5334740"/>
            <a:ext cx="2361455" cy="72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 b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노력의 결실을 구체적 수치나 성과로 객관적 증명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101" name="Google Shape;145;p14">
            <a:extLst>
              <a:ext uri="{FF2B5EF4-FFF2-40B4-BE49-F238E27FC236}">
                <a16:creationId xmlns:a16="http://schemas.microsoft.com/office/drawing/2014/main" id="{9AB85698-03CC-45A4-8ED3-9595BEE4D657}"/>
              </a:ext>
            </a:extLst>
          </p:cNvPr>
          <p:cNvSpPr txBox="1"/>
          <p:nvPr/>
        </p:nvSpPr>
        <p:spPr>
          <a:xfrm>
            <a:off x="14769258" y="3763115"/>
            <a:ext cx="236145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500" b="1">
                <a:solidFill>
                  <a:srgbClr val="2563EB"/>
                </a:solidFill>
                <a:latin typeface="+mj-ea"/>
                <a:ea typeface="+mj-ea"/>
                <a:cs typeface="Poppins Black"/>
                <a:sym typeface="Poppins Black"/>
              </a:rPr>
              <a:t>+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102" name="Google Shape;146;p14">
            <a:extLst>
              <a:ext uri="{FF2B5EF4-FFF2-40B4-BE49-F238E27FC236}">
                <a16:creationId xmlns:a16="http://schemas.microsoft.com/office/drawing/2014/main" id="{A94114B6-78D5-44D4-AC6A-44285A06CE7F}"/>
              </a:ext>
            </a:extLst>
          </p:cNvPr>
          <p:cNvSpPr txBox="1"/>
          <p:nvPr/>
        </p:nvSpPr>
        <p:spPr>
          <a:xfrm>
            <a:off x="14710221" y="4406052"/>
            <a:ext cx="247952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2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Vision (포부)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103" name="Google Shape;147;p14">
            <a:extLst>
              <a:ext uri="{FF2B5EF4-FFF2-40B4-BE49-F238E27FC236}">
                <a16:creationId xmlns:a16="http://schemas.microsoft.com/office/drawing/2014/main" id="{1BA2E9ED-E7FD-4082-BECB-3E2DEDE41A1A}"/>
              </a:ext>
            </a:extLst>
          </p:cNvPr>
          <p:cNvSpPr txBox="1"/>
          <p:nvPr/>
        </p:nvSpPr>
        <p:spPr>
          <a:xfrm>
            <a:off x="14769258" y="5334740"/>
            <a:ext cx="2361455" cy="109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 b="1">
                <a:solidFill>
                  <a:srgbClr val="475569"/>
                </a:solidFill>
                <a:latin typeface="+mj-ea"/>
                <a:ea typeface="+mj-ea"/>
                <a:cs typeface="Arial"/>
                <a:sym typeface="Arial"/>
              </a:rPr>
              <a:t>해당 경험을 통한 배움을 입사 후 직무에 어떻게 적용할지 맺음말</a:t>
            </a:r>
            <a:endParaRPr sz="2700" b="1">
              <a:latin typeface="+mj-ea"/>
              <a:ea typeface="+mj-ea"/>
            </a:endParaRP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B97C0709-BFE7-4A5D-9CB0-2FC8CB0D3EC4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0955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2">
            <a:extLst>
              <a:ext uri="{FF2B5EF4-FFF2-40B4-BE49-F238E27FC236}">
                <a16:creationId xmlns:a16="http://schemas.microsoft.com/office/drawing/2014/main" id="{526C07B6-50F4-4E8A-84E1-FF82662988D4}"/>
              </a:ext>
            </a:extLst>
          </p:cNvPr>
          <p:cNvSpPr txBox="1"/>
          <p:nvPr/>
        </p:nvSpPr>
        <p:spPr>
          <a:xfrm>
            <a:off x="1660525" y="892477"/>
            <a:ext cx="148971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00" b="1" spc="-500" dirty="0">
                <a:solidFill>
                  <a:srgbClr val="505050"/>
                </a:solidFill>
                <a:latin typeface="Gmarket Sans Medium"/>
              </a:rPr>
              <a:t>자기소개서 항목별 작성법</a:t>
            </a:r>
            <a:endParaRPr lang="ko-KR" sz="54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15" name="Picture 20">
            <a:extLst>
              <a:ext uri="{FF2B5EF4-FFF2-40B4-BE49-F238E27FC236}">
                <a16:creationId xmlns:a16="http://schemas.microsoft.com/office/drawing/2014/main" id="{FC007D7F-DEC2-4928-8F6F-4C96F03BE9E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6" name="TextBox 24">
            <a:extLst>
              <a:ext uri="{FF2B5EF4-FFF2-40B4-BE49-F238E27FC236}">
                <a16:creationId xmlns:a16="http://schemas.microsoft.com/office/drawing/2014/main" id="{BFCDDC83-EA48-455A-9767-D65041F3AFE1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03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100E62C-890F-48CE-95E3-5CE42EF7F85F}"/>
              </a:ext>
            </a:extLst>
          </p:cNvPr>
          <p:cNvCxnSpPr>
            <a:cxnSpLocks/>
          </p:cNvCxnSpPr>
          <p:nvPr/>
        </p:nvCxnSpPr>
        <p:spPr>
          <a:xfrm>
            <a:off x="197226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1E08A84-F061-48DA-825F-2E0790B28C04}"/>
              </a:ext>
            </a:extLst>
          </p:cNvPr>
          <p:cNvSpPr/>
          <p:nvPr/>
        </p:nvSpPr>
        <p:spPr>
          <a:xfrm>
            <a:off x="15632238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p.82~85</a:t>
            </a:r>
          </a:p>
        </p:txBody>
      </p:sp>
      <p:pic>
        <p:nvPicPr>
          <p:cNvPr id="49" name="Google Shape;153;p15" descr="image.png">
            <a:extLst>
              <a:ext uri="{FF2B5EF4-FFF2-40B4-BE49-F238E27FC236}">
                <a16:creationId xmlns:a16="http://schemas.microsoft.com/office/drawing/2014/main" id="{29D84A10-3C95-42E5-8E2F-954CDC1406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1" y="2898324"/>
            <a:ext cx="8072438" cy="3198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154;p15" descr="image.png">
            <a:extLst>
              <a:ext uri="{FF2B5EF4-FFF2-40B4-BE49-F238E27FC236}">
                <a16:creationId xmlns:a16="http://schemas.microsoft.com/office/drawing/2014/main" id="{1880A0A5-0936-42F1-9236-50E18B674F1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58313" y="2898324"/>
            <a:ext cx="8072438" cy="3198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155;p15" descr="image.png">
            <a:extLst>
              <a:ext uri="{FF2B5EF4-FFF2-40B4-BE49-F238E27FC236}">
                <a16:creationId xmlns:a16="http://schemas.microsoft.com/office/drawing/2014/main" id="{3EE25F7C-7363-49D7-8BA6-80527083E29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1" y="6189660"/>
            <a:ext cx="8072438" cy="3415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156;p15" descr="image.png">
            <a:extLst>
              <a:ext uri="{FF2B5EF4-FFF2-40B4-BE49-F238E27FC236}">
                <a16:creationId xmlns:a16="http://schemas.microsoft.com/office/drawing/2014/main" id="{160B007E-B195-45CF-807A-57C4EED1525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58313" y="6189659"/>
            <a:ext cx="8072438" cy="3415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159;p15" descr="image.png">
            <a:extLst>
              <a:ext uri="{FF2B5EF4-FFF2-40B4-BE49-F238E27FC236}">
                <a16:creationId xmlns:a16="http://schemas.microsoft.com/office/drawing/2014/main" id="{97E087DB-1E93-4A05-9DBF-F68C78E1D61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71600" y="3089676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160;p15">
            <a:extLst>
              <a:ext uri="{FF2B5EF4-FFF2-40B4-BE49-F238E27FC236}">
                <a16:creationId xmlns:a16="http://schemas.microsoft.com/office/drawing/2014/main" id="{2CCFFF9A-E313-4EC9-9683-56C5DC83117F}"/>
              </a:ext>
            </a:extLst>
          </p:cNvPr>
          <p:cNvSpPr txBox="1"/>
          <p:nvPr/>
        </p:nvSpPr>
        <p:spPr>
          <a:xfrm>
            <a:off x="2214563" y="3189689"/>
            <a:ext cx="1687242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1. 성장과정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55" name="Google Shape;161;p15">
            <a:extLst>
              <a:ext uri="{FF2B5EF4-FFF2-40B4-BE49-F238E27FC236}">
                <a16:creationId xmlns:a16="http://schemas.microsoft.com/office/drawing/2014/main" id="{95C47895-14E9-4ACE-9F52-B963AF2DEFE8}"/>
              </a:ext>
            </a:extLst>
          </p:cNvPr>
          <p:cNvSpPr txBox="1"/>
          <p:nvPr/>
        </p:nvSpPr>
        <p:spPr>
          <a:xfrm>
            <a:off x="1628776" y="4148902"/>
            <a:ext cx="6786563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단순 연대기 나열 금지 ➔ </a:t>
            </a:r>
            <a:r>
              <a:rPr lang="en-US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직무에 관심을 갖게 된 명확한 계기</a:t>
            </a:r>
            <a:r>
              <a:rPr lang="en-US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서술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56" name="Google Shape;162;p15">
            <a:extLst>
              <a:ext uri="{FF2B5EF4-FFF2-40B4-BE49-F238E27FC236}">
                <a16:creationId xmlns:a16="http://schemas.microsoft.com/office/drawing/2014/main" id="{4AA54D52-8D2E-48A0-9FD5-76978A1B1F05}"/>
              </a:ext>
            </a:extLst>
          </p:cNvPr>
          <p:cNvSpPr txBox="1"/>
          <p:nvPr/>
        </p:nvSpPr>
        <p:spPr>
          <a:xfrm>
            <a:off x="1628776" y="4754557"/>
            <a:ext cx="6786563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기업 인재상과 완벽히 부합하는 </a:t>
            </a:r>
            <a:r>
              <a:rPr lang="en-US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본인의 핵심 인생관/가치관</a:t>
            </a:r>
            <a:r>
              <a:rPr lang="en-US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제시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57" name="Google Shape;163;p15">
            <a:extLst>
              <a:ext uri="{FF2B5EF4-FFF2-40B4-BE49-F238E27FC236}">
                <a16:creationId xmlns:a16="http://schemas.microsoft.com/office/drawing/2014/main" id="{05B37AB7-E6B7-4EFA-B208-2E809741BA99}"/>
              </a:ext>
            </a:extLst>
          </p:cNvPr>
          <p:cNvSpPr txBox="1"/>
          <p:nvPr/>
        </p:nvSpPr>
        <p:spPr>
          <a:xfrm>
            <a:off x="1628776" y="5360213"/>
            <a:ext cx="700423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가치관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형성에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영향을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미친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구체적인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에피소드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(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특별한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추억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등)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증명</a:t>
            </a:r>
            <a:endParaRPr sz="2700" dirty="0">
              <a:latin typeface="+mj-ea"/>
              <a:ea typeface="+mj-ea"/>
            </a:endParaRPr>
          </a:p>
        </p:txBody>
      </p:sp>
      <p:pic>
        <p:nvPicPr>
          <p:cNvPr id="59" name="Google Shape;164;p15" descr="image.png">
            <a:extLst>
              <a:ext uri="{FF2B5EF4-FFF2-40B4-BE49-F238E27FC236}">
                <a16:creationId xmlns:a16="http://schemas.microsoft.com/office/drawing/2014/main" id="{0D0485BB-4EE9-498E-B39C-13A1BA277CB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72663" y="3067815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165;p15">
            <a:extLst>
              <a:ext uri="{FF2B5EF4-FFF2-40B4-BE49-F238E27FC236}">
                <a16:creationId xmlns:a16="http://schemas.microsoft.com/office/drawing/2014/main" id="{7E08502D-A5CA-498B-AAF0-4EDFBF38A9CD}"/>
              </a:ext>
            </a:extLst>
          </p:cNvPr>
          <p:cNvSpPr txBox="1"/>
          <p:nvPr/>
        </p:nvSpPr>
        <p:spPr>
          <a:xfrm>
            <a:off x="10715625" y="3167828"/>
            <a:ext cx="2438976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2. 성격의 장단점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1" name="Google Shape;166;p15">
            <a:extLst>
              <a:ext uri="{FF2B5EF4-FFF2-40B4-BE49-F238E27FC236}">
                <a16:creationId xmlns:a16="http://schemas.microsoft.com/office/drawing/2014/main" id="{1CB5BDD3-E89D-4010-8356-A1F92DEBB6B8}"/>
              </a:ext>
            </a:extLst>
          </p:cNvPr>
          <p:cNvSpPr txBox="1"/>
          <p:nvPr/>
        </p:nvSpPr>
        <p:spPr>
          <a:xfrm>
            <a:off x="10129838" y="4148902"/>
            <a:ext cx="7068951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여러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장점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나열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지양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➔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지원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직무에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최고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강점인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장점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1개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집중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타격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62" name="Google Shape;167;p15">
            <a:extLst>
              <a:ext uri="{FF2B5EF4-FFF2-40B4-BE49-F238E27FC236}">
                <a16:creationId xmlns:a16="http://schemas.microsoft.com/office/drawing/2014/main" id="{DFEE0D7D-7107-42F1-B424-1067C68F294A}"/>
              </a:ext>
            </a:extLst>
          </p:cNvPr>
          <p:cNvSpPr txBox="1"/>
          <p:nvPr/>
        </p:nvSpPr>
        <p:spPr>
          <a:xfrm>
            <a:off x="10129838" y="4792069"/>
            <a:ext cx="6786563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주장을 뒷받침할 </a:t>
            </a:r>
            <a:r>
              <a:rPr lang="en-US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확실한 근거 에피소드</a:t>
            </a:r>
            <a:r>
              <a:rPr lang="en-US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(창의성, 성과 등) 서술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3" name="Google Shape;168;p15">
            <a:extLst>
              <a:ext uri="{FF2B5EF4-FFF2-40B4-BE49-F238E27FC236}">
                <a16:creationId xmlns:a16="http://schemas.microsoft.com/office/drawing/2014/main" id="{C92AB96A-BB60-4A3E-B4D0-61306F77A98F}"/>
              </a:ext>
            </a:extLst>
          </p:cNvPr>
          <p:cNvSpPr txBox="1"/>
          <p:nvPr/>
        </p:nvSpPr>
        <p:spPr>
          <a:xfrm>
            <a:off x="10129837" y="5397725"/>
            <a:ext cx="7300913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단점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인정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이를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보완하기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위한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현재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진행형의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구체적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노력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필수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기재</a:t>
            </a:r>
            <a:endParaRPr sz="2700" dirty="0">
              <a:latin typeface="+mj-ea"/>
              <a:ea typeface="+mj-ea"/>
            </a:endParaRPr>
          </a:p>
        </p:txBody>
      </p:sp>
      <p:pic>
        <p:nvPicPr>
          <p:cNvPr id="64" name="Google Shape;169;p15" descr="image.png">
            <a:extLst>
              <a:ext uri="{FF2B5EF4-FFF2-40B4-BE49-F238E27FC236}">
                <a16:creationId xmlns:a16="http://schemas.microsoft.com/office/drawing/2014/main" id="{DEAE0B1B-09E2-477D-9B4D-9C47C3BE57F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71600" y="6456851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170;p15">
            <a:extLst>
              <a:ext uri="{FF2B5EF4-FFF2-40B4-BE49-F238E27FC236}">
                <a16:creationId xmlns:a16="http://schemas.microsoft.com/office/drawing/2014/main" id="{1F232AA1-6910-4521-A491-3A9F046178C4}"/>
              </a:ext>
            </a:extLst>
          </p:cNvPr>
          <p:cNvSpPr txBox="1"/>
          <p:nvPr/>
        </p:nvSpPr>
        <p:spPr>
          <a:xfrm>
            <a:off x="2214563" y="6556864"/>
            <a:ext cx="286067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3. 경험 및 경력사항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87" name="Google Shape;171;p15">
            <a:extLst>
              <a:ext uri="{FF2B5EF4-FFF2-40B4-BE49-F238E27FC236}">
                <a16:creationId xmlns:a16="http://schemas.microsoft.com/office/drawing/2014/main" id="{3430AED2-C65A-4DDD-8C0E-5ABDCCF7A618}"/>
              </a:ext>
            </a:extLst>
          </p:cNvPr>
          <p:cNvSpPr txBox="1"/>
          <p:nvPr/>
        </p:nvSpPr>
        <p:spPr>
          <a:xfrm>
            <a:off x="1628776" y="7561259"/>
            <a:ext cx="6786563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조직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내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본인의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명확한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역할과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창출해낸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유의미한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성과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위주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작성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88" name="Google Shape;172;p15">
            <a:extLst>
              <a:ext uri="{FF2B5EF4-FFF2-40B4-BE49-F238E27FC236}">
                <a16:creationId xmlns:a16="http://schemas.microsoft.com/office/drawing/2014/main" id="{7F8524BA-A558-459C-92EE-72BD8EC302E6}"/>
              </a:ext>
            </a:extLst>
          </p:cNvPr>
          <p:cNvSpPr txBox="1"/>
          <p:nvPr/>
        </p:nvSpPr>
        <p:spPr>
          <a:xfrm>
            <a:off x="1628776" y="8166914"/>
            <a:ext cx="7215188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인턴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공모전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등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희망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직무의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전문성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을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높인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핵심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에피소드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선정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89" name="Google Shape;173;p15">
            <a:extLst>
              <a:ext uri="{FF2B5EF4-FFF2-40B4-BE49-F238E27FC236}">
                <a16:creationId xmlns:a16="http://schemas.microsoft.com/office/drawing/2014/main" id="{3BEB32CE-769D-4483-A1F0-F39395699E31}"/>
              </a:ext>
            </a:extLst>
          </p:cNvPr>
          <p:cNvSpPr txBox="1"/>
          <p:nvPr/>
        </p:nvSpPr>
        <p:spPr>
          <a:xfrm>
            <a:off x="1628776" y="8836981"/>
            <a:ext cx="6786563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경험을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통해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배운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점이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입사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후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어떻게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실무에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적용될지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결화</a:t>
            </a:r>
            <a:endParaRPr sz="2700" dirty="0">
              <a:latin typeface="+mj-ea"/>
              <a:ea typeface="+mj-ea"/>
            </a:endParaRPr>
          </a:p>
        </p:txBody>
      </p:sp>
      <p:pic>
        <p:nvPicPr>
          <p:cNvPr id="90" name="Google Shape;174;p15" descr="image.png">
            <a:extLst>
              <a:ext uri="{FF2B5EF4-FFF2-40B4-BE49-F238E27FC236}">
                <a16:creationId xmlns:a16="http://schemas.microsoft.com/office/drawing/2014/main" id="{E9C978B7-46C1-492B-A22B-4365925FDFD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72663" y="6470903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175;p15">
            <a:extLst>
              <a:ext uri="{FF2B5EF4-FFF2-40B4-BE49-F238E27FC236}">
                <a16:creationId xmlns:a16="http://schemas.microsoft.com/office/drawing/2014/main" id="{D180FFCF-655B-426E-8CB5-6EC3C1A3BCC5}"/>
              </a:ext>
            </a:extLst>
          </p:cNvPr>
          <p:cNvSpPr txBox="1"/>
          <p:nvPr/>
        </p:nvSpPr>
        <p:spPr>
          <a:xfrm>
            <a:off x="10715625" y="6570916"/>
            <a:ext cx="4034331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4. 지원동기 및 입사 후 포부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92" name="Google Shape;176;p15">
            <a:extLst>
              <a:ext uri="{FF2B5EF4-FFF2-40B4-BE49-F238E27FC236}">
                <a16:creationId xmlns:a16="http://schemas.microsoft.com/office/drawing/2014/main" id="{94913303-B77F-463D-B729-72C9FEA317DF}"/>
              </a:ext>
            </a:extLst>
          </p:cNvPr>
          <p:cNvSpPr txBox="1"/>
          <p:nvPr/>
        </p:nvSpPr>
        <p:spPr>
          <a:xfrm>
            <a:off x="10129838" y="7547813"/>
            <a:ext cx="6786563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왜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반드시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이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회사인가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? ➔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타사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대비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뛰어난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경쟁력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기업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분석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기반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서술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93" name="Google Shape;177;p15">
            <a:extLst>
              <a:ext uri="{FF2B5EF4-FFF2-40B4-BE49-F238E27FC236}">
                <a16:creationId xmlns:a16="http://schemas.microsoft.com/office/drawing/2014/main" id="{ECBB717C-662A-42C6-83A1-BE37F69F4FCA}"/>
              </a:ext>
            </a:extLst>
          </p:cNvPr>
          <p:cNvSpPr txBox="1"/>
          <p:nvPr/>
        </p:nvSpPr>
        <p:spPr>
          <a:xfrm>
            <a:off x="10129838" y="8473375"/>
            <a:ext cx="6786563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회사의 대표 상품/서비스 발전을 위한 </a:t>
            </a:r>
            <a:r>
              <a:rPr lang="en-US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직무 맞춤형 아이디어 제안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94" name="Google Shape;178;p15">
            <a:extLst>
              <a:ext uri="{FF2B5EF4-FFF2-40B4-BE49-F238E27FC236}">
                <a16:creationId xmlns:a16="http://schemas.microsoft.com/office/drawing/2014/main" id="{D6DE4F9D-197F-465D-AAC1-4D17214B4BAD}"/>
              </a:ext>
            </a:extLst>
          </p:cNvPr>
          <p:cNvSpPr txBox="1"/>
          <p:nvPr/>
        </p:nvSpPr>
        <p:spPr>
          <a:xfrm>
            <a:off x="10129838" y="9079031"/>
            <a:ext cx="7203422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단한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포부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지양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➔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회사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이윤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창출을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위한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구체적이고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실천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가능한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비전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95" name="Google Shape;179;p15">
            <a:extLst>
              <a:ext uri="{FF2B5EF4-FFF2-40B4-BE49-F238E27FC236}">
                <a16:creationId xmlns:a16="http://schemas.microsoft.com/office/drawing/2014/main" id="{D1975DD7-BB70-4A1C-BF88-2A91D436B648}"/>
              </a:ext>
            </a:extLst>
          </p:cNvPr>
          <p:cNvSpPr txBox="1"/>
          <p:nvPr/>
        </p:nvSpPr>
        <p:spPr>
          <a:xfrm>
            <a:off x="1371600" y="4191764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96" name="Google Shape;180;p15">
            <a:extLst>
              <a:ext uri="{FF2B5EF4-FFF2-40B4-BE49-F238E27FC236}">
                <a16:creationId xmlns:a16="http://schemas.microsoft.com/office/drawing/2014/main" id="{44BB97EE-F899-47DA-B89F-FE4356C15E3D}"/>
              </a:ext>
            </a:extLst>
          </p:cNvPr>
          <p:cNvSpPr txBox="1"/>
          <p:nvPr/>
        </p:nvSpPr>
        <p:spPr>
          <a:xfrm>
            <a:off x="1371600" y="4797419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97" name="Google Shape;181;p15">
            <a:extLst>
              <a:ext uri="{FF2B5EF4-FFF2-40B4-BE49-F238E27FC236}">
                <a16:creationId xmlns:a16="http://schemas.microsoft.com/office/drawing/2014/main" id="{020271C6-7C2C-491E-B951-027AE196D6BB}"/>
              </a:ext>
            </a:extLst>
          </p:cNvPr>
          <p:cNvSpPr txBox="1"/>
          <p:nvPr/>
        </p:nvSpPr>
        <p:spPr>
          <a:xfrm>
            <a:off x="1371600" y="540307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98" name="Google Shape;182;p15">
            <a:extLst>
              <a:ext uri="{FF2B5EF4-FFF2-40B4-BE49-F238E27FC236}">
                <a16:creationId xmlns:a16="http://schemas.microsoft.com/office/drawing/2014/main" id="{BCDC4BA7-1D53-41DE-A407-B27A64751845}"/>
              </a:ext>
            </a:extLst>
          </p:cNvPr>
          <p:cNvSpPr txBox="1"/>
          <p:nvPr/>
        </p:nvSpPr>
        <p:spPr>
          <a:xfrm>
            <a:off x="9872663" y="4191764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99" name="Google Shape;183;p15">
            <a:extLst>
              <a:ext uri="{FF2B5EF4-FFF2-40B4-BE49-F238E27FC236}">
                <a16:creationId xmlns:a16="http://schemas.microsoft.com/office/drawing/2014/main" id="{49505002-70B1-47F8-A238-5553AFAFC627}"/>
              </a:ext>
            </a:extLst>
          </p:cNvPr>
          <p:cNvSpPr txBox="1"/>
          <p:nvPr/>
        </p:nvSpPr>
        <p:spPr>
          <a:xfrm>
            <a:off x="9872663" y="4834931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0" name="Google Shape;184;p15">
            <a:extLst>
              <a:ext uri="{FF2B5EF4-FFF2-40B4-BE49-F238E27FC236}">
                <a16:creationId xmlns:a16="http://schemas.microsoft.com/office/drawing/2014/main" id="{42624C4D-A54C-477A-B80B-5B4EB7A0276B}"/>
              </a:ext>
            </a:extLst>
          </p:cNvPr>
          <p:cNvSpPr txBox="1"/>
          <p:nvPr/>
        </p:nvSpPr>
        <p:spPr>
          <a:xfrm>
            <a:off x="9872663" y="5440587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1" name="Google Shape;185;p15">
            <a:extLst>
              <a:ext uri="{FF2B5EF4-FFF2-40B4-BE49-F238E27FC236}">
                <a16:creationId xmlns:a16="http://schemas.microsoft.com/office/drawing/2014/main" id="{5094868A-E0EF-410D-8C55-E19FAD8913B2}"/>
              </a:ext>
            </a:extLst>
          </p:cNvPr>
          <p:cNvSpPr txBox="1"/>
          <p:nvPr/>
        </p:nvSpPr>
        <p:spPr>
          <a:xfrm>
            <a:off x="1371600" y="7604121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2" name="Google Shape;186;p15">
            <a:extLst>
              <a:ext uri="{FF2B5EF4-FFF2-40B4-BE49-F238E27FC236}">
                <a16:creationId xmlns:a16="http://schemas.microsoft.com/office/drawing/2014/main" id="{AFF0D553-5D5C-4B8D-8960-35173DEEED71}"/>
              </a:ext>
            </a:extLst>
          </p:cNvPr>
          <p:cNvSpPr txBox="1"/>
          <p:nvPr/>
        </p:nvSpPr>
        <p:spPr>
          <a:xfrm>
            <a:off x="1371600" y="8209778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3" name="Google Shape;187;p15">
            <a:extLst>
              <a:ext uri="{FF2B5EF4-FFF2-40B4-BE49-F238E27FC236}">
                <a16:creationId xmlns:a16="http://schemas.microsoft.com/office/drawing/2014/main" id="{BEA6F016-3FF9-4D91-8E42-9CBD474DAFE4}"/>
              </a:ext>
            </a:extLst>
          </p:cNvPr>
          <p:cNvSpPr txBox="1"/>
          <p:nvPr/>
        </p:nvSpPr>
        <p:spPr>
          <a:xfrm>
            <a:off x="1371600" y="8879843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4" name="Google Shape;188;p15">
            <a:extLst>
              <a:ext uri="{FF2B5EF4-FFF2-40B4-BE49-F238E27FC236}">
                <a16:creationId xmlns:a16="http://schemas.microsoft.com/office/drawing/2014/main" id="{872ABD97-097F-4CBE-A0A4-5353BA7D8CB0}"/>
              </a:ext>
            </a:extLst>
          </p:cNvPr>
          <p:cNvSpPr txBox="1"/>
          <p:nvPr/>
        </p:nvSpPr>
        <p:spPr>
          <a:xfrm>
            <a:off x="9872663" y="7590675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5" name="Google Shape;189;p15">
            <a:extLst>
              <a:ext uri="{FF2B5EF4-FFF2-40B4-BE49-F238E27FC236}">
                <a16:creationId xmlns:a16="http://schemas.microsoft.com/office/drawing/2014/main" id="{8CBDEF29-0D76-4D38-81A6-4F9894AE8006}"/>
              </a:ext>
            </a:extLst>
          </p:cNvPr>
          <p:cNvSpPr txBox="1"/>
          <p:nvPr/>
        </p:nvSpPr>
        <p:spPr>
          <a:xfrm>
            <a:off x="9872663" y="8516237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106" name="Google Shape;190;p15">
            <a:extLst>
              <a:ext uri="{FF2B5EF4-FFF2-40B4-BE49-F238E27FC236}">
                <a16:creationId xmlns:a16="http://schemas.microsoft.com/office/drawing/2014/main" id="{4A827FE4-EDE6-478A-8DD5-7A4C6F1E944C}"/>
              </a:ext>
            </a:extLst>
          </p:cNvPr>
          <p:cNvSpPr txBox="1"/>
          <p:nvPr/>
        </p:nvSpPr>
        <p:spPr>
          <a:xfrm>
            <a:off x="9872663" y="9121893"/>
            <a:ext cx="85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2563EB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7F63DBC8-C03F-42FB-86D0-A809506544A4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662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465765" y="1092476"/>
            <a:ext cx="14975702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목표기업 및 직무기반 자기소개서 작성하기</a:t>
            </a:r>
            <a:r>
              <a:rPr lang="en-US" altLang="ko-KR" sz="4000" b="1" spc="-100" dirty="0">
                <a:solidFill>
                  <a:srgbClr val="C00000"/>
                </a:solidFill>
                <a:highlight>
                  <a:srgbClr val="D2D8E5"/>
                </a:highlight>
                <a:latin typeface="+mj-ea"/>
                <a:ea typeface="+mj-ea"/>
              </a:rPr>
              <a:t>(</a:t>
            </a:r>
            <a:r>
              <a:rPr lang="ko-KR" altLang="en-US" sz="4000" b="1" spc="-100" dirty="0">
                <a:solidFill>
                  <a:srgbClr val="C00000"/>
                </a:solidFill>
                <a:highlight>
                  <a:srgbClr val="D2D8E5"/>
                </a:highlight>
                <a:latin typeface="+mj-ea"/>
                <a:ea typeface="+mj-ea"/>
              </a:rPr>
              <a:t>필수 과제</a:t>
            </a:r>
            <a:r>
              <a:rPr lang="en-US" altLang="ko-KR" sz="4000" b="1" spc="-100" dirty="0">
                <a:solidFill>
                  <a:srgbClr val="C00000"/>
                </a:solidFill>
                <a:highlight>
                  <a:srgbClr val="D2D8E5"/>
                </a:highlight>
                <a:latin typeface="+mj-ea"/>
                <a:ea typeface="+mj-ea"/>
              </a:rPr>
              <a:t>)</a:t>
            </a:r>
            <a:endParaRPr lang="en-US" sz="4800" b="1" i="0" u="none" strike="noStrike" spc="-100" dirty="0">
              <a:solidFill>
                <a:srgbClr val="C00000"/>
              </a:solidFill>
              <a:highlight>
                <a:srgbClr val="D2D8E5"/>
              </a:highlight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993FFB-FE35-4B1A-9121-0FE40A8425F4}"/>
              </a:ext>
            </a:extLst>
          </p:cNvPr>
          <p:cNvSpPr/>
          <p:nvPr/>
        </p:nvSpPr>
        <p:spPr bwMode="auto">
          <a:xfrm>
            <a:off x="1017551" y="2664859"/>
            <a:ext cx="14636139" cy="7024824"/>
          </a:xfrm>
          <a:prstGeom prst="rect">
            <a:avLst/>
          </a:prstGeom>
          <a:noFill/>
          <a:ln w="9525" cap="flat" cmpd="sng" algn="ctr">
            <a:solidFill>
              <a:srgbClr val="CECE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2592" eaLnBrk="1" latinLnBrk="1" hangingPunct="1"/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5070629" y="5676900"/>
            <a:ext cx="2991383" cy="3550807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05519" y="1339898"/>
            <a:ext cx="122092" cy="590205"/>
            <a:chOff x="0" y="0"/>
            <a:chExt cx="444637" cy="309271"/>
          </a:xfrm>
          <a:solidFill>
            <a:schemeClr val="accent6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650168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p.85~90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C1662F8B-C434-4EBB-8F88-2AF91934558F}"/>
              </a:ext>
            </a:extLst>
          </p:cNvPr>
          <p:cNvSpPr txBox="1"/>
          <p:nvPr/>
        </p:nvSpPr>
        <p:spPr>
          <a:xfrm>
            <a:off x="-2027580" y="1879600"/>
            <a:ext cx="10363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0000"/>
              </a:lnSpc>
            </a:pPr>
            <a:r>
              <a:rPr lang="ko-KR" altLang="en-US" sz="2000" b="1" spc="-100" dirty="0">
                <a:solidFill>
                  <a:schemeClr val="tx2"/>
                </a:solidFill>
                <a:latin typeface="+mj-ea"/>
                <a:ea typeface="+mj-ea"/>
              </a:rPr>
              <a:t>교재 </a:t>
            </a:r>
            <a:r>
              <a:rPr lang="en-US" altLang="ko-KR" sz="2000" b="1" spc="-100" dirty="0">
                <a:solidFill>
                  <a:schemeClr val="tx2"/>
                </a:solidFill>
                <a:latin typeface="+mj-ea"/>
                <a:ea typeface="+mj-ea"/>
              </a:rPr>
              <a:t>p.86~89</a:t>
            </a:r>
            <a:r>
              <a:rPr lang="ko-KR" altLang="en-US" sz="2000" b="1" spc="-100" dirty="0">
                <a:solidFill>
                  <a:schemeClr val="tx2"/>
                </a:solidFill>
                <a:latin typeface="+mj-ea"/>
                <a:ea typeface="+mj-ea"/>
              </a:rPr>
              <a:t>을</a:t>
            </a:r>
            <a:r>
              <a:rPr lang="en-US" altLang="ko-KR" sz="2000" b="1" spc="-100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ko-KR" altLang="en-US" sz="2000" b="1" spc="-100" dirty="0">
                <a:solidFill>
                  <a:schemeClr val="tx2"/>
                </a:solidFill>
                <a:latin typeface="+mj-ea"/>
                <a:ea typeface="+mj-ea"/>
              </a:rPr>
              <a:t>참고하여</a:t>
            </a:r>
            <a:r>
              <a:rPr lang="en-US" altLang="ko-KR" sz="2000" b="1" spc="-100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ko-KR" altLang="en-US" sz="2000" b="1" i="0" u="none" strike="noStrike" spc="-100" dirty="0">
                <a:solidFill>
                  <a:schemeClr val="tx2"/>
                </a:solidFill>
                <a:latin typeface="+mj-ea"/>
                <a:ea typeface="+mj-ea"/>
              </a:rPr>
              <a:t>작성하기</a:t>
            </a:r>
            <a:endParaRPr lang="en-US" sz="2000" b="1" i="0" u="none" strike="noStrike" spc="-1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52B7AAF-2E43-443C-A5C2-AF22ABB73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2857500"/>
            <a:ext cx="6705600" cy="670478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2CC7C68-A178-417B-8C86-C93389135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849" y="2857500"/>
            <a:ext cx="6503951" cy="6704781"/>
          </a:xfrm>
          <a:prstGeom prst="rect">
            <a:avLst/>
          </a:prstGeom>
        </p:spPr>
      </p:pic>
      <p:sp>
        <p:nvSpPr>
          <p:cNvPr id="14" name="TextBox 7">
            <a:extLst>
              <a:ext uri="{FF2B5EF4-FFF2-40B4-BE49-F238E27FC236}">
                <a16:creationId xmlns:a16="http://schemas.microsoft.com/office/drawing/2014/main" id="{B77D6F35-D77A-4342-9C3A-3571CD8C9EA4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0985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05B58-4173-494C-B001-534AE8A2965F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7830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4898C7-20ED-40B2-9557-F33C4D2533B7}"/>
              </a:ext>
            </a:extLst>
          </p:cNvPr>
          <p:cNvGrpSpPr/>
          <p:nvPr/>
        </p:nvGrpSpPr>
        <p:grpSpPr>
          <a:xfrm>
            <a:off x="11124059" y="3384249"/>
            <a:ext cx="6984303" cy="6092409"/>
            <a:chOff x="11506200" y="2552700"/>
            <a:chExt cx="5778544" cy="593855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A09D13B-98F2-402C-BBE4-BF7A60DC25BD}"/>
                </a:ext>
              </a:extLst>
            </p:cNvPr>
            <p:cNvSpPr/>
            <p:nvPr/>
          </p:nvSpPr>
          <p:spPr>
            <a:xfrm>
              <a:off x="11734800" y="2781302"/>
              <a:ext cx="5549944" cy="5709954"/>
            </a:xfrm>
            <a:custGeom>
              <a:avLst/>
              <a:gdLst/>
              <a:ahLst/>
              <a:cxnLst/>
              <a:rect l="l" t="t" r="r" b="b"/>
              <a:pathLst>
                <a:path w="4178344" h="4185955">
                  <a:moveTo>
                    <a:pt x="0" y="0"/>
                  </a:moveTo>
                  <a:lnTo>
                    <a:pt x="4178345" y="0"/>
                  </a:lnTo>
                  <a:lnTo>
                    <a:pt x="4178345" y="4185955"/>
                  </a:lnTo>
                  <a:lnTo>
                    <a:pt x="0" y="418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50AD5B-61F0-4F12-B093-AE3DB817DE84}"/>
                </a:ext>
              </a:extLst>
            </p:cNvPr>
            <p:cNvSpPr/>
            <p:nvPr/>
          </p:nvSpPr>
          <p:spPr>
            <a:xfrm>
              <a:off x="11506200" y="2552700"/>
              <a:ext cx="2971800" cy="2438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12">
            <a:extLst>
              <a:ext uri="{FF2B5EF4-FFF2-40B4-BE49-F238E27FC236}">
                <a16:creationId xmlns:a16="http://schemas.microsoft.com/office/drawing/2014/main" id="{899571DC-E70C-46E9-8DFB-31A843627F24}"/>
              </a:ext>
            </a:extLst>
          </p:cNvPr>
          <p:cNvSpPr txBox="1"/>
          <p:nvPr/>
        </p:nvSpPr>
        <p:spPr>
          <a:xfrm>
            <a:off x="1588251" y="5053403"/>
            <a:ext cx="14057395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응원합니다</a:t>
            </a:r>
            <a:r>
              <a:rPr lang="en-US" altLang="ko-KR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.</a:t>
            </a:r>
            <a:endParaRPr lang="en-US" sz="9600" b="1" spc="-571" dirty="0">
              <a:solidFill>
                <a:srgbClr val="524843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D3FA91B-46D5-419B-875F-26E8B1A28A63}"/>
              </a:ext>
            </a:extLst>
          </p:cNvPr>
          <p:cNvSpPr txBox="1"/>
          <p:nvPr/>
        </p:nvSpPr>
        <p:spPr>
          <a:xfrm>
            <a:off x="1524000" y="3609261"/>
            <a:ext cx="14706600" cy="136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8800" b="1" spc="-571" dirty="0">
                <a:solidFill>
                  <a:srgbClr val="B3C1BE"/>
                </a:solidFill>
                <a:latin typeface="+mj-ea"/>
                <a:ea typeface="+mj-ea"/>
                <a:cs typeface="210 도시락"/>
                <a:sym typeface="210 도시락"/>
              </a:rPr>
              <a:t>여러분의 취업 성공을</a:t>
            </a:r>
            <a:endParaRPr lang="en-US" sz="8800" b="1" spc="-571" dirty="0">
              <a:solidFill>
                <a:srgbClr val="B3C1BE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3402C13-7587-45CB-8917-4FFACE6189DD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894D6227-3C1C-4B2A-9775-1148C382D9D0}"/>
              </a:ext>
            </a:extLst>
          </p:cNvPr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래픽 2" descr="비둘기 윤곽선">
            <a:extLst>
              <a:ext uri="{FF2B5EF4-FFF2-40B4-BE49-F238E27FC236}">
                <a16:creationId xmlns:a16="http://schemas.microsoft.com/office/drawing/2014/main" id="{EFF2BA02-4EAF-3FDC-7AF3-A273B57B2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0" y="483539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530</Words>
  <Application>Microsoft Office PowerPoint</Application>
  <PresentationFormat>사용자 지정</PresentationFormat>
  <Paragraphs>96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굴림</vt:lpstr>
      <vt:lpstr>Arial</vt:lpstr>
      <vt:lpstr>Calibri</vt:lpstr>
      <vt:lpstr>Wingdings</vt:lpstr>
      <vt:lpstr>맑은 고딕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BEI</dc:creator>
  <cp:lastModifiedBy>Seungho Jeon</cp:lastModifiedBy>
  <cp:revision>146</cp:revision>
  <dcterms:created xsi:type="dcterms:W3CDTF">2006-08-16T00:00:00Z</dcterms:created>
  <dcterms:modified xsi:type="dcterms:W3CDTF">2026-03-03T07:06:12Z</dcterms:modified>
</cp:coreProperties>
</file>