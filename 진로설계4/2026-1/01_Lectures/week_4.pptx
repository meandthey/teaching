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320" r:id="rId2"/>
    <p:sldId id="321" r:id="rId3"/>
    <p:sldId id="322" r:id="rId4"/>
    <p:sldId id="323" r:id="rId5"/>
    <p:sldId id="522" r:id="rId6"/>
    <p:sldId id="523" r:id="rId7"/>
    <p:sldId id="355" r:id="rId8"/>
    <p:sldId id="356" r:id="rId9"/>
    <p:sldId id="512" r:id="rId10"/>
  </p:sldIdLst>
  <p:sldSz cx="18288000" cy="10287000"/>
  <p:notesSz cx="6858000" cy="9144000"/>
  <p:embeddedFontLst>
    <p:embeddedFont>
      <p:font typeface="Gmarket Sans Medium" panose="020B0600000101010101" charset="-127"/>
      <p:regular r:id="rId12"/>
    </p:embeddedFont>
    <p:embeddedFont>
      <p:font typeface="Pretendard Regular" panose="020B0600000101010101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457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696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4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청년고용정책 활용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69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5203825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518025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89523" y="1969298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79100" y="4505325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청년고용정책 탐색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93200" y="45815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6169025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5457825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79100" y="5445124"/>
            <a:ext cx="64135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 err="1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잡케어</a:t>
            </a: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 활용 개인별 취업활동계획 수립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93200" y="55213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589523" y="3375025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01.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청년고용정책 탐색과 활용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p.33</a:t>
            </a:r>
          </a:p>
        </p:txBody>
      </p:sp>
    </p:spTree>
    <p:extLst>
      <p:ext uri="{BB962C8B-B14F-4D97-AF65-F5344CB8AC3E}">
        <p14:creationId xmlns:p14="http://schemas.microsoft.com/office/powerpoint/2010/main" val="322157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57850" y="896183"/>
            <a:ext cx="69723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온통청년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알아보기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6136886"/>
            <a:ext cx="4483100" cy="345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900" y="6136886"/>
            <a:ext cx="4483100" cy="3454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399285" y="2238482"/>
            <a:ext cx="14774522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ko-KR" altLang="en-US" sz="2400" b="1" spc="-100" dirty="0" err="1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온통청년에서는</a:t>
            </a: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 중앙정부 및 지자체에서 운영하는 청년들을 위한 모든 정책을 검색할 수 있음</a:t>
            </a:r>
            <a:endParaRPr lang="en-US" sz="24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11229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p.48~49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1D89F7-F33F-4722-8F04-5C2E0AD14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44" y="3523156"/>
            <a:ext cx="7524731" cy="3144498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BB44F02F-86E2-4472-BF28-E63E9E4022F1}"/>
              </a:ext>
            </a:extLst>
          </p:cNvPr>
          <p:cNvGrpSpPr/>
          <p:nvPr/>
        </p:nvGrpSpPr>
        <p:grpSpPr>
          <a:xfrm>
            <a:off x="6654445" y="3082473"/>
            <a:ext cx="1206500" cy="855523"/>
            <a:chOff x="5320636" y="3004844"/>
            <a:chExt cx="1915522" cy="1903271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7BD2165-C8F2-4F9E-B8F1-A0750834174B}"/>
                </a:ext>
              </a:extLst>
            </p:cNvPr>
            <p:cNvSpPr/>
            <p:nvPr/>
          </p:nvSpPr>
          <p:spPr>
            <a:xfrm>
              <a:off x="5320636" y="3004844"/>
              <a:ext cx="1915522" cy="1903271"/>
            </a:xfrm>
            <a:custGeom>
              <a:avLst/>
              <a:gdLst/>
              <a:ahLst/>
              <a:cxnLst/>
              <a:rect l="l" t="t" r="r" b="b"/>
              <a:pathLst>
                <a:path w="578480" h="578480">
                  <a:moveTo>
                    <a:pt x="0" y="0"/>
                  </a:moveTo>
                  <a:lnTo>
                    <a:pt x="578480" y="0"/>
                  </a:lnTo>
                  <a:lnTo>
                    <a:pt x="578480" y="578480"/>
                  </a:lnTo>
                  <a:lnTo>
                    <a:pt x="0" y="578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60CED89-83F3-4268-B4BF-9BB789847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86400" y="3098663"/>
              <a:ext cx="1600200" cy="168914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0CA97D0-7A14-4A8D-A830-EA8C5A3E9E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5676" y="3225171"/>
            <a:ext cx="8469313" cy="6165637"/>
          </a:xfrm>
          <a:prstGeom prst="rect">
            <a:avLst/>
          </a:prstGeom>
        </p:spPr>
      </p:pic>
      <p:sp>
        <p:nvSpPr>
          <p:cNvPr id="16" name="TextBox 23">
            <a:extLst>
              <a:ext uri="{FF2B5EF4-FFF2-40B4-BE49-F238E27FC236}">
                <a16:creationId xmlns:a16="http://schemas.microsoft.com/office/drawing/2014/main" id="{417C4B08-DB54-45C7-BA8A-DC8142EA8456}"/>
              </a:ext>
            </a:extLst>
          </p:cNvPr>
          <p:cNvSpPr txBox="1"/>
          <p:nvPr/>
        </p:nvSpPr>
        <p:spPr>
          <a:xfrm>
            <a:off x="1079500" y="8012656"/>
            <a:ext cx="7284357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36119"/>
              </a:lnSpc>
              <a:buFont typeface="Wingdings" panose="05000000000000000000" pitchFamily="2" charset="2"/>
              <a:buChar char="§"/>
            </a:pPr>
            <a:r>
              <a:rPr lang="ko-KR" altLang="en-US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지원내용</a:t>
            </a:r>
            <a:endParaRPr lang="en-US" altLang="ko-KR" sz="2000" b="1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latin typeface="+mj-ea"/>
              <a:ea typeface="+mj-ea"/>
            </a:endParaRPr>
          </a:p>
          <a:p>
            <a:pPr marL="457200" lvl="0" indent="-457200">
              <a:lnSpc>
                <a:spcPct val="136119"/>
              </a:lnSpc>
              <a:buAutoNum type="arabicPeriod"/>
            </a:pP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D2D8E5"/>
                </a:highlight>
                <a:latin typeface="+mj-ea"/>
                <a:ea typeface="+mj-ea"/>
              </a:rPr>
              <a:t>정책정보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일자리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금용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주거 등 청년 관련 중앙 및 지자체 정책 정보 제공</a:t>
            </a:r>
            <a:endParaRPr lang="en-US" altLang="ko-KR" sz="20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latin typeface="+mj-ea"/>
              <a:ea typeface="+mj-ea"/>
            </a:endParaRPr>
          </a:p>
          <a:p>
            <a:pPr marL="457200" lvl="0" indent="-457200">
              <a:lnSpc>
                <a:spcPct val="136119"/>
              </a:lnSpc>
              <a:buAutoNum type="arabicPeriod"/>
            </a:pPr>
            <a:r>
              <a:rPr lang="ko-KR" altLang="en-US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D2D8E5"/>
                </a:highlight>
                <a:latin typeface="+mj-ea"/>
                <a:ea typeface="+mj-ea"/>
              </a:rPr>
              <a:t>공간정보</a:t>
            </a:r>
            <a:r>
              <a:rPr lang="en-US" altLang="ko-KR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D2D8E5"/>
                </a:highlight>
                <a:latin typeface="+mj-ea"/>
                <a:ea typeface="+mj-ea"/>
              </a:rPr>
              <a:t>:</a:t>
            </a:r>
            <a:r>
              <a:rPr lang="en-US" altLang="ko-KR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전국 청년공간 정보 제공</a:t>
            </a:r>
            <a:r>
              <a:rPr lang="en-US" altLang="ko-KR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공간별 운영 서비스 정보 제공</a:t>
            </a:r>
            <a:endParaRPr lang="en-US" altLang="ko-KR" sz="2000" b="1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latin typeface="+mj-ea"/>
              <a:ea typeface="+mj-ea"/>
            </a:endParaRPr>
          </a:p>
          <a:p>
            <a:pPr marL="457200" lvl="0" indent="-457200">
              <a:lnSpc>
                <a:spcPct val="136119"/>
              </a:lnSpc>
              <a:buAutoNum type="arabicPeriod"/>
            </a:pP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highlight>
                  <a:srgbClr val="D2D8E5"/>
                </a:highlight>
                <a:latin typeface="+mj-ea"/>
                <a:ea typeface="+mj-ea"/>
              </a:rPr>
              <a:t>온라인 상담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카카오톡 채팅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전화</a:t>
            </a:r>
            <a:r>
              <a:rPr lang="en-US" altLang="ko-KR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i="0" u="none" strike="noStrike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게시판 등을 </a:t>
            </a:r>
            <a:r>
              <a:rPr lang="ko-KR" altLang="en-US" sz="2000" b="1" spc="-100" dirty="0">
                <a:solidFill>
                  <a:schemeClr val="tx1">
                    <a:lumMod val="95000"/>
                    <a:lumOff val="5000"/>
                    <a:alpha val="54118"/>
                  </a:schemeClr>
                </a:solidFill>
                <a:latin typeface="+mj-ea"/>
                <a:ea typeface="+mj-ea"/>
              </a:rPr>
              <a:t>통한 정책 안내 및 개인 맞춤형 상담 서비스 제공</a:t>
            </a:r>
            <a:endParaRPr lang="en-US" sz="2000" b="1" i="0" u="none" strike="noStrike" spc="-100" dirty="0">
              <a:solidFill>
                <a:schemeClr val="tx1">
                  <a:lumMod val="95000"/>
                  <a:lumOff val="5000"/>
                  <a:alpha val="54118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A5AB376-1472-4CEA-A8B3-128BE9F1567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7587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3275" y="787400"/>
            <a:ext cx="920115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청년고용정책 알아보기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900" y="5867951"/>
            <a:ext cx="4483100" cy="3454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0114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p.50~55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2C04BB-5276-4392-A877-5C48EC72F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086" y="2936893"/>
            <a:ext cx="5465078" cy="49329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830902-38A0-4A82-B17E-042D5B905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46" y="2936892"/>
            <a:ext cx="5097182" cy="49329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E3FE49-5B8E-4484-AEE0-0CDFFCCF8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0922" y="2936892"/>
            <a:ext cx="5734767" cy="486563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54DD36A-76F2-4927-85D1-4D57A2163382}"/>
              </a:ext>
            </a:extLst>
          </p:cNvPr>
          <p:cNvGrpSpPr/>
          <p:nvPr/>
        </p:nvGrpSpPr>
        <p:grpSpPr>
          <a:xfrm>
            <a:off x="927100" y="8074971"/>
            <a:ext cx="1371600" cy="1288528"/>
            <a:chOff x="2399285" y="7966066"/>
            <a:chExt cx="1965596" cy="1903271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A17FE6E0-40B9-41F9-8575-3F73FD12AFD1}"/>
                </a:ext>
              </a:extLst>
            </p:cNvPr>
            <p:cNvSpPr/>
            <p:nvPr/>
          </p:nvSpPr>
          <p:spPr>
            <a:xfrm>
              <a:off x="2399285" y="7966066"/>
              <a:ext cx="1965596" cy="1903271"/>
            </a:xfrm>
            <a:custGeom>
              <a:avLst/>
              <a:gdLst/>
              <a:ahLst/>
              <a:cxnLst/>
              <a:rect l="l" t="t" r="r" b="b"/>
              <a:pathLst>
                <a:path w="578480" h="578480">
                  <a:moveTo>
                    <a:pt x="0" y="0"/>
                  </a:moveTo>
                  <a:lnTo>
                    <a:pt x="578480" y="0"/>
                  </a:lnTo>
                  <a:lnTo>
                    <a:pt x="578480" y="578480"/>
                  </a:lnTo>
                  <a:lnTo>
                    <a:pt x="0" y="578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7331B25-5BDF-414F-8492-2F75B3C9B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14599" y="8152593"/>
              <a:ext cx="1728805" cy="1479841"/>
            </a:xfrm>
            <a:prstGeom prst="rect">
              <a:avLst/>
            </a:prstGeom>
          </p:spPr>
        </p:pic>
      </p:grpSp>
      <p:sp>
        <p:nvSpPr>
          <p:cNvPr id="21" name="TextBox 14">
            <a:extLst>
              <a:ext uri="{FF2B5EF4-FFF2-40B4-BE49-F238E27FC236}">
                <a16:creationId xmlns:a16="http://schemas.microsoft.com/office/drawing/2014/main" id="{9639F990-9FFC-4860-B11F-27CA35C6B792}"/>
              </a:ext>
            </a:extLst>
          </p:cNvPr>
          <p:cNvSpPr txBox="1"/>
          <p:nvPr/>
        </p:nvSpPr>
        <p:spPr>
          <a:xfrm>
            <a:off x="2614528" y="8051370"/>
            <a:ext cx="60698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고용 </a:t>
            </a:r>
            <a:r>
              <a:rPr lang="en-US" altLang="ko-KR" sz="2400" b="1" dirty="0">
                <a:latin typeface="+mj-ea"/>
                <a:ea typeface="+mj-ea"/>
                <a:cs typeface="윤고딕 Bold"/>
                <a:sym typeface="윤고딕 Bold"/>
              </a:rPr>
              <a:t>24</a:t>
            </a:r>
          </a:p>
          <a:p>
            <a:pPr marL="0" lvl="0" indent="0" algn="l">
              <a:spcBef>
                <a:spcPct val="0"/>
              </a:spcBef>
            </a:pPr>
            <a:r>
              <a:rPr lang="ko-KR" altLang="en-US" sz="2400" b="1" dirty="0" err="1">
                <a:highlight>
                  <a:srgbClr val="FFFF00"/>
                </a:highlight>
                <a:latin typeface="+mj-ea"/>
                <a:ea typeface="+mj-ea"/>
                <a:cs typeface="윤고딕 Bold"/>
                <a:sym typeface="윤고딕 Bold"/>
              </a:rPr>
              <a:t>국취이야기</a:t>
            </a:r>
            <a:endParaRPr lang="en-US" sz="2400" b="1" dirty="0">
              <a:highlight>
                <a:srgbClr val="FFFF00"/>
              </a:highlight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BA08C841-28BB-4970-95CC-F5C3AC09077F}"/>
              </a:ext>
            </a:extLst>
          </p:cNvPr>
          <p:cNvSpPr txBox="1"/>
          <p:nvPr/>
        </p:nvSpPr>
        <p:spPr>
          <a:xfrm>
            <a:off x="2597928" y="9094666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https://work24.go.kr</a:t>
            </a:r>
          </a:p>
        </p:txBody>
      </p:sp>
      <p:sp>
        <p:nvSpPr>
          <p:cNvPr id="25" name="AutoShape 16">
            <a:extLst>
              <a:ext uri="{FF2B5EF4-FFF2-40B4-BE49-F238E27FC236}">
                <a16:creationId xmlns:a16="http://schemas.microsoft.com/office/drawing/2014/main" id="{D0F6EC7C-3CB3-4838-AABF-8A03594BDCA7}"/>
              </a:ext>
            </a:extLst>
          </p:cNvPr>
          <p:cNvSpPr/>
          <p:nvPr/>
        </p:nvSpPr>
        <p:spPr>
          <a:xfrm flipV="1">
            <a:off x="2614528" y="8913165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3FCAEE7B-AC58-43D8-9891-23B822352B3C}"/>
              </a:ext>
            </a:extLst>
          </p:cNvPr>
          <p:cNvSpPr txBox="1"/>
          <p:nvPr/>
        </p:nvSpPr>
        <p:spPr>
          <a:xfrm>
            <a:off x="8094547" y="8023819"/>
            <a:ext cx="60698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고용 </a:t>
            </a:r>
            <a:r>
              <a:rPr lang="en-US" altLang="ko-KR" sz="2400" b="1" dirty="0">
                <a:latin typeface="+mj-ea"/>
                <a:ea typeface="+mj-ea"/>
                <a:cs typeface="윤고딕 Bold"/>
                <a:sym typeface="윤고딕 Bold"/>
              </a:rPr>
              <a:t>24</a:t>
            </a:r>
          </a:p>
          <a:p>
            <a:pPr marL="0" lvl="0" indent="0" algn="l">
              <a:spcBef>
                <a:spcPct val="0"/>
              </a:spcBef>
            </a:pPr>
            <a:r>
              <a:rPr lang="ko-KR" altLang="en-US" sz="2400" b="1" dirty="0" err="1">
                <a:highlight>
                  <a:srgbClr val="FFFF00"/>
                </a:highlight>
                <a:latin typeface="+mj-ea"/>
                <a:ea typeface="+mj-ea"/>
                <a:cs typeface="윤고딕 Bold"/>
                <a:sym typeface="윤고딕 Bold"/>
              </a:rPr>
              <a:t>내일배움카드</a:t>
            </a:r>
            <a:endParaRPr lang="en-US" sz="2400" b="1" dirty="0">
              <a:highlight>
                <a:srgbClr val="FFFF00"/>
              </a:highlight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18AAAE0B-F327-4744-8925-D1B1FC31A395}"/>
              </a:ext>
            </a:extLst>
          </p:cNvPr>
          <p:cNvSpPr txBox="1"/>
          <p:nvPr/>
        </p:nvSpPr>
        <p:spPr>
          <a:xfrm>
            <a:off x="8077947" y="9067115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https://work24.go.kr</a:t>
            </a: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DE7C025F-A721-4CF3-92BF-B35FD5743355}"/>
              </a:ext>
            </a:extLst>
          </p:cNvPr>
          <p:cNvSpPr/>
          <p:nvPr/>
        </p:nvSpPr>
        <p:spPr>
          <a:xfrm flipV="1">
            <a:off x="8094547" y="8885614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59F8E23-2E05-4B40-8507-BCD7D53968A6}"/>
              </a:ext>
            </a:extLst>
          </p:cNvPr>
          <p:cNvGrpSpPr/>
          <p:nvPr/>
        </p:nvGrpSpPr>
        <p:grpSpPr>
          <a:xfrm>
            <a:off x="6362328" y="8172849"/>
            <a:ext cx="1371600" cy="1288528"/>
            <a:chOff x="6362328" y="8441784"/>
            <a:chExt cx="1371600" cy="128852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CFBA9CB6-0AEC-42C3-9F03-0F327D4FD656}"/>
                </a:ext>
              </a:extLst>
            </p:cNvPr>
            <p:cNvSpPr/>
            <p:nvPr/>
          </p:nvSpPr>
          <p:spPr>
            <a:xfrm>
              <a:off x="6362328" y="8441784"/>
              <a:ext cx="1371600" cy="1288528"/>
            </a:xfrm>
            <a:custGeom>
              <a:avLst/>
              <a:gdLst/>
              <a:ahLst/>
              <a:cxnLst/>
              <a:rect l="l" t="t" r="r" b="b"/>
              <a:pathLst>
                <a:path w="578480" h="578480">
                  <a:moveTo>
                    <a:pt x="0" y="0"/>
                  </a:moveTo>
                  <a:lnTo>
                    <a:pt x="578480" y="0"/>
                  </a:lnTo>
                  <a:lnTo>
                    <a:pt x="578480" y="578480"/>
                  </a:lnTo>
                  <a:lnTo>
                    <a:pt x="0" y="578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0800E99-7AFF-40C7-8673-FA1EC7E04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51250" y="8565119"/>
              <a:ext cx="1206844" cy="1147263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F8A872-16E8-473F-85D7-2D51D126004C}"/>
              </a:ext>
            </a:extLst>
          </p:cNvPr>
          <p:cNvGrpSpPr/>
          <p:nvPr/>
        </p:nvGrpSpPr>
        <p:grpSpPr>
          <a:xfrm>
            <a:off x="12341225" y="8218222"/>
            <a:ext cx="1371600" cy="1288528"/>
            <a:chOff x="12341225" y="8487157"/>
            <a:chExt cx="1371600" cy="1288528"/>
          </a:xfrm>
        </p:grpSpPr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743C3CF-78B2-4CB1-91A4-C9FA092FDD9C}"/>
                </a:ext>
              </a:extLst>
            </p:cNvPr>
            <p:cNvSpPr/>
            <p:nvPr/>
          </p:nvSpPr>
          <p:spPr>
            <a:xfrm>
              <a:off x="12341225" y="8487157"/>
              <a:ext cx="1371600" cy="1288528"/>
            </a:xfrm>
            <a:custGeom>
              <a:avLst/>
              <a:gdLst/>
              <a:ahLst/>
              <a:cxnLst/>
              <a:rect l="l" t="t" r="r" b="b"/>
              <a:pathLst>
                <a:path w="578480" h="578480">
                  <a:moveTo>
                    <a:pt x="0" y="0"/>
                  </a:moveTo>
                  <a:lnTo>
                    <a:pt x="578480" y="0"/>
                  </a:lnTo>
                  <a:lnTo>
                    <a:pt x="578480" y="578480"/>
                  </a:lnTo>
                  <a:lnTo>
                    <a:pt x="0" y="578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1780482-9A9F-4802-9034-70F729E8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414274" y="8582146"/>
              <a:ext cx="1191752" cy="1102793"/>
            </a:xfrm>
            <a:prstGeom prst="rect">
              <a:avLst/>
            </a:prstGeom>
          </p:spPr>
        </p:pic>
      </p:grpSp>
      <p:sp>
        <p:nvSpPr>
          <p:cNvPr id="40" name="TextBox 14">
            <a:extLst>
              <a:ext uri="{FF2B5EF4-FFF2-40B4-BE49-F238E27FC236}">
                <a16:creationId xmlns:a16="http://schemas.microsoft.com/office/drawing/2014/main" id="{DA494E06-E872-4715-9A12-B1739042B7AB}"/>
              </a:ext>
            </a:extLst>
          </p:cNvPr>
          <p:cNvSpPr txBox="1"/>
          <p:nvPr/>
        </p:nvSpPr>
        <p:spPr>
          <a:xfrm>
            <a:off x="14117907" y="8124235"/>
            <a:ext cx="60698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ko-KR" altLang="en-US" sz="2400" b="1" dirty="0" err="1">
                <a:highlight>
                  <a:srgbClr val="FFFF00"/>
                </a:highlight>
                <a:latin typeface="+mj-ea"/>
                <a:ea typeface="+mj-ea"/>
                <a:cs typeface="윤고딕 Bold"/>
                <a:sym typeface="윤고딕 Bold"/>
              </a:rPr>
              <a:t>미래내일일경험</a:t>
            </a:r>
            <a:endParaRPr lang="en-US" altLang="ko-KR" sz="2400" b="1" dirty="0">
              <a:highlight>
                <a:srgbClr val="FFFF00"/>
              </a:highlight>
              <a:latin typeface="+mj-ea"/>
              <a:ea typeface="+mj-ea"/>
              <a:cs typeface="윤고딕 Bold"/>
              <a:sym typeface="윤고딕 Bold"/>
            </a:endParaRPr>
          </a:p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highlight>
                  <a:srgbClr val="FFFF00"/>
                </a:highlight>
                <a:latin typeface="+mj-ea"/>
                <a:ea typeface="+mj-ea"/>
                <a:cs typeface="윤고딕 Bold"/>
                <a:sym typeface="윤고딕 Bold"/>
              </a:rPr>
              <a:t>통합플랫폼</a:t>
            </a:r>
            <a:endParaRPr lang="en-US" sz="2400" b="1" dirty="0">
              <a:highlight>
                <a:srgbClr val="FFFF00"/>
              </a:highlight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5A01969A-4C24-4CA4-9928-87B325855A1F}"/>
              </a:ext>
            </a:extLst>
          </p:cNvPr>
          <p:cNvSpPr txBox="1"/>
          <p:nvPr/>
        </p:nvSpPr>
        <p:spPr>
          <a:xfrm>
            <a:off x="14117907" y="9200835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https://yw.work24.go.kr</a:t>
            </a:r>
          </a:p>
        </p:txBody>
      </p:sp>
      <p:sp>
        <p:nvSpPr>
          <p:cNvPr id="42" name="AutoShape 16">
            <a:extLst>
              <a:ext uri="{FF2B5EF4-FFF2-40B4-BE49-F238E27FC236}">
                <a16:creationId xmlns:a16="http://schemas.microsoft.com/office/drawing/2014/main" id="{06679DBF-B016-4BE6-A5B9-A43D7C77CFE7}"/>
              </a:ext>
            </a:extLst>
          </p:cNvPr>
          <p:cNvSpPr/>
          <p:nvPr/>
        </p:nvSpPr>
        <p:spPr>
          <a:xfrm flipV="1">
            <a:off x="14119016" y="8983775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71ADE5-B1F9-4341-AECF-91952D90E974}"/>
              </a:ext>
            </a:extLst>
          </p:cNvPr>
          <p:cNvSpPr txBox="1"/>
          <p:nvPr/>
        </p:nvSpPr>
        <p:spPr>
          <a:xfrm>
            <a:off x="12060922" y="2140079"/>
            <a:ext cx="584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latin typeface="+mn-ea"/>
              </a:rPr>
              <a:t>이미지 출처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>
                <a:latin typeface="+mn-ea"/>
              </a:rPr>
              <a:t>고용노동부 </a:t>
            </a:r>
            <a:r>
              <a:rPr lang="en-US" altLang="ko-KR" sz="1200" dirty="0">
                <a:latin typeface="+mn-ea"/>
              </a:rPr>
              <a:t>– </a:t>
            </a:r>
            <a:r>
              <a:rPr lang="ko-KR" altLang="en-US" sz="1200" dirty="0">
                <a:latin typeface="+mn-ea"/>
              </a:rPr>
              <a:t>홍보자료 </a:t>
            </a: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카드뉴스</a:t>
            </a:r>
            <a:r>
              <a:rPr lang="en-US" altLang="ko-KR" sz="1200" dirty="0">
                <a:latin typeface="+mn-ea"/>
              </a:rPr>
              <a:t> https://www.moel.go.kr/news/cardinfo/list.do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94FCCB31-8EDC-4061-A802-47C7FF00B77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389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3275" y="787400"/>
            <a:ext cx="920115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청년고용정책 알아보기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0114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p.50~55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26BDA5D6-5BFF-4AD8-A697-A9580883CFA6}"/>
              </a:ext>
            </a:extLst>
          </p:cNvPr>
          <p:cNvSpPr txBox="1"/>
          <p:nvPr/>
        </p:nvSpPr>
        <p:spPr>
          <a:xfrm>
            <a:off x="2586378" y="2006809"/>
            <a:ext cx="14774522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취업준비생이라면 꼭</a:t>
            </a:r>
            <a:r>
              <a:rPr lang="en-US" altLang="ko-KR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~ </a:t>
            </a: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알아야할 청년고용정책</a:t>
            </a:r>
            <a:endParaRPr lang="en-US" sz="24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Google Shape;85;p13" descr="image.png">
            <a:extLst>
              <a:ext uri="{FF2B5EF4-FFF2-40B4-BE49-F238E27FC236}">
                <a16:creationId xmlns:a16="http://schemas.microsoft.com/office/drawing/2014/main" id="{F8CCA062-6516-4151-886C-C2719C0071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1" y="3028950"/>
            <a:ext cx="523882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6;p13" descr="image.png">
            <a:extLst>
              <a:ext uri="{FF2B5EF4-FFF2-40B4-BE49-F238E27FC236}">
                <a16:creationId xmlns:a16="http://schemas.microsoft.com/office/drawing/2014/main" id="{E1EF18B7-7669-4C5F-B972-FB44DCF2A3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99" y="3028950"/>
            <a:ext cx="523882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7;p13" descr="image.png">
            <a:extLst>
              <a:ext uri="{FF2B5EF4-FFF2-40B4-BE49-F238E27FC236}">
                <a16:creationId xmlns:a16="http://schemas.microsoft.com/office/drawing/2014/main" id="{6D474226-EF53-4FEA-8C9D-4E060F81DD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149" y="3028950"/>
            <a:ext cx="523882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88;p13" descr="image.png">
            <a:extLst>
              <a:ext uri="{FF2B5EF4-FFF2-40B4-BE49-F238E27FC236}">
                <a16:creationId xmlns:a16="http://schemas.microsoft.com/office/drawing/2014/main" id="{7B44D9E3-D9FB-4FBF-866A-0A14988F6F8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1188" y="5400676"/>
            <a:ext cx="2930946" cy="47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9;p13" descr="image.png">
            <a:extLst>
              <a:ext uri="{FF2B5EF4-FFF2-40B4-BE49-F238E27FC236}">
                <a16:creationId xmlns:a16="http://schemas.microsoft.com/office/drawing/2014/main" id="{4E4B0E44-FE68-4732-B45E-2C9695ECCFF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6216" y="5400676"/>
            <a:ext cx="3115791" cy="47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90;p13" descr="image.png">
            <a:extLst>
              <a:ext uri="{FF2B5EF4-FFF2-40B4-BE49-F238E27FC236}">
                <a16:creationId xmlns:a16="http://schemas.microsoft.com/office/drawing/2014/main" id="{0880E5DB-A036-42EC-93F5-ACB1DF7F77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90462" y="5400676"/>
            <a:ext cx="3642195" cy="47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94;p13" descr="image.png">
            <a:extLst>
              <a:ext uri="{FF2B5EF4-FFF2-40B4-BE49-F238E27FC236}">
                <a16:creationId xmlns:a16="http://schemas.microsoft.com/office/drawing/2014/main" id="{A31C473F-BF15-4125-80CF-132DA1D8F7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76488" y="3543300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95;p13">
            <a:extLst>
              <a:ext uri="{FF2B5EF4-FFF2-40B4-BE49-F238E27FC236}">
                <a16:creationId xmlns:a16="http://schemas.microsoft.com/office/drawing/2014/main" id="{7904FE23-2D1C-45AE-A253-8F9F208ED0AD}"/>
              </a:ext>
            </a:extLst>
          </p:cNvPr>
          <p:cNvSpPr txBox="1"/>
          <p:nvPr/>
        </p:nvSpPr>
        <p:spPr>
          <a:xfrm>
            <a:off x="1578813" y="4829176"/>
            <a:ext cx="379547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국민취업지원제도 (1유형)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46" name="Google Shape;97;p13" descr="image.png">
            <a:extLst>
              <a:ext uri="{FF2B5EF4-FFF2-40B4-BE49-F238E27FC236}">
                <a16:creationId xmlns:a16="http://schemas.microsoft.com/office/drawing/2014/main" id="{83B51EE9-ADB5-48D0-B1FB-68FACB149F7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43938" y="3543300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98;p13">
            <a:extLst>
              <a:ext uri="{FF2B5EF4-FFF2-40B4-BE49-F238E27FC236}">
                <a16:creationId xmlns:a16="http://schemas.microsoft.com/office/drawing/2014/main" id="{EFD74D09-3506-4503-8295-D0732883390D}"/>
              </a:ext>
            </a:extLst>
          </p:cNvPr>
          <p:cNvSpPr txBox="1"/>
          <p:nvPr/>
        </p:nvSpPr>
        <p:spPr>
          <a:xfrm>
            <a:off x="7823835" y="4829176"/>
            <a:ext cx="264033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국민내일배움카드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48" name="Google Shape;100;p13" descr="image.png">
            <a:extLst>
              <a:ext uri="{FF2B5EF4-FFF2-40B4-BE49-F238E27FC236}">
                <a16:creationId xmlns:a16="http://schemas.microsoft.com/office/drawing/2014/main" id="{CE5315DC-A99A-4C24-9F98-1963DD99882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311386" y="3543300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101;p13">
            <a:extLst>
              <a:ext uri="{FF2B5EF4-FFF2-40B4-BE49-F238E27FC236}">
                <a16:creationId xmlns:a16="http://schemas.microsoft.com/office/drawing/2014/main" id="{AE3480FC-8C6E-47B5-91B8-48DF45EB75C8}"/>
              </a:ext>
            </a:extLst>
          </p:cNvPr>
          <p:cNvSpPr txBox="1"/>
          <p:nvPr/>
        </p:nvSpPr>
        <p:spPr>
          <a:xfrm>
            <a:off x="12533269" y="4829176"/>
            <a:ext cx="455658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대학일자리+ [점프업 프로젝트]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0" name="Google Shape;102;p13">
            <a:extLst>
              <a:ext uri="{FF2B5EF4-FFF2-40B4-BE49-F238E27FC236}">
                <a16:creationId xmlns:a16="http://schemas.microsoft.com/office/drawing/2014/main" id="{54F90021-AEB2-48AD-B838-9A648FC0FE7B}"/>
              </a:ext>
            </a:extLst>
          </p:cNvPr>
          <p:cNvSpPr txBox="1"/>
          <p:nvPr/>
        </p:nvSpPr>
        <p:spPr>
          <a:xfrm>
            <a:off x="1485901" y="6157913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취업활동계획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(IAP)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수립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구직활동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시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매월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지급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(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최대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6개월)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1" name="Google Shape;103;p13">
            <a:extLst>
              <a:ext uri="{FF2B5EF4-FFF2-40B4-BE49-F238E27FC236}">
                <a16:creationId xmlns:a16="http://schemas.microsoft.com/office/drawing/2014/main" id="{70B398C7-9647-4B55-A27C-B65EC3946088}"/>
              </a:ext>
            </a:extLst>
          </p:cNvPr>
          <p:cNvSpPr txBox="1"/>
          <p:nvPr/>
        </p:nvSpPr>
        <p:spPr>
          <a:xfrm>
            <a:off x="1485901" y="7009358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생계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걱정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없는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안정적인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취업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준비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환경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4" name="Google Shape;104;p13">
            <a:extLst>
              <a:ext uri="{FF2B5EF4-FFF2-40B4-BE49-F238E27FC236}">
                <a16:creationId xmlns:a16="http://schemas.microsoft.com/office/drawing/2014/main" id="{862A5C3B-2FA3-4773-9645-387D2BE27863}"/>
              </a:ext>
            </a:extLst>
          </p:cNvPr>
          <p:cNvSpPr txBox="1"/>
          <p:nvPr/>
        </p:nvSpPr>
        <p:spPr>
          <a:xfrm>
            <a:off x="1485901" y="7860803"/>
            <a:ext cx="4238699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1:1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맞춤형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취업지원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서비스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제공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5" name="Google Shape;105;p13">
            <a:extLst>
              <a:ext uri="{FF2B5EF4-FFF2-40B4-BE49-F238E27FC236}">
                <a16:creationId xmlns:a16="http://schemas.microsoft.com/office/drawing/2014/main" id="{9624343F-6AD0-4D98-B592-90B3D4117842}"/>
              </a:ext>
            </a:extLst>
          </p:cNvPr>
          <p:cNvSpPr txBox="1"/>
          <p:nvPr/>
        </p:nvSpPr>
        <p:spPr>
          <a:xfrm>
            <a:off x="7153349" y="6157913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졸업예정자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발급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가능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역량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교육비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파격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ko-KR" alt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훈련비의 </a:t>
            </a:r>
            <a:r>
              <a:rPr lang="en-US" altLang="ko-KR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45~85%)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6" name="Google Shape;106;p13">
            <a:extLst>
              <a:ext uri="{FF2B5EF4-FFF2-40B4-BE49-F238E27FC236}">
                <a16:creationId xmlns:a16="http://schemas.microsoft.com/office/drawing/2014/main" id="{68FFAC96-9D65-4748-AE49-E4711ADC699D}"/>
              </a:ext>
            </a:extLst>
          </p:cNvPr>
          <p:cNvSpPr txBox="1"/>
          <p:nvPr/>
        </p:nvSpPr>
        <p:spPr>
          <a:xfrm>
            <a:off x="7153349" y="7009358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140시간 이상 훈련 과정 수강 시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월 최대 11.6만 원 훈련장려금 추가 지급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7" name="Google Shape;107;p13">
            <a:extLst>
              <a:ext uri="{FF2B5EF4-FFF2-40B4-BE49-F238E27FC236}">
                <a16:creationId xmlns:a16="http://schemas.microsoft.com/office/drawing/2014/main" id="{5FFFC223-D72B-460C-997C-DE2A1B5EA9B4}"/>
              </a:ext>
            </a:extLst>
          </p:cNvPr>
          <p:cNvSpPr txBox="1"/>
          <p:nvPr/>
        </p:nvSpPr>
        <p:spPr>
          <a:xfrm>
            <a:off x="7153349" y="7860803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고용24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홈페이지를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통해 </a:t>
            </a:r>
            <a:r>
              <a:rPr lang="ko-KR" alt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내일배움카드</a:t>
            </a:r>
            <a:r>
              <a:rPr lang="ko-KR" alt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신청 및 교육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신청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가능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8" name="Google Shape;108;p13">
            <a:extLst>
              <a:ext uri="{FF2B5EF4-FFF2-40B4-BE49-F238E27FC236}">
                <a16:creationId xmlns:a16="http://schemas.microsoft.com/office/drawing/2014/main" id="{5A4E1A8F-DDAE-442E-B1A8-9F9D70B6CA67}"/>
              </a:ext>
            </a:extLst>
          </p:cNvPr>
          <p:cNvSpPr txBox="1"/>
          <p:nvPr/>
        </p:nvSpPr>
        <p:spPr>
          <a:xfrm>
            <a:off x="12820799" y="6157913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고학년 맞춤형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개인별 취업활동계획(IAP) 수립 지원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9" name="Google Shape;109;p13">
            <a:extLst>
              <a:ext uri="{FF2B5EF4-FFF2-40B4-BE49-F238E27FC236}">
                <a16:creationId xmlns:a16="http://schemas.microsoft.com/office/drawing/2014/main" id="{1BC53A95-2AE0-445C-A78B-AD1817FA8B05}"/>
              </a:ext>
            </a:extLst>
          </p:cNvPr>
          <p:cNvSpPr txBox="1"/>
          <p:nvPr/>
        </p:nvSpPr>
        <p:spPr>
          <a:xfrm>
            <a:off x="12820799" y="7009358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자소서 컨설팅, 일경험 등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참여 시간에 비례한 수당(포인트) 지급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0" name="Google Shape;110;p13">
            <a:extLst>
              <a:ext uri="{FF2B5EF4-FFF2-40B4-BE49-F238E27FC236}">
                <a16:creationId xmlns:a16="http://schemas.microsoft.com/office/drawing/2014/main" id="{26DA56D2-3F57-49D1-92FD-ABB012C7EEF3}"/>
              </a:ext>
            </a:extLst>
          </p:cNvPr>
          <p:cNvSpPr txBox="1"/>
          <p:nvPr/>
        </p:nvSpPr>
        <p:spPr>
          <a:xfrm>
            <a:off x="12820799" y="7860803"/>
            <a:ext cx="4238699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교내 인프라를 활용한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가장 안전하고 확실한 조기 취업 연계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1" name="Google Shape;111;p13">
            <a:extLst>
              <a:ext uri="{FF2B5EF4-FFF2-40B4-BE49-F238E27FC236}">
                <a16:creationId xmlns:a16="http://schemas.microsoft.com/office/drawing/2014/main" id="{104938A3-DE07-475E-A1B1-343A2C4BDEF6}"/>
              </a:ext>
            </a:extLst>
          </p:cNvPr>
          <p:cNvSpPr txBox="1"/>
          <p:nvPr/>
        </p:nvSpPr>
        <p:spPr>
          <a:xfrm>
            <a:off x="1228725" y="620077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2" name="Google Shape;112;p13">
            <a:extLst>
              <a:ext uri="{FF2B5EF4-FFF2-40B4-BE49-F238E27FC236}">
                <a16:creationId xmlns:a16="http://schemas.microsoft.com/office/drawing/2014/main" id="{6096F61D-F8B4-476D-9DE1-885FAFEA9974}"/>
              </a:ext>
            </a:extLst>
          </p:cNvPr>
          <p:cNvSpPr txBox="1"/>
          <p:nvPr/>
        </p:nvSpPr>
        <p:spPr>
          <a:xfrm>
            <a:off x="1228725" y="7052220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3" name="Google Shape;113;p13">
            <a:extLst>
              <a:ext uri="{FF2B5EF4-FFF2-40B4-BE49-F238E27FC236}">
                <a16:creationId xmlns:a16="http://schemas.microsoft.com/office/drawing/2014/main" id="{428D6CC8-36F3-4748-B847-06A52F344C78}"/>
              </a:ext>
            </a:extLst>
          </p:cNvPr>
          <p:cNvSpPr txBox="1"/>
          <p:nvPr/>
        </p:nvSpPr>
        <p:spPr>
          <a:xfrm>
            <a:off x="1228725" y="79036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4" name="Google Shape;114;p13">
            <a:extLst>
              <a:ext uri="{FF2B5EF4-FFF2-40B4-BE49-F238E27FC236}">
                <a16:creationId xmlns:a16="http://schemas.microsoft.com/office/drawing/2014/main" id="{0844D38C-2641-40AB-AD7E-6F7CB3CE69DC}"/>
              </a:ext>
            </a:extLst>
          </p:cNvPr>
          <p:cNvSpPr txBox="1"/>
          <p:nvPr/>
        </p:nvSpPr>
        <p:spPr>
          <a:xfrm>
            <a:off x="6896174" y="620077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5" name="Google Shape;115;p13">
            <a:extLst>
              <a:ext uri="{FF2B5EF4-FFF2-40B4-BE49-F238E27FC236}">
                <a16:creationId xmlns:a16="http://schemas.microsoft.com/office/drawing/2014/main" id="{8745F6DB-4468-447C-9EEE-10856925FC89}"/>
              </a:ext>
            </a:extLst>
          </p:cNvPr>
          <p:cNvSpPr txBox="1"/>
          <p:nvPr/>
        </p:nvSpPr>
        <p:spPr>
          <a:xfrm>
            <a:off x="6896174" y="7052220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6" name="Google Shape;116;p13">
            <a:extLst>
              <a:ext uri="{FF2B5EF4-FFF2-40B4-BE49-F238E27FC236}">
                <a16:creationId xmlns:a16="http://schemas.microsoft.com/office/drawing/2014/main" id="{C1CB4845-33EC-4226-B94C-6FE83CB403F6}"/>
              </a:ext>
            </a:extLst>
          </p:cNvPr>
          <p:cNvSpPr txBox="1"/>
          <p:nvPr/>
        </p:nvSpPr>
        <p:spPr>
          <a:xfrm>
            <a:off x="6896174" y="79036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7" name="Google Shape;117;p13">
            <a:extLst>
              <a:ext uri="{FF2B5EF4-FFF2-40B4-BE49-F238E27FC236}">
                <a16:creationId xmlns:a16="http://schemas.microsoft.com/office/drawing/2014/main" id="{5EAC170E-D49E-41D2-8760-35CE8FE0E13E}"/>
              </a:ext>
            </a:extLst>
          </p:cNvPr>
          <p:cNvSpPr txBox="1"/>
          <p:nvPr/>
        </p:nvSpPr>
        <p:spPr>
          <a:xfrm>
            <a:off x="12563624" y="620077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8" name="Google Shape;118;p13">
            <a:extLst>
              <a:ext uri="{FF2B5EF4-FFF2-40B4-BE49-F238E27FC236}">
                <a16:creationId xmlns:a16="http://schemas.microsoft.com/office/drawing/2014/main" id="{E8056B56-D510-4D8C-9118-41C40142457C}"/>
              </a:ext>
            </a:extLst>
          </p:cNvPr>
          <p:cNvSpPr txBox="1"/>
          <p:nvPr/>
        </p:nvSpPr>
        <p:spPr>
          <a:xfrm>
            <a:off x="12563624" y="7052220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9" name="Google Shape;119;p13">
            <a:extLst>
              <a:ext uri="{FF2B5EF4-FFF2-40B4-BE49-F238E27FC236}">
                <a16:creationId xmlns:a16="http://schemas.microsoft.com/office/drawing/2014/main" id="{7B5E25EE-E7A2-43FF-9C17-39807129FC8D}"/>
              </a:ext>
            </a:extLst>
          </p:cNvPr>
          <p:cNvSpPr txBox="1"/>
          <p:nvPr/>
        </p:nvSpPr>
        <p:spPr>
          <a:xfrm>
            <a:off x="12563624" y="79036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95924277-4FCB-49FD-A0A9-A6260556FC22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06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3275" y="787400"/>
            <a:ext cx="920115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청년고용정책 알아보기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0114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p.50~55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26BDA5D6-5BFF-4AD8-A697-A9580883CFA6}"/>
              </a:ext>
            </a:extLst>
          </p:cNvPr>
          <p:cNvSpPr txBox="1"/>
          <p:nvPr/>
        </p:nvSpPr>
        <p:spPr>
          <a:xfrm>
            <a:off x="2586378" y="2006809"/>
            <a:ext cx="14774522" cy="3734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취업준비생이라면 꼭</a:t>
            </a:r>
            <a:r>
              <a:rPr lang="en-US" altLang="ko-KR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~ </a:t>
            </a:r>
            <a:r>
              <a:rPr lang="ko-KR" altLang="en-US" sz="2400" b="1" spc="-100" dirty="0">
                <a:solidFill>
                  <a:schemeClr val="tx1">
                    <a:alpha val="54118"/>
                  </a:schemeClr>
                </a:solidFill>
                <a:latin typeface="+mj-ea"/>
                <a:ea typeface="+mj-ea"/>
              </a:rPr>
              <a:t>알아야할 청년고용정책</a:t>
            </a:r>
            <a:endParaRPr lang="en-US" sz="2400" b="1" i="0" u="none" strike="noStrike" spc="-100" dirty="0">
              <a:solidFill>
                <a:schemeClr val="tx1">
                  <a:alpha val="54118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8" name="Google Shape;125;p14" descr="image.png">
            <a:extLst>
              <a:ext uri="{FF2B5EF4-FFF2-40B4-BE49-F238E27FC236}">
                <a16:creationId xmlns:a16="http://schemas.microsoft.com/office/drawing/2014/main" id="{5DDF56BD-843D-4B6D-BAF2-8B542AE978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028950"/>
            <a:ext cx="8001000" cy="633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6;p14" descr="image.png">
            <a:extLst>
              <a:ext uri="{FF2B5EF4-FFF2-40B4-BE49-F238E27FC236}">
                <a16:creationId xmlns:a16="http://schemas.microsoft.com/office/drawing/2014/main" id="{DBDDBBBE-6DF8-4E56-9B6D-836F940B2A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0" y="3028951"/>
            <a:ext cx="8001000" cy="6339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9;p14">
            <a:extLst>
              <a:ext uri="{FF2B5EF4-FFF2-40B4-BE49-F238E27FC236}">
                <a16:creationId xmlns:a16="http://schemas.microsoft.com/office/drawing/2014/main" id="{E24EBA69-DAC3-44BD-9757-6644EBA26491}"/>
              </a:ext>
            </a:extLst>
          </p:cNvPr>
          <p:cNvSpPr txBox="1"/>
          <p:nvPr/>
        </p:nvSpPr>
        <p:spPr>
          <a:xfrm>
            <a:off x="2014538" y="4144357"/>
            <a:ext cx="62579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청년일자리도약장려금 (비수도권)</a:t>
            </a:r>
            <a:endParaRPr sz="2700">
              <a:latin typeface="+mn-ea"/>
            </a:endParaRPr>
          </a:p>
        </p:txBody>
      </p:sp>
      <p:sp>
        <p:nvSpPr>
          <p:cNvPr id="11" name="Google Shape;130;p14">
            <a:extLst>
              <a:ext uri="{FF2B5EF4-FFF2-40B4-BE49-F238E27FC236}">
                <a16:creationId xmlns:a16="http://schemas.microsoft.com/office/drawing/2014/main" id="{37150238-6EEB-4D74-B2DA-7B6D3A123B80}"/>
              </a:ext>
            </a:extLst>
          </p:cNvPr>
          <p:cNvSpPr txBox="1"/>
          <p:nvPr/>
        </p:nvSpPr>
        <p:spPr>
          <a:xfrm>
            <a:off x="1443038" y="4795019"/>
            <a:ext cx="68294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b="1" dirty="0">
                <a:solidFill>
                  <a:srgbClr val="10B981"/>
                </a:solidFill>
                <a:latin typeface="+mn-ea"/>
                <a:cs typeface="Poppins ExtraBold"/>
                <a:sym typeface="Poppins ExtraBold"/>
              </a:rPr>
              <a:t>MAX 720</a:t>
            </a:r>
            <a:r>
              <a:rPr lang="ko-KR" altLang="en-US" sz="6000" b="1" dirty="0">
                <a:solidFill>
                  <a:srgbClr val="10B981"/>
                </a:solidFill>
                <a:latin typeface="+mn-ea"/>
                <a:cs typeface="Poppins ExtraBold"/>
                <a:sym typeface="Poppins ExtraBold"/>
              </a:rPr>
              <a:t>만원</a:t>
            </a:r>
            <a:r>
              <a:rPr lang="en-US" sz="6000" b="1" dirty="0">
                <a:solidFill>
                  <a:srgbClr val="475569"/>
                </a:solidFill>
                <a:latin typeface="+mn-ea"/>
                <a:cs typeface="Poppins"/>
                <a:sym typeface="Poppins"/>
              </a:rPr>
              <a:t> / 2년</a:t>
            </a:r>
            <a:endParaRPr sz="1650" b="1" dirty="0">
              <a:latin typeface="+mn-ea"/>
            </a:endParaRPr>
          </a:p>
        </p:txBody>
      </p:sp>
      <p:sp>
        <p:nvSpPr>
          <p:cNvPr id="12" name="Google Shape;131;p14">
            <a:extLst>
              <a:ext uri="{FF2B5EF4-FFF2-40B4-BE49-F238E27FC236}">
                <a16:creationId xmlns:a16="http://schemas.microsoft.com/office/drawing/2014/main" id="{C2E0ED24-8258-4CD3-AC0A-A4EF367C2BBA}"/>
              </a:ext>
            </a:extLst>
          </p:cNvPr>
          <p:cNvSpPr txBox="1"/>
          <p:nvPr/>
        </p:nvSpPr>
        <p:spPr>
          <a:xfrm>
            <a:off x="10587038" y="4144357"/>
            <a:ext cx="62579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국민취업지원제도 취업성공수당</a:t>
            </a:r>
            <a:endParaRPr sz="2700">
              <a:latin typeface="+mn-ea"/>
            </a:endParaRPr>
          </a:p>
        </p:txBody>
      </p:sp>
      <p:sp>
        <p:nvSpPr>
          <p:cNvPr id="13" name="Google Shape;132;p14">
            <a:extLst>
              <a:ext uri="{FF2B5EF4-FFF2-40B4-BE49-F238E27FC236}">
                <a16:creationId xmlns:a16="http://schemas.microsoft.com/office/drawing/2014/main" id="{B302BC1F-2BAB-449C-BE89-DBFCBEB036B7}"/>
              </a:ext>
            </a:extLst>
          </p:cNvPr>
          <p:cNvSpPr txBox="1"/>
          <p:nvPr/>
        </p:nvSpPr>
        <p:spPr>
          <a:xfrm>
            <a:off x="10015538" y="4795019"/>
            <a:ext cx="68294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b="1" dirty="0">
                <a:solidFill>
                  <a:srgbClr val="2563EB"/>
                </a:solidFill>
                <a:latin typeface="+mn-ea"/>
                <a:cs typeface="Poppins ExtraBold"/>
                <a:sym typeface="Poppins ExtraBold"/>
              </a:rPr>
              <a:t>MAX 150</a:t>
            </a:r>
            <a:r>
              <a:rPr lang="ko-KR" altLang="en-US" sz="6000" b="1" dirty="0">
                <a:solidFill>
                  <a:srgbClr val="2563EB"/>
                </a:solidFill>
                <a:latin typeface="+mn-ea"/>
                <a:cs typeface="Poppins ExtraBold"/>
                <a:sym typeface="Poppins ExtraBold"/>
              </a:rPr>
              <a:t>만원</a:t>
            </a:r>
            <a:r>
              <a:rPr lang="en-US" sz="6000" b="1" dirty="0">
                <a:solidFill>
                  <a:srgbClr val="475569"/>
                </a:solidFill>
                <a:latin typeface="+mn-ea"/>
                <a:cs typeface="Poppins"/>
                <a:sym typeface="Poppins"/>
              </a:rPr>
              <a:t> / 1년</a:t>
            </a:r>
            <a:endParaRPr sz="1650" b="1" dirty="0">
              <a:latin typeface="+mn-ea"/>
            </a:endParaRPr>
          </a:p>
        </p:txBody>
      </p:sp>
      <p:pic>
        <p:nvPicPr>
          <p:cNvPr id="14" name="Google Shape;133;p14" descr="image.png">
            <a:extLst>
              <a:ext uri="{FF2B5EF4-FFF2-40B4-BE49-F238E27FC236}">
                <a16:creationId xmlns:a16="http://schemas.microsoft.com/office/drawing/2014/main" id="{4FD0EB99-81B6-4E39-A2A0-FC28449D5A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3038" y="4152081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34;p14">
            <a:extLst>
              <a:ext uri="{FF2B5EF4-FFF2-40B4-BE49-F238E27FC236}">
                <a16:creationId xmlns:a16="http://schemas.microsoft.com/office/drawing/2014/main" id="{7E08F7DC-728D-4E97-83B7-08E487E81526}"/>
              </a:ext>
            </a:extLst>
          </p:cNvPr>
          <p:cNvSpPr txBox="1"/>
          <p:nvPr/>
        </p:nvSpPr>
        <p:spPr>
          <a:xfrm>
            <a:off x="1700213" y="6152331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2026년 신설 혜택:</a:t>
            </a:r>
            <a:r>
              <a:rPr lang="en-US" sz="1913">
                <a:solidFill>
                  <a:srgbClr val="334155"/>
                </a:solidFill>
                <a:latin typeface="+mn-ea"/>
                <a:cs typeface="Arial"/>
                <a:sym typeface="Arial"/>
              </a:rPr>
              <a:t> 비수도권 중소기업 정규직 취업 시 </a:t>
            </a: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청년 본인에게 직접 지급</a:t>
            </a:r>
            <a:endParaRPr sz="2700">
              <a:latin typeface="+mn-ea"/>
            </a:endParaRPr>
          </a:p>
        </p:txBody>
      </p:sp>
      <p:sp>
        <p:nvSpPr>
          <p:cNvPr id="16" name="Google Shape;135;p14">
            <a:extLst>
              <a:ext uri="{FF2B5EF4-FFF2-40B4-BE49-F238E27FC236}">
                <a16:creationId xmlns:a16="http://schemas.microsoft.com/office/drawing/2014/main" id="{8BE2B408-AD8D-4A71-8832-49BF90EC0CB5}"/>
              </a:ext>
            </a:extLst>
          </p:cNvPr>
          <p:cNvSpPr txBox="1"/>
          <p:nvPr/>
        </p:nvSpPr>
        <p:spPr>
          <a:xfrm>
            <a:off x="1700213" y="7003776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조건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대폭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완화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: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'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취업애로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'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요건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없이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정규직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채용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후 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6개월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이상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근속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시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무조건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지원</a:t>
            </a:r>
            <a:endParaRPr sz="2700" dirty="0">
              <a:latin typeface="+mn-ea"/>
            </a:endParaRPr>
          </a:p>
        </p:txBody>
      </p:sp>
      <p:sp>
        <p:nvSpPr>
          <p:cNvPr id="17" name="Google Shape;136;p14">
            <a:extLst>
              <a:ext uri="{FF2B5EF4-FFF2-40B4-BE49-F238E27FC236}">
                <a16:creationId xmlns:a16="http://schemas.microsoft.com/office/drawing/2014/main" id="{46FBABCC-6AC9-436D-A948-5EB1A733ADF3}"/>
              </a:ext>
            </a:extLst>
          </p:cNvPr>
          <p:cNvSpPr txBox="1"/>
          <p:nvPr/>
        </p:nvSpPr>
        <p:spPr>
          <a:xfrm>
            <a:off x="1700213" y="7855223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n-ea"/>
                <a:cs typeface="Arial"/>
                <a:sym typeface="Arial"/>
              </a:rPr>
              <a:t>근속 6, 12, 18, 24개월 차마다 </a:t>
            </a: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현금 분할 지급 (일반 지역 480만 원 ~ 특별 지역 720만 원)</a:t>
            </a:r>
            <a:endParaRPr sz="2700">
              <a:latin typeface="+mn-ea"/>
            </a:endParaRPr>
          </a:p>
        </p:txBody>
      </p:sp>
      <p:pic>
        <p:nvPicPr>
          <p:cNvPr id="18" name="Google Shape;137;p14" descr="image.png">
            <a:extLst>
              <a:ext uri="{FF2B5EF4-FFF2-40B4-BE49-F238E27FC236}">
                <a16:creationId xmlns:a16="http://schemas.microsoft.com/office/drawing/2014/main" id="{303E552A-2D53-42D6-902F-8641C1FB32B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5538" y="4152081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38;p14">
            <a:extLst>
              <a:ext uri="{FF2B5EF4-FFF2-40B4-BE49-F238E27FC236}">
                <a16:creationId xmlns:a16="http://schemas.microsoft.com/office/drawing/2014/main" id="{A130EC56-98CE-4DF7-9894-60697DA21E8C}"/>
              </a:ext>
            </a:extLst>
          </p:cNvPr>
          <p:cNvSpPr txBox="1"/>
          <p:nvPr/>
        </p:nvSpPr>
        <p:spPr>
          <a:xfrm>
            <a:off x="10272713" y="6152331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장기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근속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유도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보너스</a:t>
            </a:r>
            <a:r>
              <a:rPr lang="en-US" sz="1913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: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국취제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참여자가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주 30시간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이상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일자리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취업</a:t>
            </a:r>
            <a:r>
              <a:rPr lang="en-US" sz="1913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시 </a:t>
            </a:r>
            <a:r>
              <a:rPr lang="en-US" sz="1913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지급</a:t>
            </a:r>
            <a:endParaRPr sz="2700" dirty="0">
              <a:latin typeface="+mn-ea"/>
            </a:endParaRPr>
          </a:p>
        </p:txBody>
      </p:sp>
      <p:sp>
        <p:nvSpPr>
          <p:cNvPr id="21" name="Google Shape;139;p14">
            <a:extLst>
              <a:ext uri="{FF2B5EF4-FFF2-40B4-BE49-F238E27FC236}">
                <a16:creationId xmlns:a16="http://schemas.microsoft.com/office/drawing/2014/main" id="{9B075169-786F-4EE9-82AD-9F5FE9DEAEB1}"/>
              </a:ext>
            </a:extLst>
          </p:cNvPr>
          <p:cNvSpPr txBox="1"/>
          <p:nvPr/>
        </p:nvSpPr>
        <p:spPr>
          <a:xfrm>
            <a:off x="10272713" y="7003776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n-ea"/>
                <a:cs typeface="Arial"/>
                <a:sym typeface="Arial"/>
              </a:rPr>
              <a:t>취업 후 </a:t>
            </a: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6개월 근속 시 50만 원, 12개월 연속 근속 시 100만 원 추가 지급</a:t>
            </a:r>
            <a:r>
              <a:rPr lang="en-US" sz="1913">
                <a:solidFill>
                  <a:srgbClr val="334155"/>
                </a:solidFill>
                <a:latin typeface="+mn-ea"/>
                <a:cs typeface="Arial"/>
                <a:sym typeface="Arial"/>
              </a:rPr>
              <a:t> (총 150만 원)</a:t>
            </a:r>
            <a:endParaRPr sz="2700">
              <a:latin typeface="+mn-ea"/>
            </a:endParaRPr>
          </a:p>
        </p:txBody>
      </p:sp>
      <p:sp>
        <p:nvSpPr>
          <p:cNvPr id="22" name="Google Shape;140;p14">
            <a:extLst>
              <a:ext uri="{FF2B5EF4-FFF2-40B4-BE49-F238E27FC236}">
                <a16:creationId xmlns:a16="http://schemas.microsoft.com/office/drawing/2014/main" id="{7344B864-BED8-4355-9ECC-6A683ADFC4E5}"/>
              </a:ext>
            </a:extLst>
          </p:cNvPr>
          <p:cNvSpPr txBox="1"/>
          <p:nvPr/>
        </p:nvSpPr>
        <p:spPr>
          <a:xfrm>
            <a:off x="10272713" y="7855223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[청년 특화 연계]:</a:t>
            </a:r>
            <a:r>
              <a:rPr lang="en-US" sz="1913">
                <a:solidFill>
                  <a:srgbClr val="334155"/>
                </a:solidFill>
                <a:latin typeface="+mn-ea"/>
                <a:cs typeface="Arial"/>
                <a:sym typeface="Arial"/>
              </a:rPr>
              <a:t> 1개월 이상 직업훈련 수료 후 '빈일자리 업종' 취업 시 </a:t>
            </a:r>
            <a:r>
              <a:rPr lang="en-US" sz="1913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40만 원 일시금 별도 추가</a:t>
            </a:r>
            <a:endParaRPr sz="2700">
              <a:latin typeface="+mn-ea"/>
            </a:endParaRPr>
          </a:p>
        </p:txBody>
      </p:sp>
      <p:sp>
        <p:nvSpPr>
          <p:cNvPr id="23" name="Google Shape;141;p14">
            <a:extLst>
              <a:ext uri="{FF2B5EF4-FFF2-40B4-BE49-F238E27FC236}">
                <a16:creationId xmlns:a16="http://schemas.microsoft.com/office/drawing/2014/main" id="{C0EA1E11-91D8-4999-902C-DF61822B358E}"/>
              </a:ext>
            </a:extLst>
          </p:cNvPr>
          <p:cNvSpPr txBox="1"/>
          <p:nvPr/>
        </p:nvSpPr>
        <p:spPr>
          <a:xfrm>
            <a:off x="1443038" y="6195194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25" name="Google Shape;142;p14">
            <a:extLst>
              <a:ext uri="{FF2B5EF4-FFF2-40B4-BE49-F238E27FC236}">
                <a16:creationId xmlns:a16="http://schemas.microsoft.com/office/drawing/2014/main" id="{AB73A401-7261-477A-8CFC-E01FB6DA67E9}"/>
              </a:ext>
            </a:extLst>
          </p:cNvPr>
          <p:cNvSpPr txBox="1"/>
          <p:nvPr/>
        </p:nvSpPr>
        <p:spPr>
          <a:xfrm>
            <a:off x="1443038" y="704663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26" name="Google Shape;143;p14">
            <a:extLst>
              <a:ext uri="{FF2B5EF4-FFF2-40B4-BE49-F238E27FC236}">
                <a16:creationId xmlns:a16="http://schemas.microsoft.com/office/drawing/2014/main" id="{179AE111-2E97-43DA-BBFD-EE8F470E7752}"/>
              </a:ext>
            </a:extLst>
          </p:cNvPr>
          <p:cNvSpPr txBox="1"/>
          <p:nvPr/>
        </p:nvSpPr>
        <p:spPr>
          <a:xfrm>
            <a:off x="1443038" y="789808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27" name="Google Shape;144;p14">
            <a:extLst>
              <a:ext uri="{FF2B5EF4-FFF2-40B4-BE49-F238E27FC236}">
                <a16:creationId xmlns:a16="http://schemas.microsoft.com/office/drawing/2014/main" id="{46FAAB31-2BC9-4FA2-BB40-C3112EE61818}"/>
              </a:ext>
            </a:extLst>
          </p:cNvPr>
          <p:cNvSpPr txBox="1"/>
          <p:nvPr/>
        </p:nvSpPr>
        <p:spPr>
          <a:xfrm>
            <a:off x="10015538" y="6195194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28" name="Google Shape;145;p14">
            <a:extLst>
              <a:ext uri="{FF2B5EF4-FFF2-40B4-BE49-F238E27FC236}">
                <a16:creationId xmlns:a16="http://schemas.microsoft.com/office/drawing/2014/main" id="{B76058F4-5E55-4981-8A0B-3D4995B93EE3}"/>
              </a:ext>
            </a:extLst>
          </p:cNvPr>
          <p:cNvSpPr txBox="1"/>
          <p:nvPr/>
        </p:nvSpPr>
        <p:spPr>
          <a:xfrm>
            <a:off x="10015538" y="704663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29" name="Google Shape;146;p14">
            <a:extLst>
              <a:ext uri="{FF2B5EF4-FFF2-40B4-BE49-F238E27FC236}">
                <a16:creationId xmlns:a16="http://schemas.microsoft.com/office/drawing/2014/main" id="{8A1925FA-2CFF-4FF6-91D8-B95D2FCB854F}"/>
              </a:ext>
            </a:extLst>
          </p:cNvPr>
          <p:cNvSpPr txBox="1"/>
          <p:nvPr/>
        </p:nvSpPr>
        <p:spPr>
          <a:xfrm>
            <a:off x="10015538" y="789808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700">
              <a:latin typeface="+mn-ea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3CEF5B27-5E43-4D3A-8BB9-CE45D3828F0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9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재학생 맞춤형 고용서비스 사업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EF1A84D3-A36B-466C-8954-0E76B7CF2EFE}"/>
              </a:ext>
            </a:extLst>
          </p:cNvPr>
          <p:cNvSpPr txBox="1"/>
          <p:nvPr/>
        </p:nvSpPr>
        <p:spPr>
          <a:xfrm>
            <a:off x="1260519" y="3006061"/>
            <a:ext cx="419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100" b="0" i="0" u="none" strike="noStrike" dirty="0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pic>
        <p:nvPicPr>
          <p:cNvPr id="11" name="Picture 20">
            <a:extLst>
              <a:ext uri="{FF2B5EF4-FFF2-40B4-BE49-F238E27FC236}">
                <a16:creationId xmlns:a16="http://schemas.microsoft.com/office/drawing/2014/main" id="{54509555-8D8C-4D7D-9925-8C1F93558DC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2" name="TextBox 24">
            <a:extLst>
              <a:ext uri="{FF2B5EF4-FFF2-40B4-BE49-F238E27FC236}">
                <a16:creationId xmlns:a16="http://schemas.microsoft.com/office/drawing/2014/main" id="{1DC2F4B8-CA47-49CD-8CEF-7DAB51883518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2E8FC1-FD4E-4CDA-B234-7F82CAB3264C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3531A2-C790-4E42-AC7C-22494CDFB9F1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p.50~55</a:t>
            </a: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D493480F-E6E7-430E-A985-8C601BAF1B9C}"/>
              </a:ext>
            </a:extLst>
          </p:cNvPr>
          <p:cNvSpPr txBox="1"/>
          <p:nvPr/>
        </p:nvSpPr>
        <p:spPr>
          <a:xfrm>
            <a:off x="685800" y="2221443"/>
            <a:ext cx="15869186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u="sng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재학생 맞춤형 고용서비스란</a:t>
            </a:r>
            <a:r>
              <a:rPr lang="en-US" altLang="ko-KR" sz="2800" b="1" u="sng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‘</a:t>
            </a:r>
            <a:r>
              <a:rPr lang="ko-KR" altLang="en-US" sz="2800" b="1" u="sng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직업세계 탐색부터 취업 성공까지 재학생들의 조기 취업을 지원</a:t>
            </a:r>
            <a:r>
              <a:rPr lang="en-US" altLang="ko-KR" sz="2800" b="1" u="sng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’</a:t>
            </a:r>
            <a:endParaRPr lang="ko-KR" sz="2800" b="1" i="0" u="sng" strike="noStrike" spc="-100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769BDC-DB15-4789-9875-E8CFF134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35" y="3370733"/>
            <a:ext cx="7768665" cy="59593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F6B0B7-D16D-464E-8534-4A1F731E7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150" y="3368492"/>
            <a:ext cx="8324850" cy="53564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E4F6E7-D197-4AF0-BCD5-CF364F433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4886" y="2417903"/>
            <a:ext cx="1374819" cy="12929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DA201F1-C89E-4CFC-A09C-0FC235E6C51C}"/>
              </a:ext>
            </a:extLst>
          </p:cNvPr>
          <p:cNvSpPr/>
          <p:nvPr/>
        </p:nvSpPr>
        <p:spPr>
          <a:xfrm>
            <a:off x="1778000" y="9461207"/>
            <a:ext cx="62569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 err="1"/>
              <a:t>이미지출처</a:t>
            </a:r>
            <a:r>
              <a:rPr lang="en-US" altLang="ko-KR" sz="1200" dirty="0"/>
              <a:t>: </a:t>
            </a:r>
            <a:r>
              <a:rPr lang="ko-KR" altLang="en-US" sz="1200" dirty="0"/>
              <a:t>청년에게 필요한 모든 정책 https://blog.naver.com/we_are_youth/223566131372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FC3F9648-C6E6-4F74-82BD-1A1F01F2B3BC}"/>
              </a:ext>
            </a:extLst>
          </p:cNvPr>
          <p:cNvSpPr txBox="1"/>
          <p:nvPr/>
        </p:nvSpPr>
        <p:spPr>
          <a:xfrm>
            <a:off x="9582150" y="8285820"/>
            <a:ext cx="8516693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b="1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★ 신청 및 문의</a:t>
            </a:r>
            <a:r>
              <a:rPr lang="en-US" altLang="ko-KR" b="1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b="1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한밭대학교 대학일자리본부</a:t>
            </a:r>
            <a:endParaRPr lang="ko-KR" b="1" i="0" strike="noStrike" spc="-1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40C984FC-09E4-4CF4-B50C-B970D1BBA8C7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853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청년고용정책 활용하기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8D75B8B1-E5CB-4A37-936C-EB8978DDA723}"/>
              </a:ext>
            </a:extLst>
          </p:cNvPr>
          <p:cNvSpPr txBox="1"/>
          <p:nvPr/>
        </p:nvSpPr>
        <p:spPr>
          <a:xfrm>
            <a:off x="1337698" y="5688321"/>
            <a:ext cx="5708969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2800" b="1" spc="-100" dirty="0">
                <a:solidFill>
                  <a:schemeClr val="tx2"/>
                </a:solidFill>
                <a:latin typeface="+mj-ea"/>
                <a:ea typeface="+mj-ea"/>
              </a:rPr>
              <a:t>청년고용정책을 조사한 후 나에게 필요한 정책을 정리해보기</a:t>
            </a:r>
            <a:endParaRPr lang="en-US" sz="2800" b="1" i="0" u="none" strike="noStrike" spc="-1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6206211" y="9676071"/>
            <a:ext cx="18837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p.56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AEDB6A-DC6A-41F0-946B-851D325F4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104" y="3120212"/>
            <a:ext cx="6764919" cy="6196453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E00F0EB-66AB-4702-AA09-1F40855573C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45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563</Words>
  <Application>Microsoft Office PowerPoint</Application>
  <PresentationFormat>사용자 지정</PresentationFormat>
  <Paragraphs>98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굴림</vt:lpstr>
      <vt:lpstr>Arial</vt:lpstr>
      <vt:lpstr>Pretendard Regular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2026-03-03T07:05:39Z</dcterms:modified>
</cp:coreProperties>
</file>