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0"/>
  </p:notesMasterIdLst>
  <p:sldIdLst>
    <p:sldId id="469" r:id="rId2"/>
    <p:sldId id="470" r:id="rId3"/>
    <p:sldId id="471" r:id="rId4"/>
    <p:sldId id="459" r:id="rId5"/>
    <p:sldId id="532" r:id="rId6"/>
    <p:sldId id="486" r:id="rId7"/>
    <p:sldId id="488" r:id="rId8"/>
    <p:sldId id="512" r:id="rId9"/>
  </p:sldIdLst>
  <p:sldSz cx="18288000" cy="10287000"/>
  <p:notesSz cx="6858000" cy="9144000"/>
  <p:embeddedFontLst>
    <p:embeddedFont>
      <p:font typeface="Gmarket Sans Medium" panose="020B0600000101010101" charset="-127"/>
      <p:regular r:id="rId11"/>
    </p:embeddedFont>
    <p:embeddedFont>
      <p:font typeface="Poppins ExtraBold" panose="00000900000000000000" pitchFamily="2" charset="0"/>
      <p:bold r:id="rId12"/>
      <p:boldItalic r:id="rId13"/>
    </p:embeddedFont>
    <p:embeddedFont>
      <p:font typeface="나눔고딕" pitchFamily="2" charset="-127"/>
      <p:regular r:id="rId14"/>
      <p:bold r:id="rId15"/>
    </p:embeddedFont>
    <p:embeddedFont>
      <p:font typeface="맑은 고딕" panose="020B0503020000020004" pitchFamily="50" charset="-127"/>
      <p:regular r:id="rId16"/>
      <p:bold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2D8E5"/>
    <a:srgbClr val="FFF7E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83" autoAdjust="0"/>
    <p:restoredTop sz="94622" autoAdjust="0"/>
  </p:normalViewPr>
  <p:slideViewPr>
    <p:cSldViewPr>
      <p:cViewPr varScale="1">
        <p:scale>
          <a:sx n="99" d="100"/>
          <a:sy n="99" d="100"/>
        </p:scale>
        <p:origin x="780" y="8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font" Target="fonts/font7.fntdata"/><Relationship Id="rId2" Type="http://schemas.openxmlformats.org/officeDocument/2006/relationships/slide" Target="slides/slide1.xml"/><Relationship Id="rId16" Type="http://schemas.openxmlformats.org/officeDocument/2006/relationships/font" Target="fonts/font6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10" Type="http://schemas.openxmlformats.org/officeDocument/2006/relationships/notesMaster" Target="notesMasters/notesMaster1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031B1C3-5D0E-4806-BAAA-95815FF0384A}" type="datetimeFigureOut">
              <a:rPr lang="ko-KR" altLang="en-US" smtClean="0"/>
              <a:t>2026-03-03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188C21A-DA85-4505-A54C-645BC087E5E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536595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88C21A-DA85-4505-A54C-645BC087E5E8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0799226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88C21A-DA85-4505-A54C-645BC087E5E8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365099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3/3/2026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sv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10" Type="http://schemas.openxmlformats.org/officeDocument/2006/relationships/image" Target="../media/image24.png"/><Relationship Id="rId4" Type="http://schemas.openxmlformats.org/officeDocument/2006/relationships/image" Target="../media/image18.png"/><Relationship Id="rId9" Type="http://schemas.openxmlformats.org/officeDocument/2006/relationships/image" Target="../media/image23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3" Type="http://schemas.openxmlformats.org/officeDocument/2006/relationships/image" Target="../media/image25.png"/><Relationship Id="rId7" Type="http://schemas.openxmlformats.org/officeDocument/2006/relationships/image" Target="../media/image29.png"/><Relationship Id="rId12" Type="http://schemas.openxmlformats.org/officeDocument/2006/relationships/image" Target="../media/image34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8.png"/><Relationship Id="rId11" Type="http://schemas.openxmlformats.org/officeDocument/2006/relationships/image" Target="../media/image33.png"/><Relationship Id="rId5" Type="http://schemas.openxmlformats.org/officeDocument/2006/relationships/image" Target="../media/image27.png"/><Relationship Id="rId10" Type="http://schemas.openxmlformats.org/officeDocument/2006/relationships/image" Target="../media/image32.png"/><Relationship Id="rId4" Type="http://schemas.openxmlformats.org/officeDocument/2006/relationships/image" Target="../media/image26.png"/><Relationship Id="rId9" Type="http://schemas.openxmlformats.org/officeDocument/2006/relationships/image" Target="../media/image31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png"/><Relationship Id="rId13" Type="http://schemas.openxmlformats.org/officeDocument/2006/relationships/image" Target="../media/image45.png"/><Relationship Id="rId3" Type="http://schemas.openxmlformats.org/officeDocument/2006/relationships/image" Target="../media/image35.png"/><Relationship Id="rId7" Type="http://schemas.openxmlformats.org/officeDocument/2006/relationships/image" Target="../media/image39.png"/><Relationship Id="rId12" Type="http://schemas.openxmlformats.org/officeDocument/2006/relationships/image" Target="../media/image44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8.png"/><Relationship Id="rId11" Type="http://schemas.openxmlformats.org/officeDocument/2006/relationships/image" Target="../media/image43.png"/><Relationship Id="rId5" Type="http://schemas.openxmlformats.org/officeDocument/2006/relationships/image" Target="../media/image37.png"/><Relationship Id="rId15" Type="http://schemas.openxmlformats.org/officeDocument/2006/relationships/image" Target="../media/image47.png"/><Relationship Id="rId10" Type="http://schemas.openxmlformats.org/officeDocument/2006/relationships/image" Target="../media/image42.png"/><Relationship Id="rId4" Type="http://schemas.openxmlformats.org/officeDocument/2006/relationships/image" Target="../media/image36.png"/><Relationship Id="rId9" Type="http://schemas.openxmlformats.org/officeDocument/2006/relationships/image" Target="../media/image41.png"/><Relationship Id="rId14" Type="http://schemas.openxmlformats.org/officeDocument/2006/relationships/image" Target="../media/image4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sv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4.svg"/><Relationship Id="rId5" Type="http://schemas.openxmlformats.org/officeDocument/2006/relationships/image" Target="../media/image53.png"/><Relationship Id="rId4" Type="http://schemas.openxmlformats.org/officeDocument/2006/relationships/image" Target="../media/image52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4"/>
          <p:cNvPicPr>
            <a:picLocks noChangeAspect="1"/>
          </p:cNvPicPr>
          <p:nvPr/>
        </p:nvPicPr>
        <p:blipFill>
          <a:blip r:embed="rId2">
            <a:duotone>
              <a:schemeClr val="accent6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-342900" y="1663700"/>
            <a:ext cx="622300" cy="21082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3">
            <a:alphaModFix amt="9000"/>
          </a:blip>
          <a:stretch>
            <a:fillRect/>
          </a:stretch>
        </p:blipFill>
        <p:spPr>
          <a:xfrm>
            <a:off x="814070" y="5629275"/>
            <a:ext cx="889000" cy="889000"/>
          </a:xfrm>
          <a:prstGeom prst="rect">
            <a:avLst/>
          </a:prstGeom>
        </p:spPr>
      </p:pic>
      <p:sp>
        <p:nvSpPr>
          <p:cNvPr id="9" name="TextBox 9"/>
          <p:cNvSpPr txBox="1"/>
          <p:nvPr/>
        </p:nvSpPr>
        <p:spPr>
          <a:xfrm>
            <a:off x="1258570" y="1346200"/>
            <a:ext cx="9715500" cy="26416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ko-KR" altLang="en-US" sz="6600" b="1" dirty="0">
                <a:solidFill>
                  <a:srgbClr val="505050"/>
                </a:solidFill>
                <a:latin typeface="+mj-ea"/>
                <a:ea typeface="+mj-ea"/>
              </a:rPr>
              <a:t>진로설계 </a:t>
            </a:r>
            <a:r>
              <a:rPr lang="en-US" altLang="ko-KR" sz="6600" b="1" dirty="0">
                <a:solidFill>
                  <a:srgbClr val="505050"/>
                </a:solidFill>
                <a:latin typeface="+mj-ea"/>
                <a:ea typeface="+mj-ea"/>
              </a:rPr>
              <a:t>4.</a:t>
            </a:r>
          </a:p>
          <a:p>
            <a:pPr lvl="0" algn="l">
              <a:lnSpc>
                <a:spcPct val="99600"/>
              </a:lnSpc>
            </a:pPr>
            <a:r>
              <a:rPr lang="ko-KR" altLang="en-US" sz="6600" b="1" dirty="0" err="1">
                <a:solidFill>
                  <a:srgbClr val="505050"/>
                </a:solidFill>
                <a:latin typeface="+mj-ea"/>
                <a:ea typeface="+mj-ea"/>
              </a:rPr>
              <a:t>취업전략과</a:t>
            </a:r>
            <a:r>
              <a:rPr lang="ko-KR" altLang="en-US" sz="6600" b="1" dirty="0">
                <a:solidFill>
                  <a:srgbClr val="505050"/>
                </a:solidFill>
                <a:latin typeface="+mj-ea"/>
                <a:ea typeface="+mj-ea"/>
              </a:rPr>
              <a:t> </a:t>
            </a:r>
            <a:r>
              <a:rPr lang="ko-KR" altLang="en-US" sz="6600" b="1" dirty="0" err="1">
                <a:solidFill>
                  <a:srgbClr val="505050"/>
                </a:solidFill>
                <a:latin typeface="+mj-ea"/>
                <a:ea typeface="+mj-ea"/>
              </a:rPr>
              <a:t>실전취업</a:t>
            </a:r>
            <a:endParaRPr lang="en-US" sz="6600" b="1" i="0" u="none" strike="noStrike" dirty="0">
              <a:solidFill>
                <a:srgbClr val="505050"/>
              </a:solidFill>
              <a:latin typeface="+mj-ea"/>
              <a:ea typeface="+mj-ea"/>
            </a:endParaRPr>
          </a:p>
        </p:txBody>
      </p:sp>
      <p:grpSp>
        <p:nvGrpSpPr>
          <p:cNvPr id="12" name="Group 12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18" name="그림 17">
            <a:extLst>
              <a:ext uri="{FF2B5EF4-FFF2-40B4-BE49-F238E27FC236}">
                <a16:creationId xmlns:a16="http://schemas.microsoft.com/office/drawing/2014/main" id="{36C7F429-F160-47A6-8A64-C27B90CB151B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63800" y="442126"/>
            <a:ext cx="2798834" cy="600243"/>
          </a:xfrm>
          <a:prstGeom prst="rect">
            <a:avLst/>
          </a:prstGeom>
        </p:spPr>
      </p:pic>
      <p:sp>
        <p:nvSpPr>
          <p:cNvPr id="36" name="Freeform 11">
            <a:extLst>
              <a:ext uri="{FF2B5EF4-FFF2-40B4-BE49-F238E27FC236}">
                <a16:creationId xmlns:a16="http://schemas.microsoft.com/office/drawing/2014/main" id="{17094926-8E90-413A-924D-78830B690DF0}"/>
              </a:ext>
            </a:extLst>
          </p:cNvPr>
          <p:cNvSpPr/>
          <p:nvPr/>
        </p:nvSpPr>
        <p:spPr>
          <a:xfrm>
            <a:off x="10286999" y="2867024"/>
            <a:ext cx="7994073" cy="7302501"/>
          </a:xfrm>
          <a:custGeom>
            <a:avLst/>
            <a:gdLst/>
            <a:ahLst/>
            <a:cxnLst/>
            <a:rect l="l" t="t" r="r" b="b"/>
            <a:pathLst>
              <a:path w="9256196" h="8229600">
                <a:moveTo>
                  <a:pt x="0" y="0"/>
                </a:moveTo>
                <a:lnTo>
                  <a:pt x="9256196" y="0"/>
                </a:lnTo>
                <a:lnTo>
                  <a:pt x="9256196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D00AAB2-2151-4F0E-BECD-2254447C2225}"/>
              </a:ext>
            </a:extLst>
          </p:cNvPr>
          <p:cNvSpPr txBox="1"/>
          <p:nvPr/>
        </p:nvSpPr>
        <p:spPr>
          <a:xfrm>
            <a:off x="884555" y="6972300"/>
            <a:ext cx="10463530" cy="6604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en-US" altLang="ko-KR" sz="5400" b="1" i="0" u="none" strike="noStrike" spc="-200" dirty="0">
                <a:solidFill>
                  <a:srgbClr val="505050"/>
                </a:solidFill>
                <a:latin typeface="+mj-ea"/>
                <a:ea typeface="+mj-ea"/>
              </a:rPr>
              <a:t>11</a:t>
            </a:r>
            <a:r>
              <a:rPr lang="ko-KR" altLang="en-US" sz="5400" b="1" i="0" u="none" strike="noStrike" spc="-200" dirty="0">
                <a:solidFill>
                  <a:srgbClr val="505050"/>
                </a:solidFill>
                <a:latin typeface="+mj-ea"/>
                <a:ea typeface="+mj-ea"/>
              </a:rPr>
              <a:t>주차</a:t>
            </a:r>
            <a:endParaRPr lang="en-US" altLang="ko-KR" sz="5400" b="1" spc="-200" dirty="0">
              <a:solidFill>
                <a:srgbClr val="505050"/>
              </a:solidFill>
              <a:latin typeface="+mj-ea"/>
              <a:ea typeface="+mj-ea"/>
            </a:endParaRPr>
          </a:p>
          <a:p>
            <a:pPr lvl="0" algn="l">
              <a:lnSpc>
                <a:spcPct val="99600"/>
              </a:lnSpc>
            </a:pPr>
            <a:r>
              <a:rPr lang="ko-KR" altLang="en-US" sz="5400" b="1" spc="-200" dirty="0">
                <a:solidFill>
                  <a:srgbClr val="505050"/>
                </a:solidFill>
                <a:latin typeface="+mj-ea"/>
                <a:ea typeface="+mj-ea"/>
              </a:rPr>
              <a:t>면접전형 이해 </a:t>
            </a:r>
            <a:r>
              <a:rPr lang="en-US" altLang="ko-KR" sz="5400" b="1" spc="-200" dirty="0">
                <a:solidFill>
                  <a:srgbClr val="505050"/>
                </a:solidFill>
                <a:latin typeface="+mj-ea"/>
                <a:ea typeface="+mj-ea"/>
              </a:rPr>
              <a:t>1</a:t>
            </a:r>
            <a:endParaRPr lang="ko-KR" sz="5400" b="1" i="0" u="none" strike="noStrike" spc="-200" dirty="0">
              <a:solidFill>
                <a:srgbClr val="505050"/>
              </a:solidFill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22025798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직사각형 41">
            <a:extLst>
              <a:ext uri="{FF2B5EF4-FFF2-40B4-BE49-F238E27FC236}">
                <a16:creationId xmlns:a16="http://schemas.microsoft.com/office/drawing/2014/main" id="{C331ADB4-7088-4FC4-8485-F6FACADEFEA6}"/>
              </a:ext>
            </a:extLst>
          </p:cNvPr>
          <p:cNvSpPr/>
          <p:nvPr/>
        </p:nvSpPr>
        <p:spPr>
          <a:xfrm>
            <a:off x="7696200" y="-266700"/>
            <a:ext cx="10591800" cy="10896595"/>
          </a:xfrm>
          <a:prstGeom prst="rect">
            <a:avLst/>
          </a:prstGeom>
          <a:solidFill>
            <a:schemeClr val="accent6">
              <a:lumMod val="20000"/>
              <a:lumOff val="80000"/>
              <a:alpha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5" name="Group 5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sp>
        <p:nvSpPr>
          <p:cNvPr id="7" name="TextBox 7"/>
          <p:cNvSpPr txBox="1"/>
          <p:nvPr/>
        </p:nvSpPr>
        <p:spPr>
          <a:xfrm>
            <a:off x="781706" y="505380"/>
            <a:ext cx="3930650" cy="30107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ko-KR" altLang="en-US" sz="1600" b="1" i="0" u="none" strike="noStrike" spc="100" dirty="0">
                <a:solidFill>
                  <a:schemeClr val="accent6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진로설계 </a:t>
            </a:r>
            <a:r>
              <a:rPr lang="en-US" altLang="ko-KR" sz="1600" b="1" i="0" u="none" strike="noStrike" spc="100" dirty="0">
                <a:solidFill>
                  <a:schemeClr val="accent6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4. </a:t>
            </a:r>
            <a:r>
              <a:rPr lang="ko-KR" altLang="en-US" sz="1600" b="1" i="0" u="none" strike="noStrike" spc="100" dirty="0" err="1">
                <a:solidFill>
                  <a:schemeClr val="accent6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취업전략과</a:t>
            </a:r>
            <a:r>
              <a:rPr lang="ko-KR" altLang="en-US" sz="1600" b="1" i="0" u="none" strike="noStrike" spc="100" dirty="0">
                <a:solidFill>
                  <a:schemeClr val="accent6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600" b="1" i="0" u="none" strike="noStrike" spc="100" dirty="0" err="1">
                <a:solidFill>
                  <a:schemeClr val="accent6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실전취업</a:t>
            </a:r>
            <a:endParaRPr lang="en-US" sz="1600" b="1" i="0" u="none" strike="noStrike" spc="100" dirty="0">
              <a:solidFill>
                <a:schemeClr val="accent6">
                  <a:lumMod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4" name="Freeform 24">
            <a:extLst>
              <a:ext uri="{FF2B5EF4-FFF2-40B4-BE49-F238E27FC236}">
                <a16:creationId xmlns:a16="http://schemas.microsoft.com/office/drawing/2014/main" id="{26699729-652E-4AF5-BBEC-235E549CDDA1}"/>
              </a:ext>
            </a:extLst>
          </p:cNvPr>
          <p:cNvSpPr/>
          <p:nvPr/>
        </p:nvSpPr>
        <p:spPr>
          <a:xfrm>
            <a:off x="707715" y="2357437"/>
            <a:ext cx="6239185" cy="6937375"/>
          </a:xfrm>
          <a:custGeom>
            <a:avLst/>
            <a:gdLst/>
            <a:ahLst/>
            <a:cxnLst/>
            <a:rect l="l" t="t" r="r" b="b"/>
            <a:pathLst>
              <a:path w="5550107" h="4763001">
                <a:moveTo>
                  <a:pt x="0" y="0"/>
                </a:moveTo>
                <a:lnTo>
                  <a:pt x="5550106" y="0"/>
                </a:lnTo>
                <a:lnTo>
                  <a:pt x="5550106" y="4763001"/>
                </a:lnTo>
                <a:lnTo>
                  <a:pt x="0" y="476300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cxnSp>
        <p:nvCxnSpPr>
          <p:cNvPr id="26" name="직선 연결선 25">
            <a:extLst>
              <a:ext uri="{FF2B5EF4-FFF2-40B4-BE49-F238E27FC236}">
                <a16:creationId xmlns:a16="http://schemas.microsoft.com/office/drawing/2014/main" id="{0A16FAA1-C23E-4D18-9DCD-E7CB520FE825}"/>
              </a:ext>
            </a:extLst>
          </p:cNvPr>
          <p:cNvCxnSpPr>
            <a:cxnSpLocks/>
          </p:cNvCxnSpPr>
          <p:nvPr/>
        </p:nvCxnSpPr>
        <p:spPr>
          <a:xfrm>
            <a:off x="4343400" y="591472"/>
            <a:ext cx="13213710" cy="0"/>
          </a:xfrm>
          <a:prstGeom prst="line">
            <a:avLst/>
          </a:prstGeom>
          <a:ln>
            <a:solidFill>
              <a:schemeClr val="accent6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직선 연결선 26">
            <a:extLst>
              <a:ext uri="{FF2B5EF4-FFF2-40B4-BE49-F238E27FC236}">
                <a16:creationId xmlns:a16="http://schemas.microsoft.com/office/drawing/2014/main" id="{4520CE44-1D8C-4F37-9CB0-78C35453A17A}"/>
              </a:ext>
            </a:extLst>
          </p:cNvPr>
          <p:cNvCxnSpPr>
            <a:cxnSpLocks/>
          </p:cNvCxnSpPr>
          <p:nvPr/>
        </p:nvCxnSpPr>
        <p:spPr>
          <a:xfrm>
            <a:off x="304800" y="9869338"/>
            <a:ext cx="15468600" cy="0"/>
          </a:xfrm>
          <a:prstGeom prst="line">
            <a:avLst/>
          </a:prstGeom>
          <a:ln>
            <a:solidFill>
              <a:schemeClr val="accent6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677FE493-629F-4CC8-B28E-A9407AB9A03B}"/>
              </a:ext>
            </a:extLst>
          </p:cNvPr>
          <p:cNvSpPr/>
          <p:nvPr/>
        </p:nvSpPr>
        <p:spPr>
          <a:xfrm>
            <a:off x="15716851" y="9632434"/>
            <a:ext cx="2016771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 algn="r">
              <a:lnSpc>
                <a:spcPct val="99600"/>
              </a:lnSpc>
            </a:pPr>
            <a:r>
              <a:rPr lang="en-US" altLang="ko-KR" b="1" dirty="0">
                <a:solidFill>
                  <a:schemeClr val="accent6">
                    <a:lumMod val="50000"/>
                  </a:schemeClr>
                </a:solidFill>
                <a:latin typeface="+mj-ea"/>
              </a:rPr>
              <a:t>Workbook</a:t>
            </a:r>
            <a:r>
              <a:rPr lang="ko-KR" altLang="en-US" b="1" dirty="0">
                <a:solidFill>
                  <a:schemeClr val="accent6">
                    <a:lumMod val="50000"/>
                  </a:schemeClr>
                </a:solidFill>
                <a:latin typeface="+mj-ea"/>
              </a:rPr>
              <a:t> </a:t>
            </a:r>
            <a:r>
              <a:rPr lang="en-US" altLang="ko-KR" b="1" dirty="0">
                <a:solidFill>
                  <a:schemeClr val="accent6">
                    <a:lumMod val="50000"/>
                  </a:schemeClr>
                </a:solidFill>
                <a:latin typeface="+mj-ea"/>
              </a:rPr>
              <a:t>p.133</a:t>
            </a:r>
          </a:p>
        </p:txBody>
      </p:sp>
      <p:pic>
        <p:nvPicPr>
          <p:cNvPr id="12" name="Picture 3">
            <a:extLst>
              <a:ext uri="{FF2B5EF4-FFF2-40B4-BE49-F238E27FC236}">
                <a16:creationId xmlns:a16="http://schemas.microsoft.com/office/drawing/2014/main" id="{539D38E0-E062-49F7-B798-C625C248E446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63000"/>
          </a:blip>
          <a:stretch>
            <a:fillRect/>
          </a:stretch>
        </p:blipFill>
        <p:spPr>
          <a:xfrm>
            <a:off x="8758917" y="5281980"/>
            <a:ext cx="6997700" cy="12700"/>
          </a:xfrm>
          <a:prstGeom prst="rect">
            <a:avLst/>
          </a:prstGeom>
        </p:spPr>
      </p:pic>
      <p:pic>
        <p:nvPicPr>
          <p:cNvPr id="13" name="Picture 4">
            <a:extLst>
              <a:ext uri="{FF2B5EF4-FFF2-40B4-BE49-F238E27FC236}">
                <a16:creationId xmlns:a16="http://schemas.microsoft.com/office/drawing/2014/main" id="{FC0C8D4C-B301-4D2C-AB4B-0C8CE92BA0B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58917" y="4630648"/>
            <a:ext cx="1371600" cy="419100"/>
          </a:xfrm>
          <a:prstGeom prst="rect">
            <a:avLst/>
          </a:prstGeom>
        </p:spPr>
      </p:pic>
      <p:sp>
        <p:nvSpPr>
          <p:cNvPr id="14" name="TextBox 10">
            <a:extLst>
              <a:ext uri="{FF2B5EF4-FFF2-40B4-BE49-F238E27FC236}">
                <a16:creationId xmlns:a16="http://schemas.microsoft.com/office/drawing/2014/main" id="{80DDE51F-2E7D-4CBD-B760-E64AF0ED92D3}"/>
              </a:ext>
            </a:extLst>
          </p:cNvPr>
          <p:cNvSpPr txBox="1"/>
          <p:nvPr/>
        </p:nvSpPr>
        <p:spPr>
          <a:xfrm>
            <a:off x="10384517" y="4541748"/>
            <a:ext cx="7332322" cy="680394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ko-KR" altLang="en-US" sz="2800" b="1" spc="-100" dirty="0">
                <a:solidFill>
                  <a:schemeClr val="tx1">
                    <a:lumMod val="85000"/>
                    <a:lumOff val="15000"/>
                    <a:alpha val="97000"/>
                  </a:schemeClr>
                </a:solidFill>
                <a:latin typeface="+mn-ea"/>
              </a:rPr>
              <a:t>인사담당자가 보는 면접 파악</a:t>
            </a:r>
            <a:endParaRPr lang="ko-KR" sz="2800" b="1" i="0" u="none" strike="noStrike" spc="-100" dirty="0">
              <a:solidFill>
                <a:schemeClr val="tx1">
                  <a:lumMod val="85000"/>
                  <a:lumOff val="15000"/>
                  <a:alpha val="97000"/>
                </a:schemeClr>
              </a:solidFill>
              <a:latin typeface="+mn-ea"/>
            </a:endParaRPr>
          </a:p>
        </p:txBody>
      </p:sp>
      <p:sp>
        <p:nvSpPr>
          <p:cNvPr id="15" name="TextBox 11">
            <a:extLst>
              <a:ext uri="{FF2B5EF4-FFF2-40B4-BE49-F238E27FC236}">
                <a16:creationId xmlns:a16="http://schemas.microsoft.com/office/drawing/2014/main" id="{180F0904-9259-4845-A85C-F140E6F3B5C1}"/>
              </a:ext>
            </a:extLst>
          </p:cNvPr>
          <p:cNvSpPr txBox="1"/>
          <p:nvPr/>
        </p:nvSpPr>
        <p:spPr>
          <a:xfrm>
            <a:off x="8898617" y="4694148"/>
            <a:ext cx="1104900" cy="3048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b="1" i="0" u="none" strike="noStrike" dirty="0">
                <a:solidFill>
                  <a:srgbClr val="F8F8F8"/>
                </a:solidFill>
                <a:latin typeface="+mn-ea"/>
              </a:rPr>
              <a:t>POINT.01</a:t>
            </a:r>
          </a:p>
        </p:txBody>
      </p:sp>
      <p:sp>
        <p:nvSpPr>
          <p:cNvPr id="16" name="TextBox 10">
            <a:extLst>
              <a:ext uri="{FF2B5EF4-FFF2-40B4-BE49-F238E27FC236}">
                <a16:creationId xmlns:a16="http://schemas.microsoft.com/office/drawing/2014/main" id="{DE1E7C5E-7B59-476A-85CA-43A381863587}"/>
              </a:ext>
            </a:extLst>
          </p:cNvPr>
          <p:cNvSpPr txBox="1"/>
          <p:nvPr/>
        </p:nvSpPr>
        <p:spPr>
          <a:xfrm>
            <a:off x="8331539" y="3459243"/>
            <a:ext cx="9385300" cy="6604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marL="742950" lvl="0" indent="-742950">
              <a:lnSpc>
                <a:spcPct val="99600"/>
              </a:lnSpc>
              <a:buAutoNum type="arabicPeriod"/>
            </a:pPr>
            <a:r>
              <a:rPr lang="ko-KR" altLang="en-US" sz="4400" b="1" spc="-200" dirty="0">
                <a:solidFill>
                  <a:srgbClr val="505050"/>
                </a:solidFill>
                <a:latin typeface="+mj-ea"/>
                <a:ea typeface="+mj-ea"/>
              </a:rPr>
              <a:t>유형별 면접 이해</a:t>
            </a:r>
            <a:endParaRPr lang="ko-KR" sz="4400" b="1" i="0" u="none" strike="noStrike" spc="-200" dirty="0">
              <a:solidFill>
                <a:srgbClr val="505050"/>
              </a:solidFill>
              <a:latin typeface="+mj-ea"/>
              <a:ea typeface="+mj-ea"/>
            </a:endParaRPr>
          </a:p>
        </p:txBody>
      </p:sp>
      <p:pic>
        <p:nvPicPr>
          <p:cNvPr id="17" name="Picture 3">
            <a:extLst>
              <a:ext uri="{FF2B5EF4-FFF2-40B4-BE49-F238E27FC236}">
                <a16:creationId xmlns:a16="http://schemas.microsoft.com/office/drawing/2014/main" id="{52136E24-756F-4D1A-9958-AD98E2749A80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63000"/>
          </a:blip>
          <a:stretch>
            <a:fillRect/>
          </a:stretch>
        </p:blipFill>
        <p:spPr>
          <a:xfrm>
            <a:off x="8793245" y="6199385"/>
            <a:ext cx="6997700" cy="12700"/>
          </a:xfrm>
          <a:prstGeom prst="rect">
            <a:avLst/>
          </a:prstGeom>
        </p:spPr>
      </p:pic>
      <p:pic>
        <p:nvPicPr>
          <p:cNvPr id="18" name="Picture 4">
            <a:extLst>
              <a:ext uri="{FF2B5EF4-FFF2-40B4-BE49-F238E27FC236}">
                <a16:creationId xmlns:a16="http://schemas.microsoft.com/office/drawing/2014/main" id="{0AA122A6-779B-4914-A53E-3909AD9F39D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93245" y="5548053"/>
            <a:ext cx="1371600" cy="419100"/>
          </a:xfrm>
          <a:prstGeom prst="rect">
            <a:avLst/>
          </a:prstGeom>
        </p:spPr>
      </p:pic>
      <p:sp>
        <p:nvSpPr>
          <p:cNvPr id="19" name="TextBox 10">
            <a:extLst>
              <a:ext uri="{FF2B5EF4-FFF2-40B4-BE49-F238E27FC236}">
                <a16:creationId xmlns:a16="http://schemas.microsoft.com/office/drawing/2014/main" id="{F6EF63AF-B16C-42A7-9D64-735461FCD4B9}"/>
              </a:ext>
            </a:extLst>
          </p:cNvPr>
          <p:cNvSpPr txBox="1"/>
          <p:nvPr/>
        </p:nvSpPr>
        <p:spPr>
          <a:xfrm>
            <a:off x="10418845" y="5459153"/>
            <a:ext cx="7332322" cy="680394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ko-KR" altLang="en-US" sz="2800" b="1" spc="-100" dirty="0">
                <a:solidFill>
                  <a:schemeClr val="tx1">
                    <a:lumMod val="85000"/>
                    <a:lumOff val="15000"/>
                    <a:alpha val="97000"/>
                  </a:schemeClr>
                </a:solidFill>
                <a:latin typeface="+mn-ea"/>
              </a:rPr>
              <a:t>면접 유형과 전략 이해</a:t>
            </a:r>
            <a:endParaRPr lang="ko-KR" sz="2800" b="1" i="0" u="none" strike="noStrike" spc="-100" dirty="0">
              <a:solidFill>
                <a:schemeClr val="tx1">
                  <a:lumMod val="85000"/>
                  <a:lumOff val="15000"/>
                  <a:alpha val="97000"/>
                </a:schemeClr>
              </a:solidFill>
              <a:latin typeface="+mn-ea"/>
            </a:endParaRPr>
          </a:p>
        </p:txBody>
      </p:sp>
      <p:sp>
        <p:nvSpPr>
          <p:cNvPr id="20" name="TextBox 11">
            <a:extLst>
              <a:ext uri="{FF2B5EF4-FFF2-40B4-BE49-F238E27FC236}">
                <a16:creationId xmlns:a16="http://schemas.microsoft.com/office/drawing/2014/main" id="{C9448F10-9B07-4228-8945-0B164906ED16}"/>
              </a:ext>
            </a:extLst>
          </p:cNvPr>
          <p:cNvSpPr txBox="1"/>
          <p:nvPr/>
        </p:nvSpPr>
        <p:spPr>
          <a:xfrm>
            <a:off x="8932945" y="5611553"/>
            <a:ext cx="1104900" cy="3048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b="1" i="0" u="none" strike="noStrike" dirty="0">
                <a:solidFill>
                  <a:srgbClr val="F8F8F8"/>
                </a:solidFill>
                <a:latin typeface="+mn-ea"/>
              </a:rPr>
              <a:t>POINT.02</a:t>
            </a:r>
          </a:p>
        </p:txBody>
      </p:sp>
      <p:pic>
        <p:nvPicPr>
          <p:cNvPr id="22" name="Picture 3">
            <a:extLst>
              <a:ext uri="{FF2B5EF4-FFF2-40B4-BE49-F238E27FC236}">
                <a16:creationId xmlns:a16="http://schemas.microsoft.com/office/drawing/2014/main" id="{3DCD2D59-5460-480F-BA98-5AD1C1AC5998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63000"/>
          </a:blip>
          <a:stretch>
            <a:fillRect/>
          </a:stretch>
        </p:blipFill>
        <p:spPr>
          <a:xfrm>
            <a:off x="8793245" y="7184549"/>
            <a:ext cx="6997700" cy="12700"/>
          </a:xfrm>
          <a:prstGeom prst="rect">
            <a:avLst/>
          </a:prstGeom>
        </p:spPr>
      </p:pic>
      <p:pic>
        <p:nvPicPr>
          <p:cNvPr id="23" name="Picture 4">
            <a:extLst>
              <a:ext uri="{FF2B5EF4-FFF2-40B4-BE49-F238E27FC236}">
                <a16:creationId xmlns:a16="http://schemas.microsoft.com/office/drawing/2014/main" id="{9E7DCFB7-EE19-401B-8775-DA4D02B8902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93245" y="6533217"/>
            <a:ext cx="1371600" cy="419100"/>
          </a:xfrm>
          <a:prstGeom prst="rect">
            <a:avLst/>
          </a:prstGeom>
        </p:spPr>
      </p:pic>
      <p:sp>
        <p:nvSpPr>
          <p:cNvPr id="25" name="TextBox 10">
            <a:extLst>
              <a:ext uri="{FF2B5EF4-FFF2-40B4-BE49-F238E27FC236}">
                <a16:creationId xmlns:a16="http://schemas.microsoft.com/office/drawing/2014/main" id="{E241C3FC-E780-4A75-A242-4686751E6EFB}"/>
              </a:ext>
            </a:extLst>
          </p:cNvPr>
          <p:cNvSpPr txBox="1"/>
          <p:nvPr/>
        </p:nvSpPr>
        <p:spPr>
          <a:xfrm>
            <a:off x="10418845" y="6444317"/>
            <a:ext cx="7332322" cy="680394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ko-KR" altLang="en-US" sz="2800" b="1" spc="-100" dirty="0">
                <a:solidFill>
                  <a:schemeClr val="tx1">
                    <a:lumMod val="85000"/>
                    <a:lumOff val="15000"/>
                    <a:alpha val="97000"/>
                  </a:schemeClr>
                </a:solidFill>
                <a:latin typeface="+mn-ea"/>
              </a:rPr>
              <a:t>면접 예상질문에 답변하기</a:t>
            </a:r>
            <a:endParaRPr lang="ko-KR" sz="2800" b="1" i="0" u="none" strike="noStrike" spc="-100" dirty="0">
              <a:solidFill>
                <a:schemeClr val="tx1">
                  <a:lumMod val="85000"/>
                  <a:lumOff val="15000"/>
                  <a:alpha val="97000"/>
                </a:schemeClr>
              </a:solidFill>
              <a:latin typeface="+mn-ea"/>
            </a:endParaRPr>
          </a:p>
        </p:txBody>
      </p:sp>
      <p:sp>
        <p:nvSpPr>
          <p:cNvPr id="28" name="TextBox 11">
            <a:extLst>
              <a:ext uri="{FF2B5EF4-FFF2-40B4-BE49-F238E27FC236}">
                <a16:creationId xmlns:a16="http://schemas.microsoft.com/office/drawing/2014/main" id="{9E0EDDA6-F571-4973-928D-B7EC6AA3AC46}"/>
              </a:ext>
            </a:extLst>
          </p:cNvPr>
          <p:cNvSpPr txBox="1"/>
          <p:nvPr/>
        </p:nvSpPr>
        <p:spPr>
          <a:xfrm>
            <a:off x="8932945" y="6596717"/>
            <a:ext cx="1104900" cy="3048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b="1" i="0" u="none" strike="noStrike" dirty="0">
                <a:solidFill>
                  <a:srgbClr val="F8F8F8"/>
                </a:solidFill>
                <a:latin typeface="+mn-ea"/>
              </a:rPr>
              <a:t>POINT.03</a:t>
            </a:r>
          </a:p>
        </p:txBody>
      </p:sp>
      <p:sp>
        <p:nvSpPr>
          <p:cNvPr id="30" name="TextBox 9">
            <a:extLst>
              <a:ext uri="{FF2B5EF4-FFF2-40B4-BE49-F238E27FC236}">
                <a16:creationId xmlns:a16="http://schemas.microsoft.com/office/drawing/2014/main" id="{F33B388A-940B-4726-BBD8-20891715C79F}"/>
              </a:ext>
            </a:extLst>
          </p:cNvPr>
          <p:cNvSpPr txBox="1"/>
          <p:nvPr/>
        </p:nvSpPr>
        <p:spPr>
          <a:xfrm>
            <a:off x="8331539" y="1948216"/>
            <a:ext cx="6591300" cy="8001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ko-KR" altLang="en-US" sz="4800" b="1" i="0" u="none" strike="noStrike" spc="-400" dirty="0">
                <a:solidFill>
                  <a:srgbClr val="505050"/>
                </a:solidFill>
                <a:latin typeface="+mj-ea"/>
                <a:ea typeface="+mj-ea"/>
              </a:rPr>
              <a:t>학습목표</a:t>
            </a:r>
            <a:endParaRPr lang="ko-KR" sz="4800" b="1" i="0" u="none" strike="noStrike" spc="-400" dirty="0">
              <a:solidFill>
                <a:srgbClr val="505050"/>
              </a:solidFill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30315788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2">
            <a:extLst>
              <a:ext uri="{FF2B5EF4-FFF2-40B4-BE49-F238E27FC236}">
                <a16:creationId xmlns:a16="http://schemas.microsoft.com/office/drawing/2014/main" id="{14EE5E97-CBF9-4134-98B9-438FAF6C65F2}"/>
              </a:ext>
            </a:extLst>
          </p:cNvPr>
          <p:cNvSpPr txBox="1"/>
          <p:nvPr/>
        </p:nvSpPr>
        <p:spPr>
          <a:xfrm>
            <a:off x="3173226" y="1054084"/>
            <a:ext cx="12420600" cy="1092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ko-KR" altLang="en-US" sz="6200" b="1" spc="-500" dirty="0">
                <a:solidFill>
                  <a:srgbClr val="505050"/>
                </a:solidFill>
                <a:latin typeface="Gmarket Sans Medium"/>
              </a:rPr>
              <a:t>면접의 목적 및 핵심 키워드</a:t>
            </a:r>
            <a:endParaRPr lang="ko-KR" sz="6200" b="1" i="0" u="none" strike="noStrike" spc="-500" dirty="0">
              <a:solidFill>
                <a:srgbClr val="505050"/>
              </a:solidFill>
              <a:ea typeface="Gmarket Sans Medium"/>
            </a:endParaRPr>
          </a:p>
        </p:txBody>
      </p:sp>
      <p:pic>
        <p:nvPicPr>
          <p:cNvPr id="16" name="Picture 20">
            <a:extLst>
              <a:ext uri="{FF2B5EF4-FFF2-40B4-BE49-F238E27FC236}">
                <a16:creationId xmlns:a16="http://schemas.microsoft.com/office/drawing/2014/main" id="{88831BD4-F370-4E72-8785-403BD4CFE839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6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927100" y="-444500"/>
            <a:ext cx="1003300" cy="2641600"/>
          </a:xfrm>
          <a:prstGeom prst="rect">
            <a:avLst/>
          </a:prstGeom>
        </p:spPr>
      </p:pic>
      <p:sp>
        <p:nvSpPr>
          <p:cNvPr id="17" name="TextBox 24">
            <a:extLst>
              <a:ext uri="{FF2B5EF4-FFF2-40B4-BE49-F238E27FC236}">
                <a16:creationId xmlns:a16="http://schemas.microsoft.com/office/drawing/2014/main" id="{02E92946-AC4A-4452-9BC1-D46C212EE812}"/>
              </a:ext>
            </a:extLst>
          </p:cNvPr>
          <p:cNvSpPr txBox="1"/>
          <p:nvPr/>
        </p:nvSpPr>
        <p:spPr>
          <a:xfrm>
            <a:off x="1079500" y="1333500"/>
            <a:ext cx="698500" cy="6223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sz="3400" b="0" i="0" u="none" strike="noStrike" dirty="0">
                <a:solidFill>
                  <a:srgbClr val="FFFFFF"/>
                </a:solidFill>
                <a:latin typeface="Gmarket Sans Medium"/>
              </a:rPr>
              <a:t>01</a:t>
            </a:r>
          </a:p>
        </p:txBody>
      </p:sp>
      <p:cxnSp>
        <p:nvCxnSpPr>
          <p:cNvPr id="18" name="직선 연결선 17">
            <a:extLst>
              <a:ext uri="{FF2B5EF4-FFF2-40B4-BE49-F238E27FC236}">
                <a16:creationId xmlns:a16="http://schemas.microsoft.com/office/drawing/2014/main" id="{F296F9BC-79B3-4245-BB2F-13CB5E90D241}"/>
              </a:ext>
            </a:extLst>
          </p:cNvPr>
          <p:cNvCxnSpPr>
            <a:cxnSpLocks/>
          </p:cNvCxnSpPr>
          <p:nvPr/>
        </p:nvCxnSpPr>
        <p:spPr>
          <a:xfrm>
            <a:off x="304800" y="9869338"/>
            <a:ext cx="15468600" cy="0"/>
          </a:xfrm>
          <a:prstGeom prst="line">
            <a:avLst/>
          </a:prstGeom>
          <a:ln>
            <a:solidFill>
              <a:schemeClr val="accent6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369B08F-5DEE-4B9E-BB64-0E98C26A1CDF}"/>
              </a:ext>
            </a:extLst>
          </p:cNvPr>
          <p:cNvSpPr/>
          <p:nvPr/>
        </p:nvSpPr>
        <p:spPr>
          <a:xfrm>
            <a:off x="14877583" y="9632434"/>
            <a:ext cx="2856039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 algn="r">
              <a:lnSpc>
                <a:spcPct val="99600"/>
              </a:lnSpc>
            </a:pPr>
            <a:r>
              <a:rPr lang="en-US" altLang="ko-KR" sz="2000" b="1" dirty="0">
                <a:solidFill>
                  <a:schemeClr val="accent6">
                    <a:lumMod val="50000"/>
                  </a:schemeClr>
                </a:solidFill>
                <a:latin typeface="+mj-ea"/>
              </a:rPr>
              <a:t>Workbook</a:t>
            </a:r>
            <a:r>
              <a:rPr lang="ko-KR" altLang="en-US" sz="2000" b="1" dirty="0">
                <a:solidFill>
                  <a:schemeClr val="accent6">
                    <a:lumMod val="50000"/>
                  </a:schemeClr>
                </a:solidFill>
                <a:latin typeface="+mj-ea"/>
              </a:rPr>
              <a:t> </a:t>
            </a:r>
            <a:r>
              <a:rPr lang="en-US" altLang="ko-KR" sz="2000" b="1" dirty="0">
                <a:solidFill>
                  <a:schemeClr val="accent6">
                    <a:lumMod val="50000"/>
                  </a:schemeClr>
                </a:solidFill>
                <a:latin typeface="+mj-ea"/>
              </a:rPr>
              <a:t>p.134~135</a:t>
            </a: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5C28C76C-B432-400E-A083-7AC1001594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64089" y="7804011"/>
            <a:ext cx="4714874" cy="1760393"/>
          </a:xfrm>
          <a:prstGeom prst="rect">
            <a:avLst/>
          </a:prstGeom>
        </p:spPr>
      </p:pic>
      <p:pic>
        <p:nvPicPr>
          <p:cNvPr id="33" name="Google Shape;85;p13" descr="image.png">
            <a:extLst>
              <a:ext uri="{FF2B5EF4-FFF2-40B4-BE49-F238E27FC236}">
                <a16:creationId xmlns:a16="http://schemas.microsoft.com/office/drawing/2014/main" id="{22DFA84C-FE7A-480B-AF38-4AB73369E036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107612" y="2900363"/>
            <a:ext cx="8323137" cy="2028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4" name="Google Shape;86;p13" descr="image.png">
            <a:extLst>
              <a:ext uri="{FF2B5EF4-FFF2-40B4-BE49-F238E27FC236}">
                <a16:creationId xmlns:a16="http://schemas.microsoft.com/office/drawing/2014/main" id="{DB0FE364-DDB5-49F8-870D-EA2302F20EC0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107612" y="5143500"/>
            <a:ext cx="8323137" cy="2028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5" name="Google Shape;87;p13" descr="image.png">
            <a:extLst>
              <a:ext uri="{FF2B5EF4-FFF2-40B4-BE49-F238E27FC236}">
                <a16:creationId xmlns:a16="http://schemas.microsoft.com/office/drawing/2014/main" id="{A642C4A7-E59E-4149-BC26-C63607D25834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107612" y="7386638"/>
            <a:ext cx="8323137" cy="2028825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Google Shape;90;p13">
            <a:extLst>
              <a:ext uri="{FF2B5EF4-FFF2-40B4-BE49-F238E27FC236}">
                <a16:creationId xmlns:a16="http://schemas.microsoft.com/office/drawing/2014/main" id="{BAA36D53-1C3A-4DEA-BFE5-738077B7DEFB}"/>
              </a:ext>
            </a:extLst>
          </p:cNvPr>
          <p:cNvSpPr txBox="1"/>
          <p:nvPr/>
        </p:nvSpPr>
        <p:spPr>
          <a:xfrm>
            <a:off x="1257301" y="2767077"/>
            <a:ext cx="6535862" cy="3808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r>
              <a:rPr lang="en-US" sz="2475" b="1">
                <a:solidFill>
                  <a:srgbClr val="1E3A8A"/>
                </a:solidFill>
                <a:latin typeface="Arial"/>
                <a:ea typeface="Arial"/>
                <a:cs typeface="Arial"/>
                <a:sym typeface="Arial"/>
              </a:rPr>
              <a:t>면접 진행의 3대 목적</a:t>
            </a:r>
            <a:endParaRPr sz="2700"/>
          </a:p>
        </p:txBody>
      </p:sp>
      <p:pic>
        <p:nvPicPr>
          <p:cNvPr id="38" name="Google Shape;91;p13" descr="image.png">
            <a:extLst>
              <a:ext uri="{FF2B5EF4-FFF2-40B4-BE49-F238E27FC236}">
                <a16:creationId xmlns:a16="http://schemas.microsoft.com/office/drawing/2014/main" id="{93C56AE3-0646-47D2-B4AD-9A45F05BAAF7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57250" y="2786063"/>
            <a:ext cx="257175" cy="342900"/>
          </a:xfrm>
          <a:prstGeom prst="rect">
            <a:avLst/>
          </a:prstGeom>
          <a:noFill/>
          <a:ln>
            <a:noFill/>
          </a:ln>
        </p:spPr>
      </p:pic>
      <p:sp>
        <p:nvSpPr>
          <p:cNvPr id="39" name="Google Shape;92;p13">
            <a:extLst>
              <a:ext uri="{FF2B5EF4-FFF2-40B4-BE49-F238E27FC236}">
                <a16:creationId xmlns:a16="http://schemas.microsoft.com/office/drawing/2014/main" id="{157993AD-A17A-40D7-BF4C-C6EBB18A502A}"/>
              </a:ext>
            </a:extLst>
          </p:cNvPr>
          <p:cNvSpPr txBox="1"/>
          <p:nvPr/>
        </p:nvSpPr>
        <p:spPr>
          <a:xfrm>
            <a:off x="809124" y="3464845"/>
            <a:ext cx="171450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3600" dirty="0">
                <a:solidFill>
                  <a:schemeClr val="tx2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1</a:t>
            </a:r>
            <a:endParaRPr sz="2800" dirty="0">
              <a:solidFill>
                <a:schemeClr val="tx2"/>
              </a:solidFill>
            </a:endParaRPr>
          </a:p>
        </p:txBody>
      </p:sp>
      <p:sp>
        <p:nvSpPr>
          <p:cNvPr id="40" name="Google Shape;93;p13">
            <a:extLst>
              <a:ext uri="{FF2B5EF4-FFF2-40B4-BE49-F238E27FC236}">
                <a16:creationId xmlns:a16="http://schemas.microsoft.com/office/drawing/2014/main" id="{1387342C-20AE-4307-AB89-31E888494F5E}"/>
              </a:ext>
            </a:extLst>
          </p:cNvPr>
          <p:cNvSpPr txBox="1"/>
          <p:nvPr/>
        </p:nvSpPr>
        <p:spPr>
          <a:xfrm>
            <a:off x="809125" y="4947619"/>
            <a:ext cx="242888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3600">
                <a:solidFill>
                  <a:schemeClr val="tx2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2</a:t>
            </a:r>
            <a:endParaRPr sz="2800">
              <a:solidFill>
                <a:schemeClr val="tx2"/>
              </a:solidFill>
            </a:endParaRPr>
          </a:p>
        </p:txBody>
      </p:sp>
      <p:sp>
        <p:nvSpPr>
          <p:cNvPr id="41" name="Google Shape;94;p13">
            <a:extLst>
              <a:ext uri="{FF2B5EF4-FFF2-40B4-BE49-F238E27FC236}">
                <a16:creationId xmlns:a16="http://schemas.microsoft.com/office/drawing/2014/main" id="{376718CE-30FB-4C51-8811-57F34E5F8F62}"/>
              </a:ext>
            </a:extLst>
          </p:cNvPr>
          <p:cNvSpPr txBox="1"/>
          <p:nvPr/>
        </p:nvSpPr>
        <p:spPr>
          <a:xfrm>
            <a:off x="809125" y="6430393"/>
            <a:ext cx="271463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3600">
                <a:solidFill>
                  <a:schemeClr val="tx2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3</a:t>
            </a:r>
            <a:endParaRPr sz="2800">
              <a:solidFill>
                <a:schemeClr val="tx2"/>
              </a:solidFill>
            </a:endParaRPr>
          </a:p>
        </p:txBody>
      </p:sp>
      <p:sp>
        <p:nvSpPr>
          <p:cNvPr id="42" name="Google Shape;95;p13">
            <a:extLst>
              <a:ext uri="{FF2B5EF4-FFF2-40B4-BE49-F238E27FC236}">
                <a16:creationId xmlns:a16="http://schemas.microsoft.com/office/drawing/2014/main" id="{71AAFFA1-C5C0-4ED4-B362-7E7D94F35415}"/>
              </a:ext>
            </a:extLst>
          </p:cNvPr>
          <p:cNvSpPr txBox="1"/>
          <p:nvPr/>
        </p:nvSpPr>
        <p:spPr>
          <a:xfrm>
            <a:off x="9979150" y="3215761"/>
            <a:ext cx="7449134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r>
              <a:rPr lang="en-US" sz="2400" b="1">
                <a:solidFill>
                  <a:srgbClr val="1E3A8A"/>
                </a:solidFill>
                <a:latin typeface="Arial"/>
                <a:ea typeface="Arial"/>
                <a:cs typeface="Arial"/>
                <a:sym typeface="Arial"/>
              </a:rPr>
              <a:t>단순 스펙 ➔ '실전 역량' 중심</a:t>
            </a:r>
            <a:endParaRPr sz="2800"/>
          </a:p>
        </p:txBody>
      </p:sp>
      <p:sp>
        <p:nvSpPr>
          <p:cNvPr id="43" name="Google Shape;96;p13">
            <a:extLst>
              <a:ext uri="{FF2B5EF4-FFF2-40B4-BE49-F238E27FC236}">
                <a16:creationId xmlns:a16="http://schemas.microsoft.com/office/drawing/2014/main" id="{BD262D94-5907-4066-9731-B0A19FDD3BA7}"/>
              </a:ext>
            </a:extLst>
          </p:cNvPr>
          <p:cNvSpPr txBox="1"/>
          <p:nvPr/>
        </p:nvSpPr>
        <p:spPr>
          <a:xfrm>
            <a:off x="10022012" y="5458898"/>
            <a:ext cx="7404128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r>
              <a:rPr lang="en-US" sz="2400" b="1">
                <a:solidFill>
                  <a:srgbClr val="1E3A8A"/>
                </a:solidFill>
                <a:latin typeface="Arial"/>
                <a:ea typeface="Arial"/>
                <a:cs typeface="Arial"/>
                <a:sym typeface="Arial"/>
              </a:rPr>
              <a:t>'인성'의 절대적 중요성 대두</a:t>
            </a:r>
            <a:endParaRPr sz="2800"/>
          </a:p>
        </p:txBody>
      </p:sp>
      <p:sp>
        <p:nvSpPr>
          <p:cNvPr id="44" name="Google Shape;97;p13">
            <a:extLst>
              <a:ext uri="{FF2B5EF4-FFF2-40B4-BE49-F238E27FC236}">
                <a16:creationId xmlns:a16="http://schemas.microsoft.com/office/drawing/2014/main" id="{535D8F43-A615-48ED-BB65-F17793A5F934}"/>
              </a:ext>
            </a:extLst>
          </p:cNvPr>
          <p:cNvSpPr txBox="1"/>
          <p:nvPr/>
        </p:nvSpPr>
        <p:spPr>
          <a:xfrm>
            <a:off x="9979150" y="7702036"/>
            <a:ext cx="7449134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r>
              <a:rPr lang="en-US" sz="2400" b="1">
                <a:solidFill>
                  <a:srgbClr val="1E3A8A"/>
                </a:solidFill>
                <a:latin typeface="Arial"/>
                <a:ea typeface="Arial"/>
                <a:cs typeface="Arial"/>
                <a:sym typeface="Arial"/>
              </a:rPr>
              <a:t>평가 절차의 다각화 및 구조화</a:t>
            </a:r>
            <a:endParaRPr sz="2800"/>
          </a:p>
        </p:txBody>
      </p:sp>
      <p:sp>
        <p:nvSpPr>
          <p:cNvPr id="45" name="Google Shape;98;p13">
            <a:extLst>
              <a:ext uri="{FF2B5EF4-FFF2-40B4-BE49-F238E27FC236}">
                <a16:creationId xmlns:a16="http://schemas.microsoft.com/office/drawing/2014/main" id="{4EA018CE-E49D-4638-902D-98E725D4A27A}"/>
              </a:ext>
            </a:extLst>
          </p:cNvPr>
          <p:cNvSpPr txBox="1"/>
          <p:nvPr/>
        </p:nvSpPr>
        <p:spPr>
          <a:xfrm>
            <a:off x="1243013" y="3529013"/>
            <a:ext cx="687765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2400" b="1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인성 및 커뮤니케이션 평가</a:t>
            </a:r>
            <a:endParaRPr sz="2800"/>
          </a:p>
        </p:txBody>
      </p:sp>
      <p:sp>
        <p:nvSpPr>
          <p:cNvPr id="46" name="Google Shape;99;p13">
            <a:extLst>
              <a:ext uri="{FF2B5EF4-FFF2-40B4-BE49-F238E27FC236}">
                <a16:creationId xmlns:a16="http://schemas.microsoft.com/office/drawing/2014/main" id="{1976401C-7C56-451E-9F58-4BC9485DA832}"/>
              </a:ext>
            </a:extLst>
          </p:cNvPr>
          <p:cNvSpPr txBox="1"/>
          <p:nvPr/>
        </p:nvSpPr>
        <p:spPr>
          <a:xfrm>
            <a:off x="1243013" y="4014788"/>
            <a:ext cx="7138987" cy="8617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39916"/>
              </a:lnSpc>
            </a:pPr>
            <a:r>
              <a:rPr lang="en-US" sz="2000" dirty="0" err="1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서류로는</a:t>
            </a:r>
            <a:r>
              <a:rPr lang="en-US" sz="2000" dirty="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dirty="0" err="1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파악</a:t>
            </a:r>
            <a:r>
              <a:rPr lang="en-US" sz="2000" dirty="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dirty="0" err="1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불가능한</a:t>
            </a:r>
            <a:r>
              <a:rPr lang="en-US" sz="2000" dirty="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b="1" dirty="0" err="1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조직</a:t>
            </a:r>
            <a:r>
              <a:rPr lang="en-US" sz="2000" b="1" dirty="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b="1" dirty="0" err="1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융화력</a:t>
            </a:r>
            <a:r>
              <a:rPr lang="en-US" sz="2000" b="1" dirty="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US" sz="2000" b="1" dirty="0" err="1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태도</a:t>
            </a:r>
            <a:r>
              <a:rPr lang="en-US" sz="2000" b="1" dirty="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US" sz="2000" b="1" dirty="0" err="1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실전</a:t>
            </a:r>
            <a:r>
              <a:rPr lang="en-US" sz="2000" b="1" dirty="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b="1" dirty="0" err="1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소통</a:t>
            </a:r>
            <a:r>
              <a:rPr lang="en-US" sz="2000" b="1" dirty="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b="1" dirty="0" err="1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능력</a:t>
            </a:r>
            <a:r>
              <a:rPr lang="en-US" sz="2000" dirty="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dirty="0" err="1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심층</a:t>
            </a:r>
            <a:r>
              <a:rPr lang="en-US" sz="2000" dirty="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dirty="0" err="1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검증</a:t>
            </a:r>
            <a:endParaRPr sz="2800" dirty="0"/>
          </a:p>
        </p:txBody>
      </p:sp>
      <p:sp>
        <p:nvSpPr>
          <p:cNvPr id="47" name="Google Shape;100;p13">
            <a:extLst>
              <a:ext uri="{FF2B5EF4-FFF2-40B4-BE49-F238E27FC236}">
                <a16:creationId xmlns:a16="http://schemas.microsoft.com/office/drawing/2014/main" id="{D27C8015-DDF9-4531-9A9B-351CDFDD2F10}"/>
              </a:ext>
            </a:extLst>
          </p:cNvPr>
          <p:cNvSpPr txBox="1"/>
          <p:nvPr/>
        </p:nvSpPr>
        <p:spPr>
          <a:xfrm>
            <a:off x="1314450" y="5011787"/>
            <a:ext cx="680264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2400" b="1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서류 내용의 철저한 진위 검증</a:t>
            </a:r>
            <a:endParaRPr sz="2800"/>
          </a:p>
        </p:txBody>
      </p:sp>
      <p:sp>
        <p:nvSpPr>
          <p:cNvPr id="48" name="Google Shape;101;p13">
            <a:extLst>
              <a:ext uri="{FF2B5EF4-FFF2-40B4-BE49-F238E27FC236}">
                <a16:creationId xmlns:a16="http://schemas.microsoft.com/office/drawing/2014/main" id="{3BB0A007-03DD-4F3E-ABEB-B6181FCAD694}"/>
              </a:ext>
            </a:extLst>
          </p:cNvPr>
          <p:cNvSpPr txBox="1"/>
          <p:nvPr/>
        </p:nvSpPr>
        <p:spPr>
          <a:xfrm>
            <a:off x="1314451" y="5497562"/>
            <a:ext cx="6478712" cy="8617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39916"/>
              </a:lnSpc>
            </a:pPr>
            <a:r>
              <a:rPr lang="en-US" sz="200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과장/왜곡된 자소서 내용을 대면 질의를 통해 </a:t>
            </a:r>
            <a:r>
              <a:rPr lang="en-US" sz="2000" b="1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사실 여부 및 경험의 깊이 확인</a:t>
            </a:r>
            <a:endParaRPr sz="2800"/>
          </a:p>
        </p:txBody>
      </p:sp>
      <p:sp>
        <p:nvSpPr>
          <p:cNvPr id="49" name="Google Shape;102;p13">
            <a:extLst>
              <a:ext uri="{FF2B5EF4-FFF2-40B4-BE49-F238E27FC236}">
                <a16:creationId xmlns:a16="http://schemas.microsoft.com/office/drawing/2014/main" id="{0096B06A-9F14-476E-81E2-AE5D22FF5F9E}"/>
              </a:ext>
            </a:extLst>
          </p:cNvPr>
          <p:cNvSpPr txBox="1"/>
          <p:nvPr/>
        </p:nvSpPr>
        <p:spPr>
          <a:xfrm>
            <a:off x="1343026" y="6494561"/>
            <a:ext cx="6772643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2400" b="1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직접 대면을 통한 확신 부여</a:t>
            </a:r>
            <a:endParaRPr sz="2800"/>
          </a:p>
        </p:txBody>
      </p:sp>
      <p:sp>
        <p:nvSpPr>
          <p:cNvPr id="50" name="Google Shape;103;p13">
            <a:extLst>
              <a:ext uri="{FF2B5EF4-FFF2-40B4-BE49-F238E27FC236}">
                <a16:creationId xmlns:a16="http://schemas.microsoft.com/office/drawing/2014/main" id="{EC6E0266-CADA-409B-AA9B-C29609D86BAF}"/>
              </a:ext>
            </a:extLst>
          </p:cNvPr>
          <p:cNvSpPr txBox="1"/>
          <p:nvPr/>
        </p:nvSpPr>
        <p:spPr>
          <a:xfrm>
            <a:off x="1343026" y="6980336"/>
            <a:ext cx="6450137" cy="8617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39916"/>
              </a:lnSpc>
            </a:pPr>
            <a:r>
              <a:rPr lang="en-US" sz="200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텍스트(문자) 이미지를 넘어, </a:t>
            </a:r>
            <a:r>
              <a:rPr lang="en-US" sz="2000" b="1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실제 성향과 역량의 일치 여부</a:t>
            </a:r>
            <a:r>
              <a:rPr lang="en-US" sz="200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 최종 판단</a:t>
            </a:r>
            <a:endParaRPr sz="2800"/>
          </a:p>
        </p:txBody>
      </p:sp>
      <p:pic>
        <p:nvPicPr>
          <p:cNvPr id="51" name="Google Shape;104;p13" descr="image.png">
            <a:extLst>
              <a:ext uri="{FF2B5EF4-FFF2-40B4-BE49-F238E27FC236}">
                <a16:creationId xmlns:a16="http://schemas.microsoft.com/office/drawing/2014/main" id="{DE7B3CFF-5241-4E75-8070-2FCBBD0C980F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536237" y="3264694"/>
            <a:ext cx="300038" cy="271463"/>
          </a:xfrm>
          <a:prstGeom prst="rect">
            <a:avLst/>
          </a:prstGeom>
          <a:noFill/>
          <a:ln>
            <a:noFill/>
          </a:ln>
        </p:spPr>
      </p:pic>
      <p:sp>
        <p:nvSpPr>
          <p:cNvPr id="52" name="Google Shape;105;p13">
            <a:extLst>
              <a:ext uri="{FF2B5EF4-FFF2-40B4-BE49-F238E27FC236}">
                <a16:creationId xmlns:a16="http://schemas.microsoft.com/office/drawing/2014/main" id="{19DDB621-6ECB-4151-9613-FD82D9D77A58}"/>
              </a:ext>
            </a:extLst>
          </p:cNvPr>
          <p:cNvSpPr txBox="1"/>
          <p:nvPr/>
        </p:nvSpPr>
        <p:spPr>
          <a:xfrm>
            <a:off x="9793412" y="3729038"/>
            <a:ext cx="7280150" cy="3877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40000"/>
              </a:lnSpc>
            </a:pPr>
            <a:r>
              <a:rPr lang="en-US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단편적 스펙 배제 및 </a:t>
            </a:r>
            <a:r>
              <a:rPr lang="en-US" b="1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블라인드 면접 도입 확대</a:t>
            </a:r>
            <a:endParaRPr sz="2800"/>
          </a:p>
        </p:txBody>
      </p:sp>
      <p:sp>
        <p:nvSpPr>
          <p:cNvPr id="53" name="Google Shape;106;p13">
            <a:extLst>
              <a:ext uri="{FF2B5EF4-FFF2-40B4-BE49-F238E27FC236}">
                <a16:creationId xmlns:a16="http://schemas.microsoft.com/office/drawing/2014/main" id="{49D796A3-581F-428C-85B2-F35A6A7EF855}"/>
              </a:ext>
            </a:extLst>
          </p:cNvPr>
          <p:cNvSpPr txBox="1"/>
          <p:nvPr/>
        </p:nvSpPr>
        <p:spPr>
          <a:xfrm>
            <a:off x="9793412" y="4257675"/>
            <a:ext cx="7280150" cy="3877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40000"/>
              </a:lnSpc>
            </a:pPr>
            <a:r>
              <a:rPr lang="en-US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PT, 토의 등을 통한 </a:t>
            </a:r>
            <a:r>
              <a:rPr lang="en-US" b="1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실제 문제해결능력 최우선 평가</a:t>
            </a:r>
            <a:endParaRPr sz="2800"/>
          </a:p>
        </p:txBody>
      </p:sp>
      <p:pic>
        <p:nvPicPr>
          <p:cNvPr id="54" name="Google Shape;107;p13" descr="image.png">
            <a:extLst>
              <a:ext uri="{FF2B5EF4-FFF2-40B4-BE49-F238E27FC236}">
                <a16:creationId xmlns:a16="http://schemas.microsoft.com/office/drawing/2014/main" id="{288A3B7A-8E57-46E3-895C-E4C87E8B30BE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9536237" y="5507831"/>
            <a:ext cx="342900" cy="271463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108;p13">
            <a:extLst>
              <a:ext uri="{FF2B5EF4-FFF2-40B4-BE49-F238E27FC236}">
                <a16:creationId xmlns:a16="http://schemas.microsoft.com/office/drawing/2014/main" id="{0B707637-DFDA-49CC-998D-742CF49D9F4C}"/>
              </a:ext>
            </a:extLst>
          </p:cNvPr>
          <p:cNvSpPr txBox="1"/>
          <p:nvPr/>
        </p:nvSpPr>
        <p:spPr>
          <a:xfrm>
            <a:off x="9793412" y="5972175"/>
            <a:ext cx="7280150" cy="3877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40000"/>
              </a:lnSpc>
            </a:pPr>
            <a:r>
              <a:rPr lang="en-US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개인주의 심화에 따른 </a:t>
            </a:r>
            <a:r>
              <a:rPr lang="en-US" b="1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조직생활 적합도(인성) 엄격 평가</a:t>
            </a:r>
            <a:endParaRPr sz="2800"/>
          </a:p>
        </p:txBody>
      </p:sp>
      <p:sp>
        <p:nvSpPr>
          <p:cNvPr id="56" name="Google Shape;109;p13">
            <a:extLst>
              <a:ext uri="{FF2B5EF4-FFF2-40B4-BE49-F238E27FC236}">
                <a16:creationId xmlns:a16="http://schemas.microsoft.com/office/drawing/2014/main" id="{3CAF854D-38F0-4D6F-A48B-09C1820C02EA}"/>
              </a:ext>
            </a:extLst>
          </p:cNvPr>
          <p:cNvSpPr txBox="1"/>
          <p:nvPr/>
        </p:nvSpPr>
        <p:spPr>
          <a:xfrm>
            <a:off x="9793412" y="6500813"/>
            <a:ext cx="7280150" cy="3877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40000"/>
              </a:lnSpc>
            </a:pPr>
            <a:r>
              <a:rPr lang="en-US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"업무는 가르칠 수 있지만, 인성은 변하지 않는다"는 </a:t>
            </a:r>
            <a:r>
              <a:rPr lang="en-US" b="1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철학 반영</a:t>
            </a:r>
            <a:endParaRPr sz="2800"/>
          </a:p>
        </p:txBody>
      </p:sp>
      <p:pic>
        <p:nvPicPr>
          <p:cNvPr id="57" name="Google Shape;110;p13" descr="image.png">
            <a:extLst>
              <a:ext uri="{FF2B5EF4-FFF2-40B4-BE49-F238E27FC236}">
                <a16:creationId xmlns:a16="http://schemas.microsoft.com/office/drawing/2014/main" id="{1B393CC1-91B5-496C-ADA2-96A80B413DED}"/>
              </a:ext>
            </a:extLst>
          </p:cNvPr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9536237" y="7750969"/>
            <a:ext cx="300038" cy="271463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111;p13">
            <a:extLst>
              <a:ext uri="{FF2B5EF4-FFF2-40B4-BE49-F238E27FC236}">
                <a16:creationId xmlns:a16="http://schemas.microsoft.com/office/drawing/2014/main" id="{E6BDB47A-6A9A-4A66-8502-B1DF21AC897D}"/>
              </a:ext>
            </a:extLst>
          </p:cNvPr>
          <p:cNvSpPr txBox="1"/>
          <p:nvPr/>
        </p:nvSpPr>
        <p:spPr>
          <a:xfrm>
            <a:off x="9793412" y="8215313"/>
            <a:ext cx="7280150" cy="3877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40000"/>
              </a:lnSpc>
            </a:pPr>
            <a:r>
              <a:rPr lang="en-US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성향 파악을 위한 </a:t>
            </a:r>
            <a:r>
              <a:rPr lang="en-US" b="1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비즈니스 케이스, 화상/AI 면접 도입</a:t>
            </a:r>
            <a:endParaRPr sz="2800"/>
          </a:p>
        </p:txBody>
      </p:sp>
      <p:sp>
        <p:nvSpPr>
          <p:cNvPr id="59" name="Google Shape;112;p13">
            <a:extLst>
              <a:ext uri="{FF2B5EF4-FFF2-40B4-BE49-F238E27FC236}">
                <a16:creationId xmlns:a16="http://schemas.microsoft.com/office/drawing/2014/main" id="{F4EE7A28-7439-4D71-A082-D650E92191F1}"/>
              </a:ext>
            </a:extLst>
          </p:cNvPr>
          <p:cNvSpPr txBox="1"/>
          <p:nvPr/>
        </p:nvSpPr>
        <p:spPr>
          <a:xfrm>
            <a:off x="9793412" y="8743950"/>
            <a:ext cx="7280150" cy="3877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40000"/>
              </a:lnSpc>
            </a:pPr>
            <a:r>
              <a:rPr lang="en-US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과거 행동을 분석하여 </a:t>
            </a:r>
            <a:r>
              <a:rPr lang="en-US" b="1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미래 성과를 예측하는 구조화 면접</a:t>
            </a:r>
            <a:r>
              <a:rPr lang="en-US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 실시</a:t>
            </a:r>
            <a:endParaRPr sz="2800"/>
          </a:p>
        </p:txBody>
      </p:sp>
      <p:sp>
        <p:nvSpPr>
          <p:cNvPr id="60" name="Google Shape;113;p13">
            <a:extLst>
              <a:ext uri="{FF2B5EF4-FFF2-40B4-BE49-F238E27FC236}">
                <a16:creationId xmlns:a16="http://schemas.microsoft.com/office/drawing/2014/main" id="{E61DE392-4259-44F5-AB92-DF5852A3C3C3}"/>
              </a:ext>
            </a:extLst>
          </p:cNvPr>
          <p:cNvSpPr txBox="1"/>
          <p:nvPr/>
        </p:nvSpPr>
        <p:spPr>
          <a:xfrm>
            <a:off x="9536237" y="3786188"/>
            <a:ext cx="71438" cy="2262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39851"/>
              </a:lnSpc>
            </a:pPr>
            <a:r>
              <a:rPr lang="en-US" sz="1050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■</a:t>
            </a:r>
            <a:endParaRPr sz="2800"/>
          </a:p>
        </p:txBody>
      </p:sp>
      <p:sp>
        <p:nvSpPr>
          <p:cNvPr id="61" name="Google Shape;114;p13">
            <a:extLst>
              <a:ext uri="{FF2B5EF4-FFF2-40B4-BE49-F238E27FC236}">
                <a16:creationId xmlns:a16="http://schemas.microsoft.com/office/drawing/2014/main" id="{F1A58CB0-B268-4AD8-A96C-778016E9A143}"/>
              </a:ext>
            </a:extLst>
          </p:cNvPr>
          <p:cNvSpPr txBox="1"/>
          <p:nvPr/>
        </p:nvSpPr>
        <p:spPr>
          <a:xfrm>
            <a:off x="9536237" y="4314826"/>
            <a:ext cx="71438" cy="2262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39851"/>
              </a:lnSpc>
            </a:pPr>
            <a:r>
              <a:rPr lang="en-US" sz="1050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■</a:t>
            </a:r>
            <a:endParaRPr sz="2800"/>
          </a:p>
        </p:txBody>
      </p:sp>
      <p:sp>
        <p:nvSpPr>
          <p:cNvPr id="62" name="Google Shape;115;p13">
            <a:extLst>
              <a:ext uri="{FF2B5EF4-FFF2-40B4-BE49-F238E27FC236}">
                <a16:creationId xmlns:a16="http://schemas.microsoft.com/office/drawing/2014/main" id="{4DBC42BD-0186-4F67-A6E6-AC8A5ADFED72}"/>
              </a:ext>
            </a:extLst>
          </p:cNvPr>
          <p:cNvSpPr txBox="1"/>
          <p:nvPr/>
        </p:nvSpPr>
        <p:spPr>
          <a:xfrm>
            <a:off x="9536237" y="6029326"/>
            <a:ext cx="71438" cy="2262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39851"/>
              </a:lnSpc>
            </a:pPr>
            <a:r>
              <a:rPr lang="en-US" sz="1050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■</a:t>
            </a:r>
            <a:endParaRPr sz="2800"/>
          </a:p>
        </p:txBody>
      </p:sp>
      <p:sp>
        <p:nvSpPr>
          <p:cNvPr id="63" name="Google Shape;116;p13">
            <a:extLst>
              <a:ext uri="{FF2B5EF4-FFF2-40B4-BE49-F238E27FC236}">
                <a16:creationId xmlns:a16="http://schemas.microsoft.com/office/drawing/2014/main" id="{4C2254DF-9767-4131-A92D-1B28922FEF98}"/>
              </a:ext>
            </a:extLst>
          </p:cNvPr>
          <p:cNvSpPr txBox="1"/>
          <p:nvPr/>
        </p:nvSpPr>
        <p:spPr>
          <a:xfrm>
            <a:off x="9536237" y="6557963"/>
            <a:ext cx="71438" cy="2262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39851"/>
              </a:lnSpc>
            </a:pPr>
            <a:r>
              <a:rPr lang="en-US" sz="1050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■</a:t>
            </a:r>
            <a:endParaRPr sz="2800"/>
          </a:p>
        </p:txBody>
      </p:sp>
      <p:sp>
        <p:nvSpPr>
          <p:cNvPr id="64" name="Google Shape;117;p13">
            <a:extLst>
              <a:ext uri="{FF2B5EF4-FFF2-40B4-BE49-F238E27FC236}">
                <a16:creationId xmlns:a16="http://schemas.microsoft.com/office/drawing/2014/main" id="{3FF3AC9D-8847-4CF5-8820-BBD7FCD3F492}"/>
              </a:ext>
            </a:extLst>
          </p:cNvPr>
          <p:cNvSpPr txBox="1"/>
          <p:nvPr/>
        </p:nvSpPr>
        <p:spPr>
          <a:xfrm>
            <a:off x="9536237" y="8272463"/>
            <a:ext cx="71438" cy="2262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39851"/>
              </a:lnSpc>
            </a:pPr>
            <a:r>
              <a:rPr lang="en-US" sz="1050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■</a:t>
            </a:r>
            <a:endParaRPr sz="2800"/>
          </a:p>
        </p:txBody>
      </p:sp>
      <p:sp>
        <p:nvSpPr>
          <p:cNvPr id="65" name="Google Shape;118;p13">
            <a:extLst>
              <a:ext uri="{FF2B5EF4-FFF2-40B4-BE49-F238E27FC236}">
                <a16:creationId xmlns:a16="http://schemas.microsoft.com/office/drawing/2014/main" id="{8517E648-6DFB-4919-BC7E-AF142A9A1675}"/>
              </a:ext>
            </a:extLst>
          </p:cNvPr>
          <p:cNvSpPr txBox="1"/>
          <p:nvPr/>
        </p:nvSpPr>
        <p:spPr>
          <a:xfrm>
            <a:off x="9536237" y="8801101"/>
            <a:ext cx="71438" cy="2262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39851"/>
              </a:lnSpc>
            </a:pPr>
            <a:r>
              <a:rPr lang="en-US" sz="1050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■</a:t>
            </a:r>
            <a:endParaRPr sz="2800"/>
          </a:p>
        </p:txBody>
      </p:sp>
      <p:sp>
        <p:nvSpPr>
          <p:cNvPr id="66" name="TextBox 7">
            <a:extLst>
              <a:ext uri="{FF2B5EF4-FFF2-40B4-BE49-F238E27FC236}">
                <a16:creationId xmlns:a16="http://schemas.microsoft.com/office/drawing/2014/main" id="{0DD19A30-AA05-42B2-89F4-04A8A2AEBF4C}"/>
              </a:ext>
            </a:extLst>
          </p:cNvPr>
          <p:cNvSpPr txBox="1"/>
          <p:nvPr/>
        </p:nvSpPr>
        <p:spPr>
          <a:xfrm>
            <a:off x="14357350" y="598765"/>
            <a:ext cx="3930650" cy="30107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ko-KR" altLang="en-US" sz="1600" b="1" i="0" u="none" strike="noStrike" spc="100" dirty="0">
                <a:solidFill>
                  <a:schemeClr val="accent6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진로설계 </a:t>
            </a:r>
            <a:r>
              <a:rPr lang="en-US" altLang="ko-KR" sz="1600" b="1" i="0" u="none" strike="noStrike" spc="100" dirty="0">
                <a:solidFill>
                  <a:schemeClr val="accent6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4. </a:t>
            </a:r>
            <a:r>
              <a:rPr lang="ko-KR" altLang="en-US" sz="1600" b="1" i="0" u="none" strike="noStrike" spc="100" dirty="0" err="1">
                <a:solidFill>
                  <a:schemeClr val="accent6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취업전략과</a:t>
            </a:r>
            <a:r>
              <a:rPr lang="ko-KR" altLang="en-US" sz="1600" b="1" i="0" u="none" strike="noStrike" spc="100" dirty="0">
                <a:solidFill>
                  <a:schemeClr val="accent6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600" b="1" i="0" u="none" strike="noStrike" spc="100" dirty="0" err="1">
                <a:solidFill>
                  <a:schemeClr val="accent6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실전취업</a:t>
            </a:r>
            <a:endParaRPr lang="en-US" sz="1600" b="1" i="0" u="none" strike="noStrike" spc="100" dirty="0">
              <a:solidFill>
                <a:schemeClr val="accent6">
                  <a:lumMod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6930391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971800" y="949373"/>
            <a:ext cx="13182600" cy="1092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ko-KR" altLang="en-US" sz="6200" b="1" spc="-500" dirty="0">
                <a:solidFill>
                  <a:srgbClr val="505050"/>
                </a:solidFill>
                <a:latin typeface="Gmarket Sans Medium"/>
              </a:rPr>
              <a:t>유형별 면접 특성과 </a:t>
            </a:r>
            <a:r>
              <a:rPr lang="ko-KR" altLang="en-US" sz="6200" b="1" spc="-500" dirty="0" err="1">
                <a:solidFill>
                  <a:srgbClr val="505050"/>
                </a:solidFill>
                <a:latin typeface="Gmarket Sans Medium"/>
              </a:rPr>
              <a:t>전략법</a:t>
            </a:r>
            <a:endParaRPr lang="ko-KR" sz="6200" b="1" i="0" u="none" strike="noStrike" spc="-500" dirty="0">
              <a:solidFill>
                <a:srgbClr val="505050"/>
              </a:solidFill>
              <a:ea typeface="Gmarket Sans Medium"/>
            </a:endParaRPr>
          </a:p>
        </p:txBody>
      </p:sp>
      <p:pic>
        <p:nvPicPr>
          <p:cNvPr id="27" name="Picture 20">
            <a:extLst>
              <a:ext uri="{FF2B5EF4-FFF2-40B4-BE49-F238E27FC236}">
                <a16:creationId xmlns:a16="http://schemas.microsoft.com/office/drawing/2014/main" id="{581E111A-60B0-4F08-8021-25FC9495054C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6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927100" y="-444500"/>
            <a:ext cx="1003300" cy="2641600"/>
          </a:xfrm>
          <a:prstGeom prst="rect">
            <a:avLst/>
          </a:prstGeom>
        </p:spPr>
      </p:pic>
      <p:sp>
        <p:nvSpPr>
          <p:cNvPr id="31" name="TextBox 24">
            <a:extLst>
              <a:ext uri="{FF2B5EF4-FFF2-40B4-BE49-F238E27FC236}">
                <a16:creationId xmlns:a16="http://schemas.microsoft.com/office/drawing/2014/main" id="{0D59A901-6463-4687-9715-4D43C24F5E45}"/>
              </a:ext>
            </a:extLst>
          </p:cNvPr>
          <p:cNvSpPr txBox="1"/>
          <p:nvPr/>
        </p:nvSpPr>
        <p:spPr>
          <a:xfrm>
            <a:off x="1079500" y="1333500"/>
            <a:ext cx="698500" cy="6223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sz="3400" b="0" i="0" u="none" strike="noStrike" dirty="0">
                <a:solidFill>
                  <a:srgbClr val="FFFFFF"/>
                </a:solidFill>
                <a:latin typeface="Gmarket Sans Medium"/>
              </a:rPr>
              <a:t>02</a:t>
            </a:r>
          </a:p>
        </p:txBody>
      </p:sp>
      <p:cxnSp>
        <p:nvCxnSpPr>
          <p:cNvPr id="38" name="직선 연결선 37">
            <a:extLst>
              <a:ext uri="{FF2B5EF4-FFF2-40B4-BE49-F238E27FC236}">
                <a16:creationId xmlns:a16="http://schemas.microsoft.com/office/drawing/2014/main" id="{A3BA2F72-70FA-4245-B673-0C42FECADA68}"/>
              </a:ext>
            </a:extLst>
          </p:cNvPr>
          <p:cNvCxnSpPr>
            <a:cxnSpLocks/>
            <a:endCxn id="40" idx="1"/>
          </p:cNvCxnSpPr>
          <p:nvPr/>
        </p:nvCxnSpPr>
        <p:spPr>
          <a:xfrm flipV="1">
            <a:off x="304800" y="9817100"/>
            <a:ext cx="14846191" cy="52238"/>
          </a:xfrm>
          <a:prstGeom prst="line">
            <a:avLst/>
          </a:prstGeom>
          <a:ln>
            <a:solidFill>
              <a:schemeClr val="accent6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78C00D09-46DD-4131-BDED-6019AD2050B0}"/>
              </a:ext>
            </a:extLst>
          </p:cNvPr>
          <p:cNvSpPr/>
          <p:nvPr/>
        </p:nvSpPr>
        <p:spPr>
          <a:xfrm>
            <a:off x="15150991" y="9632434"/>
            <a:ext cx="2582631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 algn="r">
              <a:lnSpc>
                <a:spcPct val="99600"/>
              </a:lnSpc>
            </a:pPr>
            <a:r>
              <a:rPr lang="en-US" altLang="ko-KR" b="1" dirty="0">
                <a:solidFill>
                  <a:schemeClr val="accent6">
                    <a:lumMod val="50000"/>
                  </a:schemeClr>
                </a:solidFill>
                <a:latin typeface="+mj-ea"/>
              </a:rPr>
              <a:t>Workbook</a:t>
            </a:r>
            <a:r>
              <a:rPr lang="ko-KR" altLang="en-US" b="1" dirty="0">
                <a:solidFill>
                  <a:schemeClr val="accent6">
                    <a:lumMod val="50000"/>
                  </a:schemeClr>
                </a:solidFill>
                <a:latin typeface="+mj-ea"/>
              </a:rPr>
              <a:t> </a:t>
            </a:r>
            <a:r>
              <a:rPr lang="en-US" altLang="ko-KR" b="1" dirty="0">
                <a:solidFill>
                  <a:schemeClr val="accent6">
                    <a:lumMod val="50000"/>
                  </a:schemeClr>
                </a:solidFill>
                <a:latin typeface="+mj-ea"/>
              </a:rPr>
              <a:t>p.136~138</a:t>
            </a:r>
          </a:p>
        </p:txBody>
      </p:sp>
      <p:pic>
        <p:nvPicPr>
          <p:cNvPr id="11" name="Google Shape;124;p14" descr="image.png">
            <a:extLst>
              <a:ext uri="{FF2B5EF4-FFF2-40B4-BE49-F238E27FC236}">
                <a16:creationId xmlns:a16="http://schemas.microsoft.com/office/drawing/2014/main" id="{AB6C6EBF-7FCD-481D-AF9A-98591CF92A5C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57250" y="2743200"/>
            <a:ext cx="8001000" cy="68834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2" name="Google Shape;125;p14" descr="image.png">
            <a:extLst>
              <a:ext uri="{FF2B5EF4-FFF2-40B4-BE49-F238E27FC236}">
                <a16:creationId xmlns:a16="http://schemas.microsoft.com/office/drawing/2014/main" id="{8A1DC449-A012-4FD9-BC41-EF07E913E3C1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429750" y="2743200"/>
            <a:ext cx="8001000" cy="68834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26;p14" descr="image.png">
            <a:extLst>
              <a:ext uri="{FF2B5EF4-FFF2-40B4-BE49-F238E27FC236}">
                <a16:creationId xmlns:a16="http://schemas.microsoft.com/office/drawing/2014/main" id="{4AC280E6-7664-468B-9190-873AA205F21E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443038" y="7226349"/>
            <a:ext cx="6829425" cy="1885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Google Shape;127;p14" descr="image.png">
            <a:extLst>
              <a:ext uri="{FF2B5EF4-FFF2-40B4-BE49-F238E27FC236}">
                <a16:creationId xmlns:a16="http://schemas.microsoft.com/office/drawing/2014/main" id="{9DB79B12-9735-4409-9265-E701396981E6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0015538" y="7226349"/>
            <a:ext cx="6829425" cy="1885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130;p14" descr="image.png">
            <a:extLst>
              <a:ext uri="{FF2B5EF4-FFF2-40B4-BE49-F238E27FC236}">
                <a16:creationId xmlns:a16="http://schemas.microsoft.com/office/drawing/2014/main" id="{9DDCA972-1900-43B6-AB8C-555BA94C1883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443038" y="3336131"/>
            <a:ext cx="5715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31;p14">
            <a:extLst>
              <a:ext uri="{FF2B5EF4-FFF2-40B4-BE49-F238E27FC236}">
                <a16:creationId xmlns:a16="http://schemas.microsoft.com/office/drawing/2014/main" id="{81DF6B27-6464-4A1F-915E-64309F82354A}"/>
              </a:ext>
            </a:extLst>
          </p:cNvPr>
          <p:cNvSpPr txBox="1"/>
          <p:nvPr/>
        </p:nvSpPr>
        <p:spPr>
          <a:xfrm>
            <a:off x="2228850" y="3314700"/>
            <a:ext cx="4573227" cy="4501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2925" b="1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1. 인성 면접 (Personality)</a:t>
            </a:r>
            <a:endParaRPr sz="2700"/>
          </a:p>
        </p:txBody>
      </p:sp>
      <p:sp>
        <p:nvSpPr>
          <p:cNvPr id="17" name="Google Shape;132;p14">
            <a:extLst>
              <a:ext uri="{FF2B5EF4-FFF2-40B4-BE49-F238E27FC236}">
                <a16:creationId xmlns:a16="http://schemas.microsoft.com/office/drawing/2014/main" id="{869D97CC-5C86-4988-A426-8C623CAAAC7C}"/>
              </a:ext>
            </a:extLst>
          </p:cNvPr>
          <p:cNvSpPr txBox="1"/>
          <p:nvPr/>
        </p:nvSpPr>
        <p:spPr>
          <a:xfrm>
            <a:off x="1700212" y="4486275"/>
            <a:ext cx="6829424" cy="82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40000"/>
              </a:lnSpc>
            </a:pPr>
            <a:r>
              <a:rPr lang="en-US" sz="1913" dirty="0" err="1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조직생활에</a:t>
            </a:r>
            <a:r>
              <a:rPr lang="en-US" sz="1913" dirty="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913" dirty="0" err="1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필요한</a:t>
            </a:r>
            <a:r>
              <a:rPr lang="en-US" sz="1913" dirty="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913" b="1" dirty="0" err="1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기본</a:t>
            </a:r>
            <a:r>
              <a:rPr lang="en-US" sz="1913" b="1" dirty="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913" b="1" dirty="0" err="1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소양</a:t>
            </a:r>
            <a:r>
              <a:rPr lang="en-US" sz="1913" b="1" dirty="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 및 </a:t>
            </a:r>
            <a:r>
              <a:rPr lang="en-US" sz="1913" b="1" dirty="0" err="1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가치관</a:t>
            </a:r>
            <a:r>
              <a:rPr lang="en-US" sz="1913" b="1" dirty="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913" b="1" dirty="0" err="1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평가</a:t>
            </a:r>
            <a:r>
              <a:rPr lang="en-US" sz="1913" dirty="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913" dirty="0" err="1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주력</a:t>
            </a:r>
            <a:r>
              <a:rPr lang="en-US" sz="1913" dirty="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 (</a:t>
            </a:r>
            <a:r>
              <a:rPr lang="en-US" sz="1913" dirty="0" err="1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주로</a:t>
            </a:r>
            <a:r>
              <a:rPr lang="en-US" sz="1913" dirty="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913" dirty="0" err="1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임원진</a:t>
            </a:r>
            <a:r>
              <a:rPr lang="en-US" sz="1913" dirty="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913" dirty="0" err="1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진행</a:t>
            </a:r>
            <a:r>
              <a:rPr lang="en-US" sz="1913" dirty="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sz="2700" dirty="0"/>
          </a:p>
        </p:txBody>
      </p:sp>
      <p:sp>
        <p:nvSpPr>
          <p:cNvPr id="18" name="Google Shape;133;p14">
            <a:extLst>
              <a:ext uri="{FF2B5EF4-FFF2-40B4-BE49-F238E27FC236}">
                <a16:creationId xmlns:a16="http://schemas.microsoft.com/office/drawing/2014/main" id="{AB91BD9E-5632-4CC1-8791-857073D8B834}"/>
              </a:ext>
            </a:extLst>
          </p:cNvPr>
          <p:cNvSpPr txBox="1"/>
          <p:nvPr/>
        </p:nvSpPr>
        <p:spPr>
          <a:xfrm>
            <a:off x="1700213" y="5337720"/>
            <a:ext cx="6572250" cy="82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40000"/>
              </a:lnSpc>
            </a:pPr>
            <a:r>
              <a:rPr lang="en-US" sz="1913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조직 내 갈등 상황 제시를 통한 </a:t>
            </a:r>
            <a:r>
              <a:rPr lang="en-US" sz="1913" b="1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대인관계 유지 방법 및 해결책</a:t>
            </a:r>
            <a:r>
              <a:rPr lang="en-US" sz="1913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 도출</a:t>
            </a:r>
            <a:endParaRPr sz="2700"/>
          </a:p>
        </p:txBody>
      </p:sp>
      <p:sp>
        <p:nvSpPr>
          <p:cNvPr id="19" name="Google Shape;134;p14">
            <a:extLst>
              <a:ext uri="{FF2B5EF4-FFF2-40B4-BE49-F238E27FC236}">
                <a16:creationId xmlns:a16="http://schemas.microsoft.com/office/drawing/2014/main" id="{56E74137-B0B1-4B97-A33F-597DE0C62C49}"/>
              </a:ext>
            </a:extLst>
          </p:cNvPr>
          <p:cNvSpPr txBox="1"/>
          <p:nvPr/>
        </p:nvSpPr>
        <p:spPr>
          <a:xfrm>
            <a:off x="1700213" y="6189165"/>
            <a:ext cx="6572250" cy="82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40000"/>
              </a:lnSpc>
            </a:pPr>
            <a:r>
              <a:rPr lang="en-US" sz="1913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지원 직무별 선호 성향(예: 이공계 ➔ 정확함/객관성) 파악 후 </a:t>
            </a:r>
            <a:r>
              <a:rPr lang="en-US" sz="1913" b="1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맞춤형 답변 준비</a:t>
            </a:r>
            <a:endParaRPr sz="2700"/>
          </a:p>
        </p:txBody>
      </p:sp>
      <p:sp>
        <p:nvSpPr>
          <p:cNvPr id="20" name="Google Shape;135;p14">
            <a:extLst>
              <a:ext uri="{FF2B5EF4-FFF2-40B4-BE49-F238E27FC236}">
                <a16:creationId xmlns:a16="http://schemas.microsoft.com/office/drawing/2014/main" id="{36BD4E48-8426-4646-ABEC-7AEB6DAD79C4}"/>
              </a:ext>
            </a:extLst>
          </p:cNvPr>
          <p:cNvSpPr txBox="1"/>
          <p:nvPr/>
        </p:nvSpPr>
        <p:spPr>
          <a:xfrm>
            <a:off x="2071688" y="7523619"/>
            <a:ext cx="6210776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r>
              <a:rPr lang="en-US" b="1">
                <a:solidFill>
                  <a:srgbClr val="1D4ED8"/>
                </a:solidFill>
                <a:latin typeface="Arial"/>
                <a:ea typeface="Arial"/>
                <a:cs typeface="Arial"/>
                <a:sym typeface="Arial"/>
              </a:rPr>
              <a:t>핵심 대비 포인트</a:t>
            </a:r>
            <a:endParaRPr sz="2700"/>
          </a:p>
        </p:txBody>
      </p:sp>
      <p:sp>
        <p:nvSpPr>
          <p:cNvPr id="21" name="Google Shape;136;p14">
            <a:extLst>
              <a:ext uri="{FF2B5EF4-FFF2-40B4-BE49-F238E27FC236}">
                <a16:creationId xmlns:a16="http://schemas.microsoft.com/office/drawing/2014/main" id="{1B950C82-E41B-4B81-A044-9A0C017D19AB}"/>
              </a:ext>
            </a:extLst>
          </p:cNvPr>
          <p:cNvSpPr txBox="1"/>
          <p:nvPr/>
        </p:nvSpPr>
        <p:spPr>
          <a:xfrm>
            <a:off x="1785938" y="7926437"/>
            <a:ext cx="6200775" cy="72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40000"/>
              </a:lnSpc>
            </a:pPr>
            <a:r>
              <a:rPr lang="en-US" sz="1688">
                <a:solidFill>
                  <a:srgbClr val="1E3A8A"/>
                </a:solidFill>
                <a:latin typeface="Arial"/>
                <a:ea typeface="Arial"/>
                <a:cs typeface="Arial"/>
                <a:sym typeface="Arial"/>
              </a:rPr>
              <a:t>100% 출제되는 </a:t>
            </a:r>
            <a:r>
              <a:rPr lang="en-US" sz="1688" b="1">
                <a:solidFill>
                  <a:srgbClr val="1E3A8A"/>
                </a:solidFill>
                <a:latin typeface="Arial"/>
                <a:ea typeface="Arial"/>
                <a:cs typeface="Arial"/>
                <a:sym typeface="Arial"/>
              </a:rPr>
              <a:t>'1분 자기소개'</a:t>
            </a:r>
            <a:r>
              <a:rPr lang="en-US" sz="1688">
                <a:solidFill>
                  <a:srgbClr val="1E3A8A"/>
                </a:solidFill>
                <a:latin typeface="Arial"/>
                <a:ea typeface="Arial"/>
                <a:cs typeface="Arial"/>
                <a:sym typeface="Arial"/>
              </a:rPr>
              <a:t>는 반드시 완벽하게 스크립트화하고 돌발 상황에도 자연스럽게 나올 수 있도록 숙달해야 합니다.</a:t>
            </a:r>
            <a:endParaRPr sz="2700"/>
          </a:p>
        </p:txBody>
      </p:sp>
      <p:pic>
        <p:nvPicPr>
          <p:cNvPr id="22" name="Google Shape;137;p14" descr="image.png">
            <a:extLst>
              <a:ext uri="{FF2B5EF4-FFF2-40B4-BE49-F238E27FC236}">
                <a16:creationId xmlns:a16="http://schemas.microsoft.com/office/drawing/2014/main" id="{347643DC-A81A-4A5A-9327-1C17E09FDB22}"/>
              </a:ext>
            </a:extLst>
          </p:cNvPr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0015538" y="3336131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138;p14">
            <a:extLst>
              <a:ext uri="{FF2B5EF4-FFF2-40B4-BE49-F238E27FC236}">
                <a16:creationId xmlns:a16="http://schemas.microsoft.com/office/drawing/2014/main" id="{D3B80237-62FC-402E-BA3B-132263C0DE92}"/>
              </a:ext>
            </a:extLst>
          </p:cNvPr>
          <p:cNvSpPr txBox="1"/>
          <p:nvPr/>
        </p:nvSpPr>
        <p:spPr>
          <a:xfrm>
            <a:off x="10687050" y="3314700"/>
            <a:ext cx="4811382" cy="4501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2925" b="1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2. 역량 면접 (Competency)</a:t>
            </a:r>
            <a:endParaRPr sz="2700"/>
          </a:p>
        </p:txBody>
      </p:sp>
      <p:sp>
        <p:nvSpPr>
          <p:cNvPr id="24" name="Google Shape;139;p14">
            <a:extLst>
              <a:ext uri="{FF2B5EF4-FFF2-40B4-BE49-F238E27FC236}">
                <a16:creationId xmlns:a16="http://schemas.microsoft.com/office/drawing/2014/main" id="{9A8C07E3-89C2-4CB9-B17B-54181D06B8AB}"/>
              </a:ext>
            </a:extLst>
          </p:cNvPr>
          <p:cNvSpPr txBox="1"/>
          <p:nvPr/>
        </p:nvSpPr>
        <p:spPr>
          <a:xfrm>
            <a:off x="10272713" y="4486275"/>
            <a:ext cx="6572250" cy="82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40000"/>
              </a:lnSpc>
            </a:pPr>
            <a:r>
              <a:rPr lang="en-US" sz="1913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과거의 성과 창출 행동 패턴을 분석하여 </a:t>
            </a:r>
            <a:r>
              <a:rPr lang="en-US" sz="1913" b="1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미래의 업무 성과를 논리적으로 예측</a:t>
            </a:r>
            <a:endParaRPr sz="2700"/>
          </a:p>
        </p:txBody>
      </p:sp>
      <p:sp>
        <p:nvSpPr>
          <p:cNvPr id="25" name="Google Shape;140;p14">
            <a:extLst>
              <a:ext uri="{FF2B5EF4-FFF2-40B4-BE49-F238E27FC236}">
                <a16:creationId xmlns:a16="http://schemas.microsoft.com/office/drawing/2014/main" id="{C3837463-BD3B-41DE-9B01-020452373C5A}"/>
              </a:ext>
            </a:extLst>
          </p:cNvPr>
          <p:cNvSpPr txBox="1"/>
          <p:nvPr/>
        </p:nvSpPr>
        <p:spPr>
          <a:xfrm>
            <a:off x="10272713" y="5337720"/>
            <a:ext cx="6572250" cy="82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40000"/>
              </a:lnSpc>
            </a:pPr>
            <a:r>
              <a:rPr lang="en-US" sz="1913" dirty="0" err="1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단순한</a:t>
            </a:r>
            <a:r>
              <a:rPr lang="en-US" sz="1913" dirty="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913" dirty="0" err="1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주장이</a:t>
            </a:r>
            <a:r>
              <a:rPr lang="en-US" sz="1913" dirty="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913" dirty="0" err="1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아닌</a:t>
            </a:r>
            <a:r>
              <a:rPr lang="en-US" sz="1913" dirty="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US" sz="1913" dirty="0" err="1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관찰</a:t>
            </a:r>
            <a:r>
              <a:rPr lang="en-US" sz="1913" dirty="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913" dirty="0" err="1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가능한</a:t>
            </a:r>
            <a:r>
              <a:rPr lang="en-US" sz="1913" dirty="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913" b="1" dirty="0" err="1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구체적</a:t>
            </a:r>
            <a:r>
              <a:rPr lang="en-US" sz="1913" b="1" dirty="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913" b="1" dirty="0" err="1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지표</a:t>
            </a:r>
            <a:r>
              <a:rPr lang="en-US" sz="1913" b="1" dirty="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913" b="1" dirty="0" err="1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행동</a:t>
            </a:r>
            <a:r>
              <a:rPr lang="en-US" sz="1913" b="1" dirty="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(Target Behavior)</a:t>
            </a:r>
            <a:r>
              <a:rPr lang="en-US" sz="1913" dirty="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913" dirty="0" err="1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제시</a:t>
            </a:r>
            <a:r>
              <a:rPr lang="en-US" sz="1913" dirty="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913" dirty="0" err="1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필수</a:t>
            </a:r>
            <a:endParaRPr sz="2700" dirty="0"/>
          </a:p>
        </p:txBody>
      </p:sp>
      <p:sp>
        <p:nvSpPr>
          <p:cNvPr id="26" name="Google Shape;141;p14">
            <a:extLst>
              <a:ext uri="{FF2B5EF4-FFF2-40B4-BE49-F238E27FC236}">
                <a16:creationId xmlns:a16="http://schemas.microsoft.com/office/drawing/2014/main" id="{60377079-0684-4D5D-A1A5-16CA4103B103}"/>
              </a:ext>
            </a:extLst>
          </p:cNvPr>
          <p:cNvSpPr txBox="1"/>
          <p:nvPr/>
        </p:nvSpPr>
        <p:spPr>
          <a:xfrm>
            <a:off x="10272712" y="6189165"/>
            <a:ext cx="6829424" cy="82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40000"/>
              </a:lnSpc>
            </a:pPr>
            <a:r>
              <a:rPr lang="en-US" sz="1913" dirty="0" err="1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자기소개서</a:t>
            </a:r>
            <a:r>
              <a:rPr lang="en-US" sz="1913" dirty="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 내 </a:t>
            </a:r>
            <a:r>
              <a:rPr lang="en-US" sz="1913" dirty="0" err="1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경험의</a:t>
            </a:r>
            <a:r>
              <a:rPr lang="en-US" sz="1913" dirty="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913" dirty="0" err="1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사실</a:t>
            </a:r>
            <a:r>
              <a:rPr lang="en-US" sz="1913" dirty="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913" dirty="0" err="1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여부를</a:t>
            </a:r>
            <a:r>
              <a:rPr lang="en-US" sz="1913" dirty="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913" dirty="0" err="1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압박</a:t>
            </a:r>
            <a:r>
              <a:rPr lang="en-US" sz="1913" dirty="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913" dirty="0" err="1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질문</a:t>
            </a:r>
            <a:r>
              <a:rPr lang="en-US" sz="1913" dirty="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lang="en-US" sz="1913" dirty="0" err="1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꼬리물기</a:t>
            </a:r>
            <a:r>
              <a:rPr lang="en-US" sz="1913" dirty="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)을 </a:t>
            </a:r>
            <a:r>
              <a:rPr lang="en-US" sz="1913" dirty="0" err="1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통해</a:t>
            </a:r>
            <a:r>
              <a:rPr lang="en-US" sz="1913" dirty="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913" b="1" dirty="0" err="1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심층</a:t>
            </a:r>
            <a:r>
              <a:rPr lang="en-US" sz="1913" b="1" dirty="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913" b="1" dirty="0" err="1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검증</a:t>
            </a:r>
            <a:endParaRPr sz="2700" dirty="0"/>
          </a:p>
        </p:txBody>
      </p:sp>
      <p:sp>
        <p:nvSpPr>
          <p:cNvPr id="28" name="Google Shape;142;p14">
            <a:extLst>
              <a:ext uri="{FF2B5EF4-FFF2-40B4-BE49-F238E27FC236}">
                <a16:creationId xmlns:a16="http://schemas.microsoft.com/office/drawing/2014/main" id="{E2DC8DE7-1A46-4EF5-9C70-E198A707552E}"/>
              </a:ext>
            </a:extLst>
          </p:cNvPr>
          <p:cNvSpPr txBox="1"/>
          <p:nvPr/>
        </p:nvSpPr>
        <p:spPr>
          <a:xfrm>
            <a:off x="10701338" y="7523619"/>
            <a:ext cx="6150768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r>
              <a:rPr lang="en-US" b="1">
                <a:solidFill>
                  <a:srgbClr val="1E3A8A"/>
                </a:solidFill>
                <a:latin typeface="Arial"/>
                <a:ea typeface="Arial"/>
                <a:cs typeface="Arial"/>
                <a:sym typeface="Arial"/>
              </a:rPr>
              <a:t>답변 변환 공식</a:t>
            </a:r>
            <a:endParaRPr sz="2700"/>
          </a:p>
        </p:txBody>
      </p:sp>
      <p:sp>
        <p:nvSpPr>
          <p:cNvPr id="29" name="Google Shape;143;p14">
            <a:extLst>
              <a:ext uri="{FF2B5EF4-FFF2-40B4-BE49-F238E27FC236}">
                <a16:creationId xmlns:a16="http://schemas.microsoft.com/office/drawing/2014/main" id="{5170DD86-F7C7-4E8C-A53F-A58EA71120AE}"/>
              </a:ext>
            </a:extLst>
          </p:cNvPr>
          <p:cNvSpPr txBox="1"/>
          <p:nvPr/>
        </p:nvSpPr>
        <p:spPr>
          <a:xfrm>
            <a:off x="10358438" y="7871748"/>
            <a:ext cx="6200775" cy="11689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688" dirty="0">
                <a:solidFill>
                  <a:srgbClr val="1E3A8A"/>
                </a:solidFill>
                <a:latin typeface="Arial"/>
                <a:ea typeface="Arial"/>
                <a:cs typeface="Arial"/>
                <a:sym typeface="Arial"/>
              </a:rPr>
              <a:t>[</a:t>
            </a:r>
            <a:r>
              <a:rPr lang="en-US" sz="1688" dirty="0" err="1">
                <a:solidFill>
                  <a:srgbClr val="1E3A8A"/>
                </a:solidFill>
                <a:latin typeface="Arial"/>
                <a:ea typeface="Arial"/>
                <a:cs typeface="Arial"/>
                <a:sym typeface="Arial"/>
              </a:rPr>
              <a:t>단순</a:t>
            </a:r>
            <a:r>
              <a:rPr lang="en-US" sz="1688" dirty="0">
                <a:solidFill>
                  <a:srgbClr val="1E3A8A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688" dirty="0" err="1">
                <a:solidFill>
                  <a:srgbClr val="1E3A8A"/>
                </a:solidFill>
                <a:latin typeface="Arial"/>
                <a:ea typeface="Arial"/>
                <a:cs typeface="Arial"/>
                <a:sym typeface="Arial"/>
              </a:rPr>
              <a:t>주장</a:t>
            </a:r>
            <a:r>
              <a:rPr lang="en-US" sz="1688" dirty="0">
                <a:solidFill>
                  <a:srgbClr val="1E3A8A"/>
                </a:solidFill>
                <a:latin typeface="Arial"/>
                <a:ea typeface="Arial"/>
                <a:cs typeface="Arial"/>
                <a:sym typeface="Arial"/>
              </a:rPr>
              <a:t>] "</a:t>
            </a:r>
            <a:r>
              <a:rPr lang="en-US" sz="1688" dirty="0" err="1">
                <a:solidFill>
                  <a:srgbClr val="1E3A8A"/>
                </a:solidFill>
                <a:latin typeface="Arial"/>
                <a:ea typeface="Arial"/>
                <a:cs typeface="Arial"/>
                <a:sym typeface="Arial"/>
              </a:rPr>
              <a:t>성실하게</a:t>
            </a:r>
            <a:r>
              <a:rPr lang="en-US" sz="1688" dirty="0">
                <a:solidFill>
                  <a:srgbClr val="1E3A8A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688" dirty="0" err="1">
                <a:solidFill>
                  <a:srgbClr val="1E3A8A"/>
                </a:solidFill>
                <a:latin typeface="Arial"/>
                <a:ea typeface="Arial"/>
                <a:cs typeface="Arial"/>
                <a:sym typeface="Arial"/>
              </a:rPr>
              <a:t>살아왔습니다</a:t>
            </a:r>
            <a:r>
              <a:rPr lang="en-US" sz="1688" dirty="0">
                <a:solidFill>
                  <a:srgbClr val="1E3A8A"/>
                </a:solidFill>
                <a:latin typeface="Arial"/>
                <a:ea typeface="Arial"/>
                <a:cs typeface="Arial"/>
                <a:sym typeface="Arial"/>
              </a:rPr>
              <a:t>."</a:t>
            </a:r>
            <a:br>
              <a:rPr lang="en-US" sz="27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688" b="1" dirty="0">
                <a:solidFill>
                  <a:srgbClr val="1E3A8A"/>
                </a:solidFill>
                <a:latin typeface="Arial"/>
                <a:ea typeface="Arial"/>
                <a:cs typeface="Arial"/>
                <a:sym typeface="Arial"/>
              </a:rPr>
              <a:t>[</a:t>
            </a:r>
            <a:r>
              <a:rPr lang="en-US" sz="1688" b="1" dirty="0" err="1">
                <a:solidFill>
                  <a:srgbClr val="1E3A8A"/>
                </a:solidFill>
                <a:latin typeface="Arial"/>
                <a:ea typeface="Arial"/>
                <a:cs typeface="Arial"/>
                <a:sym typeface="Arial"/>
              </a:rPr>
              <a:t>행동</a:t>
            </a:r>
            <a:r>
              <a:rPr lang="en-US" sz="1688" b="1" dirty="0">
                <a:solidFill>
                  <a:srgbClr val="1E3A8A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688" b="1" dirty="0" err="1">
                <a:solidFill>
                  <a:srgbClr val="1E3A8A"/>
                </a:solidFill>
                <a:latin typeface="Arial"/>
                <a:ea typeface="Arial"/>
                <a:cs typeface="Arial"/>
                <a:sym typeface="Arial"/>
              </a:rPr>
              <a:t>지표</a:t>
            </a:r>
            <a:r>
              <a:rPr lang="en-US" sz="1688" b="1" dirty="0">
                <a:solidFill>
                  <a:srgbClr val="1E3A8A"/>
                </a:solidFill>
                <a:latin typeface="Arial"/>
                <a:ea typeface="Arial"/>
                <a:cs typeface="Arial"/>
                <a:sym typeface="Arial"/>
              </a:rPr>
              <a:t>] "</a:t>
            </a:r>
            <a:r>
              <a:rPr lang="en-US" sz="1688" b="1" dirty="0" err="1">
                <a:solidFill>
                  <a:srgbClr val="1E3A8A"/>
                </a:solidFill>
                <a:latin typeface="Arial"/>
                <a:ea typeface="Arial"/>
                <a:cs typeface="Arial"/>
                <a:sym typeface="Arial"/>
              </a:rPr>
              <a:t>새벽</a:t>
            </a:r>
            <a:r>
              <a:rPr lang="en-US" sz="1688" b="1" dirty="0">
                <a:solidFill>
                  <a:srgbClr val="1E3A8A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688" b="1" dirty="0" err="1">
                <a:solidFill>
                  <a:srgbClr val="1E3A8A"/>
                </a:solidFill>
                <a:latin typeface="Arial"/>
                <a:ea typeface="Arial"/>
                <a:cs typeface="Arial"/>
                <a:sym typeface="Arial"/>
              </a:rPr>
              <a:t>우유배달</a:t>
            </a:r>
            <a:r>
              <a:rPr lang="en-US" sz="1688" b="1" dirty="0">
                <a:solidFill>
                  <a:srgbClr val="1E3A8A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688" b="1" dirty="0" err="1">
                <a:solidFill>
                  <a:srgbClr val="1E3A8A"/>
                </a:solidFill>
                <a:latin typeface="Arial"/>
                <a:ea typeface="Arial"/>
                <a:cs typeface="Arial"/>
                <a:sym typeface="Arial"/>
              </a:rPr>
              <a:t>아르바이트로</a:t>
            </a:r>
            <a:r>
              <a:rPr lang="en-US" sz="1688" b="1" dirty="0">
                <a:solidFill>
                  <a:srgbClr val="1E3A8A"/>
                </a:solidFill>
                <a:latin typeface="Arial"/>
                <a:ea typeface="Arial"/>
                <a:cs typeface="Arial"/>
                <a:sym typeface="Arial"/>
              </a:rPr>
              <a:t> 350만 </a:t>
            </a:r>
            <a:r>
              <a:rPr lang="en-US" sz="1688" b="1" dirty="0" err="1">
                <a:solidFill>
                  <a:srgbClr val="1E3A8A"/>
                </a:solidFill>
                <a:latin typeface="Arial"/>
                <a:ea typeface="Arial"/>
                <a:cs typeface="Arial"/>
                <a:sym typeface="Arial"/>
              </a:rPr>
              <a:t>원을</a:t>
            </a:r>
            <a:r>
              <a:rPr lang="en-US" sz="1688" b="1" dirty="0">
                <a:solidFill>
                  <a:srgbClr val="1E3A8A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688" b="1" dirty="0" err="1">
                <a:solidFill>
                  <a:srgbClr val="1E3A8A"/>
                </a:solidFill>
                <a:latin typeface="Arial"/>
                <a:ea typeface="Arial"/>
                <a:cs typeface="Arial"/>
                <a:sym typeface="Arial"/>
              </a:rPr>
              <a:t>저축하여</a:t>
            </a:r>
            <a:r>
              <a:rPr lang="en-US" sz="1688" b="1" dirty="0">
                <a:solidFill>
                  <a:srgbClr val="1E3A8A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688" b="1" dirty="0" err="1">
                <a:solidFill>
                  <a:srgbClr val="1E3A8A"/>
                </a:solidFill>
                <a:latin typeface="Arial"/>
                <a:ea typeface="Arial"/>
                <a:cs typeface="Arial"/>
                <a:sym typeface="Arial"/>
              </a:rPr>
              <a:t>연수를</a:t>
            </a:r>
            <a:r>
              <a:rPr lang="en-US" sz="1688" b="1" dirty="0">
                <a:solidFill>
                  <a:srgbClr val="1E3A8A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688" b="1" dirty="0" err="1">
                <a:solidFill>
                  <a:srgbClr val="1E3A8A"/>
                </a:solidFill>
                <a:latin typeface="Arial"/>
                <a:ea typeface="Arial"/>
                <a:cs typeface="Arial"/>
                <a:sym typeface="Arial"/>
              </a:rPr>
              <a:t>다녀왔습니다</a:t>
            </a:r>
            <a:r>
              <a:rPr lang="en-US" sz="1688" b="1" dirty="0">
                <a:solidFill>
                  <a:srgbClr val="1E3A8A"/>
                </a:solidFill>
                <a:latin typeface="Arial"/>
                <a:ea typeface="Arial"/>
                <a:cs typeface="Arial"/>
                <a:sym typeface="Arial"/>
              </a:rPr>
              <a:t>."</a:t>
            </a:r>
            <a:endParaRPr sz="2700" dirty="0"/>
          </a:p>
        </p:txBody>
      </p:sp>
      <p:sp>
        <p:nvSpPr>
          <p:cNvPr id="30" name="Google Shape;144;p14">
            <a:extLst>
              <a:ext uri="{FF2B5EF4-FFF2-40B4-BE49-F238E27FC236}">
                <a16:creationId xmlns:a16="http://schemas.microsoft.com/office/drawing/2014/main" id="{3AEF2EBA-B7CA-4FC6-A0FF-F4233D603339}"/>
              </a:ext>
            </a:extLst>
          </p:cNvPr>
          <p:cNvSpPr txBox="1"/>
          <p:nvPr/>
        </p:nvSpPr>
        <p:spPr>
          <a:xfrm>
            <a:off x="1443038" y="4543426"/>
            <a:ext cx="71438" cy="2182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39851"/>
              </a:lnSpc>
            </a:pPr>
            <a:r>
              <a:rPr lang="en-US" sz="1013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■</a:t>
            </a:r>
            <a:endParaRPr sz="2700"/>
          </a:p>
        </p:txBody>
      </p:sp>
      <p:sp>
        <p:nvSpPr>
          <p:cNvPr id="32" name="Google Shape;145;p14">
            <a:extLst>
              <a:ext uri="{FF2B5EF4-FFF2-40B4-BE49-F238E27FC236}">
                <a16:creationId xmlns:a16="http://schemas.microsoft.com/office/drawing/2014/main" id="{DE92DBE4-B6F2-4FF6-AA75-B02DD5E10260}"/>
              </a:ext>
            </a:extLst>
          </p:cNvPr>
          <p:cNvSpPr txBox="1"/>
          <p:nvPr/>
        </p:nvSpPr>
        <p:spPr>
          <a:xfrm>
            <a:off x="1443038" y="5394871"/>
            <a:ext cx="71438" cy="2182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39851"/>
              </a:lnSpc>
            </a:pPr>
            <a:r>
              <a:rPr lang="en-US" sz="1013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■</a:t>
            </a:r>
            <a:endParaRPr sz="2700"/>
          </a:p>
        </p:txBody>
      </p:sp>
      <p:sp>
        <p:nvSpPr>
          <p:cNvPr id="33" name="Google Shape;146;p14">
            <a:extLst>
              <a:ext uri="{FF2B5EF4-FFF2-40B4-BE49-F238E27FC236}">
                <a16:creationId xmlns:a16="http://schemas.microsoft.com/office/drawing/2014/main" id="{3179407A-38A2-4001-9328-A385C2A5C7FD}"/>
              </a:ext>
            </a:extLst>
          </p:cNvPr>
          <p:cNvSpPr txBox="1"/>
          <p:nvPr/>
        </p:nvSpPr>
        <p:spPr>
          <a:xfrm>
            <a:off x="1443038" y="6246316"/>
            <a:ext cx="71438" cy="2182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39851"/>
              </a:lnSpc>
            </a:pPr>
            <a:r>
              <a:rPr lang="en-US" sz="1013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■</a:t>
            </a:r>
            <a:endParaRPr sz="2700"/>
          </a:p>
        </p:txBody>
      </p:sp>
      <p:pic>
        <p:nvPicPr>
          <p:cNvPr id="34" name="Google Shape;147;p14" descr="image.png">
            <a:extLst>
              <a:ext uri="{FF2B5EF4-FFF2-40B4-BE49-F238E27FC236}">
                <a16:creationId xmlns:a16="http://schemas.microsoft.com/office/drawing/2014/main" id="{DF480993-7B0B-437F-A803-04C2FE476233}"/>
              </a:ext>
            </a:extLst>
          </p:cNvPr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1785938" y="7547817"/>
            <a:ext cx="17145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35" name="Google Shape;148;p14">
            <a:extLst>
              <a:ext uri="{FF2B5EF4-FFF2-40B4-BE49-F238E27FC236}">
                <a16:creationId xmlns:a16="http://schemas.microsoft.com/office/drawing/2014/main" id="{76306167-561F-4462-B416-79D86DACCD45}"/>
              </a:ext>
            </a:extLst>
          </p:cNvPr>
          <p:cNvSpPr txBox="1"/>
          <p:nvPr/>
        </p:nvSpPr>
        <p:spPr>
          <a:xfrm>
            <a:off x="10015538" y="4543426"/>
            <a:ext cx="71438" cy="2182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39851"/>
              </a:lnSpc>
            </a:pPr>
            <a:r>
              <a:rPr lang="en-US" sz="1013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■</a:t>
            </a:r>
            <a:endParaRPr sz="2700"/>
          </a:p>
        </p:txBody>
      </p:sp>
      <p:sp>
        <p:nvSpPr>
          <p:cNvPr id="36" name="Google Shape;149;p14">
            <a:extLst>
              <a:ext uri="{FF2B5EF4-FFF2-40B4-BE49-F238E27FC236}">
                <a16:creationId xmlns:a16="http://schemas.microsoft.com/office/drawing/2014/main" id="{0C789633-4037-4635-AC7C-F8B0A405368C}"/>
              </a:ext>
            </a:extLst>
          </p:cNvPr>
          <p:cNvSpPr txBox="1"/>
          <p:nvPr/>
        </p:nvSpPr>
        <p:spPr>
          <a:xfrm>
            <a:off x="10015538" y="5394871"/>
            <a:ext cx="71438" cy="2182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39851"/>
              </a:lnSpc>
            </a:pPr>
            <a:r>
              <a:rPr lang="en-US" sz="1013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■</a:t>
            </a:r>
            <a:endParaRPr sz="2700"/>
          </a:p>
        </p:txBody>
      </p:sp>
      <p:sp>
        <p:nvSpPr>
          <p:cNvPr id="37" name="Google Shape;150;p14">
            <a:extLst>
              <a:ext uri="{FF2B5EF4-FFF2-40B4-BE49-F238E27FC236}">
                <a16:creationId xmlns:a16="http://schemas.microsoft.com/office/drawing/2014/main" id="{20D6C8B0-006C-4A2F-BC49-DBB583ABC54B}"/>
              </a:ext>
            </a:extLst>
          </p:cNvPr>
          <p:cNvSpPr txBox="1"/>
          <p:nvPr/>
        </p:nvSpPr>
        <p:spPr>
          <a:xfrm>
            <a:off x="10015538" y="6246316"/>
            <a:ext cx="71438" cy="2182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39851"/>
              </a:lnSpc>
            </a:pPr>
            <a:r>
              <a:rPr lang="en-US" sz="1013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■</a:t>
            </a:r>
            <a:endParaRPr sz="2700"/>
          </a:p>
        </p:txBody>
      </p:sp>
      <p:pic>
        <p:nvPicPr>
          <p:cNvPr id="39" name="Google Shape;151;p14" descr="image.png">
            <a:extLst>
              <a:ext uri="{FF2B5EF4-FFF2-40B4-BE49-F238E27FC236}">
                <a16:creationId xmlns:a16="http://schemas.microsoft.com/office/drawing/2014/main" id="{72B10894-CE73-4362-BA47-877A89962C4F}"/>
              </a:ext>
            </a:extLst>
          </p:cNvPr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10358438" y="7547817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41" name="TextBox 7">
            <a:extLst>
              <a:ext uri="{FF2B5EF4-FFF2-40B4-BE49-F238E27FC236}">
                <a16:creationId xmlns:a16="http://schemas.microsoft.com/office/drawing/2014/main" id="{B76EA151-ECAC-44ED-A51F-EC3F4EFCE9D9}"/>
              </a:ext>
            </a:extLst>
          </p:cNvPr>
          <p:cNvSpPr txBox="1"/>
          <p:nvPr/>
        </p:nvSpPr>
        <p:spPr>
          <a:xfrm>
            <a:off x="14357350" y="598765"/>
            <a:ext cx="3930650" cy="30107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ko-KR" altLang="en-US" sz="1600" b="1" i="0" u="none" strike="noStrike" spc="100" dirty="0">
                <a:solidFill>
                  <a:schemeClr val="accent6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진로설계 </a:t>
            </a:r>
            <a:r>
              <a:rPr lang="en-US" altLang="ko-KR" sz="1600" b="1" i="0" u="none" strike="noStrike" spc="100" dirty="0">
                <a:solidFill>
                  <a:schemeClr val="accent6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4. </a:t>
            </a:r>
            <a:r>
              <a:rPr lang="ko-KR" altLang="en-US" sz="1600" b="1" i="0" u="none" strike="noStrike" spc="100" dirty="0" err="1">
                <a:solidFill>
                  <a:schemeClr val="accent6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취업전략과</a:t>
            </a:r>
            <a:r>
              <a:rPr lang="ko-KR" altLang="en-US" sz="1600" b="1" i="0" u="none" strike="noStrike" spc="100" dirty="0">
                <a:solidFill>
                  <a:schemeClr val="accent6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600" b="1" i="0" u="none" strike="noStrike" spc="100" dirty="0" err="1">
                <a:solidFill>
                  <a:schemeClr val="accent6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실전취업</a:t>
            </a:r>
            <a:endParaRPr lang="en-US" sz="1600" b="1" i="0" u="none" strike="noStrike" spc="100" dirty="0">
              <a:solidFill>
                <a:schemeClr val="accent6">
                  <a:lumMod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347869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971800" y="949373"/>
            <a:ext cx="13182600" cy="1092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ko-KR" altLang="en-US" sz="6200" b="1" spc="-500" dirty="0">
                <a:solidFill>
                  <a:srgbClr val="505050"/>
                </a:solidFill>
                <a:latin typeface="Gmarket Sans Medium"/>
              </a:rPr>
              <a:t>유형별 면접 특성과 </a:t>
            </a:r>
            <a:r>
              <a:rPr lang="ko-KR" altLang="en-US" sz="6200" b="1" spc="-500" dirty="0" err="1">
                <a:solidFill>
                  <a:srgbClr val="505050"/>
                </a:solidFill>
                <a:latin typeface="Gmarket Sans Medium"/>
              </a:rPr>
              <a:t>전략법</a:t>
            </a:r>
            <a:endParaRPr lang="ko-KR" sz="6200" b="1" i="0" u="none" strike="noStrike" spc="-500" dirty="0">
              <a:solidFill>
                <a:srgbClr val="505050"/>
              </a:solidFill>
              <a:ea typeface="Gmarket Sans Medium"/>
            </a:endParaRPr>
          </a:p>
        </p:txBody>
      </p:sp>
      <p:pic>
        <p:nvPicPr>
          <p:cNvPr id="27" name="Picture 20">
            <a:extLst>
              <a:ext uri="{FF2B5EF4-FFF2-40B4-BE49-F238E27FC236}">
                <a16:creationId xmlns:a16="http://schemas.microsoft.com/office/drawing/2014/main" id="{581E111A-60B0-4F08-8021-25FC9495054C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6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927100" y="-444500"/>
            <a:ext cx="1003300" cy="2641600"/>
          </a:xfrm>
          <a:prstGeom prst="rect">
            <a:avLst/>
          </a:prstGeom>
        </p:spPr>
      </p:pic>
      <p:sp>
        <p:nvSpPr>
          <p:cNvPr id="31" name="TextBox 24">
            <a:extLst>
              <a:ext uri="{FF2B5EF4-FFF2-40B4-BE49-F238E27FC236}">
                <a16:creationId xmlns:a16="http://schemas.microsoft.com/office/drawing/2014/main" id="{0D59A901-6463-4687-9715-4D43C24F5E45}"/>
              </a:ext>
            </a:extLst>
          </p:cNvPr>
          <p:cNvSpPr txBox="1"/>
          <p:nvPr/>
        </p:nvSpPr>
        <p:spPr>
          <a:xfrm>
            <a:off x="1079500" y="1333500"/>
            <a:ext cx="698500" cy="6223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sz="3400" b="0" i="0" u="none" strike="noStrike" dirty="0">
                <a:solidFill>
                  <a:srgbClr val="FFFFFF"/>
                </a:solidFill>
                <a:latin typeface="Gmarket Sans Medium"/>
              </a:rPr>
              <a:t>03</a:t>
            </a:r>
          </a:p>
        </p:txBody>
      </p:sp>
      <p:cxnSp>
        <p:nvCxnSpPr>
          <p:cNvPr id="38" name="직선 연결선 37">
            <a:extLst>
              <a:ext uri="{FF2B5EF4-FFF2-40B4-BE49-F238E27FC236}">
                <a16:creationId xmlns:a16="http://schemas.microsoft.com/office/drawing/2014/main" id="{A3BA2F72-70FA-4245-B673-0C42FECADA68}"/>
              </a:ext>
            </a:extLst>
          </p:cNvPr>
          <p:cNvCxnSpPr>
            <a:cxnSpLocks/>
            <a:endCxn id="40" idx="1"/>
          </p:cNvCxnSpPr>
          <p:nvPr/>
        </p:nvCxnSpPr>
        <p:spPr>
          <a:xfrm flipV="1">
            <a:off x="304800" y="9817100"/>
            <a:ext cx="14764438" cy="52238"/>
          </a:xfrm>
          <a:prstGeom prst="line">
            <a:avLst/>
          </a:prstGeom>
          <a:ln>
            <a:solidFill>
              <a:schemeClr val="accent6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78C00D09-46DD-4131-BDED-6019AD2050B0}"/>
              </a:ext>
            </a:extLst>
          </p:cNvPr>
          <p:cNvSpPr/>
          <p:nvPr/>
        </p:nvSpPr>
        <p:spPr>
          <a:xfrm>
            <a:off x="15069238" y="9632434"/>
            <a:ext cx="2664384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 algn="r">
              <a:lnSpc>
                <a:spcPct val="99600"/>
              </a:lnSpc>
            </a:pPr>
            <a:r>
              <a:rPr lang="en-US" altLang="ko-KR" b="1" dirty="0">
                <a:solidFill>
                  <a:schemeClr val="accent6">
                    <a:lumMod val="50000"/>
                  </a:schemeClr>
                </a:solidFill>
                <a:latin typeface="+mj-ea"/>
              </a:rPr>
              <a:t>Workbook</a:t>
            </a:r>
            <a:r>
              <a:rPr lang="ko-KR" altLang="en-US" b="1" dirty="0">
                <a:solidFill>
                  <a:schemeClr val="accent6">
                    <a:lumMod val="50000"/>
                  </a:schemeClr>
                </a:solidFill>
                <a:latin typeface="+mj-ea"/>
              </a:rPr>
              <a:t> </a:t>
            </a:r>
            <a:r>
              <a:rPr lang="en-US" altLang="ko-KR" b="1" dirty="0">
                <a:solidFill>
                  <a:schemeClr val="accent6">
                    <a:lumMod val="50000"/>
                  </a:schemeClr>
                </a:solidFill>
                <a:latin typeface="+mj-ea"/>
              </a:rPr>
              <a:t>p. 136~138</a:t>
            </a:r>
          </a:p>
        </p:txBody>
      </p:sp>
      <p:pic>
        <p:nvPicPr>
          <p:cNvPr id="41" name="Google Shape;157;p15" descr="image.png">
            <a:extLst>
              <a:ext uri="{FF2B5EF4-FFF2-40B4-BE49-F238E27FC236}">
                <a16:creationId xmlns:a16="http://schemas.microsoft.com/office/drawing/2014/main" id="{24EE236F-D357-456B-93D2-FB5808572CDD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57250" y="2468835"/>
            <a:ext cx="16573500" cy="3182746"/>
          </a:xfrm>
          <a:prstGeom prst="rect">
            <a:avLst/>
          </a:prstGeom>
          <a:noFill/>
          <a:ln>
            <a:noFill/>
          </a:ln>
        </p:spPr>
      </p:pic>
      <p:pic>
        <p:nvPicPr>
          <p:cNvPr id="42" name="Google Shape;158;p15" descr="image.png">
            <a:extLst>
              <a:ext uri="{FF2B5EF4-FFF2-40B4-BE49-F238E27FC236}">
                <a16:creationId xmlns:a16="http://schemas.microsoft.com/office/drawing/2014/main" id="{CB53AF8E-CCCC-4E3E-997B-48EBE42D4A5A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57250" y="5904375"/>
            <a:ext cx="16573500" cy="3433252"/>
          </a:xfrm>
          <a:prstGeom prst="rect">
            <a:avLst/>
          </a:prstGeom>
          <a:noFill/>
          <a:ln>
            <a:noFill/>
          </a:ln>
        </p:spPr>
      </p:pic>
      <p:pic>
        <p:nvPicPr>
          <p:cNvPr id="43" name="Google Shape;159;p15" descr="image.png">
            <a:extLst>
              <a:ext uri="{FF2B5EF4-FFF2-40B4-BE49-F238E27FC236}">
                <a16:creationId xmlns:a16="http://schemas.microsoft.com/office/drawing/2014/main" id="{2527AB66-D5AF-4FC1-8B23-F3D6AAEC83B6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628776" y="4145414"/>
            <a:ext cx="15359063" cy="1365413"/>
          </a:xfrm>
          <a:prstGeom prst="rect">
            <a:avLst/>
          </a:prstGeom>
          <a:noFill/>
          <a:ln>
            <a:noFill/>
          </a:ln>
        </p:spPr>
      </p:pic>
      <p:pic>
        <p:nvPicPr>
          <p:cNvPr id="44" name="Google Shape;160;p15" descr="image.png">
            <a:extLst>
              <a:ext uri="{FF2B5EF4-FFF2-40B4-BE49-F238E27FC236}">
                <a16:creationId xmlns:a16="http://schemas.microsoft.com/office/drawing/2014/main" id="{F572C900-88CC-4F61-AE71-B0929454E7E0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371601" y="7647887"/>
            <a:ext cx="15616238" cy="1528763"/>
          </a:xfrm>
          <a:prstGeom prst="rect">
            <a:avLst/>
          </a:prstGeom>
          <a:noFill/>
          <a:ln>
            <a:noFill/>
          </a:ln>
        </p:spPr>
      </p:pic>
      <p:pic>
        <p:nvPicPr>
          <p:cNvPr id="45" name="Google Shape;163;p15" descr="image.png">
            <a:extLst>
              <a:ext uri="{FF2B5EF4-FFF2-40B4-BE49-F238E27FC236}">
                <a16:creationId xmlns:a16="http://schemas.microsoft.com/office/drawing/2014/main" id="{11129F76-9FB5-4250-A1A8-C753C57BF3D5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371600" y="2727231"/>
            <a:ext cx="428625" cy="342900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Google Shape;164;p15">
            <a:extLst>
              <a:ext uri="{FF2B5EF4-FFF2-40B4-BE49-F238E27FC236}">
                <a16:creationId xmlns:a16="http://schemas.microsoft.com/office/drawing/2014/main" id="{DC4749D6-7F4A-408C-9F2E-305C2141DEC6}"/>
              </a:ext>
            </a:extLst>
          </p:cNvPr>
          <p:cNvSpPr txBox="1"/>
          <p:nvPr/>
        </p:nvSpPr>
        <p:spPr>
          <a:xfrm>
            <a:off x="1971675" y="2684369"/>
            <a:ext cx="3832275" cy="3808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2475" b="1" dirty="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3. </a:t>
            </a:r>
            <a:r>
              <a:rPr lang="en-US" sz="2475" b="1" dirty="0" err="1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프레젠테이션</a:t>
            </a:r>
            <a:r>
              <a:rPr lang="en-US" sz="2475" b="1" dirty="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 (PT) </a:t>
            </a:r>
            <a:r>
              <a:rPr lang="en-US" sz="2475" b="1" dirty="0" err="1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면접</a:t>
            </a:r>
            <a:endParaRPr sz="2700" dirty="0"/>
          </a:p>
        </p:txBody>
      </p:sp>
      <p:sp>
        <p:nvSpPr>
          <p:cNvPr id="47" name="Google Shape;165;p15">
            <a:extLst>
              <a:ext uri="{FF2B5EF4-FFF2-40B4-BE49-F238E27FC236}">
                <a16:creationId xmlns:a16="http://schemas.microsoft.com/office/drawing/2014/main" id="{D8DF9C97-7B5B-4941-AB39-4D5E209F8AD1}"/>
              </a:ext>
            </a:extLst>
          </p:cNvPr>
          <p:cNvSpPr txBox="1"/>
          <p:nvPr/>
        </p:nvSpPr>
        <p:spPr>
          <a:xfrm>
            <a:off x="1628776" y="3213006"/>
            <a:ext cx="15359063" cy="41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40000"/>
              </a:lnSpc>
            </a:pPr>
            <a:r>
              <a:rPr lang="en-US" sz="1913" dirty="0" err="1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특정</a:t>
            </a:r>
            <a:r>
              <a:rPr lang="en-US" sz="1913" dirty="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913" dirty="0" err="1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비즈니스</a:t>
            </a:r>
            <a:r>
              <a:rPr lang="en-US" sz="1913" dirty="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913" dirty="0" err="1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주제에</a:t>
            </a:r>
            <a:r>
              <a:rPr lang="en-US" sz="1913" dirty="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913" dirty="0" err="1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대한</a:t>
            </a:r>
            <a:r>
              <a:rPr lang="en-US" sz="1913" dirty="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913" b="1" dirty="0" err="1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논리적</a:t>
            </a:r>
            <a:r>
              <a:rPr lang="en-US" sz="1913" b="1" dirty="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913" b="1" dirty="0" err="1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구조화</a:t>
            </a:r>
            <a:r>
              <a:rPr lang="en-US" sz="1913" b="1" dirty="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913" b="1" dirty="0" err="1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능력</a:t>
            </a:r>
            <a:r>
              <a:rPr lang="en-US" sz="1913" b="1" dirty="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US" sz="1913" b="1" dirty="0" err="1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설득력</a:t>
            </a:r>
            <a:r>
              <a:rPr lang="en-US" sz="1913" b="1" dirty="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US" sz="1913" b="1" dirty="0" err="1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발표</a:t>
            </a:r>
            <a:r>
              <a:rPr lang="en-US" sz="1913" b="1" dirty="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913" b="1" dirty="0" err="1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기술</a:t>
            </a:r>
            <a:r>
              <a:rPr lang="en-US" sz="1913" dirty="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913" dirty="0" err="1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종합</a:t>
            </a:r>
            <a:r>
              <a:rPr lang="en-US" sz="1913" dirty="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913" dirty="0" err="1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평가</a:t>
            </a:r>
            <a:endParaRPr sz="2700" dirty="0"/>
          </a:p>
        </p:txBody>
      </p:sp>
      <p:sp>
        <p:nvSpPr>
          <p:cNvPr id="48" name="Google Shape;166;p15">
            <a:extLst>
              <a:ext uri="{FF2B5EF4-FFF2-40B4-BE49-F238E27FC236}">
                <a16:creationId xmlns:a16="http://schemas.microsoft.com/office/drawing/2014/main" id="{E32472F2-A965-4EC9-8AEA-44BCCC3696A4}"/>
              </a:ext>
            </a:extLst>
          </p:cNvPr>
          <p:cNvSpPr txBox="1"/>
          <p:nvPr/>
        </p:nvSpPr>
        <p:spPr>
          <a:xfrm>
            <a:off x="1628776" y="3724454"/>
            <a:ext cx="15359063" cy="41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40000"/>
              </a:lnSpc>
            </a:pPr>
            <a:r>
              <a:rPr lang="en-US" sz="1913" dirty="0" err="1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도입</a:t>
            </a:r>
            <a:r>
              <a:rPr lang="en-US" sz="1913" dirty="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lang="en-US" sz="1913" dirty="0" err="1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동기부여</a:t>
            </a:r>
            <a:r>
              <a:rPr lang="en-US" sz="1913" dirty="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) ➔ </a:t>
            </a:r>
            <a:r>
              <a:rPr lang="en-US" sz="1913" dirty="0" err="1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본문</a:t>
            </a:r>
            <a:r>
              <a:rPr lang="en-US" sz="1913" dirty="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lang="en-US" sz="1913" dirty="0" err="1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논리</a:t>
            </a:r>
            <a:r>
              <a:rPr lang="en-US" sz="1913" dirty="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913" dirty="0" err="1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증명</a:t>
            </a:r>
            <a:r>
              <a:rPr lang="en-US" sz="1913" dirty="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) ➔ </a:t>
            </a:r>
            <a:r>
              <a:rPr lang="en-US" sz="1913" dirty="0" err="1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마무리</a:t>
            </a:r>
            <a:r>
              <a:rPr lang="en-US" sz="1913" dirty="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lang="en-US" sz="1913" dirty="0" err="1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결론</a:t>
            </a:r>
            <a:r>
              <a:rPr lang="en-US" sz="1913" dirty="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913" dirty="0" err="1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요약</a:t>
            </a:r>
            <a:r>
              <a:rPr lang="en-US" sz="1913" dirty="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)의 </a:t>
            </a:r>
            <a:r>
              <a:rPr lang="en-US" sz="1913" b="1" dirty="0" err="1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명확한</a:t>
            </a:r>
            <a:r>
              <a:rPr lang="en-US" sz="1913" b="1" dirty="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913" b="1" dirty="0" err="1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기승전결</a:t>
            </a:r>
            <a:r>
              <a:rPr lang="en-US" sz="1913" b="1" dirty="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913" b="1" dirty="0" err="1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구조</a:t>
            </a:r>
            <a:r>
              <a:rPr lang="en-US" sz="1913" b="1" dirty="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913" b="1" dirty="0" err="1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확립</a:t>
            </a:r>
            <a:endParaRPr sz="2700" dirty="0"/>
          </a:p>
        </p:txBody>
      </p:sp>
      <p:pic>
        <p:nvPicPr>
          <p:cNvPr id="49" name="Google Shape;167;p15" descr="image.png">
            <a:extLst>
              <a:ext uri="{FF2B5EF4-FFF2-40B4-BE49-F238E27FC236}">
                <a16:creationId xmlns:a16="http://schemas.microsoft.com/office/drawing/2014/main" id="{89818EB2-CE14-48DD-9BA4-A7E205E45ACB}"/>
              </a:ext>
            </a:extLst>
          </p:cNvPr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371600" y="6115404"/>
            <a:ext cx="428625" cy="342900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Google Shape;168;p15">
            <a:extLst>
              <a:ext uri="{FF2B5EF4-FFF2-40B4-BE49-F238E27FC236}">
                <a16:creationId xmlns:a16="http://schemas.microsoft.com/office/drawing/2014/main" id="{C324A231-8B91-481B-B1B3-89129B98A2BE}"/>
              </a:ext>
            </a:extLst>
          </p:cNvPr>
          <p:cNvSpPr txBox="1"/>
          <p:nvPr/>
        </p:nvSpPr>
        <p:spPr>
          <a:xfrm>
            <a:off x="1971675" y="6072542"/>
            <a:ext cx="3851262" cy="3808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2475" b="1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4. 토론 면접 (Discussion)</a:t>
            </a:r>
            <a:endParaRPr sz="2700"/>
          </a:p>
        </p:txBody>
      </p:sp>
      <p:sp>
        <p:nvSpPr>
          <p:cNvPr id="51" name="Google Shape;169;p15">
            <a:extLst>
              <a:ext uri="{FF2B5EF4-FFF2-40B4-BE49-F238E27FC236}">
                <a16:creationId xmlns:a16="http://schemas.microsoft.com/office/drawing/2014/main" id="{AEDE2B55-885E-4D73-B0B7-DC2C57E38F25}"/>
              </a:ext>
            </a:extLst>
          </p:cNvPr>
          <p:cNvSpPr txBox="1"/>
          <p:nvPr/>
        </p:nvSpPr>
        <p:spPr>
          <a:xfrm>
            <a:off x="1628776" y="6563079"/>
            <a:ext cx="15359063" cy="41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40000"/>
              </a:lnSpc>
            </a:pPr>
            <a:r>
              <a:rPr lang="en-US" sz="1913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조직 내 문제 해결 상황을 축소판으로 구현하여 </a:t>
            </a:r>
            <a:r>
              <a:rPr lang="en-US" sz="1913" b="1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개인 행동 양식 및 적합성</a:t>
            </a:r>
            <a:r>
              <a:rPr lang="en-US" sz="1913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 관찰</a:t>
            </a:r>
            <a:endParaRPr sz="2700"/>
          </a:p>
        </p:txBody>
      </p:sp>
      <p:sp>
        <p:nvSpPr>
          <p:cNvPr id="52" name="Google Shape;170;p15">
            <a:extLst>
              <a:ext uri="{FF2B5EF4-FFF2-40B4-BE49-F238E27FC236}">
                <a16:creationId xmlns:a16="http://schemas.microsoft.com/office/drawing/2014/main" id="{AA17309A-9D16-4197-84B0-634CB709FD1A}"/>
              </a:ext>
            </a:extLst>
          </p:cNvPr>
          <p:cNvSpPr txBox="1"/>
          <p:nvPr/>
        </p:nvSpPr>
        <p:spPr>
          <a:xfrm>
            <a:off x="1628776" y="7074527"/>
            <a:ext cx="15359063" cy="41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40000"/>
              </a:lnSpc>
            </a:pPr>
            <a:r>
              <a:rPr lang="en-US" sz="1913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감정적 호소가 아닌 </a:t>
            </a:r>
            <a:r>
              <a:rPr lang="en-US" sz="1913" b="1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객관적 데이터를 기초로 한 합리적 의견 개진</a:t>
            </a:r>
            <a:endParaRPr sz="2700"/>
          </a:p>
        </p:txBody>
      </p:sp>
      <p:sp>
        <p:nvSpPr>
          <p:cNvPr id="53" name="Google Shape;171;p15">
            <a:extLst>
              <a:ext uri="{FF2B5EF4-FFF2-40B4-BE49-F238E27FC236}">
                <a16:creationId xmlns:a16="http://schemas.microsoft.com/office/drawing/2014/main" id="{D590AD64-0D98-43D8-AB46-6C5BD1653F1A}"/>
              </a:ext>
            </a:extLst>
          </p:cNvPr>
          <p:cNvSpPr txBox="1"/>
          <p:nvPr/>
        </p:nvSpPr>
        <p:spPr>
          <a:xfrm>
            <a:off x="1371601" y="3270157"/>
            <a:ext cx="71438" cy="2182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39851"/>
              </a:lnSpc>
            </a:pPr>
            <a:r>
              <a:rPr lang="en-US" sz="1013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■</a:t>
            </a:r>
            <a:endParaRPr sz="2700"/>
          </a:p>
        </p:txBody>
      </p:sp>
      <p:sp>
        <p:nvSpPr>
          <p:cNvPr id="54" name="Google Shape;172;p15">
            <a:extLst>
              <a:ext uri="{FF2B5EF4-FFF2-40B4-BE49-F238E27FC236}">
                <a16:creationId xmlns:a16="http://schemas.microsoft.com/office/drawing/2014/main" id="{20C15813-E10F-4D54-AEA5-66028C39CEB7}"/>
              </a:ext>
            </a:extLst>
          </p:cNvPr>
          <p:cNvSpPr txBox="1"/>
          <p:nvPr/>
        </p:nvSpPr>
        <p:spPr>
          <a:xfrm>
            <a:off x="1371601" y="3781604"/>
            <a:ext cx="71438" cy="2182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39851"/>
              </a:lnSpc>
            </a:pPr>
            <a:r>
              <a:rPr lang="en-US" sz="1013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■</a:t>
            </a:r>
            <a:endParaRPr sz="2700"/>
          </a:p>
        </p:txBody>
      </p:sp>
      <p:sp>
        <p:nvSpPr>
          <p:cNvPr id="55" name="Google Shape;173;p15">
            <a:extLst>
              <a:ext uri="{FF2B5EF4-FFF2-40B4-BE49-F238E27FC236}">
                <a16:creationId xmlns:a16="http://schemas.microsoft.com/office/drawing/2014/main" id="{C5B70130-ADF1-46B9-8664-F97C7886909D}"/>
              </a:ext>
            </a:extLst>
          </p:cNvPr>
          <p:cNvSpPr txBox="1"/>
          <p:nvPr/>
        </p:nvSpPr>
        <p:spPr>
          <a:xfrm>
            <a:off x="2079804" y="4328282"/>
            <a:ext cx="7311012" cy="2597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r>
              <a:rPr lang="en-US" sz="1688" b="1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DO (권장)</a:t>
            </a:r>
            <a:endParaRPr sz="2700"/>
          </a:p>
        </p:txBody>
      </p:sp>
      <p:sp>
        <p:nvSpPr>
          <p:cNvPr id="56" name="Google Shape;174;p15">
            <a:extLst>
              <a:ext uri="{FF2B5EF4-FFF2-40B4-BE49-F238E27FC236}">
                <a16:creationId xmlns:a16="http://schemas.microsoft.com/office/drawing/2014/main" id="{1B47F2A7-01C1-49C2-A853-3FA25D373578}"/>
              </a:ext>
            </a:extLst>
          </p:cNvPr>
          <p:cNvSpPr txBox="1"/>
          <p:nvPr/>
        </p:nvSpPr>
        <p:spPr>
          <a:xfrm>
            <a:off x="2059923" y="4745489"/>
            <a:ext cx="6976920" cy="3636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40000"/>
              </a:lnSpc>
            </a:pPr>
            <a:r>
              <a:rPr lang="en-US" sz="1688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주장이 논리적으로 일관적이고 핵심이 분명</a:t>
            </a:r>
            <a:endParaRPr sz="2700"/>
          </a:p>
        </p:txBody>
      </p:sp>
      <p:sp>
        <p:nvSpPr>
          <p:cNvPr id="57" name="Google Shape;175;p15">
            <a:extLst>
              <a:ext uri="{FF2B5EF4-FFF2-40B4-BE49-F238E27FC236}">
                <a16:creationId xmlns:a16="http://schemas.microsoft.com/office/drawing/2014/main" id="{65891B43-5C15-428C-AF5B-8BC6102B2B58}"/>
              </a:ext>
            </a:extLst>
          </p:cNvPr>
          <p:cNvSpPr txBox="1"/>
          <p:nvPr/>
        </p:nvSpPr>
        <p:spPr>
          <a:xfrm>
            <a:off x="2059923" y="5102676"/>
            <a:ext cx="6976920" cy="3636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40000"/>
              </a:lnSpc>
            </a:pPr>
            <a:r>
              <a:rPr lang="en-US" sz="1688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면접관과 눈을 맞추며 적절한 제스처 사용</a:t>
            </a:r>
            <a:endParaRPr sz="2700"/>
          </a:p>
        </p:txBody>
      </p:sp>
      <p:sp>
        <p:nvSpPr>
          <p:cNvPr id="58" name="Google Shape;176;p15">
            <a:extLst>
              <a:ext uri="{FF2B5EF4-FFF2-40B4-BE49-F238E27FC236}">
                <a16:creationId xmlns:a16="http://schemas.microsoft.com/office/drawing/2014/main" id="{D3928B70-FDEB-4535-803D-903F378EE6B2}"/>
              </a:ext>
            </a:extLst>
          </p:cNvPr>
          <p:cNvSpPr txBox="1"/>
          <p:nvPr/>
        </p:nvSpPr>
        <p:spPr>
          <a:xfrm>
            <a:off x="9745047" y="4328282"/>
            <a:ext cx="7311012" cy="2597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r>
              <a:rPr lang="en-US" sz="1688" b="1">
                <a:solidFill>
                  <a:srgbClr val="EF4444"/>
                </a:solidFill>
                <a:latin typeface="Arial"/>
                <a:ea typeface="Arial"/>
                <a:cs typeface="Arial"/>
                <a:sym typeface="Arial"/>
              </a:rPr>
              <a:t>DON'T (금지)</a:t>
            </a:r>
            <a:endParaRPr sz="2700"/>
          </a:p>
        </p:txBody>
      </p:sp>
      <p:sp>
        <p:nvSpPr>
          <p:cNvPr id="59" name="Google Shape;177;p15">
            <a:extLst>
              <a:ext uri="{FF2B5EF4-FFF2-40B4-BE49-F238E27FC236}">
                <a16:creationId xmlns:a16="http://schemas.microsoft.com/office/drawing/2014/main" id="{C8C65BF0-A7B3-4D3A-BC7E-A918185EAD25}"/>
              </a:ext>
            </a:extLst>
          </p:cNvPr>
          <p:cNvSpPr txBox="1"/>
          <p:nvPr/>
        </p:nvSpPr>
        <p:spPr>
          <a:xfrm>
            <a:off x="9725166" y="4745489"/>
            <a:ext cx="6976920" cy="3636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40000"/>
              </a:lnSpc>
            </a:pPr>
            <a:r>
              <a:rPr lang="en-US" sz="1688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근거 없이 나열식으로 전개하거나 시간 초과</a:t>
            </a:r>
            <a:endParaRPr sz="2700"/>
          </a:p>
        </p:txBody>
      </p:sp>
      <p:sp>
        <p:nvSpPr>
          <p:cNvPr id="60" name="Google Shape;178;p15">
            <a:extLst>
              <a:ext uri="{FF2B5EF4-FFF2-40B4-BE49-F238E27FC236}">
                <a16:creationId xmlns:a16="http://schemas.microsoft.com/office/drawing/2014/main" id="{5157620B-D938-47F7-9C7B-C9AA270DC3DB}"/>
              </a:ext>
            </a:extLst>
          </p:cNvPr>
          <p:cNvSpPr txBox="1"/>
          <p:nvPr/>
        </p:nvSpPr>
        <p:spPr>
          <a:xfrm>
            <a:off x="9725166" y="5102676"/>
            <a:ext cx="6976920" cy="3636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40000"/>
              </a:lnSpc>
            </a:pPr>
            <a:r>
              <a:rPr lang="en-US" sz="1688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시선 처리 불안 및 작성한 자료만 의존하여 읽기</a:t>
            </a:r>
            <a:endParaRPr sz="2700"/>
          </a:p>
        </p:txBody>
      </p:sp>
      <p:sp>
        <p:nvSpPr>
          <p:cNvPr id="61" name="Google Shape;179;p15">
            <a:extLst>
              <a:ext uri="{FF2B5EF4-FFF2-40B4-BE49-F238E27FC236}">
                <a16:creationId xmlns:a16="http://schemas.microsoft.com/office/drawing/2014/main" id="{99C477B5-770D-49A5-8C3C-7F3378D03781}"/>
              </a:ext>
            </a:extLst>
          </p:cNvPr>
          <p:cNvSpPr txBox="1"/>
          <p:nvPr/>
        </p:nvSpPr>
        <p:spPr>
          <a:xfrm>
            <a:off x="1371601" y="6620230"/>
            <a:ext cx="71438" cy="2182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39851"/>
              </a:lnSpc>
            </a:pPr>
            <a:r>
              <a:rPr lang="en-US" sz="1013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■</a:t>
            </a:r>
            <a:endParaRPr sz="2700"/>
          </a:p>
        </p:txBody>
      </p:sp>
      <p:sp>
        <p:nvSpPr>
          <p:cNvPr id="62" name="Google Shape;180;p15">
            <a:extLst>
              <a:ext uri="{FF2B5EF4-FFF2-40B4-BE49-F238E27FC236}">
                <a16:creationId xmlns:a16="http://schemas.microsoft.com/office/drawing/2014/main" id="{4E5B7ED3-7477-471A-B82B-7B4B64408707}"/>
              </a:ext>
            </a:extLst>
          </p:cNvPr>
          <p:cNvSpPr txBox="1"/>
          <p:nvPr/>
        </p:nvSpPr>
        <p:spPr>
          <a:xfrm>
            <a:off x="1371601" y="7131677"/>
            <a:ext cx="71438" cy="2182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39851"/>
              </a:lnSpc>
            </a:pPr>
            <a:r>
              <a:rPr lang="en-US" sz="1013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■</a:t>
            </a:r>
            <a:endParaRPr sz="2700"/>
          </a:p>
        </p:txBody>
      </p:sp>
      <p:sp>
        <p:nvSpPr>
          <p:cNvPr id="63" name="Google Shape;181;p15">
            <a:extLst>
              <a:ext uri="{FF2B5EF4-FFF2-40B4-BE49-F238E27FC236}">
                <a16:creationId xmlns:a16="http://schemas.microsoft.com/office/drawing/2014/main" id="{D93BAC36-E431-4098-BFBA-024164B261F8}"/>
              </a:ext>
            </a:extLst>
          </p:cNvPr>
          <p:cNvSpPr txBox="1"/>
          <p:nvPr/>
        </p:nvSpPr>
        <p:spPr>
          <a:xfrm>
            <a:off x="1957388" y="7868056"/>
            <a:ext cx="7433429" cy="2597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r>
              <a:rPr lang="en-US" sz="1688" b="1">
                <a:solidFill>
                  <a:srgbClr val="059669"/>
                </a:solidFill>
                <a:latin typeface="Arial"/>
                <a:ea typeface="Arial"/>
                <a:cs typeface="Arial"/>
                <a:sym typeface="Arial"/>
              </a:rPr>
              <a:t>DO (권장)</a:t>
            </a:r>
            <a:endParaRPr sz="2700"/>
          </a:p>
        </p:txBody>
      </p:sp>
      <p:sp>
        <p:nvSpPr>
          <p:cNvPr id="64" name="Google Shape;182;p15">
            <a:extLst>
              <a:ext uri="{FF2B5EF4-FFF2-40B4-BE49-F238E27FC236}">
                <a16:creationId xmlns:a16="http://schemas.microsoft.com/office/drawing/2014/main" id="{DE86CF8C-267D-4188-9929-59A92E479EB5}"/>
              </a:ext>
            </a:extLst>
          </p:cNvPr>
          <p:cNvSpPr txBox="1"/>
          <p:nvPr/>
        </p:nvSpPr>
        <p:spPr>
          <a:xfrm>
            <a:off x="1943100" y="8247962"/>
            <a:ext cx="7093743" cy="3636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40000"/>
              </a:lnSpc>
            </a:pPr>
            <a:r>
              <a:rPr lang="en-US" sz="1688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타인 의견 공감 및 소극적 구성원에게 발언 기회 부여</a:t>
            </a:r>
            <a:endParaRPr sz="2700"/>
          </a:p>
        </p:txBody>
      </p:sp>
      <p:sp>
        <p:nvSpPr>
          <p:cNvPr id="65" name="Google Shape;183;p15">
            <a:extLst>
              <a:ext uri="{FF2B5EF4-FFF2-40B4-BE49-F238E27FC236}">
                <a16:creationId xmlns:a16="http://schemas.microsoft.com/office/drawing/2014/main" id="{33DB9D14-288D-4837-9143-6E2100BC4641}"/>
              </a:ext>
            </a:extLst>
          </p:cNvPr>
          <p:cNvSpPr txBox="1"/>
          <p:nvPr/>
        </p:nvSpPr>
        <p:spPr>
          <a:xfrm>
            <a:off x="1943100" y="8605149"/>
            <a:ext cx="7093743" cy="3636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40000"/>
              </a:lnSpc>
            </a:pPr>
            <a:r>
              <a:rPr lang="en-US" sz="1688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핵심 사항만 구조화하여 메모하고, 합리적 의견 중재</a:t>
            </a:r>
            <a:endParaRPr sz="2700"/>
          </a:p>
        </p:txBody>
      </p:sp>
      <p:sp>
        <p:nvSpPr>
          <p:cNvPr id="66" name="Google Shape;184;p15">
            <a:extLst>
              <a:ext uri="{FF2B5EF4-FFF2-40B4-BE49-F238E27FC236}">
                <a16:creationId xmlns:a16="http://schemas.microsoft.com/office/drawing/2014/main" id="{811B4608-7E01-474A-B678-0A39DF796661}"/>
              </a:ext>
            </a:extLst>
          </p:cNvPr>
          <p:cNvSpPr txBox="1"/>
          <p:nvPr/>
        </p:nvSpPr>
        <p:spPr>
          <a:xfrm>
            <a:off x="9622631" y="7868056"/>
            <a:ext cx="7433429" cy="2597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r>
              <a:rPr lang="en-US" sz="1688" b="1">
                <a:solidFill>
                  <a:srgbClr val="DC2626"/>
                </a:solidFill>
                <a:latin typeface="Arial"/>
                <a:ea typeface="Arial"/>
                <a:cs typeface="Arial"/>
                <a:sym typeface="Arial"/>
              </a:rPr>
              <a:t>DON'T (금지)</a:t>
            </a:r>
            <a:endParaRPr sz="2700"/>
          </a:p>
        </p:txBody>
      </p:sp>
      <p:sp>
        <p:nvSpPr>
          <p:cNvPr id="67" name="Google Shape;185;p15">
            <a:extLst>
              <a:ext uri="{FF2B5EF4-FFF2-40B4-BE49-F238E27FC236}">
                <a16:creationId xmlns:a16="http://schemas.microsoft.com/office/drawing/2014/main" id="{28A45804-F675-49E4-A026-B3637F9A8D4A}"/>
              </a:ext>
            </a:extLst>
          </p:cNvPr>
          <p:cNvSpPr txBox="1"/>
          <p:nvPr/>
        </p:nvSpPr>
        <p:spPr>
          <a:xfrm>
            <a:off x="9608343" y="8247962"/>
            <a:ext cx="7093743" cy="3636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40000"/>
              </a:lnSpc>
            </a:pPr>
            <a:r>
              <a:rPr lang="en-US" sz="1688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공격적 언행 및 자신의 의견만 내세우는 독단적 태도</a:t>
            </a:r>
            <a:endParaRPr sz="2700"/>
          </a:p>
        </p:txBody>
      </p:sp>
      <p:sp>
        <p:nvSpPr>
          <p:cNvPr id="68" name="Google Shape;186;p15">
            <a:extLst>
              <a:ext uri="{FF2B5EF4-FFF2-40B4-BE49-F238E27FC236}">
                <a16:creationId xmlns:a16="http://schemas.microsoft.com/office/drawing/2014/main" id="{F3BAACE5-B647-4B32-8C58-3884F0BE6809}"/>
              </a:ext>
            </a:extLst>
          </p:cNvPr>
          <p:cNvSpPr txBox="1"/>
          <p:nvPr/>
        </p:nvSpPr>
        <p:spPr>
          <a:xfrm>
            <a:off x="9608343" y="8605149"/>
            <a:ext cx="7093743" cy="3636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40000"/>
              </a:lnSpc>
            </a:pPr>
            <a:r>
              <a:rPr lang="en-US" sz="1688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경청 없이 고개를 숙인 채 모든 내용을 필기에만 집중</a:t>
            </a:r>
            <a:endParaRPr sz="2700"/>
          </a:p>
        </p:txBody>
      </p:sp>
      <p:pic>
        <p:nvPicPr>
          <p:cNvPr id="69" name="Google Shape;187;p15" descr="image.png">
            <a:extLst>
              <a:ext uri="{FF2B5EF4-FFF2-40B4-BE49-F238E27FC236}">
                <a16:creationId xmlns:a16="http://schemas.microsoft.com/office/drawing/2014/main" id="{FA30309B-29EA-4ABA-9057-B41AB9E7EF15}"/>
              </a:ext>
            </a:extLst>
          </p:cNvPr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1660880" y="4388302"/>
            <a:ext cx="210783" cy="155414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188;p15">
            <a:extLst>
              <a:ext uri="{FF2B5EF4-FFF2-40B4-BE49-F238E27FC236}">
                <a16:creationId xmlns:a16="http://schemas.microsoft.com/office/drawing/2014/main" id="{E86E0E62-5EF6-47E2-868C-5C539B0EBE80}"/>
              </a:ext>
            </a:extLst>
          </p:cNvPr>
          <p:cNvSpPr txBox="1"/>
          <p:nvPr/>
        </p:nvSpPr>
        <p:spPr>
          <a:xfrm>
            <a:off x="1730027" y="4745490"/>
            <a:ext cx="73994" cy="3636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40000"/>
              </a:lnSpc>
            </a:pPr>
            <a:r>
              <a:rPr lang="en-US" sz="1688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 sz="2700"/>
          </a:p>
        </p:txBody>
      </p:sp>
      <p:sp>
        <p:nvSpPr>
          <p:cNvPr id="71" name="Google Shape;189;p15">
            <a:extLst>
              <a:ext uri="{FF2B5EF4-FFF2-40B4-BE49-F238E27FC236}">
                <a16:creationId xmlns:a16="http://schemas.microsoft.com/office/drawing/2014/main" id="{9A78A10A-58C3-4E85-9BD3-32EEF4A32032}"/>
              </a:ext>
            </a:extLst>
          </p:cNvPr>
          <p:cNvSpPr txBox="1"/>
          <p:nvPr/>
        </p:nvSpPr>
        <p:spPr>
          <a:xfrm>
            <a:off x="1730027" y="5102678"/>
            <a:ext cx="73994" cy="3636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40000"/>
              </a:lnSpc>
            </a:pPr>
            <a:r>
              <a:rPr lang="en-US" sz="1688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 sz="2700"/>
          </a:p>
        </p:txBody>
      </p:sp>
      <p:pic>
        <p:nvPicPr>
          <p:cNvPr id="72" name="Google Shape;190;p15" descr="image.png">
            <a:extLst>
              <a:ext uri="{FF2B5EF4-FFF2-40B4-BE49-F238E27FC236}">
                <a16:creationId xmlns:a16="http://schemas.microsoft.com/office/drawing/2014/main" id="{6DFF06F2-E166-417A-9F28-06E0764D22F5}"/>
              </a:ext>
            </a:extLst>
          </p:cNvPr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9326123" y="4388302"/>
            <a:ext cx="210783" cy="155414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191;p15">
            <a:extLst>
              <a:ext uri="{FF2B5EF4-FFF2-40B4-BE49-F238E27FC236}">
                <a16:creationId xmlns:a16="http://schemas.microsoft.com/office/drawing/2014/main" id="{80CCFBFD-88CA-404F-9965-849A91C81BE7}"/>
              </a:ext>
            </a:extLst>
          </p:cNvPr>
          <p:cNvSpPr txBox="1"/>
          <p:nvPr/>
        </p:nvSpPr>
        <p:spPr>
          <a:xfrm>
            <a:off x="9395270" y="4745490"/>
            <a:ext cx="73994" cy="3636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40000"/>
              </a:lnSpc>
            </a:pPr>
            <a:r>
              <a:rPr lang="en-US" sz="1688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 sz="2700"/>
          </a:p>
        </p:txBody>
      </p:sp>
      <p:sp>
        <p:nvSpPr>
          <p:cNvPr id="74" name="Google Shape;192;p15">
            <a:extLst>
              <a:ext uri="{FF2B5EF4-FFF2-40B4-BE49-F238E27FC236}">
                <a16:creationId xmlns:a16="http://schemas.microsoft.com/office/drawing/2014/main" id="{A0AB38E6-35D3-4AD9-BA03-20F248FEF725}"/>
              </a:ext>
            </a:extLst>
          </p:cNvPr>
          <p:cNvSpPr txBox="1"/>
          <p:nvPr/>
        </p:nvSpPr>
        <p:spPr>
          <a:xfrm>
            <a:off x="9395270" y="5102678"/>
            <a:ext cx="73994" cy="3636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40000"/>
              </a:lnSpc>
            </a:pPr>
            <a:r>
              <a:rPr lang="en-US" sz="1688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 sz="2700"/>
          </a:p>
        </p:txBody>
      </p:sp>
      <p:pic>
        <p:nvPicPr>
          <p:cNvPr id="75" name="Google Shape;193;p15" descr="image.png">
            <a:extLst>
              <a:ext uri="{FF2B5EF4-FFF2-40B4-BE49-F238E27FC236}">
                <a16:creationId xmlns:a16="http://schemas.microsoft.com/office/drawing/2014/main" id="{19EE101E-45B4-40FD-8E03-FFCD35812819}"/>
              </a:ext>
            </a:extLst>
          </p:cNvPr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1657351" y="7890775"/>
            <a:ext cx="214313" cy="214313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194;p15">
            <a:extLst>
              <a:ext uri="{FF2B5EF4-FFF2-40B4-BE49-F238E27FC236}">
                <a16:creationId xmlns:a16="http://schemas.microsoft.com/office/drawing/2014/main" id="{AA350724-B0E7-462C-95CD-5A6819E8059C}"/>
              </a:ext>
            </a:extLst>
          </p:cNvPr>
          <p:cNvSpPr txBox="1"/>
          <p:nvPr/>
        </p:nvSpPr>
        <p:spPr>
          <a:xfrm>
            <a:off x="1728788" y="8247962"/>
            <a:ext cx="75233" cy="3636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40000"/>
              </a:lnSpc>
            </a:pPr>
            <a:r>
              <a:rPr lang="en-US" sz="1688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 sz="2700"/>
          </a:p>
        </p:txBody>
      </p:sp>
      <p:sp>
        <p:nvSpPr>
          <p:cNvPr id="77" name="Google Shape;195;p15">
            <a:extLst>
              <a:ext uri="{FF2B5EF4-FFF2-40B4-BE49-F238E27FC236}">
                <a16:creationId xmlns:a16="http://schemas.microsoft.com/office/drawing/2014/main" id="{FC498717-D1A0-4C11-822D-13941087CA25}"/>
              </a:ext>
            </a:extLst>
          </p:cNvPr>
          <p:cNvSpPr txBox="1"/>
          <p:nvPr/>
        </p:nvSpPr>
        <p:spPr>
          <a:xfrm>
            <a:off x="1728788" y="8605149"/>
            <a:ext cx="75233" cy="3636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40000"/>
              </a:lnSpc>
            </a:pPr>
            <a:r>
              <a:rPr lang="en-US" sz="1688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 sz="2700"/>
          </a:p>
        </p:txBody>
      </p:sp>
      <p:pic>
        <p:nvPicPr>
          <p:cNvPr id="78" name="Google Shape;196;p15" descr="image.png">
            <a:extLst>
              <a:ext uri="{FF2B5EF4-FFF2-40B4-BE49-F238E27FC236}">
                <a16:creationId xmlns:a16="http://schemas.microsoft.com/office/drawing/2014/main" id="{07F1263B-E6DA-4756-9FB5-3A59A44A50EE}"/>
              </a:ext>
            </a:extLst>
          </p:cNvPr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9322594" y="7890775"/>
            <a:ext cx="214313" cy="214313"/>
          </a:xfrm>
          <a:prstGeom prst="rect">
            <a:avLst/>
          </a:prstGeom>
          <a:noFill/>
          <a:ln>
            <a:noFill/>
          </a:ln>
        </p:spPr>
      </p:pic>
      <p:sp>
        <p:nvSpPr>
          <p:cNvPr id="79" name="Google Shape;197;p15">
            <a:extLst>
              <a:ext uri="{FF2B5EF4-FFF2-40B4-BE49-F238E27FC236}">
                <a16:creationId xmlns:a16="http://schemas.microsoft.com/office/drawing/2014/main" id="{61313517-283E-4BB3-BF75-607A937E7EB8}"/>
              </a:ext>
            </a:extLst>
          </p:cNvPr>
          <p:cNvSpPr txBox="1"/>
          <p:nvPr/>
        </p:nvSpPr>
        <p:spPr>
          <a:xfrm>
            <a:off x="9394031" y="8247962"/>
            <a:ext cx="75233" cy="3636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40000"/>
              </a:lnSpc>
            </a:pPr>
            <a:r>
              <a:rPr lang="en-US" sz="1688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 sz="2700"/>
          </a:p>
        </p:txBody>
      </p:sp>
      <p:sp>
        <p:nvSpPr>
          <p:cNvPr id="80" name="Google Shape;198;p15">
            <a:extLst>
              <a:ext uri="{FF2B5EF4-FFF2-40B4-BE49-F238E27FC236}">
                <a16:creationId xmlns:a16="http://schemas.microsoft.com/office/drawing/2014/main" id="{6F9A299F-30FC-4BA4-A647-D7E9F862E7E4}"/>
              </a:ext>
            </a:extLst>
          </p:cNvPr>
          <p:cNvSpPr txBox="1"/>
          <p:nvPr/>
        </p:nvSpPr>
        <p:spPr>
          <a:xfrm>
            <a:off x="9394031" y="8605149"/>
            <a:ext cx="75233" cy="3636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40000"/>
              </a:lnSpc>
            </a:pPr>
            <a:r>
              <a:rPr lang="en-US" sz="1688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 sz="2700"/>
          </a:p>
        </p:txBody>
      </p:sp>
      <p:sp>
        <p:nvSpPr>
          <p:cNvPr id="81" name="TextBox 7">
            <a:extLst>
              <a:ext uri="{FF2B5EF4-FFF2-40B4-BE49-F238E27FC236}">
                <a16:creationId xmlns:a16="http://schemas.microsoft.com/office/drawing/2014/main" id="{45C91C17-4150-44AE-949F-7BB9B06EEEFC}"/>
              </a:ext>
            </a:extLst>
          </p:cNvPr>
          <p:cNvSpPr txBox="1"/>
          <p:nvPr/>
        </p:nvSpPr>
        <p:spPr>
          <a:xfrm>
            <a:off x="14357350" y="598765"/>
            <a:ext cx="3930650" cy="30107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ko-KR" altLang="en-US" sz="1600" b="1" i="0" u="none" strike="noStrike" spc="100" dirty="0">
                <a:solidFill>
                  <a:schemeClr val="accent6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진로설계 </a:t>
            </a:r>
            <a:r>
              <a:rPr lang="en-US" altLang="ko-KR" sz="1600" b="1" i="0" u="none" strike="noStrike" spc="100" dirty="0">
                <a:solidFill>
                  <a:schemeClr val="accent6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4. </a:t>
            </a:r>
            <a:r>
              <a:rPr lang="ko-KR" altLang="en-US" sz="1600" b="1" i="0" u="none" strike="noStrike" spc="100" dirty="0" err="1">
                <a:solidFill>
                  <a:schemeClr val="accent6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취업전략과</a:t>
            </a:r>
            <a:r>
              <a:rPr lang="ko-KR" altLang="en-US" sz="1600" b="1" i="0" u="none" strike="noStrike" spc="100" dirty="0">
                <a:solidFill>
                  <a:schemeClr val="accent6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600" b="1" i="0" u="none" strike="noStrike" spc="100" dirty="0" err="1">
                <a:solidFill>
                  <a:schemeClr val="accent6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실전취업</a:t>
            </a:r>
            <a:endParaRPr lang="en-US" sz="1600" b="1" i="0" u="none" strike="noStrike" spc="100" dirty="0">
              <a:solidFill>
                <a:schemeClr val="accent6">
                  <a:lumMod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7722623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3200400" y="956921"/>
            <a:ext cx="13182600" cy="1092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ko-KR" altLang="en-US" sz="6200" b="1" spc="-500" dirty="0">
                <a:solidFill>
                  <a:srgbClr val="505050"/>
                </a:solidFill>
                <a:latin typeface="Gmarket Sans Medium"/>
              </a:rPr>
              <a:t>유형별 면접 특성과 </a:t>
            </a:r>
            <a:r>
              <a:rPr lang="ko-KR" altLang="en-US" sz="6200" b="1" spc="-500" dirty="0" err="1">
                <a:solidFill>
                  <a:srgbClr val="505050"/>
                </a:solidFill>
                <a:latin typeface="Gmarket Sans Medium"/>
              </a:rPr>
              <a:t>전략법</a:t>
            </a:r>
            <a:endParaRPr lang="ko-KR" sz="6200" b="1" i="0" u="none" strike="noStrike" spc="-500" dirty="0">
              <a:solidFill>
                <a:srgbClr val="505050"/>
              </a:solidFill>
              <a:ea typeface="Gmarket Sans Medium"/>
            </a:endParaRPr>
          </a:p>
        </p:txBody>
      </p:sp>
      <p:pic>
        <p:nvPicPr>
          <p:cNvPr id="27" name="Picture 20">
            <a:extLst>
              <a:ext uri="{FF2B5EF4-FFF2-40B4-BE49-F238E27FC236}">
                <a16:creationId xmlns:a16="http://schemas.microsoft.com/office/drawing/2014/main" id="{581E111A-60B0-4F08-8021-25FC9495054C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6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927100" y="-444500"/>
            <a:ext cx="1003300" cy="2641600"/>
          </a:xfrm>
          <a:prstGeom prst="rect">
            <a:avLst/>
          </a:prstGeom>
        </p:spPr>
      </p:pic>
      <p:sp>
        <p:nvSpPr>
          <p:cNvPr id="31" name="TextBox 24">
            <a:extLst>
              <a:ext uri="{FF2B5EF4-FFF2-40B4-BE49-F238E27FC236}">
                <a16:creationId xmlns:a16="http://schemas.microsoft.com/office/drawing/2014/main" id="{0D59A901-6463-4687-9715-4D43C24F5E45}"/>
              </a:ext>
            </a:extLst>
          </p:cNvPr>
          <p:cNvSpPr txBox="1"/>
          <p:nvPr/>
        </p:nvSpPr>
        <p:spPr>
          <a:xfrm>
            <a:off x="1079500" y="1333500"/>
            <a:ext cx="698500" cy="6223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sz="3400" b="0" i="0" u="none" strike="noStrike" dirty="0">
                <a:solidFill>
                  <a:srgbClr val="FFFFFF"/>
                </a:solidFill>
                <a:latin typeface="Gmarket Sans Medium"/>
              </a:rPr>
              <a:t>04</a:t>
            </a:r>
          </a:p>
        </p:txBody>
      </p: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924E270F-8F23-4C3C-A0A8-393A56CF233B}"/>
              </a:ext>
            </a:extLst>
          </p:cNvPr>
          <p:cNvCxnSpPr>
            <a:cxnSpLocks/>
            <a:endCxn id="10" idx="1"/>
          </p:cNvCxnSpPr>
          <p:nvPr/>
        </p:nvCxnSpPr>
        <p:spPr>
          <a:xfrm flipV="1">
            <a:off x="304800" y="9817100"/>
            <a:ext cx="15412051" cy="52238"/>
          </a:xfrm>
          <a:prstGeom prst="line">
            <a:avLst/>
          </a:prstGeom>
          <a:ln>
            <a:solidFill>
              <a:schemeClr val="accent6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직사각형 9">
            <a:extLst>
              <a:ext uri="{FF2B5EF4-FFF2-40B4-BE49-F238E27FC236}">
                <a16:creationId xmlns:a16="http://schemas.microsoft.com/office/drawing/2014/main" id="{3BB904F6-5D89-4624-B098-EA785F76FB18}"/>
              </a:ext>
            </a:extLst>
          </p:cNvPr>
          <p:cNvSpPr/>
          <p:nvPr/>
        </p:nvSpPr>
        <p:spPr>
          <a:xfrm>
            <a:off x="15716851" y="9632434"/>
            <a:ext cx="2016771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 algn="r">
              <a:lnSpc>
                <a:spcPct val="99600"/>
              </a:lnSpc>
            </a:pPr>
            <a:r>
              <a:rPr lang="en-US" altLang="ko-KR" b="1" dirty="0">
                <a:solidFill>
                  <a:schemeClr val="accent6">
                    <a:lumMod val="50000"/>
                  </a:schemeClr>
                </a:solidFill>
                <a:latin typeface="+mj-ea"/>
              </a:rPr>
              <a:t>Workbook</a:t>
            </a:r>
            <a:r>
              <a:rPr lang="ko-KR" altLang="en-US" b="1" dirty="0">
                <a:solidFill>
                  <a:schemeClr val="accent6">
                    <a:lumMod val="50000"/>
                  </a:schemeClr>
                </a:solidFill>
                <a:latin typeface="+mj-ea"/>
              </a:rPr>
              <a:t> </a:t>
            </a:r>
            <a:r>
              <a:rPr lang="en-US" altLang="ko-KR" b="1" dirty="0">
                <a:solidFill>
                  <a:schemeClr val="accent6">
                    <a:lumMod val="50000"/>
                  </a:schemeClr>
                </a:solidFill>
                <a:latin typeface="+mj-ea"/>
              </a:rPr>
              <a:t>p.139</a:t>
            </a:r>
          </a:p>
        </p:txBody>
      </p:sp>
      <p:pic>
        <p:nvPicPr>
          <p:cNvPr id="11" name="Google Shape;204;p16" descr="image.png">
            <a:extLst>
              <a:ext uri="{FF2B5EF4-FFF2-40B4-BE49-F238E27FC236}">
                <a16:creationId xmlns:a16="http://schemas.microsoft.com/office/drawing/2014/main" id="{70208E87-D0A5-4421-B812-F6AF71DAB782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57250" y="2743201"/>
            <a:ext cx="16573500" cy="15001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2" name="Google Shape;205;p16" descr="image.png">
            <a:extLst>
              <a:ext uri="{FF2B5EF4-FFF2-40B4-BE49-F238E27FC236}">
                <a16:creationId xmlns:a16="http://schemas.microsoft.com/office/drawing/2014/main" id="{C8B1115C-7A88-4805-AFE0-2D006BB64035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57251" y="4672013"/>
            <a:ext cx="3929063" cy="4900613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206;p16" descr="image.png">
            <a:extLst>
              <a:ext uri="{FF2B5EF4-FFF2-40B4-BE49-F238E27FC236}">
                <a16:creationId xmlns:a16="http://schemas.microsoft.com/office/drawing/2014/main" id="{37C1AEB2-30E0-40A2-A70A-005594B557CA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072063" y="4672013"/>
            <a:ext cx="3929063" cy="4900613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Google Shape;207;p16" descr="image.png">
            <a:extLst>
              <a:ext uri="{FF2B5EF4-FFF2-40B4-BE49-F238E27FC236}">
                <a16:creationId xmlns:a16="http://schemas.microsoft.com/office/drawing/2014/main" id="{F69B6AAE-DD30-4E9A-9987-67389D802A3C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286876" y="4672013"/>
            <a:ext cx="3929063" cy="4900613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208;p16" descr="image.png">
            <a:extLst>
              <a:ext uri="{FF2B5EF4-FFF2-40B4-BE49-F238E27FC236}">
                <a16:creationId xmlns:a16="http://schemas.microsoft.com/office/drawing/2014/main" id="{9DD78105-E063-4DFE-85F8-3AB2E51A559C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3501688" y="4672013"/>
            <a:ext cx="3929063" cy="4900613"/>
          </a:xfrm>
          <a:prstGeom prst="rect">
            <a:avLst/>
          </a:prstGeom>
          <a:noFill/>
          <a:ln>
            <a:noFill/>
          </a:ln>
        </p:spPr>
      </p:pic>
      <p:pic>
        <p:nvPicPr>
          <p:cNvPr id="16" name="Google Shape;209;p16" descr="image.png">
            <a:extLst>
              <a:ext uri="{FF2B5EF4-FFF2-40B4-BE49-F238E27FC236}">
                <a16:creationId xmlns:a16="http://schemas.microsoft.com/office/drawing/2014/main" id="{93D35CE9-6E20-4375-B0A3-C043D49D52E0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868392" y="3115198"/>
            <a:ext cx="4000277" cy="900113"/>
          </a:xfrm>
          <a:prstGeom prst="rect">
            <a:avLst/>
          </a:prstGeom>
          <a:noFill/>
          <a:ln>
            <a:noFill/>
          </a:ln>
        </p:spPr>
      </p:pic>
      <p:pic>
        <p:nvPicPr>
          <p:cNvPr id="17" name="Google Shape;210;p16" descr="image.png">
            <a:extLst>
              <a:ext uri="{FF2B5EF4-FFF2-40B4-BE49-F238E27FC236}">
                <a16:creationId xmlns:a16="http://schemas.microsoft.com/office/drawing/2014/main" id="{6ACC74BA-1115-4FFC-A486-9B67F625E604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9094664" y="3115198"/>
            <a:ext cx="4000277" cy="900113"/>
          </a:xfrm>
          <a:prstGeom prst="rect">
            <a:avLst/>
          </a:prstGeom>
          <a:noFill/>
          <a:ln>
            <a:noFill/>
          </a:ln>
        </p:spPr>
      </p:pic>
      <p:pic>
        <p:nvPicPr>
          <p:cNvPr id="18" name="Google Shape;211;p16" descr="image.png">
            <a:extLst>
              <a:ext uri="{FF2B5EF4-FFF2-40B4-BE49-F238E27FC236}">
                <a16:creationId xmlns:a16="http://schemas.microsoft.com/office/drawing/2014/main" id="{7D5C8961-3D82-4928-8941-0EAF83C02DFA}"/>
              </a:ext>
            </a:extLst>
          </p:cNvPr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3369230" y="3065191"/>
            <a:ext cx="4000277" cy="900113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214;p16">
            <a:extLst>
              <a:ext uri="{FF2B5EF4-FFF2-40B4-BE49-F238E27FC236}">
                <a16:creationId xmlns:a16="http://schemas.microsoft.com/office/drawing/2014/main" id="{FB69E86D-07C5-45C7-9130-561A6C61D7B6}"/>
              </a:ext>
            </a:extLst>
          </p:cNvPr>
          <p:cNvSpPr txBox="1"/>
          <p:nvPr/>
        </p:nvSpPr>
        <p:spPr>
          <a:xfrm>
            <a:off x="1300163" y="3121818"/>
            <a:ext cx="2686943" cy="7478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08333"/>
              </a:lnSpc>
            </a:pPr>
            <a:r>
              <a:rPr lang="en-US" sz="2250" b="1">
                <a:solidFill>
                  <a:srgbClr val="1E3A8A"/>
                </a:solidFill>
                <a:latin typeface="+mj-ea"/>
                <a:ea typeface="+mj-ea"/>
                <a:cs typeface="Arial"/>
                <a:sym typeface="Arial"/>
              </a:rPr>
              <a:t>화상(비대면) 면접</a:t>
            </a:r>
            <a:br>
              <a:rPr lang="en-US" sz="2700">
                <a:solidFill>
                  <a:schemeClr val="dk1"/>
                </a:solidFill>
                <a:latin typeface="+mj-ea"/>
                <a:ea typeface="+mj-ea"/>
                <a:cs typeface="Calibri"/>
                <a:sym typeface="Calibri"/>
              </a:rPr>
            </a:br>
            <a:r>
              <a:rPr lang="en-US" sz="2250" b="1">
                <a:solidFill>
                  <a:srgbClr val="1E3A8A"/>
                </a:solidFill>
                <a:latin typeface="+mj-ea"/>
                <a:ea typeface="+mj-ea"/>
                <a:cs typeface="Arial"/>
                <a:sym typeface="Arial"/>
              </a:rPr>
              <a:t> 필수 체크리스트</a:t>
            </a:r>
            <a:endParaRPr sz="2700">
              <a:latin typeface="+mj-ea"/>
              <a:ea typeface="+mj-ea"/>
            </a:endParaRPr>
          </a:p>
        </p:txBody>
      </p:sp>
      <p:sp>
        <p:nvSpPr>
          <p:cNvPr id="20" name="Google Shape;215;p16">
            <a:extLst>
              <a:ext uri="{FF2B5EF4-FFF2-40B4-BE49-F238E27FC236}">
                <a16:creationId xmlns:a16="http://schemas.microsoft.com/office/drawing/2014/main" id="{D79300AB-958E-4CD7-8CF6-15F62E73EB6E}"/>
              </a:ext>
            </a:extLst>
          </p:cNvPr>
          <p:cNvSpPr/>
          <p:nvPr/>
        </p:nvSpPr>
        <p:spPr>
          <a:xfrm>
            <a:off x="3958530" y="3121818"/>
            <a:ext cx="28575" cy="74295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137138" tIns="68550" rIns="137138" bIns="68550" anchor="ctr" anchorCtr="0">
            <a:noAutofit/>
          </a:bodyPr>
          <a:lstStyle/>
          <a:p>
            <a:pPr algn="ctr"/>
            <a:endParaRPr sz="2700">
              <a:solidFill>
                <a:schemeClr val="dk1"/>
              </a:solidFill>
              <a:latin typeface="+mj-ea"/>
              <a:ea typeface="+mj-ea"/>
              <a:cs typeface="Calibri"/>
              <a:sym typeface="Calibri"/>
            </a:endParaRPr>
          </a:p>
        </p:txBody>
      </p:sp>
      <p:pic>
        <p:nvPicPr>
          <p:cNvPr id="21" name="Google Shape;216;p16" descr="image.png">
            <a:extLst>
              <a:ext uri="{FF2B5EF4-FFF2-40B4-BE49-F238E27FC236}">
                <a16:creationId xmlns:a16="http://schemas.microsoft.com/office/drawing/2014/main" id="{6D6354B7-0B8F-48F7-BBE3-E4FD7F65ACD9}"/>
              </a:ext>
            </a:extLst>
          </p:cNvPr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1157288" y="5086350"/>
            <a:ext cx="3328988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22" name="Google Shape;217;p16">
            <a:extLst>
              <a:ext uri="{FF2B5EF4-FFF2-40B4-BE49-F238E27FC236}">
                <a16:creationId xmlns:a16="http://schemas.microsoft.com/office/drawing/2014/main" id="{299B1F5F-AC1E-479E-92E6-9FA5F57CD39A}"/>
              </a:ext>
            </a:extLst>
          </p:cNvPr>
          <p:cNvSpPr txBox="1"/>
          <p:nvPr/>
        </p:nvSpPr>
        <p:spPr>
          <a:xfrm>
            <a:off x="1074062" y="5757863"/>
            <a:ext cx="3495437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/>
            <a:r>
              <a:rPr lang="en-US" sz="2800" b="1">
                <a:solidFill>
                  <a:srgbClr val="0F172A"/>
                </a:solidFill>
                <a:latin typeface="+mj-ea"/>
                <a:ea typeface="+mj-ea"/>
                <a:cs typeface="Poppins ExtraBold"/>
                <a:sym typeface="Poppins ExtraBold"/>
              </a:rPr>
              <a:t>Visual</a:t>
            </a:r>
            <a:endParaRPr sz="2800" b="1">
              <a:latin typeface="+mj-ea"/>
              <a:ea typeface="+mj-ea"/>
            </a:endParaRPr>
          </a:p>
        </p:txBody>
      </p:sp>
      <p:sp>
        <p:nvSpPr>
          <p:cNvPr id="23" name="Google Shape;218;p16">
            <a:extLst>
              <a:ext uri="{FF2B5EF4-FFF2-40B4-BE49-F238E27FC236}">
                <a16:creationId xmlns:a16="http://schemas.microsoft.com/office/drawing/2014/main" id="{5CB466D2-289A-4899-AE21-168EBA6326BA}"/>
              </a:ext>
            </a:extLst>
          </p:cNvPr>
          <p:cNvSpPr txBox="1"/>
          <p:nvPr/>
        </p:nvSpPr>
        <p:spPr>
          <a:xfrm>
            <a:off x="1074062" y="6300788"/>
            <a:ext cx="3495437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/>
            <a:r>
              <a:rPr lang="en-US" b="1">
                <a:solidFill>
                  <a:srgbClr val="64748B"/>
                </a:solidFill>
                <a:latin typeface="+mj-ea"/>
                <a:ea typeface="+mj-ea"/>
                <a:cs typeface="Arial"/>
                <a:sym typeface="Arial"/>
              </a:rPr>
              <a:t>시각적 태도 분석</a:t>
            </a:r>
            <a:endParaRPr sz="2800" b="1">
              <a:latin typeface="+mj-ea"/>
              <a:ea typeface="+mj-ea"/>
            </a:endParaRPr>
          </a:p>
        </p:txBody>
      </p:sp>
      <p:sp>
        <p:nvSpPr>
          <p:cNvPr id="24" name="Google Shape;219;p16">
            <a:extLst>
              <a:ext uri="{FF2B5EF4-FFF2-40B4-BE49-F238E27FC236}">
                <a16:creationId xmlns:a16="http://schemas.microsoft.com/office/drawing/2014/main" id="{782671FF-02B9-439D-AA80-5D3E9739B026}"/>
              </a:ext>
            </a:extLst>
          </p:cNvPr>
          <p:cNvSpPr/>
          <p:nvPr/>
        </p:nvSpPr>
        <p:spPr>
          <a:xfrm>
            <a:off x="1157288" y="6786563"/>
            <a:ext cx="3328988" cy="14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137138" tIns="68550" rIns="137138" bIns="68550" anchor="ctr" anchorCtr="0">
            <a:noAutofit/>
          </a:bodyPr>
          <a:lstStyle/>
          <a:p>
            <a:pPr algn="ctr"/>
            <a:endParaRPr sz="2800" b="1">
              <a:solidFill>
                <a:schemeClr val="dk1"/>
              </a:solidFill>
              <a:latin typeface="+mj-ea"/>
              <a:ea typeface="+mj-ea"/>
              <a:cs typeface="Calibri"/>
              <a:sym typeface="Calibri"/>
            </a:endParaRPr>
          </a:p>
        </p:txBody>
      </p:sp>
      <p:sp>
        <p:nvSpPr>
          <p:cNvPr id="25" name="Google Shape;220;p16">
            <a:extLst>
              <a:ext uri="{FF2B5EF4-FFF2-40B4-BE49-F238E27FC236}">
                <a16:creationId xmlns:a16="http://schemas.microsoft.com/office/drawing/2014/main" id="{7F1D8677-6631-437E-ADEE-74C66FD9078B}"/>
              </a:ext>
            </a:extLst>
          </p:cNvPr>
          <p:cNvSpPr txBox="1"/>
          <p:nvPr/>
        </p:nvSpPr>
        <p:spPr>
          <a:xfrm>
            <a:off x="1157288" y="7015163"/>
            <a:ext cx="3328988" cy="15511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85750" indent="-285750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en-US" b="1" dirty="0" err="1">
                <a:solidFill>
                  <a:srgbClr val="334155"/>
                </a:solidFill>
                <a:latin typeface="+mj-ea"/>
                <a:ea typeface="+mj-ea"/>
                <a:cs typeface="Arial"/>
                <a:sym typeface="Arial"/>
              </a:rPr>
              <a:t>무조건</a:t>
            </a:r>
            <a:r>
              <a:rPr lang="en-US" b="1" dirty="0">
                <a:solidFill>
                  <a:srgbClr val="334155"/>
                </a:solidFill>
                <a:latin typeface="+mj-ea"/>
                <a:ea typeface="+mj-ea"/>
                <a:cs typeface="Arial"/>
                <a:sym typeface="Arial"/>
              </a:rPr>
              <a:t> </a:t>
            </a:r>
            <a:r>
              <a:rPr lang="en-US" b="1" dirty="0" err="1">
                <a:solidFill>
                  <a:srgbClr val="334155"/>
                </a:solidFill>
                <a:latin typeface="+mj-ea"/>
                <a:ea typeface="+mj-ea"/>
                <a:cs typeface="Arial"/>
                <a:sym typeface="Arial"/>
              </a:rPr>
              <a:t>웃는</a:t>
            </a:r>
            <a:r>
              <a:rPr lang="en-US" b="1" dirty="0">
                <a:solidFill>
                  <a:srgbClr val="334155"/>
                </a:solidFill>
                <a:latin typeface="+mj-ea"/>
                <a:ea typeface="+mj-ea"/>
                <a:cs typeface="Arial"/>
                <a:sym typeface="Arial"/>
              </a:rPr>
              <a:t> </a:t>
            </a:r>
            <a:r>
              <a:rPr lang="en-US" b="1" dirty="0" err="1">
                <a:solidFill>
                  <a:srgbClr val="334155"/>
                </a:solidFill>
                <a:latin typeface="+mj-ea"/>
                <a:ea typeface="+mj-ea"/>
                <a:cs typeface="Arial"/>
                <a:sym typeface="Arial"/>
              </a:rPr>
              <a:t>표정</a:t>
            </a:r>
            <a:r>
              <a:rPr lang="en-US" b="1" dirty="0">
                <a:solidFill>
                  <a:srgbClr val="334155"/>
                </a:solidFill>
                <a:latin typeface="+mj-ea"/>
                <a:ea typeface="+mj-ea"/>
                <a:cs typeface="Arial"/>
                <a:sym typeface="Arial"/>
              </a:rPr>
              <a:t> </a:t>
            </a:r>
            <a:r>
              <a:rPr lang="en-US" b="1" dirty="0" err="1">
                <a:solidFill>
                  <a:srgbClr val="334155"/>
                </a:solidFill>
                <a:latin typeface="+mj-ea"/>
                <a:ea typeface="+mj-ea"/>
                <a:cs typeface="Arial"/>
                <a:sym typeface="Arial"/>
              </a:rPr>
              <a:t>지양</a:t>
            </a:r>
            <a:r>
              <a:rPr lang="en-US" b="1" dirty="0">
                <a:solidFill>
                  <a:srgbClr val="334155"/>
                </a:solidFill>
                <a:latin typeface="+mj-ea"/>
                <a:ea typeface="+mj-ea"/>
                <a:cs typeface="Arial"/>
                <a:sym typeface="Arial"/>
              </a:rPr>
              <a:t> </a:t>
            </a:r>
          </a:p>
          <a:p>
            <a:pPr marL="285750" indent="-285750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en-US" b="1" dirty="0" err="1">
                <a:solidFill>
                  <a:srgbClr val="334155"/>
                </a:solidFill>
                <a:latin typeface="+mj-ea"/>
                <a:ea typeface="+mj-ea"/>
                <a:cs typeface="Arial"/>
                <a:sym typeface="Arial"/>
              </a:rPr>
              <a:t>질문</a:t>
            </a:r>
            <a:r>
              <a:rPr lang="en-US" b="1" dirty="0">
                <a:solidFill>
                  <a:srgbClr val="334155"/>
                </a:solidFill>
                <a:latin typeface="+mj-ea"/>
                <a:ea typeface="+mj-ea"/>
                <a:cs typeface="Arial"/>
                <a:sym typeface="Arial"/>
              </a:rPr>
              <a:t> </a:t>
            </a:r>
            <a:r>
              <a:rPr lang="en-US" b="1" dirty="0" err="1">
                <a:solidFill>
                  <a:srgbClr val="334155"/>
                </a:solidFill>
                <a:latin typeface="+mj-ea"/>
                <a:ea typeface="+mj-ea"/>
                <a:cs typeface="Arial"/>
                <a:sym typeface="Arial"/>
              </a:rPr>
              <a:t>맥락에</a:t>
            </a:r>
            <a:r>
              <a:rPr lang="en-US" b="1" dirty="0">
                <a:solidFill>
                  <a:srgbClr val="334155"/>
                </a:solidFill>
                <a:latin typeface="+mj-ea"/>
                <a:ea typeface="+mj-ea"/>
                <a:cs typeface="Arial"/>
                <a:sym typeface="Arial"/>
              </a:rPr>
              <a:t> </a:t>
            </a:r>
            <a:r>
              <a:rPr lang="en-US" b="1" dirty="0" err="1">
                <a:solidFill>
                  <a:srgbClr val="334155"/>
                </a:solidFill>
                <a:latin typeface="+mj-ea"/>
                <a:ea typeface="+mj-ea"/>
                <a:cs typeface="Arial"/>
                <a:sym typeface="Arial"/>
              </a:rPr>
              <a:t>맞는</a:t>
            </a:r>
            <a:r>
              <a:rPr lang="en-US" b="1" dirty="0">
                <a:solidFill>
                  <a:srgbClr val="334155"/>
                </a:solidFill>
                <a:latin typeface="+mj-ea"/>
                <a:ea typeface="+mj-ea"/>
                <a:cs typeface="Arial"/>
                <a:sym typeface="Arial"/>
              </a:rPr>
              <a:t> </a:t>
            </a:r>
            <a:r>
              <a:rPr lang="en-US" b="1" dirty="0" err="1">
                <a:solidFill>
                  <a:srgbClr val="0F172A"/>
                </a:solidFill>
                <a:latin typeface="+mj-ea"/>
                <a:ea typeface="+mj-ea"/>
                <a:cs typeface="Arial"/>
                <a:sym typeface="Arial"/>
              </a:rPr>
              <a:t>자연스러운</a:t>
            </a:r>
            <a:r>
              <a:rPr lang="en-US" b="1" dirty="0">
                <a:solidFill>
                  <a:srgbClr val="0F172A"/>
                </a:solidFill>
                <a:latin typeface="+mj-ea"/>
                <a:ea typeface="+mj-ea"/>
                <a:cs typeface="Arial"/>
                <a:sym typeface="Arial"/>
              </a:rPr>
              <a:t> </a:t>
            </a:r>
          </a:p>
          <a:p>
            <a:pPr>
              <a:lnSpc>
                <a:spcPct val="140000"/>
              </a:lnSpc>
            </a:pPr>
            <a:r>
              <a:rPr lang="en-US" b="1" dirty="0">
                <a:solidFill>
                  <a:srgbClr val="0F172A"/>
                </a:solidFill>
                <a:latin typeface="+mj-ea"/>
                <a:ea typeface="+mj-ea"/>
                <a:cs typeface="Arial"/>
                <a:sym typeface="Arial"/>
              </a:rPr>
              <a:t>    </a:t>
            </a:r>
            <a:r>
              <a:rPr lang="en-US" b="1" dirty="0" err="1">
                <a:solidFill>
                  <a:srgbClr val="0F172A"/>
                </a:solidFill>
                <a:latin typeface="+mj-ea"/>
                <a:ea typeface="+mj-ea"/>
                <a:cs typeface="Arial"/>
                <a:sym typeface="Arial"/>
              </a:rPr>
              <a:t>표정</a:t>
            </a:r>
            <a:r>
              <a:rPr lang="en-US" b="1" dirty="0">
                <a:solidFill>
                  <a:srgbClr val="0F172A"/>
                </a:solidFill>
                <a:latin typeface="+mj-ea"/>
                <a:ea typeface="+mj-ea"/>
                <a:cs typeface="Arial"/>
                <a:sym typeface="Arial"/>
              </a:rPr>
              <a:t> </a:t>
            </a:r>
            <a:r>
              <a:rPr lang="en-US" b="1" dirty="0" err="1">
                <a:solidFill>
                  <a:srgbClr val="0F172A"/>
                </a:solidFill>
                <a:latin typeface="+mj-ea"/>
                <a:ea typeface="+mj-ea"/>
                <a:cs typeface="Arial"/>
                <a:sym typeface="Arial"/>
              </a:rPr>
              <a:t>연출</a:t>
            </a:r>
            <a:r>
              <a:rPr lang="en-US" b="1" dirty="0">
                <a:solidFill>
                  <a:srgbClr val="0F172A"/>
                </a:solidFill>
                <a:latin typeface="+mj-ea"/>
                <a:ea typeface="+mj-ea"/>
                <a:cs typeface="Arial"/>
                <a:sym typeface="Arial"/>
              </a:rPr>
              <a:t> 및 </a:t>
            </a:r>
            <a:r>
              <a:rPr lang="en-US" b="1" dirty="0" err="1">
                <a:solidFill>
                  <a:srgbClr val="0F172A"/>
                </a:solidFill>
                <a:latin typeface="+mj-ea"/>
                <a:ea typeface="+mj-ea"/>
                <a:cs typeface="Arial"/>
                <a:sym typeface="Arial"/>
              </a:rPr>
              <a:t>바른</a:t>
            </a:r>
            <a:r>
              <a:rPr lang="en-US" b="1" dirty="0">
                <a:solidFill>
                  <a:srgbClr val="0F172A"/>
                </a:solidFill>
                <a:latin typeface="+mj-ea"/>
                <a:ea typeface="+mj-ea"/>
                <a:cs typeface="Arial"/>
                <a:sym typeface="Arial"/>
              </a:rPr>
              <a:t> </a:t>
            </a:r>
            <a:r>
              <a:rPr lang="en-US" b="1" dirty="0" err="1">
                <a:solidFill>
                  <a:srgbClr val="0F172A"/>
                </a:solidFill>
                <a:latin typeface="+mj-ea"/>
                <a:ea typeface="+mj-ea"/>
                <a:cs typeface="Arial"/>
                <a:sym typeface="Arial"/>
              </a:rPr>
              <a:t>자세</a:t>
            </a:r>
            <a:r>
              <a:rPr lang="en-US" b="1" dirty="0">
                <a:solidFill>
                  <a:srgbClr val="0F172A"/>
                </a:solidFill>
                <a:latin typeface="+mj-ea"/>
                <a:ea typeface="+mj-ea"/>
                <a:cs typeface="Arial"/>
                <a:sym typeface="Arial"/>
              </a:rPr>
              <a:t> </a:t>
            </a:r>
            <a:r>
              <a:rPr lang="en-US" b="1" dirty="0" err="1">
                <a:solidFill>
                  <a:srgbClr val="0F172A"/>
                </a:solidFill>
                <a:latin typeface="+mj-ea"/>
                <a:ea typeface="+mj-ea"/>
                <a:cs typeface="Arial"/>
                <a:sym typeface="Arial"/>
              </a:rPr>
              <a:t>유지</a:t>
            </a:r>
            <a:endParaRPr lang="en-US" b="1" dirty="0">
              <a:solidFill>
                <a:srgbClr val="334155"/>
              </a:solidFill>
              <a:latin typeface="+mj-ea"/>
              <a:ea typeface="+mj-ea"/>
              <a:cs typeface="Arial"/>
              <a:sym typeface="Arial"/>
            </a:endParaRPr>
          </a:p>
          <a:p>
            <a:pPr marL="285750" indent="-285750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en-US" b="1" dirty="0" err="1">
                <a:solidFill>
                  <a:srgbClr val="334155"/>
                </a:solidFill>
                <a:latin typeface="+mj-ea"/>
                <a:ea typeface="+mj-ea"/>
                <a:cs typeface="Arial"/>
                <a:sym typeface="Arial"/>
              </a:rPr>
              <a:t>눈동자</a:t>
            </a:r>
            <a:r>
              <a:rPr lang="en-US" b="1" dirty="0">
                <a:solidFill>
                  <a:srgbClr val="334155"/>
                </a:solidFill>
                <a:latin typeface="+mj-ea"/>
                <a:ea typeface="+mj-ea"/>
                <a:cs typeface="Arial"/>
                <a:sym typeface="Arial"/>
              </a:rPr>
              <a:t> </a:t>
            </a:r>
            <a:r>
              <a:rPr lang="en-US" b="1" dirty="0" err="1">
                <a:solidFill>
                  <a:srgbClr val="334155"/>
                </a:solidFill>
                <a:latin typeface="+mj-ea"/>
                <a:ea typeface="+mj-ea"/>
                <a:cs typeface="Arial"/>
                <a:sym typeface="Arial"/>
              </a:rPr>
              <a:t>흔들림</a:t>
            </a:r>
            <a:r>
              <a:rPr lang="en-US" b="1" dirty="0">
                <a:solidFill>
                  <a:srgbClr val="334155"/>
                </a:solidFill>
                <a:latin typeface="+mj-ea"/>
                <a:ea typeface="+mj-ea"/>
                <a:cs typeface="Arial"/>
                <a:sym typeface="Arial"/>
              </a:rPr>
              <a:t>(</a:t>
            </a:r>
            <a:r>
              <a:rPr lang="en-US" b="1" dirty="0" err="1">
                <a:solidFill>
                  <a:srgbClr val="334155"/>
                </a:solidFill>
                <a:latin typeface="+mj-ea"/>
                <a:ea typeface="+mj-ea"/>
                <a:cs typeface="Arial"/>
                <a:sym typeface="Arial"/>
              </a:rPr>
              <a:t>곁눈질</a:t>
            </a:r>
            <a:r>
              <a:rPr lang="en-US" b="1" dirty="0">
                <a:solidFill>
                  <a:srgbClr val="334155"/>
                </a:solidFill>
                <a:latin typeface="+mj-ea"/>
                <a:ea typeface="+mj-ea"/>
                <a:cs typeface="Arial"/>
                <a:sym typeface="Arial"/>
              </a:rPr>
              <a:t>) </a:t>
            </a:r>
            <a:r>
              <a:rPr lang="en-US" b="1" dirty="0" err="1">
                <a:solidFill>
                  <a:srgbClr val="334155"/>
                </a:solidFill>
                <a:latin typeface="+mj-ea"/>
                <a:ea typeface="+mj-ea"/>
                <a:cs typeface="Arial"/>
                <a:sym typeface="Arial"/>
              </a:rPr>
              <a:t>주의</a:t>
            </a:r>
            <a:endParaRPr sz="2800" b="1" dirty="0">
              <a:latin typeface="+mj-ea"/>
              <a:ea typeface="+mj-ea"/>
            </a:endParaRPr>
          </a:p>
        </p:txBody>
      </p:sp>
      <p:pic>
        <p:nvPicPr>
          <p:cNvPr id="26" name="Google Shape;221;p16" descr="image.png">
            <a:extLst>
              <a:ext uri="{FF2B5EF4-FFF2-40B4-BE49-F238E27FC236}">
                <a16:creationId xmlns:a16="http://schemas.microsoft.com/office/drawing/2014/main" id="{894FAA14-B529-463F-ADA2-494EF4B8B938}"/>
              </a:ext>
            </a:extLst>
          </p:cNvPr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5372101" y="5086350"/>
            <a:ext cx="3328988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22;p16">
            <a:extLst>
              <a:ext uri="{FF2B5EF4-FFF2-40B4-BE49-F238E27FC236}">
                <a16:creationId xmlns:a16="http://schemas.microsoft.com/office/drawing/2014/main" id="{5E64D893-ED66-40B2-B250-966C2A1DE1A5}"/>
              </a:ext>
            </a:extLst>
          </p:cNvPr>
          <p:cNvSpPr txBox="1"/>
          <p:nvPr/>
        </p:nvSpPr>
        <p:spPr>
          <a:xfrm>
            <a:off x="5288875" y="5757863"/>
            <a:ext cx="3495437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/>
            <a:r>
              <a:rPr lang="en-US" sz="2800" b="1">
                <a:solidFill>
                  <a:srgbClr val="0F172A"/>
                </a:solidFill>
                <a:latin typeface="+mj-ea"/>
                <a:ea typeface="+mj-ea"/>
                <a:cs typeface="Poppins ExtraBold"/>
                <a:sym typeface="Poppins ExtraBold"/>
              </a:rPr>
              <a:t>Verbal</a:t>
            </a:r>
            <a:endParaRPr sz="2800" b="1">
              <a:latin typeface="+mj-ea"/>
              <a:ea typeface="+mj-ea"/>
            </a:endParaRPr>
          </a:p>
        </p:txBody>
      </p:sp>
      <p:sp>
        <p:nvSpPr>
          <p:cNvPr id="29" name="Google Shape;223;p16">
            <a:extLst>
              <a:ext uri="{FF2B5EF4-FFF2-40B4-BE49-F238E27FC236}">
                <a16:creationId xmlns:a16="http://schemas.microsoft.com/office/drawing/2014/main" id="{29082C39-D638-40A6-BB4E-5EB3E6E7BF1D}"/>
              </a:ext>
            </a:extLst>
          </p:cNvPr>
          <p:cNvSpPr txBox="1"/>
          <p:nvPr/>
        </p:nvSpPr>
        <p:spPr>
          <a:xfrm>
            <a:off x="5288875" y="6300788"/>
            <a:ext cx="3495437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/>
            <a:r>
              <a:rPr lang="en-US" b="1">
                <a:solidFill>
                  <a:srgbClr val="64748B"/>
                </a:solidFill>
                <a:latin typeface="+mj-ea"/>
                <a:ea typeface="+mj-ea"/>
                <a:cs typeface="Arial"/>
                <a:sym typeface="Arial"/>
              </a:rPr>
              <a:t>언어 내용 분석</a:t>
            </a:r>
            <a:endParaRPr sz="2800" b="1">
              <a:latin typeface="+mj-ea"/>
              <a:ea typeface="+mj-ea"/>
            </a:endParaRPr>
          </a:p>
        </p:txBody>
      </p:sp>
      <p:sp>
        <p:nvSpPr>
          <p:cNvPr id="30" name="Google Shape;224;p16">
            <a:extLst>
              <a:ext uri="{FF2B5EF4-FFF2-40B4-BE49-F238E27FC236}">
                <a16:creationId xmlns:a16="http://schemas.microsoft.com/office/drawing/2014/main" id="{484C61CC-6A85-463E-8E41-14ABB3D3803B}"/>
              </a:ext>
            </a:extLst>
          </p:cNvPr>
          <p:cNvSpPr/>
          <p:nvPr/>
        </p:nvSpPr>
        <p:spPr>
          <a:xfrm>
            <a:off x="5372101" y="6786563"/>
            <a:ext cx="3328988" cy="14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137138" tIns="68550" rIns="137138" bIns="68550" anchor="ctr" anchorCtr="0">
            <a:noAutofit/>
          </a:bodyPr>
          <a:lstStyle/>
          <a:p>
            <a:pPr algn="ctr"/>
            <a:endParaRPr sz="2800" b="1">
              <a:solidFill>
                <a:schemeClr val="dk1"/>
              </a:solidFill>
              <a:latin typeface="+mj-ea"/>
              <a:ea typeface="+mj-ea"/>
              <a:cs typeface="Calibri"/>
              <a:sym typeface="Calibri"/>
            </a:endParaRPr>
          </a:p>
        </p:txBody>
      </p:sp>
      <p:sp>
        <p:nvSpPr>
          <p:cNvPr id="32" name="Google Shape;225;p16">
            <a:extLst>
              <a:ext uri="{FF2B5EF4-FFF2-40B4-BE49-F238E27FC236}">
                <a16:creationId xmlns:a16="http://schemas.microsoft.com/office/drawing/2014/main" id="{9ECE4BFC-9242-48D6-9A49-DB613252C00F}"/>
              </a:ext>
            </a:extLst>
          </p:cNvPr>
          <p:cNvSpPr txBox="1"/>
          <p:nvPr/>
        </p:nvSpPr>
        <p:spPr>
          <a:xfrm>
            <a:off x="5372100" y="7015163"/>
            <a:ext cx="3543969" cy="15511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85750" indent="-285750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en-US" b="1" dirty="0" err="1">
                <a:solidFill>
                  <a:srgbClr val="334155"/>
                </a:solidFill>
                <a:latin typeface="+mj-ea"/>
                <a:ea typeface="+mj-ea"/>
                <a:cs typeface="Arial"/>
                <a:sym typeface="Arial"/>
              </a:rPr>
              <a:t>답변의</a:t>
            </a:r>
            <a:r>
              <a:rPr lang="en-US" b="1" dirty="0">
                <a:solidFill>
                  <a:srgbClr val="334155"/>
                </a:solidFill>
                <a:latin typeface="+mj-ea"/>
                <a:ea typeface="+mj-ea"/>
                <a:cs typeface="Arial"/>
                <a:sym typeface="Arial"/>
              </a:rPr>
              <a:t> </a:t>
            </a:r>
            <a:r>
              <a:rPr lang="en-US" b="1" dirty="0" err="1">
                <a:solidFill>
                  <a:srgbClr val="334155"/>
                </a:solidFill>
                <a:latin typeface="+mj-ea"/>
                <a:ea typeface="+mj-ea"/>
                <a:cs typeface="Arial"/>
                <a:sym typeface="Arial"/>
              </a:rPr>
              <a:t>문맥</a:t>
            </a:r>
            <a:r>
              <a:rPr lang="en-US" b="1" dirty="0">
                <a:solidFill>
                  <a:srgbClr val="334155"/>
                </a:solidFill>
                <a:latin typeface="+mj-ea"/>
                <a:ea typeface="+mj-ea"/>
                <a:cs typeface="Arial"/>
                <a:sym typeface="Arial"/>
              </a:rPr>
              <a:t> </a:t>
            </a:r>
            <a:r>
              <a:rPr lang="en-US" b="1" dirty="0" err="1">
                <a:solidFill>
                  <a:srgbClr val="334155"/>
                </a:solidFill>
                <a:latin typeface="+mj-ea"/>
                <a:ea typeface="+mj-ea"/>
                <a:cs typeface="Arial"/>
                <a:sym typeface="Arial"/>
              </a:rPr>
              <a:t>분석</a:t>
            </a:r>
            <a:endParaRPr lang="en-US" b="1" dirty="0">
              <a:solidFill>
                <a:srgbClr val="334155"/>
              </a:solidFill>
              <a:latin typeface="+mj-ea"/>
              <a:ea typeface="+mj-ea"/>
              <a:cs typeface="Arial"/>
              <a:sym typeface="Arial"/>
            </a:endParaRPr>
          </a:p>
          <a:p>
            <a:pPr marL="285750" indent="-285750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en-US" b="1" dirty="0" err="1">
                <a:solidFill>
                  <a:srgbClr val="334155"/>
                </a:solidFill>
                <a:latin typeface="+mj-ea"/>
                <a:ea typeface="+mj-ea"/>
                <a:cs typeface="Arial"/>
                <a:sym typeface="Arial"/>
              </a:rPr>
              <a:t>추상적</a:t>
            </a:r>
            <a:r>
              <a:rPr lang="en-US" b="1" dirty="0">
                <a:solidFill>
                  <a:srgbClr val="334155"/>
                </a:solidFill>
                <a:latin typeface="+mj-ea"/>
                <a:ea typeface="+mj-ea"/>
                <a:cs typeface="Arial"/>
                <a:sym typeface="Arial"/>
              </a:rPr>
              <a:t> </a:t>
            </a:r>
            <a:r>
              <a:rPr lang="en-US" b="1" dirty="0" err="1">
                <a:solidFill>
                  <a:srgbClr val="334155"/>
                </a:solidFill>
                <a:latin typeface="+mj-ea"/>
                <a:ea typeface="+mj-ea"/>
                <a:cs typeface="Arial"/>
                <a:sym typeface="Arial"/>
              </a:rPr>
              <a:t>비유</a:t>
            </a:r>
            <a:r>
              <a:rPr lang="en-US" b="1" dirty="0">
                <a:solidFill>
                  <a:srgbClr val="334155"/>
                </a:solidFill>
                <a:latin typeface="+mj-ea"/>
                <a:ea typeface="+mj-ea"/>
                <a:cs typeface="Arial"/>
                <a:sym typeface="Arial"/>
              </a:rPr>
              <a:t> </a:t>
            </a:r>
            <a:r>
              <a:rPr lang="en-US" b="1" dirty="0" err="1">
                <a:solidFill>
                  <a:srgbClr val="334155"/>
                </a:solidFill>
                <a:latin typeface="+mj-ea"/>
                <a:ea typeface="+mj-ea"/>
                <a:cs typeface="Arial"/>
                <a:sym typeface="Arial"/>
              </a:rPr>
              <a:t>배제하고</a:t>
            </a:r>
            <a:r>
              <a:rPr lang="en-US" b="1" dirty="0">
                <a:solidFill>
                  <a:srgbClr val="334155"/>
                </a:solidFill>
                <a:latin typeface="+mj-ea"/>
                <a:ea typeface="+mj-ea"/>
                <a:cs typeface="Arial"/>
                <a:sym typeface="Arial"/>
              </a:rPr>
              <a:t> </a:t>
            </a:r>
            <a:r>
              <a:rPr lang="en-US" b="1" dirty="0" err="1">
                <a:solidFill>
                  <a:srgbClr val="0F172A"/>
                </a:solidFill>
                <a:latin typeface="+mj-ea"/>
                <a:ea typeface="+mj-ea"/>
                <a:cs typeface="Arial"/>
                <a:sym typeface="Arial"/>
              </a:rPr>
              <a:t>직무와</a:t>
            </a:r>
            <a:r>
              <a:rPr lang="en-US" b="1" dirty="0">
                <a:solidFill>
                  <a:srgbClr val="0F172A"/>
                </a:solidFill>
                <a:latin typeface="+mj-ea"/>
                <a:ea typeface="+mj-ea"/>
                <a:cs typeface="Arial"/>
                <a:sym typeface="Arial"/>
              </a:rPr>
              <a:t> </a:t>
            </a:r>
            <a:r>
              <a:rPr lang="en-US" b="1" dirty="0" err="1">
                <a:solidFill>
                  <a:srgbClr val="0F172A"/>
                </a:solidFill>
                <a:latin typeface="+mj-ea"/>
                <a:ea typeface="+mj-ea"/>
                <a:cs typeface="Arial"/>
                <a:sym typeface="Arial"/>
              </a:rPr>
              <a:t>직접</a:t>
            </a:r>
            <a:r>
              <a:rPr lang="en-US" b="1" dirty="0">
                <a:solidFill>
                  <a:srgbClr val="0F172A"/>
                </a:solidFill>
                <a:latin typeface="+mj-ea"/>
                <a:ea typeface="+mj-ea"/>
                <a:cs typeface="Arial"/>
                <a:sym typeface="Arial"/>
              </a:rPr>
              <a:t> </a:t>
            </a:r>
            <a:r>
              <a:rPr lang="en-US" b="1" dirty="0" err="1">
                <a:solidFill>
                  <a:srgbClr val="0F172A"/>
                </a:solidFill>
                <a:latin typeface="+mj-ea"/>
                <a:ea typeface="+mj-ea"/>
                <a:cs typeface="Arial"/>
                <a:sym typeface="Arial"/>
              </a:rPr>
              <a:t>연관된</a:t>
            </a:r>
            <a:r>
              <a:rPr lang="en-US" b="1" dirty="0">
                <a:solidFill>
                  <a:srgbClr val="0F172A"/>
                </a:solidFill>
                <a:latin typeface="+mj-ea"/>
                <a:ea typeface="+mj-ea"/>
                <a:cs typeface="Arial"/>
                <a:sym typeface="Arial"/>
              </a:rPr>
              <a:t> </a:t>
            </a:r>
            <a:r>
              <a:rPr lang="en-US" b="1" dirty="0" err="1">
                <a:solidFill>
                  <a:srgbClr val="0F172A"/>
                </a:solidFill>
                <a:latin typeface="+mj-ea"/>
                <a:ea typeface="+mj-ea"/>
                <a:cs typeface="Arial"/>
                <a:sym typeface="Arial"/>
              </a:rPr>
              <a:t>명확한</a:t>
            </a:r>
            <a:r>
              <a:rPr lang="en-US" b="1" dirty="0">
                <a:solidFill>
                  <a:srgbClr val="0F172A"/>
                </a:solidFill>
                <a:latin typeface="+mj-ea"/>
                <a:ea typeface="+mj-ea"/>
                <a:cs typeface="Arial"/>
                <a:sym typeface="Arial"/>
              </a:rPr>
              <a:t> </a:t>
            </a:r>
            <a:r>
              <a:rPr lang="en-US" b="1" dirty="0" err="1">
                <a:solidFill>
                  <a:srgbClr val="0F172A"/>
                </a:solidFill>
                <a:latin typeface="+mj-ea"/>
                <a:ea typeface="+mj-ea"/>
                <a:cs typeface="Arial"/>
                <a:sym typeface="Arial"/>
              </a:rPr>
              <a:t>긍정</a:t>
            </a:r>
            <a:r>
              <a:rPr lang="en-US" b="1" dirty="0">
                <a:solidFill>
                  <a:srgbClr val="0F172A"/>
                </a:solidFill>
                <a:latin typeface="+mj-ea"/>
                <a:ea typeface="+mj-ea"/>
                <a:cs typeface="Arial"/>
                <a:sym typeface="Arial"/>
              </a:rPr>
              <a:t> </a:t>
            </a:r>
            <a:r>
              <a:rPr lang="en-US" b="1" dirty="0" err="1">
                <a:solidFill>
                  <a:srgbClr val="0F172A"/>
                </a:solidFill>
                <a:latin typeface="+mj-ea"/>
                <a:ea typeface="+mj-ea"/>
                <a:cs typeface="Arial"/>
                <a:sym typeface="Arial"/>
              </a:rPr>
              <a:t>키워드</a:t>
            </a:r>
            <a:r>
              <a:rPr lang="en-US" b="1" dirty="0">
                <a:solidFill>
                  <a:srgbClr val="334155"/>
                </a:solidFill>
                <a:latin typeface="+mj-ea"/>
                <a:ea typeface="+mj-ea"/>
                <a:cs typeface="Arial"/>
                <a:sym typeface="Arial"/>
              </a:rPr>
              <a:t> </a:t>
            </a:r>
            <a:r>
              <a:rPr lang="en-US" b="1" dirty="0" err="1">
                <a:solidFill>
                  <a:srgbClr val="334155"/>
                </a:solidFill>
                <a:latin typeface="+mj-ea"/>
                <a:ea typeface="+mj-ea"/>
                <a:cs typeface="Arial"/>
                <a:sym typeface="Arial"/>
              </a:rPr>
              <a:t>집중</a:t>
            </a:r>
            <a:r>
              <a:rPr lang="en-US" b="1" dirty="0">
                <a:solidFill>
                  <a:srgbClr val="334155"/>
                </a:solidFill>
                <a:latin typeface="+mj-ea"/>
                <a:ea typeface="+mj-ea"/>
                <a:cs typeface="Arial"/>
                <a:sym typeface="Arial"/>
              </a:rPr>
              <a:t> </a:t>
            </a:r>
            <a:r>
              <a:rPr lang="en-US" b="1" dirty="0" err="1">
                <a:solidFill>
                  <a:srgbClr val="334155"/>
                </a:solidFill>
                <a:latin typeface="+mj-ea"/>
                <a:ea typeface="+mj-ea"/>
                <a:cs typeface="Arial"/>
                <a:sym typeface="Arial"/>
              </a:rPr>
              <a:t>사용</a:t>
            </a:r>
            <a:endParaRPr sz="2800" b="1" dirty="0">
              <a:latin typeface="+mj-ea"/>
              <a:ea typeface="+mj-ea"/>
            </a:endParaRPr>
          </a:p>
        </p:txBody>
      </p:sp>
      <p:pic>
        <p:nvPicPr>
          <p:cNvPr id="33" name="Google Shape;226;p16" descr="image.png">
            <a:extLst>
              <a:ext uri="{FF2B5EF4-FFF2-40B4-BE49-F238E27FC236}">
                <a16:creationId xmlns:a16="http://schemas.microsoft.com/office/drawing/2014/main" id="{4FA194BD-AF28-42B8-BE1A-966C9FB3F60F}"/>
              </a:ext>
            </a:extLst>
          </p:cNvPr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9586913" y="5086350"/>
            <a:ext cx="3328988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34" name="Google Shape;227;p16">
            <a:extLst>
              <a:ext uri="{FF2B5EF4-FFF2-40B4-BE49-F238E27FC236}">
                <a16:creationId xmlns:a16="http://schemas.microsoft.com/office/drawing/2014/main" id="{206AC844-3180-4EF9-BEC6-38862E22C300}"/>
              </a:ext>
            </a:extLst>
          </p:cNvPr>
          <p:cNvSpPr txBox="1"/>
          <p:nvPr/>
        </p:nvSpPr>
        <p:spPr>
          <a:xfrm>
            <a:off x="9503687" y="5757863"/>
            <a:ext cx="3495437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/>
            <a:r>
              <a:rPr lang="en-US" sz="2800" b="1">
                <a:solidFill>
                  <a:srgbClr val="0F172A"/>
                </a:solidFill>
                <a:latin typeface="+mj-ea"/>
                <a:ea typeface="+mj-ea"/>
                <a:cs typeface="Poppins ExtraBold"/>
                <a:sym typeface="Poppins ExtraBold"/>
              </a:rPr>
              <a:t>Vocal</a:t>
            </a:r>
            <a:endParaRPr sz="2800" b="1">
              <a:latin typeface="+mj-ea"/>
              <a:ea typeface="+mj-ea"/>
            </a:endParaRPr>
          </a:p>
        </p:txBody>
      </p:sp>
      <p:sp>
        <p:nvSpPr>
          <p:cNvPr id="35" name="Google Shape;228;p16">
            <a:extLst>
              <a:ext uri="{FF2B5EF4-FFF2-40B4-BE49-F238E27FC236}">
                <a16:creationId xmlns:a16="http://schemas.microsoft.com/office/drawing/2014/main" id="{B0DBFA07-CBF3-493E-9170-40AED0850290}"/>
              </a:ext>
            </a:extLst>
          </p:cNvPr>
          <p:cNvSpPr txBox="1"/>
          <p:nvPr/>
        </p:nvSpPr>
        <p:spPr>
          <a:xfrm>
            <a:off x="9503687" y="6300788"/>
            <a:ext cx="3495437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/>
            <a:r>
              <a:rPr lang="en-US" b="1">
                <a:solidFill>
                  <a:srgbClr val="64748B"/>
                </a:solidFill>
                <a:latin typeface="+mj-ea"/>
                <a:ea typeface="+mj-ea"/>
                <a:cs typeface="Arial"/>
                <a:sym typeface="Arial"/>
              </a:rPr>
              <a:t>음성 데이터 분석</a:t>
            </a:r>
            <a:endParaRPr sz="2800" b="1">
              <a:latin typeface="+mj-ea"/>
              <a:ea typeface="+mj-ea"/>
            </a:endParaRPr>
          </a:p>
        </p:txBody>
      </p:sp>
      <p:sp>
        <p:nvSpPr>
          <p:cNvPr id="36" name="Google Shape;229;p16">
            <a:extLst>
              <a:ext uri="{FF2B5EF4-FFF2-40B4-BE49-F238E27FC236}">
                <a16:creationId xmlns:a16="http://schemas.microsoft.com/office/drawing/2014/main" id="{FB528AED-E791-456E-955E-3C31F6DC5AE5}"/>
              </a:ext>
            </a:extLst>
          </p:cNvPr>
          <p:cNvSpPr/>
          <p:nvPr/>
        </p:nvSpPr>
        <p:spPr>
          <a:xfrm>
            <a:off x="9586913" y="6786563"/>
            <a:ext cx="3328988" cy="14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137138" tIns="68550" rIns="137138" bIns="68550" anchor="ctr" anchorCtr="0">
            <a:noAutofit/>
          </a:bodyPr>
          <a:lstStyle/>
          <a:p>
            <a:pPr algn="ctr"/>
            <a:endParaRPr sz="2800" b="1">
              <a:solidFill>
                <a:schemeClr val="dk1"/>
              </a:solidFill>
              <a:latin typeface="+mj-ea"/>
              <a:ea typeface="+mj-ea"/>
              <a:cs typeface="Calibri"/>
              <a:sym typeface="Calibri"/>
            </a:endParaRPr>
          </a:p>
        </p:txBody>
      </p:sp>
      <p:sp>
        <p:nvSpPr>
          <p:cNvPr id="37" name="Google Shape;230;p16">
            <a:extLst>
              <a:ext uri="{FF2B5EF4-FFF2-40B4-BE49-F238E27FC236}">
                <a16:creationId xmlns:a16="http://schemas.microsoft.com/office/drawing/2014/main" id="{5B0DE757-5A28-40D5-9651-74F90861E835}"/>
              </a:ext>
            </a:extLst>
          </p:cNvPr>
          <p:cNvSpPr txBox="1"/>
          <p:nvPr/>
        </p:nvSpPr>
        <p:spPr>
          <a:xfrm>
            <a:off x="9586913" y="7015163"/>
            <a:ext cx="3614738" cy="19389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85750" indent="-285750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en-US" b="1" dirty="0" err="1">
                <a:solidFill>
                  <a:srgbClr val="334155"/>
                </a:solidFill>
                <a:latin typeface="+mj-ea"/>
                <a:ea typeface="+mj-ea"/>
                <a:cs typeface="Arial"/>
                <a:sym typeface="Arial"/>
              </a:rPr>
              <a:t>당황스러운</a:t>
            </a:r>
            <a:r>
              <a:rPr lang="en-US" b="1" dirty="0">
                <a:solidFill>
                  <a:srgbClr val="334155"/>
                </a:solidFill>
                <a:latin typeface="+mj-ea"/>
                <a:ea typeface="+mj-ea"/>
                <a:cs typeface="Arial"/>
                <a:sym typeface="Arial"/>
              </a:rPr>
              <a:t> </a:t>
            </a:r>
            <a:r>
              <a:rPr lang="en-US" b="1" dirty="0" err="1">
                <a:solidFill>
                  <a:srgbClr val="334155"/>
                </a:solidFill>
                <a:latin typeface="+mj-ea"/>
                <a:ea typeface="+mj-ea"/>
                <a:cs typeface="Arial"/>
                <a:sym typeface="Arial"/>
              </a:rPr>
              <a:t>심층</a:t>
            </a:r>
            <a:r>
              <a:rPr lang="en-US" b="1" dirty="0">
                <a:solidFill>
                  <a:srgbClr val="334155"/>
                </a:solidFill>
                <a:latin typeface="+mj-ea"/>
                <a:ea typeface="+mj-ea"/>
                <a:cs typeface="Arial"/>
                <a:sym typeface="Arial"/>
              </a:rPr>
              <a:t> </a:t>
            </a:r>
            <a:r>
              <a:rPr lang="en-US" b="1" dirty="0" err="1">
                <a:solidFill>
                  <a:srgbClr val="334155"/>
                </a:solidFill>
                <a:latin typeface="+mj-ea"/>
                <a:ea typeface="+mj-ea"/>
                <a:cs typeface="Arial"/>
                <a:sym typeface="Arial"/>
              </a:rPr>
              <a:t>질문에도</a:t>
            </a:r>
            <a:r>
              <a:rPr lang="en-US" b="1" dirty="0">
                <a:solidFill>
                  <a:srgbClr val="334155"/>
                </a:solidFill>
                <a:latin typeface="+mj-ea"/>
                <a:ea typeface="+mj-ea"/>
                <a:cs typeface="Arial"/>
                <a:sym typeface="Arial"/>
              </a:rPr>
              <a:t> </a:t>
            </a:r>
            <a:r>
              <a:rPr lang="en-US" b="1" dirty="0" err="1">
                <a:solidFill>
                  <a:srgbClr val="0F172A"/>
                </a:solidFill>
                <a:latin typeface="+mj-ea"/>
                <a:ea typeface="+mj-ea"/>
                <a:cs typeface="Arial"/>
                <a:sym typeface="Arial"/>
              </a:rPr>
              <a:t>일정한</a:t>
            </a:r>
            <a:r>
              <a:rPr lang="en-US" b="1" dirty="0">
                <a:solidFill>
                  <a:srgbClr val="0F172A"/>
                </a:solidFill>
                <a:latin typeface="+mj-ea"/>
                <a:ea typeface="+mj-ea"/>
                <a:cs typeface="Arial"/>
                <a:sym typeface="Arial"/>
              </a:rPr>
              <a:t> </a:t>
            </a:r>
            <a:r>
              <a:rPr lang="en-US" b="1" dirty="0" err="1">
                <a:solidFill>
                  <a:srgbClr val="0F172A"/>
                </a:solidFill>
                <a:latin typeface="+mj-ea"/>
                <a:ea typeface="+mj-ea"/>
                <a:cs typeface="Arial"/>
                <a:sym typeface="Arial"/>
              </a:rPr>
              <a:t>음높이와</a:t>
            </a:r>
            <a:r>
              <a:rPr lang="en-US" b="1" dirty="0">
                <a:solidFill>
                  <a:srgbClr val="0F172A"/>
                </a:solidFill>
                <a:latin typeface="+mj-ea"/>
                <a:ea typeface="+mj-ea"/>
                <a:cs typeface="Arial"/>
                <a:sym typeface="Arial"/>
              </a:rPr>
              <a:t> </a:t>
            </a:r>
            <a:r>
              <a:rPr lang="en-US" b="1" dirty="0" err="1">
                <a:solidFill>
                  <a:srgbClr val="0F172A"/>
                </a:solidFill>
                <a:latin typeface="+mj-ea"/>
                <a:ea typeface="+mj-ea"/>
                <a:cs typeface="Arial"/>
                <a:sym typeface="Arial"/>
              </a:rPr>
              <a:t>속도</a:t>
            </a:r>
            <a:r>
              <a:rPr lang="en-US" b="1" dirty="0">
                <a:solidFill>
                  <a:srgbClr val="0F172A"/>
                </a:solidFill>
                <a:latin typeface="+mj-ea"/>
                <a:ea typeface="+mj-ea"/>
                <a:cs typeface="Arial"/>
                <a:sym typeface="Arial"/>
              </a:rPr>
              <a:t>, </a:t>
            </a:r>
            <a:r>
              <a:rPr lang="en-US" b="1" dirty="0" err="1">
                <a:solidFill>
                  <a:srgbClr val="0F172A"/>
                </a:solidFill>
                <a:latin typeface="+mj-ea"/>
                <a:ea typeface="+mj-ea"/>
                <a:cs typeface="Arial"/>
                <a:sym typeface="Arial"/>
              </a:rPr>
              <a:t>명확한</a:t>
            </a:r>
            <a:r>
              <a:rPr lang="en-US" b="1" dirty="0">
                <a:solidFill>
                  <a:srgbClr val="0F172A"/>
                </a:solidFill>
                <a:latin typeface="+mj-ea"/>
                <a:ea typeface="+mj-ea"/>
                <a:cs typeface="Arial"/>
                <a:sym typeface="Arial"/>
              </a:rPr>
              <a:t> </a:t>
            </a:r>
            <a:r>
              <a:rPr lang="en-US" b="1" dirty="0" err="1">
                <a:solidFill>
                  <a:srgbClr val="0F172A"/>
                </a:solidFill>
                <a:latin typeface="+mj-ea"/>
                <a:ea typeface="+mj-ea"/>
                <a:cs typeface="Arial"/>
                <a:sym typeface="Arial"/>
              </a:rPr>
              <a:t>발음</a:t>
            </a:r>
            <a:r>
              <a:rPr lang="en-US" b="1" dirty="0">
                <a:solidFill>
                  <a:srgbClr val="0F172A"/>
                </a:solidFill>
                <a:latin typeface="+mj-ea"/>
                <a:ea typeface="+mj-ea"/>
                <a:cs typeface="Arial"/>
                <a:sym typeface="Arial"/>
              </a:rPr>
              <a:t> </a:t>
            </a:r>
            <a:r>
              <a:rPr lang="en-US" b="1" dirty="0" err="1">
                <a:solidFill>
                  <a:srgbClr val="0F172A"/>
                </a:solidFill>
                <a:latin typeface="+mj-ea"/>
                <a:ea typeface="+mj-ea"/>
                <a:cs typeface="Arial"/>
                <a:sym typeface="Arial"/>
              </a:rPr>
              <a:t>유지</a:t>
            </a:r>
            <a:endParaRPr lang="en-US" b="1" dirty="0">
              <a:solidFill>
                <a:srgbClr val="334155"/>
              </a:solidFill>
              <a:latin typeface="+mj-ea"/>
              <a:ea typeface="+mj-ea"/>
              <a:cs typeface="Arial"/>
              <a:sym typeface="Arial"/>
            </a:endParaRPr>
          </a:p>
          <a:p>
            <a:pPr marL="285750" indent="-285750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en-US" b="1" dirty="0" err="1">
                <a:solidFill>
                  <a:srgbClr val="334155"/>
                </a:solidFill>
                <a:latin typeface="+mj-ea"/>
                <a:ea typeface="+mj-ea"/>
                <a:cs typeface="Arial"/>
                <a:sym typeface="Arial"/>
              </a:rPr>
              <a:t>말끝</a:t>
            </a:r>
            <a:r>
              <a:rPr lang="en-US" b="1" dirty="0">
                <a:solidFill>
                  <a:srgbClr val="334155"/>
                </a:solidFill>
                <a:latin typeface="+mj-ea"/>
                <a:ea typeface="+mj-ea"/>
                <a:cs typeface="Arial"/>
                <a:sym typeface="Arial"/>
              </a:rPr>
              <a:t> </a:t>
            </a:r>
            <a:r>
              <a:rPr lang="en-US" b="1" dirty="0" err="1">
                <a:solidFill>
                  <a:srgbClr val="334155"/>
                </a:solidFill>
                <a:latin typeface="+mj-ea"/>
                <a:ea typeface="+mj-ea"/>
                <a:cs typeface="Arial"/>
                <a:sym typeface="Arial"/>
              </a:rPr>
              <a:t>흐리기</a:t>
            </a:r>
            <a:r>
              <a:rPr lang="en-US" b="1" dirty="0">
                <a:solidFill>
                  <a:srgbClr val="334155"/>
                </a:solidFill>
                <a:latin typeface="+mj-ea"/>
                <a:ea typeface="+mj-ea"/>
                <a:cs typeface="Arial"/>
                <a:sym typeface="Arial"/>
              </a:rPr>
              <a:t> 및 </a:t>
            </a:r>
            <a:r>
              <a:rPr lang="en-US" b="1" dirty="0" err="1">
                <a:solidFill>
                  <a:srgbClr val="334155"/>
                </a:solidFill>
                <a:latin typeface="+mj-ea"/>
                <a:ea typeface="+mj-ea"/>
                <a:cs typeface="Arial"/>
                <a:sym typeface="Arial"/>
              </a:rPr>
              <a:t>불필요한</a:t>
            </a:r>
            <a:r>
              <a:rPr lang="en-US" b="1" dirty="0">
                <a:solidFill>
                  <a:srgbClr val="334155"/>
                </a:solidFill>
                <a:latin typeface="+mj-ea"/>
                <a:ea typeface="+mj-ea"/>
                <a:cs typeface="Arial"/>
                <a:sym typeface="Arial"/>
              </a:rPr>
              <a:t> </a:t>
            </a:r>
            <a:r>
              <a:rPr lang="en-US" b="1" dirty="0" err="1">
                <a:solidFill>
                  <a:srgbClr val="334155"/>
                </a:solidFill>
                <a:latin typeface="+mj-ea"/>
                <a:ea typeface="+mj-ea"/>
                <a:cs typeface="Arial"/>
                <a:sym typeface="Arial"/>
              </a:rPr>
              <a:t>추임새제거</a:t>
            </a:r>
            <a:endParaRPr sz="2800" b="1" dirty="0">
              <a:latin typeface="+mj-ea"/>
              <a:ea typeface="+mj-ea"/>
            </a:endParaRPr>
          </a:p>
        </p:txBody>
      </p:sp>
      <p:pic>
        <p:nvPicPr>
          <p:cNvPr id="38" name="Google Shape;231;p16" descr="image.png">
            <a:extLst>
              <a:ext uri="{FF2B5EF4-FFF2-40B4-BE49-F238E27FC236}">
                <a16:creationId xmlns:a16="http://schemas.microsoft.com/office/drawing/2014/main" id="{8D24EE27-7C68-45CF-A265-A2EB14CF5677}"/>
              </a:ext>
            </a:extLst>
          </p:cNvPr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13801726" y="5086350"/>
            <a:ext cx="3328988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39" name="Google Shape;232;p16">
            <a:extLst>
              <a:ext uri="{FF2B5EF4-FFF2-40B4-BE49-F238E27FC236}">
                <a16:creationId xmlns:a16="http://schemas.microsoft.com/office/drawing/2014/main" id="{6D019CC7-5EE4-4F30-8E04-907361B68289}"/>
              </a:ext>
            </a:extLst>
          </p:cNvPr>
          <p:cNvSpPr txBox="1"/>
          <p:nvPr/>
        </p:nvSpPr>
        <p:spPr>
          <a:xfrm>
            <a:off x="13718500" y="5757863"/>
            <a:ext cx="3495437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/>
            <a:r>
              <a:rPr lang="en-US" sz="2800" b="1">
                <a:solidFill>
                  <a:srgbClr val="0F172A"/>
                </a:solidFill>
                <a:latin typeface="+mj-ea"/>
                <a:ea typeface="+mj-ea"/>
                <a:cs typeface="Poppins ExtraBold"/>
                <a:sym typeface="Poppins ExtraBold"/>
              </a:rPr>
              <a:t>Vital</a:t>
            </a:r>
            <a:endParaRPr sz="2800" b="1">
              <a:latin typeface="+mj-ea"/>
              <a:ea typeface="+mj-ea"/>
            </a:endParaRPr>
          </a:p>
        </p:txBody>
      </p:sp>
      <p:sp>
        <p:nvSpPr>
          <p:cNvPr id="40" name="Google Shape;233;p16">
            <a:extLst>
              <a:ext uri="{FF2B5EF4-FFF2-40B4-BE49-F238E27FC236}">
                <a16:creationId xmlns:a16="http://schemas.microsoft.com/office/drawing/2014/main" id="{242FAD29-A07B-48DA-8D25-D498AA9BE60A}"/>
              </a:ext>
            </a:extLst>
          </p:cNvPr>
          <p:cNvSpPr txBox="1"/>
          <p:nvPr/>
        </p:nvSpPr>
        <p:spPr>
          <a:xfrm>
            <a:off x="13718500" y="6300788"/>
            <a:ext cx="3495437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/>
            <a:r>
              <a:rPr lang="en-US" b="1">
                <a:solidFill>
                  <a:srgbClr val="64748B"/>
                </a:solidFill>
                <a:latin typeface="+mj-ea"/>
                <a:ea typeface="+mj-ea"/>
                <a:cs typeface="Arial"/>
                <a:sym typeface="Arial"/>
              </a:rPr>
              <a:t>생체 반응 분석</a:t>
            </a:r>
            <a:endParaRPr sz="2800" b="1">
              <a:latin typeface="+mj-ea"/>
              <a:ea typeface="+mj-ea"/>
            </a:endParaRPr>
          </a:p>
        </p:txBody>
      </p:sp>
      <p:sp>
        <p:nvSpPr>
          <p:cNvPr id="41" name="Google Shape;234;p16">
            <a:extLst>
              <a:ext uri="{FF2B5EF4-FFF2-40B4-BE49-F238E27FC236}">
                <a16:creationId xmlns:a16="http://schemas.microsoft.com/office/drawing/2014/main" id="{1F8468BF-FC13-47D8-8535-C16EE31F00D4}"/>
              </a:ext>
            </a:extLst>
          </p:cNvPr>
          <p:cNvSpPr/>
          <p:nvPr/>
        </p:nvSpPr>
        <p:spPr>
          <a:xfrm>
            <a:off x="13801726" y="6786563"/>
            <a:ext cx="3328988" cy="14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137138" tIns="68550" rIns="137138" bIns="68550" anchor="ctr" anchorCtr="0">
            <a:noAutofit/>
          </a:bodyPr>
          <a:lstStyle/>
          <a:p>
            <a:pPr algn="ctr"/>
            <a:endParaRPr sz="2800" b="1">
              <a:solidFill>
                <a:schemeClr val="dk1"/>
              </a:solidFill>
              <a:latin typeface="+mj-ea"/>
              <a:ea typeface="+mj-ea"/>
              <a:cs typeface="Calibri"/>
              <a:sym typeface="Calibri"/>
            </a:endParaRPr>
          </a:p>
        </p:txBody>
      </p:sp>
      <p:sp>
        <p:nvSpPr>
          <p:cNvPr id="42" name="Google Shape;235;p16">
            <a:extLst>
              <a:ext uri="{FF2B5EF4-FFF2-40B4-BE49-F238E27FC236}">
                <a16:creationId xmlns:a16="http://schemas.microsoft.com/office/drawing/2014/main" id="{9CEE3405-8876-43F7-B6B3-8B17A4565BE8}"/>
              </a:ext>
            </a:extLst>
          </p:cNvPr>
          <p:cNvSpPr txBox="1"/>
          <p:nvPr/>
        </p:nvSpPr>
        <p:spPr>
          <a:xfrm>
            <a:off x="13801725" y="7015163"/>
            <a:ext cx="3629023" cy="15511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85750" indent="-285750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en-US" b="1" dirty="0" err="1">
                <a:solidFill>
                  <a:srgbClr val="334155"/>
                </a:solidFill>
                <a:latin typeface="+mj-ea"/>
                <a:ea typeface="+mj-ea"/>
                <a:cs typeface="Arial"/>
                <a:sym typeface="Arial"/>
              </a:rPr>
              <a:t>안면</a:t>
            </a:r>
            <a:r>
              <a:rPr lang="en-US" b="1" dirty="0">
                <a:solidFill>
                  <a:srgbClr val="334155"/>
                </a:solidFill>
                <a:latin typeface="+mj-ea"/>
                <a:ea typeface="+mj-ea"/>
                <a:cs typeface="Arial"/>
                <a:sym typeface="Arial"/>
              </a:rPr>
              <a:t> </a:t>
            </a:r>
            <a:r>
              <a:rPr lang="en-US" b="1" dirty="0" err="1">
                <a:solidFill>
                  <a:srgbClr val="334155"/>
                </a:solidFill>
                <a:latin typeface="+mj-ea"/>
                <a:ea typeface="+mj-ea"/>
                <a:cs typeface="Arial"/>
                <a:sym typeface="Arial"/>
              </a:rPr>
              <a:t>근육의</a:t>
            </a:r>
            <a:r>
              <a:rPr lang="en-US" b="1" dirty="0">
                <a:solidFill>
                  <a:srgbClr val="334155"/>
                </a:solidFill>
                <a:latin typeface="+mj-ea"/>
                <a:ea typeface="+mj-ea"/>
                <a:cs typeface="Arial"/>
                <a:sym typeface="Arial"/>
              </a:rPr>
              <a:t> </a:t>
            </a:r>
            <a:r>
              <a:rPr lang="en-US" b="1" dirty="0" err="1">
                <a:solidFill>
                  <a:srgbClr val="334155"/>
                </a:solidFill>
                <a:latin typeface="+mj-ea"/>
                <a:ea typeface="+mj-ea"/>
                <a:cs typeface="Arial"/>
                <a:sym typeface="Arial"/>
              </a:rPr>
              <a:t>미세한</a:t>
            </a:r>
            <a:r>
              <a:rPr lang="en-US" b="1" dirty="0">
                <a:solidFill>
                  <a:srgbClr val="334155"/>
                </a:solidFill>
                <a:latin typeface="+mj-ea"/>
                <a:ea typeface="+mj-ea"/>
                <a:cs typeface="Arial"/>
                <a:sym typeface="Arial"/>
              </a:rPr>
              <a:t> </a:t>
            </a:r>
            <a:r>
              <a:rPr lang="en-US" b="1" dirty="0" err="1">
                <a:solidFill>
                  <a:srgbClr val="334155"/>
                </a:solidFill>
                <a:latin typeface="+mj-ea"/>
                <a:ea typeface="+mj-ea"/>
                <a:cs typeface="Arial"/>
                <a:sym typeface="Arial"/>
              </a:rPr>
              <a:t>떨림</a:t>
            </a:r>
            <a:r>
              <a:rPr lang="en-US" b="1" dirty="0">
                <a:solidFill>
                  <a:srgbClr val="334155"/>
                </a:solidFill>
                <a:latin typeface="+mj-ea"/>
                <a:ea typeface="+mj-ea"/>
                <a:cs typeface="Arial"/>
                <a:sym typeface="Arial"/>
              </a:rPr>
              <a:t> 및 </a:t>
            </a:r>
            <a:r>
              <a:rPr lang="en-US" b="1" dirty="0" err="1">
                <a:solidFill>
                  <a:srgbClr val="334155"/>
                </a:solidFill>
                <a:latin typeface="+mj-ea"/>
                <a:ea typeface="+mj-ea"/>
                <a:cs typeface="Arial"/>
                <a:sym typeface="Arial"/>
              </a:rPr>
              <a:t>안면</a:t>
            </a:r>
            <a:r>
              <a:rPr lang="en-US" b="1" dirty="0">
                <a:solidFill>
                  <a:srgbClr val="334155"/>
                </a:solidFill>
                <a:latin typeface="+mj-ea"/>
                <a:ea typeface="+mj-ea"/>
                <a:cs typeface="Arial"/>
                <a:sym typeface="Arial"/>
              </a:rPr>
              <a:t> </a:t>
            </a:r>
            <a:r>
              <a:rPr lang="en-US" b="1" dirty="0" err="1">
                <a:solidFill>
                  <a:srgbClr val="334155"/>
                </a:solidFill>
                <a:latin typeface="+mj-ea"/>
                <a:ea typeface="+mj-ea"/>
                <a:cs typeface="Arial"/>
                <a:sym typeface="Arial"/>
              </a:rPr>
              <a:t>색상</a:t>
            </a:r>
            <a:r>
              <a:rPr lang="en-US" b="1" dirty="0">
                <a:solidFill>
                  <a:srgbClr val="334155"/>
                </a:solidFill>
                <a:latin typeface="+mj-ea"/>
                <a:ea typeface="+mj-ea"/>
                <a:cs typeface="Arial"/>
                <a:sym typeface="Arial"/>
              </a:rPr>
              <a:t> </a:t>
            </a:r>
            <a:r>
              <a:rPr lang="en-US" b="1" dirty="0" err="1">
                <a:solidFill>
                  <a:srgbClr val="334155"/>
                </a:solidFill>
                <a:latin typeface="+mj-ea"/>
                <a:ea typeface="+mj-ea"/>
                <a:cs typeface="Arial"/>
                <a:sym typeface="Arial"/>
              </a:rPr>
              <a:t>변화</a:t>
            </a:r>
            <a:r>
              <a:rPr lang="en-US" b="1" dirty="0">
                <a:solidFill>
                  <a:srgbClr val="334155"/>
                </a:solidFill>
                <a:latin typeface="+mj-ea"/>
                <a:ea typeface="+mj-ea"/>
                <a:cs typeface="Arial"/>
                <a:sym typeface="Arial"/>
              </a:rPr>
              <a:t> </a:t>
            </a:r>
            <a:r>
              <a:rPr lang="en-US" b="1" dirty="0" err="1">
                <a:solidFill>
                  <a:srgbClr val="334155"/>
                </a:solidFill>
                <a:latin typeface="+mj-ea"/>
                <a:ea typeface="+mj-ea"/>
                <a:cs typeface="Arial"/>
                <a:sym typeface="Arial"/>
              </a:rPr>
              <a:t>감지</a:t>
            </a:r>
            <a:endParaRPr lang="en-US" b="1" dirty="0">
              <a:solidFill>
                <a:srgbClr val="334155"/>
              </a:solidFill>
              <a:latin typeface="+mj-ea"/>
              <a:ea typeface="+mj-ea"/>
              <a:cs typeface="Arial"/>
              <a:sym typeface="Arial"/>
            </a:endParaRPr>
          </a:p>
          <a:p>
            <a:pPr marL="285750" indent="-285750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en-US" b="1" dirty="0" err="1">
                <a:solidFill>
                  <a:srgbClr val="334155"/>
                </a:solidFill>
                <a:latin typeface="+mj-ea"/>
                <a:ea typeface="+mj-ea"/>
                <a:cs typeface="Arial"/>
                <a:sym typeface="Arial"/>
              </a:rPr>
              <a:t>장기적</a:t>
            </a:r>
            <a:r>
              <a:rPr lang="en-US" b="1" dirty="0">
                <a:solidFill>
                  <a:srgbClr val="334155"/>
                </a:solidFill>
                <a:latin typeface="+mj-ea"/>
                <a:ea typeface="+mj-ea"/>
                <a:cs typeface="Arial"/>
                <a:sym typeface="Arial"/>
              </a:rPr>
              <a:t> </a:t>
            </a:r>
            <a:r>
              <a:rPr lang="en-US" b="1" dirty="0" err="1">
                <a:solidFill>
                  <a:srgbClr val="334155"/>
                </a:solidFill>
                <a:latin typeface="+mj-ea"/>
                <a:ea typeface="+mj-ea"/>
                <a:cs typeface="Arial"/>
                <a:sym typeface="Arial"/>
              </a:rPr>
              <a:t>연습을</a:t>
            </a:r>
            <a:r>
              <a:rPr lang="en-US" b="1" dirty="0">
                <a:solidFill>
                  <a:srgbClr val="334155"/>
                </a:solidFill>
                <a:latin typeface="+mj-ea"/>
                <a:ea typeface="+mj-ea"/>
                <a:cs typeface="Arial"/>
                <a:sym typeface="Arial"/>
              </a:rPr>
              <a:t> </a:t>
            </a:r>
            <a:r>
              <a:rPr lang="en-US" b="1" dirty="0" err="1">
                <a:solidFill>
                  <a:srgbClr val="334155"/>
                </a:solidFill>
                <a:latin typeface="+mj-ea"/>
                <a:ea typeface="+mj-ea"/>
                <a:cs typeface="Arial"/>
                <a:sym typeface="Arial"/>
              </a:rPr>
              <a:t>통한</a:t>
            </a:r>
            <a:r>
              <a:rPr lang="en-US" b="1" dirty="0">
                <a:solidFill>
                  <a:srgbClr val="334155"/>
                </a:solidFill>
                <a:latin typeface="+mj-ea"/>
                <a:ea typeface="+mj-ea"/>
                <a:cs typeface="Arial"/>
                <a:sym typeface="Arial"/>
              </a:rPr>
              <a:t> </a:t>
            </a:r>
            <a:r>
              <a:rPr lang="en-US" b="1" dirty="0" err="1">
                <a:solidFill>
                  <a:srgbClr val="0F172A"/>
                </a:solidFill>
                <a:latin typeface="+mj-ea"/>
                <a:ea typeface="+mj-ea"/>
                <a:cs typeface="Arial"/>
                <a:sym typeface="Arial"/>
              </a:rPr>
              <a:t>스트레스</a:t>
            </a:r>
            <a:r>
              <a:rPr lang="en-US" b="1" dirty="0">
                <a:solidFill>
                  <a:srgbClr val="0F172A"/>
                </a:solidFill>
                <a:latin typeface="+mj-ea"/>
                <a:ea typeface="+mj-ea"/>
                <a:cs typeface="Arial"/>
                <a:sym typeface="Arial"/>
              </a:rPr>
              <a:t> </a:t>
            </a:r>
          </a:p>
          <a:p>
            <a:pPr>
              <a:lnSpc>
                <a:spcPct val="140000"/>
              </a:lnSpc>
            </a:pPr>
            <a:r>
              <a:rPr lang="en-US" b="1" dirty="0">
                <a:solidFill>
                  <a:srgbClr val="0F172A"/>
                </a:solidFill>
                <a:latin typeface="+mj-ea"/>
                <a:ea typeface="+mj-ea"/>
                <a:cs typeface="Arial"/>
                <a:sym typeface="Arial"/>
              </a:rPr>
              <a:t>    </a:t>
            </a:r>
            <a:r>
              <a:rPr lang="en-US" b="1" dirty="0" err="1">
                <a:solidFill>
                  <a:srgbClr val="0F172A"/>
                </a:solidFill>
                <a:latin typeface="+mj-ea"/>
                <a:ea typeface="+mj-ea"/>
                <a:cs typeface="Arial"/>
                <a:sym typeface="Arial"/>
              </a:rPr>
              <a:t>상황</a:t>
            </a:r>
            <a:r>
              <a:rPr lang="en-US" b="1" dirty="0">
                <a:solidFill>
                  <a:srgbClr val="0F172A"/>
                </a:solidFill>
                <a:latin typeface="+mj-ea"/>
                <a:ea typeface="+mj-ea"/>
                <a:cs typeface="Arial"/>
                <a:sym typeface="Arial"/>
              </a:rPr>
              <a:t> </a:t>
            </a:r>
            <a:r>
              <a:rPr lang="en-US" b="1" dirty="0" err="1">
                <a:solidFill>
                  <a:srgbClr val="0F172A"/>
                </a:solidFill>
                <a:latin typeface="+mj-ea"/>
                <a:ea typeface="+mj-ea"/>
                <a:cs typeface="Arial"/>
                <a:sym typeface="Arial"/>
              </a:rPr>
              <a:t>하의</a:t>
            </a:r>
            <a:r>
              <a:rPr lang="en-US" b="1" dirty="0">
                <a:solidFill>
                  <a:srgbClr val="0F172A"/>
                </a:solidFill>
                <a:latin typeface="+mj-ea"/>
                <a:ea typeface="+mj-ea"/>
                <a:cs typeface="Arial"/>
                <a:sym typeface="Arial"/>
              </a:rPr>
              <a:t> </a:t>
            </a:r>
            <a:r>
              <a:rPr lang="en-US" b="1" dirty="0" err="1">
                <a:solidFill>
                  <a:srgbClr val="0F172A"/>
                </a:solidFill>
                <a:latin typeface="+mj-ea"/>
                <a:ea typeface="+mj-ea"/>
                <a:cs typeface="Arial"/>
                <a:sym typeface="Arial"/>
              </a:rPr>
              <a:t>평정심</a:t>
            </a:r>
            <a:r>
              <a:rPr lang="en-US" b="1" dirty="0">
                <a:solidFill>
                  <a:srgbClr val="0F172A"/>
                </a:solidFill>
                <a:latin typeface="+mj-ea"/>
                <a:ea typeface="+mj-ea"/>
                <a:cs typeface="Arial"/>
                <a:sym typeface="Arial"/>
              </a:rPr>
              <a:t> </a:t>
            </a:r>
            <a:r>
              <a:rPr lang="en-US" b="1" dirty="0" err="1">
                <a:solidFill>
                  <a:srgbClr val="0F172A"/>
                </a:solidFill>
                <a:latin typeface="+mj-ea"/>
                <a:ea typeface="+mj-ea"/>
                <a:cs typeface="Arial"/>
                <a:sym typeface="Arial"/>
              </a:rPr>
              <a:t>유지</a:t>
            </a:r>
            <a:r>
              <a:rPr lang="en-US" b="1" dirty="0">
                <a:solidFill>
                  <a:srgbClr val="0F172A"/>
                </a:solidFill>
                <a:latin typeface="+mj-ea"/>
                <a:ea typeface="+mj-ea"/>
                <a:cs typeface="Arial"/>
                <a:sym typeface="Arial"/>
              </a:rPr>
              <a:t> </a:t>
            </a:r>
            <a:r>
              <a:rPr lang="en-US" b="1" dirty="0" err="1">
                <a:solidFill>
                  <a:srgbClr val="0F172A"/>
                </a:solidFill>
                <a:latin typeface="+mj-ea"/>
                <a:ea typeface="+mj-ea"/>
                <a:cs typeface="Arial"/>
                <a:sym typeface="Arial"/>
              </a:rPr>
              <a:t>훈련</a:t>
            </a:r>
            <a:r>
              <a:rPr lang="en-US" b="1" dirty="0">
                <a:solidFill>
                  <a:srgbClr val="334155"/>
                </a:solidFill>
                <a:latin typeface="+mj-ea"/>
                <a:ea typeface="+mj-ea"/>
                <a:cs typeface="Arial"/>
                <a:sym typeface="Arial"/>
              </a:rPr>
              <a:t> </a:t>
            </a:r>
            <a:r>
              <a:rPr lang="en-US" b="1" dirty="0" err="1">
                <a:solidFill>
                  <a:srgbClr val="334155"/>
                </a:solidFill>
                <a:latin typeface="+mj-ea"/>
                <a:ea typeface="+mj-ea"/>
                <a:cs typeface="Arial"/>
                <a:sym typeface="Arial"/>
              </a:rPr>
              <a:t>필수</a:t>
            </a:r>
            <a:endParaRPr sz="2800" b="1" dirty="0">
              <a:latin typeface="+mj-ea"/>
              <a:ea typeface="+mj-ea"/>
            </a:endParaRPr>
          </a:p>
        </p:txBody>
      </p:sp>
      <p:pic>
        <p:nvPicPr>
          <p:cNvPr id="43" name="Google Shape;236;p16" descr="image.png">
            <a:extLst>
              <a:ext uri="{FF2B5EF4-FFF2-40B4-BE49-F238E27FC236}">
                <a16:creationId xmlns:a16="http://schemas.microsoft.com/office/drawing/2014/main" id="{B73BEBD6-A7DC-4C1F-BC05-3EC28C6C85A3}"/>
              </a:ext>
            </a:extLst>
          </p:cNvPr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4630043" y="3350418"/>
            <a:ext cx="357188" cy="285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4" name="Google Shape;237;p16" descr="image.png">
            <a:extLst>
              <a:ext uri="{FF2B5EF4-FFF2-40B4-BE49-F238E27FC236}">
                <a16:creationId xmlns:a16="http://schemas.microsoft.com/office/drawing/2014/main" id="{6DD26BA7-99F2-4636-BA49-8DDD1B1EE200}"/>
              </a:ext>
            </a:extLst>
          </p:cNvPr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8916070" y="3350418"/>
            <a:ext cx="357188" cy="285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5" name="Google Shape;238;p16" descr="image.png">
            <a:extLst>
              <a:ext uri="{FF2B5EF4-FFF2-40B4-BE49-F238E27FC236}">
                <a16:creationId xmlns:a16="http://schemas.microsoft.com/office/drawing/2014/main" id="{85E8BB65-FF96-4182-AEAE-73736EA9189D}"/>
              </a:ext>
            </a:extLst>
          </p:cNvPr>
          <p:cNvPicPr preferRelativeResize="0"/>
          <p:nvPr/>
        </p:nvPicPr>
        <p:blipFill rotWithShape="1">
          <a:blip r:embed="rId15">
            <a:alphaModFix/>
          </a:blip>
          <a:srcRect/>
          <a:stretch/>
        </p:blipFill>
        <p:spPr>
          <a:xfrm>
            <a:off x="13202096" y="3350418"/>
            <a:ext cx="328613" cy="285750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TextBox 7">
            <a:extLst>
              <a:ext uri="{FF2B5EF4-FFF2-40B4-BE49-F238E27FC236}">
                <a16:creationId xmlns:a16="http://schemas.microsoft.com/office/drawing/2014/main" id="{84C22C98-AAA6-4B35-8CAC-29B299E4FE9F}"/>
              </a:ext>
            </a:extLst>
          </p:cNvPr>
          <p:cNvSpPr txBox="1"/>
          <p:nvPr/>
        </p:nvSpPr>
        <p:spPr>
          <a:xfrm>
            <a:off x="14357350" y="598765"/>
            <a:ext cx="3930650" cy="30107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ko-KR" altLang="en-US" sz="1600" b="1" i="0" u="none" strike="noStrike" spc="100" dirty="0">
                <a:solidFill>
                  <a:schemeClr val="accent6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진로설계 </a:t>
            </a:r>
            <a:r>
              <a:rPr lang="en-US" altLang="ko-KR" sz="1600" b="1" i="0" u="none" strike="noStrike" spc="100" dirty="0">
                <a:solidFill>
                  <a:schemeClr val="accent6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4. </a:t>
            </a:r>
            <a:r>
              <a:rPr lang="ko-KR" altLang="en-US" sz="1600" b="1" i="0" u="none" strike="noStrike" spc="100" dirty="0" err="1">
                <a:solidFill>
                  <a:schemeClr val="accent6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취업전략과</a:t>
            </a:r>
            <a:r>
              <a:rPr lang="ko-KR" altLang="en-US" sz="1600" b="1" i="0" u="none" strike="noStrike" spc="100" dirty="0">
                <a:solidFill>
                  <a:schemeClr val="accent6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600" b="1" i="0" u="none" strike="noStrike" spc="100" dirty="0" err="1">
                <a:solidFill>
                  <a:schemeClr val="accent6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실전취업</a:t>
            </a:r>
            <a:endParaRPr lang="en-US" sz="1600" b="1" i="0" u="none" strike="noStrike" spc="100" dirty="0">
              <a:solidFill>
                <a:schemeClr val="accent6">
                  <a:lumMod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7" name="Google Shape;217;p16">
            <a:extLst>
              <a:ext uri="{FF2B5EF4-FFF2-40B4-BE49-F238E27FC236}">
                <a16:creationId xmlns:a16="http://schemas.microsoft.com/office/drawing/2014/main" id="{81112CF7-FC40-41AE-8AD8-03B4DD9FA004}"/>
              </a:ext>
            </a:extLst>
          </p:cNvPr>
          <p:cNvSpPr txBox="1"/>
          <p:nvPr/>
        </p:nvSpPr>
        <p:spPr>
          <a:xfrm>
            <a:off x="8229600" y="2015010"/>
            <a:ext cx="3495437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/>
            <a:r>
              <a:rPr lang="en-US" sz="2000" b="1" dirty="0"/>
              <a:t>AI</a:t>
            </a:r>
            <a:r>
              <a:rPr lang="ko-KR" altLang="en-US" sz="2000" b="1" dirty="0"/>
              <a:t> 역량면접 대비</a:t>
            </a:r>
            <a:endParaRPr sz="2000" b="1" dirty="0"/>
          </a:p>
        </p:txBody>
      </p:sp>
    </p:spTree>
    <p:extLst>
      <p:ext uri="{BB962C8B-B14F-4D97-AF65-F5344CB8AC3E}">
        <p14:creationId xmlns:p14="http://schemas.microsoft.com/office/powerpoint/2010/main" val="4312750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8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sp>
        <p:nvSpPr>
          <p:cNvPr id="36" name="TextBox 3">
            <a:extLst>
              <a:ext uri="{FF2B5EF4-FFF2-40B4-BE49-F238E27FC236}">
                <a16:creationId xmlns:a16="http://schemas.microsoft.com/office/drawing/2014/main" id="{408C96A8-D486-4AA9-9D08-6784CFCE6F53}"/>
              </a:ext>
            </a:extLst>
          </p:cNvPr>
          <p:cNvSpPr txBox="1"/>
          <p:nvPr/>
        </p:nvSpPr>
        <p:spPr>
          <a:xfrm>
            <a:off x="1483499" y="724719"/>
            <a:ext cx="11954472" cy="9779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ko-KR" altLang="en-US" sz="4800" b="1" spc="-100" dirty="0">
                <a:solidFill>
                  <a:schemeClr val="bg2">
                    <a:lumMod val="10000"/>
                  </a:schemeClr>
                </a:solidFill>
                <a:latin typeface="+mj-ea"/>
                <a:ea typeface="+mj-ea"/>
              </a:rPr>
              <a:t>면접 예상질문에 답변하기</a:t>
            </a:r>
            <a:endParaRPr lang="en-US" sz="4800" b="1" i="0" u="none" strike="noStrike" spc="-100" dirty="0">
              <a:solidFill>
                <a:schemeClr val="bg2">
                  <a:lumMod val="10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57" name="직사각형 56">
            <a:extLst>
              <a:ext uri="{FF2B5EF4-FFF2-40B4-BE49-F238E27FC236}">
                <a16:creationId xmlns:a16="http://schemas.microsoft.com/office/drawing/2014/main" id="{3B993FFB-FE35-4B1A-9121-0FE40A8425F4}"/>
              </a:ext>
            </a:extLst>
          </p:cNvPr>
          <p:cNvSpPr/>
          <p:nvPr/>
        </p:nvSpPr>
        <p:spPr bwMode="auto">
          <a:xfrm>
            <a:off x="1079733" y="2625385"/>
            <a:ext cx="14843095" cy="6650643"/>
          </a:xfrm>
          <a:prstGeom prst="rect">
            <a:avLst/>
          </a:prstGeom>
          <a:noFill/>
          <a:ln w="9525" cap="flat" cmpd="sng" algn="ctr">
            <a:solidFill>
              <a:srgbClr val="CECECE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defTabSz="912592" eaLnBrk="1" latinLnBrk="1" hangingPunct="1"/>
            <a:endParaRPr lang="ko-KR" altLang="en-US"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116" name="Freeform 16">
            <a:extLst>
              <a:ext uri="{FF2B5EF4-FFF2-40B4-BE49-F238E27FC236}">
                <a16:creationId xmlns:a16="http://schemas.microsoft.com/office/drawing/2014/main" id="{9C95DD68-3380-4A06-9962-A1E310A7EB8A}"/>
              </a:ext>
            </a:extLst>
          </p:cNvPr>
          <p:cNvSpPr/>
          <p:nvPr/>
        </p:nvSpPr>
        <p:spPr>
          <a:xfrm>
            <a:off x="15011401" y="5753100"/>
            <a:ext cx="3050612" cy="3474608"/>
          </a:xfrm>
          <a:custGeom>
            <a:avLst/>
            <a:gdLst/>
            <a:ahLst/>
            <a:cxnLst/>
            <a:rect l="l" t="t" r="r" b="b"/>
            <a:pathLst>
              <a:path w="4794124" h="5504735">
                <a:moveTo>
                  <a:pt x="0" y="0"/>
                </a:moveTo>
                <a:lnTo>
                  <a:pt x="4794124" y="0"/>
                </a:lnTo>
                <a:lnTo>
                  <a:pt x="4794124" y="5504735"/>
                </a:lnTo>
                <a:lnTo>
                  <a:pt x="0" y="550473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ko-KR" altLang="en-US"/>
          </a:p>
        </p:txBody>
      </p:sp>
      <p:grpSp>
        <p:nvGrpSpPr>
          <p:cNvPr id="26" name="Group 7">
            <a:extLst>
              <a:ext uri="{FF2B5EF4-FFF2-40B4-BE49-F238E27FC236}">
                <a16:creationId xmlns:a16="http://schemas.microsoft.com/office/drawing/2014/main" id="{E066A7C6-AD9D-488D-A7FD-22723BB5F7C3}"/>
              </a:ext>
            </a:extLst>
          </p:cNvPr>
          <p:cNvGrpSpPr/>
          <p:nvPr/>
        </p:nvGrpSpPr>
        <p:grpSpPr>
          <a:xfrm>
            <a:off x="1023252" y="972141"/>
            <a:ext cx="122092" cy="590205"/>
            <a:chOff x="0" y="0"/>
            <a:chExt cx="444637" cy="309271"/>
          </a:xfrm>
          <a:solidFill>
            <a:schemeClr val="accent6">
              <a:lumMod val="50000"/>
            </a:schemeClr>
          </a:solidFill>
        </p:grpSpPr>
        <p:sp>
          <p:nvSpPr>
            <p:cNvPr id="27" name="Freeform 8">
              <a:extLst>
                <a:ext uri="{FF2B5EF4-FFF2-40B4-BE49-F238E27FC236}">
                  <a16:creationId xmlns:a16="http://schemas.microsoft.com/office/drawing/2014/main" id="{62D09888-3543-45D9-86CB-C6DC81C6E00F}"/>
                </a:ext>
              </a:extLst>
            </p:cNvPr>
            <p:cNvSpPr/>
            <p:nvPr/>
          </p:nvSpPr>
          <p:spPr>
            <a:xfrm>
              <a:off x="0" y="0"/>
              <a:ext cx="444637" cy="309271"/>
            </a:xfrm>
            <a:custGeom>
              <a:avLst/>
              <a:gdLst/>
              <a:ahLst/>
              <a:cxnLst/>
              <a:rect l="l" t="t" r="r" b="b"/>
              <a:pathLst>
                <a:path w="444637" h="309271">
                  <a:moveTo>
                    <a:pt x="0" y="0"/>
                  </a:moveTo>
                  <a:lnTo>
                    <a:pt x="444637" y="0"/>
                  </a:lnTo>
                  <a:lnTo>
                    <a:pt x="444637" y="309271"/>
                  </a:lnTo>
                  <a:lnTo>
                    <a:pt x="0" y="309271"/>
                  </a:lnTo>
                  <a:close/>
                </a:path>
              </a:pathLst>
            </a:custGeom>
            <a:grpFill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8" name="TextBox 9">
              <a:extLst>
                <a:ext uri="{FF2B5EF4-FFF2-40B4-BE49-F238E27FC236}">
                  <a16:creationId xmlns:a16="http://schemas.microsoft.com/office/drawing/2014/main" id="{9BB09223-D3FC-4B01-88DB-F228C2FBB413}"/>
                </a:ext>
              </a:extLst>
            </p:cNvPr>
            <p:cNvSpPr txBox="1"/>
            <p:nvPr/>
          </p:nvSpPr>
          <p:spPr>
            <a:xfrm>
              <a:off x="0" y="-66675"/>
              <a:ext cx="444637" cy="375946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2"/>
                </a:lnSpc>
              </a:pPr>
              <a:endParaRPr>
                <a:solidFill>
                  <a:schemeClr val="accent3">
                    <a:lumMod val="50000"/>
                  </a:schemeClr>
                </a:solidFill>
              </a:endParaRPr>
            </a:p>
          </p:txBody>
        </p:sp>
      </p:grpSp>
      <p:sp>
        <p:nvSpPr>
          <p:cNvPr id="31" name="Text Box 58">
            <a:extLst>
              <a:ext uri="{FF2B5EF4-FFF2-40B4-BE49-F238E27FC236}">
                <a16:creationId xmlns:a16="http://schemas.microsoft.com/office/drawing/2014/main" id="{8B923F7C-6B9B-4125-B028-5406728829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70080" y="5143500"/>
            <a:ext cx="5168281" cy="12014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bIns="46800">
            <a:spAutoFit/>
          </a:bodyPr>
          <a:lstStyle>
            <a:lvl1pPr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 eaLnBrk="1" latinLnBrk="1" hangingPunct="1"/>
            <a:endParaRPr lang="en-US" altLang="ko-KR" sz="2400" b="1" dirty="0">
              <a:solidFill>
                <a:schemeClr val="tx1">
                  <a:lumMod val="85000"/>
                  <a:lumOff val="1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ctr" eaLnBrk="1" latinLnBrk="1" hangingPunct="1"/>
            <a:r>
              <a:rPr lang="ko-KR" altLang="en-US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나만의 개성을 보여줄 수 있는 대답을 고민해보기</a:t>
            </a:r>
            <a:endParaRPr lang="en-US" altLang="ko-KR" sz="2400" b="1" dirty="0">
              <a:solidFill>
                <a:schemeClr val="tx1">
                  <a:lumMod val="85000"/>
                  <a:lumOff val="1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6DC750F0-209C-493E-AE5F-2AFE109F69FA}"/>
              </a:ext>
            </a:extLst>
          </p:cNvPr>
          <p:cNvSpPr txBox="1"/>
          <p:nvPr/>
        </p:nvSpPr>
        <p:spPr>
          <a:xfrm>
            <a:off x="2673081" y="6728529"/>
            <a:ext cx="4914450" cy="454061"/>
          </a:xfrm>
          <a:prstGeom prst="rect">
            <a:avLst/>
          </a:prstGeom>
          <a:noFill/>
        </p:spPr>
        <p:txBody>
          <a:bodyPr wrap="square" lIns="91213" tIns="45606" rIns="91213" bIns="45606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b="1" dirty="0">
                <a:latin typeface="+mj-ea"/>
                <a:ea typeface="+mj-ea"/>
              </a:rPr>
              <a:t>샘플 교재 </a:t>
            </a:r>
            <a:r>
              <a:rPr lang="en-US" altLang="ko-KR" b="1" dirty="0">
                <a:latin typeface="+mj-ea"/>
                <a:ea typeface="+mj-ea"/>
              </a:rPr>
              <a:t>p.141</a:t>
            </a:r>
            <a:r>
              <a:rPr lang="ko-KR" altLang="en-US" b="1" dirty="0">
                <a:latin typeface="+mj-ea"/>
                <a:ea typeface="+mj-ea"/>
              </a:rPr>
              <a:t>참고</a:t>
            </a:r>
            <a:endParaRPr lang="en-US" altLang="ko-KR" b="1" dirty="0">
              <a:latin typeface="+mj-ea"/>
              <a:ea typeface="+mj-ea"/>
            </a:endParaRP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DF305DF5-A728-4DD7-88E4-3A4305D2F57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08820" y="2891029"/>
            <a:ext cx="6335779" cy="6334977"/>
          </a:xfrm>
          <a:prstGeom prst="rect">
            <a:avLst/>
          </a:prstGeom>
        </p:spPr>
      </p:pic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8360E071-939A-4665-82F3-6203D2978394}"/>
              </a:ext>
            </a:extLst>
          </p:cNvPr>
          <p:cNvCxnSpPr>
            <a:cxnSpLocks/>
            <a:endCxn id="20" idx="1"/>
          </p:cNvCxnSpPr>
          <p:nvPr/>
        </p:nvCxnSpPr>
        <p:spPr>
          <a:xfrm flipV="1">
            <a:off x="597331" y="9800590"/>
            <a:ext cx="15412051" cy="52238"/>
          </a:xfrm>
          <a:prstGeom prst="line">
            <a:avLst/>
          </a:prstGeom>
          <a:ln>
            <a:solidFill>
              <a:schemeClr val="accent6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DC9B9380-C7CF-41BD-92B0-C9CBBB65EE47}"/>
              </a:ext>
            </a:extLst>
          </p:cNvPr>
          <p:cNvSpPr/>
          <p:nvPr/>
        </p:nvSpPr>
        <p:spPr>
          <a:xfrm>
            <a:off x="16009382" y="9615924"/>
            <a:ext cx="2016771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 algn="r">
              <a:lnSpc>
                <a:spcPct val="99600"/>
              </a:lnSpc>
            </a:pPr>
            <a:r>
              <a:rPr lang="en-US" altLang="ko-KR" b="1" dirty="0">
                <a:solidFill>
                  <a:schemeClr val="accent6">
                    <a:lumMod val="50000"/>
                  </a:schemeClr>
                </a:solidFill>
                <a:latin typeface="+mj-ea"/>
              </a:rPr>
              <a:t>Workbook</a:t>
            </a:r>
            <a:r>
              <a:rPr lang="ko-KR" altLang="en-US" b="1" dirty="0">
                <a:solidFill>
                  <a:schemeClr val="accent6">
                    <a:lumMod val="50000"/>
                  </a:schemeClr>
                </a:solidFill>
                <a:latin typeface="+mj-ea"/>
              </a:rPr>
              <a:t> </a:t>
            </a:r>
            <a:r>
              <a:rPr lang="en-US" altLang="ko-KR" b="1" dirty="0">
                <a:solidFill>
                  <a:schemeClr val="accent6">
                    <a:lumMod val="50000"/>
                  </a:schemeClr>
                </a:solidFill>
                <a:latin typeface="+mj-ea"/>
              </a:rPr>
              <a:t>p.141</a:t>
            </a:r>
          </a:p>
        </p:txBody>
      </p:sp>
      <p:sp>
        <p:nvSpPr>
          <p:cNvPr id="17" name="TextBox 7">
            <a:extLst>
              <a:ext uri="{FF2B5EF4-FFF2-40B4-BE49-F238E27FC236}">
                <a16:creationId xmlns:a16="http://schemas.microsoft.com/office/drawing/2014/main" id="{3BB4C331-FA5C-4069-827D-4059BA85B81F}"/>
              </a:ext>
            </a:extLst>
          </p:cNvPr>
          <p:cNvSpPr txBox="1"/>
          <p:nvPr/>
        </p:nvSpPr>
        <p:spPr>
          <a:xfrm>
            <a:off x="14357350" y="598765"/>
            <a:ext cx="3930650" cy="30107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ko-KR" altLang="en-US" sz="1600" b="1" i="0" u="none" strike="noStrike" spc="100" dirty="0">
                <a:solidFill>
                  <a:schemeClr val="accent6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진로설계 </a:t>
            </a:r>
            <a:r>
              <a:rPr lang="en-US" altLang="ko-KR" sz="1600" b="1" i="0" u="none" strike="noStrike" spc="100" dirty="0">
                <a:solidFill>
                  <a:schemeClr val="accent6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4. </a:t>
            </a:r>
            <a:r>
              <a:rPr lang="ko-KR" altLang="en-US" sz="1600" b="1" i="0" u="none" strike="noStrike" spc="100" dirty="0" err="1">
                <a:solidFill>
                  <a:schemeClr val="accent6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취업전략과</a:t>
            </a:r>
            <a:r>
              <a:rPr lang="ko-KR" altLang="en-US" sz="1600" b="1" i="0" u="none" strike="noStrike" spc="100" dirty="0">
                <a:solidFill>
                  <a:schemeClr val="accent6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600" b="1" i="0" u="none" strike="noStrike" spc="100" dirty="0" err="1">
                <a:solidFill>
                  <a:schemeClr val="accent6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실전취업</a:t>
            </a:r>
            <a:endParaRPr lang="en-US" sz="1600" b="1" i="0" u="none" strike="noStrike" spc="100" dirty="0">
              <a:solidFill>
                <a:schemeClr val="accent6">
                  <a:lumMod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9941304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cxnSp>
        <p:nvCxnSpPr>
          <p:cNvPr id="33" name="직선 연결선 32">
            <a:extLst>
              <a:ext uri="{FF2B5EF4-FFF2-40B4-BE49-F238E27FC236}">
                <a16:creationId xmlns:a16="http://schemas.microsoft.com/office/drawing/2014/main" id="{F8005B58-4173-494C-B001-534AE8A2965F}"/>
              </a:ext>
            </a:extLst>
          </p:cNvPr>
          <p:cNvCxnSpPr>
            <a:cxnSpLocks/>
          </p:cNvCxnSpPr>
          <p:nvPr/>
        </p:nvCxnSpPr>
        <p:spPr>
          <a:xfrm>
            <a:off x="971550" y="9944100"/>
            <a:ext cx="16783050" cy="0"/>
          </a:xfrm>
          <a:prstGeom prst="line">
            <a:avLst/>
          </a:prstGeom>
          <a:ln>
            <a:solidFill>
              <a:schemeClr val="accent6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" name="그룹 7">
            <a:extLst>
              <a:ext uri="{FF2B5EF4-FFF2-40B4-BE49-F238E27FC236}">
                <a16:creationId xmlns:a16="http://schemas.microsoft.com/office/drawing/2014/main" id="{AF4898C7-20ED-40B2-9557-F33C4D2533B7}"/>
              </a:ext>
            </a:extLst>
          </p:cNvPr>
          <p:cNvGrpSpPr/>
          <p:nvPr/>
        </p:nvGrpSpPr>
        <p:grpSpPr>
          <a:xfrm>
            <a:off x="11124059" y="3384249"/>
            <a:ext cx="6984303" cy="6092409"/>
            <a:chOff x="11506200" y="2552700"/>
            <a:chExt cx="5778544" cy="5938556"/>
          </a:xfrm>
        </p:grpSpPr>
        <p:sp>
          <p:nvSpPr>
            <p:cNvPr id="26" name="Freeform 5">
              <a:extLst>
                <a:ext uri="{FF2B5EF4-FFF2-40B4-BE49-F238E27FC236}">
                  <a16:creationId xmlns:a16="http://schemas.microsoft.com/office/drawing/2014/main" id="{4A09D13B-98F2-402C-BBE4-BF7A60DC25BD}"/>
                </a:ext>
              </a:extLst>
            </p:cNvPr>
            <p:cNvSpPr/>
            <p:nvPr/>
          </p:nvSpPr>
          <p:spPr>
            <a:xfrm>
              <a:off x="11734800" y="2781302"/>
              <a:ext cx="5549944" cy="5709954"/>
            </a:xfrm>
            <a:custGeom>
              <a:avLst/>
              <a:gdLst/>
              <a:ahLst/>
              <a:cxnLst/>
              <a:rect l="l" t="t" r="r" b="b"/>
              <a:pathLst>
                <a:path w="4178344" h="4185955">
                  <a:moveTo>
                    <a:pt x="0" y="0"/>
                  </a:moveTo>
                  <a:lnTo>
                    <a:pt x="4178345" y="0"/>
                  </a:lnTo>
                  <a:lnTo>
                    <a:pt x="4178345" y="4185955"/>
                  </a:lnTo>
                  <a:lnTo>
                    <a:pt x="0" y="418595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0750AD5B-61F0-4F12-B093-AE3DB817DE84}"/>
                </a:ext>
              </a:extLst>
            </p:cNvPr>
            <p:cNvSpPr/>
            <p:nvPr/>
          </p:nvSpPr>
          <p:spPr>
            <a:xfrm>
              <a:off x="11506200" y="2552700"/>
              <a:ext cx="2971800" cy="243839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29" name="TextBox 12">
            <a:extLst>
              <a:ext uri="{FF2B5EF4-FFF2-40B4-BE49-F238E27FC236}">
                <a16:creationId xmlns:a16="http://schemas.microsoft.com/office/drawing/2014/main" id="{899571DC-E70C-46E9-8DFB-31A843627F24}"/>
              </a:ext>
            </a:extLst>
          </p:cNvPr>
          <p:cNvSpPr txBox="1"/>
          <p:nvPr/>
        </p:nvSpPr>
        <p:spPr>
          <a:xfrm>
            <a:off x="1588251" y="5053403"/>
            <a:ext cx="14057395" cy="147476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1542"/>
              </a:lnSpc>
            </a:pPr>
            <a:r>
              <a:rPr lang="ko-KR" altLang="en-US" sz="9600" b="1" spc="-571" dirty="0">
                <a:solidFill>
                  <a:srgbClr val="524843"/>
                </a:solidFill>
                <a:latin typeface="+mj-ea"/>
                <a:ea typeface="+mj-ea"/>
                <a:cs typeface="210 도시락"/>
                <a:sym typeface="210 도시락"/>
              </a:rPr>
              <a:t>응원합니다</a:t>
            </a:r>
            <a:r>
              <a:rPr lang="en-US" altLang="ko-KR" sz="9600" b="1" spc="-571" dirty="0">
                <a:solidFill>
                  <a:srgbClr val="524843"/>
                </a:solidFill>
                <a:latin typeface="+mj-ea"/>
                <a:ea typeface="+mj-ea"/>
                <a:cs typeface="210 도시락"/>
                <a:sym typeface="210 도시락"/>
              </a:rPr>
              <a:t>.</a:t>
            </a:r>
            <a:endParaRPr lang="en-US" sz="9600" b="1" spc="-571" dirty="0">
              <a:solidFill>
                <a:srgbClr val="524843"/>
              </a:solidFill>
              <a:latin typeface="+mj-ea"/>
              <a:ea typeface="+mj-ea"/>
              <a:cs typeface="210 도시락"/>
              <a:sym typeface="210 도시락"/>
            </a:endParaRPr>
          </a:p>
        </p:txBody>
      </p:sp>
      <p:sp>
        <p:nvSpPr>
          <p:cNvPr id="30" name="TextBox 13">
            <a:extLst>
              <a:ext uri="{FF2B5EF4-FFF2-40B4-BE49-F238E27FC236}">
                <a16:creationId xmlns:a16="http://schemas.microsoft.com/office/drawing/2014/main" id="{BD3FA91B-46D5-419B-875F-26E8B1A28A63}"/>
              </a:ext>
            </a:extLst>
          </p:cNvPr>
          <p:cNvSpPr txBox="1"/>
          <p:nvPr/>
        </p:nvSpPr>
        <p:spPr>
          <a:xfrm>
            <a:off x="1524000" y="3609261"/>
            <a:ext cx="14706600" cy="136088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1542"/>
              </a:lnSpc>
            </a:pPr>
            <a:r>
              <a:rPr lang="ko-KR" altLang="en-US" sz="8800" b="1" spc="-571" dirty="0">
                <a:solidFill>
                  <a:srgbClr val="B3C1BE"/>
                </a:solidFill>
                <a:latin typeface="+mj-ea"/>
                <a:ea typeface="+mj-ea"/>
                <a:cs typeface="210 도시락"/>
                <a:sym typeface="210 도시락"/>
              </a:rPr>
              <a:t>여러분의 취업 성공을</a:t>
            </a:r>
            <a:endParaRPr lang="en-US" sz="8800" b="1" spc="-571" dirty="0">
              <a:solidFill>
                <a:srgbClr val="B3C1BE"/>
              </a:solidFill>
              <a:latin typeface="+mj-ea"/>
              <a:ea typeface="+mj-ea"/>
              <a:cs typeface="210 도시락"/>
              <a:sym typeface="210 도시락"/>
            </a:endParaRPr>
          </a:p>
        </p:txBody>
      </p:sp>
      <p:cxnSp>
        <p:nvCxnSpPr>
          <p:cNvPr id="40" name="직선 연결선 39">
            <a:extLst>
              <a:ext uri="{FF2B5EF4-FFF2-40B4-BE49-F238E27FC236}">
                <a16:creationId xmlns:a16="http://schemas.microsoft.com/office/drawing/2014/main" id="{C3402C13-7587-45CB-8917-4FFACE6189DD}"/>
              </a:ext>
            </a:extLst>
          </p:cNvPr>
          <p:cNvCxnSpPr>
            <a:cxnSpLocks/>
          </p:cNvCxnSpPr>
          <p:nvPr/>
        </p:nvCxnSpPr>
        <p:spPr>
          <a:xfrm>
            <a:off x="4343400" y="591472"/>
            <a:ext cx="13213710" cy="0"/>
          </a:xfrm>
          <a:prstGeom prst="line">
            <a:avLst/>
          </a:prstGeom>
          <a:ln>
            <a:solidFill>
              <a:schemeClr val="accent6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7">
            <a:extLst>
              <a:ext uri="{FF2B5EF4-FFF2-40B4-BE49-F238E27FC236}">
                <a16:creationId xmlns:a16="http://schemas.microsoft.com/office/drawing/2014/main" id="{894D6227-3C1C-4B2A-9775-1148C382D9D0}"/>
              </a:ext>
            </a:extLst>
          </p:cNvPr>
          <p:cNvSpPr txBox="1"/>
          <p:nvPr/>
        </p:nvSpPr>
        <p:spPr>
          <a:xfrm>
            <a:off x="781706" y="505380"/>
            <a:ext cx="3930650" cy="30107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ko-KR" altLang="en-US" sz="1600" b="1" i="0" u="none" strike="noStrike" spc="100" dirty="0">
                <a:solidFill>
                  <a:schemeClr val="accent6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진로설계 </a:t>
            </a:r>
            <a:r>
              <a:rPr lang="en-US" altLang="ko-KR" sz="1600" b="1" i="0" u="none" strike="noStrike" spc="100" dirty="0">
                <a:solidFill>
                  <a:schemeClr val="accent6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4. </a:t>
            </a:r>
            <a:r>
              <a:rPr lang="ko-KR" altLang="en-US" sz="1600" b="1" i="0" u="none" strike="noStrike" spc="100" dirty="0" err="1">
                <a:solidFill>
                  <a:schemeClr val="accent6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취업전략과</a:t>
            </a:r>
            <a:r>
              <a:rPr lang="ko-KR" altLang="en-US" sz="1600" b="1" i="0" u="none" strike="noStrike" spc="100" dirty="0">
                <a:solidFill>
                  <a:schemeClr val="accent6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600" b="1" i="0" u="none" strike="noStrike" spc="100" dirty="0" err="1">
                <a:solidFill>
                  <a:schemeClr val="accent6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실전취업</a:t>
            </a:r>
            <a:endParaRPr lang="en-US" sz="1600" b="1" i="0" u="none" strike="noStrike" spc="100" dirty="0">
              <a:solidFill>
                <a:schemeClr val="accent6">
                  <a:lumMod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3" name="그래픽 2" descr="비둘기 윤곽선">
            <a:extLst>
              <a:ext uri="{FF2B5EF4-FFF2-40B4-BE49-F238E27FC236}">
                <a16:creationId xmlns:a16="http://schemas.microsoft.com/office/drawing/2014/main" id="{EFF2BA02-4EAF-3FDC-7AF3-A273B57B2DF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2344400" y="4835393"/>
            <a:ext cx="1371600" cy="137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39600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2088</TotalTime>
  <Words>696</Words>
  <Application>Microsoft Office PowerPoint</Application>
  <PresentationFormat>사용자 지정</PresentationFormat>
  <Paragraphs>135</Paragraphs>
  <Slides>8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8</vt:i4>
      </vt:variant>
    </vt:vector>
  </HeadingPairs>
  <TitlesOfParts>
    <vt:vector size="16" baseType="lpstr">
      <vt:lpstr>Arial</vt:lpstr>
      <vt:lpstr>굴림</vt:lpstr>
      <vt:lpstr>Calibri</vt:lpstr>
      <vt:lpstr>나눔고딕</vt:lpstr>
      <vt:lpstr>맑은 고딕</vt:lpstr>
      <vt:lpstr>Poppins ExtraBold</vt:lpstr>
      <vt:lpstr>Gmarket Sans Medium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BEI</dc:creator>
  <cp:lastModifiedBy>Seungho Jeon</cp:lastModifiedBy>
  <cp:revision>146</cp:revision>
  <dcterms:created xsi:type="dcterms:W3CDTF">2006-08-16T00:00:00Z</dcterms:created>
  <dcterms:modified xsi:type="dcterms:W3CDTF">2026-03-03T07:07:44Z</dcterms:modified>
</cp:coreProperties>
</file>