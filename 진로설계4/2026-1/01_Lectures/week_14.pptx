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504" r:id="rId2"/>
    <p:sldId id="505" r:id="rId3"/>
    <p:sldId id="506" r:id="rId4"/>
    <p:sldId id="507" r:id="rId5"/>
    <p:sldId id="512" r:id="rId6"/>
  </p:sldIdLst>
  <p:sldSz cx="18288000" cy="10287000"/>
  <p:notesSz cx="6858000" cy="9144000"/>
  <p:embeddedFontLst>
    <p:embeddedFont>
      <p:font typeface="Gmarket Sans Medium" panose="020B0600000101010101" charset="-127"/>
      <p:regular r:id="rId8"/>
    </p:embeddedFont>
    <p:embeddedFont>
      <p:font typeface="맑은 고딕" panose="020B0503020000020004" pitchFamily="50" charset="-127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8E5"/>
    <a:srgbClr val="FFF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3" autoAdjust="0"/>
    <p:restoredTop sz="94622" autoAdjust="0"/>
  </p:normalViewPr>
  <p:slideViewPr>
    <p:cSldViewPr>
      <p:cViewPr varScale="1">
        <p:scale>
          <a:sx n="99" d="100"/>
          <a:sy n="99" d="100"/>
        </p:scale>
        <p:origin x="78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1B1C3-5D0E-4806-BAAA-95815FF0384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8C21A-DA85-4505-A54C-645BC087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65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391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0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42900" y="1663700"/>
            <a:ext cx="622300" cy="210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14070" y="5629275"/>
            <a:ext cx="889000" cy="88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58570" y="1346200"/>
            <a:ext cx="9715500" cy="264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진로설계 </a:t>
            </a:r>
            <a:r>
              <a:rPr lang="en-US" altLang="ko-KR" sz="6600" b="1" dirty="0">
                <a:solidFill>
                  <a:srgbClr val="505050"/>
                </a:solidFill>
                <a:latin typeface="+mj-ea"/>
                <a:ea typeface="+mj-ea"/>
              </a:rPr>
              <a:t>4.</a:t>
            </a:r>
          </a:p>
          <a:p>
            <a:pPr lvl="0" algn="l">
              <a:lnSpc>
                <a:spcPct val="99600"/>
              </a:lnSpc>
            </a:pP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취업전략과</a:t>
            </a: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 </a:t>
            </a: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실전취업</a:t>
            </a:r>
            <a:endParaRPr lang="en-US" sz="6600" b="1" i="0" u="none" strike="noStrike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6C7F429-F160-47A6-8A64-C27B90CB15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442126"/>
            <a:ext cx="2798834" cy="600243"/>
          </a:xfrm>
          <a:prstGeom prst="rect">
            <a:avLst/>
          </a:prstGeom>
        </p:spPr>
      </p:pic>
      <p:sp>
        <p:nvSpPr>
          <p:cNvPr id="36" name="Freeform 11">
            <a:extLst>
              <a:ext uri="{FF2B5EF4-FFF2-40B4-BE49-F238E27FC236}">
                <a16:creationId xmlns:a16="http://schemas.microsoft.com/office/drawing/2014/main" id="{17094926-8E90-413A-924D-78830B690DF0}"/>
              </a:ext>
            </a:extLst>
          </p:cNvPr>
          <p:cNvSpPr/>
          <p:nvPr/>
        </p:nvSpPr>
        <p:spPr>
          <a:xfrm>
            <a:off x="10286999" y="2867024"/>
            <a:ext cx="7994073" cy="7302501"/>
          </a:xfrm>
          <a:custGeom>
            <a:avLst/>
            <a:gdLst/>
            <a:ahLst/>
            <a:cxnLst/>
            <a:rect l="l" t="t" r="r" b="b"/>
            <a:pathLst>
              <a:path w="9256196" h="8229600">
                <a:moveTo>
                  <a:pt x="0" y="0"/>
                </a:moveTo>
                <a:lnTo>
                  <a:pt x="9256196" y="0"/>
                </a:lnTo>
                <a:lnTo>
                  <a:pt x="92561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00AAB2-2151-4F0E-BECD-2254447C2225}"/>
              </a:ext>
            </a:extLst>
          </p:cNvPr>
          <p:cNvSpPr txBox="1"/>
          <p:nvPr/>
        </p:nvSpPr>
        <p:spPr>
          <a:xfrm>
            <a:off x="884555" y="6896100"/>
            <a:ext cx="1046353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14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주차</a:t>
            </a:r>
            <a:endParaRPr lang="en-US" altLang="ko-KR" sz="5400" b="1" spc="-200" dirty="0">
              <a:solidFill>
                <a:srgbClr val="505050"/>
              </a:solidFill>
              <a:latin typeface="+mj-ea"/>
              <a:ea typeface="+mj-ea"/>
            </a:endParaRPr>
          </a:p>
          <a:p>
            <a:pPr lvl="0" algn="l">
              <a:lnSpc>
                <a:spcPct val="99600"/>
              </a:lnSpc>
            </a:pPr>
            <a:r>
              <a:rPr lang="ko-KR" altLang="en-US" sz="5400" b="1" spc="-200" dirty="0">
                <a:solidFill>
                  <a:srgbClr val="505050"/>
                </a:solidFill>
                <a:latin typeface="+mj-ea"/>
                <a:ea typeface="+mj-ea"/>
              </a:rPr>
              <a:t>입사지원서 제출 및 상담 </a:t>
            </a:r>
            <a:r>
              <a:rPr lang="en-US" altLang="ko-KR" sz="5400" b="1" spc="-200" dirty="0">
                <a:solidFill>
                  <a:srgbClr val="505050"/>
                </a:solidFill>
                <a:latin typeface="+mj-ea"/>
                <a:ea typeface="+mj-ea"/>
              </a:rPr>
              <a:t>1</a:t>
            </a:r>
            <a:endParaRPr lang="ko-KR" sz="5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11862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C331ADB4-7088-4FC4-8485-F6FACADEFEA6}"/>
              </a:ext>
            </a:extLst>
          </p:cNvPr>
          <p:cNvSpPr/>
          <p:nvPr/>
        </p:nvSpPr>
        <p:spPr>
          <a:xfrm>
            <a:off x="7696200" y="-266700"/>
            <a:ext cx="10591800" cy="10896595"/>
          </a:xfrm>
          <a:prstGeom prst="rect">
            <a:avLst/>
          </a:prstGeom>
          <a:solidFill>
            <a:schemeClr val="accent6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6699729-652E-4AF5-BBEC-235E549CDDA1}"/>
              </a:ext>
            </a:extLst>
          </p:cNvPr>
          <p:cNvSpPr/>
          <p:nvPr/>
        </p:nvSpPr>
        <p:spPr>
          <a:xfrm>
            <a:off x="707715" y="2357437"/>
            <a:ext cx="6239185" cy="6937375"/>
          </a:xfrm>
          <a:custGeom>
            <a:avLst/>
            <a:gdLst/>
            <a:ahLst/>
            <a:cxnLst/>
            <a:rect l="l" t="t" r="r" b="b"/>
            <a:pathLst>
              <a:path w="5550107" h="4763001">
                <a:moveTo>
                  <a:pt x="0" y="0"/>
                </a:moveTo>
                <a:lnTo>
                  <a:pt x="5550106" y="0"/>
                </a:lnTo>
                <a:lnTo>
                  <a:pt x="5550106" y="4763001"/>
                </a:lnTo>
                <a:lnTo>
                  <a:pt x="0" y="47630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A16FAA1-C23E-4D18-9DCD-E7CB520FE825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716851" y="9632434"/>
            <a:ext cx="20167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p.165</a:t>
            </a: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539D38E0-E062-49F7-B798-C625C248E44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3000"/>
          </a:blip>
          <a:stretch>
            <a:fillRect/>
          </a:stretch>
        </p:blipFill>
        <p:spPr>
          <a:xfrm>
            <a:off x="8758917" y="5766068"/>
            <a:ext cx="6997700" cy="12700"/>
          </a:xfrm>
          <a:prstGeom prst="rect">
            <a:avLst/>
          </a:prstGeom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FC0C8D4C-B301-4D2C-AB4B-0C8CE92BA0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8917" y="5114736"/>
            <a:ext cx="1371600" cy="419100"/>
          </a:xfrm>
          <a:prstGeom prst="rect">
            <a:avLst/>
          </a:prstGeom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80DDE51F-2E7D-4CBD-B760-E64AF0ED92D3}"/>
              </a:ext>
            </a:extLst>
          </p:cNvPr>
          <p:cNvSpPr txBox="1"/>
          <p:nvPr/>
        </p:nvSpPr>
        <p:spPr>
          <a:xfrm>
            <a:off x="10384517" y="5025836"/>
            <a:ext cx="7332322" cy="6803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입사지원서 첨삭 가능 사이트 알아보기</a:t>
            </a:r>
            <a:endParaRPr lang="ko-KR" sz="2800" b="1" i="0" u="none" strike="noStrike" spc="-100" dirty="0">
              <a:solidFill>
                <a:schemeClr val="tx1">
                  <a:lumMod val="85000"/>
                  <a:lumOff val="1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180F0904-9259-4845-A85C-F140E6F3B5C1}"/>
              </a:ext>
            </a:extLst>
          </p:cNvPr>
          <p:cNvSpPr txBox="1"/>
          <p:nvPr/>
        </p:nvSpPr>
        <p:spPr>
          <a:xfrm>
            <a:off x="8898617" y="5178236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POINT.01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DE1E7C5E-7B59-476A-85CA-43A381863587}"/>
              </a:ext>
            </a:extLst>
          </p:cNvPr>
          <p:cNvSpPr txBox="1"/>
          <p:nvPr/>
        </p:nvSpPr>
        <p:spPr>
          <a:xfrm>
            <a:off x="8331539" y="3728179"/>
            <a:ext cx="9385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742950" lvl="0" indent="-742950">
              <a:lnSpc>
                <a:spcPct val="99600"/>
              </a:lnSpc>
              <a:buAutoNum type="arabicPeriod"/>
            </a:pP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목표기업 및 직무 기반 입사지원서 완성 및 제출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F33B388A-940B-4726-BBD8-20891715C79F}"/>
              </a:ext>
            </a:extLst>
          </p:cNvPr>
          <p:cNvSpPr txBox="1"/>
          <p:nvPr/>
        </p:nvSpPr>
        <p:spPr>
          <a:xfrm>
            <a:off x="8331539" y="2217152"/>
            <a:ext cx="6591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i="0" u="none" strike="noStrike" spc="-400" dirty="0">
                <a:solidFill>
                  <a:srgbClr val="505050"/>
                </a:solidFill>
                <a:latin typeface="+mj-ea"/>
                <a:ea typeface="+mj-ea"/>
              </a:rPr>
              <a:t>학습목표</a:t>
            </a:r>
            <a:endParaRPr lang="ko-KR" sz="4800" b="1" i="0" u="none" strike="noStrike" spc="-4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F59BF972-C179-445C-861C-940E860AD012}"/>
              </a:ext>
            </a:extLst>
          </p:cNvPr>
          <p:cNvSpPr txBox="1"/>
          <p:nvPr/>
        </p:nvSpPr>
        <p:spPr>
          <a:xfrm>
            <a:off x="8331539" y="6138142"/>
            <a:ext cx="9385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4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2.  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지도 </a:t>
            </a:r>
            <a:r>
              <a:rPr lang="ko-KR" altLang="en-US" sz="4400" b="1" spc="-200" dirty="0" err="1">
                <a:solidFill>
                  <a:srgbClr val="505050"/>
                </a:solidFill>
                <a:latin typeface="+mj-ea"/>
                <a:ea typeface="+mj-ea"/>
              </a:rPr>
              <a:t>교수님과의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 상담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14779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">
            <a:extLst>
              <a:ext uri="{FF2B5EF4-FFF2-40B4-BE49-F238E27FC236}">
                <a16:creationId xmlns:a16="http://schemas.microsoft.com/office/drawing/2014/main" id="{14EE5E97-CBF9-4134-98B9-438FAF6C65F2}"/>
              </a:ext>
            </a:extLst>
          </p:cNvPr>
          <p:cNvSpPr txBox="1"/>
          <p:nvPr/>
        </p:nvSpPr>
        <p:spPr>
          <a:xfrm>
            <a:off x="3173226" y="1054084"/>
            <a:ext cx="12420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입사지원서 첨삭 사이트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16" name="Picture 20">
            <a:extLst>
              <a:ext uri="{FF2B5EF4-FFF2-40B4-BE49-F238E27FC236}">
                <a16:creationId xmlns:a16="http://schemas.microsoft.com/office/drawing/2014/main" id="{88831BD4-F370-4E72-8785-403BD4CFE8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17" name="TextBox 24">
            <a:extLst>
              <a:ext uri="{FF2B5EF4-FFF2-40B4-BE49-F238E27FC236}">
                <a16:creationId xmlns:a16="http://schemas.microsoft.com/office/drawing/2014/main" id="{02E92946-AC4A-4452-9BC1-D46C212EE812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01</a:t>
            </a: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CE66878F-4164-49BF-B585-3B5D104139D9}"/>
              </a:ext>
            </a:extLst>
          </p:cNvPr>
          <p:cNvSpPr txBox="1"/>
          <p:nvPr/>
        </p:nvSpPr>
        <p:spPr>
          <a:xfrm>
            <a:off x="727216" y="3328371"/>
            <a:ext cx="9753599" cy="13138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>
              <a:lnSpc>
                <a:spcPct val="99600"/>
              </a:lnSpc>
              <a:buFont typeface="Wingdings" panose="05000000000000000000" pitchFamily="2" charset="2"/>
              <a:buChar char="ü"/>
            </a:pPr>
            <a:r>
              <a:rPr lang="ko-KR" altLang="en-US" sz="3000" b="1" spc="-1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+mn-ea"/>
              </a:rPr>
              <a:t>잡아바</a:t>
            </a:r>
            <a:r>
              <a:rPr lang="ko-KR" altLang="en-US" sz="30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+mn-ea"/>
              </a:rPr>
              <a:t> </a:t>
            </a:r>
            <a:endParaRPr lang="en-US" altLang="ko-KR" sz="3000" b="1" i="0" strike="noStrike" spc="-1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ko-KR" altLang="en-US" sz="30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전문 컨설턴트 자기소개서 첨삭</a:t>
            </a:r>
            <a:r>
              <a:rPr lang="en-US" altLang="ko-KR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(48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시간 이내</a:t>
            </a:r>
            <a:r>
              <a:rPr lang="en-US" altLang="ko-KR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</a:p>
          <a:p>
            <a:pPr lvl="0">
              <a:lnSpc>
                <a:spcPct val="99600"/>
              </a:lnSpc>
            </a:pP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→ 합격한 자기소개서와 작성법 확인 가능 </a:t>
            </a:r>
            <a:endParaRPr lang="en-US" altLang="ko-KR" sz="2400" b="1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6755A6F-3A1E-4120-BE29-F7CC9DD71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5090042"/>
            <a:ext cx="8689281" cy="4358758"/>
          </a:xfrm>
          <a:prstGeom prst="rect">
            <a:avLst/>
          </a:prstGeom>
        </p:spPr>
      </p:pic>
      <p:sp>
        <p:nvSpPr>
          <p:cNvPr id="15" name="TextBox 20">
            <a:extLst>
              <a:ext uri="{FF2B5EF4-FFF2-40B4-BE49-F238E27FC236}">
                <a16:creationId xmlns:a16="http://schemas.microsoft.com/office/drawing/2014/main" id="{2C42BDD1-CBBA-4000-B75A-8C97B1EBB49D}"/>
              </a:ext>
            </a:extLst>
          </p:cNvPr>
          <p:cNvSpPr txBox="1"/>
          <p:nvPr/>
        </p:nvSpPr>
        <p:spPr>
          <a:xfrm>
            <a:off x="9982200" y="3445936"/>
            <a:ext cx="9753599" cy="13138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>
              <a:lnSpc>
                <a:spcPct val="99600"/>
              </a:lnSpc>
              <a:buFont typeface="Wingdings" panose="05000000000000000000" pitchFamily="2" charset="2"/>
              <a:buChar char="ü"/>
            </a:pPr>
            <a:r>
              <a:rPr lang="ko-KR" altLang="en-US" sz="3000" b="1" i="0" strike="noStrike" spc="-1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+mn-ea"/>
              </a:rPr>
              <a:t>꿈날개</a:t>
            </a:r>
            <a:endParaRPr lang="en-US" altLang="ko-KR" sz="3000" b="1" i="0" strike="noStrike" spc="-1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ko-KR" altLang="en-US" sz="30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</a:t>
            </a:r>
            <a:r>
              <a:rPr lang="en-US" altLang="ko-KR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8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개 분야</a:t>
            </a:r>
            <a:r>
              <a:rPr lang="en-US" altLang="ko-KR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(IT, 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경영</a:t>
            </a:r>
            <a:r>
              <a:rPr lang="en-US" altLang="ko-KR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사무</a:t>
            </a:r>
            <a:r>
              <a:rPr lang="en-US" altLang="ko-KR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교육</a:t>
            </a:r>
            <a:r>
              <a:rPr lang="en-US" altLang="ko-KR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서비스 등</a:t>
            </a:r>
            <a:r>
              <a:rPr lang="en-US" altLang="ko-KR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 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전문 첨삭</a:t>
            </a:r>
            <a:endParaRPr lang="en-US" altLang="ko-KR" sz="2400" b="1" i="0" strike="noStrike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평일 </a:t>
            </a: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48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시간</a:t>
            </a: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주말 및 공휴일 </a:t>
            </a: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72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시간 이내 첨삭 </a:t>
            </a:r>
            <a:endParaRPr lang="en-US" altLang="ko-KR" sz="2400" b="1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→ 분야별 우수 이력서 및 자기소개서 확인</a:t>
            </a:r>
            <a:endParaRPr lang="en-US" altLang="ko-KR" sz="2400" b="1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8651907-4458-40C2-832C-62F6B29FD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438" y="5131054"/>
            <a:ext cx="8238561" cy="4203441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658A8C6-E54C-4B2F-BA42-D2E1824EC59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04800" y="9817100"/>
            <a:ext cx="14846191" cy="5223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6352F0-16C0-467D-8AF8-270BFF87339D}"/>
              </a:ext>
            </a:extLst>
          </p:cNvPr>
          <p:cNvSpPr/>
          <p:nvPr/>
        </p:nvSpPr>
        <p:spPr>
          <a:xfrm>
            <a:off x="15150991" y="9632434"/>
            <a:ext cx="25826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p.166~170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543D966-145B-4752-9FB9-28DD681EBB99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1100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">
            <a:extLst>
              <a:ext uri="{FF2B5EF4-FFF2-40B4-BE49-F238E27FC236}">
                <a16:creationId xmlns:a16="http://schemas.microsoft.com/office/drawing/2014/main" id="{14EE5E97-CBF9-4134-98B9-438FAF6C65F2}"/>
              </a:ext>
            </a:extLst>
          </p:cNvPr>
          <p:cNvSpPr txBox="1"/>
          <p:nvPr/>
        </p:nvSpPr>
        <p:spPr>
          <a:xfrm>
            <a:off x="3173226" y="1054084"/>
            <a:ext cx="12420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입사지원서 첨삭 사이트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16" name="Picture 20">
            <a:extLst>
              <a:ext uri="{FF2B5EF4-FFF2-40B4-BE49-F238E27FC236}">
                <a16:creationId xmlns:a16="http://schemas.microsoft.com/office/drawing/2014/main" id="{88831BD4-F370-4E72-8785-403BD4CFE8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17" name="TextBox 24">
            <a:extLst>
              <a:ext uri="{FF2B5EF4-FFF2-40B4-BE49-F238E27FC236}">
                <a16:creationId xmlns:a16="http://schemas.microsoft.com/office/drawing/2014/main" id="{02E92946-AC4A-4452-9BC1-D46C212EE812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02</a:t>
            </a: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CE66878F-4164-49BF-B585-3B5D104139D9}"/>
              </a:ext>
            </a:extLst>
          </p:cNvPr>
          <p:cNvSpPr txBox="1"/>
          <p:nvPr/>
        </p:nvSpPr>
        <p:spPr>
          <a:xfrm>
            <a:off x="727216" y="3328371"/>
            <a:ext cx="9753599" cy="13138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>
              <a:lnSpc>
                <a:spcPct val="99600"/>
              </a:lnSpc>
              <a:buFont typeface="Wingdings" panose="05000000000000000000" pitchFamily="2" charset="2"/>
              <a:buChar char="ü"/>
            </a:pPr>
            <a:r>
              <a:rPr lang="ko-KR" altLang="en-US" sz="3000" b="1" i="0" strike="noStrike" spc="-1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+mn-ea"/>
              </a:rPr>
              <a:t>월드잡</a:t>
            </a:r>
            <a:endParaRPr lang="en-US" altLang="ko-KR" sz="3000" b="1" i="0" strike="noStrike" spc="-1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ko-KR" altLang="en-US" sz="30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영문</a:t>
            </a:r>
            <a:r>
              <a:rPr lang="en-US" altLang="ko-KR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일문 이력서 중 경력</a:t>
            </a:r>
            <a:r>
              <a:rPr lang="en-US" altLang="ko-KR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대외활동</a:t>
            </a:r>
            <a:r>
              <a:rPr lang="en-US" altLang="ko-KR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자기소개서 컨설팅</a:t>
            </a:r>
            <a:endParaRPr lang="en-US" altLang="ko-KR" sz="2400" b="1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해외진출 관련 정보를 볼 수 있는 해외통합정보 사이트</a:t>
            </a:r>
            <a:endParaRPr lang="en-US" altLang="ko-KR" sz="2400" b="1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5" name="TextBox 20">
            <a:extLst>
              <a:ext uri="{FF2B5EF4-FFF2-40B4-BE49-F238E27FC236}">
                <a16:creationId xmlns:a16="http://schemas.microsoft.com/office/drawing/2014/main" id="{2C42BDD1-CBBA-4000-B75A-8C97B1EBB49D}"/>
              </a:ext>
            </a:extLst>
          </p:cNvPr>
          <p:cNvSpPr txBox="1"/>
          <p:nvPr/>
        </p:nvSpPr>
        <p:spPr>
          <a:xfrm>
            <a:off x="9982201" y="3445936"/>
            <a:ext cx="7578584" cy="13138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>
              <a:lnSpc>
                <a:spcPct val="99600"/>
              </a:lnSpc>
              <a:buFont typeface="Wingdings" panose="05000000000000000000" pitchFamily="2" charset="2"/>
              <a:buChar char="ü"/>
            </a:pPr>
            <a:r>
              <a:rPr lang="ko-KR" altLang="en-US" sz="3000" b="1" spc="-1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+mn-ea"/>
              </a:rPr>
              <a:t>인크루트</a:t>
            </a:r>
            <a:endParaRPr lang="en-US" altLang="ko-KR" sz="3000" b="1" i="0" strike="noStrike" spc="-1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ko-KR" altLang="en-US" sz="30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</a:t>
            </a:r>
            <a:r>
              <a:rPr lang="ko-KR" altLang="en-US" sz="2400" b="1" i="0" strike="noStrike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합격 자기소개서 및 기출 자기소개서 항목 확인</a:t>
            </a:r>
            <a:endParaRPr lang="en-US" altLang="ko-KR" sz="2400" b="1" i="0" strike="noStrike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무료 자기소개서 컨설팅</a:t>
            </a: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회원가입</a:t>
            </a:r>
            <a:r>
              <a:rPr lang="en-US" altLang="ko-KR" sz="2400" b="1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54FF175-9ADC-4BD3-A9DC-1944D59FA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16" y="5057095"/>
            <a:ext cx="7959584" cy="417582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B0D9773-2264-49BD-AF37-75229D993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7719" y="5054852"/>
            <a:ext cx="7730984" cy="4051039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473C9DC-39F0-4687-9711-B37FEBFD8768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04800" y="9817100"/>
            <a:ext cx="14846191" cy="5223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121A2BB-D549-4AC9-9625-EABE70BB89AD}"/>
              </a:ext>
            </a:extLst>
          </p:cNvPr>
          <p:cNvSpPr/>
          <p:nvPr/>
        </p:nvSpPr>
        <p:spPr>
          <a:xfrm>
            <a:off x="15150991" y="9632434"/>
            <a:ext cx="25826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p.166~170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04022030-302E-457E-B50D-32FDBD6885DB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0150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8005B58-4173-494C-B001-534AE8A2965F}"/>
              </a:ext>
            </a:extLst>
          </p:cNvPr>
          <p:cNvCxnSpPr>
            <a:cxnSpLocks/>
          </p:cNvCxnSpPr>
          <p:nvPr/>
        </p:nvCxnSpPr>
        <p:spPr>
          <a:xfrm>
            <a:off x="971550" y="9944100"/>
            <a:ext cx="167830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AF4898C7-20ED-40B2-9557-F33C4D2533B7}"/>
              </a:ext>
            </a:extLst>
          </p:cNvPr>
          <p:cNvGrpSpPr/>
          <p:nvPr/>
        </p:nvGrpSpPr>
        <p:grpSpPr>
          <a:xfrm>
            <a:off x="11124059" y="3384249"/>
            <a:ext cx="6984303" cy="6092409"/>
            <a:chOff x="11506200" y="2552700"/>
            <a:chExt cx="5778544" cy="593855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A09D13B-98F2-402C-BBE4-BF7A60DC25BD}"/>
                </a:ext>
              </a:extLst>
            </p:cNvPr>
            <p:cNvSpPr/>
            <p:nvPr/>
          </p:nvSpPr>
          <p:spPr>
            <a:xfrm>
              <a:off x="11734800" y="2781302"/>
              <a:ext cx="5549944" cy="5709954"/>
            </a:xfrm>
            <a:custGeom>
              <a:avLst/>
              <a:gdLst/>
              <a:ahLst/>
              <a:cxnLst/>
              <a:rect l="l" t="t" r="r" b="b"/>
              <a:pathLst>
                <a:path w="4178344" h="4185955">
                  <a:moveTo>
                    <a:pt x="0" y="0"/>
                  </a:moveTo>
                  <a:lnTo>
                    <a:pt x="4178345" y="0"/>
                  </a:lnTo>
                  <a:lnTo>
                    <a:pt x="4178345" y="4185955"/>
                  </a:lnTo>
                  <a:lnTo>
                    <a:pt x="0" y="4185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750AD5B-61F0-4F12-B093-AE3DB817DE84}"/>
                </a:ext>
              </a:extLst>
            </p:cNvPr>
            <p:cNvSpPr/>
            <p:nvPr/>
          </p:nvSpPr>
          <p:spPr>
            <a:xfrm>
              <a:off x="11506200" y="2552700"/>
              <a:ext cx="2971800" cy="24383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12">
            <a:extLst>
              <a:ext uri="{FF2B5EF4-FFF2-40B4-BE49-F238E27FC236}">
                <a16:creationId xmlns:a16="http://schemas.microsoft.com/office/drawing/2014/main" id="{899571DC-E70C-46E9-8DFB-31A843627F24}"/>
              </a:ext>
            </a:extLst>
          </p:cNvPr>
          <p:cNvSpPr txBox="1"/>
          <p:nvPr/>
        </p:nvSpPr>
        <p:spPr>
          <a:xfrm>
            <a:off x="1588251" y="5053403"/>
            <a:ext cx="14057395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응원합니다</a:t>
            </a:r>
            <a:r>
              <a:rPr lang="en-US" altLang="ko-KR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.</a:t>
            </a:r>
            <a:endParaRPr lang="en-US" sz="9600" b="1" spc="-571" dirty="0">
              <a:solidFill>
                <a:srgbClr val="524843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BD3FA91B-46D5-419B-875F-26E8B1A28A63}"/>
              </a:ext>
            </a:extLst>
          </p:cNvPr>
          <p:cNvSpPr txBox="1"/>
          <p:nvPr/>
        </p:nvSpPr>
        <p:spPr>
          <a:xfrm>
            <a:off x="1524000" y="3609261"/>
            <a:ext cx="14706600" cy="1360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8800" b="1" spc="-571" dirty="0">
                <a:solidFill>
                  <a:srgbClr val="B3C1BE"/>
                </a:solidFill>
                <a:latin typeface="+mj-ea"/>
                <a:ea typeface="+mj-ea"/>
                <a:cs typeface="210 도시락"/>
                <a:sym typeface="210 도시락"/>
              </a:rPr>
              <a:t>여러분의 취업 성공을</a:t>
            </a:r>
            <a:endParaRPr lang="en-US" sz="8800" b="1" spc="-571" dirty="0">
              <a:solidFill>
                <a:srgbClr val="B3C1BE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3402C13-7587-45CB-8917-4FFACE6189DD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7">
            <a:extLst>
              <a:ext uri="{FF2B5EF4-FFF2-40B4-BE49-F238E27FC236}">
                <a16:creationId xmlns:a16="http://schemas.microsoft.com/office/drawing/2014/main" id="{894D6227-3C1C-4B2A-9775-1148C382D9D0}"/>
              </a:ext>
            </a:extLst>
          </p:cNvPr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래픽 2" descr="비둘기 윤곽선">
            <a:extLst>
              <a:ext uri="{FF2B5EF4-FFF2-40B4-BE49-F238E27FC236}">
                <a16:creationId xmlns:a16="http://schemas.microsoft.com/office/drawing/2014/main" id="{EFF2BA02-4EAF-3FDC-7AF3-A273B57B2D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400" y="483539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6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2088</TotalTime>
  <Words>183</Words>
  <Application>Microsoft Office PowerPoint</Application>
  <PresentationFormat>사용자 지정</PresentationFormat>
  <Paragraphs>37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Arial</vt:lpstr>
      <vt:lpstr>Calibri</vt:lpstr>
      <vt:lpstr>Wingdings</vt:lpstr>
      <vt:lpstr>맑은 고딕</vt:lpstr>
      <vt:lpstr>Gmarket Sans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BEI</dc:creator>
  <cp:lastModifiedBy>Seungho Jeon</cp:lastModifiedBy>
  <cp:revision>146</cp:revision>
  <dcterms:created xsi:type="dcterms:W3CDTF">2006-08-16T00:00:00Z</dcterms:created>
  <dcterms:modified xsi:type="dcterms:W3CDTF">2026-03-03T07:10:33Z</dcterms:modified>
</cp:coreProperties>
</file>