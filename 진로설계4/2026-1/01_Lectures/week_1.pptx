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515" r:id="rId2"/>
    <p:sldId id="516" r:id="rId3"/>
    <p:sldId id="517" r:id="rId4"/>
    <p:sldId id="518" r:id="rId5"/>
    <p:sldId id="519" r:id="rId6"/>
    <p:sldId id="520" r:id="rId7"/>
    <p:sldId id="512" r:id="rId8"/>
  </p:sldIdLst>
  <p:sldSz cx="18288000" cy="10287000"/>
  <p:notesSz cx="6858000" cy="9144000"/>
  <p:embeddedFontLst>
    <p:embeddedFont>
      <p:font typeface="Noto Sans KR" panose="020B0200000000000000" pitchFamily="50" charset="-127"/>
      <p:regular r:id="rId10"/>
      <p:bold r:id="rId11"/>
    </p:embeddedFont>
    <p:embeddedFont>
      <p:font typeface="맑은 고딕" panose="020B0503020000020004" pitchFamily="50" charset="-127"/>
      <p:regular r:id="rId12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8E5"/>
    <a:srgbClr val="FFF7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83" autoAdjust="0"/>
    <p:restoredTop sz="94622" autoAdjust="0"/>
  </p:normalViewPr>
  <p:slideViewPr>
    <p:cSldViewPr>
      <p:cViewPr varScale="1">
        <p:scale>
          <a:sx n="99" d="100"/>
          <a:sy n="99" d="100"/>
        </p:scale>
        <p:origin x="780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31B1C3-5D0E-4806-BAAA-95815FF0384A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88C21A-DA85-4505-A54C-645BC087E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659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8C21A-DA85-4505-A54C-645BC087E5E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9170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8C21A-DA85-4505-A54C-645BC087E5E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93613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8C21A-DA85-4505-A54C-645BC087E5E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509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image" Target="../media/image20.png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sv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42900" y="1663700"/>
            <a:ext cx="622300" cy="2108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14070" y="5629275"/>
            <a:ext cx="889000" cy="889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258570" y="1346200"/>
            <a:ext cx="9715500" cy="2641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1" dirty="0">
                <a:solidFill>
                  <a:srgbClr val="505050"/>
                </a:solidFill>
                <a:latin typeface="+mj-ea"/>
                <a:ea typeface="+mj-ea"/>
              </a:rPr>
              <a:t>진로설계 </a:t>
            </a:r>
            <a:r>
              <a:rPr lang="en-US" altLang="ko-KR" sz="6600" b="1" dirty="0">
                <a:solidFill>
                  <a:srgbClr val="505050"/>
                </a:solidFill>
                <a:latin typeface="+mj-ea"/>
                <a:ea typeface="+mj-ea"/>
              </a:rPr>
              <a:t>4.</a:t>
            </a:r>
          </a:p>
          <a:p>
            <a:pPr lvl="0" algn="l">
              <a:lnSpc>
                <a:spcPct val="99600"/>
              </a:lnSpc>
            </a:pPr>
            <a:r>
              <a:rPr lang="ko-KR" altLang="en-US" sz="6600" b="1" dirty="0" err="1">
                <a:solidFill>
                  <a:srgbClr val="505050"/>
                </a:solidFill>
                <a:latin typeface="+mj-ea"/>
                <a:ea typeface="+mj-ea"/>
              </a:rPr>
              <a:t>취업전략과</a:t>
            </a:r>
            <a:r>
              <a:rPr lang="ko-KR" altLang="en-US" sz="6600" b="1" dirty="0">
                <a:solidFill>
                  <a:srgbClr val="505050"/>
                </a:solidFill>
                <a:latin typeface="+mj-ea"/>
                <a:ea typeface="+mj-ea"/>
              </a:rPr>
              <a:t> </a:t>
            </a:r>
            <a:r>
              <a:rPr lang="ko-KR" altLang="en-US" sz="6600" b="1" dirty="0" err="1">
                <a:solidFill>
                  <a:srgbClr val="505050"/>
                </a:solidFill>
                <a:latin typeface="+mj-ea"/>
                <a:ea typeface="+mj-ea"/>
              </a:rPr>
              <a:t>실전취업</a:t>
            </a:r>
            <a:endParaRPr lang="en-US" sz="6600" b="1" i="0" u="none" strike="noStrike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43000" y="6896100"/>
            <a:ext cx="72644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1</a:t>
            </a:r>
            <a:r>
              <a:rPr lang="ko-KR" altLang="en-US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주차</a:t>
            </a:r>
            <a:r>
              <a:rPr lang="en-US" altLang="ko-KR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. </a:t>
            </a:r>
            <a:r>
              <a:rPr lang="ko-KR" altLang="en-US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오리엔테이션</a:t>
            </a:r>
            <a:endParaRPr lang="ko-KR" sz="54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6C7F429-F160-47A6-8A64-C27B90CB15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3800" y="442126"/>
            <a:ext cx="2798834" cy="600243"/>
          </a:xfrm>
          <a:prstGeom prst="rect">
            <a:avLst/>
          </a:prstGeom>
        </p:spPr>
      </p:pic>
      <p:sp>
        <p:nvSpPr>
          <p:cNvPr id="36" name="Freeform 11">
            <a:extLst>
              <a:ext uri="{FF2B5EF4-FFF2-40B4-BE49-F238E27FC236}">
                <a16:creationId xmlns:a16="http://schemas.microsoft.com/office/drawing/2014/main" id="{17094926-8E90-413A-924D-78830B690DF0}"/>
              </a:ext>
            </a:extLst>
          </p:cNvPr>
          <p:cNvSpPr/>
          <p:nvPr/>
        </p:nvSpPr>
        <p:spPr>
          <a:xfrm>
            <a:off x="9691039" y="2867024"/>
            <a:ext cx="8590034" cy="7302501"/>
          </a:xfrm>
          <a:custGeom>
            <a:avLst/>
            <a:gdLst/>
            <a:ahLst/>
            <a:cxnLst/>
            <a:rect l="l" t="t" r="r" b="b"/>
            <a:pathLst>
              <a:path w="9256196" h="8229600">
                <a:moveTo>
                  <a:pt x="0" y="0"/>
                </a:moveTo>
                <a:lnTo>
                  <a:pt x="9256196" y="0"/>
                </a:lnTo>
                <a:lnTo>
                  <a:pt x="925619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C331ADB4-7088-4FC4-8485-F6FACADEFEA6}"/>
              </a:ext>
            </a:extLst>
          </p:cNvPr>
          <p:cNvSpPr/>
          <p:nvPr/>
        </p:nvSpPr>
        <p:spPr>
          <a:xfrm>
            <a:off x="7696200" y="-266700"/>
            <a:ext cx="10591800" cy="10896595"/>
          </a:xfrm>
          <a:prstGeom prst="rect">
            <a:avLst/>
          </a:prstGeom>
          <a:solidFill>
            <a:schemeClr val="accent6">
              <a:lumMod val="20000"/>
              <a:lumOff val="8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3000"/>
          </a:blip>
          <a:stretch>
            <a:fillRect/>
          </a:stretch>
        </p:blipFill>
        <p:spPr>
          <a:xfrm>
            <a:off x="8978900" y="5203825"/>
            <a:ext cx="69977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518025"/>
            <a:ext cx="1371600" cy="4191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7" name="TextBox 7"/>
          <p:cNvSpPr txBox="1"/>
          <p:nvPr/>
        </p:nvSpPr>
        <p:spPr>
          <a:xfrm>
            <a:off x="781706" y="505380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610600" y="1774825"/>
            <a:ext cx="65913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800" b="1" i="0" u="none" strike="noStrike" spc="-400" dirty="0">
                <a:solidFill>
                  <a:srgbClr val="505050"/>
                </a:solidFill>
                <a:latin typeface="+mj-ea"/>
                <a:ea typeface="+mj-ea"/>
              </a:rPr>
              <a:t>학습목표</a:t>
            </a:r>
            <a:endParaRPr lang="ko-KR" sz="4800" b="1" i="0" u="none" strike="noStrike" spc="-4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579100" y="4505325"/>
            <a:ext cx="49530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 i="0" u="none" strike="noStrike" spc="-100" dirty="0">
                <a:solidFill>
                  <a:schemeClr val="tx1">
                    <a:lumMod val="75000"/>
                    <a:lumOff val="25000"/>
                    <a:alpha val="97000"/>
                  </a:schemeClr>
                </a:solidFill>
                <a:latin typeface="+mn-ea"/>
              </a:rPr>
              <a:t>학습목표 및 수업진행 안내</a:t>
            </a:r>
            <a:endParaRPr lang="ko-KR" sz="2800" b="1" i="0" u="none" strike="noStrike" spc="-100" dirty="0">
              <a:solidFill>
                <a:schemeClr val="tx1">
                  <a:lumMod val="75000"/>
                  <a:lumOff val="25000"/>
                  <a:alpha val="97000"/>
                </a:schemeClr>
              </a:solidFill>
              <a:latin typeface="+mn-ea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093200" y="4581525"/>
            <a:ext cx="1104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b="1" i="0" u="none" strike="noStrike" dirty="0">
                <a:solidFill>
                  <a:srgbClr val="F8F8F8"/>
                </a:solidFill>
                <a:latin typeface="+mn-ea"/>
              </a:rPr>
              <a:t>POINT.01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alphaModFix amt="63000"/>
          </a:blip>
          <a:stretch>
            <a:fillRect/>
          </a:stretch>
        </p:blipFill>
        <p:spPr>
          <a:xfrm>
            <a:off x="8978900" y="6169025"/>
            <a:ext cx="6997700" cy="12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5457825"/>
            <a:ext cx="1371600" cy="4191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0579100" y="5445124"/>
            <a:ext cx="5575300" cy="56356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 i="0" u="none" strike="noStrike" spc="-100" dirty="0">
                <a:solidFill>
                  <a:schemeClr val="tx1">
                    <a:lumMod val="75000"/>
                    <a:lumOff val="25000"/>
                    <a:alpha val="97000"/>
                  </a:schemeClr>
                </a:solidFill>
                <a:latin typeface="+mn-ea"/>
              </a:rPr>
              <a:t>과제 안내</a:t>
            </a:r>
            <a:r>
              <a:rPr lang="en-US" altLang="ko-KR" sz="2800" b="1" i="0" u="none" strike="noStrike" spc="-100" dirty="0">
                <a:solidFill>
                  <a:schemeClr val="tx1">
                    <a:lumMod val="75000"/>
                    <a:lumOff val="25000"/>
                    <a:alpha val="97000"/>
                  </a:schemeClr>
                </a:solidFill>
                <a:latin typeface="+mn-ea"/>
              </a:rPr>
              <a:t>(</a:t>
            </a:r>
            <a:r>
              <a:rPr lang="ko-KR" altLang="en-US" sz="2800" b="1" i="0" u="none" strike="noStrike" spc="-100" dirty="0">
                <a:solidFill>
                  <a:schemeClr val="tx1">
                    <a:lumMod val="75000"/>
                    <a:lumOff val="25000"/>
                    <a:alpha val="97000"/>
                  </a:schemeClr>
                </a:solidFill>
                <a:latin typeface="+mn-ea"/>
              </a:rPr>
              <a:t>사전 과제 및 최종 과제</a:t>
            </a:r>
            <a:r>
              <a:rPr lang="en-US" altLang="ko-KR" sz="2800" b="1" i="0" u="none" strike="noStrike" spc="-100" dirty="0">
                <a:solidFill>
                  <a:schemeClr val="tx1">
                    <a:lumMod val="75000"/>
                    <a:lumOff val="25000"/>
                    <a:alpha val="97000"/>
                  </a:schemeClr>
                </a:solidFill>
                <a:latin typeface="+mn-ea"/>
              </a:rPr>
              <a:t>)</a:t>
            </a:r>
            <a:endParaRPr lang="ko-KR" sz="2800" b="1" i="0" u="none" strike="noStrike" spc="-100" dirty="0">
              <a:solidFill>
                <a:schemeClr val="tx1">
                  <a:lumMod val="75000"/>
                  <a:lumOff val="25000"/>
                  <a:alpha val="97000"/>
                </a:schemeClr>
              </a:solidFill>
              <a:latin typeface="+mn-ea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093200" y="5521325"/>
            <a:ext cx="1104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b="1" i="0" u="none" strike="noStrike">
                <a:solidFill>
                  <a:srgbClr val="F8F8F8"/>
                </a:solidFill>
                <a:latin typeface="+mn-ea"/>
              </a:rPr>
              <a:t>POINT.02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6423025"/>
            <a:ext cx="1371600" cy="4191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0579100" y="6450013"/>
            <a:ext cx="49530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 i="0" u="none" strike="noStrike" spc="-100" dirty="0">
                <a:solidFill>
                  <a:schemeClr val="tx1">
                    <a:lumMod val="75000"/>
                    <a:lumOff val="25000"/>
                    <a:alpha val="97000"/>
                  </a:schemeClr>
                </a:solidFill>
                <a:latin typeface="+mn-ea"/>
              </a:rPr>
              <a:t>출결 및 평가 안내</a:t>
            </a:r>
            <a:endParaRPr lang="ko-KR" sz="2800" b="1" i="0" u="none" strike="noStrike" spc="-100" dirty="0">
              <a:solidFill>
                <a:schemeClr val="tx1">
                  <a:lumMod val="75000"/>
                  <a:lumOff val="25000"/>
                  <a:alpha val="97000"/>
                </a:schemeClr>
              </a:solidFill>
              <a:latin typeface="+mn-ea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093200" y="6473825"/>
            <a:ext cx="1104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b="1" i="0" u="none" strike="noStrike" dirty="0">
                <a:solidFill>
                  <a:srgbClr val="F8F8F8"/>
                </a:solidFill>
                <a:latin typeface="+mn-ea"/>
              </a:rPr>
              <a:t>POINT.03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26699729-652E-4AF5-BBEC-235E549CDDA1}"/>
              </a:ext>
            </a:extLst>
          </p:cNvPr>
          <p:cNvSpPr/>
          <p:nvPr/>
        </p:nvSpPr>
        <p:spPr>
          <a:xfrm>
            <a:off x="707715" y="2357437"/>
            <a:ext cx="6239185" cy="6937375"/>
          </a:xfrm>
          <a:custGeom>
            <a:avLst/>
            <a:gdLst/>
            <a:ahLst/>
            <a:cxnLst/>
            <a:rect l="l" t="t" r="r" b="b"/>
            <a:pathLst>
              <a:path w="5550107" h="4763001">
                <a:moveTo>
                  <a:pt x="0" y="0"/>
                </a:moveTo>
                <a:lnTo>
                  <a:pt x="5550106" y="0"/>
                </a:lnTo>
                <a:lnTo>
                  <a:pt x="5550106" y="4763001"/>
                </a:lnTo>
                <a:lnTo>
                  <a:pt x="0" y="47630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F04DE6F0-BEF0-411B-A74D-5D8C9DE1256A}"/>
              </a:ext>
            </a:extLst>
          </p:cNvPr>
          <p:cNvSpPr txBox="1"/>
          <p:nvPr/>
        </p:nvSpPr>
        <p:spPr>
          <a:xfrm>
            <a:off x="8559800" y="3006725"/>
            <a:ext cx="85852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4400" b="1" spc="-200" dirty="0">
                <a:solidFill>
                  <a:srgbClr val="505050"/>
                </a:solidFill>
                <a:latin typeface="+mj-ea"/>
                <a:ea typeface="+mj-ea"/>
              </a:rPr>
              <a:t>01. </a:t>
            </a:r>
            <a:r>
              <a:rPr lang="ko-KR" altLang="en-US" sz="4400" b="1" spc="-200" dirty="0">
                <a:solidFill>
                  <a:srgbClr val="505050"/>
                </a:solidFill>
                <a:latin typeface="+mj-ea"/>
                <a:ea typeface="+mj-ea"/>
              </a:rPr>
              <a:t>교과목 이해 및 학습평가 이해</a:t>
            </a:r>
            <a:endParaRPr lang="ko-KR" sz="44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pic>
        <p:nvPicPr>
          <p:cNvPr id="34" name="Picture 12">
            <a:extLst>
              <a:ext uri="{FF2B5EF4-FFF2-40B4-BE49-F238E27FC236}">
                <a16:creationId xmlns:a16="http://schemas.microsoft.com/office/drawing/2014/main" id="{A4AE725A-B481-4FBA-9C6A-5368CCD943B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3000"/>
          </a:blip>
          <a:stretch>
            <a:fillRect/>
          </a:stretch>
        </p:blipFill>
        <p:spPr>
          <a:xfrm>
            <a:off x="8985250" y="7100888"/>
            <a:ext cx="6997700" cy="12700"/>
          </a:xfrm>
          <a:prstGeom prst="rect">
            <a:avLst/>
          </a:prstGeom>
        </p:spPr>
      </p:pic>
      <p:pic>
        <p:nvPicPr>
          <p:cNvPr id="35" name="Picture 16">
            <a:extLst>
              <a:ext uri="{FF2B5EF4-FFF2-40B4-BE49-F238E27FC236}">
                <a16:creationId xmlns:a16="http://schemas.microsoft.com/office/drawing/2014/main" id="{38F2833D-0953-4E0F-8963-D33F39A9D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9850" y="7354888"/>
            <a:ext cx="1371600" cy="419100"/>
          </a:xfrm>
          <a:prstGeom prst="rect">
            <a:avLst/>
          </a:prstGeom>
        </p:spPr>
      </p:pic>
      <p:sp>
        <p:nvSpPr>
          <p:cNvPr id="36" name="TextBox 22">
            <a:extLst>
              <a:ext uri="{FF2B5EF4-FFF2-40B4-BE49-F238E27FC236}">
                <a16:creationId xmlns:a16="http://schemas.microsoft.com/office/drawing/2014/main" id="{E87A705D-3706-41E4-8FFA-6E0C15330ED5}"/>
              </a:ext>
            </a:extLst>
          </p:cNvPr>
          <p:cNvSpPr txBox="1"/>
          <p:nvPr/>
        </p:nvSpPr>
        <p:spPr>
          <a:xfrm>
            <a:off x="10585450" y="7342188"/>
            <a:ext cx="49530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 i="0" u="none" strike="noStrike" spc="-100" dirty="0">
                <a:solidFill>
                  <a:schemeClr val="tx1">
                    <a:lumMod val="75000"/>
                    <a:lumOff val="25000"/>
                    <a:alpha val="97000"/>
                  </a:schemeClr>
                </a:solidFill>
                <a:latin typeface="+mn-ea"/>
              </a:rPr>
              <a:t>관계형성</a:t>
            </a:r>
            <a:endParaRPr lang="ko-KR" sz="2800" b="1" i="0" u="none" strike="noStrike" spc="-100" dirty="0">
              <a:solidFill>
                <a:schemeClr val="tx1">
                  <a:lumMod val="75000"/>
                  <a:lumOff val="25000"/>
                  <a:alpha val="97000"/>
                </a:schemeClr>
              </a:solidFill>
              <a:latin typeface="+mn-ea"/>
            </a:endParaRPr>
          </a:p>
        </p:txBody>
      </p:sp>
      <p:sp>
        <p:nvSpPr>
          <p:cNvPr id="37" name="TextBox 23">
            <a:extLst>
              <a:ext uri="{FF2B5EF4-FFF2-40B4-BE49-F238E27FC236}">
                <a16:creationId xmlns:a16="http://schemas.microsoft.com/office/drawing/2014/main" id="{1E5C6A4A-8229-4C5B-9F6A-E0CD8D83B858}"/>
              </a:ext>
            </a:extLst>
          </p:cNvPr>
          <p:cNvSpPr txBox="1"/>
          <p:nvPr/>
        </p:nvSpPr>
        <p:spPr>
          <a:xfrm>
            <a:off x="9099550" y="7405688"/>
            <a:ext cx="1104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b="1" i="0" u="none" strike="noStrike" dirty="0">
                <a:solidFill>
                  <a:srgbClr val="F8F8F8"/>
                </a:solidFill>
                <a:latin typeface="+mn-ea"/>
              </a:rPr>
              <a:t>POINT.04</a:t>
            </a:r>
          </a:p>
        </p:txBody>
      </p:sp>
      <p:pic>
        <p:nvPicPr>
          <p:cNvPr id="38" name="Picture 12">
            <a:extLst>
              <a:ext uri="{FF2B5EF4-FFF2-40B4-BE49-F238E27FC236}">
                <a16:creationId xmlns:a16="http://schemas.microsoft.com/office/drawing/2014/main" id="{4F25D707-1833-41A0-A3D5-3EC23859BF2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3000"/>
          </a:blip>
          <a:stretch>
            <a:fillRect/>
          </a:stretch>
        </p:blipFill>
        <p:spPr>
          <a:xfrm>
            <a:off x="9023350" y="7941469"/>
            <a:ext cx="6997700" cy="12700"/>
          </a:xfrm>
          <a:prstGeom prst="rect">
            <a:avLst/>
          </a:prstGeom>
        </p:spPr>
      </p:pic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A16FAA1-C23E-4D18-9DCD-E7CB520FE825}"/>
              </a:ext>
            </a:extLst>
          </p:cNvPr>
          <p:cNvCxnSpPr>
            <a:cxnSpLocks/>
          </p:cNvCxnSpPr>
          <p:nvPr/>
        </p:nvCxnSpPr>
        <p:spPr>
          <a:xfrm>
            <a:off x="4343400" y="591472"/>
            <a:ext cx="1321371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0CE44-1D8C-4F37-9CB0-78C35453A17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982950" y="9632434"/>
            <a:ext cx="175067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p.5</a:t>
            </a:r>
          </a:p>
        </p:txBody>
      </p:sp>
    </p:spTree>
    <p:extLst>
      <p:ext uri="{BB962C8B-B14F-4D97-AF65-F5344CB8AC3E}">
        <p14:creationId xmlns:p14="http://schemas.microsoft.com/office/powerpoint/2010/main" val="79843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E8DF9B4C-B521-4034-A951-9B1B1A67B1D4}"/>
              </a:ext>
            </a:extLst>
          </p:cNvPr>
          <p:cNvCxnSpPr>
            <a:cxnSpLocks/>
          </p:cNvCxnSpPr>
          <p:nvPr/>
        </p:nvCxnSpPr>
        <p:spPr>
          <a:xfrm>
            <a:off x="971550" y="9944100"/>
            <a:ext cx="169354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7">
            <a:extLst>
              <a:ext uri="{FF2B5EF4-FFF2-40B4-BE49-F238E27FC236}">
                <a16:creationId xmlns:a16="http://schemas.microsoft.com/office/drawing/2014/main" id="{62EC106E-3BF4-402B-8A36-5FAFCC815843}"/>
              </a:ext>
            </a:extLst>
          </p:cNvPr>
          <p:cNvGrpSpPr/>
          <p:nvPr/>
        </p:nvGrpSpPr>
        <p:grpSpPr>
          <a:xfrm>
            <a:off x="1020908" y="1104899"/>
            <a:ext cx="122092" cy="590205"/>
            <a:chOff x="0" y="0"/>
            <a:chExt cx="444637" cy="309271"/>
          </a:xfrm>
          <a:solidFill>
            <a:schemeClr val="accent3">
              <a:lumMod val="50000"/>
            </a:schemeClr>
          </a:solidFill>
        </p:grpSpPr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AF69C7D0-F427-4772-B89F-4C9B7592AC0E}"/>
                </a:ext>
              </a:extLst>
            </p:cNvPr>
            <p:cNvSpPr/>
            <p:nvPr/>
          </p:nvSpPr>
          <p:spPr>
            <a:xfrm>
              <a:off x="0" y="0"/>
              <a:ext cx="444637" cy="309271"/>
            </a:xfrm>
            <a:custGeom>
              <a:avLst/>
              <a:gdLst/>
              <a:ahLst/>
              <a:cxnLst/>
              <a:rect l="l" t="t" r="r" b="b"/>
              <a:pathLst>
                <a:path w="444637" h="309271">
                  <a:moveTo>
                    <a:pt x="0" y="0"/>
                  </a:moveTo>
                  <a:lnTo>
                    <a:pt x="444637" y="0"/>
                  </a:lnTo>
                  <a:lnTo>
                    <a:pt x="444637" y="309271"/>
                  </a:lnTo>
                  <a:lnTo>
                    <a:pt x="0" y="30927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Box 9">
              <a:extLst>
                <a:ext uri="{FF2B5EF4-FFF2-40B4-BE49-F238E27FC236}">
                  <a16:creationId xmlns:a16="http://schemas.microsoft.com/office/drawing/2014/main" id="{425D5C5C-6E06-464B-85FC-AABB99E94447}"/>
                </a:ext>
              </a:extLst>
            </p:cNvPr>
            <p:cNvSpPr txBox="1"/>
            <p:nvPr/>
          </p:nvSpPr>
          <p:spPr>
            <a:xfrm>
              <a:off x="0" y="-66675"/>
              <a:ext cx="444637" cy="37594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2"/>
                </a:lnSpc>
              </a:pPr>
              <a:endParaRPr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sp>
        <p:nvSpPr>
          <p:cNvPr id="40" name="TextBox 37">
            <a:extLst>
              <a:ext uri="{FF2B5EF4-FFF2-40B4-BE49-F238E27FC236}">
                <a16:creationId xmlns:a16="http://schemas.microsoft.com/office/drawing/2014/main" id="{CACAA7EF-346A-451F-83AC-05EF2F79CBC4}"/>
              </a:ext>
            </a:extLst>
          </p:cNvPr>
          <p:cNvSpPr txBox="1"/>
          <p:nvPr/>
        </p:nvSpPr>
        <p:spPr>
          <a:xfrm>
            <a:off x="1385375" y="488601"/>
            <a:ext cx="8801539" cy="12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11199"/>
              </a:lnSpc>
              <a:spcBef>
                <a:spcPct val="0"/>
              </a:spcBef>
            </a:pPr>
            <a:r>
              <a:rPr lang="ko-KR" altLang="en-US" sz="4800" b="1" spc="-207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TDTD순고딕 Bold"/>
                <a:sym typeface="TDTD순고딕 Bold"/>
              </a:rPr>
              <a:t>진로설계 </a:t>
            </a:r>
            <a:r>
              <a:rPr lang="en-US" altLang="ko-KR" sz="4800" b="1" spc="-207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TDTD순고딕 Bold"/>
                <a:sym typeface="TDTD순고딕 Bold"/>
              </a:rPr>
              <a:t>4. </a:t>
            </a:r>
            <a:r>
              <a:rPr lang="ko-KR" altLang="en-US" sz="4800" b="1" spc="-207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TDTD순고딕 Bold"/>
                <a:sym typeface="TDTD순고딕 Bold"/>
              </a:rPr>
              <a:t>취업전략과 실전취업</a:t>
            </a:r>
            <a:endParaRPr lang="en-US" sz="4800" b="1" u="none" strike="noStrike" spc="-207" dirty="0">
              <a:solidFill>
                <a:schemeClr val="bg2">
                  <a:lumMod val="10000"/>
                </a:schemeClr>
              </a:solidFill>
              <a:latin typeface="+mj-ea"/>
              <a:ea typeface="+mj-ea"/>
              <a:cs typeface="TDTD순고딕 Bold"/>
              <a:sym typeface="TDTD순고딕 Bold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DC132253-2CC2-47A9-9DF5-29E38ABAF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349" y="2738396"/>
            <a:ext cx="8112123" cy="2638425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0B387E4-CE10-4FB2-900D-4B114F749290}"/>
              </a:ext>
            </a:extLst>
          </p:cNvPr>
          <p:cNvCxnSpPr>
            <a:cxnSpLocks/>
          </p:cNvCxnSpPr>
          <p:nvPr/>
        </p:nvCxnSpPr>
        <p:spPr>
          <a:xfrm>
            <a:off x="971550" y="9944100"/>
            <a:ext cx="169354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14">
            <a:extLst>
              <a:ext uri="{FF2B5EF4-FFF2-40B4-BE49-F238E27FC236}">
                <a16:creationId xmlns:a16="http://schemas.microsoft.com/office/drawing/2014/main" id="{916F8ECA-2133-42EC-AD11-CDD700565DC8}"/>
              </a:ext>
            </a:extLst>
          </p:cNvPr>
          <p:cNvSpPr txBox="1"/>
          <p:nvPr/>
        </p:nvSpPr>
        <p:spPr>
          <a:xfrm>
            <a:off x="3385310" y="6277608"/>
            <a:ext cx="4801667" cy="4177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  <a:spcBef>
                <a:spcPct val="0"/>
              </a:spcBef>
            </a:pPr>
            <a:r>
              <a:rPr lang="ko-KR" altLang="en-US" sz="2800" b="1" dirty="0" err="1">
                <a:latin typeface="+mj-ea"/>
                <a:ea typeface="+mj-ea"/>
                <a:cs typeface="윤고딕 Bold"/>
                <a:sym typeface="윤고딕 Bold"/>
              </a:rPr>
              <a:t>학생용</a:t>
            </a:r>
            <a:r>
              <a:rPr lang="ko-KR" altLang="en-US" sz="2800" b="1" dirty="0">
                <a:latin typeface="+mj-ea"/>
                <a:ea typeface="+mj-ea"/>
                <a:cs typeface="윤고딕 Bold"/>
                <a:sym typeface="윤고딕 Bold"/>
              </a:rPr>
              <a:t> 워크북</a:t>
            </a:r>
            <a:endParaRPr lang="en-US" sz="2800" b="1" dirty="0">
              <a:latin typeface="+mj-ea"/>
              <a:ea typeface="+mj-ea"/>
              <a:cs typeface="윤고딕 Bold"/>
              <a:sym typeface="윤고딕 Bold"/>
            </a:endParaRPr>
          </a:p>
        </p:txBody>
      </p:sp>
      <p:sp>
        <p:nvSpPr>
          <p:cNvPr id="36" name="AutoShape 16">
            <a:extLst>
              <a:ext uri="{FF2B5EF4-FFF2-40B4-BE49-F238E27FC236}">
                <a16:creationId xmlns:a16="http://schemas.microsoft.com/office/drawing/2014/main" id="{EA39FBC7-2127-4D3B-80F3-9B92DE6A2F11}"/>
              </a:ext>
            </a:extLst>
          </p:cNvPr>
          <p:cNvSpPr/>
          <p:nvPr/>
        </p:nvSpPr>
        <p:spPr>
          <a:xfrm flipV="1">
            <a:off x="3385310" y="6896100"/>
            <a:ext cx="3395942" cy="0"/>
          </a:xfrm>
          <a:prstGeom prst="line">
            <a:avLst/>
          </a:prstGeom>
          <a:ln w="2857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20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DD0F1D5-1C97-4A70-B181-0C27DC05D956}"/>
              </a:ext>
            </a:extLst>
          </p:cNvPr>
          <p:cNvSpPr/>
          <p:nvPr/>
        </p:nvSpPr>
        <p:spPr>
          <a:xfrm>
            <a:off x="7064846" y="2716031"/>
            <a:ext cx="2152649" cy="269595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8BC9A3AC-0F19-4371-A1F3-B975184E49A6}"/>
              </a:ext>
            </a:extLst>
          </p:cNvPr>
          <p:cNvGrpSpPr/>
          <p:nvPr/>
        </p:nvGrpSpPr>
        <p:grpSpPr>
          <a:xfrm>
            <a:off x="9601200" y="2561277"/>
            <a:ext cx="8003737" cy="7237122"/>
            <a:chOff x="9601200" y="2770061"/>
            <a:chExt cx="8003737" cy="7028331"/>
          </a:xfrm>
        </p:grpSpPr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8A7E160A-F591-461C-BC63-79F8129E0E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01200" y="2770061"/>
              <a:ext cx="7979849" cy="7028331"/>
            </a:xfrm>
            <a:prstGeom prst="rect">
              <a:avLst/>
            </a:prstGeom>
          </p:spPr>
        </p:pic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430D6F20-5C51-417E-9F64-0F540CF68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28910" y="3626624"/>
              <a:ext cx="7948317" cy="4488676"/>
            </a:xfrm>
            <a:prstGeom prst="rect">
              <a:avLst/>
            </a:prstGeom>
          </p:spPr>
        </p:pic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F99A468-8CE3-426E-A3F2-7AB8C3A8C201}"/>
                </a:ext>
              </a:extLst>
            </p:cNvPr>
            <p:cNvSpPr/>
            <p:nvPr/>
          </p:nvSpPr>
          <p:spPr>
            <a:xfrm>
              <a:off x="9656620" y="8091754"/>
              <a:ext cx="7948317" cy="16726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4" name="AutoShape 16">
            <a:extLst>
              <a:ext uri="{FF2B5EF4-FFF2-40B4-BE49-F238E27FC236}">
                <a16:creationId xmlns:a16="http://schemas.microsoft.com/office/drawing/2014/main" id="{AE07E38E-B300-4226-B900-D7F9F148F297}"/>
              </a:ext>
            </a:extLst>
          </p:cNvPr>
          <p:cNvSpPr/>
          <p:nvPr/>
        </p:nvSpPr>
        <p:spPr>
          <a:xfrm flipV="1">
            <a:off x="3266536" y="8902255"/>
            <a:ext cx="3395942" cy="0"/>
          </a:xfrm>
          <a:prstGeom prst="line">
            <a:avLst/>
          </a:prstGeom>
          <a:ln w="2857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2000" dirty="0"/>
          </a:p>
        </p:txBody>
      </p:sp>
      <p:sp>
        <p:nvSpPr>
          <p:cNvPr id="55" name="TextBox 14">
            <a:extLst>
              <a:ext uri="{FF2B5EF4-FFF2-40B4-BE49-F238E27FC236}">
                <a16:creationId xmlns:a16="http://schemas.microsoft.com/office/drawing/2014/main" id="{626F041B-06C5-4181-BD9E-E662A7408A3A}"/>
              </a:ext>
            </a:extLst>
          </p:cNvPr>
          <p:cNvSpPr txBox="1"/>
          <p:nvPr/>
        </p:nvSpPr>
        <p:spPr>
          <a:xfrm>
            <a:off x="3311918" y="8254103"/>
            <a:ext cx="4801667" cy="4177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  <a:spcBef>
                <a:spcPct val="0"/>
              </a:spcBef>
            </a:pPr>
            <a:r>
              <a:rPr lang="ko-KR" altLang="en-US" sz="2800" b="1" dirty="0">
                <a:latin typeface="+mj-ea"/>
                <a:ea typeface="+mj-ea"/>
                <a:cs typeface="윤고딕 Bold"/>
                <a:sym typeface="윤고딕 Bold"/>
              </a:rPr>
              <a:t>진로설계 </a:t>
            </a:r>
            <a:r>
              <a:rPr lang="en-US" altLang="ko-KR" sz="2800" b="1" dirty="0">
                <a:latin typeface="+mj-ea"/>
                <a:ea typeface="+mj-ea"/>
                <a:cs typeface="윤고딕 Bold"/>
                <a:sym typeface="윤고딕 Bold"/>
              </a:rPr>
              <a:t>4 e-Book</a:t>
            </a:r>
            <a:endParaRPr lang="en-US" sz="2800" b="1" dirty="0">
              <a:latin typeface="+mj-ea"/>
              <a:ea typeface="+mj-ea"/>
              <a:cs typeface="윤고딕 Bold"/>
              <a:sym typeface="윤고딕 Bold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CB9DBC3-FD25-445C-A727-F77F5ADFC95D}"/>
              </a:ext>
            </a:extLst>
          </p:cNvPr>
          <p:cNvGrpSpPr/>
          <p:nvPr/>
        </p:nvGrpSpPr>
        <p:grpSpPr>
          <a:xfrm>
            <a:off x="984006" y="5979865"/>
            <a:ext cx="1692403" cy="3407047"/>
            <a:chOff x="984006" y="5979865"/>
            <a:chExt cx="1692403" cy="3407047"/>
          </a:xfrm>
        </p:grpSpPr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45F9B9D5-9ECC-4EDE-B266-CB928E5C5061}"/>
                </a:ext>
              </a:extLst>
            </p:cNvPr>
            <p:cNvGrpSpPr/>
            <p:nvPr/>
          </p:nvGrpSpPr>
          <p:grpSpPr>
            <a:xfrm>
              <a:off x="984006" y="5979865"/>
              <a:ext cx="1692403" cy="3407047"/>
              <a:chOff x="984006" y="5979865"/>
              <a:chExt cx="1692403" cy="3407047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5D5C9691-072A-42D4-9FE1-F81CCC2EE33E}"/>
                  </a:ext>
                </a:extLst>
              </p:cNvPr>
              <p:cNvGrpSpPr/>
              <p:nvPr/>
            </p:nvGrpSpPr>
            <p:grpSpPr>
              <a:xfrm>
                <a:off x="984006" y="5979865"/>
                <a:ext cx="1692403" cy="1449629"/>
                <a:chOff x="11718835" y="4419342"/>
                <a:chExt cx="1915522" cy="1903271"/>
              </a:xfrm>
            </p:grpSpPr>
            <p:sp>
              <p:nvSpPr>
                <p:cNvPr id="53" name="Freeform 13">
                  <a:extLst>
                    <a:ext uri="{FF2B5EF4-FFF2-40B4-BE49-F238E27FC236}">
                      <a16:creationId xmlns:a16="http://schemas.microsoft.com/office/drawing/2014/main" id="{55106B9D-0A99-494A-84B2-B896B2AE6471}"/>
                    </a:ext>
                  </a:extLst>
                </p:cNvPr>
                <p:cNvSpPr/>
                <p:nvPr/>
              </p:nvSpPr>
              <p:spPr>
                <a:xfrm>
                  <a:off x="11718835" y="4419342"/>
                  <a:ext cx="1915522" cy="19032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8480" h="578480">
                      <a:moveTo>
                        <a:pt x="0" y="0"/>
                      </a:moveTo>
                      <a:lnTo>
                        <a:pt x="578480" y="0"/>
                      </a:lnTo>
                      <a:lnTo>
                        <a:pt x="578480" y="578480"/>
                      </a:lnTo>
                      <a:lnTo>
                        <a:pt x="0" y="57848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a:blipFill>
              </p:spPr>
              <p:txBody>
                <a:bodyPr/>
                <a:lstStyle/>
                <a:p>
                  <a:endParaRPr lang="ko-KR" altLang="en-US"/>
                </a:p>
              </p:txBody>
            </p:sp>
            <p:pic>
              <p:nvPicPr>
                <p:cNvPr id="54" name="그림 53">
                  <a:extLst>
                    <a:ext uri="{FF2B5EF4-FFF2-40B4-BE49-F238E27FC236}">
                      <a16:creationId xmlns:a16="http://schemas.microsoft.com/office/drawing/2014/main" id="{E098BBAD-65B2-4414-9CB5-F73BD97DEA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887200" y="4610099"/>
                  <a:ext cx="1524000" cy="1497263"/>
                </a:xfrm>
                <a:prstGeom prst="rect">
                  <a:avLst/>
                </a:prstGeom>
              </p:spPr>
            </p:pic>
          </p:grpSp>
          <p:pic>
            <p:nvPicPr>
              <p:cNvPr id="48" name="그림 47">
                <a:extLst>
                  <a:ext uri="{FF2B5EF4-FFF2-40B4-BE49-F238E27FC236}">
                    <a16:creationId xmlns:a16="http://schemas.microsoft.com/office/drawing/2014/main" id="{C6961076-8082-41B6-9DAB-225FDE197A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83620" y="6123709"/>
                <a:ext cx="1346485" cy="1153392"/>
              </a:xfrm>
              <a:prstGeom prst="rect">
                <a:avLst/>
              </a:prstGeom>
            </p:spPr>
          </p:pic>
          <p:grpSp>
            <p:nvGrpSpPr>
              <p:cNvPr id="49" name="그룹 48">
                <a:extLst>
                  <a:ext uri="{FF2B5EF4-FFF2-40B4-BE49-F238E27FC236}">
                    <a16:creationId xmlns:a16="http://schemas.microsoft.com/office/drawing/2014/main" id="{65A2366B-2441-4D4C-9950-7D487D9CC019}"/>
                  </a:ext>
                </a:extLst>
              </p:cNvPr>
              <p:cNvGrpSpPr/>
              <p:nvPr/>
            </p:nvGrpSpPr>
            <p:grpSpPr>
              <a:xfrm>
                <a:off x="984006" y="7937283"/>
                <a:ext cx="1692403" cy="1449629"/>
                <a:chOff x="11718835" y="4419342"/>
                <a:chExt cx="1915522" cy="1903271"/>
              </a:xfrm>
            </p:grpSpPr>
            <p:sp>
              <p:nvSpPr>
                <p:cNvPr id="51" name="Freeform 13">
                  <a:extLst>
                    <a:ext uri="{FF2B5EF4-FFF2-40B4-BE49-F238E27FC236}">
                      <a16:creationId xmlns:a16="http://schemas.microsoft.com/office/drawing/2014/main" id="{9DB004A7-1408-48A5-9012-AD5DD3DF91EC}"/>
                    </a:ext>
                  </a:extLst>
                </p:cNvPr>
                <p:cNvSpPr/>
                <p:nvPr/>
              </p:nvSpPr>
              <p:spPr>
                <a:xfrm>
                  <a:off x="11718835" y="4419342"/>
                  <a:ext cx="1915522" cy="19032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8480" h="578480">
                      <a:moveTo>
                        <a:pt x="0" y="0"/>
                      </a:moveTo>
                      <a:lnTo>
                        <a:pt x="578480" y="0"/>
                      </a:lnTo>
                      <a:lnTo>
                        <a:pt x="578480" y="578480"/>
                      </a:lnTo>
                      <a:lnTo>
                        <a:pt x="0" y="57848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a:blipFill>
              </p:spPr>
              <p:txBody>
                <a:bodyPr/>
                <a:lstStyle/>
                <a:p>
                  <a:endParaRPr lang="ko-KR" altLang="en-US"/>
                </a:p>
              </p:txBody>
            </p:sp>
            <p:pic>
              <p:nvPicPr>
                <p:cNvPr id="52" name="그림 51">
                  <a:extLst>
                    <a:ext uri="{FF2B5EF4-FFF2-40B4-BE49-F238E27FC236}">
                      <a16:creationId xmlns:a16="http://schemas.microsoft.com/office/drawing/2014/main" id="{4A761669-E250-4AA6-83F0-1B4C4198D5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887200" y="4610099"/>
                  <a:ext cx="1524000" cy="1497263"/>
                </a:xfrm>
                <a:prstGeom prst="rect">
                  <a:avLst/>
                </a:prstGeom>
              </p:spPr>
            </p:pic>
          </p:grpSp>
        </p:grpSp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91A2D5D4-867D-4D24-803A-92B995C8E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17053" y="8101625"/>
              <a:ext cx="1362192" cy="12077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86058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7C0EDB64-8F82-4E91-BFE8-DC2824CE6FE6}"/>
              </a:ext>
            </a:extLst>
          </p:cNvPr>
          <p:cNvSpPr/>
          <p:nvPr/>
        </p:nvSpPr>
        <p:spPr>
          <a:xfrm>
            <a:off x="963758" y="2072699"/>
            <a:ext cx="12957224" cy="7588098"/>
          </a:xfrm>
          <a:prstGeom prst="rect">
            <a:avLst/>
          </a:prstGeom>
          <a:solidFill>
            <a:schemeClr val="accent6">
              <a:lumMod val="20000"/>
              <a:lumOff val="80000"/>
              <a:alpha val="3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6" name="TextBox 3">
            <a:extLst>
              <a:ext uri="{FF2B5EF4-FFF2-40B4-BE49-F238E27FC236}">
                <a16:creationId xmlns:a16="http://schemas.microsoft.com/office/drawing/2014/main" id="{408C96A8-D486-4AA9-9D08-6784CFCE6F53}"/>
              </a:ext>
            </a:extLst>
          </p:cNvPr>
          <p:cNvSpPr txBox="1"/>
          <p:nvPr/>
        </p:nvSpPr>
        <p:spPr>
          <a:xfrm>
            <a:off x="1295400" y="664298"/>
            <a:ext cx="107569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400" b="1" i="0" u="none" strike="noStrike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진로설계 </a:t>
            </a:r>
            <a:r>
              <a:rPr lang="en-US" altLang="ko-KR" sz="4400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4</a:t>
            </a:r>
            <a:r>
              <a:rPr lang="en-US" altLang="ko-KR" sz="4400" b="1" i="0" u="none" strike="noStrike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sz="4400" b="1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취업전략과</a:t>
            </a:r>
            <a:r>
              <a:rPr lang="ko-KR" altLang="en-US" sz="4400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4400" b="1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실전취업</a:t>
            </a:r>
            <a:endParaRPr lang="en-US" sz="4400" b="1" i="0" u="none" strike="noStrike" spc="-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4" name="Freeform 7">
            <a:extLst>
              <a:ext uri="{FF2B5EF4-FFF2-40B4-BE49-F238E27FC236}">
                <a16:creationId xmlns:a16="http://schemas.microsoft.com/office/drawing/2014/main" id="{A6CAB361-E278-4034-8229-DDFD7D4E7BAB}"/>
              </a:ext>
            </a:extLst>
          </p:cNvPr>
          <p:cNvSpPr/>
          <p:nvPr/>
        </p:nvSpPr>
        <p:spPr>
          <a:xfrm>
            <a:off x="14415285" y="3947054"/>
            <a:ext cx="3511392" cy="5018289"/>
          </a:xfrm>
          <a:custGeom>
            <a:avLst/>
            <a:gdLst/>
            <a:ahLst/>
            <a:cxnLst/>
            <a:rect l="l" t="t" r="r" b="b"/>
            <a:pathLst>
              <a:path w="6433259" h="7675255">
                <a:moveTo>
                  <a:pt x="0" y="0"/>
                </a:moveTo>
                <a:lnTo>
                  <a:pt x="6433259" y="0"/>
                </a:lnTo>
                <a:lnTo>
                  <a:pt x="6433259" y="7675254"/>
                </a:lnTo>
                <a:lnTo>
                  <a:pt x="0" y="7675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4520CE44-1D8C-4F37-9CB0-78C35453A17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683189" y="9632434"/>
            <a:ext cx="205043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p.6~7</a:t>
            </a:r>
          </a:p>
        </p:txBody>
      </p:sp>
      <p:grpSp>
        <p:nvGrpSpPr>
          <p:cNvPr id="37" name="Group 7">
            <a:extLst>
              <a:ext uri="{FF2B5EF4-FFF2-40B4-BE49-F238E27FC236}">
                <a16:creationId xmlns:a16="http://schemas.microsoft.com/office/drawing/2014/main" id="{3BEF2B68-BB3A-4D00-AAF2-89445F0818E5}"/>
              </a:ext>
            </a:extLst>
          </p:cNvPr>
          <p:cNvGrpSpPr/>
          <p:nvPr/>
        </p:nvGrpSpPr>
        <p:grpSpPr>
          <a:xfrm>
            <a:off x="1066800" y="972141"/>
            <a:ext cx="122092" cy="590205"/>
            <a:chOff x="0" y="0"/>
            <a:chExt cx="444637" cy="309271"/>
          </a:xfrm>
          <a:solidFill>
            <a:schemeClr val="accent6">
              <a:lumMod val="50000"/>
            </a:schemeClr>
          </a:solidFill>
        </p:grpSpPr>
        <p:sp>
          <p:nvSpPr>
            <p:cNvPr id="38" name="Freeform 8">
              <a:extLst>
                <a:ext uri="{FF2B5EF4-FFF2-40B4-BE49-F238E27FC236}">
                  <a16:creationId xmlns:a16="http://schemas.microsoft.com/office/drawing/2014/main" id="{CD205C3C-14B3-40D0-AD42-C4539CC8C5F9}"/>
                </a:ext>
              </a:extLst>
            </p:cNvPr>
            <p:cNvSpPr/>
            <p:nvPr/>
          </p:nvSpPr>
          <p:spPr>
            <a:xfrm>
              <a:off x="0" y="0"/>
              <a:ext cx="444637" cy="309271"/>
            </a:xfrm>
            <a:custGeom>
              <a:avLst/>
              <a:gdLst/>
              <a:ahLst/>
              <a:cxnLst/>
              <a:rect l="l" t="t" r="r" b="b"/>
              <a:pathLst>
                <a:path w="444637" h="309271">
                  <a:moveTo>
                    <a:pt x="0" y="0"/>
                  </a:moveTo>
                  <a:lnTo>
                    <a:pt x="444637" y="0"/>
                  </a:lnTo>
                  <a:lnTo>
                    <a:pt x="444637" y="309271"/>
                  </a:lnTo>
                  <a:lnTo>
                    <a:pt x="0" y="30927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TextBox 9">
              <a:extLst>
                <a:ext uri="{FF2B5EF4-FFF2-40B4-BE49-F238E27FC236}">
                  <a16:creationId xmlns:a16="http://schemas.microsoft.com/office/drawing/2014/main" id="{33D7F50A-B1B2-447B-A443-1F5BE259947D}"/>
                </a:ext>
              </a:extLst>
            </p:cNvPr>
            <p:cNvSpPr txBox="1"/>
            <p:nvPr/>
          </p:nvSpPr>
          <p:spPr>
            <a:xfrm>
              <a:off x="0" y="-66675"/>
              <a:ext cx="444637" cy="37594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2"/>
                </a:lnSpc>
              </a:pPr>
              <a:endParaRPr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pic>
        <p:nvPicPr>
          <p:cNvPr id="40" name="Picture 4">
            <a:extLst>
              <a:ext uri="{FF2B5EF4-FFF2-40B4-BE49-F238E27FC236}">
                <a16:creationId xmlns:a16="http://schemas.microsoft.com/office/drawing/2014/main" id="{68AAC51A-F64D-479B-AAE7-C455CC6CFD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5490" y="2425095"/>
            <a:ext cx="2654861" cy="743720"/>
          </a:xfrm>
          <a:prstGeom prst="rect">
            <a:avLst/>
          </a:prstGeom>
        </p:spPr>
      </p:pic>
      <p:sp>
        <p:nvSpPr>
          <p:cNvPr id="41" name="TextBox 10">
            <a:extLst>
              <a:ext uri="{FF2B5EF4-FFF2-40B4-BE49-F238E27FC236}">
                <a16:creationId xmlns:a16="http://schemas.microsoft.com/office/drawing/2014/main" id="{A0B99139-33A5-4965-989D-270C0F8263AF}"/>
              </a:ext>
            </a:extLst>
          </p:cNvPr>
          <p:cNvSpPr txBox="1"/>
          <p:nvPr/>
        </p:nvSpPr>
        <p:spPr>
          <a:xfrm>
            <a:off x="4698509" y="2629902"/>
            <a:ext cx="8089026" cy="38618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200" b="1" i="0" u="none" strike="noStrike" spc="-100" dirty="0">
                <a:solidFill>
                  <a:schemeClr val="tx1">
                    <a:lumMod val="85000"/>
                    <a:lumOff val="15000"/>
                    <a:alpha val="63137"/>
                  </a:schemeClr>
                </a:solidFill>
                <a:latin typeface="+mn-ea"/>
              </a:rPr>
              <a:t>진로설계 </a:t>
            </a:r>
            <a:r>
              <a:rPr lang="en-US" altLang="ko-KR" sz="3200" b="1" i="0" u="none" strike="noStrike" spc="-100" dirty="0">
                <a:solidFill>
                  <a:schemeClr val="tx1">
                    <a:lumMod val="85000"/>
                    <a:lumOff val="15000"/>
                    <a:alpha val="63137"/>
                  </a:schemeClr>
                </a:solidFill>
                <a:latin typeface="+mn-ea"/>
              </a:rPr>
              <a:t>4. </a:t>
            </a:r>
            <a:r>
              <a:rPr lang="ko-KR" altLang="en-US" sz="3200" b="1" i="0" u="none" strike="noStrike" spc="-100" dirty="0">
                <a:solidFill>
                  <a:schemeClr val="tx1">
                    <a:lumMod val="85000"/>
                    <a:lumOff val="15000"/>
                    <a:alpha val="63137"/>
                  </a:schemeClr>
                </a:solidFill>
                <a:latin typeface="+mn-ea"/>
              </a:rPr>
              <a:t>취업전략과 실전취업</a:t>
            </a:r>
            <a:endParaRPr lang="ko-KR" sz="3200" b="1" i="0" u="none" strike="noStrike" spc="-100" dirty="0">
              <a:solidFill>
                <a:schemeClr val="tx1">
                  <a:lumMod val="85000"/>
                  <a:lumOff val="15000"/>
                  <a:alpha val="63137"/>
                </a:schemeClr>
              </a:solidFill>
              <a:latin typeface="+mn-ea"/>
            </a:endParaRPr>
          </a:p>
        </p:txBody>
      </p:sp>
      <p:sp>
        <p:nvSpPr>
          <p:cNvPr id="42" name="TextBox 11">
            <a:extLst>
              <a:ext uri="{FF2B5EF4-FFF2-40B4-BE49-F238E27FC236}">
                <a16:creationId xmlns:a16="http://schemas.microsoft.com/office/drawing/2014/main" id="{923D2086-568C-4089-9CFA-5CE75004D4AF}"/>
              </a:ext>
            </a:extLst>
          </p:cNvPr>
          <p:cNvSpPr txBox="1"/>
          <p:nvPr/>
        </p:nvSpPr>
        <p:spPr>
          <a:xfrm>
            <a:off x="1774014" y="2642188"/>
            <a:ext cx="2089014" cy="28086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800" b="1" dirty="0">
                <a:solidFill>
                  <a:srgbClr val="F8F8F8"/>
                </a:solidFill>
                <a:latin typeface="+mn-ea"/>
              </a:rPr>
              <a:t>교과목명</a:t>
            </a:r>
            <a:endParaRPr lang="en-US" sz="2800" b="1" i="0" u="none" strike="noStrike" dirty="0">
              <a:solidFill>
                <a:srgbClr val="F8F8F8"/>
              </a:solidFill>
              <a:latin typeface="+mn-ea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BA6F566F-7436-47BA-A312-A1D8F8015B74}"/>
              </a:ext>
            </a:extLst>
          </p:cNvPr>
          <p:cNvCxnSpPr>
            <a:cxnSpLocks/>
          </p:cNvCxnSpPr>
          <p:nvPr/>
        </p:nvCxnSpPr>
        <p:spPr>
          <a:xfrm>
            <a:off x="1592640" y="3336830"/>
            <a:ext cx="1141797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4">
            <a:extLst>
              <a:ext uri="{FF2B5EF4-FFF2-40B4-BE49-F238E27FC236}">
                <a16:creationId xmlns:a16="http://schemas.microsoft.com/office/drawing/2014/main" id="{AD64BCC2-3B3F-4A6B-BBA9-30086D5CCA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5490" y="3682974"/>
            <a:ext cx="2654861" cy="743720"/>
          </a:xfrm>
          <a:prstGeom prst="rect">
            <a:avLst/>
          </a:prstGeom>
        </p:spPr>
      </p:pic>
      <p:sp>
        <p:nvSpPr>
          <p:cNvPr id="45" name="TextBox 10">
            <a:extLst>
              <a:ext uri="{FF2B5EF4-FFF2-40B4-BE49-F238E27FC236}">
                <a16:creationId xmlns:a16="http://schemas.microsoft.com/office/drawing/2014/main" id="{9D2E999C-8C70-447A-9911-92C9E5A335A4}"/>
              </a:ext>
            </a:extLst>
          </p:cNvPr>
          <p:cNvSpPr txBox="1"/>
          <p:nvPr/>
        </p:nvSpPr>
        <p:spPr>
          <a:xfrm>
            <a:off x="4698509" y="3887781"/>
            <a:ext cx="8089026" cy="38618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 spc="-100" dirty="0">
                <a:solidFill>
                  <a:schemeClr val="tx1">
                    <a:lumMod val="85000"/>
                    <a:lumOff val="15000"/>
                    <a:alpha val="63137"/>
                  </a:schemeClr>
                </a:solidFill>
                <a:latin typeface="+mn-ea"/>
              </a:rPr>
              <a:t>관심 직무와 목표기업을 설정하고 전략적인 취업준비를 통해 구직역량을 높인다</a:t>
            </a:r>
            <a:r>
              <a:rPr lang="en-US" altLang="ko-KR" sz="2800" b="1" spc="-100" dirty="0">
                <a:solidFill>
                  <a:schemeClr val="tx1">
                    <a:lumMod val="85000"/>
                    <a:lumOff val="15000"/>
                    <a:alpha val="63137"/>
                  </a:schemeClr>
                </a:solidFill>
                <a:latin typeface="+mn-ea"/>
              </a:rPr>
              <a:t>.</a:t>
            </a:r>
            <a:endParaRPr lang="ko-KR" sz="2800" b="1" i="0" u="none" strike="noStrike" spc="-100" dirty="0">
              <a:solidFill>
                <a:schemeClr val="tx1">
                  <a:lumMod val="85000"/>
                  <a:lumOff val="15000"/>
                  <a:alpha val="63137"/>
                </a:schemeClr>
              </a:solidFill>
              <a:latin typeface="+mn-ea"/>
            </a:endParaRPr>
          </a:p>
        </p:txBody>
      </p:sp>
      <p:sp>
        <p:nvSpPr>
          <p:cNvPr id="46" name="TextBox 11">
            <a:extLst>
              <a:ext uri="{FF2B5EF4-FFF2-40B4-BE49-F238E27FC236}">
                <a16:creationId xmlns:a16="http://schemas.microsoft.com/office/drawing/2014/main" id="{50B44C1B-E1B3-4A4B-8F03-4662FA0877DB}"/>
              </a:ext>
            </a:extLst>
          </p:cNvPr>
          <p:cNvSpPr txBox="1"/>
          <p:nvPr/>
        </p:nvSpPr>
        <p:spPr>
          <a:xfrm>
            <a:off x="1774014" y="3900067"/>
            <a:ext cx="2089014" cy="28086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800" b="1" i="0" u="none" strike="noStrike" dirty="0">
                <a:solidFill>
                  <a:srgbClr val="F8F8F8"/>
                </a:solidFill>
                <a:latin typeface="+mn-ea"/>
              </a:rPr>
              <a:t>교과목표</a:t>
            </a:r>
            <a:endParaRPr lang="en-US" sz="2800" b="1" i="0" u="none" strike="noStrike" dirty="0">
              <a:solidFill>
                <a:srgbClr val="F8F8F8"/>
              </a:solidFill>
              <a:latin typeface="+mn-ea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DE5BDFDE-67EB-4374-A32F-E4D38CAEE662}"/>
              </a:ext>
            </a:extLst>
          </p:cNvPr>
          <p:cNvCxnSpPr>
            <a:cxnSpLocks/>
          </p:cNvCxnSpPr>
          <p:nvPr/>
        </p:nvCxnSpPr>
        <p:spPr>
          <a:xfrm>
            <a:off x="1587345" y="4610679"/>
            <a:ext cx="1141797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Picture 4">
            <a:extLst>
              <a:ext uri="{FF2B5EF4-FFF2-40B4-BE49-F238E27FC236}">
                <a16:creationId xmlns:a16="http://schemas.microsoft.com/office/drawing/2014/main" id="{81E30115-3BA5-412C-A328-48988E3FE8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345" y="4822393"/>
            <a:ext cx="2654861" cy="743720"/>
          </a:xfrm>
          <a:prstGeom prst="rect">
            <a:avLst/>
          </a:prstGeom>
        </p:spPr>
      </p:pic>
      <p:sp>
        <p:nvSpPr>
          <p:cNvPr id="49" name="TextBox 10">
            <a:extLst>
              <a:ext uri="{FF2B5EF4-FFF2-40B4-BE49-F238E27FC236}">
                <a16:creationId xmlns:a16="http://schemas.microsoft.com/office/drawing/2014/main" id="{63BB5A63-2DE3-4C7F-A40E-6F708DFCB915}"/>
              </a:ext>
            </a:extLst>
          </p:cNvPr>
          <p:cNvSpPr txBox="1"/>
          <p:nvPr/>
        </p:nvSpPr>
        <p:spPr>
          <a:xfrm>
            <a:off x="4750364" y="5027200"/>
            <a:ext cx="8089026" cy="38618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3200" b="1" i="0" u="none" strike="noStrike" spc="-100" dirty="0">
                <a:solidFill>
                  <a:schemeClr val="tx1">
                    <a:lumMod val="85000"/>
                    <a:lumOff val="15000"/>
                    <a:alpha val="63137"/>
                  </a:schemeClr>
                </a:solidFill>
                <a:latin typeface="+mn-ea"/>
              </a:rPr>
              <a:t>Pass / Non Pass</a:t>
            </a:r>
            <a:endParaRPr lang="ko-KR" sz="3200" b="1" i="0" u="none" strike="noStrike" spc="-100" dirty="0">
              <a:solidFill>
                <a:schemeClr val="tx1">
                  <a:lumMod val="85000"/>
                  <a:lumOff val="15000"/>
                  <a:alpha val="63137"/>
                </a:schemeClr>
              </a:solidFill>
              <a:latin typeface="+mn-ea"/>
            </a:endParaRPr>
          </a:p>
        </p:txBody>
      </p:sp>
      <p:sp>
        <p:nvSpPr>
          <p:cNvPr id="50" name="TextBox 11">
            <a:extLst>
              <a:ext uri="{FF2B5EF4-FFF2-40B4-BE49-F238E27FC236}">
                <a16:creationId xmlns:a16="http://schemas.microsoft.com/office/drawing/2014/main" id="{00F02952-8A42-43F6-8855-A0773DE3CE0A}"/>
              </a:ext>
            </a:extLst>
          </p:cNvPr>
          <p:cNvSpPr txBox="1"/>
          <p:nvPr/>
        </p:nvSpPr>
        <p:spPr>
          <a:xfrm>
            <a:off x="1825869" y="5039486"/>
            <a:ext cx="2089014" cy="28086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800" b="1" i="0" u="none" strike="noStrike" dirty="0">
                <a:solidFill>
                  <a:srgbClr val="F8F8F8"/>
                </a:solidFill>
                <a:latin typeface="+mn-ea"/>
              </a:rPr>
              <a:t>성적평가</a:t>
            </a:r>
            <a:endParaRPr lang="en-US" sz="2800" b="1" i="0" u="none" strike="noStrike" dirty="0">
              <a:solidFill>
                <a:srgbClr val="F8F8F8"/>
              </a:solidFill>
              <a:latin typeface="+mn-ea"/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AA58EBBE-0E23-449A-937A-19783C2CE9AE}"/>
              </a:ext>
            </a:extLst>
          </p:cNvPr>
          <p:cNvCxnSpPr>
            <a:cxnSpLocks/>
          </p:cNvCxnSpPr>
          <p:nvPr/>
        </p:nvCxnSpPr>
        <p:spPr>
          <a:xfrm>
            <a:off x="1639200" y="5750098"/>
            <a:ext cx="1141797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4">
            <a:extLst>
              <a:ext uri="{FF2B5EF4-FFF2-40B4-BE49-F238E27FC236}">
                <a16:creationId xmlns:a16="http://schemas.microsoft.com/office/drawing/2014/main" id="{C7742AF6-37BB-4528-AAC1-433F9B4699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0150" y="6038696"/>
            <a:ext cx="2654861" cy="743720"/>
          </a:xfrm>
          <a:prstGeom prst="rect">
            <a:avLst/>
          </a:prstGeom>
        </p:spPr>
      </p:pic>
      <p:sp>
        <p:nvSpPr>
          <p:cNvPr id="53" name="TextBox 10">
            <a:extLst>
              <a:ext uri="{FF2B5EF4-FFF2-40B4-BE49-F238E27FC236}">
                <a16:creationId xmlns:a16="http://schemas.microsoft.com/office/drawing/2014/main" id="{20E4A108-FA29-47EA-B0C6-756AB4C264D5}"/>
              </a:ext>
            </a:extLst>
          </p:cNvPr>
          <p:cNvSpPr txBox="1"/>
          <p:nvPr/>
        </p:nvSpPr>
        <p:spPr>
          <a:xfrm>
            <a:off x="4769314" y="6243502"/>
            <a:ext cx="8089026" cy="38618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200" b="1" spc="-100" dirty="0">
                <a:solidFill>
                  <a:schemeClr val="tx1">
                    <a:lumMod val="85000"/>
                    <a:lumOff val="15000"/>
                    <a:alpha val="63137"/>
                  </a:schemeClr>
                </a:solidFill>
                <a:latin typeface="+mn-ea"/>
              </a:rPr>
              <a:t>출석</a:t>
            </a:r>
            <a:r>
              <a:rPr lang="en-US" altLang="ko-KR" sz="3200" b="1" spc="-100" dirty="0">
                <a:solidFill>
                  <a:schemeClr val="tx1">
                    <a:lumMod val="85000"/>
                    <a:lumOff val="15000"/>
                    <a:alpha val="63137"/>
                  </a:schemeClr>
                </a:solidFill>
                <a:latin typeface="+mn-ea"/>
              </a:rPr>
              <a:t>(30%) + </a:t>
            </a:r>
            <a:r>
              <a:rPr lang="ko-KR" altLang="en-US" sz="3200" b="1" spc="-100" dirty="0">
                <a:solidFill>
                  <a:schemeClr val="tx1">
                    <a:lumMod val="85000"/>
                    <a:lumOff val="15000"/>
                    <a:alpha val="63137"/>
                  </a:schemeClr>
                </a:solidFill>
                <a:latin typeface="+mn-ea"/>
              </a:rPr>
              <a:t>과제</a:t>
            </a:r>
            <a:r>
              <a:rPr lang="en-US" altLang="ko-KR" sz="3200" b="1" spc="-100" dirty="0">
                <a:solidFill>
                  <a:schemeClr val="tx1">
                    <a:lumMod val="85000"/>
                    <a:lumOff val="15000"/>
                    <a:alpha val="63137"/>
                  </a:schemeClr>
                </a:solidFill>
                <a:latin typeface="+mn-ea"/>
              </a:rPr>
              <a:t>(50%) + </a:t>
            </a:r>
            <a:r>
              <a:rPr lang="ko-KR" altLang="en-US" sz="3200" b="1" spc="-100" dirty="0">
                <a:solidFill>
                  <a:schemeClr val="tx1">
                    <a:lumMod val="85000"/>
                    <a:lumOff val="15000"/>
                    <a:alpha val="63137"/>
                  </a:schemeClr>
                </a:solidFill>
                <a:latin typeface="+mn-ea"/>
              </a:rPr>
              <a:t>기타 평가</a:t>
            </a:r>
            <a:r>
              <a:rPr lang="en-US" altLang="ko-KR" sz="3200" b="1" spc="-100" dirty="0">
                <a:solidFill>
                  <a:schemeClr val="tx1">
                    <a:lumMod val="85000"/>
                    <a:lumOff val="15000"/>
                    <a:alpha val="63137"/>
                  </a:schemeClr>
                </a:solidFill>
                <a:latin typeface="+mn-ea"/>
              </a:rPr>
              <a:t>(20%)</a:t>
            </a:r>
            <a:endParaRPr lang="ko-KR" sz="3200" b="1" i="0" u="none" strike="noStrike" spc="-100" dirty="0">
              <a:solidFill>
                <a:schemeClr val="tx1">
                  <a:lumMod val="85000"/>
                  <a:lumOff val="15000"/>
                  <a:alpha val="63137"/>
                </a:schemeClr>
              </a:solidFill>
              <a:latin typeface="+mn-ea"/>
            </a:endParaRPr>
          </a:p>
        </p:txBody>
      </p:sp>
      <p:sp>
        <p:nvSpPr>
          <p:cNvPr id="54" name="TextBox 11">
            <a:extLst>
              <a:ext uri="{FF2B5EF4-FFF2-40B4-BE49-F238E27FC236}">
                <a16:creationId xmlns:a16="http://schemas.microsoft.com/office/drawing/2014/main" id="{0E79F6AA-FF27-48B9-8869-64ADAA17630C}"/>
              </a:ext>
            </a:extLst>
          </p:cNvPr>
          <p:cNvSpPr txBox="1"/>
          <p:nvPr/>
        </p:nvSpPr>
        <p:spPr>
          <a:xfrm>
            <a:off x="1858674" y="6255789"/>
            <a:ext cx="2089014" cy="28086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800" b="1" i="0" u="none" strike="noStrike" dirty="0">
                <a:solidFill>
                  <a:srgbClr val="F8F8F8"/>
                </a:solidFill>
                <a:latin typeface="+mn-ea"/>
              </a:rPr>
              <a:t>반영비율</a:t>
            </a:r>
            <a:endParaRPr lang="en-US" sz="2800" b="1" i="0" u="none" strike="noStrike" dirty="0">
              <a:solidFill>
                <a:srgbClr val="F8F8F8"/>
              </a:solidFill>
              <a:latin typeface="+mn-ea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25589D9C-01CA-42E8-A460-3D5758FE4EFE}"/>
              </a:ext>
            </a:extLst>
          </p:cNvPr>
          <p:cNvCxnSpPr>
            <a:cxnSpLocks/>
          </p:cNvCxnSpPr>
          <p:nvPr/>
        </p:nvCxnSpPr>
        <p:spPr>
          <a:xfrm>
            <a:off x="1672005" y="6966401"/>
            <a:ext cx="1141797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Picture 4">
            <a:extLst>
              <a:ext uri="{FF2B5EF4-FFF2-40B4-BE49-F238E27FC236}">
                <a16:creationId xmlns:a16="http://schemas.microsoft.com/office/drawing/2014/main" id="{7DEF2AC9-6802-49B0-BDB3-B727AE01DF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9303" y="7177698"/>
            <a:ext cx="2654861" cy="743720"/>
          </a:xfrm>
          <a:prstGeom prst="rect">
            <a:avLst/>
          </a:prstGeom>
        </p:spPr>
      </p:pic>
      <p:sp>
        <p:nvSpPr>
          <p:cNvPr id="57" name="TextBox 10">
            <a:extLst>
              <a:ext uri="{FF2B5EF4-FFF2-40B4-BE49-F238E27FC236}">
                <a16:creationId xmlns:a16="http://schemas.microsoft.com/office/drawing/2014/main" id="{1D2E1610-3398-4F15-894C-5BAC5A30AA93}"/>
              </a:ext>
            </a:extLst>
          </p:cNvPr>
          <p:cNvSpPr txBox="1"/>
          <p:nvPr/>
        </p:nvSpPr>
        <p:spPr>
          <a:xfrm>
            <a:off x="4769314" y="7394791"/>
            <a:ext cx="8089026" cy="38618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200" b="1" i="0" u="none" strike="noStrike" spc="-100" dirty="0">
                <a:solidFill>
                  <a:schemeClr val="tx1">
                    <a:lumMod val="85000"/>
                    <a:lumOff val="15000"/>
                    <a:alpha val="63137"/>
                  </a:schemeClr>
                </a:solidFill>
                <a:latin typeface="+mn-ea"/>
              </a:rPr>
              <a:t>진로설계 </a:t>
            </a:r>
            <a:r>
              <a:rPr lang="en-US" altLang="ko-KR" sz="3200" b="1" i="0" u="none" strike="noStrike" spc="-100" dirty="0">
                <a:solidFill>
                  <a:schemeClr val="tx1">
                    <a:lumMod val="85000"/>
                    <a:lumOff val="15000"/>
                    <a:alpha val="63137"/>
                  </a:schemeClr>
                </a:solidFill>
                <a:latin typeface="+mn-ea"/>
              </a:rPr>
              <a:t>4. </a:t>
            </a:r>
            <a:r>
              <a:rPr lang="ko-KR" altLang="en-US" sz="3200" b="1" i="0" u="none" strike="noStrike" spc="-100" dirty="0">
                <a:solidFill>
                  <a:schemeClr val="tx1">
                    <a:lumMod val="85000"/>
                    <a:lumOff val="15000"/>
                    <a:alpha val="63137"/>
                  </a:schemeClr>
                </a:solidFill>
                <a:latin typeface="+mn-ea"/>
              </a:rPr>
              <a:t>취업전략과 실전취업</a:t>
            </a:r>
            <a:endParaRPr lang="ko-KR" sz="3200" b="1" i="0" u="none" strike="noStrike" spc="-100" dirty="0">
              <a:solidFill>
                <a:schemeClr val="tx1">
                  <a:lumMod val="85000"/>
                  <a:lumOff val="15000"/>
                  <a:alpha val="63137"/>
                </a:schemeClr>
              </a:solidFill>
              <a:latin typeface="+mn-ea"/>
            </a:endParaRPr>
          </a:p>
        </p:txBody>
      </p:sp>
      <p:sp>
        <p:nvSpPr>
          <p:cNvPr id="58" name="TextBox 11">
            <a:extLst>
              <a:ext uri="{FF2B5EF4-FFF2-40B4-BE49-F238E27FC236}">
                <a16:creationId xmlns:a16="http://schemas.microsoft.com/office/drawing/2014/main" id="{9AC21C67-8F3F-44BB-967D-3E247FCE2164}"/>
              </a:ext>
            </a:extLst>
          </p:cNvPr>
          <p:cNvSpPr txBox="1"/>
          <p:nvPr/>
        </p:nvSpPr>
        <p:spPr>
          <a:xfrm>
            <a:off x="1897827" y="7394791"/>
            <a:ext cx="2089014" cy="28086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800" b="1" i="0" u="none" strike="noStrike" dirty="0">
                <a:solidFill>
                  <a:srgbClr val="F8F8F8"/>
                </a:solidFill>
                <a:latin typeface="+mn-ea"/>
              </a:rPr>
              <a:t>강의교재</a:t>
            </a:r>
            <a:endParaRPr lang="en-US" sz="2800" b="1" i="0" u="none" strike="noStrike" dirty="0">
              <a:solidFill>
                <a:srgbClr val="F8F8F8"/>
              </a:solidFill>
              <a:latin typeface="+mn-ea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892B801A-455F-48A3-9914-1F3512036F3D}"/>
              </a:ext>
            </a:extLst>
          </p:cNvPr>
          <p:cNvCxnSpPr>
            <a:cxnSpLocks/>
          </p:cNvCxnSpPr>
          <p:nvPr/>
        </p:nvCxnSpPr>
        <p:spPr>
          <a:xfrm>
            <a:off x="1711158" y="8105403"/>
            <a:ext cx="1141797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Picture 4">
            <a:extLst>
              <a:ext uri="{FF2B5EF4-FFF2-40B4-BE49-F238E27FC236}">
                <a16:creationId xmlns:a16="http://schemas.microsoft.com/office/drawing/2014/main" id="{BDB4138A-56B9-4AA2-BF8A-1C1D1923C0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550" y="8515115"/>
            <a:ext cx="2654861" cy="743720"/>
          </a:xfrm>
          <a:prstGeom prst="rect">
            <a:avLst/>
          </a:prstGeom>
        </p:spPr>
      </p:pic>
      <p:sp>
        <p:nvSpPr>
          <p:cNvPr id="61" name="TextBox 11">
            <a:extLst>
              <a:ext uri="{FF2B5EF4-FFF2-40B4-BE49-F238E27FC236}">
                <a16:creationId xmlns:a16="http://schemas.microsoft.com/office/drawing/2014/main" id="{67EBEF37-43A4-495D-B665-D7BCFE82428D}"/>
              </a:ext>
            </a:extLst>
          </p:cNvPr>
          <p:cNvSpPr txBox="1"/>
          <p:nvPr/>
        </p:nvSpPr>
        <p:spPr>
          <a:xfrm>
            <a:off x="1884074" y="8732208"/>
            <a:ext cx="2089014" cy="28086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800" b="1" dirty="0">
                <a:solidFill>
                  <a:srgbClr val="F8F8F8"/>
                </a:solidFill>
                <a:latin typeface="+mn-ea"/>
              </a:rPr>
              <a:t>PASS</a:t>
            </a:r>
            <a:r>
              <a:rPr lang="ko-KR" altLang="en-US" sz="2800" b="1" dirty="0">
                <a:solidFill>
                  <a:srgbClr val="F8F8F8"/>
                </a:solidFill>
                <a:latin typeface="+mn-ea"/>
              </a:rPr>
              <a:t>조건</a:t>
            </a:r>
            <a:endParaRPr lang="en-US" sz="2800" b="1" i="0" u="none" strike="noStrike" dirty="0">
              <a:solidFill>
                <a:srgbClr val="F8F8F8"/>
              </a:solidFill>
              <a:latin typeface="+mn-ea"/>
            </a:endParaRPr>
          </a:p>
        </p:txBody>
      </p:sp>
      <p:sp>
        <p:nvSpPr>
          <p:cNvPr id="62" name="TextBox 10">
            <a:extLst>
              <a:ext uri="{FF2B5EF4-FFF2-40B4-BE49-F238E27FC236}">
                <a16:creationId xmlns:a16="http://schemas.microsoft.com/office/drawing/2014/main" id="{7FFE50C2-1812-4736-8D07-8F8F2364909D}"/>
              </a:ext>
            </a:extLst>
          </p:cNvPr>
          <p:cNvSpPr txBox="1"/>
          <p:nvPr/>
        </p:nvSpPr>
        <p:spPr>
          <a:xfrm>
            <a:off x="4750365" y="8645371"/>
            <a:ext cx="9170618" cy="38618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600" b="1" spc="-100" dirty="0">
                <a:solidFill>
                  <a:srgbClr val="C00000">
                    <a:alpha val="63137"/>
                  </a:srgbClr>
                </a:solidFill>
                <a:highlight>
                  <a:srgbClr val="FFFF00"/>
                </a:highlight>
                <a:latin typeface="+mn-ea"/>
              </a:rPr>
              <a:t>이력서</a:t>
            </a:r>
            <a:r>
              <a:rPr lang="en-US" altLang="ko-KR" sz="2600" b="1" spc="-100" dirty="0">
                <a:solidFill>
                  <a:srgbClr val="C00000">
                    <a:alpha val="63137"/>
                  </a:srgbClr>
                </a:solidFill>
                <a:highlight>
                  <a:srgbClr val="FFFF00"/>
                </a:highlight>
                <a:latin typeface="+mn-ea"/>
              </a:rPr>
              <a:t>, </a:t>
            </a:r>
            <a:r>
              <a:rPr lang="ko-KR" altLang="en-US" sz="2600" b="1" spc="-100" dirty="0">
                <a:solidFill>
                  <a:srgbClr val="C00000">
                    <a:alpha val="63137"/>
                  </a:srgbClr>
                </a:solidFill>
                <a:highlight>
                  <a:srgbClr val="FFFF00"/>
                </a:highlight>
                <a:latin typeface="+mn-ea"/>
              </a:rPr>
              <a:t>자기소개서 작성</a:t>
            </a:r>
            <a:r>
              <a:rPr lang="en-US" altLang="ko-KR" sz="2600" b="1" spc="-100" dirty="0">
                <a:solidFill>
                  <a:srgbClr val="C00000">
                    <a:alpha val="63137"/>
                  </a:srgbClr>
                </a:solidFill>
                <a:highlight>
                  <a:srgbClr val="FFFF00"/>
                </a:highlight>
                <a:latin typeface="+mn-ea"/>
              </a:rPr>
              <a:t>(13</a:t>
            </a:r>
            <a:r>
              <a:rPr lang="ko-KR" altLang="en-US" sz="2600" b="1" spc="-100" dirty="0">
                <a:solidFill>
                  <a:srgbClr val="C00000">
                    <a:alpha val="63137"/>
                  </a:srgbClr>
                </a:solidFill>
                <a:highlight>
                  <a:srgbClr val="FFFF00"/>
                </a:highlight>
                <a:latin typeface="+mn-ea"/>
              </a:rPr>
              <a:t>주까지</a:t>
            </a:r>
            <a:r>
              <a:rPr lang="en-US" altLang="ko-KR" sz="2600" b="1" spc="-100" dirty="0">
                <a:solidFill>
                  <a:srgbClr val="C00000">
                    <a:alpha val="63137"/>
                  </a:srgbClr>
                </a:solidFill>
                <a:highlight>
                  <a:srgbClr val="FFFF00"/>
                </a:highlight>
                <a:latin typeface="+mn-ea"/>
              </a:rPr>
              <a:t>, </a:t>
            </a:r>
            <a:r>
              <a:rPr lang="ko-KR" altLang="en-US" sz="2600" b="1" spc="-100" dirty="0">
                <a:solidFill>
                  <a:srgbClr val="C00000">
                    <a:alpha val="63137"/>
                  </a:srgbClr>
                </a:solidFill>
                <a:highlight>
                  <a:srgbClr val="FFFF00"/>
                </a:highlight>
                <a:latin typeface="+mn-ea"/>
              </a:rPr>
              <a:t>필수과제</a:t>
            </a:r>
            <a:r>
              <a:rPr lang="en-US" altLang="ko-KR" sz="2600" b="1" spc="-100" dirty="0">
                <a:solidFill>
                  <a:srgbClr val="C00000">
                    <a:alpha val="63137"/>
                  </a:srgbClr>
                </a:solidFill>
                <a:highlight>
                  <a:srgbClr val="FFFF00"/>
                </a:highlight>
                <a:latin typeface="+mn-ea"/>
              </a:rPr>
              <a:t>)</a:t>
            </a:r>
          </a:p>
          <a:p>
            <a:pPr lvl="0" algn="l">
              <a:lnSpc>
                <a:spcPct val="99600"/>
              </a:lnSpc>
            </a:pPr>
            <a:r>
              <a:rPr lang="en-US" altLang="ko-KR" sz="2600" b="1" spc="-100" dirty="0">
                <a:solidFill>
                  <a:srgbClr val="C00000">
                    <a:alpha val="63137"/>
                  </a:srgbClr>
                </a:solidFill>
                <a:highlight>
                  <a:srgbClr val="FFFF00"/>
                </a:highlight>
                <a:latin typeface="+mn-ea"/>
              </a:rPr>
              <a:t> + </a:t>
            </a:r>
            <a:r>
              <a:rPr lang="ko-KR" altLang="en-US" sz="2600" b="1" spc="-100" dirty="0">
                <a:solidFill>
                  <a:srgbClr val="C00000">
                    <a:alpha val="63137"/>
                  </a:srgbClr>
                </a:solidFill>
                <a:highlight>
                  <a:srgbClr val="FFFF00"/>
                </a:highlight>
                <a:latin typeface="+mn-ea"/>
              </a:rPr>
              <a:t>교수상담</a:t>
            </a:r>
            <a:r>
              <a:rPr lang="en-US" altLang="ko-KR" sz="2600" b="1" spc="-100" dirty="0">
                <a:solidFill>
                  <a:srgbClr val="C00000">
                    <a:alpha val="63137"/>
                  </a:srgbClr>
                </a:solidFill>
                <a:highlight>
                  <a:srgbClr val="FFFF00"/>
                </a:highlight>
                <a:latin typeface="+mn-ea"/>
              </a:rPr>
              <a:t>(1</a:t>
            </a:r>
            <a:r>
              <a:rPr lang="ko-KR" altLang="en-US" sz="2600" b="1" spc="-100" dirty="0">
                <a:solidFill>
                  <a:srgbClr val="C00000">
                    <a:alpha val="63137"/>
                  </a:srgbClr>
                </a:solidFill>
                <a:highlight>
                  <a:srgbClr val="FFFF00"/>
                </a:highlight>
                <a:latin typeface="+mn-ea"/>
              </a:rPr>
              <a:t>회 이상</a:t>
            </a:r>
            <a:r>
              <a:rPr lang="en-US" altLang="ko-KR" sz="2600" b="1" spc="-100" dirty="0">
                <a:solidFill>
                  <a:srgbClr val="C00000">
                    <a:alpha val="63137"/>
                  </a:srgbClr>
                </a:solidFill>
                <a:highlight>
                  <a:srgbClr val="FFFF00"/>
                </a:highlight>
                <a:latin typeface="+mn-ea"/>
              </a:rPr>
              <a:t>) +</a:t>
            </a:r>
            <a:r>
              <a:rPr lang="ko-KR" altLang="en-US" sz="2600" b="1" spc="-100" dirty="0">
                <a:solidFill>
                  <a:srgbClr val="C00000">
                    <a:alpha val="63137"/>
                  </a:srgbClr>
                </a:solidFill>
                <a:highlight>
                  <a:srgbClr val="FFFF00"/>
                </a:highlight>
                <a:latin typeface="+mn-ea"/>
              </a:rPr>
              <a:t>대학일자리본부 컨설턴트 상담</a:t>
            </a:r>
            <a:r>
              <a:rPr lang="en-US" altLang="ko-KR" sz="2600" b="1" spc="-100" dirty="0">
                <a:solidFill>
                  <a:srgbClr val="C00000">
                    <a:alpha val="63137"/>
                  </a:srgbClr>
                </a:solidFill>
                <a:highlight>
                  <a:srgbClr val="FFFF00"/>
                </a:highlight>
                <a:latin typeface="+mn-ea"/>
              </a:rPr>
              <a:t>(2</a:t>
            </a:r>
            <a:r>
              <a:rPr lang="ko-KR" altLang="en-US" sz="2600" b="1" spc="-100" dirty="0">
                <a:solidFill>
                  <a:srgbClr val="C00000">
                    <a:alpha val="63137"/>
                  </a:srgbClr>
                </a:solidFill>
                <a:highlight>
                  <a:srgbClr val="FFFF00"/>
                </a:highlight>
                <a:latin typeface="+mn-ea"/>
              </a:rPr>
              <a:t>회 이상</a:t>
            </a:r>
            <a:r>
              <a:rPr lang="en-US" altLang="ko-KR" sz="2600" b="1" spc="-100" dirty="0">
                <a:solidFill>
                  <a:srgbClr val="C00000">
                    <a:alpha val="63137"/>
                  </a:srgbClr>
                </a:solidFill>
                <a:highlight>
                  <a:srgbClr val="FFFF00"/>
                </a:highlight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17231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6" name="TextBox 3">
            <a:extLst>
              <a:ext uri="{FF2B5EF4-FFF2-40B4-BE49-F238E27FC236}">
                <a16:creationId xmlns:a16="http://schemas.microsoft.com/office/drawing/2014/main" id="{408C96A8-D486-4AA9-9D08-6784CFCE6F53}"/>
              </a:ext>
            </a:extLst>
          </p:cNvPr>
          <p:cNvSpPr txBox="1"/>
          <p:nvPr/>
        </p:nvSpPr>
        <p:spPr>
          <a:xfrm>
            <a:off x="1295400" y="664298"/>
            <a:ext cx="107569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400" b="1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주차별</a:t>
            </a:r>
            <a:r>
              <a:rPr lang="ko-KR" altLang="en-US" sz="4400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학습주제</a:t>
            </a:r>
            <a:endParaRPr lang="en-US" sz="4400" b="1" i="0" u="none" strike="noStrike" spc="-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5" name="TextBox 7"/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1" name="Group 7">
            <a:extLst>
              <a:ext uri="{FF2B5EF4-FFF2-40B4-BE49-F238E27FC236}">
                <a16:creationId xmlns:a16="http://schemas.microsoft.com/office/drawing/2014/main" id="{5C4FD830-A520-4CA0-97C0-FDA879D0BEA0}"/>
              </a:ext>
            </a:extLst>
          </p:cNvPr>
          <p:cNvGrpSpPr/>
          <p:nvPr/>
        </p:nvGrpSpPr>
        <p:grpSpPr>
          <a:xfrm>
            <a:off x="998364" y="899835"/>
            <a:ext cx="122092" cy="590205"/>
            <a:chOff x="0" y="0"/>
            <a:chExt cx="444637" cy="309271"/>
          </a:xfrm>
          <a:solidFill>
            <a:schemeClr val="accent6">
              <a:lumMod val="50000"/>
            </a:schemeClr>
          </a:solidFill>
        </p:grpSpPr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F2DF2984-0B71-4B27-9C91-3C122574AD76}"/>
                </a:ext>
              </a:extLst>
            </p:cNvPr>
            <p:cNvSpPr/>
            <p:nvPr/>
          </p:nvSpPr>
          <p:spPr>
            <a:xfrm>
              <a:off x="0" y="0"/>
              <a:ext cx="444637" cy="309271"/>
            </a:xfrm>
            <a:custGeom>
              <a:avLst/>
              <a:gdLst/>
              <a:ahLst/>
              <a:cxnLst/>
              <a:rect l="l" t="t" r="r" b="b"/>
              <a:pathLst>
                <a:path w="444637" h="309271">
                  <a:moveTo>
                    <a:pt x="0" y="0"/>
                  </a:moveTo>
                  <a:lnTo>
                    <a:pt x="444637" y="0"/>
                  </a:lnTo>
                  <a:lnTo>
                    <a:pt x="444637" y="309271"/>
                  </a:lnTo>
                  <a:lnTo>
                    <a:pt x="0" y="30927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CBE0055F-48F9-4B9F-B037-C1B272794162}"/>
                </a:ext>
              </a:extLst>
            </p:cNvPr>
            <p:cNvSpPr txBox="1"/>
            <p:nvPr/>
          </p:nvSpPr>
          <p:spPr>
            <a:xfrm>
              <a:off x="0" y="-66675"/>
              <a:ext cx="444637" cy="37594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2"/>
                </a:lnSpc>
              </a:pPr>
              <a:endParaRPr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pic>
        <p:nvPicPr>
          <p:cNvPr id="14" name="Google Shape;85;p13" descr="image.png">
            <a:extLst>
              <a:ext uri="{FF2B5EF4-FFF2-40B4-BE49-F238E27FC236}">
                <a16:creationId xmlns:a16="http://schemas.microsoft.com/office/drawing/2014/main" id="{7FECE9B6-336D-47DA-8576-9A4E7AC8F60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0125" y="1935579"/>
            <a:ext cx="771525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86;p13" descr="image.png">
            <a:extLst>
              <a:ext uri="{FF2B5EF4-FFF2-40B4-BE49-F238E27FC236}">
                <a16:creationId xmlns:a16="http://schemas.microsoft.com/office/drawing/2014/main" id="{C26EB25C-7890-43DF-995C-FD4967CE94B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0125" y="2935704"/>
            <a:ext cx="771525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87;p13" descr="image.png">
            <a:extLst>
              <a:ext uri="{FF2B5EF4-FFF2-40B4-BE49-F238E27FC236}">
                <a16:creationId xmlns:a16="http://schemas.microsoft.com/office/drawing/2014/main" id="{B9CD250F-5586-4FAB-9FC2-2CF0B899401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125" y="3935829"/>
            <a:ext cx="771525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88;p13" descr="image.png">
            <a:extLst>
              <a:ext uri="{FF2B5EF4-FFF2-40B4-BE49-F238E27FC236}">
                <a16:creationId xmlns:a16="http://schemas.microsoft.com/office/drawing/2014/main" id="{F82C618B-6DAC-4ACC-8B07-2DA596DFB2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125" y="4935954"/>
            <a:ext cx="771525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89;p13" descr="image.png">
            <a:extLst>
              <a:ext uri="{FF2B5EF4-FFF2-40B4-BE49-F238E27FC236}">
                <a16:creationId xmlns:a16="http://schemas.microsoft.com/office/drawing/2014/main" id="{79445D96-082A-4907-A3D7-4E23789FE2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125" y="5936079"/>
            <a:ext cx="771525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90;p13" descr="image.png">
            <a:extLst>
              <a:ext uri="{FF2B5EF4-FFF2-40B4-BE49-F238E27FC236}">
                <a16:creationId xmlns:a16="http://schemas.microsoft.com/office/drawing/2014/main" id="{2F7EAF7E-E627-4130-AE28-BE3C288CDEF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0125" y="6936204"/>
            <a:ext cx="771525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91;p13" descr="image.png">
            <a:extLst>
              <a:ext uri="{FF2B5EF4-FFF2-40B4-BE49-F238E27FC236}">
                <a16:creationId xmlns:a16="http://schemas.microsoft.com/office/drawing/2014/main" id="{72F6CC40-C950-41A6-B3D7-DB70EA28A8C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0125" y="7936329"/>
            <a:ext cx="771525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92;p13" descr="image.png">
            <a:extLst>
              <a:ext uri="{FF2B5EF4-FFF2-40B4-BE49-F238E27FC236}">
                <a16:creationId xmlns:a16="http://schemas.microsoft.com/office/drawing/2014/main" id="{763E6D63-E2EE-4EE0-B326-683F8C8EAD5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0125" y="8936454"/>
            <a:ext cx="771525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93;p13" descr="image.png">
            <a:extLst>
              <a:ext uri="{FF2B5EF4-FFF2-40B4-BE49-F238E27FC236}">
                <a16:creationId xmlns:a16="http://schemas.microsoft.com/office/drawing/2014/main" id="{594D0D9F-BC36-4C5F-9134-4FAF01DA494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2625" y="1935579"/>
            <a:ext cx="771525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94;p13" descr="image.png">
            <a:extLst>
              <a:ext uri="{FF2B5EF4-FFF2-40B4-BE49-F238E27FC236}">
                <a16:creationId xmlns:a16="http://schemas.microsoft.com/office/drawing/2014/main" id="{CE08BEB0-E4E8-45EE-A137-75F9B5C49D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2625" y="2935704"/>
            <a:ext cx="771525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95;p13" descr="image.png">
            <a:extLst>
              <a:ext uri="{FF2B5EF4-FFF2-40B4-BE49-F238E27FC236}">
                <a16:creationId xmlns:a16="http://schemas.microsoft.com/office/drawing/2014/main" id="{CBC1B497-FE19-469E-9E6B-BB066738BF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2625" y="3935829"/>
            <a:ext cx="771525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96;p13" descr="image.png">
            <a:extLst>
              <a:ext uri="{FF2B5EF4-FFF2-40B4-BE49-F238E27FC236}">
                <a16:creationId xmlns:a16="http://schemas.microsoft.com/office/drawing/2014/main" id="{B158EA8E-B29F-4C84-B8F9-CD1161472C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2625" y="4935954"/>
            <a:ext cx="771525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97;p13" descr="image.png">
            <a:extLst>
              <a:ext uri="{FF2B5EF4-FFF2-40B4-BE49-F238E27FC236}">
                <a16:creationId xmlns:a16="http://schemas.microsoft.com/office/drawing/2014/main" id="{512E4B9D-615A-4674-A54F-6889D95F45A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2625" y="5936079"/>
            <a:ext cx="771525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98;p13" descr="image.png">
            <a:extLst>
              <a:ext uri="{FF2B5EF4-FFF2-40B4-BE49-F238E27FC236}">
                <a16:creationId xmlns:a16="http://schemas.microsoft.com/office/drawing/2014/main" id="{C760612E-CB7C-4FC2-9858-5605881674D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2625" y="6936204"/>
            <a:ext cx="771525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99;p13" descr="image.png">
            <a:extLst>
              <a:ext uri="{FF2B5EF4-FFF2-40B4-BE49-F238E27FC236}">
                <a16:creationId xmlns:a16="http://schemas.microsoft.com/office/drawing/2014/main" id="{A9D5E2BC-DCEE-4B23-BDB2-B563C5CD90A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2625" y="7936329"/>
            <a:ext cx="771525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100;p13" descr="image.png">
            <a:extLst>
              <a:ext uri="{FF2B5EF4-FFF2-40B4-BE49-F238E27FC236}">
                <a16:creationId xmlns:a16="http://schemas.microsoft.com/office/drawing/2014/main" id="{C92B7BEE-E49C-4A11-90AA-B946C5ED47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2625" y="8936454"/>
            <a:ext cx="771525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101;p13" descr="image.png">
            <a:extLst>
              <a:ext uri="{FF2B5EF4-FFF2-40B4-BE49-F238E27FC236}">
                <a16:creationId xmlns:a16="http://schemas.microsoft.com/office/drawing/2014/main" id="{ECA7FDE1-67AB-4BE9-930F-615ACD48A45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00163" y="2035592"/>
            <a:ext cx="6286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102;p13" descr="image.png">
            <a:extLst>
              <a:ext uri="{FF2B5EF4-FFF2-40B4-BE49-F238E27FC236}">
                <a16:creationId xmlns:a16="http://schemas.microsoft.com/office/drawing/2014/main" id="{5FEA8AC2-BECA-4A36-BF2A-BB6A15551A5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00163" y="3035717"/>
            <a:ext cx="6286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103;p13" descr="image.png">
            <a:extLst>
              <a:ext uri="{FF2B5EF4-FFF2-40B4-BE49-F238E27FC236}">
                <a16:creationId xmlns:a16="http://schemas.microsoft.com/office/drawing/2014/main" id="{48140A14-26EB-4761-953F-71F4E3B48E4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00163" y="4035842"/>
            <a:ext cx="6286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104;p13" descr="image.png">
            <a:extLst>
              <a:ext uri="{FF2B5EF4-FFF2-40B4-BE49-F238E27FC236}">
                <a16:creationId xmlns:a16="http://schemas.microsoft.com/office/drawing/2014/main" id="{90DE38C1-DA76-4EC4-A635-CD31AB5B339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00163" y="5035967"/>
            <a:ext cx="6286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105;p13" descr="image.png">
            <a:extLst>
              <a:ext uri="{FF2B5EF4-FFF2-40B4-BE49-F238E27FC236}">
                <a16:creationId xmlns:a16="http://schemas.microsoft.com/office/drawing/2014/main" id="{73B18A99-F13F-46C0-AA31-7BA2A7F75A25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00163" y="6036092"/>
            <a:ext cx="6286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106;p13" descr="image.png">
            <a:extLst>
              <a:ext uri="{FF2B5EF4-FFF2-40B4-BE49-F238E27FC236}">
                <a16:creationId xmlns:a16="http://schemas.microsoft.com/office/drawing/2014/main" id="{3C3434B7-4FB0-4BEF-9BCD-1253082787B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300163" y="7036217"/>
            <a:ext cx="6286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107;p13" descr="image.png">
            <a:extLst>
              <a:ext uri="{FF2B5EF4-FFF2-40B4-BE49-F238E27FC236}">
                <a16:creationId xmlns:a16="http://schemas.microsoft.com/office/drawing/2014/main" id="{D733C4AF-D63E-4FB8-81E0-A6CFD215DB64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00163" y="8036342"/>
            <a:ext cx="6286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108;p13" descr="image.png">
            <a:extLst>
              <a:ext uri="{FF2B5EF4-FFF2-40B4-BE49-F238E27FC236}">
                <a16:creationId xmlns:a16="http://schemas.microsoft.com/office/drawing/2014/main" id="{9C2651B5-859B-4374-BE0D-9C928EEF38BC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300163" y="9036467"/>
            <a:ext cx="6286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109;p13" descr="image.png">
            <a:extLst>
              <a:ext uri="{FF2B5EF4-FFF2-40B4-BE49-F238E27FC236}">
                <a16:creationId xmlns:a16="http://schemas.microsoft.com/office/drawing/2014/main" id="{5BDC5058-9277-4111-A826-0380342C09C3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872663" y="2035592"/>
            <a:ext cx="6286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110;p13" descr="image.png">
            <a:extLst>
              <a:ext uri="{FF2B5EF4-FFF2-40B4-BE49-F238E27FC236}">
                <a16:creationId xmlns:a16="http://schemas.microsoft.com/office/drawing/2014/main" id="{B8DE5DFD-EF15-4BD1-BDEB-21481A09D600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872663" y="3035717"/>
            <a:ext cx="6286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111;p13" descr="image.png">
            <a:extLst>
              <a:ext uri="{FF2B5EF4-FFF2-40B4-BE49-F238E27FC236}">
                <a16:creationId xmlns:a16="http://schemas.microsoft.com/office/drawing/2014/main" id="{22DFB5C0-74D8-40A7-8AA8-B3210EA275F3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872663" y="4035842"/>
            <a:ext cx="6286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112;p13" descr="image.png">
            <a:extLst>
              <a:ext uri="{FF2B5EF4-FFF2-40B4-BE49-F238E27FC236}">
                <a16:creationId xmlns:a16="http://schemas.microsoft.com/office/drawing/2014/main" id="{E68A06CC-D794-4B93-9F6B-B4E770D9E522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872663" y="5035967"/>
            <a:ext cx="6286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113;p13" descr="image.png">
            <a:extLst>
              <a:ext uri="{FF2B5EF4-FFF2-40B4-BE49-F238E27FC236}">
                <a16:creationId xmlns:a16="http://schemas.microsoft.com/office/drawing/2014/main" id="{4647C02A-15D2-443F-81D6-5977181EB3DA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872663" y="6036092"/>
            <a:ext cx="6286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114;p13" descr="image.png">
            <a:extLst>
              <a:ext uri="{FF2B5EF4-FFF2-40B4-BE49-F238E27FC236}">
                <a16:creationId xmlns:a16="http://schemas.microsoft.com/office/drawing/2014/main" id="{93DAC71D-D374-46AA-8F9F-8D00BCAFB8A4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9872663" y="7036217"/>
            <a:ext cx="6286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115;p13" descr="image.png">
            <a:extLst>
              <a:ext uri="{FF2B5EF4-FFF2-40B4-BE49-F238E27FC236}">
                <a16:creationId xmlns:a16="http://schemas.microsoft.com/office/drawing/2014/main" id="{E504D755-98ED-4EAB-864A-CBA587B329E1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9872663" y="8036342"/>
            <a:ext cx="6286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116;p13" descr="image.png">
            <a:extLst>
              <a:ext uri="{FF2B5EF4-FFF2-40B4-BE49-F238E27FC236}">
                <a16:creationId xmlns:a16="http://schemas.microsoft.com/office/drawing/2014/main" id="{BDBD9B66-8961-4DF7-AC98-CA5B6794853B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9872663" y="9036467"/>
            <a:ext cx="62865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123;p13">
            <a:extLst>
              <a:ext uri="{FF2B5EF4-FFF2-40B4-BE49-F238E27FC236}">
                <a16:creationId xmlns:a16="http://schemas.microsoft.com/office/drawing/2014/main" id="{660B765B-A3B1-41E9-88E9-56B4F722882B}"/>
              </a:ext>
            </a:extLst>
          </p:cNvPr>
          <p:cNvSpPr txBox="1"/>
          <p:nvPr/>
        </p:nvSpPr>
        <p:spPr>
          <a:xfrm>
            <a:off x="2214563" y="2182707"/>
            <a:ext cx="1543050" cy="405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9925"/>
              </a:lnSpc>
            </a:pPr>
            <a:r>
              <a:rPr lang="en-US" sz="2025" b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오리엔테이션</a:t>
            </a:r>
            <a:endParaRPr sz="2700" b="1">
              <a:latin typeface="+mj-ea"/>
              <a:ea typeface="+mj-ea"/>
            </a:endParaRPr>
          </a:p>
        </p:txBody>
      </p:sp>
      <p:sp>
        <p:nvSpPr>
          <p:cNvPr id="51" name="Google Shape;124;p13">
            <a:extLst>
              <a:ext uri="{FF2B5EF4-FFF2-40B4-BE49-F238E27FC236}">
                <a16:creationId xmlns:a16="http://schemas.microsoft.com/office/drawing/2014/main" id="{6DD3D542-260E-435E-858F-7C15CFA78675}"/>
              </a:ext>
            </a:extLst>
          </p:cNvPr>
          <p:cNvSpPr txBox="1"/>
          <p:nvPr/>
        </p:nvSpPr>
        <p:spPr>
          <a:xfrm>
            <a:off x="2214563" y="3182832"/>
            <a:ext cx="1829022" cy="405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9925"/>
              </a:lnSpc>
            </a:pPr>
            <a:r>
              <a:rPr lang="en-US" sz="2025" b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취업목표 설정 1</a:t>
            </a:r>
            <a:endParaRPr sz="2700" b="1">
              <a:latin typeface="+mj-ea"/>
              <a:ea typeface="+mj-ea"/>
            </a:endParaRPr>
          </a:p>
        </p:txBody>
      </p:sp>
      <p:sp>
        <p:nvSpPr>
          <p:cNvPr id="52" name="Google Shape;125;p13">
            <a:extLst>
              <a:ext uri="{FF2B5EF4-FFF2-40B4-BE49-F238E27FC236}">
                <a16:creationId xmlns:a16="http://schemas.microsoft.com/office/drawing/2014/main" id="{99A04426-FC79-4D2A-83A6-DDBA4746A845}"/>
              </a:ext>
            </a:extLst>
          </p:cNvPr>
          <p:cNvSpPr txBox="1"/>
          <p:nvPr/>
        </p:nvSpPr>
        <p:spPr>
          <a:xfrm>
            <a:off x="2214563" y="4182957"/>
            <a:ext cx="1829022" cy="405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9925"/>
              </a:lnSpc>
            </a:pPr>
            <a:r>
              <a:rPr lang="en-US" sz="2025" b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취업목표 설정 2</a:t>
            </a:r>
            <a:endParaRPr sz="2700" b="1">
              <a:latin typeface="+mj-ea"/>
              <a:ea typeface="+mj-ea"/>
            </a:endParaRPr>
          </a:p>
        </p:txBody>
      </p:sp>
      <p:sp>
        <p:nvSpPr>
          <p:cNvPr id="53" name="Google Shape;126;p13">
            <a:extLst>
              <a:ext uri="{FF2B5EF4-FFF2-40B4-BE49-F238E27FC236}">
                <a16:creationId xmlns:a16="http://schemas.microsoft.com/office/drawing/2014/main" id="{1F0C95E0-7E3B-4B0B-8FE2-4B392CD8E680}"/>
              </a:ext>
            </a:extLst>
          </p:cNvPr>
          <p:cNvSpPr txBox="1"/>
          <p:nvPr/>
        </p:nvSpPr>
        <p:spPr>
          <a:xfrm>
            <a:off x="2214563" y="5183082"/>
            <a:ext cx="2129060" cy="405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9925"/>
              </a:lnSpc>
            </a:pPr>
            <a:r>
              <a:rPr lang="en-US" sz="2025" b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청년고용정책 활용</a:t>
            </a:r>
            <a:endParaRPr sz="2700" b="1">
              <a:latin typeface="+mj-ea"/>
              <a:ea typeface="+mj-ea"/>
            </a:endParaRPr>
          </a:p>
        </p:txBody>
      </p:sp>
      <p:sp>
        <p:nvSpPr>
          <p:cNvPr id="54" name="Google Shape;127;p13">
            <a:extLst>
              <a:ext uri="{FF2B5EF4-FFF2-40B4-BE49-F238E27FC236}">
                <a16:creationId xmlns:a16="http://schemas.microsoft.com/office/drawing/2014/main" id="{1CFDEEE2-4404-4CC2-8721-097925972F4C}"/>
              </a:ext>
            </a:extLst>
          </p:cNvPr>
          <p:cNvSpPr txBox="1"/>
          <p:nvPr/>
        </p:nvSpPr>
        <p:spPr>
          <a:xfrm>
            <a:off x="2214563" y="6183207"/>
            <a:ext cx="2086197" cy="405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9925"/>
              </a:lnSpc>
            </a:pPr>
            <a:r>
              <a:rPr lang="en-US" sz="2025" b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입사지원서 작성 1</a:t>
            </a:r>
            <a:endParaRPr sz="2700" b="1">
              <a:latin typeface="+mj-ea"/>
              <a:ea typeface="+mj-ea"/>
            </a:endParaRPr>
          </a:p>
        </p:txBody>
      </p:sp>
      <p:sp>
        <p:nvSpPr>
          <p:cNvPr id="55" name="Google Shape;128;p13">
            <a:extLst>
              <a:ext uri="{FF2B5EF4-FFF2-40B4-BE49-F238E27FC236}">
                <a16:creationId xmlns:a16="http://schemas.microsoft.com/office/drawing/2014/main" id="{171FA1EB-8131-4230-961A-A8C9C03CB7A1}"/>
              </a:ext>
            </a:extLst>
          </p:cNvPr>
          <p:cNvSpPr txBox="1"/>
          <p:nvPr/>
        </p:nvSpPr>
        <p:spPr>
          <a:xfrm>
            <a:off x="2214563" y="7031975"/>
            <a:ext cx="3424237" cy="810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9925"/>
              </a:lnSpc>
            </a:pPr>
            <a:r>
              <a:rPr lang="en-US" sz="2025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입사지원서</a:t>
            </a:r>
            <a:r>
              <a:rPr lang="en-US" sz="2025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25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작성</a:t>
            </a:r>
            <a:r>
              <a:rPr lang="en-US" sz="2025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2 </a:t>
            </a:r>
          </a:p>
          <a:p>
            <a:pPr>
              <a:lnSpc>
                <a:spcPct val="129925"/>
              </a:lnSpc>
            </a:pPr>
            <a:r>
              <a:rPr lang="en-US" sz="2025" b="1" dirty="0">
                <a:solidFill>
                  <a:srgbClr val="64748B"/>
                </a:solidFill>
                <a:latin typeface="+mj-ea"/>
                <a:ea typeface="+mj-ea"/>
                <a:cs typeface="Arial"/>
                <a:sym typeface="Arial"/>
              </a:rPr>
              <a:t>(13주까지 </a:t>
            </a:r>
            <a:r>
              <a:rPr lang="en-US" sz="2025" b="1" dirty="0" err="1">
                <a:solidFill>
                  <a:srgbClr val="64748B"/>
                </a:solidFill>
                <a:latin typeface="+mj-ea"/>
                <a:ea typeface="+mj-ea"/>
                <a:cs typeface="Arial"/>
                <a:sym typeface="Arial"/>
              </a:rPr>
              <a:t>완성</a:t>
            </a:r>
            <a:r>
              <a:rPr lang="en-US" sz="2025" b="1" dirty="0">
                <a:solidFill>
                  <a:srgbClr val="64748B"/>
                </a:solidFill>
                <a:latin typeface="+mj-ea"/>
                <a:ea typeface="+mj-ea"/>
                <a:cs typeface="Arial"/>
                <a:sym typeface="Arial"/>
              </a:rPr>
              <a:t> 후 </a:t>
            </a:r>
            <a:r>
              <a:rPr lang="en-US" sz="2025" b="1" dirty="0" err="1">
                <a:solidFill>
                  <a:srgbClr val="64748B"/>
                </a:solidFill>
                <a:latin typeface="+mj-ea"/>
                <a:ea typeface="+mj-ea"/>
                <a:cs typeface="Arial"/>
                <a:sym typeface="Arial"/>
              </a:rPr>
              <a:t>서류지원</a:t>
            </a:r>
            <a:r>
              <a:rPr lang="en-US" sz="2025" b="1" dirty="0">
                <a:solidFill>
                  <a:srgbClr val="64748B"/>
                </a:solidFill>
                <a:latin typeface="+mj-ea"/>
                <a:ea typeface="+mj-ea"/>
                <a:cs typeface="Arial"/>
                <a:sym typeface="Arial"/>
              </a:rPr>
              <a:t>)</a:t>
            </a:r>
            <a:endParaRPr sz="2700" b="1" dirty="0">
              <a:latin typeface="+mj-ea"/>
              <a:ea typeface="+mj-ea"/>
            </a:endParaRPr>
          </a:p>
        </p:txBody>
      </p:sp>
      <p:sp>
        <p:nvSpPr>
          <p:cNvPr id="56" name="Google Shape;129;p13">
            <a:extLst>
              <a:ext uri="{FF2B5EF4-FFF2-40B4-BE49-F238E27FC236}">
                <a16:creationId xmlns:a16="http://schemas.microsoft.com/office/drawing/2014/main" id="{71926107-0557-480B-82C4-310FEA53C23B}"/>
              </a:ext>
            </a:extLst>
          </p:cNvPr>
          <p:cNvSpPr txBox="1"/>
          <p:nvPr/>
        </p:nvSpPr>
        <p:spPr>
          <a:xfrm>
            <a:off x="2214563" y="8183457"/>
            <a:ext cx="3229197" cy="405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9925"/>
              </a:lnSpc>
            </a:pPr>
            <a:r>
              <a:rPr lang="en-US" sz="2025" b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기업채용시험 및 AI역량검사</a:t>
            </a:r>
            <a:endParaRPr sz="2700" b="1">
              <a:latin typeface="+mj-ea"/>
              <a:ea typeface="+mj-ea"/>
            </a:endParaRPr>
          </a:p>
        </p:txBody>
      </p:sp>
      <p:sp>
        <p:nvSpPr>
          <p:cNvPr id="57" name="Google Shape;130;p13">
            <a:extLst>
              <a:ext uri="{FF2B5EF4-FFF2-40B4-BE49-F238E27FC236}">
                <a16:creationId xmlns:a16="http://schemas.microsoft.com/office/drawing/2014/main" id="{D54B70A7-E301-45D2-B56D-5B3A04EF77E9}"/>
              </a:ext>
            </a:extLst>
          </p:cNvPr>
          <p:cNvSpPr txBox="1"/>
          <p:nvPr/>
        </p:nvSpPr>
        <p:spPr>
          <a:xfrm>
            <a:off x="2214563" y="9183582"/>
            <a:ext cx="3629247" cy="405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9925"/>
              </a:lnSpc>
            </a:pPr>
            <a:r>
              <a:rPr lang="en-US" sz="2025" b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필수과제 초안 작성 및 상담계획</a:t>
            </a:r>
            <a:endParaRPr sz="2700" b="1">
              <a:latin typeface="+mj-ea"/>
              <a:ea typeface="+mj-ea"/>
            </a:endParaRPr>
          </a:p>
        </p:txBody>
      </p:sp>
      <p:sp>
        <p:nvSpPr>
          <p:cNvPr id="58" name="Google Shape;131;p13">
            <a:extLst>
              <a:ext uri="{FF2B5EF4-FFF2-40B4-BE49-F238E27FC236}">
                <a16:creationId xmlns:a16="http://schemas.microsoft.com/office/drawing/2014/main" id="{66077ACA-1A8B-44DE-8E8C-B9A1CBA92F9B}"/>
              </a:ext>
            </a:extLst>
          </p:cNvPr>
          <p:cNvSpPr txBox="1"/>
          <p:nvPr/>
        </p:nvSpPr>
        <p:spPr>
          <a:xfrm>
            <a:off x="10787063" y="2182707"/>
            <a:ext cx="3300635" cy="405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9925"/>
              </a:lnSpc>
            </a:pPr>
            <a:r>
              <a:rPr lang="en-US" sz="2025" b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비즈니스의 이해 및 역량강화</a:t>
            </a:r>
            <a:endParaRPr sz="2700" b="1">
              <a:latin typeface="+mj-ea"/>
              <a:ea typeface="+mj-ea"/>
            </a:endParaRPr>
          </a:p>
        </p:txBody>
      </p:sp>
      <p:sp>
        <p:nvSpPr>
          <p:cNvPr id="59" name="Google Shape;132;p13">
            <a:extLst>
              <a:ext uri="{FF2B5EF4-FFF2-40B4-BE49-F238E27FC236}">
                <a16:creationId xmlns:a16="http://schemas.microsoft.com/office/drawing/2014/main" id="{333C12CC-3698-4398-A4F1-A87B539E9F60}"/>
              </a:ext>
            </a:extLst>
          </p:cNvPr>
          <p:cNvSpPr txBox="1"/>
          <p:nvPr/>
        </p:nvSpPr>
        <p:spPr>
          <a:xfrm>
            <a:off x="10787063" y="3031475"/>
            <a:ext cx="4000722" cy="810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9925"/>
              </a:lnSpc>
            </a:pPr>
            <a:r>
              <a:rPr lang="en-US" sz="2025" b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한밭핵심역량진단 및 직업역량진단 </a:t>
            </a:r>
            <a:r>
              <a:rPr lang="en-US" sz="2025" b="1">
                <a:solidFill>
                  <a:srgbClr val="64748B"/>
                </a:solidFill>
                <a:latin typeface="+mj-ea"/>
                <a:ea typeface="+mj-ea"/>
                <a:cs typeface="Arial"/>
                <a:sym typeface="Arial"/>
              </a:rPr>
              <a:t>(H-UP시스템)</a:t>
            </a:r>
            <a:endParaRPr sz="2700" b="1">
              <a:latin typeface="+mj-ea"/>
              <a:ea typeface="+mj-ea"/>
            </a:endParaRPr>
          </a:p>
        </p:txBody>
      </p:sp>
      <p:sp>
        <p:nvSpPr>
          <p:cNvPr id="60" name="Google Shape;133;p13">
            <a:extLst>
              <a:ext uri="{FF2B5EF4-FFF2-40B4-BE49-F238E27FC236}">
                <a16:creationId xmlns:a16="http://schemas.microsoft.com/office/drawing/2014/main" id="{974160F9-7BB4-4DE0-B3A3-275C7F6B84D4}"/>
              </a:ext>
            </a:extLst>
          </p:cNvPr>
          <p:cNvSpPr txBox="1"/>
          <p:nvPr/>
        </p:nvSpPr>
        <p:spPr>
          <a:xfrm>
            <a:off x="10787063" y="4182957"/>
            <a:ext cx="1829022" cy="405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9925"/>
              </a:lnSpc>
            </a:pPr>
            <a:r>
              <a:rPr lang="en-US" sz="2025" b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면접전형 이해 1</a:t>
            </a:r>
            <a:endParaRPr sz="2700" b="1">
              <a:latin typeface="+mj-ea"/>
              <a:ea typeface="+mj-ea"/>
            </a:endParaRPr>
          </a:p>
        </p:txBody>
      </p:sp>
      <p:sp>
        <p:nvSpPr>
          <p:cNvPr id="61" name="Google Shape;134;p13">
            <a:extLst>
              <a:ext uri="{FF2B5EF4-FFF2-40B4-BE49-F238E27FC236}">
                <a16:creationId xmlns:a16="http://schemas.microsoft.com/office/drawing/2014/main" id="{11103105-4B0C-4BC9-A54C-630D090262EA}"/>
              </a:ext>
            </a:extLst>
          </p:cNvPr>
          <p:cNvSpPr txBox="1"/>
          <p:nvPr/>
        </p:nvSpPr>
        <p:spPr>
          <a:xfrm>
            <a:off x="10787063" y="5183082"/>
            <a:ext cx="1829022" cy="405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9925"/>
              </a:lnSpc>
            </a:pPr>
            <a:r>
              <a:rPr lang="en-US" sz="2025" b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면접전형 이해 2</a:t>
            </a:r>
            <a:endParaRPr sz="2700" b="1">
              <a:latin typeface="+mj-ea"/>
              <a:ea typeface="+mj-ea"/>
            </a:endParaRPr>
          </a:p>
        </p:txBody>
      </p:sp>
      <p:sp>
        <p:nvSpPr>
          <p:cNvPr id="62" name="Google Shape;135;p13">
            <a:extLst>
              <a:ext uri="{FF2B5EF4-FFF2-40B4-BE49-F238E27FC236}">
                <a16:creationId xmlns:a16="http://schemas.microsoft.com/office/drawing/2014/main" id="{4DD2B42C-7B80-4257-9CE1-E87BD851F9AD}"/>
              </a:ext>
            </a:extLst>
          </p:cNvPr>
          <p:cNvSpPr txBox="1"/>
          <p:nvPr/>
        </p:nvSpPr>
        <p:spPr>
          <a:xfrm>
            <a:off x="10787063" y="6183207"/>
            <a:ext cx="4943921" cy="405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9925"/>
              </a:lnSpc>
            </a:pPr>
            <a:r>
              <a:rPr lang="en-US" sz="2025" b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실전 입사지원 및 1분 자기소개 발표와 상담</a:t>
            </a:r>
            <a:endParaRPr sz="2700" b="1">
              <a:latin typeface="+mj-ea"/>
              <a:ea typeface="+mj-ea"/>
            </a:endParaRPr>
          </a:p>
        </p:txBody>
      </p:sp>
      <p:sp>
        <p:nvSpPr>
          <p:cNvPr id="63" name="Google Shape;136;p13">
            <a:extLst>
              <a:ext uri="{FF2B5EF4-FFF2-40B4-BE49-F238E27FC236}">
                <a16:creationId xmlns:a16="http://schemas.microsoft.com/office/drawing/2014/main" id="{29258AE8-99B6-42CD-AF10-04C57BAD7651}"/>
              </a:ext>
            </a:extLst>
          </p:cNvPr>
          <p:cNvSpPr txBox="1"/>
          <p:nvPr/>
        </p:nvSpPr>
        <p:spPr>
          <a:xfrm>
            <a:off x="10787063" y="7183332"/>
            <a:ext cx="3000597" cy="405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9925"/>
              </a:lnSpc>
            </a:pPr>
            <a:r>
              <a:rPr lang="en-US" sz="2025" b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입사지원서 제출 및 상담 1</a:t>
            </a:r>
            <a:endParaRPr sz="2700" b="1">
              <a:latin typeface="+mj-ea"/>
              <a:ea typeface="+mj-ea"/>
            </a:endParaRPr>
          </a:p>
        </p:txBody>
      </p:sp>
      <p:sp>
        <p:nvSpPr>
          <p:cNvPr id="64" name="Google Shape;137;p13">
            <a:extLst>
              <a:ext uri="{FF2B5EF4-FFF2-40B4-BE49-F238E27FC236}">
                <a16:creationId xmlns:a16="http://schemas.microsoft.com/office/drawing/2014/main" id="{DB163305-A86C-4735-A709-A76EC94F82EF}"/>
              </a:ext>
            </a:extLst>
          </p:cNvPr>
          <p:cNvSpPr txBox="1"/>
          <p:nvPr/>
        </p:nvSpPr>
        <p:spPr>
          <a:xfrm>
            <a:off x="10787063" y="8183457"/>
            <a:ext cx="3000597" cy="405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9925"/>
              </a:lnSpc>
            </a:pPr>
            <a:r>
              <a:rPr lang="en-US" sz="2025" b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입사지원서 제출 및 상담 2</a:t>
            </a:r>
            <a:endParaRPr sz="2700" b="1">
              <a:latin typeface="+mj-ea"/>
              <a:ea typeface="+mj-ea"/>
            </a:endParaRPr>
          </a:p>
        </p:txBody>
      </p:sp>
      <p:sp>
        <p:nvSpPr>
          <p:cNvPr id="65" name="Google Shape;138;p13">
            <a:extLst>
              <a:ext uri="{FF2B5EF4-FFF2-40B4-BE49-F238E27FC236}">
                <a16:creationId xmlns:a16="http://schemas.microsoft.com/office/drawing/2014/main" id="{A4C6F5CC-8E96-4741-AE66-6B5378EDE883}"/>
              </a:ext>
            </a:extLst>
          </p:cNvPr>
          <p:cNvSpPr txBox="1"/>
          <p:nvPr/>
        </p:nvSpPr>
        <p:spPr>
          <a:xfrm>
            <a:off x="10787063" y="9183582"/>
            <a:ext cx="4472210" cy="405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9925"/>
              </a:lnSpc>
            </a:pPr>
            <a:r>
              <a:rPr lang="en-US" sz="2025" b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정보탐색 사이트 및 우리지역 기업 정보</a:t>
            </a:r>
            <a:endParaRPr sz="2700" b="1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91134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6" name="TextBox 3">
            <a:extLst>
              <a:ext uri="{FF2B5EF4-FFF2-40B4-BE49-F238E27FC236}">
                <a16:creationId xmlns:a16="http://schemas.microsoft.com/office/drawing/2014/main" id="{408C96A8-D486-4AA9-9D08-6784CFCE6F53}"/>
              </a:ext>
            </a:extLst>
          </p:cNvPr>
          <p:cNvSpPr txBox="1"/>
          <p:nvPr/>
        </p:nvSpPr>
        <p:spPr>
          <a:xfrm>
            <a:off x="1483499" y="724719"/>
            <a:ext cx="107569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800" b="1" spc="-100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필수과제 안내</a:t>
            </a:r>
            <a:endParaRPr lang="en-US" sz="4800" b="1" i="0" u="none" strike="noStrike" spc="-100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B993FFB-FE35-4B1A-9121-0FE40A8425F4}"/>
              </a:ext>
            </a:extLst>
          </p:cNvPr>
          <p:cNvSpPr/>
          <p:nvPr/>
        </p:nvSpPr>
        <p:spPr bwMode="auto">
          <a:xfrm>
            <a:off x="1017551" y="2664859"/>
            <a:ext cx="14636139" cy="7024824"/>
          </a:xfrm>
          <a:prstGeom prst="rect">
            <a:avLst/>
          </a:prstGeom>
          <a:noFill/>
          <a:ln w="9525" cap="flat" cmpd="sng" algn="ctr">
            <a:solidFill>
              <a:srgbClr val="CECEC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2592" eaLnBrk="1" latinLnBrk="1" hangingPunct="1"/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16" name="Freeform 16">
            <a:extLst>
              <a:ext uri="{FF2B5EF4-FFF2-40B4-BE49-F238E27FC236}">
                <a16:creationId xmlns:a16="http://schemas.microsoft.com/office/drawing/2014/main" id="{9C95DD68-3380-4A06-9962-A1E310A7EB8A}"/>
              </a:ext>
            </a:extLst>
          </p:cNvPr>
          <p:cNvSpPr/>
          <p:nvPr/>
        </p:nvSpPr>
        <p:spPr>
          <a:xfrm>
            <a:off x="15070629" y="5676900"/>
            <a:ext cx="2991383" cy="3550807"/>
          </a:xfrm>
          <a:custGeom>
            <a:avLst/>
            <a:gdLst/>
            <a:ahLst/>
            <a:cxnLst/>
            <a:rect l="l" t="t" r="r" b="b"/>
            <a:pathLst>
              <a:path w="4794124" h="5504735">
                <a:moveTo>
                  <a:pt x="0" y="0"/>
                </a:moveTo>
                <a:lnTo>
                  <a:pt x="4794124" y="0"/>
                </a:lnTo>
                <a:lnTo>
                  <a:pt x="4794124" y="5504735"/>
                </a:lnTo>
                <a:lnTo>
                  <a:pt x="0" y="5504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6" name="Group 7">
            <a:extLst>
              <a:ext uri="{FF2B5EF4-FFF2-40B4-BE49-F238E27FC236}">
                <a16:creationId xmlns:a16="http://schemas.microsoft.com/office/drawing/2014/main" id="{E066A7C6-AD9D-488D-A7FD-22723BB5F7C3}"/>
              </a:ext>
            </a:extLst>
          </p:cNvPr>
          <p:cNvGrpSpPr/>
          <p:nvPr/>
        </p:nvGrpSpPr>
        <p:grpSpPr>
          <a:xfrm>
            <a:off x="1042951" y="1039480"/>
            <a:ext cx="122092" cy="590205"/>
            <a:chOff x="0" y="0"/>
            <a:chExt cx="444637" cy="309271"/>
          </a:xfrm>
          <a:solidFill>
            <a:schemeClr val="accent6">
              <a:lumMod val="50000"/>
            </a:schemeClr>
          </a:solidFill>
        </p:grpSpPr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62D09888-3543-45D9-86CB-C6DC81C6E00F}"/>
                </a:ext>
              </a:extLst>
            </p:cNvPr>
            <p:cNvSpPr/>
            <p:nvPr/>
          </p:nvSpPr>
          <p:spPr>
            <a:xfrm>
              <a:off x="0" y="0"/>
              <a:ext cx="444637" cy="309271"/>
            </a:xfrm>
            <a:custGeom>
              <a:avLst/>
              <a:gdLst/>
              <a:ahLst/>
              <a:cxnLst/>
              <a:rect l="l" t="t" r="r" b="b"/>
              <a:pathLst>
                <a:path w="444637" h="309271">
                  <a:moveTo>
                    <a:pt x="0" y="0"/>
                  </a:moveTo>
                  <a:lnTo>
                    <a:pt x="444637" y="0"/>
                  </a:lnTo>
                  <a:lnTo>
                    <a:pt x="444637" y="309271"/>
                  </a:lnTo>
                  <a:lnTo>
                    <a:pt x="0" y="30927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9">
              <a:extLst>
                <a:ext uri="{FF2B5EF4-FFF2-40B4-BE49-F238E27FC236}">
                  <a16:creationId xmlns:a16="http://schemas.microsoft.com/office/drawing/2014/main" id="{9BB09223-D3FC-4B01-88DB-F228C2FBB413}"/>
                </a:ext>
              </a:extLst>
            </p:cNvPr>
            <p:cNvSpPr txBox="1"/>
            <p:nvPr/>
          </p:nvSpPr>
          <p:spPr>
            <a:xfrm>
              <a:off x="0" y="-66675"/>
              <a:ext cx="444637" cy="37594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2"/>
                </a:lnSpc>
              </a:pPr>
              <a:endParaRPr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sp>
        <p:nvSpPr>
          <p:cNvPr id="17" name="TextBox 7"/>
          <p:cNvSpPr txBox="1"/>
          <p:nvPr/>
        </p:nvSpPr>
        <p:spPr>
          <a:xfrm>
            <a:off x="14173200" y="664298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520CE44-1D8C-4F37-9CB0-78C35453A17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683189" y="9632434"/>
            <a:ext cx="205043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p.8~9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C084E40-A232-4909-B1CA-ADD195331C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043" y="2835343"/>
            <a:ext cx="5486400" cy="6683855"/>
          </a:xfrm>
          <a:prstGeom prst="rect">
            <a:avLst/>
          </a:prstGeom>
        </p:spPr>
      </p:pic>
      <p:pic>
        <p:nvPicPr>
          <p:cNvPr id="30" name="Google Shape;86;p13" descr="image.png">
            <a:extLst>
              <a:ext uri="{FF2B5EF4-FFF2-40B4-BE49-F238E27FC236}">
                <a16:creationId xmlns:a16="http://schemas.microsoft.com/office/drawing/2014/main" id="{79BC5153-34FB-49E7-8DC3-EED5A379AF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91596" y="3694971"/>
            <a:ext cx="7438803" cy="4193074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93;p13">
            <a:extLst>
              <a:ext uri="{FF2B5EF4-FFF2-40B4-BE49-F238E27FC236}">
                <a16:creationId xmlns:a16="http://schemas.microsoft.com/office/drawing/2014/main" id="{D268E16F-8A79-4951-B271-39A1559379FC}"/>
              </a:ext>
            </a:extLst>
          </p:cNvPr>
          <p:cNvSpPr txBox="1"/>
          <p:nvPr/>
        </p:nvSpPr>
        <p:spPr>
          <a:xfrm>
            <a:off x="7775990" y="4125352"/>
            <a:ext cx="10151346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050" tIns="0" rIns="0" bIns="0" anchor="t" anchorCtr="0">
            <a:spAutoFit/>
          </a:bodyPr>
          <a:lstStyle/>
          <a:p>
            <a:r>
              <a:rPr lang="en-US" sz="3150" b="1" dirty="0" err="1">
                <a:solidFill>
                  <a:srgbClr val="C00000"/>
                </a:solidFill>
                <a:latin typeface="Noto Sans KR"/>
                <a:ea typeface="Noto Sans KR"/>
                <a:cs typeface="Noto Sans KR"/>
                <a:sym typeface="Noto Sans KR"/>
              </a:rPr>
              <a:t>PASS를</a:t>
            </a:r>
            <a:r>
              <a:rPr lang="en-US" sz="3150" b="1" dirty="0">
                <a:solidFill>
                  <a:srgbClr val="C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150" b="1" dirty="0" err="1">
                <a:solidFill>
                  <a:srgbClr val="C00000"/>
                </a:solidFill>
                <a:latin typeface="Noto Sans KR"/>
                <a:ea typeface="Noto Sans KR"/>
                <a:cs typeface="Noto Sans KR"/>
                <a:sym typeface="Noto Sans KR"/>
              </a:rPr>
              <a:t>위한</a:t>
            </a:r>
            <a:r>
              <a:rPr lang="en-US" sz="3150" b="1" dirty="0">
                <a:solidFill>
                  <a:srgbClr val="C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150" b="1" dirty="0" err="1">
                <a:solidFill>
                  <a:srgbClr val="C00000"/>
                </a:solidFill>
                <a:latin typeface="Noto Sans KR"/>
                <a:ea typeface="Noto Sans KR"/>
                <a:cs typeface="Noto Sans KR"/>
                <a:sym typeface="Noto Sans KR"/>
              </a:rPr>
              <a:t>필수</a:t>
            </a:r>
            <a:r>
              <a:rPr lang="en-US" sz="3150" b="1" dirty="0">
                <a:solidFill>
                  <a:srgbClr val="C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150" b="1" dirty="0" err="1">
                <a:solidFill>
                  <a:srgbClr val="C00000"/>
                </a:solidFill>
                <a:latin typeface="Noto Sans KR"/>
                <a:ea typeface="Noto Sans KR"/>
                <a:cs typeface="Noto Sans KR"/>
                <a:sym typeface="Noto Sans KR"/>
              </a:rPr>
              <a:t>조건</a:t>
            </a:r>
            <a:endParaRPr sz="2700" b="1" dirty="0">
              <a:solidFill>
                <a:srgbClr val="C00000"/>
              </a:solidFill>
            </a:endParaRPr>
          </a:p>
        </p:txBody>
      </p:sp>
      <p:sp>
        <p:nvSpPr>
          <p:cNvPr id="32" name="Google Shape;94;p13">
            <a:extLst>
              <a:ext uri="{FF2B5EF4-FFF2-40B4-BE49-F238E27FC236}">
                <a16:creationId xmlns:a16="http://schemas.microsoft.com/office/drawing/2014/main" id="{959562C0-2372-4443-B15D-BC6D1681B13A}"/>
              </a:ext>
            </a:extLst>
          </p:cNvPr>
          <p:cNvSpPr txBox="1"/>
          <p:nvPr/>
        </p:nvSpPr>
        <p:spPr>
          <a:xfrm>
            <a:off x="7688749" y="7012732"/>
            <a:ext cx="9667949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25" dirty="0">
                <a:solidFill>
                  <a:srgbClr val="BE123C"/>
                </a:solidFill>
                <a:latin typeface="Noto Sans KR"/>
                <a:ea typeface="Noto Sans KR"/>
                <a:cs typeface="Noto Sans KR"/>
                <a:sym typeface="Noto Sans KR"/>
              </a:rPr>
              <a:t>※ </a:t>
            </a:r>
            <a:r>
              <a:rPr lang="en-US" sz="2025" dirty="0" err="1">
                <a:solidFill>
                  <a:srgbClr val="BE123C"/>
                </a:solidFill>
                <a:latin typeface="Noto Sans KR"/>
                <a:ea typeface="Noto Sans KR"/>
                <a:cs typeface="Noto Sans KR"/>
                <a:sym typeface="Noto Sans KR"/>
              </a:rPr>
              <a:t>미이행</a:t>
            </a:r>
            <a:r>
              <a:rPr lang="en-US" sz="2025" dirty="0">
                <a:solidFill>
                  <a:srgbClr val="BE123C"/>
                </a:solidFill>
                <a:latin typeface="Noto Sans KR"/>
                <a:ea typeface="Noto Sans KR"/>
                <a:cs typeface="Noto Sans KR"/>
                <a:sym typeface="Noto Sans KR"/>
              </a:rPr>
              <a:t> 시 FAIL(</a:t>
            </a:r>
            <a:r>
              <a:rPr lang="en-US" sz="2025" dirty="0" err="1">
                <a:solidFill>
                  <a:srgbClr val="BE123C"/>
                </a:solidFill>
                <a:latin typeface="Noto Sans KR"/>
                <a:ea typeface="Noto Sans KR"/>
                <a:cs typeface="Noto Sans KR"/>
                <a:sym typeface="Noto Sans KR"/>
              </a:rPr>
              <a:t>이수</a:t>
            </a:r>
            <a:r>
              <a:rPr lang="en-US" sz="2025" dirty="0">
                <a:solidFill>
                  <a:srgbClr val="BE123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25" dirty="0" err="1">
                <a:solidFill>
                  <a:srgbClr val="BE123C"/>
                </a:solidFill>
                <a:latin typeface="Noto Sans KR"/>
                <a:ea typeface="Noto Sans KR"/>
                <a:cs typeface="Noto Sans KR"/>
                <a:sym typeface="Noto Sans KR"/>
              </a:rPr>
              <a:t>불가</a:t>
            </a:r>
            <a:r>
              <a:rPr lang="en-US" sz="2025" dirty="0">
                <a:solidFill>
                  <a:srgbClr val="BE123C"/>
                </a:solidFill>
                <a:latin typeface="Noto Sans KR"/>
                <a:ea typeface="Noto Sans KR"/>
                <a:cs typeface="Noto Sans KR"/>
                <a:sym typeface="Noto Sans KR"/>
              </a:rPr>
              <a:t>) </a:t>
            </a:r>
            <a:r>
              <a:rPr lang="en-US" sz="2025" dirty="0" err="1">
                <a:solidFill>
                  <a:srgbClr val="BE123C"/>
                </a:solidFill>
                <a:latin typeface="Noto Sans KR"/>
                <a:ea typeface="Noto Sans KR"/>
                <a:cs typeface="Noto Sans KR"/>
                <a:sym typeface="Noto Sans KR"/>
              </a:rPr>
              <a:t>처리됩니다</a:t>
            </a:r>
            <a:r>
              <a:rPr lang="en-US" sz="2025" dirty="0">
                <a:solidFill>
                  <a:srgbClr val="BE123C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sz="2700" dirty="0"/>
          </a:p>
        </p:txBody>
      </p:sp>
      <p:pic>
        <p:nvPicPr>
          <p:cNvPr id="33" name="Google Shape;95;p13" descr="image.png">
            <a:extLst>
              <a:ext uri="{FF2B5EF4-FFF2-40B4-BE49-F238E27FC236}">
                <a16:creationId xmlns:a16="http://schemas.microsoft.com/office/drawing/2014/main" id="{B1E28540-4974-487C-8D10-2160A554AA2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3963" y="4198108"/>
            <a:ext cx="30405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96;p13">
            <a:extLst>
              <a:ext uri="{FF2B5EF4-FFF2-40B4-BE49-F238E27FC236}">
                <a16:creationId xmlns:a16="http://schemas.microsoft.com/office/drawing/2014/main" id="{14EFA54A-CD0D-4A01-9539-36CBA329B0A6}"/>
              </a:ext>
            </a:extLst>
          </p:cNvPr>
          <p:cNvSpPr txBox="1"/>
          <p:nvPr/>
        </p:nvSpPr>
        <p:spPr>
          <a:xfrm>
            <a:off x="8053480" y="5050660"/>
            <a:ext cx="9238431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2475" dirty="0">
                <a:solidFill>
                  <a:srgbClr val="002060"/>
                </a:solidFill>
                <a:latin typeface="Noto Sans KR"/>
                <a:ea typeface="Noto Sans KR"/>
                <a:cs typeface="Noto Sans KR"/>
                <a:sym typeface="Noto Sans KR"/>
              </a:rPr>
              <a:t>1. </a:t>
            </a:r>
            <a:r>
              <a:rPr lang="en-US" sz="2475" dirty="0" err="1">
                <a:solidFill>
                  <a:srgbClr val="0050A0"/>
                </a:solidFill>
                <a:latin typeface="Noto Sans KR"/>
                <a:ea typeface="Noto Sans KR"/>
                <a:cs typeface="Noto Sans KR"/>
                <a:sym typeface="Noto Sans KR"/>
              </a:rPr>
              <a:t>교수</a:t>
            </a:r>
            <a:r>
              <a:rPr lang="en-US" sz="2475" dirty="0">
                <a:solidFill>
                  <a:srgbClr val="0050A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75" dirty="0" err="1">
                <a:solidFill>
                  <a:srgbClr val="0050A0"/>
                </a:solidFill>
                <a:latin typeface="Noto Sans KR"/>
                <a:ea typeface="Noto Sans KR"/>
                <a:cs typeface="Noto Sans KR"/>
                <a:sym typeface="Noto Sans KR"/>
              </a:rPr>
              <a:t>상담</a:t>
            </a:r>
            <a:r>
              <a:rPr lang="en-US" sz="2475" dirty="0">
                <a:solidFill>
                  <a:srgbClr val="002060"/>
                </a:solidFill>
                <a:latin typeface="Noto Sans KR"/>
                <a:ea typeface="Noto Sans KR"/>
                <a:cs typeface="Noto Sans KR"/>
                <a:sym typeface="Noto Sans KR"/>
              </a:rPr>
              <a:t> (1회 </a:t>
            </a:r>
            <a:r>
              <a:rPr lang="en-US" sz="2475" dirty="0" err="1">
                <a:solidFill>
                  <a:srgbClr val="002060"/>
                </a:solidFill>
                <a:latin typeface="Noto Sans KR"/>
                <a:ea typeface="Noto Sans KR"/>
                <a:cs typeface="Noto Sans KR"/>
                <a:sym typeface="Noto Sans KR"/>
              </a:rPr>
              <a:t>이상</a:t>
            </a:r>
            <a:r>
              <a:rPr lang="en-US" sz="2475" dirty="0">
                <a:solidFill>
                  <a:srgbClr val="00206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75" dirty="0" err="1">
                <a:solidFill>
                  <a:srgbClr val="002060"/>
                </a:solidFill>
                <a:latin typeface="Noto Sans KR"/>
                <a:ea typeface="Noto Sans KR"/>
                <a:cs typeface="Noto Sans KR"/>
                <a:sym typeface="Noto Sans KR"/>
              </a:rPr>
              <a:t>필수</a:t>
            </a:r>
            <a:r>
              <a:rPr lang="en-US" sz="2475" dirty="0">
                <a:solidFill>
                  <a:srgbClr val="002060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sz="2700" dirty="0"/>
          </a:p>
        </p:txBody>
      </p:sp>
      <p:sp>
        <p:nvSpPr>
          <p:cNvPr id="35" name="Google Shape;97;p13">
            <a:extLst>
              <a:ext uri="{FF2B5EF4-FFF2-40B4-BE49-F238E27FC236}">
                <a16:creationId xmlns:a16="http://schemas.microsoft.com/office/drawing/2014/main" id="{72B5A157-7049-4B0E-B1CA-862173602DC9}"/>
              </a:ext>
            </a:extLst>
          </p:cNvPr>
          <p:cNvSpPr txBox="1"/>
          <p:nvPr/>
        </p:nvSpPr>
        <p:spPr>
          <a:xfrm>
            <a:off x="8053480" y="5693597"/>
            <a:ext cx="9238431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2475" dirty="0">
                <a:solidFill>
                  <a:srgbClr val="002060"/>
                </a:solidFill>
                <a:latin typeface="Noto Sans KR"/>
                <a:ea typeface="Noto Sans KR"/>
                <a:cs typeface="Noto Sans KR"/>
                <a:sym typeface="Noto Sans KR"/>
              </a:rPr>
              <a:t>2. </a:t>
            </a:r>
            <a:r>
              <a:rPr lang="ko-KR" altLang="en-US" sz="2475" dirty="0">
                <a:solidFill>
                  <a:srgbClr val="002060"/>
                </a:solidFill>
                <a:highlight>
                  <a:srgbClr val="D2D8E5"/>
                </a:highlight>
                <a:latin typeface="Noto Sans KR"/>
                <a:ea typeface="Noto Sans KR"/>
                <a:cs typeface="Noto Sans KR"/>
                <a:sym typeface="Noto Sans KR"/>
              </a:rPr>
              <a:t>이력서</a:t>
            </a:r>
            <a:r>
              <a:rPr lang="en-US" altLang="ko-KR" sz="2475" dirty="0">
                <a:solidFill>
                  <a:srgbClr val="002060"/>
                </a:solidFill>
                <a:highlight>
                  <a:srgbClr val="D2D8E5"/>
                </a:highlight>
                <a:latin typeface="Noto Sans KR"/>
                <a:ea typeface="Noto Sans KR"/>
                <a:cs typeface="Noto Sans KR"/>
                <a:sym typeface="Noto Sans KR"/>
              </a:rPr>
              <a:t>,</a:t>
            </a:r>
            <a:r>
              <a:rPr lang="ko-KR" altLang="en-US" sz="2475" dirty="0">
                <a:solidFill>
                  <a:srgbClr val="002060"/>
                </a:solidFill>
                <a:highlight>
                  <a:srgbClr val="D2D8E5"/>
                </a:highlight>
                <a:latin typeface="Noto Sans KR"/>
                <a:ea typeface="Noto Sans KR"/>
                <a:cs typeface="Noto Sans KR"/>
                <a:sym typeface="Noto Sans KR"/>
              </a:rPr>
              <a:t> 자기소개서 제출</a:t>
            </a:r>
            <a:r>
              <a:rPr lang="en-US" altLang="ko-KR" sz="2475" dirty="0">
                <a:solidFill>
                  <a:srgbClr val="002060"/>
                </a:solidFill>
                <a:highlight>
                  <a:srgbClr val="D2D8E5"/>
                </a:highlight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ko-KR" altLang="en-US" sz="2475" dirty="0">
                <a:solidFill>
                  <a:srgbClr val="002060"/>
                </a:solidFill>
                <a:highlight>
                  <a:srgbClr val="D2D8E5"/>
                </a:highlight>
                <a:latin typeface="Noto Sans KR"/>
                <a:ea typeface="Noto Sans KR"/>
                <a:cs typeface="Noto Sans KR"/>
                <a:sym typeface="Noto Sans KR"/>
              </a:rPr>
              <a:t>필수</a:t>
            </a:r>
            <a:r>
              <a:rPr lang="en-US" altLang="ko-KR" sz="2475" dirty="0">
                <a:solidFill>
                  <a:srgbClr val="002060"/>
                </a:solidFill>
                <a:highlight>
                  <a:srgbClr val="D2D8E5"/>
                </a:highlight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sz="2700" dirty="0">
              <a:highlight>
                <a:srgbClr val="D2D8E5"/>
              </a:highlight>
            </a:endParaRPr>
          </a:p>
        </p:txBody>
      </p:sp>
      <p:sp>
        <p:nvSpPr>
          <p:cNvPr id="38" name="Google Shape;99;p13">
            <a:extLst>
              <a:ext uri="{FF2B5EF4-FFF2-40B4-BE49-F238E27FC236}">
                <a16:creationId xmlns:a16="http://schemas.microsoft.com/office/drawing/2014/main" id="{4F7009DE-5B25-4DCE-9881-9F317177A0C0}"/>
              </a:ext>
            </a:extLst>
          </p:cNvPr>
          <p:cNvSpPr txBox="1"/>
          <p:nvPr/>
        </p:nvSpPr>
        <p:spPr>
          <a:xfrm>
            <a:off x="8053480" y="6335228"/>
            <a:ext cx="9238431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2475" dirty="0">
                <a:solidFill>
                  <a:srgbClr val="002060"/>
                </a:solidFill>
                <a:latin typeface="Noto Sans KR"/>
                <a:ea typeface="Noto Sans KR"/>
                <a:cs typeface="Noto Sans KR"/>
                <a:sym typeface="Noto Sans KR"/>
              </a:rPr>
              <a:t>4. </a:t>
            </a:r>
            <a:r>
              <a:rPr lang="ko-KR" altLang="en-US" sz="2475" dirty="0">
                <a:solidFill>
                  <a:srgbClr val="0050A0"/>
                </a:solidFill>
                <a:latin typeface="Noto Sans KR"/>
                <a:ea typeface="Noto Sans KR"/>
                <a:cs typeface="Noto Sans KR"/>
                <a:sym typeface="Noto Sans KR"/>
              </a:rPr>
              <a:t>대학일자리본부 컨설턴트 상담</a:t>
            </a:r>
            <a:r>
              <a:rPr lang="en-US" altLang="ko-KR" sz="2475" dirty="0">
                <a:solidFill>
                  <a:srgbClr val="0050A0"/>
                </a:solidFill>
                <a:latin typeface="Noto Sans KR"/>
                <a:ea typeface="Noto Sans KR"/>
                <a:cs typeface="Noto Sans KR"/>
                <a:sym typeface="Noto Sans KR"/>
              </a:rPr>
              <a:t>(2</a:t>
            </a:r>
            <a:r>
              <a:rPr lang="ko-KR" altLang="en-US" sz="2475" dirty="0">
                <a:solidFill>
                  <a:srgbClr val="0050A0"/>
                </a:solidFill>
                <a:latin typeface="Noto Sans KR"/>
                <a:ea typeface="Noto Sans KR"/>
                <a:cs typeface="Noto Sans KR"/>
                <a:sym typeface="Noto Sans KR"/>
              </a:rPr>
              <a:t>회 이상</a:t>
            </a:r>
            <a:r>
              <a:rPr lang="en-US" altLang="ko-KR" sz="2475" dirty="0">
                <a:solidFill>
                  <a:srgbClr val="0050A0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sz="2700" dirty="0"/>
          </a:p>
        </p:txBody>
      </p:sp>
      <p:pic>
        <p:nvPicPr>
          <p:cNvPr id="39" name="Google Shape;100;p13" descr="image.png">
            <a:extLst>
              <a:ext uri="{FF2B5EF4-FFF2-40B4-BE49-F238E27FC236}">
                <a16:creationId xmlns:a16="http://schemas.microsoft.com/office/drawing/2014/main" id="{041B5435-E450-4C31-A286-FF658A1D80D7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3962" y="5076790"/>
            <a:ext cx="215205" cy="328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101;p13" descr="image.png">
            <a:extLst>
              <a:ext uri="{FF2B5EF4-FFF2-40B4-BE49-F238E27FC236}">
                <a16:creationId xmlns:a16="http://schemas.microsoft.com/office/drawing/2014/main" id="{F7059E25-1CA5-4628-8C89-1EAA0B0927A0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3962" y="5719728"/>
            <a:ext cx="215205" cy="328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102;p13" descr="image.png">
            <a:extLst>
              <a:ext uri="{FF2B5EF4-FFF2-40B4-BE49-F238E27FC236}">
                <a16:creationId xmlns:a16="http://schemas.microsoft.com/office/drawing/2014/main" id="{FD78042A-8689-4EF8-921C-4614FFE76A65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23962" y="6362665"/>
            <a:ext cx="215205" cy="3286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776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F8005B58-4173-494C-B001-534AE8A2965F}"/>
              </a:ext>
            </a:extLst>
          </p:cNvPr>
          <p:cNvCxnSpPr>
            <a:cxnSpLocks/>
          </p:cNvCxnSpPr>
          <p:nvPr/>
        </p:nvCxnSpPr>
        <p:spPr>
          <a:xfrm>
            <a:off x="971550" y="9944100"/>
            <a:ext cx="1678305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id="{AF4898C7-20ED-40B2-9557-F33C4D2533B7}"/>
              </a:ext>
            </a:extLst>
          </p:cNvPr>
          <p:cNvGrpSpPr/>
          <p:nvPr/>
        </p:nvGrpSpPr>
        <p:grpSpPr>
          <a:xfrm>
            <a:off x="11124059" y="3384249"/>
            <a:ext cx="6984303" cy="6092409"/>
            <a:chOff x="11506200" y="2552700"/>
            <a:chExt cx="5778544" cy="5938556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4A09D13B-98F2-402C-BBE4-BF7A60DC25BD}"/>
                </a:ext>
              </a:extLst>
            </p:cNvPr>
            <p:cNvSpPr/>
            <p:nvPr/>
          </p:nvSpPr>
          <p:spPr>
            <a:xfrm>
              <a:off x="11734800" y="2781302"/>
              <a:ext cx="5549944" cy="5709954"/>
            </a:xfrm>
            <a:custGeom>
              <a:avLst/>
              <a:gdLst/>
              <a:ahLst/>
              <a:cxnLst/>
              <a:rect l="l" t="t" r="r" b="b"/>
              <a:pathLst>
                <a:path w="4178344" h="4185955">
                  <a:moveTo>
                    <a:pt x="0" y="0"/>
                  </a:moveTo>
                  <a:lnTo>
                    <a:pt x="4178345" y="0"/>
                  </a:lnTo>
                  <a:lnTo>
                    <a:pt x="4178345" y="4185955"/>
                  </a:lnTo>
                  <a:lnTo>
                    <a:pt x="0" y="4185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750AD5B-61F0-4F12-B093-AE3DB817DE84}"/>
                </a:ext>
              </a:extLst>
            </p:cNvPr>
            <p:cNvSpPr/>
            <p:nvPr/>
          </p:nvSpPr>
          <p:spPr>
            <a:xfrm>
              <a:off x="11506200" y="2552700"/>
              <a:ext cx="2971800" cy="24383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TextBox 12">
            <a:extLst>
              <a:ext uri="{FF2B5EF4-FFF2-40B4-BE49-F238E27FC236}">
                <a16:creationId xmlns:a16="http://schemas.microsoft.com/office/drawing/2014/main" id="{899571DC-E70C-46E9-8DFB-31A843627F24}"/>
              </a:ext>
            </a:extLst>
          </p:cNvPr>
          <p:cNvSpPr txBox="1"/>
          <p:nvPr/>
        </p:nvSpPr>
        <p:spPr>
          <a:xfrm>
            <a:off x="1588251" y="5053403"/>
            <a:ext cx="14057395" cy="1474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542"/>
              </a:lnSpc>
            </a:pPr>
            <a:r>
              <a:rPr lang="ko-KR" altLang="en-US" sz="9600" b="1" spc="-571" dirty="0">
                <a:solidFill>
                  <a:srgbClr val="524843"/>
                </a:solidFill>
                <a:latin typeface="+mj-ea"/>
                <a:ea typeface="+mj-ea"/>
                <a:cs typeface="210 도시락"/>
                <a:sym typeface="210 도시락"/>
              </a:rPr>
              <a:t>응원합니다</a:t>
            </a:r>
            <a:r>
              <a:rPr lang="en-US" altLang="ko-KR" sz="9600" b="1" spc="-571" dirty="0">
                <a:solidFill>
                  <a:srgbClr val="524843"/>
                </a:solidFill>
                <a:latin typeface="+mj-ea"/>
                <a:ea typeface="+mj-ea"/>
                <a:cs typeface="210 도시락"/>
                <a:sym typeface="210 도시락"/>
              </a:rPr>
              <a:t>.</a:t>
            </a:r>
            <a:endParaRPr lang="en-US" sz="9600" b="1" spc="-571" dirty="0">
              <a:solidFill>
                <a:srgbClr val="524843"/>
              </a:solidFill>
              <a:latin typeface="+mj-ea"/>
              <a:ea typeface="+mj-ea"/>
              <a:cs typeface="210 도시락"/>
              <a:sym typeface="210 도시락"/>
            </a:endParaRP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BD3FA91B-46D5-419B-875F-26E8B1A28A63}"/>
              </a:ext>
            </a:extLst>
          </p:cNvPr>
          <p:cNvSpPr txBox="1"/>
          <p:nvPr/>
        </p:nvSpPr>
        <p:spPr>
          <a:xfrm>
            <a:off x="1524000" y="3609261"/>
            <a:ext cx="14706600" cy="1360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542"/>
              </a:lnSpc>
            </a:pPr>
            <a:r>
              <a:rPr lang="ko-KR" altLang="en-US" sz="8800" b="1" spc="-571" dirty="0">
                <a:solidFill>
                  <a:srgbClr val="B3C1BE"/>
                </a:solidFill>
                <a:latin typeface="+mj-ea"/>
                <a:ea typeface="+mj-ea"/>
                <a:cs typeface="210 도시락"/>
                <a:sym typeface="210 도시락"/>
              </a:rPr>
              <a:t>여러분의 취업 성공을</a:t>
            </a:r>
            <a:endParaRPr lang="en-US" sz="8800" b="1" spc="-571" dirty="0">
              <a:solidFill>
                <a:srgbClr val="B3C1BE"/>
              </a:solidFill>
              <a:latin typeface="+mj-ea"/>
              <a:ea typeface="+mj-ea"/>
              <a:cs typeface="210 도시락"/>
              <a:sym typeface="210 도시락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3402C13-7587-45CB-8917-4FFACE6189DD}"/>
              </a:ext>
            </a:extLst>
          </p:cNvPr>
          <p:cNvCxnSpPr>
            <a:cxnSpLocks/>
          </p:cNvCxnSpPr>
          <p:nvPr/>
        </p:nvCxnSpPr>
        <p:spPr>
          <a:xfrm>
            <a:off x="4343400" y="591472"/>
            <a:ext cx="1321371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7">
            <a:extLst>
              <a:ext uri="{FF2B5EF4-FFF2-40B4-BE49-F238E27FC236}">
                <a16:creationId xmlns:a16="http://schemas.microsoft.com/office/drawing/2014/main" id="{894D6227-3C1C-4B2A-9775-1148C382D9D0}"/>
              </a:ext>
            </a:extLst>
          </p:cNvPr>
          <p:cNvSpPr txBox="1"/>
          <p:nvPr/>
        </p:nvSpPr>
        <p:spPr>
          <a:xfrm>
            <a:off x="781706" y="505380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래픽 2" descr="비둘기 윤곽선">
            <a:extLst>
              <a:ext uri="{FF2B5EF4-FFF2-40B4-BE49-F238E27FC236}">
                <a16:creationId xmlns:a16="http://schemas.microsoft.com/office/drawing/2014/main" id="{EFF2BA02-4EAF-3FDC-7AF3-A273B57B2D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44400" y="4835393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960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2090</TotalTime>
  <Words>295</Words>
  <Application>Microsoft Office PowerPoint</Application>
  <PresentationFormat>사용자 지정</PresentationFormat>
  <Paragraphs>66</Paragraphs>
  <Slides>7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굴림</vt:lpstr>
      <vt:lpstr>Arial</vt:lpstr>
      <vt:lpstr>Calibri</vt:lpstr>
      <vt:lpstr>맑은 고딕</vt:lpstr>
      <vt:lpstr>Noto Sans KR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BEI</dc:creator>
  <cp:lastModifiedBy>Seungho Jeon</cp:lastModifiedBy>
  <cp:revision>146</cp:revision>
  <dcterms:created xsi:type="dcterms:W3CDTF">2006-08-16T00:00:00Z</dcterms:created>
  <dcterms:modified xsi:type="dcterms:W3CDTF">2026-03-03T06:50:52Z</dcterms:modified>
</cp:coreProperties>
</file>