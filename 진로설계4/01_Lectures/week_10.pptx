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465" r:id="rId2"/>
    <p:sldId id="466" r:id="rId3"/>
    <p:sldId id="468" r:id="rId4"/>
    <p:sldId id="434" r:id="rId5"/>
    <p:sldId id="429" r:id="rId6"/>
    <p:sldId id="435" r:id="rId7"/>
    <p:sldId id="512" r:id="rId8"/>
  </p:sldIdLst>
  <p:sldSz cx="18288000" cy="10287000"/>
  <p:notesSz cx="6858000" cy="9144000"/>
  <p:embeddedFontLst>
    <p:embeddedFont>
      <p:font typeface="Gmarket Sans Medium" panose="020B0600000101010101" charset="-127"/>
      <p:regular r:id="rId10"/>
    </p:embeddedFont>
    <p:embeddedFont>
      <p:font typeface="나눔고딕" pitchFamily="2" charset="-127"/>
      <p:regular r:id="rId11"/>
      <p:bold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425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10286999" y="2867024"/>
            <a:ext cx="7994073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00AAB2-2151-4F0E-BECD-2254447C2225}"/>
              </a:ext>
            </a:extLst>
          </p:cNvPr>
          <p:cNvSpPr txBox="1"/>
          <p:nvPr/>
        </p:nvSpPr>
        <p:spPr>
          <a:xfrm>
            <a:off x="884555" y="7499350"/>
            <a:ext cx="1046353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10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endParaRPr lang="en-US" altLang="ko-KR" sz="5400" b="1" spc="-200" dirty="0">
              <a:solidFill>
                <a:srgbClr val="505050"/>
              </a:solidFill>
              <a:latin typeface="+mj-ea"/>
              <a:ea typeface="+mj-ea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5400" b="1" spc="-200" dirty="0">
                <a:solidFill>
                  <a:srgbClr val="505050"/>
                </a:solidFill>
                <a:latin typeface="+mj-ea"/>
                <a:ea typeface="+mj-ea"/>
              </a:rPr>
              <a:t>한밭핵심역량진단 및</a:t>
            </a:r>
            <a:endParaRPr lang="en-US" altLang="ko-KR" sz="5400" b="1" spc="-200" dirty="0">
              <a:solidFill>
                <a:srgbClr val="505050"/>
              </a:solidFill>
              <a:latin typeface="+mj-ea"/>
              <a:ea typeface="+mj-ea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직업역량진단</a:t>
            </a: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(H-UP 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시스템</a:t>
            </a: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)</a:t>
            </a:r>
            <a:endParaRPr lang="ko-KR" sz="5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91351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716851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p.123</a:t>
            </a:r>
          </a:p>
        </p:txBody>
      </p:sp>
      <p:sp>
        <p:nvSpPr>
          <p:cNvPr id="43" name="TextBox 9">
            <a:extLst>
              <a:ext uri="{FF2B5EF4-FFF2-40B4-BE49-F238E27FC236}">
                <a16:creationId xmlns:a16="http://schemas.microsoft.com/office/drawing/2014/main" id="{0580EA92-A5EC-4E83-A589-F5496875D4BC}"/>
              </a:ext>
            </a:extLst>
          </p:cNvPr>
          <p:cNvSpPr txBox="1"/>
          <p:nvPr/>
        </p:nvSpPr>
        <p:spPr>
          <a:xfrm>
            <a:off x="8601997" y="2863760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44" name="TextBox 10">
            <a:extLst>
              <a:ext uri="{FF2B5EF4-FFF2-40B4-BE49-F238E27FC236}">
                <a16:creationId xmlns:a16="http://schemas.microsoft.com/office/drawing/2014/main" id="{E7852054-32D4-43F4-AF66-25FD1090B9D3}"/>
              </a:ext>
            </a:extLst>
          </p:cNvPr>
          <p:cNvSpPr txBox="1"/>
          <p:nvPr/>
        </p:nvSpPr>
        <p:spPr>
          <a:xfrm>
            <a:off x="8699500" y="5495924"/>
            <a:ext cx="85852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02.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직무역량 진단 실시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45" name="TextBox 10">
            <a:extLst>
              <a:ext uri="{FF2B5EF4-FFF2-40B4-BE49-F238E27FC236}">
                <a16:creationId xmlns:a16="http://schemas.microsoft.com/office/drawing/2014/main" id="{7F6ABF8E-5C97-47A7-8247-B1D329B49347}"/>
              </a:ext>
            </a:extLst>
          </p:cNvPr>
          <p:cNvSpPr txBox="1"/>
          <p:nvPr/>
        </p:nvSpPr>
        <p:spPr>
          <a:xfrm>
            <a:off x="8699500" y="4339848"/>
            <a:ext cx="85852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01.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한밭핵심역량 진단 실시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25809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14EE5E97-CBF9-4134-98B9-438FAF6C65F2}"/>
              </a:ext>
            </a:extLst>
          </p:cNvPr>
          <p:cNvSpPr txBox="1"/>
          <p:nvPr/>
        </p:nvSpPr>
        <p:spPr>
          <a:xfrm>
            <a:off x="3173226" y="1054084"/>
            <a:ext cx="12420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 err="1">
                <a:solidFill>
                  <a:srgbClr val="505050"/>
                </a:solidFill>
                <a:latin typeface="Gmarket Sans Medium"/>
              </a:rPr>
              <a:t>한밭핵심역량이란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092468DF-4598-4D34-9C6E-075A17F63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400" y="4152900"/>
            <a:ext cx="14597210" cy="4555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23">
            <a:extLst>
              <a:ext uri="{FF2B5EF4-FFF2-40B4-BE49-F238E27FC236}">
                <a16:creationId xmlns:a16="http://schemas.microsoft.com/office/drawing/2014/main" id="{4BAF0C94-B67C-490D-ADED-E05D39065424}"/>
              </a:ext>
            </a:extLst>
          </p:cNvPr>
          <p:cNvSpPr txBox="1"/>
          <p:nvPr/>
        </p:nvSpPr>
        <p:spPr>
          <a:xfrm>
            <a:off x="1344426" y="3464019"/>
            <a:ext cx="16078200" cy="35604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>
              <a:lnSpc>
                <a:spcPct val="136119"/>
              </a:lnSpc>
              <a:buFont typeface="Wingdings" panose="05000000000000000000" pitchFamily="2" charset="2"/>
              <a:buChar char="§"/>
            </a:pPr>
            <a:r>
              <a:rPr lang="ko-KR" altLang="en-US" sz="28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한밭인이 기본이 강한 </a:t>
            </a:r>
            <a:r>
              <a:rPr lang="ko-KR" altLang="en-US" sz="2800" b="1" spc="-100" dirty="0" err="1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글로컬</a:t>
            </a:r>
            <a:r>
              <a:rPr lang="ko-KR" altLang="en-US" sz="28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 리더가 되기 위한 </a:t>
            </a:r>
            <a:r>
              <a:rPr lang="en-US" altLang="ko-KR" sz="28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6</a:t>
            </a:r>
            <a:r>
              <a:rPr lang="ko-KR" altLang="en-US" sz="28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대 핵심 역량</a:t>
            </a:r>
            <a:endParaRPr lang="en-US" sz="2800" b="1" i="0" u="none" strike="noStrike" spc="-100" dirty="0">
              <a:solidFill>
                <a:schemeClr val="tx1">
                  <a:alpha val="54118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Picture 20">
            <a:extLst>
              <a:ext uri="{FF2B5EF4-FFF2-40B4-BE49-F238E27FC236}">
                <a16:creationId xmlns:a16="http://schemas.microsoft.com/office/drawing/2014/main" id="{88831BD4-F370-4E72-8785-403BD4CFE83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7" name="TextBox 24">
            <a:extLst>
              <a:ext uri="{FF2B5EF4-FFF2-40B4-BE49-F238E27FC236}">
                <a16:creationId xmlns:a16="http://schemas.microsoft.com/office/drawing/2014/main" id="{02E92946-AC4A-4452-9BC1-D46C212EE812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296F9BC-79B3-4245-BB2F-13CB5E90D241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69B08F-5DEE-4B9E-BB64-0E98C26A1CDF}"/>
              </a:ext>
            </a:extLst>
          </p:cNvPr>
          <p:cNvSpPr/>
          <p:nvPr/>
        </p:nvSpPr>
        <p:spPr>
          <a:xfrm>
            <a:off x="15716851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p.124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61D1DCD9-0AA9-4169-8D08-F5AB11300835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3612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14">
            <a:extLst>
              <a:ext uri="{FF2B5EF4-FFF2-40B4-BE49-F238E27FC236}">
                <a16:creationId xmlns:a16="http://schemas.microsoft.com/office/drawing/2014/main" id="{9C350B33-5FDF-415B-BABC-1C47DC2F809A}"/>
              </a:ext>
            </a:extLst>
          </p:cNvPr>
          <p:cNvSpPr txBox="1"/>
          <p:nvPr/>
        </p:nvSpPr>
        <p:spPr>
          <a:xfrm>
            <a:off x="10439400" y="9291497"/>
            <a:ext cx="5575300" cy="5635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2800" b="1" i="0" u="none" strike="noStrike" spc="-100" dirty="0">
              <a:solidFill>
                <a:schemeClr val="tx1"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C24DFDD8-F018-4E66-B7F3-0D5569EF2261}"/>
              </a:ext>
            </a:extLst>
          </p:cNvPr>
          <p:cNvSpPr/>
          <p:nvPr/>
        </p:nvSpPr>
        <p:spPr>
          <a:xfrm>
            <a:off x="994590" y="4271284"/>
            <a:ext cx="2786157" cy="2426717"/>
          </a:xfrm>
          <a:custGeom>
            <a:avLst/>
            <a:gdLst/>
            <a:ahLst/>
            <a:cxnLst/>
            <a:rect l="l" t="t" r="r" b="b"/>
            <a:pathLst>
              <a:path w="578480" h="578480">
                <a:moveTo>
                  <a:pt x="0" y="0"/>
                </a:moveTo>
                <a:lnTo>
                  <a:pt x="578480" y="0"/>
                </a:lnTo>
                <a:lnTo>
                  <a:pt x="578480" y="578480"/>
                </a:lnTo>
                <a:lnTo>
                  <a:pt x="0" y="578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A6454C05-9856-4DB9-A08C-C7252FD16E15}"/>
              </a:ext>
            </a:extLst>
          </p:cNvPr>
          <p:cNvSpPr txBox="1"/>
          <p:nvPr/>
        </p:nvSpPr>
        <p:spPr>
          <a:xfrm>
            <a:off x="4419600" y="5001954"/>
            <a:ext cx="3386320" cy="283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087"/>
              </a:lnSpc>
              <a:spcBef>
                <a:spcPct val="0"/>
              </a:spcBef>
            </a:pPr>
            <a:r>
              <a:rPr lang="ko-KR" altLang="en-US" sz="2800" b="1" dirty="0">
                <a:latin typeface="+mj-ea"/>
                <a:ea typeface="+mj-ea"/>
                <a:cs typeface="윤고딕 Bold"/>
                <a:sym typeface="윤고딕 Bold"/>
              </a:rPr>
              <a:t>한밭핵심역량 진단</a:t>
            </a:r>
            <a:endParaRPr lang="en-US" sz="2800" b="1" dirty="0">
              <a:latin typeface="+mj-ea"/>
              <a:ea typeface="+mj-ea"/>
              <a:cs typeface="윤고딕 Bold"/>
              <a:sym typeface="윤고딕 Bold"/>
            </a:endParaRP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55A5C6FE-A47F-491C-AB6C-4A96B9A7CBA5}"/>
              </a:ext>
            </a:extLst>
          </p:cNvPr>
          <p:cNvSpPr txBox="1"/>
          <p:nvPr/>
        </p:nvSpPr>
        <p:spPr>
          <a:xfrm>
            <a:off x="4419600" y="5624107"/>
            <a:ext cx="6400800" cy="283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087"/>
              </a:lnSpc>
              <a:spcBef>
                <a:spcPct val="0"/>
              </a:spcBef>
            </a:pPr>
            <a:r>
              <a:rPr lang="en-US" sz="2800" b="1" dirty="0">
                <a:latin typeface="+mj-ea"/>
                <a:ea typeface="+mj-ea"/>
                <a:cs typeface="윤고딕"/>
                <a:sym typeface="윤고딕"/>
              </a:rPr>
              <a:t>https://hup.hanbat.ac.kr</a:t>
            </a:r>
          </a:p>
        </p:txBody>
      </p:sp>
      <p:sp>
        <p:nvSpPr>
          <p:cNvPr id="15" name="AutoShape 16">
            <a:extLst>
              <a:ext uri="{FF2B5EF4-FFF2-40B4-BE49-F238E27FC236}">
                <a16:creationId xmlns:a16="http://schemas.microsoft.com/office/drawing/2014/main" id="{A94561F1-8916-42BD-9221-783DD9875F25}"/>
              </a:ext>
            </a:extLst>
          </p:cNvPr>
          <p:cNvSpPr/>
          <p:nvPr/>
        </p:nvSpPr>
        <p:spPr>
          <a:xfrm flipV="1">
            <a:off x="4419600" y="5359042"/>
            <a:ext cx="3386320" cy="0"/>
          </a:xfrm>
          <a:prstGeom prst="line">
            <a:avLst/>
          </a:prstGeom>
          <a:ln w="2857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20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3119693-13A8-4E52-99E0-3AAFDB9DF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112" y="4572262"/>
            <a:ext cx="2177088" cy="1899621"/>
          </a:xfrm>
          <a:prstGeom prst="rect">
            <a:avLst/>
          </a:prstGeom>
        </p:spPr>
      </p:pic>
      <p:sp>
        <p:nvSpPr>
          <p:cNvPr id="17" name="TextBox 22">
            <a:extLst>
              <a:ext uri="{FF2B5EF4-FFF2-40B4-BE49-F238E27FC236}">
                <a16:creationId xmlns:a16="http://schemas.microsoft.com/office/drawing/2014/main" id="{039ED00F-DBA9-45BF-9B1B-006B5BA5C98D}"/>
              </a:ext>
            </a:extLst>
          </p:cNvPr>
          <p:cNvSpPr txBox="1"/>
          <p:nvPr/>
        </p:nvSpPr>
        <p:spPr>
          <a:xfrm>
            <a:off x="4408714" y="6326853"/>
            <a:ext cx="6768164" cy="2381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ts val="38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학생 종합경력관리 시스템 접속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블랙슈트"/>
              <a:sym typeface="블랙슈트"/>
            </a:endParaRPr>
          </a:p>
          <a:p>
            <a:pPr marL="457200" lvl="0" indent="-457200">
              <a:lnSpc>
                <a:spcPts val="38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상단 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My Page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클릭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블랙슈트"/>
              <a:sym typeface="블랙슈트"/>
            </a:endParaRPr>
          </a:p>
          <a:p>
            <a:pPr marL="457200" lvl="0" indent="-457200">
              <a:lnSpc>
                <a:spcPts val="38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핵심역량진단 시작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블랙슈트"/>
              <a:sym typeface="블랙슈트"/>
            </a:endParaRPr>
          </a:p>
          <a:p>
            <a:pPr marL="457200" lvl="0" indent="-457200">
              <a:lnSpc>
                <a:spcPts val="38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소요시간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: 15~20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분 내외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블랙슈트"/>
              <a:sym typeface="블랙슈트"/>
            </a:endParaRPr>
          </a:p>
          <a:p>
            <a:pPr lvl="0">
              <a:lnSpc>
                <a:spcPts val="3839"/>
              </a:lnSpc>
              <a:spcBef>
                <a:spcPct val="0"/>
              </a:spcBef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                (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총 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105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문항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)</a:t>
            </a:r>
          </a:p>
        </p:txBody>
      </p:sp>
      <p:pic>
        <p:nvPicPr>
          <p:cNvPr id="18" name="아이폰" descr="모니터, 거울, 휴대폰, 컴퓨터이(가) 표시된 사진&#10;&#10;자동 생성된 설명">
            <a:extLst>
              <a:ext uri="{FF2B5EF4-FFF2-40B4-BE49-F238E27FC236}">
                <a16:creationId xmlns:a16="http://schemas.microsoft.com/office/drawing/2014/main" id="{E277A944-60FB-4D3F-9059-CEB2B128A0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207" y="3042238"/>
            <a:ext cx="5410200" cy="6504511"/>
          </a:xfrm>
          <a:prstGeom prst="rect">
            <a:avLst/>
          </a:prstGeom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FC5E360D-78C7-4EE7-A152-263D16C7F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918" y="3466471"/>
            <a:ext cx="4368414" cy="5698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2">
            <a:extLst>
              <a:ext uri="{FF2B5EF4-FFF2-40B4-BE49-F238E27FC236}">
                <a16:creationId xmlns:a16="http://schemas.microsoft.com/office/drawing/2014/main" id="{754782A6-1CA4-43A9-9D39-0F6F2D872322}"/>
              </a:ext>
            </a:extLst>
          </p:cNvPr>
          <p:cNvSpPr txBox="1"/>
          <p:nvPr/>
        </p:nvSpPr>
        <p:spPr>
          <a:xfrm>
            <a:off x="5105400" y="1029575"/>
            <a:ext cx="935355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한밭핵심역량 진단방법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6E011B0-CE61-4BDE-AE05-91298470C74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2" name="TextBox 24">
            <a:extLst>
              <a:ext uri="{FF2B5EF4-FFF2-40B4-BE49-F238E27FC236}">
                <a16:creationId xmlns:a16="http://schemas.microsoft.com/office/drawing/2014/main" id="{20F203CE-1243-4F34-812C-9A5B7354F401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02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8CB0686-D378-4A70-95BE-A264925937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4846191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5A0E819-CF3C-4279-84BA-B246EF6B1575}"/>
              </a:ext>
            </a:extLst>
          </p:cNvPr>
          <p:cNvSpPr/>
          <p:nvPr/>
        </p:nvSpPr>
        <p:spPr>
          <a:xfrm>
            <a:off x="15824425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p.124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4C583F90-8226-47A7-A0C0-5AC4333374E5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4397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14">
            <a:extLst>
              <a:ext uri="{FF2B5EF4-FFF2-40B4-BE49-F238E27FC236}">
                <a16:creationId xmlns:a16="http://schemas.microsoft.com/office/drawing/2014/main" id="{9C350B33-5FDF-415B-BABC-1C47DC2F809A}"/>
              </a:ext>
            </a:extLst>
          </p:cNvPr>
          <p:cNvSpPr txBox="1"/>
          <p:nvPr/>
        </p:nvSpPr>
        <p:spPr>
          <a:xfrm>
            <a:off x="10439400" y="9291497"/>
            <a:ext cx="5575300" cy="5635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2800" b="1" i="0" u="none" strike="noStrike" spc="-100" dirty="0">
              <a:solidFill>
                <a:schemeClr val="tx1"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AAD44E74-A6B5-4459-8661-E45899F86B0D}"/>
              </a:ext>
            </a:extLst>
          </p:cNvPr>
          <p:cNvSpPr txBox="1"/>
          <p:nvPr/>
        </p:nvSpPr>
        <p:spPr>
          <a:xfrm>
            <a:off x="5105400" y="1029575"/>
            <a:ext cx="935355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직업역량 진단 방법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A86A74-EBD7-4302-A30A-1CBAD16F9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2972961"/>
            <a:ext cx="7684862" cy="308494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17517B2-2157-49EF-9AED-E915302E8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43" y="6438900"/>
            <a:ext cx="7515214" cy="30755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6268B92-FA99-4FAD-A0CE-93CF9CAE1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175" y="2972961"/>
            <a:ext cx="7515214" cy="5210175"/>
          </a:xfrm>
          <a:prstGeom prst="rect">
            <a:avLst/>
          </a:prstGeom>
        </p:spPr>
      </p:pic>
      <p:pic>
        <p:nvPicPr>
          <p:cNvPr id="12" name="Picture 20">
            <a:extLst>
              <a:ext uri="{FF2B5EF4-FFF2-40B4-BE49-F238E27FC236}">
                <a16:creationId xmlns:a16="http://schemas.microsoft.com/office/drawing/2014/main" id="{6DF408B0-F2F3-41A6-9DA5-8A63B25B606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3" name="TextBox 24">
            <a:extLst>
              <a:ext uri="{FF2B5EF4-FFF2-40B4-BE49-F238E27FC236}">
                <a16:creationId xmlns:a16="http://schemas.microsoft.com/office/drawing/2014/main" id="{63ABB85C-6E6B-4089-BF56-76F7403109F4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03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9F4A4AD-50E7-4EA7-A99A-DBEB8A4B3A0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4846191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EEB5E1-41F4-418C-9E8E-21ED0D6FFEF5}"/>
              </a:ext>
            </a:extLst>
          </p:cNvPr>
          <p:cNvSpPr/>
          <p:nvPr/>
        </p:nvSpPr>
        <p:spPr>
          <a:xfrm>
            <a:off x="15312354" y="9632434"/>
            <a:ext cx="2582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p.127~129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EBCC918B-FBE6-4D04-ADC1-05F57EEAD255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3675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83499" y="724719"/>
            <a:ext cx="11954472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1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진단 결과 제출</a:t>
            </a:r>
            <a:endParaRPr lang="en-US" sz="4800" b="1" i="0" u="none" strike="noStrike" spc="-100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1068107" y="2704580"/>
            <a:ext cx="14843095" cy="6650643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5614919" y="5753100"/>
            <a:ext cx="2447093" cy="3474608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23252" y="972141"/>
            <a:ext cx="122092" cy="590205"/>
            <a:chOff x="0" y="0"/>
            <a:chExt cx="444637" cy="309271"/>
          </a:xfrm>
          <a:solidFill>
            <a:schemeClr val="accent3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31" name="Text Box 58">
            <a:extLst>
              <a:ext uri="{FF2B5EF4-FFF2-40B4-BE49-F238E27FC236}">
                <a16:creationId xmlns:a16="http://schemas.microsoft.com/office/drawing/2014/main" id="{8B923F7C-6B9B-4125-B028-540672882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6470" y="3155657"/>
            <a:ext cx="5168281" cy="524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680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ko-KR" altLang="en-US" sz="2800" b="1" dirty="0">
                <a:solidFill>
                  <a:srgbClr val="38508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한밭핵심역량 진단하기</a:t>
            </a:r>
            <a:endParaRPr lang="en-US" altLang="ko-KR" sz="2800" b="1" dirty="0">
              <a:solidFill>
                <a:srgbClr val="38508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F1D2AD-B870-418E-9372-B12B69826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423" y="3909083"/>
            <a:ext cx="6022377" cy="5120617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F73742D-07F3-474F-953D-3772ED86C6F7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4846191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8856BE1-1E6D-4471-B94F-EDD4EED1089E}"/>
              </a:ext>
            </a:extLst>
          </p:cNvPr>
          <p:cNvSpPr/>
          <p:nvPr/>
        </p:nvSpPr>
        <p:spPr>
          <a:xfrm>
            <a:off x="15312355" y="9632434"/>
            <a:ext cx="258263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p.118~119</a:t>
            </a:r>
          </a:p>
        </p:txBody>
      </p:sp>
      <p:sp>
        <p:nvSpPr>
          <p:cNvPr id="17" name="Text Box 58">
            <a:extLst>
              <a:ext uri="{FF2B5EF4-FFF2-40B4-BE49-F238E27FC236}">
                <a16:creationId xmlns:a16="http://schemas.microsoft.com/office/drawing/2014/main" id="{ECEBFFD5-CC23-40CB-9040-005E794F1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7675" y="3155656"/>
            <a:ext cx="6360710" cy="524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680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ko-KR" altLang="en-US" sz="2800" b="1" dirty="0">
                <a:solidFill>
                  <a:srgbClr val="38508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한밭미래설계시스템 직무역량 진단하기</a:t>
            </a:r>
            <a:endParaRPr lang="en-US" altLang="ko-KR" sz="2800" b="1" dirty="0">
              <a:solidFill>
                <a:srgbClr val="38508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04CE42E-45EF-4306-8811-E10BCC0C3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501" y="3911088"/>
            <a:ext cx="6198884" cy="5118612"/>
          </a:xfrm>
          <a:prstGeom prst="rect">
            <a:avLst/>
          </a:prstGeom>
        </p:spPr>
      </p:pic>
      <p:sp>
        <p:nvSpPr>
          <p:cNvPr id="19" name="TextBox 7">
            <a:extLst>
              <a:ext uri="{FF2B5EF4-FFF2-40B4-BE49-F238E27FC236}">
                <a16:creationId xmlns:a16="http://schemas.microsoft.com/office/drawing/2014/main" id="{5A1DF768-5556-4D74-9ADE-679CB25E5936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4557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 descr="비둘기 윤곽선">
            <a:extLst>
              <a:ext uri="{FF2B5EF4-FFF2-40B4-BE49-F238E27FC236}">
                <a16:creationId xmlns:a16="http://schemas.microsoft.com/office/drawing/2014/main" id="{EFF2BA02-4EAF-3FDC-7AF3-A273B57B2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0" y="483539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142</Words>
  <Application>Microsoft Office PowerPoint</Application>
  <PresentationFormat>사용자 지정</PresentationFormat>
  <Paragraphs>40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Arial</vt:lpstr>
      <vt:lpstr>굴림</vt:lpstr>
      <vt:lpstr>나눔고딕</vt:lpstr>
      <vt:lpstr>Calibri</vt:lpstr>
      <vt:lpstr>Wingdings</vt:lpstr>
      <vt:lpstr>맑은 고딕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146</cp:revision>
  <dcterms:created xsi:type="dcterms:W3CDTF">2006-08-16T00:00:00Z</dcterms:created>
  <dcterms:modified xsi:type="dcterms:W3CDTF">2026-03-03T07:07:28Z</dcterms:modified>
</cp:coreProperties>
</file>