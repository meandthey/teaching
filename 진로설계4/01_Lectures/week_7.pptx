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421" r:id="rId2"/>
    <p:sldId id="422" r:id="rId3"/>
    <p:sldId id="426" r:id="rId4"/>
    <p:sldId id="446" r:id="rId5"/>
    <p:sldId id="443" r:id="rId6"/>
    <p:sldId id="428" r:id="rId7"/>
    <p:sldId id="444" r:id="rId8"/>
    <p:sldId id="448" r:id="rId9"/>
    <p:sldId id="526" r:id="rId10"/>
    <p:sldId id="529" r:id="rId11"/>
    <p:sldId id="449" r:id="rId12"/>
    <p:sldId id="450" r:id="rId13"/>
    <p:sldId id="512" r:id="rId14"/>
  </p:sldIdLst>
  <p:sldSz cx="18288000" cy="10287000"/>
  <p:notesSz cx="6858000" cy="9144000"/>
  <p:embeddedFontLst>
    <p:embeddedFont>
      <p:font typeface="Gmarket Sans Medium" panose="020B0600000101010101" charset="-127"/>
      <p:regular r:id="rId16"/>
    </p:embeddedFont>
    <p:embeddedFont>
      <p:font typeface="맑은 고딕" panose="020B0503020000020004" pitchFamily="50" charset="-127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8E5"/>
    <a:srgbClr val="FFF7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83" autoAdjust="0"/>
    <p:restoredTop sz="94622" autoAdjust="0"/>
  </p:normalViewPr>
  <p:slideViewPr>
    <p:cSldViewPr>
      <p:cViewPr varScale="1">
        <p:scale>
          <a:sx n="99" d="100"/>
          <a:sy n="99" d="100"/>
        </p:scale>
        <p:origin x="780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1B1C3-5D0E-4806-BAAA-95815FF0384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8C21A-DA85-4505-A54C-645BC087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65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821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509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10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svg"/><Relationship Id="rId5" Type="http://schemas.openxmlformats.org/officeDocument/2006/relationships/image" Target="../media/image87.png"/><Relationship Id="rId4" Type="http://schemas.openxmlformats.org/officeDocument/2006/relationships/image" Target="../media/image8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42900" y="1663700"/>
            <a:ext cx="622300" cy="2108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14070" y="5629275"/>
            <a:ext cx="889000" cy="889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58570" y="1346200"/>
            <a:ext cx="9715500" cy="264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진로설계 </a:t>
            </a:r>
            <a:r>
              <a:rPr lang="en-US" altLang="ko-KR" sz="6600" b="1" dirty="0">
                <a:solidFill>
                  <a:srgbClr val="505050"/>
                </a:solidFill>
                <a:latin typeface="+mj-ea"/>
                <a:ea typeface="+mj-ea"/>
              </a:rPr>
              <a:t>4.</a:t>
            </a:r>
          </a:p>
          <a:p>
            <a:pPr lvl="0" algn="l">
              <a:lnSpc>
                <a:spcPct val="99600"/>
              </a:lnSpc>
            </a:pP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취업전략과</a:t>
            </a: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 </a:t>
            </a: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실전취업</a:t>
            </a:r>
            <a:endParaRPr lang="en-US" sz="6600" b="1" i="0" u="none" strike="noStrike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88717" y="7200900"/>
            <a:ext cx="89154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7</a:t>
            </a:r>
            <a:r>
              <a:rPr lang="ko-KR" altLang="en-US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주차</a:t>
            </a:r>
            <a:endParaRPr lang="en-US" altLang="ko-KR" sz="5400" b="1" spc="-200" dirty="0">
              <a:solidFill>
                <a:srgbClr val="505050"/>
              </a:solidFill>
              <a:latin typeface="+mj-ea"/>
              <a:ea typeface="+mj-ea"/>
            </a:endParaRPr>
          </a:p>
          <a:p>
            <a:pPr lvl="0" algn="l">
              <a:lnSpc>
                <a:spcPct val="99600"/>
              </a:lnSpc>
            </a:pPr>
            <a:r>
              <a:rPr lang="ko-KR" altLang="en-US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기업 채용시험 및 </a:t>
            </a:r>
            <a:r>
              <a:rPr lang="en-US" altLang="ko-KR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AI</a:t>
            </a:r>
            <a:r>
              <a:rPr lang="ko-KR" altLang="en-US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역량검사</a:t>
            </a:r>
            <a:endParaRPr lang="ko-KR" sz="48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6C7F429-F160-47A6-8A64-C27B90CB15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800" y="442126"/>
            <a:ext cx="2798834" cy="600243"/>
          </a:xfrm>
          <a:prstGeom prst="rect">
            <a:avLst/>
          </a:prstGeom>
        </p:spPr>
      </p:pic>
      <p:sp>
        <p:nvSpPr>
          <p:cNvPr id="36" name="Freeform 11">
            <a:extLst>
              <a:ext uri="{FF2B5EF4-FFF2-40B4-BE49-F238E27FC236}">
                <a16:creationId xmlns:a16="http://schemas.microsoft.com/office/drawing/2014/main" id="{17094926-8E90-413A-924D-78830B690DF0}"/>
              </a:ext>
            </a:extLst>
          </p:cNvPr>
          <p:cNvSpPr/>
          <p:nvPr/>
        </p:nvSpPr>
        <p:spPr>
          <a:xfrm>
            <a:off x="10286999" y="2867024"/>
            <a:ext cx="7994073" cy="7302501"/>
          </a:xfrm>
          <a:custGeom>
            <a:avLst/>
            <a:gdLst/>
            <a:ahLst/>
            <a:cxnLst/>
            <a:rect l="l" t="t" r="r" b="b"/>
            <a:pathLst>
              <a:path w="9256196" h="8229600">
                <a:moveTo>
                  <a:pt x="0" y="0"/>
                </a:moveTo>
                <a:lnTo>
                  <a:pt x="9256196" y="0"/>
                </a:lnTo>
                <a:lnTo>
                  <a:pt x="925619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5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C331ADB4-7088-4FC4-8485-F6FACADEFEA6}"/>
              </a:ext>
            </a:extLst>
          </p:cNvPr>
          <p:cNvSpPr/>
          <p:nvPr/>
        </p:nvSpPr>
        <p:spPr>
          <a:xfrm>
            <a:off x="7696200" y="-266700"/>
            <a:ext cx="10591800" cy="10896595"/>
          </a:xfrm>
          <a:prstGeom prst="rect">
            <a:avLst/>
          </a:prstGeom>
          <a:solidFill>
            <a:schemeClr val="accent6">
              <a:lumMod val="20000"/>
              <a:lumOff val="8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7" name="TextBox 7"/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6699729-652E-4AF5-BBEC-235E549CDDA1}"/>
              </a:ext>
            </a:extLst>
          </p:cNvPr>
          <p:cNvSpPr/>
          <p:nvPr/>
        </p:nvSpPr>
        <p:spPr>
          <a:xfrm>
            <a:off x="707715" y="2357437"/>
            <a:ext cx="6239185" cy="6937375"/>
          </a:xfrm>
          <a:custGeom>
            <a:avLst/>
            <a:gdLst/>
            <a:ahLst/>
            <a:cxnLst/>
            <a:rect l="l" t="t" r="r" b="b"/>
            <a:pathLst>
              <a:path w="5550107" h="4763001">
                <a:moveTo>
                  <a:pt x="0" y="0"/>
                </a:moveTo>
                <a:lnTo>
                  <a:pt x="5550106" y="0"/>
                </a:lnTo>
                <a:lnTo>
                  <a:pt x="5550106" y="4763001"/>
                </a:lnTo>
                <a:lnTo>
                  <a:pt x="0" y="47630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A16FAA1-C23E-4D18-9DCD-E7CB520FE825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849900" y="9632434"/>
            <a:ext cx="18837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p.93</a:t>
            </a:r>
          </a:p>
        </p:txBody>
      </p:sp>
      <p:pic>
        <p:nvPicPr>
          <p:cNvPr id="19" name="Picture 3">
            <a:extLst>
              <a:ext uri="{FF2B5EF4-FFF2-40B4-BE49-F238E27FC236}">
                <a16:creationId xmlns:a16="http://schemas.microsoft.com/office/drawing/2014/main" id="{FBD3F5F7-8E0E-40C1-BDB2-489C80FD054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3000"/>
          </a:blip>
          <a:stretch>
            <a:fillRect/>
          </a:stretch>
        </p:blipFill>
        <p:spPr>
          <a:xfrm>
            <a:off x="8909050" y="6144606"/>
            <a:ext cx="6997700" cy="12700"/>
          </a:xfrm>
          <a:prstGeom prst="rect">
            <a:avLst/>
          </a:prstGeom>
        </p:spPr>
      </p:pic>
      <p:pic>
        <p:nvPicPr>
          <p:cNvPr id="20" name="Picture 4">
            <a:extLst>
              <a:ext uri="{FF2B5EF4-FFF2-40B4-BE49-F238E27FC236}">
                <a16:creationId xmlns:a16="http://schemas.microsoft.com/office/drawing/2014/main" id="{6D4BB9DB-91EB-4059-982E-71857755C5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9050" y="5493274"/>
            <a:ext cx="1371600" cy="419100"/>
          </a:xfrm>
          <a:prstGeom prst="rect">
            <a:avLst/>
          </a:prstGeom>
        </p:spPr>
      </p:pic>
      <p:sp>
        <p:nvSpPr>
          <p:cNvPr id="21" name="TextBox 9">
            <a:extLst>
              <a:ext uri="{FF2B5EF4-FFF2-40B4-BE49-F238E27FC236}">
                <a16:creationId xmlns:a16="http://schemas.microsoft.com/office/drawing/2014/main" id="{5ACDCC49-0AA6-4E02-8D03-8591BBE5136C}"/>
              </a:ext>
            </a:extLst>
          </p:cNvPr>
          <p:cNvSpPr txBox="1"/>
          <p:nvPr/>
        </p:nvSpPr>
        <p:spPr>
          <a:xfrm>
            <a:off x="8610600" y="2561823"/>
            <a:ext cx="6591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i="0" u="none" strike="noStrike" spc="-400" dirty="0">
                <a:solidFill>
                  <a:srgbClr val="505050"/>
                </a:solidFill>
                <a:latin typeface="+mj-ea"/>
                <a:ea typeface="+mj-ea"/>
              </a:rPr>
              <a:t>학습목표</a:t>
            </a:r>
            <a:endParaRPr lang="ko-KR" sz="4800" b="1" i="0" u="none" strike="noStrike" spc="-4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6D2C1AE9-A7E9-428F-A25A-042BAF14BC9A}"/>
              </a:ext>
            </a:extLst>
          </p:cNvPr>
          <p:cNvSpPr txBox="1"/>
          <p:nvPr/>
        </p:nvSpPr>
        <p:spPr>
          <a:xfrm>
            <a:off x="10534650" y="5404374"/>
            <a:ext cx="7332322" cy="68039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주요 기업 인적성검사 이해</a:t>
            </a:r>
            <a:endParaRPr lang="ko-KR" sz="2800" b="1" i="0" u="none" strike="noStrike" spc="-100" dirty="0">
              <a:solidFill>
                <a:schemeClr val="tx1">
                  <a:lumMod val="85000"/>
                  <a:lumOff val="1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FB5DD4B4-EA03-4924-9B73-9837A74C57CD}"/>
              </a:ext>
            </a:extLst>
          </p:cNvPr>
          <p:cNvSpPr txBox="1"/>
          <p:nvPr/>
        </p:nvSpPr>
        <p:spPr>
          <a:xfrm>
            <a:off x="9048750" y="5556774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POINT.01</a:t>
            </a: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4BB80527-EEEC-41FE-9A05-0815C04BF11E}"/>
              </a:ext>
            </a:extLst>
          </p:cNvPr>
          <p:cNvSpPr txBox="1"/>
          <p:nvPr/>
        </p:nvSpPr>
        <p:spPr>
          <a:xfrm>
            <a:off x="8481672" y="4321869"/>
            <a:ext cx="93853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742950" lvl="0" indent="-742950">
              <a:lnSpc>
                <a:spcPct val="99600"/>
              </a:lnSpc>
              <a:buAutoNum type="arabicPeriod"/>
            </a:pPr>
            <a:r>
              <a:rPr lang="ko-KR" altLang="en-US" sz="4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기업 채용시험의 이해</a:t>
            </a:r>
            <a:endParaRPr lang="ko-KR" sz="4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pic>
        <p:nvPicPr>
          <p:cNvPr id="30" name="Picture 3">
            <a:extLst>
              <a:ext uri="{FF2B5EF4-FFF2-40B4-BE49-F238E27FC236}">
                <a16:creationId xmlns:a16="http://schemas.microsoft.com/office/drawing/2014/main" id="{708B87B2-A919-4BB9-9FF1-7E13A847996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3000"/>
          </a:blip>
          <a:stretch>
            <a:fillRect/>
          </a:stretch>
        </p:blipFill>
        <p:spPr>
          <a:xfrm>
            <a:off x="8943378" y="7062011"/>
            <a:ext cx="6997700" cy="12700"/>
          </a:xfrm>
          <a:prstGeom prst="rect">
            <a:avLst/>
          </a:prstGeom>
        </p:spPr>
      </p:pic>
      <p:pic>
        <p:nvPicPr>
          <p:cNvPr id="31" name="Picture 4">
            <a:extLst>
              <a:ext uri="{FF2B5EF4-FFF2-40B4-BE49-F238E27FC236}">
                <a16:creationId xmlns:a16="http://schemas.microsoft.com/office/drawing/2014/main" id="{53D3377E-E6D7-43D7-BA6F-A30FA046C3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3378" y="6410679"/>
            <a:ext cx="1371600" cy="419100"/>
          </a:xfrm>
          <a:prstGeom prst="rect">
            <a:avLst/>
          </a:prstGeom>
        </p:spPr>
      </p:pic>
      <p:sp>
        <p:nvSpPr>
          <p:cNvPr id="32" name="TextBox 10">
            <a:extLst>
              <a:ext uri="{FF2B5EF4-FFF2-40B4-BE49-F238E27FC236}">
                <a16:creationId xmlns:a16="http://schemas.microsoft.com/office/drawing/2014/main" id="{237FAAEB-07BA-4B27-8F82-D2B3C1EF7052}"/>
              </a:ext>
            </a:extLst>
          </p:cNvPr>
          <p:cNvSpPr txBox="1"/>
          <p:nvPr/>
        </p:nvSpPr>
        <p:spPr>
          <a:xfrm>
            <a:off x="10568978" y="6321779"/>
            <a:ext cx="7332322" cy="68039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인적성검사 영역별 공부방법 파악</a:t>
            </a:r>
            <a:endParaRPr lang="ko-KR" sz="2800" b="1" i="0" u="none" strike="noStrike" spc="-100" dirty="0">
              <a:solidFill>
                <a:schemeClr val="tx1">
                  <a:lumMod val="85000"/>
                  <a:lumOff val="1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33" name="TextBox 11">
            <a:extLst>
              <a:ext uri="{FF2B5EF4-FFF2-40B4-BE49-F238E27FC236}">
                <a16:creationId xmlns:a16="http://schemas.microsoft.com/office/drawing/2014/main" id="{3DCB58D3-726A-4E46-B5DC-6E7BC76C4BC8}"/>
              </a:ext>
            </a:extLst>
          </p:cNvPr>
          <p:cNvSpPr txBox="1"/>
          <p:nvPr/>
        </p:nvSpPr>
        <p:spPr>
          <a:xfrm>
            <a:off x="9083078" y="6474179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POINT.01</a:t>
            </a:r>
          </a:p>
        </p:txBody>
      </p:sp>
      <p:sp>
        <p:nvSpPr>
          <p:cNvPr id="34" name="TextBox 10">
            <a:extLst>
              <a:ext uri="{FF2B5EF4-FFF2-40B4-BE49-F238E27FC236}">
                <a16:creationId xmlns:a16="http://schemas.microsoft.com/office/drawing/2014/main" id="{8F7FE328-68CC-492F-9F3E-38C15E0444A9}"/>
              </a:ext>
            </a:extLst>
          </p:cNvPr>
          <p:cNvSpPr txBox="1"/>
          <p:nvPr/>
        </p:nvSpPr>
        <p:spPr>
          <a:xfrm>
            <a:off x="8577943" y="7472861"/>
            <a:ext cx="9385300" cy="105184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en-US" altLang="ko-KR" sz="4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2. </a:t>
            </a: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  인적성검사 모의 시험 실시</a:t>
            </a:r>
            <a:endParaRPr lang="ko-KR" sz="4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46484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52700" y="1178503"/>
            <a:ext cx="13182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 err="1">
                <a:solidFill>
                  <a:srgbClr val="505050"/>
                </a:solidFill>
                <a:latin typeface="Gmarket Sans Medium"/>
              </a:rPr>
              <a:t>인적성</a:t>
            </a: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 검사의 필요성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7" name="Picture 20">
            <a:extLst>
              <a:ext uri="{FF2B5EF4-FFF2-40B4-BE49-F238E27FC236}">
                <a16:creationId xmlns:a16="http://schemas.microsoft.com/office/drawing/2014/main" id="{581E111A-60B0-4F08-8021-25FC9495054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31" name="TextBox 24">
            <a:extLst>
              <a:ext uri="{FF2B5EF4-FFF2-40B4-BE49-F238E27FC236}">
                <a16:creationId xmlns:a16="http://schemas.microsoft.com/office/drawing/2014/main" id="{0D59A901-6463-4687-9715-4D43C24F5E45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01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A3BA2F72-70FA-4245-B673-0C42FECADA68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8C00D09-46DD-4131-BDED-6019AD2050B0}"/>
              </a:ext>
            </a:extLst>
          </p:cNvPr>
          <p:cNvSpPr/>
          <p:nvPr/>
        </p:nvSpPr>
        <p:spPr>
          <a:xfrm>
            <a:off x="15849900" y="9632434"/>
            <a:ext cx="18837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p.94</a:t>
            </a:r>
          </a:p>
        </p:txBody>
      </p:sp>
      <p:pic>
        <p:nvPicPr>
          <p:cNvPr id="26" name="Google Shape;86;p13" descr="image.png">
            <a:extLst>
              <a:ext uri="{FF2B5EF4-FFF2-40B4-BE49-F238E27FC236}">
                <a16:creationId xmlns:a16="http://schemas.microsoft.com/office/drawing/2014/main" id="{A62BCB15-2FCA-4816-B363-74A6A0DCB8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7022" y="2804922"/>
            <a:ext cx="8260853" cy="16057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Google Shape;87;p13" descr="image.png">
            <a:extLst>
              <a:ext uri="{FF2B5EF4-FFF2-40B4-BE49-F238E27FC236}">
                <a16:creationId xmlns:a16="http://schemas.microsoft.com/office/drawing/2014/main" id="{AFF0A9F1-66C5-422B-8DC7-FDC3389D828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27022" y="4696454"/>
            <a:ext cx="8260853" cy="192568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" name="Google Shape;88;p13" descr="image.png">
            <a:extLst>
              <a:ext uri="{FF2B5EF4-FFF2-40B4-BE49-F238E27FC236}">
                <a16:creationId xmlns:a16="http://schemas.microsoft.com/office/drawing/2014/main" id="{6BDE1DA8-D138-4E6B-B6D1-F30BD6E05B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27022" y="6907890"/>
            <a:ext cx="8260853" cy="192568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" name="Google Shape;89;p13">
            <a:extLst>
              <a:ext uri="{FF2B5EF4-FFF2-40B4-BE49-F238E27FC236}">
                <a16:creationId xmlns:a16="http://schemas.microsoft.com/office/drawing/2014/main" id="{58CF802D-6E02-4788-B3E0-C5B6EB441A98}"/>
              </a:ext>
            </a:extLst>
          </p:cNvPr>
          <p:cNvSpPr txBox="1"/>
          <p:nvPr/>
        </p:nvSpPr>
        <p:spPr>
          <a:xfrm>
            <a:off x="1000126" y="3856286"/>
            <a:ext cx="7228091" cy="1890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4725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인적성검사</a:t>
            </a:r>
            <a:r>
              <a:rPr lang="en-US" sz="4725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lang="en-US" sz="2700" b="1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Arial"/>
              <a:cs typeface="Calibri"/>
              <a:sym typeface="Calibri"/>
            </a:endParaRPr>
          </a:p>
          <a:p>
            <a:pPr>
              <a:lnSpc>
                <a:spcPct val="130000"/>
              </a:lnSpc>
            </a:pPr>
            <a:r>
              <a:rPr lang="ko-KR" altLang="en-US" sz="4725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왜 채</a:t>
            </a:r>
            <a:r>
              <a:rPr lang="en-US" sz="4725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용의</a:t>
            </a:r>
            <a:r>
              <a:rPr lang="en-US" sz="4725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725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핵심</a:t>
            </a:r>
            <a:r>
              <a:rPr lang="en-US" sz="4725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725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기준</a:t>
            </a:r>
            <a:r>
              <a:rPr lang="en-US" sz="4725" b="1" dirty="0" err="1">
                <a:solidFill>
                  <a:schemeClr val="tx1">
                    <a:lumMod val="95000"/>
                    <a:lumOff val="5000"/>
                  </a:schemeClr>
                </a:solidFill>
                <a:sym typeface="Arial"/>
              </a:rPr>
              <a:t>인가</a:t>
            </a:r>
            <a:r>
              <a:rPr lang="en-US" sz="4725" b="1" dirty="0">
                <a:solidFill>
                  <a:schemeClr val="tx1">
                    <a:lumMod val="95000"/>
                    <a:lumOff val="5000"/>
                  </a:schemeClr>
                </a:solidFill>
                <a:sym typeface="Arial"/>
              </a:rPr>
              <a:t>?</a:t>
            </a:r>
            <a:endParaRPr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1" name="Google Shape;90;p13">
            <a:extLst>
              <a:ext uri="{FF2B5EF4-FFF2-40B4-BE49-F238E27FC236}">
                <a16:creationId xmlns:a16="http://schemas.microsoft.com/office/drawing/2014/main" id="{54BDBC2F-EBBA-45CF-9834-EA0BA295C2F5}"/>
              </a:ext>
            </a:extLst>
          </p:cNvPr>
          <p:cNvSpPr txBox="1"/>
          <p:nvPr/>
        </p:nvSpPr>
        <p:spPr>
          <a:xfrm>
            <a:off x="1000124" y="5844926"/>
            <a:ext cx="7228091" cy="2252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2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단순</a:t>
            </a:r>
            <a:r>
              <a:rPr lang="en-US" sz="225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참고용이</a:t>
            </a:r>
            <a:r>
              <a:rPr lang="en-US" sz="225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아닙니다</a:t>
            </a:r>
            <a:r>
              <a:rPr lang="en-US" sz="225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>
              <a:lnSpc>
                <a:spcPct val="160000"/>
              </a:lnSpc>
            </a:pPr>
            <a:r>
              <a:rPr lang="en-US" sz="22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서류와</a:t>
            </a:r>
            <a:r>
              <a:rPr lang="en-US" sz="225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면접만으로는</a:t>
            </a:r>
            <a:r>
              <a:rPr lang="en-US" sz="225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파악하기</a:t>
            </a:r>
            <a:r>
              <a:rPr lang="en-US" sz="225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힘든</a:t>
            </a:r>
            <a:r>
              <a:rPr lang="en-US" sz="225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지원자의</a:t>
            </a:r>
            <a:r>
              <a:rPr lang="en-US" sz="225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DCDDDD"/>
                </a:highlight>
                <a:latin typeface="Arial"/>
                <a:ea typeface="Arial"/>
                <a:cs typeface="Arial"/>
                <a:sym typeface="Arial"/>
              </a:rPr>
              <a:t>진짜</a:t>
            </a:r>
            <a:r>
              <a:rPr lang="en-US" sz="225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DCDDDD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DCDDDD"/>
                </a:highlight>
                <a:latin typeface="Arial"/>
                <a:ea typeface="Arial"/>
                <a:cs typeface="Arial"/>
                <a:sym typeface="Arial"/>
              </a:rPr>
              <a:t>역량과</a:t>
            </a:r>
            <a:r>
              <a:rPr lang="en-US" sz="225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DCDDDD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DCDDDD"/>
                </a:highlight>
                <a:latin typeface="Arial"/>
                <a:ea typeface="Arial"/>
                <a:cs typeface="Arial"/>
                <a:sym typeface="Arial"/>
              </a:rPr>
              <a:t>조직</a:t>
            </a:r>
            <a:r>
              <a:rPr lang="en-US" sz="225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DCDDDD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DCDDDD"/>
                </a:highlight>
                <a:latin typeface="Arial"/>
                <a:ea typeface="Arial"/>
                <a:cs typeface="Arial"/>
                <a:sym typeface="Arial"/>
              </a:rPr>
              <a:t>적합성을</a:t>
            </a:r>
            <a:r>
              <a:rPr lang="en-US" sz="225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DCDDDD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DCDDDD"/>
                </a:highlight>
                <a:latin typeface="Arial"/>
                <a:ea typeface="Arial"/>
                <a:cs typeface="Arial"/>
                <a:sym typeface="Arial"/>
              </a:rPr>
              <a:t>검증하는</a:t>
            </a:r>
            <a:r>
              <a:rPr lang="en-US" sz="225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DCDDDD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DCDDDD"/>
                </a:highlight>
                <a:latin typeface="Arial"/>
                <a:ea typeface="Arial"/>
                <a:cs typeface="Arial"/>
                <a:sym typeface="Arial"/>
              </a:rPr>
              <a:t>가장</a:t>
            </a:r>
            <a:r>
              <a:rPr lang="en-US" sz="225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DCDDDD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DCDDDD"/>
                </a:highlight>
                <a:latin typeface="Arial"/>
                <a:ea typeface="Arial"/>
                <a:cs typeface="Arial"/>
                <a:sym typeface="Arial"/>
              </a:rPr>
              <a:t>정밀한</a:t>
            </a:r>
            <a:r>
              <a:rPr lang="en-US" sz="225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DCDDDD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DCDDDD"/>
                </a:highlight>
                <a:latin typeface="Arial"/>
                <a:ea typeface="Arial"/>
                <a:cs typeface="Arial"/>
                <a:sym typeface="Arial"/>
              </a:rPr>
              <a:t>선발</a:t>
            </a:r>
            <a:r>
              <a:rPr lang="en-US" sz="225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DCDDDD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DCDDDD"/>
                </a:highlight>
                <a:latin typeface="Arial"/>
                <a:ea typeface="Arial"/>
                <a:cs typeface="Arial"/>
                <a:sym typeface="Arial"/>
              </a:rPr>
              <a:t>도구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sym typeface="Arial"/>
              </a:rPr>
              <a:t>입니다</a:t>
            </a:r>
            <a:r>
              <a:rPr lang="en-US" sz="2250" dirty="0">
                <a:solidFill>
                  <a:schemeClr val="tx1">
                    <a:lumMod val="95000"/>
                    <a:lumOff val="5000"/>
                  </a:schemeClr>
                </a:solidFill>
                <a:sym typeface="Arial"/>
              </a:rPr>
              <a:t>.</a:t>
            </a:r>
            <a:endParaRPr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6" name="Google Shape;91;p13" descr="image.png">
            <a:extLst>
              <a:ext uri="{FF2B5EF4-FFF2-40B4-BE49-F238E27FC236}">
                <a16:creationId xmlns:a16="http://schemas.microsoft.com/office/drawing/2014/main" id="{0F967618-6F76-4080-B37B-225F24AD6ED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69934" y="3179076"/>
            <a:ext cx="8572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92;p13" descr="image.png">
            <a:extLst>
              <a:ext uri="{FF2B5EF4-FFF2-40B4-BE49-F238E27FC236}">
                <a16:creationId xmlns:a16="http://schemas.microsoft.com/office/drawing/2014/main" id="{9DD01138-AA57-463E-A557-50F435BD613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69934" y="5230672"/>
            <a:ext cx="8572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93;p13" descr="image.png">
            <a:extLst>
              <a:ext uri="{FF2B5EF4-FFF2-40B4-BE49-F238E27FC236}">
                <a16:creationId xmlns:a16="http://schemas.microsoft.com/office/drawing/2014/main" id="{B76B13E3-9299-40EF-A1D8-7A72D3880CA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69934" y="7442109"/>
            <a:ext cx="8572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94;p13" descr="image.png">
            <a:extLst>
              <a:ext uri="{FF2B5EF4-FFF2-40B4-BE49-F238E27FC236}">
                <a16:creationId xmlns:a16="http://schemas.microsoft.com/office/drawing/2014/main" id="{C24BF696-5FBC-48E2-9987-EC59A261D98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34252" y="3421963"/>
            <a:ext cx="328613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95;p13">
            <a:extLst>
              <a:ext uri="{FF2B5EF4-FFF2-40B4-BE49-F238E27FC236}">
                <a16:creationId xmlns:a16="http://schemas.microsoft.com/office/drawing/2014/main" id="{3149EE06-9999-4536-B4A7-C3BC1CFFC1CA}"/>
              </a:ext>
            </a:extLst>
          </p:cNvPr>
          <p:cNvSpPr txBox="1"/>
          <p:nvPr/>
        </p:nvSpPr>
        <p:spPr>
          <a:xfrm>
            <a:off x="10684371" y="3176397"/>
            <a:ext cx="6440961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다차원적</a:t>
            </a:r>
            <a:r>
              <a:rPr lang="en-US" sz="2475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75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인재</a:t>
            </a:r>
            <a:r>
              <a:rPr lang="en-US" sz="2475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75" b="1" dirty="0" err="1">
                <a:solidFill>
                  <a:schemeClr val="tx1">
                    <a:lumMod val="95000"/>
                    <a:lumOff val="5000"/>
                  </a:schemeClr>
                </a:solidFill>
                <a:sym typeface="Arial"/>
              </a:rPr>
              <a:t>검증</a:t>
            </a:r>
            <a:endParaRPr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1" name="Google Shape;96;p13">
            <a:extLst>
              <a:ext uri="{FF2B5EF4-FFF2-40B4-BE49-F238E27FC236}">
                <a16:creationId xmlns:a16="http://schemas.microsoft.com/office/drawing/2014/main" id="{4B049D18-58BB-4906-A42C-950B9543334B}"/>
              </a:ext>
            </a:extLst>
          </p:cNvPr>
          <p:cNvSpPr txBox="1"/>
          <p:nvPr/>
        </p:nvSpPr>
        <p:spPr>
          <a:xfrm>
            <a:off x="10684372" y="3719322"/>
            <a:ext cx="6134249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단편적인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서류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면접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한계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극복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숨겨진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자질·잠재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역량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sym typeface="Arial"/>
              </a:rPr>
              <a:t>측정</a:t>
            </a:r>
            <a:endParaRPr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2" name="Google Shape;97;p13" descr="image.png">
            <a:extLst>
              <a:ext uri="{FF2B5EF4-FFF2-40B4-BE49-F238E27FC236}">
                <a16:creationId xmlns:a16="http://schemas.microsoft.com/office/drawing/2014/main" id="{8F95B642-C4C2-4996-8DE0-84EDBD1C6291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712821" y="5473560"/>
            <a:ext cx="37147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98;p13">
            <a:extLst>
              <a:ext uri="{FF2B5EF4-FFF2-40B4-BE49-F238E27FC236}">
                <a16:creationId xmlns:a16="http://schemas.microsoft.com/office/drawing/2014/main" id="{3FAF138A-7987-49BD-AD57-738C08E55D28}"/>
              </a:ext>
            </a:extLst>
          </p:cNvPr>
          <p:cNvSpPr txBox="1"/>
          <p:nvPr/>
        </p:nvSpPr>
        <p:spPr>
          <a:xfrm>
            <a:off x="10684372" y="5067929"/>
            <a:ext cx="646862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>
                <a:solidFill>
                  <a:schemeClr val="tx1">
                    <a:lumMod val="95000"/>
                    <a:lumOff val="5000"/>
                  </a:schemeClr>
                </a:solidFill>
                <a:sym typeface="Arial"/>
              </a:rPr>
              <a:t>조직 및 직무 적합도(Fit)</a:t>
            </a:r>
            <a:endParaRPr sz="27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4" name="Google Shape;99;p13">
            <a:extLst>
              <a:ext uri="{FF2B5EF4-FFF2-40B4-BE49-F238E27FC236}">
                <a16:creationId xmlns:a16="http://schemas.microsoft.com/office/drawing/2014/main" id="{114DE34B-C1DE-477C-B0FF-50CAF7DFBEAF}"/>
              </a:ext>
            </a:extLst>
          </p:cNvPr>
          <p:cNvSpPr txBox="1"/>
          <p:nvPr/>
        </p:nvSpPr>
        <p:spPr>
          <a:xfrm>
            <a:off x="10684370" y="5610854"/>
            <a:ext cx="6440961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단순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스펙을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넘어선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기업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문화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적응력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장기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근속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가능성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Arial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sym typeface="Arial"/>
              </a:rPr>
              <a:t>진단</a:t>
            </a:r>
            <a:endParaRPr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5" name="Google Shape;100;p13" descr="image.png">
            <a:extLst>
              <a:ext uri="{FF2B5EF4-FFF2-40B4-BE49-F238E27FC236}">
                <a16:creationId xmlns:a16="http://schemas.microsoft.com/office/drawing/2014/main" id="{75861757-6C8B-484D-A866-2362435D4813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734252" y="7684996"/>
            <a:ext cx="328613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101;p13">
            <a:extLst>
              <a:ext uri="{FF2B5EF4-FFF2-40B4-BE49-F238E27FC236}">
                <a16:creationId xmlns:a16="http://schemas.microsoft.com/office/drawing/2014/main" id="{7A5CD264-BAE8-470C-9511-DE3BD4E91EEF}"/>
              </a:ext>
            </a:extLst>
          </p:cNvPr>
          <p:cNvSpPr txBox="1"/>
          <p:nvPr/>
        </p:nvSpPr>
        <p:spPr>
          <a:xfrm>
            <a:off x="10684372" y="7279365"/>
            <a:ext cx="646862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>
                <a:solidFill>
                  <a:schemeClr val="tx1">
                    <a:lumMod val="95000"/>
                    <a:lumOff val="5000"/>
                  </a:schemeClr>
                </a:solidFill>
                <a:sym typeface="Arial"/>
              </a:rPr>
              <a:t>당락을 가르는 선발 도구</a:t>
            </a:r>
            <a:endParaRPr sz="27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7" name="Google Shape;102;p13">
            <a:extLst>
              <a:ext uri="{FF2B5EF4-FFF2-40B4-BE49-F238E27FC236}">
                <a16:creationId xmlns:a16="http://schemas.microsoft.com/office/drawing/2014/main" id="{7D98D9B3-4DE2-4AE0-BA9D-AB34EBFAAB2C}"/>
              </a:ext>
            </a:extLst>
          </p:cNvPr>
          <p:cNvSpPr txBox="1"/>
          <p:nvPr/>
        </p:nvSpPr>
        <p:spPr>
          <a:xfrm>
            <a:off x="10684371" y="7822290"/>
            <a:ext cx="616059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합격을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좌우하는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절대적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기준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sym typeface="Arial"/>
              </a:rPr>
              <a:t>이자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Arial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sym typeface="Arial"/>
              </a:rPr>
              <a:t>기업별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Arial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sym typeface="Arial"/>
              </a:rPr>
              <a:t>막대한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Arial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sym typeface="Arial"/>
              </a:rPr>
              <a:t>자본이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Arial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sym typeface="Arial"/>
              </a:rPr>
              <a:t>투자된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Arial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sym typeface="Arial"/>
              </a:rPr>
              <a:t>핵심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Arial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sym typeface="Arial"/>
              </a:rPr>
              <a:t>관문</a:t>
            </a:r>
            <a:endParaRPr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29FA8650-7428-4316-A40A-E817AF014409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6024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8450" y="1132587"/>
            <a:ext cx="13182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인성검사의 중요성 및 준비 전략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7" name="Picture 20">
            <a:extLst>
              <a:ext uri="{FF2B5EF4-FFF2-40B4-BE49-F238E27FC236}">
                <a16:creationId xmlns:a16="http://schemas.microsoft.com/office/drawing/2014/main" id="{581E111A-60B0-4F08-8021-25FC9495054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31" name="TextBox 24">
            <a:extLst>
              <a:ext uri="{FF2B5EF4-FFF2-40B4-BE49-F238E27FC236}">
                <a16:creationId xmlns:a16="http://schemas.microsoft.com/office/drawing/2014/main" id="{0D59A901-6463-4687-9715-4D43C24F5E45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02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A3BA2F72-70FA-4245-B673-0C42FECADA68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8C00D09-46DD-4131-BDED-6019AD2050B0}"/>
              </a:ext>
            </a:extLst>
          </p:cNvPr>
          <p:cNvSpPr/>
          <p:nvPr/>
        </p:nvSpPr>
        <p:spPr>
          <a:xfrm>
            <a:off x="15364653" y="9653909"/>
            <a:ext cx="23165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p.94~95</a:t>
            </a:r>
          </a:p>
        </p:txBody>
      </p:sp>
      <p:sp>
        <p:nvSpPr>
          <p:cNvPr id="26" name="TextBox 20">
            <a:extLst>
              <a:ext uri="{FF2B5EF4-FFF2-40B4-BE49-F238E27FC236}">
                <a16:creationId xmlns:a16="http://schemas.microsoft.com/office/drawing/2014/main" id="{C9C6C9FB-2014-41D1-9F31-79D431478789}"/>
              </a:ext>
            </a:extLst>
          </p:cNvPr>
          <p:cNvSpPr txBox="1"/>
          <p:nvPr/>
        </p:nvSpPr>
        <p:spPr>
          <a:xfrm>
            <a:off x="5581404" y="1779453"/>
            <a:ext cx="14268985" cy="131388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4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인성검사는 지원자의 성격</a:t>
            </a:r>
            <a:r>
              <a:rPr lang="en-US" altLang="ko-KR" sz="24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24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가치관</a:t>
            </a:r>
            <a:r>
              <a:rPr lang="en-US" altLang="ko-KR" sz="24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24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태도 등을 평가하기 위해 실시</a:t>
            </a:r>
            <a:endParaRPr lang="ko-KR" sz="2400" b="1" i="0" strike="noStrike" spc="-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pic>
        <p:nvPicPr>
          <p:cNvPr id="32" name="Google Shape;85;p13" descr="image.png">
            <a:extLst>
              <a:ext uri="{FF2B5EF4-FFF2-40B4-BE49-F238E27FC236}">
                <a16:creationId xmlns:a16="http://schemas.microsoft.com/office/drawing/2014/main" id="{821A85D7-7D50-408E-A188-E001EFA629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3971926"/>
            <a:ext cx="8001000" cy="163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86;p13" descr="image.png">
            <a:extLst>
              <a:ext uri="{FF2B5EF4-FFF2-40B4-BE49-F238E27FC236}">
                <a16:creationId xmlns:a16="http://schemas.microsoft.com/office/drawing/2014/main" id="{4C556ECE-8E26-4EA5-9983-30A56740EF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5808485"/>
            <a:ext cx="8001000" cy="163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87;p13" descr="image.png">
            <a:extLst>
              <a:ext uri="{FF2B5EF4-FFF2-40B4-BE49-F238E27FC236}">
                <a16:creationId xmlns:a16="http://schemas.microsoft.com/office/drawing/2014/main" id="{7FCDBE43-EFB4-4DCF-8400-8B2C2F689B6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7659560"/>
            <a:ext cx="8001000" cy="163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88;p13" descr="image.png">
            <a:extLst>
              <a:ext uri="{FF2B5EF4-FFF2-40B4-BE49-F238E27FC236}">
                <a16:creationId xmlns:a16="http://schemas.microsoft.com/office/drawing/2014/main" id="{00CDA098-9204-4F92-A8C1-E9D333DF21C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29750" y="3971926"/>
            <a:ext cx="8001000" cy="163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89;p13" descr="image.png">
            <a:extLst>
              <a:ext uri="{FF2B5EF4-FFF2-40B4-BE49-F238E27FC236}">
                <a16:creationId xmlns:a16="http://schemas.microsoft.com/office/drawing/2014/main" id="{953B8F97-30D4-49B5-9603-57BF59630F3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29750" y="5764948"/>
            <a:ext cx="8001000" cy="163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90;p13" descr="image.png">
            <a:extLst>
              <a:ext uri="{FF2B5EF4-FFF2-40B4-BE49-F238E27FC236}">
                <a16:creationId xmlns:a16="http://schemas.microsoft.com/office/drawing/2014/main" id="{98E589B2-82BF-4DD4-B2F3-64EDD3D7B8D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29750" y="7616024"/>
            <a:ext cx="8001000" cy="1635026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93;p13">
            <a:extLst>
              <a:ext uri="{FF2B5EF4-FFF2-40B4-BE49-F238E27FC236}">
                <a16:creationId xmlns:a16="http://schemas.microsoft.com/office/drawing/2014/main" id="{7E218B8C-BF92-487E-BFAC-EA4E2CCD9C4D}"/>
              </a:ext>
            </a:extLst>
          </p:cNvPr>
          <p:cNvSpPr txBox="1"/>
          <p:nvPr/>
        </p:nvSpPr>
        <p:spPr>
          <a:xfrm>
            <a:off x="1428750" y="3064088"/>
            <a:ext cx="74295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2700" b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기업의 평가 목적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42" name="Google Shape;94;p13">
            <a:extLst>
              <a:ext uri="{FF2B5EF4-FFF2-40B4-BE49-F238E27FC236}">
                <a16:creationId xmlns:a16="http://schemas.microsoft.com/office/drawing/2014/main" id="{6473AB91-79B5-47C2-9B95-77801F7D6332}"/>
              </a:ext>
            </a:extLst>
          </p:cNvPr>
          <p:cNvSpPr/>
          <p:nvPr/>
        </p:nvSpPr>
        <p:spPr>
          <a:xfrm>
            <a:off x="857250" y="3657600"/>
            <a:ext cx="8001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43" name="Google Shape;95;p13">
            <a:extLst>
              <a:ext uri="{FF2B5EF4-FFF2-40B4-BE49-F238E27FC236}">
                <a16:creationId xmlns:a16="http://schemas.microsoft.com/office/drawing/2014/main" id="{E5EF5B36-8117-421C-8862-24539DC5B4FE}"/>
              </a:ext>
            </a:extLst>
          </p:cNvPr>
          <p:cNvSpPr txBox="1"/>
          <p:nvPr/>
        </p:nvSpPr>
        <p:spPr>
          <a:xfrm>
            <a:off x="9958388" y="3064088"/>
            <a:ext cx="7472363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2700" b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지원자 대비 전략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44" name="Google Shape;96;p13">
            <a:extLst>
              <a:ext uri="{FF2B5EF4-FFF2-40B4-BE49-F238E27FC236}">
                <a16:creationId xmlns:a16="http://schemas.microsoft.com/office/drawing/2014/main" id="{F978870B-9E13-4EB4-A382-C08808805CD6}"/>
              </a:ext>
            </a:extLst>
          </p:cNvPr>
          <p:cNvSpPr/>
          <p:nvPr/>
        </p:nvSpPr>
        <p:spPr>
          <a:xfrm>
            <a:off x="9429750" y="3657600"/>
            <a:ext cx="8001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pic>
        <p:nvPicPr>
          <p:cNvPr id="45" name="Google Shape;97;p13" descr="image.png">
            <a:extLst>
              <a:ext uri="{FF2B5EF4-FFF2-40B4-BE49-F238E27FC236}">
                <a16:creationId xmlns:a16="http://schemas.microsoft.com/office/drawing/2014/main" id="{B69C9B2E-1CCC-4242-9312-2E6ADA8EADC2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7250" y="3057525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98;p13" descr="image.png">
            <a:extLst>
              <a:ext uri="{FF2B5EF4-FFF2-40B4-BE49-F238E27FC236}">
                <a16:creationId xmlns:a16="http://schemas.microsoft.com/office/drawing/2014/main" id="{EE76BA0D-990C-4603-9D3D-9F1D37AA8727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14438" y="4154718"/>
            <a:ext cx="628650" cy="558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99;p13" descr="image.png">
            <a:extLst>
              <a:ext uri="{FF2B5EF4-FFF2-40B4-BE49-F238E27FC236}">
                <a16:creationId xmlns:a16="http://schemas.microsoft.com/office/drawing/2014/main" id="{5C6765BD-9219-4351-84D3-D2DB4B7D0839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214438" y="5991277"/>
            <a:ext cx="628650" cy="558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100;p13" descr="image.png">
            <a:extLst>
              <a:ext uri="{FF2B5EF4-FFF2-40B4-BE49-F238E27FC236}">
                <a16:creationId xmlns:a16="http://schemas.microsoft.com/office/drawing/2014/main" id="{57E7F70C-4D95-453B-AFFC-3044B837B6B4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214438" y="7842352"/>
            <a:ext cx="628650" cy="558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101;p13" descr="image.png">
            <a:extLst>
              <a:ext uri="{FF2B5EF4-FFF2-40B4-BE49-F238E27FC236}">
                <a16:creationId xmlns:a16="http://schemas.microsoft.com/office/drawing/2014/main" id="{7345C80C-E1F8-4D0B-85A9-3B5043F6437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429751" y="3057525"/>
            <a:ext cx="357188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102;p13" descr="image.png">
            <a:extLst>
              <a:ext uri="{FF2B5EF4-FFF2-40B4-BE49-F238E27FC236}">
                <a16:creationId xmlns:a16="http://schemas.microsoft.com/office/drawing/2014/main" id="{2AA4B134-B3D0-40C7-88E7-BB856AB78F18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786938" y="4154718"/>
            <a:ext cx="628650" cy="558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103;p13" descr="image.png">
            <a:extLst>
              <a:ext uri="{FF2B5EF4-FFF2-40B4-BE49-F238E27FC236}">
                <a16:creationId xmlns:a16="http://schemas.microsoft.com/office/drawing/2014/main" id="{6747545E-A89C-4336-B2F4-4B46873D7D4E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786938" y="6136422"/>
            <a:ext cx="628650" cy="558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104;p13" descr="image.png">
            <a:extLst>
              <a:ext uri="{FF2B5EF4-FFF2-40B4-BE49-F238E27FC236}">
                <a16:creationId xmlns:a16="http://schemas.microsoft.com/office/drawing/2014/main" id="{7D70E188-2417-4E87-B2BA-50F2DD66D606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786938" y="7987498"/>
            <a:ext cx="628650" cy="558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105;p13" descr="image.png">
            <a:extLst>
              <a:ext uri="{FF2B5EF4-FFF2-40B4-BE49-F238E27FC236}">
                <a16:creationId xmlns:a16="http://schemas.microsoft.com/office/drawing/2014/main" id="{07EFDC9B-C23E-4929-8FAD-A1030669994F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385888" y="4326168"/>
            <a:ext cx="285750" cy="25392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106;p13">
            <a:extLst>
              <a:ext uri="{FF2B5EF4-FFF2-40B4-BE49-F238E27FC236}">
                <a16:creationId xmlns:a16="http://schemas.microsoft.com/office/drawing/2014/main" id="{3A4AC615-BF4C-4D7B-801C-146E6044B8CF}"/>
              </a:ext>
            </a:extLst>
          </p:cNvPr>
          <p:cNvSpPr txBox="1"/>
          <p:nvPr/>
        </p:nvSpPr>
        <p:spPr>
          <a:xfrm>
            <a:off x="2100263" y="4154719"/>
            <a:ext cx="6780848" cy="329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138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직무 적합성 판단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71" name="Google Shape;107;p13">
            <a:extLst>
              <a:ext uri="{FF2B5EF4-FFF2-40B4-BE49-F238E27FC236}">
                <a16:creationId xmlns:a16="http://schemas.microsoft.com/office/drawing/2014/main" id="{BD302EE1-0D9F-41C1-96AF-89343A36E2BC}"/>
              </a:ext>
            </a:extLst>
          </p:cNvPr>
          <p:cNvSpPr txBox="1"/>
          <p:nvPr/>
        </p:nvSpPr>
        <p:spPr>
          <a:xfrm>
            <a:off x="2100263" y="4611919"/>
            <a:ext cx="645795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지원자의 가치관 및 성향이 </a:t>
            </a:r>
            <a:r>
              <a:rPr lang="en-US" b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해당 직무 특성과 부합하는지 매칭</a:t>
            </a:r>
            <a:r>
              <a:rPr lang="en-US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(예: 고객 응대 직무 ➔ 친절/적극성 요구)</a:t>
            </a:r>
            <a:endParaRPr sz="2700">
              <a:latin typeface="+mj-ea"/>
              <a:ea typeface="+mj-ea"/>
            </a:endParaRPr>
          </a:p>
        </p:txBody>
      </p:sp>
      <p:pic>
        <p:nvPicPr>
          <p:cNvPr id="72" name="Google Shape;108;p13" descr="image.png">
            <a:extLst>
              <a:ext uri="{FF2B5EF4-FFF2-40B4-BE49-F238E27FC236}">
                <a16:creationId xmlns:a16="http://schemas.microsoft.com/office/drawing/2014/main" id="{93DB04A4-0527-47D0-8F2D-DE39AF68B5B3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350169" y="6162727"/>
            <a:ext cx="357188" cy="253923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109;p13">
            <a:extLst>
              <a:ext uri="{FF2B5EF4-FFF2-40B4-BE49-F238E27FC236}">
                <a16:creationId xmlns:a16="http://schemas.microsoft.com/office/drawing/2014/main" id="{102F154D-7A65-4E42-84BC-C1A3959F0EAA}"/>
              </a:ext>
            </a:extLst>
          </p:cNvPr>
          <p:cNvSpPr txBox="1"/>
          <p:nvPr/>
        </p:nvSpPr>
        <p:spPr>
          <a:xfrm>
            <a:off x="2100263" y="5991278"/>
            <a:ext cx="6780848" cy="329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138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조직 적응력 검증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74" name="Google Shape;110;p13">
            <a:extLst>
              <a:ext uri="{FF2B5EF4-FFF2-40B4-BE49-F238E27FC236}">
                <a16:creationId xmlns:a16="http://schemas.microsoft.com/office/drawing/2014/main" id="{7F0C66C8-1E32-47DB-861E-CF5CA26A911D}"/>
              </a:ext>
            </a:extLst>
          </p:cNvPr>
          <p:cNvSpPr txBox="1"/>
          <p:nvPr/>
        </p:nvSpPr>
        <p:spPr>
          <a:xfrm>
            <a:off x="2100263" y="6448478"/>
            <a:ext cx="645795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특정 조직 문화 내에서의 </a:t>
            </a:r>
            <a:r>
              <a:rPr lang="en-US" b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원활한 적응 및 융화 가능성 확인</a:t>
            </a:r>
            <a:r>
              <a:rPr lang="en-US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(예: 협업 중시 기업 ➔ 배려/협조성 요구)</a:t>
            </a:r>
            <a:endParaRPr sz="2700">
              <a:latin typeface="+mj-ea"/>
              <a:ea typeface="+mj-ea"/>
            </a:endParaRPr>
          </a:p>
        </p:txBody>
      </p:sp>
      <p:pic>
        <p:nvPicPr>
          <p:cNvPr id="75" name="Google Shape;111;p13" descr="image.png">
            <a:extLst>
              <a:ext uri="{FF2B5EF4-FFF2-40B4-BE49-F238E27FC236}">
                <a16:creationId xmlns:a16="http://schemas.microsoft.com/office/drawing/2014/main" id="{0D165414-29C8-40BA-8124-292B70D763B7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385888" y="8013802"/>
            <a:ext cx="285750" cy="253923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112;p13">
            <a:extLst>
              <a:ext uri="{FF2B5EF4-FFF2-40B4-BE49-F238E27FC236}">
                <a16:creationId xmlns:a16="http://schemas.microsoft.com/office/drawing/2014/main" id="{7830CF1A-BA98-4FBE-AB9D-E57B7D4D363D}"/>
              </a:ext>
            </a:extLst>
          </p:cNvPr>
          <p:cNvSpPr txBox="1"/>
          <p:nvPr/>
        </p:nvSpPr>
        <p:spPr>
          <a:xfrm>
            <a:off x="2100263" y="7842353"/>
            <a:ext cx="6780848" cy="329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138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인성적 결함 필터링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77" name="Google Shape;113;p13">
            <a:extLst>
              <a:ext uri="{FF2B5EF4-FFF2-40B4-BE49-F238E27FC236}">
                <a16:creationId xmlns:a16="http://schemas.microsoft.com/office/drawing/2014/main" id="{0D592D12-7363-495C-A6FD-09036BC4B4C9}"/>
              </a:ext>
            </a:extLst>
          </p:cNvPr>
          <p:cNvSpPr txBox="1"/>
          <p:nvPr/>
        </p:nvSpPr>
        <p:spPr>
          <a:xfrm>
            <a:off x="2100263" y="8299553"/>
            <a:ext cx="645795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직무 수행 및 조직 생활에 심각한 지장을 초래할 수 있는 </a:t>
            </a:r>
            <a:r>
              <a:rPr lang="en-US" b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부정적/위험 성향 사전 차단</a:t>
            </a:r>
            <a:endParaRPr sz="2700">
              <a:latin typeface="+mj-ea"/>
              <a:ea typeface="+mj-ea"/>
            </a:endParaRPr>
          </a:p>
        </p:txBody>
      </p:sp>
      <p:pic>
        <p:nvPicPr>
          <p:cNvPr id="78" name="Google Shape;114;p13" descr="image.png">
            <a:extLst>
              <a:ext uri="{FF2B5EF4-FFF2-40B4-BE49-F238E27FC236}">
                <a16:creationId xmlns:a16="http://schemas.microsoft.com/office/drawing/2014/main" id="{09CA5ED0-DB95-46EE-A4A5-BEAE63A0C5E4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922669" y="4326168"/>
            <a:ext cx="357188" cy="253923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115;p13">
            <a:extLst>
              <a:ext uri="{FF2B5EF4-FFF2-40B4-BE49-F238E27FC236}">
                <a16:creationId xmlns:a16="http://schemas.microsoft.com/office/drawing/2014/main" id="{0037622A-B8F3-4C90-B5FA-4183EBAE0D7C}"/>
              </a:ext>
            </a:extLst>
          </p:cNvPr>
          <p:cNvSpPr txBox="1"/>
          <p:nvPr/>
        </p:nvSpPr>
        <p:spPr>
          <a:xfrm>
            <a:off x="10672763" y="4154719"/>
            <a:ext cx="6780848" cy="329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138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진실성 및 일관성 유지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80" name="Google Shape;116;p13">
            <a:extLst>
              <a:ext uri="{FF2B5EF4-FFF2-40B4-BE49-F238E27FC236}">
                <a16:creationId xmlns:a16="http://schemas.microsoft.com/office/drawing/2014/main" id="{D10953E4-EA39-49F4-9D04-4BA9B285EF0A}"/>
              </a:ext>
            </a:extLst>
          </p:cNvPr>
          <p:cNvSpPr txBox="1"/>
          <p:nvPr/>
        </p:nvSpPr>
        <p:spPr>
          <a:xfrm>
            <a:off x="10672763" y="4611919"/>
            <a:ext cx="645795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반복 출제되는 교차 검증 문항 대비, 인위적 조작을 배제한 </a:t>
            </a:r>
            <a:r>
              <a:rPr lang="en-US" b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솔직하고 일관된 답변 패턴 유지</a:t>
            </a:r>
            <a:endParaRPr sz="2700">
              <a:latin typeface="+mj-ea"/>
              <a:ea typeface="+mj-ea"/>
            </a:endParaRPr>
          </a:p>
        </p:txBody>
      </p:sp>
      <p:pic>
        <p:nvPicPr>
          <p:cNvPr id="81" name="Google Shape;117;p13" descr="image.png">
            <a:extLst>
              <a:ext uri="{FF2B5EF4-FFF2-40B4-BE49-F238E27FC236}">
                <a16:creationId xmlns:a16="http://schemas.microsoft.com/office/drawing/2014/main" id="{D4B4B920-DC05-47EC-938B-E0B5927D53C2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9922669" y="6307872"/>
            <a:ext cx="357188" cy="25392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118;p13">
            <a:extLst>
              <a:ext uri="{FF2B5EF4-FFF2-40B4-BE49-F238E27FC236}">
                <a16:creationId xmlns:a16="http://schemas.microsoft.com/office/drawing/2014/main" id="{6BDF942E-03EE-4C39-8312-E048FF4DB703}"/>
              </a:ext>
            </a:extLst>
          </p:cNvPr>
          <p:cNvSpPr txBox="1"/>
          <p:nvPr/>
        </p:nvSpPr>
        <p:spPr>
          <a:xfrm>
            <a:off x="10672763" y="6136423"/>
            <a:ext cx="6780848" cy="329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138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인재상 및 직무 사전 분석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83" name="Google Shape;119;p13">
            <a:extLst>
              <a:ext uri="{FF2B5EF4-FFF2-40B4-BE49-F238E27FC236}">
                <a16:creationId xmlns:a16="http://schemas.microsoft.com/office/drawing/2014/main" id="{90776243-BCB4-45B5-8375-785439EB4C0A}"/>
              </a:ext>
            </a:extLst>
          </p:cNvPr>
          <p:cNvSpPr txBox="1"/>
          <p:nvPr/>
        </p:nvSpPr>
        <p:spPr>
          <a:xfrm>
            <a:off x="10672763" y="6593623"/>
            <a:ext cx="645795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지원 전 타겟 기업의 핵심 인재상을 완벽 파악하고, </a:t>
            </a:r>
            <a:r>
              <a:rPr lang="en-US" b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본인 성향과의 접점(교집합) 전략적 어필</a:t>
            </a:r>
            <a:endParaRPr sz="2700">
              <a:latin typeface="+mj-ea"/>
              <a:ea typeface="+mj-ea"/>
            </a:endParaRPr>
          </a:p>
        </p:txBody>
      </p:sp>
      <p:pic>
        <p:nvPicPr>
          <p:cNvPr id="84" name="Google Shape;120;p13" descr="image.png">
            <a:extLst>
              <a:ext uri="{FF2B5EF4-FFF2-40B4-BE49-F238E27FC236}">
                <a16:creationId xmlns:a16="http://schemas.microsoft.com/office/drawing/2014/main" id="{C3F5AA21-0D11-45C4-BFA9-6E5E2AABF409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958388" y="8158948"/>
            <a:ext cx="285750" cy="25392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121;p13">
            <a:extLst>
              <a:ext uri="{FF2B5EF4-FFF2-40B4-BE49-F238E27FC236}">
                <a16:creationId xmlns:a16="http://schemas.microsoft.com/office/drawing/2014/main" id="{A436333F-395F-4D6B-9845-13861B82B7CA}"/>
              </a:ext>
            </a:extLst>
          </p:cNvPr>
          <p:cNvSpPr txBox="1"/>
          <p:nvPr/>
        </p:nvSpPr>
        <p:spPr>
          <a:xfrm>
            <a:off x="10672763" y="7987499"/>
            <a:ext cx="6780848" cy="329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138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평가 핵심 로직(Screen-out) 인지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86" name="Google Shape;122;p13">
            <a:extLst>
              <a:ext uri="{FF2B5EF4-FFF2-40B4-BE49-F238E27FC236}">
                <a16:creationId xmlns:a16="http://schemas.microsoft.com/office/drawing/2014/main" id="{1832B4B3-34D4-4B59-8215-B05C6C0EB208}"/>
              </a:ext>
            </a:extLst>
          </p:cNvPr>
          <p:cNvSpPr txBox="1"/>
          <p:nvPr/>
        </p:nvSpPr>
        <p:spPr>
          <a:xfrm>
            <a:off x="10672763" y="8444699"/>
            <a:ext cx="645795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업무를 잘할 사람(Select-in)을 뽑는 것보다, </a:t>
            </a:r>
            <a:r>
              <a:rPr lang="en-US" b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부적합자/위험 성향을 걸러내는(Screen-out) 목적</a:t>
            </a:r>
            <a:r>
              <a:rPr lang="en-US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임을 명심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46" name="TextBox 7">
            <a:extLst>
              <a:ext uri="{FF2B5EF4-FFF2-40B4-BE49-F238E27FC236}">
                <a16:creationId xmlns:a16="http://schemas.microsoft.com/office/drawing/2014/main" id="{51E2FE1A-2612-476B-A738-60C39C4DD7E0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8670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0" y="956921"/>
            <a:ext cx="13182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 err="1">
                <a:solidFill>
                  <a:srgbClr val="505050"/>
                </a:solidFill>
                <a:latin typeface="Gmarket Sans Medium"/>
              </a:rPr>
              <a:t>인적성</a:t>
            </a: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 검사 </a:t>
            </a:r>
            <a:r>
              <a:rPr lang="en-US" altLang="ko-KR" sz="6200" b="1" spc="-500" dirty="0">
                <a:solidFill>
                  <a:srgbClr val="505050"/>
                </a:solidFill>
                <a:latin typeface="Gmarket Sans Medium"/>
              </a:rPr>
              <a:t>3</a:t>
            </a: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가지 </a:t>
            </a:r>
            <a:r>
              <a:rPr lang="ko-KR" altLang="en-US" sz="6200" b="1" spc="-500" dirty="0" err="1">
                <a:solidFill>
                  <a:srgbClr val="505050"/>
                </a:solidFill>
                <a:latin typeface="Gmarket Sans Medium"/>
              </a:rPr>
              <a:t>전략법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sp>
        <p:nvSpPr>
          <p:cNvPr id="30" name="TextBox 14">
            <a:extLst>
              <a:ext uri="{FF2B5EF4-FFF2-40B4-BE49-F238E27FC236}">
                <a16:creationId xmlns:a16="http://schemas.microsoft.com/office/drawing/2014/main" id="{9C350B33-5FDF-415B-BABC-1C47DC2F809A}"/>
              </a:ext>
            </a:extLst>
          </p:cNvPr>
          <p:cNvSpPr txBox="1"/>
          <p:nvPr/>
        </p:nvSpPr>
        <p:spPr>
          <a:xfrm>
            <a:off x="10439400" y="9291497"/>
            <a:ext cx="5575300" cy="56356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ko-KR" sz="2800" b="1" i="0" u="none" strike="noStrike" spc="-100" dirty="0">
              <a:solidFill>
                <a:schemeClr val="tx1">
                  <a:alpha val="97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25" name="Picture 20">
            <a:extLst>
              <a:ext uri="{FF2B5EF4-FFF2-40B4-BE49-F238E27FC236}">
                <a16:creationId xmlns:a16="http://schemas.microsoft.com/office/drawing/2014/main" id="{FEBE541B-18DC-406E-849A-2EB61898F76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26" name="TextBox 24">
            <a:extLst>
              <a:ext uri="{FF2B5EF4-FFF2-40B4-BE49-F238E27FC236}">
                <a16:creationId xmlns:a16="http://schemas.microsoft.com/office/drawing/2014/main" id="{7474637A-3A01-4F4D-9E10-FC4072486F6B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03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46DDD42-6793-4765-8A9F-8AE57D486FEC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57B0754-4DD8-442E-89CF-7A6D9424470C}"/>
              </a:ext>
            </a:extLst>
          </p:cNvPr>
          <p:cNvSpPr/>
          <p:nvPr/>
        </p:nvSpPr>
        <p:spPr>
          <a:xfrm>
            <a:off x="15849900" y="9632434"/>
            <a:ext cx="18837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p.96</a:t>
            </a:r>
          </a:p>
        </p:txBody>
      </p:sp>
      <p:pic>
        <p:nvPicPr>
          <p:cNvPr id="20" name="Google Shape;128;p14" descr="image.png">
            <a:extLst>
              <a:ext uri="{FF2B5EF4-FFF2-40B4-BE49-F238E27FC236}">
                <a16:creationId xmlns:a16="http://schemas.microsoft.com/office/drawing/2014/main" id="{2A3C04C2-9736-4F37-B838-4298273946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3028950"/>
            <a:ext cx="165735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29;p14" descr="image.png">
            <a:extLst>
              <a:ext uri="{FF2B5EF4-FFF2-40B4-BE49-F238E27FC236}">
                <a16:creationId xmlns:a16="http://schemas.microsoft.com/office/drawing/2014/main" id="{7AC70149-996F-4DF0-820C-3D51FECD4CC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5329238"/>
            <a:ext cx="165735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30;p14" descr="image.png">
            <a:extLst>
              <a:ext uri="{FF2B5EF4-FFF2-40B4-BE49-F238E27FC236}">
                <a16:creationId xmlns:a16="http://schemas.microsoft.com/office/drawing/2014/main" id="{A029715A-3444-4405-884A-876AB6AD79E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7629525"/>
            <a:ext cx="165735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31;p14" descr="image.png">
            <a:extLst>
              <a:ext uri="{FF2B5EF4-FFF2-40B4-BE49-F238E27FC236}">
                <a16:creationId xmlns:a16="http://schemas.microsoft.com/office/drawing/2014/main" id="{F72B8D9E-17A5-498B-8569-AEE0A796068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1538" y="3043238"/>
            <a:ext cx="1714500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132;p14" descr="image.png">
            <a:extLst>
              <a:ext uri="{FF2B5EF4-FFF2-40B4-BE49-F238E27FC236}">
                <a16:creationId xmlns:a16="http://schemas.microsoft.com/office/drawing/2014/main" id="{1ADF6B34-3923-4B6D-A170-BEDD969223D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1538" y="5343525"/>
            <a:ext cx="1714500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33;p14" descr="image.png">
            <a:extLst>
              <a:ext uri="{FF2B5EF4-FFF2-40B4-BE49-F238E27FC236}">
                <a16:creationId xmlns:a16="http://schemas.microsoft.com/office/drawing/2014/main" id="{E131AA06-585D-488C-BB67-AE22487460C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1538" y="7643813"/>
            <a:ext cx="1714500" cy="1914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36;p14">
            <a:extLst>
              <a:ext uri="{FF2B5EF4-FFF2-40B4-BE49-F238E27FC236}">
                <a16:creationId xmlns:a16="http://schemas.microsoft.com/office/drawing/2014/main" id="{105B9D32-1C80-4D81-99CA-497D1A0A15A0}"/>
              </a:ext>
            </a:extLst>
          </p:cNvPr>
          <p:cNvSpPr txBox="1"/>
          <p:nvPr/>
        </p:nvSpPr>
        <p:spPr>
          <a:xfrm>
            <a:off x="3157538" y="3554909"/>
            <a:ext cx="4500563" cy="108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7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타겟</a:t>
            </a:r>
            <a:r>
              <a:rPr lang="en-US" sz="27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7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기업</a:t>
            </a:r>
            <a:r>
              <a:rPr lang="en-US" sz="27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7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채용</a:t>
            </a:r>
            <a:r>
              <a:rPr lang="en-US" sz="27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7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절차</a:t>
            </a:r>
            <a:br>
              <a:rPr lang="en-US" sz="2700" dirty="0">
                <a:solidFill>
                  <a:schemeClr val="dk1"/>
                </a:solidFill>
                <a:latin typeface="+mj-ea"/>
                <a:ea typeface="+mj-ea"/>
                <a:cs typeface="Calibri"/>
                <a:sym typeface="Calibri"/>
              </a:rPr>
            </a:br>
            <a:r>
              <a:rPr lang="en-US" sz="27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선제적</a:t>
            </a:r>
            <a:r>
              <a:rPr lang="en-US" sz="27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7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분석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33" name="Google Shape;137;p14">
            <a:extLst>
              <a:ext uri="{FF2B5EF4-FFF2-40B4-BE49-F238E27FC236}">
                <a16:creationId xmlns:a16="http://schemas.microsoft.com/office/drawing/2014/main" id="{E32DB3C4-5617-4B3C-ACC5-0C55652EF2D0}"/>
              </a:ext>
            </a:extLst>
          </p:cNvPr>
          <p:cNvSpPr/>
          <p:nvPr/>
        </p:nvSpPr>
        <p:spPr>
          <a:xfrm>
            <a:off x="7415213" y="3554909"/>
            <a:ext cx="28575" cy="89118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34" name="Google Shape;138;p14">
            <a:extLst>
              <a:ext uri="{FF2B5EF4-FFF2-40B4-BE49-F238E27FC236}">
                <a16:creationId xmlns:a16="http://schemas.microsoft.com/office/drawing/2014/main" id="{414B5AE1-81F5-4EEB-8D28-60353DAEA260}"/>
              </a:ext>
            </a:extLst>
          </p:cNvPr>
          <p:cNvSpPr txBox="1"/>
          <p:nvPr/>
        </p:nvSpPr>
        <p:spPr>
          <a:xfrm>
            <a:off x="3157538" y="5855196"/>
            <a:ext cx="4500563" cy="108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7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서류</a:t>
            </a:r>
            <a:r>
              <a:rPr lang="en-US" sz="27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7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발표</a:t>
            </a:r>
            <a:r>
              <a:rPr lang="en-US" sz="27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전</a:t>
            </a:r>
            <a:br>
              <a:rPr lang="en-US" sz="2700" dirty="0">
                <a:solidFill>
                  <a:schemeClr val="dk1"/>
                </a:solidFill>
                <a:latin typeface="+mj-ea"/>
                <a:ea typeface="+mj-ea"/>
                <a:cs typeface="Calibri"/>
                <a:sym typeface="Calibri"/>
              </a:rPr>
            </a:br>
            <a:r>
              <a:rPr lang="en-US" sz="27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장기적</a:t>
            </a:r>
            <a:r>
              <a:rPr lang="en-US" sz="27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7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조기</a:t>
            </a:r>
            <a:r>
              <a:rPr lang="en-US" sz="27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7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대비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35" name="Google Shape;139;p14">
            <a:extLst>
              <a:ext uri="{FF2B5EF4-FFF2-40B4-BE49-F238E27FC236}">
                <a16:creationId xmlns:a16="http://schemas.microsoft.com/office/drawing/2014/main" id="{8BB79DFB-C192-4E20-9E17-9DB593253E7D}"/>
              </a:ext>
            </a:extLst>
          </p:cNvPr>
          <p:cNvSpPr/>
          <p:nvPr/>
        </p:nvSpPr>
        <p:spPr>
          <a:xfrm>
            <a:off x="7415213" y="5855197"/>
            <a:ext cx="28575" cy="89118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36" name="Google Shape;140;p14">
            <a:extLst>
              <a:ext uri="{FF2B5EF4-FFF2-40B4-BE49-F238E27FC236}">
                <a16:creationId xmlns:a16="http://schemas.microsoft.com/office/drawing/2014/main" id="{00904842-89C5-4EE4-B08C-2DE685AEC944}"/>
              </a:ext>
            </a:extLst>
          </p:cNvPr>
          <p:cNvSpPr txBox="1"/>
          <p:nvPr/>
        </p:nvSpPr>
        <p:spPr>
          <a:xfrm>
            <a:off x="3157538" y="8155484"/>
            <a:ext cx="4500563" cy="108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7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적성검사</a:t>
            </a:r>
            <a:r>
              <a:rPr lang="en-US" sz="27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7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맞춤형</a:t>
            </a:r>
            <a:br>
              <a:rPr lang="en-US" sz="2700" dirty="0">
                <a:solidFill>
                  <a:schemeClr val="dk1"/>
                </a:solidFill>
                <a:latin typeface="+mj-ea"/>
                <a:ea typeface="+mj-ea"/>
                <a:cs typeface="Calibri"/>
                <a:sym typeface="Calibri"/>
              </a:rPr>
            </a:br>
            <a:r>
              <a:rPr lang="en-US" sz="27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철저한</a:t>
            </a:r>
            <a:r>
              <a:rPr lang="en-US" sz="27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7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반복</a:t>
            </a:r>
            <a:r>
              <a:rPr lang="en-US" sz="27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7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훈련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37" name="Google Shape;141;p14">
            <a:extLst>
              <a:ext uri="{FF2B5EF4-FFF2-40B4-BE49-F238E27FC236}">
                <a16:creationId xmlns:a16="http://schemas.microsoft.com/office/drawing/2014/main" id="{F6564256-8CC6-4C16-8223-DFF7FE52FFA7}"/>
              </a:ext>
            </a:extLst>
          </p:cNvPr>
          <p:cNvSpPr/>
          <p:nvPr/>
        </p:nvSpPr>
        <p:spPr>
          <a:xfrm>
            <a:off x="7415213" y="8155484"/>
            <a:ext cx="28575" cy="89118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39" name="Google Shape;142;p14">
            <a:extLst>
              <a:ext uri="{FF2B5EF4-FFF2-40B4-BE49-F238E27FC236}">
                <a16:creationId xmlns:a16="http://schemas.microsoft.com/office/drawing/2014/main" id="{14DED070-2BC9-424C-B6C5-87BD8057AA07}"/>
              </a:ext>
            </a:extLst>
          </p:cNvPr>
          <p:cNvSpPr txBox="1"/>
          <p:nvPr/>
        </p:nvSpPr>
        <p:spPr>
          <a:xfrm>
            <a:off x="8301038" y="3554909"/>
            <a:ext cx="8543925" cy="43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25"/>
              </a:lnSpc>
            </a:pPr>
            <a:r>
              <a:rPr lang="en-US" sz="2025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목표</a:t>
            </a:r>
            <a:r>
              <a:rPr lang="en-US" sz="2025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기업의</a:t>
            </a:r>
            <a:r>
              <a:rPr lang="en-US" sz="2025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인·적성</a:t>
            </a:r>
            <a:r>
              <a:rPr lang="en-US" sz="2025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검사</a:t>
            </a:r>
            <a:r>
              <a:rPr lang="en-US" sz="2025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유무</a:t>
            </a:r>
            <a:r>
              <a:rPr lang="en-US" sz="2025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sz="2025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평가</a:t>
            </a:r>
            <a:r>
              <a:rPr lang="en-US" sz="2025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비중</a:t>
            </a:r>
            <a:r>
              <a:rPr lang="en-US" sz="2025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사전</a:t>
            </a:r>
            <a:r>
              <a:rPr lang="en-US" sz="2025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파악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40" name="Google Shape;143;p14">
            <a:extLst>
              <a:ext uri="{FF2B5EF4-FFF2-40B4-BE49-F238E27FC236}">
                <a16:creationId xmlns:a16="http://schemas.microsoft.com/office/drawing/2014/main" id="{F189A72E-F51B-4ABF-9F25-3D8A54BA4414}"/>
              </a:ext>
            </a:extLst>
          </p:cNvPr>
          <p:cNvSpPr txBox="1"/>
          <p:nvPr/>
        </p:nvSpPr>
        <p:spPr>
          <a:xfrm>
            <a:off x="8301038" y="4086226"/>
            <a:ext cx="8543925" cy="43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25"/>
              </a:lnSpc>
            </a:pPr>
            <a:r>
              <a:rPr lang="en-US" sz="2025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대기업 취업의 </a:t>
            </a:r>
            <a:r>
              <a:rPr lang="en-US" sz="2025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필수 관문임을 인지하고 시간/노력 집중 투자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41" name="Google Shape;144;p14">
            <a:extLst>
              <a:ext uri="{FF2B5EF4-FFF2-40B4-BE49-F238E27FC236}">
                <a16:creationId xmlns:a16="http://schemas.microsoft.com/office/drawing/2014/main" id="{389260BA-AF13-4843-A050-D34824D15850}"/>
              </a:ext>
            </a:extLst>
          </p:cNvPr>
          <p:cNvSpPr txBox="1"/>
          <p:nvPr/>
        </p:nvSpPr>
        <p:spPr>
          <a:xfrm>
            <a:off x="8301038" y="5855197"/>
            <a:ext cx="8543925" cy="43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25"/>
              </a:lnSpc>
            </a:pPr>
            <a:r>
              <a:rPr lang="en-US" sz="2025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서류 합격 발표 후 시험까지 단 수일 소요, </a:t>
            </a:r>
            <a:r>
              <a:rPr lang="en-US" sz="2025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단기 벼락치기 절대 불가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42" name="Google Shape;145;p14">
            <a:extLst>
              <a:ext uri="{FF2B5EF4-FFF2-40B4-BE49-F238E27FC236}">
                <a16:creationId xmlns:a16="http://schemas.microsoft.com/office/drawing/2014/main" id="{51D1A1ED-65EB-4A35-9F12-942F2AC6CCDD}"/>
              </a:ext>
            </a:extLst>
          </p:cNvPr>
          <p:cNvSpPr txBox="1"/>
          <p:nvPr/>
        </p:nvSpPr>
        <p:spPr>
          <a:xfrm>
            <a:off x="8301038" y="6386513"/>
            <a:ext cx="8543925" cy="43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25"/>
              </a:lnSpc>
            </a:pPr>
            <a:r>
              <a:rPr lang="en-US" sz="2025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점점 상향화 및 까다로워지는 합격 기준에 맞춘 </a:t>
            </a:r>
            <a:r>
              <a:rPr lang="en-US" sz="2025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철저한 장기 훈련 진행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43" name="Google Shape;146;p14">
            <a:extLst>
              <a:ext uri="{FF2B5EF4-FFF2-40B4-BE49-F238E27FC236}">
                <a16:creationId xmlns:a16="http://schemas.microsoft.com/office/drawing/2014/main" id="{A25DB443-B8F6-4DC9-BAA1-CDA22FE36501}"/>
              </a:ext>
            </a:extLst>
          </p:cNvPr>
          <p:cNvSpPr txBox="1"/>
          <p:nvPr/>
        </p:nvSpPr>
        <p:spPr>
          <a:xfrm>
            <a:off x="8301038" y="8155484"/>
            <a:ext cx="8543925" cy="43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25"/>
              </a:lnSpc>
            </a:pPr>
            <a:r>
              <a:rPr lang="en-US" sz="2025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명확한 정답과 높은 난이도가 존재하는 </a:t>
            </a:r>
            <a:r>
              <a:rPr lang="en-US" sz="2025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지능적/논리적 평가 영역 대비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44" name="Google Shape;147;p14">
            <a:extLst>
              <a:ext uri="{FF2B5EF4-FFF2-40B4-BE49-F238E27FC236}">
                <a16:creationId xmlns:a16="http://schemas.microsoft.com/office/drawing/2014/main" id="{334C5D3B-2B2B-473F-A9B9-DA9BF638CB56}"/>
              </a:ext>
            </a:extLst>
          </p:cNvPr>
          <p:cNvSpPr txBox="1"/>
          <p:nvPr/>
        </p:nvSpPr>
        <p:spPr>
          <a:xfrm>
            <a:off x="8301038" y="8686801"/>
            <a:ext cx="8543925" cy="43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25"/>
              </a:lnSpc>
            </a:pPr>
            <a:r>
              <a:rPr lang="en-US" sz="2025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유형별 사전 학습 및 모의고사를 통한 </a:t>
            </a:r>
            <a:r>
              <a:rPr lang="en-US" sz="2025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풀이 시간 단축 및 정답률 확보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45" name="Google Shape;148;p14">
            <a:extLst>
              <a:ext uri="{FF2B5EF4-FFF2-40B4-BE49-F238E27FC236}">
                <a16:creationId xmlns:a16="http://schemas.microsoft.com/office/drawing/2014/main" id="{051475DE-FE63-4961-9F3C-59DFF1E3E7F9}"/>
              </a:ext>
            </a:extLst>
          </p:cNvPr>
          <p:cNvSpPr/>
          <p:nvPr/>
        </p:nvSpPr>
        <p:spPr>
          <a:xfrm>
            <a:off x="8025720" y="3771489"/>
            <a:ext cx="85725" cy="857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48" name="Google Shape;149;p14">
            <a:extLst>
              <a:ext uri="{FF2B5EF4-FFF2-40B4-BE49-F238E27FC236}">
                <a16:creationId xmlns:a16="http://schemas.microsoft.com/office/drawing/2014/main" id="{9F22ABC8-E359-4AB1-8308-6DE51C1DF05C}"/>
              </a:ext>
            </a:extLst>
          </p:cNvPr>
          <p:cNvSpPr/>
          <p:nvPr/>
        </p:nvSpPr>
        <p:spPr>
          <a:xfrm>
            <a:off x="8025720" y="4302805"/>
            <a:ext cx="85725" cy="857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49" name="Google Shape;150;p14">
            <a:extLst>
              <a:ext uri="{FF2B5EF4-FFF2-40B4-BE49-F238E27FC236}">
                <a16:creationId xmlns:a16="http://schemas.microsoft.com/office/drawing/2014/main" id="{C88689BE-1524-4B24-A717-5B0662140F82}"/>
              </a:ext>
            </a:extLst>
          </p:cNvPr>
          <p:cNvSpPr/>
          <p:nvPr/>
        </p:nvSpPr>
        <p:spPr>
          <a:xfrm>
            <a:off x="8025720" y="6071776"/>
            <a:ext cx="85725" cy="857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50" name="Google Shape;151;p14">
            <a:extLst>
              <a:ext uri="{FF2B5EF4-FFF2-40B4-BE49-F238E27FC236}">
                <a16:creationId xmlns:a16="http://schemas.microsoft.com/office/drawing/2014/main" id="{CE48D301-4C77-4488-863C-72BF95693347}"/>
              </a:ext>
            </a:extLst>
          </p:cNvPr>
          <p:cNvSpPr/>
          <p:nvPr/>
        </p:nvSpPr>
        <p:spPr>
          <a:xfrm>
            <a:off x="8025720" y="6603093"/>
            <a:ext cx="85725" cy="857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51" name="Google Shape;152;p14">
            <a:extLst>
              <a:ext uri="{FF2B5EF4-FFF2-40B4-BE49-F238E27FC236}">
                <a16:creationId xmlns:a16="http://schemas.microsoft.com/office/drawing/2014/main" id="{D2F6ACE9-C5A8-4DD9-884D-0086092E446D}"/>
              </a:ext>
            </a:extLst>
          </p:cNvPr>
          <p:cNvSpPr/>
          <p:nvPr/>
        </p:nvSpPr>
        <p:spPr>
          <a:xfrm>
            <a:off x="8025720" y="8372064"/>
            <a:ext cx="85725" cy="857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52" name="Google Shape;153;p14">
            <a:extLst>
              <a:ext uri="{FF2B5EF4-FFF2-40B4-BE49-F238E27FC236}">
                <a16:creationId xmlns:a16="http://schemas.microsoft.com/office/drawing/2014/main" id="{687453F5-6CE6-4C64-A6FA-8BC2B3598E91}"/>
              </a:ext>
            </a:extLst>
          </p:cNvPr>
          <p:cNvSpPr/>
          <p:nvPr/>
        </p:nvSpPr>
        <p:spPr>
          <a:xfrm>
            <a:off x="8025720" y="8903380"/>
            <a:ext cx="85725" cy="857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309AE58F-E86C-4F00-85BB-4BCFD21DAA30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9312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0" y="956921"/>
            <a:ext cx="13182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인적성검사 영역별 노하우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31" name="Picture 20">
            <a:extLst>
              <a:ext uri="{FF2B5EF4-FFF2-40B4-BE49-F238E27FC236}">
                <a16:creationId xmlns:a16="http://schemas.microsoft.com/office/drawing/2014/main" id="{6026AB1B-DB12-4120-9C7B-A8F7735E5C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40" name="TextBox 24">
            <a:extLst>
              <a:ext uri="{FF2B5EF4-FFF2-40B4-BE49-F238E27FC236}">
                <a16:creationId xmlns:a16="http://schemas.microsoft.com/office/drawing/2014/main" id="{A0285A17-FC5C-4228-8E24-1591686195C6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04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8615266-8618-410E-B82F-6BD3B7E8FEF8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7ADD27C-6F3D-43AD-8D0E-69A2E0A22839}"/>
              </a:ext>
            </a:extLst>
          </p:cNvPr>
          <p:cNvSpPr/>
          <p:nvPr/>
        </p:nvSpPr>
        <p:spPr>
          <a:xfrm>
            <a:off x="15643630" y="9632434"/>
            <a:ext cx="232307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p.97~98</a:t>
            </a:r>
          </a:p>
        </p:txBody>
      </p:sp>
      <p:pic>
        <p:nvPicPr>
          <p:cNvPr id="43" name="Google Shape;177;p15" descr="image.png">
            <a:extLst>
              <a:ext uri="{FF2B5EF4-FFF2-40B4-BE49-F238E27FC236}">
                <a16:creationId xmlns:a16="http://schemas.microsoft.com/office/drawing/2014/main" id="{75244474-175B-423B-86FE-9DCF5A8BB7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9079" y="2879634"/>
            <a:ext cx="8072438" cy="3108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178;p15" descr="image.png">
            <a:extLst>
              <a:ext uri="{FF2B5EF4-FFF2-40B4-BE49-F238E27FC236}">
                <a16:creationId xmlns:a16="http://schemas.microsoft.com/office/drawing/2014/main" id="{446AABBC-0164-4197-A29B-DFE23A67982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20141" y="2879634"/>
            <a:ext cx="8072438" cy="3108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179;p15" descr="image.png">
            <a:extLst>
              <a:ext uri="{FF2B5EF4-FFF2-40B4-BE49-F238E27FC236}">
                <a16:creationId xmlns:a16="http://schemas.microsoft.com/office/drawing/2014/main" id="{4D447696-88A2-4C10-B4D8-05782FDDB4A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9079" y="6220006"/>
            <a:ext cx="8072438" cy="3289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180;p15" descr="image.png">
            <a:extLst>
              <a:ext uri="{FF2B5EF4-FFF2-40B4-BE49-F238E27FC236}">
                <a16:creationId xmlns:a16="http://schemas.microsoft.com/office/drawing/2014/main" id="{426C642C-37BA-40CE-931B-CDBA58942C4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20141" y="6220006"/>
            <a:ext cx="8072438" cy="3289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183;p15" descr="image.png">
            <a:extLst>
              <a:ext uri="{FF2B5EF4-FFF2-40B4-BE49-F238E27FC236}">
                <a16:creationId xmlns:a16="http://schemas.microsoft.com/office/drawing/2014/main" id="{4DCE5845-5227-4887-9CD0-CAFEF921E98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33428" y="3422558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184;p15">
            <a:extLst>
              <a:ext uri="{FF2B5EF4-FFF2-40B4-BE49-F238E27FC236}">
                <a16:creationId xmlns:a16="http://schemas.microsoft.com/office/drawing/2014/main" id="{9EFF31E0-87C3-4F05-9130-47661910E330}"/>
              </a:ext>
            </a:extLst>
          </p:cNvPr>
          <p:cNvSpPr txBox="1"/>
          <p:nvPr/>
        </p:nvSpPr>
        <p:spPr>
          <a:xfrm>
            <a:off x="2047791" y="3393984"/>
            <a:ext cx="226036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7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언어능력 영역</a:t>
            </a:r>
            <a:endParaRPr sz="2700"/>
          </a:p>
        </p:txBody>
      </p:sp>
      <p:sp>
        <p:nvSpPr>
          <p:cNvPr id="49" name="Google Shape;185;p15">
            <a:extLst>
              <a:ext uri="{FF2B5EF4-FFF2-40B4-BE49-F238E27FC236}">
                <a16:creationId xmlns:a16="http://schemas.microsoft.com/office/drawing/2014/main" id="{E174BB18-F876-4F54-978B-A5A982BCDF05}"/>
              </a:ext>
            </a:extLst>
          </p:cNvPr>
          <p:cNvSpPr txBox="1"/>
          <p:nvPr/>
        </p:nvSpPr>
        <p:spPr>
          <a:xfrm>
            <a:off x="1690604" y="4379821"/>
            <a:ext cx="6786563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동의어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반의어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사자성어·한자어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지속적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암기</a:t>
            </a:r>
            <a:endParaRPr sz="2700" dirty="0"/>
          </a:p>
        </p:txBody>
      </p:sp>
      <p:sp>
        <p:nvSpPr>
          <p:cNvPr id="50" name="Google Shape;186;p15">
            <a:extLst>
              <a:ext uri="{FF2B5EF4-FFF2-40B4-BE49-F238E27FC236}">
                <a16:creationId xmlns:a16="http://schemas.microsoft.com/office/drawing/2014/main" id="{D67EE4D6-8A66-48AD-A80F-6E3519EFBBFC}"/>
              </a:ext>
            </a:extLst>
          </p:cNvPr>
          <p:cNvSpPr txBox="1"/>
          <p:nvPr/>
        </p:nvSpPr>
        <p:spPr>
          <a:xfrm>
            <a:off x="1690604" y="4944175"/>
            <a:ext cx="6786563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장문 독해 시 </a:t>
            </a:r>
            <a:r>
              <a:rPr lang="en-US" sz="1913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핵심 문장 및 주제 신속 파악 훈련</a:t>
            </a:r>
            <a:endParaRPr sz="2700"/>
          </a:p>
        </p:txBody>
      </p:sp>
      <p:sp>
        <p:nvSpPr>
          <p:cNvPr id="51" name="Google Shape;187;p15">
            <a:extLst>
              <a:ext uri="{FF2B5EF4-FFF2-40B4-BE49-F238E27FC236}">
                <a16:creationId xmlns:a16="http://schemas.microsoft.com/office/drawing/2014/main" id="{3E8C6BE2-21A4-4874-B7A2-A9A9D1BEA796}"/>
              </a:ext>
            </a:extLst>
          </p:cNvPr>
          <p:cNvSpPr txBox="1"/>
          <p:nvPr/>
        </p:nvSpPr>
        <p:spPr>
          <a:xfrm>
            <a:off x="1690604" y="5455622"/>
            <a:ext cx="6786563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문항 수 대비 부족한 </a:t>
            </a:r>
            <a:r>
              <a:rPr lang="en-US" sz="1913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전체 풀이 시간의 전략적 배분</a:t>
            </a:r>
            <a:endParaRPr sz="2700"/>
          </a:p>
        </p:txBody>
      </p:sp>
      <p:pic>
        <p:nvPicPr>
          <p:cNvPr id="52" name="Google Shape;188;p15" descr="image.png">
            <a:extLst>
              <a:ext uri="{FF2B5EF4-FFF2-40B4-BE49-F238E27FC236}">
                <a16:creationId xmlns:a16="http://schemas.microsoft.com/office/drawing/2014/main" id="{C49A7EFB-3E55-4854-B7A5-54921B23E0A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34491" y="3422558"/>
            <a:ext cx="300038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189;p15">
            <a:extLst>
              <a:ext uri="{FF2B5EF4-FFF2-40B4-BE49-F238E27FC236}">
                <a16:creationId xmlns:a16="http://schemas.microsoft.com/office/drawing/2014/main" id="{7D44FDDC-713C-46AD-92B9-E94071B4322C}"/>
              </a:ext>
            </a:extLst>
          </p:cNvPr>
          <p:cNvSpPr txBox="1"/>
          <p:nvPr/>
        </p:nvSpPr>
        <p:spPr>
          <a:xfrm>
            <a:off x="10448841" y="3393984"/>
            <a:ext cx="226036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7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수리능력 영역</a:t>
            </a:r>
            <a:endParaRPr sz="2700"/>
          </a:p>
        </p:txBody>
      </p:sp>
      <p:sp>
        <p:nvSpPr>
          <p:cNvPr id="54" name="Google Shape;190;p15">
            <a:extLst>
              <a:ext uri="{FF2B5EF4-FFF2-40B4-BE49-F238E27FC236}">
                <a16:creationId xmlns:a16="http://schemas.microsoft.com/office/drawing/2014/main" id="{4828B70C-B528-4441-99CF-9B4C16576EAC}"/>
              </a:ext>
            </a:extLst>
          </p:cNvPr>
          <p:cNvSpPr txBox="1"/>
          <p:nvPr/>
        </p:nvSpPr>
        <p:spPr>
          <a:xfrm>
            <a:off x="10191666" y="4379821"/>
            <a:ext cx="6786563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기본 계산 및 방정식 등 </a:t>
            </a:r>
            <a:r>
              <a:rPr lang="en-US" sz="1913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중학교 수준의 필수 수학 공식 암기</a:t>
            </a:r>
            <a:endParaRPr sz="2700"/>
          </a:p>
        </p:txBody>
      </p:sp>
      <p:sp>
        <p:nvSpPr>
          <p:cNvPr id="55" name="Google Shape;191;p15">
            <a:extLst>
              <a:ext uri="{FF2B5EF4-FFF2-40B4-BE49-F238E27FC236}">
                <a16:creationId xmlns:a16="http://schemas.microsoft.com/office/drawing/2014/main" id="{2C9213A8-A8A8-4D6A-95F5-F9C5934154CE}"/>
              </a:ext>
            </a:extLst>
          </p:cNvPr>
          <p:cNvSpPr txBox="1"/>
          <p:nvPr/>
        </p:nvSpPr>
        <p:spPr>
          <a:xfrm>
            <a:off x="10191666" y="4891268"/>
            <a:ext cx="6786563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완벽한 계산보다 보기를 대입한 </a:t>
            </a:r>
            <a:r>
              <a:rPr lang="en-US" sz="1913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어림짐작(대략적 값) 도출</a:t>
            </a:r>
            <a:endParaRPr sz="2700"/>
          </a:p>
        </p:txBody>
      </p:sp>
      <p:sp>
        <p:nvSpPr>
          <p:cNvPr id="56" name="Google Shape;192;p15">
            <a:extLst>
              <a:ext uri="{FF2B5EF4-FFF2-40B4-BE49-F238E27FC236}">
                <a16:creationId xmlns:a16="http://schemas.microsoft.com/office/drawing/2014/main" id="{20BFA79D-3115-4506-A7E5-69E2EF1720D8}"/>
              </a:ext>
            </a:extLst>
          </p:cNvPr>
          <p:cNvSpPr txBox="1"/>
          <p:nvPr/>
        </p:nvSpPr>
        <p:spPr>
          <a:xfrm>
            <a:off x="10191666" y="5402716"/>
            <a:ext cx="6786563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계산기 사용 불가 기업 대비를 위한 </a:t>
            </a:r>
            <a:r>
              <a:rPr lang="en-US" sz="1913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평상시 암산 풀이 훈련</a:t>
            </a:r>
            <a:endParaRPr sz="2700"/>
          </a:p>
        </p:txBody>
      </p:sp>
      <p:pic>
        <p:nvPicPr>
          <p:cNvPr id="57" name="Google Shape;193;p15" descr="image.png">
            <a:extLst>
              <a:ext uri="{FF2B5EF4-FFF2-40B4-BE49-F238E27FC236}">
                <a16:creationId xmlns:a16="http://schemas.microsoft.com/office/drawing/2014/main" id="{86975294-6F5A-4D80-947C-7F5AD93345B2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33428" y="6762931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194;p15">
            <a:extLst>
              <a:ext uri="{FF2B5EF4-FFF2-40B4-BE49-F238E27FC236}">
                <a16:creationId xmlns:a16="http://schemas.microsoft.com/office/drawing/2014/main" id="{80FDAA67-6F2A-443F-A1EC-81C3A91C5825}"/>
              </a:ext>
            </a:extLst>
          </p:cNvPr>
          <p:cNvSpPr txBox="1"/>
          <p:nvPr/>
        </p:nvSpPr>
        <p:spPr>
          <a:xfrm>
            <a:off x="2047791" y="6734356"/>
            <a:ext cx="226036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7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추리능력 영역</a:t>
            </a:r>
            <a:endParaRPr sz="2700"/>
          </a:p>
        </p:txBody>
      </p:sp>
      <p:sp>
        <p:nvSpPr>
          <p:cNvPr id="59" name="Google Shape;195;p15">
            <a:extLst>
              <a:ext uri="{FF2B5EF4-FFF2-40B4-BE49-F238E27FC236}">
                <a16:creationId xmlns:a16="http://schemas.microsoft.com/office/drawing/2014/main" id="{63578FD8-F37E-4CBA-B776-C3E735628DCA}"/>
              </a:ext>
            </a:extLst>
          </p:cNvPr>
          <p:cNvSpPr txBox="1"/>
          <p:nvPr/>
        </p:nvSpPr>
        <p:spPr>
          <a:xfrm>
            <a:off x="1690604" y="7720193"/>
            <a:ext cx="6786563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수치, 도형, 언어 등 </a:t>
            </a:r>
            <a:r>
              <a:rPr lang="en-US" sz="1913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본인에게 쉬운 유형부터 우선적 접근</a:t>
            </a:r>
            <a:endParaRPr sz="2700"/>
          </a:p>
        </p:txBody>
      </p:sp>
      <p:sp>
        <p:nvSpPr>
          <p:cNvPr id="60" name="Google Shape;196;p15">
            <a:extLst>
              <a:ext uri="{FF2B5EF4-FFF2-40B4-BE49-F238E27FC236}">
                <a16:creationId xmlns:a16="http://schemas.microsoft.com/office/drawing/2014/main" id="{B5DC029A-5002-42C6-AF85-8557DFA022AA}"/>
              </a:ext>
            </a:extLst>
          </p:cNvPr>
          <p:cNvSpPr txBox="1"/>
          <p:nvPr/>
        </p:nvSpPr>
        <p:spPr>
          <a:xfrm>
            <a:off x="1690604" y="8231642"/>
            <a:ext cx="6786563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수치 간격, 90도 회전, 좌우대칭 등 </a:t>
            </a:r>
            <a:r>
              <a:rPr lang="en-US" sz="1913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각 단계별 숨은 규칙성 발견</a:t>
            </a:r>
            <a:endParaRPr sz="2700"/>
          </a:p>
        </p:txBody>
      </p:sp>
      <p:sp>
        <p:nvSpPr>
          <p:cNvPr id="61" name="Google Shape;197;p15">
            <a:extLst>
              <a:ext uri="{FF2B5EF4-FFF2-40B4-BE49-F238E27FC236}">
                <a16:creationId xmlns:a16="http://schemas.microsoft.com/office/drawing/2014/main" id="{FCB6AEB0-C579-48A8-82CD-90C900F50273}"/>
              </a:ext>
            </a:extLst>
          </p:cNvPr>
          <p:cNvSpPr txBox="1"/>
          <p:nvPr/>
        </p:nvSpPr>
        <p:spPr>
          <a:xfrm>
            <a:off x="1690604" y="8743090"/>
            <a:ext cx="7215188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질문이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반복되는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언어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추리의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경우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본인만의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추리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방식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사전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설정</a:t>
            </a:r>
            <a:endParaRPr sz="2700" dirty="0"/>
          </a:p>
        </p:txBody>
      </p:sp>
      <p:pic>
        <p:nvPicPr>
          <p:cNvPr id="62" name="Google Shape;198;p15" descr="image.png">
            <a:extLst>
              <a:ext uri="{FF2B5EF4-FFF2-40B4-BE49-F238E27FC236}">
                <a16:creationId xmlns:a16="http://schemas.microsoft.com/office/drawing/2014/main" id="{79FD19D0-A2A5-4288-B6A7-C5ED093FF01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934491" y="6762931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199;p15">
            <a:extLst>
              <a:ext uri="{FF2B5EF4-FFF2-40B4-BE49-F238E27FC236}">
                <a16:creationId xmlns:a16="http://schemas.microsoft.com/office/drawing/2014/main" id="{E275952E-8597-4CF1-9DF6-8E14BEB3CCB4}"/>
              </a:ext>
            </a:extLst>
          </p:cNvPr>
          <p:cNvSpPr txBox="1"/>
          <p:nvPr/>
        </p:nvSpPr>
        <p:spPr>
          <a:xfrm>
            <a:off x="10548854" y="6734356"/>
            <a:ext cx="226036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7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상식능력 영역</a:t>
            </a:r>
            <a:endParaRPr sz="2700"/>
          </a:p>
        </p:txBody>
      </p:sp>
      <p:sp>
        <p:nvSpPr>
          <p:cNvPr id="64" name="Google Shape;200;p15">
            <a:extLst>
              <a:ext uri="{FF2B5EF4-FFF2-40B4-BE49-F238E27FC236}">
                <a16:creationId xmlns:a16="http://schemas.microsoft.com/office/drawing/2014/main" id="{88940CA9-B106-4A78-91D9-C3C7139DDDC8}"/>
              </a:ext>
            </a:extLst>
          </p:cNvPr>
          <p:cNvSpPr txBox="1"/>
          <p:nvPr/>
        </p:nvSpPr>
        <p:spPr>
          <a:xfrm>
            <a:off x="10191666" y="7720193"/>
            <a:ext cx="6786563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단기 교재 암기 지양 및 </a:t>
            </a:r>
            <a:r>
              <a:rPr lang="en-US" sz="1913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경제·시사 신문의 꾸준한 구독</a:t>
            </a:r>
            <a:endParaRPr sz="2700"/>
          </a:p>
        </p:txBody>
      </p:sp>
      <p:sp>
        <p:nvSpPr>
          <p:cNvPr id="65" name="Google Shape;201;p15">
            <a:extLst>
              <a:ext uri="{FF2B5EF4-FFF2-40B4-BE49-F238E27FC236}">
                <a16:creationId xmlns:a16="http://schemas.microsoft.com/office/drawing/2014/main" id="{186C3306-F3F7-46AB-9C6D-19FE3FEE19C4}"/>
              </a:ext>
            </a:extLst>
          </p:cNvPr>
          <p:cNvSpPr txBox="1"/>
          <p:nvPr/>
        </p:nvSpPr>
        <p:spPr>
          <a:xfrm>
            <a:off x="10191665" y="8231642"/>
            <a:ext cx="7126805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타겟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기업의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제품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광고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최신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뉴스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등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기업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관련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이슈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수시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스크랩</a:t>
            </a:r>
            <a:endParaRPr sz="2700" dirty="0"/>
          </a:p>
        </p:txBody>
      </p:sp>
      <p:sp>
        <p:nvSpPr>
          <p:cNvPr id="66" name="Google Shape;202;p15">
            <a:extLst>
              <a:ext uri="{FF2B5EF4-FFF2-40B4-BE49-F238E27FC236}">
                <a16:creationId xmlns:a16="http://schemas.microsoft.com/office/drawing/2014/main" id="{85E51033-8BF0-4F10-A017-629CCDB41D50}"/>
              </a:ext>
            </a:extLst>
          </p:cNvPr>
          <p:cNvSpPr txBox="1"/>
          <p:nvPr/>
        </p:nvSpPr>
        <p:spPr>
          <a:xfrm>
            <a:off x="10191666" y="8827901"/>
            <a:ext cx="6786563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이공계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과학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/IT),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인문계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역사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한자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) 등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계열별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맞춤형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상식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축적</a:t>
            </a:r>
            <a:endParaRPr sz="2700" dirty="0"/>
          </a:p>
        </p:txBody>
      </p:sp>
      <p:sp>
        <p:nvSpPr>
          <p:cNvPr id="67" name="Google Shape;203;p15">
            <a:extLst>
              <a:ext uri="{FF2B5EF4-FFF2-40B4-BE49-F238E27FC236}">
                <a16:creationId xmlns:a16="http://schemas.microsoft.com/office/drawing/2014/main" id="{5A5BD536-DE53-4D46-BB7F-1FB639A9AEF2}"/>
              </a:ext>
            </a:extLst>
          </p:cNvPr>
          <p:cNvSpPr txBox="1"/>
          <p:nvPr/>
        </p:nvSpPr>
        <p:spPr>
          <a:xfrm>
            <a:off x="1433428" y="4422683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68" name="Google Shape;204;p15">
            <a:extLst>
              <a:ext uri="{FF2B5EF4-FFF2-40B4-BE49-F238E27FC236}">
                <a16:creationId xmlns:a16="http://schemas.microsoft.com/office/drawing/2014/main" id="{90A88DD1-F172-4357-8E19-9774F4AE06D5}"/>
              </a:ext>
            </a:extLst>
          </p:cNvPr>
          <p:cNvSpPr txBox="1"/>
          <p:nvPr/>
        </p:nvSpPr>
        <p:spPr>
          <a:xfrm>
            <a:off x="1433428" y="4987037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69" name="Google Shape;205;p15">
            <a:extLst>
              <a:ext uri="{FF2B5EF4-FFF2-40B4-BE49-F238E27FC236}">
                <a16:creationId xmlns:a16="http://schemas.microsoft.com/office/drawing/2014/main" id="{CBB8E8FE-44E3-4F7C-8D67-F3E7B88AE2B4}"/>
              </a:ext>
            </a:extLst>
          </p:cNvPr>
          <p:cNvSpPr txBox="1"/>
          <p:nvPr/>
        </p:nvSpPr>
        <p:spPr>
          <a:xfrm>
            <a:off x="1433428" y="5498485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70" name="Google Shape;206;p15">
            <a:extLst>
              <a:ext uri="{FF2B5EF4-FFF2-40B4-BE49-F238E27FC236}">
                <a16:creationId xmlns:a16="http://schemas.microsoft.com/office/drawing/2014/main" id="{658E6997-1B71-423B-BBDF-E5F0B60CF292}"/>
              </a:ext>
            </a:extLst>
          </p:cNvPr>
          <p:cNvSpPr txBox="1"/>
          <p:nvPr/>
        </p:nvSpPr>
        <p:spPr>
          <a:xfrm>
            <a:off x="9934491" y="4422683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71" name="Google Shape;207;p15">
            <a:extLst>
              <a:ext uri="{FF2B5EF4-FFF2-40B4-BE49-F238E27FC236}">
                <a16:creationId xmlns:a16="http://schemas.microsoft.com/office/drawing/2014/main" id="{C3DB8950-4842-4E86-9F8D-167CD1800323}"/>
              </a:ext>
            </a:extLst>
          </p:cNvPr>
          <p:cNvSpPr txBox="1"/>
          <p:nvPr/>
        </p:nvSpPr>
        <p:spPr>
          <a:xfrm>
            <a:off x="9934491" y="4934131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72" name="Google Shape;208;p15">
            <a:extLst>
              <a:ext uri="{FF2B5EF4-FFF2-40B4-BE49-F238E27FC236}">
                <a16:creationId xmlns:a16="http://schemas.microsoft.com/office/drawing/2014/main" id="{583E1D61-78CA-49B1-BDA0-95BD50F51D7B}"/>
              </a:ext>
            </a:extLst>
          </p:cNvPr>
          <p:cNvSpPr txBox="1"/>
          <p:nvPr/>
        </p:nvSpPr>
        <p:spPr>
          <a:xfrm>
            <a:off x="9934491" y="5445578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73" name="Google Shape;209;p15">
            <a:extLst>
              <a:ext uri="{FF2B5EF4-FFF2-40B4-BE49-F238E27FC236}">
                <a16:creationId xmlns:a16="http://schemas.microsoft.com/office/drawing/2014/main" id="{E6052BF7-DEC4-499A-A970-356AEA8B89A3}"/>
              </a:ext>
            </a:extLst>
          </p:cNvPr>
          <p:cNvSpPr txBox="1"/>
          <p:nvPr/>
        </p:nvSpPr>
        <p:spPr>
          <a:xfrm>
            <a:off x="1433428" y="7763056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74" name="Google Shape;210;p15">
            <a:extLst>
              <a:ext uri="{FF2B5EF4-FFF2-40B4-BE49-F238E27FC236}">
                <a16:creationId xmlns:a16="http://schemas.microsoft.com/office/drawing/2014/main" id="{74271859-0FD2-4275-98FF-49AE40DD8A5F}"/>
              </a:ext>
            </a:extLst>
          </p:cNvPr>
          <p:cNvSpPr txBox="1"/>
          <p:nvPr/>
        </p:nvSpPr>
        <p:spPr>
          <a:xfrm>
            <a:off x="1433428" y="8274505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75" name="Google Shape;211;p15">
            <a:extLst>
              <a:ext uri="{FF2B5EF4-FFF2-40B4-BE49-F238E27FC236}">
                <a16:creationId xmlns:a16="http://schemas.microsoft.com/office/drawing/2014/main" id="{A91DBFF6-35DB-4516-9FFF-2C1EABE474C0}"/>
              </a:ext>
            </a:extLst>
          </p:cNvPr>
          <p:cNvSpPr txBox="1"/>
          <p:nvPr/>
        </p:nvSpPr>
        <p:spPr>
          <a:xfrm>
            <a:off x="1433428" y="8785952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76" name="Google Shape;212;p15">
            <a:extLst>
              <a:ext uri="{FF2B5EF4-FFF2-40B4-BE49-F238E27FC236}">
                <a16:creationId xmlns:a16="http://schemas.microsoft.com/office/drawing/2014/main" id="{393EEF9D-B846-48B9-AF48-C80DA0131941}"/>
              </a:ext>
            </a:extLst>
          </p:cNvPr>
          <p:cNvSpPr txBox="1"/>
          <p:nvPr/>
        </p:nvSpPr>
        <p:spPr>
          <a:xfrm>
            <a:off x="9934491" y="7763056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77" name="Google Shape;213;p15">
            <a:extLst>
              <a:ext uri="{FF2B5EF4-FFF2-40B4-BE49-F238E27FC236}">
                <a16:creationId xmlns:a16="http://schemas.microsoft.com/office/drawing/2014/main" id="{E53E715A-1D57-4CF9-9CC6-DAB4A80B900C}"/>
              </a:ext>
            </a:extLst>
          </p:cNvPr>
          <p:cNvSpPr txBox="1"/>
          <p:nvPr/>
        </p:nvSpPr>
        <p:spPr>
          <a:xfrm>
            <a:off x="9934491" y="8274505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78" name="Google Shape;214;p15">
            <a:extLst>
              <a:ext uri="{FF2B5EF4-FFF2-40B4-BE49-F238E27FC236}">
                <a16:creationId xmlns:a16="http://schemas.microsoft.com/office/drawing/2014/main" id="{75AC156E-8DFF-4835-B4D2-B5B700EC8B11}"/>
              </a:ext>
            </a:extLst>
          </p:cNvPr>
          <p:cNvSpPr txBox="1"/>
          <p:nvPr/>
        </p:nvSpPr>
        <p:spPr>
          <a:xfrm>
            <a:off x="9934491" y="8870764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79" name="TextBox 7">
            <a:extLst>
              <a:ext uri="{FF2B5EF4-FFF2-40B4-BE49-F238E27FC236}">
                <a16:creationId xmlns:a16="http://schemas.microsoft.com/office/drawing/2014/main" id="{12C011CC-DAE3-4BB2-B720-C2F2876F8203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6782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95600" y="1081027"/>
            <a:ext cx="13182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주요 기업 인적성검사 안내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sp>
        <p:nvSpPr>
          <p:cNvPr id="31" name="TextBox 32">
            <a:extLst>
              <a:ext uri="{FF2B5EF4-FFF2-40B4-BE49-F238E27FC236}">
                <a16:creationId xmlns:a16="http://schemas.microsoft.com/office/drawing/2014/main" id="{6C915BAB-EB49-4637-A792-18BD6B06C678}"/>
              </a:ext>
            </a:extLst>
          </p:cNvPr>
          <p:cNvSpPr txBox="1"/>
          <p:nvPr/>
        </p:nvSpPr>
        <p:spPr>
          <a:xfrm>
            <a:off x="677912" y="8732246"/>
            <a:ext cx="8521700" cy="280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chemeClr val="tx2"/>
                </a:solidFill>
                <a:latin typeface="+mn-ea"/>
                <a:cs typeface="ITC Franklin Gothic LT"/>
                <a:sym typeface="ITC Franklin Gothic LT"/>
              </a:rPr>
              <a:t>실제 공채 시 시험구성이나 유형</a:t>
            </a:r>
            <a:r>
              <a:rPr lang="en-US" altLang="ko-KR" sz="1400" b="1" dirty="0">
                <a:solidFill>
                  <a:schemeClr val="tx2"/>
                </a:solidFill>
                <a:latin typeface="+mn-ea"/>
                <a:cs typeface="ITC Franklin Gothic LT"/>
                <a:sym typeface="ITC Franklin Gothic LT"/>
              </a:rPr>
              <a:t>, </a:t>
            </a:r>
            <a:r>
              <a:rPr lang="ko-KR" altLang="en-US" sz="1400" b="1" dirty="0">
                <a:solidFill>
                  <a:schemeClr val="tx2"/>
                </a:solidFill>
                <a:latin typeface="+mn-ea"/>
                <a:cs typeface="ITC Franklin Gothic LT"/>
                <a:sym typeface="ITC Franklin Gothic LT"/>
              </a:rPr>
              <a:t>문제방식에 달라질 수 있어</a:t>
            </a:r>
            <a:r>
              <a:rPr lang="en-US" altLang="ko-KR" sz="1400" b="1" dirty="0">
                <a:solidFill>
                  <a:schemeClr val="tx2"/>
                </a:solidFill>
                <a:latin typeface="+mn-ea"/>
                <a:cs typeface="ITC Franklin Gothic LT"/>
                <a:sym typeface="ITC Franklin Gothic LT"/>
              </a:rPr>
              <a:t> </a:t>
            </a:r>
            <a:r>
              <a:rPr lang="ko-KR" altLang="en-US" sz="1400" b="1" dirty="0">
                <a:solidFill>
                  <a:schemeClr val="tx2"/>
                </a:solidFill>
                <a:latin typeface="+mn-ea"/>
                <a:cs typeface="ITC Franklin Gothic LT"/>
                <a:sym typeface="ITC Franklin Gothic LT"/>
              </a:rPr>
              <a:t>채용공고 및 홈페이지 확인 필수</a:t>
            </a:r>
            <a:endParaRPr lang="en-US" sz="1400" b="1" dirty="0">
              <a:solidFill>
                <a:schemeClr val="tx2"/>
              </a:solidFill>
              <a:latin typeface="+mn-ea"/>
              <a:cs typeface="ITC Franklin Gothic LT"/>
              <a:sym typeface="ITC Franklin Gothic 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DB264E-F898-471D-9034-ED276C7B9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0" y="3360276"/>
            <a:ext cx="7612649" cy="5899588"/>
          </a:xfrm>
          <a:prstGeom prst="rect">
            <a:avLst/>
          </a:prstGeom>
        </p:spPr>
      </p:pic>
      <p:sp>
        <p:nvSpPr>
          <p:cNvPr id="40" name="TextBox 32">
            <a:extLst>
              <a:ext uri="{FF2B5EF4-FFF2-40B4-BE49-F238E27FC236}">
                <a16:creationId xmlns:a16="http://schemas.microsoft.com/office/drawing/2014/main" id="{CC667890-85F9-48FD-A0B1-2077186423F7}"/>
              </a:ext>
            </a:extLst>
          </p:cNvPr>
          <p:cNvSpPr txBox="1"/>
          <p:nvPr/>
        </p:nvSpPr>
        <p:spPr>
          <a:xfrm>
            <a:off x="9784347" y="2782701"/>
            <a:ext cx="7093953" cy="340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3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tx2"/>
                </a:solidFill>
                <a:latin typeface="+mn-ea"/>
                <a:cs typeface="ITC Franklin Gothic LT"/>
                <a:sym typeface="ITC Franklin Gothic LT"/>
              </a:rPr>
              <a:t>대학일자리본부 홈페이지에서 모의테스트 해보기</a:t>
            </a:r>
            <a:endParaRPr lang="en-US" b="1" dirty="0">
              <a:solidFill>
                <a:schemeClr val="tx2"/>
              </a:solidFill>
              <a:latin typeface="+mn-ea"/>
              <a:cs typeface="ITC Franklin Gothic LT"/>
              <a:sym typeface="ITC Franklin Gothic LT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022711F-2BB8-4EA2-9092-FFC1FC7FDD57}"/>
              </a:ext>
            </a:extLst>
          </p:cNvPr>
          <p:cNvCxnSpPr>
            <a:cxnSpLocks/>
          </p:cNvCxnSpPr>
          <p:nvPr/>
        </p:nvCxnSpPr>
        <p:spPr>
          <a:xfrm flipH="1" flipV="1">
            <a:off x="8610600" y="3662871"/>
            <a:ext cx="11459" cy="56451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0">
            <a:extLst>
              <a:ext uri="{FF2B5EF4-FFF2-40B4-BE49-F238E27FC236}">
                <a16:creationId xmlns:a16="http://schemas.microsoft.com/office/drawing/2014/main" id="{3CB8BDAB-EA03-4EDB-89B4-42E0D966697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14" name="TextBox 24">
            <a:extLst>
              <a:ext uri="{FF2B5EF4-FFF2-40B4-BE49-F238E27FC236}">
                <a16:creationId xmlns:a16="http://schemas.microsoft.com/office/drawing/2014/main" id="{F1E4B41E-8E30-41EF-B3E6-FDD3FB618D9F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05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B9A145B-70C1-4B4C-BF5C-0A4DD3484C06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4703524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A5AAFC7-493B-4C22-AB0C-9A3DC65072E3}"/>
              </a:ext>
            </a:extLst>
          </p:cNvPr>
          <p:cNvSpPr/>
          <p:nvPr/>
        </p:nvSpPr>
        <p:spPr>
          <a:xfrm>
            <a:off x="15284041" y="9632434"/>
            <a:ext cx="244958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p.98~100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2B03CC4-697E-4E9D-ACAB-E878B3E16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219" y="3360276"/>
            <a:ext cx="7139827" cy="5278649"/>
          </a:xfrm>
          <a:prstGeom prst="rect">
            <a:avLst/>
          </a:prstGeom>
        </p:spPr>
      </p:pic>
      <p:sp>
        <p:nvSpPr>
          <p:cNvPr id="12" name="TextBox 7">
            <a:extLst>
              <a:ext uri="{FF2B5EF4-FFF2-40B4-BE49-F238E27FC236}">
                <a16:creationId xmlns:a16="http://schemas.microsoft.com/office/drawing/2014/main" id="{BD3C88AE-5CE1-49F9-9577-4EF13772824B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4336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0" y="956921"/>
            <a:ext cx="13182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6200" b="1" spc="-500" dirty="0">
                <a:solidFill>
                  <a:srgbClr val="505050"/>
                </a:solidFill>
                <a:latin typeface="Gmarket Sans Medium"/>
              </a:rPr>
              <a:t>AI</a:t>
            </a: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 역량검사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7" name="Picture 20">
            <a:extLst>
              <a:ext uri="{FF2B5EF4-FFF2-40B4-BE49-F238E27FC236}">
                <a16:creationId xmlns:a16="http://schemas.microsoft.com/office/drawing/2014/main" id="{581E111A-60B0-4F08-8021-25FC9495054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31" name="TextBox 24">
            <a:extLst>
              <a:ext uri="{FF2B5EF4-FFF2-40B4-BE49-F238E27FC236}">
                <a16:creationId xmlns:a16="http://schemas.microsoft.com/office/drawing/2014/main" id="{0D59A901-6463-4687-9715-4D43C24F5E45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06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A3BA2F72-70FA-4245-B673-0C42FECADA68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8C00D09-46DD-4131-BDED-6019AD2050B0}"/>
              </a:ext>
            </a:extLst>
          </p:cNvPr>
          <p:cNvSpPr/>
          <p:nvPr/>
        </p:nvSpPr>
        <p:spPr>
          <a:xfrm>
            <a:off x="15377528" y="9632434"/>
            <a:ext cx="25891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p.100~101</a:t>
            </a:r>
          </a:p>
        </p:txBody>
      </p:sp>
      <p:sp>
        <p:nvSpPr>
          <p:cNvPr id="26" name="TextBox 20">
            <a:extLst>
              <a:ext uri="{FF2B5EF4-FFF2-40B4-BE49-F238E27FC236}">
                <a16:creationId xmlns:a16="http://schemas.microsoft.com/office/drawing/2014/main" id="{C9C6C9FB-2014-41D1-9F31-79D431478789}"/>
              </a:ext>
            </a:extLst>
          </p:cNvPr>
          <p:cNvSpPr txBox="1"/>
          <p:nvPr/>
        </p:nvSpPr>
        <p:spPr>
          <a:xfrm>
            <a:off x="5603762" y="1629081"/>
            <a:ext cx="14268985" cy="131388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인공지능 기술을 활용하여 지원자의 역량을 평가하는 새로운 방식의 채용 전형</a:t>
            </a:r>
            <a:endParaRPr lang="ko-KR" sz="2000" i="0" strike="noStrike" spc="-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pic>
        <p:nvPicPr>
          <p:cNvPr id="43" name="Google Shape;85;p13" descr="image.png">
            <a:extLst>
              <a:ext uri="{FF2B5EF4-FFF2-40B4-BE49-F238E27FC236}">
                <a16:creationId xmlns:a16="http://schemas.microsoft.com/office/drawing/2014/main" id="{3332714C-DBFE-4CAB-AA5C-B0C47E21D6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3028950"/>
            <a:ext cx="165735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86;p13" descr="image.png">
            <a:extLst>
              <a:ext uri="{FF2B5EF4-FFF2-40B4-BE49-F238E27FC236}">
                <a16:creationId xmlns:a16="http://schemas.microsoft.com/office/drawing/2014/main" id="{E92BFF2D-8C98-4321-9EDE-3790D117B95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1" y="5514975"/>
            <a:ext cx="3929063" cy="405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87;p13" descr="image.png">
            <a:extLst>
              <a:ext uri="{FF2B5EF4-FFF2-40B4-BE49-F238E27FC236}">
                <a16:creationId xmlns:a16="http://schemas.microsoft.com/office/drawing/2014/main" id="{682C89B5-7752-4D83-AAE6-E1495221FFE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72063" y="5514975"/>
            <a:ext cx="3929063" cy="405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88;p13" descr="image.png">
            <a:extLst>
              <a:ext uri="{FF2B5EF4-FFF2-40B4-BE49-F238E27FC236}">
                <a16:creationId xmlns:a16="http://schemas.microsoft.com/office/drawing/2014/main" id="{EF27FFA9-32E0-46E0-8CB5-1FB7EC4502A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86876" y="5514975"/>
            <a:ext cx="3929063" cy="405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89;p13" descr="image.png">
            <a:extLst>
              <a:ext uri="{FF2B5EF4-FFF2-40B4-BE49-F238E27FC236}">
                <a16:creationId xmlns:a16="http://schemas.microsoft.com/office/drawing/2014/main" id="{1FF2C97A-A184-40E2-89C1-AE323A1849E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501688" y="5514975"/>
            <a:ext cx="3929063" cy="40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92;p13">
            <a:extLst>
              <a:ext uri="{FF2B5EF4-FFF2-40B4-BE49-F238E27FC236}">
                <a16:creationId xmlns:a16="http://schemas.microsoft.com/office/drawing/2014/main" id="{1F28AE4F-35D9-4C39-886E-D4BC570722F2}"/>
              </a:ext>
            </a:extLst>
          </p:cNvPr>
          <p:cNvSpPr txBox="1"/>
          <p:nvPr/>
        </p:nvSpPr>
        <p:spPr>
          <a:xfrm>
            <a:off x="1357313" y="3386138"/>
            <a:ext cx="16427052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사람의 편견을 배제한 가장 정교한 역량 측정 도구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51" name="Google Shape;93;p13">
            <a:extLst>
              <a:ext uri="{FF2B5EF4-FFF2-40B4-BE49-F238E27FC236}">
                <a16:creationId xmlns:a16="http://schemas.microsoft.com/office/drawing/2014/main" id="{D075E2C0-6231-43CC-8451-A8F4F55A085A}"/>
              </a:ext>
            </a:extLst>
          </p:cNvPr>
          <p:cNvSpPr txBox="1"/>
          <p:nvPr/>
        </p:nvSpPr>
        <p:spPr>
          <a:xfrm>
            <a:off x="1357313" y="3957638"/>
            <a:ext cx="16073437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25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기존</a:t>
            </a:r>
            <a:r>
              <a:rPr lang="en-US" sz="2025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서류</a:t>
            </a:r>
            <a:r>
              <a:rPr lang="en-US" sz="2025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심사나</a:t>
            </a:r>
            <a:r>
              <a:rPr lang="en-US" sz="2025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대면</a:t>
            </a:r>
            <a:r>
              <a:rPr lang="en-US" sz="2025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면접으로는</a:t>
            </a:r>
            <a:r>
              <a:rPr lang="en-US" sz="2025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파악하기</a:t>
            </a:r>
            <a:r>
              <a:rPr lang="en-US" sz="2025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어려웠던</a:t>
            </a:r>
            <a:r>
              <a:rPr lang="en-US" sz="2025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지원자의</a:t>
            </a:r>
            <a:r>
              <a:rPr lang="en-US" sz="2025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숨겨진</a:t>
            </a:r>
            <a:r>
              <a:rPr lang="en-US" sz="2025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잠재력</a:t>
            </a:r>
            <a:r>
              <a:rPr lang="en-US" sz="2025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, </a:t>
            </a:r>
            <a:r>
              <a:rPr lang="en-US" sz="2025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실제</a:t>
            </a:r>
            <a:r>
              <a:rPr lang="en-US" sz="2025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업무</a:t>
            </a:r>
            <a:r>
              <a:rPr lang="en-US" sz="2025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능력</a:t>
            </a:r>
            <a:r>
              <a:rPr lang="en-US" sz="2025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, </a:t>
            </a:r>
            <a:r>
              <a:rPr lang="en-US" sz="2025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그리고</a:t>
            </a:r>
            <a:r>
              <a:rPr lang="en-US" sz="2025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기업</a:t>
            </a:r>
            <a:r>
              <a:rPr lang="en-US" sz="2025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문화</a:t>
            </a:r>
            <a:r>
              <a:rPr lang="en-US" sz="2025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적응력</a:t>
            </a:r>
            <a:r>
              <a:rPr lang="en-US" sz="2025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등을</a:t>
            </a:r>
            <a:r>
              <a:rPr lang="en-US" sz="2025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b="1" dirty="0" err="1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인공지능</a:t>
            </a:r>
            <a:r>
              <a:rPr lang="en-US" sz="2025" b="1" dirty="0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(AI)과 </a:t>
            </a:r>
            <a:r>
              <a:rPr lang="en-US" sz="2025" b="1" dirty="0" err="1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뇌신경과학</a:t>
            </a:r>
            <a:r>
              <a:rPr lang="en-US" sz="2025" b="1" dirty="0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b="1" dirty="0" err="1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데이터</a:t>
            </a:r>
            <a:r>
              <a:rPr lang="en-US" sz="2025" b="1" dirty="0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b="1" dirty="0" err="1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기반으로</a:t>
            </a:r>
            <a:r>
              <a:rPr lang="en-US" sz="2025" b="1" dirty="0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b="1" dirty="0" err="1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완벽하게</a:t>
            </a:r>
            <a:r>
              <a:rPr lang="en-US" sz="2025" b="1" dirty="0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b="1" dirty="0" err="1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수치화하여</a:t>
            </a:r>
            <a:r>
              <a:rPr lang="en-US" sz="2025" b="1" dirty="0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b="1" dirty="0" err="1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검증</a:t>
            </a:r>
            <a:r>
              <a:rPr lang="en-US" sz="2025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합니다</a:t>
            </a:r>
            <a:r>
              <a:rPr lang="en-US" sz="2025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.</a:t>
            </a:r>
            <a:endParaRPr sz="2700" dirty="0">
              <a:latin typeface="+mj-ea"/>
              <a:ea typeface="+mj-ea"/>
            </a:endParaRPr>
          </a:p>
        </p:txBody>
      </p:sp>
      <p:pic>
        <p:nvPicPr>
          <p:cNvPr id="52" name="Google Shape;94;p13" descr="image.png">
            <a:extLst>
              <a:ext uri="{FF2B5EF4-FFF2-40B4-BE49-F238E27FC236}">
                <a16:creationId xmlns:a16="http://schemas.microsoft.com/office/drawing/2014/main" id="{C8FD0DCB-450E-4A57-AB05-55D5982C48D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28725" y="6000750"/>
            <a:ext cx="771525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95;p13">
            <a:extLst>
              <a:ext uri="{FF2B5EF4-FFF2-40B4-BE49-F238E27FC236}">
                <a16:creationId xmlns:a16="http://schemas.microsoft.com/office/drawing/2014/main" id="{A51062C6-0965-47A2-93CF-0422C3ADFF14}"/>
              </a:ext>
            </a:extLst>
          </p:cNvPr>
          <p:cNvSpPr txBox="1"/>
          <p:nvPr/>
        </p:nvSpPr>
        <p:spPr>
          <a:xfrm>
            <a:off x="1228725" y="7058026"/>
            <a:ext cx="3345417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250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공정성 (Fairness)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54" name="Google Shape;96;p13">
            <a:extLst>
              <a:ext uri="{FF2B5EF4-FFF2-40B4-BE49-F238E27FC236}">
                <a16:creationId xmlns:a16="http://schemas.microsoft.com/office/drawing/2014/main" id="{4E9C93BA-4594-4347-8D26-AE09897C2203}"/>
              </a:ext>
            </a:extLst>
          </p:cNvPr>
          <p:cNvSpPr txBox="1"/>
          <p:nvPr/>
        </p:nvSpPr>
        <p:spPr>
          <a:xfrm>
            <a:off x="1228726" y="7615238"/>
            <a:ext cx="3186113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외모, 성별, 학벌 등 개인적인 편견 요소를 철저히 배제하고 </a:t>
            </a:r>
            <a:r>
              <a:rPr lang="en-US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오직 개인의 직무 역량 중심 평가 진행</a:t>
            </a:r>
            <a:endParaRPr sz="2700">
              <a:latin typeface="+mj-ea"/>
              <a:ea typeface="+mj-ea"/>
            </a:endParaRPr>
          </a:p>
        </p:txBody>
      </p:sp>
      <p:pic>
        <p:nvPicPr>
          <p:cNvPr id="55" name="Google Shape;97;p13" descr="image.png">
            <a:extLst>
              <a:ext uri="{FF2B5EF4-FFF2-40B4-BE49-F238E27FC236}">
                <a16:creationId xmlns:a16="http://schemas.microsoft.com/office/drawing/2014/main" id="{D12F84A5-23DD-413A-B3D9-1AC609E2E61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43538" y="6000750"/>
            <a:ext cx="771525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98;p13">
            <a:extLst>
              <a:ext uri="{FF2B5EF4-FFF2-40B4-BE49-F238E27FC236}">
                <a16:creationId xmlns:a16="http://schemas.microsoft.com/office/drawing/2014/main" id="{59BE512D-6AA9-4E28-A622-F717668E632B}"/>
              </a:ext>
            </a:extLst>
          </p:cNvPr>
          <p:cNvSpPr txBox="1"/>
          <p:nvPr/>
        </p:nvSpPr>
        <p:spPr>
          <a:xfrm>
            <a:off x="5443538" y="7058026"/>
            <a:ext cx="3345417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250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객관성 (Objectivity)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60" name="Google Shape;99;p13">
            <a:extLst>
              <a:ext uri="{FF2B5EF4-FFF2-40B4-BE49-F238E27FC236}">
                <a16:creationId xmlns:a16="http://schemas.microsoft.com/office/drawing/2014/main" id="{65C61C69-845C-4374-87C8-A5F582768ECA}"/>
              </a:ext>
            </a:extLst>
          </p:cNvPr>
          <p:cNvSpPr txBox="1"/>
          <p:nvPr/>
        </p:nvSpPr>
        <p:spPr>
          <a:xfrm>
            <a:off x="5443538" y="7615238"/>
            <a:ext cx="3186113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답변 내용뿐만 아니라 표정, 목소리 톤, 시선 처리 등 </a:t>
            </a:r>
            <a:r>
              <a:rPr lang="en-US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다각적 비언어적 데이터 기반의 객관적 심층 분석</a:t>
            </a:r>
            <a:endParaRPr sz="2700">
              <a:latin typeface="+mj-ea"/>
              <a:ea typeface="+mj-ea"/>
            </a:endParaRPr>
          </a:p>
        </p:txBody>
      </p:sp>
      <p:pic>
        <p:nvPicPr>
          <p:cNvPr id="61" name="Google Shape;100;p13" descr="image.png">
            <a:extLst>
              <a:ext uri="{FF2B5EF4-FFF2-40B4-BE49-F238E27FC236}">
                <a16:creationId xmlns:a16="http://schemas.microsoft.com/office/drawing/2014/main" id="{51C076FC-CC13-4E2D-8FBC-447D27C47EE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58350" y="6000750"/>
            <a:ext cx="771525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101;p13">
            <a:extLst>
              <a:ext uri="{FF2B5EF4-FFF2-40B4-BE49-F238E27FC236}">
                <a16:creationId xmlns:a16="http://schemas.microsoft.com/office/drawing/2014/main" id="{9A3A7165-1B81-4012-BEC4-BCB761A46476}"/>
              </a:ext>
            </a:extLst>
          </p:cNvPr>
          <p:cNvSpPr txBox="1"/>
          <p:nvPr/>
        </p:nvSpPr>
        <p:spPr>
          <a:xfrm>
            <a:off x="9658350" y="7058026"/>
            <a:ext cx="3345417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250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효율성 (Efficiency)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64" name="Google Shape;102;p13">
            <a:extLst>
              <a:ext uri="{FF2B5EF4-FFF2-40B4-BE49-F238E27FC236}">
                <a16:creationId xmlns:a16="http://schemas.microsoft.com/office/drawing/2014/main" id="{04CF208D-C4C6-4053-9416-E5C918EB6AE0}"/>
              </a:ext>
            </a:extLst>
          </p:cNvPr>
          <p:cNvSpPr txBox="1"/>
          <p:nvPr/>
        </p:nvSpPr>
        <p:spPr>
          <a:xfrm>
            <a:off x="9658351" y="7615238"/>
            <a:ext cx="3186113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시공간의 제약 없이 응시 가능하며, 기업 입장에서는 </a:t>
            </a:r>
            <a:r>
              <a:rPr lang="en-US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대규모 지원자의 동시 다발적 평가 및 선별 구현</a:t>
            </a:r>
            <a:endParaRPr sz="2700">
              <a:latin typeface="+mj-ea"/>
              <a:ea typeface="+mj-ea"/>
            </a:endParaRPr>
          </a:p>
        </p:txBody>
      </p:sp>
      <p:pic>
        <p:nvPicPr>
          <p:cNvPr id="65" name="Google Shape;103;p13" descr="image.png">
            <a:extLst>
              <a:ext uri="{FF2B5EF4-FFF2-40B4-BE49-F238E27FC236}">
                <a16:creationId xmlns:a16="http://schemas.microsoft.com/office/drawing/2014/main" id="{BBAF5050-579B-464F-85AA-6B66D0366E7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873163" y="6000750"/>
            <a:ext cx="771525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104;p13">
            <a:extLst>
              <a:ext uri="{FF2B5EF4-FFF2-40B4-BE49-F238E27FC236}">
                <a16:creationId xmlns:a16="http://schemas.microsoft.com/office/drawing/2014/main" id="{2958C2C8-4A05-4FD7-82EC-38C4125A6C5B}"/>
              </a:ext>
            </a:extLst>
          </p:cNvPr>
          <p:cNvSpPr txBox="1"/>
          <p:nvPr/>
        </p:nvSpPr>
        <p:spPr>
          <a:xfrm>
            <a:off x="13873163" y="7058026"/>
            <a:ext cx="3345417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250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정확성 (Accuracy)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95" name="Google Shape;105;p13">
            <a:extLst>
              <a:ext uri="{FF2B5EF4-FFF2-40B4-BE49-F238E27FC236}">
                <a16:creationId xmlns:a16="http://schemas.microsoft.com/office/drawing/2014/main" id="{353C59BA-F71F-4E75-8E4A-84BD64FAE39C}"/>
              </a:ext>
            </a:extLst>
          </p:cNvPr>
          <p:cNvSpPr txBox="1"/>
          <p:nvPr/>
        </p:nvSpPr>
        <p:spPr>
          <a:xfrm>
            <a:off x="13873163" y="7615238"/>
            <a:ext cx="3345417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누적된</a:t>
            </a:r>
            <a:r>
              <a:rPr lang="en-US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뇌신경과학</a:t>
            </a:r>
            <a:r>
              <a:rPr lang="en-US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데이터를</a:t>
            </a:r>
            <a:r>
              <a:rPr lang="en-US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바탕으로</a:t>
            </a:r>
            <a:r>
              <a:rPr lang="en-US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지원자의</a:t>
            </a:r>
            <a:r>
              <a:rPr lang="en-US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미래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직무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성과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조직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문화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적응도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정밀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예측</a:t>
            </a:r>
            <a:endParaRPr sz="2700" dirty="0">
              <a:latin typeface="+mj-ea"/>
              <a:ea typeface="+mj-ea"/>
            </a:endParaRPr>
          </a:p>
        </p:txBody>
      </p:sp>
      <p:pic>
        <p:nvPicPr>
          <p:cNvPr id="96" name="Google Shape;106;p13" descr="image.png">
            <a:extLst>
              <a:ext uri="{FF2B5EF4-FFF2-40B4-BE49-F238E27FC236}">
                <a16:creationId xmlns:a16="http://schemas.microsoft.com/office/drawing/2014/main" id="{2B5AC60E-418E-4CC8-9C84-2ED6429FBAE7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00175" y="6215063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107;p13" descr="image.png">
            <a:extLst>
              <a:ext uri="{FF2B5EF4-FFF2-40B4-BE49-F238E27FC236}">
                <a16:creationId xmlns:a16="http://schemas.microsoft.com/office/drawing/2014/main" id="{EE6300E2-3BE8-441A-ADBD-26C991CEF083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636419" y="6215063"/>
            <a:ext cx="385763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108;p13" descr="image.png">
            <a:extLst>
              <a:ext uri="{FF2B5EF4-FFF2-40B4-BE49-F238E27FC236}">
                <a16:creationId xmlns:a16="http://schemas.microsoft.com/office/drawing/2014/main" id="{E65FCE9D-AFC9-4D00-97BF-2C8D260F873D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894094" y="6215063"/>
            <a:ext cx="30003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109;p13" descr="image.png">
            <a:extLst>
              <a:ext uri="{FF2B5EF4-FFF2-40B4-BE49-F238E27FC236}">
                <a16:creationId xmlns:a16="http://schemas.microsoft.com/office/drawing/2014/main" id="{5A2C2728-7A6E-4DE8-9EF1-310EFAC3C56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4087475" y="6215063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7">
            <a:extLst>
              <a:ext uri="{FF2B5EF4-FFF2-40B4-BE49-F238E27FC236}">
                <a16:creationId xmlns:a16="http://schemas.microsoft.com/office/drawing/2014/main" id="{CCDFC88D-E1C1-4F55-BF4A-64156180633C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9140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0" y="956921"/>
            <a:ext cx="13182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6200" b="1" spc="-500" dirty="0">
                <a:solidFill>
                  <a:srgbClr val="505050"/>
                </a:solidFill>
                <a:latin typeface="Gmarket Sans Medium"/>
              </a:rPr>
              <a:t>AI</a:t>
            </a: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 역량검사 주요 유형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7" name="Picture 20">
            <a:extLst>
              <a:ext uri="{FF2B5EF4-FFF2-40B4-BE49-F238E27FC236}">
                <a16:creationId xmlns:a16="http://schemas.microsoft.com/office/drawing/2014/main" id="{581E111A-60B0-4F08-8021-25FC9495054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31" name="TextBox 24">
            <a:extLst>
              <a:ext uri="{FF2B5EF4-FFF2-40B4-BE49-F238E27FC236}">
                <a16:creationId xmlns:a16="http://schemas.microsoft.com/office/drawing/2014/main" id="{0D59A901-6463-4687-9715-4D43C24F5E45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07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8C00D09-46DD-4131-BDED-6019AD2050B0}"/>
              </a:ext>
            </a:extLst>
          </p:cNvPr>
          <p:cNvSpPr/>
          <p:nvPr/>
        </p:nvSpPr>
        <p:spPr>
          <a:xfrm>
            <a:off x="15384068" y="9632434"/>
            <a:ext cx="25826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p.100~101</a:t>
            </a:r>
          </a:p>
        </p:txBody>
      </p:sp>
      <p:pic>
        <p:nvPicPr>
          <p:cNvPr id="32" name="Google Shape;115;p14" descr="image.png">
            <a:extLst>
              <a:ext uri="{FF2B5EF4-FFF2-40B4-BE49-F238E27FC236}">
                <a16:creationId xmlns:a16="http://schemas.microsoft.com/office/drawing/2014/main" id="{166EF6E1-AB28-4BEE-82B3-3E3AF83352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1614" y="2786404"/>
            <a:ext cx="3875484" cy="654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116;p14" descr="image.png">
            <a:extLst>
              <a:ext uri="{FF2B5EF4-FFF2-40B4-BE49-F238E27FC236}">
                <a16:creationId xmlns:a16="http://schemas.microsoft.com/office/drawing/2014/main" id="{16199DAB-BA67-468C-8C2A-AA62BA78E02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4286" y="2786404"/>
            <a:ext cx="3875484" cy="654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117;p14" descr="image.png">
            <a:extLst>
              <a:ext uri="{FF2B5EF4-FFF2-40B4-BE49-F238E27FC236}">
                <a16:creationId xmlns:a16="http://schemas.microsoft.com/office/drawing/2014/main" id="{8DF4E90C-E0CD-419A-8B21-DDCF497DFA8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06957" y="2786404"/>
            <a:ext cx="3875484" cy="654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118;p14" descr="image.png">
            <a:extLst>
              <a:ext uri="{FF2B5EF4-FFF2-40B4-BE49-F238E27FC236}">
                <a16:creationId xmlns:a16="http://schemas.microsoft.com/office/drawing/2014/main" id="{5C43EE83-E2A9-4AAB-A86E-38E39133BD2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9629" y="2786404"/>
            <a:ext cx="3875484" cy="654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122;p14" descr="image.png">
            <a:extLst>
              <a:ext uri="{FF2B5EF4-FFF2-40B4-BE49-F238E27FC236}">
                <a16:creationId xmlns:a16="http://schemas.microsoft.com/office/drawing/2014/main" id="{3B90B0E8-B7BC-4727-B26A-76B10843A29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13089" y="3300754"/>
            <a:ext cx="3132534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123;p14">
            <a:extLst>
              <a:ext uri="{FF2B5EF4-FFF2-40B4-BE49-F238E27FC236}">
                <a16:creationId xmlns:a16="http://schemas.microsoft.com/office/drawing/2014/main" id="{C5DA012F-1B89-434B-B0F1-0B34D7ACC82A}"/>
              </a:ext>
            </a:extLst>
          </p:cNvPr>
          <p:cNvSpPr txBox="1"/>
          <p:nvPr/>
        </p:nvSpPr>
        <p:spPr>
          <a:xfrm>
            <a:off x="1313089" y="4043705"/>
            <a:ext cx="3289161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역량 게임</a:t>
            </a:r>
            <a:endParaRPr sz="2700"/>
          </a:p>
        </p:txBody>
      </p:sp>
      <p:sp>
        <p:nvSpPr>
          <p:cNvPr id="39" name="Google Shape;124;p14">
            <a:extLst>
              <a:ext uri="{FF2B5EF4-FFF2-40B4-BE49-F238E27FC236}">
                <a16:creationId xmlns:a16="http://schemas.microsoft.com/office/drawing/2014/main" id="{B13AEACA-AA3A-4260-A3CB-A2447A5A4A11}"/>
              </a:ext>
            </a:extLst>
          </p:cNvPr>
          <p:cNvSpPr/>
          <p:nvPr/>
        </p:nvSpPr>
        <p:spPr>
          <a:xfrm>
            <a:off x="1313089" y="4686642"/>
            <a:ext cx="3132534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126;p14" descr="image.png">
            <a:extLst>
              <a:ext uri="{FF2B5EF4-FFF2-40B4-BE49-F238E27FC236}">
                <a16:creationId xmlns:a16="http://schemas.microsoft.com/office/drawing/2014/main" id="{87D13413-0995-4172-B321-74732B7B7BD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45761" y="3300754"/>
            <a:ext cx="3132534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127;p14">
            <a:extLst>
              <a:ext uri="{FF2B5EF4-FFF2-40B4-BE49-F238E27FC236}">
                <a16:creationId xmlns:a16="http://schemas.microsoft.com/office/drawing/2014/main" id="{C7865F1F-2A8E-430A-A04E-AD7100457AC0}"/>
              </a:ext>
            </a:extLst>
          </p:cNvPr>
          <p:cNvSpPr txBox="1"/>
          <p:nvPr/>
        </p:nvSpPr>
        <p:spPr>
          <a:xfrm>
            <a:off x="5545761" y="4043705"/>
            <a:ext cx="3289161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상황 대처</a:t>
            </a:r>
            <a:endParaRPr sz="2700"/>
          </a:p>
        </p:txBody>
      </p:sp>
      <p:sp>
        <p:nvSpPr>
          <p:cNvPr id="44" name="Google Shape;128;p14">
            <a:extLst>
              <a:ext uri="{FF2B5EF4-FFF2-40B4-BE49-F238E27FC236}">
                <a16:creationId xmlns:a16="http://schemas.microsoft.com/office/drawing/2014/main" id="{B98269DA-9626-443B-B403-AD40689346A9}"/>
              </a:ext>
            </a:extLst>
          </p:cNvPr>
          <p:cNvSpPr/>
          <p:nvPr/>
        </p:nvSpPr>
        <p:spPr>
          <a:xfrm>
            <a:off x="5545761" y="4686642"/>
            <a:ext cx="3132534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130;p14" descr="image.png">
            <a:extLst>
              <a:ext uri="{FF2B5EF4-FFF2-40B4-BE49-F238E27FC236}">
                <a16:creationId xmlns:a16="http://schemas.microsoft.com/office/drawing/2014/main" id="{1E8DAD8A-01BC-4E89-A1CE-2AE0EC052C0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78432" y="3300754"/>
            <a:ext cx="3132534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131;p14">
            <a:extLst>
              <a:ext uri="{FF2B5EF4-FFF2-40B4-BE49-F238E27FC236}">
                <a16:creationId xmlns:a16="http://schemas.microsoft.com/office/drawing/2014/main" id="{C888969C-9660-4E43-9AF7-783BF413C42B}"/>
              </a:ext>
            </a:extLst>
          </p:cNvPr>
          <p:cNvSpPr txBox="1"/>
          <p:nvPr/>
        </p:nvSpPr>
        <p:spPr>
          <a:xfrm>
            <a:off x="9778432" y="4043705"/>
            <a:ext cx="3289161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AI 심층 면접</a:t>
            </a:r>
            <a:endParaRPr sz="2700"/>
          </a:p>
        </p:txBody>
      </p:sp>
      <p:sp>
        <p:nvSpPr>
          <p:cNvPr id="57" name="Google Shape;132;p14">
            <a:extLst>
              <a:ext uri="{FF2B5EF4-FFF2-40B4-BE49-F238E27FC236}">
                <a16:creationId xmlns:a16="http://schemas.microsoft.com/office/drawing/2014/main" id="{5928FFF1-6130-435C-B1CE-8535EE69F693}"/>
              </a:ext>
            </a:extLst>
          </p:cNvPr>
          <p:cNvSpPr/>
          <p:nvPr/>
        </p:nvSpPr>
        <p:spPr>
          <a:xfrm>
            <a:off x="9778432" y="4686642"/>
            <a:ext cx="3132534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134;p14" descr="image.png">
            <a:extLst>
              <a:ext uri="{FF2B5EF4-FFF2-40B4-BE49-F238E27FC236}">
                <a16:creationId xmlns:a16="http://schemas.microsoft.com/office/drawing/2014/main" id="{3D920E9C-F95E-4F0D-A98C-3366D9D0DA89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011104" y="3300754"/>
            <a:ext cx="3132534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135;p14">
            <a:extLst>
              <a:ext uri="{FF2B5EF4-FFF2-40B4-BE49-F238E27FC236}">
                <a16:creationId xmlns:a16="http://schemas.microsoft.com/office/drawing/2014/main" id="{E88CA25F-C3A4-47D9-83FA-EFF1F3D9ED46}"/>
              </a:ext>
            </a:extLst>
          </p:cNvPr>
          <p:cNvSpPr txBox="1"/>
          <p:nvPr/>
        </p:nvSpPr>
        <p:spPr>
          <a:xfrm>
            <a:off x="14011104" y="4043705"/>
            <a:ext cx="3289161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성향 분석</a:t>
            </a:r>
            <a:endParaRPr sz="2700"/>
          </a:p>
        </p:txBody>
      </p:sp>
      <p:sp>
        <p:nvSpPr>
          <p:cNvPr id="66" name="Google Shape;136;p14">
            <a:extLst>
              <a:ext uri="{FF2B5EF4-FFF2-40B4-BE49-F238E27FC236}">
                <a16:creationId xmlns:a16="http://schemas.microsoft.com/office/drawing/2014/main" id="{814C2F00-7448-43A0-ADB7-ACC43EBD26A1}"/>
              </a:ext>
            </a:extLst>
          </p:cNvPr>
          <p:cNvSpPr/>
          <p:nvPr/>
        </p:nvSpPr>
        <p:spPr>
          <a:xfrm>
            <a:off x="14011104" y="4686642"/>
            <a:ext cx="3132534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137;p14">
            <a:extLst>
              <a:ext uri="{FF2B5EF4-FFF2-40B4-BE49-F238E27FC236}">
                <a16:creationId xmlns:a16="http://schemas.microsoft.com/office/drawing/2014/main" id="{605FE615-CC35-401C-932B-1E62BAD9B906}"/>
              </a:ext>
            </a:extLst>
          </p:cNvPr>
          <p:cNvSpPr txBox="1"/>
          <p:nvPr/>
        </p:nvSpPr>
        <p:spPr>
          <a:xfrm>
            <a:off x="1570264" y="5000967"/>
            <a:ext cx="3031986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지원자의</a:t>
            </a:r>
            <a:r>
              <a:rPr lang="en-US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무의식적</a:t>
            </a:r>
            <a:r>
              <a:rPr lang="en-US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행동</a:t>
            </a:r>
            <a:r>
              <a:rPr lang="en-US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패턴</a:t>
            </a:r>
            <a:r>
              <a:rPr lang="en-US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전두엽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기능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인지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능력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</a:p>
          <a:p>
            <a:pPr>
              <a:lnSpc>
                <a:spcPct val="139916"/>
              </a:lnSpc>
            </a:pP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측정</a:t>
            </a:r>
            <a:endParaRPr sz="2700" dirty="0"/>
          </a:p>
        </p:txBody>
      </p:sp>
      <p:sp>
        <p:nvSpPr>
          <p:cNvPr id="68" name="Google Shape;138;p14">
            <a:extLst>
              <a:ext uri="{FF2B5EF4-FFF2-40B4-BE49-F238E27FC236}">
                <a16:creationId xmlns:a16="http://schemas.microsoft.com/office/drawing/2014/main" id="{79708E12-18B7-4C4B-A145-C06DA3DA741C}"/>
              </a:ext>
            </a:extLst>
          </p:cNvPr>
          <p:cNvSpPr txBox="1"/>
          <p:nvPr/>
        </p:nvSpPr>
        <p:spPr>
          <a:xfrm>
            <a:off x="1570264" y="6246435"/>
            <a:ext cx="287535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다양한</a:t>
            </a:r>
            <a:r>
              <a:rPr lang="en-US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미니</a:t>
            </a:r>
            <a:r>
              <a:rPr lang="en-US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게임을</a:t>
            </a:r>
            <a:r>
              <a:rPr lang="en-US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통한</a:t>
            </a:r>
            <a:r>
              <a:rPr lang="en-US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>
              <a:lnSpc>
                <a:spcPct val="139916"/>
              </a:lnSpc>
            </a:pP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문제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해결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능력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의사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결정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과정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평가</a:t>
            </a:r>
            <a:endParaRPr sz="2700" dirty="0"/>
          </a:p>
        </p:txBody>
      </p:sp>
      <p:sp>
        <p:nvSpPr>
          <p:cNvPr id="69" name="Google Shape;139;p14">
            <a:extLst>
              <a:ext uri="{FF2B5EF4-FFF2-40B4-BE49-F238E27FC236}">
                <a16:creationId xmlns:a16="http://schemas.microsoft.com/office/drawing/2014/main" id="{49847AD4-83F5-4430-A352-3134708577FB}"/>
              </a:ext>
            </a:extLst>
          </p:cNvPr>
          <p:cNvSpPr txBox="1"/>
          <p:nvPr/>
        </p:nvSpPr>
        <p:spPr>
          <a:xfrm>
            <a:off x="1570264" y="7491903"/>
            <a:ext cx="2875359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정답 유무보다 </a:t>
            </a:r>
            <a:r>
              <a:rPr lang="en-US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위기 대처 및 정보 처리 속도</a:t>
            </a:r>
            <a:r>
              <a:rPr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에 포커스</a:t>
            </a:r>
            <a:endParaRPr sz="2700"/>
          </a:p>
        </p:txBody>
      </p:sp>
      <p:sp>
        <p:nvSpPr>
          <p:cNvPr id="70" name="Google Shape;140;p14">
            <a:extLst>
              <a:ext uri="{FF2B5EF4-FFF2-40B4-BE49-F238E27FC236}">
                <a16:creationId xmlns:a16="http://schemas.microsoft.com/office/drawing/2014/main" id="{8FADB826-6458-42E3-83D6-4DD899464A1F}"/>
              </a:ext>
            </a:extLst>
          </p:cNvPr>
          <p:cNvSpPr txBox="1"/>
          <p:nvPr/>
        </p:nvSpPr>
        <p:spPr>
          <a:xfrm>
            <a:off x="5802936" y="5000967"/>
            <a:ext cx="287535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실제 회사에서 발생 가능한 </a:t>
            </a:r>
            <a:r>
              <a:rPr lang="en-US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구체적인 가상 업무 상황(Role-play) 부여</a:t>
            </a:r>
            <a:endParaRPr sz="2700"/>
          </a:p>
        </p:txBody>
      </p:sp>
      <p:sp>
        <p:nvSpPr>
          <p:cNvPr id="71" name="Google Shape;141;p14">
            <a:extLst>
              <a:ext uri="{FF2B5EF4-FFF2-40B4-BE49-F238E27FC236}">
                <a16:creationId xmlns:a16="http://schemas.microsoft.com/office/drawing/2014/main" id="{90706D8C-23C6-4C41-B26C-5E54E8A8DF1E}"/>
              </a:ext>
            </a:extLst>
          </p:cNvPr>
          <p:cNvSpPr txBox="1"/>
          <p:nvPr/>
        </p:nvSpPr>
        <p:spPr>
          <a:xfrm>
            <a:off x="5802936" y="6246435"/>
            <a:ext cx="2946261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돌발</a:t>
            </a:r>
            <a:r>
              <a:rPr lang="en-US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변수에</a:t>
            </a:r>
            <a:r>
              <a:rPr lang="en-US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대한</a:t>
            </a:r>
            <a:r>
              <a:rPr lang="en-US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지원자의</a:t>
            </a:r>
            <a:r>
              <a:rPr lang="en-US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상황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판단력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커뮤니케이션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대처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능력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검증</a:t>
            </a:r>
            <a:endParaRPr sz="2700" dirty="0"/>
          </a:p>
        </p:txBody>
      </p:sp>
      <p:sp>
        <p:nvSpPr>
          <p:cNvPr id="72" name="Google Shape;142;p14">
            <a:extLst>
              <a:ext uri="{FF2B5EF4-FFF2-40B4-BE49-F238E27FC236}">
                <a16:creationId xmlns:a16="http://schemas.microsoft.com/office/drawing/2014/main" id="{AA369B54-8507-4411-AE28-88AB7150AABF}"/>
              </a:ext>
            </a:extLst>
          </p:cNvPr>
          <p:cNvSpPr txBox="1"/>
          <p:nvPr/>
        </p:nvSpPr>
        <p:spPr>
          <a:xfrm>
            <a:off x="5802936" y="7637327"/>
            <a:ext cx="2875359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녹화된</a:t>
            </a:r>
            <a:r>
              <a:rPr lang="en-US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구두</a:t>
            </a:r>
            <a:r>
              <a:rPr lang="en-US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답변을</a:t>
            </a:r>
            <a:r>
              <a:rPr lang="en-US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통한</a:t>
            </a:r>
            <a:r>
              <a:rPr lang="en-US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>
              <a:lnSpc>
                <a:spcPct val="139916"/>
              </a:lnSpc>
            </a:pP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실무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센스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파악</a:t>
            </a:r>
            <a:endParaRPr sz="2700" dirty="0"/>
          </a:p>
        </p:txBody>
      </p:sp>
      <p:sp>
        <p:nvSpPr>
          <p:cNvPr id="73" name="Google Shape;143;p14">
            <a:extLst>
              <a:ext uri="{FF2B5EF4-FFF2-40B4-BE49-F238E27FC236}">
                <a16:creationId xmlns:a16="http://schemas.microsoft.com/office/drawing/2014/main" id="{1DF2496B-F815-482D-8711-0B6E9AE1E478}"/>
              </a:ext>
            </a:extLst>
          </p:cNvPr>
          <p:cNvSpPr txBox="1"/>
          <p:nvPr/>
        </p:nvSpPr>
        <p:spPr>
          <a:xfrm>
            <a:off x="10035607" y="5000967"/>
            <a:ext cx="3132534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자기소개</a:t>
            </a:r>
            <a:r>
              <a:rPr lang="en-US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장단점</a:t>
            </a:r>
            <a:r>
              <a:rPr lang="en-US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등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필수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기본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질문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구조화된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꼬리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질문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>
              <a:lnSpc>
                <a:spcPct val="139916"/>
              </a:lnSpc>
            </a:pP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제시</a:t>
            </a:r>
            <a:endParaRPr sz="2700" dirty="0"/>
          </a:p>
        </p:txBody>
      </p:sp>
      <p:sp>
        <p:nvSpPr>
          <p:cNvPr id="74" name="Google Shape;144;p14">
            <a:extLst>
              <a:ext uri="{FF2B5EF4-FFF2-40B4-BE49-F238E27FC236}">
                <a16:creationId xmlns:a16="http://schemas.microsoft.com/office/drawing/2014/main" id="{24F58B25-A560-4739-813A-CC028DC2148E}"/>
              </a:ext>
            </a:extLst>
          </p:cNvPr>
          <p:cNvSpPr txBox="1"/>
          <p:nvPr/>
        </p:nvSpPr>
        <p:spPr>
          <a:xfrm>
            <a:off x="10035607" y="6246435"/>
            <a:ext cx="287535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지원자의 구두 답변 내용에 대한 </a:t>
            </a:r>
            <a:r>
              <a:rPr lang="en-US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AI 자연어 처리 및 심층 논리 분석</a:t>
            </a:r>
            <a:endParaRPr sz="2700"/>
          </a:p>
        </p:txBody>
      </p:sp>
      <p:sp>
        <p:nvSpPr>
          <p:cNvPr id="75" name="Google Shape;145;p14">
            <a:extLst>
              <a:ext uri="{FF2B5EF4-FFF2-40B4-BE49-F238E27FC236}">
                <a16:creationId xmlns:a16="http://schemas.microsoft.com/office/drawing/2014/main" id="{4228A8CF-5CFA-419A-A2D7-FEFADDA4553A}"/>
              </a:ext>
            </a:extLst>
          </p:cNvPr>
          <p:cNvSpPr txBox="1"/>
          <p:nvPr/>
        </p:nvSpPr>
        <p:spPr>
          <a:xfrm>
            <a:off x="10035607" y="7491903"/>
            <a:ext cx="287535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답변</a:t>
            </a:r>
            <a:r>
              <a:rPr lang="en-US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시의</a:t>
            </a:r>
            <a:r>
              <a:rPr lang="en-US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시선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불안정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음성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떨림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등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비언어적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요소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>
              <a:lnSpc>
                <a:spcPct val="139916"/>
              </a:lnSpc>
            </a:pP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실시간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채점</a:t>
            </a:r>
            <a:endParaRPr sz="2700" dirty="0"/>
          </a:p>
        </p:txBody>
      </p:sp>
      <p:sp>
        <p:nvSpPr>
          <p:cNvPr id="76" name="Google Shape;146;p14">
            <a:extLst>
              <a:ext uri="{FF2B5EF4-FFF2-40B4-BE49-F238E27FC236}">
                <a16:creationId xmlns:a16="http://schemas.microsoft.com/office/drawing/2014/main" id="{99D14736-9E80-4B79-91FB-F54F30094BB5}"/>
              </a:ext>
            </a:extLst>
          </p:cNvPr>
          <p:cNvSpPr txBox="1"/>
          <p:nvPr/>
        </p:nvSpPr>
        <p:spPr>
          <a:xfrm>
            <a:off x="14268279" y="5000967"/>
            <a:ext cx="287535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제한 시간 내 다량의 문항 응답을 통한 </a:t>
            </a:r>
            <a:r>
              <a:rPr lang="en-US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지원자의 기본적인 성격 및 가치관 파악</a:t>
            </a:r>
            <a:endParaRPr sz="2700"/>
          </a:p>
        </p:txBody>
      </p:sp>
      <p:sp>
        <p:nvSpPr>
          <p:cNvPr id="77" name="Google Shape;147;p14">
            <a:extLst>
              <a:ext uri="{FF2B5EF4-FFF2-40B4-BE49-F238E27FC236}">
                <a16:creationId xmlns:a16="http://schemas.microsoft.com/office/drawing/2014/main" id="{DEEE31CA-9D2A-43C9-99DF-EDD03EDEB0D3}"/>
              </a:ext>
            </a:extLst>
          </p:cNvPr>
          <p:cNvSpPr txBox="1"/>
          <p:nvPr/>
        </p:nvSpPr>
        <p:spPr>
          <a:xfrm>
            <a:off x="14268279" y="6566340"/>
            <a:ext cx="2875359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응답의 신뢰도(일관성) 체크 및 </a:t>
            </a:r>
            <a:r>
              <a:rPr lang="en-US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조직 융화력 진단</a:t>
            </a:r>
            <a:endParaRPr sz="2700"/>
          </a:p>
        </p:txBody>
      </p:sp>
      <p:sp>
        <p:nvSpPr>
          <p:cNvPr id="78" name="Google Shape;148;p14">
            <a:extLst>
              <a:ext uri="{FF2B5EF4-FFF2-40B4-BE49-F238E27FC236}">
                <a16:creationId xmlns:a16="http://schemas.microsoft.com/office/drawing/2014/main" id="{78A9E3F7-302F-418A-82D4-8F245BB994AD}"/>
              </a:ext>
            </a:extLst>
          </p:cNvPr>
          <p:cNvSpPr txBox="1"/>
          <p:nvPr/>
        </p:nvSpPr>
        <p:spPr>
          <a:xfrm>
            <a:off x="14268279" y="7491903"/>
            <a:ext cx="287535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지원 기업이 요구하는 </a:t>
            </a:r>
            <a:r>
              <a:rPr lang="en-US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핵심 인재상과의 문화 적합도(Culture Fit) 판별</a:t>
            </a:r>
            <a:endParaRPr sz="2700"/>
          </a:p>
        </p:txBody>
      </p:sp>
      <p:sp>
        <p:nvSpPr>
          <p:cNvPr id="79" name="Google Shape;149;p14">
            <a:extLst>
              <a:ext uri="{FF2B5EF4-FFF2-40B4-BE49-F238E27FC236}">
                <a16:creationId xmlns:a16="http://schemas.microsoft.com/office/drawing/2014/main" id="{1F0BF1DB-5BB0-4C59-9C49-50F783E3B91F}"/>
              </a:ext>
            </a:extLst>
          </p:cNvPr>
          <p:cNvSpPr txBox="1"/>
          <p:nvPr/>
        </p:nvSpPr>
        <p:spPr>
          <a:xfrm>
            <a:off x="1313089" y="5043829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80" name="Google Shape;150;p14">
            <a:extLst>
              <a:ext uri="{FF2B5EF4-FFF2-40B4-BE49-F238E27FC236}">
                <a16:creationId xmlns:a16="http://schemas.microsoft.com/office/drawing/2014/main" id="{364EAC1A-DFAE-4733-B7DA-F39BD9E5F24A}"/>
              </a:ext>
            </a:extLst>
          </p:cNvPr>
          <p:cNvSpPr txBox="1"/>
          <p:nvPr/>
        </p:nvSpPr>
        <p:spPr>
          <a:xfrm>
            <a:off x="1313089" y="6289297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81" name="Google Shape;151;p14">
            <a:extLst>
              <a:ext uri="{FF2B5EF4-FFF2-40B4-BE49-F238E27FC236}">
                <a16:creationId xmlns:a16="http://schemas.microsoft.com/office/drawing/2014/main" id="{D3541A0E-5695-45EF-A380-3828F882757B}"/>
              </a:ext>
            </a:extLst>
          </p:cNvPr>
          <p:cNvSpPr txBox="1"/>
          <p:nvPr/>
        </p:nvSpPr>
        <p:spPr>
          <a:xfrm>
            <a:off x="1313089" y="7534765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82" name="Google Shape;152;p14">
            <a:extLst>
              <a:ext uri="{FF2B5EF4-FFF2-40B4-BE49-F238E27FC236}">
                <a16:creationId xmlns:a16="http://schemas.microsoft.com/office/drawing/2014/main" id="{011CB267-BDEE-4360-8A1C-7B93AB935B34}"/>
              </a:ext>
            </a:extLst>
          </p:cNvPr>
          <p:cNvSpPr txBox="1"/>
          <p:nvPr/>
        </p:nvSpPr>
        <p:spPr>
          <a:xfrm>
            <a:off x="5545761" y="5043829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83" name="Google Shape;153;p14">
            <a:extLst>
              <a:ext uri="{FF2B5EF4-FFF2-40B4-BE49-F238E27FC236}">
                <a16:creationId xmlns:a16="http://schemas.microsoft.com/office/drawing/2014/main" id="{9BC8604D-07BC-4942-849F-1E648CEA4519}"/>
              </a:ext>
            </a:extLst>
          </p:cNvPr>
          <p:cNvSpPr txBox="1"/>
          <p:nvPr/>
        </p:nvSpPr>
        <p:spPr>
          <a:xfrm>
            <a:off x="5545761" y="6289297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84" name="Google Shape;154;p14">
            <a:extLst>
              <a:ext uri="{FF2B5EF4-FFF2-40B4-BE49-F238E27FC236}">
                <a16:creationId xmlns:a16="http://schemas.microsoft.com/office/drawing/2014/main" id="{05BD240C-67BF-4066-AC3A-37BBA0F396C8}"/>
              </a:ext>
            </a:extLst>
          </p:cNvPr>
          <p:cNvSpPr txBox="1"/>
          <p:nvPr/>
        </p:nvSpPr>
        <p:spPr>
          <a:xfrm>
            <a:off x="5545761" y="7680189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85" name="Google Shape;155;p14">
            <a:extLst>
              <a:ext uri="{FF2B5EF4-FFF2-40B4-BE49-F238E27FC236}">
                <a16:creationId xmlns:a16="http://schemas.microsoft.com/office/drawing/2014/main" id="{6C01B5D4-F128-4DF6-884C-D4D14A05B806}"/>
              </a:ext>
            </a:extLst>
          </p:cNvPr>
          <p:cNvSpPr txBox="1"/>
          <p:nvPr/>
        </p:nvSpPr>
        <p:spPr>
          <a:xfrm>
            <a:off x="9778432" y="5043829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86" name="Google Shape;156;p14">
            <a:extLst>
              <a:ext uri="{FF2B5EF4-FFF2-40B4-BE49-F238E27FC236}">
                <a16:creationId xmlns:a16="http://schemas.microsoft.com/office/drawing/2014/main" id="{BF9473B7-32F2-4983-9B1D-590677589904}"/>
              </a:ext>
            </a:extLst>
          </p:cNvPr>
          <p:cNvSpPr txBox="1"/>
          <p:nvPr/>
        </p:nvSpPr>
        <p:spPr>
          <a:xfrm>
            <a:off x="9778432" y="6289297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87" name="Google Shape;157;p14">
            <a:extLst>
              <a:ext uri="{FF2B5EF4-FFF2-40B4-BE49-F238E27FC236}">
                <a16:creationId xmlns:a16="http://schemas.microsoft.com/office/drawing/2014/main" id="{10F7FB9A-215F-479F-92B9-6F318A07BD50}"/>
              </a:ext>
            </a:extLst>
          </p:cNvPr>
          <p:cNvSpPr txBox="1"/>
          <p:nvPr/>
        </p:nvSpPr>
        <p:spPr>
          <a:xfrm>
            <a:off x="9778432" y="7534765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88" name="Google Shape;158;p14">
            <a:extLst>
              <a:ext uri="{FF2B5EF4-FFF2-40B4-BE49-F238E27FC236}">
                <a16:creationId xmlns:a16="http://schemas.microsoft.com/office/drawing/2014/main" id="{59E650BA-8289-497C-97F7-BE90627256DD}"/>
              </a:ext>
            </a:extLst>
          </p:cNvPr>
          <p:cNvSpPr txBox="1"/>
          <p:nvPr/>
        </p:nvSpPr>
        <p:spPr>
          <a:xfrm>
            <a:off x="14011104" y="5043829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89" name="Google Shape;159;p14">
            <a:extLst>
              <a:ext uri="{FF2B5EF4-FFF2-40B4-BE49-F238E27FC236}">
                <a16:creationId xmlns:a16="http://schemas.microsoft.com/office/drawing/2014/main" id="{661DB30E-17EC-42CC-B8A5-CA64BCAE6BD5}"/>
              </a:ext>
            </a:extLst>
          </p:cNvPr>
          <p:cNvSpPr txBox="1"/>
          <p:nvPr/>
        </p:nvSpPr>
        <p:spPr>
          <a:xfrm>
            <a:off x="14011104" y="6609202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90" name="Google Shape;160;p14">
            <a:extLst>
              <a:ext uri="{FF2B5EF4-FFF2-40B4-BE49-F238E27FC236}">
                <a16:creationId xmlns:a16="http://schemas.microsoft.com/office/drawing/2014/main" id="{D8D0A89A-B95D-4D83-86BE-D4176A616553}"/>
              </a:ext>
            </a:extLst>
          </p:cNvPr>
          <p:cNvSpPr txBox="1"/>
          <p:nvPr/>
        </p:nvSpPr>
        <p:spPr>
          <a:xfrm>
            <a:off x="14011104" y="7534765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BF4CC62A-F180-423A-94A8-27BAC528F9D5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7">
            <a:extLst>
              <a:ext uri="{FF2B5EF4-FFF2-40B4-BE49-F238E27FC236}">
                <a16:creationId xmlns:a16="http://schemas.microsoft.com/office/drawing/2014/main" id="{67234AC7-ED5C-405C-9B1D-705303DCB571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7868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0" y="956921"/>
            <a:ext cx="13182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6200" b="1" spc="-500" dirty="0">
                <a:solidFill>
                  <a:srgbClr val="505050"/>
                </a:solidFill>
                <a:latin typeface="Gmarket Sans Medium"/>
              </a:rPr>
              <a:t>AI</a:t>
            </a: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 역량검사 준비 전략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7" name="Picture 20">
            <a:extLst>
              <a:ext uri="{FF2B5EF4-FFF2-40B4-BE49-F238E27FC236}">
                <a16:creationId xmlns:a16="http://schemas.microsoft.com/office/drawing/2014/main" id="{581E111A-60B0-4F08-8021-25FC9495054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31" name="TextBox 24">
            <a:extLst>
              <a:ext uri="{FF2B5EF4-FFF2-40B4-BE49-F238E27FC236}">
                <a16:creationId xmlns:a16="http://schemas.microsoft.com/office/drawing/2014/main" id="{0D59A901-6463-4687-9715-4D43C24F5E45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08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8C00D09-46DD-4131-BDED-6019AD2050B0}"/>
              </a:ext>
            </a:extLst>
          </p:cNvPr>
          <p:cNvSpPr/>
          <p:nvPr/>
        </p:nvSpPr>
        <p:spPr>
          <a:xfrm>
            <a:off x="15949928" y="9632434"/>
            <a:ext cx="20167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p.101</a:t>
            </a: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BF4CC62A-F180-423A-94A8-27BAC528F9D5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Google Shape;196;p15">
            <a:extLst>
              <a:ext uri="{FF2B5EF4-FFF2-40B4-BE49-F238E27FC236}">
                <a16:creationId xmlns:a16="http://schemas.microsoft.com/office/drawing/2014/main" id="{34DDF4A6-A540-4A62-AAEE-22BAA9B1BB3C}"/>
              </a:ext>
            </a:extLst>
          </p:cNvPr>
          <p:cNvSpPr/>
          <p:nvPr/>
        </p:nvSpPr>
        <p:spPr>
          <a:xfrm>
            <a:off x="2514600" y="4171950"/>
            <a:ext cx="13258800" cy="571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166;p15" descr="image.png">
            <a:extLst>
              <a:ext uri="{FF2B5EF4-FFF2-40B4-BE49-F238E27FC236}">
                <a16:creationId xmlns:a16="http://schemas.microsoft.com/office/drawing/2014/main" id="{E0C2029F-075E-4410-A9CE-13CA3B7E774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08745" y="360045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167;p15" descr="image.png">
            <a:extLst>
              <a:ext uri="{FF2B5EF4-FFF2-40B4-BE49-F238E27FC236}">
                <a16:creationId xmlns:a16="http://schemas.microsoft.com/office/drawing/2014/main" id="{F1B627D0-E28B-4BB9-8397-C5C944EA9A3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5100638"/>
            <a:ext cx="364599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168;p15" descr="image.png">
            <a:extLst>
              <a:ext uri="{FF2B5EF4-FFF2-40B4-BE49-F238E27FC236}">
                <a16:creationId xmlns:a16="http://schemas.microsoft.com/office/drawing/2014/main" id="{E4D39C40-50C3-4292-8DD2-BD4F15C416D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7765" y="360045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169;p15" descr="image.png">
            <a:extLst>
              <a:ext uri="{FF2B5EF4-FFF2-40B4-BE49-F238E27FC236}">
                <a16:creationId xmlns:a16="http://schemas.microsoft.com/office/drawing/2014/main" id="{DE7877A7-5CAD-4E38-8D77-D80205E8770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66270" y="5100638"/>
            <a:ext cx="364599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170;p15" descr="image.png">
            <a:extLst>
              <a:ext uri="{FF2B5EF4-FFF2-40B4-BE49-F238E27FC236}">
                <a16:creationId xmlns:a16="http://schemas.microsoft.com/office/drawing/2014/main" id="{B25FF46E-58F0-477A-AA04-C71E76E3077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26787" y="360045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171;p15" descr="image.png">
            <a:extLst>
              <a:ext uri="{FF2B5EF4-FFF2-40B4-BE49-F238E27FC236}">
                <a16:creationId xmlns:a16="http://schemas.microsoft.com/office/drawing/2014/main" id="{7D6ADC08-20D4-41C1-BA03-4B7F961AB03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75290" y="5100638"/>
            <a:ext cx="364599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172;p15" descr="image.png">
            <a:extLst>
              <a:ext uri="{FF2B5EF4-FFF2-40B4-BE49-F238E27FC236}">
                <a16:creationId xmlns:a16="http://schemas.microsoft.com/office/drawing/2014/main" id="{7B4EAF26-1286-42DC-BC98-ADEEF0BD7C64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035807" y="360045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173;p15" descr="image.png">
            <a:extLst>
              <a:ext uri="{FF2B5EF4-FFF2-40B4-BE49-F238E27FC236}">
                <a16:creationId xmlns:a16="http://schemas.microsoft.com/office/drawing/2014/main" id="{A333646E-0C47-4780-A6D5-A91C7A8EC292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3784312" y="5100638"/>
            <a:ext cx="3645990" cy="35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176;p15">
            <a:extLst>
              <a:ext uri="{FF2B5EF4-FFF2-40B4-BE49-F238E27FC236}">
                <a16:creationId xmlns:a16="http://schemas.microsoft.com/office/drawing/2014/main" id="{345815FB-6F3C-42FA-8F59-B1FE4A93C839}"/>
              </a:ext>
            </a:extLst>
          </p:cNvPr>
          <p:cNvSpPr txBox="1"/>
          <p:nvPr/>
        </p:nvSpPr>
        <p:spPr>
          <a:xfrm>
            <a:off x="1081139" y="5514976"/>
            <a:ext cx="3198212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25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검사 유형 파악</a:t>
            </a:r>
            <a:endParaRPr sz="2700"/>
          </a:p>
        </p:txBody>
      </p:sp>
      <p:sp>
        <p:nvSpPr>
          <p:cNvPr id="60" name="Google Shape;177;p15">
            <a:extLst>
              <a:ext uri="{FF2B5EF4-FFF2-40B4-BE49-F238E27FC236}">
                <a16:creationId xmlns:a16="http://schemas.microsoft.com/office/drawing/2014/main" id="{37247BAD-6384-45C4-9952-95C675DA9C1F}"/>
              </a:ext>
            </a:extLst>
          </p:cNvPr>
          <p:cNvSpPr txBox="1"/>
          <p:nvPr/>
        </p:nvSpPr>
        <p:spPr>
          <a:xfrm>
            <a:off x="5390161" y="5514976"/>
            <a:ext cx="3198212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25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온라인 모의 검사</a:t>
            </a:r>
            <a:endParaRPr sz="2700"/>
          </a:p>
        </p:txBody>
      </p:sp>
      <p:sp>
        <p:nvSpPr>
          <p:cNvPr id="61" name="Google Shape;178;p15">
            <a:extLst>
              <a:ext uri="{FF2B5EF4-FFF2-40B4-BE49-F238E27FC236}">
                <a16:creationId xmlns:a16="http://schemas.microsoft.com/office/drawing/2014/main" id="{DC7ECAE9-B104-4214-8DEA-082AE48C06BA}"/>
              </a:ext>
            </a:extLst>
          </p:cNvPr>
          <p:cNvSpPr txBox="1"/>
          <p:nvPr/>
        </p:nvSpPr>
        <p:spPr>
          <a:xfrm>
            <a:off x="9699181" y="5514976"/>
            <a:ext cx="3198212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25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실전 면접 연습</a:t>
            </a:r>
            <a:endParaRPr sz="2700"/>
          </a:p>
        </p:txBody>
      </p:sp>
      <p:sp>
        <p:nvSpPr>
          <p:cNvPr id="63" name="Google Shape;179;p15">
            <a:extLst>
              <a:ext uri="{FF2B5EF4-FFF2-40B4-BE49-F238E27FC236}">
                <a16:creationId xmlns:a16="http://schemas.microsoft.com/office/drawing/2014/main" id="{947C4D2C-598C-47AD-AC83-E7AF8826473E}"/>
              </a:ext>
            </a:extLst>
          </p:cNvPr>
          <p:cNvSpPr txBox="1"/>
          <p:nvPr/>
        </p:nvSpPr>
        <p:spPr>
          <a:xfrm>
            <a:off x="14008202" y="5514976"/>
            <a:ext cx="3198212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25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자기 분석 매칭</a:t>
            </a:r>
            <a:endParaRPr sz="2700"/>
          </a:p>
        </p:txBody>
      </p:sp>
      <p:sp>
        <p:nvSpPr>
          <p:cNvPr id="64" name="Google Shape;180;p15">
            <a:extLst>
              <a:ext uri="{FF2B5EF4-FFF2-40B4-BE49-F238E27FC236}">
                <a16:creationId xmlns:a16="http://schemas.microsoft.com/office/drawing/2014/main" id="{5DE0CDAA-C9E0-450F-B5D9-D1B7B5E82EF2}"/>
              </a:ext>
            </a:extLst>
          </p:cNvPr>
          <p:cNvSpPr txBox="1"/>
          <p:nvPr/>
        </p:nvSpPr>
        <p:spPr>
          <a:xfrm>
            <a:off x="1414463" y="6115051"/>
            <a:ext cx="278874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지원 기업이 채택한 </a:t>
            </a:r>
            <a:r>
              <a:rPr lang="en-US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AI 역량검사 솔루션 사전 파악</a:t>
            </a:r>
            <a:endParaRPr sz="2700"/>
          </a:p>
        </p:txBody>
      </p:sp>
      <p:sp>
        <p:nvSpPr>
          <p:cNvPr id="65" name="Google Shape;181;p15">
            <a:extLst>
              <a:ext uri="{FF2B5EF4-FFF2-40B4-BE49-F238E27FC236}">
                <a16:creationId xmlns:a16="http://schemas.microsoft.com/office/drawing/2014/main" id="{ACA63F90-A30C-4EA9-B944-8458A67F847E}"/>
              </a:ext>
            </a:extLst>
          </p:cNvPr>
          <p:cNvSpPr txBox="1"/>
          <p:nvPr/>
        </p:nvSpPr>
        <p:spPr>
          <a:xfrm>
            <a:off x="1414463" y="7069187"/>
            <a:ext cx="278874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신역검/구역검 등 </a:t>
            </a:r>
            <a:r>
              <a:rPr lang="en-US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세부 게임 유형 및 평가 방식 인지</a:t>
            </a:r>
            <a:endParaRPr sz="2700"/>
          </a:p>
        </p:txBody>
      </p:sp>
      <p:sp>
        <p:nvSpPr>
          <p:cNvPr id="92" name="Google Shape;182;p15">
            <a:extLst>
              <a:ext uri="{FF2B5EF4-FFF2-40B4-BE49-F238E27FC236}">
                <a16:creationId xmlns:a16="http://schemas.microsoft.com/office/drawing/2014/main" id="{3CB845CF-BF2A-44EB-A44B-DA0E6B353CB0}"/>
              </a:ext>
            </a:extLst>
          </p:cNvPr>
          <p:cNvSpPr txBox="1"/>
          <p:nvPr/>
        </p:nvSpPr>
        <p:spPr>
          <a:xfrm>
            <a:off x="5723483" y="6115050"/>
            <a:ext cx="278874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JOBDA(잡다) 등 전용 플랫폼을 활용한 </a:t>
            </a:r>
            <a:r>
              <a:rPr lang="en-US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실전 모의고사 반복 응시</a:t>
            </a:r>
            <a:endParaRPr sz="2700"/>
          </a:p>
        </p:txBody>
      </p:sp>
      <p:sp>
        <p:nvSpPr>
          <p:cNvPr id="93" name="Google Shape;183;p15">
            <a:extLst>
              <a:ext uri="{FF2B5EF4-FFF2-40B4-BE49-F238E27FC236}">
                <a16:creationId xmlns:a16="http://schemas.microsoft.com/office/drawing/2014/main" id="{C2D492F7-0DDC-43BD-A5DB-324DB6D89421}"/>
              </a:ext>
            </a:extLst>
          </p:cNvPr>
          <p:cNvSpPr txBox="1"/>
          <p:nvPr/>
        </p:nvSpPr>
        <p:spPr>
          <a:xfrm>
            <a:off x="5723483" y="7389093"/>
            <a:ext cx="278874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낯선 인터페이스 및 게임 룰에 대한 </a:t>
            </a:r>
            <a:r>
              <a:rPr lang="en-US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사전 적응력 완벽 확보</a:t>
            </a:r>
            <a:endParaRPr sz="2700"/>
          </a:p>
        </p:txBody>
      </p:sp>
      <p:sp>
        <p:nvSpPr>
          <p:cNvPr id="94" name="Google Shape;184;p15">
            <a:extLst>
              <a:ext uri="{FF2B5EF4-FFF2-40B4-BE49-F238E27FC236}">
                <a16:creationId xmlns:a16="http://schemas.microsoft.com/office/drawing/2014/main" id="{62D3EA54-5AB4-4F3C-8A11-96BD652EC4CC}"/>
              </a:ext>
            </a:extLst>
          </p:cNvPr>
          <p:cNvSpPr txBox="1"/>
          <p:nvPr/>
        </p:nvSpPr>
        <p:spPr>
          <a:xfrm>
            <a:off x="10032503" y="6115050"/>
            <a:ext cx="3003051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기본</a:t>
            </a:r>
            <a:r>
              <a:rPr lang="en-US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질문</a:t>
            </a:r>
            <a:r>
              <a:rPr lang="en-US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(1분 </a:t>
            </a:r>
            <a:r>
              <a:rPr lang="en-US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자기소개</a:t>
            </a:r>
            <a:r>
              <a:rPr lang="en-US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등)에 </a:t>
            </a:r>
            <a:r>
              <a:rPr lang="en-US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대한</a:t>
            </a:r>
            <a:r>
              <a:rPr lang="en-US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스크립트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작성</a:t>
            </a:r>
            <a:r>
              <a:rPr lang="en-US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숙지</a:t>
            </a:r>
            <a:endParaRPr sz="2700" dirty="0"/>
          </a:p>
        </p:txBody>
      </p:sp>
      <p:sp>
        <p:nvSpPr>
          <p:cNvPr id="95" name="Google Shape;185;p15">
            <a:extLst>
              <a:ext uri="{FF2B5EF4-FFF2-40B4-BE49-F238E27FC236}">
                <a16:creationId xmlns:a16="http://schemas.microsoft.com/office/drawing/2014/main" id="{C4A3E80C-E1C3-4A83-B96A-D6B27B576851}"/>
              </a:ext>
            </a:extLst>
          </p:cNvPr>
          <p:cNvSpPr txBox="1"/>
          <p:nvPr/>
        </p:nvSpPr>
        <p:spPr>
          <a:xfrm>
            <a:off x="10032503" y="7389093"/>
            <a:ext cx="278874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모니터 화면이 아닌 </a:t>
            </a:r>
            <a:r>
              <a:rPr lang="en-US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카메라 렌즈를 응시하는 시선 처리 집중 훈련</a:t>
            </a:r>
            <a:endParaRPr sz="2700"/>
          </a:p>
        </p:txBody>
      </p:sp>
      <p:sp>
        <p:nvSpPr>
          <p:cNvPr id="96" name="Google Shape;186;p15">
            <a:extLst>
              <a:ext uri="{FF2B5EF4-FFF2-40B4-BE49-F238E27FC236}">
                <a16:creationId xmlns:a16="http://schemas.microsoft.com/office/drawing/2014/main" id="{0ADE7077-A029-4161-AB3D-867751A8E33D}"/>
              </a:ext>
            </a:extLst>
          </p:cNvPr>
          <p:cNvSpPr txBox="1"/>
          <p:nvPr/>
        </p:nvSpPr>
        <p:spPr>
          <a:xfrm>
            <a:off x="14341524" y="6115050"/>
            <a:ext cx="278874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본인의 명확한 장단점 파악 및 </a:t>
            </a:r>
            <a:r>
              <a:rPr lang="en-US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경험 기반의 논리적 근거 마련</a:t>
            </a:r>
            <a:endParaRPr sz="2700"/>
          </a:p>
        </p:txBody>
      </p:sp>
      <p:sp>
        <p:nvSpPr>
          <p:cNvPr id="97" name="Google Shape;187;p15">
            <a:extLst>
              <a:ext uri="{FF2B5EF4-FFF2-40B4-BE49-F238E27FC236}">
                <a16:creationId xmlns:a16="http://schemas.microsoft.com/office/drawing/2014/main" id="{F3A28CA7-B5EC-4EE8-B1B5-7D5936B0813B}"/>
              </a:ext>
            </a:extLst>
          </p:cNvPr>
          <p:cNvSpPr txBox="1"/>
          <p:nvPr/>
        </p:nvSpPr>
        <p:spPr>
          <a:xfrm>
            <a:off x="14341524" y="7389093"/>
            <a:ext cx="278874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지원 기업/직무의 특성과 </a:t>
            </a:r>
            <a:r>
              <a:rPr lang="en-US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본인의 강점을 전략적으로 연결하여 어필</a:t>
            </a:r>
            <a:endParaRPr sz="2700"/>
          </a:p>
        </p:txBody>
      </p:sp>
      <p:sp>
        <p:nvSpPr>
          <p:cNvPr id="98" name="Google Shape;188;p15">
            <a:extLst>
              <a:ext uri="{FF2B5EF4-FFF2-40B4-BE49-F238E27FC236}">
                <a16:creationId xmlns:a16="http://schemas.microsoft.com/office/drawing/2014/main" id="{7E470F9E-5F59-4684-875E-44B932D3E0F5}"/>
              </a:ext>
            </a:extLst>
          </p:cNvPr>
          <p:cNvSpPr txBox="1"/>
          <p:nvPr/>
        </p:nvSpPr>
        <p:spPr>
          <a:xfrm>
            <a:off x="1157288" y="6157913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99" name="Google Shape;189;p15">
            <a:extLst>
              <a:ext uri="{FF2B5EF4-FFF2-40B4-BE49-F238E27FC236}">
                <a16:creationId xmlns:a16="http://schemas.microsoft.com/office/drawing/2014/main" id="{9E055460-0D80-434B-B442-1F23DDFEAE58}"/>
              </a:ext>
            </a:extLst>
          </p:cNvPr>
          <p:cNvSpPr txBox="1"/>
          <p:nvPr/>
        </p:nvSpPr>
        <p:spPr>
          <a:xfrm>
            <a:off x="1157288" y="7112049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100" name="Google Shape;190;p15">
            <a:extLst>
              <a:ext uri="{FF2B5EF4-FFF2-40B4-BE49-F238E27FC236}">
                <a16:creationId xmlns:a16="http://schemas.microsoft.com/office/drawing/2014/main" id="{5B55FEB0-4DF7-4997-A470-EEA2EBBD544D}"/>
              </a:ext>
            </a:extLst>
          </p:cNvPr>
          <p:cNvSpPr txBox="1"/>
          <p:nvPr/>
        </p:nvSpPr>
        <p:spPr>
          <a:xfrm>
            <a:off x="5466308" y="6157913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101" name="Google Shape;191;p15">
            <a:extLst>
              <a:ext uri="{FF2B5EF4-FFF2-40B4-BE49-F238E27FC236}">
                <a16:creationId xmlns:a16="http://schemas.microsoft.com/office/drawing/2014/main" id="{9F0CC817-9BC4-4BF1-BFB9-0602D09E833A}"/>
              </a:ext>
            </a:extLst>
          </p:cNvPr>
          <p:cNvSpPr txBox="1"/>
          <p:nvPr/>
        </p:nvSpPr>
        <p:spPr>
          <a:xfrm>
            <a:off x="5466308" y="7431956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102" name="Google Shape;192;p15">
            <a:extLst>
              <a:ext uri="{FF2B5EF4-FFF2-40B4-BE49-F238E27FC236}">
                <a16:creationId xmlns:a16="http://schemas.microsoft.com/office/drawing/2014/main" id="{A089F89F-1F1E-4FE1-82FE-53C24512BAB4}"/>
              </a:ext>
            </a:extLst>
          </p:cNvPr>
          <p:cNvSpPr txBox="1"/>
          <p:nvPr/>
        </p:nvSpPr>
        <p:spPr>
          <a:xfrm>
            <a:off x="9775328" y="6157913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103" name="Google Shape;193;p15">
            <a:extLst>
              <a:ext uri="{FF2B5EF4-FFF2-40B4-BE49-F238E27FC236}">
                <a16:creationId xmlns:a16="http://schemas.microsoft.com/office/drawing/2014/main" id="{5C4D2C29-199F-4BD8-B666-F4A375E0F5B5}"/>
              </a:ext>
            </a:extLst>
          </p:cNvPr>
          <p:cNvSpPr txBox="1"/>
          <p:nvPr/>
        </p:nvSpPr>
        <p:spPr>
          <a:xfrm>
            <a:off x="9775328" y="7431956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104" name="Google Shape;194;p15">
            <a:extLst>
              <a:ext uri="{FF2B5EF4-FFF2-40B4-BE49-F238E27FC236}">
                <a16:creationId xmlns:a16="http://schemas.microsoft.com/office/drawing/2014/main" id="{A4940EBE-31BC-49EC-9710-556AB03DD901}"/>
              </a:ext>
            </a:extLst>
          </p:cNvPr>
          <p:cNvSpPr txBox="1"/>
          <p:nvPr/>
        </p:nvSpPr>
        <p:spPr>
          <a:xfrm>
            <a:off x="14084349" y="6157913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105" name="Google Shape;195;p15">
            <a:extLst>
              <a:ext uri="{FF2B5EF4-FFF2-40B4-BE49-F238E27FC236}">
                <a16:creationId xmlns:a16="http://schemas.microsoft.com/office/drawing/2014/main" id="{A43C4CE2-4BA4-495E-AE66-DF63F071F901}"/>
              </a:ext>
            </a:extLst>
          </p:cNvPr>
          <p:cNvSpPr txBox="1"/>
          <p:nvPr/>
        </p:nvSpPr>
        <p:spPr>
          <a:xfrm>
            <a:off x="14084349" y="7431956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4DA8AA8A-CC06-4875-91D8-8065C16C5884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6218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0" y="956921"/>
            <a:ext cx="13182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6200" b="1" spc="-500" dirty="0">
                <a:solidFill>
                  <a:srgbClr val="505050"/>
                </a:solidFill>
                <a:latin typeface="Gmarket Sans Medium"/>
              </a:rPr>
              <a:t>AI</a:t>
            </a: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 역량검사 체험하기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7" name="Picture 20">
            <a:extLst>
              <a:ext uri="{FF2B5EF4-FFF2-40B4-BE49-F238E27FC236}">
                <a16:creationId xmlns:a16="http://schemas.microsoft.com/office/drawing/2014/main" id="{581E111A-60B0-4F08-8021-25FC9495054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31" name="TextBox 24">
            <a:extLst>
              <a:ext uri="{FF2B5EF4-FFF2-40B4-BE49-F238E27FC236}">
                <a16:creationId xmlns:a16="http://schemas.microsoft.com/office/drawing/2014/main" id="{0D59A901-6463-4687-9715-4D43C24F5E45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09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A3BA2F72-70FA-4245-B673-0C42FECADA68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8C00D09-46DD-4131-BDED-6019AD2050B0}"/>
              </a:ext>
            </a:extLst>
          </p:cNvPr>
          <p:cNvSpPr/>
          <p:nvPr/>
        </p:nvSpPr>
        <p:spPr>
          <a:xfrm>
            <a:off x="15716851" y="9632434"/>
            <a:ext cx="20167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p.101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198645E-82D4-4B5D-B832-89AFCA01E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16" y="3508029"/>
            <a:ext cx="8425484" cy="4016969"/>
          </a:xfrm>
          <a:prstGeom prst="rect">
            <a:avLst/>
          </a:prstGeom>
        </p:spPr>
      </p:pic>
      <p:sp>
        <p:nvSpPr>
          <p:cNvPr id="105" name="TextBox 14">
            <a:extLst>
              <a:ext uri="{FF2B5EF4-FFF2-40B4-BE49-F238E27FC236}">
                <a16:creationId xmlns:a16="http://schemas.microsoft.com/office/drawing/2014/main" id="{2C05B654-E002-4D4B-B827-1E7817AEE279}"/>
              </a:ext>
            </a:extLst>
          </p:cNvPr>
          <p:cNvSpPr txBox="1"/>
          <p:nvPr/>
        </p:nvSpPr>
        <p:spPr>
          <a:xfrm>
            <a:off x="2614528" y="8051370"/>
            <a:ext cx="6069875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en-US" sz="2400" b="1" dirty="0">
                <a:latin typeface="+mj-ea"/>
                <a:ea typeface="+mj-ea"/>
                <a:cs typeface="윤고딕 Bold"/>
                <a:sym typeface="윤고딕 Bold"/>
              </a:rPr>
              <a:t>AI </a:t>
            </a:r>
            <a:r>
              <a:rPr lang="ko-KR" altLang="en-US" sz="2400" b="1" dirty="0">
                <a:latin typeface="+mj-ea"/>
                <a:ea typeface="+mj-ea"/>
                <a:cs typeface="윤고딕 Bold"/>
                <a:sym typeface="윤고딕 Bold"/>
              </a:rPr>
              <a:t>역량검사</a:t>
            </a:r>
            <a:r>
              <a:rPr lang="en-US" sz="2400" b="1" dirty="0">
                <a:latin typeface="+mj-ea"/>
                <a:ea typeface="+mj-ea"/>
                <a:cs typeface="윤고딕 Bold"/>
                <a:sym typeface="윤고딕 Bold"/>
              </a:rPr>
              <a:t> </a:t>
            </a:r>
            <a:r>
              <a:rPr lang="ko-KR" altLang="en-US" sz="2400" b="1" dirty="0">
                <a:latin typeface="+mj-ea"/>
                <a:ea typeface="+mj-ea"/>
                <a:cs typeface="윤고딕 Bold"/>
                <a:sym typeface="윤고딕 Bold"/>
              </a:rPr>
              <a:t>체험하기</a:t>
            </a:r>
            <a:endParaRPr lang="en-US" altLang="ko-KR" sz="2400" b="1" dirty="0">
              <a:latin typeface="+mj-ea"/>
              <a:ea typeface="+mj-ea"/>
              <a:cs typeface="윤고딕 Bold"/>
              <a:sym typeface="윤고딕 Bold"/>
            </a:endParaRPr>
          </a:p>
          <a:p>
            <a:pPr marL="0" lvl="0" indent="0" algn="l">
              <a:spcBef>
                <a:spcPct val="0"/>
              </a:spcBef>
            </a:pPr>
            <a:r>
              <a:rPr lang="ko-KR" altLang="en-US" sz="2400" b="1" dirty="0">
                <a:latin typeface="+mj-ea"/>
                <a:ea typeface="+mj-ea"/>
                <a:cs typeface="윤고딕 Bold"/>
                <a:sym typeface="윤고딕 Bold"/>
              </a:rPr>
              <a:t>잡다</a:t>
            </a:r>
            <a:endParaRPr lang="en-US" sz="2400" b="1" dirty="0">
              <a:latin typeface="+mj-ea"/>
              <a:ea typeface="+mj-ea"/>
              <a:cs typeface="윤고딕 Bold"/>
              <a:sym typeface="윤고딕 Bold"/>
            </a:endParaRPr>
          </a:p>
        </p:txBody>
      </p:sp>
      <p:sp>
        <p:nvSpPr>
          <p:cNvPr id="106" name="TextBox 15">
            <a:extLst>
              <a:ext uri="{FF2B5EF4-FFF2-40B4-BE49-F238E27FC236}">
                <a16:creationId xmlns:a16="http://schemas.microsoft.com/office/drawing/2014/main" id="{2501C7D9-38EA-4E8A-8A55-291CEF580DBC}"/>
              </a:ext>
            </a:extLst>
          </p:cNvPr>
          <p:cNvSpPr txBox="1"/>
          <p:nvPr/>
        </p:nvSpPr>
        <p:spPr>
          <a:xfrm>
            <a:off x="2597928" y="9094666"/>
            <a:ext cx="6400800" cy="271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087"/>
              </a:lnSpc>
              <a:spcBef>
                <a:spcPct val="0"/>
              </a:spcBef>
            </a:pPr>
            <a:r>
              <a:rPr lang="en-US" sz="2400" b="1" dirty="0">
                <a:latin typeface="+mj-ea"/>
                <a:ea typeface="+mj-ea"/>
                <a:cs typeface="윤고딕"/>
                <a:sym typeface="윤고딕"/>
              </a:rPr>
              <a:t>https://</a:t>
            </a:r>
            <a:r>
              <a:rPr lang="en-US" altLang="ko-KR" sz="2400" b="1" dirty="0">
                <a:latin typeface="+mj-ea"/>
                <a:ea typeface="+mj-ea"/>
                <a:cs typeface="윤고딕"/>
                <a:sym typeface="윤고딕"/>
              </a:rPr>
              <a:t>www.jobda.im/</a:t>
            </a:r>
            <a:endParaRPr lang="en-US" sz="2400" b="1" dirty="0">
              <a:latin typeface="+mj-ea"/>
              <a:ea typeface="+mj-ea"/>
              <a:cs typeface="윤고딕"/>
              <a:sym typeface="윤고딕"/>
            </a:endParaRPr>
          </a:p>
        </p:txBody>
      </p:sp>
      <p:sp>
        <p:nvSpPr>
          <p:cNvPr id="107" name="AutoShape 16">
            <a:extLst>
              <a:ext uri="{FF2B5EF4-FFF2-40B4-BE49-F238E27FC236}">
                <a16:creationId xmlns:a16="http://schemas.microsoft.com/office/drawing/2014/main" id="{80F204B8-9905-493D-BD50-80DAA9E1DC7B}"/>
              </a:ext>
            </a:extLst>
          </p:cNvPr>
          <p:cNvSpPr/>
          <p:nvPr/>
        </p:nvSpPr>
        <p:spPr>
          <a:xfrm flipV="1">
            <a:off x="2614528" y="8913165"/>
            <a:ext cx="3386320" cy="0"/>
          </a:xfrm>
          <a:prstGeom prst="line">
            <a:avLst/>
          </a:prstGeom>
          <a:ln w="2857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2DFE45-6F2A-40AD-914D-EB2064DD4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80" y="7957671"/>
            <a:ext cx="1516990" cy="143030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D397ABE-E548-4D63-89AB-5AEA2E4BDC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5645" y="3491694"/>
            <a:ext cx="7368475" cy="4912066"/>
          </a:xfrm>
          <a:prstGeom prst="rect">
            <a:avLst/>
          </a:prstGeom>
        </p:spPr>
      </p:pic>
      <p:sp>
        <p:nvSpPr>
          <p:cNvPr id="37" name="TextBox 14">
            <a:extLst>
              <a:ext uri="{FF2B5EF4-FFF2-40B4-BE49-F238E27FC236}">
                <a16:creationId xmlns:a16="http://schemas.microsoft.com/office/drawing/2014/main" id="{6355AD19-4F81-48B2-AD66-3878C790746F}"/>
              </a:ext>
            </a:extLst>
          </p:cNvPr>
          <p:cNvSpPr txBox="1"/>
          <p:nvPr/>
        </p:nvSpPr>
        <p:spPr>
          <a:xfrm>
            <a:off x="10377630" y="8625886"/>
            <a:ext cx="606987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ko-KR" altLang="en-US" sz="2400" b="1" dirty="0">
                <a:latin typeface="+mj-ea"/>
                <a:ea typeface="+mj-ea"/>
                <a:cs typeface="윤고딕 Bold"/>
                <a:sym typeface="윤고딕 Bold"/>
              </a:rPr>
              <a:t>잡다 </a:t>
            </a:r>
            <a:r>
              <a:rPr lang="en-US" altLang="ko-KR" sz="2400" b="1" dirty="0">
                <a:latin typeface="+mj-ea"/>
                <a:ea typeface="+mj-ea"/>
                <a:cs typeface="윤고딕 Bold"/>
                <a:sym typeface="윤고딕 Bold"/>
              </a:rPr>
              <a:t>‘</a:t>
            </a:r>
            <a:r>
              <a:rPr lang="ko-KR" altLang="en-US" sz="2400" b="1" dirty="0">
                <a:latin typeface="+mj-ea"/>
                <a:ea typeface="+mj-ea"/>
                <a:cs typeface="윤고딕 Bold"/>
                <a:sym typeface="윤고딕 Bold"/>
              </a:rPr>
              <a:t>응시결과</a:t>
            </a:r>
            <a:r>
              <a:rPr lang="en-US" altLang="ko-KR" sz="2400" b="1" dirty="0">
                <a:latin typeface="+mj-ea"/>
                <a:ea typeface="+mj-ea"/>
                <a:cs typeface="윤고딕 Bold"/>
                <a:sym typeface="윤고딕 Bold"/>
              </a:rPr>
              <a:t>’</a:t>
            </a:r>
            <a:endParaRPr lang="en-US" sz="2400" b="1" dirty="0">
              <a:latin typeface="+mj-ea"/>
              <a:ea typeface="+mj-ea"/>
              <a:cs typeface="윤고딕 Bold"/>
              <a:sym typeface="윤고딕 Bold"/>
            </a:endParaRPr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466EC4D2-5E7E-49DF-A3AD-DED87558C44D}"/>
              </a:ext>
            </a:extLst>
          </p:cNvPr>
          <p:cNvSpPr txBox="1"/>
          <p:nvPr/>
        </p:nvSpPr>
        <p:spPr>
          <a:xfrm>
            <a:off x="10377630" y="9230665"/>
            <a:ext cx="6400800" cy="271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087"/>
              </a:lnSpc>
              <a:spcBef>
                <a:spcPct val="0"/>
              </a:spcBef>
            </a:pPr>
            <a:r>
              <a:rPr lang="en-US" sz="2400" b="1" dirty="0">
                <a:latin typeface="+mj-ea"/>
                <a:ea typeface="+mj-ea"/>
                <a:cs typeface="윤고딕"/>
                <a:sym typeface="윤고딕"/>
              </a:rPr>
              <a:t>https://</a:t>
            </a:r>
            <a:r>
              <a:rPr lang="en-US" altLang="ko-KR" sz="2400" b="1" dirty="0">
                <a:latin typeface="+mj-ea"/>
                <a:ea typeface="+mj-ea"/>
                <a:cs typeface="윤고딕"/>
                <a:sym typeface="윤고딕"/>
              </a:rPr>
              <a:t>www.jobda.im/</a:t>
            </a:r>
            <a:endParaRPr lang="en-US" sz="2400" b="1" dirty="0">
              <a:latin typeface="+mj-ea"/>
              <a:ea typeface="+mj-ea"/>
              <a:cs typeface="윤고딕"/>
              <a:sym typeface="윤고딕"/>
            </a:endParaRPr>
          </a:p>
        </p:txBody>
      </p:sp>
      <p:sp>
        <p:nvSpPr>
          <p:cNvPr id="41" name="AutoShape 16">
            <a:extLst>
              <a:ext uri="{FF2B5EF4-FFF2-40B4-BE49-F238E27FC236}">
                <a16:creationId xmlns:a16="http://schemas.microsoft.com/office/drawing/2014/main" id="{940D41A6-494D-4190-8E2E-FED766BE8F69}"/>
              </a:ext>
            </a:extLst>
          </p:cNvPr>
          <p:cNvSpPr/>
          <p:nvPr/>
        </p:nvSpPr>
        <p:spPr>
          <a:xfrm flipV="1">
            <a:off x="10394230" y="9049164"/>
            <a:ext cx="3386320" cy="0"/>
          </a:xfrm>
          <a:prstGeom prst="line">
            <a:avLst/>
          </a:prstGeom>
          <a:ln w="2857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2000" dirty="0"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C47DEEBC-D109-4F16-9986-E93759373443}"/>
              </a:ext>
            </a:extLst>
          </p:cNvPr>
          <p:cNvSpPr txBox="1"/>
          <p:nvPr/>
        </p:nvSpPr>
        <p:spPr>
          <a:xfrm>
            <a:off x="14357350" y="65143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6807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6" name="TextBox 3">
            <a:extLst>
              <a:ext uri="{FF2B5EF4-FFF2-40B4-BE49-F238E27FC236}">
                <a16:creationId xmlns:a16="http://schemas.microsoft.com/office/drawing/2014/main" id="{408C96A8-D486-4AA9-9D08-6784CFCE6F53}"/>
              </a:ext>
            </a:extLst>
          </p:cNvPr>
          <p:cNvSpPr txBox="1"/>
          <p:nvPr/>
        </p:nvSpPr>
        <p:spPr>
          <a:xfrm>
            <a:off x="1483498" y="724719"/>
            <a:ext cx="12308701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취업솔루션 </a:t>
            </a:r>
            <a:r>
              <a:rPr lang="en-US" altLang="ko-KR" sz="48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NCS/</a:t>
            </a:r>
            <a:r>
              <a:rPr lang="ko-KR" altLang="en-US" sz="4800" b="1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인적성</a:t>
            </a:r>
            <a:r>
              <a:rPr lang="ko-KR" altLang="en-US" sz="48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검사 결과 기록하기</a:t>
            </a:r>
            <a:endParaRPr lang="en-US" sz="4800" b="1" i="0" u="none" strike="noStrike" spc="-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6DF6E591-E386-4E91-A2AC-384EBF2E8C93}"/>
              </a:ext>
            </a:extLst>
          </p:cNvPr>
          <p:cNvGrpSpPr/>
          <p:nvPr/>
        </p:nvGrpSpPr>
        <p:grpSpPr>
          <a:xfrm>
            <a:off x="640574" y="2294003"/>
            <a:ext cx="15391733" cy="7395681"/>
            <a:chOff x="988943" y="1075429"/>
            <a:chExt cx="8783174" cy="6196975"/>
          </a:xfrm>
        </p:grpSpPr>
        <p:pic>
          <p:nvPicPr>
            <p:cNvPr id="56" name="그림 5">
              <a:extLst>
                <a:ext uri="{FF2B5EF4-FFF2-40B4-BE49-F238E27FC236}">
                  <a16:creationId xmlns:a16="http://schemas.microsoft.com/office/drawing/2014/main" id="{046F757A-097F-47FF-ADB9-388C0AFA5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943" y="1075429"/>
              <a:ext cx="8783174" cy="6196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3B993FFB-FE35-4B1A-9121-0FE40A8425F4}"/>
                </a:ext>
              </a:extLst>
            </p:cNvPr>
            <p:cNvSpPr/>
            <p:nvPr/>
          </p:nvSpPr>
          <p:spPr bwMode="auto">
            <a:xfrm>
              <a:off x="1204062" y="1386176"/>
              <a:ext cx="8352000" cy="5886227"/>
            </a:xfrm>
            <a:prstGeom prst="rect">
              <a:avLst/>
            </a:prstGeom>
            <a:noFill/>
            <a:ln w="9525" cap="flat" cmpd="sng" algn="ctr">
              <a:solidFill>
                <a:srgbClr val="CECEC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2592" eaLnBrk="1" latinLnBrk="1" hangingPunct="1"/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</p:grpSp>
      <p:sp>
        <p:nvSpPr>
          <p:cNvPr id="116" name="Freeform 16">
            <a:extLst>
              <a:ext uri="{FF2B5EF4-FFF2-40B4-BE49-F238E27FC236}">
                <a16:creationId xmlns:a16="http://schemas.microsoft.com/office/drawing/2014/main" id="{9C95DD68-3380-4A06-9962-A1E310A7EB8A}"/>
              </a:ext>
            </a:extLst>
          </p:cNvPr>
          <p:cNvSpPr/>
          <p:nvPr/>
        </p:nvSpPr>
        <p:spPr>
          <a:xfrm>
            <a:off x="15070629" y="5676900"/>
            <a:ext cx="2991383" cy="3550807"/>
          </a:xfrm>
          <a:custGeom>
            <a:avLst/>
            <a:gdLst/>
            <a:ahLst/>
            <a:cxnLst/>
            <a:rect l="l" t="t" r="r" b="b"/>
            <a:pathLst>
              <a:path w="4794124" h="5504735">
                <a:moveTo>
                  <a:pt x="0" y="0"/>
                </a:moveTo>
                <a:lnTo>
                  <a:pt x="4794124" y="0"/>
                </a:lnTo>
                <a:lnTo>
                  <a:pt x="4794124" y="5504735"/>
                </a:lnTo>
                <a:lnTo>
                  <a:pt x="0" y="55047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6" name="Group 7">
            <a:extLst>
              <a:ext uri="{FF2B5EF4-FFF2-40B4-BE49-F238E27FC236}">
                <a16:creationId xmlns:a16="http://schemas.microsoft.com/office/drawing/2014/main" id="{E066A7C6-AD9D-488D-A7FD-22723BB5F7C3}"/>
              </a:ext>
            </a:extLst>
          </p:cNvPr>
          <p:cNvGrpSpPr/>
          <p:nvPr/>
        </p:nvGrpSpPr>
        <p:grpSpPr>
          <a:xfrm>
            <a:off x="1023252" y="972141"/>
            <a:ext cx="122092" cy="590205"/>
            <a:chOff x="0" y="0"/>
            <a:chExt cx="444637" cy="309271"/>
          </a:xfrm>
          <a:solidFill>
            <a:schemeClr val="accent6">
              <a:lumMod val="50000"/>
            </a:schemeClr>
          </a:solidFill>
        </p:grpSpPr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62D09888-3543-45D9-86CB-C6DC81C6E00F}"/>
                </a:ext>
              </a:extLst>
            </p:cNvPr>
            <p:cNvSpPr/>
            <p:nvPr/>
          </p:nvSpPr>
          <p:spPr>
            <a:xfrm>
              <a:off x="0" y="0"/>
              <a:ext cx="444637" cy="309271"/>
            </a:xfrm>
            <a:custGeom>
              <a:avLst/>
              <a:gdLst/>
              <a:ahLst/>
              <a:cxnLst/>
              <a:rect l="l" t="t" r="r" b="b"/>
              <a:pathLst>
                <a:path w="444637" h="309271">
                  <a:moveTo>
                    <a:pt x="0" y="0"/>
                  </a:moveTo>
                  <a:lnTo>
                    <a:pt x="444637" y="0"/>
                  </a:lnTo>
                  <a:lnTo>
                    <a:pt x="444637" y="309271"/>
                  </a:lnTo>
                  <a:lnTo>
                    <a:pt x="0" y="30927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9BB09223-D3FC-4B01-88DB-F228C2FBB413}"/>
                </a:ext>
              </a:extLst>
            </p:cNvPr>
            <p:cNvSpPr txBox="1"/>
            <p:nvPr/>
          </p:nvSpPr>
          <p:spPr>
            <a:xfrm>
              <a:off x="0" y="-66675"/>
              <a:ext cx="444637" cy="37594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2"/>
                </a:lnSpc>
              </a:pPr>
              <a:endParaRPr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716851" y="9632434"/>
            <a:ext cx="20167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p.103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C1662F8B-C434-4EBB-8F88-2AF91934558F}"/>
              </a:ext>
            </a:extLst>
          </p:cNvPr>
          <p:cNvSpPr txBox="1"/>
          <p:nvPr/>
        </p:nvSpPr>
        <p:spPr>
          <a:xfrm>
            <a:off x="1337698" y="5688321"/>
            <a:ext cx="5708969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50000"/>
              </a:lnSpc>
            </a:pPr>
            <a:r>
              <a:rPr lang="ko-KR" altLang="en-US" sz="2400" b="1" spc="-100" dirty="0">
                <a:solidFill>
                  <a:schemeClr val="tx2"/>
                </a:solidFill>
                <a:latin typeface="+mj-ea"/>
                <a:ea typeface="+mj-ea"/>
              </a:rPr>
              <a:t>검사결과를 교재 </a:t>
            </a:r>
            <a:r>
              <a:rPr lang="en-US" altLang="ko-KR" sz="2400" b="1" spc="-100" dirty="0">
                <a:solidFill>
                  <a:schemeClr val="tx2"/>
                </a:solidFill>
                <a:latin typeface="+mj-ea"/>
                <a:ea typeface="+mj-ea"/>
              </a:rPr>
              <a:t>p.103 </a:t>
            </a:r>
            <a:r>
              <a:rPr lang="ko-KR" altLang="en-US" sz="2400" b="1" spc="-100" dirty="0">
                <a:solidFill>
                  <a:schemeClr val="tx2"/>
                </a:solidFill>
                <a:latin typeface="+mj-ea"/>
                <a:ea typeface="+mj-ea"/>
              </a:rPr>
              <a:t>에</a:t>
            </a:r>
            <a:r>
              <a:rPr lang="en-US" altLang="ko-KR" sz="2400" b="1" spc="-100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ko-KR" altLang="en-US" sz="2400" b="1" spc="-100" dirty="0">
                <a:solidFill>
                  <a:schemeClr val="tx2"/>
                </a:solidFill>
                <a:latin typeface="+mj-ea"/>
                <a:ea typeface="+mj-ea"/>
              </a:rPr>
              <a:t>기록하기</a:t>
            </a:r>
            <a:endParaRPr lang="en-US" sz="2400" b="1" i="0" u="none" strike="noStrike" spc="-1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47E61E1-1866-487A-8B09-5942A5BD8A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9920" y="3080417"/>
            <a:ext cx="5990216" cy="6193708"/>
          </a:xfrm>
          <a:prstGeom prst="rect">
            <a:avLst/>
          </a:prstGeom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1C44BE2D-407C-4A13-98D7-359CF7D5E293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8460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8005B58-4173-494C-B001-534AE8A2965F}"/>
              </a:ext>
            </a:extLst>
          </p:cNvPr>
          <p:cNvCxnSpPr>
            <a:cxnSpLocks/>
          </p:cNvCxnSpPr>
          <p:nvPr/>
        </p:nvCxnSpPr>
        <p:spPr>
          <a:xfrm>
            <a:off x="971550" y="9944100"/>
            <a:ext cx="1678305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AF4898C7-20ED-40B2-9557-F33C4D2533B7}"/>
              </a:ext>
            </a:extLst>
          </p:cNvPr>
          <p:cNvGrpSpPr/>
          <p:nvPr/>
        </p:nvGrpSpPr>
        <p:grpSpPr>
          <a:xfrm>
            <a:off x="11124059" y="3384249"/>
            <a:ext cx="6984303" cy="6092409"/>
            <a:chOff x="11506200" y="2552700"/>
            <a:chExt cx="5778544" cy="5938556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4A09D13B-98F2-402C-BBE4-BF7A60DC25BD}"/>
                </a:ext>
              </a:extLst>
            </p:cNvPr>
            <p:cNvSpPr/>
            <p:nvPr/>
          </p:nvSpPr>
          <p:spPr>
            <a:xfrm>
              <a:off x="11734800" y="2781302"/>
              <a:ext cx="5549944" cy="5709954"/>
            </a:xfrm>
            <a:custGeom>
              <a:avLst/>
              <a:gdLst/>
              <a:ahLst/>
              <a:cxnLst/>
              <a:rect l="l" t="t" r="r" b="b"/>
              <a:pathLst>
                <a:path w="4178344" h="4185955">
                  <a:moveTo>
                    <a:pt x="0" y="0"/>
                  </a:moveTo>
                  <a:lnTo>
                    <a:pt x="4178345" y="0"/>
                  </a:lnTo>
                  <a:lnTo>
                    <a:pt x="4178345" y="4185955"/>
                  </a:lnTo>
                  <a:lnTo>
                    <a:pt x="0" y="4185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750AD5B-61F0-4F12-B093-AE3DB817DE84}"/>
                </a:ext>
              </a:extLst>
            </p:cNvPr>
            <p:cNvSpPr/>
            <p:nvPr/>
          </p:nvSpPr>
          <p:spPr>
            <a:xfrm>
              <a:off x="11506200" y="2552700"/>
              <a:ext cx="2971800" cy="24383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Box 12">
            <a:extLst>
              <a:ext uri="{FF2B5EF4-FFF2-40B4-BE49-F238E27FC236}">
                <a16:creationId xmlns:a16="http://schemas.microsoft.com/office/drawing/2014/main" id="{899571DC-E70C-46E9-8DFB-31A843627F24}"/>
              </a:ext>
            </a:extLst>
          </p:cNvPr>
          <p:cNvSpPr txBox="1"/>
          <p:nvPr/>
        </p:nvSpPr>
        <p:spPr>
          <a:xfrm>
            <a:off x="1588251" y="5053403"/>
            <a:ext cx="14057395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응원합니다</a:t>
            </a:r>
            <a:r>
              <a:rPr lang="en-US" altLang="ko-KR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.</a:t>
            </a:r>
            <a:endParaRPr lang="en-US" sz="9600" b="1" spc="-571" dirty="0">
              <a:solidFill>
                <a:srgbClr val="524843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BD3FA91B-46D5-419B-875F-26E8B1A28A63}"/>
              </a:ext>
            </a:extLst>
          </p:cNvPr>
          <p:cNvSpPr txBox="1"/>
          <p:nvPr/>
        </p:nvSpPr>
        <p:spPr>
          <a:xfrm>
            <a:off x="1524000" y="3609261"/>
            <a:ext cx="14706600" cy="1360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8800" b="1" spc="-571" dirty="0">
                <a:solidFill>
                  <a:srgbClr val="B3C1BE"/>
                </a:solidFill>
                <a:latin typeface="+mj-ea"/>
                <a:ea typeface="+mj-ea"/>
                <a:cs typeface="210 도시락"/>
                <a:sym typeface="210 도시락"/>
              </a:rPr>
              <a:t>여러분의 취업 성공을</a:t>
            </a:r>
            <a:endParaRPr lang="en-US" sz="8800" b="1" spc="-571" dirty="0">
              <a:solidFill>
                <a:srgbClr val="B3C1BE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3402C13-7587-45CB-8917-4FFACE6189DD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7">
            <a:extLst>
              <a:ext uri="{FF2B5EF4-FFF2-40B4-BE49-F238E27FC236}">
                <a16:creationId xmlns:a16="http://schemas.microsoft.com/office/drawing/2014/main" id="{894D6227-3C1C-4B2A-9775-1148C382D9D0}"/>
              </a:ext>
            </a:extLst>
          </p:cNvPr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래픽 2" descr="비둘기 윤곽선">
            <a:extLst>
              <a:ext uri="{FF2B5EF4-FFF2-40B4-BE49-F238E27FC236}">
                <a16:creationId xmlns:a16="http://schemas.microsoft.com/office/drawing/2014/main" id="{EFF2BA02-4EAF-3FDC-7AF3-A273B57B2D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44400" y="4835393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60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2088</TotalTime>
  <Words>1111</Words>
  <Application>Microsoft Office PowerPoint</Application>
  <PresentationFormat>사용자 지정</PresentationFormat>
  <Paragraphs>191</Paragraphs>
  <Slides>13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Arial</vt:lpstr>
      <vt:lpstr>굴림</vt:lpstr>
      <vt:lpstr>Calibri</vt:lpstr>
      <vt:lpstr>Wingdings</vt:lpstr>
      <vt:lpstr>맑은 고딕</vt:lpstr>
      <vt:lpstr>Gmarket Sans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BEI</dc:creator>
  <cp:lastModifiedBy>Seungho Jeon</cp:lastModifiedBy>
  <cp:revision>147</cp:revision>
  <dcterms:created xsi:type="dcterms:W3CDTF">2006-08-16T00:00:00Z</dcterms:created>
  <dcterms:modified xsi:type="dcterms:W3CDTF">2026-03-03T07:06:30Z</dcterms:modified>
</cp:coreProperties>
</file>