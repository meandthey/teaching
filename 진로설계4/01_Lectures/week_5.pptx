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357" r:id="rId2"/>
    <p:sldId id="358" r:id="rId3"/>
    <p:sldId id="400" r:id="rId4"/>
    <p:sldId id="401" r:id="rId5"/>
    <p:sldId id="405" r:id="rId6"/>
    <p:sldId id="407" r:id="rId7"/>
    <p:sldId id="408" r:id="rId8"/>
    <p:sldId id="409" r:id="rId9"/>
    <p:sldId id="410" r:id="rId10"/>
    <p:sldId id="524" r:id="rId11"/>
    <p:sldId id="411" r:id="rId12"/>
    <p:sldId id="512" r:id="rId13"/>
  </p:sldIdLst>
  <p:sldSz cx="18288000" cy="10287000"/>
  <p:notesSz cx="6858000" cy="9144000"/>
  <p:embeddedFontLst>
    <p:embeddedFont>
      <p:font typeface="Gmarket Sans Medium" panose="020B0600000101010101" charset="-127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900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6.png"/><Relationship Id="rId4" Type="http://schemas.openxmlformats.org/officeDocument/2006/relationships/image" Target="../media/image4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6896100"/>
            <a:ext cx="7696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5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. 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입사지원서 작성 </a:t>
            </a: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1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9691039" y="2867024"/>
            <a:ext cx="8590034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657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62177" y="6314407"/>
            <a:ext cx="69977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6777" y="5628607"/>
            <a:ext cx="1371600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99500" y="2291019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62376" y="5615907"/>
            <a:ext cx="5668223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목표기업 및 직무기반 </a:t>
            </a:r>
            <a:endParaRPr lang="en-US" altLang="ko-KR" sz="2800" b="1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이력서</a:t>
            </a:r>
            <a:r>
              <a:rPr lang="en-US" altLang="ko-KR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, </a:t>
            </a: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자기소개서 작성 요령 터득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76477" y="5692107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8962177" y="7279607"/>
            <a:ext cx="69977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6777" y="6568407"/>
            <a:ext cx="1371600" cy="419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562377" y="6555706"/>
            <a:ext cx="64135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75000"/>
                    <a:lumOff val="25000"/>
                    <a:alpha val="97000"/>
                  </a:schemeClr>
                </a:solidFill>
                <a:latin typeface="+mn-ea"/>
              </a:rPr>
              <a:t>목표기업 및 직무기반 입사지원서 작성</a:t>
            </a:r>
            <a:endParaRPr lang="ko-KR" sz="2800" b="1" i="0" u="none" strike="noStrike" spc="-100" dirty="0">
              <a:solidFill>
                <a:schemeClr val="tx1">
                  <a:lumMod val="75000"/>
                  <a:lumOff val="2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076477" y="6631907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04DE6F0-BEF0-411B-A74D-5D8C9DE1256A}"/>
              </a:ext>
            </a:extLst>
          </p:cNvPr>
          <p:cNvSpPr txBox="1"/>
          <p:nvPr/>
        </p:nvSpPr>
        <p:spPr>
          <a:xfrm>
            <a:off x="8699500" y="4025628"/>
            <a:ext cx="85852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 algn="l">
              <a:lnSpc>
                <a:spcPct val="99600"/>
              </a:lnSpc>
              <a:buAutoNum type="arabicPeriod"/>
            </a:pP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목표기업 및 직무기반 </a:t>
            </a:r>
            <a:endParaRPr lang="en-US" altLang="ko-KR" sz="4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   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이력서</a:t>
            </a:r>
            <a:r>
              <a:rPr lang="en-US" altLang="ko-KR" sz="4400" b="1" spc="-200" dirty="0">
                <a:solidFill>
                  <a:srgbClr val="505050"/>
                </a:solidFill>
                <a:latin typeface="+mj-ea"/>
                <a:ea typeface="+mj-ea"/>
              </a:rPr>
              <a:t>, </a:t>
            </a: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자기소개서 작성법 탐색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p.59</a:t>
            </a:r>
          </a:p>
        </p:txBody>
      </p:sp>
    </p:spTree>
    <p:extLst>
      <p:ext uri="{BB962C8B-B14F-4D97-AF65-F5344CB8AC3E}">
        <p14:creationId xmlns:p14="http://schemas.microsoft.com/office/powerpoint/2010/main" val="306932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인사담당자가 보는 이력서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9C350B33-5FDF-415B-BABC-1C47DC2F809A}"/>
              </a:ext>
            </a:extLst>
          </p:cNvPr>
          <p:cNvSpPr txBox="1"/>
          <p:nvPr/>
        </p:nvSpPr>
        <p:spPr>
          <a:xfrm>
            <a:off x="10439400" y="9291497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800" b="1" i="0" u="none" strike="noStrike" spc="-100" dirty="0">
              <a:solidFill>
                <a:schemeClr val="tx1">
                  <a:alpha val="97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E7D814-28FB-4A3B-9FDA-7427F297B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87" y="2635005"/>
            <a:ext cx="5676713" cy="6572249"/>
          </a:xfrm>
          <a:prstGeom prst="rect">
            <a:avLst/>
          </a:prstGeom>
        </p:spPr>
      </p:pic>
      <p:sp>
        <p:nvSpPr>
          <p:cNvPr id="35" name="TextBox 23">
            <a:extLst>
              <a:ext uri="{FF2B5EF4-FFF2-40B4-BE49-F238E27FC236}">
                <a16:creationId xmlns:a16="http://schemas.microsoft.com/office/drawing/2014/main" id="{87F56515-518B-4ED9-AA0C-89E6331AE086}"/>
              </a:ext>
            </a:extLst>
          </p:cNvPr>
          <p:cNvSpPr txBox="1"/>
          <p:nvPr/>
        </p:nvSpPr>
        <p:spPr>
          <a:xfrm>
            <a:off x="6664020" y="2503952"/>
            <a:ext cx="9105773" cy="61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5599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기업에서 이력서를 요구하는 이유</a:t>
            </a:r>
            <a:endParaRPr lang="en-US" sz="2800" b="1" dirty="0">
              <a:solidFill>
                <a:schemeClr val="tx2"/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pic>
        <p:nvPicPr>
          <p:cNvPr id="22" name="Picture 20">
            <a:extLst>
              <a:ext uri="{FF2B5EF4-FFF2-40B4-BE49-F238E27FC236}">
                <a16:creationId xmlns:a16="http://schemas.microsoft.com/office/drawing/2014/main" id="{459684C2-16E5-4566-886C-B5ABC49E58E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F6DFB342-50AE-4D54-A952-2E3262B6FAC7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9CF185B-0149-431A-BD31-80926A42016F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0ECDE4-BB08-4BFD-95B4-1CAB3FBA7525}"/>
              </a:ext>
            </a:extLst>
          </p:cNvPr>
          <p:cNvSpPr/>
          <p:nvPr/>
        </p:nvSpPr>
        <p:spPr>
          <a:xfrm>
            <a:off x="15417090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p.60~61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02938B-77B6-45D3-9973-9CDAAE15DCF7}"/>
              </a:ext>
            </a:extLst>
          </p:cNvPr>
          <p:cNvGrpSpPr/>
          <p:nvPr/>
        </p:nvGrpSpPr>
        <p:grpSpPr>
          <a:xfrm>
            <a:off x="6649732" y="3310465"/>
            <a:ext cx="11228505" cy="6163601"/>
            <a:chOff x="6649732" y="3310465"/>
            <a:chExt cx="11228505" cy="6163601"/>
          </a:xfrm>
        </p:grpSpPr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A863BA96-619B-470A-8341-A536F03A7CBB}"/>
                </a:ext>
              </a:extLst>
            </p:cNvPr>
            <p:cNvSpPr/>
            <p:nvPr/>
          </p:nvSpPr>
          <p:spPr>
            <a:xfrm>
              <a:off x="6664020" y="3310465"/>
              <a:ext cx="11165216" cy="783728"/>
            </a:xfrm>
            <a:custGeom>
              <a:avLst/>
              <a:gdLst/>
              <a:ahLst/>
              <a:cxnLst/>
              <a:rect l="l" t="t" r="r" b="b"/>
              <a:pathLst>
                <a:path w="10393486" h="1058246">
                  <a:moveTo>
                    <a:pt x="0" y="0"/>
                  </a:moveTo>
                  <a:lnTo>
                    <a:pt x="10393486" y="0"/>
                  </a:lnTo>
                  <a:lnTo>
                    <a:pt x="10393486" y="1058246"/>
                  </a:lnTo>
                  <a:lnTo>
                    <a:pt x="0" y="1058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01557018-B9F8-4171-BC58-F71C75D9A4F9}"/>
                </a:ext>
              </a:extLst>
            </p:cNvPr>
            <p:cNvSpPr txBox="1"/>
            <p:nvPr/>
          </p:nvSpPr>
          <p:spPr>
            <a:xfrm>
              <a:off x="7951733" y="3310465"/>
              <a:ext cx="9781889" cy="608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많은 지원자들의 데이터를 검토하기 쉽게 한다</a:t>
              </a:r>
              <a:r>
                <a:rPr lang="en-US" altLang="ko-KR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.</a:t>
              </a:r>
              <a:endParaRPr lang="en-US" sz="2400" b="1" dirty="0">
                <a:solidFill>
                  <a:srgbClr val="70170A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36" name="TextBox 23">
              <a:extLst>
                <a:ext uri="{FF2B5EF4-FFF2-40B4-BE49-F238E27FC236}">
                  <a16:creationId xmlns:a16="http://schemas.microsoft.com/office/drawing/2014/main" id="{EDFF06EB-BDD2-4A41-BEE9-FE60AC65AB1F}"/>
                </a:ext>
              </a:extLst>
            </p:cNvPr>
            <p:cNvSpPr txBox="1"/>
            <p:nvPr/>
          </p:nvSpPr>
          <p:spPr>
            <a:xfrm>
              <a:off x="7162740" y="4300282"/>
              <a:ext cx="10705973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지정양식 사용을 사용하는 것이 포인트</a:t>
              </a:r>
              <a:r>
                <a:rPr lang="en-US" altLang="ko-KR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!(</a:t>
              </a: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지정 양식이 없을 경우 빈칸 없이 깔끔하게 작성</a:t>
              </a:r>
              <a:r>
                <a:rPr lang="en-US" altLang="ko-KR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)</a:t>
              </a:r>
              <a:endParaRPr lang="en-US" sz="2000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DAB29F09-C72B-4F16-844F-64B6909ED853}"/>
                </a:ext>
              </a:extLst>
            </p:cNvPr>
            <p:cNvSpPr/>
            <p:nvPr/>
          </p:nvSpPr>
          <p:spPr>
            <a:xfrm>
              <a:off x="6664020" y="4963674"/>
              <a:ext cx="11165216" cy="783728"/>
            </a:xfrm>
            <a:custGeom>
              <a:avLst/>
              <a:gdLst/>
              <a:ahLst/>
              <a:cxnLst/>
              <a:rect l="l" t="t" r="r" b="b"/>
              <a:pathLst>
                <a:path w="10393486" h="1058246">
                  <a:moveTo>
                    <a:pt x="0" y="0"/>
                  </a:moveTo>
                  <a:lnTo>
                    <a:pt x="10393486" y="0"/>
                  </a:lnTo>
                  <a:lnTo>
                    <a:pt x="10393486" y="1058246"/>
                  </a:lnTo>
                  <a:lnTo>
                    <a:pt x="0" y="1058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8" name="TextBox 23">
              <a:extLst>
                <a:ext uri="{FF2B5EF4-FFF2-40B4-BE49-F238E27FC236}">
                  <a16:creationId xmlns:a16="http://schemas.microsoft.com/office/drawing/2014/main" id="{0B710334-9DE9-4BB0-9C87-C3653DAE6F58}"/>
                </a:ext>
              </a:extLst>
            </p:cNvPr>
            <p:cNvSpPr txBox="1"/>
            <p:nvPr/>
          </p:nvSpPr>
          <p:spPr>
            <a:xfrm>
              <a:off x="7951733" y="4963674"/>
              <a:ext cx="9781889" cy="6081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지원자의 종합적인 역량을 한눈에 파악한다</a:t>
              </a:r>
              <a:r>
                <a:rPr lang="en-US" altLang="ko-KR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.</a:t>
              </a:r>
              <a:endParaRPr lang="en-US" sz="2400" b="1" dirty="0">
                <a:solidFill>
                  <a:srgbClr val="70170A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39" name="TextBox 23">
              <a:extLst>
                <a:ext uri="{FF2B5EF4-FFF2-40B4-BE49-F238E27FC236}">
                  <a16:creationId xmlns:a16="http://schemas.microsoft.com/office/drawing/2014/main" id="{F1264F3A-9EB4-412D-B630-CFAE6101B1C1}"/>
                </a:ext>
              </a:extLst>
            </p:cNvPr>
            <p:cNvSpPr txBox="1"/>
            <p:nvPr/>
          </p:nvSpPr>
          <p:spPr>
            <a:xfrm>
              <a:off x="7162740" y="5909079"/>
              <a:ext cx="10705973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핵심만 작성하는 것이 포인트</a:t>
              </a:r>
              <a:r>
                <a:rPr lang="en-US" altLang="ko-KR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!(</a:t>
              </a: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문장은 간결하게</a:t>
              </a:r>
              <a:r>
                <a:rPr lang="en-US" altLang="ko-KR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, </a:t>
              </a: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핵심만 강조</a:t>
              </a:r>
              <a:r>
                <a:rPr lang="en-US" altLang="ko-KR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)</a:t>
              </a:r>
              <a:endParaRPr lang="en-US" sz="2000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815A77ED-4640-4B28-A492-3709E342A433}"/>
                </a:ext>
              </a:extLst>
            </p:cNvPr>
            <p:cNvSpPr/>
            <p:nvPr/>
          </p:nvSpPr>
          <p:spPr>
            <a:xfrm>
              <a:off x="6664020" y="6671687"/>
              <a:ext cx="11165216" cy="783728"/>
            </a:xfrm>
            <a:custGeom>
              <a:avLst/>
              <a:gdLst/>
              <a:ahLst/>
              <a:cxnLst/>
              <a:rect l="l" t="t" r="r" b="b"/>
              <a:pathLst>
                <a:path w="10393486" h="1058246">
                  <a:moveTo>
                    <a:pt x="0" y="0"/>
                  </a:moveTo>
                  <a:lnTo>
                    <a:pt x="10393486" y="0"/>
                  </a:lnTo>
                  <a:lnTo>
                    <a:pt x="10393486" y="1058246"/>
                  </a:lnTo>
                  <a:lnTo>
                    <a:pt x="0" y="1058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1" name="TextBox 23">
              <a:extLst>
                <a:ext uri="{FF2B5EF4-FFF2-40B4-BE49-F238E27FC236}">
                  <a16:creationId xmlns:a16="http://schemas.microsoft.com/office/drawing/2014/main" id="{FAC2C491-EB8C-462E-800E-70BBF16244E7}"/>
                </a:ext>
              </a:extLst>
            </p:cNvPr>
            <p:cNvSpPr txBox="1"/>
            <p:nvPr/>
          </p:nvSpPr>
          <p:spPr>
            <a:xfrm>
              <a:off x="7951733" y="6671687"/>
              <a:ext cx="9781889" cy="608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지원자의 선발 도구가 된다</a:t>
              </a:r>
              <a:r>
                <a:rPr lang="en-US" altLang="ko-KR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.</a:t>
              </a:r>
              <a:endParaRPr lang="en-US" sz="2400" b="1" dirty="0">
                <a:solidFill>
                  <a:srgbClr val="70170A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42" name="TextBox 23">
              <a:extLst>
                <a:ext uri="{FF2B5EF4-FFF2-40B4-BE49-F238E27FC236}">
                  <a16:creationId xmlns:a16="http://schemas.microsoft.com/office/drawing/2014/main" id="{078A1A3B-7C0F-452C-ADA5-0373972AABB2}"/>
                </a:ext>
              </a:extLst>
            </p:cNvPr>
            <p:cNvSpPr txBox="1"/>
            <p:nvPr/>
          </p:nvSpPr>
          <p:spPr>
            <a:xfrm>
              <a:off x="7172264" y="7602469"/>
              <a:ext cx="10705973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빠짐없이 작성하는 것이 포인트</a:t>
              </a:r>
              <a:r>
                <a:rPr lang="en-US" altLang="ko-KR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!(</a:t>
              </a: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지원 직무와 연관된 것은 모두 작성하기</a:t>
              </a:r>
              <a:r>
                <a:rPr lang="en-US" altLang="ko-KR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)</a:t>
              </a:r>
              <a:endParaRPr lang="en-US" sz="2000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02FC6BFB-E7CA-49A5-890E-73F86D6779A0}"/>
                </a:ext>
              </a:extLst>
            </p:cNvPr>
            <p:cNvSpPr/>
            <p:nvPr/>
          </p:nvSpPr>
          <p:spPr>
            <a:xfrm>
              <a:off x="6649732" y="8254796"/>
              <a:ext cx="11165216" cy="783728"/>
            </a:xfrm>
            <a:custGeom>
              <a:avLst/>
              <a:gdLst/>
              <a:ahLst/>
              <a:cxnLst/>
              <a:rect l="l" t="t" r="r" b="b"/>
              <a:pathLst>
                <a:path w="10393486" h="1058246">
                  <a:moveTo>
                    <a:pt x="0" y="0"/>
                  </a:moveTo>
                  <a:lnTo>
                    <a:pt x="10393486" y="0"/>
                  </a:lnTo>
                  <a:lnTo>
                    <a:pt x="10393486" y="1058246"/>
                  </a:lnTo>
                  <a:lnTo>
                    <a:pt x="0" y="1058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7" name="TextBox 23">
              <a:extLst>
                <a:ext uri="{FF2B5EF4-FFF2-40B4-BE49-F238E27FC236}">
                  <a16:creationId xmlns:a16="http://schemas.microsoft.com/office/drawing/2014/main" id="{368881FB-C239-407F-BE1C-DDD24B763FDC}"/>
                </a:ext>
              </a:extLst>
            </p:cNvPr>
            <p:cNvSpPr txBox="1"/>
            <p:nvPr/>
          </p:nvSpPr>
          <p:spPr>
            <a:xfrm>
              <a:off x="7937445" y="8254796"/>
              <a:ext cx="9781889" cy="608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면접 질문의 자료가 된다</a:t>
              </a:r>
              <a:r>
                <a:rPr lang="en-US" altLang="ko-KR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.</a:t>
              </a:r>
              <a:endParaRPr lang="en-US" sz="2400" b="1" dirty="0">
                <a:solidFill>
                  <a:srgbClr val="70170A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48" name="TextBox 23">
              <a:extLst>
                <a:ext uri="{FF2B5EF4-FFF2-40B4-BE49-F238E27FC236}">
                  <a16:creationId xmlns:a16="http://schemas.microsoft.com/office/drawing/2014/main" id="{2DBBE73B-F2BB-464D-9610-E05A1B1BAA89}"/>
                </a:ext>
              </a:extLst>
            </p:cNvPr>
            <p:cNvSpPr txBox="1"/>
            <p:nvPr/>
          </p:nvSpPr>
          <p:spPr>
            <a:xfrm>
              <a:off x="7137550" y="9166289"/>
              <a:ext cx="10705973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사실만을 작성하는 것이 포인트</a:t>
              </a:r>
              <a:r>
                <a:rPr lang="en-US" altLang="ko-KR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!(</a:t>
              </a: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거짓말을 작성하면 면접에서 들통날 것</a:t>
              </a:r>
              <a:r>
                <a:rPr lang="en-US" altLang="ko-KR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)</a:t>
              </a:r>
              <a:endParaRPr lang="en-US" sz="2000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020DF72-5BA3-4CE9-A241-64F3CFD570B0}"/>
                </a:ext>
              </a:extLst>
            </p:cNvPr>
            <p:cNvSpPr/>
            <p:nvPr/>
          </p:nvSpPr>
          <p:spPr>
            <a:xfrm>
              <a:off x="17145000" y="3467100"/>
              <a:ext cx="381000" cy="437910"/>
            </a:xfrm>
            <a:prstGeom prst="rect">
              <a:avLst/>
            </a:prstGeom>
            <a:solidFill>
              <a:srgbClr val="FFF7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35048E2-A20B-46CE-8883-D57248EEB57B}"/>
                </a:ext>
              </a:extLst>
            </p:cNvPr>
            <p:cNvSpPr/>
            <p:nvPr/>
          </p:nvSpPr>
          <p:spPr>
            <a:xfrm>
              <a:off x="17145000" y="5178087"/>
              <a:ext cx="381000" cy="437910"/>
            </a:xfrm>
            <a:prstGeom prst="rect">
              <a:avLst/>
            </a:prstGeom>
            <a:solidFill>
              <a:srgbClr val="FFF7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D972EEE-7B9C-436A-95D2-580322271462}"/>
                </a:ext>
              </a:extLst>
            </p:cNvPr>
            <p:cNvSpPr/>
            <p:nvPr/>
          </p:nvSpPr>
          <p:spPr>
            <a:xfrm>
              <a:off x="17153965" y="6738447"/>
              <a:ext cx="381000" cy="437910"/>
            </a:xfrm>
            <a:prstGeom prst="rect">
              <a:avLst/>
            </a:prstGeom>
            <a:solidFill>
              <a:srgbClr val="FFF7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E2CA0F2-F3A2-4E87-B279-0CFCB4EA63F1}"/>
                </a:ext>
              </a:extLst>
            </p:cNvPr>
            <p:cNvSpPr/>
            <p:nvPr/>
          </p:nvSpPr>
          <p:spPr>
            <a:xfrm>
              <a:off x="17138993" y="8397056"/>
              <a:ext cx="381000" cy="437910"/>
            </a:xfrm>
            <a:prstGeom prst="rect">
              <a:avLst/>
            </a:prstGeom>
            <a:solidFill>
              <a:srgbClr val="FFF7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7">
            <a:extLst>
              <a:ext uri="{FF2B5EF4-FFF2-40B4-BE49-F238E27FC236}">
                <a16:creationId xmlns:a16="http://schemas.microsoft.com/office/drawing/2014/main" id="{13840E16-D472-4376-AE06-8F0C0ED7B215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08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이력서 항목별 작성법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9C350B33-5FDF-415B-BABC-1C47DC2F809A}"/>
              </a:ext>
            </a:extLst>
          </p:cNvPr>
          <p:cNvSpPr txBox="1"/>
          <p:nvPr/>
        </p:nvSpPr>
        <p:spPr>
          <a:xfrm>
            <a:off x="10439400" y="9291497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800" b="1" i="0" u="none" strike="noStrike" spc="-100" dirty="0">
              <a:solidFill>
                <a:schemeClr val="tx1">
                  <a:alpha val="97000"/>
                </a:schemeClr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EB344C-3B1E-40CE-99E6-370B8B40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36" y="2649633"/>
            <a:ext cx="7154864" cy="6858000"/>
          </a:xfrm>
          <a:prstGeom prst="rect">
            <a:avLst/>
          </a:prstGeom>
        </p:spPr>
      </p:pic>
      <p:sp>
        <p:nvSpPr>
          <p:cNvPr id="23" name="Freeform 7">
            <a:extLst>
              <a:ext uri="{FF2B5EF4-FFF2-40B4-BE49-F238E27FC236}">
                <a16:creationId xmlns:a16="http://schemas.microsoft.com/office/drawing/2014/main" id="{24CA4149-9574-4B9C-A9E6-72AB11ADE0DB}"/>
              </a:ext>
            </a:extLst>
          </p:cNvPr>
          <p:cNvSpPr/>
          <p:nvPr/>
        </p:nvSpPr>
        <p:spPr>
          <a:xfrm rot="10800000">
            <a:off x="8305800" y="2857500"/>
            <a:ext cx="178155" cy="1550133"/>
          </a:xfrm>
          <a:custGeom>
            <a:avLst/>
            <a:gdLst/>
            <a:ahLst/>
            <a:cxnLst/>
            <a:rect l="l" t="t" r="r" b="b"/>
            <a:pathLst>
              <a:path w="591035" h="4114800">
                <a:moveTo>
                  <a:pt x="0" y="0"/>
                </a:moveTo>
                <a:lnTo>
                  <a:pt x="591035" y="0"/>
                </a:lnTo>
                <a:lnTo>
                  <a:pt x="5910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7A0323-F1FE-4F3D-8D70-E5B0D04CF0B8}"/>
              </a:ext>
            </a:extLst>
          </p:cNvPr>
          <p:cNvSpPr txBox="1"/>
          <p:nvPr/>
        </p:nvSpPr>
        <p:spPr>
          <a:xfrm>
            <a:off x="8707791" y="2430911"/>
            <a:ext cx="9105773" cy="61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지원분야와 희망연봉</a:t>
            </a:r>
            <a:endParaRPr lang="en-US" sz="2000" b="1" dirty="0">
              <a:solidFill>
                <a:schemeClr val="tx2"/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6E5048-595D-481B-91B4-FEF0EF42E61B}"/>
              </a:ext>
            </a:extLst>
          </p:cNvPr>
          <p:cNvSpPr txBox="1"/>
          <p:nvPr/>
        </p:nvSpPr>
        <p:spPr>
          <a:xfrm>
            <a:off x="8926866" y="2800830"/>
            <a:ext cx="9105773" cy="59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지원분야는 기업의 필수항목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(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지원 분야 고려한 기재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),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희망연봉 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‘</a:t>
            </a:r>
            <a:r>
              <a:rPr lang="ko-KR" alt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회사내규에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 따름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’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7D9E21-907D-4E41-9707-2A6429BE6AB6}"/>
              </a:ext>
            </a:extLst>
          </p:cNvPr>
          <p:cNvSpPr txBox="1"/>
          <p:nvPr/>
        </p:nvSpPr>
        <p:spPr>
          <a:xfrm>
            <a:off x="8717316" y="3338981"/>
            <a:ext cx="9105773" cy="61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인적사항과 연락처</a:t>
            </a:r>
            <a:endParaRPr lang="en-US" sz="2000" b="1" dirty="0">
              <a:solidFill>
                <a:schemeClr val="tx2"/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24EC8A-55D7-4511-92D1-9A468FB15A44}"/>
              </a:ext>
            </a:extLst>
          </p:cNvPr>
          <p:cNvSpPr txBox="1"/>
          <p:nvPr/>
        </p:nvSpPr>
        <p:spPr>
          <a:xfrm>
            <a:off x="8917341" y="3703065"/>
            <a:ext cx="9105773" cy="596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인적사항 입력 후 반드시 확인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!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연락처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메일 주소를 정확히 기재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4D605286-01BF-4FBA-887E-5CCFE208DAC5}"/>
              </a:ext>
            </a:extLst>
          </p:cNvPr>
          <p:cNvSpPr/>
          <p:nvPr/>
        </p:nvSpPr>
        <p:spPr>
          <a:xfrm rot="10800000">
            <a:off x="8305800" y="4601380"/>
            <a:ext cx="178154" cy="614621"/>
          </a:xfrm>
          <a:custGeom>
            <a:avLst/>
            <a:gdLst/>
            <a:ahLst/>
            <a:cxnLst/>
            <a:rect l="l" t="t" r="r" b="b"/>
            <a:pathLst>
              <a:path w="591035" h="4114800">
                <a:moveTo>
                  <a:pt x="0" y="0"/>
                </a:moveTo>
                <a:lnTo>
                  <a:pt x="591035" y="0"/>
                </a:lnTo>
                <a:lnTo>
                  <a:pt x="5910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ECD7F4-85A7-4A12-B775-2B4147772FD0}"/>
              </a:ext>
            </a:extLst>
          </p:cNvPr>
          <p:cNvSpPr txBox="1"/>
          <p:nvPr/>
        </p:nvSpPr>
        <p:spPr>
          <a:xfrm>
            <a:off x="8717316" y="4346407"/>
            <a:ext cx="9105773" cy="61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학력</a:t>
            </a:r>
            <a:endParaRPr lang="en-US" sz="2000" b="1" dirty="0">
              <a:solidFill>
                <a:schemeClr val="tx2"/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4A5DDA-3C6E-4F15-B19E-8610902C4F2F}"/>
              </a:ext>
            </a:extLst>
          </p:cNvPr>
          <p:cNvSpPr txBox="1"/>
          <p:nvPr/>
        </p:nvSpPr>
        <p:spPr>
          <a:xfrm>
            <a:off x="8917340" y="4709997"/>
            <a:ext cx="9105773" cy="58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졸업학교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학과명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 기재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졸업 전이라면 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‘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졸업예정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’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표기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44" name="Freeform 7">
            <a:extLst>
              <a:ext uri="{FF2B5EF4-FFF2-40B4-BE49-F238E27FC236}">
                <a16:creationId xmlns:a16="http://schemas.microsoft.com/office/drawing/2014/main" id="{11F15D14-BF7D-4357-8BBC-99D04A0788E8}"/>
              </a:ext>
            </a:extLst>
          </p:cNvPr>
          <p:cNvSpPr/>
          <p:nvPr/>
        </p:nvSpPr>
        <p:spPr>
          <a:xfrm rot="10800000">
            <a:off x="8305800" y="5498121"/>
            <a:ext cx="178154" cy="693515"/>
          </a:xfrm>
          <a:custGeom>
            <a:avLst/>
            <a:gdLst/>
            <a:ahLst/>
            <a:cxnLst/>
            <a:rect l="l" t="t" r="r" b="b"/>
            <a:pathLst>
              <a:path w="591035" h="4114800">
                <a:moveTo>
                  <a:pt x="0" y="0"/>
                </a:moveTo>
                <a:lnTo>
                  <a:pt x="591035" y="0"/>
                </a:lnTo>
                <a:lnTo>
                  <a:pt x="5910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9835E9-0ABA-4A2E-A5B0-75DD2AA3D7D0}"/>
              </a:ext>
            </a:extLst>
          </p:cNvPr>
          <p:cNvSpPr txBox="1"/>
          <p:nvPr/>
        </p:nvSpPr>
        <p:spPr>
          <a:xfrm>
            <a:off x="8717316" y="5280623"/>
            <a:ext cx="9105773" cy="61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경력사항</a:t>
            </a:r>
            <a:endParaRPr lang="en-US" sz="2000" b="1" dirty="0">
              <a:solidFill>
                <a:schemeClr val="tx2"/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9EDE77-7F7F-4649-B111-798679F505E3}"/>
              </a:ext>
            </a:extLst>
          </p:cNvPr>
          <p:cNvSpPr txBox="1"/>
          <p:nvPr/>
        </p:nvSpPr>
        <p:spPr>
          <a:xfrm>
            <a:off x="8917340" y="5644213"/>
            <a:ext cx="9105773" cy="58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경력사항은 기업명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업무수행 기간을 정확하게 제시하고 성과를 간략하게 </a:t>
            </a:r>
            <a:r>
              <a:rPr lang="ko-KR" alt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수치화하여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 기재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C7F854AF-7A92-42CD-A85E-10D7F6AA8E19}"/>
              </a:ext>
            </a:extLst>
          </p:cNvPr>
          <p:cNvSpPr/>
          <p:nvPr/>
        </p:nvSpPr>
        <p:spPr>
          <a:xfrm rot="10800000">
            <a:off x="8305800" y="6548483"/>
            <a:ext cx="178154" cy="1586135"/>
          </a:xfrm>
          <a:custGeom>
            <a:avLst/>
            <a:gdLst/>
            <a:ahLst/>
            <a:cxnLst/>
            <a:rect l="l" t="t" r="r" b="b"/>
            <a:pathLst>
              <a:path w="591035" h="4114800">
                <a:moveTo>
                  <a:pt x="0" y="0"/>
                </a:moveTo>
                <a:lnTo>
                  <a:pt x="591035" y="0"/>
                </a:lnTo>
                <a:lnTo>
                  <a:pt x="5910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79C74D-1B71-49B3-9FF8-0CDF9ECE08A6}"/>
              </a:ext>
            </a:extLst>
          </p:cNvPr>
          <p:cNvSpPr txBox="1"/>
          <p:nvPr/>
        </p:nvSpPr>
        <p:spPr>
          <a:xfrm>
            <a:off x="8717316" y="6729957"/>
            <a:ext cx="9105773" cy="61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자격증</a:t>
            </a:r>
            <a:r>
              <a:rPr lang="en-US" altLang="ko-KR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어학</a:t>
            </a:r>
            <a:r>
              <a:rPr lang="en-US" altLang="ko-KR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수상</a:t>
            </a:r>
            <a:endParaRPr lang="en-US" sz="2000" b="1" dirty="0">
              <a:solidFill>
                <a:schemeClr val="tx2"/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C32D4B-00BC-4089-861B-08FEBA412ECB}"/>
              </a:ext>
            </a:extLst>
          </p:cNvPr>
          <p:cNvSpPr txBox="1"/>
          <p:nvPr/>
        </p:nvSpPr>
        <p:spPr>
          <a:xfrm>
            <a:off x="8917340" y="7093547"/>
            <a:ext cx="9105773" cy="58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발행처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취득일을 정확하게 제시하고 자격증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어학점수는 만료시점 확인 후 작성하기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53" name="Freeform 7">
            <a:extLst>
              <a:ext uri="{FF2B5EF4-FFF2-40B4-BE49-F238E27FC236}">
                <a16:creationId xmlns:a16="http://schemas.microsoft.com/office/drawing/2014/main" id="{AC2E9237-4EFE-46A4-842C-34CE6C2A30E5}"/>
              </a:ext>
            </a:extLst>
          </p:cNvPr>
          <p:cNvSpPr/>
          <p:nvPr/>
        </p:nvSpPr>
        <p:spPr>
          <a:xfrm rot="10800000">
            <a:off x="8315326" y="8764305"/>
            <a:ext cx="178154" cy="693515"/>
          </a:xfrm>
          <a:custGeom>
            <a:avLst/>
            <a:gdLst/>
            <a:ahLst/>
            <a:cxnLst/>
            <a:rect l="l" t="t" r="r" b="b"/>
            <a:pathLst>
              <a:path w="591035" h="4114800">
                <a:moveTo>
                  <a:pt x="0" y="0"/>
                </a:moveTo>
                <a:lnTo>
                  <a:pt x="591035" y="0"/>
                </a:lnTo>
                <a:lnTo>
                  <a:pt x="5910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E3BD86-5958-421C-BC85-120A4B0CAF93}"/>
              </a:ext>
            </a:extLst>
          </p:cNvPr>
          <p:cNvSpPr txBox="1"/>
          <p:nvPr/>
        </p:nvSpPr>
        <p:spPr>
          <a:xfrm>
            <a:off x="8726842" y="8546807"/>
            <a:ext cx="9105773" cy="61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마무리 양식</a:t>
            </a:r>
            <a:endParaRPr lang="en-US" sz="2000" b="1" dirty="0">
              <a:solidFill>
                <a:schemeClr val="tx2"/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D98774-EFF9-4EA4-B9CE-AF99C3A65687}"/>
              </a:ext>
            </a:extLst>
          </p:cNvPr>
          <p:cNvSpPr txBox="1"/>
          <p:nvPr/>
        </p:nvSpPr>
        <p:spPr>
          <a:xfrm>
            <a:off x="8926866" y="8910397"/>
            <a:ext cx="9105773" cy="58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제출일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사실 확인</a:t>
            </a: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, </a:t>
            </a: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Saira ExtraCondensed Semi-Bold"/>
                <a:sym typeface="Saira ExtraCondensed Semi-Bold"/>
              </a:rPr>
              <a:t>서명 등을 작성하여 마지막까지 성실함과 꼼꼼함을 보여주기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Saira ExtraCondensed Semi-Bold"/>
              <a:sym typeface="Saira ExtraCondensed Semi-Bold"/>
            </a:endParaRPr>
          </a:p>
        </p:txBody>
      </p:sp>
      <p:pic>
        <p:nvPicPr>
          <p:cNvPr id="31" name="Picture 20">
            <a:extLst>
              <a:ext uri="{FF2B5EF4-FFF2-40B4-BE49-F238E27FC236}">
                <a16:creationId xmlns:a16="http://schemas.microsoft.com/office/drawing/2014/main" id="{46A4F283-9E54-4143-B063-7F63B3D478F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2" name="TextBox 24">
            <a:extLst>
              <a:ext uri="{FF2B5EF4-FFF2-40B4-BE49-F238E27FC236}">
                <a16:creationId xmlns:a16="http://schemas.microsoft.com/office/drawing/2014/main" id="{CCF4E930-5931-418F-8DF9-50EC281821B0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E372B59-9A3B-42D7-9728-92FD7BFCEFD3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063E25-268C-4824-BE6C-E1BC43354EC1}"/>
              </a:ext>
            </a:extLst>
          </p:cNvPr>
          <p:cNvSpPr/>
          <p:nvPr/>
        </p:nvSpPr>
        <p:spPr>
          <a:xfrm>
            <a:off x="15819068" y="9633801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p.60~61</a:t>
            </a: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84A8C855-29F4-4C44-9F6E-6C12417DBC1C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170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24033" y="1197393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인사담당자가 보는 자기소개서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9C350B33-5FDF-415B-BABC-1C47DC2F809A}"/>
              </a:ext>
            </a:extLst>
          </p:cNvPr>
          <p:cNvSpPr txBox="1"/>
          <p:nvPr/>
        </p:nvSpPr>
        <p:spPr>
          <a:xfrm>
            <a:off x="10439400" y="9291497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800" b="1" i="0" u="none" strike="noStrike" spc="-100" dirty="0">
              <a:solidFill>
                <a:schemeClr val="tx1">
                  <a:alpha val="97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E7D814-28FB-4A3B-9FDA-7427F297B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45" y="2612974"/>
            <a:ext cx="5676713" cy="6572249"/>
          </a:xfrm>
          <a:prstGeom prst="rect">
            <a:avLst/>
          </a:prstGeom>
        </p:spPr>
      </p:pic>
      <p:pic>
        <p:nvPicPr>
          <p:cNvPr id="19" name="Picture 20">
            <a:extLst>
              <a:ext uri="{FF2B5EF4-FFF2-40B4-BE49-F238E27FC236}">
                <a16:creationId xmlns:a16="http://schemas.microsoft.com/office/drawing/2014/main" id="{E462DA6C-9CD5-4700-B35F-4678C6CBB32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0" name="TextBox 24">
            <a:extLst>
              <a:ext uri="{FF2B5EF4-FFF2-40B4-BE49-F238E27FC236}">
                <a16:creationId xmlns:a16="http://schemas.microsoft.com/office/drawing/2014/main" id="{8EC6A98E-9CB0-4431-B652-C9E4A4DBFDAB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565B889-7DDD-46AD-8845-40908B60DD4B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1D8C52-318C-4292-887C-6ED7A493A761}"/>
              </a:ext>
            </a:extLst>
          </p:cNvPr>
          <p:cNvSpPr/>
          <p:nvPr/>
        </p:nvSpPr>
        <p:spPr>
          <a:xfrm>
            <a:off x="15768149" y="9632434"/>
            <a:ext cx="196547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 63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12283A0-4DB5-47E1-A3FA-EF4E518E5ACB}"/>
              </a:ext>
            </a:extLst>
          </p:cNvPr>
          <p:cNvGrpSpPr/>
          <p:nvPr/>
        </p:nvGrpSpPr>
        <p:grpSpPr>
          <a:xfrm>
            <a:off x="6664020" y="3310465"/>
            <a:ext cx="11233266" cy="5740453"/>
            <a:chOff x="6664020" y="3310465"/>
            <a:chExt cx="11233266" cy="5740453"/>
          </a:xfrm>
        </p:grpSpPr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A863BA96-619B-470A-8341-A536F03A7CBB}"/>
                </a:ext>
              </a:extLst>
            </p:cNvPr>
            <p:cNvSpPr/>
            <p:nvPr/>
          </p:nvSpPr>
          <p:spPr>
            <a:xfrm>
              <a:off x="6664020" y="3310465"/>
              <a:ext cx="11165216" cy="783728"/>
            </a:xfrm>
            <a:custGeom>
              <a:avLst/>
              <a:gdLst/>
              <a:ahLst/>
              <a:cxnLst/>
              <a:rect l="l" t="t" r="r" b="b"/>
              <a:pathLst>
                <a:path w="10393486" h="1058246">
                  <a:moveTo>
                    <a:pt x="0" y="0"/>
                  </a:moveTo>
                  <a:lnTo>
                    <a:pt x="10393486" y="0"/>
                  </a:lnTo>
                  <a:lnTo>
                    <a:pt x="10393486" y="1058246"/>
                  </a:lnTo>
                  <a:lnTo>
                    <a:pt x="0" y="1058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01557018-B9F8-4171-BC58-F71C75D9A4F9}"/>
                </a:ext>
              </a:extLst>
            </p:cNvPr>
            <p:cNvSpPr txBox="1"/>
            <p:nvPr/>
          </p:nvSpPr>
          <p:spPr>
            <a:xfrm>
              <a:off x="7951733" y="3310465"/>
              <a:ext cx="9781889" cy="6081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인사담당자에게 자신의 장점 및 능력</a:t>
              </a:r>
              <a:r>
                <a:rPr lang="en-US" altLang="ko-KR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, </a:t>
              </a: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경력 등을 전달하는 광고문</a:t>
              </a:r>
              <a:endParaRPr lang="en-US" sz="2400" b="1" dirty="0">
                <a:solidFill>
                  <a:srgbClr val="70170A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DAB29F09-C72B-4F16-844F-64B6909ED853}"/>
                </a:ext>
              </a:extLst>
            </p:cNvPr>
            <p:cNvSpPr/>
            <p:nvPr/>
          </p:nvSpPr>
          <p:spPr>
            <a:xfrm>
              <a:off x="6664020" y="4963674"/>
              <a:ext cx="11165216" cy="1055686"/>
            </a:xfrm>
            <a:custGeom>
              <a:avLst/>
              <a:gdLst/>
              <a:ahLst/>
              <a:cxnLst/>
              <a:rect l="l" t="t" r="r" b="b"/>
              <a:pathLst>
                <a:path w="10393486" h="1058246">
                  <a:moveTo>
                    <a:pt x="0" y="0"/>
                  </a:moveTo>
                  <a:lnTo>
                    <a:pt x="10393486" y="0"/>
                  </a:lnTo>
                  <a:lnTo>
                    <a:pt x="10393486" y="1058246"/>
                  </a:lnTo>
                  <a:lnTo>
                    <a:pt x="0" y="1058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8" name="TextBox 23">
              <a:extLst>
                <a:ext uri="{FF2B5EF4-FFF2-40B4-BE49-F238E27FC236}">
                  <a16:creationId xmlns:a16="http://schemas.microsoft.com/office/drawing/2014/main" id="{0B710334-9DE9-4BB0-9C87-C3653DAE6F58}"/>
                </a:ext>
              </a:extLst>
            </p:cNvPr>
            <p:cNvSpPr txBox="1"/>
            <p:nvPr/>
          </p:nvSpPr>
          <p:spPr>
            <a:xfrm>
              <a:off x="7860945" y="5109000"/>
              <a:ext cx="9781889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자기소개서 작성 시 내가 왜 이 직무에 적합한지</a:t>
              </a:r>
              <a:r>
                <a:rPr lang="en-US" altLang="ko-KR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,</a:t>
              </a:r>
            </a:p>
            <a:p>
              <a:pPr algn="l"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회사에 잘 융화될 수 있는지를 중점적으로 작성해야 함</a:t>
              </a:r>
              <a:endParaRPr lang="en-US" sz="2400" b="1" dirty="0">
                <a:solidFill>
                  <a:srgbClr val="70170A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815A77ED-4640-4B28-A492-3709E342A433}"/>
                </a:ext>
              </a:extLst>
            </p:cNvPr>
            <p:cNvSpPr/>
            <p:nvPr/>
          </p:nvSpPr>
          <p:spPr>
            <a:xfrm>
              <a:off x="6683069" y="6412127"/>
              <a:ext cx="11165216" cy="783728"/>
            </a:xfrm>
            <a:custGeom>
              <a:avLst/>
              <a:gdLst/>
              <a:ahLst/>
              <a:cxnLst/>
              <a:rect l="l" t="t" r="r" b="b"/>
              <a:pathLst>
                <a:path w="10393486" h="1058246">
                  <a:moveTo>
                    <a:pt x="0" y="0"/>
                  </a:moveTo>
                  <a:lnTo>
                    <a:pt x="10393486" y="0"/>
                  </a:lnTo>
                  <a:lnTo>
                    <a:pt x="10393486" y="1058246"/>
                  </a:lnTo>
                  <a:lnTo>
                    <a:pt x="0" y="1058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1" name="TextBox 23">
              <a:extLst>
                <a:ext uri="{FF2B5EF4-FFF2-40B4-BE49-F238E27FC236}">
                  <a16:creationId xmlns:a16="http://schemas.microsoft.com/office/drawing/2014/main" id="{FAC2C491-EB8C-462E-800E-70BBF16244E7}"/>
                </a:ext>
              </a:extLst>
            </p:cNvPr>
            <p:cNvSpPr txBox="1"/>
            <p:nvPr/>
          </p:nvSpPr>
          <p:spPr>
            <a:xfrm>
              <a:off x="7970782" y="6412127"/>
              <a:ext cx="9781889" cy="608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자기소개서를 면접 평가 시 자료로 활용</a:t>
              </a:r>
              <a:endParaRPr lang="en-US" sz="2400" b="1" dirty="0">
                <a:solidFill>
                  <a:srgbClr val="70170A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42" name="TextBox 23">
              <a:extLst>
                <a:ext uri="{FF2B5EF4-FFF2-40B4-BE49-F238E27FC236}">
                  <a16:creationId xmlns:a16="http://schemas.microsoft.com/office/drawing/2014/main" id="{078A1A3B-7C0F-452C-ADA5-0373972AABB2}"/>
                </a:ext>
              </a:extLst>
            </p:cNvPr>
            <p:cNvSpPr txBox="1"/>
            <p:nvPr/>
          </p:nvSpPr>
          <p:spPr>
            <a:xfrm>
              <a:off x="7191313" y="7342909"/>
              <a:ext cx="10705973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자기소개서를 보고 자질과 경력을 평가할 수 있는 질문 채택</a:t>
              </a:r>
              <a:endParaRPr lang="en-US" sz="2000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02FC6BFB-E7CA-49A5-890E-73F86D6779A0}"/>
                </a:ext>
              </a:extLst>
            </p:cNvPr>
            <p:cNvSpPr/>
            <p:nvPr/>
          </p:nvSpPr>
          <p:spPr>
            <a:xfrm>
              <a:off x="6668781" y="7995235"/>
              <a:ext cx="11165216" cy="1055683"/>
            </a:xfrm>
            <a:custGeom>
              <a:avLst/>
              <a:gdLst/>
              <a:ahLst/>
              <a:cxnLst/>
              <a:rect l="l" t="t" r="r" b="b"/>
              <a:pathLst>
                <a:path w="10393486" h="1058246">
                  <a:moveTo>
                    <a:pt x="0" y="0"/>
                  </a:moveTo>
                  <a:lnTo>
                    <a:pt x="10393486" y="0"/>
                  </a:lnTo>
                  <a:lnTo>
                    <a:pt x="10393486" y="1058246"/>
                  </a:lnTo>
                  <a:lnTo>
                    <a:pt x="0" y="1058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7" name="TextBox 23">
              <a:extLst>
                <a:ext uri="{FF2B5EF4-FFF2-40B4-BE49-F238E27FC236}">
                  <a16:creationId xmlns:a16="http://schemas.microsoft.com/office/drawing/2014/main" id="{368881FB-C239-407F-BE1C-DDD24B763FDC}"/>
                </a:ext>
              </a:extLst>
            </p:cNvPr>
            <p:cNvSpPr txBox="1"/>
            <p:nvPr/>
          </p:nvSpPr>
          <p:spPr>
            <a:xfrm>
              <a:off x="7908228" y="8139156"/>
              <a:ext cx="9781889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자기소개서를 통해 역량</a:t>
              </a:r>
              <a:r>
                <a:rPr lang="en-US" altLang="ko-KR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, </a:t>
              </a: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경험에 대한 구체적인 정보를</a:t>
              </a:r>
              <a:endParaRPr lang="en-US" altLang="ko-KR" sz="2400" b="1" dirty="0">
                <a:solidFill>
                  <a:srgbClr val="70170A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  <a:p>
              <a:pPr algn="l"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얼마나 적절하고 정확하게 표현했는지 근거를 </a:t>
              </a:r>
              <a:r>
                <a:rPr lang="ko-KR" altLang="en-US" sz="2400" b="1" dirty="0" err="1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면접관에게</a:t>
              </a:r>
              <a:r>
                <a:rPr lang="ko-KR" altLang="en-US" sz="2400" b="1" dirty="0">
                  <a:solidFill>
                    <a:srgbClr val="70170A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 제공</a:t>
              </a:r>
              <a:endParaRPr lang="en-US" sz="2400" b="1" dirty="0">
                <a:solidFill>
                  <a:srgbClr val="70170A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22" name="TextBox 23">
              <a:extLst>
                <a:ext uri="{FF2B5EF4-FFF2-40B4-BE49-F238E27FC236}">
                  <a16:creationId xmlns:a16="http://schemas.microsoft.com/office/drawing/2014/main" id="{C7627D35-E0D0-4348-9503-0DDDF334443D}"/>
                </a:ext>
              </a:extLst>
            </p:cNvPr>
            <p:cNvSpPr txBox="1"/>
            <p:nvPr/>
          </p:nvSpPr>
          <p:spPr>
            <a:xfrm>
              <a:off x="7046698" y="4263130"/>
              <a:ext cx="10705973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ko-KR" altLang="en-US" sz="2000" dirty="0">
                  <a:solidFill>
                    <a:schemeClr val="tx2"/>
                  </a:solidFill>
                  <a:latin typeface="+mj-ea"/>
                  <a:ea typeface="+mj-ea"/>
                  <a:cs typeface="Saira ExtraCondensed Semi-Bold"/>
                  <a:sym typeface="Saira ExtraCondensed Semi-Bold"/>
                </a:rPr>
                <a:t>인사담당자는 자기소개서를 보고 회사와 어울리는 인재인지 평가</a:t>
              </a:r>
              <a:endParaRPr lang="en-US" sz="2000" dirty="0">
                <a:solidFill>
                  <a:schemeClr val="tx2"/>
                </a:solidFill>
                <a:latin typeface="+mj-ea"/>
                <a:ea typeface="+mj-ea"/>
                <a:cs typeface="Saira ExtraCondensed Semi-Bold"/>
                <a:sym typeface="Saira ExtraCondensed Semi-Bold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571B748-BAF5-49CB-895D-755D0EDBB565}"/>
                </a:ext>
              </a:extLst>
            </p:cNvPr>
            <p:cNvSpPr/>
            <p:nvPr/>
          </p:nvSpPr>
          <p:spPr>
            <a:xfrm>
              <a:off x="17068800" y="3543300"/>
              <a:ext cx="574034" cy="327063"/>
            </a:xfrm>
            <a:prstGeom prst="rect">
              <a:avLst/>
            </a:prstGeom>
            <a:solidFill>
              <a:srgbClr val="FFF7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711D611-8470-4CD6-9BB3-7E3084F2A12D}"/>
                </a:ext>
              </a:extLst>
            </p:cNvPr>
            <p:cNvSpPr/>
            <p:nvPr/>
          </p:nvSpPr>
          <p:spPr>
            <a:xfrm>
              <a:off x="16952405" y="5231781"/>
              <a:ext cx="574034" cy="519126"/>
            </a:xfrm>
            <a:prstGeom prst="rect">
              <a:avLst/>
            </a:prstGeom>
            <a:solidFill>
              <a:srgbClr val="FFF7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83624ED-6E64-4778-84E3-8349E8A948BB}"/>
                </a:ext>
              </a:extLst>
            </p:cNvPr>
            <p:cNvSpPr/>
            <p:nvPr/>
          </p:nvSpPr>
          <p:spPr>
            <a:xfrm>
              <a:off x="17116083" y="6569327"/>
              <a:ext cx="574034" cy="380966"/>
            </a:xfrm>
            <a:prstGeom prst="rect">
              <a:avLst/>
            </a:prstGeom>
            <a:solidFill>
              <a:srgbClr val="FFF7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C55FDF7-636F-4532-935C-73247C743CF2}"/>
                </a:ext>
              </a:extLst>
            </p:cNvPr>
            <p:cNvSpPr/>
            <p:nvPr/>
          </p:nvSpPr>
          <p:spPr>
            <a:xfrm>
              <a:off x="17093891" y="8145182"/>
              <a:ext cx="574034" cy="579718"/>
            </a:xfrm>
            <a:prstGeom prst="rect">
              <a:avLst/>
            </a:prstGeom>
            <a:solidFill>
              <a:srgbClr val="FFF7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7">
            <a:extLst>
              <a:ext uri="{FF2B5EF4-FFF2-40B4-BE49-F238E27FC236}">
                <a16:creationId xmlns:a16="http://schemas.microsoft.com/office/drawing/2014/main" id="{3A1B57F1-71E7-43B2-A8DF-319476489335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549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4">
            <a:extLst>
              <a:ext uri="{FF2B5EF4-FFF2-40B4-BE49-F238E27FC236}">
                <a16:creationId xmlns:a16="http://schemas.microsoft.com/office/drawing/2014/main" id="{9C350B33-5FDF-415B-BABC-1C47DC2F809A}"/>
              </a:ext>
            </a:extLst>
          </p:cNvPr>
          <p:cNvSpPr txBox="1"/>
          <p:nvPr/>
        </p:nvSpPr>
        <p:spPr>
          <a:xfrm>
            <a:off x="10439400" y="9291497"/>
            <a:ext cx="5575300" cy="56356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800" b="1" i="0" u="none" strike="noStrike" spc="-100" dirty="0">
              <a:solidFill>
                <a:schemeClr val="tx1">
                  <a:alpha val="97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2">
            <a:extLst>
              <a:ext uri="{FF2B5EF4-FFF2-40B4-BE49-F238E27FC236}">
                <a16:creationId xmlns:a16="http://schemas.microsoft.com/office/drawing/2014/main" id="{526C07B6-50F4-4E8A-84E1-FF82662988D4}"/>
              </a:ext>
            </a:extLst>
          </p:cNvPr>
          <p:cNvSpPr txBox="1"/>
          <p:nvPr/>
        </p:nvSpPr>
        <p:spPr>
          <a:xfrm>
            <a:off x="2440858" y="1170811"/>
            <a:ext cx="148971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000" b="1" spc="-500" dirty="0">
                <a:solidFill>
                  <a:srgbClr val="505050"/>
                </a:solidFill>
                <a:latin typeface="Gmarket Sans Medium"/>
              </a:rPr>
              <a:t>자기소개서로 기업에 적합한 인재 어필하기</a:t>
            </a:r>
            <a:endParaRPr lang="ko-KR" sz="60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42" name="Picture 20">
            <a:extLst>
              <a:ext uri="{FF2B5EF4-FFF2-40B4-BE49-F238E27FC236}">
                <a16:creationId xmlns:a16="http://schemas.microsoft.com/office/drawing/2014/main" id="{89D29B3C-90FE-4E20-A9C3-7E55F1934C9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45" name="TextBox 24">
            <a:extLst>
              <a:ext uri="{FF2B5EF4-FFF2-40B4-BE49-F238E27FC236}">
                <a16:creationId xmlns:a16="http://schemas.microsoft.com/office/drawing/2014/main" id="{3A33203A-62B3-4B90-967B-61B059AFF144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04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9F43E7E-1F91-405A-8344-D35212C78ECC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7985ACE-2B01-43B1-889E-F24DD0E987AE}"/>
              </a:ext>
            </a:extLst>
          </p:cNvPr>
          <p:cNvSpPr/>
          <p:nvPr/>
        </p:nvSpPr>
        <p:spPr>
          <a:xfrm>
            <a:off x="15763028" y="9620308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p.63~64</a:t>
            </a:r>
          </a:p>
        </p:txBody>
      </p:sp>
      <p:sp>
        <p:nvSpPr>
          <p:cNvPr id="48" name="Freeform 16">
            <a:extLst>
              <a:ext uri="{FF2B5EF4-FFF2-40B4-BE49-F238E27FC236}">
                <a16:creationId xmlns:a16="http://schemas.microsoft.com/office/drawing/2014/main" id="{CBD2F0F4-0FB3-4CA0-8AD4-C2CEE7E31845}"/>
              </a:ext>
            </a:extLst>
          </p:cNvPr>
          <p:cNvSpPr/>
          <p:nvPr/>
        </p:nvSpPr>
        <p:spPr>
          <a:xfrm>
            <a:off x="12418432" y="6551333"/>
            <a:ext cx="4879180" cy="2590950"/>
          </a:xfrm>
          <a:custGeom>
            <a:avLst/>
            <a:gdLst/>
            <a:ahLst/>
            <a:cxnLst/>
            <a:rect l="l" t="t" r="r" b="b"/>
            <a:pathLst>
              <a:path w="9698090" h="9028040">
                <a:moveTo>
                  <a:pt x="0" y="0"/>
                </a:moveTo>
                <a:lnTo>
                  <a:pt x="9698090" y="0"/>
                </a:lnTo>
                <a:lnTo>
                  <a:pt x="9698090" y="9028040"/>
                </a:lnTo>
                <a:lnTo>
                  <a:pt x="0" y="9028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49" name="Google Shape;85;p13" descr="image.png">
            <a:extLst>
              <a:ext uri="{FF2B5EF4-FFF2-40B4-BE49-F238E27FC236}">
                <a16:creationId xmlns:a16="http://schemas.microsoft.com/office/drawing/2014/main" id="{7B9F8AF0-27A2-4EBC-B2FA-C247EC2359C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024" y="2706319"/>
            <a:ext cx="5286375" cy="3238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86;p13" descr="image.png">
            <a:extLst>
              <a:ext uri="{FF2B5EF4-FFF2-40B4-BE49-F238E27FC236}">
                <a16:creationId xmlns:a16="http://schemas.microsoft.com/office/drawing/2014/main" id="{A8002BEE-A47B-433D-801E-E79F01F97A6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5587" y="2706319"/>
            <a:ext cx="5286375" cy="3238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87;p13" descr="image.png">
            <a:extLst>
              <a:ext uri="{FF2B5EF4-FFF2-40B4-BE49-F238E27FC236}">
                <a16:creationId xmlns:a16="http://schemas.microsoft.com/office/drawing/2014/main" id="{B7246003-CF68-46C9-8F94-D2100A96808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69149" y="2706318"/>
            <a:ext cx="5286375" cy="332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88;p13" descr="image.png">
            <a:extLst>
              <a:ext uri="{FF2B5EF4-FFF2-40B4-BE49-F238E27FC236}">
                <a16:creationId xmlns:a16="http://schemas.microsoft.com/office/drawing/2014/main" id="{19E60B9C-4BAB-427E-A0F9-F384CD0B55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089" y="6164122"/>
            <a:ext cx="5345310" cy="3323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89;p13" descr="image.png">
            <a:extLst>
              <a:ext uri="{FF2B5EF4-FFF2-40B4-BE49-F238E27FC236}">
                <a16:creationId xmlns:a16="http://schemas.microsoft.com/office/drawing/2014/main" id="{A7E19BCC-4CFF-4A9B-8139-5CFB501113B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5588" y="6164123"/>
            <a:ext cx="5345310" cy="3323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92;p13" descr="image.png">
            <a:extLst>
              <a:ext uri="{FF2B5EF4-FFF2-40B4-BE49-F238E27FC236}">
                <a16:creationId xmlns:a16="http://schemas.microsoft.com/office/drawing/2014/main" id="{1410C28F-C502-42FA-AF24-1FF4C894EEF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53499" y="3192092"/>
            <a:ext cx="65722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93;p13">
            <a:extLst>
              <a:ext uri="{FF2B5EF4-FFF2-40B4-BE49-F238E27FC236}">
                <a16:creationId xmlns:a16="http://schemas.microsoft.com/office/drawing/2014/main" id="{27B0C822-009E-40A8-9D09-11EB5C749B7A}"/>
              </a:ext>
            </a:extLst>
          </p:cNvPr>
          <p:cNvSpPr txBox="1"/>
          <p:nvPr/>
        </p:nvSpPr>
        <p:spPr>
          <a:xfrm>
            <a:off x="2182174" y="3320680"/>
            <a:ext cx="945117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6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가치관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6" name="Google Shape;94;p13">
            <a:extLst>
              <a:ext uri="{FF2B5EF4-FFF2-40B4-BE49-F238E27FC236}">
                <a16:creationId xmlns:a16="http://schemas.microsoft.com/office/drawing/2014/main" id="{2CC9FAA7-EDB3-4E1A-B863-C6E603DD4A17}"/>
              </a:ext>
            </a:extLst>
          </p:cNvPr>
          <p:cNvSpPr txBox="1"/>
          <p:nvPr/>
        </p:nvSpPr>
        <p:spPr>
          <a:xfrm>
            <a:off x="1582099" y="4106493"/>
            <a:ext cx="43148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지원자 고유의 </a:t>
            </a:r>
            <a:r>
              <a:rPr lang="en-US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개성 및 가치관</a:t>
            </a:r>
            <a:r>
              <a:rPr lang="en-US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파악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7" name="Google Shape;95;p13">
            <a:extLst>
              <a:ext uri="{FF2B5EF4-FFF2-40B4-BE49-F238E27FC236}">
                <a16:creationId xmlns:a16="http://schemas.microsoft.com/office/drawing/2014/main" id="{887957BC-BBE0-4499-BEC7-2F2692F3A818}"/>
              </a:ext>
            </a:extLst>
          </p:cNvPr>
          <p:cNvSpPr txBox="1"/>
          <p:nvPr/>
        </p:nvSpPr>
        <p:spPr>
          <a:xfrm>
            <a:off x="1582099" y="4569273"/>
            <a:ext cx="431482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올바르고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긍정적인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사고방식을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통한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조직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융화력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평가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58" name="Google Shape;96;p13">
            <a:extLst>
              <a:ext uri="{FF2B5EF4-FFF2-40B4-BE49-F238E27FC236}">
                <a16:creationId xmlns:a16="http://schemas.microsoft.com/office/drawing/2014/main" id="{87EFC5D4-FC99-4660-9853-AAF7A4740CC7}"/>
              </a:ext>
            </a:extLst>
          </p:cNvPr>
          <p:cNvSpPr txBox="1"/>
          <p:nvPr/>
        </p:nvSpPr>
        <p:spPr>
          <a:xfrm>
            <a:off x="1582099" y="5351961"/>
            <a:ext cx="43148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</a:rPr>
              <a:t>평가항목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</a:rPr>
              <a:t>: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</a:rPr>
              <a:t>성장배경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</a:rPr>
              <a:t>대학생활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</a:rPr>
              <a:t>성격 등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59" name="Google Shape;97;p13" descr="image.png">
            <a:extLst>
              <a:ext uri="{FF2B5EF4-FFF2-40B4-BE49-F238E27FC236}">
                <a16:creationId xmlns:a16="http://schemas.microsoft.com/office/drawing/2014/main" id="{D1508298-A39D-4991-8751-CB42424C825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97062" y="3192092"/>
            <a:ext cx="65722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98;p13">
            <a:extLst>
              <a:ext uri="{FF2B5EF4-FFF2-40B4-BE49-F238E27FC236}">
                <a16:creationId xmlns:a16="http://schemas.microsoft.com/office/drawing/2014/main" id="{59551AB7-2DBF-4A14-BAC7-2269EC9CCD63}"/>
              </a:ext>
            </a:extLst>
          </p:cNvPr>
          <p:cNvSpPr txBox="1"/>
          <p:nvPr/>
        </p:nvSpPr>
        <p:spPr>
          <a:xfrm>
            <a:off x="7825737" y="3320680"/>
            <a:ext cx="1662864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6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역량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61" name="Google Shape;99;p13">
            <a:extLst>
              <a:ext uri="{FF2B5EF4-FFF2-40B4-BE49-F238E27FC236}">
                <a16:creationId xmlns:a16="http://schemas.microsoft.com/office/drawing/2014/main" id="{3319F014-4F30-4097-AA96-2E500FF66DFC}"/>
              </a:ext>
            </a:extLst>
          </p:cNvPr>
          <p:cNvSpPr txBox="1"/>
          <p:nvPr/>
        </p:nvSpPr>
        <p:spPr>
          <a:xfrm>
            <a:off x="7225661" y="4106492"/>
            <a:ext cx="455771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연관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경험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중심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검증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62" name="Google Shape;100;p13">
            <a:extLst>
              <a:ext uri="{FF2B5EF4-FFF2-40B4-BE49-F238E27FC236}">
                <a16:creationId xmlns:a16="http://schemas.microsoft.com/office/drawing/2014/main" id="{5EDB7687-BB50-4A89-8229-710D757F80CC}"/>
              </a:ext>
            </a:extLst>
          </p:cNvPr>
          <p:cNvSpPr txBox="1"/>
          <p:nvPr/>
        </p:nvSpPr>
        <p:spPr>
          <a:xfrm>
            <a:off x="7225660" y="4623531"/>
            <a:ext cx="431482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경험을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통해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획득한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인사이트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적용도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파악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63" name="Google Shape;101;p13">
            <a:extLst>
              <a:ext uri="{FF2B5EF4-FFF2-40B4-BE49-F238E27FC236}">
                <a16:creationId xmlns:a16="http://schemas.microsoft.com/office/drawing/2014/main" id="{DA600587-9392-487E-88C4-76BBCDDD236B}"/>
              </a:ext>
            </a:extLst>
          </p:cNvPr>
          <p:cNvSpPr txBox="1"/>
          <p:nvPr/>
        </p:nvSpPr>
        <p:spPr>
          <a:xfrm>
            <a:off x="7225660" y="5415361"/>
            <a:ext cx="43148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평가항목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: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대학생활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경력활동 등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64" name="Google Shape;102;p13" descr="image.png">
            <a:extLst>
              <a:ext uri="{FF2B5EF4-FFF2-40B4-BE49-F238E27FC236}">
                <a16:creationId xmlns:a16="http://schemas.microsoft.com/office/drawing/2014/main" id="{0B3595E3-F03B-425A-A456-A39855C5471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640624" y="3192092"/>
            <a:ext cx="65722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103;p13">
            <a:extLst>
              <a:ext uri="{FF2B5EF4-FFF2-40B4-BE49-F238E27FC236}">
                <a16:creationId xmlns:a16="http://schemas.microsoft.com/office/drawing/2014/main" id="{AB932361-BC57-42AC-A266-6D5315A62620}"/>
              </a:ext>
            </a:extLst>
          </p:cNvPr>
          <p:cNvSpPr txBox="1"/>
          <p:nvPr/>
        </p:nvSpPr>
        <p:spPr>
          <a:xfrm>
            <a:off x="13469299" y="3320680"/>
            <a:ext cx="1977903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63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인재상 적합성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66" name="Google Shape;104;p13">
            <a:extLst>
              <a:ext uri="{FF2B5EF4-FFF2-40B4-BE49-F238E27FC236}">
                <a16:creationId xmlns:a16="http://schemas.microsoft.com/office/drawing/2014/main" id="{D5E86B10-872E-4BCB-AAB6-6FB9461C2F1E}"/>
              </a:ext>
            </a:extLst>
          </p:cNvPr>
          <p:cNvSpPr txBox="1"/>
          <p:nvPr/>
        </p:nvSpPr>
        <p:spPr>
          <a:xfrm>
            <a:off x="12869224" y="4106493"/>
            <a:ext cx="46863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기업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비전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문화와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부합하는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핵심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가치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공유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67" name="Google Shape;105;p13">
            <a:extLst>
              <a:ext uri="{FF2B5EF4-FFF2-40B4-BE49-F238E27FC236}">
                <a16:creationId xmlns:a16="http://schemas.microsoft.com/office/drawing/2014/main" id="{78A0194D-311D-4862-8069-AB1B98932907}"/>
              </a:ext>
            </a:extLst>
          </p:cNvPr>
          <p:cNvSpPr txBox="1"/>
          <p:nvPr/>
        </p:nvSpPr>
        <p:spPr>
          <a:xfrm>
            <a:off x="12869223" y="4657579"/>
            <a:ext cx="445670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조기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퇴사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방지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장기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근속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가능성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판단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68" name="Google Shape;107;p13" descr="image.png">
            <a:extLst>
              <a:ext uri="{FF2B5EF4-FFF2-40B4-BE49-F238E27FC236}">
                <a16:creationId xmlns:a16="http://schemas.microsoft.com/office/drawing/2014/main" id="{6F2843F9-AC9E-455C-97E4-6B791CE0F06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94564" y="6649897"/>
            <a:ext cx="65722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108;p13">
            <a:extLst>
              <a:ext uri="{FF2B5EF4-FFF2-40B4-BE49-F238E27FC236}">
                <a16:creationId xmlns:a16="http://schemas.microsoft.com/office/drawing/2014/main" id="{52B8B082-D29F-4C33-803D-8D0159D508B8}"/>
              </a:ext>
            </a:extLst>
          </p:cNvPr>
          <p:cNvSpPr txBox="1"/>
          <p:nvPr/>
        </p:nvSpPr>
        <p:spPr>
          <a:xfrm>
            <a:off x="2123240" y="6778484"/>
            <a:ext cx="2695415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6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입사</a:t>
            </a:r>
            <a:r>
              <a:rPr lang="en-US" sz="236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36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열정과</a:t>
            </a:r>
            <a:r>
              <a:rPr lang="en-US" sz="236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36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장래성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70" name="Google Shape;109;p13">
            <a:extLst>
              <a:ext uri="{FF2B5EF4-FFF2-40B4-BE49-F238E27FC236}">
                <a16:creationId xmlns:a16="http://schemas.microsoft.com/office/drawing/2014/main" id="{B8078585-6637-4542-8CB7-8C28F091DFF3}"/>
              </a:ext>
            </a:extLst>
          </p:cNvPr>
          <p:cNvSpPr txBox="1"/>
          <p:nvPr/>
        </p:nvSpPr>
        <p:spPr>
          <a:xfrm>
            <a:off x="1523164" y="7564297"/>
            <a:ext cx="437376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지원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회사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직무에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대한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뚜렷한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입사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의지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71" name="Google Shape;111;p13">
            <a:extLst>
              <a:ext uri="{FF2B5EF4-FFF2-40B4-BE49-F238E27FC236}">
                <a16:creationId xmlns:a16="http://schemas.microsoft.com/office/drawing/2014/main" id="{5D96A871-401D-47CB-8149-09E01AD08361}"/>
              </a:ext>
            </a:extLst>
          </p:cNvPr>
          <p:cNvSpPr txBox="1"/>
          <p:nvPr/>
        </p:nvSpPr>
        <p:spPr>
          <a:xfrm>
            <a:off x="1523165" y="8045368"/>
            <a:ext cx="4659512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장기적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관점에서의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성장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잠재력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비전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확인</a:t>
            </a:r>
            <a:endParaRPr sz="2700" dirty="0">
              <a:latin typeface="+mj-ea"/>
              <a:ea typeface="+mj-ea"/>
            </a:endParaRPr>
          </a:p>
        </p:txBody>
      </p:sp>
      <p:pic>
        <p:nvPicPr>
          <p:cNvPr id="72" name="Google Shape;112;p13" descr="image.png">
            <a:extLst>
              <a:ext uri="{FF2B5EF4-FFF2-40B4-BE49-F238E27FC236}">
                <a16:creationId xmlns:a16="http://schemas.microsoft.com/office/drawing/2014/main" id="{496718B8-C68D-425B-97D1-6650348F134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97063" y="6649897"/>
            <a:ext cx="65722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113;p13">
            <a:extLst>
              <a:ext uri="{FF2B5EF4-FFF2-40B4-BE49-F238E27FC236}">
                <a16:creationId xmlns:a16="http://schemas.microsoft.com/office/drawing/2014/main" id="{CF61FD5C-F93E-4FC1-89C0-CF268BDD7B0B}"/>
              </a:ext>
            </a:extLst>
          </p:cNvPr>
          <p:cNvSpPr txBox="1"/>
          <p:nvPr/>
        </p:nvSpPr>
        <p:spPr>
          <a:xfrm>
            <a:off x="7825738" y="6778484"/>
            <a:ext cx="1662864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6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인성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74" name="Google Shape;114;p13">
            <a:extLst>
              <a:ext uri="{FF2B5EF4-FFF2-40B4-BE49-F238E27FC236}">
                <a16:creationId xmlns:a16="http://schemas.microsoft.com/office/drawing/2014/main" id="{274B85FB-7194-4889-95B8-98C39FBC89E2}"/>
              </a:ext>
            </a:extLst>
          </p:cNvPr>
          <p:cNvSpPr txBox="1"/>
          <p:nvPr/>
        </p:nvSpPr>
        <p:spPr>
          <a:xfrm>
            <a:off x="7225663" y="7564297"/>
            <a:ext cx="437376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채용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시장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최우선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핵심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키워드인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기본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인성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태도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평가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75" name="Google Shape;115;p13">
            <a:extLst>
              <a:ext uri="{FF2B5EF4-FFF2-40B4-BE49-F238E27FC236}">
                <a16:creationId xmlns:a16="http://schemas.microsoft.com/office/drawing/2014/main" id="{BD98ED98-872C-4DFB-B867-D2BF409CEBCE}"/>
              </a:ext>
            </a:extLst>
          </p:cNvPr>
          <p:cNvSpPr txBox="1"/>
          <p:nvPr/>
        </p:nvSpPr>
        <p:spPr>
          <a:xfrm>
            <a:off x="7193496" y="8354074"/>
            <a:ext cx="468629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팀원들과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마찰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없이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소통하는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원활한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협업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능력</a:t>
            </a:r>
            <a:r>
              <a:rPr 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검증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76" name="Google Shape;117;p13">
            <a:extLst>
              <a:ext uri="{FF2B5EF4-FFF2-40B4-BE49-F238E27FC236}">
                <a16:creationId xmlns:a16="http://schemas.microsoft.com/office/drawing/2014/main" id="{2C70C24E-70C5-47AC-B778-B8A09E44E0E8}"/>
              </a:ext>
            </a:extLst>
          </p:cNvPr>
          <p:cNvSpPr txBox="1"/>
          <p:nvPr/>
        </p:nvSpPr>
        <p:spPr>
          <a:xfrm>
            <a:off x="1353500" y="4149355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0284C7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77" name="Google Shape;118;p13">
            <a:extLst>
              <a:ext uri="{FF2B5EF4-FFF2-40B4-BE49-F238E27FC236}">
                <a16:creationId xmlns:a16="http://schemas.microsoft.com/office/drawing/2014/main" id="{4298670C-9A68-4F4F-B71E-8FBA99FF8201}"/>
              </a:ext>
            </a:extLst>
          </p:cNvPr>
          <p:cNvSpPr txBox="1"/>
          <p:nvPr/>
        </p:nvSpPr>
        <p:spPr>
          <a:xfrm>
            <a:off x="1353500" y="4612135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0284C7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78" name="Google Shape;119;p13">
            <a:extLst>
              <a:ext uri="{FF2B5EF4-FFF2-40B4-BE49-F238E27FC236}">
                <a16:creationId xmlns:a16="http://schemas.microsoft.com/office/drawing/2014/main" id="{6410B9C4-ED80-4587-92C5-0E1C64E4B368}"/>
              </a:ext>
            </a:extLst>
          </p:cNvPr>
          <p:cNvSpPr txBox="1"/>
          <p:nvPr/>
        </p:nvSpPr>
        <p:spPr>
          <a:xfrm>
            <a:off x="1353500" y="5394823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0284C7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79" name="Google Shape;120;p13">
            <a:extLst>
              <a:ext uri="{FF2B5EF4-FFF2-40B4-BE49-F238E27FC236}">
                <a16:creationId xmlns:a16="http://schemas.microsoft.com/office/drawing/2014/main" id="{EFD86156-1210-4AAF-808E-94B6D8F0880E}"/>
              </a:ext>
            </a:extLst>
          </p:cNvPr>
          <p:cNvSpPr txBox="1"/>
          <p:nvPr/>
        </p:nvSpPr>
        <p:spPr>
          <a:xfrm>
            <a:off x="6997062" y="4149355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0284C7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0" name="Google Shape;121;p13">
            <a:extLst>
              <a:ext uri="{FF2B5EF4-FFF2-40B4-BE49-F238E27FC236}">
                <a16:creationId xmlns:a16="http://schemas.microsoft.com/office/drawing/2014/main" id="{16F5DAD8-DF5E-4438-982C-2A69ACBAA781}"/>
              </a:ext>
            </a:extLst>
          </p:cNvPr>
          <p:cNvSpPr txBox="1"/>
          <p:nvPr/>
        </p:nvSpPr>
        <p:spPr>
          <a:xfrm>
            <a:off x="6997061" y="4666393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 dirty="0">
                <a:solidFill>
                  <a:srgbClr val="0284C7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81" name="Google Shape;122;p13">
            <a:extLst>
              <a:ext uri="{FF2B5EF4-FFF2-40B4-BE49-F238E27FC236}">
                <a16:creationId xmlns:a16="http://schemas.microsoft.com/office/drawing/2014/main" id="{5784DAF5-F36E-4E2B-BDFE-BBB4FA8D7D0A}"/>
              </a:ext>
            </a:extLst>
          </p:cNvPr>
          <p:cNvSpPr txBox="1"/>
          <p:nvPr/>
        </p:nvSpPr>
        <p:spPr>
          <a:xfrm>
            <a:off x="6997061" y="5458224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0284C7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2" name="Google Shape;123;p13">
            <a:extLst>
              <a:ext uri="{FF2B5EF4-FFF2-40B4-BE49-F238E27FC236}">
                <a16:creationId xmlns:a16="http://schemas.microsoft.com/office/drawing/2014/main" id="{2F73462A-D53D-460F-B9CC-978B13E75860}"/>
              </a:ext>
            </a:extLst>
          </p:cNvPr>
          <p:cNvSpPr txBox="1"/>
          <p:nvPr/>
        </p:nvSpPr>
        <p:spPr>
          <a:xfrm>
            <a:off x="12640625" y="4149355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0284C7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3" name="Google Shape;124;p13">
            <a:extLst>
              <a:ext uri="{FF2B5EF4-FFF2-40B4-BE49-F238E27FC236}">
                <a16:creationId xmlns:a16="http://schemas.microsoft.com/office/drawing/2014/main" id="{93C1EEE3-7796-44AF-85EC-A9AB22CF6E43}"/>
              </a:ext>
            </a:extLst>
          </p:cNvPr>
          <p:cNvSpPr txBox="1"/>
          <p:nvPr/>
        </p:nvSpPr>
        <p:spPr>
          <a:xfrm>
            <a:off x="12640625" y="4700442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0284C7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4" name="Google Shape;126;p13">
            <a:extLst>
              <a:ext uri="{FF2B5EF4-FFF2-40B4-BE49-F238E27FC236}">
                <a16:creationId xmlns:a16="http://schemas.microsoft.com/office/drawing/2014/main" id="{304C6507-F0C9-4353-9DBD-C69E41BDAA1E}"/>
              </a:ext>
            </a:extLst>
          </p:cNvPr>
          <p:cNvSpPr txBox="1"/>
          <p:nvPr/>
        </p:nvSpPr>
        <p:spPr>
          <a:xfrm>
            <a:off x="1294565" y="7607160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10B981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5" name="Google Shape;128;p13">
            <a:extLst>
              <a:ext uri="{FF2B5EF4-FFF2-40B4-BE49-F238E27FC236}">
                <a16:creationId xmlns:a16="http://schemas.microsoft.com/office/drawing/2014/main" id="{A8CA3A9D-3FF0-412E-8D07-F4827DE68B4F}"/>
              </a:ext>
            </a:extLst>
          </p:cNvPr>
          <p:cNvSpPr txBox="1"/>
          <p:nvPr/>
        </p:nvSpPr>
        <p:spPr>
          <a:xfrm>
            <a:off x="1294566" y="8088231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10B981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6" name="Google Shape;129;p13">
            <a:extLst>
              <a:ext uri="{FF2B5EF4-FFF2-40B4-BE49-F238E27FC236}">
                <a16:creationId xmlns:a16="http://schemas.microsoft.com/office/drawing/2014/main" id="{5A3C23B9-1FD5-4484-B0DA-EDEAB36220A5}"/>
              </a:ext>
            </a:extLst>
          </p:cNvPr>
          <p:cNvSpPr txBox="1"/>
          <p:nvPr/>
        </p:nvSpPr>
        <p:spPr>
          <a:xfrm>
            <a:off x="6997064" y="7607160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10B981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7" name="Google Shape;130;p13">
            <a:extLst>
              <a:ext uri="{FF2B5EF4-FFF2-40B4-BE49-F238E27FC236}">
                <a16:creationId xmlns:a16="http://schemas.microsoft.com/office/drawing/2014/main" id="{346DAE51-0943-4417-BAFC-97ECAE48A969}"/>
              </a:ext>
            </a:extLst>
          </p:cNvPr>
          <p:cNvSpPr txBox="1"/>
          <p:nvPr/>
        </p:nvSpPr>
        <p:spPr>
          <a:xfrm>
            <a:off x="6997064" y="838984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10B981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8" name="Google Shape;131;p13">
            <a:extLst>
              <a:ext uri="{FF2B5EF4-FFF2-40B4-BE49-F238E27FC236}">
                <a16:creationId xmlns:a16="http://schemas.microsoft.com/office/drawing/2014/main" id="{C8F42641-3518-4767-B1BA-D1FC5EEC6131}"/>
              </a:ext>
            </a:extLst>
          </p:cNvPr>
          <p:cNvSpPr txBox="1"/>
          <p:nvPr/>
        </p:nvSpPr>
        <p:spPr>
          <a:xfrm>
            <a:off x="6997064" y="9172534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10B981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89" name="Google Shape;101;p13">
            <a:extLst>
              <a:ext uri="{FF2B5EF4-FFF2-40B4-BE49-F238E27FC236}">
                <a16:creationId xmlns:a16="http://schemas.microsoft.com/office/drawing/2014/main" id="{A4BD3887-4C43-445F-9E03-95F2AFF467E8}"/>
              </a:ext>
            </a:extLst>
          </p:cNvPr>
          <p:cNvSpPr txBox="1"/>
          <p:nvPr/>
        </p:nvSpPr>
        <p:spPr>
          <a:xfrm>
            <a:off x="12869224" y="5231731"/>
            <a:ext cx="43148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평가항목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: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지원동기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입사 후 포부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성격 등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90" name="Google Shape;122;p13">
            <a:extLst>
              <a:ext uri="{FF2B5EF4-FFF2-40B4-BE49-F238E27FC236}">
                <a16:creationId xmlns:a16="http://schemas.microsoft.com/office/drawing/2014/main" id="{FDA2EBE2-3B19-4E2B-9833-E7FC4FD6C9C4}"/>
              </a:ext>
            </a:extLst>
          </p:cNvPr>
          <p:cNvSpPr txBox="1"/>
          <p:nvPr/>
        </p:nvSpPr>
        <p:spPr>
          <a:xfrm>
            <a:off x="12640625" y="5274594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0284C7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1" name="Google Shape;111;p13">
            <a:extLst>
              <a:ext uri="{FF2B5EF4-FFF2-40B4-BE49-F238E27FC236}">
                <a16:creationId xmlns:a16="http://schemas.microsoft.com/office/drawing/2014/main" id="{11184C12-9016-4C90-A2CB-AF34036D0084}"/>
              </a:ext>
            </a:extLst>
          </p:cNvPr>
          <p:cNvSpPr txBox="1"/>
          <p:nvPr/>
        </p:nvSpPr>
        <p:spPr>
          <a:xfrm>
            <a:off x="1489028" y="8588494"/>
            <a:ext cx="4659512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평가항목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: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지원동기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직업관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입사후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포부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92" name="Google Shape;128;p13">
            <a:extLst>
              <a:ext uri="{FF2B5EF4-FFF2-40B4-BE49-F238E27FC236}">
                <a16:creationId xmlns:a16="http://schemas.microsoft.com/office/drawing/2014/main" id="{F4B6E5DC-9ADA-42F6-9852-0D64984ACF62}"/>
              </a:ext>
            </a:extLst>
          </p:cNvPr>
          <p:cNvSpPr txBox="1"/>
          <p:nvPr/>
        </p:nvSpPr>
        <p:spPr>
          <a:xfrm>
            <a:off x="1260429" y="8631357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10B981"/>
                </a:solidFill>
                <a:latin typeface="+mj-ea"/>
                <a:ea typeface="+mj-ea"/>
                <a:cs typeface="Arial"/>
                <a:sym typeface="Arial"/>
              </a:rPr>
              <a:t>■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93" name="Google Shape;111;p13">
            <a:extLst>
              <a:ext uri="{FF2B5EF4-FFF2-40B4-BE49-F238E27FC236}">
                <a16:creationId xmlns:a16="http://schemas.microsoft.com/office/drawing/2014/main" id="{4BD0C374-4895-48F8-A626-2DAA852496AF}"/>
              </a:ext>
            </a:extLst>
          </p:cNvPr>
          <p:cNvSpPr txBox="1"/>
          <p:nvPr/>
        </p:nvSpPr>
        <p:spPr>
          <a:xfrm>
            <a:off x="7158845" y="9099487"/>
            <a:ext cx="4659512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평가항목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: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성장배경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성격</a:t>
            </a:r>
            <a:r>
              <a:rPr lang="en-US" altLang="ko-KR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대학생활 등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94" name="TextBox 7">
            <a:extLst>
              <a:ext uri="{FF2B5EF4-FFF2-40B4-BE49-F238E27FC236}">
                <a16:creationId xmlns:a16="http://schemas.microsoft.com/office/drawing/2014/main" id="{45646264-8C37-4146-8E3B-F44E5B9C6C91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314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2">
            <a:extLst>
              <a:ext uri="{FF2B5EF4-FFF2-40B4-BE49-F238E27FC236}">
                <a16:creationId xmlns:a16="http://schemas.microsoft.com/office/drawing/2014/main" id="{526C07B6-50F4-4E8A-84E1-FF82662988D4}"/>
              </a:ext>
            </a:extLst>
          </p:cNvPr>
          <p:cNvSpPr txBox="1"/>
          <p:nvPr/>
        </p:nvSpPr>
        <p:spPr>
          <a:xfrm>
            <a:off x="2228048" y="1181964"/>
            <a:ext cx="148971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기업이 인정하는 자기소개서 작성하기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5" name="Picture 20">
            <a:extLst>
              <a:ext uri="{FF2B5EF4-FFF2-40B4-BE49-F238E27FC236}">
                <a16:creationId xmlns:a16="http://schemas.microsoft.com/office/drawing/2014/main" id="{E120AB1D-A3C0-4977-B31A-833CC01C54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26" name="TextBox 24">
            <a:extLst>
              <a:ext uri="{FF2B5EF4-FFF2-40B4-BE49-F238E27FC236}">
                <a16:creationId xmlns:a16="http://schemas.microsoft.com/office/drawing/2014/main" id="{955E3A46-0585-4BD9-B792-915DE99C7758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05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0F8C9D1-FBA7-4414-B1A2-91EEC7A19772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DAF9BA3-915B-4292-B025-987296225FE8}"/>
              </a:ext>
            </a:extLst>
          </p:cNvPr>
          <p:cNvSpPr/>
          <p:nvPr/>
        </p:nvSpPr>
        <p:spPr>
          <a:xfrm>
            <a:off x="16180018" y="9684672"/>
            <a:ext cx="18902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p.65</a:t>
            </a:r>
          </a:p>
        </p:txBody>
      </p:sp>
      <p:pic>
        <p:nvPicPr>
          <p:cNvPr id="24" name="Google Shape;137;p14" descr="image.png">
            <a:extLst>
              <a:ext uri="{FF2B5EF4-FFF2-40B4-BE49-F238E27FC236}">
                <a16:creationId xmlns:a16="http://schemas.microsoft.com/office/drawing/2014/main" id="{5F15EC91-EFE3-4463-81AF-F6D8C34EC5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325" y="2600621"/>
            <a:ext cx="16897350" cy="121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38;p14" descr="image.png">
            <a:extLst>
              <a:ext uri="{FF2B5EF4-FFF2-40B4-BE49-F238E27FC236}">
                <a16:creationId xmlns:a16="http://schemas.microsoft.com/office/drawing/2014/main" id="{003378F9-DCC9-402B-8729-3A9E6048F60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" y="4043658"/>
            <a:ext cx="16897350" cy="121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39;p14" descr="image.png">
            <a:extLst>
              <a:ext uri="{FF2B5EF4-FFF2-40B4-BE49-F238E27FC236}">
                <a16:creationId xmlns:a16="http://schemas.microsoft.com/office/drawing/2014/main" id="{534E9AE6-C6F3-4AF6-B306-4AA85BF5F7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" y="5486696"/>
            <a:ext cx="16897350" cy="121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40;p14" descr="image.png">
            <a:extLst>
              <a:ext uri="{FF2B5EF4-FFF2-40B4-BE49-F238E27FC236}">
                <a16:creationId xmlns:a16="http://schemas.microsoft.com/office/drawing/2014/main" id="{4E836057-D666-4B17-B5F1-34A7D7072D8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" y="6929733"/>
            <a:ext cx="16897350" cy="121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41;p14" descr="image.png">
            <a:extLst>
              <a:ext uri="{FF2B5EF4-FFF2-40B4-BE49-F238E27FC236}">
                <a16:creationId xmlns:a16="http://schemas.microsoft.com/office/drawing/2014/main" id="{D353D963-24FE-47A0-90E3-C1AAA463DE6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" y="8372771"/>
            <a:ext cx="16897350" cy="121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42;p14" descr="image.png">
            <a:extLst>
              <a:ext uri="{FF2B5EF4-FFF2-40B4-BE49-F238E27FC236}">
                <a16:creationId xmlns:a16="http://schemas.microsoft.com/office/drawing/2014/main" id="{F098C703-383E-49E7-9ACF-13EF94C7065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9613" y="2614908"/>
            <a:ext cx="1000347" cy="118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143;p14" descr="image.png">
            <a:extLst>
              <a:ext uri="{FF2B5EF4-FFF2-40B4-BE49-F238E27FC236}">
                <a16:creationId xmlns:a16="http://schemas.microsoft.com/office/drawing/2014/main" id="{F4DFF007-900C-4E13-B75E-35E3502CCE8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613" y="4057946"/>
            <a:ext cx="963513" cy="118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44;p14" descr="image.png">
            <a:extLst>
              <a:ext uri="{FF2B5EF4-FFF2-40B4-BE49-F238E27FC236}">
                <a16:creationId xmlns:a16="http://schemas.microsoft.com/office/drawing/2014/main" id="{F42F8CE1-D0AF-4A17-87B6-83564480BCA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9613" y="5500983"/>
            <a:ext cx="956145" cy="118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45;p14" descr="image.png">
            <a:extLst>
              <a:ext uri="{FF2B5EF4-FFF2-40B4-BE49-F238E27FC236}">
                <a16:creationId xmlns:a16="http://schemas.microsoft.com/office/drawing/2014/main" id="{31617431-AB1F-4A44-9AC2-612560DB6EC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9613" y="6944021"/>
            <a:ext cx="929804" cy="118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46;p14" descr="image.png">
            <a:extLst>
              <a:ext uri="{FF2B5EF4-FFF2-40B4-BE49-F238E27FC236}">
                <a16:creationId xmlns:a16="http://schemas.microsoft.com/office/drawing/2014/main" id="{DBAB0390-5422-4843-8465-73CD68A759C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9613" y="8387058"/>
            <a:ext cx="877565" cy="118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49;p14" descr="image.png">
            <a:extLst>
              <a:ext uri="{FF2B5EF4-FFF2-40B4-BE49-F238E27FC236}">
                <a16:creationId xmlns:a16="http://schemas.microsoft.com/office/drawing/2014/main" id="{BBDFC053-3EFC-41D7-B061-D4094B77616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73943" y="280064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150;p14">
            <a:extLst>
              <a:ext uri="{FF2B5EF4-FFF2-40B4-BE49-F238E27FC236}">
                <a16:creationId xmlns:a16="http://schemas.microsoft.com/office/drawing/2014/main" id="{4D5FA566-1F0C-4FFB-8C51-1FABBD2B25FA}"/>
              </a:ext>
            </a:extLst>
          </p:cNvPr>
          <p:cNvSpPr txBox="1"/>
          <p:nvPr/>
        </p:nvSpPr>
        <p:spPr>
          <a:xfrm>
            <a:off x="2138585" y="3014958"/>
            <a:ext cx="36004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지원분야 맞춤 작성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43" name="Google Shape;151;p14">
            <a:extLst>
              <a:ext uri="{FF2B5EF4-FFF2-40B4-BE49-F238E27FC236}">
                <a16:creationId xmlns:a16="http://schemas.microsoft.com/office/drawing/2014/main" id="{337DAB97-A508-45A0-846E-103278C12CFC}"/>
              </a:ext>
            </a:extLst>
          </p:cNvPr>
          <p:cNvSpPr/>
          <p:nvPr/>
        </p:nvSpPr>
        <p:spPr>
          <a:xfrm>
            <a:off x="5539010" y="3014958"/>
            <a:ext cx="28575" cy="38576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pic>
        <p:nvPicPr>
          <p:cNvPr id="44" name="Google Shape;152;p14" descr="image.png">
            <a:extLst>
              <a:ext uri="{FF2B5EF4-FFF2-40B4-BE49-F238E27FC236}">
                <a16:creationId xmlns:a16="http://schemas.microsoft.com/office/drawing/2014/main" id="{878F7AE9-5F83-4549-867E-CF6A907775A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55637" y="4243683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153;p14">
            <a:extLst>
              <a:ext uri="{FF2B5EF4-FFF2-40B4-BE49-F238E27FC236}">
                <a16:creationId xmlns:a16="http://schemas.microsoft.com/office/drawing/2014/main" id="{07EEB67E-0D90-4EF8-B572-6B748BFFC3F0}"/>
              </a:ext>
            </a:extLst>
          </p:cNvPr>
          <p:cNvSpPr txBox="1"/>
          <p:nvPr/>
        </p:nvSpPr>
        <p:spPr>
          <a:xfrm>
            <a:off x="2101751" y="4457996"/>
            <a:ext cx="36004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현재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역량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중심</a:t>
            </a:r>
            <a:r>
              <a:rPr lang="en-US" sz="2250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2250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서술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52" name="Google Shape;154;p14">
            <a:extLst>
              <a:ext uri="{FF2B5EF4-FFF2-40B4-BE49-F238E27FC236}">
                <a16:creationId xmlns:a16="http://schemas.microsoft.com/office/drawing/2014/main" id="{DBFA0B9A-6010-4BE9-AF05-9902134B441C}"/>
              </a:ext>
            </a:extLst>
          </p:cNvPr>
          <p:cNvSpPr/>
          <p:nvPr/>
        </p:nvSpPr>
        <p:spPr>
          <a:xfrm>
            <a:off x="5502176" y="4457996"/>
            <a:ext cx="28575" cy="38576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pic>
        <p:nvPicPr>
          <p:cNvPr id="53" name="Google Shape;155;p14" descr="image.png">
            <a:extLst>
              <a:ext uri="{FF2B5EF4-FFF2-40B4-BE49-F238E27FC236}">
                <a16:creationId xmlns:a16="http://schemas.microsoft.com/office/drawing/2014/main" id="{69F6B387-0132-48B1-94E5-19664536B8B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51842" y="5686720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156;p14">
            <a:extLst>
              <a:ext uri="{FF2B5EF4-FFF2-40B4-BE49-F238E27FC236}">
                <a16:creationId xmlns:a16="http://schemas.microsoft.com/office/drawing/2014/main" id="{B0206257-21A1-484C-8ACB-8A364E5BCEA1}"/>
              </a:ext>
            </a:extLst>
          </p:cNvPr>
          <p:cNvSpPr txBox="1"/>
          <p:nvPr/>
        </p:nvSpPr>
        <p:spPr>
          <a:xfrm>
            <a:off x="2094383" y="5901033"/>
            <a:ext cx="36004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회사 및 직무 포커스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6" name="Google Shape;157;p14">
            <a:extLst>
              <a:ext uri="{FF2B5EF4-FFF2-40B4-BE49-F238E27FC236}">
                <a16:creationId xmlns:a16="http://schemas.microsoft.com/office/drawing/2014/main" id="{1F89AD04-07E7-49B5-BBC1-748F84EFB530}"/>
              </a:ext>
            </a:extLst>
          </p:cNvPr>
          <p:cNvSpPr/>
          <p:nvPr/>
        </p:nvSpPr>
        <p:spPr>
          <a:xfrm>
            <a:off x="5494808" y="5901033"/>
            <a:ext cx="28575" cy="38576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pic>
        <p:nvPicPr>
          <p:cNvPr id="57" name="Google Shape;158;p14" descr="image.png">
            <a:extLst>
              <a:ext uri="{FF2B5EF4-FFF2-40B4-BE49-F238E27FC236}">
                <a16:creationId xmlns:a16="http://schemas.microsoft.com/office/drawing/2014/main" id="{AE18BFC7-B7ED-4117-8E7D-2382F0F3B6EE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38671" y="7129758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159;p14">
            <a:extLst>
              <a:ext uri="{FF2B5EF4-FFF2-40B4-BE49-F238E27FC236}">
                <a16:creationId xmlns:a16="http://schemas.microsoft.com/office/drawing/2014/main" id="{25EBD14E-D7E5-4202-AE54-EEDB7E795EC7}"/>
              </a:ext>
            </a:extLst>
          </p:cNvPr>
          <p:cNvSpPr txBox="1"/>
          <p:nvPr/>
        </p:nvSpPr>
        <p:spPr>
          <a:xfrm>
            <a:off x="2068041" y="7344071"/>
            <a:ext cx="36004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간결하고 명확한 문장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59" name="Google Shape;160;p14">
            <a:extLst>
              <a:ext uri="{FF2B5EF4-FFF2-40B4-BE49-F238E27FC236}">
                <a16:creationId xmlns:a16="http://schemas.microsoft.com/office/drawing/2014/main" id="{96293B5E-0650-4711-A2B6-8FBC0BCAD987}"/>
              </a:ext>
            </a:extLst>
          </p:cNvPr>
          <p:cNvSpPr/>
          <p:nvPr/>
        </p:nvSpPr>
        <p:spPr>
          <a:xfrm>
            <a:off x="5468466" y="7344071"/>
            <a:ext cx="28575" cy="38576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pic>
        <p:nvPicPr>
          <p:cNvPr id="68" name="Google Shape;161;p14" descr="image.png">
            <a:extLst>
              <a:ext uri="{FF2B5EF4-FFF2-40B4-BE49-F238E27FC236}">
                <a16:creationId xmlns:a16="http://schemas.microsoft.com/office/drawing/2014/main" id="{CFD3AA2C-4F50-4C0A-8193-00AD13ECE466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2551" y="857279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162;p14">
            <a:extLst>
              <a:ext uri="{FF2B5EF4-FFF2-40B4-BE49-F238E27FC236}">
                <a16:creationId xmlns:a16="http://schemas.microsoft.com/office/drawing/2014/main" id="{0F24554C-57E1-4BAF-AAD0-3CC4A1A5AAC3}"/>
              </a:ext>
            </a:extLst>
          </p:cNvPr>
          <p:cNvSpPr txBox="1"/>
          <p:nvPr/>
        </p:nvSpPr>
        <p:spPr>
          <a:xfrm>
            <a:off x="2015802" y="8787108"/>
            <a:ext cx="36004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50" b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구체적 데이터/수치 제시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70" name="Google Shape;163;p14">
            <a:extLst>
              <a:ext uri="{FF2B5EF4-FFF2-40B4-BE49-F238E27FC236}">
                <a16:creationId xmlns:a16="http://schemas.microsoft.com/office/drawing/2014/main" id="{35C10A4B-7174-4A68-8EE2-C298B73C5FBF}"/>
              </a:ext>
            </a:extLst>
          </p:cNvPr>
          <p:cNvSpPr/>
          <p:nvPr/>
        </p:nvSpPr>
        <p:spPr>
          <a:xfrm>
            <a:off x="5416227" y="8787108"/>
            <a:ext cx="28575" cy="38576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71" name="Google Shape;164;p14">
            <a:extLst>
              <a:ext uri="{FF2B5EF4-FFF2-40B4-BE49-F238E27FC236}">
                <a16:creationId xmlns:a16="http://schemas.microsoft.com/office/drawing/2014/main" id="{DA052046-47DF-47CD-9A83-AF3C8487C94B}"/>
              </a:ext>
            </a:extLst>
          </p:cNvPr>
          <p:cNvSpPr txBox="1"/>
          <p:nvPr/>
        </p:nvSpPr>
        <p:spPr>
          <a:xfrm>
            <a:off x="6281960" y="2867841"/>
            <a:ext cx="4843463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단순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감정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호소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지양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지원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요구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인재상에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완벽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부합</a:t>
            </a:r>
            <a:endParaRPr sz="2700" dirty="0"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72" name="Google Shape;165;p14">
            <a:extLst>
              <a:ext uri="{FF2B5EF4-FFF2-40B4-BE49-F238E27FC236}">
                <a16:creationId xmlns:a16="http://schemas.microsoft.com/office/drawing/2014/main" id="{F2A3D54E-7DFB-4F38-9F9E-47089B30B489}"/>
              </a:ext>
            </a:extLst>
          </p:cNvPr>
          <p:cNvSpPr txBox="1"/>
          <p:nvPr/>
        </p:nvSpPr>
        <p:spPr>
          <a:xfrm>
            <a:off x="12027545" y="2847972"/>
            <a:ext cx="5271864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성장과정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등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모든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항목을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역량과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유기적으로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연결</a:t>
            </a:r>
            <a:endParaRPr sz="2700" dirty="0"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73" name="Google Shape;166;p14">
            <a:extLst>
              <a:ext uri="{FF2B5EF4-FFF2-40B4-BE49-F238E27FC236}">
                <a16:creationId xmlns:a16="http://schemas.microsoft.com/office/drawing/2014/main" id="{AF52A6C9-15C2-4D92-88E3-CDA5EF6D034B}"/>
              </a:ext>
            </a:extLst>
          </p:cNvPr>
          <p:cNvSpPr txBox="1"/>
          <p:nvPr/>
        </p:nvSpPr>
        <p:spPr>
          <a:xfrm>
            <a:off x="6245126" y="4310878"/>
            <a:ext cx="4861767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불필요한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과거사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나열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배제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최근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경험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(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인턴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/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프로젝트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)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어필</a:t>
            </a:r>
            <a:endParaRPr sz="2700" dirty="0"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74" name="Google Shape;167;p14">
            <a:extLst>
              <a:ext uri="{FF2B5EF4-FFF2-40B4-BE49-F238E27FC236}">
                <a16:creationId xmlns:a16="http://schemas.microsoft.com/office/drawing/2014/main" id="{639FF185-B799-40B6-8A62-40D01D6F05B5}"/>
              </a:ext>
            </a:extLst>
          </p:cNvPr>
          <p:cNvSpPr txBox="1"/>
          <p:nvPr/>
        </p:nvSpPr>
        <p:spPr>
          <a:xfrm>
            <a:off x="11976198" y="4291010"/>
            <a:ext cx="5291787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입사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후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즉시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투입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가능한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수준의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현재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직무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수행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능력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입증</a:t>
            </a:r>
            <a:endParaRPr sz="2700" dirty="0"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75" name="Google Shape;168;p14">
            <a:extLst>
              <a:ext uri="{FF2B5EF4-FFF2-40B4-BE49-F238E27FC236}">
                <a16:creationId xmlns:a16="http://schemas.microsoft.com/office/drawing/2014/main" id="{B180091A-022B-4A12-8C66-F1F7AB0B4F41}"/>
              </a:ext>
            </a:extLst>
          </p:cNvPr>
          <p:cNvSpPr txBox="1"/>
          <p:nvPr/>
        </p:nvSpPr>
        <p:spPr>
          <a:xfrm>
            <a:off x="6237758" y="5753916"/>
            <a:ext cx="4865562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타깃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불분명한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개인사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서술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지양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지원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기업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맞춤형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타겟팅</a:t>
            </a:r>
            <a:endParaRPr sz="2700" dirty="0"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76" name="Google Shape;169;p14">
            <a:extLst>
              <a:ext uri="{FF2B5EF4-FFF2-40B4-BE49-F238E27FC236}">
                <a16:creationId xmlns:a16="http://schemas.microsoft.com/office/drawing/2014/main" id="{31206C10-9139-41D9-8139-96E87795980A}"/>
              </a:ext>
            </a:extLst>
          </p:cNvPr>
          <p:cNvSpPr txBox="1"/>
          <p:nvPr/>
        </p:nvSpPr>
        <p:spPr>
          <a:xfrm>
            <a:off x="11997631" y="5734047"/>
            <a:ext cx="5295918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본인의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전공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성공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경험을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회사의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비전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실무와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직접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연결</a:t>
            </a:r>
            <a:endParaRPr sz="2700" dirty="0"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77" name="Google Shape;170;p14">
            <a:extLst>
              <a:ext uri="{FF2B5EF4-FFF2-40B4-BE49-F238E27FC236}">
                <a16:creationId xmlns:a16="http://schemas.microsoft.com/office/drawing/2014/main" id="{33F01472-AD24-4F77-9826-616B34BA9A3A}"/>
              </a:ext>
            </a:extLst>
          </p:cNvPr>
          <p:cNvSpPr txBox="1"/>
          <p:nvPr/>
        </p:nvSpPr>
        <p:spPr>
          <a:xfrm>
            <a:off x="6211417" y="7196953"/>
            <a:ext cx="4878734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긴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문장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(3~4줄)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으로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인한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오류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방지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핵심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위주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단문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작성</a:t>
            </a:r>
            <a:endParaRPr sz="2700" dirty="0"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78" name="Google Shape;171;p14">
            <a:extLst>
              <a:ext uri="{FF2B5EF4-FFF2-40B4-BE49-F238E27FC236}">
                <a16:creationId xmlns:a16="http://schemas.microsoft.com/office/drawing/2014/main" id="{5CBEE5EC-D618-4DA3-B27D-3DB78E1C4031}"/>
              </a:ext>
            </a:extLst>
          </p:cNvPr>
          <p:cNvSpPr txBox="1"/>
          <p:nvPr/>
        </p:nvSpPr>
        <p:spPr>
          <a:xfrm>
            <a:off x="11947399" y="7177085"/>
            <a:ext cx="5310255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인사담당자의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가독성을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극대화하는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직관적이고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명확한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메시지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전달</a:t>
            </a:r>
            <a:endParaRPr sz="2700" dirty="0"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79" name="Google Shape;172;p14">
            <a:extLst>
              <a:ext uri="{FF2B5EF4-FFF2-40B4-BE49-F238E27FC236}">
                <a16:creationId xmlns:a16="http://schemas.microsoft.com/office/drawing/2014/main" id="{69E0A6A8-9DA7-49FB-B711-6A00FF21E52E}"/>
              </a:ext>
            </a:extLst>
          </p:cNvPr>
          <p:cNvSpPr txBox="1"/>
          <p:nvPr/>
        </p:nvSpPr>
        <p:spPr>
          <a:xfrm>
            <a:off x="6159177" y="8639991"/>
            <a:ext cx="4904853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모호한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표현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지양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913" dirty="0" err="1">
                <a:solidFill>
                  <a:srgbClr val="334155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객관적</a:t>
            </a:r>
            <a:r>
              <a:rPr lang="en-US" sz="1913" dirty="0">
                <a:solidFill>
                  <a:srgbClr val="334155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수치</a:t>
            </a:r>
            <a:r>
              <a:rPr lang="en-US" sz="1913" dirty="0">
                <a:solidFill>
                  <a:srgbClr val="334155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(</a:t>
            </a:r>
            <a:r>
              <a:rPr lang="en-US" sz="1913" dirty="0" err="1">
                <a:solidFill>
                  <a:srgbClr val="334155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매출</a:t>
            </a:r>
            <a:r>
              <a:rPr lang="en-US" sz="1913" dirty="0">
                <a:solidFill>
                  <a:srgbClr val="334155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상승</a:t>
            </a:r>
            <a:r>
              <a:rPr lang="en-US" sz="1913" dirty="0">
                <a:solidFill>
                  <a:srgbClr val="334155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등)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기반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경험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신뢰성</a:t>
            </a:r>
            <a:r>
              <a:rPr lang="en-US" sz="1913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확보</a:t>
            </a:r>
            <a:endParaRPr sz="2700" dirty="0">
              <a:latin typeface="+mj-ea"/>
              <a:ea typeface="+mj-ea"/>
            </a:endParaRPr>
          </a:p>
        </p:txBody>
      </p:sp>
      <p:sp>
        <p:nvSpPr>
          <p:cNvPr id="80" name="Google Shape;173;p14">
            <a:extLst>
              <a:ext uri="{FF2B5EF4-FFF2-40B4-BE49-F238E27FC236}">
                <a16:creationId xmlns:a16="http://schemas.microsoft.com/office/drawing/2014/main" id="{6609E64B-5C95-49F8-B5CF-FE769BF0C9FF}"/>
              </a:ext>
            </a:extLst>
          </p:cNvPr>
          <p:cNvSpPr txBox="1"/>
          <p:nvPr/>
        </p:nvSpPr>
        <p:spPr>
          <a:xfrm>
            <a:off x="11973743" y="8620122"/>
            <a:ext cx="5338684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정량화된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성과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데이터를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통한</a:t>
            </a:r>
            <a:r>
              <a:rPr lang="en-US" sz="1913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설득력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있는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본인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강점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기여도</a:t>
            </a:r>
            <a:r>
              <a:rPr lang="en-US" sz="1913" b="1" dirty="0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highlight>
                  <a:srgbClr val="D2D8E5"/>
                </a:highlight>
                <a:latin typeface="+mj-ea"/>
                <a:ea typeface="+mj-ea"/>
                <a:cs typeface="Arial"/>
                <a:sym typeface="Arial"/>
              </a:rPr>
              <a:t>피력</a:t>
            </a:r>
            <a:endParaRPr sz="2700" dirty="0"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67FA4BB6-96D4-41B9-AA1D-C9B14EC20592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789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2">
            <a:extLst>
              <a:ext uri="{FF2B5EF4-FFF2-40B4-BE49-F238E27FC236}">
                <a16:creationId xmlns:a16="http://schemas.microsoft.com/office/drawing/2014/main" id="{526C07B6-50F4-4E8A-84E1-FF82662988D4}"/>
              </a:ext>
            </a:extLst>
          </p:cNvPr>
          <p:cNvSpPr txBox="1"/>
          <p:nvPr/>
        </p:nvSpPr>
        <p:spPr>
          <a:xfrm>
            <a:off x="1947192" y="1128735"/>
            <a:ext cx="148971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00" b="1" spc="-500" dirty="0">
                <a:solidFill>
                  <a:srgbClr val="505050"/>
                </a:solidFill>
                <a:latin typeface="Gmarket Sans Medium"/>
              </a:rPr>
              <a:t>학생 종합경력관리시스템을 활용한</a:t>
            </a:r>
            <a:endParaRPr lang="en-US" altLang="ko-KR" sz="5400" b="1" spc="-500" dirty="0">
              <a:solidFill>
                <a:srgbClr val="505050"/>
              </a:solidFill>
              <a:latin typeface="Gmarket Sans Medium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5400" b="1" spc="-500" dirty="0">
                <a:solidFill>
                  <a:srgbClr val="505050"/>
                </a:solidFill>
                <a:latin typeface="Gmarket Sans Medium"/>
              </a:rPr>
              <a:t>이력서</a:t>
            </a:r>
            <a:r>
              <a:rPr lang="en-US" altLang="ko-KR" sz="5400" b="1" spc="-500" dirty="0">
                <a:solidFill>
                  <a:srgbClr val="505050"/>
                </a:solidFill>
                <a:latin typeface="Gmarket Sans Medium"/>
              </a:rPr>
              <a:t>, </a:t>
            </a:r>
            <a:r>
              <a:rPr lang="ko-KR" altLang="en-US" sz="5400" b="1" spc="-500" dirty="0">
                <a:solidFill>
                  <a:srgbClr val="505050"/>
                </a:solidFill>
                <a:latin typeface="Gmarket Sans Medium"/>
              </a:rPr>
              <a:t>자기소개서 작성방법</a:t>
            </a:r>
            <a:endParaRPr lang="ko-KR" sz="54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9BE58D-5CFD-49F2-8BC3-D1C60BFB6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5516879"/>
            <a:ext cx="6989422" cy="3952404"/>
          </a:xfrm>
          <a:prstGeom prst="rect">
            <a:avLst/>
          </a:prstGeom>
        </p:spPr>
      </p:pic>
      <p:sp>
        <p:nvSpPr>
          <p:cNvPr id="27" name="Freeform 12">
            <a:extLst>
              <a:ext uri="{FF2B5EF4-FFF2-40B4-BE49-F238E27FC236}">
                <a16:creationId xmlns:a16="http://schemas.microsoft.com/office/drawing/2014/main" id="{C12028D4-C51F-4667-A3F5-A4516951313D}"/>
              </a:ext>
            </a:extLst>
          </p:cNvPr>
          <p:cNvSpPr/>
          <p:nvPr/>
        </p:nvSpPr>
        <p:spPr>
          <a:xfrm>
            <a:off x="14093967" y="2718579"/>
            <a:ext cx="3358912" cy="2051541"/>
          </a:xfrm>
          <a:custGeom>
            <a:avLst/>
            <a:gdLst/>
            <a:ahLst/>
            <a:cxnLst/>
            <a:rect l="l" t="t" r="r" b="b"/>
            <a:pathLst>
              <a:path w="3071992" h="2748036">
                <a:moveTo>
                  <a:pt x="0" y="0"/>
                </a:moveTo>
                <a:lnTo>
                  <a:pt x="3071992" y="0"/>
                </a:lnTo>
                <a:lnTo>
                  <a:pt x="3071992" y="2748037"/>
                </a:lnTo>
                <a:lnTo>
                  <a:pt x="0" y="2748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4C529B6C-0EA7-4C1B-92D9-FFE7956B8B60}"/>
              </a:ext>
            </a:extLst>
          </p:cNvPr>
          <p:cNvSpPr txBox="1"/>
          <p:nvPr/>
        </p:nvSpPr>
        <p:spPr>
          <a:xfrm>
            <a:off x="10771414" y="5062852"/>
            <a:ext cx="558871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★ </a:t>
            </a:r>
            <a:r>
              <a:rPr lang="ko-KR" altLang="en-US" b="1" i="0" u="none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대학일자리본부 </a:t>
            </a:r>
            <a:r>
              <a:rPr lang="en-US" altLang="ko-KR" b="1" i="0" u="none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AI</a:t>
            </a:r>
            <a:r>
              <a:rPr lang="ko-KR" altLang="en-US" b="1" i="0" u="none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자기소개서 시스템 활용</a:t>
            </a:r>
            <a:endParaRPr lang="ko-KR" sz="1600" b="1" i="0" u="none" strike="noStrike" spc="-10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4D1803-2046-4EE1-B26C-1A9E059CB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86" y="3126535"/>
            <a:ext cx="8396514" cy="6501503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29E9191-2A7B-4BD5-9531-33AD59D8452F}"/>
              </a:ext>
            </a:extLst>
          </p:cNvPr>
          <p:cNvCxnSpPr>
            <a:cxnSpLocks/>
          </p:cNvCxnSpPr>
          <p:nvPr/>
        </p:nvCxnSpPr>
        <p:spPr>
          <a:xfrm flipH="1" flipV="1">
            <a:off x="9977115" y="3744349"/>
            <a:ext cx="11459" cy="56451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2">
            <a:extLst>
              <a:ext uri="{FF2B5EF4-FFF2-40B4-BE49-F238E27FC236}">
                <a16:creationId xmlns:a16="http://schemas.microsoft.com/office/drawing/2014/main" id="{1F461DD8-A958-4628-9BD9-B0E162E7C6C1}"/>
              </a:ext>
            </a:extLst>
          </p:cNvPr>
          <p:cNvSpPr txBox="1"/>
          <p:nvPr/>
        </p:nvSpPr>
        <p:spPr>
          <a:xfrm>
            <a:off x="927100" y="2597155"/>
            <a:ext cx="558871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b="1" i="0" u="none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★ 학생 종합경력관리시스템 </a:t>
            </a:r>
            <a:r>
              <a:rPr lang="en-US" altLang="ko-KR" b="1" i="0" u="none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– </a:t>
            </a:r>
            <a:r>
              <a:rPr lang="ko-KR" altLang="en-US" b="1" i="0" u="none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마이페이지 </a:t>
            </a:r>
            <a:r>
              <a:rPr lang="en-US" altLang="ko-KR" b="1" i="0" u="none" strike="noStrike" spc="-100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- </a:t>
            </a:r>
            <a:r>
              <a:rPr lang="ko-KR" altLang="en-US" b="1" i="0" u="none" strike="noStrike" spc="-100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프토폴리오</a:t>
            </a:r>
            <a:endParaRPr lang="ko-KR" b="1" i="0" u="none" strike="noStrike" spc="-100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13" name="Picture 20">
            <a:extLst>
              <a:ext uri="{FF2B5EF4-FFF2-40B4-BE49-F238E27FC236}">
                <a16:creationId xmlns:a16="http://schemas.microsoft.com/office/drawing/2014/main" id="{E7985F25-1D07-48BA-81CC-DA34DE8D16C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4" name="TextBox 24">
            <a:extLst>
              <a:ext uri="{FF2B5EF4-FFF2-40B4-BE49-F238E27FC236}">
                <a16:creationId xmlns:a16="http://schemas.microsoft.com/office/drawing/2014/main" id="{685FFD3F-9DF1-471F-ACBE-29B804A87720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06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6FDB8DD-FE41-490B-8484-33AF8492BB21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52F90F-5735-4EA6-89C4-C6B394E34EC2}"/>
              </a:ext>
            </a:extLst>
          </p:cNvPr>
          <p:cNvSpPr/>
          <p:nvPr/>
        </p:nvSpPr>
        <p:spPr>
          <a:xfrm>
            <a:off x="15686026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p.66~67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C97688DF-252B-4839-B77E-3F2A52A82214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0952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2">
            <a:extLst>
              <a:ext uri="{FF2B5EF4-FFF2-40B4-BE49-F238E27FC236}">
                <a16:creationId xmlns:a16="http://schemas.microsoft.com/office/drawing/2014/main" id="{526C07B6-50F4-4E8A-84E1-FF82662988D4}"/>
              </a:ext>
            </a:extLst>
          </p:cNvPr>
          <p:cNvSpPr txBox="1"/>
          <p:nvPr/>
        </p:nvSpPr>
        <p:spPr>
          <a:xfrm>
            <a:off x="2463800" y="1174458"/>
            <a:ext cx="148971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400" b="1" spc="-500" dirty="0">
                <a:solidFill>
                  <a:srgbClr val="505050"/>
                </a:solidFill>
                <a:latin typeface="Gmarket Sans Medium"/>
              </a:rPr>
              <a:t>고용 </a:t>
            </a:r>
            <a:r>
              <a:rPr lang="en-US" altLang="ko-KR" sz="5400" b="1" spc="-500" dirty="0">
                <a:solidFill>
                  <a:srgbClr val="505050"/>
                </a:solidFill>
                <a:latin typeface="Gmarket Sans Medium"/>
              </a:rPr>
              <a:t>24</a:t>
            </a:r>
            <a:r>
              <a:rPr lang="ko-KR" altLang="en-US" sz="5400" b="1" spc="-500" dirty="0">
                <a:solidFill>
                  <a:srgbClr val="505050"/>
                </a:solidFill>
                <a:latin typeface="Gmarket Sans Medium"/>
              </a:rPr>
              <a:t>에서 </a:t>
            </a:r>
            <a:r>
              <a:rPr lang="ko-KR" altLang="en-US" sz="5400" b="1" spc="-500" dirty="0" err="1">
                <a:solidFill>
                  <a:srgbClr val="505050"/>
                </a:solidFill>
                <a:latin typeface="Gmarket Sans Medium"/>
              </a:rPr>
              <a:t>직무별</a:t>
            </a:r>
            <a:r>
              <a:rPr lang="ko-KR" altLang="en-US" sz="5400" b="1" spc="-500" dirty="0">
                <a:solidFill>
                  <a:srgbClr val="505050"/>
                </a:solidFill>
                <a:latin typeface="Gmarket Sans Medium"/>
              </a:rPr>
              <a:t> 자기소개서 가이드 참고</a:t>
            </a:r>
            <a:endParaRPr lang="ko-KR" sz="54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29E9191-2A7B-4BD5-9531-33AD59D8452F}"/>
              </a:ext>
            </a:extLst>
          </p:cNvPr>
          <p:cNvCxnSpPr>
            <a:cxnSpLocks/>
          </p:cNvCxnSpPr>
          <p:nvPr/>
        </p:nvCxnSpPr>
        <p:spPr>
          <a:xfrm flipH="1" flipV="1">
            <a:off x="9977115" y="3744349"/>
            <a:ext cx="11459" cy="56451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2">
            <a:extLst>
              <a:ext uri="{FF2B5EF4-FFF2-40B4-BE49-F238E27FC236}">
                <a16:creationId xmlns:a16="http://schemas.microsoft.com/office/drawing/2014/main" id="{1F461DD8-A958-4628-9BD9-B0E162E7C6C1}"/>
              </a:ext>
            </a:extLst>
          </p:cNvPr>
          <p:cNvSpPr txBox="1"/>
          <p:nvPr/>
        </p:nvSpPr>
        <p:spPr>
          <a:xfrm>
            <a:off x="927099" y="3166791"/>
            <a:ext cx="8750301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lvl="0" indent="-285750">
              <a:lnSpc>
                <a:spcPct val="99600"/>
              </a:lnSpc>
              <a:buFont typeface="Wingdings" panose="05000000000000000000" pitchFamily="2" charset="2"/>
              <a:buChar char="§"/>
            </a:pPr>
            <a:r>
              <a:rPr lang="ko-KR" altLang="en-US" sz="2200" b="1" spc="-100" dirty="0">
                <a:solidFill>
                  <a:srgbClr val="505050"/>
                </a:solidFill>
                <a:latin typeface="+mn-ea"/>
              </a:rPr>
              <a:t>고용 </a:t>
            </a:r>
            <a:r>
              <a:rPr lang="en-US" altLang="ko-KR" sz="2200" b="1" spc="-100" dirty="0">
                <a:solidFill>
                  <a:srgbClr val="505050"/>
                </a:solidFill>
                <a:latin typeface="+mn-ea"/>
              </a:rPr>
              <a:t>24 →</a:t>
            </a:r>
            <a:r>
              <a:rPr lang="ko-KR" altLang="en-US" sz="2200" b="1" spc="-100" dirty="0">
                <a:solidFill>
                  <a:srgbClr val="505050"/>
                </a:solidFill>
                <a:latin typeface="+mn-ea"/>
              </a:rPr>
              <a:t>취업지원</a:t>
            </a:r>
            <a:r>
              <a:rPr lang="en-US" altLang="ko-KR" sz="2200" b="1" spc="-100" dirty="0">
                <a:solidFill>
                  <a:srgbClr val="505050"/>
                </a:solidFill>
                <a:latin typeface="+mn-ea"/>
              </a:rPr>
              <a:t> → </a:t>
            </a:r>
            <a:r>
              <a:rPr lang="ko-KR" altLang="en-US" sz="2200" b="1" spc="-100" dirty="0">
                <a:solidFill>
                  <a:srgbClr val="505050"/>
                </a:solidFill>
                <a:latin typeface="+mn-ea"/>
              </a:rPr>
              <a:t>취업가이드</a:t>
            </a:r>
            <a:r>
              <a:rPr lang="en-US" altLang="ko-KR" sz="2200" b="1" spc="-100" dirty="0">
                <a:solidFill>
                  <a:srgbClr val="505050"/>
                </a:solidFill>
                <a:latin typeface="+mn-ea"/>
              </a:rPr>
              <a:t> → </a:t>
            </a:r>
            <a:r>
              <a:rPr lang="ko-KR" altLang="en-US" sz="2200" b="1" spc="-100" dirty="0" err="1">
                <a:solidFill>
                  <a:srgbClr val="505050"/>
                </a:solidFill>
                <a:latin typeface="+mn-ea"/>
              </a:rPr>
              <a:t>직무별자소서</a:t>
            </a:r>
            <a:r>
              <a:rPr lang="ko-KR" altLang="en-US" sz="2200" b="1" spc="-100" dirty="0">
                <a:solidFill>
                  <a:srgbClr val="505050"/>
                </a:solidFill>
                <a:latin typeface="+mn-ea"/>
              </a:rPr>
              <a:t> 작성 가이드</a:t>
            </a:r>
            <a:endParaRPr lang="ko-KR" sz="2200" b="1" i="0" u="none" strike="noStrike" spc="-100" dirty="0">
              <a:solidFill>
                <a:srgbClr val="505050"/>
              </a:solidFill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60FF074-1B31-4BBC-801A-063D43B5D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39" y="4162553"/>
            <a:ext cx="8303035" cy="3987794"/>
          </a:xfrm>
          <a:prstGeom prst="rect">
            <a:avLst/>
          </a:prstGeom>
        </p:spPr>
      </p:pic>
      <p:sp>
        <p:nvSpPr>
          <p:cNvPr id="27" name="Freeform 12">
            <a:extLst>
              <a:ext uri="{FF2B5EF4-FFF2-40B4-BE49-F238E27FC236}">
                <a16:creationId xmlns:a16="http://schemas.microsoft.com/office/drawing/2014/main" id="{C12028D4-C51F-4667-A3F5-A4516951313D}"/>
              </a:ext>
            </a:extLst>
          </p:cNvPr>
          <p:cNvSpPr/>
          <p:nvPr/>
        </p:nvSpPr>
        <p:spPr>
          <a:xfrm>
            <a:off x="6291594" y="7576497"/>
            <a:ext cx="3358912" cy="2051541"/>
          </a:xfrm>
          <a:custGeom>
            <a:avLst/>
            <a:gdLst/>
            <a:ahLst/>
            <a:cxnLst/>
            <a:rect l="l" t="t" r="r" b="b"/>
            <a:pathLst>
              <a:path w="3071992" h="2748036">
                <a:moveTo>
                  <a:pt x="0" y="0"/>
                </a:moveTo>
                <a:lnTo>
                  <a:pt x="3071992" y="0"/>
                </a:lnTo>
                <a:lnTo>
                  <a:pt x="3071992" y="2748037"/>
                </a:lnTo>
                <a:lnTo>
                  <a:pt x="0" y="2748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B3C376-E156-4065-A5E6-505991047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7976" y="2943224"/>
            <a:ext cx="6688785" cy="6446267"/>
          </a:xfrm>
          <a:prstGeom prst="rect">
            <a:avLst/>
          </a:prstGeom>
        </p:spPr>
      </p:pic>
      <p:pic>
        <p:nvPicPr>
          <p:cNvPr id="15" name="Picture 20">
            <a:extLst>
              <a:ext uri="{FF2B5EF4-FFF2-40B4-BE49-F238E27FC236}">
                <a16:creationId xmlns:a16="http://schemas.microsoft.com/office/drawing/2014/main" id="{FC007D7F-DEC2-4928-8F6F-4C96F03BE9E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6" name="TextBox 24">
            <a:extLst>
              <a:ext uri="{FF2B5EF4-FFF2-40B4-BE49-F238E27FC236}">
                <a16:creationId xmlns:a16="http://schemas.microsoft.com/office/drawing/2014/main" id="{BFCDDC83-EA48-455A-9767-D65041F3AFE1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07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100E62C-890F-48CE-95E3-5CE42EF7F85F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1E08A84-F061-48DA-825F-2E0790B28C04}"/>
              </a:ext>
            </a:extLst>
          </p:cNvPr>
          <p:cNvSpPr/>
          <p:nvPr/>
        </p:nvSpPr>
        <p:spPr>
          <a:xfrm>
            <a:off x="15849900" y="9632434"/>
            <a:ext cx="1883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p.68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B2E8F703-20C1-47B0-8AA0-F118315BDA84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6731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503749" y="838486"/>
            <a:ext cx="15280501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목표기업 및 직무기반 자기소개서 작성하기</a:t>
            </a:r>
            <a:r>
              <a:rPr lang="en-US" altLang="ko-KR" sz="4000" b="1" spc="-100" dirty="0">
                <a:solidFill>
                  <a:srgbClr val="C00000"/>
                </a:solidFill>
                <a:highlight>
                  <a:srgbClr val="D2D8E5"/>
                </a:highlight>
                <a:latin typeface="+mj-ea"/>
                <a:ea typeface="+mj-ea"/>
              </a:rPr>
              <a:t>(</a:t>
            </a:r>
            <a:r>
              <a:rPr lang="ko-KR" altLang="en-US" sz="4000" b="1" spc="-100" dirty="0">
                <a:solidFill>
                  <a:srgbClr val="C00000"/>
                </a:solidFill>
                <a:highlight>
                  <a:srgbClr val="D2D8E5"/>
                </a:highlight>
                <a:latin typeface="+mj-ea"/>
                <a:ea typeface="+mj-ea"/>
              </a:rPr>
              <a:t>필수 과제</a:t>
            </a:r>
            <a:r>
              <a:rPr lang="en-US" altLang="ko-KR" sz="4000" b="1" spc="-100" dirty="0">
                <a:solidFill>
                  <a:srgbClr val="C00000"/>
                </a:solidFill>
                <a:highlight>
                  <a:srgbClr val="D2D8E5"/>
                </a:highlight>
                <a:latin typeface="+mj-ea"/>
                <a:ea typeface="+mj-ea"/>
              </a:rPr>
              <a:t>)</a:t>
            </a:r>
            <a:endParaRPr lang="en-US" sz="4800" b="1" i="0" u="none" strike="noStrike" spc="-100" dirty="0">
              <a:solidFill>
                <a:srgbClr val="C00000"/>
              </a:solidFill>
              <a:highlight>
                <a:srgbClr val="D2D8E5"/>
              </a:highlight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914401" y="2203977"/>
            <a:ext cx="14739290" cy="7485706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070629" y="5676900"/>
            <a:ext cx="2991383" cy="3550807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739813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p.69~71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3D5C194-E335-4CFC-937B-2B30A49DA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458017"/>
            <a:ext cx="6086475" cy="71042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E205186-7234-4C28-892B-8E81FB295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016" y="2445317"/>
            <a:ext cx="6239783" cy="7104264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2B87B3A6-93C3-4CCF-A51C-C5A0B282CFE9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312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0756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입사지원서 작성하기</a:t>
            </a:r>
            <a:endParaRPr lang="en-US" sz="4800" b="1" i="0" u="none" strike="noStrike" spc="-1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17551" y="2664859"/>
            <a:ext cx="14636139" cy="7024824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070629" y="5676900"/>
            <a:ext cx="2991383" cy="3550807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739813" y="9632434"/>
            <a:ext cx="23165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p.72~77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BAF488-EB5D-459A-B87A-6E8FC3CAE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009900"/>
            <a:ext cx="13775229" cy="6552381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386273C8-4D32-4C1B-A0DC-17F8F2E40756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9009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709</Words>
  <Application>Microsoft Office PowerPoint</Application>
  <PresentationFormat>사용자 지정</PresentationFormat>
  <Paragraphs>135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굴림</vt:lpstr>
      <vt:lpstr>Arial</vt:lpstr>
      <vt:lpstr>Calibri</vt:lpstr>
      <vt:lpstr>Wingdings</vt:lpstr>
      <vt:lpstr>맑은 고딕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2026-03-03T07:05:58Z</dcterms:modified>
</cp:coreProperties>
</file>