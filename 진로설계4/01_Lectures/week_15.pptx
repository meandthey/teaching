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508" r:id="rId2"/>
    <p:sldId id="509" r:id="rId3"/>
    <p:sldId id="510" r:id="rId4"/>
    <p:sldId id="511" r:id="rId5"/>
    <p:sldId id="512" r:id="rId6"/>
  </p:sldIdLst>
  <p:sldSz cx="18288000" cy="10287000"/>
  <p:notesSz cx="6858000" cy="9144000"/>
  <p:embeddedFontLst>
    <p:embeddedFont>
      <p:font typeface="Gmarket Sans Medium" panose="020B0600000101010101" charset="-127"/>
      <p:regular r:id="rId8"/>
    </p:embeddedFont>
    <p:embeddedFont>
      <p:font typeface="나눔고딕" pitchFamily="2" charset="-127"/>
      <p:regular r:id="rId9"/>
      <p:bold r:id="rId10"/>
    </p:embeddedFont>
    <p:embeddedFont>
      <p:font typeface="맑은 고딕" panose="020B0503020000020004" pitchFamily="50" charset="-127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8E5"/>
    <a:srgbClr val="FFF7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83" autoAdjust="0"/>
    <p:restoredTop sz="94622" autoAdjust="0"/>
  </p:normalViewPr>
  <p:slideViewPr>
    <p:cSldViewPr>
      <p:cViewPr varScale="1">
        <p:scale>
          <a:sx n="99" d="100"/>
          <a:sy n="99" d="100"/>
        </p:scale>
        <p:origin x="780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31B1C3-5D0E-4806-BAAA-95815FF0384A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8C21A-DA85-4505-A54C-645BC087E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659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7621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509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42900" y="1663700"/>
            <a:ext cx="622300" cy="2108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14070" y="5629275"/>
            <a:ext cx="889000" cy="889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58570" y="1346200"/>
            <a:ext cx="9715500" cy="2641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진로설계 </a:t>
            </a:r>
            <a:r>
              <a:rPr lang="en-US" altLang="ko-KR" sz="6600" b="1" dirty="0">
                <a:solidFill>
                  <a:srgbClr val="505050"/>
                </a:solidFill>
                <a:latin typeface="+mj-ea"/>
                <a:ea typeface="+mj-ea"/>
              </a:rPr>
              <a:t>4.</a:t>
            </a:r>
          </a:p>
          <a:p>
            <a:pPr lvl="0" algn="l">
              <a:lnSpc>
                <a:spcPct val="99600"/>
              </a:lnSpc>
            </a:pP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취업전략과</a:t>
            </a: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 </a:t>
            </a: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실전취업</a:t>
            </a:r>
            <a:endParaRPr lang="en-US" sz="6600" b="1" i="0" u="none" strike="noStrike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6C7F429-F160-47A6-8A64-C27B90CB15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3800" y="442126"/>
            <a:ext cx="2798834" cy="600243"/>
          </a:xfrm>
          <a:prstGeom prst="rect">
            <a:avLst/>
          </a:prstGeom>
        </p:spPr>
      </p:pic>
      <p:sp>
        <p:nvSpPr>
          <p:cNvPr id="36" name="Freeform 11">
            <a:extLst>
              <a:ext uri="{FF2B5EF4-FFF2-40B4-BE49-F238E27FC236}">
                <a16:creationId xmlns:a16="http://schemas.microsoft.com/office/drawing/2014/main" id="{17094926-8E90-413A-924D-78830B690DF0}"/>
              </a:ext>
            </a:extLst>
          </p:cNvPr>
          <p:cNvSpPr/>
          <p:nvPr/>
        </p:nvSpPr>
        <p:spPr>
          <a:xfrm>
            <a:off x="10286999" y="2867024"/>
            <a:ext cx="7994073" cy="7302501"/>
          </a:xfrm>
          <a:custGeom>
            <a:avLst/>
            <a:gdLst/>
            <a:ahLst/>
            <a:cxnLst/>
            <a:rect l="l" t="t" r="r" b="b"/>
            <a:pathLst>
              <a:path w="9256196" h="8229600">
                <a:moveTo>
                  <a:pt x="0" y="0"/>
                </a:moveTo>
                <a:lnTo>
                  <a:pt x="9256196" y="0"/>
                </a:lnTo>
                <a:lnTo>
                  <a:pt x="925619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00AAB2-2151-4F0E-BECD-2254447C2225}"/>
              </a:ext>
            </a:extLst>
          </p:cNvPr>
          <p:cNvSpPr txBox="1"/>
          <p:nvPr/>
        </p:nvSpPr>
        <p:spPr>
          <a:xfrm>
            <a:off x="834852" y="7048500"/>
            <a:ext cx="1046353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15</a:t>
            </a:r>
            <a:r>
              <a:rPr lang="ko-KR" altLang="en-US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주차</a:t>
            </a:r>
            <a:endParaRPr lang="en-US" altLang="ko-KR" sz="5400" b="1" spc="-200" dirty="0">
              <a:solidFill>
                <a:srgbClr val="505050"/>
              </a:solidFill>
              <a:latin typeface="+mj-ea"/>
              <a:ea typeface="+mj-ea"/>
            </a:endParaRPr>
          </a:p>
          <a:p>
            <a:pPr lvl="0" algn="l">
              <a:lnSpc>
                <a:spcPct val="99600"/>
              </a:lnSpc>
            </a:pPr>
            <a:r>
              <a:rPr lang="ko-KR" altLang="en-US" sz="5400" b="1" spc="-200" dirty="0">
                <a:solidFill>
                  <a:srgbClr val="505050"/>
                </a:solidFill>
                <a:latin typeface="+mj-ea"/>
                <a:ea typeface="+mj-ea"/>
              </a:rPr>
              <a:t>입사지원서 제출 및 상담 </a:t>
            </a:r>
            <a:r>
              <a:rPr lang="en-US" altLang="ko-KR" sz="5400" b="1" spc="-200" dirty="0">
                <a:solidFill>
                  <a:srgbClr val="505050"/>
                </a:solidFill>
                <a:latin typeface="+mj-ea"/>
                <a:ea typeface="+mj-ea"/>
              </a:rPr>
              <a:t>2</a:t>
            </a:r>
            <a:endParaRPr lang="ko-KR" sz="5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96649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C331ADB4-7088-4FC4-8485-F6FACADEFEA6}"/>
              </a:ext>
            </a:extLst>
          </p:cNvPr>
          <p:cNvSpPr/>
          <p:nvPr/>
        </p:nvSpPr>
        <p:spPr>
          <a:xfrm>
            <a:off x="7696200" y="-266700"/>
            <a:ext cx="10591800" cy="10896595"/>
          </a:xfrm>
          <a:prstGeom prst="rect">
            <a:avLst/>
          </a:prstGeom>
          <a:solidFill>
            <a:schemeClr val="accent6">
              <a:lumMod val="20000"/>
              <a:lumOff val="8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7" name="TextBox 7"/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26699729-652E-4AF5-BBEC-235E549CDDA1}"/>
              </a:ext>
            </a:extLst>
          </p:cNvPr>
          <p:cNvSpPr/>
          <p:nvPr/>
        </p:nvSpPr>
        <p:spPr>
          <a:xfrm>
            <a:off x="707715" y="2357437"/>
            <a:ext cx="6239185" cy="6937375"/>
          </a:xfrm>
          <a:custGeom>
            <a:avLst/>
            <a:gdLst/>
            <a:ahLst/>
            <a:cxnLst/>
            <a:rect l="l" t="t" r="r" b="b"/>
            <a:pathLst>
              <a:path w="5550107" h="4763001">
                <a:moveTo>
                  <a:pt x="0" y="0"/>
                </a:moveTo>
                <a:lnTo>
                  <a:pt x="5550106" y="0"/>
                </a:lnTo>
                <a:lnTo>
                  <a:pt x="5550106" y="4763001"/>
                </a:lnTo>
                <a:lnTo>
                  <a:pt x="0" y="47630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A16FAA1-C23E-4D18-9DCD-E7CB520FE825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716851" y="9632434"/>
            <a:ext cx="201677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p.173</a:t>
            </a:r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539D38E0-E062-49F7-B798-C625C248E44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3000"/>
          </a:blip>
          <a:stretch>
            <a:fillRect/>
          </a:stretch>
        </p:blipFill>
        <p:spPr>
          <a:xfrm>
            <a:off x="8808027" y="6203513"/>
            <a:ext cx="6997700" cy="12700"/>
          </a:xfrm>
          <a:prstGeom prst="rect">
            <a:avLst/>
          </a:prstGeom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FC0C8D4C-B301-4D2C-AB4B-0C8CE92BA0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8027" y="5552181"/>
            <a:ext cx="1371600" cy="419100"/>
          </a:xfrm>
          <a:prstGeom prst="rect">
            <a:avLst/>
          </a:prstGeom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80DDE51F-2E7D-4CBD-B760-E64AF0ED92D3}"/>
              </a:ext>
            </a:extLst>
          </p:cNvPr>
          <p:cNvSpPr txBox="1"/>
          <p:nvPr/>
        </p:nvSpPr>
        <p:spPr>
          <a:xfrm>
            <a:off x="10433627" y="5463281"/>
            <a:ext cx="7332322" cy="68039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spc="-100" dirty="0" err="1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현직자</a:t>
            </a:r>
            <a:r>
              <a:rPr lang="ko-KR" altLang="en-US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 멘토링 가능 사이트 알아보기</a:t>
            </a:r>
            <a:endParaRPr lang="ko-KR" sz="2800" b="1" i="0" u="none" strike="noStrike" spc="-100" dirty="0">
              <a:solidFill>
                <a:schemeClr val="tx1">
                  <a:lumMod val="85000"/>
                  <a:lumOff val="1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180F0904-9259-4845-A85C-F140E6F3B5C1}"/>
              </a:ext>
            </a:extLst>
          </p:cNvPr>
          <p:cNvSpPr txBox="1"/>
          <p:nvPr/>
        </p:nvSpPr>
        <p:spPr>
          <a:xfrm>
            <a:off x="8947727" y="5615681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 dirty="0">
                <a:solidFill>
                  <a:srgbClr val="F8F8F8"/>
                </a:solidFill>
                <a:latin typeface="+mn-ea"/>
              </a:rPr>
              <a:t>POINT.01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DE1E7C5E-7B59-476A-85CA-43A381863587}"/>
              </a:ext>
            </a:extLst>
          </p:cNvPr>
          <p:cNvSpPr txBox="1"/>
          <p:nvPr/>
        </p:nvSpPr>
        <p:spPr>
          <a:xfrm>
            <a:off x="8380649" y="4165624"/>
            <a:ext cx="93853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742950" lvl="0" indent="-742950">
              <a:lnSpc>
                <a:spcPct val="99600"/>
              </a:lnSpc>
              <a:buAutoNum type="arabicPeriod"/>
            </a:pP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목표기업 및 직무 기반 입사지원서 완성 및 제출</a:t>
            </a:r>
            <a:endParaRPr lang="ko-KR" sz="4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sp>
        <p:nvSpPr>
          <p:cNvPr id="30" name="TextBox 9">
            <a:extLst>
              <a:ext uri="{FF2B5EF4-FFF2-40B4-BE49-F238E27FC236}">
                <a16:creationId xmlns:a16="http://schemas.microsoft.com/office/drawing/2014/main" id="{F33B388A-940B-4726-BBD8-20891715C79F}"/>
              </a:ext>
            </a:extLst>
          </p:cNvPr>
          <p:cNvSpPr txBox="1"/>
          <p:nvPr/>
        </p:nvSpPr>
        <p:spPr>
          <a:xfrm>
            <a:off x="8380649" y="2654597"/>
            <a:ext cx="6591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i="0" u="none" strike="noStrike" spc="-400" dirty="0">
                <a:solidFill>
                  <a:srgbClr val="505050"/>
                </a:solidFill>
                <a:latin typeface="+mj-ea"/>
                <a:ea typeface="+mj-ea"/>
              </a:rPr>
              <a:t>학습목표</a:t>
            </a:r>
            <a:endParaRPr lang="ko-KR" sz="4800" b="1" i="0" u="none" strike="noStrike" spc="-4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sp>
        <p:nvSpPr>
          <p:cNvPr id="35" name="TextBox 10">
            <a:extLst>
              <a:ext uri="{FF2B5EF4-FFF2-40B4-BE49-F238E27FC236}">
                <a16:creationId xmlns:a16="http://schemas.microsoft.com/office/drawing/2014/main" id="{F59BF972-C179-445C-861C-940E860AD012}"/>
              </a:ext>
            </a:extLst>
          </p:cNvPr>
          <p:cNvSpPr txBox="1"/>
          <p:nvPr/>
        </p:nvSpPr>
        <p:spPr>
          <a:xfrm>
            <a:off x="8380649" y="6575587"/>
            <a:ext cx="93853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en-US" altLang="ko-KR" sz="4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2.  </a:t>
            </a: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지도 </a:t>
            </a:r>
            <a:r>
              <a:rPr lang="ko-KR" altLang="en-US" sz="4400" b="1" spc="-200" dirty="0" err="1">
                <a:solidFill>
                  <a:srgbClr val="505050"/>
                </a:solidFill>
                <a:latin typeface="+mj-ea"/>
                <a:ea typeface="+mj-ea"/>
              </a:rPr>
              <a:t>교수님과의</a:t>
            </a: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 상담</a:t>
            </a:r>
            <a:endParaRPr lang="ko-KR" sz="4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48725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">
            <a:extLst>
              <a:ext uri="{FF2B5EF4-FFF2-40B4-BE49-F238E27FC236}">
                <a16:creationId xmlns:a16="http://schemas.microsoft.com/office/drawing/2014/main" id="{14EE5E97-CBF9-4134-98B9-438FAF6C65F2}"/>
              </a:ext>
            </a:extLst>
          </p:cNvPr>
          <p:cNvSpPr txBox="1"/>
          <p:nvPr/>
        </p:nvSpPr>
        <p:spPr>
          <a:xfrm>
            <a:off x="3173226" y="1054084"/>
            <a:ext cx="12420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 err="1">
                <a:solidFill>
                  <a:srgbClr val="505050"/>
                </a:solidFill>
                <a:latin typeface="Gmarket Sans Medium"/>
              </a:rPr>
              <a:t>현직자</a:t>
            </a: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 멘토링 가능 사이트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16" name="Picture 20">
            <a:extLst>
              <a:ext uri="{FF2B5EF4-FFF2-40B4-BE49-F238E27FC236}">
                <a16:creationId xmlns:a16="http://schemas.microsoft.com/office/drawing/2014/main" id="{88831BD4-F370-4E72-8785-403BD4CFE83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17" name="TextBox 24">
            <a:extLst>
              <a:ext uri="{FF2B5EF4-FFF2-40B4-BE49-F238E27FC236}">
                <a16:creationId xmlns:a16="http://schemas.microsoft.com/office/drawing/2014/main" id="{02E92946-AC4A-4452-9BC1-D46C212EE812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01</a:t>
            </a:r>
          </a:p>
        </p:txBody>
      </p:sp>
      <p:sp>
        <p:nvSpPr>
          <p:cNvPr id="37" name="TextBox 20">
            <a:extLst>
              <a:ext uri="{FF2B5EF4-FFF2-40B4-BE49-F238E27FC236}">
                <a16:creationId xmlns:a16="http://schemas.microsoft.com/office/drawing/2014/main" id="{CE66878F-4164-49BF-B585-3B5D104139D9}"/>
              </a:ext>
            </a:extLst>
          </p:cNvPr>
          <p:cNvSpPr txBox="1"/>
          <p:nvPr/>
        </p:nvSpPr>
        <p:spPr>
          <a:xfrm>
            <a:off x="727215" y="3539072"/>
            <a:ext cx="9753599" cy="131388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457200" lvl="0" indent="-457200">
              <a:lnSpc>
                <a:spcPct val="99600"/>
              </a:lnSpc>
              <a:buFont typeface="Wingdings" panose="05000000000000000000" pitchFamily="2" charset="2"/>
              <a:buChar char="ü"/>
            </a:pPr>
            <a:r>
              <a:rPr lang="ko-KR" altLang="en-US" sz="3000" b="1" spc="-100" dirty="0" err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+mn-ea"/>
              </a:rPr>
              <a:t>코멘토</a:t>
            </a:r>
            <a:r>
              <a:rPr lang="ko-KR" altLang="en-US" sz="30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+mn-ea"/>
              </a:rPr>
              <a:t> </a:t>
            </a:r>
            <a:endParaRPr lang="en-US" altLang="ko-KR" sz="3000" b="1" i="0" strike="noStrike" spc="-100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00"/>
              </a:highlight>
              <a:latin typeface="+mn-ea"/>
            </a:endParaRPr>
          </a:p>
          <a:p>
            <a:pPr lvl="0">
              <a:lnSpc>
                <a:spcPct val="99600"/>
              </a:lnSpc>
            </a:pPr>
            <a:r>
              <a:rPr lang="ko-KR" altLang="en-US" sz="30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ko-KR" altLang="en-US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→ 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실제 직무에 궁금한 점을 현직자에게 물어볼 수 있음</a:t>
            </a:r>
            <a:endParaRPr lang="en-US" altLang="ko-KR" sz="2400" b="1" spc="-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lvl="0">
              <a:lnSpc>
                <a:spcPct val="99600"/>
              </a:lnSpc>
            </a:pP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→ </a:t>
            </a:r>
            <a:r>
              <a:rPr lang="ko-KR" altLang="en-US" sz="2400" b="1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직무부트캠프는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ko-KR" altLang="en-US" sz="2400" b="1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현직자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멘토가 주는 실무 과제를 수행</a:t>
            </a:r>
            <a:endParaRPr lang="en-US" altLang="ko-KR" sz="2400" b="1" spc="-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5" name="TextBox 20">
            <a:extLst>
              <a:ext uri="{FF2B5EF4-FFF2-40B4-BE49-F238E27FC236}">
                <a16:creationId xmlns:a16="http://schemas.microsoft.com/office/drawing/2014/main" id="{2C42BDD1-CBBA-4000-B75A-8C97B1EBB49D}"/>
              </a:ext>
            </a:extLst>
          </p:cNvPr>
          <p:cNvSpPr txBox="1"/>
          <p:nvPr/>
        </p:nvSpPr>
        <p:spPr>
          <a:xfrm>
            <a:off x="9982200" y="3445936"/>
            <a:ext cx="9753599" cy="131388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457200" lvl="0" indent="-457200">
              <a:lnSpc>
                <a:spcPct val="99600"/>
              </a:lnSpc>
              <a:buFont typeface="Wingdings" panose="05000000000000000000" pitchFamily="2" charset="2"/>
              <a:buChar char="ü"/>
            </a:pPr>
            <a:r>
              <a:rPr lang="ko-KR" altLang="en-US" sz="3000" b="1" spc="-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+mn-ea"/>
              </a:rPr>
              <a:t>잇다</a:t>
            </a:r>
            <a:endParaRPr lang="en-US" altLang="ko-KR" sz="3000" b="1" i="0" strike="noStrike" spc="-100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00"/>
              </a:highlight>
              <a:latin typeface="+mn-ea"/>
            </a:endParaRPr>
          </a:p>
          <a:p>
            <a:pPr lvl="0">
              <a:lnSpc>
                <a:spcPct val="99600"/>
              </a:lnSpc>
            </a:pPr>
            <a:r>
              <a:rPr lang="ko-KR" altLang="en-US" sz="30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</a:t>
            </a:r>
            <a:r>
              <a:rPr lang="ko-KR" altLang="en-US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→ 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멘토에서 </a:t>
            </a:r>
            <a:r>
              <a:rPr lang="en-US" altLang="ko-KR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1:1 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멘토링 요청하여 질문하기</a:t>
            </a:r>
            <a:endParaRPr lang="en-US" altLang="ko-KR" sz="2400" b="1" spc="-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lvl="0">
              <a:lnSpc>
                <a:spcPct val="99600"/>
              </a:lnSpc>
            </a:pPr>
            <a:r>
              <a:rPr lang="en-US" altLang="ko-KR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 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→ 현직자들이 강의하는 클래스 수강</a:t>
            </a:r>
            <a:endParaRPr lang="en-US" altLang="ko-KR" sz="2400" b="1" spc="-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711AC51-45EA-442C-8E96-F38910EB7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0068" y="3756216"/>
            <a:ext cx="1077139" cy="118485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CDBB3BB-16D6-4F02-B5B7-F7F063B383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0814" y="5159409"/>
            <a:ext cx="7252808" cy="407349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BD204EA-04F1-4178-87EF-FE9A1F87F2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100" y="5159406"/>
            <a:ext cx="7759700" cy="407349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BE7E4CB-AEBB-4447-9FBD-189E8EC695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1660" y="3998259"/>
            <a:ext cx="1219200" cy="1007923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D650196-5BC7-42AE-A178-D88E4D57CA8A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304800" y="9817100"/>
            <a:ext cx="14846191" cy="52238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73F11BF-1E90-48C8-81D5-DC50A1C126F9}"/>
              </a:ext>
            </a:extLst>
          </p:cNvPr>
          <p:cNvSpPr/>
          <p:nvPr/>
        </p:nvSpPr>
        <p:spPr>
          <a:xfrm>
            <a:off x="15150991" y="9632434"/>
            <a:ext cx="25826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p.174~176</a:t>
            </a: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DAE0449D-9382-4FDB-BB57-865114C3DB2F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8111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6" name="TextBox 3">
            <a:extLst>
              <a:ext uri="{FF2B5EF4-FFF2-40B4-BE49-F238E27FC236}">
                <a16:creationId xmlns:a16="http://schemas.microsoft.com/office/drawing/2014/main" id="{408C96A8-D486-4AA9-9D08-6784CFCE6F53}"/>
              </a:ext>
            </a:extLst>
          </p:cNvPr>
          <p:cNvSpPr txBox="1"/>
          <p:nvPr/>
        </p:nvSpPr>
        <p:spPr>
          <a:xfrm>
            <a:off x="1483499" y="724719"/>
            <a:ext cx="11954472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spc="-100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상담일지</a:t>
            </a:r>
            <a:endParaRPr lang="en-US" sz="4800" b="1" i="0" u="none" strike="noStrike" spc="-100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B993FFB-FE35-4B1A-9121-0FE40A8425F4}"/>
              </a:ext>
            </a:extLst>
          </p:cNvPr>
          <p:cNvSpPr/>
          <p:nvPr/>
        </p:nvSpPr>
        <p:spPr bwMode="auto">
          <a:xfrm>
            <a:off x="1028219" y="2625385"/>
            <a:ext cx="12843057" cy="6650643"/>
          </a:xfrm>
          <a:prstGeom prst="rect">
            <a:avLst/>
          </a:prstGeom>
          <a:noFill/>
          <a:ln w="9525" cap="flat" cmpd="sng" algn="ctr">
            <a:solidFill>
              <a:srgbClr val="CECEC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2592" eaLnBrk="1" latinLnBrk="1" hangingPunct="1"/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6" name="Freeform 16">
            <a:extLst>
              <a:ext uri="{FF2B5EF4-FFF2-40B4-BE49-F238E27FC236}">
                <a16:creationId xmlns:a16="http://schemas.microsoft.com/office/drawing/2014/main" id="{9C95DD68-3380-4A06-9962-A1E310A7EB8A}"/>
              </a:ext>
            </a:extLst>
          </p:cNvPr>
          <p:cNvSpPr/>
          <p:nvPr/>
        </p:nvSpPr>
        <p:spPr>
          <a:xfrm>
            <a:off x="14529335" y="5753100"/>
            <a:ext cx="3532677" cy="3474608"/>
          </a:xfrm>
          <a:custGeom>
            <a:avLst/>
            <a:gdLst/>
            <a:ahLst/>
            <a:cxnLst/>
            <a:rect l="l" t="t" r="r" b="b"/>
            <a:pathLst>
              <a:path w="4794124" h="5504735">
                <a:moveTo>
                  <a:pt x="0" y="0"/>
                </a:moveTo>
                <a:lnTo>
                  <a:pt x="4794124" y="0"/>
                </a:lnTo>
                <a:lnTo>
                  <a:pt x="4794124" y="5504735"/>
                </a:lnTo>
                <a:lnTo>
                  <a:pt x="0" y="5504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6" name="Group 7">
            <a:extLst>
              <a:ext uri="{FF2B5EF4-FFF2-40B4-BE49-F238E27FC236}">
                <a16:creationId xmlns:a16="http://schemas.microsoft.com/office/drawing/2014/main" id="{E066A7C6-AD9D-488D-A7FD-22723BB5F7C3}"/>
              </a:ext>
            </a:extLst>
          </p:cNvPr>
          <p:cNvGrpSpPr/>
          <p:nvPr/>
        </p:nvGrpSpPr>
        <p:grpSpPr>
          <a:xfrm>
            <a:off x="1023252" y="972141"/>
            <a:ext cx="122092" cy="590205"/>
            <a:chOff x="0" y="0"/>
            <a:chExt cx="444637" cy="309271"/>
          </a:xfrm>
          <a:solidFill>
            <a:schemeClr val="accent3">
              <a:lumMod val="50000"/>
            </a:schemeClr>
          </a:solidFill>
        </p:grpSpPr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62D09888-3543-45D9-86CB-C6DC81C6E00F}"/>
                </a:ext>
              </a:extLst>
            </p:cNvPr>
            <p:cNvSpPr/>
            <p:nvPr/>
          </p:nvSpPr>
          <p:spPr>
            <a:xfrm>
              <a:off x="0" y="0"/>
              <a:ext cx="444637" cy="309271"/>
            </a:xfrm>
            <a:custGeom>
              <a:avLst/>
              <a:gdLst/>
              <a:ahLst/>
              <a:cxnLst/>
              <a:rect l="l" t="t" r="r" b="b"/>
              <a:pathLst>
                <a:path w="444637" h="309271">
                  <a:moveTo>
                    <a:pt x="0" y="0"/>
                  </a:moveTo>
                  <a:lnTo>
                    <a:pt x="444637" y="0"/>
                  </a:lnTo>
                  <a:lnTo>
                    <a:pt x="444637" y="309271"/>
                  </a:lnTo>
                  <a:lnTo>
                    <a:pt x="0" y="30927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9">
              <a:extLst>
                <a:ext uri="{FF2B5EF4-FFF2-40B4-BE49-F238E27FC236}">
                  <a16:creationId xmlns:a16="http://schemas.microsoft.com/office/drawing/2014/main" id="{9BB09223-D3FC-4B01-88DB-F228C2FBB413}"/>
                </a:ext>
              </a:extLst>
            </p:cNvPr>
            <p:cNvSpPr txBox="1"/>
            <p:nvPr/>
          </p:nvSpPr>
          <p:spPr>
            <a:xfrm>
              <a:off x="0" y="-66675"/>
              <a:ext cx="444637" cy="375946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2"/>
                </a:lnSpc>
              </a:pPr>
              <a:endParaRPr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sp>
        <p:nvSpPr>
          <p:cNvPr id="31" name="Text Box 58">
            <a:extLst>
              <a:ext uri="{FF2B5EF4-FFF2-40B4-BE49-F238E27FC236}">
                <a16:creationId xmlns:a16="http://schemas.microsoft.com/office/drawing/2014/main" id="{8B923F7C-6B9B-4125-B028-540672882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844959"/>
            <a:ext cx="5168281" cy="1324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4680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endParaRPr lang="en-US" altLang="ko-KR" sz="2400" b="1" dirty="0">
              <a:solidFill>
                <a:schemeClr val="tx1">
                  <a:lumMod val="85000"/>
                  <a:lumOff val="1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eaLnBrk="1" latinLnBrk="1" hangingPunct="1"/>
            <a:r>
              <a: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교수님께 질문하고 </a:t>
            </a:r>
            <a:endParaRPr lang="en-US" altLang="ko-KR" sz="2800" b="1" dirty="0">
              <a:solidFill>
                <a:schemeClr val="tx1">
                  <a:lumMod val="85000"/>
                  <a:lumOff val="1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eaLnBrk="1" latinLnBrk="1" hangingPunct="1"/>
            <a:r>
              <a: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싶은 것을 미리 작성하기</a:t>
            </a:r>
            <a:endParaRPr lang="en-US" altLang="ko-KR" sz="2400" b="1" dirty="0">
              <a:solidFill>
                <a:schemeClr val="tx1">
                  <a:lumMod val="85000"/>
                  <a:lumOff val="1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2BB23F0-AB69-45F1-A11D-B66ACF1F984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F75EE8F-A990-4E27-AA3C-F02925C69EC5}"/>
              </a:ext>
            </a:extLst>
          </p:cNvPr>
          <p:cNvSpPr/>
          <p:nvPr/>
        </p:nvSpPr>
        <p:spPr>
          <a:xfrm>
            <a:off x="15716851" y="9632434"/>
            <a:ext cx="201677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p.177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6A76083-6A35-4E42-B0D2-79450D9EA5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836" y="2971764"/>
            <a:ext cx="6101564" cy="5957883"/>
          </a:xfrm>
          <a:prstGeom prst="rect">
            <a:avLst/>
          </a:prstGeom>
        </p:spPr>
      </p:pic>
      <p:sp>
        <p:nvSpPr>
          <p:cNvPr id="16" name="TextBox 7">
            <a:extLst>
              <a:ext uri="{FF2B5EF4-FFF2-40B4-BE49-F238E27FC236}">
                <a16:creationId xmlns:a16="http://schemas.microsoft.com/office/drawing/2014/main" id="{AFE9CF40-F5DF-4758-BF9F-AF6463840D5A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9794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8005B58-4173-494C-B001-534AE8A2965F}"/>
              </a:ext>
            </a:extLst>
          </p:cNvPr>
          <p:cNvCxnSpPr>
            <a:cxnSpLocks/>
          </p:cNvCxnSpPr>
          <p:nvPr/>
        </p:nvCxnSpPr>
        <p:spPr>
          <a:xfrm>
            <a:off x="971550" y="9944100"/>
            <a:ext cx="1678305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AF4898C7-20ED-40B2-9557-F33C4D2533B7}"/>
              </a:ext>
            </a:extLst>
          </p:cNvPr>
          <p:cNvGrpSpPr/>
          <p:nvPr/>
        </p:nvGrpSpPr>
        <p:grpSpPr>
          <a:xfrm>
            <a:off x="11124059" y="3384249"/>
            <a:ext cx="6984303" cy="6092409"/>
            <a:chOff x="11506200" y="2552700"/>
            <a:chExt cx="5778544" cy="5938556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4A09D13B-98F2-402C-BBE4-BF7A60DC25BD}"/>
                </a:ext>
              </a:extLst>
            </p:cNvPr>
            <p:cNvSpPr/>
            <p:nvPr/>
          </p:nvSpPr>
          <p:spPr>
            <a:xfrm>
              <a:off x="11734800" y="2781302"/>
              <a:ext cx="5549944" cy="5709954"/>
            </a:xfrm>
            <a:custGeom>
              <a:avLst/>
              <a:gdLst/>
              <a:ahLst/>
              <a:cxnLst/>
              <a:rect l="l" t="t" r="r" b="b"/>
              <a:pathLst>
                <a:path w="4178344" h="4185955">
                  <a:moveTo>
                    <a:pt x="0" y="0"/>
                  </a:moveTo>
                  <a:lnTo>
                    <a:pt x="4178345" y="0"/>
                  </a:lnTo>
                  <a:lnTo>
                    <a:pt x="4178345" y="4185955"/>
                  </a:lnTo>
                  <a:lnTo>
                    <a:pt x="0" y="4185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750AD5B-61F0-4F12-B093-AE3DB817DE84}"/>
                </a:ext>
              </a:extLst>
            </p:cNvPr>
            <p:cNvSpPr/>
            <p:nvPr/>
          </p:nvSpPr>
          <p:spPr>
            <a:xfrm>
              <a:off x="11506200" y="2552700"/>
              <a:ext cx="2971800" cy="24383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TextBox 12">
            <a:extLst>
              <a:ext uri="{FF2B5EF4-FFF2-40B4-BE49-F238E27FC236}">
                <a16:creationId xmlns:a16="http://schemas.microsoft.com/office/drawing/2014/main" id="{899571DC-E70C-46E9-8DFB-31A843627F24}"/>
              </a:ext>
            </a:extLst>
          </p:cNvPr>
          <p:cNvSpPr txBox="1"/>
          <p:nvPr/>
        </p:nvSpPr>
        <p:spPr>
          <a:xfrm>
            <a:off x="1588251" y="5053403"/>
            <a:ext cx="14057395" cy="147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응원합니다</a:t>
            </a:r>
            <a:r>
              <a:rPr lang="en-US" altLang="ko-KR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.</a:t>
            </a:r>
            <a:endParaRPr lang="en-US" sz="9600" b="1" spc="-571" dirty="0">
              <a:solidFill>
                <a:srgbClr val="524843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BD3FA91B-46D5-419B-875F-26E8B1A28A63}"/>
              </a:ext>
            </a:extLst>
          </p:cNvPr>
          <p:cNvSpPr txBox="1"/>
          <p:nvPr/>
        </p:nvSpPr>
        <p:spPr>
          <a:xfrm>
            <a:off x="1524000" y="3609261"/>
            <a:ext cx="14706600" cy="1360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8800" b="1" spc="-571" dirty="0">
                <a:solidFill>
                  <a:srgbClr val="B3C1BE"/>
                </a:solidFill>
                <a:latin typeface="+mj-ea"/>
                <a:ea typeface="+mj-ea"/>
                <a:cs typeface="210 도시락"/>
                <a:sym typeface="210 도시락"/>
              </a:rPr>
              <a:t>여러분의 취업 성공을</a:t>
            </a:r>
            <a:endParaRPr lang="en-US" sz="8800" b="1" spc="-571" dirty="0">
              <a:solidFill>
                <a:srgbClr val="B3C1BE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3402C13-7587-45CB-8917-4FFACE6189DD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7">
            <a:extLst>
              <a:ext uri="{FF2B5EF4-FFF2-40B4-BE49-F238E27FC236}">
                <a16:creationId xmlns:a16="http://schemas.microsoft.com/office/drawing/2014/main" id="{894D6227-3C1C-4B2A-9775-1148C382D9D0}"/>
              </a:ext>
            </a:extLst>
          </p:cNvPr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99244256-8348-4469-9FF2-A97E4B7B1C96}"/>
              </a:ext>
            </a:extLst>
          </p:cNvPr>
          <p:cNvSpPr txBox="1"/>
          <p:nvPr/>
        </p:nvSpPr>
        <p:spPr>
          <a:xfrm>
            <a:off x="1685783" y="6792251"/>
            <a:ext cx="943827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ko-KR" altLang="en-US" sz="2800" b="1" spc="-162" dirty="0">
                <a:solidFill>
                  <a:srgbClr val="000000">
                    <a:alpha val="93725"/>
                  </a:srgbClr>
                </a:solidFill>
                <a:latin typeface="+mj-ea"/>
                <a:ea typeface="+mj-ea"/>
                <a:cs typeface="Source Han Sans KR"/>
                <a:sym typeface="Source Han Sans KR"/>
              </a:rPr>
              <a:t>한 학기 동안 </a:t>
            </a:r>
            <a:r>
              <a:rPr lang="ko-KR" altLang="en-US" sz="2800" b="1" spc="-162" dirty="0" err="1">
                <a:solidFill>
                  <a:srgbClr val="000000">
                    <a:alpha val="93725"/>
                  </a:srgbClr>
                </a:solidFill>
                <a:latin typeface="+mj-ea"/>
                <a:ea typeface="+mj-ea"/>
                <a:cs typeface="Source Han Sans KR"/>
                <a:sym typeface="Source Han Sans KR"/>
              </a:rPr>
              <a:t>고생많았습니다</a:t>
            </a:r>
            <a:r>
              <a:rPr lang="en-US" altLang="ko-KR" sz="2800" b="1" spc="-162" dirty="0">
                <a:solidFill>
                  <a:srgbClr val="000000">
                    <a:alpha val="93725"/>
                  </a:srgbClr>
                </a:solidFill>
                <a:latin typeface="+mj-ea"/>
                <a:ea typeface="+mj-ea"/>
                <a:cs typeface="Source Han Sans KR"/>
                <a:sym typeface="Source Han Sans KR"/>
              </a:rPr>
              <a:t>.</a:t>
            </a:r>
            <a:endParaRPr lang="en-US" sz="2800" b="1" spc="-162" dirty="0">
              <a:solidFill>
                <a:srgbClr val="000000">
                  <a:alpha val="93725"/>
                </a:srgbClr>
              </a:solidFill>
              <a:latin typeface="+mj-ea"/>
              <a:ea typeface="+mj-ea"/>
              <a:cs typeface="Source Han Sans KR"/>
              <a:sym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633960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2088</TotalTime>
  <Words>124</Words>
  <Application>Microsoft Office PowerPoint</Application>
  <PresentationFormat>사용자 지정</PresentationFormat>
  <Paragraphs>33</Paragraphs>
  <Slides>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3" baseType="lpstr">
      <vt:lpstr>굴림</vt:lpstr>
      <vt:lpstr>Arial</vt:lpstr>
      <vt:lpstr>나눔고딕</vt:lpstr>
      <vt:lpstr>Calibri</vt:lpstr>
      <vt:lpstr>Wingdings</vt:lpstr>
      <vt:lpstr>맑은 고딕</vt:lpstr>
      <vt:lpstr>Gmarket Sans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BEI</dc:creator>
  <cp:lastModifiedBy>Seungho Jeon</cp:lastModifiedBy>
  <cp:revision>146</cp:revision>
  <dcterms:created xsi:type="dcterms:W3CDTF">2006-08-16T00:00:00Z</dcterms:created>
  <dcterms:modified xsi:type="dcterms:W3CDTF">2026-03-03T07:10:48Z</dcterms:modified>
</cp:coreProperties>
</file>