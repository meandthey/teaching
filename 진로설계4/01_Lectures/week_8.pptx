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451" r:id="rId2"/>
    <p:sldId id="452" r:id="rId3"/>
    <p:sldId id="454" r:id="rId4"/>
    <p:sldId id="512" r:id="rId5"/>
  </p:sldIdLst>
  <p:sldSz cx="18288000" cy="10287000"/>
  <p:notesSz cx="6858000" cy="9144000"/>
  <p:embeddedFontLst>
    <p:embeddedFont>
      <p:font typeface="맑은 고딕" panose="020B0503020000020004" pitchFamily="50" charset="-127"/>
      <p:regular r:id="rId7"/>
      <p:bold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8E5"/>
    <a:srgbClr val="FFF7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3" autoAdjust="0"/>
    <p:restoredTop sz="94622" autoAdjust="0"/>
  </p:normalViewPr>
  <p:slideViewPr>
    <p:cSldViewPr>
      <p:cViewPr varScale="1">
        <p:scale>
          <a:sx n="99" d="100"/>
          <a:sy n="99" d="100"/>
        </p:scale>
        <p:origin x="78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1B1C3-5D0E-4806-BAAA-95815FF0384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8C21A-DA85-4505-A54C-645BC087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65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756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50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42900" y="1663700"/>
            <a:ext cx="622300" cy="2108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14070" y="5629275"/>
            <a:ext cx="889000" cy="889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58570" y="1346200"/>
            <a:ext cx="9715500" cy="264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진로설계 </a:t>
            </a:r>
            <a:r>
              <a:rPr lang="en-US" altLang="ko-KR" sz="6600" b="1" dirty="0">
                <a:solidFill>
                  <a:srgbClr val="505050"/>
                </a:solidFill>
                <a:latin typeface="+mj-ea"/>
                <a:ea typeface="+mj-ea"/>
              </a:rPr>
              <a:t>4.</a:t>
            </a:r>
          </a:p>
          <a:p>
            <a:pPr lvl="0" algn="l">
              <a:lnSpc>
                <a:spcPct val="99600"/>
              </a:lnSpc>
            </a:pP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취업전략과</a:t>
            </a: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 </a:t>
            </a: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실전취업</a:t>
            </a:r>
            <a:endParaRPr lang="en-US" sz="6600" b="1" i="0" u="none" strike="noStrike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24000" y="7124700"/>
            <a:ext cx="9715499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5400" b="1" spc="-200" dirty="0">
                <a:solidFill>
                  <a:srgbClr val="505050"/>
                </a:solidFill>
                <a:latin typeface="+mj-ea"/>
                <a:ea typeface="+mj-ea"/>
              </a:rPr>
              <a:t>8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주차</a:t>
            </a:r>
            <a:endParaRPr lang="en-US" altLang="ko-KR" sz="5400" b="1" spc="-200" dirty="0">
              <a:solidFill>
                <a:srgbClr val="505050"/>
              </a:solidFill>
              <a:latin typeface="+mj-ea"/>
              <a:ea typeface="+mj-ea"/>
            </a:endParaRPr>
          </a:p>
          <a:p>
            <a:pPr lvl="0" algn="l">
              <a:lnSpc>
                <a:spcPct val="99600"/>
              </a:lnSpc>
            </a:pPr>
            <a:r>
              <a:rPr lang="ko-KR" altLang="en-US" sz="5400" b="1" spc="-200" dirty="0">
                <a:solidFill>
                  <a:srgbClr val="505050"/>
                </a:solidFill>
                <a:latin typeface="+mj-ea"/>
                <a:ea typeface="+mj-ea"/>
              </a:rPr>
              <a:t>필수과제 초안 작성 및 상담계획</a:t>
            </a:r>
            <a:endParaRPr lang="ko-KR" sz="48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6C7F429-F160-47A6-8A64-C27B90CB15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800" y="442126"/>
            <a:ext cx="2798834" cy="600243"/>
          </a:xfrm>
          <a:prstGeom prst="rect">
            <a:avLst/>
          </a:prstGeom>
        </p:spPr>
      </p:pic>
      <p:sp>
        <p:nvSpPr>
          <p:cNvPr id="36" name="Freeform 11">
            <a:extLst>
              <a:ext uri="{FF2B5EF4-FFF2-40B4-BE49-F238E27FC236}">
                <a16:creationId xmlns:a16="http://schemas.microsoft.com/office/drawing/2014/main" id="{17094926-8E90-413A-924D-78830B690DF0}"/>
              </a:ext>
            </a:extLst>
          </p:cNvPr>
          <p:cNvSpPr/>
          <p:nvPr/>
        </p:nvSpPr>
        <p:spPr>
          <a:xfrm>
            <a:off x="10820400" y="2867024"/>
            <a:ext cx="7460672" cy="7302501"/>
          </a:xfrm>
          <a:custGeom>
            <a:avLst/>
            <a:gdLst/>
            <a:ahLst/>
            <a:cxnLst/>
            <a:rect l="l" t="t" r="r" b="b"/>
            <a:pathLst>
              <a:path w="9256196" h="8229600">
                <a:moveTo>
                  <a:pt x="0" y="0"/>
                </a:moveTo>
                <a:lnTo>
                  <a:pt x="9256196" y="0"/>
                </a:lnTo>
                <a:lnTo>
                  <a:pt x="925619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312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C331ADB4-7088-4FC4-8485-F6FACADEFEA6}"/>
              </a:ext>
            </a:extLst>
          </p:cNvPr>
          <p:cNvSpPr/>
          <p:nvPr/>
        </p:nvSpPr>
        <p:spPr>
          <a:xfrm>
            <a:off x="7696200" y="-266700"/>
            <a:ext cx="10591800" cy="10896595"/>
          </a:xfrm>
          <a:prstGeom prst="rect">
            <a:avLst/>
          </a:prstGeom>
          <a:solidFill>
            <a:schemeClr val="accent6">
              <a:lumMod val="20000"/>
              <a:lumOff val="8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7" name="TextBox 7"/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6699729-652E-4AF5-BBEC-235E549CDDA1}"/>
              </a:ext>
            </a:extLst>
          </p:cNvPr>
          <p:cNvSpPr/>
          <p:nvPr/>
        </p:nvSpPr>
        <p:spPr>
          <a:xfrm>
            <a:off x="707715" y="2357437"/>
            <a:ext cx="6239185" cy="6937375"/>
          </a:xfrm>
          <a:custGeom>
            <a:avLst/>
            <a:gdLst/>
            <a:ahLst/>
            <a:cxnLst/>
            <a:rect l="l" t="t" r="r" b="b"/>
            <a:pathLst>
              <a:path w="5550107" h="4763001">
                <a:moveTo>
                  <a:pt x="0" y="0"/>
                </a:moveTo>
                <a:lnTo>
                  <a:pt x="5550106" y="0"/>
                </a:lnTo>
                <a:lnTo>
                  <a:pt x="5550106" y="4763001"/>
                </a:lnTo>
                <a:lnTo>
                  <a:pt x="0" y="47630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A16FAA1-C23E-4D18-9DCD-E7CB520FE825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849900" y="9632434"/>
            <a:ext cx="18837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p.33</a:t>
            </a:r>
          </a:p>
        </p:txBody>
      </p:sp>
      <p:pic>
        <p:nvPicPr>
          <p:cNvPr id="25" name="Picture 3">
            <a:extLst>
              <a:ext uri="{FF2B5EF4-FFF2-40B4-BE49-F238E27FC236}">
                <a16:creationId xmlns:a16="http://schemas.microsoft.com/office/drawing/2014/main" id="{1512AF08-B00A-4BAB-BC50-EC55905CC5A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3000"/>
          </a:blip>
          <a:stretch>
            <a:fillRect/>
          </a:stretch>
        </p:blipFill>
        <p:spPr>
          <a:xfrm>
            <a:off x="8775700" y="6890271"/>
            <a:ext cx="6997700" cy="12700"/>
          </a:xfrm>
          <a:prstGeom prst="rect">
            <a:avLst/>
          </a:prstGeom>
        </p:spPr>
      </p:pic>
      <p:pic>
        <p:nvPicPr>
          <p:cNvPr id="35" name="Picture 4">
            <a:extLst>
              <a:ext uri="{FF2B5EF4-FFF2-40B4-BE49-F238E27FC236}">
                <a16:creationId xmlns:a16="http://schemas.microsoft.com/office/drawing/2014/main" id="{0FEBF163-9762-46EF-8649-D89B3C7511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700" y="6238939"/>
            <a:ext cx="1371600" cy="419100"/>
          </a:xfrm>
          <a:prstGeom prst="rect">
            <a:avLst/>
          </a:prstGeom>
        </p:spPr>
      </p:pic>
      <p:sp>
        <p:nvSpPr>
          <p:cNvPr id="36" name="TextBox 9">
            <a:extLst>
              <a:ext uri="{FF2B5EF4-FFF2-40B4-BE49-F238E27FC236}">
                <a16:creationId xmlns:a16="http://schemas.microsoft.com/office/drawing/2014/main" id="{A951B4A0-2BC1-41C5-B789-12A0BF63B84D}"/>
              </a:ext>
            </a:extLst>
          </p:cNvPr>
          <p:cNvSpPr txBox="1"/>
          <p:nvPr/>
        </p:nvSpPr>
        <p:spPr>
          <a:xfrm>
            <a:off x="8477250" y="3307488"/>
            <a:ext cx="6591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i="0" u="none" strike="noStrike" spc="-400" dirty="0">
                <a:solidFill>
                  <a:srgbClr val="505050"/>
                </a:solidFill>
                <a:latin typeface="+mj-ea"/>
                <a:ea typeface="+mj-ea"/>
              </a:rPr>
              <a:t>학습목표</a:t>
            </a:r>
            <a:endParaRPr lang="ko-KR" sz="4800" b="1" i="0" u="none" strike="noStrike" spc="-4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746C6C2A-8958-459A-8E63-4B3A309F535B}"/>
              </a:ext>
            </a:extLst>
          </p:cNvPr>
          <p:cNvSpPr txBox="1"/>
          <p:nvPr/>
        </p:nvSpPr>
        <p:spPr>
          <a:xfrm>
            <a:off x="10401300" y="6150039"/>
            <a:ext cx="7332322" cy="6803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 err="1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교수님과의</a:t>
            </a: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 상담 계획</a:t>
            </a:r>
            <a:endParaRPr lang="ko-KR" sz="2800" b="1" i="0" u="none" strike="noStrike" spc="-100" dirty="0">
              <a:solidFill>
                <a:schemeClr val="tx1">
                  <a:lumMod val="85000"/>
                  <a:lumOff val="1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38" name="TextBox 11">
            <a:extLst>
              <a:ext uri="{FF2B5EF4-FFF2-40B4-BE49-F238E27FC236}">
                <a16:creationId xmlns:a16="http://schemas.microsoft.com/office/drawing/2014/main" id="{313549DB-FFC4-4EE6-BAC7-19DA5F34A123}"/>
              </a:ext>
            </a:extLst>
          </p:cNvPr>
          <p:cNvSpPr txBox="1"/>
          <p:nvPr/>
        </p:nvSpPr>
        <p:spPr>
          <a:xfrm>
            <a:off x="8915400" y="6302439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POINT.01</a:t>
            </a: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5EE16016-CBE1-42CB-8F20-2536C2205AA9}"/>
              </a:ext>
            </a:extLst>
          </p:cNvPr>
          <p:cNvSpPr txBox="1"/>
          <p:nvPr/>
        </p:nvSpPr>
        <p:spPr>
          <a:xfrm>
            <a:off x="8348322" y="5067534"/>
            <a:ext cx="9385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742950" lvl="0" indent="-742950">
              <a:lnSpc>
                <a:spcPct val="99600"/>
              </a:lnSpc>
              <a:buAutoNum type="arabicPeriod"/>
            </a:pP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과제 중간 점검 및 상담계획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22009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408C96A8-D486-4AA9-9D08-6784CFCE6F53}"/>
              </a:ext>
            </a:extLst>
          </p:cNvPr>
          <p:cNvSpPr txBox="1"/>
          <p:nvPr/>
        </p:nvSpPr>
        <p:spPr>
          <a:xfrm>
            <a:off x="1483499" y="724719"/>
            <a:ext cx="11954472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spc="-100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상담계획</a:t>
            </a:r>
            <a:endParaRPr lang="en-US" sz="4800" b="1" i="0" u="none" strike="noStrike" spc="-100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B993FFB-FE35-4B1A-9121-0FE40A8425F4}"/>
              </a:ext>
            </a:extLst>
          </p:cNvPr>
          <p:cNvSpPr/>
          <p:nvPr/>
        </p:nvSpPr>
        <p:spPr bwMode="auto">
          <a:xfrm>
            <a:off x="1089345" y="2603682"/>
            <a:ext cx="12709193" cy="6650643"/>
          </a:xfrm>
          <a:prstGeom prst="rect">
            <a:avLst/>
          </a:prstGeom>
          <a:noFill/>
          <a:ln w="9525" cap="flat" cmpd="sng" algn="ctr">
            <a:solidFill>
              <a:srgbClr val="CECEC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2592" eaLnBrk="1" latinLnBrk="1" hangingPunct="1"/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6" name="Freeform 16">
            <a:extLst>
              <a:ext uri="{FF2B5EF4-FFF2-40B4-BE49-F238E27FC236}">
                <a16:creationId xmlns:a16="http://schemas.microsoft.com/office/drawing/2014/main" id="{9C95DD68-3380-4A06-9962-A1E310A7EB8A}"/>
              </a:ext>
            </a:extLst>
          </p:cNvPr>
          <p:cNvSpPr/>
          <p:nvPr/>
        </p:nvSpPr>
        <p:spPr>
          <a:xfrm>
            <a:off x="14517974" y="5344799"/>
            <a:ext cx="3544039" cy="3882909"/>
          </a:xfrm>
          <a:custGeom>
            <a:avLst/>
            <a:gdLst/>
            <a:ahLst/>
            <a:cxnLst/>
            <a:rect l="l" t="t" r="r" b="b"/>
            <a:pathLst>
              <a:path w="4794124" h="5504735">
                <a:moveTo>
                  <a:pt x="0" y="0"/>
                </a:moveTo>
                <a:lnTo>
                  <a:pt x="4794124" y="0"/>
                </a:lnTo>
                <a:lnTo>
                  <a:pt x="4794124" y="5504735"/>
                </a:lnTo>
                <a:lnTo>
                  <a:pt x="0" y="550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7">
            <a:extLst>
              <a:ext uri="{FF2B5EF4-FFF2-40B4-BE49-F238E27FC236}">
                <a16:creationId xmlns:a16="http://schemas.microsoft.com/office/drawing/2014/main" id="{E066A7C6-AD9D-488D-A7FD-22723BB5F7C3}"/>
              </a:ext>
            </a:extLst>
          </p:cNvPr>
          <p:cNvGrpSpPr/>
          <p:nvPr/>
        </p:nvGrpSpPr>
        <p:grpSpPr>
          <a:xfrm>
            <a:off x="1023252" y="972141"/>
            <a:ext cx="122092" cy="590205"/>
            <a:chOff x="0" y="0"/>
            <a:chExt cx="444637" cy="309271"/>
          </a:xfrm>
          <a:solidFill>
            <a:schemeClr val="accent1">
              <a:lumMod val="50000"/>
            </a:schemeClr>
          </a:solidFill>
        </p:grpSpPr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2D09888-3543-45D9-86CB-C6DC81C6E00F}"/>
                </a:ext>
              </a:extLst>
            </p:cNvPr>
            <p:cNvSpPr/>
            <p:nvPr/>
          </p:nvSpPr>
          <p:spPr>
            <a:xfrm>
              <a:off x="0" y="0"/>
              <a:ext cx="444637" cy="309271"/>
            </a:xfrm>
            <a:custGeom>
              <a:avLst/>
              <a:gdLst/>
              <a:ahLst/>
              <a:cxnLst/>
              <a:rect l="l" t="t" r="r" b="b"/>
              <a:pathLst>
                <a:path w="444637" h="309271">
                  <a:moveTo>
                    <a:pt x="0" y="0"/>
                  </a:moveTo>
                  <a:lnTo>
                    <a:pt x="444637" y="0"/>
                  </a:lnTo>
                  <a:lnTo>
                    <a:pt x="444637" y="309271"/>
                  </a:lnTo>
                  <a:lnTo>
                    <a:pt x="0" y="30927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9BB09223-D3FC-4B01-88DB-F228C2FBB413}"/>
                </a:ext>
              </a:extLst>
            </p:cNvPr>
            <p:cNvSpPr txBox="1"/>
            <p:nvPr/>
          </p:nvSpPr>
          <p:spPr>
            <a:xfrm>
              <a:off x="0" y="-66675"/>
              <a:ext cx="444637" cy="37594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2"/>
                </a:lnSpc>
              </a:pPr>
              <a:endParaRPr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9A815AB-D1C1-46C5-828D-047DF18C9AD2}"/>
              </a:ext>
            </a:extLst>
          </p:cNvPr>
          <p:cNvSpPr txBox="1"/>
          <p:nvPr/>
        </p:nvSpPr>
        <p:spPr>
          <a:xfrm>
            <a:off x="1729847" y="5344799"/>
            <a:ext cx="4861689" cy="14425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ko-KR" altLang="en-US" sz="2400" b="1" spc="-181" dirty="0">
                <a:solidFill>
                  <a:srgbClr val="020202"/>
                </a:solidFill>
                <a:latin typeface="+mn-ea"/>
                <a:cs typeface="TDTD순고딕 Bold"/>
                <a:sym typeface="TDTD순고딕 Bold"/>
              </a:rPr>
              <a:t>상담주제 체크하고</a:t>
            </a:r>
            <a:endParaRPr lang="en-US" altLang="ko-KR" sz="2400" b="1" spc="-181" dirty="0">
              <a:solidFill>
                <a:srgbClr val="020202"/>
              </a:solidFill>
              <a:latin typeface="+mn-ea"/>
              <a:cs typeface="TDTD순고딕 Bold"/>
              <a:sym typeface="TDTD순고딕 Bold"/>
            </a:endParaRPr>
          </a:p>
          <a:p>
            <a:pPr algn="ctr">
              <a:lnSpc>
                <a:spcPts val="3919"/>
              </a:lnSpc>
            </a:pPr>
            <a:r>
              <a:rPr lang="ko-KR" altLang="en-US" sz="2400" b="1" spc="-181" dirty="0">
                <a:solidFill>
                  <a:srgbClr val="020202"/>
                </a:solidFill>
                <a:latin typeface="+mn-ea"/>
                <a:cs typeface="TDTD순고딕 Bold"/>
                <a:sym typeface="TDTD순고딕 Bold"/>
              </a:rPr>
              <a:t>교수님께 질문하고 싶은 것을 미리 작성해보기</a:t>
            </a:r>
            <a:endParaRPr lang="en-US" altLang="ko-KR" sz="2400" b="1" spc="-181" dirty="0">
              <a:solidFill>
                <a:srgbClr val="020202"/>
              </a:solidFill>
              <a:latin typeface="+mn-ea"/>
              <a:cs typeface="TDTD순고딕 Bold"/>
              <a:sym typeface="TDTD순고딕 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BA59AE9-C89D-434B-A4D3-5D17786BB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038" y="3137431"/>
            <a:ext cx="5950562" cy="5857246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36F4D69-11D5-4CB9-8178-130CF24767E9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7C19150-3CBF-403E-A72F-C0C1BD71C0D9}"/>
              </a:ext>
            </a:extLst>
          </p:cNvPr>
          <p:cNvSpPr/>
          <p:nvPr/>
        </p:nvSpPr>
        <p:spPr>
          <a:xfrm>
            <a:off x="15849900" y="9632434"/>
            <a:ext cx="18837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p.96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0347C4A4-F374-4941-8AF7-0B5ED28A1287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6452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8005B58-4173-494C-B001-534AE8A2965F}"/>
              </a:ext>
            </a:extLst>
          </p:cNvPr>
          <p:cNvCxnSpPr>
            <a:cxnSpLocks/>
          </p:cNvCxnSpPr>
          <p:nvPr/>
        </p:nvCxnSpPr>
        <p:spPr>
          <a:xfrm>
            <a:off x="971550" y="9944100"/>
            <a:ext cx="1678305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AF4898C7-20ED-40B2-9557-F33C4D2533B7}"/>
              </a:ext>
            </a:extLst>
          </p:cNvPr>
          <p:cNvGrpSpPr/>
          <p:nvPr/>
        </p:nvGrpSpPr>
        <p:grpSpPr>
          <a:xfrm>
            <a:off x="11124059" y="3384249"/>
            <a:ext cx="6984303" cy="6092409"/>
            <a:chOff x="11506200" y="2552700"/>
            <a:chExt cx="5778544" cy="5938556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A09D13B-98F2-402C-BBE4-BF7A60DC25BD}"/>
                </a:ext>
              </a:extLst>
            </p:cNvPr>
            <p:cNvSpPr/>
            <p:nvPr/>
          </p:nvSpPr>
          <p:spPr>
            <a:xfrm>
              <a:off x="11734800" y="2781302"/>
              <a:ext cx="5549944" cy="5709954"/>
            </a:xfrm>
            <a:custGeom>
              <a:avLst/>
              <a:gdLst/>
              <a:ahLst/>
              <a:cxnLst/>
              <a:rect l="l" t="t" r="r" b="b"/>
              <a:pathLst>
                <a:path w="4178344" h="4185955">
                  <a:moveTo>
                    <a:pt x="0" y="0"/>
                  </a:moveTo>
                  <a:lnTo>
                    <a:pt x="4178345" y="0"/>
                  </a:lnTo>
                  <a:lnTo>
                    <a:pt x="4178345" y="4185955"/>
                  </a:lnTo>
                  <a:lnTo>
                    <a:pt x="0" y="4185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750AD5B-61F0-4F12-B093-AE3DB817DE84}"/>
                </a:ext>
              </a:extLst>
            </p:cNvPr>
            <p:cNvSpPr/>
            <p:nvPr/>
          </p:nvSpPr>
          <p:spPr>
            <a:xfrm>
              <a:off x="11506200" y="2552700"/>
              <a:ext cx="2971800" cy="24383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Box 12">
            <a:extLst>
              <a:ext uri="{FF2B5EF4-FFF2-40B4-BE49-F238E27FC236}">
                <a16:creationId xmlns:a16="http://schemas.microsoft.com/office/drawing/2014/main" id="{899571DC-E70C-46E9-8DFB-31A843627F24}"/>
              </a:ext>
            </a:extLst>
          </p:cNvPr>
          <p:cNvSpPr txBox="1"/>
          <p:nvPr/>
        </p:nvSpPr>
        <p:spPr>
          <a:xfrm>
            <a:off x="1588251" y="5053403"/>
            <a:ext cx="14057395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응원합니다</a:t>
            </a:r>
            <a:r>
              <a:rPr lang="en-US" altLang="ko-KR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.</a:t>
            </a:r>
            <a:endParaRPr lang="en-US" sz="9600" b="1" spc="-571" dirty="0">
              <a:solidFill>
                <a:srgbClr val="524843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BD3FA91B-46D5-419B-875F-26E8B1A28A63}"/>
              </a:ext>
            </a:extLst>
          </p:cNvPr>
          <p:cNvSpPr txBox="1"/>
          <p:nvPr/>
        </p:nvSpPr>
        <p:spPr>
          <a:xfrm>
            <a:off x="1524000" y="3609261"/>
            <a:ext cx="14706600" cy="1360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8800" b="1" spc="-571" dirty="0">
                <a:solidFill>
                  <a:srgbClr val="B3C1BE"/>
                </a:solidFill>
                <a:latin typeface="+mj-ea"/>
                <a:ea typeface="+mj-ea"/>
                <a:cs typeface="210 도시락"/>
                <a:sym typeface="210 도시락"/>
              </a:rPr>
              <a:t>여러분의 취업 성공을</a:t>
            </a:r>
            <a:endParaRPr lang="en-US" sz="8800" b="1" spc="-571" dirty="0">
              <a:solidFill>
                <a:srgbClr val="B3C1BE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3402C13-7587-45CB-8917-4FFACE6189DD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7">
            <a:extLst>
              <a:ext uri="{FF2B5EF4-FFF2-40B4-BE49-F238E27FC236}">
                <a16:creationId xmlns:a16="http://schemas.microsoft.com/office/drawing/2014/main" id="{894D6227-3C1C-4B2A-9775-1148C382D9D0}"/>
              </a:ext>
            </a:extLst>
          </p:cNvPr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래픽 2" descr="비둘기 윤곽선">
            <a:extLst>
              <a:ext uri="{FF2B5EF4-FFF2-40B4-BE49-F238E27FC236}">
                <a16:creationId xmlns:a16="http://schemas.microsoft.com/office/drawing/2014/main" id="{EFF2BA02-4EAF-3FDC-7AF3-A273B57B2D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44400" y="4835393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6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2088</TotalTime>
  <Words>63</Words>
  <Application>Microsoft Office PowerPoint</Application>
  <PresentationFormat>사용자 지정</PresentationFormat>
  <Paragraphs>20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굴림</vt:lpstr>
      <vt:lpstr>Arial</vt:lpstr>
      <vt:lpstr>Calibri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BEI</dc:creator>
  <cp:lastModifiedBy>Seungho Jeon</cp:lastModifiedBy>
  <cp:revision>147</cp:revision>
  <dcterms:created xsi:type="dcterms:W3CDTF">2006-08-16T00:00:00Z</dcterms:created>
  <dcterms:modified xsi:type="dcterms:W3CDTF">2026-03-03T07:06:46Z</dcterms:modified>
</cp:coreProperties>
</file>