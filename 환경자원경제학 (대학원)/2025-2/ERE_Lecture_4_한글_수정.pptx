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375" r:id="rId2"/>
    <p:sldId id="405" r:id="rId3"/>
    <p:sldId id="464" r:id="rId4"/>
    <p:sldId id="466" r:id="rId5"/>
    <p:sldId id="467" r:id="rId6"/>
    <p:sldId id="468" r:id="rId7"/>
    <p:sldId id="469" r:id="rId8"/>
    <p:sldId id="470" r:id="rId9"/>
    <p:sldId id="472" r:id="rId10"/>
    <p:sldId id="474" r:id="rId11"/>
    <p:sldId id="475" r:id="rId12"/>
    <p:sldId id="476" r:id="rId13"/>
    <p:sldId id="477" r:id="rId14"/>
    <p:sldId id="479" r:id="rId15"/>
    <p:sldId id="478" r:id="rId16"/>
    <p:sldId id="480" r:id="rId17"/>
    <p:sldId id="481" r:id="rId18"/>
    <p:sldId id="482" r:id="rId19"/>
    <p:sldId id="483" r:id="rId20"/>
    <p:sldId id="484" r:id="rId21"/>
    <p:sldId id="486" r:id="rId22"/>
    <p:sldId id="487" r:id="rId23"/>
    <p:sldId id="488" r:id="rId24"/>
    <p:sldId id="489" r:id="rId25"/>
    <p:sldId id="490" r:id="rId26"/>
    <p:sldId id="36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63F2-45B8-D3B3-C5F6-A52E5FD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3EC0-C47B-3CF3-4ED0-CEAF7AC9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7E7D7-13F0-01E9-7E3D-73D05EBD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0F219-616E-A742-92B7-2579280F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22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배출부과금과 보조금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42E4BC-D226-A979-538E-7A6D32E2C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1"/>
          <a:stretch>
            <a:fillRect/>
          </a:stretch>
        </p:blipFill>
        <p:spPr>
          <a:xfrm>
            <a:off x="7731230" y="1255309"/>
            <a:ext cx="4393258" cy="48099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기본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오염원은 자신이 배출하는 오염물질에 대해 단위당 특정 금액의 부과금을 정부에 납부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자신이 배출량을 스스로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혹은 저감을 위해 어떤 방식도 채택이 가능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오염원에게 배출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만큼의 부과금을 징수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오른쪽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적다면 한계저감비용이 부과금보다 크기 때문에 배출량을 더 늘리려고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크다면 부과금이 한계저감비용보다 크기 때문에 배출량을 더 줄이려고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blipFill>
                <a:blip r:embed="rId3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DB810-82C2-2770-F730-64EC095B8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923" y="1109042"/>
            <a:ext cx="4184338" cy="4790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최적 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배출량을 오염원이 선택하도록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배출부과금을 매기는 것이 최적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배출부과금이 주어지면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오염원은 두 가지 경로를 통해 비용을 부담해야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배출량을 줄이기 위한 비용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배출하기 위해 지불해야 하는 배출부과금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만큼 배출할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사회적피해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배출부과금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더 많으므로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ko-KR" altLang="en-US" sz="1600" spc="-50" dirty="0"/>
                  <a:t>만큼의 비용을 과잉부담 하고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이단계</a:t>
                </a:r>
                <a:r>
                  <a:rPr lang="ko-KR" altLang="en-US" sz="1600" spc="-50" dirty="0"/>
                  <a:t> 배출부과금제도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까지는 부과금을 징수하지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넘어서면 실제 배출량과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차이만큼의 배출량에 대해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징수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여전히 사회 최적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감소하여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과잉부담 금액도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spc="-50" dirty="0"/>
                  <a:t>로 감소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blipFill>
                <a:blip r:embed="rId3"/>
                <a:stretch>
                  <a:fillRect l="-430" r="-430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9FF7E33-1559-8F12-A2B3-4250AA6830C7}"/>
              </a:ext>
            </a:extLst>
          </p:cNvPr>
          <p:cNvSpPr txBox="1"/>
          <p:nvPr/>
        </p:nvSpPr>
        <p:spPr>
          <a:xfrm>
            <a:off x="8454030" y="499403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a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AAEF3-77D3-D5AA-2278-7D044FEEF302}"/>
              </a:ext>
            </a:extLst>
          </p:cNvPr>
          <p:cNvSpPr txBox="1"/>
          <p:nvPr/>
        </p:nvSpPr>
        <p:spPr>
          <a:xfrm>
            <a:off x="9166046" y="5147927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EB462-27FE-6962-4EF6-441502251544}"/>
              </a:ext>
            </a:extLst>
          </p:cNvPr>
          <p:cNvSpPr txBox="1"/>
          <p:nvPr/>
        </p:nvSpPr>
        <p:spPr>
          <a:xfrm>
            <a:off x="9302718" y="49422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c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85D64-B82A-039E-B9F1-4A327AD6E761}"/>
              </a:ext>
            </a:extLst>
          </p:cNvPr>
          <p:cNvSpPr txBox="1"/>
          <p:nvPr/>
        </p:nvSpPr>
        <p:spPr>
          <a:xfrm>
            <a:off x="9534810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d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7312F-129C-C39C-9C72-127D60876007}"/>
              </a:ext>
            </a:extLst>
          </p:cNvPr>
          <p:cNvSpPr txBox="1"/>
          <p:nvPr/>
        </p:nvSpPr>
        <p:spPr>
          <a:xfrm>
            <a:off x="9845637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EE487-460A-D467-1F2D-84951DE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109F-48AE-77C4-A66A-1BDA43C7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 descr="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10E71E-6FD7-F01C-D980-DF7D0909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165" y="3016061"/>
            <a:ext cx="6308521" cy="35916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동질적 오염물질을 배출하는 다수의 오염원에게 동일한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적용하면 비용효과성이 저절로 달성이 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아래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최적부과금을 모르는 상태에서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두 오염원</a:t>
                </a:r>
                <a:r>
                  <a:rPr lang="en-US" altLang="ko-KR" sz="1600" spc="-50" dirty="0"/>
                  <a:t>(1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2)</a:t>
                </a:r>
                <a:r>
                  <a:rPr lang="ko-KR" altLang="en-US" sz="1600" spc="-50" dirty="0"/>
                  <a:t>의 배출량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단위에 획일적으로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오염원은 자신의 한계저감비용과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일치하는 수준의 배출량을 선택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스스로 한계저감비용과 맞는 수준에서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결정하므로 항상 비용효과성이 달성 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blipFill>
                <a:blip r:embed="rId3"/>
                <a:stretch>
                  <a:fillRect l="-267"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/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정부의 목표 배출량 달성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정부의 목표배출량이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충족이 안되면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순차적으로 변경하여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blipFill>
                <a:blip r:embed="rId4"/>
                <a:stretch>
                  <a:fillRect l="-756" b="-44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10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527-FF94-E3DA-D1E5-DB00200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9CE-BB58-DA3C-9852-5E7D6CB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7004B-7722-CBB9-C1EC-1A6DF38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오염원이 배출한 오염물질이 환경오염에 미치는 정도가 다르다면 앞선 비용효과성의 달성은 충족 하지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직관적으로 혹은 상식적으로 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배출하는 오염물질 한 단위가 오염원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 비해 오염도에 두 배의 영향을 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대한 </a:t>
                </a:r>
                <a:r>
                  <a:rPr lang="ko-KR" altLang="en-US" sz="1600" spc="-50" dirty="0" err="1"/>
                  <a:t>부과금률은</a:t>
                </a:r>
                <a:r>
                  <a:rPr lang="ko-KR" altLang="en-US" sz="1600" spc="-50" dirty="0"/>
                  <a:t>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부과금률의</a:t>
                </a:r>
                <a:r>
                  <a:rPr lang="ko-KR" altLang="en-US" sz="1600" spc="-50" dirty="0"/>
                  <a:t> 두 배가 되어야 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이는 아래와 같이 수식으로 도출할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Chapter 6</a:t>
                </a:r>
                <a:r>
                  <a:rPr lang="ko-KR" altLang="en-US" sz="1600" spc="-50" dirty="0"/>
                  <a:t>의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오염도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내용에서 설명하는 전이계수를 활용하면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특정지역의 오염도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규제도입 시 각 오염원이 저감하는 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전이계수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자연적으로 발생하는 오염도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실제 오염도라고 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blipFill>
                <a:blip r:embed="rId2"/>
                <a:stretch>
                  <a:fillRect l="-295" r="-649" b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/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E1F928-764C-424E-6E6D-13EC373B19DA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49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E5EE-7DFB-2F74-4B4F-6211AA4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671A-648F-5B68-C90B-A18E4AE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B21EF-CE46-922B-E63A-F34917F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   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뒷장에 이어 계속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목표로 하는 오염도가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:r>
                  <a:rPr lang="ko-KR" altLang="en-US" sz="1600" spc="-50" dirty="0" err="1"/>
                  <a:t>비용효과적인</a:t>
                </a:r>
                <a:r>
                  <a:rPr lang="ko-KR" altLang="en-US" sz="1600" spc="-50" dirty="0"/>
                  <a:t> 정책이란 정부 목표를 달성하고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최소화 함을 의미함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제약하의 최소화 문제는 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사용하여 풀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전체 저감비용이 최소화 되기 위해서는 다음의 조건들이 충족되어야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비용효과성이 충족되기 위해서는 각 오염원의 한계저감비용과 전이계수의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동일해야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비율은 피해지역의 오염도를 한 단위 더 줄이는 데 소요되는 전체 저감비용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같아야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blipFill>
                <a:blip r:embed="rId2"/>
                <a:stretch>
                  <a:fillRect l="-295" b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/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/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7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DD8-22B6-25D7-F922-1247B5D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D24D-14B0-3F72-9795-CA5F4628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1FAB6-E2C4-EAC1-1632-5D6D550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C462-123D-0562-3EB2-BDF3F432625E}"/>
              </a:ext>
            </a:extLst>
          </p:cNvPr>
          <p:cNvSpPr txBox="1"/>
          <p:nvPr/>
        </p:nvSpPr>
        <p:spPr>
          <a:xfrm>
            <a:off x="678873" y="958844"/>
            <a:ext cx="103316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구획화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 오염물질이 지역에 영향을 미치는 정도가 서로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오염원별로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적용해야 충족되지만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모든 오염원들의 전이계수를 알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구획배출부과금제는 오염이 발생하는 전체 지역을 몇 개의 구획으로 나눈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구획에 포함되는 오염원들에 대해서는 동일한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</a:t>
            </a:r>
            <a:r>
              <a:rPr lang="ko-KR" altLang="en-US" sz="1600" spc="-50" dirty="0" err="1"/>
              <a:t>구획간에는</a:t>
            </a:r>
            <a:r>
              <a:rPr lang="ko-KR" altLang="en-US" sz="1600" spc="-50" dirty="0"/>
              <a:t> 오염에 미치는 영향에 따라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구획화 제도는 오염물질이 이질적임에도 불구하고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획일적인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적용함으로써 발생하는 비효율성을 완화해줄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8246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322B-ADF4-2350-4248-49ADC560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배출부과금제의 기술혁신 유인 </a:t>
            </a:r>
            <a:r>
              <a:rPr lang="en-US" altLang="ko-KR" dirty="0"/>
              <a:t>(vs. </a:t>
            </a:r>
            <a:r>
              <a:rPr lang="ko-KR" altLang="en-US" dirty="0"/>
              <a:t>직접규제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8398-7697-3D62-4D65-D8DE313A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699BEB-E638-C837-1C03-50CBAD56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388" y="1171157"/>
            <a:ext cx="4537062" cy="536575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A0E323A-57BB-B134-F273-041A0CA95D0B}"/>
              </a:ext>
            </a:extLst>
          </p:cNvPr>
          <p:cNvCxnSpPr>
            <a:cxnSpLocks/>
          </p:cNvCxnSpPr>
          <p:nvPr/>
        </p:nvCxnSpPr>
        <p:spPr>
          <a:xfrm flipH="1">
            <a:off x="8718550" y="385403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E8742C-0BAF-2826-A6C3-85F7D71FA41A}"/>
              </a:ext>
            </a:extLst>
          </p:cNvPr>
          <p:cNvSpPr txBox="1"/>
          <p:nvPr/>
        </p:nvSpPr>
        <p:spPr>
          <a:xfrm>
            <a:off x="8318500" y="48921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4DE905-F8A3-E331-571A-3BF7E2349949}"/>
              </a:ext>
            </a:extLst>
          </p:cNvPr>
          <p:cNvSpPr txBox="1"/>
          <p:nvPr/>
        </p:nvSpPr>
        <p:spPr>
          <a:xfrm>
            <a:off x="8984375" y="52096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10C73-5A81-C442-A680-CFBB7D247010}"/>
              </a:ext>
            </a:extLst>
          </p:cNvPr>
          <p:cNvSpPr txBox="1"/>
          <p:nvPr/>
        </p:nvSpPr>
        <p:spPr>
          <a:xfrm>
            <a:off x="9520075" y="539432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2C889-2544-EA61-E1CB-A60EABE25BF6}"/>
              </a:ext>
            </a:extLst>
          </p:cNvPr>
          <p:cNvSpPr txBox="1"/>
          <p:nvPr/>
        </p:nvSpPr>
        <p:spPr>
          <a:xfrm>
            <a:off x="9109075" y="4376486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072BF-C166-8C4C-F44C-A4692FCA8C81}"/>
              </a:ext>
            </a:extLst>
          </p:cNvPr>
          <p:cNvSpPr txBox="1"/>
          <p:nvPr/>
        </p:nvSpPr>
        <p:spPr>
          <a:xfrm>
            <a:off x="9520075" y="4840327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하면 오염원은 배출량을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→e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로 줄이게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직접규제로서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배출기준이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 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해도 오염원은 배출량을 변화시키지 않음 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그대로 유지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배출부과금제도가 기술 혁신 유도에 더 큰 유인을 제공함 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c+d</a:t>
                </a:r>
                <a:r>
                  <a:rPr lang="en-US" altLang="ko-KR" sz="1600" spc="-50"/>
                  <a:t>&gt;d)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blipFill>
                <a:blip r:embed="rId3"/>
                <a:stretch>
                  <a:fillRect r="-437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99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F468-0CAC-7334-DED0-D8693E50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정책 집행비용과 대안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4BCF0-0175-0EEB-68CE-C8A1AE2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28C27-4B4B-6EAE-0C26-CAD877D58911}"/>
              </a:ext>
            </a:extLst>
          </p:cNvPr>
          <p:cNvSpPr txBox="1"/>
          <p:nvPr/>
        </p:nvSpPr>
        <p:spPr>
          <a:xfrm>
            <a:off x="678873" y="958844"/>
            <a:ext cx="103316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정책비용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배출부과금제도는 효율성과 기술혁신 유인 측면에서 직접규제에 비해 우월하지만 현실에서는 직접규제가 더 많이 사용되고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부과금제도의 집행비용이 직접규제의 집행비용보다 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부과금제도를 집행하기 위해서는 오염원의 배출량 및 그에 대한 정보를 파악하고 있어야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비점원오염의 경우 배출 정보를 파악하기 매우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정책대안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배출부과금제도의 장점을 가지고 있음과 동시에 집행비용을 절약할 수 있는 정책수단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제품부과금 혹은 </a:t>
            </a:r>
            <a:r>
              <a:rPr lang="ko-KR" altLang="en-US" sz="1600" spc="-50" dirty="0" err="1"/>
              <a:t>상품세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폐기물예치금제도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879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AA64-8B59-6853-CD6D-5E05A7D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AB9A58-8177-142B-34A7-D126A613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842" y="2564934"/>
            <a:ext cx="3341608" cy="38253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58821C-C473-2E1B-EB4E-9FE4E29A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제품부과금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24D01-E31F-44EE-DFD0-46E7615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제품부과금 혹은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상품세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계측하는 대신 기업이 생산하는 제품 단위당 세금을 매기는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그래프는 완전경쟁시장임을 가정하자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기업이 생산량을 변화시켜도 시장가격은 변하지 않으므로 수평의 수요곡선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기업의 </a:t>
                </a:r>
                <a:r>
                  <a:rPr lang="ko-KR" altLang="en-US" sz="1600" spc="-50" dirty="0" err="1"/>
                  <a:t>한계비용곡선이며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생산하는데 배출되는 </a:t>
                </a:r>
                <a:r>
                  <a:rPr lang="ko-KR" altLang="en-US" sz="1600" spc="-50" dirty="0" err="1"/>
                  <a:t>오염물질량이</a:t>
                </a:r>
                <a:r>
                  <a:rPr lang="ko-KR" altLang="en-US" sz="1600" spc="-50" dirty="0"/>
                  <a:t> 사회적으로 너무 많다고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제품의 특성상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제품을 한 단위 생산하는데 배출되는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오염물질 배출로 인해 발생하는 사회적 </a:t>
                </a:r>
                <a:r>
                  <a:rPr lang="ko-KR" altLang="en-US" sz="1600" spc="-50" dirty="0" err="1"/>
                  <a:t>손실량을</a:t>
                </a:r>
                <a:r>
                  <a:rPr lang="ko-KR" altLang="en-US" sz="1600" spc="-50" dirty="0"/>
                  <a:t> 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생산을 유도하기 위하여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제품 단위당 세금의 형태로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기업의 한계비용 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상향 평행 이동하여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생산하게 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정책비용이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정부는 오염물질 계측 보다는 생산량 파악이 쉬움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환경관련 이유를 제외하고 이미 다양한 세금을 생산량 기반으로 징수하고 있음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효율성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다만 기업은 반드시 생산량을 통해 배출량을 줄여야 하므로 약간의 경직성이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blipFill>
                <a:blip r:embed="rId3"/>
                <a:stretch>
                  <a:fillRect l="-369" r="-295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69547743-C357-68C5-03E1-8AA762334512}"/>
              </a:ext>
            </a:extLst>
          </p:cNvPr>
          <p:cNvSpPr/>
          <p:nvPr/>
        </p:nvSpPr>
        <p:spPr>
          <a:xfrm>
            <a:off x="9685090" y="4543831"/>
            <a:ext cx="226503" cy="594908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/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574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B3AD-AAC3-CD28-C6E1-6485489E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C697-F146-D22B-5055-27F6C6CA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쌀 </a:t>
            </a:r>
            <a:r>
              <a:rPr lang="en-US" altLang="ko-KR" dirty="0"/>
              <a:t>vs. </a:t>
            </a:r>
            <a:r>
              <a:rPr lang="ko-KR" altLang="en-US" dirty="0"/>
              <a:t>논 어디에 보조를 해야 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7403-0E58-F676-4946-72C077A1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7719-E560-6D8B-22CD-993C06B86E2C}"/>
              </a:ext>
            </a:extLst>
          </p:cNvPr>
          <p:cNvSpPr txBox="1"/>
          <p:nvPr/>
        </p:nvSpPr>
        <p:spPr>
          <a:xfrm>
            <a:off x="678873" y="958844"/>
            <a:ext cx="1078896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농업의 긍정적 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농업은 쌀과 같은 시장재를 생산하기도 하지만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홍수조절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 제공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생태계다양성 지지 등과 같이 긍정적인 외부효과를 주기도 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한국과 같은 일부 농산물 수입국들은 개방화로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위와 같이 긍정적 외부효과를 갖고 있는 자국의 농업이 위축되는 것을 우려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호주와 같은 농산물 수출국들은 위에 설명한 농업의 긍정적 외부효과를 강조하는 것은 무역장벽을 설치하기 위한 변명에 불과하다는 입장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긍정적 외부효과에 대한 정부의 보상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논이 외부효과를 발생시키는 것이지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논에서 생산된 쌀이 외부효과를 발생시키는 것이 아니기 때문에 쌀 생산량과 관계 없이 농지 소유에 대해 보상급을 지급하면 된다는 입장이 있고</a:t>
            </a:r>
            <a:r>
              <a:rPr lang="en-US" altLang="ko-KR" sz="1600" spc="-50" dirty="0"/>
              <a:t>,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반론으로 논이 제공하는 긍정적 외부효과를 측정하고 적절한 대가를 지급하는 데 비용이 많이 들기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농산물가격을 적절히 높여 줌으로써 보상해주는 것이 바람직하다는 주장도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배출부과금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제품부과금 논쟁과 유사한 맥락임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0680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A63F-4AF4-B21F-4DC6-D4A8461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1A591-EAEB-02C6-EACA-ED0BA1E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폐기물예치금제도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81E31-66EB-86FD-829A-3DF00E66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4017CC-B7A9-9AB6-D340-B35DE512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84" y="2330667"/>
            <a:ext cx="3674303" cy="4206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/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생산자책임재활용제도로</a:t>
                </a:r>
                <a:r>
                  <a:rPr lang="ko-KR" altLang="en-US" sz="1600" spc="-50" dirty="0"/>
                  <a:t> 불리기도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예를 들면 음료수 생산자가 판매한 음료수의 빈 병을 회수하여 재활용할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미리 예치 </a:t>
                </a:r>
                <a:r>
                  <a:rPr lang="ko-KR" altLang="en-US" sz="1600" spc="-50" dirty="0" err="1"/>
                  <a:t>해놓은</a:t>
                </a:r>
                <a:r>
                  <a:rPr lang="ko-KR" altLang="en-US" sz="1600" spc="-50" dirty="0"/>
                  <a:t> 금액을 되돌려 받거나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회수하지 못한 병에 대해서는 예치한 금액을 포기해야 하는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그래프에서 기업이 판매한 음료수가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병이라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개의 음료 중에 수거가 되지 않은 버려진 병의 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MB</a:t>
                </a:r>
                <a:r>
                  <a:rPr lang="ko-KR" altLang="en-US" sz="1600" spc="-50" dirty="0"/>
                  <a:t> 곡선은 생산자가 병을 수거하지 않아서 얻는 한계편익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병을 수거하는데 소요되는 노동 및 시간비용을 절감함여 얻는 편익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이때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병을 모두 버리고자 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빈 병이 수거되지 않으면 사회적 한계비용이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곡선과 같은 형태로 나타남</a:t>
                </a:r>
                <a:r>
                  <a:rPr lang="en-US" altLang="ko-KR" sz="1600" spc="-50" dirty="0"/>
                  <a:t>. ‘</a:t>
                </a:r>
                <a:r>
                  <a:rPr lang="ko-KR" altLang="en-US" sz="1600" spc="-50" dirty="0"/>
                  <a:t>버려진 빈 병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 사회적 최적은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600" spc="-50" dirty="0"/>
                  <a:t>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버려져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기업에게 빈 병 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만큼의 예치금을 부과하면 버리는 병의 한계비용이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로 상향 평행이동 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이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기업은 </a:t>
                </a:r>
                <a:r>
                  <a:rPr lang="en-US" altLang="ko-KR" sz="1600" spc="-50" dirty="0"/>
                  <a:t>100-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병을 수거하게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blipFill>
                <a:blip r:embed="rId3"/>
                <a:stretch>
                  <a:fillRect r="-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7C0C1A57-685C-64D5-F331-1AA0D4C5E5E7}"/>
              </a:ext>
            </a:extLst>
          </p:cNvPr>
          <p:cNvSpPr/>
          <p:nvPr/>
        </p:nvSpPr>
        <p:spPr>
          <a:xfrm>
            <a:off x="9849330" y="4711787"/>
            <a:ext cx="226503" cy="1342937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/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91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7633-0C6A-8C65-C401-912A1A9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ACFD5-2DED-091B-2D64-43B81D2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5597E-147A-E549-47FD-A859259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CB0DEB-81C1-3522-F5D7-ADA9A1C45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771" y="1134532"/>
            <a:ext cx="4784679" cy="54773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저감시설에 대한 보조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오염물질 저감시설 설치를 위해 기업에게 보조금을 지급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축산폐수 정화시설에 대한 보조금 효과를 보여주고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ko-KR" altLang="en-US" sz="1600" spc="-50" dirty="0"/>
                  <a:t>는 정화시설 생산을 위한 한계비용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축산농가가 정화시설에 대해 갖는 한계가치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질병감소 등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정화시설 설치로 인해 농가 외의 사람들도 편익이 발생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양의 외부효과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높이 위치함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보다 작은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설치가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규모당 보조금을 지불하면 정화시설의 단위규모당 실질 구입가격이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되어 사회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오염자의 수익성을 저해하지 않는 정책이긴 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저감시설에 대한 보조정책은 오염원이 취할 수 있는 다양한 저감노력 가운데 한 가지 방법에 대해서만 지원하므로 비교적 경직된 제도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blipFill>
                <a:blip r:embed="rId4"/>
                <a:stretch>
                  <a:fillRect l="-433" r="-173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09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8102-D93A-42B6-C71A-F10D6E0F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21B40-5C28-B520-545E-F4BB6AF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FC3E3-4EE9-C3AB-F3E2-43EC8CC2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저감에 대한 보조금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오염물질 배출상한을 부여하고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그 배출상한보다 적은 양을 배출하면 그 차이에 대해 단위당 오염원에게 보조금을 지급하는 정책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배웠듯이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배출량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배출부과금을 징수하면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수준에서 오염물질을 배출하게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반대로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수준보다 적은 양을 배출하면 그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대해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보조금을 지급한다고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경우에도 오염원은 최적 배출량인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선택하게 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이상으로 배출을 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 한 단위 줄이면서 얻는 보상이 한계저감비용보다 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배출을 하게 되면 보조금이 한계저감비용보다 작기 때문임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저감에 대한 보조금 제도를 사용해도 배출부과금제도와 마찬가지로 사회적으로 최적인 배출량을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blipFill>
                <a:blip r:embed="rId3"/>
                <a:stretch>
                  <a:fillRect l="-433" r="-173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C08F19-F65E-7BDA-11FD-67F085EB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8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21B8-B65C-70AE-9431-55A4AC6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85-58E7-180F-C909-C25B204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8837A-BB99-1E42-8386-2D37BE9B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645D-6731-FCB0-1ED3-29FEAAC6355B}"/>
              </a:ext>
            </a:extLst>
          </p:cNvPr>
          <p:cNvSpPr txBox="1"/>
          <p:nvPr/>
        </p:nvSpPr>
        <p:spPr>
          <a:xfrm>
            <a:off x="678873" y="958844"/>
            <a:ext cx="113035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대칭성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저감보조금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본 같은 수준의 배출부과금과 저감보조금은 완전히 동일한 배출량을 유도함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비대칭성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장기적으로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 보조금을 기업에 줄 경우에는 기업의 이윤이 늘어나기 때문에 새로운 기업이 산업에 진입하게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산업 전체의 생산량과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 증가를 초래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대칭성 조건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전체에 허용된 배출량을 고정할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정책이 시행되는 최초 시점에 정부는 그 당시의 기업들이 배출할 수 있는 상한을 정해주되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상한의 합이 변하지 않도록 하여야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 시점의 기업들은 배출상한 대비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대해서는 보조금을 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 배출량에 대해 부과금을 납부하게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 진입하는 기업은 배출상한을 부여 받지 못하고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</a:t>
            </a:r>
            <a:r>
              <a:rPr lang="ko-KR" altLang="en-US" sz="1600" spc="-50" dirty="0" err="1"/>
              <a:t>배출양</a:t>
            </a:r>
            <a:r>
              <a:rPr lang="ko-KR" altLang="en-US" sz="1600" spc="-50" dirty="0"/>
              <a:t> 전체에 대해 부과금을 지불하거나 혹은 최초 시점의 </a:t>
            </a:r>
            <a:r>
              <a:rPr lang="ko-KR" altLang="en-US" sz="1600" spc="-50" dirty="0" err="1"/>
              <a:t>기업들로부터</a:t>
            </a:r>
            <a:r>
              <a:rPr lang="ko-KR" altLang="en-US" sz="1600" spc="-50" dirty="0"/>
              <a:t> 배출상한을 구입하여야 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13181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7C63-5F5F-8D38-0E36-4F856EEA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BFB38-B56A-61D6-ABA9-685CF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52D74-65B9-4224-F515-B5024E9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(1)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최초 기업이 부여 받은 배출상한을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저감보조금제도가 시행되는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i="0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배출부과금제도가 시행되는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기업의 저감에 대한 단위당 보조금이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이는 오른쪽 그래프의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600" spc="-50" dirty="0"/>
                  <a:t>럼 최적배출량에서의 한계피해액과 같은 금액이다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기업의 실제 배출량을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라고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정부로부터 받는 보조금은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새로 진입하는 기업이 배출상한을 구입하면 그 가격은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배출상한을 구매하는 기업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판매하는 기업 입장을 모두 고려하면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될 수 밖에 없음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blipFill>
                <a:blip r:embed="rId2"/>
                <a:stretch>
                  <a:fillRect l="-460" b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5859C-0BB6-4FF9-2093-8C8D646A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8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BD14-EAE7-5EDE-5195-49A50F17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1A050-0DBB-212B-6D0E-669A6398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87E3D-D008-FBC4-D90A-E3F785A8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(2)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배출부과금과 저감보조금이 같다는 사실을 확인해보자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만큼 배출하고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만큼 생산할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부담하는 생산비가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기업이 산업을 떠나지 않고 생산함으로 인해 부담하는 총 기회비용은 아래와 같음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b="0" i="1" spc="-5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ba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spc="-50" dirty="0"/>
                        <m:t>·</m:t>
                      </m:r>
                      <m:bar>
                        <m:barPr>
                          <m:pos m:val="top"/>
                          <m:ctrlPr>
                            <a:rPr lang="en-US" altLang="ko-KR" sz="2000" i="1" spc="-5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bar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spc="-50" dirty="0"/>
                        <m:t>·</m:t>
                      </m:r>
                      <m:r>
                        <m:rPr>
                          <m:sty m:val="p"/>
                        </m:rPr>
                        <a:rPr lang="en-US" altLang="ko-KR" sz="2000" b="0" i="0" spc="-50" dirty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생산비용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ba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정부로 받은 보조금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배출권을 다른 기업에 팔지 않은 기회비용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최적 </a:t>
                </a:r>
                <a:r>
                  <a:rPr lang="ko-KR" altLang="en-US" sz="1600" spc="-50" dirty="0" err="1"/>
                  <a:t>오염량에서의</a:t>
                </a:r>
                <a:r>
                  <a:rPr lang="ko-KR" altLang="en-US" sz="1600" spc="-50" dirty="0"/>
                  <a:t> 오염의 </a:t>
                </a:r>
                <a:r>
                  <a:rPr lang="ko-KR" altLang="en-US" sz="1600" spc="-50" dirty="0" err="1"/>
                  <a:t>한계피해액이기</a:t>
                </a:r>
                <a:r>
                  <a:rPr lang="ko-KR" altLang="en-US" sz="1600" spc="-50" dirty="0"/>
                  <a:t>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느끼는 자신의 총 기회비용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이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e</m:t>
                    </m:r>
                    <m:r>
                      <a:rPr lang="ko-KR" altLang="en-US" sz="1600" spc="-5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오염물질을 배출하면서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를 생산할 때 발생하는 사회적 비용과 완전히 동일하다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장기에도 기업의 외부효과는 완전히 </a:t>
                </a:r>
                <a:r>
                  <a:rPr lang="ko-KR" altLang="en-US" sz="1600" spc="-50" dirty="0" err="1"/>
                  <a:t>내부화되어</a:t>
                </a:r>
                <a:r>
                  <a:rPr lang="ko-KR" altLang="en-US" sz="1600" spc="-50" dirty="0"/>
                  <a:t> 기업이 자신이 배출한 오염물질이 유발하는 사회적 피해까지도 인식하게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사회적 최적이 달성된다는 뜻을 담고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최초에 허용된 배출량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의해 영향을 받지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최초 시점의 기업에게 보조금을 주던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징수하던 기업의 의사결정에는 영향을 주지 못함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blipFill>
                <a:blip r:embed="rId2"/>
                <a:stretch>
                  <a:fillRect l="-271" r="-271" b="-3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0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165DAF-CF68-F2C1-52EF-29EC47CE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65" y="817926"/>
            <a:ext cx="4887835" cy="55954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A802B2-4291-27D3-E8A2-A82FBFA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74165-AA22-1C79-4A53-7DF26A4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종류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중립세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(lump-sum tax)</a:t>
                </a:r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소비자에게 특정 금액을 세금으로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줄고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변하지 않음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물품세</a:t>
                </a:r>
                <a:r>
                  <a:rPr lang="en-US" altLang="ko-KR" sz="1600" spc="-50" dirty="0"/>
                  <a:t>(excise tax)</a:t>
                </a:r>
                <a:r>
                  <a:rPr lang="ko-KR" altLang="en-US" sz="1600" spc="-50" dirty="0"/>
                  <a:t>는 소비자가 구입하는 상품에 세금을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변하지 않으나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초과부담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어떠한 외부효과가 없을 때의 시장균형은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달성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제품 한 단위에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세금을 부과하면 소비자가격은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줄어들고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생산자가격은 여전히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예전보다 줄어든 소비자가 더 높은 가격으로 제품을 구입하게 </a:t>
                </a:r>
                <a:r>
                  <a:rPr lang="ko-KR" altLang="en-US" sz="1600" spc="-50" dirty="0" err="1"/>
                  <a:t>되서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A+B</a:t>
                </a:r>
                <a:r>
                  <a:rPr lang="ko-KR" altLang="en-US" sz="1600" spc="-50" dirty="0"/>
                  <a:t>만큼의 소비자 잉여가 감소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생산자잉여는 여전히 </a:t>
                </a:r>
                <a:r>
                  <a:rPr lang="en-US" altLang="ko-KR" sz="1600" spc="-50" dirty="0"/>
                  <a:t>0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만큼의 조세수입을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만큼의 사회적 손실이 발생하고 이를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조세의 초과부담 이라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blipFill>
                <a:blip r:embed="rId3"/>
                <a:stretch>
                  <a:fillRect l="-421" r="-253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46E4C31A-A84D-9B90-6266-4B64772AC06B}"/>
              </a:ext>
            </a:extLst>
          </p:cNvPr>
          <p:cNvSpPr/>
          <p:nvPr/>
        </p:nvSpPr>
        <p:spPr>
          <a:xfrm>
            <a:off x="7693237" y="2514688"/>
            <a:ext cx="226503" cy="874626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/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0788E0-75D7-5929-F32F-7A82BB51B949}"/>
              </a:ext>
            </a:extLst>
          </p:cNvPr>
          <p:cNvSpPr txBox="1"/>
          <p:nvPr/>
        </p:nvSpPr>
        <p:spPr>
          <a:xfrm>
            <a:off x="8304127" y="272888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FB1E9-BE2E-CCC3-2D84-D305BB794BC2}"/>
              </a:ext>
            </a:extLst>
          </p:cNvPr>
          <p:cNvSpPr txBox="1"/>
          <p:nvPr/>
        </p:nvSpPr>
        <p:spPr>
          <a:xfrm>
            <a:off x="9184630" y="287989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521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1F28-6CE5-3DFC-ADE7-BA7DCB56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A6993-EAF6-9D40-B9B6-1DAE09EB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여러 품목에 대한 상품세가 부과되는 경우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정부가 계획하는 조세수입이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상품이 한 종류라면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상품세를 징수하면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여러 품목에 대해 세금을 부과하는 경우 품목별로 다양한 세율조합을 통해 조세수입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세율과 수요의 가격탄력성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수요곡선의 기울기가 가파르면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작아진다는 것을 알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가격에 대해 둔감한 상품의 경우 조세부과로 인해 시장가격이 왜곡되어도 소비자의 수요량이 잘 안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사회적손실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최소화 하기 위해서는 수요가 잘 안 변하는 상품은 높은 세율을 적용하고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수요가 민감하게 변하는 상품에 대해서는 낮은 세율을 적용해야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램지</a:t>
                </a:r>
                <a:r>
                  <a:rPr lang="en-US" altLang="ko-KR" sz="1600" spc="-50" dirty="0"/>
                  <a:t>(Ramsey) </a:t>
                </a:r>
                <a:r>
                  <a:rPr lang="ko-KR" altLang="en-US" sz="1600" spc="-50" dirty="0"/>
                  <a:t>규칙에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최적세의 조건은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 상품에 부과된 </a:t>
                </a:r>
                <a:r>
                  <a:rPr lang="ko-KR" altLang="en-US" sz="1600" spc="-50" dirty="0" err="1"/>
                  <a:t>상품세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spc="-5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x </a:t>
                </a:r>
                <a:r>
                  <a:rPr lang="ko-KR" altLang="en-US" sz="1600" spc="-50" dirty="0"/>
                  <a:t>상품 수요의 가격탄력성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616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5C04-6F32-9ECA-4180-EF878694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0B09-ADD1-53E0-28F9-9FC847C4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환경세의 이중편익가설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3C0A0-ACA1-A3D3-518F-63AE3FA0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환경세의 이중편익가설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환경세는 외부효과 완화라는 사회적 이득을 얻으면서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추가로 세입도 함께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추가 세입으로 일반 상품세의 징수액을 줄여주면 일반 상품세가 유발하는 조세의 초과부담이라는 손실까지 줄여줄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세가지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있을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청정재이고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오염재라고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대해서는 세금이 없어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대해서는 상품세가 부과되어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오로지 정부세입을 위해 징수하고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오로지 외부효과를 제거하기 위해 징수하고 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문제는 정부세입이 목적이 아니었던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통해 확보한 정부세입을 어떻게 활용할 것인가 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가지 방법이 있을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통한 세입을 소비자들에게 똑같이 환급을 해주거나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그 세입만큼 청정재에 대한 세금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줄여줄 수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이중편익 가설은 두번째 방법을 선택했을 때의 사회적 후생이 더 커진다는 주장이다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환경세입이 징수과정에서 초과부담문제를 유발하는 다른 세입을 대체하면 환경개선효과에 더하여 다른 조세 징수과정에서 발생하는 초과부담을 줄이는 추가 편익까지 얻게 된다는 의미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세입재활용효과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blipFill>
                <a:blip r:embed="rId2"/>
                <a:stretch>
                  <a:fillRect l="-270" r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226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3B13F15-FA5F-5988-402B-92E8990BE1B1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9" name="그림 8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852E153-0E81-5586-EA34-39321E46E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305BBC-4414-837E-6060-1AB2F7A47698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429BD7-824C-A463-E389-A9988ECB2BC9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856BEA-74EC-5B8A-C1AA-85CC21C35A46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331819-BDB6-9D56-DFA5-505916C374CC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D78934-A8C8-83C4-8CC0-DC60B4F42679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20D4A6-B67A-6888-E65E-2A6CFDBEDE99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29FCBA-895A-1348-D06C-C3F35029F0CC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2824C9-4F04-FB60-9B32-205D12C0149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B8037E-6A5D-2459-A6EB-3E44700FCD37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09F694-2262-F9A2-2B4A-9D086E07D1B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C86793-A0E6-A176-28A9-D8EC0B9CE2DA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C1BA18-A432-1478-A297-A94499573EB9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E76B64-E5EC-0AF7-8BD0-777F07070B5C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167CEFC-1959-FB19-ADAF-BDEFAD756CC6}"/>
              </a:ext>
            </a:extLst>
          </p:cNvPr>
          <p:cNvSpPr txBox="1"/>
          <p:nvPr/>
        </p:nvSpPr>
        <p:spPr>
          <a:xfrm>
            <a:off x="191193" y="958844"/>
            <a:ext cx="4818677" cy="5461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행동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한계수입과 한계비용이 일치하는 수량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가격</a:t>
            </a:r>
            <a:r>
              <a:rPr lang="en-US" altLang="ko-KR" sz="1600" spc="-50" dirty="0"/>
              <a:t>: P</a:t>
            </a:r>
            <a:r>
              <a:rPr lang="en-US" altLang="ko-KR" sz="1600" spc="-50" baseline="-25000" dirty="0"/>
              <a:t>M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독점기업이 완전경쟁기업처럼 행동한다면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C, </a:t>
            </a:r>
            <a:r>
              <a:rPr lang="ko-KR" altLang="en-US" sz="1600" spc="-50" dirty="0"/>
              <a:t>이 때 가격은</a:t>
            </a:r>
            <a:r>
              <a:rPr lang="en-US" altLang="ko-KR" sz="1600" spc="-50" dirty="0"/>
              <a:t> P</a:t>
            </a:r>
            <a:r>
              <a:rPr lang="en-US" altLang="ko-KR" sz="1600" spc="-50" baseline="-25000" dirty="0"/>
              <a:t>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만큼 생산할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독점기업의 이점을 통해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M </a:t>
            </a:r>
            <a:r>
              <a:rPr lang="ko-KR" altLang="en-US" sz="1600" spc="-50" dirty="0"/>
              <a:t>만을 생산함으로써 </a:t>
            </a:r>
            <a:r>
              <a:rPr lang="en-US" altLang="ko-KR" sz="1600" spc="-50" dirty="0"/>
              <a:t>P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abP</a:t>
            </a:r>
            <a:r>
              <a:rPr lang="en-US" altLang="ko-KR" sz="1600" spc="-50" baseline="-25000" dirty="0"/>
              <a:t>c</a:t>
            </a:r>
            <a:r>
              <a:rPr lang="ko-KR" altLang="en-US" sz="1600" spc="-50" dirty="0"/>
              <a:t>에 해당하는 이윤을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비용은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발생함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독점기업에 대한 </a:t>
            </a: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설정은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오염배출량이 생산량에 비례하는 경우와 그렇지 않은 경우로 나누어 생각해볼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385B3-4793-A44C-46FF-1C27A342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C2116-95BF-C79E-09C1-D29224E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A9C0A1-1FA3-7606-4636-ECA1313888E0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61B0619-C987-D177-4639-5B8127621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AFACD5-1206-E254-31A3-7887EF96B48D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51CB4B-F4EC-2F79-451C-60475067FE63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1FC7AB-6E27-94C0-EA4F-E1EADE1FED1A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399FA6-FAE9-B20E-823A-7B6C6B82B9B6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E4DA52-B0BA-59E3-0059-DE95B28AC25A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29EE2B-FFEF-6BE7-91B6-37116E40DF37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9208EB-2C47-685D-1678-AF31CC3BFE1B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192EE9-30E4-B94E-5974-F05F3EDC60AF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63944-34A8-B956-8BB1-56A9DEEB384E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2E69F2-2800-2ED1-8CD2-AA11FC35EE5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CBBDFB-F4FD-D8BC-8DD5-D87FB3AFD714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863288-B5DE-D7B9-C55E-65236BF1C29D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A6CE94-E00C-4C2F-BA29-51A5E2194BD0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68687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독점기업에게 최적 환경세는</a:t>
                </a:r>
                <a:r>
                  <a:rPr lang="en-US" altLang="ko-KR" sz="1600" spc="-50" dirty="0"/>
                  <a:t>?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와 같이 비례한다고 하자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spc="-50" dirty="0"/>
                  <a:t>는 배출량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생산량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1600" spc="-50" dirty="0"/>
                  <a:t>는 임의의 비례상수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P </a:t>
                </a:r>
                <a:r>
                  <a:rPr lang="ko-KR" altLang="en-US" sz="1600" spc="-50" dirty="0"/>
                  <a:t>에서 단위당 한계피해를 더하여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 </a:t>
                </a:r>
                <a:r>
                  <a:rPr lang="ko-KR" altLang="en-US" sz="1600" spc="-50" dirty="0"/>
                  <a:t>가 된다면 사회적 최적 생산량과 시장가격은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, 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 입장에서는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제품 부과금을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생산량을 줄이고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</a:t>
                </a:r>
                <a:r>
                  <a:rPr lang="en-US" altLang="ko-KR" sz="1600" spc="-50" dirty="0"/>
                  <a:t> (Q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과는 괴리가 더 커짐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동시에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해당하는 보조금을 지급하면</a:t>
                </a:r>
                <a:r>
                  <a:rPr lang="en-US" altLang="ko-KR" sz="1600" spc="-50" dirty="0"/>
                  <a:t>, MR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이동하여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ko-KR" altLang="en-US" sz="1600" spc="-50" dirty="0"/>
                  <a:t>을 충족하는 사회적 최적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생산 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 가격은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제품 부과금과 보조금 각각을 실행하지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순 효과인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부과금만 적용해도 사회적 최적은 달성 가능</a:t>
                </a:r>
                <a:endParaRPr lang="en-US" altLang="ko-KR" sz="1600" spc="-5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686878"/>
              </a:xfrm>
              <a:prstGeom prst="rect">
                <a:avLst/>
              </a:prstGeom>
              <a:blipFill>
                <a:blip r:embed="rId3"/>
                <a:stretch>
                  <a:fillRect r="-253" b="-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22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5FA2-8AEB-CEC1-8E77-F6936B2D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C64CE-5A13-6C0C-7C0E-15358554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C386-6993-44A4-A1C4-A85BD217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AEB6E3-9FA9-7F6B-6077-7C893034F0C6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38FC4FE-5D5B-A8E1-6C62-A6A14E3A6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A004D5-CE89-0BB9-D3DF-9D5767BF2FB7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A9DBB8-834E-58D5-8811-0FF782249687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BD89D1-33F8-949B-C395-DDD31353CA80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129AAF-AFF7-66A2-2F72-34068B76E212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E7960B-08BE-A699-AB3E-D3EE8521F26C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AF7F61-68B3-3E59-9266-3A148D8D2CC4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BA1DAB-4717-42ED-86C3-9523E873EAC9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FBE1E7-1E9D-DE9D-8A28-63F6472BE00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4129BA-0B0A-D095-7B4D-AD824D8DEAD3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0064B0-98C5-49A1-9164-34A72E7F60C4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C693D0-1A36-7BFA-40C0-991DABC64EAC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3B53D7F-8014-ADDB-CF5C-9AA5AF222FB4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43F99B-579B-62D1-17E4-C8204F687B74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보조금을 한계수입을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높인다고 해석할 수도 있지만 생산비를 그만큼 낮춘다고도 해석 가능함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해석에 따르면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부과금은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은 불변인 채 한계생산비를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이동시키고</a:t>
                </a:r>
                <a:r>
                  <a:rPr lang="en-US" altLang="ko-KR" sz="1600" spc="-50" dirty="0"/>
                  <a:t>, MR = MC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인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선택되게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사회적 최적 배출량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ko-KR" altLang="en-US" sz="1600" spc="-50" dirty="0"/>
                  <a:t>는 사회적 최적생산량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에서의 오염 한계피해액과 같고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사회적 최적 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평균수입과 한계수입의 격차이기도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 제품부과금은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92075" algn="ctr">
                  <a:lnSpc>
                    <a:spcPct val="150000"/>
                  </a:lnSpc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i="1" spc="-50">
                        <a:latin typeface="Cambria Math" panose="02040503050406030204" pitchFamily="18" charset="0"/>
                      </a:rPr>
                      <m:t>MR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blipFill>
                <a:blip r:embed="rId3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430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D4106-F315-E1F3-E700-2C5802F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160B-9794-7FD8-643D-9C5BF07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독점기업에 대한 최적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보았듯이 오염물질 배출량이 생산량에 비례하는 경우에는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크거나 작을 수도 있는 제품부과금 한 가지만으로 독점과 오염문제를 모두 해결할 수 있었음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산출량과 배출량이 비례하므로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오염문제도 결국 산출량 조절을 통해 해결할 수 있기 때문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같은 양을 생산하더라도 저감행위를 할 수 있다면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배출저감은 반드시 산출량감소를 통해 이루어지지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생산자는 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와 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각각 선택하는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차원의 선택문제임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생산자가 사회적 최적 생산량과 최적 배출량을 모두 선택하도록 유도하기 위해서는 정책도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차원이 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정책변수도 두 개가 되어야 함을 의미함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제품부과금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보조금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독점문제를 제거하는 생산량을 선택하도록 제시되어야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오염의 외부효과를 제거하도록 제시되어야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blipFill>
                <a:blip r:embed="rId2"/>
                <a:stretch>
                  <a:fillRect l="-270" r="-16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88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10393</TotalTime>
  <Words>2814</Words>
  <Application>Microsoft Office PowerPoint</Application>
  <PresentationFormat>와이드스크린</PresentationFormat>
  <Paragraphs>315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7  배출부과금과 보조금</vt:lpstr>
      <vt:lpstr>배출부과금의 기본 원리</vt:lpstr>
      <vt:lpstr>배출부과금의 수준</vt:lpstr>
      <vt:lpstr>배출부과금의 비용효과성</vt:lpstr>
      <vt:lpstr>배출부과금의 비용효과성</vt:lpstr>
      <vt:lpstr>배출부과금의 비용효과성</vt:lpstr>
      <vt:lpstr>배출부과금의 비용효과성</vt:lpstr>
      <vt:lpstr>배출부과금제의 기술혁신 유인 (vs. 직접규제)</vt:lpstr>
      <vt:lpstr>높은 정책 집행비용과 대안</vt:lpstr>
      <vt:lpstr>제품부과금</vt:lpstr>
      <vt:lpstr>쌀 vs. 논 어디에 보조를 해야 하나?</vt:lpstr>
      <vt:lpstr>폐기물예치금제도</vt:lpstr>
      <vt:lpstr>보조금 제도 </vt:lpstr>
      <vt:lpstr>보조금 제도</vt:lpstr>
      <vt:lpstr>배출부과금과 저감보조금의 대칭성과 비대칭성</vt:lpstr>
      <vt:lpstr>배출부과금과 저감보조금의 대칭성과 비대칭성</vt:lpstr>
      <vt:lpstr>배출부과금과 저감보조금의 대칭성과 비대칭성</vt:lpstr>
      <vt:lpstr>조세의 초과부담</vt:lpstr>
      <vt:lpstr>조세의 초과부담</vt:lpstr>
      <vt:lpstr>환경세의 이중편익가설</vt:lpstr>
      <vt:lpstr>독점의 사회적 비용</vt:lpstr>
      <vt:lpstr>독점기업에 대한 최적 환경세</vt:lpstr>
      <vt:lpstr>독점기업에 대한 최적 환경세</vt:lpstr>
      <vt:lpstr>독점기업에 대한 최적 환경세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353</cp:revision>
  <dcterms:created xsi:type="dcterms:W3CDTF">2025-07-05T05:15:23Z</dcterms:created>
  <dcterms:modified xsi:type="dcterms:W3CDTF">2025-09-28T23:00:25Z</dcterms:modified>
</cp:coreProperties>
</file>