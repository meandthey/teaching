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1"/>
  </p:notesMasterIdLst>
  <p:sldIdLst>
    <p:sldId id="375" r:id="rId2"/>
    <p:sldId id="399" r:id="rId3"/>
    <p:sldId id="405" r:id="rId4"/>
    <p:sldId id="393" r:id="rId5"/>
    <p:sldId id="408" r:id="rId6"/>
    <p:sldId id="407" r:id="rId7"/>
    <p:sldId id="401" r:id="rId8"/>
    <p:sldId id="394" r:id="rId9"/>
    <p:sldId id="409" r:id="rId10"/>
    <p:sldId id="410" r:id="rId11"/>
    <p:sldId id="413" r:id="rId12"/>
    <p:sldId id="414" r:id="rId13"/>
    <p:sldId id="415" r:id="rId14"/>
    <p:sldId id="416" r:id="rId15"/>
    <p:sldId id="417" r:id="rId16"/>
    <p:sldId id="419" r:id="rId17"/>
    <p:sldId id="418" r:id="rId18"/>
    <p:sldId id="420" r:id="rId19"/>
    <p:sldId id="422" r:id="rId20"/>
    <p:sldId id="423" r:id="rId21"/>
    <p:sldId id="424" r:id="rId22"/>
    <p:sldId id="425" r:id="rId23"/>
    <p:sldId id="426" r:id="rId24"/>
    <p:sldId id="427" r:id="rId25"/>
    <p:sldId id="428" r:id="rId26"/>
    <p:sldId id="429" r:id="rId27"/>
    <p:sldId id="430" r:id="rId28"/>
    <p:sldId id="431" r:id="rId29"/>
    <p:sldId id="364" r:id="rId3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9E9"/>
    <a:srgbClr val="E15F5F"/>
    <a:srgbClr val="F8F7FC"/>
    <a:srgbClr val="2D72BE"/>
    <a:srgbClr val="070B12"/>
    <a:srgbClr val="0047A0"/>
    <a:srgbClr val="E3605B"/>
    <a:srgbClr val="FFFFFF"/>
    <a:srgbClr val="FFFDFF"/>
    <a:srgbClr val="00AD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4F822-9B6C-2312-BC7C-289E6CBD8A83}" v="204" dt="2025-07-20T13:57:47.285"/>
    <p1510:client id="{6FC94FB9-0A6B-4253-B3BE-E28497FA5913}" v="13" dt="2025-07-21T06:43:27.973"/>
    <p1510:client id="{ACAA3603-E3D6-4895-8F10-727493C87641}" v="65" dt="2025-07-21T00:56:35.769"/>
    <p1510:client id="{F2AEC958-FA13-3020-BC15-FF90776EF069}" v="4" dt="2025-07-21T06:39:02.7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576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E00EF-AEA4-43E2-9451-8F9C59A39471}" type="datetimeFigureOut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83C86-FCDD-4CD4-A668-4DF0BEDE3E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83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83C86-FCDD-4CD4-A668-4DF0BEDE3EB5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70235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B1E38-39C7-48C4-086A-B6EF68CA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13856-496C-B1A2-D9C8-F0B2113C5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45EA-812B-B94C-5F91-4538C5B0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2C56F-BD27-4999-9E6D-D4EACE3DA9F4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7CC3D-4E75-B1F8-2261-C9EEA1AA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1B240-7572-2884-ADF8-CC4D01D4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6E21D-82E6-C9AF-A630-9F90B754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94455-1CD5-40DD-A267-639381E29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68D34-B903-2F96-71AD-0A335A08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83F9E-22C9-45CA-9E85-070F1D3EF530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36989-7205-0872-8F94-F68B3387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E82D4-4058-837B-0186-DF1F17F3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3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35CB0-2E64-7E17-7F11-3E336F1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50A24-08A9-B9E0-2E86-A56A1D9E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B33A9-AC09-8991-549A-226E174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278F45-FB3C-4C4D-B89A-7BC3F5F229F6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77B79-B6C6-4181-A645-4655A0A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EF39A-AD25-8789-D43C-8EA119BB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5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B2B1356-24BE-84BC-4DC7-3DE366037E84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30236-B5C8-D9A4-EA14-40915FCDBA70}"/>
              </a:ext>
            </a:extLst>
          </p:cNvPr>
          <p:cNvSpPr/>
          <p:nvPr userDrawn="1"/>
        </p:nvSpPr>
        <p:spPr>
          <a:xfrm>
            <a:off x="1037626" y="520066"/>
            <a:ext cx="635786" cy="157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4F9DA-878E-E86E-075B-62CFB99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DAC3C-35A6-415C-9F03-738A6AC328B1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E000A-EE22-ABA9-FA89-DA9EA0B9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EA1F0-774A-3104-2C40-09158642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F494D8-0B43-4288-8718-B3CEFA70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65ECDD4-C7AB-0780-5C56-AF0432547CDE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730A23-15D1-AC6C-BF3C-193DD65B5ED2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A8DF95E-63D4-C269-1A9E-58D5FB253590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92BD15F-E509-254C-B07E-B9BE6F1576B5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Freeform 9">
            <a:extLst>
              <a:ext uri="{FF2B5EF4-FFF2-40B4-BE49-F238E27FC236}">
                <a16:creationId xmlns:a16="http://schemas.microsoft.com/office/drawing/2014/main" id="{47220B64-BDC8-944A-0E1A-C71EB0647CDA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제목 개체 틀 1">
            <a:extLst>
              <a:ext uri="{FF2B5EF4-FFF2-40B4-BE49-F238E27FC236}">
                <a16:creationId xmlns:a16="http://schemas.microsoft.com/office/drawing/2014/main" id="{8C980597-6F00-BBCB-9829-8C1C97B2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4099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EA165-3F0A-880B-9371-6CA4FC66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F3832-D575-B192-C9E5-3F5F5AF8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A0875B-5012-C4D4-34DD-64942B1E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E6234D-EC06-5E2E-B205-92424C1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7A0DF1-AEE6-4B0D-89D2-351E7B3EF65C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6D4A64-BD06-1C65-8FEE-8AB7FC5A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C033B-08C1-51C2-514D-21FE02EF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9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C80B3-2773-0186-7384-F0AD5CD4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10DF1-53D0-7068-0730-1D1CCBC6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A78ACE-35BC-CE88-0216-E9051C73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81F8D8-0F51-47D0-BB1F-D8D9CC14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14E3C8-8748-5265-4FD0-09D275710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C317E0-79A6-DDA2-6311-F5CA96E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93B8C9-630F-4D57-944D-04FD37CECCD3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4B9B9B-DE29-812B-D879-30570E55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69FA-9B24-53DC-4E72-47AB792B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18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EAC6-B210-057A-EDB2-6820333F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77D0B3-A47C-9147-4B3A-92CAB4BE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86165A-AC43-4902-9541-874ECD310BA3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131659-D086-7B2B-7BDA-2B7B4CA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A19E18-62FF-7A30-2F06-02E7580C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0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71917-1F20-572F-E94C-A526C068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D9E8E-1032-5491-08E1-2F612B3E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900DF7-AD67-D88E-48D9-88D790EC2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D9FBF-F3FA-7658-7936-0D1A2FF0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6EE6D-2B0E-43A9-87A2-7354CDB998F4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39D0C-3288-26C9-1E44-0431F489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CA71F-AE7D-1B55-21A0-1A87DCD4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9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D7F17-3594-D182-A5C0-437C03D8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4DF7D6-CE8D-00BB-75E2-3478943B7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C66BC9-C6B7-805A-D64F-129BC2727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1EE813-70EE-6511-B077-F5126220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C5944E-0BC8-4FAA-9F94-6B4B05834E10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B9F22-5574-7ED4-D06B-C97AF0BD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FEAF6C-BEDB-9F84-DFBC-95DABECC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EE7C2-4CFD-C1E6-3632-13EC3CAC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9B1155-E241-263B-AF79-491CBDDA3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A664C-62FC-AE91-4AEB-8FAEB49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F4A19C-72C8-45CA-8E3F-68A7FA345D6C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205B3-A98D-6C78-D6F4-825DDC6B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3C234-845E-B13B-0C99-9B2EEA17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2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51ECF-85EC-C955-3B84-54453192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7F4FAD-DE4B-C65A-B284-2FC60889F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5CBDD-200F-9431-F587-79B0E47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A175B2-010B-4341-954C-5F8F5C70B124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C0058-AB3B-AC27-3514-3ABE595D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3A7CF-BE0B-8336-2308-D2D59240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7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4470C-5E69-55C1-270F-9A78C936D5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6D54C95-5DE1-BB83-7600-92BCFDA2E6BA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9701EA-CA45-03D3-8629-CACB976B13C7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1659905-6BB4-F77A-C4B2-CD01EE50E9A3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276BA2-601C-3FB1-B544-5F1FB3A4C59F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E75D259-5225-4C37-ABC2-39DA372499A1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6514361D-8169-AF24-F568-2B5FC5AD42A2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AD4066BA-D2BC-37E9-976A-8204B8EF9F62}"/>
              </a:ext>
            </a:extLst>
          </p:cNvPr>
          <p:cNvSpPr/>
          <p:nvPr userDrawn="1"/>
        </p:nvSpPr>
        <p:spPr>
          <a:xfrm>
            <a:off x="1235851" y="667970"/>
            <a:ext cx="211949" cy="182715"/>
          </a:xfrm>
          <a:prstGeom prst="triangle">
            <a:avLst/>
          </a:prstGeom>
          <a:solidFill>
            <a:schemeClr val="bg1"/>
          </a:solidFill>
          <a:ln w="47625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1DE6459-0E1B-62B4-B07B-EB5555E53206}"/>
              </a:ext>
            </a:extLst>
          </p:cNvPr>
          <p:cNvSpPr/>
          <p:nvPr userDrawn="1"/>
        </p:nvSpPr>
        <p:spPr>
          <a:xfrm>
            <a:off x="209550" y="778044"/>
            <a:ext cx="11756306" cy="5832862"/>
          </a:xfrm>
          <a:prstGeom prst="roundRect">
            <a:avLst>
              <a:gd name="adj" fmla="val 1861"/>
            </a:avLst>
          </a:prstGeom>
          <a:solidFill>
            <a:schemeClr val="bg1"/>
          </a:solidFill>
          <a:ln w="92075" cap="rnd">
            <a:noFill/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68F272-B293-6379-50B0-01D6BCAC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75170-525C-B88C-2549-1515AC8C0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559" y="1193822"/>
            <a:ext cx="10754289" cy="5001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C6AE6-3A65-C287-7112-FF1BCC98D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250" y="6611900"/>
            <a:ext cx="2743200" cy="239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109C872D-39A9-4065-8BF3-6A613116E2A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87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200" i="1" kern="1200">
          <a:solidFill>
            <a:schemeClr val="tx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59EC3-FDAD-5008-2635-A7E4EDD28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EE82B6-2F0F-6FB8-F71F-495B423AB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950" y="942279"/>
            <a:ext cx="10452100" cy="2912171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ko-KR" altLang="en-US" sz="6600" b="1" i="0" dirty="0"/>
              <a:t>환경 자원 경제학</a:t>
            </a:r>
            <a:endParaRPr lang="ko-KR" altLang="en-US" i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3B6547-3B8C-6CD4-91B3-9723EB5A4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83665"/>
            <a:ext cx="9144000" cy="935960"/>
          </a:xfrm>
        </p:spPr>
        <p:txBody>
          <a:bodyPr>
            <a:normAutofit/>
          </a:bodyPr>
          <a:lstStyle/>
          <a:p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sz="2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Lecture - 2</a:t>
            </a:r>
            <a:endParaRPr lang="ko-KR" altLang="en-US" sz="17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5F631-FC1F-A584-173C-4EA4C43A874E}"/>
              </a:ext>
            </a:extLst>
          </p:cNvPr>
          <p:cNvSpPr txBox="1"/>
          <p:nvPr/>
        </p:nvSpPr>
        <p:spPr>
          <a:xfrm>
            <a:off x="2200275" y="5144158"/>
            <a:ext cx="7791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Seungho Jeon</a:t>
            </a:r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7" name="그림 6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66D5C0-E865-7613-63AD-5D846835D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325" y="6408811"/>
            <a:ext cx="1461138" cy="31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0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B262F-00A8-BD9A-4B85-FC963A1C1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0DDBCE2-DEA9-2DD4-5A59-4378A23AB1B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F995E1-B852-188D-F471-20EEC71CE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F7CC3FA7-5A8C-F225-6150-5A49BD056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78940"/>
            <a:ext cx="11007224" cy="193942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800" b="1" i="0" spc="150" dirty="0"/>
              <a:t>Part 2</a:t>
            </a:r>
            <a:br>
              <a:rPr lang="en-US" altLang="ko-KR" sz="4800" b="1" i="0" spc="150" dirty="0"/>
            </a:br>
            <a:br>
              <a:rPr lang="en-US" altLang="ko-KR" sz="4800" b="1" i="0" spc="150" dirty="0"/>
            </a:br>
            <a:r>
              <a:rPr lang="ko-KR" altLang="en-US" sz="4800" b="1" i="0" spc="150" dirty="0"/>
              <a:t>환경문제의 경제적 분석 틀</a:t>
            </a:r>
            <a:endParaRPr lang="ko-KR" altLang="en-US" sz="4400" i="0" spc="150" dirty="0"/>
          </a:p>
        </p:txBody>
      </p:sp>
    </p:spTree>
    <p:extLst>
      <p:ext uri="{BB962C8B-B14F-4D97-AF65-F5344CB8AC3E}">
        <p14:creationId xmlns:p14="http://schemas.microsoft.com/office/powerpoint/2010/main" val="77394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D0659-CAFD-F53E-5E96-AE42A73FE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C3F3A0-36ED-43FB-2D13-6CAA30B083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D19C74-D6C9-BA18-D11B-15A0CD9AF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B58D8A77-45B6-C35A-AFD8-829E4435C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78940"/>
            <a:ext cx="11007224" cy="193942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Chapter 3</a:t>
            </a:r>
            <a:br>
              <a:rPr lang="en-US" altLang="ko-KR" sz="4000" b="1" i="0" spc="150" dirty="0"/>
            </a:br>
            <a:br>
              <a:rPr lang="en-US" altLang="ko-KR" sz="4000" b="1" i="0" spc="150" dirty="0"/>
            </a:br>
            <a:r>
              <a:rPr lang="ko-KR" altLang="en-US" sz="4000" b="1" i="0" spc="150" dirty="0"/>
              <a:t>수요</a:t>
            </a:r>
            <a:r>
              <a:rPr lang="en-US" altLang="ko-KR" sz="4000" b="1" i="0" spc="150" dirty="0"/>
              <a:t>, </a:t>
            </a:r>
            <a:r>
              <a:rPr lang="ko-KR" altLang="en-US" sz="4000" b="1" i="0" spc="150" dirty="0"/>
              <a:t>공급 및 시장균형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655123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0EDC6-A7C1-936A-85EA-2657159BB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98ECA-15DE-3B06-4432-AA56B5EAA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한계지불의사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74C9F8-3142-EA32-1471-0CDD93014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B1787F-AB1D-3DFA-462E-C052D4875F30}"/>
              </a:ext>
            </a:extLst>
          </p:cNvPr>
          <p:cNvSpPr txBox="1"/>
          <p:nvPr/>
        </p:nvSpPr>
        <p:spPr>
          <a:xfrm>
            <a:off x="678872" y="958844"/>
            <a:ext cx="10975831" cy="22606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지불의사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소비자가 재화나 서비스를 소비하는 대가로 지불할 의향이 있는 최대 금액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예시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아이스크림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개 소비하는데</a:t>
            </a:r>
            <a:r>
              <a:rPr lang="en-US" altLang="ko-KR" sz="1600" spc="-50" dirty="0"/>
              <a:t>, 1,500</a:t>
            </a:r>
            <a:r>
              <a:rPr lang="ko-KR" altLang="en-US" sz="1600" spc="-50" dirty="0"/>
              <a:t>원을 지불할 의향이 있음</a:t>
            </a:r>
            <a:r>
              <a:rPr lang="en-US" altLang="ko-KR" sz="1600" spc="-5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한계지불의사 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수요곡선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소비자가 재화나 서비스의 추가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단위 소비에 지불할 의향이 있는 최대 금액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첫 번째 아이스크림에는 </a:t>
            </a:r>
            <a:r>
              <a:rPr lang="en-US" altLang="ko-KR" sz="1600" spc="-50" dirty="0"/>
              <a:t>1,000</a:t>
            </a:r>
            <a:r>
              <a:rPr lang="ko-KR" altLang="en-US" sz="1600" spc="-50" dirty="0"/>
              <a:t>원까지 낼 수 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두 번째 아이스크림에는 </a:t>
            </a:r>
            <a:r>
              <a:rPr lang="en-US" altLang="ko-KR" sz="1600" spc="-50" dirty="0"/>
              <a:t>5,00</a:t>
            </a:r>
            <a:r>
              <a:rPr lang="ko-KR" altLang="en-US" sz="1600" spc="-50" dirty="0"/>
              <a:t>원 까지만 가능</a:t>
            </a:r>
            <a:endParaRPr lang="en-US" altLang="ko-KR" sz="1600" spc="-50" dirty="0"/>
          </a:p>
        </p:txBody>
      </p:sp>
      <p:pic>
        <p:nvPicPr>
          <p:cNvPr id="3" name="그림 2" descr="텍스트, 도표, 스크린샷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35A357E-1FB0-B25A-0393-33BE54796B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021" y="3299219"/>
            <a:ext cx="3071393" cy="3474874"/>
          </a:xfrm>
          <a:prstGeom prst="rect">
            <a:avLst/>
          </a:prstGeom>
        </p:spPr>
      </p:pic>
      <p:pic>
        <p:nvPicPr>
          <p:cNvPr id="9" name="그림 8" descr="텍스트, 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F0E407D-B0E8-1E41-267C-A9CB944D6D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1254" y="3300093"/>
            <a:ext cx="3070621" cy="347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803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611E5-1BD8-ECB4-42AF-7CCD7AE23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F90627-BBB4-597F-F85E-B857A59C9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시장수요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0AD2CB-71BD-A990-BA9A-C5CD82C9E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7D3152-979D-24D9-F462-3C9BE8A544BC}"/>
              </a:ext>
            </a:extLst>
          </p:cNvPr>
          <p:cNvSpPr txBox="1"/>
          <p:nvPr/>
        </p:nvSpPr>
        <p:spPr>
          <a:xfrm>
            <a:off x="678872" y="925288"/>
            <a:ext cx="10975831" cy="78335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시장수요 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수요곡선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재화나 서비스의 특정 가격 수준에서 시장 전체 소비자가 구매하려는 수량</a:t>
            </a:r>
            <a:endParaRPr lang="en-US" altLang="ko-KR" sz="1600" spc="-50" dirty="0"/>
          </a:p>
        </p:txBody>
      </p:sp>
      <p:pic>
        <p:nvPicPr>
          <p:cNvPr id="10" name="그림 9" descr="텍스트, 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A7FDF9E-9F40-B5D3-0114-41C860F91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064" y="1740103"/>
            <a:ext cx="10356209" cy="43703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638EA0E-32E5-5E6F-8D13-5F7F5BB62A3B}"/>
                  </a:ext>
                </a:extLst>
              </p:cNvPr>
              <p:cNvSpPr txBox="1"/>
              <p:nvPr/>
            </p:nvSpPr>
            <p:spPr>
              <a:xfrm>
                <a:off x="1415644" y="6098846"/>
                <a:ext cx="258006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=1000−200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638EA0E-32E5-5E6F-8D13-5F7F5BB62A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5644" y="6098846"/>
                <a:ext cx="2580065" cy="276999"/>
              </a:xfrm>
              <a:prstGeom prst="rect">
                <a:avLst/>
              </a:prstGeom>
              <a:blipFill>
                <a:blip r:embed="rId3"/>
                <a:stretch>
                  <a:fillRect l="-946" b="-326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0D8A855-F1EA-D530-478D-6F27133211B3}"/>
                  </a:ext>
                </a:extLst>
              </p:cNvPr>
              <p:cNvSpPr txBox="1"/>
              <p:nvPr/>
            </p:nvSpPr>
            <p:spPr>
              <a:xfrm>
                <a:off x="4860662" y="6098846"/>
                <a:ext cx="270099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=1000−100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0D8A855-F1EA-D530-478D-6F27133211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0662" y="6098846"/>
                <a:ext cx="2700996" cy="276999"/>
              </a:xfrm>
              <a:prstGeom prst="rect">
                <a:avLst/>
              </a:prstGeom>
              <a:blipFill>
                <a:blip r:embed="rId4"/>
                <a:stretch>
                  <a:fillRect b="-326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A949B6F-2398-7C39-E05E-F7A143ABA913}"/>
                  </a:ext>
                </a:extLst>
              </p:cNvPr>
              <p:cNvSpPr txBox="1"/>
              <p:nvPr/>
            </p:nvSpPr>
            <p:spPr>
              <a:xfrm>
                <a:off x="8220453" y="5978043"/>
                <a:ext cx="2862515" cy="5204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=1000−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A949B6F-2398-7C39-E05E-F7A143ABA9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0453" y="5978043"/>
                <a:ext cx="2862515" cy="52046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4954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160B4-29A2-3652-0577-A23DD3ABB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F0F33D-1B4C-1326-DDF8-D96E298B8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편익과 소비자 잉여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8A30C0-5D7B-8599-4E14-A29A5FB00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887413-50C4-703C-4DE0-005BC4E4070D}"/>
              </a:ext>
            </a:extLst>
          </p:cNvPr>
          <p:cNvSpPr txBox="1"/>
          <p:nvPr/>
        </p:nvSpPr>
        <p:spPr>
          <a:xfrm>
            <a:off x="678872" y="1038536"/>
            <a:ext cx="10975831" cy="115268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편익과 소비자 잉여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편익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재화나 서비스를 소비함으로써 얻는 만족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효용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을 화폐가치로 환산한 것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소비자잉여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소비자의 지불의사와 실제 지불한 금액의 차이</a:t>
            </a:r>
            <a:r>
              <a:rPr lang="en-US" altLang="ko-KR" sz="1600" spc="-50" dirty="0"/>
              <a:t> (</a:t>
            </a:r>
            <a:r>
              <a:rPr lang="ko-KR" altLang="en-US" sz="1600" spc="-50" dirty="0"/>
              <a:t>편익</a:t>
            </a:r>
            <a:r>
              <a:rPr lang="en-US" altLang="ko-KR" sz="1600" spc="-50" dirty="0"/>
              <a:t> – </a:t>
            </a:r>
            <a:r>
              <a:rPr lang="ko-KR" altLang="en-US" sz="1600" spc="-50" dirty="0"/>
              <a:t>비용</a:t>
            </a:r>
            <a:r>
              <a:rPr lang="en-US" altLang="ko-KR" sz="1600" spc="-50" dirty="0"/>
              <a:t>)</a:t>
            </a:r>
          </a:p>
        </p:txBody>
      </p:sp>
      <p:pic>
        <p:nvPicPr>
          <p:cNvPr id="14" name="그림 13" descr="텍스트, 라인, 그래프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51CA457-A94D-376F-0218-25DF3D08D8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589" y="2186869"/>
            <a:ext cx="3915074" cy="442938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F4E83D4-0CF3-AE4E-9729-CFC6840843F4}"/>
              </a:ext>
            </a:extLst>
          </p:cNvPr>
          <p:cNvSpPr txBox="1"/>
          <p:nvPr/>
        </p:nvSpPr>
        <p:spPr>
          <a:xfrm>
            <a:off x="1586652" y="5571828"/>
            <a:ext cx="328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pc="-50" dirty="0"/>
              <a:t>b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061468-B9C1-0685-75FF-110944F1F02F}"/>
              </a:ext>
            </a:extLst>
          </p:cNvPr>
          <p:cNvSpPr txBox="1"/>
          <p:nvPr/>
        </p:nvSpPr>
        <p:spPr>
          <a:xfrm>
            <a:off x="1989323" y="5571828"/>
            <a:ext cx="328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pc="-50" dirty="0"/>
              <a:t>c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24CC795-8814-68E8-BC0B-35662A60629D}"/>
              </a:ext>
            </a:extLst>
          </p:cNvPr>
          <p:cNvSpPr txBox="1"/>
          <p:nvPr/>
        </p:nvSpPr>
        <p:spPr>
          <a:xfrm>
            <a:off x="1586652" y="4351230"/>
            <a:ext cx="328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pc="-50" dirty="0"/>
              <a:t>a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0886E55-7326-B11E-F291-8EACE80B9F6A}"/>
              </a:ext>
            </a:extLst>
          </p:cNvPr>
          <p:cNvSpPr txBox="1"/>
          <p:nvPr/>
        </p:nvSpPr>
        <p:spPr>
          <a:xfrm>
            <a:off x="1989323" y="4351230"/>
            <a:ext cx="328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d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EFC06F5-7A76-0E2E-A702-29C8D384C45C}"/>
              </a:ext>
            </a:extLst>
          </p:cNvPr>
          <p:cNvSpPr txBox="1"/>
          <p:nvPr/>
        </p:nvSpPr>
        <p:spPr>
          <a:xfrm>
            <a:off x="4992959" y="3194553"/>
            <a:ext cx="1439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18DE0E1-30C3-948C-435D-133574AD814E}"/>
                  </a:ext>
                </a:extLst>
              </p:cNvPr>
              <p:cNvSpPr txBox="1"/>
              <p:nvPr/>
            </p:nvSpPr>
            <p:spPr>
              <a:xfrm>
                <a:off x="4862658" y="3098170"/>
                <a:ext cx="6605180" cy="115268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92075">
                  <a:lnSpc>
                    <a:spcPct val="150000"/>
                  </a:lnSpc>
                </a:pPr>
                <a:r>
                  <a:rPr lang="ko-KR" altLang="en-US" sz="1600" dirty="0"/>
                  <a:t>소비자</a:t>
                </a:r>
                <a:r>
                  <a:rPr lang="en-US" altLang="ko-KR" sz="1600" dirty="0"/>
                  <a:t>B</a:t>
                </a:r>
                <a:r>
                  <a:rPr lang="ko-KR" altLang="en-US" sz="1600" dirty="0"/>
                  <a:t>의 수요함수가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d>
                    <m:r>
                      <a:rPr lang="en-US" altLang="ko-KR" sz="1600" i="1">
                        <a:latin typeface="Cambria Math" panose="02040503050406030204" pitchFamily="18" charset="0"/>
                      </a:rPr>
                      <m:t>=1000−100</m:t>
                    </m:r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ko-KR" altLang="en-US" sz="1600" dirty="0"/>
                  <a:t> 일 때</a:t>
                </a:r>
                <a:r>
                  <a:rPr lang="en-US" altLang="ko-KR" sz="1600" dirty="0"/>
                  <a:t>,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소비자 </a:t>
                </a:r>
                <a:r>
                  <a:rPr lang="en-US" altLang="ko-KR" sz="1600" spc="-50" dirty="0"/>
                  <a:t>B</a:t>
                </a:r>
                <a:r>
                  <a:rPr lang="ko-KR" altLang="en-US" sz="1600" spc="-50" dirty="0"/>
                  <a:t>가 </a:t>
                </a:r>
                <a:r>
                  <a:rPr lang="en-US" altLang="ko-KR" sz="1600" spc="-50" dirty="0"/>
                  <a:t>2</a:t>
                </a:r>
                <a:r>
                  <a:rPr lang="ko-KR" altLang="en-US" sz="1600" spc="-50" dirty="0"/>
                  <a:t>단위의 재화를 소비할 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얻는 편익과 소비자 잉여는</a:t>
                </a:r>
                <a:r>
                  <a:rPr lang="en-US" altLang="ko-KR" sz="1600" spc="-50" dirty="0"/>
                  <a:t>?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소비자 </a:t>
                </a:r>
                <a:r>
                  <a:rPr lang="en-US" altLang="ko-KR" sz="1600" spc="-50" dirty="0"/>
                  <a:t>B</a:t>
                </a:r>
                <a:r>
                  <a:rPr lang="ko-KR" altLang="en-US" sz="1600" spc="-50" dirty="0"/>
                  <a:t>가 </a:t>
                </a:r>
                <a:r>
                  <a:rPr lang="en-US" altLang="ko-KR" sz="1600" spc="-50" dirty="0"/>
                  <a:t>4</a:t>
                </a:r>
                <a:r>
                  <a:rPr lang="ko-KR" altLang="en-US" sz="1600" spc="-50" dirty="0"/>
                  <a:t>단위의 재화를 소비할 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얻는 편익과 소비자 잉여는</a:t>
                </a:r>
                <a:r>
                  <a:rPr lang="en-US" altLang="ko-KR" sz="1600" spc="-50" dirty="0"/>
                  <a:t>?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18DE0E1-30C3-948C-435D-133574AD81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2658" y="3098170"/>
                <a:ext cx="6605180" cy="1152688"/>
              </a:xfrm>
              <a:prstGeom prst="rect">
                <a:avLst/>
              </a:prstGeom>
              <a:blipFill>
                <a:blip r:embed="rId3"/>
                <a:stretch>
                  <a:fillRect b="-58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3157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D0682-B3D6-07F6-8C2C-131A0CB2E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9D7111-D5AC-A640-38F9-7FE3DE73C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비용이란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1D6A22-A934-2192-5506-54E9BABEA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517AE2-04EC-28CA-B2D9-75E553220470}"/>
              </a:ext>
            </a:extLst>
          </p:cNvPr>
          <p:cNvSpPr txBox="1"/>
          <p:nvPr/>
        </p:nvSpPr>
        <p:spPr>
          <a:xfrm>
            <a:off x="678872" y="1038536"/>
            <a:ext cx="10975831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회계비용과 기회비용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회계비용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회계사가 자산과 부채를 평가하여 대차대조표를 만들 때 비용으로 인정하는 항목들 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임금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원료비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토지 임대료 등 경제주체가 지불한 직접비용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기회비용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어떤 생산요소가 현재의 용도로 이용되지 않고 다른 용도로 이용되었을 때 얻을 수 있는 최대한의 수익 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공장에서 제품 생산 및 판매를 통한 사업수익 </a:t>
            </a:r>
            <a:r>
              <a:rPr lang="en-US" altLang="ko-KR" sz="1600" spc="-50" dirty="0"/>
              <a:t>vs. </a:t>
            </a:r>
            <a:r>
              <a:rPr lang="ko-KR" altLang="en-US" sz="1600" spc="-50" dirty="0"/>
              <a:t>공장 임대를 통한 임대수익</a:t>
            </a:r>
            <a:endParaRPr lang="en-US" altLang="ko-KR" sz="1600" spc="-50" dirty="0"/>
          </a:p>
          <a:p>
            <a:pPr marL="549275" lvl="1">
              <a:lnSpc>
                <a:spcPct val="150000"/>
              </a:lnSpc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사적비용과 사회적비용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사적비용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경제행위의 결과로 발생한 비용 가운데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해당 경제주체 행위자에게만 귀속되는 비용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석탄발전 사업자가 부담하는 인건비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연료비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자본비용 등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사회적비용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경제행위에 따른 모든 비용으로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해당 경제주체 뿐 아니라 다른 경제주체에게도 귀속되는 비용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석탄발전 가동으로 인해 주변 주민들이 건강악화로 인해 지불하는 비용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1598959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8F3B0D-93FF-06EF-34CE-88C5A248C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한계비용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BB5303-A094-198A-BCF4-122D57225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10" name="그림 9" descr="텍스트, 스크린샷, 도표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EEC3AA4-1BEA-3952-6C58-E17C3F61C0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308" y="3220103"/>
            <a:ext cx="3070621" cy="3474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4116BFD-0DDD-1BCF-4DF3-1176E296AE40}"/>
              </a:ext>
            </a:extLst>
          </p:cNvPr>
          <p:cNvSpPr txBox="1"/>
          <p:nvPr/>
        </p:nvSpPr>
        <p:spPr>
          <a:xfrm>
            <a:off x="678872" y="958844"/>
            <a:ext cx="10975831" cy="22606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비용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생산자가 재화나 서비스를 공급하는데 지불하는 비용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예시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아이스크림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개 생산하는데</a:t>
            </a:r>
            <a:r>
              <a:rPr lang="en-US" altLang="ko-KR" sz="1600" spc="-50" dirty="0"/>
              <a:t> 150</a:t>
            </a:r>
            <a:r>
              <a:rPr lang="ko-KR" altLang="en-US" sz="1600" spc="-50" dirty="0"/>
              <a:t>원의 비용을 지불해야 함</a:t>
            </a: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한계비용 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공급곡선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생산자가 재화나 서비스의 추가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단위 생산에 대해 지불해야 하는 추가 비용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첫 번째 아이스크림 생산에는 </a:t>
            </a:r>
            <a:r>
              <a:rPr lang="en-US" altLang="ko-KR" sz="1600" spc="-50" dirty="0"/>
              <a:t>50</a:t>
            </a:r>
            <a:r>
              <a:rPr lang="ko-KR" altLang="en-US" sz="1600" spc="-50" dirty="0"/>
              <a:t>원을 지불해야 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두 번째 아이스크림은 </a:t>
            </a:r>
            <a:r>
              <a:rPr lang="en-US" altLang="ko-KR" sz="1600" spc="-50" dirty="0"/>
              <a:t>100</a:t>
            </a:r>
            <a:r>
              <a:rPr lang="ko-KR" altLang="en-US" sz="1600" spc="-50" dirty="0"/>
              <a:t>원을 지불해야 생산가능</a:t>
            </a:r>
            <a:endParaRPr lang="en-US" altLang="ko-KR" sz="1600" spc="-50" dirty="0"/>
          </a:p>
        </p:txBody>
      </p:sp>
      <p:pic>
        <p:nvPicPr>
          <p:cNvPr id="17" name="그림 16" descr="텍스트, 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7BF3822-974A-2BBF-E5E9-53A67BBC87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5929" y="3220103"/>
            <a:ext cx="3070621" cy="347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7332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70E7F1-C39D-A8FC-E26E-89CD9DC4F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한계비용곡선의 형태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CA9D2A-3C73-2E54-A0F5-EBAE05353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5A8A1F-BA6C-6DC3-A702-87D9EB380F47}"/>
              </a:ext>
            </a:extLst>
          </p:cNvPr>
          <p:cNvSpPr txBox="1"/>
          <p:nvPr/>
        </p:nvSpPr>
        <p:spPr>
          <a:xfrm>
            <a:off x="678872" y="958844"/>
            <a:ext cx="10975831" cy="15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한계비용곡선의 형태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(a) </a:t>
            </a:r>
            <a:r>
              <a:rPr lang="ko-KR" altLang="en-US" sz="1600" spc="-50" dirty="0"/>
              <a:t>경제학에서 가장 일반적으로 받아들이는 형태의 한계비용곡선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(b)</a:t>
            </a:r>
            <a:r>
              <a:rPr lang="ko-KR" altLang="en-US" sz="1600" spc="-50" dirty="0"/>
              <a:t> 장기 한계비용곡선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(c) </a:t>
            </a:r>
            <a:r>
              <a:rPr lang="ko-KR" altLang="en-US" sz="1600" spc="-50" dirty="0"/>
              <a:t>비연속적인 형태의 한계비용곡선</a:t>
            </a:r>
            <a:endParaRPr lang="en-US" altLang="ko-KR" sz="1600" spc="-50" dirty="0"/>
          </a:p>
        </p:txBody>
      </p:sp>
      <p:pic>
        <p:nvPicPr>
          <p:cNvPr id="8" name="그림 7" descr="텍스트, 도표, 그래프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8E1E46A-4A49-C952-E4FD-68607D2B8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2656106"/>
            <a:ext cx="10182225" cy="3955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239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2D58C-AA79-E1C7-BAD8-4A3D0F507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6AA93F-F303-9BDF-920C-7107CDBEA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시장공급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0522B6-9FFF-BA47-B690-5E3EC6DFB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F0549A-92AD-773A-8475-34F8498DFC01}"/>
              </a:ext>
            </a:extLst>
          </p:cNvPr>
          <p:cNvSpPr txBox="1"/>
          <p:nvPr/>
        </p:nvSpPr>
        <p:spPr>
          <a:xfrm>
            <a:off x="678872" y="925288"/>
            <a:ext cx="10975831" cy="78335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시장공급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재화나 서비스의 특정 가격 수준에서 시장 전체 생산자가 공급하려는 수량</a:t>
            </a:r>
            <a:endParaRPr lang="en-US" altLang="ko-KR" sz="1600" spc="-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0767988-FE78-0FC6-0BB7-5F89212BCA13}"/>
                  </a:ext>
                </a:extLst>
              </p:cNvPr>
              <p:cNvSpPr txBox="1"/>
              <p:nvPr/>
            </p:nvSpPr>
            <p:spPr>
              <a:xfrm>
                <a:off x="1415644" y="6194096"/>
                <a:ext cx="245182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=200+200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0767988-FE78-0FC6-0BB7-5F89212BCA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5644" y="6194096"/>
                <a:ext cx="2451825" cy="276999"/>
              </a:xfrm>
              <a:prstGeom prst="rect">
                <a:avLst/>
              </a:prstGeom>
              <a:blipFill>
                <a:blip r:embed="rId2"/>
                <a:stretch>
                  <a:fillRect l="-995" b="-326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4B4EE62-D56C-F16D-B941-32EFC15BB549}"/>
                  </a:ext>
                </a:extLst>
              </p:cNvPr>
              <p:cNvSpPr txBox="1"/>
              <p:nvPr/>
            </p:nvSpPr>
            <p:spPr>
              <a:xfrm>
                <a:off x="4860662" y="6194096"/>
                <a:ext cx="234391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=200+50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4B4EE62-D56C-F16D-B941-32EFC15BB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0662" y="6194096"/>
                <a:ext cx="2343911" cy="276999"/>
              </a:xfrm>
              <a:prstGeom prst="rect">
                <a:avLst/>
              </a:prstGeom>
              <a:blipFill>
                <a:blip r:embed="rId3"/>
                <a:stretch>
                  <a:fillRect l="-1299" b="-326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그림 6" descr="텍스트, 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9A80626-194A-4CF8-80BC-8C89D00FD3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253" y="1657963"/>
            <a:ext cx="10356398" cy="4370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8CA8D93-0BB9-F3F3-2F81-6EE71E8D4916}"/>
                  </a:ext>
                </a:extLst>
              </p:cNvPr>
              <p:cNvSpPr txBox="1"/>
              <p:nvPr/>
            </p:nvSpPr>
            <p:spPr>
              <a:xfrm>
                <a:off x="8330845" y="6194096"/>
                <a:ext cx="241046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=200+40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8CA8D93-0BB9-F3F3-2F81-6EE71E8D49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0845" y="6194096"/>
                <a:ext cx="2410468" cy="276999"/>
              </a:xfrm>
              <a:prstGeom prst="rect">
                <a:avLst/>
              </a:prstGeom>
              <a:blipFill>
                <a:blip r:embed="rId5"/>
                <a:stretch>
                  <a:fillRect l="-1266" b="-326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4085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48878-A4D9-986D-1BAF-DE6D27984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텍스트, 라인, 도표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7E2EBD0-163A-1D86-04B4-CB29F9D3B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598" y="2176849"/>
            <a:ext cx="3913848" cy="442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5BF9A76-6926-4D99-9DE3-60B252889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편익과 생산자 잉여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E4ED0D-6E2E-299A-D10D-1C338AF3F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A7A8E9-F64D-F683-0C39-FEE4656C1705}"/>
              </a:ext>
            </a:extLst>
          </p:cNvPr>
          <p:cNvSpPr txBox="1"/>
          <p:nvPr/>
        </p:nvSpPr>
        <p:spPr>
          <a:xfrm>
            <a:off x="678872" y="1043616"/>
            <a:ext cx="10975831" cy="1192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생산자 잉여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편익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재화나 서비스를 공급함으로써 얻은 편익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혹은 수입</a:t>
            </a:r>
            <a:r>
              <a:rPr lang="en-US" altLang="ko-KR" sz="1600" spc="-50" dirty="0"/>
              <a:t>)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생산자잉여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공급자의 수입과 지불한 비용의 차이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편익</a:t>
            </a:r>
            <a:r>
              <a:rPr lang="en-US" altLang="ko-KR" sz="1600" spc="-50" dirty="0"/>
              <a:t> – </a:t>
            </a:r>
            <a:r>
              <a:rPr lang="ko-KR" altLang="en-US" sz="1600" spc="-50" dirty="0"/>
              <a:t>비용</a:t>
            </a:r>
            <a:r>
              <a:rPr lang="en-US" altLang="ko-KR" sz="1600" spc="-50" dirty="0"/>
              <a:t>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558A20-97AA-3DAA-82A2-F81CD4DBC2C8}"/>
              </a:ext>
            </a:extLst>
          </p:cNvPr>
          <p:cNvSpPr txBox="1"/>
          <p:nvPr/>
        </p:nvSpPr>
        <p:spPr>
          <a:xfrm>
            <a:off x="1671419" y="4192988"/>
            <a:ext cx="328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pc="-50" dirty="0"/>
              <a:t>b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D58ABF-108D-274B-2715-87DBADEC5DEF}"/>
              </a:ext>
            </a:extLst>
          </p:cNvPr>
          <p:cNvSpPr txBox="1"/>
          <p:nvPr/>
        </p:nvSpPr>
        <p:spPr>
          <a:xfrm>
            <a:off x="1835572" y="5329774"/>
            <a:ext cx="328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pc="-50" dirty="0"/>
              <a:t>a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A5F5607-BF8F-417A-32AF-88EF64156E3E}"/>
              </a:ext>
            </a:extLst>
          </p:cNvPr>
          <p:cNvSpPr txBox="1"/>
          <p:nvPr/>
        </p:nvSpPr>
        <p:spPr>
          <a:xfrm>
            <a:off x="4992959" y="3194553"/>
            <a:ext cx="1439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6309CD4-AE44-ADAD-8A85-1B140EE594C7}"/>
                  </a:ext>
                </a:extLst>
              </p:cNvPr>
              <p:cNvSpPr txBox="1"/>
              <p:nvPr/>
            </p:nvSpPr>
            <p:spPr>
              <a:xfrm>
                <a:off x="4862658" y="3098170"/>
                <a:ext cx="6605180" cy="115268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92075">
                  <a:lnSpc>
                    <a:spcPct val="150000"/>
                  </a:lnSpc>
                </a:pPr>
                <a:r>
                  <a:rPr lang="ko-KR" altLang="en-US" sz="1600" dirty="0"/>
                  <a:t>공급자</a:t>
                </a:r>
                <a:r>
                  <a:rPr lang="en-US" altLang="ko-KR" sz="1600" dirty="0"/>
                  <a:t>A</a:t>
                </a:r>
                <a:r>
                  <a:rPr lang="ko-KR" altLang="en-US" sz="1600" dirty="0"/>
                  <a:t>의 공급함수가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d>
                    <m:r>
                      <a:rPr lang="en-US" altLang="ko-KR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00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00</m:t>
                    </m:r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ko-KR" altLang="en-US" sz="1600" dirty="0"/>
                  <a:t> 이고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시장가격이 </a:t>
                </a:r>
                <a:r>
                  <a:rPr lang="en-US" altLang="ko-KR" sz="1600" dirty="0"/>
                  <a:t>600</a:t>
                </a:r>
                <a:r>
                  <a:rPr lang="ko-KR" altLang="en-US" sz="1600" dirty="0"/>
                  <a:t>원으로 결정되어 있다고 하자</a:t>
                </a:r>
                <a:r>
                  <a:rPr lang="en-US" altLang="ko-KR" sz="1600" dirty="0"/>
                  <a:t>.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공급자 </a:t>
                </a:r>
                <a:r>
                  <a:rPr lang="en-US" altLang="ko-KR" sz="1600" spc="-50" dirty="0"/>
                  <a:t>A</a:t>
                </a:r>
                <a:r>
                  <a:rPr lang="ko-KR" altLang="en-US" sz="1600" spc="-50" dirty="0"/>
                  <a:t>가 </a:t>
                </a:r>
                <a:r>
                  <a:rPr lang="en-US" altLang="ko-KR" sz="1600" spc="-50" dirty="0"/>
                  <a:t>2</a:t>
                </a:r>
                <a:r>
                  <a:rPr lang="ko-KR" altLang="en-US" sz="1600" spc="-50" dirty="0"/>
                  <a:t>단위의 재화를 공급할 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얻는 편익과 공급자 잉여는</a:t>
                </a:r>
                <a:r>
                  <a:rPr lang="en-US" altLang="ko-KR" sz="1600" spc="-50" dirty="0"/>
                  <a:t>?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6309CD4-AE44-ADAD-8A85-1B140EE594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2658" y="3098170"/>
                <a:ext cx="6605180" cy="1152688"/>
              </a:xfrm>
              <a:prstGeom prst="rect">
                <a:avLst/>
              </a:prstGeom>
              <a:blipFill>
                <a:blip r:embed="rId3"/>
                <a:stretch>
                  <a:fillRect b="-58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62618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93B287-74C3-E7A1-176A-BE63C2202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시장균형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B310D9-CD30-E4E7-92AE-7A811CD39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12</a:t>
            </a:fld>
            <a:endParaRPr lang="ko-KR" altLang="en-US"/>
          </a:p>
        </p:txBody>
      </p:sp>
      <p:pic>
        <p:nvPicPr>
          <p:cNvPr id="13" name="그림 12" descr="텍스트, 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0D48241-B9E6-68A4-5C9E-A99938C017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504" y="861661"/>
            <a:ext cx="5094334" cy="576356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2DA4F83-7AE1-5F9C-8D4F-AC5FC3682008}"/>
              </a:ext>
            </a:extLst>
          </p:cNvPr>
          <p:cNvSpPr txBox="1"/>
          <p:nvPr/>
        </p:nvSpPr>
        <p:spPr>
          <a:xfrm>
            <a:off x="678872" y="1038536"/>
            <a:ext cx="5094333" cy="37380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시장균형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수요량과 공급량이 일치하는 상태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이때의 가격을 균형가격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이때의 수량을 균형거래량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시장 메커니즘이 작동하면서 가격은 자연스럽게 조정되어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결국 균형점에 수렴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균형가격 이하에서는 초과 수요 발생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균형가격 이상에서는 초과 공급 발생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27867371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9A4AD-02D7-0B9C-E8D1-E4F2D7389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350FDB-0E00-86CB-7E87-99DD816E413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FC8925-BCAF-F2E1-7C39-4436F03A7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A774BEC3-6799-368D-5EE6-92EA60B9C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78940"/>
            <a:ext cx="11007224" cy="193942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Chapter 4</a:t>
            </a:r>
            <a:br>
              <a:rPr lang="en-US" altLang="ko-KR" sz="4000" b="1" i="0" spc="150" dirty="0"/>
            </a:br>
            <a:br>
              <a:rPr lang="en-US" altLang="ko-KR" sz="4000" b="1" i="0" spc="150" dirty="0"/>
            </a:br>
            <a:r>
              <a:rPr lang="ko-KR" altLang="en-US" sz="4000" b="1" i="0" spc="150" dirty="0"/>
              <a:t>자원환경 이용에 있어 시장의 실패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8730311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F2399-5788-E74B-5361-EE2B3FD68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2B01FE-46B7-EA74-DC09-87F917E04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시장 메커니즘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03EA2D-F4A0-4D5F-3A9A-6FA2AC811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F2426D-C31F-AFC8-B56C-C1FC23808E47}"/>
              </a:ext>
            </a:extLst>
          </p:cNvPr>
          <p:cNvSpPr txBox="1"/>
          <p:nvPr/>
        </p:nvSpPr>
        <p:spPr>
          <a:xfrm>
            <a:off x="678872" y="1038536"/>
            <a:ext cx="11259128" cy="37380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완전경쟁시장 메커니즘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재화나 서비스의 자유로운 거래가 가능한 완전경쟁시장에서는 </a:t>
            </a:r>
            <a:r>
              <a:rPr lang="ko-KR" altLang="en-US" sz="1600" spc="-50" dirty="0" err="1"/>
              <a:t>시장메커니즘에</a:t>
            </a:r>
            <a:r>
              <a:rPr lang="ko-KR" altLang="en-US" sz="1600" spc="-50" dirty="0"/>
              <a:t> 의해 자원의 가장 효율적인 배분이 가능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개인들이 자신만의 목적을 달성하기 위해 행동할 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사회 전체의 순편익이 최대가 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사적 편익이 사회적 편익과 일치하고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또 사적 비용도 사회적 비용과 일치함</a:t>
            </a: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효율적인 자원배분을 위한 조건들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시장이 </a:t>
            </a:r>
            <a:r>
              <a:rPr lang="ko-KR" altLang="en-US" sz="1600" spc="-50" dirty="0" err="1"/>
              <a:t>완전경쟁적이어야</a:t>
            </a:r>
            <a:r>
              <a:rPr lang="ko-KR" altLang="en-US" sz="1600" spc="-50" dirty="0"/>
              <a:t> 함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시장에 대한 완전한 정보가 개인에게 알려져 있어야 함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b="1" u="sng" spc="-50" dirty="0"/>
              <a:t>시장에서 거래되는 재화나 서비스의 소유권이 완전하게 설정되어 있어야 함</a:t>
            </a:r>
            <a:r>
              <a:rPr lang="en-US" altLang="ko-KR" sz="1600" b="1" u="sng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C102ED2-1F04-07B7-F755-4FE46A7843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7952595"/>
              </p:ext>
            </p:extLst>
          </p:nvPr>
        </p:nvGraphicFramePr>
        <p:xfrm>
          <a:off x="767772" y="5048467"/>
          <a:ext cx="10394950" cy="1203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8685">
                  <a:extLst>
                    <a:ext uri="{9D8B030D-6E8A-4147-A177-3AD203B41FA5}">
                      <a16:colId xmlns:a16="http://schemas.microsoft.com/office/drawing/2014/main" val="4111635576"/>
                    </a:ext>
                  </a:extLst>
                </a:gridCol>
                <a:gridCol w="6996265">
                  <a:extLst>
                    <a:ext uri="{9D8B030D-6E8A-4147-A177-3AD203B41FA5}">
                      <a16:colId xmlns:a16="http://schemas.microsoft.com/office/drawing/2014/main" val="2160743333"/>
                    </a:ext>
                  </a:extLst>
                </a:gridCol>
              </a:tblGrid>
              <a:tr h="24743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u="sng" kern="1200" dirty="0">
                          <a:ln w="3175">
                            <a:noFill/>
                          </a:ln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소유권의 성질</a:t>
                      </a:r>
                      <a:endParaRPr lang="ko-KR" altLang="en-US" sz="1100" b="1" u="sng" dirty="0"/>
                    </a:p>
                  </a:txBody>
                  <a:tcPr marL="21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spcAft>
                          <a:spcPts val="500"/>
                        </a:spcAft>
                        <a:buFontTx/>
                        <a:buNone/>
                      </a:pPr>
                      <a:r>
                        <a:rPr lang="ko-KR" altLang="en-US" sz="1100" b="1" kern="1200" spc="0" baseline="0" dirty="0">
                          <a:ln w="3175">
                            <a:noFill/>
                          </a:ln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의 미</a:t>
                      </a:r>
                      <a:endParaRPr lang="ko-KR" altLang="en-US" sz="1100" b="1" spc="0" baseline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9749017"/>
                  </a:ext>
                </a:extLst>
              </a:tr>
              <a:tr h="3185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u="sng" kern="1200" dirty="0">
                          <a:ln w="3175">
                            <a:noFill/>
                          </a:ln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배타성</a:t>
                      </a:r>
                      <a:r>
                        <a:rPr lang="en-US" altLang="ko-KR" sz="1100" b="0" u="sng" kern="1200" dirty="0">
                          <a:ln w="3175">
                            <a:noFill/>
                          </a:ln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(Exclusivity)</a:t>
                      </a:r>
                      <a:endParaRPr lang="ko-KR" altLang="en-US" sz="1100" b="0" u="sng" dirty="0"/>
                    </a:p>
                  </a:txBody>
                  <a:tcPr marL="21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5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spc="0" baseline="0" dirty="0"/>
                        <a:t>자원을 소유하고 이용함에 따라 발생하는 모든 편익과 비용은 그 자원의 소유주에게 귀속되고</a:t>
                      </a:r>
                      <a:r>
                        <a:rPr lang="en-US" altLang="ko-KR" sz="1100" b="0" spc="0" baseline="0" dirty="0"/>
                        <a:t>, </a:t>
                      </a:r>
                      <a:r>
                        <a:rPr lang="ko-KR" altLang="en-US" sz="1100" b="0" spc="0" baseline="0" dirty="0"/>
                        <a:t>또한 자원의 소유주만이 그러한 편익을 누리거나 비용을 부담함</a:t>
                      </a:r>
                      <a:endParaRPr lang="en-US" altLang="ko-KR" sz="1100" b="0" spc="0" baseline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13505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u="sng" kern="1200" dirty="0" err="1">
                          <a:ln w="3175">
                            <a:noFill/>
                          </a:ln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이전성</a:t>
                      </a:r>
                      <a:r>
                        <a:rPr lang="en-US" altLang="ko-KR" sz="1100" b="0" u="sng" kern="1200" dirty="0">
                          <a:ln w="3175">
                            <a:noFill/>
                          </a:ln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(Transferability)</a:t>
                      </a:r>
                      <a:endParaRPr lang="ko-KR" altLang="en-US" sz="1100" b="0" u="sng" dirty="0"/>
                    </a:p>
                  </a:txBody>
                  <a:tcPr marL="21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5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spc="0" baseline="0" dirty="0"/>
                        <a:t>모든 소유권은 자발전인 거래를 통해 다른 사람에게 이전될 수 있어야 함</a:t>
                      </a:r>
                      <a:endParaRPr lang="en-US" altLang="ko-KR" sz="1100" b="0" spc="0" baseline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7325171"/>
                  </a:ext>
                </a:extLst>
              </a:tr>
              <a:tr h="1955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u="sng" kern="1200" dirty="0">
                          <a:ln w="3175">
                            <a:noFill/>
                          </a:ln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실행가능성</a:t>
                      </a:r>
                      <a:r>
                        <a:rPr lang="en-US" altLang="ko-KR" sz="1100" b="0" u="sng" kern="1200" dirty="0">
                          <a:ln w="3175">
                            <a:noFill/>
                          </a:ln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(Enforceability)</a:t>
                      </a:r>
                      <a:endParaRPr lang="ko-KR" altLang="en-US" sz="1100" b="0" u="sng" dirty="0"/>
                    </a:p>
                  </a:txBody>
                  <a:tcPr marL="21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5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spc="0" baseline="0" dirty="0"/>
                        <a:t>자신이 보유한 소유권은 자신이 원하지 않을 경우 다른 사람에 의해 침해되지 않음</a:t>
                      </a:r>
                      <a:endParaRPr lang="en-US" altLang="ko-KR" sz="1100" b="0" spc="0" baseline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519608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BE41EDC-24EB-75AC-5A5D-BA830CA49812}"/>
              </a:ext>
            </a:extLst>
          </p:cNvPr>
          <p:cNvSpPr txBox="1"/>
          <p:nvPr/>
        </p:nvSpPr>
        <p:spPr>
          <a:xfrm>
            <a:off x="6509442" y="6276330"/>
            <a:ext cx="465963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600" dirty="0"/>
              <a:t>Source:</a:t>
            </a:r>
            <a:r>
              <a:rPr lang="ko-KR" altLang="en-US" sz="600" dirty="0"/>
              <a:t> </a:t>
            </a:r>
            <a:r>
              <a:rPr lang="en-US" altLang="ko-KR" sz="600" dirty="0" err="1"/>
              <a:t>Tietenberg</a:t>
            </a:r>
            <a:r>
              <a:rPr lang="en-US" altLang="ko-KR" sz="600" dirty="0"/>
              <a:t>, T. (2005) Environmental and Natural Resource Economics, 7th ed., Harper and Collins</a:t>
            </a:r>
            <a:endParaRPr lang="ko-KR" altLang="en-US" sz="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91FF8F-F3BE-FFDC-4033-99191A3E74E4}"/>
              </a:ext>
            </a:extLst>
          </p:cNvPr>
          <p:cNvSpPr txBox="1"/>
          <p:nvPr/>
        </p:nvSpPr>
        <p:spPr>
          <a:xfrm>
            <a:off x="2425700" y="4621846"/>
            <a:ext cx="6134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b="1" spc="-50" dirty="0"/>
              <a:t>&lt; </a:t>
            </a:r>
            <a:r>
              <a:rPr lang="ko-KR" altLang="en-US" sz="1800" b="1" spc="-50" dirty="0"/>
              <a:t>효율적인 소유권 </a:t>
            </a:r>
            <a:r>
              <a:rPr lang="en-US" altLang="ko-KR" sz="1800" b="1" spc="-50" dirty="0"/>
              <a:t>&gt;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156561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F851D-4107-4D0F-CC76-0984B0C3E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328135-DDA2-3657-AFE6-DCDFD241D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재화의 종류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CD697D-4B53-F1CD-BF75-640761228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15</a:t>
            </a:fld>
            <a:endParaRPr lang="ko-KR" altLang="en-US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E315CAFC-34D0-F0C5-642A-6B9F117AEB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1042850"/>
              </p:ext>
            </p:extLst>
          </p:nvPr>
        </p:nvGraphicFramePr>
        <p:xfrm>
          <a:off x="3076218" y="3563857"/>
          <a:ext cx="6039564" cy="257813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3019782">
                  <a:extLst>
                    <a:ext uri="{9D8B030D-6E8A-4147-A177-3AD203B41FA5}">
                      <a16:colId xmlns:a16="http://schemas.microsoft.com/office/drawing/2014/main" val="4016159992"/>
                    </a:ext>
                  </a:extLst>
                </a:gridCol>
                <a:gridCol w="3019782">
                  <a:extLst>
                    <a:ext uri="{9D8B030D-6E8A-4147-A177-3AD203B41FA5}">
                      <a16:colId xmlns:a16="http://schemas.microsoft.com/office/drawing/2014/main" val="3502439075"/>
                    </a:ext>
                  </a:extLst>
                </a:gridCol>
              </a:tblGrid>
              <a:tr h="10436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kern="1200" spc="-50" dirty="0" err="1">
                          <a:ln w="3175">
                            <a:noFill/>
                          </a:ln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사유재</a:t>
                      </a:r>
                      <a:endParaRPr lang="en-US" altLang="ko-KR" sz="1600" b="1" kern="1200" spc="-50" dirty="0">
                        <a:ln w="3175">
                          <a:noFill/>
                        </a:ln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kern="1200" spc="-50" dirty="0">
                          <a:ln w="3175">
                            <a:noFill/>
                          </a:ln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(Private Goods)</a:t>
                      </a:r>
                    </a:p>
                    <a:p>
                      <a:pPr marL="742950" marR="0" lvl="1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b="1" spc="-50" dirty="0">
                          <a:ln w="3175">
                            <a:noFill/>
                          </a:ln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아이스크림</a:t>
                      </a:r>
                      <a:endParaRPr lang="en-US" altLang="ko-KR" sz="1400" b="1" spc="-50" dirty="0">
                        <a:ln w="3175">
                          <a:noFill/>
                        </a:ln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742950" marR="0" lvl="1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b="1" spc="-50" dirty="0">
                          <a:ln w="3175">
                            <a:noFill/>
                          </a:ln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집</a:t>
                      </a:r>
                    </a:p>
                  </a:txBody>
                  <a:tcPr marL="184165" marR="184165" marT="92083" marB="92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spc="-50" dirty="0" err="1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비순수</a:t>
                      </a:r>
                      <a:r>
                        <a:rPr lang="ko-KR" altLang="en-US" sz="1600" b="1" spc="-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공공재</a:t>
                      </a:r>
                      <a:endParaRPr lang="en-US" altLang="ko-KR" sz="1600" b="1" spc="-50" dirty="0">
                        <a:ln w="3175"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spc="-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(Club goods)</a:t>
                      </a:r>
                    </a:p>
                    <a:p>
                      <a:pPr marL="742950" marR="0" lvl="1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400" b="1" spc="-50" dirty="0">
                          <a:ln w="3175">
                            <a:noFill/>
                          </a:ln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OTT (</a:t>
                      </a:r>
                      <a:r>
                        <a:rPr lang="ko-KR" altLang="en-US" sz="1400" b="1" spc="-50" dirty="0" err="1">
                          <a:ln w="3175">
                            <a:noFill/>
                          </a:ln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넷플릭스</a:t>
                      </a:r>
                      <a:r>
                        <a:rPr lang="en-US" altLang="ko-KR" sz="1400" b="1" spc="-50" dirty="0">
                          <a:ln w="3175">
                            <a:noFill/>
                          </a:ln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742950" marR="0" lvl="1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b="1" spc="-50" dirty="0">
                          <a:ln w="3175">
                            <a:noFill/>
                          </a:ln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한산한 유료 고속도로</a:t>
                      </a:r>
                    </a:p>
                  </a:txBody>
                  <a:tcPr marL="184165" marR="184165" marT="92083" marB="92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555331"/>
                  </a:ext>
                </a:extLst>
              </a:tr>
              <a:tr h="10436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spc="-50" dirty="0" err="1">
                          <a:ln w="3175">
                            <a:noFill/>
                          </a:ln>
                          <a:latin typeface="+mn-ea"/>
                          <a:ea typeface="+mn-ea"/>
                        </a:rPr>
                        <a:t>비순수</a:t>
                      </a:r>
                      <a:r>
                        <a:rPr lang="ko-KR" altLang="en-US" sz="1600" b="1" spc="-50" dirty="0">
                          <a:ln w="3175">
                            <a:noFill/>
                          </a:ln>
                          <a:latin typeface="+mn-ea"/>
                          <a:ea typeface="+mn-ea"/>
                        </a:rPr>
                        <a:t> 공공재 </a:t>
                      </a:r>
                      <a:endParaRPr lang="en-US" altLang="ko-KR" sz="1600" b="1" spc="-50" dirty="0">
                        <a:ln w="3175">
                          <a:noFill/>
                        </a:ln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spc="-50" dirty="0">
                          <a:ln w="3175">
                            <a:noFill/>
                          </a:ln>
                          <a:latin typeface="+mn-ea"/>
                          <a:ea typeface="+mn-ea"/>
                        </a:rPr>
                        <a:t>(Common resources)</a:t>
                      </a:r>
                    </a:p>
                    <a:p>
                      <a:pPr marL="742950" marR="0" lvl="1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b="1" spc="-50" dirty="0">
                          <a:ln w="3175">
                            <a:noFill/>
                          </a:ln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바다 속 물고기</a:t>
                      </a:r>
                      <a:endParaRPr lang="en-US" altLang="ko-KR" sz="1400" b="1" spc="-50" dirty="0">
                        <a:ln w="3175">
                          <a:noFill/>
                        </a:ln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742950" marR="0" lvl="1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b="1" spc="-50" dirty="0">
                          <a:ln w="3175">
                            <a:noFill/>
                          </a:ln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공원</a:t>
                      </a:r>
                    </a:p>
                  </a:txBody>
                  <a:tcPr marL="184165" marR="184165" marT="92083" marB="92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spc="-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순수 공공재</a:t>
                      </a:r>
                      <a:endParaRPr lang="en-US" altLang="ko-KR" sz="1600" b="1" spc="-50" dirty="0">
                        <a:ln w="3175"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spc="-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(Public goods)</a:t>
                      </a:r>
                    </a:p>
                    <a:p>
                      <a:pPr marL="742950" marR="0" lvl="1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b="1" spc="-50" dirty="0">
                          <a:ln w="3175">
                            <a:noFill/>
                          </a:ln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국방</a:t>
                      </a:r>
                      <a:r>
                        <a:rPr lang="en-US" altLang="ko-KR" sz="1400" b="1" spc="-50" dirty="0">
                          <a:ln w="3175">
                            <a:noFill/>
                          </a:ln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400" b="1" spc="-50" dirty="0">
                          <a:ln w="3175">
                            <a:noFill/>
                          </a:ln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및 치안</a:t>
                      </a:r>
                      <a:endParaRPr lang="en-US" altLang="ko-KR" sz="1400" b="1" spc="-50" dirty="0">
                        <a:ln w="3175">
                          <a:noFill/>
                        </a:ln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742950" marR="0" lvl="1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b="1" spc="-50" dirty="0">
                          <a:ln w="3175">
                            <a:noFill/>
                          </a:ln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재난 경보</a:t>
                      </a:r>
                    </a:p>
                  </a:txBody>
                  <a:tcPr marL="184165" marR="184165" marT="92083" marB="92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010772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3AD1F91-B25D-1B3E-3CBE-394BECFE1409}"/>
              </a:ext>
            </a:extLst>
          </p:cNvPr>
          <p:cNvSpPr txBox="1"/>
          <p:nvPr/>
        </p:nvSpPr>
        <p:spPr>
          <a:xfrm>
            <a:off x="5310106" y="2828317"/>
            <a:ext cx="15986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 latinLnBrk="1">
              <a:spcAft>
                <a:spcPts val="500"/>
              </a:spcAft>
              <a:buFontTx/>
              <a:buNone/>
            </a:pPr>
            <a:r>
              <a:rPr lang="ko-KR" altLang="en-US" sz="2400" spc="-50" dirty="0" err="1">
                <a:ln w="3175">
                  <a:noFill/>
                </a:ln>
                <a:solidFill>
                  <a:schemeClr val="dk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경합성</a:t>
            </a:r>
            <a:r>
              <a:rPr lang="en-US" altLang="ko-KR" sz="2400" spc="-50" dirty="0">
                <a:ln w="3175">
                  <a:noFill/>
                </a:ln>
                <a:solidFill>
                  <a:schemeClr val="dk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?</a:t>
            </a:r>
            <a:endParaRPr lang="en-US" altLang="ko-KR" sz="2400" b="0" kern="1200" spc="-50" dirty="0">
              <a:ln w="3175">
                <a:noFill/>
              </a:ln>
              <a:solidFill>
                <a:schemeClr val="dk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41D017-1A9E-7A6D-CC78-2C95708C46F2}"/>
              </a:ext>
            </a:extLst>
          </p:cNvPr>
          <p:cNvSpPr txBox="1"/>
          <p:nvPr/>
        </p:nvSpPr>
        <p:spPr>
          <a:xfrm>
            <a:off x="4093964" y="3165692"/>
            <a:ext cx="1011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 latinLnBrk="1">
              <a:spcAft>
                <a:spcPts val="500"/>
              </a:spcAft>
              <a:buFontTx/>
              <a:buNone/>
            </a:pPr>
            <a:r>
              <a:rPr lang="ko-KR" altLang="en-US" spc="-50" dirty="0">
                <a:ln w="3175">
                  <a:noFill/>
                </a:ln>
                <a:solidFill>
                  <a:schemeClr val="dk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있 음</a:t>
            </a:r>
            <a:endParaRPr lang="en-US" altLang="ko-KR" b="0" kern="1200" spc="-50" dirty="0">
              <a:ln w="3175">
                <a:noFill/>
              </a:ln>
              <a:solidFill>
                <a:schemeClr val="dk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9FF820-E4C8-BEB9-24BA-4C86A7135D05}"/>
              </a:ext>
            </a:extLst>
          </p:cNvPr>
          <p:cNvSpPr txBox="1"/>
          <p:nvPr/>
        </p:nvSpPr>
        <p:spPr>
          <a:xfrm>
            <a:off x="7091164" y="3165692"/>
            <a:ext cx="1011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 latinLnBrk="1">
              <a:spcAft>
                <a:spcPts val="500"/>
              </a:spcAft>
              <a:buFontTx/>
              <a:buNone/>
            </a:pPr>
            <a:r>
              <a:rPr lang="ko-KR" altLang="en-US" spc="-50" dirty="0" err="1">
                <a:ln w="3175">
                  <a:noFill/>
                </a:ln>
                <a:solidFill>
                  <a:schemeClr val="dk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없</a:t>
            </a:r>
            <a:r>
              <a:rPr lang="ko-KR" altLang="en-US" spc="-50" dirty="0">
                <a:ln w="3175">
                  <a:noFill/>
                </a:ln>
                <a:solidFill>
                  <a:schemeClr val="dk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음</a:t>
            </a:r>
            <a:endParaRPr lang="en-US" altLang="ko-KR" b="0" kern="1200" spc="-50" dirty="0">
              <a:ln w="3175">
                <a:noFill/>
              </a:ln>
              <a:solidFill>
                <a:schemeClr val="dk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7B50BD-9C2B-70FD-38A5-4219993F1796}"/>
              </a:ext>
            </a:extLst>
          </p:cNvPr>
          <p:cNvSpPr txBox="1"/>
          <p:nvPr/>
        </p:nvSpPr>
        <p:spPr>
          <a:xfrm>
            <a:off x="890506" y="4376628"/>
            <a:ext cx="15986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 latinLnBrk="1">
              <a:spcAft>
                <a:spcPts val="500"/>
              </a:spcAft>
              <a:buFontTx/>
              <a:buNone/>
            </a:pPr>
            <a:r>
              <a:rPr lang="ko-KR" altLang="en-US" sz="2400" spc="-50" dirty="0">
                <a:ln w="3175">
                  <a:noFill/>
                </a:ln>
                <a:solidFill>
                  <a:schemeClr val="dk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배제성</a:t>
            </a:r>
            <a:r>
              <a:rPr lang="en-US" altLang="ko-KR" sz="2400" spc="-50" dirty="0">
                <a:ln w="3175">
                  <a:noFill/>
                </a:ln>
                <a:solidFill>
                  <a:schemeClr val="dk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?</a:t>
            </a:r>
            <a:endParaRPr lang="en-US" altLang="ko-KR" sz="2400" b="0" kern="1200" spc="-50" dirty="0">
              <a:ln w="3175">
                <a:noFill/>
              </a:ln>
              <a:solidFill>
                <a:schemeClr val="dk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5E2270-148F-0B42-23DE-63FA177F65DC}"/>
              </a:ext>
            </a:extLst>
          </p:cNvPr>
          <p:cNvSpPr txBox="1"/>
          <p:nvPr/>
        </p:nvSpPr>
        <p:spPr>
          <a:xfrm>
            <a:off x="2201664" y="3870542"/>
            <a:ext cx="1011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 latinLnBrk="1">
              <a:spcAft>
                <a:spcPts val="500"/>
              </a:spcAft>
              <a:buFontTx/>
              <a:buNone/>
            </a:pPr>
            <a:r>
              <a:rPr lang="ko-KR" altLang="en-US" spc="-50" dirty="0">
                <a:ln w="3175">
                  <a:noFill/>
                </a:ln>
                <a:solidFill>
                  <a:schemeClr val="dk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있 음</a:t>
            </a:r>
            <a:endParaRPr lang="en-US" altLang="ko-KR" b="0" kern="1200" spc="-50" dirty="0">
              <a:ln w="3175">
                <a:noFill/>
              </a:ln>
              <a:solidFill>
                <a:schemeClr val="dk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772FBD-79CB-D109-2848-66AC81763DA2}"/>
              </a:ext>
            </a:extLst>
          </p:cNvPr>
          <p:cNvSpPr txBox="1"/>
          <p:nvPr/>
        </p:nvSpPr>
        <p:spPr>
          <a:xfrm>
            <a:off x="2201664" y="4975047"/>
            <a:ext cx="1011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 latinLnBrk="1">
              <a:spcAft>
                <a:spcPts val="500"/>
              </a:spcAft>
              <a:buFontTx/>
              <a:buNone/>
            </a:pPr>
            <a:r>
              <a:rPr lang="ko-KR" altLang="en-US" spc="-50" dirty="0">
                <a:ln w="3175">
                  <a:noFill/>
                </a:ln>
                <a:solidFill>
                  <a:schemeClr val="dk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없 음</a:t>
            </a:r>
            <a:endParaRPr lang="en-US" altLang="ko-KR" b="0" kern="1200" spc="-50" dirty="0">
              <a:ln w="3175">
                <a:noFill/>
              </a:ln>
              <a:solidFill>
                <a:schemeClr val="dk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0A91B29-F597-C936-FF7C-6B71B3D75B26}"/>
              </a:ext>
            </a:extLst>
          </p:cNvPr>
          <p:cNvSpPr txBox="1"/>
          <p:nvPr/>
        </p:nvSpPr>
        <p:spPr>
          <a:xfrm>
            <a:off x="678872" y="1038536"/>
            <a:ext cx="11259128" cy="15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경합성과 배제성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재화나 서비스는 경합성과 배제성의 유</a:t>
            </a:r>
            <a:r>
              <a:rPr lang="en-US" altLang="ko-KR" sz="1600" spc="-50" dirty="0"/>
              <a:t>/</a:t>
            </a:r>
            <a:r>
              <a:rPr lang="ko-KR" altLang="en-US" sz="1600" spc="-50" dirty="0"/>
              <a:t>무에 따라 아래와 같이 </a:t>
            </a:r>
            <a:r>
              <a:rPr lang="en-US" altLang="ko-KR" sz="1600" spc="-50" dirty="0"/>
              <a:t>4</a:t>
            </a:r>
            <a:r>
              <a:rPr lang="ko-KR" altLang="en-US" sz="1600" spc="-50" dirty="0"/>
              <a:t>가지로 분류할 수 있음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배제성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돈을 내지 않거나 조건을 충족하지 못하면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소비하지 못하도록 막을 수 있는 성질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</a:t>
            </a:r>
            <a:r>
              <a:rPr lang="ko-KR" altLang="en-US" sz="1600" spc="-50" dirty="0" err="1"/>
              <a:t>경합성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한 사람이 재화나 서비스를 소비하면 다른 사람이 동시에 소비할 수 없게 되는 성질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29374870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66417-FF52-02D4-D5E8-ECF88F324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45D739-BEE1-2398-2C26-216198850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공유자원의 비극 </a:t>
            </a:r>
            <a:r>
              <a:rPr lang="en-US" altLang="ko-KR" dirty="0"/>
              <a:t>(Tragedy of Common resources)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BCB3F7-5A96-BB3F-A729-97DE1E249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BA47094-1C7C-A5BD-0697-54815800052D}"/>
              </a:ext>
            </a:extLst>
          </p:cNvPr>
          <p:cNvSpPr txBox="1"/>
          <p:nvPr/>
        </p:nvSpPr>
        <p:spPr>
          <a:xfrm>
            <a:off x="678872" y="1038536"/>
            <a:ext cx="10243594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공유자원의 비극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개방자원과 유사하지만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소유권이 비교적 적은 수의 구성원으로 이루어진 집단에게 부여되어 있음</a:t>
            </a:r>
            <a:endParaRPr lang="en-US" altLang="ko-KR" sz="1600" spc="-50" dirty="0"/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개인소유가 아니고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집단 소유이므로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개방자원과 마찬가지로 여전히 남용될 가능성이 높음</a:t>
            </a:r>
            <a:endParaRPr lang="en-US" altLang="ko-KR" sz="1600" spc="-50" dirty="0"/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해결책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구성원 전체가 동의하는 공식적인 규칙을 만들어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자원을 이용하는 방법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구성원들 사이에 예전부터 존재하는 관습이나 전통을 이용하여 자원을 이용하는 방법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사례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어촌 앞바다에서 양식을 할 수 있는 권리는 </a:t>
            </a:r>
            <a:r>
              <a:rPr lang="ko-KR" altLang="en-US" sz="1600" spc="-50" dirty="0" err="1"/>
              <a:t>어촌계</a:t>
            </a:r>
            <a:r>
              <a:rPr lang="ko-KR" altLang="en-US" sz="1600" spc="-50" dirty="0"/>
              <a:t> 마을에 부여되어 있음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가구별로 양식장으로 활용할 수 있는 면적을 할당하고</a:t>
            </a:r>
            <a:r>
              <a:rPr lang="en-US" altLang="ko-KR" sz="1600" spc="-50" dirty="0"/>
              <a:t>,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상대적으로 유리하거나 불리한 위치가 있을 수 있으므로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가구별 양식장의 위치를 정해진 기간마다 바꾸어 사용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29761865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AC268-0B17-1D8F-2AEC-BCE7D2C34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D4E5F9-E6D8-D849-7CB6-C9986435F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공유자원의 비효율성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D92CBC-37AA-6A64-8828-A0CA42DDA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76730E-4F57-20B9-F7D5-16A01000C225}"/>
              </a:ext>
            </a:extLst>
          </p:cNvPr>
          <p:cNvSpPr txBox="1"/>
          <p:nvPr/>
        </p:nvSpPr>
        <p:spPr>
          <a:xfrm>
            <a:off x="678872" y="1038536"/>
            <a:ext cx="5755484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전세계 바다 참치잡이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공해 수산자원의 소유권은 누구에게도 부여되어 있지 않음</a:t>
            </a:r>
            <a:endParaRPr lang="en-US" altLang="ko-KR" sz="1600" spc="-50" dirty="0"/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누구든 어업활동을 통해 자원 이용이 가능</a:t>
            </a:r>
            <a:endParaRPr lang="en-US" altLang="ko-KR" sz="1600" spc="-50" dirty="0"/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오른쪽 그림은 공유자원 이용의 비효율성을 보여주고 있음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세로축은 참치잡이 배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척당 </a:t>
            </a:r>
            <a:r>
              <a:rPr lang="ko-KR" altLang="en-US" sz="1600" spc="-50" dirty="0" err="1"/>
              <a:t>지불해야하는</a:t>
            </a:r>
            <a:r>
              <a:rPr lang="ko-KR" altLang="en-US" sz="1600" spc="-50" dirty="0"/>
              <a:t> 비용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벌어들이는 수입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가로축은 참치잡이 배의 수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전세계 참치잡이의 총이윤을 극대화해주는 배의 수보다 더 많은 배가 어업활동을 하게 되는 결과가 초래 됨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Q</a:t>
            </a:r>
            <a:r>
              <a:rPr lang="en-US" altLang="ko-KR" sz="1600" spc="-50" baseline="30000" dirty="0"/>
              <a:t>*</a:t>
            </a:r>
            <a:r>
              <a:rPr lang="en-US" altLang="ko-KR" sz="1600" spc="-50" dirty="0"/>
              <a:t> :</a:t>
            </a:r>
            <a:r>
              <a:rPr lang="ko-KR" altLang="en-US" sz="1600" spc="-50" dirty="0"/>
              <a:t> 총 이윤을 극대화 해주는 배의 수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Q</a:t>
            </a:r>
            <a:r>
              <a:rPr lang="en-US" altLang="ko-KR" sz="1600" spc="-50" baseline="30000" dirty="0"/>
              <a:t>** </a:t>
            </a:r>
            <a:r>
              <a:rPr lang="en-US" altLang="ko-KR" sz="1600" spc="-50" dirty="0"/>
              <a:t>:</a:t>
            </a:r>
            <a:r>
              <a:rPr lang="ko-KR" altLang="en-US" sz="1600" spc="-50" dirty="0"/>
              <a:t> 결과적으로 나타나는 배의 수</a:t>
            </a:r>
            <a:endParaRPr lang="en-US" altLang="ko-KR" sz="1600" spc="-50" dirty="0"/>
          </a:p>
        </p:txBody>
      </p:sp>
      <p:pic>
        <p:nvPicPr>
          <p:cNvPr id="5" name="그림 4" descr="텍스트, 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588AE8F-491E-8ADD-DA9F-81E94D1422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483"/>
          <a:stretch>
            <a:fillRect/>
          </a:stretch>
        </p:blipFill>
        <p:spPr>
          <a:xfrm>
            <a:off x="6601113" y="1161874"/>
            <a:ext cx="5151121" cy="54500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7DA83FB-64A3-2083-EDB9-8BC94A18F716}"/>
              </a:ext>
            </a:extLst>
          </p:cNvPr>
          <p:cNvSpPr txBox="1"/>
          <p:nvPr/>
        </p:nvSpPr>
        <p:spPr>
          <a:xfrm>
            <a:off x="9001027" y="6162857"/>
            <a:ext cx="37645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spc="-50" dirty="0"/>
              <a:t>Q</a:t>
            </a:r>
            <a:r>
              <a:rPr lang="en-US" altLang="ko-KR" sz="1100" spc="-50" baseline="30000" dirty="0"/>
              <a:t>*</a:t>
            </a:r>
            <a:endParaRPr lang="ko-KR" altLang="en-US" sz="1100" baseline="30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757963-86DD-A34F-6326-C55853492346}"/>
              </a:ext>
            </a:extLst>
          </p:cNvPr>
          <p:cNvSpPr txBox="1"/>
          <p:nvPr/>
        </p:nvSpPr>
        <p:spPr>
          <a:xfrm>
            <a:off x="10750130" y="6162857"/>
            <a:ext cx="37645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spc="-50" dirty="0"/>
              <a:t>Q</a:t>
            </a:r>
            <a:r>
              <a:rPr lang="en-US" altLang="ko-KR" sz="1100" spc="-50" baseline="30000" dirty="0"/>
              <a:t>**</a:t>
            </a:r>
            <a:endParaRPr lang="ko-KR" altLang="en-US" sz="1100" baseline="30000" dirty="0"/>
          </a:p>
        </p:txBody>
      </p:sp>
    </p:spTree>
    <p:extLst>
      <p:ext uri="{BB962C8B-B14F-4D97-AF65-F5344CB8AC3E}">
        <p14:creationId xmlns:p14="http://schemas.microsoft.com/office/powerpoint/2010/main" val="23704848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0CDB5-D6AD-1260-9D97-38FEAD7DC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932F20-6A4A-03DA-DA98-228622A2C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공공재시장의 비효율성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6132BA-2FF6-9606-D9E9-33E32BEF7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23333F-7465-DD21-2765-179D3A10CC51}"/>
              </a:ext>
            </a:extLst>
          </p:cNvPr>
          <p:cNvSpPr txBox="1"/>
          <p:nvPr/>
        </p:nvSpPr>
        <p:spPr>
          <a:xfrm>
            <a:off x="328634" y="1267136"/>
            <a:ext cx="6577487" cy="496911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공공재의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소비자가 재화나 서비스를 동시에 소비하므로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공공재 전체 시장의 한계지불의사는 개별 한계지불의사의 수직 합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D = d</a:t>
            </a:r>
            <a:r>
              <a:rPr lang="en-US" altLang="ko-KR" sz="1600" spc="-50" baseline="-25000" dirty="0"/>
              <a:t>A</a:t>
            </a:r>
            <a:r>
              <a:rPr lang="en-US" altLang="ko-KR" sz="1600" spc="-50" dirty="0"/>
              <a:t>+d</a:t>
            </a:r>
            <a:r>
              <a:rPr lang="en-US" altLang="ko-KR" sz="1600" spc="-50" baseline="-25000" dirty="0"/>
              <a:t>B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baseline="-250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사회 전체적으로 가장 바람직한 공공재의 생산 및 소비량은 시장전체 수요</a:t>
            </a:r>
            <a:r>
              <a:rPr lang="en-US" altLang="ko-KR" sz="1600" spc="-50" dirty="0"/>
              <a:t>(D)</a:t>
            </a:r>
            <a:r>
              <a:rPr lang="ko-KR" altLang="en-US" sz="1600" spc="-50" dirty="0"/>
              <a:t>와 한계비용</a:t>
            </a:r>
            <a:r>
              <a:rPr lang="en-US" altLang="ko-KR" sz="1600" spc="-50" dirty="0"/>
              <a:t>(MC)</a:t>
            </a:r>
            <a:r>
              <a:rPr lang="ko-KR" altLang="en-US" sz="1600" spc="-50" dirty="0"/>
              <a:t>이 만나는 지점</a:t>
            </a:r>
            <a:r>
              <a:rPr lang="en-US" altLang="ko-KR" sz="1600" spc="-50" dirty="0"/>
              <a:t>: Q</a:t>
            </a:r>
            <a:r>
              <a:rPr lang="en-US" altLang="ko-KR" sz="1600" spc="-50" baseline="30000" dirty="0"/>
              <a:t>*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baseline="-250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소비자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는 각각의 개별 한계지불의사와 한계비용이 만나는 지점에서 공공재를 소비하고자 함</a:t>
            </a:r>
            <a:r>
              <a:rPr lang="en-US" altLang="ko-KR" sz="1600" spc="-50" dirty="0"/>
              <a:t>: q</a:t>
            </a:r>
            <a:r>
              <a:rPr lang="en-US" altLang="ko-KR" sz="1600" spc="-50" baseline="-25000" dirty="0"/>
              <a:t>A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q</a:t>
            </a:r>
            <a:r>
              <a:rPr lang="en-US" altLang="ko-KR" sz="1600" spc="-50" baseline="-25000" dirty="0"/>
              <a:t>B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공공재의 특성상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소비자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는 소비자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가 이미 </a:t>
            </a:r>
            <a:r>
              <a:rPr lang="en-US" altLang="ko-KR" sz="1600" spc="-50" dirty="0"/>
              <a:t>q</a:t>
            </a:r>
            <a:r>
              <a:rPr lang="en-US" altLang="ko-KR" sz="1600" spc="-50" baseline="-25000" dirty="0"/>
              <a:t>A</a:t>
            </a:r>
            <a:r>
              <a:rPr lang="ko-KR" altLang="en-US" sz="1600" spc="-50" dirty="0"/>
              <a:t>만큼은의 가격을 지불 했으므로</a:t>
            </a:r>
            <a:r>
              <a:rPr lang="en-US" altLang="ko-KR" sz="1600" spc="-50" dirty="0"/>
              <a:t>, (</a:t>
            </a:r>
            <a:r>
              <a:rPr lang="en-US" altLang="ko-KR" sz="1600" spc="-50" dirty="0" err="1"/>
              <a:t>q</a:t>
            </a:r>
            <a:r>
              <a:rPr lang="en-US" altLang="ko-KR" sz="1600" spc="-50" baseline="-25000" dirty="0" err="1"/>
              <a:t>B</a:t>
            </a:r>
            <a:r>
              <a:rPr lang="ko-KR" altLang="en-US" sz="1600" spc="-50" baseline="-25000" dirty="0"/>
              <a:t> </a:t>
            </a:r>
            <a:r>
              <a:rPr lang="en-US" altLang="ko-KR" sz="1600" spc="-50" dirty="0"/>
              <a:t>–</a:t>
            </a:r>
            <a:r>
              <a:rPr lang="ko-KR" altLang="en-US" sz="1600" spc="-50" dirty="0"/>
              <a:t> </a:t>
            </a:r>
            <a:r>
              <a:rPr lang="en-US" altLang="ko-KR" sz="1600" spc="-50" dirty="0" err="1"/>
              <a:t>q</a:t>
            </a:r>
            <a:r>
              <a:rPr lang="en-US" altLang="ko-KR" sz="1600" spc="-50" baseline="-25000" dirty="0" err="1"/>
              <a:t>A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만큼만 지불하고자 할 것</a:t>
            </a:r>
            <a:r>
              <a:rPr lang="en-US" altLang="ko-KR" sz="1600" spc="-50" dirty="0"/>
              <a:t>: </a:t>
            </a:r>
            <a:r>
              <a:rPr lang="ko-KR" altLang="en-US" sz="1600" b="1" u="sng" spc="-50" dirty="0"/>
              <a:t>무임승차</a:t>
            </a:r>
            <a:r>
              <a:rPr lang="ko-KR" altLang="en-US" sz="1600" spc="-50" dirty="0"/>
              <a:t>의 문제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결국 전체 시장에 공급되는 공공재의 총량은 </a:t>
            </a:r>
            <a:r>
              <a:rPr lang="en-US" altLang="ko-KR" sz="1600" spc="-50" dirty="0"/>
              <a:t>Q</a:t>
            </a:r>
            <a:r>
              <a:rPr lang="en-US" altLang="ko-KR" sz="1600" spc="-50" baseline="30000" dirty="0"/>
              <a:t>* </a:t>
            </a:r>
            <a:r>
              <a:rPr lang="ko-KR" altLang="en-US" sz="1600" spc="-50" dirty="0"/>
              <a:t>보다 적은</a:t>
            </a:r>
            <a:r>
              <a:rPr lang="en-US" altLang="ko-KR" sz="1600" spc="-50" dirty="0"/>
              <a:t> q</a:t>
            </a:r>
            <a:r>
              <a:rPr lang="en-US" altLang="ko-KR" sz="1600" spc="-50" baseline="-25000" dirty="0"/>
              <a:t>B</a:t>
            </a:r>
            <a:r>
              <a:rPr lang="ko-KR" altLang="en-US" sz="1600" spc="-50" dirty="0"/>
              <a:t>가 됨</a:t>
            </a:r>
            <a:endParaRPr lang="en-US" altLang="ko-KR" sz="1600" spc="-50" dirty="0"/>
          </a:p>
        </p:txBody>
      </p:sp>
      <p:pic>
        <p:nvPicPr>
          <p:cNvPr id="7" name="그림 6" descr="라인, 텍스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1E96682-302A-CE0E-FC1F-F16935803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3493" y="760917"/>
            <a:ext cx="5079846" cy="5815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9644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65024-6D0D-1C78-8C4A-4B5671BF3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54F41B-ED96-1512-131F-4A241AB62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무임승차를 완화시키는 조건들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8D35FB-0741-C82A-6A99-F47CD67C2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B24A7CF-EE40-8759-730F-8E9732024899}"/>
              </a:ext>
            </a:extLst>
          </p:cNvPr>
          <p:cNvSpPr txBox="1"/>
          <p:nvPr/>
        </p:nvSpPr>
        <p:spPr>
          <a:xfrm>
            <a:off x="557239" y="1044886"/>
            <a:ext cx="10430212" cy="509222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수요자 간 선호도의 차이가 매우 큰 경우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소비자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의 수요가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에 비해 매우 크다면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소비자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가 무임승차자가 되려 한다는 것을 알고 있더라도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자신이 공공재를 구입하는 것이 더 나으므로 대가를 지불하게 될 것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baseline="-250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소비자들이 이타심을 가지는 경우 </a:t>
            </a:r>
            <a:r>
              <a:rPr lang="en-US" altLang="ko-KR" sz="1600" spc="-50" dirty="0"/>
              <a:t>(altruism)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소비자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의 공공재 소비로 인해 소비자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의 효용이 증가하는 경우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소비자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의 </a:t>
            </a:r>
            <a:r>
              <a:rPr lang="ko-KR" altLang="en-US" sz="1600" spc="-50" dirty="0" err="1"/>
              <a:t>이타심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소비자들이 </a:t>
            </a:r>
            <a:r>
              <a:rPr lang="ko-KR" altLang="en-US" sz="1600" spc="-50" dirty="0" err="1"/>
              <a:t>유사이타심을</a:t>
            </a:r>
            <a:r>
              <a:rPr lang="ko-KR" altLang="en-US" sz="1600" spc="-50" dirty="0"/>
              <a:t> 가지는 경우 </a:t>
            </a:r>
            <a:r>
              <a:rPr lang="en-US" altLang="ko-KR" sz="1600" spc="-50" dirty="0"/>
              <a:t>(warm-glow effect)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자신이 공공재를 공급하여 공동체에 기여 했다는 사실을 남이 알아주어 효용이 증가하는 경우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한계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위의 조건들은 현실에서 기대하기 힘들 뿐 아니라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무임승차의 일부를 완화시킬 뿐 제거할 수는 없음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보다 근본적인 해결책으로는 국가에서 공공재를 직접 공급하는 것이지만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아래와 같이 어려운 문제가 있음</a:t>
            </a:r>
            <a:endParaRPr lang="en-US" altLang="ko-KR" sz="1600" spc="-50" dirty="0"/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사회에 공공재를 얼만큼 </a:t>
            </a:r>
            <a:r>
              <a:rPr lang="ko-KR" altLang="en-US" sz="1600" spc="-50" dirty="0" err="1"/>
              <a:t>공급하는게</a:t>
            </a:r>
            <a:r>
              <a:rPr lang="ko-KR" altLang="en-US" sz="1600" spc="-50" dirty="0"/>
              <a:t> 효율적인지</a:t>
            </a:r>
            <a:endParaRPr lang="en-US" altLang="ko-KR" sz="1600" spc="-50" dirty="0"/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사회를 구성하는 개인들에게 이용대금을 얼마나 어떻게 징수할 것인지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4832466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512F2-1A60-787C-84E5-01391422C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BA9DB7-7DE0-B5D5-4D88-1C88B7E1A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효율적인 공공재 공급을 위한 이론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D4002B-2EAA-7D34-C00A-C18CB910B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A028E7-2B61-1D29-75B8-5018DF35DBF1}"/>
              </a:ext>
            </a:extLst>
          </p:cNvPr>
          <p:cNvSpPr txBox="1"/>
          <p:nvPr/>
        </p:nvSpPr>
        <p:spPr>
          <a:xfrm>
            <a:off x="678872" y="1038536"/>
            <a:ext cx="10243594" cy="26300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 err="1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린달균형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스웨덴 경제학자 에릭 </a:t>
            </a:r>
            <a:r>
              <a:rPr lang="ko-KR" altLang="en-US" sz="1600" spc="-50" dirty="0" err="1"/>
              <a:t>린달</a:t>
            </a:r>
            <a:r>
              <a:rPr lang="en-US" altLang="ko-KR" sz="1600" spc="-50" dirty="0"/>
              <a:t>(Erik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Lindahl)</a:t>
            </a:r>
            <a:r>
              <a:rPr lang="ko-KR" altLang="en-US" sz="1600" spc="-50" dirty="0"/>
              <a:t>에 따르면 사람들이 각자 자기의 한계편익에 맞는 가격을 부담하면 공공재의 효율적 수준을 달성할 수 있음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공공재의 공급 비용을 모든 개인의 세금 부담으로 나눠야 하는데</a:t>
            </a:r>
            <a:r>
              <a:rPr lang="en-US" altLang="ko-KR" sz="1600" spc="-50" dirty="0"/>
              <a:t>,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내가 지불하는 세금의 비율 </a:t>
            </a:r>
            <a:r>
              <a:rPr lang="en-US" altLang="ko-KR" sz="1600" spc="-50" dirty="0"/>
              <a:t>= </a:t>
            </a:r>
            <a:r>
              <a:rPr lang="ko-KR" altLang="en-US" sz="1600" spc="-50" dirty="0"/>
              <a:t>내가 느끼는 한계편익의 비율이 되도록 분담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즉 개인별로 다른 가격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세금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을 지불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린달균형이</a:t>
            </a:r>
            <a:r>
              <a:rPr lang="ko-KR" altLang="en-US" sz="1600" spc="-50" dirty="0"/>
              <a:t> 존재한다면 공공재 공급을 가장 효율적으로 할 수 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실제로 그 균형을 찾는 것은 </a:t>
            </a:r>
            <a:r>
              <a:rPr lang="ko-KR" altLang="en-US" sz="1600" spc="-50" dirty="0" err="1"/>
              <a:t>힘듬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8376971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80695-8D7C-E71C-08E8-8BFD990F8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D76220-9925-9537-58F2-B25EACE6A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외부효과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790E32-1BE0-623C-19BE-0022E85A5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00F795-3DB2-B0F9-96D6-4595E77BE999}"/>
              </a:ext>
            </a:extLst>
          </p:cNvPr>
          <p:cNvSpPr txBox="1"/>
          <p:nvPr/>
        </p:nvSpPr>
        <p:spPr>
          <a:xfrm>
            <a:off x="678872" y="1038536"/>
            <a:ext cx="10243594" cy="22606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외부효과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어떤 개인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의 후생 수준이 다른 사람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의 의사결정에 의해 직접적인 영향을 받지만</a:t>
            </a:r>
            <a:r>
              <a:rPr lang="en-US" altLang="ko-KR" sz="1600" spc="-50" dirty="0"/>
              <a:t>, B</a:t>
            </a:r>
            <a:r>
              <a:rPr lang="ko-KR" altLang="en-US" sz="1600" spc="-50" dirty="0"/>
              <a:t>는 자신이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의 후생에 미친 영향과 일치하는 만큼의 책임을 지거나 대가를 받지 않을 때 발생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소유권이 배타성을 갖추지 못하여 발생하는 시장실패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인근 공장에서 나온 폐수로 인해 양어장이 피해를 보는 경우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음의 외부효과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과수원의 사과 꽃이 양봉업자의 벌꿀 생산에 이익을 주는 경우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양의 외부효과</a:t>
            </a:r>
            <a:r>
              <a:rPr lang="en-US" altLang="ko-KR" sz="1600" spc="-50" dirty="0"/>
              <a:t>)</a:t>
            </a:r>
          </a:p>
        </p:txBody>
      </p:sp>
      <p:pic>
        <p:nvPicPr>
          <p:cNvPr id="7" name="그림 6" descr="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D38E558-53E8-F782-4EC4-5A81756B2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724" y="3358069"/>
            <a:ext cx="8223889" cy="3194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4981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467FB-A7DD-6820-9337-8858C3F7C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7FE855-E94C-D4D3-F999-57A90E882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시장실패의 해결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300CE1-A939-C6E6-4DD9-57E6BFD8F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CFE9A0-B201-9706-6603-C4DA8C583B0F}"/>
              </a:ext>
            </a:extLst>
          </p:cNvPr>
          <p:cNvSpPr txBox="1"/>
          <p:nvPr/>
        </p:nvSpPr>
        <p:spPr>
          <a:xfrm>
            <a:off x="678872" y="1038536"/>
            <a:ext cx="10788966" cy="18913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2075"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사적 교섭을 통한 해결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사적 교섭을 통해 시장의 실패를 해결할 수 있음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가로 축은 공장이 배출하는 폐수의 양을 의미함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공장은 폐수를 </a:t>
            </a:r>
            <a:r>
              <a:rPr lang="ko-KR" altLang="en-US" sz="1600" spc="-50" dirty="0" err="1"/>
              <a:t>수요하며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폐수를 한 단위씩 추가 배출할 때마다 벌어들일 수 있는 수익이 있음</a:t>
            </a:r>
            <a:r>
              <a:rPr lang="en-US" altLang="ko-KR" sz="1600" spc="-50" dirty="0"/>
              <a:t> (</a:t>
            </a:r>
            <a:r>
              <a:rPr lang="ko-KR" altLang="en-US" sz="1600" spc="-50" dirty="0"/>
              <a:t>폐수 수요</a:t>
            </a:r>
            <a:r>
              <a:rPr lang="en-US" altLang="ko-KR" sz="1600" spc="-50" dirty="0"/>
              <a:t> (D))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폐수는 양어장의 생산성을 떨어뜨리며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폐수가 한 단위씩 추가될 때마다 피해를 보고 있음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한계피해액 </a:t>
            </a:r>
            <a:r>
              <a:rPr lang="en-US" altLang="ko-KR" sz="1600" spc="-50" dirty="0"/>
              <a:t>(MD))</a:t>
            </a:r>
          </a:p>
        </p:txBody>
      </p:sp>
      <p:pic>
        <p:nvPicPr>
          <p:cNvPr id="6" name="그림 5" descr="도표, 라인, 텍스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38DE003-1565-ED8D-405E-400698BEBE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87" r="50000"/>
          <a:stretch>
            <a:fillRect/>
          </a:stretch>
        </p:blipFill>
        <p:spPr>
          <a:xfrm>
            <a:off x="6915955" y="2998373"/>
            <a:ext cx="4752170" cy="377447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11D3600-B417-B23F-D207-FB4026516891}"/>
              </a:ext>
            </a:extLst>
          </p:cNvPr>
          <p:cNvSpPr txBox="1"/>
          <p:nvPr/>
        </p:nvSpPr>
        <p:spPr>
          <a:xfrm>
            <a:off x="7743825" y="4058997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2AD90A-06FC-CBA2-7F1F-71EC9B3B018B}"/>
              </a:ext>
            </a:extLst>
          </p:cNvPr>
          <p:cNvSpPr txBox="1"/>
          <p:nvPr/>
        </p:nvSpPr>
        <p:spPr>
          <a:xfrm>
            <a:off x="7743825" y="5119621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7760EA-0D39-FC77-C644-3C0D58C9617F}"/>
              </a:ext>
            </a:extLst>
          </p:cNvPr>
          <p:cNvSpPr txBox="1"/>
          <p:nvPr/>
        </p:nvSpPr>
        <p:spPr>
          <a:xfrm>
            <a:off x="8709025" y="5640321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c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3B9630-7EAE-78C0-6ADD-4D55242573E8}"/>
              </a:ext>
            </a:extLst>
          </p:cNvPr>
          <p:cNvSpPr txBox="1"/>
          <p:nvPr/>
        </p:nvSpPr>
        <p:spPr>
          <a:xfrm>
            <a:off x="9547225" y="5640321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d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728D3E-36A1-3358-1AFC-8CBF86C694F5}"/>
              </a:ext>
            </a:extLst>
          </p:cNvPr>
          <p:cNvSpPr txBox="1"/>
          <p:nvPr/>
        </p:nvSpPr>
        <p:spPr>
          <a:xfrm>
            <a:off x="10472737" y="5119621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e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6138A6-4B0C-C9B8-C65C-1331DB26B352}"/>
              </a:ext>
            </a:extLst>
          </p:cNvPr>
          <p:cNvSpPr txBox="1"/>
          <p:nvPr/>
        </p:nvSpPr>
        <p:spPr>
          <a:xfrm>
            <a:off x="10472737" y="4054168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f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3A72A9-7832-8AB3-4802-E2906A373166}"/>
              </a:ext>
            </a:extLst>
          </p:cNvPr>
          <p:cNvSpPr txBox="1"/>
          <p:nvPr/>
        </p:nvSpPr>
        <p:spPr>
          <a:xfrm>
            <a:off x="678872" y="2892736"/>
            <a:ext cx="6033078" cy="33686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오염규제가 없고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교섭도 없으면 공장은 </a:t>
            </a:r>
            <a:r>
              <a:rPr lang="en-US" altLang="ko-KR" sz="1600" spc="-50" dirty="0"/>
              <a:t>e</a:t>
            </a:r>
            <a:r>
              <a:rPr lang="en-US" altLang="ko-KR" sz="1600" spc="-50" baseline="-25000" dirty="0"/>
              <a:t>p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까지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폐수를 배출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양어장 주인이 공장주에게 폐수 배출량을 한 단위 줄일 때마다 </a:t>
            </a:r>
            <a:r>
              <a:rPr lang="en-US" altLang="ko-KR" sz="1600" spc="-50" dirty="0"/>
              <a:t>e</a:t>
            </a:r>
            <a:r>
              <a:rPr lang="en-US" altLang="ko-KR" sz="1600" spc="-50" baseline="30000" dirty="0"/>
              <a:t>*</a:t>
            </a:r>
            <a:r>
              <a:rPr lang="ko-KR" altLang="en-US" sz="1600" spc="-50" dirty="0"/>
              <a:t>에서의 폐수 한계가치와 동일한 </a:t>
            </a:r>
            <a:r>
              <a:rPr lang="en-US" altLang="ko-KR" sz="1600" spc="-50" dirty="0"/>
              <a:t>p</a:t>
            </a:r>
            <a:r>
              <a:rPr lang="en-US" altLang="ko-KR" sz="1600" spc="-50" baseline="30000" dirty="0"/>
              <a:t>*</a:t>
            </a:r>
            <a:r>
              <a:rPr lang="ko-KR" altLang="en-US" sz="1600" spc="-50" dirty="0"/>
              <a:t>를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지불하겠다고 제안하면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공장주는 폐수 한계가치와 단위당 보상액이 일치하는 </a:t>
            </a:r>
            <a:r>
              <a:rPr lang="en-US" altLang="ko-KR" sz="1600" spc="-50" dirty="0"/>
              <a:t>e</a:t>
            </a:r>
            <a:r>
              <a:rPr lang="en-US" altLang="ko-KR" sz="1600" spc="-50" baseline="30000" dirty="0"/>
              <a:t>*</a:t>
            </a:r>
            <a:r>
              <a:rPr lang="ko-KR" altLang="en-US" sz="1600" spc="-50" dirty="0"/>
              <a:t>수준으로 배출량을 줄일 것임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공장주는 </a:t>
            </a:r>
            <a:r>
              <a:rPr lang="en-US" altLang="ko-KR" sz="1600" spc="-50" dirty="0"/>
              <a:t>d </a:t>
            </a:r>
            <a:r>
              <a:rPr lang="ko-KR" altLang="en-US" sz="1600" spc="-50" dirty="0"/>
              <a:t>만큼의 손해를 보지만</a:t>
            </a:r>
            <a:r>
              <a:rPr lang="en-US" altLang="ko-KR" sz="1600" spc="-50" dirty="0"/>
              <a:t>, </a:t>
            </a:r>
            <a:r>
              <a:rPr lang="en-US" altLang="ko-KR" sz="1600" spc="-50" dirty="0" err="1"/>
              <a:t>d+e</a:t>
            </a:r>
            <a:r>
              <a:rPr lang="ko-KR" altLang="en-US" sz="1600" spc="-50" dirty="0"/>
              <a:t>만큼의 보상을 양어장 주인으로부터 받게 됨</a:t>
            </a:r>
            <a:r>
              <a:rPr lang="en-US" altLang="ko-KR" sz="1600" spc="-50" dirty="0"/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CE17FE-7D31-72BB-2957-C056F857380A}"/>
              </a:ext>
            </a:extLst>
          </p:cNvPr>
          <p:cNvSpPr txBox="1"/>
          <p:nvPr/>
        </p:nvSpPr>
        <p:spPr>
          <a:xfrm>
            <a:off x="5543130" y="6261730"/>
            <a:ext cx="10604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spc="-50" dirty="0"/>
              <a:t>→ 뒷장 계속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8686172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EAE52-48A8-7FD7-DD73-766A265CB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B2A463-1BB4-C624-12D9-0E31BC37F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시장실패의 해결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F8B455-4D04-D48B-FAD4-3D0CDB598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23</a:t>
            </a:fld>
            <a:endParaRPr lang="ko-KR" altLang="en-US"/>
          </a:p>
        </p:txBody>
      </p:sp>
      <p:pic>
        <p:nvPicPr>
          <p:cNvPr id="6" name="그림 5" descr="도표, 라인, 텍스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3FE4AC9-8D3C-6815-8BD3-054286BEC6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87" r="50000"/>
          <a:stretch>
            <a:fillRect/>
          </a:stretch>
        </p:blipFill>
        <p:spPr>
          <a:xfrm>
            <a:off x="6915955" y="1169573"/>
            <a:ext cx="4752170" cy="377447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4732E02-83CA-26CA-A117-26EFADF2ADEB}"/>
              </a:ext>
            </a:extLst>
          </p:cNvPr>
          <p:cNvSpPr txBox="1"/>
          <p:nvPr/>
        </p:nvSpPr>
        <p:spPr>
          <a:xfrm>
            <a:off x="7743825" y="2230197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E290CD-998B-C7EC-823A-CCAF7EFD2808}"/>
              </a:ext>
            </a:extLst>
          </p:cNvPr>
          <p:cNvSpPr txBox="1"/>
          <p:nvPr/>
        </p:nvSpPr>
        <p:spPr>
          <a:xfrm>
            <a:off x="7743825" y="3290821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933D49-A940-6A6A-3B4C-7DA1151A1899}"/>
              </a:ext>
            </a:extLst>
          </p:cNvPr>
          <p:cNvSpPr txBox="1"/>
          <p:nvPr/>
        </p:nvSpPr>
        <p:spPr>
          <a:xfrm>
            <a:off x="8709025" y="3811521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c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92477A-82D9-38A4-F48B-4EA930845754}"/>
              </a:ext>
            </a:extLst>
          </p:cNvPr>
          <p:cNvSpPr txBox="1"/>
          <p:nvPr/>
        </p:nvSpPr>
        <p:spPr>
          <a:xfrm>
            <a:off x="9547225" y="3811521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d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093BEF-0B7C-2DFA-9AA6-E7683A12C4A0}"/>
              </a:ext>
            </a:extLst>
          </p:cNvPr>
          <p:cNvSpPr txBox="1"/>
          <p:nvPr/>
        </p:nvSpPr>
        <p:spPr>
          <a:xfrm>
            <a:off x="10472737" y="3290821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e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6BBF04-D881-C96C-1CA8-F26431D44694}"/>
              </a:ext>
            </a:extLst>
          </p:cNvPr>
          <p:cNvSpPr txBox="1"/>
          <p:nvPr/>
        </p:nvSpPr>
        <p:spPr>
          <a:xfrm>
            <a:off x="10472737" y="2225368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f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788458-9361-17F6-7073-BE7F1A09D918}"/>
              </a:ext>
            </a:extLst>
          </p:cNvPr>
          <p:cNvSpPr txBox="1"/>
          <p:nvPr/>
        </p:nvSpPr>
        <p:spPr>
          <a:xfrm>
            <a:off x="678872" y="1038536"/>
            <a:ext cx="6033078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양어장 주인의 입장에서는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 err="1"/>
              <a:t>d+e</a:t>
            </a:r>
            <a:r>
              <a:rPr lang="ko-KR" altLang="en-US" sz="1600" spc="-50" dirty="0"/>
              <a:t>만큼을 공장주에게 지불해야 하지만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배출량이 </a:t>
            </a:r>
            <a:r>
              <a:rPr lang="en-US" altLang="ko-KR" sz="1600" spc="-50" dirty="0"/>
              <a:t>e</a:t>
            </a:r>
            <a:r>
              <a:rPr lang="en-US" altLang="ko-KR" sz="1600" spc="-50" baseline="-25000" dirty="0"/>
              <a:t>p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에서 </a:t>
            </a:r>
            <a:r>
              <a:rPr lang="en-US" altLang="ko-KR" sz="1600" spc="-50" dirty="0"/>
              <a:t>e</a:t>
            </a:r>
            <a:r>
              <a:rPr lang="en-US" altLang="ko-KR" sz="1600" spc="-50" baseline="30000" dirty="0"/>
              <a:t>*</a:t>
            </a:r>
            <a:r>
              <a:rPr lang="ko-KR" altLang="en-US" sz="1600" spc="-50" dirty="0"/>
              <a:t>로 줄어들어 </a:t>
            </a:r>
            <a:r>
              <a:rPr lang="en-US" altLang="ko-KR" sz="1600" spc="-50" dirty="0" err="1"/>
              <a:t>d+e+f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만큼의 피해가 감소함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</a:t>
            </a:r>
            <a:r>
              <a:rPr lang="en-US" altLang="ko-KR" sz="1600" spc="-50" dirty="0"/>
              <a:t>(</a:t>
            </a:r>
            <a:r>
              <a:rPr lang="en-US" altLang="ko-KR" sz="1600" spc="-50" dirty="0" err="1"/>
              <a:t>d+e+f</a:t>
            </a:r>
            <a:r>
              <a:rPr lang="en-US" altLang="ko-KR" sz="1600" spc="-50" dirty="0"/>
              <a:t>)-(</a:t>
            </a:r>
            <a:r>
              <a:rPr lang="en-US" altLang="ko-KR" sz="1600" spc="-50" dirty="0" err="1"/>
              <a:t>d+e</a:t>
            </a:r>
            <a:r>
              <a:rPr lang="en-US" altLang="ko-KR" sz="1600" spc="-50" dirty="0"/>
              <a:t>) = f</a:t>
            </a:r>
            <a:r>
              <a:rPr lang="ko-KR" altLang="en-US" sz="1600" spc="-50" dirty="0"/>
              <a:t>만큼의 이득을 얻게 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이처럼 교섭이 성사되면 가해자와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피해자 모두 이득을 얻고 사회적으로 효율적인 수준의 폐수가 배출되어 외부효과 문제가 해결됨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다만 아래와 같은 의문이 발생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왜 피해자가 가해자에게 보상을 </a:t>
            </a:r>
            <a:r>
              <a:rPr lang="ko-KR" altLang="en-US" sz="1600" spc="-50" dirty="0" err="1"/>
              <a:t>해야하는지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사적 협상이 불가능하면 대안이 있는지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6758349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2FBB7-019C-97CB-E6DB-836760C40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504696-EA9E-4F37-AC3D-4FE732319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시장실패의 해결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B47EFD-1922-63D4-4DF9-38DB26FE6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A78AD3-D835-E517-EF44-0C88244970C4}"/>
              </a:ext>
            </a:extLst>
          </p:cNvPr>
          <p:cNvSpPr txBox="1"/>
          <p:nvPr/>
        </p:nvSpPr>
        <p:spPr>
          <a:xfrm>
            <a:off x="678872" y="1038536"/>
            <a:ext cx="10243594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사법적 해결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피해자는 본인의 피해를 줄이기 위해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가해자에게 대가를 지불해야 한다는 사실을 인정하고 싶지 않아 할 가능성이 높음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대안으로 가해자를 법정에 고소하는 방법이 있음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법원의 역할은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외부효과를 유발하는 행위를 할 권리와 외부효과 때문에 피해를 입지 않을 권리 가운데 어느 권리가 우선하는지를 판단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판결을 통해 가해자가 피해자에게 입힌 피해에 대해 보상할 것을 명령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법원은 어느 쪽 권리를 인정해 주어야 할까</a:t>
            </a:r>
            <a:r>
              <a:rPr lang="en-US" altLang="ko-KR" sz="1600" spc="-5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1138506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FADAA-351C-E94D-63DC-FF6E0B393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7E61B1-1E12-5904-9153-836D8B1FA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코즈</a:t>
            </a:r>
            <a:r>
              <a:rPr lang="ko-KR" altLang="en-US" dirty="0"/>
              <a:t> 정리 </a:t>
            </a:r>
            <a:r>
              <a:rPr lang="en-US" altLang="ko-KR" dirty="0"/>
              <a:t>(Coase theorem, 1960)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9EA106-995A-4C9D-D870-D0A95E857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055EA0-576D-D736-9898-C9D679C05AE2}"/>
              </a:ext>
            </a:extLst>
          </p:cNvPr>
          <p:cNvSpPr txBox="1"/>
          <p:nvPr/>
        </p:nvSpPr>
        <p:spPr>
          <a:xfrm>
            <a:off x="678872" y="1038536"/>
            <a:ext cx="10243594" cy="15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코즈정리에</a:t>
            </a:r>
            <a:r>
              <a:rPr lang="ko-KR" altLang="en-US" sz="1600" spc="-50" dirty="0"/>
              <a:t> 따르면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사적 교섭에 관계된 사람의 수가 적고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교섭에 소요되는 비용이 적을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가해자와 피해자 누구의 권리를 인정해 주어도 협상을 통해 사회적으로 효율적인 자원배분이 달성 가능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법원의 결정에 따라 달라지는 것은 가해자와 피해자 사이에 어느 쪽으로 편익이 많이 </a:t>
            </a:r>
            <a:r>
              <a:rPr lang="ko-KR" altLang="en-US" sz="1600" spc="-50" dirty="0" err="1"/>
              <a:t>돌아가는지일</a:t>
            </a:r>
            <a:r>
              <a:rPr lang="ko-KR" altLang="en-US" sz="1600" spc="-50" dirty="0"/>
              <a:t> 뿐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국가는 시장에 개입하지 말고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권리가 누구에게 </a:t>
            </a:r>
            <a:r>
              <a:rPr lang="ko-KR" altLang="en-US" sz="1600" spc="-50" dirty="0" err="1"/>
              <a:t>있는지만을</a:t>
            </a:r>
            <a:r>
              <a:rPr lang="ko-KR" altLang="en-US" sz="1600" spc="-50" dirty="0"/>
              <a:t> 정하기만 하면 된다고 주장</a:t>
            </a:r>
            <a:r>
              <a:rPr lang="en-US" altLang="ko-KR" sz="1600" spc="-50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662588-F75C-1770-4086-DF17BA532B32}"/>
              </a:ext>
            </a:extLst>
          </p:cNvPr>
          <p:cNvSpPr txBox="1"/>
          <p:nvPr/>
        </p:nvSpPr>
        <p:spPr>
          <a:xfrm>
            <a:off x="678872" y="3109867"/>
            <a:ext cx="6033078" cy="33686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전과는 반대로 양어장 주인에게 권리가 있다면</a:t>
            </a:r>
            <a:r>
              <a:rPr lang="en-US" altLang="ko-KR" sz="1600" spc="-50" dirty="0"/>
              <a:t>?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공장주는 </a:t>
            </a:r>
            <a:r>
              <a:rPr lang="en-US" altLang="ko-KR" sz="1600" spc="-50" dirty="0" err="1"/>
              <a:t>b+c</a:t>
            </a:r>
            <a:r>
              <a:rPr lang="ko-KR" altLang="en-US" sz="1600" spc="-50" dirty="0"/>
              <a:t>만큼을 양어장 주인에게 지불해야 하지만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e</a:t>
            </a:r>
            <a:r>
              <a:rPr lang="en-US" altLang="ko-KR" sz="1600" spc="-50" baseline="30000" dirty="0"/>
              <a:t>*</a:t>
            </a:r>
            <a:r>
              <a:rPr lang="ko-KR" altLang="en-US" sz="1600" spc="-50" dirty="0"/>
              <a:t>만큼 폐수를 배출하여 </a:t>
            </a:r>
            <a:r>
              <a:rPr lang="en-US" altLang="ko-KR" sz="1600" spc="-50" dirty="0" err="1"/>
              <a:t>a+b+c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만큼의 편익을 얻음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결국 </a:t>
            </a:r>
            <a:r>
              <a:rPr lang="en-US" altLang="ko-KR" sz="1600" spc="-50" dirty="0"/>
              <a:t>(</a:t>
            </a:r>
            <a:r>
              <a:rPr lang="en-US" altLang="ko-KR" sz="1600" spc="-50" dirty="0" err="1"/>
              <a:t>a+b+c</a:t>
            </a:r>
            <a:r>
              <a:rPr lang="en-US" altLang="ko-KR" sz="1600" spc="-50" dirty="0"/>
              <a:t>) – (</a:t>
            </a:r>
            <a:r>
              <a:rPr lang="en-US" altLang="ko-KR" sz="1600" spc="-50" dirty="0" err="1"/>
              <a:t>b+c</a:t>
            </a:r>
            <a:r>
              <a:rPr lang="en-US" altLang="ko-KR" sz="1600" spc="-50" dirty="0"/>
              <a:t>) = a </a:t>
            </a:r>
            <a:r>
              <a:rPr lang="ko-KR" altLang="en-US" sz="1600" spc="-50" dirty="0"/>
              <a:t>만큼의 이득을 보게 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양어장 주인은 </a:t>
            </a:r>
            <a:r>
              <a:rPr lang="en-US" altLang="ko-KR" sz="1600" spc="-50" dirty="0"/>
              <a:t>e</a:t>
            </a:r>
            <a:r>
              <a:rPr lang="en-US" altLang="ko-KR" sz="1600" spc="-50" baseline="30000" dirty="0"/>
              <a:t>*</a:t>
            </a:r>
            <a:r>
              <a:rPr lang="ko-KR" altLang="en-US" sz="1600" spc="-50" dirty="0"/>
              <a:t>만큼의 폐수 때문에 </a:t>
            </a:r>
            <a:r>
              <a:rPr lang="en-US" altLang="ko-KR" sz="1600" spc="-50" dirty="0"/>
              <a:t>c</a:t>
            </a:r>
            <a:r>
              <a:rPr lang="ko-KR" altLang="en-US" sz="1600" spc="-50" dirty="0"/>
              <a:t>만큼의 피해를 봄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하지만 그 대가로 </a:t>
            </a:r>
            <a:r>
              <a:rPr lang="en-US" altLang="ko-KR" sz="1600" spc="-50" dirty="0" err="1"/>
              <a:t>b+c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만큼의 보상을 받음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결국 </a:t>
            </a:r>
            <a:r>
              <a:rPr lang="en-US" altLang="ko-KR" sz="1600" spc="-50" dirty="0"/>
              <a:t>(</a:t>
            </a:r>
            <a:r>
              <a:rPr lang="en-US" altLang="ko-KR" sz="1600" spc="-50" dirty="0" err="1"/>
              <a:t>b+c</a:t>
            </a:r>
            <a:r>
              <a:rPr lang="en-US" altLang="ko-KR" sz="1600" spc="-50" dirty="0"/>
              <a:t>) – (c) = b </a:t>
            </a:r>
            <a:r>
              <a:rPr lang="ko-KR" altLang="en-US" sz="1600" spc="-50" dirty="0"/>
              <a:t>만큼의 이득을 보게 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  <p:pic>
        <p:nvPicPr>
          <p:cNvPr id="7" name="그림 6" descr="도표, 라인, 텍스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F3D76CE-C02E-99B6-0B7A-CF2EC1C2F1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87" r="50000"/>
          <a:stretch>
            <a:fillRect/>
          </a:stretch>
        </p:blipFill>
        <p:spPr>
          <a:xfrm>
            <a:off x="6863165" y="2837428"/>
            <a:ext cx="4752170" cy="377447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484BFB0-4A80-7931-3ED4-C7811A30841B}"/>
              </a:ext>
            </a:extLst>
          </p:cNvPr>
          <p:cNvSpPr txBox="1"/>
          <p:nvPr/>
        </p:nvSpPr>
        <p:spPr>
          <a:xfrm>
            <a:off x="7691035" y="3898052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443EB4-DCFE-8B95-D527-2F674CBA406B}"/>
              </a:ext>
            </a:extLst>
          </p:cNvPr>
          <p:cNvSpPr txBox="1"/>
          <p:nvPr/>
        </p:nvSpPr>
        <p:spPr>
          <a:xfrm>
            <a:off x="7691035" y="4958676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52E90F-87FC-37DA-076F-EC9EEDDFB208}"/>
              </a:ext>
            </a:extLst>
          </p:cNvPr>
          <p:cNvSpPr txBox="1"/>
          <p:nvPr/>
        </p:nvSpPr>
        <p:spPr>
          <a:xfrm>
            <a:off x="8656235" y="5479376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c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8D9221-1731-D017-338C-2D0BD44BB5E5}"/>
              </a:ext>
            </a:extLst>
          </p:cNvPr>
          <p:cNvSpPr txBox="1"/>
          <p:nvPr/>
        </p:nvSpPr>
        <p:spPr>
          <a:xfrm>
            <a:off x="9494435" y="5479376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d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07BB08-4B63-078E-1A05-21E15BBAF634}"/>
              </a:ext>
            </a:extLst>
          </p:cNvPr>
          <p:cNvSpPr txBox="1"/>
          <p:nvPr/>
        </p:nvSpPr>
        <p:spPr>
          <a:xfrm>
            <a:off x="10419947" y="4958676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e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6986EE-CA05-8767-0D92-07879B072279}"/>
              </a:ext>
            </a:extLst>
          </p:cNvPr>
          <p:cNvSpPr txBox="1"/>
          <p:nvPr/>
        </p:nvSpPr>
        <p:spPr>
          <a:xfrm>
            <a:off x="10419947" y="3893223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f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03902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280BC-1D17-F901-090B-3561511A8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044F5E-BC11-57D3-7515-59D3DFBCD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코즈</a:t>
            </a:r>
            <a:r>
              <a:rPr lang="ko-KR" altLang="en-US" dirty="0"/>
              <a:t> 정리의 한계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FBE984-888C-860F-9E41-8BA0C4B19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E99F41-A2E3-9D3F-A7F8-050B7172E211}"/>
              </a:ext>
            </a:extLst>
          </p:cNvPr>
          <p:cNvSpPr txBox="1"/>
          <p:nvPr/>
        </p:nvSpPr>
        <p:spPr>
          <a:xfrm>
            <a:off x="678872" y="1038536"/>
            <a:ext cx="10243594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교섭에 관계된 사람 수가 많으면 교섭 자체가 불가능하거나 교섭비용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혹은 거래비용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이 많이 소요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피해자의 피해금액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가해자의 오염행위로 인한 편익을 정확히 산정하기 어려움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피해자는 피해금액을 과대 추정할 우려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가해자는 편익을 과소 추정할 우려가 있음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피해자가 여러 명이면서 이들 피해자의 권리가 인정될 때 발생하는 타협거부 문제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10</a:t>
            </a:r>
            <a:r>
              <a:rPr lang="ko-KR" altLang="en-US" sz="1600" spc="-50" dirty="0"/>
              <a:t>개의 양어장 권리가 인정 된다고 했을 때</a:t>
            </a:r>
            <a:r>
              <a:rPr lang="en-US" altLang="ko-KR" sz="1600" spc="-50" dirty="0"/>
              <a:t>, 9</a:t>
            </a:r>
            <a:r>
              <a:rPr lang="ko-KR" altLang="en-US" sz="1600" spc="-50" dirty="0"/>
              <a:t>개의 양어장은 </a:t>
            </a:r>
            <a:r>
              <a:rPr lang="en-US" altLang="ko-KR" sz="1600" spc="-50" dirty="0"/>
              <a:t>100</a:t>
            </a:r>
            <a:r>
              <a:rPr lang="ko-KR" altLang="en-US" sz="1600" spc="-50" dirty="0"/>
              <a:t>만원씩 보상 받기로 합의를 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마지막 양어장은 </a:t>
            </a:r>
            <a:r>
              <a:rPr lang="en-US" altLang="ko-KR" sz="1600" spc="-50" dirty="0"/>
              <a:t>100</a:t>
            </a:r>
            <a:r>
              <a:rPr lang="ko-KR" altLang="en-US" sz="1600" spc="-50" dirty="0"/>
              <a:t>만원 이상의 보상을 원하며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배출 동의를 쉽게 해주지 않는 경우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피해자가 여러 명이지만 가해자의 권리를 인정할 때 발생하는 무임승차 문제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이번에는 </a:t>
            </a:r>
            <a:r>
              <a:rPr lang="en-US" altLang="ko-KR" sz="1600" spc="-50" dirty="0"/>
              <a:t>9</a:t>
            </a:r>
            <a:r>
              <a:rPr lang="ko-KR" altLang="en-US" sz="1600" spc="-50" dirty="0"/>
              <a:t>개의 양어장이 공장에게 </a:t>
            </a:r>
            <a:r>
              <a:rPr lang="en-US" altLang="ko-KR" sz="1600" spc="-50" dirty="0"/>
              <a:t>100</a:t>
            </a:r>
            <a:r>
              <a:rPr lang="ko-KR" altLang="en-US" sz="1600" spc="-50" dirty="0"/>
              <a:t>만원씩 이미 지불하였고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이에 공장은 폐수 </a:t>
            </a:r>
            <a:r>
              <a:rPr lang="en-US" altLang="ko-KR" sz="1600" spc="-50" dirty="0"/>
              <a:t>9</a:t>
            </a:r>
            <a:r>
              <a:rPr lang="ko-KR" altLang="en-US" sz="1600" spc="-50" dirty="0"/>
              <a:t>단위를 줄였음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배출량을 </a:t>
            </a:r>
            <a:r>
              <a:rPr lang="ko-KR" altLang="en-US" sz="1600" spc="-50" dirty="0" err="1"/>
              <a:t>줄여나갈수록</a:t>
            </a:r>
            <a:r>
              <a:rPr lang="ko-KR" altLang="en-US" sz="1600" spc="-50" dirty="0"/>
              <a:t> 양어장이 얻는 한계편익이 감소하는 상황이므로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마지막 양어장은 마지막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단위의 배출저감에 대해 </a:t>
            </a:r>
            <a:r>
              <a:rPr lang="en-US" altLang="ko-KR" sz="1600" spc="-50" dirty="0"/>
              <a:t>100</a:t>
            </a:r>
            <a:r>
              <a:rPr lang="ko-KR" altLang="en-US" sz="1600" spc="-50" dirty="0"/>
              <a:t>만원보다 낮은 가치로 평가할 수 있음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8083099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07A5B-4D4F-B3B9-8D7E-E232271D7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8D91C9-35A3-C154-1980-193EA5E36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코즈</a:t>
            </a:r>
            <a:r>
              <a:rPr lang="ko-KR" altLang="en-US" dirty="0"/>
              <a:t> 정리의 한계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B35FE4-309F-F584-3D73-51A4FCFF9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AB1B4C-6ABE-6B9D-291D-09C15C59EECC}"/>
              </a:ext>
            </a:extLst>
          </p:cNvPr>
          <p:cNvSpPr txBox="1"/>
          <p:nvPr/>
        </p:nvSpPr>
        <p:spPr>
          <a:xfrm>
            <a:off x="678872" y="1038536"/>
            <a:ext cx="10243594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소득효과를 인정하지 않는다는 점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누구의 권리를 인정 </a:t>
            </a:r>
            <a:r>
              <a:rPr lang="ko-KR" altLang="en-US" sz="1600" spc="-50" dirty="0" err="1"/>
              <a:t>해주냐에</a:t>
            </a:r>
            <a:r>
              <a:rPr lang="ko-KR" altLang="en-US" sz="1600" spc="-50" dirty="0"/>
              <a:t> 따라 가해자와 피해자의 소득이 달라지는데</a:t>
            </a:r>
            <a:r>
              <a:rPr lang="en-US" altLang="ko-KR" sz="1600" spc="-50" dirty="0"/>
              <a:t>,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가해자의 오염 배출에 대한 수요곡선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혹은 피해자의 한계피해곡선은 이들의 소득수준에 의해서도 영향을 받음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어느 쪽의 권리를 인정 </a:t>
            </a:r>
            <a:r>
              <a:rPr lang="ko-KR" altLang="en-US" sz="1600" spc="-50" dirty="0" err="1"/>
              <a:t>하느냐에</a:t>
            </a:r>
            <a:r>
              <a:rPr lang="ko-KR" altLang="en-US" sz="1600" spc="-50" dirty="0"/>
              <a:t> 따라 수요곡선 혹은 한계피해곡선의 위치가 달라지기 때문에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권리를 인정하는 순간 사적 교섭을 통해 달성되는 최적 오염물질 배출량 역시 달라지게 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법원이 가해자의 권리를 인정해 주어도 사회적으로 효율적인 자원배분이 가능하므로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법원이 가해자의 권리를 인정했다고 가정할 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공장은 일부러 피해자들과 가까이 입지하여 교섭을 통해 배출량을 줄이는 대가로 보상 받아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자체로 수익성 높은 사업으로 인식하게 될 수 있음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5799742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9D12E-D73E-F2B4-EA3F-3AD846EF2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F9042A-10BE-7C5D-0D50-760C21777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제도적 행정적 규제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746F6E-93B0-34A8-607E-1811AD869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0416D1-2B8C-13B9-527C-22AD7F2D6023}"/>
              </a:ext>
            </a:extLst>
          </p:cNvPr>
          <p:cNvSpPr txBox="1"/>
          <p:nvPr/>
        </p:nvSpPr>
        <p:spPr>
          <a:xfrm>
            <a:off x="678872" y="1038536"/>
            <a:ext cx="10243594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소개된 사적 교섭 및 사법적 해결은 거래비용이 매우 적을 경우에만 사용 가능한 방법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다시 말하면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외부효과와 관련된 관계자가 적어야 하고</a:t>
            </a:r>
            <a:r>
              <a:rPr lang="en-US" altLang="ko-KR" sz="1600" spc="-50" dirty="0"/>
              <a:t>,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환경문제의 인과관계가 명확해야 하고</a:t>
            </a:r>
            <a:r>
              <a:rPr lang="en-US" altLang="ko-KR" sz="1600" spc="-50" dirty="0"/>
              <a:t>,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당사자 간의 합의나 법원의 판결을 끌어내는 데 필요한 비용이 매우 적어야 함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제도적 규제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현실에서는 대부분 위의 조건을 만족하기가 어렵고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오히려 모든 환경문제에 대해 일률적으로 적용되는 규칙을 정해 강제로 지키게 하여 시장의 실패를 제거 혹은 완화하는 것이 더 효율적일 수 있음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폐수의 단위당 </a:t>
            </a:r>
            <a:r>
              <a:rPr lang="en-US" altLang="ko-KR" sz="1600" spc="-50" dirty="0"/>
              <a:t>p</a:t>
            </a:r>
            <a:r>
              <a:rPr lang="en-US" altLang="ko-KR" sz="1600" spc="-50" baseline="30000" dirty="0"/>
              <a:t>*</a:t>
            </a:r>
            <a:r>
              <a:rPr lang="ko-KR" altLang="en-US" sz="1600" spc="-50" dirty="0"/>
              <a:t>만큼의 세금을 매기는 정책 </a:t>
            </a:r>
            <a:r>
              <a:rPr lang="en-US" altLang="ko-KR" sz="1600" spc="-50" dirty="0"/>
              <a:t>(27</a:t>
            </a:r>
            <a:r>
              <a:rPr lang="ko-KR" altLang="en-US" sz="1600" spc="-50" dirty="0"/>
              <a:t>번 슬라이드 그림 참고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공장에게 </a:t>
            </a:r>
            <a:r>
              <a:rPr lang="en-US" altLang="ko-KR" sz="1600" spc="-50" dirty="0"/>
              <a:t>e</a:t>
            </a:r>
            <a:r>
              <a:rPr lang="en-US" altLang="ko-KR" sz="1600" spc="-50" baseline="30000" dirty="0"/>
              <a:t>*</a:t>
            </a:r>
            <a:r>
              <a:rPr lang="ko-KR" altLang="en-US" sz="1600" spc="-50" dirty="0"/>
              <a:t>이하의 폐수만을 배출하도록 의무화 하는 정책</a:t>
            </a:r>
            <a:r>
              <a:rPr lang="en-US" altLang="ko-KR" sz="1600" spc="-50" dirty="0"/>
              <a:t>, </a:t>
            </a:r>
            <a:r>
              <a:rPr lang="ko-KR" altLang="en-US" sz="1600" spc="-50"/>
              <a:t>지키지 않을 시 벌금 및 벌칙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19905130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8B0EB-74B1-B51C-A4E6-7DD41C0B0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24993C-D1C3-8436-D8C1-21698BE6D1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51A9577-CCBA-F474-5E82-99100C452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134292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en-US" altLang="ko-KR" b="1" i="0" spc="150" dirty="0">
                <a:solidFill>
                  <a:schemeClr val="accent2"/>
                </a:solidFill>
              </a:rPr>
              <a:t>T</a:t>
            </a:r>
            <a:r>
              <a:rPr lang="en-US" altLang="ko-KR" sz="5400" i="0" spc="100" dirty="0"/>
              <a:t>hank you</a:t>
            </a:r>
            <a:endParaRPr lang="ko-KR" altLang="en-US" sz="5400" i="0" spc="1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4898E0-926C-D8DA-8874-21A66F64B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404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">
      <a:dk1>
        <a:srgbClr val="262626"/>
      </a:dk1>
      <a:lt1>
        <a:sysClr val="window" lastClr="FFFFFF"/>
      </a:lt1>
      <a:dk2>
        <a:srgbClr val="262626"/>
      </a:dk2>
      <a:lt2>
        <a:srgbClr val="EFEFEF"/>
      </a:lt2>
      <a:accent1>
        <a:srgbClr val="2D72BE"/>
      </a:accent1>
      <a:accent2>
        <a:srgbClr val="E15F5F"/>
      </a:accent2>
      <a:accent3>
        <a:srgbClr val="DA9D6D"/>
      </a:accent3>
      <a:accent4>
        <a:srgbClr val="009AB7"/>
      </a:accent4>
      <a:accent5>
        <a:srgbClr val="FF660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6179</TotalTime>
  <Words>2121</Words>
  <Application>Microsoft Office PowerPoint</Application>
  <PresentationFormat>와이드스크린</PresentationFormat>
  <Paragraphs>310</Paragraphs>
  <Slides>29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6" baseType="lpstr">
      <vt:lpstr>HY헤드라인M</vt:lpstr>
      <vt:lpstr>KoPub돋움체 Light</vt:lpstr>
      <vt:lpstr>맑은 고딕</vt:lpstr>
      <vt:lpstr>Arial</vt:lpstr>
      <vt:lpstr>Cambria Math</vt:lpstr>
      <vt:lpstr>Wingdings</vt:lpstr>
      <vt:lpstr>Office 테마</vt:lpstr>
      <vt:lpstr>환경 자원 경제학</vt:lpstr>
      <vt:lpstr>Part 2  환경문제의 경제적 분석 틀</vt:lpstr>
      <vt:lpstr>Chapter 3  수요, 공급 및 시장균형</vt:lpstr>
      <vt:lpstr>한계지불의사</vt:lpstr>
      <vt:lpstr>시장수요</vt:lpstr>
      <vt:lpstr>편익과 소비자 잉여</vt:lpstr>
      <vt:lpstr>비용이란?</vt:lpstr>
      <vt:lpstr>한계비용</vt:lpstr>
      <vt:lpstr>한계비용곡선의 형태</vt:lpstr>
      <vt:lpstr>시장공급</vt:lpstr>
      <vt:lpstr>편익과 생산자 잉여</vt:lpstr>
      <vt:lpstr>시장균형</vt:lpstr>
      <vt:lpstr>Chapter 4  자원환경 이용에 있어 시장의 실패</vt:lpstr>
      <vt:lpstr>시장 메커니즘</vt:lpstr>
      <vt:lpstr>재화의 종류</vt:lpstr>
      <vt:lpstr>공유자원의 비극 (Tragedy of Common resources)</vt:lpstr>
      <vt:lpstr>공유자원의 비효율성</vt:lpstr>
      <vt:lpstr>공공재시장의 비효율성</vt:lpstr>
      <vt:lpstr>무임승차를 완화시키는 조건들</vt:lpstr>
      <vt:lpstr>효율적인 공공재 공급을 위한 이론</vt:lpstr>
      <vt:lpstr>외부효과</vt:lpstr>
      <vt:lpstr>시장실패의 해결</vt:lpstr>
      <vt:lpstr>시장실패의 해결</vt:lpstr>
      <vt:lpstr>시장실패의 해결</vt:lpstr>
      <vt:lpstr>코즈 정리 (Coase theorem, 1960)</vt:lpstr>
      <vt:lpstr>코즈 정리의 한계</vt:lpstr>
      <vt:lpstr>코즈 정리의 한계</vt:lpstr>
      <vt:lpstr>제도적 행정적 규제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Minyoung Roh</dc:creator>
  <cp:lastModifiedBy>Seungho Jeon</cp:lastModifiedBy>
  <cp:revision>142</cp:revision>
  <dcterms:created xsi:type="dcterms:W3CDTF">2025-07-05T05:15:23Z</dcterms:created>
  <dcterms:modified xsi:type="dcterms:W3CDTF">2025-09-10T23:16:24Z</dcterms:modified>
</cp:coreProperties>
</file>