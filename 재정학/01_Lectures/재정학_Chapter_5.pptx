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7"/>
  </p:notesMasterIdLst>
  <p:sldIdLst>
    <p:sldId id="375" r:id="rId2"/>
    <p:sldId id="405" r:id="rId3"/>
    <p:sldId id="550" r:id="rId4"/>
    <p:sldId id="552" r:id="rId5"/>
    <p:sldId id="632" r:id="rId6"/>
    <p:sldId id="635" r:id="rId7"/>
    <p:sldId id="636" r:id="rId8"/>
    <p:sldId id="637" r:id="rId9"/>
    <p:sldId id="639" r:id="rId10"/>
    <p:sldId id="640" r:id="rId11"/>
    <p:sldId id="642" r:id="rId12"/>
    <p:sldId id="643" r:id="rId13"/>
    <p:sldId id="633" r:id="rId14"/>
    <p:sldId id="641" r:id="rId15"/>
    <p:sldId id="645" r:id="rId16"/>
    <p:sldId id="646" r:id="rId17"/>
    <p:sldId id="647" r:id="rId18"/>
    <p:sldId id="648" r:id="rId19"/>
    <p:sldId id="649" r:id="rId20"/>
    <p:sldId id="634" r:id="rId21"/>
    <p:sldId id="644" r:id="rId22"/>
    <p:sldId id="650" r:id="rId23"/>
    <p:sldId id="651" r:id="rId24"/>
    <p:sldId id="652" r:id="rId25"/>
    <p:sldId id="653" r:id="rId26"/>
    <p:sldId id="654" r:id="rId27"/>
    <p:sldId id="655" r:id="rId28"/>
    <p:sldId id="656" r:id="rId29"/>
    <p:sldId id="657" r:id="rId30"/>
    <p:sldId id="658" r:id="rId31"/>
    <p:sldId id="659" r:id="rId32"/>
    <p:sldId id="660" r:id="rId33"/>
    <p:sldId id="661" r:id="rId34"/>
    <p:sldId id="662" r:id="rId35"/>
    <p:sldId id="36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2BE"/>
    <a:srgbClr val="E15F5F"/>
    <a:srgbClr val="F8F7FC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4" y="15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oX8NmyuQpw" TargetMode="External"/><Relationship Id="rId2" Type="http://schemas.openxmlformats.org/officeDocument/2006/relationships/hyperlink" Target="https://www.youtube.com/watch?v=AEs1dDWsp04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- 5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5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공공선택의 이론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공공선택이론의 의의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공공선택의 의의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경제학의 다른 분야에서는 개별 경제주체의 의사결정 과정에 관심을 갖는다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효용극대화를 추구하는 소비자의 의사결정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이윤극대화를 추구하는 기업의 의사결정이 전형적인 그 예이다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재정학에서는 개별이 아닌 집단의 의사결정 과정이 주요한 관심 대상이다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집단의 구성원 모두가 제각기 다른 의견을 갖기 마련이므로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조율 과정을 거쳐 집단적 합의에 이르는 길을 모색해야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공공선택이론의 목적은 각 구성원의 의사가 집단의 의사로 통합되는 과정이 경제적 측면에서 갖는 의미를 분석하는 것이며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주로 관심대상으로 삼는 주요한 주제들은 아래와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집단의사결정 과정의 성격을 분석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개인들의 선호를 모아 집단의 의사로 수렴하는데 여러가지 방법이 있을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방법의 장단점을 살펴본다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집단의사결정 과정에서 파생되는 자원배분상의 함의를 분석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집단의사결정의 결과로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자원의 배분이 얼마나 효율적인지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얼마나 공평한지를 살펴본다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이론적 관점에서 정부의 행태를 예측하고 설명하고 분석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현실에서 나타나는 정부의 행태를 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앞으로 어떤 행동을 취할지 예측해본다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집단이 의사결정을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구성원 모두가 직접 의사결정에 참여하는 직접민주제를 채택할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대표를 선출한 뒤에 대표가 의사결정을 하는 간접민주제 혹은 대의민주제 방식을 채택할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DA9B-D2D1-9671-70FB-C9E93101E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567049-7C94-FA36-9ADE-24196A1189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4A678B-148E-C418-9F8D-A1B91276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68E65DD-9DB8-F499-6199-B4649E1D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직접민주제 하의 공공선택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63099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9AA13-2793-FD42-81E9-5D524880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3E05E0-14E7-992F-34C4-065E6B11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직접민주제하의</a:t>
            </a:r>
            <a:r>
              <a:rPr lang="ko-KR" altLang="en-US" dirty="0"/>
              <a:t> 공공선택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CDD64-9004-C4A0-EE63-39C7DF60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6231AE-0BCA-9F30-E9FC-6E858BE2E437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여러 사람이 모여 의사결정을 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구성원 모두가 직접 의사결정에 직접 참여하는 직접민주제 방식을 채택할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대표를 선출하고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대표로 하여금 의사결정을 하게 만드는 간접민주제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대의민주제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방식은 </a:t>
            </a:r>
            <a:r>
              <a:rPr lang="en-US" altLang="ko-KR" sz="1600" spc="-50" dirty="0"/>
              <a:t>Section 3 </a:t>
            </a:r>
            <a:r>
              <a:rPr lang="ko-KR" altLang="en-US" sz="1600" spc="-50" dirty="0"/>
              <a:t>에서 다룬다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구성원 모두가 직접 의사결정에 참여하는 직접민주제 방식을 채택하는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여기에 참여하는 사람들은 아래와 같이 기본적인 점들에 대해 사전에 합의를 마쳐야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표의 배분을 정해야 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지금은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표의 배정방식을 당연한 것으로 생각하기 쉽지만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성인남녀가 한 표씩 투표하게 된 것은 그리 오래전의 일이 아니다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본 수업에서는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표의 방식을 기본적으로 가정하기로 하자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얼마 전 까지만 해도 세계 가국에서는 가난하다는 이유 혹은 여성이라는 이유로 투표권을 행사하지 못하는 경우가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조건이 충족되었을 때 의사결정에 도달되었다고 볼 수 있는지 합의가 되어야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참여자 전원이 찬성을 해야 하는지 혹은 과반수 이상이 찬성을 해야 하는지 등을 결정해야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국제연합</a:t>
            </a:r>
            <a:r>
              <a:rPr lang="en-US" altLang="ko-KR" sz="1600" spc="-50" dirty="0"/>
              <a:t>(UN)</a:t>
            </a:r>
            <a:r>
              <a:rPr lang="ko-KR" altLang="en-US" sz="1600" spc="-50" dirty="0"/>
              <a:t>의 안전보장이사회에서는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개 강대국의 거부권을 인정하고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(2026) ‘</a:t>
            </a:r>
            <a:r>
              <a:rPr lang="ko-KR" altLang="en-US" sz="1600" spc="-50" dirty="0" err="1"/>
              <a:t>호르무즈</a:t>
            </a:r>
            <a:r>
              <a:rPr lang="ko-KR" altLang="en-US" sz="1600" spc="-50" dirty="0"/>
              <a:t> 무력 개방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안보리 결의 추진 </a:t>
            </a:r>
            <a:r>
              <a:rPr lang="en-US" altLang="ko-KR" sz="1600" spc="-50" dirty="0"/>
              <a:t>(</a:t>
            </a:r>
            <a:r>
              <a:rPr lang="en-US" altLang="ko-KR" sz="1600" spc="-50" dirty="0">
                <a:hlinkClick r:id="rId2"/>
              </a:rPr>
              <a:t>https://www.youtube.com/watch?v=AEs1dDWsp04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(2023) </a:t>
            </a:r>
            <a:r>
              <a:rPr lang="ko-KR" altLang="en-US" sz="1600" spc="-50" dirty="0"/>
              <a:t>이란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이스라엘 </a:t>
            </a:r>
            <a:r>
              <a:rPr lang="en-US" altLang="ko-KR" sz="1600" spc="-50" dirty="0"/>
              <a:t>(</a:t>
            </a:r>
            <a:r>
              <a:rPr lang="en-US" altLang="ko-KR" sz="1600" spc="-50" dirty="0">
                <a:hlinkClick r:id="rId3"/>
              </a:rPr>
              <a:t>https://www.youtube.com/watch?v=8oX8NmyuQpw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505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0C811-44C2-51CF-6C0B-84D5774B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전원합의제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ABFF7-6D25-5288-0FC0-C545C019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4D5207-573A-CD5A-4AED-358F2F2051B0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전원합의제는 투표자 전원의 동의를 요구하는 표결 방식이므로 그 결과는 당연히 파레토 효율적이다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사람에게 만족스러운 결과를 </a:t>
            </a:r>
            <a:r>
              <a:rPr lang="ko-KR" altLang="en-US" sz="1600" spc="-50" dirty="0" err="1"/>
              <a:t>가져다주기는</a:t>
            </a:r>
            <a:r>
              <a:rPr lang="ko-KR" altLang="en-US" sz="1600" spc="-50" dirty="0"/>
              <a:t> 하지만 다음과 같은 문제점이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모든 사람을 만족시키기 위해서는 너무 많은 시간이 소요된다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의안이 상정되면 반대하는 사람이 나타나기 마련이고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다른 의안이 나와도 이번엔 또 다른 사람이 반대할 가능성이 크다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사람이 조금만 늘어나도 이와 같은 과정은 한없이 되풀이 될 가능성이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사람이 더 큰 몫을 차지하고자 전략적인 반대를 하여 의사진행을 비효율적으로 이끌어 갈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앞으로 새로운 의안이 상정될 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더 큰 몫을 차지하게 될 것이라고 예상하는 사람은 전략적인 반대를 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언제나 현재상태가 다른 대안에 비해 월등한 우위를 점하게 되는 문제가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새로운 의안이 상정될 때 마다  반대하는 사람이 나타나 합의를 보지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 상태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원점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으로 돌아가는 수 밖에 없다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현재상태에서 어떤 문제가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개선방안을 논의함에도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변화를 이끌어낼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이상의 논의를 종합하면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전원합의제는 아주 중요한 사안과 관련하여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논의에 참여하는 사람이 적을 때에만 사용할 수 있다는 결론이 도출된다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602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DDC1-9408-8604-1999-3976B94C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8410-BF4D-FFFB-1F57-38F94F7F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과반수제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E1A46-7198-792B-2B40-240A06E5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CAB0F-3DC9-41B8-0CD1-1C94E5B38AB6}"/>
              </a:ext>
            </a:extLst>
          </p:cNvPr>
          <p:cNvSpPr txBox="1"/>
          <p:nvPr/>
        </p:nvSpPr>
        <p:spPr>
          <a:xfrm>
            <a:off x="288790" y="958844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과반수제는 투표에 참가한 사람의 절반 이상이 찬성하는 의안을 통과된 것으로 간주하는 표결방식이다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소수의 의견을 가진 사람들이 다수의 의견을 따라 전체가 찬성한 것으로 간주하는 비교적 단순한 논리에 입각한다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 비교적 간단한 </a:t>
            </a:r>
            <a:r>
              <a:rPr lang="ko-KR" altLang="en-US" sz="1600" spc="-50" dirty="0" err="1"/>
              <a:t>방식이긴하지만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같은 문제점이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의안에 대해 절반 이상은 아니지만 거의 반수에 가까운 사람들이 반대하였음에도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의안이 통과되는 경우가 생길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이런 경우 소수파에 속하는 비교적 많은 사람들의 이익이 침해될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이런 문제점에 대응하기 위해 단순히 절반이 아니라 찬성비율의 기준을 </a:t>
            </a:r>
            <a:r>
              <a:rPr lang="en-US" altLang="ko-KR" sz="1600" spc="-50" dirty="0"/>
              <a:t>2/3 </a:t>
            </a:r>
            <a:r>
              <a:rPr lang="ko-KR" altLang="en-US" sz="1600" spc="-50" dirty="0"/>
              <a:t>혹은</a:t>
            </a:r>
            <a:r>
              <a:rPr lang="en-US" altLang="ko-KR" sz="1600" spc="-50" dirty="0"/>
              <a:t> 3/4 </a:t>
            </a:r>
            <a:r>
              <a:rPr lang="ko-KR" altLang="en-US" sz="1600" spc="-50" dirty="0"/>
              <a:t>으로 삼는 경우가 생긴다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의안이 논의되는 순서에 따라 의사결정의 결과가 달라지는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투표의 역설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현상이 발생할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앞선 문제보다 심각하다고 볼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뒷</a:t>
            </a:r>
            <a:r>
              <a:rPr lang="ko-KR" altLang="en-US" sz="1600" spc="-50" dirty="0"/>
              <a:t> 부분에서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보다 자세히 다루기로 하자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8524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1F8E-6FEF-63AD-FD88-2D1D0583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CE10A-3992-2061-DDFB-114F1912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최적다수결제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AD350-D595-7634-3813-91E8FEA2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47D70-290B-DA16-F60D-50D02E49C692}"/>
              </a:ext>
            </a:extLst>
          </p:cNvPr>
          <p:cNvSpPr txBox="1"/>
          <p:nvPr/>
        </p:nvSpPr>
        <p:spPr>
          <a:xfrm>
            <a:off x="288790" y="958844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부캐넌</a:t>
            </a:r>
            <a:r>
              <a:rPr lang="en-US" altLang="ko-KR" sz="1600" spc="-50" dirty="0"/>
              <a:t>-</a:t>
            </a:r>
            <a:r>
              <a:rPr lang="ko-KR" altLang="en-US" sz="1600" spc="-50" dirty="0" err="1"/>
              <a:t>털록</a:t>
            </a:r>
            <a:r>
              <a:rPr lang="en-US" altLang="ko-KR" sz="1600" spc="-50" dirty="0"/>
              <a:t>(J. Buchanan and G. Tullock, 1962)</a:t>
            </a:r>
            <a:r>
              <a:rPr lang="ko-KR" altLang="en-US" sz="1600" spc="-50" dirty="0"/>
              <a:t>은 어떤 표결방식이라 할지라도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기본적으로 아래와 같은 두 가지 유형의 비용을 수반하게 된다고 지적한다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 유형의 비용은 의사결정에 소요되는 시간과 관련된 비용이다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의사결정비용이라고 부른다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비용은 의안 통과에 필요한 찬성표 비율의 기준이 높을수록 더 커진다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의사결정비용은 전원합의제 하에서 가장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 유형의 비용은 어떤 의안이 통과되었을 때 이로 인해 본인이 손해를 본다고 느끼는 사람에게 발생하는 비용이다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비용은 의안 통과에 필요한 찬성표 비율의 기준이 낮을수록 더 커진다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의안이 통과 되었을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반대한 사람이라면 본인이 손해임에도 불구하고 결과에 승복할 수 밖에 없는데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이런 사람들이 갖는 불만의 총량을 사회적 비용으로 간주하는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95376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C00E-FB0F-617E-1BEA-2CE4C363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79921-427A-2F82-BD7A-EEB13DA7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최적다수결제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206145-F8C8-83C2-4FD2-76CD2186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47879-6110-29AE-803C-CD560D178E8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이야기한 표결방식과 관련한 두 가지 유형의 비용을 합친 것이 표결의 총비용이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최적다수결제란 총비용이 최저가 되는 수준의 찬성비율을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적용하는 것이다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명의 투표자가 의안 결정에 참여하고 있는 상황이다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첫 번째 유형의 비용은 요구되는 찬성표의 기준 수가 커질수록 더 높아지므로 </a:t>
                </a:r>
                <a:r>
                  <a:rPr lang="ko-KR" altLang="en-US" sz="1600" spc="-50" dirty="0" err="1"/>
                  <a:t>우상향하는</a:t>
                </a:r>
                <a:r>
                  <a:rPr lang="ko-KR" altLang="en-US" sz="1600" spc="-50" dirty="0"/>
                  <a:t> 곡선으로 표현되어 있다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의사결정비용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번째 유형의 비용은 요구되는 찬성표의 기준 수가 적을수록 더 높아지므로 </a:t>
                </a:r>
                <a:r>
                  <a:rPr lang="ko-KR" altLang="en-US" sz="1600" spc="-50" dirty="0" err="1"/>
                  <a:t>우하향하는</a:t>
                </a:r>
                <a:r>
                  <a:rPr lang="ko-KR" altLang="en-US" sz="1600" spc="-50" dirty="0"/>
                  <a:t> 곡선으로 표현되어 있다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본인이 손해를 본다고 느끼는 사람에게 발생하는 비용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총 비용은 두 유형의 비용을 합친 것으로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평평한 </a:t>
                </a:r>
                <a:r>
                  <a:rPr lang="en-US" altLang="ko-KR" sz="1600" spc="-50" dirty="0"/>
                  <a:t>U</a:t>
                </a:r>
                <a:r>
                  <a:rPr lang="ko-KR" altLang="en-US" sz="1600" spc="-50" dirty="0"/>
                  <a:t>자 모양의 곡선으로 표현되어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047879-6110-29AE-803C-CD560D178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693660" cy="2999347"/>
              </a:xfrm>
              <a:prstGeom prst="rect">
                <a:avLst/>
              </a:prstGeom>
              <a:blipFill>
                <a:blip r:embed="rId2"/>
                <a:stretch>
                  <a:fillRect b="-16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15FA1F-F47F-5376-31B1-7973EE234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916" y="4029383"/>
            <a:ext cx="3720972" cy="2476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7C69E-B5D0-3F1C-957C-3322EF1EF522}"/>
              </a:ext>
            </a:extLst>
          </p:cNvPr>
          <p:cNvSpPr txBox="1"/>
          <p:nvPr/>
        </p:nvSpPr>
        <p:spPr>
          <a:xfrm>
            <a:off x="8131566" y="3686434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최적다수결제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A2736A-F71F-AD4B-53E7-0B8395E09603}"/>
                  </a:ext>
                </a:extLst>
              </p:cNvPr>
              <p:cNvSpPr txBox="1"/>
              <p:nvPr/>
            </p:nvSpPr>
            <p:spPr>
              <a:xfrm>
                <a:off x="288790" y="3919496"/>
                <a:ext cx="7764641" cy="23042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그림을 보면 요구되는 찬성표가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총비용이 최소가 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찬성 비율을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𝑂𝐾</m:t>
                        </m:r>
                      </m:e>
                    </m:ba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/</m:t>
                    </m:r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요구할 때 총비용이 최소가 됨을 뜻한다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현실에서 이 비용곡선들의 모양을 알아낸다는 것은 매우 어렵다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이론적으로는 매우 합리적으로 보이지만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 적용하긴 불가능하다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최적다수결의 기준을 정하는 단계에서 이미 시간을 낭비할 가능성이 크다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A2736A-F71F-AD4B-53E7-0B8395E09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3919496"/>
                <a:ext cx="7764641" cy="2304285"/>
              </a:xfrm>
              <a:prstGeom prst="rect">
                <a:avLst/>
              </a:prstGeom>
              <a:blipFill>
                <a:blip r:embed="rId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536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4AAFC-A9AD-CA11-89C6-3914F71D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점수투표제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986321-DAB8-41E1-02D4-626B21F6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04AB4-556E-79CC-6EC9-9B0E4F47DFDD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살펴본 표결방식들은 단순히 찬성이나 반대의 뜻을 표현하는 것만 허용하고 있어 선호의 강도를 반영할 수 없었다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어떤 의안에 대해 </a:t>
            </a:r>
            <a:r>
              <a:rPr lang="en-US" altLang="ko-KR" sz="1600" spc="-50" dirty="0"/>
              <a:t>51% </a:t>
            </a:r>
            <a:r>
              <a:rPr lang="ko-KR" altLang="en-US" sz="1600" spc="-50" dirty="0"/>
              <a:t>찬성인데 반해 </a:t>
            </a:r>
            <a:r>
              <a:rPr lang="en-US" altLang="ko-KR" sz="1600" spc="-50" dirty="0"/>
              <a:t>49%</a:t>
            </a:r>
            <a:r>
              <a:rPr lang="ko-KR" altLang="en-US" sz="1600" spc="-50" dirty="0"/>
              <a:t>는 목숨 걸고 반대를 하고 있다고 하자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이런 경우라면 반대하는 숫자가 조금 적더라도 강력하게 반대하는 사람들의 뜻을 존중하는 방향으로 결정하는 것이 합리적일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점수투표제는 이 점을 보완하기 위해 고안된 집단의사결정 방식이다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투표자들에게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점씩을 부여하고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투표자는 의안들에 대해 부여 받은</a:t>
            </a:r>
            <a:r>
              <a:rPr lang="en-US" altLang="ko-KR" sz="1600" spc="-50" dirty="0"/>
              <a:t> 10</a:t>
            </a:r>
            <a:r>
              <a:rPr lang="ko-KR" altLang="en-US" sz="1600" spc="-50" dirty="0"/>
              <a:t>점을 적절히 배분하여 투표한다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특정 의안만 좋아한다면 그 의안에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점을 몰아주고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나머지들에 대해서는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점을 부과하는 것도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총점을 가장 많이 획득한 의안을 최종 선택하게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투표자들 선호의 강도가 제대로 반영되어 합리적인 의사결정에 이를 수 있다는 장점이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점수투표제는 전략적 행위에 상대적으로 취약하다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전략적 </a:t>
            </a:r>
            <a:r>
              <a:rPr lang="ko-KR" altLang="en-US" sz="1600" spc="-50" dirty="0" err="1"/>
              <a:t>행위란</a:t>
            </a:r>
            <a:r>
              <a:rPr lang="ko-KR" altLang="en-US" sz="1600" spc="-50" dirty="0"/>
              <a:t> 어떤 투표자가 다른 투표자의 투표성향을 미리 예측하고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그에 맞춰 자신의 행동을 변화시킴으로써 자기가 원하는 결과를 얻으려 하는 행동을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들어 본인이 가장 싫어하는 의안이 통과될 것 같다고 예상이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비교적 덜 싫어하는 의안에 고의로 점수를 몰아줌으로써 최소한 가장 싫은 의안이 통과되는 것을 막으려 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7705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6AFBF-7B4A-2230-CC5C-9F305E32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점수투표제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6C40E7-07A7-8BCA-48FB-A446D615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DA94B-12CA-C5DB-2FF1-657B3822EADC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점수투표제에서 전략적 행위의 예로 다음과 같은 조합장 선출과정을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60" dirty="0"/>
              <a:t>6</a:t>
            </a:r>
            <a:r>
              <a:rPr lang="ko-KR" altLang="en-US" sz="1600" spc="-60" dirty="0"/>
              <a:t>명으로 구성된 어떤 조합이 있는데</a:t>
            </a:r>
            <a:r>
              <a:rPr lang="en-US" altLang="ko-KR" sz="1600" spc="-60" dirty="0"/>
              <a:t>, </a:t>
            </a:r>
            <a:r>
              <a:rPr lang="ko-KR" altLang="en-US" sz="1600" spc="-60" dirty="0"/>
              <a:t>조합장을 영입하기로 하였고</a:t>
            </a:r>
            <a:r>
              <a:rPr lang="en-US" altLang="ko-KR" sz="1600" spc="-60" dirty="0"/>
              <a:t>, </a:t>
            </a:r>
            <a:r>
              <a:rPr lang="ko-KR" altLang="en-US" sz="1600" spc="-60" dirty="0"/>
              <a:t>세 명의 후보자 </a:t>
            </a:r>
            <a:r>
              <a:rPr lang="en-US" altLang="ko-KR" sz="1600" spc="-60" dirty="0"/>
              <a:t>(A, B, C)</a:t>
            </a:r>
            <a:r>
              <a:rPr lang="ko-KR" altLang="en-US" sz="1600" spc="-60" dirty="0"/>
              <a:t> 중 한 사람을 고르기로 했다</a:t>
            </a:r>
            <a:r>
              <a:rPr lang="en-US" altLang="ko-KR" sz="1600" spc="-6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조합원 각자는 세 명의 후보에게 느끼는 지지도에 따라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점의 점수를 나누어 주는 방식으로 투표를 진행하기로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조합원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1~6)</a:t>
            </a:r>
            <a:r>
              <a:rPr lang="ko-KR" altLang="en-US" sz="1600" spc="-50" dirty="0"/>
              <a:t>들이 후보자들에게 느끼는 선호의 정도는 아래의 표와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투표자들이 본인의 선호에 따라 정직한 투표를 한다면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</a:t>
            </a:r>
            <a:r>
              <a:rPr lang="en-US" altLang="ko-KR" sz="1600" spc="-50" dirty="0"/>
              <a:t>23</a:t>
            </a:r>
            <a:r>
              <a:rPr lang="ko-KR" altLang="en-US" sz="1600" spc="-50" dirty="0"/>
              <a:t>점으로 조합장으로 선출될 것이다</a:t>
            </a:r>
            <a:r>
              <a:rPr lang="en-US" altLang="ko-KR" sz="1600" spc="-5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그런데 투표자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는 후보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적극 지지하고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후보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선출되기를 일체 희망하지 않는다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후보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후보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보다 선출될 확률이 높다는 것을 미리 인지하고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80" dirty="0"/>
              <a:t>이 때 투표자 </a:t>
            </a:r>
            <a:r>
              <a:rPr lang="en-US" altLang="ko-KR" sz="1600" spc="-80" dirty="0"/>
              <a:t>5</a:t>
            </a:r>
            <a:r>
              <a:rPr lang="ko-KR" altLang="en-US" sz="1600" spc="-80" dirty="0"/>
              <a:t>는 전략적으로</a:t>
            </a:r>
            <a:r>
              <a:rPr lang="en-US" altLang="ko-KR" sz="1600" spc="-80" dirty="0"/>
              <a:t>, </a:t>
            </a:r>
            <a:r>
              <a:rPr lang="ko-KR" altLang="en-US" sz="1600" spc="-80" dirty="0"/>
              <a:t>후보</a:t>
            </a:r>
            <a:r>
              <a:rPr lang="en-US" altLang="ko-KR" sz="1600" spc="-80" dirty="0"/>
              <a:t>A</a:t>
            </a:r>
            <a:r>
              <a:rPr lang="ko-KR" altLang="en-US" sz="1600" spc="-80" dirty="0"/>
              <a:t>가 선출되는 것을 막자는 의도에서 </a:t>
            </a:r>
            <a:r>
              <a:rPr lang="en-US" altLang="ko-KR" sz="1600" spc="-80" dirty="0"/>
              <a:t>10</a:t>
            </a:r>
            <a:r>
              <a:rPr lang="ko-KR" altLang="en-US" sz="1600" spc="-80" dirty="0"/>
              <a:t>점을 모두 후보</a:t>
            </a:r>
            <a:r>
              <a:rPr lang="en-US" altLang="ko-KR" sz="1600" spc="-80" dirty="0"/>
              <a:t>C</a:t>
            </a:r>
            <a:r>
              <a:rPr lang="ko-KR" altLang="en-US" sz="1600" spc="-80" dirty="0"/>
              <a:t>에게 몰아주면 후보</a:t>
            </a:r>
            <a:r>
              <a:rPr lang="en-US" altLang="ko-KR" sz="1600" spc="-80" dirty="0"/>
              <a:t>C</a:t>
            </a:r>
            <a:r>
              <a:rPr lang="ko-KR" altLang="en-US" sz="1600" spc="-80" dirty="0"/>
              <a:t>가 당선된다</a:t>
            </a:r>
            <a:r>
              <a:rPr lang="en-US" altLang="ko-KR" sz="1600" spc="-8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투표자들의 정직한 선호에 따르면 가장 낮은 점수를 받았을 후보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오히려 당선되는 바람직하지 못한 결과가 나타난다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F6E734-CE39-108B-A2B2-DBCA4327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229046"/>
              </p:ext>
            </p:extLst>
          </p:nvPr>
        </p:nvGraphicFramePr>
        <p:xfrm>
          <a:off x="2957921" y="3144848"/>
          <a:ext cx="5336688" cy="10176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6708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1783205468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3288731490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667086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조합장 후보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 </a:t>
                      </a:r>
                      <a:r>
                        <a:rPr lang="en-US" altLang="ko-KR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</a:t>
                      </a: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</a:t>
                      </a: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후보 </a:t>
                      </a: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9A0889D-0FF2-0C8B-3A5C-128E846D512B}"/>
              </a:ext>
            </a:extLst>
          </p:cNvPr>
          <p:cNvSpPr txBox="1"/>
          <p:nvPr/>
        </p:nvSpPr>
        <p:spPr>
          <a:xfrm>
            <a:off x="2957919" y="2885151"/>
            <a:ext cx="53366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후보들에 대한 선호의 정도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73063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BA77-8654-2BFF-949E-ADB15A2B1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301CFC-E4B8-236E-DABF-45EE63BDAF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AD2E60-4AAF-ACCC-00E1-73A783EB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6E10C56-498B-7E5A-5F8A-5445515D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 err="1"/>
              <a:t>과반수제하에서의</a:t>
            </a:r>
            <a:r>
              <a:rPr lang="ko-KR" altLang="en-US" sz="4000" b="1" i="0" spc="150" dirty="0"/>
              <a:t> 정치적 균형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08726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092EC-3F2A-C75F-8065-6FE00B41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20F46FAC-3241-2BE0-B8B7-AA6BC8C1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69"/>
          <a:stretch>
            <a:fillRect/>
          </a:stretch>
        </p:blipFill>
        <p:spPr>
          <a:xfrm>
            <a:off x="7991754" y="4086477"/>
            <a:ext cx="3394328" cy="20484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E01CABF-C997-DFA1-162C-08B8841C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중위투표자이론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4CDEC-34F3-15CC-1660-986587093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F92DB-ECB5-E458-94DC-8DBC238EB641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배운 과반수제가 채택된 상황에서는 어떤 정치적 균형이 나타날 것인지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정치적 균형이란 주어진 집단의사결정 과정에서 어떤 의제에 대해 합의가 이루어진 상태를 의미한다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아래와 같은 상황을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A, B, C </a:t>
            </a:r>
            <a:r>
              <a:rPr lang="ko-KR" altLang="en-US" sz="1600" spc="-50" dirty="0"/>
              <a:t>라는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수준의 예산규모가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예산규모는 </a:t>
            </a:r>
            <a:r>
              <a:rPr lang="en-US" altLang="ko-KR" sz="1600" spc="-50" dirty="0"/>
              <a:t>A &gt; B &gt; C </a:t>
            </a:r>
            <a:r>
              <a:rPr lang="ko-KR" altLang="en-US" sz="1600" spc="-50" dirty="0"/>
              <a:t>순서로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X, Y, Z </a:t>
            </a:r>
            <a:r>
              <a:rPr lang="ko-KR" altLang="en-US" sz="1600" spc="-50" dirty="0"/>
              <a:t>세 투표자가 과반수제 방식으로 적절한 예산규모를 선택하기로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 투표자의 선호는 아래와 같다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X:   A &gt; B &gt; C (</a:t>
            </a:r>
            <a:r>
              <a:rPr lang="ko-KR" altLang="en-US" sz="1600" spc="-50" dirty="0"/>
              <a:t>가장 큰 예산 선호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Y:   C &gt; B &gt; A (</a:t>
            </a:r>
            <a:r>
              <a:rPr lang="ko-KR" altLang="en-US" sz="1600" spc="-50" dirty="0"/>
              <a:t>가장 작은 예산 선호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Z:   B &gt; C &gt; A (</a:t>
            </a:r>
            <a:r>
              <a:rPr lang="ko-KR" altLang="en-US" sz="1600" spc="-50" dirty="0"/>
              <a:t>중간 정도 예산 선호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때 아래와 같이 표결과정을 진행한다고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 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선택되는 결과가 나타난다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비교 순서를 어떻게 해도 결국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선택 </a:t>
            </a:r>
            <a:r>
              <a:rPr lang="ko-KR" altLang="en-US" sz="1600" spc="-50" dirty="0" err="1"/>
              <a:t>되는건</a:t>
            </a:r>
            <a:r>
              <a:rPr lang="ko-KR" altLang="en-US" sz="1600" spc="-50" dirty="0"/>
              <a:t> 마찬가지이다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F55DE-9373-57BA-B95F-CE0C0C9A4D1F}"/>
              </a:ext>
            </a:extLst>
          </p:cNvPr>
          <p:cNvSpPr txBox="1"/>
          <p:nvPr/>
        </p:nvSpPr>
        <p:spPr>
          <a:xfrm>
            <a:off x="7686605" y="4483805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1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141C9-42B3-B7A3-8578-0BCBCB74BE09}"/>
              </a:ext>
            </a:extLst>
          </p:cNvPr>
          <p:cNvSpPr txBox="1"/>
          <p:nvPr/>
        </p:nvSpPr>
        <p:spPr>
          <a:xfrm>
            <a:off x="7686605" y="4820880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854948-3DA9-9610-8FF2-3C80960B0721}"/>
              </a:ext>
            </a:extLst>
          </p:cNvPr>
          <p:cNvSpPr txBox="1"/>
          <p:nvPr/>
        </p:nvSpPr>
        <p:spPr>
          <a:xfrm>
            <a:off x="7686605" y="5181444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3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E68207-EB34-D341-7C2C-7EA89C56B53B}"/>
              </a:ext>
            </a:extLst>
          </p:cNvPr>
          <p:cNvSpPr txBox="1"/>
          <p:nvPr/>
        </p:nvSpPr>
        <p:spPr>
          <a:xfrm>
            <a:off x="7392024" y="3844049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선호 순위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64274-4517-1CCD-FD55-EAF437C079C5}"/>
              </a:ext>
            </a:extLst>
          </p:cNvPr>
          <p:cNvSpPr txBox="1"/>
          <p:nvPr/>
        </p:nvSpPr>
        <p:spPr>
          <a:xfrm>
            <a:off x="10930359" y="5778318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예산규모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pic>
        <p:nvPicPr>
          <p:cNvPr id="20" name="그림 19" descr="스크린샷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DB11F9-E7FB-651C-1413-419EE5BCD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539" y="4121048"/>
            <a:ext cx="490470" cy="669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012E6D-788B-DBFB-E465-777116CFF6E1}"/>
              </a:ext>
            </a:extLst>
          </p:cNvPr>
          <p:cNvSpPr txBox="1"/>
          <p:nvPr/>
        </p:nvSpPr>
        <p:spPr>
          <a:xfrm>
            <a:off x="8717211" y="3648759"/>
            <a:ext cx="1692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Ⅰ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55373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FB437-6C88-22C3-C29E-0A188A7D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557A9-F7FC-2074-F262-61E3459F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중위투표자이론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757404-5869-107D-63C3-870A8D07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3754C-FF36-151B-BD46-93EBB36DB105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선택된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어떤 성격을 갖고 있을까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우선 선호하는 예산규모가 큰 사람부터 차례로 나열하면 </a:t>
            </a:r>
            <a:r>
              <a:rPr lang="en-US" altLang="ko-KR" sz="1600" spc="-50" dirty="0"/>
              <a:t>X, Z, Y </a:t>
            </a:r>
            <a:r>
              <a:rPr lang="ko-KR" altLang="en-US" sz="1600" spc="-50" dirty="0"/>
              <a:t>순서이다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가운데에 위치한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를 중위투표자라고 부른다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과반수제에 의해 선택된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안은 중위투표자가 가장 선호하는 선택지이다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</a:t>
            </a:r>
            <a:r>
              <a:rPr lang="ko-KR" altLang="en-US" sz="1600" spc="-50" dirty="0" err="1"/>
              <a:t>과반수제하에서는</a:t>
            </a:r>
            <a:r>
              <a:rPr lang="ko-KR" altLang="en-US" sz="1600" spc="-50" dirty="0"/>
              <a:t> 중위투표자가 가장 선호하는 의안이 채택된다는 이론이 </a:t>
            </a:r>
            <a:r>
              <a:rPr lang="ko-KR" altLang="en-US" sz="1600" b="1" spc="-50" dirty="0"/>
              <a:t>중위투표자 이론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866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4763B7-1782-B087-AE3E-3065719C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F47FD7-804B-FC3B-F6AD-E70A2593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90ADE-670A-DD0A-7018-E76537471AE3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이번에는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예산규모 </a:t>
            </a:r>
            <a:r>
              <a:rPr lang="en-US" altLang="ko-KR" sz="1600" spc="-50" dirty="0"/>
              <a:t>(A,B,C)</a:t>
            </a:r>
            <a:r>
              <a:rPr lang="ko-KR" altLang="en-US" sz="1600" spc="-50" dirty="0"/>
              <a:t>에 대한 투표자들</a:t>
            </a:r>
            <a:r>
              <a:rPr lang="en-US" altLang="ko-KR" sz="1600" spc="-50" dirty="0"/>
              <a:t>(X,Y,Z)</a:t>
            </a:r>
            <a:r>
              <a:rPr lang="ko-KR" altLang="en-US" sz="1600" spc="-50" dirty="0"/>
              <a:t>의 선호가 아래와 같이 분포되어 있다고 해보자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X:   A &gt; B &gt; 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Y:   C &gt; A &gt; B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Z:   B &gt; C &gt; A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둘씩 짝지어 비교를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 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가 선택되는 결과가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이번에는 순서를 다르게 진행해서 비교를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C </a:t>
            </a:r>
            <a:r>
              <a:rPr lang="ko-KR" altLang="en-US" sz="1600" spc="-50" dirty="0"/>
              <a:t>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B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 비교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투표자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, Z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를 선호한다고 대답할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선택되는 결과가 나타난다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C9CEB3E-BE49-6E88-E44D-414D25DC3C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35"/>
          <a:stretch>
            <a:fillRect/>
          </a:stretch>
        </p:blipFill>
        <p:spPr>
          <a:xfrm>
            <a:off x="8129352" y="3816221"/>
            <a:ext cx="3397375" cy="20545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74C837-103C-0DCC-67E0-3FD0412E338B}"/>
              </a:ext>
            </a:extLst>
          </p:cNvPr>
          <p:cNvSpPr txBox="1"/>
          <p:nvPr/>
        </p:nvSpPr>
        <p:spPr>
          <a:xfrm>
            <a:off x="7827250" y="4219758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1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D51224-34D0-6901-0463-3BD001EF874D}"/>
              </a:ext>
            </a:extLst>
          </p:cNvPr>
          <p:cNvSpPr txBox="1"/>
          <p:nvPr/>
        </p:nvSpPr>
        <p:spPr>
          <a:xfrm>
            <a:off x="7827250" y="4556833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5F512-EB05-40CC-865D-12226397287E}"/>
              </a:ext>
            </a:extLst>
          </p:cNvPr>
          <p:cNvSpPr txBox="1"/>
          <p:nvPr/>
        </p:nvSpPr>
        <p:spPr>
          <a:xfrm>
            <a:off x="7827250" y="4917397"/>
            <a:ext cx="3051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3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5EF14-5AE4-B8DB-027C-D919D04344E3}"/>
              </a:ext>
            </a:extLst>
          </p:cNvPr>
          <p:cNvSpPr txBox="1"/>
          <p:nvPr/>
        </p:nvSpPr>
        <p:spPr>
          <a:xfrm>
            <a:off x="7532669" y="3580002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선호 순위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D9FDB-F66C-77F5-3C70-A79F1A8CC434}"/>
              </a:ext>
            </a:extLst>
          </p:cNvPr>
          <p:cNvSpPr txBox="1"/>
          <p:nvPr/>
        </p:nvSpPr>
        <p:spPr>
          <a:xfrm>
            <a:off x="11071004" y="5514271"/>
            <a:ext cx="911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(</a:t>
            </a:r>
            <a:r>
              <a:rPr lang="ko-KR" altLang="en-US" sz="1200" spc="-50" dirty="0"/>
              <a:t>예산규모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  <p:pic>
        <p:nvPicPr>
          <p:cNvPr id="18" name="그림 17" descr="스크린샷, 상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A6E13C-CB22-FE1B-7BF8-D67599A68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184" y="3857001"/>
            <a:ext cx="490470" cy="6690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4F3BE-359D-04D3-EC88-265964041206}"/>
              </a:ext>
            </a:extLst>
          </p:cNvPr>
          <p:cNvSpPr txBox="1"/>
          <p:nvPr/>
        </p:nvSpPr>
        <p:spPr>
          <a:xfrm>
            <a:off x="8878847" y="3457019"/>
            <a:ext cx="1692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97843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13B34-E94A-5F31-9556-2A8E7871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C5422-1F05-BDAB-84C1-FA2C84FA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6F87C-AA76-FDDC-555E-8D100541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1E702-3789-B7E9-9A89-3B3E4B41E028}"/>
              </a:ext>
            </a:extLst>
          </p:cNvPr>
          <p:cNvSpPr txBox="1"/>
          <p:nvPr/>
        </p:nvSpPr>
        <p:spPr>
          <a:xfrm>
            <a:off x="288790" y="954490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같이 단지 비교의 순서가 달라짐에 다라 표결의 최종결과가 달라지는데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</a:t>
            </a:r>
            <a:r>
              <a:rPr lang="ko-KR" altLang="en-US" sz="1600" b="1" spc="-50" dirty="0"/>
              <a:t>투표의 역설</a:t>
            </a:r>
            <a:r>
              <a:rPr lang="ko-KR" altLang="en-US" sz="1600" spc="-50" dirty="0"/>
              <a:t>이라고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선호가 위와 같이 주어지면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순환이 반복되므로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과반수제에 의해 집단의사 결정을 하면 일관성 없는 결과가 도출될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뿐만 아니라 의사진행 과정을 장악하고 있는 사람이 큰 영향력을 행사할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의사진행 과정을 장악한 사람은 자신의 선호에 따라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의안간 비교 순서를 정함으로써 표결 결과에 영향력을 행사할 수 있게 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문제점을 의사진행조작 이라고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과반수제가 갖는 주요 문제점 중 하나이다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그렇다면 투표의 역설이 나타나는 이유는 무엇일까</a:t>
            </a:r>
            <a:r>
              <a:rPr lang="en-US" altLang="ko-KR" sz="1600" spc="-50" dirty="0"/>
              <a:t>? </a:t>
            </a:r>
            <a:r>
              <a:rPr lang="ko-KR" altLang="en-US" sz="1600" spc="-50" dirty="0"/>
              <a:t>투표자 선호에 대해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Ⅰ</a:t>
            </a:r>
            <a:r>
              <a:rPr lang="en-US" altLang="ko-KR" sz="1600" dirty="0"/>
              <a:t>(</a:t>
            </a:r>
            <a:r>
              <a:rPr lang="ko-KR" altLang="en-US" sz="1600" dirty="0"/>
              <a:t>슬라이드 </a:t>
            </a:r>
            <a:r>
              <a:rPr lang="en-US" altLang="ko-KR" sz="1600" dirty="0"/>
              <a:t>14)</a:t>
            </a:r>
            <a:r>
              <a:rPr lang="ko-KR" altLang="en-US" sz="1600" dirty="0"/>
              <a:t>와 </a:t>
            </a: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16)</a:t>
            </a:r>
            <a:r>
              <a:rPr lang="ko-KR" altLang="en-US" sz="1600" spc="-50" dirty="0"/>
              <a:t> 간의 차이는 투표자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선호순서 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선호를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작은 규모 </a:t>
            </a:r>
            <a:r>
              <a:rPr lang="en-US" altLang="ko-KR" sz="1600" spc="-50" dirty="0"/>
              <a:t>(C</a:t>
            </a:r>
            <a:r>
              <a:rPr lang="ko-KR" altLang="en-US" sz="1600" spc="-50" dirty="0"/>
              <a:t>안</a:t>
            </a:r>
            <a:r>
              <a:rPr lang="en-US" altLang="ko-KR" sz="1600" spc="-50" dirty="0"/>
              <a:t>) &gt; </a:t>
            </a:r>
            <a:r>
              <a:rPr lang="ko-KR" altLang="en-US" sz="1600" spc="-50" dirty="0"/>
              <a:t>가장 큰 규모 </a:t>
            </a:r>
            <a:r>
              <a:rPr lang="en-US" altLang="ko-KR" sz="1600" spc="-50" dirty="0"/>
              <a:t>(A</a:t>
            </a:r>
            <a:r>
              <a:rPr lang="ko-KR" altLang="en-US" sz="1600" spc="-50" dirty="0"/>
              <a:t>안</a:t>
            </a:r>
            <a:r>
              <a:rPr lang="en-US" altLang="ko-KR" sz="1600" spc="-50" dirty="0"/>
              <a:t>) &gt; </a:t>
            </a:r>
            <a:r>
              <a:rPr lang="ko-KR" altLang="en-US" sz="1600" spc="-50" dirty="0"/>
              <a:t>중간규모 </a:t>
            </a:r>
            <a:r>
              <a:rPr lang="en-US" altLang="ko-KR" sz="1600" spc="-50" dirty="0"/>
              <a:t>(B</a:t>
            </a:r>
            <a:r>
              <a:rPr lang="ko-KR" altLang="en-US" sz="1600" spc="-50" dirty="0"/>
              <a:t>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순서대로 선호한다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 </a:t>
            </a:r>
            <a:r>
              <a:rPr lang="ko-KR" altLang="en-US" sz="1600" spc="-50" dirty="0"/>
              <a:t>그림을 보면 </a:t>
            </a:r>
            <a:r>
              <a:rPr lang="en-US" altLang="ko-KR" sz="1600" spc="-50" dirty="0"/>
              <a:t>Y</a:t>
            </a:r>
            <a:r>
              <a:rPr lang="ko-KR" altLang="en-US" sz="1600" spc="-50" dirty="0"/>
              <a:t>의 선호는 </a:t>
            </a:r>
            <a:r>
              <a:rPr lang="en-US" altLang="ko-KR" sz="1600" spc="-50" dirty="0"/>
              <a:t>V</a:t>
            </a:r>
            <a:r>
              <a:rPr lang="ko-KR" altLang="en-US" sz="1600" spc="-50" dirty="0" err="1"/>
              <a:t>자모양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왼쪽과 오른쪽이 동시에 솟아 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이를 </a:t>
            </a:r>
            <a:r>
              <a:rPr lang="ko-KR" altLang="en-US" sz="1600" spc="-50" dirty="0" err="1"/>
              <a:t>다봉선호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(multi-peaked preference)</a:t>
            </a:r>
            <a:r>
              <a:rPr lang="ko-KR" altLang="en-US" sz="1600" spc="-50" dirty="0"/>
              <a:t>라고 부른다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이에 비해 다른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투표자의 선호 </a:t>
            </a:r>
            <a:r>
              <a:rPr lang="en-US" altLang="ko-KR" sz="1600" spc="-50" dirty="0"/>
              <a:t>Ⅰ</a:t>
            </a:r>
            <a:r>
              <a:rPr lang="ko-KR" altLang="en-US" sz="1600" spc="-50" dirty="0"/>
              <a:t>에서는 봉우리처럼 솟아오른 부분을 한 곳에서만 갖고있다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이를 </a:t>
            </a:r>
            <a:r>
              <a:rPr lang="ko-KR" altLang="en-US" sz="1600" spc="-50" dirty="0" err="1"/>
              <a:t>단봉선호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(single-peaked preference)</a:t>
            </a:r>
            <a:r>
              <a:rPr lang="ko-KR" altLang="en-US" sz="1600" spc="-50" dirty="0"/>
              <a:t>라고 부른다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348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A263D-88F7-005E-A501-5BD127A4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16973-534A-6222-A9BA-9007EF54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8FD284-330C-22E1-D51B-A7B8EE62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A9A01-A12C-D86D-1968-7BD4912A58B2}"/>
              </a:ext>
            </a:extLst>
          </p:cNvPr>
          <p:cNvSpPr txBox="1"/>
          <p:nvPr/>
        </p:nvSpPr>
        <p:spPr>
          <a:xfrm>
            <a:off x="288790" y="954490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Ⅰ</a:t>
            </a:r>
            <a:r>
              <a:rPr lang="ko-KR" altLang="en-US" sz="1600" spc="-50" dirty="0"/>
              <a:t>에서 투표의 역설 현상이 나타나지 않았던 것은 모든 사람의 선호가 </a:t>
            </a:r>
            <a:r>
              <a:rPr lang="ko-KR" altLang="en-US" sz="1600" spc="-50" dirty="0" err="1"/>
              <a:t>단봉선호의</a:t>
            </a:r>
            <a:r>
              <a:rPr lang="ko-KR" altLang="en-US" sz="1600" spc="-50" dirty="0"/>
              <a:t> 성격을 가졌기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투표자의 선호 </a:t>
            </a:r>
            <a:r>
              <a:rPr lang="en-US" altLang="ko-KR" sz="1600" spc="-50" dirty="0"/>
              <a:t>Ⅱ</a:t>
            </a:r>
            <a:r>
              <a:rPr lang="ko-KR" altLang="en-US" sz="1600" spc="-50" dirty="0"/>
              <a:t>에서 투표의 역설 현상이 나타난 이유는 </a:t>
            </a:r>
            <a:r>
              <a:rPr lang="ko-KR" altLang="en-US" sz="1600" spc="-50" dirty="0" err="1"/>
              <a:t>다봉선호를</a:t>
            </a:r>
            <a:r>
              <a:rPr lang="ko-KR" altLang="en-US" sz="1600" spc="-50" dirty="0"/>
              <a:t> 가진 사람이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다봉선호가</a:t>
            </a:r>
            <a:r>
              <a:rPr lang="ko-KR" altLang="en-US" sz="1600" spc="-50" dirty="0"/>
              <a:t> 보통의 경우와 약간 다르긴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비합리적인 것은 아니다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아래는 </a:t>
            </a:r>
            <a:r>
              <a:rPr lang="ko-KR" altLang="en-US" sz="1600" spc="-50" dirty="0" err="1"/>
              <a:t>다봉선호를</a:t>
            </a:r>
            <a:r>
              <a:rPr lang="ko-KR" altLang="en-US" sz="1600" spc="-50" dirty="0"/>
              <a:t> 갖게 되는 두 가지 예시이다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중소도시의 주민이 공립학교를 유지하는데 지출될 예산의 수준에 대해 평가를 내리는 경우를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예산규모가 매우 작아 공립학교의 질이 </a:t>
            </a:r>
            <a:r>
              <a:rPr lang="ko-KR" altLang="en-US" sz="1600" spc="-50" dirty="0" err="1"/>
              <a:t>안좋으면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대부분의 주민들이 사립학교에 자녀를 보내려고 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분위기 속에서는 예산규모를 조금 더 늘려봐야 조세부담만 가중될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예산규모가 아주 커져 공립학교의 질이 현저히 좋아진다면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사립학교에 보내지 않아도 되므로 주민들이 만족한다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결과적으로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주민들은 애매한 예산규모보다는 아예 투자를 하지 않거나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많은 예산을 쓰는 </a:t>
            </a:r>
            <a:r>
              <a:rPr lang="ko-KR" altLang="en-US" sz="1600" spc="-50" dirty="0" err="1"/>
              <a:t>다봉선호를</a:t>
            </a:r>
            <a:r>
              <a:rPr lang="ko-KR" altLang="en-US" sz="1600" spc="-50" dirty="0"/>
              <a:t> 갖게 된다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비어 있는 건물을 어떤 용도로 쓸 것인지에 관한문제가 있을 수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표결대상이 예산의 규모라는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차원적 선택문제가 아니다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도서관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청소년센터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임대상가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체육센터 등 어떤 것으로 활용할지 선택을 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건물 용도별로 예산의 규모가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이경우에는 사람들의 선호가 </a:t>
            </a:r>
            <a:r>
              <a:rPr lang="ko-KR" altLang="en-US" sz="1600" spc="-50" dirty="0" err="1"/>
              <a:t>다봉선호의</a:t>
            </a:r>
            <a:r>
              <a:rPr lang="ko-KR" altLang="en-US" sz="1600" spc="-50" dirty="0"/>
              <a:t> 모습을 보일 확률이 높다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431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1A9A-EABC-E308-A431-A3737078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C3E9A-A44C-00E7-D92B-F669613F9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투표의 역설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DE6AF-FF43-E913-15D4-891CBB55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096C5-87B9-4BEF-D2A2-0029483AC412}"/>
              </a:ext>
            </a:extLst>
          </p:cNvPr>
          <p:cNvSpPr txBox="1"/>
          <p:nvPr/>
        </p:nvSpPr>
        <p:spPr>
          <a:xfrm>
            <a:off x="288790" y="954490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경제학적으로 아래와 같은 두가지 조건이 성립하면 </a:t>
            </a:r>
            <a:r>
              <a:rPr lang="ko-KR" altLang="en-US" sz="1600" spc="-50" dirty="0" err="1"/>
              <a:t>단봉선호가</a:t>
            </a:r>
            <a:r>
              <a:rPr lang="ko-KR" altLang="en-US" sz="1600" spc="-50" dirty="0"/>
              <a:t> 보장된다고 알려져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</a:t>
            </a:r>
            <a:r>
              <a:rPr lang="ko-KR" altLang="en-US" sz="1600" spc="-50" dirty="0" err="1"/>
              <a:t>볼록선호</a:t>
            </a:r>
            <a:r>
              <a:rPr lang="en-US" altLang="ko-KR" sz="1600" spc="-50" dirty="0"/>
              <a:t>(convex preference)</a:t>
            </a:r>
            <a:r>
              <a:rPr lang="ko-KR" altLang="en-US" sz="1600" spc="-50" dirty="0"/>
              <a:t>를 보유하고 있어야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소비자의 무차별곡선이 원점에 대해 볼록한 모양을 갖고 있음을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소비자가 고정된 가격에 직면하고 있어야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소비자의 예산선이 직선임을 의미한다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조건이 충족될 때 </a:t>
            </a:r>
            <a:r>
              <a:rPr lang="ko-KR" altLang="en-US" sz="1600" spc="-50" dirty="0" err="1"/>
              <a:t>단봉선호가</a:t>
            </a:r>
            <a:r>
              <a:rPr lang="ko-KR" altLang="en-US" sz="1600" spc="-50" dirty="0"/>
              <a:t> 나타나는 것은 아래의 그림에서 확인할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사용재와 공공재 사이의 효용극대화 선택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왼편 그림에서 소비자는 조세를 통해 공공재를 소비하고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사용재</a:t>
            </a:r>
            <a:r>
              <a:rPr lang="ko-KR" altLang="en-US" sz="1600" spc="-50" dirty="0"/>
              <a:t> 또한 소비하고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그림에서는 직선의 예산선과 원점에 대해 볼록한 무차별곡선이 그려져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조건이 모두 충족되어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왼편 그림이 의미하고 있는 예산수준에 대한 소비자의 선호도를 오른편 그림에 옮겨 그리면 소비자가 </a:t>
            </a:r>
            <a:r>
              <a:rPr lang="ko-KR" altLang="en-US" sz="1600" spc="-50" dirty="0" err="1"/>
              <a:t>단봉선호를</a:t>
            </a:r>
            <a:r>
              <a:rPr lang="ko-KR" altLang="en-US" sz="1600" spc="-50" dirty="0"/>
              <a:t> 갖고 있다는 것을 확인할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AD157E-C05C-19D0-7D57-76BEAD3D12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8" t="15667" r="10918" b="14681"/>
          <a:stretch>
            <a:fillRect/>
          </a:stretch>
        </p:blipFill>
        <p:spPr>
          <a:xfrm>
            <a:off x="6252731" y="4403387"/>
            <a:ext cx="4344615" cy="22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62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3DD8-0D14-2472-DBD1-4DF3207D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D1381-5802-4B7C-C10F-F2F72FE701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F63AEF-81DC-67C5-59B8-1BD8AD90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E5D6525-1842-2279-6B45-1229A585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 err="1"/>
              <a:t>대의민주제하의</a:t>
            </a:r>
            <a:r>
              <a:rPr lang="ko-KR" altLang="en-US" sz="4000" b="1" i="0" spc="150" dirty="0"/>
              <a:t> 공공선택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799866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C61D-6633-59B1-9C51-90AE3FD9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E0775-7674-E528-C0BD-B4B703D9C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189AB-B775-6706-C34E-038A59D1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14A91-C1CE-4F06-EC7C-FF3F4D9CEBDD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지금까지 살펴본 직접민주제 방식에 의해 운용되는 예를 찾아 볼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대신 대표들을 선출한 다음 이들로 하여금 의사결정을 하게 만드는 간접민주제 혹은 대의민주제 방식을 채택하고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정부는 주로 정치가나 관료에 의해 움직이므로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이들의 행태를 분석할 필요가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복잡한 정치적 의사결정 과정을 정부의 주요 구성분자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즉 정치가와 관료들의 행동에 관한 경제모형에 기초해 설명하고자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논의는 정치가와 관료들도 자신의 이득을 추구하는 경제주체이기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효용극대화를 추구하는 소비자나 이윤극대화를 추구하는 기업가와 다를 바가 없다는 사실로부터 출발한다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논의에 앞서 아래 두가지는 지적해두고 넘어가자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관료가 각자 개인의 이득을 추구하는 행위가 반드시 비효율적인 결과를 유발하지는 않는다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일정한 조건이 만족되면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각자의 이득을 추구하는 행위가 결국 공익으로 연결이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정치가와 관료가 각자 개인의 이득을 추구한다는 가정이 현실에 부합하지 않을 수도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자신에게 손해가 되어도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공익에 도움이 된다고 판단하면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수행하려는 정치가 혹은 관료들도 있을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367054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D75F-3900-46DF-B704-29FDA3263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A4959-3686-F67B-4522-94E80A1C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7A651-6831-0B51-BF10-5197BF8B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A4A47-E5D6-CD63-0ADB-D94E99164696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대의민주제에서 국민은 의사결정에 직접 참여하지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단지 자신들을 대표하여 의사결정에 참여하는 정치가를 선출하는 일을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대의민주제에 관한 논의는 정치가 행동에 대한 분석으로부터 출발해보자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다운즈의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표극대화모형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다운즈는</a:t>
            </a:r>
            <a:r>
              <a:rPr lang="ko-KR" altLang="en-US" sz="1600" spc="-50" dirty="0"/>
              <a:t> 대의민주제에서 투표자와 정치가는 각각 다음의 목표를 추구한다는 가정을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투표자는 자신의 효용을 극대화 하고자 한다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이는 정부의 경제활동에서 나오는 순편익이 극대화되기를 바라다는 말과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정치가는 자기가 원하는 공직을 얻기 위해 최대한 많은 표를 얻고자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투표자는 자신의 이익을 가장 잘 대표할 수 있는 사람에게 표를 던지고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정치가는 이에 부응하여 투표자에게 가장 유리한 정책을 추진하려 할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모형에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이익을 추구하는 정치가라면 투표자의 의사를 충실하게 대변할 수 밖에 없다는 설명을 제공한다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중위투표자 이론에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정치가는 결국 중위투표자의 지지를 획득하는 방향으로 나가야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현실에서도 </a:t>
            </a:r>
            <a:r>
              <a:rPr lang="ko-KR" altLang="en-US" sz="1600" spc="-50" dirty="0" err="1"/>
              <a:t>양당제하에서</a:t>
            </a:r>
            <a:r>
              <a:rPr lang="ko-KR" altLang="en-US" sz="1600" spc="-50" dirty="0"/>
              <a:t> 두 당은 모두 중도적인 방향으로 나가려는 경향이 자주 관찰되곤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7832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3524-3A0A-630B-3174-7505E5AE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C0848-CBDC-1144-DCA5-AAB73713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EFCC2-6B26-BE32-2643-F44DD8F0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DB3A6-1F10-964E-6165-B1575B23DE24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투표자의 연합과 정강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 의안에 대해 견해를 달리하는 투표자들이 서로 연합함으로써 공동의 이익을 추구할 수 있는 여지가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다섯 사람</a:t>
            </a:r>
            <a:r>
              <a:rPr lang="en-US" altLang="ko-KR" sz="1600" spc="-50" dirty="0"/>
              <a:t>(A,B,C,D,E)</a:t>
            </a:r>
            <a:r>
              <a:rPr lang="ko-KR" altLang="en-US" sz="1600" spc="-50" dirty="0"/>
              <a:t>의 투표자가 징병제 폐지와 가족법 개정 여부에 대해 투표하는 상황을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다섯 사람의 선호는 아래 표와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선호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선호의 분포는 각 투표자의 선호에 따라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점을 배분하도록 하였다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투표자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징병제 폐지를 강력하게 원하고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가족법은 개정하는 쪽을 약간 더 선호하고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투표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과반수제에 의해 결정을 내린다고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징병제는 존속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가족법은 개정 하는 쪽으로 선택 될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그러나 유권자들의 선호의 강도를 고려하면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그 반대로 결정되는 것이 바람직했을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표의 합계 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살펴보았듯이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과반수제 하에서는 선호의 강도를 표현할 방도가 없기 때문이다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11 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2013E8-2AA6-460B-FD73-640ABB947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159946"/>
              </p:ext>
            </p:extLst>
          </p:nvPr>
        </p:nvGraphicFramePr>
        <p:xfrm>
          <a:off x="2216471" y="2766313"/>
          <a:ext cx="6188576" cy="140731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7357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1071963893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4172429250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1019146969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77357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33135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의안</a:t>
                      </a:r>
                      <a:endParaRPr lang="en-US" altLang="ko-KR" sz="12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투표자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4976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A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B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C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D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E</a:t>
                      </a:r>
                      <a:endParaRPr lang="ko-KR" altLang="en-US" sz="1200" b="0"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66055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징병제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존속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폐지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가족법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유지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개정</a:t>
                      </a:r>
                      <a:endParaRPr lang="en-US" sz="12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u="sng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996FBCB-7E93-1C0D-489F-D4A5B4A4AAC4}"/>
              </a:ext>
            </a:extLst>
          </p:cNvPr>
          <p:cNvSpPr txBox="1"/>
          <p:nvPr/>
        </p:nvSpPr>
        <p:spPr>
          <a:xfrm>
            <a:off x="3983609" y="245853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투표자 선호의 분포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5285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EC61-2823-3B1B-9E68-49784D70E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F2D1E-F0F1-B0DD-34B0-0F33D217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B51C58-221E-430F-DD7F-0E9724AD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EAF0E3-AE31-01B4-3716-FD3CDF30B9EE}"/>
              </a:ext>
            </a:extLst>
          </p:cNvPr>
          <p:cNvSpPr txBox="1"/>
          <p:nvPr/>
        </p:nvSpPr>
        <p:spPr>
          <a:xfrm>
            <a:off x="288790" y="954490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징병제 폐지에 적극 찬성하는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가족법 유지에 적극 찬성하는 </a:t>
            </a:r>
            <a:r>
              <a:rPr lang="en-US" altLang="ko-KR" sz="1600" spc="-50" dirty="0"/>
              <a:t>E</a:t>
            </a:r>
            <a:r>
              <a:rPr lang="ko-KR" altLang="en-US" sz="1600" spc="-50" dirty="0"/>
              <a:t>가 연합을 구성하면 결과는 달라진다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는 현행 가족법 유지 쪽에 표를 던지고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대가로 </a:t>
            </a:r>
            <a:r>
              <a:rPr lang="en-US" altLang="ko-KR" sz="1600" spc="-50" dirty="0"/>
              <a:t>E</a:t>
            </a:r>
            <a:r>
              <a:rPr lang="ko-KR" altLang="en-US" sz="1600" spc="-50" dirty="0"/>
              <a:t>는 징병제 폐지 쪽으로 표를 던지기로 합의 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징병제 폐지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가족법 유지로 결정될 수 있기 때문이다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과반수제를 위시한 대부분의 표결방식에서는 투표자들의 선호의 강도가 적절히 반영되지 못하는 단점이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투표자들의 연합을 통해 선호의 강도가 어느정도 반영될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11, 12 </a:t>
            </a:r>
            <a:r>
              <a:rPr lang="ko-KR" altLang="en-US" sz="1600" spc="-50" dirty="0"/>
              <a:t>점수투표제 내용 참고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투표자 수가 매우 많기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앞선 예처럼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개별로 연합을 구성하기는 불가능하다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대의민주제에서 정치가는 정강이라는 것을 통해 실질적으로 투표자 연합을 만들어 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만약 어떤 정치가가 </a:t>
            </a:r>
            <a:r>
              <a:rPr lang="en-US" altLang="ko-KR" sz="1600" spc="-50" dirty="0"/>
              <a:t>[</a:t>
            </a:r>
            <a:r>
              <a:rPr lang="ko-KR" altLang="en-US" sz="1600" spc="-50" dirty="0"/>
              <a:t>징병제 폐지</a:t>
            </a:r>
            <a:r>
              <a:rPr lang="en-US" altLang="ko-KR" sz="1600" spc="-50" dirty="0"/>
              <a:t> + </a:t>
            </a:r>
            <a:r>
              <a:rPr lang="ko-KR" altLang="en-US" sz="1600" spc="-50" dirty="0"/>
              <a:t>가족법 유지</a:t>
            </a:r>
            <a:r>
              <a:rPr lang="en-US" altLang="ko-KR" sz="1600" spc="-50" dirty="0"/>
              <a:t>] </a:t>
            </a:r>
            <a:r>
              <a:rPr lang="ko-KR" altLang="en-US" sz="1600" spc="-50" dirty="0"/>
              <a:t>정강을 제시하면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E</a:t>
            </a:r>
            <a:r>
              <a:rPr lang="ko-KR" altLang="en-US" sz="1600" spc="-50" dirty="0"/>
              <a:t>는 그 정강을 지지하여 연합이 이루어진다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정강이란 정당이나 정치가가 여러 가지 사안에 대해 종합적인 태도를 취하여 구체적으로 나열해 놓은 것을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경제정책 방향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국방문제에 대한 태도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환경에 대한 관점 등 각 사안에 대해 자신의 입장을 구체적으로 밝히는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정강은 성공적인 투표자 연합을 만들고자 하는 시도와 밀접한 관계가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889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101C0-3631-5235-C82C-0961DDFAF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74D9B-7173-4A44-4BEC-F7578D61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정치가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E8E88E-A078-883E-BE4F-E2D000BF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96900-A659-B6BA-8B2E-DB2D293B82D9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정치적 결탁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만약 투표자들이 연합하여 표를 주고 받는다면 정치적 결탁에 의해 표가 교환되었다고 말할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따지고 보면 정강을 통해 투표자들을 끌어 모으는 것도 정치가가 매개 역할을 한다는 점만 다를 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실질적으로 정치적 결탁에 의해 표를 교환한 것과 다르지 않다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이를 긍정적으로 평가한다면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시장에서 상품의 자유로운 교환이 효율적 배분을 가져오는 것과 마찬가지로 정치에서 표를 교환하는 행위는 효율적 집단의사결정을 가능하게 해준다고 말할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실질적으로 표를 교환함으로써 투표자가 갖는 선호의 강도가 반영될 길이 열리게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정치적 균형이 안정될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민주적인 정치체계가 운영되기 위해서는 타협이 중요한데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정치적 과정에서 타협이 구체화된 형태라고 볼 수도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부정적으로 평가한다면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표의 교환이 보편화 된다면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일반대중의 </a:t>
            </a:r>
            <a:r>
              <a:rPr lang="ko-KR" altLang="en-US" sz="1600" spc="-50" dirty="0" err="1"/>
              <a:t>희생하에서</a:t>
            </a:r>
            <a:r>
              <a:rPr lang="ko-KR" altLang="en-US" sz="1600" spc="-50" dirty="0"/>
              <a:t> 특정 집단의 사람들에게만 이익이 돌아가는 방향으로 집단의사결정이 이루어질 수 있다는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이해관계를 공유하는 특정집단들이 야합을 하면 바람직하지 못한 결과를 야기할 가능성이 크다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현실에서는 긍정적인 의미에서의 </a:t>
            </a:r>
            <a:r>
              <a:rPr lang="ko-KR" altLang="en-US" sz="1600" spc="-50"/>
              <a:t>타협과 부정적인 </a:t>
            </a:r>
            <a:r>
              <a:rPr lang="ko-KR" altLang="en-US" sz="1600" spc="-50" dirty="0"/>
              <a:t>의미에서의 야합을 구분하는 것은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744444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5816-DC0C-6A4D-F941-7596DEA5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30C-4310-5638-E0E4-8913A06D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ABC9A-BA16-77AC-0A90-6018864D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D0D9D-9AEC-668E-4E4A-B2B02349BBB0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현대 정부에서 관료들은 정치가에 못지않게 중요한 역할을 수행하고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관료의 수명은 정치가의 수명보다 길고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정책집행 과정을 직접 담당하므로 전문지식을 갖고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민간기업의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이윤이라는 뚜렷한 기준을 통해 성과를 평가할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관료들은 맡은 업무를 얼마나 성공적으로 수행하였는지 적절히 평가할 수 있는 기준이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 정책의 목표가 여러가지를 동시에 추구하는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관료의 노력이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정책의 성과로 반드시 연결되지 않을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관료들의 성과를 평가할 적절한 기준이 없어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관료들의 효율적인 업무를 유도할 수 있는 유인구조를 만들기 어렵다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관료는 공복</a:t>
            </a:r>
            <a:r>
              <a:rPr lang="en-US" altLang="ko-KR" sz="1600" spc="-50" dirty="0"/>
              <a:t>(public servant)</a:t>
            </a:r>
            <a:r>
              <a:rPr lang="ko-KR" altLang="en-US" sz="1600" spc="-50" dirty="0"/>
              <a:t>이어야 한다는 관점에서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관료는 국민의 선호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국민을 대표하고 있는 정치가들의 의사를 정책에 충실하게 반영시켜야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현실에서 관료는 </a:t>
            </a:r>
            <a:r>
              <a:rPr lang="ko-KR" altLang="en-US" sz="1600" spc="-50" dirty="0" err="1"/>
              <a:t>공복으로서의</a:t>
            </a:r>
            <a:r>
              <a:rPr lang="ko-KR" altLang="en-US" sz="1600" spc="-50" dirty="0"/>
              <a:t> 임무보다 자신의 이익을 더 앞세울 가능성이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관료들은 비효율적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경직적 이라는 비판을 자주 듣기도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위와 같은 관료들의 행태를 체계적으로 이해하고자 관료제 모형이 개발되었다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5837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DE6AA-90E9-3E17-8170-EEC61135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9CEAC-1593-30F6-0DE8-BC12C87D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657CEA-F024-1DF7-26A6-3232FDE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39F73-99EF-D5DB-54D6-875E812DB3FB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관료제모형의 기본 골격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관료제모형은 관료들이 어떤 행동을 보일지에 대해 예측하는 데 분석의 초점을 맞추고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관료들의 행동을 예측하기 위해서는 우선 관료가 추구하는 목표가 무엇인지 알아야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관료들이 개인적 이득을 추구하고 있다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구체적으로 어떤 것을 추구하고 있는지 알아야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또한 관료들이 어떤 제약에 직면하고 있는지도 알아야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소비자가 </a:t>
            </a:r>
            <a:r>
              <a:rPr lang="ko-KR" altLang="en-US" sz="1600" spc="-50" dirty="0" err="1"/>
              <a:t>예산제약하에서</a:t>
            </a:r>
            <a:r>
              <a:rPr lang="ko-KR" altLang="en-US" sz="1600" spc="-50" dirty="0"/>
              <a:t> 상품을 선택하듯이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관료들도 어떤 제약하에서 개인적 이득을 추구하고 있을 것이므로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제약이 무엇인지 알아야 그들의 행동을 예측할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대부분의 실증연구에 따르면 관료들이 공공서비스를 생산할 때 비용을 가능한 최소한의 수준으로 낮추려는 노력을 하지 않는 경향이 있다고 알려져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다시 말하면 관료들이 생산비용을 일부러 높게 만들고 있다는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관료들이 생산을 비효율적으로 하는 이유는 관료들의 능률이 낮거나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다른 이유가 있을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관료들은 사회에서 능력이 뛰어난 인재들로 구성되므로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그들의 비효율을 능력 부족 탓으로 보기는 어렵다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그렇다면 유능한 관료가 비효율적으로 생산한다면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이유는 그것이 자신의 이익에 더 부합하기 때문일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28862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A0432-70F0-465F-C762-05A84238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70AD3-EFC1-F164-E896-08C9BC1D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F488F2-C320-B069-1038-6DC3C6FF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B9AB2-21CA-230D-589C-2BD18729EB43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니스카넨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모형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</a:t>
            </a:r>
            <a:r>
              <a:rPr lang="en-US" altLang="ko-KR" sz="1600" spc="-50" dirty="0"/>
              <a:t> (W. Niskanen, 1971)</a:t>
            </a:r>
            <a:r>
              <a:rPr lang="ko-KR" altLang="en-US" sz="1600" spc="-50" dirty="0"/>
              <a:t> 모형은 관료들이 부서의 예산을 극대화하는데 목표를 두고 있다는 가정에서 출발한다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 이득을 추구하는 관료들은 직책상의 특권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명성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권한 등에 관심을 갖는다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것들은 자신이 속한 부서의 예산과 비례하여 커지기 때문에 자연히 예산극대화를 추구하게 된다고 설명한다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또 예산의 크기는 관료적 생산의 크기와 비례하므로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 극대화를 추구하는 것은 관료적 생산의 극대화를 추구한다는 말과 같다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니스카넨은</a:t>
            </a:r>
            <a:r>
              <a:rPr lang="ko-KR" altLang="en-US" sz="1600" spc="-50" dirty="0"/>
              <a:t> 관료들이 소비자들로부터 돈을 받아 경비를 조달하는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입법부의 심사절차를 통해 경비를 조달한다는 사실이 중요하다고 강조한다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다시 말하면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관료들은 생산물을 한 단위씩 파는 것이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생산물을 예산과 교환하는 형식으로 경비를 조달한다는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관료적 생산물의 비용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편익 분석이 긍정적이라는 사실을 토대로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입법부를 납득시키면 예산을 배정받을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특성에 의해 관료들은 마치 제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급 가격차별독점자와 같은 </a:t>
            </a:r>
            <a:r>
              <a:rPr lang="ko-KR" altLang="en-US" sz="1600" spc="-50" dirty="0" err="1"/>
              <a:t>독점력을</a:t>
            </a:r>
            <a:r>
              <a:rPr lang="ko-KR" altLang="en-US" sz="1600" spc="-50" dirty="0"/>
              <a:t> 갖게 된다는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입법부는 관료적 생산에 대한 비용을 정확히 모르는 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관료는 비용 정보를 더 많이 알기 때문에 관료는 정부의 최대 허용예산 수준까지 끌어올려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예산을 받아낸다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2319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5B8B-E019-4C9D-798B-51409BCA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603001-8904-655A-F200-E3DD8B81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F8BAE-93AE-538B-AD2A-73E894F8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156DB7-2D24-859F-E123-A2D3DDE4D6CE}"/>
                  </a:ext>
                </a:extLst>
              </p:cNvPr>
              <p:cNvSpPr txBox="1"/>
              <p:nvPr/>
            </p:nvSpPr>
            <p:spPr>
              <a:xfrm>
                <a:off x="288790" y="858020"/>
                <a:ext cx="11693660" cy="37380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설명한 관료의 특성은 아래 그림을 통해 표현될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왼쪽 그림은 생산수준에 따라 발생하는 </a:t>
                </a:r>
                <a:r>
                  <a:rPr lang="ko-KR" altLang="en-US" sz="1600" spc="-50" dirty="0" err="1"/>
                  <a:t>총편익</a:t>
                </a:r>
                <a:r>
                  <a:rPr lang="en-US" altLang="ko-KR" sz="1600" spc="-50" dirty="0"/>
                  <a:t>(TB)</a:t>
                </a:r>
                <a:r>
                  <a:rPr lang="ko-KR" altLang="en-US" sz="1600" spc="-50" dirty="0"/>
                  <a:t>과 총비용</a:t>
                </a:r>
                <a:r>
                  <a:rPr lang="en-US" altLang="ko-KR" sz="1600" spc="-50" dirty="0"/>
                  <a:t>(TC)</a:t>
                </a:r>
                <a:r>
                  <a:rPr lang="ko-KR" altLang="en-US" sz="1600" spc="-50" dirty="0"/>
                  <a:t>을 보여주고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그림은 생산수준에서의 총편익으로부터 총비용을 뺀 사회적 잉여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나타내는 곡선을 보여주고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관료적 생산의 수준이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일 때 사회적 잉여가 가장 커지므로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생산수준을 사회적 최적 생산수준이라고 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TC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TB</a:t>
                </a:r>
                <a:r>
                  <a:rPr lang="ko-KR" altLang="en-US" sz="1600" spc="-50" dirty="0"/>
                  <a:t>곡선의 접선의 기울기가 같을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두 곡선 사이의 수직거리가 사회적 잉여가 극대화되는 점이다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니스카넨에</a:t>
                </a:r>
                <a:r>
                  <a:rPr lang="ko-KR" altLang="en-US" sz="1600" spc="-50" dirty="0"/>
                  <a:t>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관료적 생산의 극대화를 추구하는 관료들은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생산점을 선택하지 않는다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입법부로부터 타당성을 인정받으면 더 높은 생산수준을 선택할 수 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생산점을 선택하게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급 가격차별독점자에 상응하는 </a:t>
                </a:r>
                <a:r>
                  <a:rPr lang="ko-KR" altLang="en-US" sz="1600" spc="-50" dirty="0" err="1"/>
                  <a:t>독점력을</a:t>
                </a:r>
                <a:r>
                  <a:rPr lang="ko-KR" altLang="en-US" sz="1600" spc="-50" dirty="0"/>
                  <a:t> 이용해 국민에게 돌아갈 잉여를 관료적 생산 확대에 사용하게 되는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156DB7-2D24-859F-E123-A2D3DDE4D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858020"/>
                <a:ext cx="11693660" cy="3738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 descr="도표, 라인, 그래프, 경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FCEC79-A1C9-6790-504C-3E7861147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491" y="4294569"/>
            <a:ext cx="4899265" cy="23957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F15B43-8F68-C36F-58B7-8786F9BC0A1A}"/>
              </a:ext>
            </a:extLst>
          </p:cNvPr>
          <p:cNvSpPr txBox="1"/>
          <p:nvPr/>
        </p:nvSpPr>
        <p:spPr>
          <a:xfrm>
            <a:off x="4390467" y="401156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니스카넨</a:t>
            </a:r>
            <a:r>
              <a:rPr lang="ko-KR" altLang="en-US" sz="1400" spc="-50" dirty="0"/>
              <a:t>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796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ECC4-D546-78C9-979F-1F17C609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15DC0-B15D-80B3-002C-A7BFD15D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E81CCE-0737-2CBC-7C9A-EFA13463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BF55B-4062-C881-BF32-C1AD7BB86D4C}"/>
              </a:ext>
            </a:extLst>
          </p:cNvPr>
          <p:cNvSpPr txBox="1"/>
          <p:nvPr/>
        </p:nvSpPr>
        <p:spPr>
          <a:xfrm>
            <a:off x="221675" y="782518"/>
            <a:ext cx="11693660" cy="63233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</a:t>
            </a:r>
            <a:r>
              <a:rPr lang="ko-KR" altLang="en-US" sz="1600" spc="-50" dirty="0"/>
              <a:t> 모형에서 가장 심각한 문제는 관료들의 과다생산 경향이라고 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대처하기 위해 </a:t>
            </a:r>
            <a:r>
              <a:rPr lang="ko-KR" altLang="en-US" sz="1600" spc="-50" dirty="0" err="1"/>
              <a:t>니스카넨은</a:t>
            </a:r>
            <a:r>
              <a:rPr lang="ko-KR" altLang="en-US" sz="1600" spc="-50" dirty="0"/>
              <a:t> 다음과 같은 조처를 제의한다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관료들의 </a:t>
            </a:r>
            <a:r>
              <a:rPr lang="ko-KR" altLang="en-US" sz="1600" spc="-50" dirty="0" err="1"/>
              <a:t>봉금을</a:t>
            </a:r>
            <a:r>
              <a:rPr lang="ko-KR" altLang="en-US" sz="1600" spc="-50" dirty="0"/>
              <a:t> 예산절감 노력에 상응하게 조정함으로써 이들이 과다한 생산활동을 하지 못하도록 억제할 것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예산절감을 하지 않는 관료들에게 급여상 불이익을 주자는 취지이지만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탄력적 급여체계를 운용하는 건 쉽지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생산과 공급 활동은 민간기업에 맡기고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경비만 대는 방법을 쓸 것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효율적인 민간기업을 활용해 관료들의 비효율성을 극복하려 한다는 의도지만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현실적으로 이 방법에도 그리 큰 기대를 걸 수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니스카넨은</a:t>
            </a:r>
            <a:r>
              <a:rPr lang="ko-KR" altLang="en-US" sz="1600" spc="-50" dirty="0"/>
              <a:t> 간단한 모형을 통해 관료제의 문제점을 분석했지만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같은 의문이 남는다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현실의 입법부가 과연 모형에서 가정하고 있는 것처럼 순진하고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수동적인 존재인지 의문이다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총편익이 총비용보다 조금이라도 크면 무조건 그 정당성을 인정해줄까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관료의 효용함수는 오직 예산수준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생산수준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의존하는 것을 가정하는데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이것이 타당한지 의문이다</a:t>
            </a:r>
            <a:r>
              <a:rPr lang="en-US" altLang="ko-KR" sz="1600" spc="-50"/>
              <a:t>.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예산이 커짐에 따라 관료 효용이 증가한다고 보는 것은 합리적이지만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이것만이</a:t>
            </a:r>
            <a:r>
              <a:rPr lang="ko-KR" altLang="en-US" sz="1600" spc="-50" dirty="0"/>
              <a:t> 관료의 효용함수를 설명하는 유일한 </a:t>
            </a:r>
            <a:r>
              <a:rPr lang="ko-KR" altLang="en-US" sz="1600" spc="-50" dirty="0" err="1"/>
              <a:t>독립변수일까</a:t>
            </a:r>
            <a:r>
              <a:rPr lang="en-US" altLang="ko-KR" sz="1600" spc="-50" dirty="0"/>
              <a:t>?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521285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08A7-A3A7-F507-9781-EC5700A2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6DB3F-4A70-851C-CCA9-87C12617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8C31F9-F437-7F32-F2B4-7463B644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434EB-711F-C1E9-EC25-67B8AB1C730F}"/>
                  </a:ext>
                </a:extLst>
              </p:cNvPr>
              <p:cNvSpPr txBox="1"/>
              <p:nvPr/>
            </p:nvSpPr>
            <p:spPr>
              <a:xfrm>
                <a:off x="288790" y="832856"/>
                <a:ext cx="1169366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u="sng" dirty="0">
                    <a:ln w="3175">
                      <a:noFill/>
                    </a:ln>
                    <a:latin typeface="+mn-ea"/>
                  </a:rPr>
                  <a:t>미그</a:t>
                </a:r>
                <a:r>
                  <a:rPr lang="en-US" altLang="ko-KR" sz="1600" b="1" u="sng" dirty="0">
                    <a:ln w="3175">
                      <a:noFill/>
                    </a:ln>
                    <a:latin typeface="+mn-ea"/>
                  </a:rPr>
                  <a:t>-</a:t>
                </a:r>
                <a:r>
                  <a:rPr lang="ko-KR" altLang="en-US" sz="1600" b="1" u="sng" dirty="0" err="1">
                    <a:ln w="3175">
                      <a:noFill/>
                    </a:ln>
                    <a:latin typeface="+mn-ea"/>
                  </a:rPr>
                  <a:t>빌레인저</a:t>
                </a:r>
                <a:r>
                  <a:rPr lang="ko-KR" altLang="en-US" sz="1600" b="1" u="sng" dirty="0">
                    <a:ln w="3175">
                      <a:noFill/>
                    </a:ln>
                    <a:latin typeface="+mn-ea"/>
                  </a:rPr>
                  <a:t> 모형</a:t>
                </a:r>
                <a:endParaRPr lang="en-US" altLang="ko-KR" sz="4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니스카넨</a:t>
                </a:r>
                <a:r>
                  <a:rPr lang="ko-KR" altLang="en-US" sz="1600" spc="-50" dirty="0"/>
                  <a:t> 모형의 한계를 극복하기 위해 개발된 것이 </a:t>
                </a:r>
                <a:r>
                  <a:rPr lang="ko-KR" altLang="en-US" sz="1600" spc="-50" dirty="0" err="1"/>
                  <a:t>미그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 err="1"/>
                  <a:t>빌레인저</a:t>
                </a:r>
                <a:r>
                  <a:rPr lang="ko-KR" altLang="en-US" sz="1600" spc="-50" dirty="0"/>
                  <a:t> 모형이다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관료들은 예산이 아닌 효용극대화를 추구한다는 기본가정으로 출발한다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효용은 단지 예산의 크기 뿐만 아니라 직책으로부터 생기는 여러 특권에도 영향을 받는다고 가정한다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관료들의 직책상 특권들은 예산상의 잉여를 갖고 있어야 누릴 수 있다는 점에 착안한다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altLang="ko-KR" sz="1600" spc="-50" dirty="0"/>
                  <a:t>  </a:t>
                </a: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관료적 생산수준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ko-KR" altLang="en-US" sz="1600" spc="-50" dirty="0"/>
                  <a:t>은 직책상 특권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그림에서 관료들은 검은 곡선 위에 있는 점들 중 하나를 택하여 자신의 효용을 극대화 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효용함수에서 도출한 무차별곡선을 겹쳐 그리면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관료가 효용 극대화 할 수 있는 생산수준은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됨을 알 수 있다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spc="-50" dirty="0"/>
                  <a:t> 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생산수준 역시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초과하여 관료의 과다생산 경향을 보여주고 있지만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니스카넨</a:t>
                </a:r>
                <a:r>
                  <a:rPr lang="ko-KR" altLang="en-US" sz="1600" spc="-50" dirty="0"/>
                  <a:t> 모형의 경우보다는 과다생산의 정도가 작아진 것을 볼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BA434EB-711F-C1E9-EC25-67B8AB1C7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832856"/>
                <a:ext cx="11693660" cy="4107343"/>
              </a:xfrm>
              <a:prstGeom prst="rect">
                <a:avLst/>
              </a:prstGeom>
              <a:blipFill>
                <a:blip r:embed="rId2"/>
                <a:stretch>
                  <a:fillRect l="-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 descr="도표, 라인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4BA8A8-FA20-20DC-0880-BCEEED809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270" y="4561029"/>
            <a:ext cx="3105829" cy="20508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E8BA54-E815-A2E4-595F-47D01D046A9A}"/>
              </a:ext>
            </a:extLst>
          </p:cNvPr>
          <p:cNvSpPr txBox="1"/>
          <p:nvPr/>
        </p:nvSpPr>
        <p:spPr>
          <a:xfrm>
            <a:off x="5232400" y="4352737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미그</a:t>
            </a:r>
            <a:r>
              <a:rPr lang="en-US" altLang="ko-KR" sz="1400" spc="-50" dirty="0"/>
              <a:t>-</a:t>
            </a:r>
            <a:r>
              <a:rPr lang="ko-KR" altLang="en-US" sz="1400" spc="-50" dirty="0" err="1"/>
              <a:t>빌레인저</a:t>
            </a:r>
            <a:r>
              <a:rPr lang="ko-KR" altLang="en-US" sz="1400" spc="-50" dirty="0"/>
              <a:t>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75079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C4C84-B5ED-1BBB-68C4-C7D1418FD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CD0C9-809A-3760-6CF7-455350036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B5AB66-41E9-8108-7A63-94CD6907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253B1-18EB-0810-DAE4-B88A0E1DD65B}"/>
              </a:ext>
            </a:extLst>
          </p:cNvPr>
          <p:cNvSpPr txBox="1"/>
          <p:nvPr/>
        </p:nvSpPr>
        <p:spPr>
          <a:xfrm>
            <a:off x="288790" y="954490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관료제의 개혁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원칙적으로 관료는 국민의 이익을 위해 봉사하는 것을 주요한 존재이유로 삼아야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현실에서 관료는 반드시 그렇게 행동할 보장이 없는데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이유는 </a:t>
            </a:r>
            <a:r>
              <a:rPr lang="ko-KR" altLang="en-US" sz="1600" b="1" spc="-50" dirty="0"/>
              <a:t>본인</a:t>
            </a:r>
            <a:r>
              <a:rPr lang="en-US" altLang="ko-KR" sz="1600" b="1" spc="-50" dirty="0"/>
              <a:t>-</a:t>
            </a:r>
            <a:r>
              <a:rPr lang="ko-KR" altLang="en-US" sz="1600" b="1" spc="-50" dirty="0"/>
              <a:t>대리인관계 이론</a:t>
            </a:r>
            <a:r>
              <a:rPr lang="ko-KR" altLang="en-US" sz="1600" spc="-50" dirty="0"/>
              <a:t>에서 찾을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국민은 관료가 실제로 어떤 행동을 하고 있는지 자세히 알 수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관료는 이런 정보의 불완전한 상황을 이용해 자신의 사사로운 이익을 추구할 가능성이 생기는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지금까지 살펴본 관료제 모형은 이러한 관료들의 도덕적 해이를 논의의 중심에 두고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국민은 정치가를 통해 관료의 행동에 제약을 가할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정치가 역시 국민의 이해관계를 완벽하게 대변한다는 보장이 없다는 문제가 다시 발생한다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정치가 역시 국민에 대해서는 대리인의 역할을 하는 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관료에 대해서는 본인의 역할을 하고 있는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국민↔정치가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 정치가는 대리인</a:t>
            </a:r>
            <a:r>
              <a:rPr lang="en-US" altLang="ko-KR" sz="1600" spc="-50" dirty="0"/>
              <a:t>,       </a:t>
            </a:r>
            <a:r>
              <a:rPr lang="ko-KR" altLang="en-US" sz="1600" spc="-50" dirty="0" err="1"/>
              <a:t>정치가↔관료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 정치가는 본인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때로는 정치가와 관료가 결탁해 국민의 이해에 반하는 행동을 하는 경우도 생긴다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관료제 개혁의 문제는 적절한 유인구조를 마련하여 관료들의 </a:t>
            </a:r>
            <a:r>
              <a:rPr lang="ko-KR" altLang="en-US" sz="1600" b="1" spc="-50" dirty="0"/>
              <a:t>도덕적 해이</a:t>
            </a:r>
            <a:r>
              <a:rPr lang="ko-KR" altLang="en-US" sz="1600" spc="-50" dirty="0"/>
              <a:t>를 막는 방안을 강구하는 것으로 귀착된다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91798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8586-0AA9-8C23-5119-F67959CD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94A75-FFEE-EAAC-218F-796AD716F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FAC31A-F50D-FA0B-9F45-0F3C4EF3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FC6B3-FABE-CAB1-178E-D400A642F60F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관료제의 문제로 과다생산으로 인한 비효율성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관료적 형식주의에서 비롯되는 </a:t>
            </a:r>
            <a:r>
              <a:rPr lang="ko-KR" altLang="en-US" sz="1600" b="1" spc="-50" dirty="0"/>
              <a:t>비능률성</a:t>
            </a:r>
            <a:r>
              <a:rPr lang="ko-KR" altLang="en-US" sz="1600" spc="-50" dirty="0"/>
              <a:t>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공연히 절차를 까다롭게 만들고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바로 처리할 수 있는 일을 미루는 태도는 일상에서 어렵지 않게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비능률성이 발생하는 이유는 여러가지가 있겠지만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아래의 두 가지를 주된 이유로 들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절차를 복잡하게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시간을 지연시킴으로써 관료들이 개인적 이득을 획득할 수 있다는 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관료의 영향력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업무부담으로 인한 인력 증원 명분 등을 전략적으로 활용할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관료들의 </a:t>
            </a:r>
            <a:r>
              <a:rPr lang="ko-KR" altLang="en-US" sz="1600" spc="-50" dirty="0" err="1"/>
              <a:t>위험기피적인</a:t>
            </a:r>
            <a:r>
              <a:rPr lang="ko-KR" altLang="en-US" sz="1600" spc="-50" dirty="0"/>
              <a:t> 성향 때문에 비능률이 나타나기도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관료는 맡은 일을 성공적으로 마쳐도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보상이 크게 늘지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실패하면 져야 할 책임은 큰 것이 보통이다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그렇기 때문에 책임을 분산시키고자 여러 사람의 검토를 거치게 만들곤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같은 비효율성을 제거하기 위한 개혁의 방안으로는 </a:t>
            </a:r>
            <a:r>
              <a:rPr lang="ko-KR" altLang="en-US" sz="1600" b="1" spc="-50" dirty="0"/>
              <a:t>급여구조</a:t>
            </a:r>
            <a:r>
              <a:rPr lang="ko-KR" altLang="en-US" sz="1600" spc="-50" dirty="0"/>
              <a:t>와 </a:t>
            </a:r>
            <a:r>
              <a:rPr lang="ko-KR" altLang="en-US" sz="1600" b="1" spc="-50" dirty="0"/>
              <a:t>승진제도 </a:t>
            </a:r>
            <a:r>
              <a:rPr lang="ko-KR" altLang="en-US" sz="1600" spc="-50" dirty="0"/>
              <a:t>개선을 고려해볼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</a:t>
            </a:r>
            <a:r>
              <a:rPr lang="ko-KR" altLang="en-US" sz="1600" spc="-50" dirty="0" err="1"/>
              <a:t>부처간의</a:t>
            </a:r>
            <a:r>
              <a:rPr lang="ko-KR" altLang="en-US" sz="1600" spc="-50" dirty="0"/>
              <a:t> 경쟁 또는 민간부문과의 경쟁을 촉진하여 관료들의 효율성을 부추기는 방법이 있을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관료제 개혁의 요지는 이들이 경쟁에서 자유롭기 때문에 최대한의 효율성을 발휘할 필요를 느끼지 못한다는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현실에서는 관료들의 업무 성격상 그 성과를 객관적으로 평가하기 어려운 경우가 많다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9908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E27CF-6B43-6EA6-4766-DC49CE4A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D1ED9-9E1D-5EAD-E124-978D0431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특수이해집단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B403F-0546-BFCB-3234-F27FC296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9663B-A5DC-17C3-1C2B-D2794D7AC09D}"/>
              </a:ext>
            </a:extLst>
          </p:cNvPr>
          <p:cNvSpPr txBox="1"/>
          <p:nvPr/>
        </p:nvSpPr>
        <p:spPr>
          <a:xfrm>
            <a:off x="288790" y="954490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대의민주제 사회에서 정치가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관료에 이어 중요한 역할을 하는 집단으로 특수이해집단이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국민이 단순 유권자로서 정책수립 과정에 영향을 미치려 할 때는 미미한 영향력 밖에 발휘하지 못한다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공통의 이해관계를 가진 사람들이 뭉쳐 특수이해집단을 형성하고 집단적인 힘을 활용한다면 훨씬 큰 영향력을 발휘할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특수이해집단의 강점은 구성원들이 공유하는 명백한 목적의식과 조직력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높은 투표율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자금력 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대중의 여론을 환기시키기 위한 선전활동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대중 집회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기고 등을 통해 영향력을 발휘할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특수이해집단은 아래의 예시와 같이 여러가지 근거를 토대로 형성될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근로자들이 하나의 집단을 형성하고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맞서 사용자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업주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들도 집단을 형성하는 상황이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산업별로 특수 이해집단이 결성되기도 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자동차산업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변호사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의사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약사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환경단체 등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민주적인 사회에서는 이처럼 다양한 이해관계를 가진 사람들이 서로 타협하며 살아갈 수 밖에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우리가 당면한 사회문제에 대해 합리적인 해결책을 모색할 수 있는 계기라는 측면에서 긍정적인 평가를 내릴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특수이해집단은 사회 </a:t>
            </a:r>
            <a:r>
              <a:rPr lang="ko-KR" altLang="en-US" sz="1600" spc="-50"/>
              <a:t>공익 보다는 </a:t>
            </a:r>
            <a:r>
              <a:rPr lang="ko-KR" altLang="en-US" sz="1600" spc="-50" dirty="0"/>
              <a:t>구성원들의 이익을 앞세우는 경향이 있기 때문에 사회 전체 입장에서 보면 비효율적이거나 불합리한 결과가 도출되기도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6505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10768</TotalTime>
  <Words>4541</Words>
  <Application>Microsoft Office PowerPoint</Application>
  <PresentationFormat>와이드스크린</PresentationFormat>
  <Paragraphs>462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2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재 정 학</vt:lpstr>
      <vt:lpstr>Chapter 5  공공선택의 이론</vt:lpstr>
      <vt:lpstr>Section 1. 공공선택이론의 의의</vt:lpstr>
      <vt:lpstr>공공선택의 의의</vt:lpstr>
      <vt:lpstr>Section 2. 직접민주제 하의 공공선택</vt:lpstr>
      <vt:lpstr>직접민주제하의 공공선택</vt:lpstr>
      <vt:lpstr>전원합의제</vt:lpstr>
      <vt:lpstr>과반수제</vt:lpstr>
      <vt:lpstr>최적다수결제</vt:lpstr>
      <vt:lpstr>최적다수결제</vt:lpstr>
      <vt:lpstr>점수투표제</vt:lpstr>
      <vt:lpstr>점수투표제</vt:lpstr>
      <vt:lpstr>Section 3. 과반수제하에서의 정치적 균형</vt:lpstr>
      <vt:lpstr>중위투표자이론</vt:lpstr>
      <vt:lpstr>중위투표자이론</vt:lpstr>
      <vt:lpstr>투표의 역설</vt:lpstr>
      <vt:lpstr>투표의 역설</vt:lpstr>
      <vt:lpstr>투표의 역설</vt:lpstr>
      <vt:lpstr>투표의 역설</vt:lpstr>
      <vt:lpstr>Section 4. 대의민주제하의 공공선택</vt:lpstr>
      <vt:lpstr>배경설명</vt:lpstr>
      <vt:lpstr>정치가</vt:lpstr>
      <vt:lpstr>정치가</vt:lpstr>
      <vt:lpstr>정치가</vt:lpstr>
      <vt:lpstr>정치가</vt:lpstr>
      <vt:lpstr>관료</vt:lpstr>
      <vt:lpstr>관료</vt:lpstr>
      <vt:lpstr>관료</vt:lpstr>
      <vt:lpstr>관료</vt:lpstr>
      <vt:lpstr>관료</vt:lpstr>
      <vt:lpstr>관료</vt:lpstr>
      <vt:lpstr>관료</vt:lpstr>
      <vt:lpstr>관료</vt:lpstr>
      <vt:lpstr>특수이해집단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327</cp:revision>
  <dcterms:created xsi:type="dcterms:W3CDTF">2025-07-05T05:15:23Z</dcterms:created>
  <dcterms:modified xsi:type="dcterms:W3CDTF">2026-04-08T01:41:46Z</dcterms:modified>
</cp:coreProperties>
</file>