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41" r:id="rId14"/>
    <p:sldId id="633" r:id="rId15"/>
    <p:sldId id="634" r:id="rId16"/>
    <p:sldId id="599" r:id="rId17"/>
    <p:sldId id="600" r:id="rId18"/>
    <p:sldId id="601" r:id="rId19"/>
    <p:sldId id="602" r:id="rId20"/>
    <p:sldId id="603" r:id="rId21"/>
    <p:sldId id="595" r:id="rId22"/>
    <p:sldId id="604" r:id="rId23"/>
    <p:sldId id="605" r:id="rId24"/>
    <p:sldId id="607" r:id="rId25"/>
    <p:sldId id="608" r:id="rId26"/>
    <p:sldId id="606" r:id="rId27"/>
    <p:sldId id="609" r:id="rId28"/>
    <p:sldId id="610" r:id="rId29"/>
    <p:sldId id="596" r:id="rId30"/>
    <p:sldId id="611" r:id="rId31"/>
    <p:sldId id="613" r:id="rId32"/>
    <p:sldId id="612" r:id="rId33"/>
    <p:sldId id="614" r:id="rId34"/>
    <p:sldId id="615" r:id="rId35"/>
    <p:sldId id="616" r:id="rId36"/>
    <p:sldId id="597" r:id="rId37"/>
    <p:sldId id="617" r:id="rId38"/>
    <p:sldId id="618" r:id="rId39"/>
    <p:sldId id="620" r:id="rId40"/>
    <p:sldId id="622" r:id="rId41"/>
    <p:sldId id="623" r:id="rId42"/>
    <p:sldId id="624" r:id="rId43"/>
    <p:sldId id="626" r:id="rId44"/>
    <p:sldId id="627" r:id="rId45"/>
    <p:sldId id="598" r:id="rId46"/>
    <p:sldId id="628" r:id="rId47"/>
    <p:sldId id="629" r:id="rId48"/>
    <p:sldId id="630" r:id="rId49"/>
    <p:sldId id="631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10.png"/><Relationship Id="rId4" Type="http://schemas.openxmlformats.org/officeDocument/2006/relationships/image" Target="../media/image61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최적을 달성한다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blipFill>
                <a:blip r:embed="rId2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3849077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506128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202565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02565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6</a:t>
            </a:r>
            <a:r>
              <a:rPr lang="ko-KR" altLang="en-US" sz="1600" spc="-50" dirty="0"/>
              <a:t>명으로 구성된 어떤 조합이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외부로부터 조합장을 영입하기로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 명의 후보자 </a:t>
            </a:r>
            <a:r>
              <a:rPr lang="en-US" altLang="ko-KR" sz="1600" spc="-50" dirty="0"/>
              <a:t>(A, B, C)</a:t>
            </a:r>
            <a:r>
              <a:rPr lang="ko-KR" altLang="en-US" sz="1600" spc="-50" dirty="0"/>
              <a:t> 중 한 사람을 고르기로 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704135"/>
              </p:ext>
            </p:extLst>
          </p:nvPr>
        </p:nvGraphicFramePr>
        <p:xfrm>
          <a:off x="2957921" y="3595613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3335916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XXXXXXXXXXXXXXXXXXXXXXXXXXXXXXXXXXXXXXXXXXXXXX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XXXXXXXXXXXXXXXXXXXXX</a:t>
            </a:r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b="1" dirty="0" err="1"/>
                  <a:t>새무엘슨조건</a:t>
                </a:r>
                <a:r>
                  <a:rPr lang="ko-KR" altLang="en-US" sz="1600" dirty="0" err="1"/>
                  <a:t>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 길이 만큼의 비율을 부담할 용의를 갖고 있는 것이다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어떤 공공재의 생산수준에 대해 생산비용의 일정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부담할 용의가 있다고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가 그 나머지 부분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부담하겠다고 하면 두 사람은 바로 그 수준의 공공재를 공급받을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의 생산수준에 대해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의 길이에 해당하는 비율을 부담할 용의가 있으니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나머지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만큼의 비율을 부담하면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만큼의 공공재를 공급받을 수 있게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를 기준으로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곡선을 본다면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곡선은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공급곡선과 마찬가지다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두 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점은 수요곡선과 공급곡선이 교차하는 균형점이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점을 린달균형 혹은 자발적 교환의 모형이라고 부른다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공공재 생산 수준과 비용부담비율을 두사람이 자발적으로 합의한 결과로 해석하기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blipFill>
                <a:blip r:embed="rId2"/>
                <a:stretch>
                  <a:fillRect b="-1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0F208-1CD1-07EA-49A5-774039E25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328" y="4549409"/>
            <a:ext cx="3377072" cy="20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7239-FA66-9713-6946-2F3EB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CB9A2-3862-18E6-1F69-8020EC5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B0339-8FD6-C7DD-1121-128D7E2E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/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/>
                  <a:t> 수평축을 기준으로</a:t>
                </a:r>
                <a:r>
                  <a:rPr lang="en-US" altLang="ko-KR" sz="1600" dirty="0"/>
                  <a:t> A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누리는 </a:t>
                </a:r>
                <a:r>
                  <a:rPr lang="ko-KR" altLang="en-US" sz="1600" dirty="0" err="1"/>
                  <a:t>한계편익이며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의 수평축을 기준으로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누리는 한계편익이다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공공재 생산의 단위비용이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원이라고 하였으므로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점에서는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/>
                  <a:t>의 한계편익의 합이 공공재 생산의 한계비용과 일치하게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앞서 배운 공공재 적정배분의 조건을 충족한다</a:t>
                </a:r>
                <a:r>
                  <a:rPr lang="en-US" altLang="ko-KR" sz="1600" dirty="0"/>
                  <a:t>. (</a:t>
                </a:r>
                <a:r>
                  <a:rPr lang="en-US" altLang="ko-KR" sz="1600" b="1" spc="-50" dirty="0"/>
                  <a:t>A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+ B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= </a:t>
                </a:r>
                <a:r>
                  <a:rPr lang="ko-KR" altLang="en-US" sz="1600" b="1" spc="-50" dirty="0"/>
                  <a:t>한계비용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𝑴𝑪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</a:t>
                </a:r>
                <a:r>
                  <a:rPr lang="en-US" altLang="ko-KR" sz="160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방금 배운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앞서 살펴본 </a:t>
                </a:r>
                <a:r>
                  <a:rPr lang="ko-KR" altLang="en-US" sz="1600" dirty="0" err="1"/>
                  <a:t>새무엘슨</a:t>
                </a:r>
                <a:r>
                  <a:rPr lang="ko-KR" altLang="en-US" sz="1600" dirty="0"/>
                  <a:t> 모형은 소비자들이 공공재에 대한 진정한 선호를 표출한다는 비현실적인 가정을 전제로 한다는 한계점이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blipFill>
                <a:blip r:embed="rId2"/>
                <a:stretch>
                  <a:fillRect r="-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928CCA6-FE01-92F5-D603-30D48FDD0CA5}"/>
              </a:ext>
            </a:extLst>
          </p:cNvPr>
          <p:cNvSpPr txBox="1"/>
          <p:nvPr/>
        </p:nvSpPr>
        <p:spPr>
          <a:xfrm>
            <a:off x="4526388" y="376246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2D6B2C-8478-BE65-60FF-AFA5E8BD1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482" y="3977640"/>
            <a:ext cx="4273758" cy="25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866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23A55-B2CF-4AC9-7398-A8FB3D7E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780F4-A8B2-BB2A-486E-06BBF9F2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C8487B-3DE7-FDC4-095E-60FFC194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91C15-C4FF-8D80-55ED-FB4051CD54C5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 살펴본 </a:t>
            </a:r>
            <a:r>
              <a:rPr lang="ko-KR" altLang="en-US" sz="1600" dirty="0" err="1"/>
              <a:t>새무엘슨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모형은 각 개인이 공공재에 대한 진정한 선호를 표출한다는 비현실적인 가정을 전제로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현실에서 사람들은 공공재의 혜택을 원하면서도 그 비용은 부담하지 않으려는 현상이 나타날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비용 부담을 회피하고자 자신은 공공재를 원하지 않는다고 말해 놓고</a:t>
            </a:r>
            <a:r>
              <a:rPr lang="en-US" altLang="ko-KR" sz="1600" dirty="0"/>
              <a:t>, </a:t>
            </a:r>
            <a:r>
              <a:rPr lang="ko-KR" altLang="en-US" sz="1600" dirty="0"/>
              <a:t>공공재가 다른 사람에 의해 공급되면 이에 편승하고자 하는 경향이 나타날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위와 같은 문제를 무임승차자의 문제라고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사적재화의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어떤 소비자가 자신의 진정한 선호를 왜곡하여 표출한다고 해도 이득을 볼 여지가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사실은 컴퓨터를 사고 싶은데</a:t>
            </a:r>
            <a:r>
              <a:rPr lang="en-US" altLang="ko-KR" sz="1600" dirty="0"/>
              <a:t>, </a:t>
            </a:r>
            <a:r>
              <a:rPr lang="ko-KR" altLang="en-US" sz="1600" dirty="0"/>
              <a:t>컴퓨터 판매자에게 컴퓨터를 원하지 않는다고 말해봤지 아무런 일이 발생하지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대부분의 사람들이 무임승차를 시도하면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자발적인 합의에 의해 결정한 공공재의 수준은 앞서 설명한 공공재의 적정수준만큼 공급될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국방회사</a:t>
            </a:r>
            <a:r>
              <a:rPr lang="en-US" altLang="ko-KR" sz="1600" dirty="0"/>
              <a:t>, </a:t>
            </a:r>
            <a:r>
              <a:rPr lang="ko-KR" altLang="en-US" sz="1600" dirty="0"/>
              <a:t>경찰회사와 같이 민간회사가 공공재</a:t>
            </a:r>
            <a:r>
              <a:rPr lang="en-US" altLang="ko-KR" sz="1600" dirty="0"/>
              <a:t>(</a:t>
            </a:r>
            <a:r>
              <a:rPr lang="ko-KR" altLang="en-US" sz="1600" dirty="0"/>
              <a:t>국방</a:t>
            </a:r>
            <a:r>
              <a:rPr lang="en-US" altLang="ko-KR" sz="1600" dirty="0"/>
              <a:t> </a:t>
            </a:r>
            <a:r>
              <a:rPr lang="ko-KR" altLang="en-US" sz="1600" dirty="0"/>
              <a:t>및 치안</a:t>
            </a:r>
            <a:r>
              <a:rPr lang="en-US" altLang="ko-KR" sz="1600" dirty="0"/>
              <a:t>)</a:t>
            </a:r>
            <a:r>
              <a:rPr lang="ko-KR" altLang="en-US" sz="1600" dirty="0"/>
              <a:t>를 공급한다면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이 회사들이 제공하는 서비스를 구입하려 하는 사람은 거의 없을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이 사회에서 국방 및 경찰서비스가 적정한 수준으로 공급되는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241359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5AC2-A82B-6B45-24E6-2C05471D1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76369-84F5-F2AD-1D3A-91024ED3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DBFC3D-F1EA-760C-C026-937AD4D0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E555C-9788-03A1-A147-0F57283BA003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무임승차 문제로 인해 정부가 공공재를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공급을 담당해야 한다는 주장이 있을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 정부가 사람들의 공공재에 대한 선호를 알아내고 강제력을 이용해 생산비용을 거둠으로써 무임승차 문제를 해결할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정부가 주요 공공재의 공급을 도맡아 하고 있는 현실을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주장은 대단히 설득력이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무임승차 문제는 하나의 가설일 뿐이고</a:t>
            </a:r>
            <a:r>
              <a:rPr lang="en-US" altLang="ko-KR" sz="1600" dirty="0"/>
              <a:t>, ‘</a:t>
            </a:r>
            <a:r>
              <a:rPr lang="ko-KR" altLang="en-US" sz="1600" dirty="0"/>
              <a:t>사실</a:t>
            </a:r>
            <a:r>
              <a:rPr lang="en-US" altLang="ko-KR" sz="1600" dirty="0"/>
              <a:t>’ </a:t>
            </a:r>
            <a:r>
              <a:rPr lang="ko-KR" altLang="en-US" sz="1600" dirty="0"/>
              <a:t>그 자체는 아니라는 데 유의해야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다시 말해 무임승차자 현상이 나타날 가능성이 있다고 말할 뿐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반드시 그런 문제가 발생하는 것은 아니다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민간</a:t>
            </a:r>
            <a:r>
              <a:rPr lang="en-US" altLang="ko-KR" sz="1600" dirty="0"/>
              <a:t>(</a:t>
            </a:r>
            <a:r>
              <a:rPr lang="ko-KR" altLang="en-US" sz="1600" dirty="0"/>
              <a:t>개인</a:t>
            </a:r>
            <a:r>
              <a:rPr lang="en-US" altLang="ko-KR" sz="1600" dirty="0"/>
              <a:t>)</a:t>
            </a:r>
            <a:r>
              <a:rPr lang="ko-KR" altLang="en-US" sz="1600" dirty="0"/>
              <a:t>이 설립한 박물관</a:t>
            </a:r>
            <a:r>
              <a:rPr lang="en-US" altLang="ko-KR" sz="1600" dirty="0"/>
              <a:t>, </a:t>
            </a:r>
            <a:r>
              <a:rPr lang="ko-KR" altLang="en-US" sz="1600" dirty="0"/>
              <a:t>도서관</a:t>
            </a:r>
            <a:r>
              <a:rPr lang="en-US" altLang="ko-KR" sz="1600" dirty="0"/>
              <a:t>, </a:t>
            </a:r>
            <a:r>
              <a:rPr lang="ko-KR" altLang="en-US" sz="1600" dirty="0"/>
              <a:t>연구소 등의 예를 보면 공공재라고 해서 반드시 무임승차자의 문제가 발생하지는 않는다는 사실을 알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1913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E796-C254-7B61-33C8-DD6F75A7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4D93-7665-6649-24F5-6F82AC7B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BD3F3-3A85-59F6-61DB-88F6B765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CA2D2-E9E0-60B4-5532-FF16C526C5A2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공공재에 관하여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사람들은 자신에게 더 유리한 결과를 가져오도록 서로 간에 일종의 게임을 하고 있는 상황이라고 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</a:t>
            </a:r>
            <a:r>
              <a:rPr lang="en-US" altLang="ko-KR" sz="1600" dirty="0"/>
              <a:t>, </a:t>
            </a:r>
            <a:r>
              <a:rPr lang="ko-KR" altLang="en-US" sz="1600" dirty="0"/>
              <a:t>사람들은 대화와 협상을 통해 사회적으로 적정한 수준의 공공재가 생산되도록 합의할 가능성도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 마을에 살고 있는 김씨와 박씨 두 사람이 마을에 홍수방지시설을 해야 할 것인지 논의하고 있다고 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각자 홍수방지시설의 설치비용을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부담하거나 혹은 전혀 부담하지 않는 두 가지 전략을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사람이 각각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부담하여 홍수방지시설을 완벽히 갖추면</a:t>
            </a:r>
            <a:r>
              <a:rPr lang="en-US" altLang="ko-KR" sz="1600" dirty="0"/>
              <a:t>,</a:t>
            </a:r>
            <a:r>
              <a:rPr lang="ko-KR" altLang="en-US" sz="1600" dirty="0"/>
              <a:t> 각자 </a:t>
            </a:r>
            <a:r>
              <a:rPr lang="en-US" altLang="ko-KR" sz="1600" dirty="0"/>
              <a:t>1</a:t>
            </a:r>
            <a:r>
              <a:rPr lang="ko-KR" altLang="en-US" sz="1600" dirty="0"/>
              <a:t>천 </a:t>
            </a:r>
            <a:r>
              <a:rPr lang="en-US" altLang="ko-KR" sz="1600" dirty="0"/>
              <a:t>5</a:t>
            </a:r>
            <a:r>
              <a:rPr lang="ko-KR" altLang="en-US" sz="1600" dirty="0"/>
              <a:t>백만원의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 사람만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천만원을 부담하면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 </a:t>
            </a:r>
            <a:r>
              <a:rPr lang="en-US" altLang="ko-KR" sz="1600" dirty="0"/>
              <a:t>7</a:t>
            </a:r>
            <a:r>
              <a:rPr lang="ko-KR" altLang="en-US" sz="1600" dirty="0"/>
              <a:t>백</a:t>
            </a:r>
            <a:r>
              <a:rPr lang="en-US" altLang="ko-KR" sz="1600" dirty="0"/>
              <a:t> 5</a:t>
            </a:r>
            <a:r>
              <a:rPr lang="ko-KR" altLang="en-US" sz="1600" dirty="0"/>
              <a:t>십만원의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아무도 홍수방지지설 비용을 부담하지 않으면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각자의 혜택은 </a:t>
            </a:r>
            <a:r>
              <a:rPr lang="en-US" altLang="ko-KR" sz="1600" dirty="0"/>
              <a:t>0</a:t>
            </a:r>
            <a:r>
              <a:rPr lang="ko-KR" altLang="en-US" sz="1600" dirty="0"/>
              <a:t>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계속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7763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8095-62BB-EF9E-CD43-EFC7ECCD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BB20A-A14D-6C46-42A1-F7607CB0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2EF70-934D-E5C8-79B2-9BD740AD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41558-F52D-2CC8-036F-0C425CBF654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상황은 아래의 표와 같이 보수행렬로 정리할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괄호 안의 숫자는 각자 전략에 따라 얻는 순편익을 의미한다</a:t>
            </a:r>
            <a:r>
              <a:rPr lang="en-US" altLang="ko-KR" sz="1600" dirty="0"/>
              <a:t>. (</a:t>
            </a:r>
            <a:r>
              <a:rPr lang="ko-KR" altLang="en-US" sz="1600" dirty="0"/>
              <a:t>김씨의 </a:t>
            </a:r>
            <a:r>
              <a:rPr lang="ko-KR" altLang="en-US" sz="1600" dirty="0" err="1"/>
              <a:t>순편익</a:t>
            </a:r>
            <a:r>
              <a:rPr lang="en-US" altLang="ko-KR" sz="1600" dirty="0"/>
              <a:t>, </a:t>
            </a:r>
            <a:r>
              <a:rPr lang="ko-KR" altLang="en-US" sz="1600" dirty="0"/>
              <a:t>박씨의 </a:t>
            </a:r>
            <a:r>
              <a:rPr lang="ko-KR" altLang="en-US" sz="1600" dirty="0" err="1"/>
              <a:t>순편익</a:t>
            </a:r>
            <a:r>
              <a:rPr lang="ko-KR" altLang="en-US" sz="1600" dirty="0"/>
              <a:t> 순서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게임에서는 아무도 비용을 부담하지 않는 것이 우월전략이 됨을 알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상대가 부담을 하던 </a:t>
            </a:r>
            <a:r>
              <a:rPr lang="ko-KR" altLang="en-US" sz="1600" dirty="0" err="1"/>
              <a:t>안하던</a:t>
            </a:r>
            <a:r>
              <a:rPr lang="en-US" altLang="ko-KR" sz="1600" dirty="0"/>
              <a:t>, </a:t>
            </a:r>
            <a:r>
              <a:rPr lang="ko-KR" altLang="en-US" sz="1600" dirty="0"/>
              <a:t>나는 부담을 </a:t>
            </a:r>
            <a:r>
              <a:rPr lang="ko-KR" altLang="en-US" sz="1600" dirty="0" err="1"/>
              <a:t>안하는</a:t>
            </a:r>
            <a:r>
              <a:rPr lang="ko-KR" altLang="en-US" sz="1600" dirty="0"/>
              <a:t> 경우의 혜택이 더 크다는 것을 확인해보라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앞서 게임에서는 홍수방지시설을 설치 하지 않을 가능성이 제일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두 사람 모두 비용부담을 통해 홍수방지시설을 갖추는 것이 두 사람 모두에게 큰 편익을 가져다 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정부의 개입은 이와 같은 딜레마 상황을 타개하고 협조적인 해결책을 모색해주는 차원에서 의미가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8" name="표 3">
            <a:extLst>
              <a:ext uri="{FF2B5EF4-FFF2-40B4-BE49-F238E27FC236}">
                <a16:creationId xmlns:a16="http://schemas.microsoft.com/office/drawing/2014/main" id="{348F838E-5C0E-9011-8CAE-97DB6AC6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56775"/>
              </p:ext>
            </p:extLst>
          </p:nvPr>
        </p:nvGraphicFramePr>
        <p:xfrm>
          <a:off x="2028690" y="3209106"/>
          <a:ext cx="6485469" cy="7453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6182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634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14139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(500, 500)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(-250, 750)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1753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(750, -250)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(0, 0)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AD016E-5746-EEB1-AE32-36CA72CC5CBC}"/>
              </a:ext>
            </a:extLst>
          </p:cNvPr>
          <p:cNvSpPr txBox="1"/>
          <p:nvPr/>
        </p:nvSpPr>
        <p:spPr>
          <a:xfrm>
            <a:off x="5855111" y="287087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박씨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486B7-AF4A-F9E5-33C6-4025D075FEA9}"/>
              </a:ext>
            </a:extLst>
          </p:cNvPr>
          <p:cNvSpPr txBox="1"/>
          <p:nvPr/>
        </p:nvSpPr>
        <p:spPr>
          <a:xfrm>
            <a:off x="1171440" y="356937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김씨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5540635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7A28C-73F4-46BB-EB51-6979A9BB5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E113E-6425-EF78-6FD1-5DD3CA2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지금까지 </a:t>
                </a:r>
                <a:r>
                  <a:rPr lang="ko-KR" altLang="en-US" sz="1600" dirty="0" err="1"/>
                  <a:t>살펴본대로</a:t>
                </a:r>
                <a:r>
                  <a:rPr lang="ko-KR" altLang="en-US" sz="1600" dirty="0"/>
                  <a:t> 시장이 공공재를 적절히 배분하지 못하기 때문에 공공부문이 이 일을 맡게 되었다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나아가 공공부문이 이 일을 맡아도 무임승차 문제를 피하기 위해서는 소비자들의 수요를 정확하게 파악해야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소비자들이 전략적으로 수요를 표출한다면 사회적으로 적절한 공공재 배분이 이루어지지 못하기 때문이다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사람들로 하여금 공공재에 대한 진정한 선호를 표출하도록 유도하는 </a:t>
                </a:r>
                <a:r>
                  <a:rPr lang="ko-KR" altLang="en-US" sz="1600" dirty="0" err="1"/>
                  <a:t>수요표출기구</a:t>
                </a:r>
                <a:r>
                  <a:rPr lang="en-US" altLang="ko-KR" sz="1600" dirty="0"/>
                  <a:t>(demand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revelation mechanism)</a:t>
                </a:r>
                <a:r>
                  <a:rPr lang="ko-KR" altLang="en-US" sz="1600" dirty="0"/>
                  <a:t>가 필요하다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 err="1"/>
                  <a:t>수요표출기구의</a:t>
                </a:r>
                <a:r>
                  <a:rPr lang="ko-KR" altLang="en-US" sz="1600" dirty="0"/>
                  <a:t> 기본적인 접근법은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모든 사람으로 하여금 공공재에 대한 선호를 표출하게 만든 뒤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특정 공식에 의해 적정한 공공재의 수준과 각자가 내야 할 세금의 몫을 결정한다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dirty="0"/>
                  <a:t>명의 사람들에게 어떤 공공재에 대한 선호를 물었는데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dirty="0"/>
                  <a:t>번째 사람이 그것에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600" dirty="0"/>
                  <a:t>는 가치를 부여한다고 대답했다고 하자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여기서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spc="-100" dirty="0"/>
                  <a:t>는 그 공공재의 양을 뜻하며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이 함수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의 값은 그 사람이 각 공공재의 양에 대해 부여하는 가치를 뜻한다</a:t>
                </a:r>
                <a:r>
                  <a:rPr lang="en-US" altLang="ko-KR" sz="1600" spc="-1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만약 정부가 공공재를 단위당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600" spc="-100" dirty="0"/>
                  <a:t>원의 비용으로 생산할 수 있다면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정부는 다음의 식을 극대화하는 공공재의 생산수준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을 선택한다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blipFill>
                <a:blip r:embed="rId2"/>
                <a:stretch>
                  <a:fillRect r="-261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/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𝑐𝑍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367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31164-7F07-A6E2-5B78-04596A09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A36B5-03BF-35D6-08C4-FF62259D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공공재 생산수준의 결정방식을 살펴보았는데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사람들이 보고한 공공재의 가치</a:t>
                </a:r>
                <a:r>
                  <a:rPr lang="en-US" altLang="ko-KR" sz="1600" spc="-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 </a:t>
                </a:r>
                <a:r>
                  <a:rPr lang="ko-KR" altLang="en-US" sz="1600" dirty="0"/>
                  <a:t>에 기초하고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즉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사람들이 본인이 느끼는 공공재의 가치를 정직하게 표출하지 않으면</a:t>
                </a:r>
                <a:r>
                  <a:rPr lang="en-US" altLang="ko-KR" sz="1600" spc="-100" dirty="0"/>
                  <a:t>,</a:t>
                </a:r>
                <a:r>
                  <a:rPr lang="ko-KR" altLang="en-US" sz="1600" spc="-100" dirty="0"/>
                  <a:t> 정부는 최적 생산수준을 선택할 수 없다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그러므로 적절한 방식으로 조세를 부과하여 사람들이 본인의 공공재에 대한 선호를 정직하게 표출할 수 있도록 유도해야 한다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아래 식에 의해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부담해야 할 조세의 크기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를 결정하면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사람들은 전략적으로 행동할 유인이 없어진다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위 식에서 우변의 마지막 항에 나오는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100" dirty="0"/>
                  <a:t>는 임의의 함수이고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는 각 사람이 표출한 공공재에 대한 선호를 모두 모은 뒤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표출한 선호만을 제외하고 만든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100" dirty="0"/>
                  <a:t>차원의 벡터를 뜻한다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 식에서 가장 중요한 점은 어떤 사람이 부담해야 할 세금의 크기는 남들이 표출한 선호에만 의존하며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자신이 표출한 선호와는 무관하게 결정된다는 점이다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이러한 </a:t>
                </a:r>
                <a:r>
                  <a:rPr lang="ko-KR" altLang="en-US" sz="1600" spc="-100" dirty="0" err="1"/>
                  <a:t>수요표출기구</a:t>
                </a:r>
                <a:r>
                  <a:rPr lang="en-US" altLang="ko-KR" sz="1600" spc="-100" dirty="0"/>
                  <a:t> (</a:t>
                </a:r>
                <a:r>
                  <a:rPr lang="ko-KR" altLang="en-US" sz="1600" spc="-100" dirty="0"/>
                  <a:t>혹은 메커니즘</a:t>
                </a:r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하에서는 각자가 진정한 선호를 표출하는 것이 우월 전략이 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blipFill>
                <a:blip r:embed="rId2"/>
                <a:stretch>
                  <a:fillRect r="-573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/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3734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A9985-B0A2-985B-75B0-DE0A596B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BE949-D0F3-8E4D-FB38-7692E9A1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7A696-0A06-79F7-2B40-B81FAEDACF19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수요표출기구처럼</a:t>
            </a:r>
            <a:r>
              <a:rPr lang="ko-KR" altLang="en-US" sz="1600" spc="-100" dirty="0"/>
              <a:t> 공공재에 대한 진정한 선호를 표출하도록 유도하는 방법은 아니지만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간접적으로 공공재에 대한 수요를 추정하는 방법도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방법은 공공재와 사적재화 사이에 존재하는 보완성에 착안하여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소비자가 사적재화에 대해 표출한 선호를 통해 공공재에 대한 수요를 추정하는 것을 기본 아이디로 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예를 들면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이용하기 위해서는 특별한 장비가 필요하다고 하자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 때 그 장비는 </a:t>
            </a:r>
            <a:r>
              <a:rPr lang="ko-KR" altLang="en-US" sz="1600" spc="-100" dirty="0" err="1"/>
              <a:t>사적재화이기</a:t>
            </a:r>
            <a:r>
              <a:rPr lang="ko-KR" altLang="en-US" sz="1600" spc="-100" dirty="0"/>
              <a:t> 때문에 소비자는 진정한 수요를 표출할 수 밖에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소비자는 그 장비를 구매함으로써 국립공원에 대한 선호를 자신도 모르게 표출하게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 장비의 시장자료를 모은 뒤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이론적 방법론을 통해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에 대한 수요를 추출할 수 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다만 위의 방법은 공공재와 강한 보완성을 갖는 사적재화가 존재하는 특수한 경우에만 적용 가능하다는 한계가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현실에서는 위와 같은 예시를 찾기 힘들다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614456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ED90E-BB64-4240-CF48-5A59A130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F724A-9B27-0F26-BFF9-ECD15D13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35D13-3623-314E-541B-C78C83DABE44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전통적 경제이론의 기본가정이</a:t>
            </a:r>
            <a:r>
              <a:rPr lang="en-US" altLang="ko-KR" sz="1600" spc="-100" dirty="0"/>
              <a:t> (‘</a:t>
            </a:r>
            <a:r>
              <a:rPr lang="ko-KR" altLang="en-US" sz="1600" spc="-100" dirty="0"/>
              <a:t>모든 인간이 이기적이고 합리적이다</a:t>
            </a:r>
            <a:r>
              <a:rPr lang="en-US" altLang="ko-KR" sz="1600" spc="-100" dirty="0"/>
              <a:t>’)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대한 무임승차가 일어나는 것은 당연하다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현실에서 인간은 완벽하게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또 합리적이라고 단정지을 수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행태경제이론은 위와 같은 전통적 경제이론의 기본가정에 의문을 제기하고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인간은 언제나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합리적이지 않기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관련해 무임승차 문제가 항상 발생하는 것은 아니라는 주장이다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2519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CFD6-7FD1-919A-2343-2DCD81E95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5E945-881F-CCBA-C70D-49B3FFC9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공급주체의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2EB6F-07F2-5F3C-B0C8-807011299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EF03E-2B3C-2D1E-7735-6847382960A9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시장이 공공재를 적절히 배분하지 못하기 때문에 정부의 적극적 역할을 기대할 수 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정부의 개입은 나름대로 문제를 일으킬 수 있는 측면이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만약 정부가 개입하지 않고 민간부문이 자발적으로 공급하는 쪽이 더 효율적이라면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구태여 정부가 나설 필요는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결국 공공재 공급의 주체가 공공부문이어야 하는지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혹은 민간부문이어야 하는 지의 문제는 아래와 같은 측면을 고려해야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첫째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 생산을 위해 사용되는 노동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원자재에 대해 두 부문이 서로 다른 가격을 지불한다면</a:t>
            </a:r>
            <a:r>
              <a:rPr lang="en-US" altLang="ko-KR" sz="1600" spc="-100" dirty="0"/>
              <a:t>,  </a:t>
            </a:r>
            <a:r>
              <a:rPr lang="ko-KR" altLang="en-US" sz="1600" spc="-100" dirty="0"/>
              <a:t>이 같이 상대적 비용 격차가 하나의 고려기준이 될 수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공공재를 더 저렴한 비용으로 공급할 수 있는 쪽이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공공재를 생산해야 한다는 뜻이다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둘째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국민의 다양한 선호에 적절히 부응할 수 있는지가 또 하나의 고려기준이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공공부문이 공급주체가 되면 관료조직의 특성상 다양한 서비스보다는 획일적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행정편의적 공급이 될 가능성이 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셋째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분배적인 측면을 고려해 공급 주체를 생각해볼 필요가 있다</a:t>
            </a:r>
            <a:r>
              <a:rPr lang="en-US" altLang="ko-KR" sz="1600" spc="-1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어떤 공공재는 그 속성상 사회 구성원 모두에게 골고루 분배되는 것이 바람직하다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예 초등교육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재난경보</a:t>
            </a:r>
            <a:r>
              <a:rPr lang="en-US" altLang="ko-KR" sz="1600" spc="-10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한 가지 짚어야 할 사실은 공공부문이 공급의 주체가 되어야 하는 경우라 할지라도 생산과정까지 공공부문이 도맡아야 할 필요는 없다는 점이다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관료는 이윤동기 같은 확실한 유인이 없으므로 생산과정에서 비효율성을 보일 수 있다는 뜻이다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민간부문이 생산과정을 담당하고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공공부문은 공급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배분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과정만을 책임지는 방안도 고려할 수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686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9B73D-5C19-0CE5-37AA-C88A742E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4C6C5A-6B5F-7082-94E6-F54304A6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D3A1D-E1DF-D274-6F08-B63F75C0BAD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애초에 민간부문이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공급하고 있을 때 정부가 그것의 공급량을 늘린다면 민간부문은 어떤 반응을 보일까</a:t>
            </a:r>
            <a:r>
              <a:rPr lang="en-US" altLang="ko-KR" sz="1600" spc="-10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예를 들어 정부가 도서관을 추가로 공급할 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민간부문이 운영하는 도서관의 수는 종전에 비해 줄어들까</a:t>
            </a:r>
            <a:r>
              <a:rPr lang="en-US" altLang="ko-KR" sz="1600" spc="-10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중립성정리 이론에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공급을 늘리면 민간부문의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공급은 정부가 늘린 양만큼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즉 정부의 공공재 공급 증가가 민간의 공공재 공급을 완벽히 구축</a:t>
            </a:r>
            <a:r>
              <a:rPr lang="en-US" altLang="ko-KR" sz="1600" spc="-100" dirty="0"/>
              <a:t>(crowd-out)</a:t>
            </a:r>
            <a:r>
              <a:rPr lang="ko-KR" altLang="en-US" sz="1600" spc="-100" dirty="0"/>
              <a:t>한다는 뜻이다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중립성 정리 이론은 아래의 논리에 근거하고 있다</a:t>
            </a:r>
            <a:r>
              <a:rPr lang="en-US" altLang="ko-KR" sz="1600" spc="-100" dirty="0"/>
              <a:t>: </a:t>
            </a:r>
            <a:r>
              <a:rPr lang="ko-KR" altLang="en-US" sz="1600" spc="-100" dirty="0"/>
              <a:t>민간을 대표하는 어떤 한 개인이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사적재화의 일정한 조합을 소비함으로써 효용을 극대화 하고 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바로 이 수준의 공공재가 공급되도록 만들기 위해 세금을 내는 동시에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생산하기도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정부가 공공재 생산을 늘리기 위해 그 개인에게 더 많은 세금을 거두기로 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늘어난 세금이 공공재의 추가적 공급에 사용될 것임을 알고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생산하는 공공재의 양을 바로 그만큼 줄이기로 결정하게 된다</a:t>
            </a:r>
            <a:r>
              <a:rPr lang="en-US" altLang="ko-KR" sz="1600" spc="-1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이러한 결정은 종전의 공공재와 사적재화의 조합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효용이 극대화 되는 조합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을 계속해서 선택할 수 있게끔 만들어준다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현실에서는 이러한 중립성정리가 그대로 성립할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모든 납세자가 스스로 어느 정도의 공공재를 공급하고 있음을 가정하고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공급하는 사람은 거의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개인이 공공재를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행위로부터 효용을 얻고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공급을 늘린다고 해서 자신의 생산을 줄일 유인이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06619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14249-6110-8003-7B6B-39CC92DD9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C9E0D-216D-67F8-7E3E-EC1DC4B2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DC2AC-6D34-96A9-0A2A-A9892A567CFE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안드레오니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(J. Andreoni, 199)</a:t>
            </a:r>
            <a:r>
              <a:rPr lang="ko-KR" altLang="en-US" sz="1600" spc="-100" dirty="0"/>
              <a:t>은 기부금을 민간이 공급하는 공공재의 일종으로 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현실에서의 중립성정리를 검토하였다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기부금의 동기가 순수한 이타심이라면 중립성정리가 성립할 것이라고 말한다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이타적인 사람의 효용은 가난한 사람의 소비수준에 영향을 받을 텐데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가난한 사람을 돕는다면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이타적인 사람 본인이 기부할 필요가 그만큼 줄어들기 때문이다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따라서 가난한 사람에 대한 정부지출의 증가는 바로 그만큼의 기부감소로 이어지는 구축효과가 발생하게 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하지만 현실에서 사람들이 기부금을 내는 데는 다른 동기가 더 큰 역할을 하고 있을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안드레오니는</a:t>
            </a:r>
            <a:r>
              <a:rPr lang="ko-KR" altLang="en-US" sz="1600" spc="-100" dirty="0"/>
              <a:t> 기부금을 내는 행위 그 자체가 만족감을 줄 수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그렇다면 기부행위는 순수한 이기심으로 인해 발생하는 것일 수 있다고 지적한다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이처럼 민간이 어떤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동기가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자신의 만족감에 있다고 보는 것이 만족감 가설이다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만족감 가설이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앞서 말한 중립성정리에 의한 구축효과는 전혀 발생하지 않는다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실증연구에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구축효과의 정도가 완벽하지는 않은 것으로 나타났다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킹마</a:t>
            </a:r>
            <a:r>
              <a:rPr lang="en-US" altLang="ko-KR" sz="1600" spc="-100" dirty="0"/>
              <a:t>(B. Kingma, 1989)</a:t>
            </a:r>
            <a:r>
              <a:rPr lang="ko-KR" altLang="en-US" sz="1600" spc="-100" dirty="0"/>
              <a:t>에 따르면 공공재 공급량이 </a:t>
            </a:r>
            <a:r>
              <a:rPr lang="en-US" altLang="ko-KR" sz="1600" spc="-100" dirty="0"/>
              <a:t>100</a:t>
            </a:r>
            <a:r>
              <a:rPr lang="ko-KR" altLang="en-US" sz="1600" spc="-100" dirty="0"/>
              <a:t>만큼 늘어날 때 민간의 공급은 </a:t>
            </a:r>
            <a:r>
              <a:rPr lang="en-US" altLang="ko-KR" sz="1600" spc="-100" dirty="0"/>
              <a:t>14</a:t>
            </a:r>
            <a:r>
              <a:rPr lang="ko-KR" altLang="en-US" sz="1600" spc="-100" dirty="0"/>
              <a:t>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다른 대부분의 연구 또한 민간부문의 공급은 </a:t>
            </a:r>
            <a:r>
              <a:rPr lang="en-US" altLang="ko-KR" sz="1600" spc="-100" dirty="0"/>
              <a:t>30</a:t>
            </a:r>
            <a:r>
              <a:rPr lang="ko-KR" altLang="en-US" sz="1600" spc="-100" dirty="0"/>
              <a:t>보다 적은 폭으로 줄어든다고 보고하고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5985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ECF6B-B935-B328-8281-16819267E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공공재와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127B31-5090-0761-4131-E25A8F150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1449-6677-BF39-192C-F9800D5E64C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 논의는 공공재의 배분과 관련된 이론적 측면에 치중하였다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이론적으로 도출된 공공재의 적정배분이 현실에서 그대로 실현될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 공공부문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즉 정부가 공공재의 배분에 관한 결정을 내릴 때는 공공선택이라고 부르는 집단의사결정 과정을 거친다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과정에서 여러 주체들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일반국민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정치가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관료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이익집단 등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이득을 위해 행동한다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스미스 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는 개인이 자신의 이익만을 위해 행동해도 시장의 보이지 않는 손이 작동하여 공익으로 이끌어 간다고 하였지만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현실의 공공선택 과정에서는 이러한 이상적인 결과를 기대하기는 힘들다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다음 장에서부터 바로 이 공공선택의 과정에 초점을 맞추어 보자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7996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8298</TotalTime>
  <Words>5457</Words>
  <Application>Microsoft Office PowerPoint</Application>
  <PresentationFormat>와이드스크린</PresentationFormat>
  <Paragraphs>529</Paragraphs>
  <Slides>50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XXXXXXXXXXXXXXXXXXXXXXXXXXXXXXXXXXXXXXXXXXXXXX</vt:lpstr>
      <vt:lpstr>Section 3. 과반수제하에서의 정치적 균형</vt:lpstr>
      <vt:lpstr>Section 4. 대의민주제하의 공공선택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린달균형</vt:lpstr>
      <vt:lpstr>Section 4. 무임승차자의 문제</vt:lpstr>
      <vt:lpstr>무임승차 문제</vt:lpstr>
      <vt:lpstr>무임승차 문제</vt:lpstr>
      <vt:lpstr>협상가능성의 존재</vt:lpstr>
      <vt:lpstr>협상가능성의 존재</vt:lpstr>
      <vt:lpstr>수요표출기구</vt:lpstr>
      <vt:lpstr>수요표출기구</vt:lpstr>
      <vt:lpstr>수요표출기구</vt:lpstr>
      <vt:lpstr>공공재게임-행태경제이론적 관점</vt:lpstr>
      <vt:lpstr>Section 5. 공공재의 다른 측면</vt:lpstr>
      <vt:lpstr>공급주체의 문제</vt:lpstr>
      <vt:lpstr>중립성 정리</vt:lpstr>
      <vt:lpstr>중립성 정리</vt:lpstr>
      <vt:lpstr>공공재와 공공선택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240</cp:revision>
  <dcterms:created xsi:type="dcterms:W3CDTF">2025-07-05T05:15:23Z</dcterms:created>
  <dcterms:modified xsi:type="dcterms:W3CDTF">2026-01-13T02:38:09Z</dcterms:modified>
</cp:coreProperties>
</file>