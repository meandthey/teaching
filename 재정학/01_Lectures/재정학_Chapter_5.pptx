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33" r:id="rId14"/>
    <p:sldId id="641" r:id="rId15"/>
    <p:sldId id="645" r:id="rId16"/>
    <p:sldId id="646" r:id="rId17"/>
    <p:sldId id="647" r:id="rId18"/>
    <p:sldId id="648" r:id="rId19"/>
    <p:sldId id="649" r:id="rId20"/>
    <p:sldId id="634" r:id="rId21"/>
    <p:sldId id="644" r:id="rId22"/>
    <p:sldId id="650" r:id="rId23"/>
    <p:sldId id="651" r:id="rId24"/>
    <p:sldId id="652" r:id="rId25"/>
    <p:sldId id="653" r:id="rId26"/>
    <p:sldId id="654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공공선택의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사람이 모여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직접 참여하는 직접민주제 방식을 채택할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대표를 선출하고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대표로 하여금 의사결정을 하게 만드는 간접민주제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대의민주제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방식은 </a:t>
            </a:r>
            <a:r>
              <a:rPr lang="en-US" altLang="ko-KR" sz="1600" spc="-50" dirty="0"/>
              <a:t>Section 3 </a:t>
            </a:r>
            <a:r>
              <a:rPr lang="ko-KR" altLang="en-US" sz="1600" spc="-50" dirty="0"/>
              <a:t>에서 다룬다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심지어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최적을 달성한다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의사결정비용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본인이 손해를 본다고 느끼는 사람에게 발생하는 비용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4029383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6864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60" dirty="0"/>
              <a:t>6</a:t>
            </a:r>
            <a:r>
              <a:rPr lang="ko-KR" altLang="en-US" sz="1600" spc="-60" dirty="0"/>
              <a:t>명으로 구성된 어떤 조합이 있는데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조합장을 영입하기로 하였고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세 명의 후보자 </a:t>
            </a:r>
            <a:r>
              <a:rPr lang="en-US" altLang="ko-KR" sz="1600" spc="-60" dirty="0"/>
              <a:t>(A, B, C)</a:t>
            </a:r>
            <a:r>
              <a:rPr lang="ko-KR" altLang="en-US" sz="1600" spc="-60" dirty="0"/>
              <a:t> 중 한 사람을 고르기로 했다</a:t>
            </a:r>
            <a:r>
              <a:rPr lang="en-US" altLang="ko-KR" sz="1600" spc="-6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투표자들이 본인의 선호에 따라 정직한 투표를 한다면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23</a:t>
            </a:r>
            <a:r>
              <a:rPr lang="ko-KR" altLang="en-US" sz="1600" spc="-50" dirty="0"/>
              <a:t>점으로 조합장으로 선출될 것이다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그런데 투표자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는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적극 지지하고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선출되기를 일체 희망하지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선출될 확률이 높다는 것을 미리 인지하고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이 때 투표자 </a:t>
            </a:r>
            <a:r>
              <a:rPr lang="en-US" altLang="ko-KR" sz="1600" spc="-80" dirty="0"/>
              <a:t>5</a:t>
            </a:r>
            <a:r>
              <a:rPr lang="ko-KR" altLang="en-US" sz="1600" spc="-80" dirty="0"/>
              <a:t>는 전략적으로</a:t>
            </a:r>
            <a:r>
              <a:rPr lang="en-US" altLang="ko-KR" sz="1600" spc="-80" dirty="0"/>
              <a:t>, </a:t>
            </a:r>
            <a:r>
              <a:rPr lang="ko-KR" altLang="en-US" sz="1600" spc="-80" dirty="0"/>
              <a:t>후보</a:t>
            </a:r>
            <a:r>
              <a:rPr lang="en-US" altLang="ko-KR" sz="1600" spc="-80" dirty="0"/>
              <a:t>A</a:t>
            </a:r>
            <a:r>
              <a:rPr lang="ko-KR" altLang="en-US" sz="1600" spc="-80" dirty="0"/>
              <a:t>가 선출되는 것을 막자는 의도에서 </a:t>
            </a:r>
            <a:r>
              <a:rPr lang="en-US" altLang="ko-KR" sz="1600" spc="-80" dirty="0"/>
              <a:t>10</a:t>
            </a:r>
            <a:r>
              <a:rPr lang="ko-KR" altLang="en-US" sz="1600" spc="-80" dirty="0"/>
              <a:t>점을 모두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에게 몰아주면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가 당선된다</a:t>
            </a:r>
            <a:r>
              <a:rPr lang="en-US" altLang="ko-KR" sz="1600" spc="-8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정직한 선호에 따르면 가장 낮은 점수를 받았을 후보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오히려 당선되는 바람직하지 못한 결과가 나타난다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229046"/>
              </p:ext>
            </p:extLst>
          </p:nvPr>
        </p:nvGraphicFramePr>
        <p:xfrm>
          <a:off x="2957921" y="3144848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2885151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0F46FAC-3241-2BE0-B8B7-AA6BC8C1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69"/>
          <a:stretch>
            <a:fillRect/>
          </a:stretch>
        </p:blipFill>
        <p:spPr>
          <a:xfrm>
            <a:off x="7991754" y="4086477"/>
            <a:ext cx="3394328" cy="20484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배운 과반수제가 채택된 상황에서는 어떤 정치적 균형이 나타날 것인지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정치적 균형이란 주어진 집단의사결정 과정에서 어떤 의제에 대해 합의가 이루어진 상태를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아래와 같은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A, B, C </a:t>
            </a:r>
            <a:r>
              <a:rPr lang="ko-KR" altLang="en-US" sz="1600" spc="-50" dirty="0"/>
              <a:t>라는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수준의 예산규모가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예산규모는 </a:t>
            </a:r>
            <a:r>
              <a:rPr lang="en-US" altLang="ko-KR" sz="1600" spc="-50" dirty="0"/>
              <a:t>A &gt; B &gt; C </a:t>
            </a:r>
            <a:r>
              <a:rPr lang="ko-KR" altLang="en-US" sz="1600" spc="-50" dirty="0"/>
              <a:t>순서로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X, Y, Z </a:t>
            </a:r>
            <a:r>
              <a:rPr lang="ko-KR" altLang="en-US" sz="1600" spc="-50" dirty="0"/>
              <a:t>세 투표자가 과반수제 방식으로 적절한 예산규모를 선택하기로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투표자의 선호는 아래와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X:   A &gt; B &gt; C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Y:   C &gt; B &gt; A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Z:   B &gt; C &gt; A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 아래와 같이 표결과정을 진행한다고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비교 순서를 어떻게 해도 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 </a:t>
            </a:r>
            <a:r>
              <a:rPr lang="ko-KR" altLang="en-US" sz="1600" spc="-50" dirty="0" err="1"/>
              <a:t>되는건</a:t>
            </a:r>
            <a:r>
              <a:rPr lang="ko-KR" altLang="en-US" sz="1600" spc="-50" dirty="0"/>
              <a:t> 마찬가지이다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F55DE-9373-57BA-B95F-CE0C0C9A4D1F}"/>
              </a:ext>
            </a:extLst>
          </p:cNvPr>
          <p:cNvSpPr txBox="1"/>
          <p:nvPr/>
        </p:nvSpPr>
        <p:spPr>
          <a:xfrm>
            <a:off x="7686605" y="4483805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141C9-42B3-B7A3-8578-0BCBCB74BE09}"/>
              </a:ext>
            </a:extLst>
          </p:cNvPr>
          <p:cNvSpPr txBox="1"/>
          <p:nvPr/>
        </p:nvSpPr>
        <p:spPr>
          <a:xfrm>
            <a:off x="7686605" y="4820880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54948-3DA9-9610-8FF2-3C80960B0721}"/>
              </a:ext>
            </a:extLst>
          </p:cNvPr>
          <p:cNvSpPr txBox="1"/>
          <p:nvPr/>
        </p:nvSpPr>
        <p:spPr>
          <a:xfrm>
            <a:off x="7686605" y="5181444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68207-EB34-D341-7C2C-7EA89C56B53B}"/>
              </a:ext>
            </a:extLst>
          </p:cNvPr>
          <p:cNvSpPr txBox="1"/>
          <p:nvPr/>
        </p:nvSpPr>
        <p:spPr>
          <a:xfrm>
            <a:off x="7392024" y="3844049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64274-4517-1CCD-FD55-EAF437C079C5}"/>
              </a:ext>
            </a:extLst>
          </p:cNvPr>
          <p:cNvSpPr txBox="1"/>
          <p:nvPr/>
        </p:nvSpPr>
        <p:spPr>
          <a:xfrm>
            <a:off x="10930359" y="5778318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20" name="그림 19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DB11F9-E7FB-651C-1413-419EE5BC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539" y="4121048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012E6D-788B-DBFB-E465-777116CFF6E1}"/>
              </a:ext>
            </a:extLst>
          </p:cNvPr>
          <p:cNvSpPr txBox="1"/>
          <p:nvPr/>
        </p:nvSpPr>
        <p:spPr>
          <a:xfrm>
            <a:off x="8717211" y="364875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B437-6C88-22C3-C29E-0A188A7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557A9-F7FC-2074-F262-61E3459F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757404-5869-107D-63C3-870A8D07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754C-FF36-151B-BD46-93EBB36DB105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성격을 갖고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선호하는 예산규모가 큰 사람부터 차례로 나열하면 </a:t>
            </a:r>
            <a:r>
              <a:rPr lang="en-US" altLang="ko-KR" sz="1600" spc="-50" dirty="0"/>
              <a:t>X, Z, Y </a:t>
            </a:r>
            <a:r>
              <a:rPr lang="ko-KR" altLang="en-US" sz="1600" spc="-50" dirty="0"/>
              <a:t>순서이다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가운데에 위치한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를 중위투표자라고 부른다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과반수제에 의해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안은 중위투표자가 가장 선호하는 선택지이다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</a:t>
            </a:r>
            <a:r>
              <a:rPr lang="ko-KR" altLang="en-US" sz="1600" spc="-50" dirty="0" err="1"/>
              <a:t>과반수제하에서는</a:t>
            </a:r>
            <a:r>
              <a:rPr lang="ko-KR" altLang="en-US" sz="1600" spc="-50" dirty="0"/>
              <a:t> 중위투표자가 가장 선호하는 의안이 채택된다는 이론이 </a:t>
            </a:r>
            <a:r>
              <a:rPr lang="ko-KR" altLang="en-US" sz="1600" b="1" spc="-50" dirty="0"/>
              <a:t>중위투표자 이론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5866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763B7-1782-B087-AE3E-3065719C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F47FD7-804B-FC3B-F6AD-E70A2593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90ADE-670A-DD0A-7018-E76537471AE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예산규모 </a:t>
            </a:r>
            <a:r>
              <a:rPr lang="en-US" altLang="ko-KR" sz="1600" spc="-50" dirty="0"/>
              <a:t>(A,B,C)</a:t>
            </a:r>
            <a:r>
              <a:rPr lang="ko-KR" altLang="en-US" sz="1600" spc="-50" dirty="0"/>
              <a:t>에 대한 투표자들</a:t>
            </a:r>
            <a:r>
              <a:rPr lang="en-US" altLang="ko-KR" sz="1600" spc="-50" dirty="0"/>
              <a:t>(X,Y,Z)</a:t>
            </a:r>
            <a:r>
              <a:rPr lang="ko-KR" altLang="en-US" sz="1600" spc="-50" dirty="0"/>
              <a:t>의 선호가 아래와 같이 분포되어 있다고 해보자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X:   A &gt; B &gt;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Y:   C &gt; A &gt; 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Z:   B &gt; C &gt;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둘씩 짝지어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순서를 다르게 진행해서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CEB3E-BE49-6E88-E44D-414D25DC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5"/>
          <a:stretch>
            <a:fillRect/>
          </a:stretch>
        </p:blipFill>
        <p:spPr>
          <a:xfrm>
            <a:off x="8129352" y="3816221"/>
            <a:ext cx="3397375" cy="20545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74C837-103C-0DCC-67E0-3FD0412E338B}"/>
              </a:ext>
            </a:extLst>
          </p:cNvPr>
          <p:cNvSpPr txBox="1"/>
          <p:nvPr/>
        </p:nvSpPr>
        <p:spPr>
          <a:xfrm>
            <a:off x="7827250" y="4219758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51224-34D0-6901-0463-3BD001EF874D}"/>
              </a:ext>
            </a:extLst>
          </p:cNvPr>
          <p:cNvSpPr txBox="1"/>
          <p:nvPr/>
        </p:nvSpPr>
        <p:spPr>
          <a:xfrm>
            <a:off x="7827250" y="4556833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B5F512-EB05-40CC-865D-12226397287E}"/>
              </a:ext>
            </a:extLst>
          </p:cNvPr>
          <p:cNvSpPr txBox="1"/>
          <p:nvPr/>
        </p:nvSpPr>
        <p:spPr>
          <a:xfrm>
            <a:off x="7827250" y="4917397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5EF14-5AE4-B8DB-027C-D919D04344E3}"/>
              </a:ext>
            </a:extLst>
          </p:cNvPr>
          <p:cNvSpPr txBox="1"/>
          <p:nvPr/>
        </p:nvSpPr>
        <p:spPr>
          <a:xfrm>
            <a:off x="7532669" y="3580002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D9FDB-F66C-77F5-3C70-A79F1A8CC434}"/>
              </a:ext>
            </a:extLst>
          </p:cNvPr>
          <p:cNvSpPr txBox="1"/>
          <p:nvPr/>
        </p:nvSpPr>
        <p:spPr>
          <a:xfrm>
            <a:off x="11071004" y="5514271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18" name="그림 17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A6E13C-CB22-FE1B-7BF8-D67599A6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184" y="3857001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F3BE-359D-04D3-EC88-265964041206}"/>
              </a:ext>
            </a:extLst>
          </p:cNvPr>
          <p:cNvSpPr txBox="1"/>
          <p:nvPr/>
        </p:nvSpPr>
        <p:spPr>
          <a:xfrm>
            <a:off x="8878847" y="345701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784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13B34-E94A-5F31-9556-2A8E7871B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C5422-1F05-BDAB-84C1-FA2C84FA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F87C-AA76-FDDC-555E-8D100541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1E702-3789-B7E9-9A89-3B3E4B41E028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같이 단지 비교의 순서가 달라짐에 다라 표결의 최종결과가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투표의 역설</a:t>
            </a:r>
            <a:r>
              <a:rPr lang="ko-KR" altLang="en-US" sz="1600" spc="-50" dirty="0"/>
              <a:t>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선호가 위와 같이 주어지면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순환이 반복되므로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과반수제에 의해 집단의사 결정을 하면 일관성 없는 결과가 도출될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뿐만 아니라 의사진행 과정을 장악하고 있는 사람이 큰 영향력을 행사할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의사진행 과정을 장악한 사람은 자신의 선호에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의안간 비교 순서를 정함으로써 표결 결과에 영향력을 행사할 수 있게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문제점을 의사진행조작 이라고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과반수제가 갖는 주요 문제점 중 하나이다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투표의 역설이 나타나는 이유는 무엇일까</a:t>
            </a:r>
            <a:r>
              <a:rPr lang="en-US" altLang="ko-KR" sz="1600" spc="-50" dirty="0"/>
              <a:t>? </a:t>
            </a:r>
            <a:r>
              <a:rPr lang="ko-KR" altLang="en-US" sz="1600" spc="-50" dirty="0"/>
              <a:t>투표자 선호에 대해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en-US" altLang="ko-KR" sz="1600" dirty="0"/>
              <a:t>(</a:t>
            </a:r>
            <a:r>
              <a:rPr lang="ko-KR" altLang="en-US" sz="1600" dirty="0"/>
              <a:t>슬라이드 </a:t>
            </a:r>
            <a:r>
              <a:rPr lang="en-US" altLang="ko-KR" sz="1600" dirty="0"/>
              <a:t>14)</a:t>
            </a:r>
            <a:r>
              <a:rPr lang="ko-KR" altLang="en-US" sz="1600" dirty="0"/>
              <a:t>와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16)</a:t>
            </a:r>
            <a:r>
              <a:rPr lang="ko-KR" altLang="en-US" sz="1600" spc="-50" dirty="0"/>
              <a:t> 간의 차이는 투표자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선호순서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작은 규모 </a:t>
            </a:r>
            <a:r>
              <a:rPr lang="en-US" altLang="ko-KR" sz="1600" spc="-50" dirty="0"/>
              <a:t>(C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가장 큰 규모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중간규모 </a:t>
            </a:r>
            <a:r>
              <a:rPr lang="en-US" altLang="ko-KR" sz="1600" spc="-50" dirty="0"/>
              <a:t>(B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순서대로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 </a:t>
            </a:r>
            <a:r>
              <a:rPr lang="ko-KR" altLang="en-US" sz="1600" spc="-50" dirty="0"/>
              <a:t>그림을 보면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선호는 </a:t>
            </a:r>
            <a:r>
              <a:rPr lang="en-US" altLang="ko-KR" sz="1600" spc="-50" dirty="0"/>
              <a:t>V</a:t>
            </a:r>
            <a:r>
              <a:rPr lang="ko-KR" altLang="en-US" sz="1600" spc="-50" dirty="0" err="1"/>
              <a:t>자모양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왼쪽과 오른쪽이 솟아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(multi-peaked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비해 다른 경우는 봉우리처럼 솟아오른 부분을 한 곳에서만 갖고있다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단봉선호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(single-peaked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34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263D-88F7-005E-A501-5BD127A4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16973-534A-6222-A9BA-9007EF54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FD284-330C-22E1-D51B-A7B8EE62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A9A01-A12C-D86D-1968-7BD4912A58B2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 투표의 역설 현상이 나타나지 않았던 것은 모든 사람의 선호가 </a:t>
            </a:r>
            <a:r>
              <a:rPr lang="ko-KR" altLang="en-US" sz="1600" spc="-50" dirty="0" err="1"/>
              <a:t>단봉선호의</a:t>
            </a:r>
            <a:r>
              <a:rPr lang="ko-KR" altLang="en-US" sz="1600" spc="-50" dirty="0"/>
              <a:t> 성격을 가졌기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투표의 역설 현상이 나타난 이유는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가진 사람이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다봉선호가</a:t>
            </a:r>
            <a:r>
              <a:rPr lang="ko-KR" altLang="en-US" sz="1600" spc="-50" dirty="0"/>
              <a:t> 보통의 경우와 약간 다르긴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비합리적인 것은 아니다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예시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중소도시의 주민이 공립학교를 유지하는데 지출될 예산의 수준에 대해 평가를 내리는 경우를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예산규모가 매우 작아 공립학교의 질이 </a:t>
            </a:r>
            <a:r>
              <a:rPr lang="ko-KR" altLang="en-US" sz="1600" spc="-50" dirty="0" err="1"/>
              <a:t>안좋으면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대부분의 주민들이 사립학교에 자녀를 보내려고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분위기 속에서는 예산규모를 조금 더 늘려봐야 조세부담만 가중될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예산규모가 아주 커져 공립학교의 질이 현저히 좋아진다면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사립학교에 보내지 않아도 되므로 주민들이 만족한다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결과적으로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애매한 예산규모보다는 아예 투자를 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예산을 쓰는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예시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비어 있는 건물을 어떤 용도로 쓸 것인지에 관한문제가 있을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표결대상이 예산의 규모라는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차원적 선택문제가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도서관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청소년센터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임대상가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체육센터 등 어떤 것으로 활용할지 선택을 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건물 용도별로 예산의 규모가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이경우에는 사람들의 선호가 </a:t>
            </a:r>
            <a:r>
              <a:rPr lang="ko-KR" altLang="en-US" sz="1600" spc="-50" dirty="0" err="1"/>
              <a:t>다봉선호의</a:t>
            </a:r>
            <a:r>
              <a:rPr lang="ko-KR" altLang="en-US" sz="1600" spc="-50" dirty="0"/>
              <a:t> 모습을 보일 확률이 높다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431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1A9A-EABC-E308-A431-A3737078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C3E9A-A44C-00E7-D92B-F669613F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DE6AF-FF43-E913-15D4-891CBB55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096C5-87B9-4BEF-D2A2-0029483AC412}"/>
              </a:ext>
            </a:extLst>
          </p:cNvPr>
          <p:cNvSpPr txBox="1"/>
          <p:nvPr/>
        </p:nvSpPr>
        <p:spPr>
          <a:xfrm>
            <a:off x="288790" y="954490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경제학적으로 아래와 같은 두가지 조건이 성립하면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보장된다고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볼록선호</a:t>
            </a:r>
            <a:r>
              <a:rPr lang="en-US" altLang="ko-KR" sz="1600" spc="-50" dirty="0"/>
              <a:t>(convex preference)</a:t>
            </a:r>
            <a:r>
              <a:rPr lang="ko-KR" altLang="en-US" sz="1600" spc="-50" dirty="0"/>
              <a:t>를 보유하고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무차별곡선이 원점에 대해 볼록한 모양을 갖고 있음을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고정된 가격에 직면하고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예산선이 직선임을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조건이 충족될 때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나타나는 것은 아래의 그림에서 확인할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사용재와 공공재 사이의 효용극대화 선택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왼편 그림에서 소비자는 조세를 통해 공공재를 소비하고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사용재</a:t>
            </a:r>
            <a:r>
              <a:rPr lang="ko-KR" altLang="en-US" sz="1600" spc="-50" dirty="0"/>
              <a:t> 또한 소비하고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그림에서는 직선의 예산선과 원점에 대해 볼록한 무차별곡선이 그려져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조건이 모두 충족되어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왼편 그림이 의미하고 있는 예산수준에 대한 소비자의 선호도를 오른편 그림에 옮겨 그리면 소비자가 </a:t>
            </a:r>
            <a:r>
              <a:rPr lang="ko-KR" altLang="en-US" sz="1600" spc="-50" dirty="0" err="1"/>
              <a:t>단봉선호를</a:t>
            </a:r>
            <a:r>
              <a:rPr lang="ko-KR" altLang="en-US" sz="1600" spc="-50" dirty="0"/>
              <a:t> 갖고 있다는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36" name="그림 135">
            <a:extLst>
              <a:ext uri="{FF2B5EF4-FFF2-40B4-BE49-F238E27FC236}">
                <a16:creationId xmlns:a16="http://schemas.microsoft.com/office/drawing/2014/main" id="{7DBBE739-D146-A956-4838-725B0E51F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332" y="4554114"/>
            <a:ext cx="6123963" cy="209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6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C61D-6633-59B1-9C51-90AE3FD9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E0775-7674-E528-C0BD-B4B703D9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A189AB-B775-6706-C34E-038A59D1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14A91-C1CE-4F06-EC7C-FF3F4D9CEBD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지금까지 살펴본 직접민주제 방식에 의해 운용되는 예를 찾아 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대신 대표들을 선출한 다음 이들로 하여금 의사결정을 하게 만드는 간접민주제 혹은 대의민주제 방식을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주로 정치가나 관료에 의해 움직이므로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행태를 분석할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복잡한 정치적 의사결정 과정을 정부의 주요 구성분자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정치가와 관료들의 행동에 관한 경제모형에 기초해 설명하고자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논의는 정치가와 관료들도 자신의 이득을 추구하는 경제주체이기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효용극대화를 추구하는 소비자나 이윤극대화를 추구하는 기업가와 다를 바가 없다는 사실로부터 출발한다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논의에 앞서 아래 두가지는 지적해두고 넘어가자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관료가 각자 개인의 이득을 추구하는 행위가 반드시 비효율적인 결과를 유발하지는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각자의 이득을 추구하는 행위가 결국 공익으로 연결이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 관료가 각자 개인의 이득을 추구한다는 가정이 현실에 부합하지 않을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자신에게 손해가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공익에 도움이 된다고 판단하면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수행하려는 정치가 혹은 관료들도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7054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D75F-3900-46DF-B704-29FDA32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A4959-3686-F67B-4522-94E80A1C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7A651-6831-0B51-BF10-5197BF8B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A4A47-E5D6-CD63-0ADB-D94E99164696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대의민주제에서 국민은 의사결정에 직접 참여하지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단지 자신들을 대표하여 의사결정에 참여하는 정치가를 선출하는 일을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대의민주제에 관한 논의는 정치가 행동에 대한 분석으로부터 출발해보자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다운즈의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표극대화모형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다운즈는</a:t>
            </a:r>
            <a:r>
              <a:rPr lang="ko-KR" altLang="en-US" sz="1600" spc="-50" dirty="0"/>
              <a:t> 대의민주제에서 투표자와 정치가는 각각 다음의 목표를 추구한다는 가정을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투표자는 자신의 효용을 극대화 하고자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정부의 경제활동에서 나오는 순편익이 극대화되기를 바라다는 말과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정치가는 자기가 원하는 공직을 얻기 위해 최대한 많은 표를 얻고자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투표자는 자신의 이익을 가장 잘 대표할 수 있는 사람에게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이에 부응하여 투표자에게 가장 유리한 정책을 추진하려 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모형에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이익을 추구하는 정치가라면 투표자의 의사를 충실하게 대변할 수 밖에 없다는 설명을 제공한다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중위투표자 이론에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결국 중위투표자의 지지를 획득하는 방향으로 나가야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현실에서도 </a:t>
            </a:r>
            <a:r>
              <a:rPr lang="ko-KR" altLang="en-US" sz="1600" spc="-50" dirty="0" err="1"/>
              <a:t>양당제하에서</a:t>
            </a:r>
            <a:r>
              <a:rPr lang="ko-KR" altLang="en-US" sz="1600" spc="-50" dirty="0"/>
              <a:t> 두 당은 모두 중도적인 방향으로 나가려는 경향이 자주 관찰되곤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7832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3524-3A0A-630B-3174-7505E5A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0848-CBDC-1144-DCA5-AAB73713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EFCC2-6B26-BE32-2643-F44DD8F0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DB3A6-1F10-964E-6165-B1575B23DE24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투표자의 연합과 정강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의안에 대해 견해를 달리하는 투표자들이 서로 연합함으로써 공동의 이익을 추구할 수 있는 여지가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다섯 사람</a:t>
            </a:r>
            <a:r>
              <a:rPr lang="en-US" altLang="ko-KR" sz="1600" spc="-50" dirty="0"/>
              <a:t>(A,B,C,D,E)</a:t>
            </a:r>
            <a:r>
              <a:rPr lang="ko-KR" altLang="en-US" sz="1600" spc="-50" dirty="0"/>
              <a:t>의 투표자가 징병제 폐지와 가족법 개정 여부에 대해 투표하는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다섯 사람의 선호는 아래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선호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선호의 분포는 각 투표자의 선호에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배분하도록 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징병제 폐지를 강력하게 원하고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개정하는 쪽을 약간 더 선호하고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투표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과반수제에 의해 결정을 내린다고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징병제는 존속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 하는 쪽으로 선택 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유권자들의 선호의 강도를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그 반대로 결정되는 것이 바람직했을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표의 합계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살펴보았듯이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 하에서는 선호의 강도를 표현할 방도가 없기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2013E8-2AA6-460B-FD73-640ABB947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205443"/>
              </p:ext>
            </p:extLst>
          </p:nvPr>
        </p:nvGraphicFramePr>
        <p:xfrm>
          <a:off x="2216471" y="2766313"/>
          <a:ext cx="6188576" cy="14073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7357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71963893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17242925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1914696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33135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의안</a:t>
                      </a:r>
                      <a:endParaRPr lang="en-US" altLang="ko-KR" sz="12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4976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A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B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C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D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E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6055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징병제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존속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폐지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가족법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996FBCB-7E93-1C0D-489F-D4A5B4A4AAC4}"/>
              </a:ext>
            </a:extLst>
          </p:cNvPr>
          <p:cNvSpPr txBox="1"/>
          <p:nvPr/>
        </p:nvSpPr>
        <p:spPr>
          <a:xfrm>
            <a:off x="3983609" y="245853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투표자 선호의 분포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5285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EC61-2823-3B1B-9E68-49784D70E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F2D1E-F0F1-B0DD-34B0-0F33D217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51C58-221E-430F-DD7F-0E9724AD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AF0E3-AE31-01B4-3716-FD3CDF30B9EE}"/>
              </a:ext>
            </a:extLst>
          </p:cNvPr>
          <p:cNvSpPr txBox="1"/>
          <p:nvPr/>
        </p:nvSpPr>
        <p:spPr>
          <a:xfrm>
            <a:off x="288790" y="954490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징병제 폐지에 적극 찬성하는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가족법 유지에 적극 찬성하는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가 연합을 구성하면 결과는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현행 가족법 유지 쪽에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대가로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징병제 폐지 쪽으로 표를 던지기로 합의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 유지로 결정될 수 있기 때문이다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과반수제를 위시한 대부분의 표결방식에서는 투표자들의 선호의 강도가 적절히 반영되지 못하는 단점이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연합을 통해 선호의 강도가 어느정도 반영될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11, 12 </a:t>
            </a:r>
            <a:r>
              <a:rPr lang="ko-KR" altLang="en-US" sz="1600" spc="-50" dirty="0"/>
              <a:t>점수투표제 내용 참고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투표자 수가 매우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앞선 예처럼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개별로 연합을 구성하기는 불가능하다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대의민주제에서 정치가는 정강이라는 것을 통해 실질적으로 투표자 연합을 만들어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어떤 정치가가 </a:t>
            </a:r>
            <a:r>
              <a:rPr lang="en-US" altLang="ko-KR" sz="1600" spc="-50" dirty="0"/>
              <a:t>[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 + </a:t>
            </a:r>
            <a:r>
              <a:rPr lang="ko-KR" altLang="en-US" sz="1600" spc="-50" dirty="0"/>
              <a:t>가족법 유지</a:t>
            </a:r>
            <a:r>
              <a:rPr lang="en-US" altLang="ko-KR" sz="1600" spc="-50" dirty="0"/>
              <a:t>] </a:t>
            </a:r>
            <a:r>
              <a:rPr lang="ko-KR" altLang="en-US" sz="1600" spc="-50" dirty="0"/>
              <a:t>정강을 제시하면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그 정강을 지지하여 연합이 이루어진다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정강이란 정당이나 정치가가 여러 가지 사안에 대해 종합적인 태도를 취하여 구체적으로 나열해 놓은 것을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경제정책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국방문제에 대한 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환경에 대한 관점 등 각 사안에 대해 자신의 입장을 구체적으로 밝히는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정강은 성공적인 투표자 연합을 만들고자 하는 시도와 밀접한 관계가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89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01C0-3631-5235-C82C-0961DDFA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74D9B-7173-4A44-4BEC-F7578D61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E8E88E-A078-883E-BE4F-E2D000BF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96900-A659-B6BA-8B2E-DB2D293B82D9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정치적 결탁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만약 투표자들이 연합하여 표를 주고 받는다면 정치적 결탁에 의해 표가 교환되었다고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따지고 보면 정강을 통해 투표자들을 끌어 모으는 것도 정치가가 매개 역할을 한다는 점만 다를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실질적으로 정치적 결탁에 의해 표를 교환한 것과 다르지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이를 긍정적으로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시장에서 상품의 자유로운 교환이 효율적 배분을 가져오는 것과 마찬가지로 정치에서 표를 교환하는 행위는 효율적 집단의사결정을 가능하게 해준다고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실질적으로 표를 교환함으로써 투표자가 갖는 선호의 강도가 반영될 길이 열리게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균형이 안정될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민주적인 정치체계가 운영되기 위해서는 타협이 중요한데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과정에서 타협이 구체화된 형태라고 볼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표의 교환이 보편화 된다면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일반대중의 </a:t>
            </a:r>
            <a:r>
              <a:rPr lang="ko-KR" altLang="en-US" sz="1600" spc="-50" dirty="0" err="1"/>
              <a:t>희생하에서</a:t>
            </a:r>
            <a:r>
              <a:rPr lang="ko-KR" altLang="en-US" sz="1600" spc="-50" dirty="0"/>
              <a:t> 특정 집단의 사람들에게만 이익이 돌아가는 방향으로 집단의사결정이 이루어질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이해관계를 공유하는 특정집단들이 야합을 하면 바람직하지 못한 결과를 야기할 가능성이 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긍정적인 의미에서의 타협과 </a:t>
            </a:r>
            <a:r>
              <a:rPr lang="ko-KR" altLang="en-US" sz="1600" spc="-50" dirty="0" err="1"/>
              <a:t>부적적인</a:t>
            </a:r>
            <a:r>
              <a:rPr lang="ko-KR" altLang="en-US" sz="1600" spc="-50" dirty="0"/>
              <a:t> 의미에서의 야합을 구분하는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744444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5816-DC0C-6A4D-F941-7596DEA54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30C-4310-5638-E0E4-8913A06D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ABC9A-BA16-77AC-0A90-6018864D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D0D9D-9AEC-668E-4E4A-B2B02349BBB0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정부에서 관료들은 정치가에 못지않게 중요한 역할을 수행하고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관료의 수명은 정치가의 수명보다 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 과정을 직접 담당하므로 전문지식을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민간기업의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이윤이라는 뚜렷한 기준을 통해 성과를 평가할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맡은 업무를 얼마나 성공적으로 수행하였는지 적절히 평가할 수 있는 기준이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정책의 목표가 여러가지를 동시에 추구하는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노력이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정책의 성과로 반드시 연결되지 않을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관료들의 성과를 평가할 적절한 기준이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관료들의 효율적인 업무를 유도할 수 있는 유인구조를 만들기 어렵다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관료는 공복</a:t>
            </a:r>
            <a:r>
              <a:rPr lang="en-US" altLang="ko-KR" sz="1600" spc="-50" dirty="0"/>
              <a:t>(public servant)</a:t>
            </a:r>
            <a:r>
              <a:rPr lang="ko-KR" altLang="en-US" sz="1600" spc="-50" dirty="0"/>
              <a:t>이어야 한다는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국민의 선호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국민을 대표하고 있는 정치가들의 의사를 정책에 충실하게 반영시켜야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</a:t>
            </a:r>
            <a:r>
              <a:rPr lang="ko-KR" altLang="en-US" sz="1600" spc="-50" dirty="0" err="1"/>
              <a:t>공복으로서의</a:t>
            </a:r>
            <a:r>
              <a:rPr lang="ko-KR" altLang="en-US" sz="1600" spc="-50" dirty="0"/>
              <a:t> 임무보다 자신의 이익을 더 앞세울 가능성이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관료들은 비효율적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경직적 이라는 비판을 자주 듣기도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관료들의 행태를 체계적으로 이해하고자 관료제 모형이 개발되었다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5837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DE6AA-90E9-3E17-8170-EEC61135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CEAC-1593-30F6-0DE8-BC12C87D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57CEA-F024-1DF7-26A6-3232FDE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39F73-99EF-D5DB-54D6-875E812DB3FB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관료제모형의 기본 골격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관료제모형은 관료들이 어떤 행동을 보일지에 대해 예측하는 데 분석의 초점을 맞추고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관료들의 행동을 예측하기 위해서는 우선 관료가 추구하는 목표가 무엇인지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관료들이 개인적 이득을 추구하고 있다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것을 추구하고 있는지 알아야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관료들이 어떤 제약에 직면하고 있는지도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예산제약하에서</a:t>
            </a:r>
            <a:r>
              <a:rPr lang="ko-KR" altLang="en-US" sz="1600" spc="-50" dirty="0"/>
              <a:t> 상품을 선택하듯이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관료들도 어떤 제약하에서 개인적 이득을 추구하고 있을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제약이 무엇인지 알아야 그들의 행동을 예측할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실증연구에 따르면 관료들이 공공서비스를 생산할 때 비용을 가능한 최소한의 수준으로 낮추려는 노력을 하지 않는 경향이 있다고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 관료들이 생산비용을 일부러 높게 만들고 있다는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관료들이 생산을 비효율적으로 하는 이유는 관료들의 능률이 낮거나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다른 이유가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사회에서 능력이 뛰어난 인재들로 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그들의 비효율을 능력 부족 탓으로 보기는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유능한 관료가 비효율적으로 생산한다면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그것이 자신의 이익에 더 부합하기 때문일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886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A0432-70F0-465F-C762-05A84238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70AD3-EFC1-F164-E896-08C9BC1D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F488F2-C320-B069-1038-6DC3C6FF2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B9AB2-21CA-230D-589C-2BD18729EB4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니스카넨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en-US" altLang="ko-KR" sz="1600" spc="-50" dirty="0"/>
              <a:t> (W. Niskanen, 1971)</a:t>
            </a:r>
            <a:r>
              <a:rPr lang="ko-KR" altLang="en-US" sz="1600" spc="-50" dirty="0"/>
              <a:t> 모형은 관료들이 부서의 예산을 극대화하는데 목표를 두고 있다는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 이득을 추구하는 관료들은 직책상의 특권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명성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권한 등에 관심을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것들은 자신이 속한 부서의 예산과 비례하여 커지기 때문에 자연히 예산극대화를 추구하게 된다고 설명한다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예산의 크기는 관료적 생산의 크기와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극대화를 추구하는 것은 관료적 생산의 극대화를 추구한다는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관료들이 소비자들로부터 돈을 받아 경비를 조달하는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입법부의 심사절차를 통해 경비를 조달한다는 사실이 중요하다고 강조한다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생산물을 한 단위씩 파는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생산물을 예산과 교환하는 형식으로 경비를 조달한다는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관료적 생산물의 비용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편익 분석이 긍정적이라는 사실을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입법부를 납득시키면 예산을 배정받을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특성에 의해 관료들은 마치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급 가격차별독점자와 같은 </a:t>
            </a:r>
            <a:r>
              <a:rPr lang="ko-KR" altLang="en-US" sz="1600" spc="-50" dirty="0" err="1"/>
              <a:t>독점력을</a:t>
            </a:r>
            <a:r>
              <a:rPr lang="ko-KR" altLang="en-US" sz="1600" spc="-50" dirty="0"/>
              <a:t> 갖게 된다는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입법부는 관료적 생산에 대한 비용을 정확히 모르는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비용 정보를 더 많이 알기 때문에 관료는 정부의 최대 허용예산 수준까지 끌어올려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예산을 받아낸다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2319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B8B-E019-4C9D-798B-51409BCA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603001-8904-655A-F200-E3DD8B81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F8BAE-93AE-538B-AD2A-73E894F8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/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설명한 관료의 특성은 아래 그림을 통해 표현될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왼쪽 그림은 생산수준에 따라 발생하는 </a:t>
                </a:r>
                <a:r>
                  <a:rPr lang="ko-KR" altLang="en-US" sz="1600" spc="-50" dirty="0" err="1"/>
                  <a:t>총편익</a:t>
                </a:r>
                <a:r>
                  <a:rPr lang="en-US" altLang="ko-KR" sz="1600" spc="-50" dirty="0"/>
                  <a:t>(TB)</a:t>
                </a:r>
                <a:r>
                  <a:rPr lang="ko-KR" altLang="en-US" sz="1600" spc="-50" dirty="0"/>
                  <a:t>과 총비용</a:t>
                </a:r>
                <a:r>
                  <a:rPr lang="en-US" altLang="ko-KR" sz="1600" spc="-50" dirty="0"/>
                  <a:t>(TC)</a:t>
                </a:r>
                <a:r>
                  <a:rPr lang="ko-KR" altLang="en-US" sz="1600" spc="-50" dirty="0"/>
                  <a:t>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그림은 생산수준에서의 총편익으로부터 총비용을 뺀 사회적 잉여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나타내는 곡선을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관료적 생산의 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일 때 사회적 잉여가 가장 커지므로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생산수준을 사회적 최적 생산수준이라고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TC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TB</a:t>
                </a:r>
                <a:r>
                  <a:rPr lang="ko-KR" altLang="en-US" sz="1600" spc="-50" dirty="0"/>
                  <a:t>곡선의 접선의 기울기가 같을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두 곡선 사이의 수직거리가 사회적 잉여가 극대화되는 점이다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니스카넨에</a:t>
                </a:r>
                <a:r>
                  <a:rPr lang="ko-KR" altLang="en-US" sz="1600" spc="-50" dirty="0"/>
                  <a:t>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관료적 생산의 극대화를 추구하는 관료들은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생산점을 선택하지 않는다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입법부로부터 타당성을 인정받으면 더 높은 생산수준을 선택할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생산점을 선택하게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급 가격차별독점자에 상응하는 </a:t>
                </a:r>
                <a:r>
                  <a:rPr lang="ko-KR" altLang="en-US" sz="1600" spc="-50" dirty="0" err="1"/>
                  <a:t>독점력을</a:t>
                </a:r>
                <a:r>
                  <a:rPr lang="ko-KR" altLang="en-US" sz="1600" spc="-50" dirty="0"/>
                  <a:t> 이용해 국민에게 돌아갈 잉여를 관료적 생산 확대에 사용하게 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도표, 라인, 그래프, 경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FCEC79-A1C9-6790-504C-3E7861147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491" y="4294569"/>
            <a:ext cx="4899265" cy="23957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15B43-8F68-C36F-58B7-8786F9BC0A1A}"/>
              </a:ext>
            </a:extLst>
          </p:cNvPr>
          <p:cNvSpPr txBox="1"/>
          <p:nvPr/>
        </p:nvSpPr>
        <p:spPr>
          <a:xfrm>
            <a:off x="4390467" y="401156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니스카넨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79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8ECC4-D546-78C9-979F-1F17C609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5DC0-B15D-80B3-002C-A7BFD15D1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81CCE-0737-2CBC-7C9A-EFA13463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BF55B-4062-C881-BF32-C1AD7BB86D4C}"/>
              </a:ext>
            </a:extLst>
          </p:cNvPr>
          <p:cNvSpPr txBox="1"/>
          <p:nvPr/>
        </p:nvSpPr>
        <p:spPr>
          <a:xfrm>
            <a:off x="221675" y="782518"/>
            <a:ext cx="11693660" cy="63233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모형에서 가장 심각한 문제는 관료들의 과다생산 경향이라고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대처하기 위해 </a:t>
            </a: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다음과 같은 조처를 제의한다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관료들의 </a:t>
            </a:r>
            <a:r>
              <a:rPr lang="ko-KR" altLang="en-US" sz="1600" spc="-50" dirty="0" err="1"/>
              <a:t>봉금을</a:t>
            </a:r>
            <a:r>
              <a:rPr lang="ko-KR" altLang="en-US" sz="1600" spc="-50" dirty="0"/>
              <a:t> 예산절감 노력에 상응하게 조정함으로써 이들이 과다한 생산활동을 하지 못하도록 억제할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예산절감을 하지 않는 관료들에게 급여상 불이익을 주자는 취지이지만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 급여체계를 운용하는 건 쉽지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 공급 활동은 민간기업에 맡기고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경비만 대는 방법을 쓸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효율적인 민간기업을 활용해 관료들의 비효율성을 극복하려 한다는 의도지만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현실적으로 이 방법에도 그리 큰 기대를 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간단한 모형을 통해 관료제의 문제점을 분석했지만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의문이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현실의 입법부가 과연 모형에서 가정하고 있는 것처럼 순진하고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수동적인 존재인지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총편익이 총비용보다 조금이라도 크면 무조건 그 정당성을 인정해줄까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효용함수는 오직 예산수준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생산수준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의존하는 것을 가정하는데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이것이 타당한지 의문이다</a:t>
            </a:r>
            <a:r>
              <a:rPr lang="en-US" altLang="ko-KR" sz="1600" spc="-50"/>
              <a:t>.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예산이 커짐에 따라 관료 효용이 증가한다고 보는 것은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이것만이</a:t>
            </a:r>
            <a:r>
              <a:rPr lang="ko-KR" altLang="en-US" sz="1600" spc="-50" dirty="0"/>
              <a:t> 관료의 효용함수를 설명하는 유일한 </a:t>
            </a:r>
            <a:r>
              <a:rPr lang="ko-KR" altLang="en-US" sz="1600" spc="-50" dirty="0" err="1"/>
              <a:t>독립변수일까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521285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08A7-A3A7-F507-9781-EC5700A2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6DB3F-4A70-851C-CCA9-87C12617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8C31F9-F437-7F32-F2B4-7463B644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/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미그</a:t>
                </a:r>
                <a:r>
                  <a:rPr lang="en-US" altLang="ko-KR" sz="1600" b="1" u="sng" dirty="0">
                    <a:ln w="3175">
                      <a:noFill/>
                    </a:ln>
                    <a:latin typeface="+mn-ea"/>
                  </a:rPr>
                  <a:t>-</a:t>
                </a:r>
                <a:r>
                  <a:rPr lang="ko-KR" altLang="en-US" sz="1600" b="1" u="sng" dirty="0" err="1">
                    <a:ln w="3175">
                      <a:noFill/>
                    </a:ln>
                    <a:latin typeface="+mn-ea"/>
                  </a:rPr>
                  <a:t>빌레인저</a:t>
                </a: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 모형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한계를 극복하기 위해 개발된 것이 </a:t>
                </a:r>
                <a:r>
                  <a:rPr lang="ko-KR" altLang="en-US" sz="1600" spc="-50" dirty="0" err="1"/>
                  <a:t>미그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빌레인저</a:t>
                </a:r>
                <a:r>
                  <a:rPr lang="ko-KR" altLang="en-US" sz="1600" spc="-50" dirty="0"/>
                  <a:t> 모형이다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관료들은 예산이 아닌 효용극대화를 추구한다는 기본가정으로 출발한다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효용은 단지 예산의 크기 뿐만 아니라 직책으로부터 생기는 여러 특권에도 영향을 받는다고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관료들의 직책상 특권들은 예산상의 잉여를 갖고 있어야 누릴 수 있다는 점에 착안한다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관료적 생산수준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ko-KR" altLang="en-US" sz="1600" spc="-50" dirty="0"/>
                  <a:t>은 직책상 특권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관료들은 검은 곡선 위에 있는 점들 중 하나를 택하여 자신의 효용을 극대화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효용함수에서 도출한 무차별곡선을 겹쳐 그리면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관료가 효용 극대화 할 수 있는 생산수준은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됨을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생산수준 역시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초과하여 관료의 과다생산 경향을 보여주고 있지만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경우보다는 과다생산의 정도가 작아진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blipFill>
                <a:blip r:embed="rId2"/>
                <a:stretch>
                  <a:fillRect l="-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4BA8A8-FA20-20DC-0880-BCEEED809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270" y="4561029"/>
            <a:ext cx="3105829" cy="20508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E8BA54-E815-A2E4-595F-47D01D046A9A}"/>
              </a:ext>
            </a:extLst>
          </p:cNvPr>
          <p:cNvSpPr txBox="1"/>
          <p:nvPr/>
        </p:nvSpPr>
        <p:spPr>
          <a:xfrm>
            <a:off x="5232400" y="435273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미그</a:t>
            </a:r>
            <a:r>
              <a:rPr lang="en-US" altLang="ko-KR" sz="1400" spc="-50" dirty="0"/>
              <a:t>-</a:t>
            </a:r>
            <a:r>
              <a:rPr lang="ko-KR" altLang="en-US" sz="1400" spc="-50" dirty="0" err="1"/>
              <a:t>빌레인저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7507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C4C84-B5ED-1BBB-68C4-C7D1418F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CD0C9-809A-3760-6CF7-45535003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5AB66-41E9-8108-7A63-94CD6907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53B1-18EB-0810-DAE4-B88A0E1DD65B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관료제의 개혁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원칙적으로 관료는 국민의 이익을 위해 봉사하는 것을 주요한 존재이유로 삼아야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반드시 그렇게 행동할 보장이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</a:t>
            </a:r>
            <a:r>
              <a:rPr lang="ko-KR" altLang="en-US" sz="1600" b="1" spc="-50" dirty="0"/>
              <a:t>본인</a:t>
            </a:r>
            <a:r>
              <a:rPr lang="en-US" altLang="ko-KR" sz="1600" b="1" spc="-50" dirty="0"/>
              <a:t>-</a:t>
            </a:r>
            <a:r>
              <a:rPr lang="ko-KR" altLang="en-US" sz="1600" b="1" spc="-50" dirty="0"/>
              <a:t>대리인관계 이론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국민은 관료가 실제로 어떤 행동을 하고 있는지 자세히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이런 정보의 불완전한 상황을 이용해 자신의 사사로운 이익을 추구할 가능성이 생기는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지금까지 살펴본 관료제 모형은 이러한 관료들의 도덕적 해이를 논의의 중심에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국민은 정치가를 통해 관료의 행동에 제약을 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정치가 역시 국민의 이해관계를 완벽하게 대변한다는 보장이 없다는 문제가 다시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 역시 국민에 대해서는 대리인의 역할을 하는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대해서는 본인의 역할을 하고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국민↔정치가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대리인</a:t>
            </a:r>
            <a:r>
              <a:rPr lang="en-US" altLang="ko-KR" sz="1600" spc="-50" dirty="0"/>
              <a:t>,       </a:t>
            </a:r>
            <a:r>
              <a:rPr lang="ko-KR" altLang="en-US" sz="1600" spc="-50" dirty="0" err="1"/>
              <a:t>정치가↔관료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본인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때로는 정치가와 관료가 결탁해 국민의 이해에 반하는 행동을 하는 경우도 생긴다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관료제 개혁의 문제는 적절한 유인구조를 마련하여 관료들의 </a:t>
            </a:r>
            <a:r>
              <a:rPr lang="ko-KR" altLang="en-US" sz="1600" b="1" spc="-50" dirty="0"/>
              <a:t>도덕적 해이</a:t>
            </a:r>
            <a:r>
              <a:rPr lang="ko-KR" altLang="en-US" sz="1600" spc="-50" dirty="0"/>
              <a:t>를 막는 방안을 강구하는 것으로 귀착된다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EDBD3-ABD6-6055-E9E3-BDE428D8F18D}"/>
              </a:ext>
            </a:extLst>
          </p:cNvPr>
          <p:cNvSpPr txBox="1"/>
          <p:nvPr/>
        </p:nvSpPr>
        <p:spPr>
          <a:xfrm>
            <a:off x="4476750" y="32109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청문회 장면 비디오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17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8586-0AA9-8C23-5119-F67959CD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94A75-FFEE-EAAC-218F-796AD716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AC31A-F50D-FA0B-9F45-0F3C4EF3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FC6B3-FABE-CAB1-178E-D400A642F60F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관료제의 문제로 과다생산으로 인한 비효율성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관료적 형식주의에서 비롯되는 </a:t>
            </a:r>
            <a:r>
              <a:rPr lang="ko-KR" altLang="en-US" sz="1600" b="1" spc="-50" dirty="0"/>
              <a:t>비능률성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공연히 절차를 까다롭게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처리할 수 있는 일을 미루는 태도는 일상에서 어렵지 않게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비능률성이 발생하는 이유는 여러가지가 있겠지만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가지를 주된 이유로 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절차를 복잡하게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시간을 지연시킴으로써 관료들이 개인적 이득을 획득할 수 있다는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관료의 영향력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업무부담으로 인한 인력 증원 명분 등을 전략적으로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관료들의 </a:t>
            </a:r>
            <a:r>
              <a:rPr lang="ko-KR" altLang="en-US" sz="1600" spc="-50" dirty="0" err="1"/>
              <a:t>위험기피적인</a:t>
            </a:r>
            <a:r>
              <a:rPr lang="ko-KR" altLang="en-US" sz="1600" spc="-50" dirty="0"/>
              <a:t> 성향 때문에 비능률이 나타나기도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맡은 일을 성공적으로 마쳐도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보상이 크게 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실패하면 져야 할 책임은 큰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그렇기 때문에 책임을 분산시키고자 여러 사람의 검토를 거치게 만들곤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비효율성을 제거하기 위한 개혁의 방안으로는 </a:t>
            </a:r>
            <a:r>
              <a:rPr lang="ko-KR" altLang="en-US" sz="1600" b="1" spc="-50" dirty="0"/>
              <a:t>급여구조</a:t>
            </a:r>
            <a:r>
              <a:rPr lang="ko-KR" altLang="en-US" sz="1600" spc="-50" dirty="0"/>
              <a:t>와 </a:t>
            </a:r>
            <a:r>
              <a:rPr lang="ko-KR" altLang="en-US" sz="1600" b="1" spc="-50" dirty="0"/>
              <a:t>승진제도 </a:t>
            </a:r>
            <a:r>
              <a:rPr lang="ko-KR" altLang="en-US" sz="1600" spc="-50" dirty="0"/>
              <a:t>개선을 고려해볼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</a:t>
            </a:r>
            <a:r>
              <a:rPr lang="ko-KR" altLang="en-US" sz="1600" spc="-50" dirty="0" err="1"/>
              <a:t>부처간의</a:t>
            </a:r>
            <a:r>
              <a:rPr lang="ko-KR" altLang="en-US" sz="1600" spc="-50" dirty="0"/>
              <a:t> 경쟁 또는 민간부문과의 경쟁을 촉진하여 관료들의 효율성을 부추기는 방법이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관료제 개혁의 요지는 이들이 경쟁에서 자유롭기 때문에 최대한의 효율성을 발휘할 필요를 느끼지 못한다는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현실에서는 관료들의 업무 성격상 그 성과를 객관적으로 평가하기 어려운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E60A3-40F9-9948-3539-C4DDF837268C}"/>
              </a:ext>
            </a:extLst>
          </p:cNvPr>
          <p:cNvSpPr txBox="1"/>
          <p:nvPr/>
        </p:nvSpPr>
        <p:spPr>
          <a:xfrm>
            <a:off x="4476750" y="32109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그리스 계단만 올라가도 보조금이 나온다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6499080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27CF-6B43-6EA6-4766-DC49CE4A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D1ED9-9E1D-5EAD-E124-978D0431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특수이해집단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B403F-0546-BFCB-3234-F27FC296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9663B-A5DC-17C3-1C2B-D2794D7AC09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 사회에서 정치가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이어 중요한 역할을 하는 집단으로 특수이해집단이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단순 유권자로서 정책수립 과정에 영향을 미치려 할 때는 미미한 영향력 밖에 발휘하지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공통의 이해관계를 가진 사람들이 뭉쳐 특수이해집단을 형성하고 집단적인 힘을 활용한다면 훨씬 큰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특수이해집단의 강점은 구성원들이 공유하는 명백한 목적의식과 조직력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높은 투표율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자금력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대중의 여론을 환기시키기 위한 선전활동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 집회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기고 등을 통해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특수이해집단은 아래의 예시와 같이 여러가지 근거를 토대로 형성될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근로자들이 하나의 집단을 형성하고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맞서 사용자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업주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들도 집단을 형성하는 상황이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산업별로 특수 이해집단이 결성되기도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자동차산업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변호사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환경단체 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민주적인 사회에서는 이처럼 다양한 이해관계를 가진 사람들이 서로 타협하며 살아갈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당면한 사회문제에 대해 합리적인 해결책을 모색할 수 있는 계기라는 측면에서 긍정적인 평가를 내릴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특수이해집단은 사회 공익 </a:t>
            </a:r>
            <a:r>
              <a:rPr lang="ko-KR" altLang="en-US" sz="1600" spc="-50" dirty="0" err="1"/>
              <a:t>보단느</a:t>
            </a:r>
            <a:r>
              <a:rPr lang="ko-KR" altLang="en-US" sz="1600" spc="-50" dirty="0"/>
              <a:t> 구성원들의 이익을 앞세우는 경향이 있기 때문에 사회 전체 입장에서 보면 비효율적이거나 불합리한 결과가 도출되기도 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E81600-6D93-5032-8D2B-A538819138FD}"/>
              </a:ext>
            </a:extLst>
          </p:cNvPr>
          <p:cNvSpPr txBox="1"/>
          <p:nvPr/>
        </p:nvSpPr>
        <p:spPr>
          <a:xfrm>
            <a:off x="5168900" y="608054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철의 삼각형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46505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9841</TotalTime>
  <Words>4473</Words>
  <Application>Microsoft Office PowerPoint</Application>
  <PresentationFormat>와이드스크린</PresentationFormat>
  <Paragraphs>461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5  공공선택의 이론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Section 3. 과반수제하에서의 정치적 균형</vt:lpstr>
      <vt:lpstr>중위투표자이론</vt:lpstr>
      <vt:lpstr>중위투표자이론</vt:lpstr>
      <vt:lpstr>투표의 역설</vt:lpstr>
      <vt:lpstr>투표의 역설</vt:lpstr>
      <vt:lpstr>투표의 역설</vt:lpstr>
      <vt:lpstr>투표의 역설</vt:lpstr>
      <vt:lpstr>Section 4. 대의민주제하의 공공선택</vt:lpstr>
      <vt:lpstr>배경설명</vt:lpstr>
      <vt:lpstr>정치가</vt:lpstr>
      <vt:lpstr>정치가</vt:lpstr>
      <vt:lpstr>정치가</vt:lpstr>
      <vt:lpstr>정치가</vt:lpstr>
      <vt:lpstr>관료</vt:lpstr>
      <vt:lpstr>관료</vt:lpstr>
      <vt:lpstr>관료</vt:lpstr>
      <vt:lpstr>관료</vt:lpstr>
      <vt:lpstr>관료</vt:lpstr>
      <vt:lpstr>관료</vt:lpstr>
      <vt:lpstr>관료</vt:lpstr>
      <vt:lpstr>관료</vt:lpstr>
      <vt:lpstr>특수이해집단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312</cp:revision>
  <dcterms:created xsi:type="dcterms:W3CDTF">2025-07-05T05:15:23Z</dcterms:created>
  <dcterms:modified xsi:type="dcterms:W3CDTF">2026-04-02T02:09:09Z</dcterms:modified>
</cp:coreProperties>
</file>