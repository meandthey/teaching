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50"/>
  </p:notesMasterIdLst>
  <p:sldIdLst>
    <p:sldId id="375" r:id="rId2"/>
    <p:sldId id="405" r:id="rId3"/>
    <p:sldId id="550" r:id="rId4"/>
    <p:sldId id="552" r:id="rId5"/>
    <p:sldId id="632" r:id="rId6"/>
    <p:sldId id="635" r:id="rId7"/>
    <p:sldId id="636" r:id="rId8"/>
    <p:sldId id="637" r:id="rId9"/>
    <p:sldId id="639" r:id="rId10"/>
    <p:sldId id="640" r:id="rId11"/>
    <p:sldId id="641" r:id="rId12"/>
    <p:sldId id="633" r:id="rId13"/>
    <p:sldId id="634" r:id="rId14"/>
    <p:sldId id="599" r:id="rId15"/>
    <p:sldId id="600" r:id="rId16"/>
    <p:sldId id="601" r:id="rId17"/>
    <p:sldId id="602" r:id="rId18"/>
    <p:sldId id="603" r:id="rId19"/>
    <p:sldId id="595" r:id="rId20"/>
    <p:sldId id="604" r:id="rId21"/>
    <p:sldId id="605" r:id="rId22"/>
    <p:sldId id="607" r:id="rId23"/>
    <p:sldId id="608" r:id="rId24"/>
    <p:sldId id="606" r:id="rId25"/>
    <p:sldId id="609" r:id="rId26"/>
    <p:sldId id="610" r:id="rId27"/>
    <p:sldId id="596" r:id="rId28"/>
    <p:sldId id="611" r:id="rId29"/>
    <p:sldId id="613" r:id="rId30"/>
    <p:sldId id="612" r:id="rId31"/>
    <p:sldId id="614" r:id="rId32"/>
    <p:sldId id="615" r:id="rId33"/>
    <p:sldId id="616" r:id="rId34"/>
    <p:sldId id="597" r:id="rId35"/>
    <p:sldId id="617" r:id="rId36"/>
    <p:sldId id="618" r:id="rId37"/>
    <p:sldId id="620" r:id="rId38"/>
    <p:sldId id="622" r:id="rId39"/>
    <p:sldId id="623" r:id="rId40"/>
    <p:sldId id="624" r:id="rId41"/>
    <p:sldId id="626" r:id="rId42"/>
    <p:sldId id="627" r:id="rId43"/>
    <p:sldId id="598" r:id="rId44"/>
    <p:sldId id="628" r:id="rId45"/>
    <p:sldId id="629" r:id="rId46"/>
    <p:sldId id="630" r:id="rId47"/>
    <p:sldId id="631" r:id="rId48"/>
    <p:sldId id="364" r:id="rId4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2026-01-12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1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13" Type="http://schemas.openxmlformats.org/officeDocument/2006/relationships/image" Target="../media/image21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12" Type="http://schemas.openxmlformats.org/officeDocument/2006/relationships/image" Target="../media/image2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Relationship Id="rId1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0" Type="http://schemas.openxmlformats.org/officeDocument/2006/relationships/image" Target="../media/image31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0" Type="http://schemas.openxmlformats.org/officeDocument/2006/relationships/image" Target="../media/image43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58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2" Type="http://schemas.openxmlformats.org/officeDocument/2006/relationships/image" Target="../media/image47.png"/><Relationship Id="rId16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5" Type="http://schemas.openxmlformats.org/officeDocument/2006/relationships/image" Target="../media/image50.png"/><Relationship Id="rId15" Type="http://schemas.openxmlformats.org/officeDocument/2006/relationships/image" Target="../media/image470.png"/><Relationship Id="rId10" Type="http://schemas.openxmlformats.org/officeDocument/2006/relationships/image" Target="../media/image55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49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7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- 5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4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공공재의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공공선택이론의 의의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공공선택의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AEC86F-2434-0377-0126-D48FC4912B4A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경제학의 다른 분야에서는 개별 경제주체의 의사결정 과정에 관심을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효용극대화를 추구하는 소비자의 의사결정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이윤극대화를 추구하는 기업의 의사결정이 전형적인 그 예이다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재정학에서는 개별이 아닌 집단의 의사결정 과정이 주요한 관심 대상이다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 구성원 모두가 제각기 다른 의견을 갖기 마련이므로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조율 과정을 거쳐 집단적 합의에 이르는 길을 모색해야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공공선택이론의 목적은 각 구성원의 의사가 집단의 의사로 통합되는 과정이 경제적 측면에서 갖는 의미를 분석하는 것이며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주로 관심대상으로 삼는 주요한 주제들은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집단의사결정 과정의 성격을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개인들의 선호를 모아 집단의 의사로 수렴하는데 여러가지 방법이 있을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각 방법의 장단점을 살펴본다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집단의사결정 과정에서 파생되는 자원배분상의 함의를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집단의사결정의 결과로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자원의 배분이 얼마나 효율적인지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얼마나 공평한지를 살펴본다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이론적 관점에서 정부의 행태를 예측하고 설명하고 분석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현실에서 나타나는 정부의 행태를 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 어떤 행동을 취할지 예측해본다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집단이 의사결정을 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구성원 모두가 직접 의사결정에 참여하는 직접민주제를 채택할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한편 대표를 선출한 뒤에 대표가 의사결정을 하는 간접민주제 혹은 대의민주제 방식을 채택할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80716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5FDA9B-D2D1-9671-70FB-C9E93101E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567049-7C94-FA36-9ADE-24196A1189F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4A678B-148E-C418-9F8D-A1B912767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8E65DD-9DB8-F499-6199-B4649E1DFA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직접민주제 하의 공공선택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630996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9AA13-2793-FD42-81E9-5D524880A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3E05E0-14E7-992F-34C4-065E6B1134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직접민주제하의</a:t>
            </a:r>
            <a:r>
              <a:rPr lang="ko-KR" altLang="en-US" dirty="0"/>
              <a:t> 공공선택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7CDD64-9004-C4A0-EE63-39C7DF6043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6231AE-0BCA-9F30-E9FC-6E858BE2E437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구성원 모두가 직접 의사결정에 참여하는 직접민주제 방식을 채택하는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여기에 참여하는 사람들은 아래와 같이 기본적인 점들에 대해 사전에 합의를 마쳐야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지금은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표의 배정방식을 당연한 것으로 생각하기 쉽지만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성인남녀가 한 표씩 투표하게 된 것은 그리 오래전의 일이 아니다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본 수업에서는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표의 방식을 기본적으로 가정하기로 하자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얼마 전 까지만 해도 세계 가국에서는 가난하다는 이유 혹은 여성이라는 이유로 투표권을 행사하지 못하는 경우가 있었다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심지어 국제연합</a:t>
            </a:r>
            <a:r>
              <a:rPr lang="en-US" altLang="ko-KR" sz="1600" spc="-50" dirty="0"/>
              <a:t>(UN)</a:t>
            </a:r>
            <a:r>
              <a:rPr lang="ko-KR" altLang="en-US" sz="1600" spc="-50" dirty="0"/>
              <a:t>의 안전보장이사회에서는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개 강대국의 거부권을 인정하고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조건이 충족되었을 때 의사결정에 도달되었다고 볼 수 있는지 합의가 되어야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참여자 전원이 찬성을 해야 하는지 혹은 과반수 이상이 찬성을 해야 하는지 등을 결정해야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5850524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00C811-44C2-51CF-6C0B-84D5774BA2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전원합의제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DCABFF7-6D25-5288-0FC0-C545C0191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4D5207-573A-CD5A-4AED-358F2F2051B0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전원합의제는 투표자 전원의 동의를 요구하는 표결 방식이므로 그 결과는 당연히 파레토 최적을 달성한다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모든 사람에게 만족스러운 결과를 </a:t>
            </a:r>
            <a:r>
              <a:rPr lang="ko-KR" altLang="en-US" sz="1600" spc="-50" dirty="0" err="1"/>
              <a:t>가져다주기는</a:t>
            </a:r>
            <a:r>
              <a:rPr lang="ko-KR" altLang="en-US" sz="1600" spc="-50" dirty="0"/>
              <a:t> 하지만 다음과 같은 문제점이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사람을 만족시키기 위해서는 너무 많은 시간이 소요된다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의안이 상정되면 반대하는 사람이 나타나기 마련이고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다른 의안이 나와도 이번엔 또 다른 사람이 반대할 가능성이 크다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사람이 조금만 늘어나도 이와 같은 과정은 한없이 되풀이 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사람이 더 큰 몫을 차지하고자 전략적인 반대를 하여 의사진행을 비효율적으로 이끌어 갈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앞으로 새로운 의안이 상정될 때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더 큰 몫을 차지하게 될 것이라고 예상하는 사람은 전략적인 반대를 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언제나 현재상태가 다른 대안에 비해 월등한 우위를 점하게 되는 문제가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새로운 의안이 상정될 때 마다  반대하는 사람이 나타나 합의를 보지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상태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원점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돌아가는 수 밖에 없다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현재상태에서 어떤 문제가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개선방안을 논의함에도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변화를 이끌어낼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이상의 논의를 종합하면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전원합의제는 아주 중요한 사안과 관련하여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논의에 참여하는 사람이 적을 때에만 사용할 수 있다는 결론이 도출된다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260224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2DDDC1-9408-8604-1999-3976B94CE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E58410-BF4D-FFFB-1F57-38F94F7F4E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과반수제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DE1A46-7198-792B-2B40-240A06E55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8CAB0F-3DC9-41B8-0CD1-1C94E5B38AB6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과반수제는 투표에 참가한 사람의 절반 이상이 찬성하는 의안을 통과된 것으로 간주하는 표결방식이다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소수의 의견을 가진 사람들이 다수의 의견을 따라 전체가 찬성한 것으로 간주하는 비교적 단순한 논리에 입각한다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 비교적 간단한 </a:t>
            </a:r>
            <a:r>
              <a:rPr lang="ko-KR" altLang="en-US" sz="1600" spc="-50" dirty="0" err="1"/>
              <a:t>방식이긴하지만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아래와 같은 문제점이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어떤 의안에 대해 절반 이상은 아니지만 거의 반수에 가까운 사람들이 반대하였음에도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의안이 통과되는 경우가 생길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이런 경우 소수파에 속하는 비교적 많은 사람들의 이익이 침해될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이런 문제점에 대응하기 위해 단순히 절반이 아니라 찬성비율의 기준을 </a:t>
            </a:r>
            <a:r>
              <a:rPr lang="en-US" altLang="ko-KR" sz="1600" spc="-50" dirty="0"/>
              <a:t>2/3 </a:t>
            </a:r>
            <a:r>
              <a:rPr lang="ko-KR" altLang="en-US" sz="1600" spc="-50" dirty="0"/>
              <a:t>혹은</a:t>
            </a:r>
            <a:r>
              <a:rPr lang="en-US" altLang="ko-KR" sz="1600" spc="-50" dirty="0"/>
              <a:t> 3/4 </a:t>
            </a:r>
            <a:r>
              <a:rPr lang="ko-KR" altLang="en-US" sz="1600" spc="-50" dirty="0"/>
              <a:t>으로 삼는 경우가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의안이 논의되는 순서에 따라 의사결정의 결과가 달라지는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투표의 역설</a:t>
            </a:r>
            <a:r>
              <a:rPr lang="en-US" altLang="ko-KR" sz="1600" spc="-50" dirty="0"/>
              <a:t>‘ </a:t>
            </a:r>
            <a:r>
              <a:rPr lang="ko-KR" altLang="en-US" sz="1600" spc="-50" dirty="0"/>
              <a:t>현상이 발생할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이는 앞선 문제보다 심각하다고 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뒷</a:t>
            </a:r>
            <a:r>
              <a:rPr lang="ko-KR" altLang="en-US" sz="1600" spc="-50" dirty="0"/>
              <a:t> 부분에서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보다 자세히 다루기로 하자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485241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D1F8E-6FEF-63AD-FD88-2D1D05834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3CE10A-3992-2061-DDFB-114F19123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최적다수결제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2AD350-D595-7634-3813-91E8FEA27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D47D70-290B-DA16-F60D-50D02E49C692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부캐넌</a:t>
            </a:r>
            <a:r>
              <a:rPr lang="en-US" altLang="ko-KR" sz="1600" spc="-50" dirty="0"/>
              <a:t>-</a:t>
            </a:r>
            <a:r>
              <a:rPr lang="ko-KR" altLang="en-US" sz="1600" spc="-50" dirty="0" err="1"/>
              <a:t>털록</a:t>
            </a:r>
            <a:r>
              <a:rPr lang="en-US" altLang="ko-KR" sz="1600" spc="-50" dirty="0"/>
              <a:t>(J. Buchanan and G. Tullock, 1962)</a:t>
            </a:r>
            <a:r>
              <a:rPr lang="ko-KR" altLang="en-US" sz="1600" spc="-50" dirty="0"/>
              <a:t>은 어떤 표결방식이라 할지라도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기본적으로 아래와 같은 두 가지 유형의 비용을 수반하게 된다고 지적한다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 번째 유형의 비용은 의사결정에 소요되는 시간과 관련된 비용이다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의사결정비용이라고 부른다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비용은 의안 통과에 필요한 찬성표 비율의 기준이 높을수록 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의사결정비용은 전원합의제 하에서 가장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번째 유형의 비용은 어떤 의안이 통과되었을 때 이로 인해 본인이 손해를 본다고 느끼는 사람에게 발생하는 비용이다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비용은 의안 통과에 필요한 찬성표 비율의 기준이 낮을수록 더 커진다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의안이 통과 되었을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반대한 사람이라면 본인이 손해임에도 불구하고 결과에 승복할 수 밖에 없는데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이런 사람들이 갖는 불만의 총량을 사회적 비용으로 간주하는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7953769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CC00E-FB0F-617E-1BEA-2CE4C36360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A79921-427A-2F82-BD7A-EEB13DA7D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최적다수결제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206145-F8C8-83C2-4FD2-76CD218673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047879-6110-29AE-803C-CD560D178E8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189135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앞서 보았듯이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표결방식과 관련한 두 가지 유형의 비용을 합친 것이 표결의 총비용이 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총비용이 최저가 되는 수준이 찬성비율을 찾고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그 최적 수준의 찬성비율을 적용한 것이 최적다수결제이다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아래 그림은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ko-KR" altLang="en-US" sz="1600" spc="-50" dirty="0"/>
                  <a:t>명의 투표자가 의안 결정에 참여하고 있는 상황이다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첫 번째 유형의 비용은 요구되는 찬성표의 기준 수가 커질수록 더 높아지므로 </a:t>
                </a:r>
                <a:r>
                  <a:rPr lang="ko-KR" altLang="en-US" sz="1600" spc="-50" dirty="0" err="1"/>
                  <a:t>우상향하는</a:t>
                </a:r>
                <a:r>
                  <a:rPr lang="ko-KR" altLang="en-US" sz="1600" spc="-50" dirty="0"/>
                  <a:t> 곡선으로 표현되어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두 번째 유형의 비용은 요구되는 찬성표의 기준 수가 적을수록 더 높아지므로 </a:t>
                </a:r>
                <a:r>
                  <a:rPr lang="ko-KR" altLang="en-US" sz="1600" spc="-50" dirty="0" err="1"/>
                  <a:t>우하향하는</a:t>
                </a:r>
                <a:r>
                  <a:rPr lang="ko-KR" altLang="en-US" sz="1600" spc="-50" dirty="0"/>
                  <a:t> 곡선으로 표현되어 있다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3047879-6110-29AE-803C-CD560D178E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1891352"/>
              </a:xfrm>
              <a:prstGeom prst="rect">
                <a:avLst/>
              </a:prstGeom>
              <a:blipFill>
                <a:blip r:embed="rId2"/>
                <a:stretch>
                  <a:fillRect b="-28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 descr="도표, 라인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15FA1F-F47F-5376-31B1-7973EE234D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8599" y="4362274"/>
            <a:ext cx="2911981" cy="193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5360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092EC-3F2A-C75F-8065-6FE00B411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01CABF-C997-DFA1-162C-08B8841C2E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XXXXXXXXXXXXXXXXXXXXXXXXXXXXXXXXXXXXXXXXXXXXXX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684CDEC-34F3-15CC-1660-986587093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2F92DB-ECB5-E458-94DC-8DBC238EB641}"/>
              </a:ext>
            </a:extLst>
          </p:cNvPr>
          <p:cNvSpPr txBox="1"/>
          <p:nvPr/>
        </p:nvSpPr>
        <p:spPr>
          <a:xfrm>
            <a:off x="288790" y="958844"/>
            <a:ext cx="11693660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XXXXXXXXXXXXXXXXXXXXX</a:t>
            </a:r>
          </a:p>
        </p:txBody>
      </p:sp>
    </p:spTree>
    <p:extLst>
      <p:ext uri="{BB962C8B-B14F-4D97-AF65-F5344CB8AC3E}">
        <p14:creationId xmlns:p14="http://schemas.microsoft.com/office/powerpoint/2010/main" val="19553733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CFBA77-8654-2BFF-949E-ADB15A2B1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2301CFC-E4B8-236E-DABF-45EE63BDAF9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AD2E60-4AAF-ACCC-00E1-73A783EB42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6E10C56-498B-7E5A-5F8A-5445515D63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과반수제하에서의</a:t>
            </a:r>
            <a:r>
              <a:rPr lang="ko-KR" altLang="en-US" sz="4000" b="1" i="0" spc="150" dirty="0"/>
              <a:t> 정치적 균형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087260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A23DD8-0D14-2472-DBD1-4DF3207D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ED1381-5802-4B7C-C10F-F2F72FE701C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F63AEF-81DC-67C5-59B8-1BD8AD90B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1E5D6525-1842-2279-6B45-1229A5858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 err="1"/>
              <a:t>대의민주제하의</a:t>
            </a:r>
            <a:r>
              <a:rPr lang="ko-KR" altLang="en-US" sz="4000" b="1" i="0" spc="150" dirty="0"/>
              <a:t> 공공선택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7998665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68475F-B926-38D0-0D3E-462108032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AAFAF0-B341-8AB7-D11A-8BB69119F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75C5D-E72D-0490-F175-D1A6720F9830}"/>
              </a:ext>
            </a:extLst>
          </p:cNvPr>
          <p:cNvSpPr txBox="1"/>
          <p:nvPr/>
        </p:nvSpPr>
        <p:spPr>
          <a:xfrm>
            <a:off x="288790" y="958844"/>
            <a:ext cx="11693660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공공재 뿐 아니라 사적재화의 성격을 갖는 것도 공급하는 이유는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그것이 </a:t>
            </a:r>
            <a:r>
              <a:rPr lang="ko-KR" altLang="en-US" sz="1600" spc="-50" dirty="0" err="1"/>
              <a:t>가치재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(merit goods)</a:t>
            </a:r>
            <a:r>
              <a:rPr lang="ko-KR" altLang="en-US" sz="1600" spc="-50" dirty="0"/>
              <a:t>의 성격을 갖기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가치재는 개인의 선택에 맡길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일정수준 이상의 바람직한 상태까지 소비가 되지 않는 재화나 서비스를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정부는 모든 국민에게 최소한 일정 수준 이상의 혜택이 보장되어야 하는 재화에 대해서는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직접 공급하기로 결정하게 된다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대표적인 예로는 의무교육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무료급식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예방접종 등이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공공재에 대한 가치평가는 사람마다 다르므로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사람이 같은 양의 공공재를 소비한다고 해서 같은 편익을 얻는 것은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특정 토지에 대해 공원 조성을 원하는 사람이 있을 것이고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반대로 도로 건설을 원하는 사람이 있을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97804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685C48-76D8-4572-0B1F-F547975940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6CE04E-FE76-764A-E96C-9EA16AE79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835386-5E8A-24AD-EAEB-95044030E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DC5EBD-30CC-62A0-808E-AC74F2ABF097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45100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공공재는 다음과 같은 두 가지 기본성격</a:t>
                </a:r>
                <a:r>
                  <a:rPr lang="en-US" altLang="ko-KR" sz="1600" spc="-50" dirty="0"/>
                  <a:t>(</a:t>
                </a:r>
                <a:r>
                  <a:rPr lang="ko-KR" altLang="en-US" sz="1600" spc="-50" dirty="0" err="1"/>
                  <a:t>비경합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 err="1"/>
                  <a:t>비배제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갖기 때문에 사적재화와 명백하게 구분될 수 있다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비경합성</a:t>
                </a:r>
                <a:r>
                  <a:rPr lang="en-US" altLang="ko-KR" sz="1600" spc="-50" dirty="0"/>
                  <a:t>: </a:t>
                </a:r>
                <a:r>
                  <a:rPr lang="ko-KR" altLang="en-US" sz="1600" spc="-50" dirty="0"/>
                  <a:t>어떤 사람이 이것을 소비한다고 해서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다른 사람의 소비 가능성이 줄어들지 않는다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ko-KR" sz="1600" spc="-50" dirty="0"/>
                  <a:t>10</a:t>
                </a:r>
                <a:r>
                  <a:rPr lang="ko-KR" altLang="en-US" sz="1600" spc="-50" dirty="0"/>
                  <a:t>개의 사탕이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내가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개를 먹으면 다른 사람이 먹을 수 있는 사탕은 그만큼 줄어들게 된다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따라서 사탕은 경합성이 있는 재화이다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국방서비스는 내가 그 혜택을 누린다고 해서 다른 개인이 누릴 수 있는 안보 수준이 감소하지 않는다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따라서 국방서비스는 경합성이 없는 서비스이다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만큼의 공공재가 생산되면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 모두 각각 소비할 수 있는 공공재의 양도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가 된다</a:t>
                </a:r>
                <a:r>
                  <a:rPr lang="en-US" altLang="ko-KR" sz="1600" spc="-50" dirty="0"/>
                  <a:t>. (</a:t>
                </a:r>
                <a:r>
                  <a:rPr lang="ko-KR" altLang="en-US" sz="1600" spc="-50" dirty="0"/>
                  <a:t>아래 그림의 파란색 실선</a:t>
                </a:r>
                <a:r>
                  <a:rPr lang="en-US" altLang="ko-KR" sz="1600" spc="-50" dirty="0"/>
                  <a:t>)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만약 사적재화 라면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사람이 소비하는 양을 합친 것이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가 되어야 한다</a:t>
                </a:r>
                <a:r>
                  <a:rPr lang="en-US" altLang="ko-KR" sz="1600" spc="-50" dirty="0"/>
                  <a:t>. ( </a:t>
                </a:r>
                <a:r>
                  <a:rPr lang="ko-KR" altLang="en-US" sz="1600" spc="-50" dirty="0"/>
                  <a:t>아래 그림의 빨간색 점선</a:t>
                </a:r>
                <a:r>
                  <a:rPr lang="en-US" altLang="ko-KR" sz="1600" spc="-5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DC5EBD-30CC-62A0-808E-AC74F2ABF0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45100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그림 15">
            <a:extLst>
              <a:ext uri="{FF2B5EF4-FFF2-40B4-BE49-F238E27FC236}">
                <a16:creationId xmlns:a16="http://schemas.microsoft.com/office/drawing/2014/main" id="{F2DBEC5D-FF98-7E32-9249-38C506B73C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04600" y="4298951"/>
            <a:ext cx="2192299" cy="2192299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3249D97-E3AA-76C3-C440-A720B2CDAAD9}"/>
              </a:ext>
            </a:extLst>
          </p:cNvPr>
          <p:cNvSpPr txBox="1"/>
          <p:nvPr/>
        </p:nvSpPr>
        <p:spPr>
          <a:xfrm>
            <a:off x="3564333" y="5682869"/>
            <a:ext cx="13519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사적재화의 경우</a:t>
            </a:r>
            <a:endParaRPr lang="ko-KR" altLang="en-US" sz="9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0049C33-EC9E-16A1-FA79-B1830B05F1DD}"/>
              </a:ext>
            </a:extLst>
          </p:cNvPr>
          <p:cNvSpPr txBox="1"/>
          <p:nvPr/>
        </p:nvSpPr>
        <p:spPr>
          <a:xfrm>
            <a:off x="5904733" y="4892526"/>
            <a:ext cx="1351943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900" spc="-50" dirty="0"/>
              <a:t>공공재의 경우</a:t>
            </a:r>
            <a:endParaRPr lang="ko-KR" altLang="en-US" sz="9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994D442-C621-5F87-9E99-B56C4606093F}"/>
              </a:ext>
            </a:extLst>
          </p:cNvPr>
          <p:cNvSpPr txBox="1"/>
          <p:nvPr/>
        </p:nvSpPr>
        <p:spPr>
          <a:xfrm>
            <a:off x="874747" y="4974727"/>
            <a:ext cx="358008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공공재와 사적재화의 소비가능 곡선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C472E14-313B-83C3-5BA0-046ED6D99EAE}"/>
                  </a:ext>
                </a:extLst>
              </p:cNvPr>
              <p:cNvSpPr txBox="1"/>
              <p:nvPr/>
            </p:nvSpPr>
            <p:spPr>
              <a:xfrm>
                <a:off x="4320711" y="4128086"/>
                <a:ext cx="1256049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400" dirty="0"/>
                  <a:t> </a:t>
                </a:r>
                <a:r>
                  <a:rPr lang="en-US" altLang="ko-KR" sz="1400" dirty="0"/>
                  <a:t>(B</a:t>
                </a:r>
                <a:r>
                  <a:rPr lang="ko-KR" altLang="en-US" sz="1400" dirty="0"/>
                  <a:t>의 소비량</a:t>
                </a:r>
                <a:r>
                  <a:rPr lang="en-US" altLang="ko-KR" sz="1400" dirty="0"/>
                  <a:t>)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C472E14-313B-83C3-5BA0-046ED6D99E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20711" y="4128086"/>
                <a:ext cx="1256049" cy="215444"/>
              </a:xfrm>
              <a:prstGeom prst="rect">
                <a:avLst/>
              </a:prstGeom>
              <a:blipFill>
                <a:blip r:embed="rId4"/>
                <a:stretch>
                  <a:fillRect l="-4854" t="-25000" r="-7282" b="-472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1C00214-443B-ED10-EE40-DD26493B13F2}"/>
                  </a:ext>
                </a:extLst>
              </p:cNvPr>
              <p:cNvSpPr txBox="1"/>
              <p:nvPr/>
            </p:nvSpPr>
            <p:spPr>
              <a:xfrm>
                <a:off x="7096899" y="6275806"/>
                <a:ext cx="1257717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400" dirty="0"/>
                  <a:t> </a:t>
                </a:r>
                <a:r>
                  <a:rPr lang="en-US" altLang="ko-KR" sz="1400" dirty="0"/>
                  <a:t>(A</a:t>
                </a:r>
                <a:r>
                  <a:rPr lang="ko-KR" altLang="en-US" sz="1400" dirty="0"/>
                  <a:t>의 소비량</a:t>
                </a:r>
                <a:r>
                  <a:rPr lang="en-US" altLang="ko-KR" sz="1400" dirty="0"/>
                  <a:t>)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1C00214-443B-ED10-EE40-DD26493B13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6899" y="6275806"/>
                <a:ext cx="1257717" cy="215444"/>
              </a:xfrm>
              <a:prstGeom prst="rect">
                <a:avLst/>
              </a:prstGeom>
              <a:blipFill>
                <a:blip r:embed="rId5"/>
                <a:stretch>
                  <a:fillRect l="-4831" t="-25000" r="-7246" b="-472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A9777-7881-BBEB-1328-D81656010E63}"/>
                  </a:ext>
                </a:extLst>
              </p:cNvPr>
              <p:cNvSpPr txBox="1"/>
              <p:nvPr/>
            </p:nvSpPr>
            <p:spPr>
              <a:xfrm>
                <a:off x="5959559" y="6405593"/>
                <a:ext cx="352122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4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4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en-US" altLang="ko-KR" sz="1400" spc="-50" dirty="0"/>
                  <a:t> 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26A9777-7881-BBEB-1328-D81656010E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559" y="6405593"/>
                <a:ext cx="352122" cy="3317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70270FC-5D06-F56D-F82B-B5546AB55A05}"/>
                  </a:ext>
                </a:extLst>
              </p:cNvPr>
              <p:cNvSpPr txBox="1"/>
              <p:nvPr/>
            </p:nvSpPr>
            <p:spPr>
              <a:xfrm>
                <a:off x="4646704" y="5104233"/>
                <a:ext cx="352122" cy="3317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4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4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bar>
                  </m:oMath>
                </a14:m>
                <a:r>
                  <a:rPr lang="en-US" altLang="ko-KR" sz="1400" spc="-50" dirty="0"/>
                  <a:t> </a:t>
                </a:r>
                <a:endParaRPr lang="ko-KR" altLang="en-US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70270FC-5D06-F56D-F82B-B5546AB55A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6704" y="5104233"/>
                <a:ext cx="352122" cy="3317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연결선: 꺾임 24">
            <a:extLst>
              <a:ext uri="{FF2B5EF4-FFF2-40B4-BE49-F238E27FC236}">
                <a16:creationId xmlns:a16="http://schemas.microsoft.com/office/drawing/2014/main" id="{C6C490E6-D286-11B9-B8FC-C4DA7113FB91}"/>
              </a:ext>
            </a:extLst>
          </p:cNvPr>
          <p:cNvCxnSpPr>
            <a:cxnSpLocks/>
          </p:cNvCxnSpPr>
          <p:nvPr/>
        </p:nvCxnSpPr>
        <p:spPr>
          <a:xfrm flipV="1">
            <a:off x="4679950" y="5745276"/>
            <a:ext cx="610911" cy="53009"/>
          </a:xfrm>
          <a:prstGeom prst="bentConnector3">
            <a:avLst>
              <a:gd name="adj1" fmla="val 25054"/>
            </a:avLst>
          </a:prstGeom>
          <a:ln>
            <a:solidFill>
              <a:srgbClr val="FF0000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E8C1EB25-907A-9984-F698-9C2091EFCF73}"/>
              </a:ext>
            </a:extLst>
          </p:cNvPr>
          <p:cNvCxnSpPr>
            <a:cxnSpLocks/>
          </p:cNvCxnSpPr>
          <p:nvPr/>
        </p:nvCxnSpPr>
        <p:spPr>
          <a:xfrm rot="5400000">
            <a:off x="6271555" y="5016822"/>
            <a:ext cx="170865" cy="383937"/>
          </a:xfrm>
          <a:prstGeom prst="bentConnector2">
            <a:avLst/>
          </a:prstGeom>
          <a:ln>
            <a:solidFill>
              <a:srgbClr val="2D72BE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97673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7966DB-990F-BB39-F362-385D9A5F94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공공재의 기본성격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898D8E-4B7C-725D-3E8C-4CCDD35D1A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6600D1F-9AB4-B438-A2DF-A6A85A15AB64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비배제성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대가를 지불하지 않더라도 소비에서 특정 사람을 배제하기 어렵거나 불가능하다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편의점에 진열되어 있는 과자가 맛있어 보인다고 해서 대가를 지불하지 않고 먹을 수는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편의점 상품은 배제성이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축제의 불꽃놀이는 입장권을 구매하지 않아도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주변 사람이라면 볼 수 있는 경우가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이때 불꽃놀이는 배제성이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비배제성 때문에 공공재에 대해 양</a:t>
            </a:r>
            <a:r>
              <a:rPr lang="en-US" altLang="ko-KR" sz="1600" spc="-50" dirty="0"/>
              <a:t>(+)</a:t>
            </a:r>
            <a:r>
              <a:rPr lang="ko-KR" altLang="en-US" sz="1600" spc="-50" dirty="0"/>
              <a:t>의 가격을 매기려 해도 매길 수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설사 양의 가격을 매기는 것이 가능하다 해도 그렇게 하는 것은 바람직하지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공공재는 비경합성도 갖기 때문에 한 명의 소비자를 소비에 추가로 참여시키는 데 드는 한계비용이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이기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효율적인 자원배분을 위해서는 가격을 한계비용과 일치시키는 것이 바람직하므로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공공재의 가격은 </a:t>
            </a:r>
            <a:r>
              <a:rPr lang="en-US" altLang="ko-KR" sz="1600" spc="-50" dirty="0"/>
              <a:t>0</a:t>
            </a:r>
            <a:r>
              <a:rPr lang="ko-KR" altLang="en-US" sz="1600" spc="-50" dirty="0"/>
              <a:t>원이라 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일반적으로 시장은 배제성이 적용되는 곳에서만 적절한 기능을 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지금까지 </a:t>
            </a:r>
            <a:r>
              <a:rPr lang="ko-KR" altLang="en-US" sz="1600" spc="-50" dirty="0" err="1"/>
              <a:t>살펴본대로</a:t>
            </a:r>
            <a:r>
              <a:rPr lang="ko-KR" altLang="en-US" sz="1600" spc="-50" dirty="0"/>
              <a:t> 공공재의 경우 양의 가격을 매길 수도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그렇게 하는 것이 바람직하지 않다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따라서 공공재를 시장을 통해 배분하는 것은 비효율적이 될 것임을 예상할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630188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27E98E-66B5-EFB9-7D26-85AD8AD5B2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불완전한 공공재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D8AB63-DAE9-02F1-7814-D5BBCB5FC6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2E9709-99BC-5194-2C80-D565B83F0A39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설명한 것처럼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순수한 공공재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라면 비경합성과 비배제성 이라는 두 가지 성격을 완전하게 갖고 있어야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현실에서 이 두 성격을 모두 갖는 순수한 공공재를 찾는 것은 힘들다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현실에서는 비경합성 혹은 비배제성 둘 중 한가지 성격만 갖고 있거나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또한 두 가지 성격을 갖고 있어도 불완전한 정도로 갖고 있는 경우가 흔하다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이처럼 두가지 특성을 완전히 갖추지 못한 공공재는 순수하지 못한 공공재 </a:t>
            </a:r>
            <a:r>
              <a:rPr lang="ko-KR" altLang="en-US" sz="1600" spc="-50" dirty="0" err="1"/>
              <a:t>라고</a:t>
            </a:r>
            <a:r>
              <a:rPr lang="ko-KR" altLang="en-US" sz="1600" spc="-50" dirty="0"/>
              <a:t> 부른다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순수한 공공재라고 하기에는 어느 정도의 경합성을 가질 수 있는 공공재가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혼잡가능공공재라고 부르기도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도로가 대표적인 예로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도로 위에 차가 많이 없을 때는 경합성이 없다가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차가 많아지면 경합성이 어느정도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박물관도 혼잡가능공공재의 좋은 예이다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순수한 공공재라고 하기에는 어느 정도의 배제성을 가질 수 있는 공공재도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유료로 운영이 되는 도로의 경우 배제성이 있는 도로가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등대 빛이 육안으로 쉽게 식별 가능하다면 배제성이 없지만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기술적으로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등대에서 특별한 신호를 내보내서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신호를 해독할 수 있는 장치가 있어야만 실제로 등대 서비스를 이용할 수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등대 서비스도 배제성이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185513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1B567A-9B29-F57E-6F8F-C5F32D6C24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클럽 이론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4682F1-5C58-3FB8-7120-4ED9E12216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937F7B-CEAC-B863-5500-785A5BC07D75}"/>
              </a:ext>
            </a:extLst>
          </p:cNvPr>
          <p:cNvSpPr txBox="1"/>
          <p:nvPr/>
        </p:nvSpPr>
        <p:spPr>
          <a:xfrm>
            <a:off x="288790" y="958844"/>
            <a:ext cx="11693660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부캐넌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(J. Buchanan, 1965)</a:t>
            </a:r>
            <a:r>
              <a:rPr lang="ko-KR" altLang="en-US" sz="1600" spc="-50" dirty="0"/>
              <a:t>은 비경합성이 있기는 하나 불완전하여 혼잡이 문제되는 재화나 서비스를 대상으로 하는 클럽 이론을 제시했다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헬스클럽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골프클럽의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회원 수가 많지 않을 때는 혼잡이 발생하지 않다가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수가 점차 불어나면서 혼잡의 문제가 발생하기 시작한다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이론은 클럽의 최적 규모와 최적 회원수의 규모를 찾아내고자 하는데 주안점을 두고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클럽의 규모가 일정하게 주어진 상황에서 회원 수가 늘어남에 따라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회원</a:t>
            </a:r>
            <a:r>
              <a:rPr lang="en-US" altLang="ko-KR" sz="1600" spc="-50" dirty="0"/>
              <a:t> 1</a:t>
            </a:r>
            <a:r>
              <a:rPr lang="ko-KR" altLang="en-US" sz="1600" spc="-50" dirty="0"/>
              <a:t>인당의 편익과 비용을 관찰해보자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주어진 규모의 클럽을 짓고 운영하는 데 드는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비용은 회원 수가 증가할 수록 감소한다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회원 수가 증가할 수록 혼잡이 생겨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편익이 감소하기도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클럽의 회원 수를 주어진 것으로 하면 클럽의 규모에 따라 편익과 비용이 달라진다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클럽의 회원 수가 주어져 있을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클럽 규모가 크면 혼잡이 감소한다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규모가 크면 혼잡은 없어지나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인당 비용이 증가한다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위의 두 가지 측면을 통합하면 최적인 클럽의 규모와 최적인 회원 수를 동시에 찾아낼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7542550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96B78-4AE9-D95D-8B4C-5008A3D44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FF820A-FC3D-2E75-D8F0-A416453AF0F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1E20EC-46C2-1D74-84A1-E73EF374D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C22F06C-7DB9-D880-90E9-4FE9B7D92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공공재의 최적수준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4561894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라인, 스크린샷, 텍스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AA082C2-F834-1E84-0531-62A16179C59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76"/>
          <a:stretch>
            <a:fillRect/>
          </a:stretch>
        </p:blipFill>
        <p:spPr>
          <a:xfrm>
            <a:off x="8523127" y="3796704"/>
            <a:ext cx="2586833" cy="28151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2B38785-0F55-1337-19AD-168023934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공공재에 대한 개인의 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E5BB01-0221-000C-7271-87796026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723AC5-596A-5F74-9319-6E13D5EF901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92833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사회적 관점에서 볼 때 어떤 수준에서 공공재를 생산하고 공급하는 것이 적절한지 논의 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사적재화와 마찬가지로 공공재 또한 수요와 공급에 의해 생산수준이 결정되는 것이 바람직하다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다만 개인의 수요를 어떻게 시장의 수요로 통합해야 하는지 등 구체적인 도출과정에서 공공재의 특성이 드러난다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보통 상품에 대한 수요곡선을 구하는 경우와 마찬가지로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공공재의 가격을 계속해서 변화시키면서 소비자의 선택점을 추적해보면 공공재에 대한 수요곡선을 도출할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사적재화의 가격이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이라 가정하고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공공재의 경우 단위당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ko-KR" altLang="en-US" sz="1600" spc="-50" dirty="0"/>
                  <a:t>의 조세가격을 지불해야 하는 것으로 가정하자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이 때 소비자의 예산제약은 아래와 같은 식으로 나타낼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𝑝𝑍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ko-KR" altLang="en-US" sz="1600" dirty="0"/>
                  <a:t>  여기서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ko-KR" altLang="en-US" sz="1600" dirty="0"/>
                  <a:t>는 사용재의 양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ko-KR" altLang="en-US" sz="1600" dirty="0"/>
                  <a:t>는 공공재의 양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ko-KR" altLang="en-US" sz="1600" dirty="0"/>
                  <a:t>은 소득이다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수식을 그림으로 표현하면 오른쪽 그림과 같다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𝐽𝐾</m:t>
                        </m:r>
                      </m:e>
                    </m:bar>
                  </m:oMath>
                </a14:m>
                <a:r>
                  <a:rPr lang="ko-KR" altLang="en-US" sz="1600" dirty="0"/>
                  <a:t>는 공공재의 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일 때의 예산선</a:t>
                </a:r>
                <a:endParaRPr lang="en-US" altLang="ko-KR" sz="160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bar>
                  </m:oMath>
                </a14:m>
                <a:r>
                  <a:rPr lang="ko-KR" altLang="en-US" sz="1600" dirty="0"/>
                  <a:t>은 공공재의 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로 떨어졌을 때의 예산선</a:t>
                </a:r>
                <a:endParaRPr lang="en-US" altLang="ko-KR" sz="160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가격이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로 떨어지면 수요량이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로 증가한다</a:t>
                </a:r>
                <a:r>
                  <a:rPr lang="en-US" altLang="ko-KR" sz="1600" dirty="0"/>
                  <a:t>.</a:t>
                </a:r>
                <a:endParaRPr lang="ko-KR" alt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2723AC5-596A-5F74-9319-6E13D5EF90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928337"/>
              </a:xfrm>
              <a:prstGeom prst="rect">
                <a:avLst/>
              </a:prstGeom>
              <a:blipFill>
                <a:blip r:embed="rId3"/>
                <a:stretch>
                  <a:fillRect r="-104" b="-4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0061AFB-8439-E3C1-7439-9ED437CCB191}"/>
                  </a:ext>
                </a:extLst>
              </p:cNvPr>
              <p:cNvSpPr txBox="1"/>
              <p:nvPr/>
            </p:nvSpPr>
            <p:spPr>
              <a:xfrm>
                <a:off x="9264630" y="6261901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0061AFB-8439-E3C1-7439-9ED437CCB1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4630" y="6261901"/>
                <a:ext cx="494030" cy="26161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원호 40">
            <a:extLst>
              <a:ext uri="{FF2B5EF4-FFF2-40B4-BE49-F238E27FC236}">
                <a16:creationId xmlns:a16="http://schemas.microsoft.com/office/drawing/2014/main" id="{FA33CB24-2B7F-4633-15A0-B0A46904ED51}"/>
              </a:ext>
            </a:extLst>
          </p:cNvPr>
          <p:cNvSpPr/>
          <p:nvPr/>
        </p:nvSpPr>
        <p:spPr>
          <a:xfrm rot="11977327">
            <a:off x="9384704" y="2648312"/>
            <a:ext cx="4199037" cy="3505925"/>
          </a:xfrm>
          <a:prstGeom prst="arc">
            <a:avLst>
              <a:gd name="adj1" fmla="val 16200000"/>
              <a:gd name="adj2" fmla="val 19697531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원호 42">
            <a:extLst>
              <a:ext uri="{FF2B5EF4-FFF2-40B4-BE49-F238E27FC236}">
                <a16:creationId xmlns:a16="http://schemas.microsoft.com/office/drawing/2014/main" id="{8709EB8F-792D-7CAF-C46B-6890103918F0}"/>
              </a:ext>
            </a:extLst>
          </p:cNvPr>
          <p:cNvSpPr/>
          <p:nvPr/>
        </p:nvSpPr>
        <p:spPr>
          <a:xfrm rot="11931415">
            <a:off x="9268750" y="2840846"/>
            <a:ext cx="3123709" cy="3505925"/>
          </a:xfrm>
          <a:prstGeom prst="arc">
            <a:avLst>
              <a:gd name="adj1" fmla="val 16200000"/>
              <a:gd name="adj2" fmla="val 19697531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연결선 43">
            <a:extLst>
              <a:ext uri="{FF2B5EF4-FFF2-40B4-BE49-F238E27FC236}">
                <a16:creationId xmlns:a16="http://schemas.microsoft.com/office/drawing/2014/main" id="{8A366788-C164-376B-8995-A7DBAA7F5BBE}"/>
              </a:ext>
            </a:extLst>
          </p:cNvPr>
          <p:cNvCxnSpPr>
            <a:cxnSpLocks/>
          </p:cNvCxnSpPr>
          <p:nvPr/>
        </p:nvCxnSpPr>
        <p:spPr>
          <a:xfrm>
            <a:off x="10108870" y="5622908"/>
            <a:ext cx="0" cy="64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F89EF42-713E-5643-E0BD-6018EE020131}"/>
                  </a:ext>
                </a:extLst>
              </p:cNvPr>
              <p:cNvSpPr txBox="1"/>
              <p:nvPr/>
            </p:nvSpPr>
            <p:spPr>
              <a:xfrm>
                <a:off x="9902480" y="624256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CF89EF42-713E-5643-E0BD-6018EE0201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2480" y="6242568"/>
                <a:ext cx="494030" cy="26161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6" name="직선 연결선 45">
            <a:extLst>
              <a:ext uri="{FF2B5EF4-FFF2-40B4-BE49-F238E27FC236}">
                <a16:creationId xmlns:a16="http://schemas.microsoft.com/office/drawing/2014/main" id="{826A46B1-4886-913D-D949-9D71F386DE16}"/>
              </a:ext>
            </a:extLst>
          </p:cNvPr>
          <p:cNvCxnSpPr>
            <a:cxnSpLocks/>
          </p:cNvCxnSpPr>
          <p:nvPr/>
        </p:nvCxnSpPr>
        <p:spPr>
          <a:xfrm>
            <a:off x="9473869" y="5597508"/>
            <a:ext cx="0" cy="684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18962D2-685C-F245-B93A-8A9356F7EA21}"/>
                  </a:ext>
                </a:extLst>
              </p:cNvPr>
              <p:cNvSpPr txBox="1"/>
              <p:nvPr/>
            </p:nvSpPr>
            <p:spPr>
              <a:xfrm>
                <a:off x="9322513" y="5398923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18962D2-685C-F245-B93A-8A9356F7EA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2513" y="5398923"/>
                <a:ext cx="494030" cy="2616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7B16C17-15C4-D72B-F071-09C44EDEE21A}"/>
                  </a:ext>
                </a:extLst>
              </p:cNvPr>
              <p:cNvSpPr txBox="1"/>
              <p:nvPr/>
            </p:nvSpPr>
            <p:spPr>
              <a:xfrm>
                <a:off x="9969221" y="538963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n-US" altLang="ko-KR" sz="11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77B16C17-15C4-D72B-F071-09C44EDEE2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9221" y="5389638"/>
                <a:ext cx="494030" cy="26161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919D8A7-4789-4E4F-6C2B-51772564A35E}"/>
                  </a:ext>
                </a:extLst>
              </p:cNvPr>
              <p:cNvSpPr txBox="1"/>
              <p:nvPr/>
            </p:nvSpPr>
            <p:spPr>
              <a:xfrm>
                <a:off x="10659391" y="624256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919D8A7-4789-4E4F-6C2B-51772564A3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59391" y="6242568"/>
                <a:ext cx="494030" cy="26161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42B0F97-DC0E-8CBC-5728-A491BB0C29F9}"/>
                  </a:ext>
                </a:extLst>
              </p:cNvPr>
              <p:cNvSpPr txBox="1"/>
              <p:nvPr/>
            </p:nvSpPr>
            <p:spPr>
              <a:xfrm>
                <a:off x="9643593" y="6242568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B42B0F97-DC0E-8CBC-5728-A491BB0C29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3593" y="6242568"/>
                <a:ext cx="494030" cy="2616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185436F-48F5-8956-9C7C-0B99FFD63ED4}"/>
                  </a:ext>
                </a:extLst>
              </p:cNvPr>
              <p:cNvSpPr txBox="1"/>
              <p:nvPr/>
            </p:nvSpPr>
            <p:spPr>
              <a:xfrm>
                <a:off x="8538993" y="4401274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𝐽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185436F-48F5-8956-9C7C-0B99FFD63E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8993" y="4401274"/>
                <a:ext cx="494030" cy="26161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ACA4897-2B4B-83C3-97B6-4B6AEA7127D9}"/>
                  </a:ext>
                </a:extLst>
              </p:cNvPr>
              <p:cNvSpPr txBox="1"/>
              <p:nvPr/>
            </p:nvSpPr>
            <p:spPr>
              <a:xfrm>
                <a:off x="8538993" y="6219486"/>
                <a:ext cx="494030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100" b="0" i="1" smtClean="0">
                          <a:latin typeface="Cambria Math" panose="02040503050406030204" pitchFamily="18" charset="0"/>
                        </a:rPr>
                        <m:t>𝑂</m:t>
                      </m:r>
                    </m:oMath>
                  </m:oMathPara>
                </a14:m>
                <a:endParaRPr lang="ko-KR" altLang="en-US" sz="11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ACA4897-2B4B-83C3-97B6-4B6AEA7127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8993" y="6219486"/>
                <a:ext cx="494030" cy="2616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1E7463C-B485-585A-BC81-8B6ED535B572}"/>
                  </a:ext>
                </a:extLst>
              </p:cNvPr>
              <p:cNvSpPr txBox="1"/>
              <p:nvPr/>
            </p:nvSpPr>
            <p:spPr>
              <a:xfrm>
                <a:off x="8450518" y="3569733"/>
                <a:ext cx="934876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ko-KR" altLang="en-US" sz="11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 err="1"/>
                  <a:t>사적재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71E7463C-B485-585A-BC81-8B6ED535B5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0518" y="3569733"/>
                <a:ext cx="934876" cy="261610"/>
              </a:xfrm>
              <a:prstGeom prst="rect">
                <a:avLst/>
              </a:prstGeom>
              <a:blipFill>
                <a:blip r:embed="rId12"/>
                <a:stretch>
                  <a:fillRect t="-2326" b="-139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85167AD-C1C5-87E2-D0C0-5289CA63C414}"/>
                  </a:ext>
                </a:extLst>
              </p:cNvPr>
              <p:cNvSpPr txBox="1"/>
              <p:nvPr/>
            </p:nvSpPr>
            <p:spPr>
              <a:xfrm>
                <a:off x="11047574" y="6242568"/>
                <a:ext cx="934876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sz="11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ko-KR" altLang="en-US" sz="11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공공재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B85167AD-C1C5-87E2-D0C0-5289CA63C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7574" y="6242568"/>
                <a:ext cx="934876" cy="261610"/>
              </a:xfrm>
              <a:prstGeom prst="rect">
                <a:avLst/>
              </a:prstGeom>
              <a:blipFill>
                <a:blip r:embed="rId13"/>
                <a:stretch>
                  <a:fillRect t="-2326" b="-139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A012C11-F811-E070-E2A7-E25109241E69}"/>
                  </a:ext>
                </a:extLst>
              </p:cNvPr>
              <p:cNvSpPr txBox="1"/>
              <p:nvPr/>
            </p:nvSpPr>
            <p:spPr>
              <a:xfrm>
                <a:off x="8119583" y="5140754"/>
                <a:ext cx="734480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700" b="0" dirty="0"/>
                  <a:t>기울기</a:t>
                </a:r>
                <a:r>
                  <a:rPr lang="en-US" altLang="ko-KR" sz="900" b="0" dirty="0"/>
                  <a:t>= -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ko-KR" altLang="en-US" sz="7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A012C11-F811-E070-E2A7-E25109241E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9583" y="5140754"/>
                <a:ext cx="734480" cy="230832"/>
              </a:xfrm>
              <a:prstGeom prst="rect">
                <a:avLst/>
              </a:prstGeom>
              <a:blipFill>
                <a:blip r:embed="rId14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9" name="연결선: 구부러짐 58">
            <a:extLst>
              <a:ext uri="{FF2B5EF4-FFF2-40B4-BE49-F238E27FC236}">
                <a16:creationId xmlns:a16="http://schemas.microsoft.com/office/drawing/2014/main" id="{E77816C2-899D-DE30-123F-4CCFA044E245}"/>
              </a:ext>
            </a:extLst>
          </p:cNvPr>
          <p:cNvCxnSpPr>
            <a:cxnSpLocks/>
            <a:stCxn id="60" idx="4"/>
            <a:endCxn id="57" idx="0"/>
          </p:cNvCxnSpPr>
          <p:nvPr/>
        </p:nvCxnSpPr>
        <p:spPr>
          <a:xfrm rot="5400000">
            <a:off x="8682452" y="4753094"/>
            <a:ext cx="192032" cy="583289"/>
          </a:xfrm>
          <a:prstGeom prst="curvedConnector3">
            <a:avLst>
              <a:gd name="adj1" fmla="val 50000"/>
            </a:avLst>
          </a:prstGeom>
          <a:ln w="952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타원 59">
            <a:extLst>
              <a:ext uri="{FF2B5EF4-FFF2-40B4-BE49-F238E27FC236}">
                <a16:creationId xmlns:a16="http://schemas.microsoft.com/office/drawing/2014/main" id="{94DC2FC7-534E-B359-B3E2-88EDF7D7E86D}"/>
              </a:ext>
            </a:extLst>
          </p:cNvPr>
          <p:cNvSpPr/>
          <p:nvPr/>
        </p:nvSpPr>
        <p:spPr>
          <a:xfrm flipH="1">
            <a:off x="8993420" y="4795338"/>
            <a:ext cx="153384" cy="153384"/>
          </a:xfrm>
          <a:prstGeom prst="ellipse">
            <a:avLst/>
          </a:prstGeom>
          <a:noFill/>
          <a:ln>
            <a:solidFill>
              <a:schemeClr val="tx1">
                <a:alpha val="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645D685-471E-5610-AB46-2942E4752A61}"/>
                  </a:ext>
                </a:extLst>
              </p:cNvPr>
              <p:cNvSpPr txBox="1"/>
              <p:nvPr/>
            </p:nvSpPr>
            <p:spPr>
              <a:xfrm>
                <a:off x="9368513" y="4273721"/>
                <a:ext cx="734480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ko-KR" altLang="en-US" sz="700" b="0" dirty="0"/>
                  <a:t>기울기</a:t>
                </a:r>
                <a:r>
                  <a:rPr lang="en-US" altLang="ko-KR" sz="900" b="0" dirty="0"/>
                  <a:t>= -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9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ko-KR" altLang="en-US" sz="700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4645D685-471E-5610-AB46-2942E4752A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68513" y="4273721"/>
                <a:ext cx="734480" cy="230832"/>
              </a:xfrm>
              <a:prstGeom prst="rect">
                <a:avLst/>
              </a:prstGeom>
              <a:blipFill>
                <a:blip r:embed="rId15"/>
                <a:stretch>
                  <a:fillRect b="-105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5" name="연결선: 구부러짐 64">
            <a:extLst>
              <a:ext uri="{FF2B5EF4-FFF2-40B4-BE49-F238E27FC236}">
                <a16:creationId xmlns:a16="http://schemas.microsoft.com/office/drawing/2014/main" id="{B3861128-1412-CFB7-C9F6-A3215461FBB4}"/>
              </a:ext>
            </a:extLst>
          </p:cNvPr>
          <p:cNvCxnSpPr>
            <a:cxnSpLocks/>
            <a:stCxn id="66" idx="2"/>
            <a:endCxn id="64" idx="2"/>
          </p:cNvCxnSpPr>
          <p:nvPr/>
        </p:nvCxnSpPr>
        <p:spPr>
          <a:xfrm flipV="1">
            <a:off x="9223867" y="4504553"/>
            <a:ext cx="511886" cy="327768"/>
          </a:xfrm>
          <a:prstGeom prst="curvedConnector2">
            <a:avLst/>
          </a:prstGeom>
          <a:ln w="9525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타원 65">
            <a:extLst>
              <a:ext uri="{FF2B5EF4-FFF2-40B4-BE49-F238E27FC236}">
                <a16:creationId xmlns:a16="http://schemas.microsoft.com/office/drawing/2014/main" id="{0F54D527-91A9-6494-CCDB-E40B52F1A6EA}"/>
              </a:ext>
            </a:extLst>
          </p:cNvPr>
          <p:cNvSpPr/>
          <p:nvPr/>
        </p:nvSpPr>
        <p:spPr>
          <a:xfrm flipH="1">
            <a:off x="9070483" y="4755629"/>
            <a:ext cx="153384" cy="153384"/>
          </a:xfrm>
          <a:prstGeom prst="ellipse">
            <a:avLst/>
          </a:prstGeom>
          <a:noFill/>
          <a:ln>
            <a:solidFill>
              <a:schemeClr val="tx1">
                <a:alpha val="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26128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C3E3AF-1BB8-BE5A-05DF-4E609BF13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공공재에 대한 개인의 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A3F0A65-CA44-3BF6-B9FC-FD79B47F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pic>
        <p:nvPicPr>
          <p:cNvPr id="5" name="그림 4" descr="라인, 스크린샷, 텍스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2C1CDCF-9800-CCCB-5120-61DC0DCEBA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376"/>
          <a:stretch>
            <a:fillRect/>
          </a:stretch>
        </p:blipFill>
        <p:spPr>
          <a:xfrm>
            <a:off x="7745887" y="1632624"/>
            <a:ext cx="4035965" cy="43922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5C15133-1D73-54E9-F6A0-539377BBE6D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7915410" cy="340984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오른쪽 그림에서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ko-KR" altLang="en-US" sz="1600" dirty="0"/>
                  <a:t>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1600" dirty="0"/>
                  <a:t>의 두 조합은 공공재의 가격과 이에 대한 수요량의 관계를 보여주며 각각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b="0" i="0" smtClean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ko-KR" altLang="en-US" sz="1600" dirty="0"/>
                  <a:t>점으로 표시되어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이처럼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공공재의 가격을 계속 변화시키면서 수요량의 변화를 추적하면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𝐷𝐷</m:t>
                        </m:r>
                      </m:e>
                    </m:ba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곡선으로 대표되는 수요곡선을 도출할 수 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이렇게 구해진 공공재에 대한 수요곡선은 사적재화에 대해 구해진 수요곡선과 다르지 않다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개별 소비자의 공공재에 대한 수요량은 아래의 식처럼 공공재의 가격과 소득의 함수가 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이는 사적재화의 경우와 똑같다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altLang="ko-KR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75C15133-1D73-54E9-F6A0-539377BBE6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7915410" cy="3409844"/>
              </a:xfrm>
              <a:prstGeom prst="rect">
                <a:avLst/>
              </a:prstGeom>
              <a:blipFill>
                <a:blip r:embed="rId3"/>
                <a:stretch>
                  <a:fillRect r="-308" b="-107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직사각형 6">
            <a:extLst>
              <a:ext uri="{FF2B5EF4-FFF2-40B4-BE49-F238E27FC236}">
                <a16:creationId xmlns:a16="http://schemas.microsoft.com/office/drawing/2014/main" id="{AE65F58D-A7F6-F50F-B32F-395D7C1CBC42}"/>
              </a:ext>
            </a:extLst>
          </p:cNvPr>
          <p:cNvSpPr/>
          <p:nvPr/>
        </p:nvSpPr>
        <p:spPr>
          <a:xfrm>
            <a:off x="8269288" y="1647825"/>
            <a:ext cx="3198549" cy="38515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원호 7">
            <a:extLst>
              <a:ext uri="{FF2B5EF4-FFF2-40B4-BE49-F238E27FC236}">
                <a16:creationId xmlns:a16="http://schemas.microsoft.com/office/drawing/2014/main" id="{D9404141-0D8C-4A22-4812-281C42002C76}"/>
              </a:ext>
            </a:extLst>
          </p:cNvPr>
          <p:cNvSpPr/>
          <p:nvPr/>
        </p:nvSpPr>
        <p:spPr>
          <a:xfrm rot="11931415">
            <a:off x="8788761" y="-1647552"/>
            <a:ext cx="6602925" cy="6775976"/>
          </a:xfrm>
          <a:prstGeom prst="arc">
            <a:avLst>
              <a:gd name="adj1" fmla="val 16200000"/>
              <a:gd name="adj2" fmla="val 19697531"/>
            </a:avLst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A8A294-F2E1-F1B7-F543-3C0E26BD60F8}"/>
                  </a:ext>
                </a:extLst>
              </p:cNvPr>
              <p:cNvSpPr txBox="1"/>
              <p:nvPr/>
            </p:nvSpPr>
            <p:spPr>
              <a:xfrm>
                <a:off x="9054134" y="5493076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BA8A294-F2E1-F1B7-F543-3C0E26BD60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54134" y="5493076"/>
                <a:ext cx="494030" cy="30777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B7D2110-DC81-5710-BAE8-3F1A0175C1AA}"/>
                  </a:ext>
                </a:extLst>
              </p:cNvPr>
              <p:cNvSpPr txBox="1"/>
              <p:nvPr/>
            </p:nvSpPr>
            <p:spPr>
              <a:xfrm>
                <a:off x="10831445" y="5448704"/>
                <a:ext cx="1206770" cy="4924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400" b="0" i="1" smtClean="0">
                          <a:latin typeface="Cambria Math" panose="02040503050406030204" pitchFamily="18" charset="0"/>
                        </a:rPr>
                        <m:t>𝑍</m:t>
                      </m:r>
                    </m:oMath>
                  </m:oMathPara>
                </a14:m>
                <a:endParaRPr lang="en-US" altLang="ko-KR" sz="1400" dirty="0"/>
              </a:p>
              <a:p>
                <a:pPr algn="ctr"/>
                <a:r>
                  <a:rPr lang="en-US" altLang="ko-KR" sz="1100" dirty="0"/>
                  <a:t>(</a:t>
                </a:r>
                <a:r>
                  <a:rPr lang="ko-KR" altLang="en-US" sz="1100" dirty="0"/>
                  <a:t>공공재의 양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B7D2110-DC81-5710-BAE8-3F1A0175C1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31445" y="5448704"/>
                <a:ext cx="1206770" cy="492443"/>
              </a:xfrm>
              <a:prstGeom prst="rect">
                <a:avLst/>
              </a:prstGeom>
              <a:blipFill>
                <a:blip r:embed="rId5"/>
                <a:stretch>
                  <a:fillRect b="-49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직선 연결선 11">
            <a:extLst>
              <a:ext uri="{FF2B5EF4-FFF2-40B4-BE49-F238E27FC236}">
                <a16:creationId xmlns:a16="http://schemas.microsoft.com/office/drawing/2014/main" id="{600225EB-384A-658C-D933-2CCC4E1C2053}"/>
              </a:ext>
            </a:extLst>
          </p:cNvPr>
          <p:cNvCxnSpPr>
            <a:cxnSpLocks/>
          </p:cNvCxnSpPr>
          <p:nvPr/>
        </p:nvCxnSpPr>
        <p:spPr>
          <a:xfrm>
            <a:off x="9280829" y="3590908"/>
            <a:ext cx="0" cy="190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61C12590-CFC1-C3CC-C54F-CC6EC48B53FE}"/>
              </a:ext>
            </a:extLst>
          </p:cNvPr>
          <p:cNvCxnSpPr>
            <a:cxnSpLocks/>
          </p:cNvCxnSpPr>
          <p:nvPr/>
        </p:nvCxnSpPr>
        <p:spPr>
          <a:xfrm>
            <a:off x="10012349" y="4418948"/>
            <a:ext cx="0" cy="1080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E5300D3-2D48-CF50-098B-27D0150E9EAB}"/>
                  </a:ext>
                </a:extLst>
              </p:cNvPr>
              <p:cNvSpPr txBox="1"/>
              <p:nvPr/>
            </p:nvSpPr>
            <p:spPr>
              <a:xfrm>
                <a:off x="9798341" y="5493076"/>
                <a:ext cx="49403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E5300D3-2D48-CF50-098B-27D0150E9E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8341" y="5493076"/>
                <a:ext cx="494030" cy="30777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1C3C7755-6838-5EAE-2329-CA5EB054D2A6}"/>
              </a:ext>
            </a:extLst>
          </p:cNvPr>
          <p:cNvCxnSpPr>
            <a:cxnSpLocks/>
          </p:cNvCxnSpPr>
          <p:nvPr/>
        </p:nvCxnSpPr>
        <p:spPr>
          <a:xfrm rot="16200000">
            <a:off x="8786149" y="3086491"/>
            <a:ext cx="0" cy="100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FBAD6C1D-B305-06D5-69CF-826393E480F3}"/>
              </a:ext>
            </a:extLst>
          </p:cNvPr>
          <p:cNvCxnSpPr>
            <a:cxnSpLocks/>
          </p:cNvCxnSpPr>
          <p:nvPr/>
        </p:nvCxnSpPr>
        <p:spPr>
          <a:xfrm rot="16200000">
            <a:off x="9146149" y="3544788"/>
            <a:ext cx="0" cy="1728000"/>
          </a:xfrm>
          <a:prstGeom prst="line">
            <a:avLst/>
          </a:prstGeom>
          <a:ln w="9525">
            <a:solidFill>
              <a:srgbClr val="070B1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5B85C32-D613-969D-AC84-C40A4D1F91A1}"/>
                  </a:ext>
                </a:extLst>
              </p:cNvPr>
              <p:cNvSpPr txBox="1"/>
              <p:nvPr/>
            </p:nvSpPr>
            <p:spPr>
              <a:xfrm>
                <a:off x="7843301" y="3406684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D5B85C32-D613-969D-AC84-C40A4D1F91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3301" y="3406684"/>
                <a:ext cx="494030" cy="311817"/>
              </a:xfrm>
              <a:prstGeom prst="rect">
                <a:avLst/>
              </a:prstGeom>
              <a:blipFill>
                <a:blip r:embed="rId7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0A915BC-428A-4162-A0A2-38024BA6D296}"/>
                  </a:ext>
                </a:extLst>
              </p:cNvPr>
              <p:cNvSpPr txBox="1"/>
              <p:nvPr/>
            </p:nvSpPr>
            <p:spPr>
              <a:xfrm>
                <a:off x="7843301" y="4233091"/>
                <a:ext cx="494030" cy="3118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altLang="ko-KR" sz="1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0A915BC-428A-4162-A0A2-38024BA6D2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43301" y="4233091"/>
                <a:ext cx="494030" cy="311817"/>
              </a:xfrm>
              <a:prstGeom prst="rect">
                <a:avLst/>
              </a:prstGeom>
              <a:blipFill>
                <a:blip r:embed="rId8"/>
                <a:stretch>
                  <a:fillRect b="-192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A505F7F-9191-3F6E-60E3-0A177CD125D9}"/>
                  </a:ext>
                </a:extLst>
              </p:cNvPr>
              <p:cNvSpPr txBox="1"/>
              <p:nvPr/>
            </p:nvSpPr>
            <p:spPr>
              <a:xfrm>
                <a:off x="9225062" y="3289380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a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A505F7F-9191-3F6E-60E3-0A177CD125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5062" y="3289380"/>
                <a:ext cx="260350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B768DB7-502E-3515-2E64-D63798B5E5E3}"/>
                  </a:ext>
                </a:extLst>
              </p:cNvPr>
              <p:cNvSpPr txBox="1"/>
              <p:nvPr/>
            </p:nvSpPr>
            <p:spPr>
              <a:xfrm>
                <a:off x="9963978" y="4161792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b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5B768DB7-502E-3515-2E64-D63798B5E5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3978" y="4161792"/>
                <a:ext cx="260350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4BE6D5D-EC09-0ECF-641E-C4576FF81198}"/>
                  </a:ext>
                </a:extLst>
              </p:cNvPr>
              <p:cNvSpPr txBox="1"/>
              <p:nvPr/>
            </p:nvSpPr>
            <p:spPr>
              <a:xfrm>
                <a:off x="8602551" y="2214252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D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4BE6D5D-EC09-0ECF-641E-C4576FF811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2551" y="2214252"/>
                <a:ext cx="260350" cy="307777"/>
              </a:xfrm>
              <a:prstGeom prst="rect">
                <a:avLst/>
              </a:prstGeom>
              <a:blipFill>
                <a:blip r:embed="rId11"/>
                <a:stretch>
                  <a:fillRect r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AEAB600-3EF0-11ED-DA4F-9A4C2FCFCB09}"/>
                  </a:ext>
                </a:extLst>
              </p:cNvPr>
              <p:cNvSpPr txBox="1"/>
              <p:nvPr/>
            </p:nvSpPr>
            <p:spPr>
              <a:xfrm>
                <a:off x="10968355" y="4850443"/>
                <a:ext cx="26035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ko-KR" sz="1400" b="0" i="0" smtClean="0">
                          <a:latin typeface="Cambria Math" panose="02040503050406030204" pitchFamily="18" charset="0"/>
                        </a:rPr>
                        <m:t>D</m:t>
                      </m:r>
                    </m:oMath>
                  </m:oMathPara>
                </a14:m>
                <a:endParaRPr lang="ko-KR" altLang="en-US" sz="1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CAEAB600-3EF0-11ED-DA4F-9A4C2FCFCB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68355" y="4850443"/>
                <a:ext cx="260350" cy="307777"/>
              </a:xfrm>
              <a:prstGeom prst="rect">
                <a:avLst/>
              </a:prstGeom>
              <a:blipFill>
                <a:blip r:embed="rId12"/>
                <a:stretch>
                  <a:fillRect r="-23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B297002-EB06-6CA4-E217-9D10BA59750F}"/>
                  </a:ext>
                </a:extLst>
              </p:cNvPr>
              <p:cNvSpPr txBox="1"/>
              <p:nvPr/>
            </p:nvSpPr>
            <p:spPr>
              <a:xfrm>
                <a:off x="8032480" y="1372920"/>
                <a:ext cx="120677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altLang="ko-KR" sz="14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altLang="ko-KR" sz="1400" dirty="0"/>
                  <a:t> </a:t>
                </a:r>
                <a:r>
                  <a:rPr lang="en-US" altLang="ko-KR" sz="1100" dirty="0"/>
                  <a:t>(</a:t>
                </a:r>
                <a:r>
                  <a:rPr lang="ko-KR" altLang="en-US" sz="1100" dirty="0"/>
                  <a:t>조세가격</a:t>
                </a:r>
                <a:r>
                  <a:rPr lang="en-US" altLang="ko-KR" sz="1100" dirty="0"/>
                  <a:t>)</a:t>
                </a:r>
                <a:endParaRPr lang="ko-KR" altLang="en-US" sz="11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4B297002-EB06-6CA4-E217-9D10BA5975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2480" y="1372920"/>
                <a:ext cx="1206770" cy="307777"/>
              </a:xfrm>
              <a:prstGeom prst="rect">
                <a:avLst/>
              </a:prstGeom>
              <a:blipFill>
                <a:blip r:embed="rId13"/>
                <a:stretch>
                  <a:fillRect b="-98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56677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FE0A2-EB3C-C550-5D43-83A34F7F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5E94A9-BC4B-B4BC-859A-2C1F204F3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시장수요의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15BF15-BD29-8567-E029-8653D95177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5DB4A2-5E88-FC52-6345-1A42783A0260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152272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이제 개인의 수요곡선을 종합하여 시장 전체의 수요를 도출하는 것이 필요하다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사적재화의 경우 각 개인의 수요곡선을 수평방향으로 더함으로써 시장수요곡선을 구한다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각 가격에서 개별 소비자가 </a:t>
                </a:r>
                <a:r>
                  <a:rPr lang="ko-KR" altLang="en-US" sz="1600" dirty="0" err="1"/>
                  <a:t>수요하는</a:t>
                </a:r>
                <a:r>
                  <a:rPr lang="ko-KR" altLang="en-US" sz="1600" dirty="0"/>
                  <a:t> 양을 모두 더하면 시장 전체에서의 수요량이 되기 때문이다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아래 그림에서 보듯이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와 </a:t>
                </a:r>
                <a:r>
                  <a:rPr lang="en-US" altLang="ko-KR" sz="1600" dirty="0"/>
                  <a:t>B </a:t>
                </a:r>
                <a:r>
                  <a:rPr lang="ko-KR" altLang="en-US" sz="1600" dirty="0"/>
                  <a:t>두사람의 수요곡선이 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주어져 있다면 이를 수평으로 더하여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ko-KR" altLang="en-US" sz="1600" dirty="0"/>
                  <a:t>을 도출한다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</a:t>
                </a:r>
                <a:endParaRPr lang="en-US" altLang="ko-KR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35DB4A2-5E88-FC52-6345-1A42783A02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1522725"/>
              </a:xfrm>
              <a:prstGeom prst="rect">
                <a:avLst/>
              </a:prstGeom>
              <a:blipFill>
                <a:blip r:embed="rId2"/>
                <a:stretch>
                  <a:fillRect r="-625" b="-4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그룹 8">
            <a:extLst>
              <a:ext uri="{FF2B5EF4-FFF2-40B4-BE49-F238E27FC236}">
                <a16:creationId xmlns:a16="http://schemas.microsoft.com/office/drawing/2014/main" id="{789D2D20-F3B2-8E24-5307-45857740902C}"/>
              </a:ext>
            </a:extLst>
          </p:cNvPr>
          <p:cNvGrpSpPr/>
          <p:nvPr/>
        </p:nvGrpSpPr>
        <p:grpSpPr>
          <a:xfrm>
            <a:off x="3354705" y="2685870"/>
            <a:ext cx="3958946" cy="3920094"/>
            <a:chOff x="3354705" y="2685870"/>
            <a:chExt cx="3958946" cy="3920094"/>
          </a:xfrm>
        </p:grpSpPr>
        <p:pic>
          <p:nvPicPr>
            <p:cNvPr id="11" name="그림 10" descr="라인, 도표, 평행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A80847A9-F78B-4903-F681-1F1A5238FD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0235" t="7307" b="9169"/>
            <a:stretch>
              <a:fillRect/>
            </a:stretch>
          </p:blipFill>
          <p:spPr>
            <a:xfrm>
              <a:off x="3601720" y="2768477"/>
              <a:ext cx="3535680" cy="372884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AFB3013-24BC-4565-A521-F304F8A908B7}"/>
                    </a:ext>
                  </a:extLst>
                </p:cNvPr>
                <p:cNvSpPr txBox="1"/>
                <p:nvPr/>
              </p:nvSpPr>
              <p:spPr>
                <a:xfrm>
                  <a:off x="6819621" y="4716827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2AFB3013-24BC-4565-A521-F304F8A908B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9621" y="4716827"/>
                  <a:ext cx="494030" cy="338554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EE9AD56-6154-FE25-14EC-4B098B4E4B35}"/>
                    </a:ext>
                  </a:extLst>
                </p:cNvPr>
                <p:cNvSpPr txBox="1"/>
                <p:nvPr/>
              </p:nvSpPr>
              <p:spPr>
                <a:xfrm>
                  <a:off x="5369560" y="3801917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3EE9AD56-6154-FE25-14EC-4B098B4E4B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9560" y="3801917"/>
                  <a:ext cx="494030" cy="33855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482F6B0-165D-D3DF-1909-B5782960E0C8}"/>
                    </a:ext>
                  </a:extLst>
                </p:cNvPr>
                <p:cNvSpPr txBox="1"/>
                <p:nvPr/>
              </p:nvSpPr>
              <p:spPr>
                <a:xfrm>
                  <a:off x="6819621" y="5803947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482F6B0-165D-D3DF-1909-B5782960E0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9621" y="5803947"/>
                  <a:ext cx="494030" cy="3385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E2415F3-443F-9630-AEE0-8DCF8E442D96}"/>
                    </a:ext>
                  </a:extLst>
                </p:cNvPr>
                <p:cNvSpPr txBox="1"/>
                <p:nvPr/>
              </p:nvSpPr>
              <p:spPr>
                <a:xfrm>
                  <a:off x="5925541" y="5906823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E2415F3-443F-9630-AEE0-8DCF8E442D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25541" y="5906823"/>
                  <a:ext cx="494030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C3FF250-070F-4D93-4552-190ABB291D50}"/>
                    </a:ext>
                  </a:extLst>
                </p:cNvPr>
                <p:cNvSpPr txBox="1"/>
                <p:nvPr/>
              </p:nvSpPr>
              <p:spPr>
                <a:xfrm>
                  <a:off x="3354705" y="397119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C3FF250-070F-4D93-4552-190ABB291D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54705" y="3971194"/>
                  <a:ext cx="494030" cy="33855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153904C-8B9F-5BF5-33E2-A34395899D1C}"/>
                    </a:ext>
                  </a:extLst>
                </p:cNvPr>
                <p:cNvSpPr txBox="1"/>
                <p:nvPr/>
              </p:nvSpPr>
              <p:spPr>
                <a:xfrm>
                  <a:off x="6731496" y="268587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0153904C-8B9F-5BF5-33E2-A34395899D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31496" y="2685870"/>
                  <a:ext cx="494030" cy="33855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E7852E0-4813-50FD-CE27-869DF61AA05D}"/>
                    </a:ext>
                  </a:extLst>
                </p:cNvPr>
                <p:cNvSpPr txBox="1"/>
                <p:nvPr/>
              </p:nvSpPr>
              <p:spPr>
                <a:xfrm>
                  <a:off x="4284701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2E7852E0-4813-50FD-CE27-869DF61AA05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84701" y="6267410"/>
                  <a:ext cx="494030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15542BF-F4E9-B6FC-39C8-A5DCC06493CE}"/>
                    </a:ext>
                  </a:extLst>
                </p:cNvPr>
                <p:cNvSpPr txBox="1"/>
                <p:nvPr/>
              </p:nvSpPr>
              <p:spPr>
                <a:xfrm>
                  <a:off x="4675861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15542BF-F4E9-B6FC-39C8-A5DCC06493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5861" y="6267410"/>
                  <a:ext cx="494030" cy="338554"/>
                </a:xfrm>
                <a:prstGeom prst="rect">
                  <a:avLst/>
                </a:prstGeom>
                <a:blipFill>
                  <a:blip r:embed="rId11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8FDEEDB-BBD6-A54B-A64A-A587CDE01163}"/>
                    </a:ext>
                  </a:extLst>
                </p:cNvPr>
                <p:cNvSpPr txBox="1"/>
                <p:nvPr/>
              </p:nvSpPr>
              <p:spPr>
                <a:xfrm>
                  <a:off x="5369560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A8FDEEDB-BBD6-A54B-A64A-A587CDE011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69560" y="6267410"/>
                  <a:ext cx="494030" cy="338554"/>
                </a:xfrm>
                <a:prstGeom prst="rect">
                  <a:avLst/>
                </a:prstGeom>
                <a:blipFill>
                  <a:blip r:embed="rId12"/>
                  <a:stretch>
                    <a:fillRect b="-8929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7C3E5F6-2360-9B6A-33B5-E38F5BFEC50C}"/>
                    </a:ext>
                  </a:extLst>
                </p:cNvPr>
                <p:cNvSpPr txBox="1"/>
                <p:nvPr/>
              </p:nvSpPr>
              <p:spPr>
                <a:xfrm>
                  <a:off x="3440709" y="626267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A7C3E5F6-2360-9B6A-33B5-E38F5BFEC50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0709" y="6262674"/>
                  <a:ext cx="494030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2960915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E586E-83A3-DADE-5CEC-3A5ABA535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그룹 30">
            <a:extLst>
              <a:ext uri="{FF2B5EF4-FFF2-40B4-BE49-F238E27FC236}">
                <a16:creationId xmlns:a16="http://schemas.microsoft.com/office/drawing/2014/main" id="{257B7991-4333-6ECA-93BF-376D47A2B738}"/>
              </a:ext>
            </a:extLst>
          </p:cNvPr>
          <p:cNvGrpSpPr/>
          <p:nvPr/>
        </p:nvGrpSpPr>
        <p:grpSpPr>
          <a:xfrm>
            <a:off x="7811490" y="2764562"/>
            <a:ext cx="4108171" cy="3841402"/>
            <a:chOff x="7811490" y="2764562"/>
            <a:chExt cx="4108171" cy="3841402"/>
          </a:xfrm>
        </p:grpSpPr>
        <p:pic>
          <p:nvPicPr>
            <p:cNvPr id="9" name="그림 8" descr="라인, 도표, 평행, 그래프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50ED9047-C92F-1B6E-E921-830ECDBAAB6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7307" b="10006"/>
            <a:stretch>
              <a:fillRect/>
            </a:stretch>
          </p:blipFill>
          <p:spPr>
            <a:xfrm>
              <a:off x="7811490" y="2764562"/>
              <a:ext cx="3963949" cy="3714978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FD10C42-27AE-4B55-819B-9FB0BB4E91E1}"/>
                    </a:ext>
                  </a:extLst>
                </p:cNvPr>
                <p:cNvSpPr txBox="1"/>
                <p:nvPr/>
              </p:nvSpPr>
              <p:spPr>
                <a:xfrm>
                  <a:off x="11425631" y="4923016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FFD10C42-27AE-4B55-819B-9FB0BB4E91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631" y="4923016"/>
                  <a:ext cx="494030" cy="33855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8B85E3F-8AE0-0181-A316-C273B3B268B3}"/>
                    </a:ext>
                  </a:extLst>
                </p:cNvPr>
                <p:cNvSpPr txBox="1"/>
                <p:nvPr/>
              </p:nvSpPr>
              <p:spPr>
                <a:xfrm>
                  <a:off x="10363200" y="4038551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28B85E3F-8AE0-0181-A316-C273B3B268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63200" y="4038551"/>
                  <a:ext cx="494030" cy="3385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C3E9BF1-42DA-F23D-F02D-1F5556CAE9C9}"/>
                    </a:ext>
                  </a:extLst>
                </p:cNvPr>
                <p:cNvSpPr txBox="1"/>
                <p:nvPr/>
              </p:nvSpPr>
              <p:spPr>
                <a:xfrm>
                  <a:off x="11372569" y="3525471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C3E9BF1-42DA-F23D-F02D-1F5556CAE9C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2569" y="3525471"/>
                  <a:ext cx="494030" cy="338554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7D7324F-6D7F-2EE1-A471-CA6418358218}"/>
                    </a:ext>
                  </a:extLst>
                </p:cNvPr>
                <p:cNvSpPr txBox="1"/>
                <p:nvPr/>
              </p:nvSpPr>
              <p:spPr>
                <a:xfrm>
                  <a:off x="11425631" y="541366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A7D7324F-6D7F-2EE1-A471-CA641835821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631" y="5413664"/>
                  <a:ext cx="494030" cy="338554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46BB9EE-7528-8934-EBCD-FD89FA3D2297}"/>
                    </a:ext>
                  </a:extLst>
                </p:cNvPr>
                <p:cNvSpPr txBox="1"/>
                <p:nvPr/>
              </p:nvSpPr>
              <p:spPr>
                <a:xfrm>
                  <a:off x="11425631" y="5695472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19" name="TextBox 18">
                  <a:extLst>
                    <a:ext uri="{FF2B5EF4-FFF2-40B4-BE49-F238E27FC236}">
                      <a16:creationId xmlns:a16="http://schemas.microsoft.com/office/drawing/2014/main" id="{D46BB9EE-7528-8934-EBCD-FD89FA3D22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25631" y="5695472"/>
                  <a:ext cx="494030" cy="338554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35EC7A9-C541-0AE4-1349-E26879C56AEA}"/>
                    </a:ext>
                  </a:extLst>
                </p:cNvPr>
                <p:cNvSpPr txBox="1"/>
                <p:nvPr/>
              </p:nvSpPr>
              <p:spPr>
                <a:xfrm>
                  <a:off x="7990840" y="4243388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735EC7A9-C541-0AE4-1349-E26879C56A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0840" y="4243388"/>
                  <a:ext cx="494030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12500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0E58DA4-7772-B43B-AFF0-43F9F5906B41}"/>
                    </a:ext>
                  </a:extLst>
                </p:cNvPr>
                <p:cNvSpPr txBox="1"/>
                <p:nvPr/>
              </p:nvSpPr>
              <p:spPr>
                <a:xfrm>
                  <a:off x="7990840" y="4969828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0E58DA4-7772-B43B-AFF0-43F9F5906B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0840" y="4969828"/>
                  <a:ext cx="494030" cy="338554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E762B7F-CA3D-DF12-72AA-ABA1315D9284}"/>
                    </a:ext>
                  </a:extLst>
                </p:cNvPr>
                <p:cNvSpPr txBox="1"/>
                <p:nvPr/>
              </p:nvSpPr>
              <p:spPr>
                <a:xfrm>
                  <a:off x="7990840" y="5371624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BE762B7F-CA3D-DF12-72AA-ABA1315D92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90840" y="5371624"/>
                  <a:ext cx="494030" cy="338554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4ADDE81-B578-2D3F-ADE7-2E5CCFAA1733}"/>
                    </a:ext>
                  </a:extLst>
                </p:cNvPr>
                <p:cNvSpPr txBox="1"/>
                <p:nvPr/>
              </p:nvSpPr>
              <p:spPr>
                <a:xfrm>
                  <a:off x="10368280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  <m:sup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54ADDE81-B578-2D3F-ADE7-2E5CCFAA17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368280" y="6267410"/>
                  <a:ext cx="494030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2FBAFD8-342D-82F9-3DE5-94C8271EA4CA}"/>
                    </a:ext>
                  </a:extLst>
                </p:cNvPr>
                <p:cNvSpPr txBox="1"/>
                <p:nvPr/>
              </p:nvSpPr>
              <p:spPr>
                <a:xfrm>
                  <a:off x="8066963" y="6267410"/>
                  <a:ext cx="494030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oMath>
                    </m:oMathPara>
                  </a14:m>
                  <a:endParaRPr lang="ko-KR" altLang="en-US" sz="160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B2FBAFD8-342D-82F9-3DE5-94C8271EA4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66963" y="6267410"/>
                  <a:ext cx="494030" cy="33855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제목 1">
            <a:extLst>
              <a:ext uri="{FF2B5EF4-FFF2-40B4-BE49-F238E27FC236}">
                <a16:creationId xmlns:a16="http://schemas.microsoft.com/office/drawing/2014/main" id="{35B6387C-D9FA-23C2-240A-A11A564E7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시장수요의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4694B9-E8CF-3556-0CA9-ED3AE2CAA7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C271FA-2E98-D32C-0CE8-0D5A03B0E32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189205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공공재의 경우 각 개인의 수요곡선을 수직방향으로 더함으로써 시장수요곡선을 구한다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모든 사람이 동일한 공공재의 양을 소비함과 동시에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공공재의 소비로부터 얻는 한계편익</a:t>
                </a:r>
                <a:r>
                  <a:rPr lang="en-US" altLang="ko-KR" sz="1600" dirty="0"/>
                  <a:t>(</a:t>
                </a:r>
                <a:r>
                  <a:rPr lang="ko-KR" altLang="en-US" sz="1600" dirty="0"/>
                  <a:t>지불용의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가격</a:t>
                </a:r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서로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다르기 때문이다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아래 그림에서 보듯이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와 </a:t>
                </a:r>
                <a:r>
                  <a:rPr lang="en-US" altLang="ko-KR" sz="1600" dirty="0"/>
                  <a:t>B </a:t>
                </a:r>
                <a:r>
                  <a:rPr lang="ko-KR" altLang="en-US" sz="1600" dirty="0"/>
                  <a:t>두사람의 공공재에 대한 수요곡선이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로 주어져 있다면 이를 수직으로 더하여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ko-KR" altLang="en-US" sz="1600" dirty="0"/>
                  <a:t>을 도출한다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C271FA-2E98-D32C-0CE8-0D5A03B0E3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1892056"/>
              </a:xfrm>
              <a:prstGeom prst="rect">
                <a:avLst/>
              </a:prstGeom>
              <a:blipFill>
                <a:blip r:embed="rId15"/>
                <a:stretch>
                  <a:fillRect b="-289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E3AFA19-9607-C41D-D9BE-18F84BF11EFD}"/>
                  </a:ext>
                </a:extLst>
              </p:cNvPr>
              <p:cNvSpPr txBox="1"/>
              <p:nvPr/>
            </p:nvSpPr>
            <p:spPr>
              <a:xfrm>
                <a:off x="283710" y="2936525"/>
                <a:ext cx="7752850" cy="33686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시장수요곡선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>
                            <a:latin typeface="Cambria Math" panose="02040503050406030204" pitchFamily="18" charset="0"/>
                          </a:rPr>
                          <m:t>𝑀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의 높이는 개별 수요곡선의 높이를 모두 더한 것과 같다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개별 수요곡선의 높이가 각 수준의 공공재에 대해 개인이 낼 용의를 갖는 가격을 뜻하므로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시장수요곡선의 높이는 각 수준에 대해 그 사회의 구성원 전체가 함께 지불할 용의를 갖는 가격을 뜻하게 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현실에서는 소비자들이 자신의 수요를 진실되게 표출한다는 보장이 없다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그럼에도 불구하고 진정한 수요를 표출한다는 가정하에서 도출한 수요곡선이기 때문에 가상수요곡선 </a:t>
                </a:r>
                <a:r>
                  <a:rPr lang="en-US" altLang="ko-KR" sz="1600" dirty="0"/>
                  <a:t>(pseudo-demand curve)</a:t>
                </a:r>
                <a:r>
                  <a:rPr lang="ko-KR" altLang="en-US" sz="1600" dirty="0"/>
                  <a:t>이라고도 부른다</a:t>
                </a:r>
                <a:r>
                  <a:rPr lang="en-US" altLang="ko-KR" sz="1600" dirty="0"/>
                  <a:t>. 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E3AFA19-9607-C41D-D9BE-18F84BF11E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3710" y="2936525"/>
                <a:ext cx="7752850" cy="3368679"/>
              </a:xfrm>
              <a:prstGeom prst="rect">
                <a:avLst/>
              </a:prstGeom>
              <a:blipFill>
                <a:blip r:embed="rId16"/>
                <a:stretch>
                  <a:fillRect b="-144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616007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7447EA-8E26-B6A0-08B7-7FAB74E33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적정수준의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5862D5-E25C-2F9C-168B-0E099F5C36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618F05-30AB-DBD7-B274-62DDC3B3A18B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36867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적절한 공공재의 생산수준은 사회적 한계편익 </a:t>
                </a:r>
                <a:r>
                  <a:rPr lang="en-US" altLang="ko-KR" sz="1600" spc="-50" dirty="0"/>
                  <a:t>(Social Marginal Benefit; SMB)</a:t>
                </a:r>
                <a:r>
                  <a:rPr lang="ko-KR" altLang="en-US" sz="1600" spc="-50" dirty="0"/>
                  <a:t>과 사회적 한계비용 </a:t>
                </a:r>
                <a:r>
                  <a:rPr lang="en-US" altLang="ko-KR" sz="1600" spc="-50" dirty="0"/>
                  <a:t>(Social Marginal Cost; SMC)</a:t>
                </a:r>
                <a:r>
                  <a:rPr lang="ko-KR" altLang="en-US" sz="1600" spc="-50" dirty="0"/>
                  <a:t>이 일치하는 곳에서 이루어진다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공공재의 경우도 사회적 한계편익은 시장수요곡선에 반영되며 사회적 한계비용은 시장공급곡선에 반영된다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사적재화와 마찬가지로 적절한 공공재의 생산수준 역시 시장수요곡선과 시장공급곡선의 교차점에서 찾을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그러나 적정수준이 되기 위한 조건의 내용을 자세히 살펴보면 사적재화와 공공재 간의 뚜렷한 차이가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사적재화를 설명한 앞선 그림을 다시 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시장수요곡선과 공급곡선이 교차하는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점에서 적정배분이 이루어지고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ko-KR" alt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C618F05-30AB-DBD7-B274-62DDC3B3A1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368679"/>
              </a:xfrm>
              <a:prstGeom prst="rect">
                <a:avLst/>
              </a:prstGeom>
              <a:blipFill>
                <a:blip r:embed="rId2"/>
                <a:stretch>
                  <a:fillRect r="-1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3990F0-31B7-2679-77C0-182AA89272C4}"/>
                  </a:ext>
                </a:extLst>
              </p:cNvPr>
              <p:cNvSpPr txBox="1"/>
              <p:nvPr/>
            </p:nvSpPr>
            <p:spPr>
              <a:xfrm>
                <a:off x="288790" y="3538115"/>
                <a:ext cx="8622104" cy="22606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시장 전체로 볼 때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만큼 생산되어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의 가격에 거래되는 것을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만큼은 </a:t>
                </a: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가 소비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만큼은 </a:t>
                </a:r>
                <a:r>
                  <a:rPr lang="en-US" altLang="ko-KR" sz="1600" spc="-50" dirty="0"/>
                  <a:t>B</a:t>
                </a:r>
                <a:r>
                  <a:rPr lang="ko-KR" altLang="en-US" sz="1600" spc="-50" dirty="0"/>
                  <a:t>가 소비하고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두 사람 모두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를 지불하고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소비자는 상품소비로부터의 한계편익이 시장가격과 같아질 때까지 수요하고 있으므로 두 사람이 각자 얻는 한계편익은 서로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상품의 시장가격은 공급곡선의 높이와 같고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이는 상품 생산을 위한 한계비용을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위의 내용을 종합해보면 사적재화가 적정 배분 되기 위한 조건은 아래와 같다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DE3990F0-31B7-2679-77C0-182AA89272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538115"/>
                <a:ext cx="8622104" cy="2260683"/>
              </a:xfrm>
              <a:prstGeom prst="rect">
                <a:avLst/>
              </a:prstGeom>
              <a:blipFill>
                <a:blip r:embed="rId3"/>
                <a:stretch>
                  <a:fillRect r="-495" b="-24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그림 17">
            <a:extLst>
              <a:ext uri="{FF2B5EF4-FFF2-40B4-BE49-F238E27FC236}">
                <a16:creationId xmlns:a16="http://schemas.microsoft.com/office/drawing/2014/main" id="{370292E5-1FA6-F04D-4B09-672BAE97E2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5121" y="3592405"/>
            <a:ext cx="3018889" cy="30096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525998F-949C-91F0-693E-BEE0D0DC23B3}"/>
                  </a:ext>
                </a:extLst>
              </p:cNvPr>
              <p:cNvSpPr txBox="1"/>
              <p:nvPr/>
            </p:nvSpPr>
            <p:spPr>
              <a:xfrm>
                <a:off x="1349762" y="5947650"/>
                <a:ext cx="6635998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549275" lvl="1" algn="ctr">
                  <a:lnSpc>
                    <a:spcPct val="150000"/>
                  </a:lnSpc>
                </a:pPr>
                <a:r>
                  <a:rPr lang="en-US" altLang="ko-KR" sz="1800" b="1" spc="-50" dirty="0"/>
                  <a:t>A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= B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= </a:t>
                </a:r>
                <a:r>
                  <a:rPr lang="ko-KR" altLang="en-US" sz="1800" b="1" spc="-50" dirty="0"/>
                  <a:t>한계비용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800" b="1" i="1" spc="-50" smtClean="0">
                        <a:latin typeface="Cambria Math" panose="02040503050406030204" pitchFamily="18" charset="0"/>
                      </a:rPr>
                      <m:t>𝑴𝑪</m:t>
                    </m:r>
                  </m:oMath>
                </a14:m>
                <a:r>
                  <a:rPr lang="en-US" altLang="ko-KR" sz="1800" b="1" spc="-50" dirty="0"/>
                  <a:t>)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525998F-949C-91F0-693E-BEE0D0DC2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9762" y="5947650"/>
                <a:ext cx="6635998" cy="455061"/>
              </a:xfrm>
              <a:prstGeom prst="rect">
                <a:avLst/>
              </a:prstGeom>
              <a:blipFill>
                <a:blip r:embed="rId5"/>
                <a:stretch>
                  <a:fillRect r="-2479" b="-2162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840640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0591D-8408-7005-1506-D9B25F8CF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6B8D04-0D49-B267-0519-B76CDFA46F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적정수준의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5DB436-D197-8F73-4AC2-B709F36BF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1887B4-792E-83C2-B2F0-517D24BBD1B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341228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공공재를 설명한 앞선 그림을 보면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공공재 역시 시장수요곡선과 공급곡선이 교차하는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ko-KR" altLang="en-US" sz="1600" spc="-50" dirty="0"/>
                  <a:t>점에서 적정배분이 이루어지고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교차점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ko-KR" altLang="en-US" sz="1600" spc="-50" dirty="0"/>
                  <a:t>점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에서 각 개별 수요곡선의 높이를 더한 것은 공급곡선의 높이와 같게 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𝑂𝐿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과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길이를 합친 것이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길이와 같다는 것을 뜻한다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개별 소비자와 관련된 개별 수요곡선의 높이가 그 소비자의 한계편익을 뜻하고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공급곡선의 높이가 바로 공공재의 한계비용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𝑀𝐶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을 뜻하므로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적정배분의 조건을 아래와 같이 쓸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ko-KR" alt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A1887B4-792E-83C2-B2F0-517D24BBD1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3412281"/>
              </a:xfrm>
              <a:prstGeom prst="rect">
                <a:avLst/>
              </a:prstGeom>
              <a:blipFill>
                <a:blip r:embed="rId2"/>
                <a:stretch>
                  <a:fillRect r="-10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F4C9F2C5-44D9-A622-7ACD-784B147C5A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0470" y="3593347"/>
            <a:ext cx="3219794" cy="30096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FEC00E-F803-9541-C68F-2C5C76203229}"/>
                  </a:ext>
                </a:extLst>
              </p:cNvPr>
              <p:cNvSpPr txBox="1"/>
              <p:nvPr/>
            </p:nvSpPr>
            <p:spPr>
              <a:xfrm>
                <a:off x="1075442" y="2916525"/>
                <a:ext cx="6788398" cy="4550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549275" lvl="1" algn="ctr">
                  <a:lnSpc>
                    <a:spcPct val="150000"/>
                  </a:lnSpc>
                </a:pPr>
                <a:r>
                  <a:rPr lang="en-US" altLang="ko-KR" sz="1800" b="1" spc="-50" dirty="0"/>
                  <a:t>A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+ B</a:t>
                </a:r>
                <a:r>
                  <a:rPr lang="ko-KR" altLang="en-US" sz="1800" b="1" spc="-50" dirty="0"/>
                  <a:t>의 한계편익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8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800" b="1" i="1" smtClean="0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= </a:t>
                </a:r>
                <a:r>
                  <a:rPr lang="ko-KR" altLang="en-US" sz="1800" b="1" spc="-50" dirty="0"/>
                  <a:t>한계비용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b="1" i="1">
                            <a:latin typeface="Cambria Math" panose="02040503050406030204" pitchFamily="18" charset="0"/>
                          </a:rPr>
                          <m:t>𝑴</m:t>
                        </m:r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en-US" altLang="ko-KR" b="1" i="1" smtClean="0"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</m:oMath>
                </a14:m>
                <a:r>
                  <a:rPr lang="en-US" altLang="ko-KR" sz="1800" b="1" spc="-50" dirty="0"/>
                  <a:t>)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FEC00E-F803-9541-C68F-2C5C762032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5442" y="2916525"/>
                <a:ext cx="6788398" cy="455061"/>
              </a:xfrm>
              <a:prstGeom prst="rect">
                <a:avLst/>
              </a:prstGeom>
              <a:blipFill>
                <a:blip r:embed="rId4"/>
                <a:stretch>
                  <a:fillRect r="-2424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473913-ABB4-3EC0-88F4-A7F6D5185190}"/>
                  </a:ext>
                </a:extLst>
              </p:cNvPr>
              <p:cNvSpPr txBox="1"/>
              <p:nvPr/>
            </p:nvSpPr>
            <p:spPr>
              <a:xfrm>
                <a:off x="288790" y="3538115"/>
                <a:ext cx="8622104" cy="23042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위 조건을 보면 사람들이 공공재에서 얻는 한계편익의 합이 그것을 생산하는 데 드는 한계비용과 같아야 공공재가 적정한 수준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에서 생산되는 것을 알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 때 각자가 자신이 얻는 한계편익에 해당하는 가격을 지불하도록 만든다면 공공재 생산과 관련된 재원조달의 문제를 해결할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en-US" altLang="ko-KR" sz="1600" spc="-50" dirty="0"/>
                  <a:t>A</a:t>
                </a:r>
                <a:r>
                  <a:rPr lang="ko-KR" altLang="en-US" sz="1600" spc="-50" dirty="0"/>
                  <a:t>에게는 </a:t>
                </a:r>
                <a:r>
                  <a:rPr lang="ko-KR" altLang="en-US" sz="1600" dirty="0"/>
                  <a:t>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𝑂𝐿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길이에 해당하는 가격을 징수하고</a:t>
                </a:r>
                <a:r>
                  <a:rPr lang="en-US" altLang="ko-KR" sz="1600" spc="-50" dirty="0"/>
                  <a:t>, B</a:t>
                </a:r>
                <a:r>
                  <a:rPr lang="ko-KR" altLang="en-US" sz="1600" spc="-50" dirty="0"/>
                  <a:t>에게는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길이에 해당하는 가격을 징수하면 재원조달을 할 수 있다는 뜻이다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0473913-ABB4-3EC0-88F4-A7F6D51851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538115"/>
                <a:ext cx="8622104" cy="2304285"/>
              </a:xfrm>
              <a:prstGeom prst="rect">
                <a:avLst/>
              </a:prstGeom>
              <a:blipFill>
                <a:blip r:embed="rId5"/>
                <a:stretch>
                  <a:fillRect b="-23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670183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9AAA3-392B-26E4-22D8-F3D850134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2C19C5-4F60-A03B-AA90-124737129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적정수준의 도출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AE4A75-2D6B-FCC9-1985-43C890F6A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6E7D7D-F789-5547-0DCE-D581A721931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공공재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 이외에도 쌀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이라는 사적재화가 존재하는 상황에서는 앞에서 구한 적정배분의 조건은 어떻게 될지 살펴보자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쌀 가격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이라고 가정하면 사적재화의 적정 분배조건에 따라 아래와 같은 관계가 성립하게 된다</a:t>
                </a:r>
                <a:r>
                  <a:rPr lang="en-US" altLang="ko-KR" sz="1600" dirty="0"/>
                  <a:t>.</a:t>
                </a:r>
              </a:p>
              <a:p>
                <a:pPr marL="549275" lvl="1">
                  <a:lnSpc>
                    <a:spcPct val="150000"/>
                  </a:lnSpc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공공재의 적정배분 조건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𝑀𝐵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의 양변을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위 식의 양변으로 각각 나누면 아래와 같은 식이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여기서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altLang="ko-KR" sz="160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혹은 </a:t>
                </a: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altLang="ko-KR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𝑀𝐵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/>
                  <a:t>는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한계대체율 </a:t>
                </a:r>
                <a:r>
                  <a:rPr lang="en-US" altLang="ko-KR" sz="1600" dirty="0"/>
                  <a:t>(Marginal Rate of Substitution; MRS)</a:t>
                </a:r>
                <a:r>
                  <a:rPr lang="ko-KR" altLang="en-US" sz="1600" dirty="0"/>
                  <a:t>을 의미한다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altLang="ko-KR" sz="1600" i="1" dirty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𝑀</m:t>
                            </m:r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는 한계생산변환율 </a:t>
                </a:r>
                <a:r>
                  <a:rPr lang="en-US" altLang="ko-KR" sz="1600" dirty="0"/>
                  <a:t>(Marginal rate of Product transformation)</a:t>
                </a:r>
                <a:r>
                  <a:rPr lang="ko-KR" altLang="en-US" sz="1600" dirty="0"/>
                  <a:t>을 의미한다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위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조건은</a:t>
                </a:r>
                <a:r>
                  <a:rPr lang="en-US" altLang="ko-KR" sz="1600" dirty="0"/>
                  <a:t> n</a:t>
                </a:r>
                <a:r>
                  <a:rPr lang="ko-KR" altLang="en-US" sz="1600" dirty="0"/>
                  <a:t>명의 소비자가 존재하는 경우로 일반화 할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일반화된 적정배분의 조건은 아래와 같이 쓸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/>
                  <a:t>1954</a:t>
                </a:r>
                <a:r>
                  <a:rPr lang="ko-KR" altLang="en-US" sz="1600" dirty="0"/>
                  <a:t>년 </a:t>
                </a:r>
                <a:r>
                  <a:rPr lang="ko-KR" altLang="en-US" sz="1600" dirty="0" err="1"/>
                  <a:t>새무엘슨이</a:t>
                </a:r>
                <a:r>
                  <a:rPr lang="ko-KR" altLang="en-US" sz="1600" dirty="0"/>
                  <a:t> 처음 입증한 조건이기 때문에 </a:t>
                </a:r>
                <a:r>
                  <a:rPr lang="ko-KR" altLang="en-US" sz="1600" b="1" dirty="0" err="1"/>
                  <a:t>새무엘슨조건</a:t>
                </a:r>
                <a:r>
                  <a:rPr lang="ko-KR" altLang="en-US" sz="1600" dirty="0" err="1"/>
                  <a:t>이라고</a:t>
                </a:r>
                <a:r>
                  <a:rPr lang="ko-KR" altLang="en-US" sz="1600" dirty="0"/>
                  <a:t> 부르기도 한다</a:t>
                </a:r>
                <a:r>
                  <a:rPr lang="en-US" altLang="ko-KR" sz="1600" dirty="0"/>
                  <a:t>.</a:t>
                </a:r>
              </a:p>
              <a:p>
                <a:pPr marL="434975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26E7D7D-F789-5547-0DCE-D581A72193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52153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356A11-BF1E-8D00-E0F4-F7D02C9BA638}"/>
                  </a:ext>
                </a:extLst>
              </p:cNvPr>
              <p:cNvSpPr txBox="1"/>
              <p:nvPr/>
            </p:nvSpPr>
            <p:spPr>
              <a:xfrm>
                <a:off x="1918970" y="1758434"/>
                <a:ext cx="19164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𝑀𝐵</m:t>
                          </m:r>
                        </m:e>
                        <m:sub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A356A11-BF1E-8D00-E0F4-F7D02C9BA6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18970" y="1758434"/>
                <a:ext cx="191643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6622573-17FF-868A-64E9-CB9E82CF6A92}"/>
                  </a:ext>
                </a:extLst>
              </p:cNvPr>
              <p:cNvSpPr txBox="1"/>
              <p:nvPr/>
            </p:nvSpPr>
            <p:spPr>
              <a:xfrm>
                <a:off x="1690370" y="2501995"/>
                <a:ext cx="2586990" cy="6576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ko-KR" sz="18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𝑀𝐵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altLang="ko-KR" sz="18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6622573-17FF-868A-64E9-CB9E82CF6A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0370" y="2501995"/>
                <a:ext cx="2586990" cy="65768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1A539E-0C25-4914-1F6E-EE5C6CFF6ADA}"/>
                  </a:ext>
                </a:extLst>
              </p:cNvPr>
              <p:cNvSpPr txBox="1"/>
              <p:nvPr/>
            </p:nvSpPr>
            <p:spPr>
              <a:xfrm>
                <a:off x="1349761" y="4757356"/>
                <a:ext cx="8465357" cy="4599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549275" lvl="1" algn="ctr">
                  <a:lnSpc>
                    <a:spcPct val="150000"/>
                  </a:lnSpc>
                </a:pPr>
                <a:r>
                  <a:rPr lang="ko-KR" altLang="en-US" sz="1800" b="1" spc="-50" dirty="0"/>
                  <a:t>한계대체율의 합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ctrlP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𝒊</m:t>
                        </m:r>
                        <m: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>
                        <m:r>
                          <a:rPr lang="en-US" altLang="ko-KR" sz="1800" b="1" i="1" spc="-50" smtClean="0">
                            <a:latin typeface="Cambria Math" panose="02040503050406030204" pitchFamily="18" charset="0"/>
                          </a:rPr>
                          <m:t>𝒏</m:t>
                        </m:r>
                      </m:sup>
                      <m:e>
                        <m:sSub>
                          <m:sSubPr>
                            <m:ctrlPr>
                              <a:rPr lang="en-US" altLang="ko-KR" sz="1800" b="1" i="1" spc="-5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800" b="1" i="1" spc="-50" smtClean="0">
                                <a:latin typeface="Cambria Math" panose="02040503050406030204" pitchFamily="18" charset="0"/>
                              </a:rPr>
                              <m:t>𝑴𝑹𝑺</m:t>
                            </m:r>
                          </m:e>
                          <m:sub>
                            <m:r>
                              <a:rPr lang="en-US" altLang="ko-KR" sz="1800" b="1" i="1" spc="-50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nary>
                  </m:oMath>
                </a14:m>
                <a:r>
                  <a:rPr lang="en-US" altLang="ko-KR" sz="1800" b="1" spc="-50" dirty="0"/>
                  <a:t>) = </a:t>
                </a:r>
                <a:r>
                  <a:rPr lang="ko-KR" altLang="en-US" sz="1800" b="1" spc="-50" dirty="0"/>
                  <a:t>한계</a:t>
                </a:r>
                <a:r>
                  <a:rPr lang="ko-KR" altLang="en-US" b="1" spc="-50" dirty="0"/>
                  <a:t>생산변환율</a:t>
                </a:r>
                <a:r>
                  <a:rPr lang="en-US" altLang="ko-KR" sz="1800" b="1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800" b="1" i="1" spc="-50" smtClean="0">
                        <a:latin typeface="Cambria Math" panose="02040503050406030204" pitchFamily="18" charset="0"/>
                      </a:rPr>
                      <m:t>𝑴𝑷𝑻</m:t>
                    </m:r>
                  </m:oMath>
                </a14:m>
                <a:r>
                  <a:rPr lang="en-US" altLang="ko-KR" sz="1800" b="1" spc="-50" dirty="0"/>
                  <a:t>)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41A539E-0C25-4914-1F6E-EE5C6CFF6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49761" y="4757356"/>
                <a:ext cx="8465357" cy="459934"/>
              </a:xfrm>
              <a:prstGeom prst="rect">
                <a:avLst/>
              </a:prstGeom>
              <a:blipFill>
                <a:blip r:embed="rId5"/>
                <a:stretch>
                  <a:fillRect t="-75000" b="-14868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73724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FF2E4-B34C-D052-660C-AD345A092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F488433-46E5-A692-F572-5EBF2E42B2B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4EC3C0-C9C3-C5A6-5485-2716859DDE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07A75DC-2631-BA75-A7C0-A85087AB0F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 err="1"/>
              <a:t>린달의</a:t>
            </a:r>
            <a:r>
              <a:rPr lang="ko-KR" altLang="en-US" sz="4000" b="1" i="0" spc="150" dirty="0"/>
              <a:t> 자발적 교환 모형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8437972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91656-CF83-881D-5668-78733E15C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D35B91-C44F-5C98-13D0-1FBEB27C5F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262C81-C342-1EE3-15AA-6002F89DE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D55F7A-F538-8C9A-1B41-EC7644B2DBDA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공공재의 적절한 생산수준을 도출하였지만</a:t>
            </a:r>
            <a:r>
              <a:rPr lang="en-US" altLang="ko-KR" sz="1600" dirty="0"/>
              <a:t>, </a:t>
            </a:r>
            <a:r>
              <a:rPr lang="ko-KR" altLang="en-US" sz="1600" dirty="0"/>
              <a:t>그럼에도 불구하고 공공재는 </a:t>
            </a:r>
            <a:r>
              <a:rPr lang="ko-KR" altLang="en-US" sz="1600" dirty="0" err="1"/>
              <a:t>비경합</a:t>
            </a:r>
            <a:r>
              <a:rPr lang="en-US" altLang="ko-KR" sz="1600" dirty="0"/>
              <a:t>, </a:t>
            </a:r>
            <a:r>
              <a:rPr lang="ko-KR" altLang="en-US" sz="1600" dirty="0"/>
              <a:t>비배제성을 갖기 때문에 사람들 간의 거래가 이루어지기 어렵다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스웨덴의 경제학자 </a:t>
            </a:r>
            <a:r>
              <a:rPr lang="ko-KR" altLang="en-US" sz="1600" dirty="0" err="1"/>
              <a:t>린달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en-US" altLang="ko-KR" sz="1600" dirty="0" err="1"/>
              <a:t>E.Lindahl</a:t>
            </a:r>
            <a:r>
              <a:rPr lang="en-US" altLang="ko-KR" sz="1600" dirty="0"/>
              <a:t>)</a:t>
            </a:r>
            <a:r>
              <a:rPr lang="ko-KR" altLang="en-US" sz="1600" dirty="0"/>
              <a:t>은 당사자간의 자발적 교환에 의해 공공재의 생산수준과 비용부담비율이 동시에 결정될 수 있는 모형을 제시하였다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자발적 교환의 원리에 입각하고 있다는 측면에서 공공재 생산문제와 관련한 </a:t>
            </a:r>
            <a:r>
              <a:rPr lang="en-US" altLang="ko-KR" sz="1600" dirty="0"/>
              <a:t>‘</a:t>
            </a:r>
            <a:r>
              <a:rPr lang="ko-KR" altLang="en-US" sz="1600" dirty="0"/>
              <a:t>준시장적 해결책</a:t>
            </a:r>
            <a:r>
              <a:rPr lang="en-US" altLang="ko-KR" sz="1600" dirty="0"/>
              <a:t>’</a:t>
            </a:r>
            <a:r>
              <a:rPr lang="ko-KR" altLang="en-US" sz="1600" dirty="0"/>
              <a:t> 으로 불리고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</a:t>
            </a:r>
            <a:r>
              <a:rPr lang="ko-KR" altLang="en-US" sz="1600" dirty="0" err="1"/>
              <a:t>린달의</a:t>
            </a:r>
            <a:r>
              <a:rPr lang="ko-KR" altLang="en-US" sz="1600" dirty="0"/>
              <a:t> </a:t>
            </a:r>
            <a:r>
              <a:rPr lang="ko-KR" altLang="en-US" sz="1600" dirty="0" err="1"/>
              <a:t>자발작</a:t>
            </a:r>
            <a:r>
              <a:rPr lang="ko-KR" altLang="en-US" sz="1600" dirty="0"/>
              <a:t> 교환 모형은 이론적으로 생각할 수 있을 뿐 현실에서 발생하기는 힘든 이론이다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274681146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D11CB-3F22-5253-72CF-11C673C34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C2ADE2-3510-D5FB-C528-0C63AB96D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6A5EA4-C4B7-06EA-5640-7EB6C82AB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pic>
        <p:nvPicPr>
          <p:cNvPr id="7" name="그림 6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DD7DA5-EBFF-EAB0-CCA6-04D96F5871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068" y="4248727"/>
            <a:ext cx="3906597" cy="22881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E7DF6D8-7CC1-6320-7827-782893E1CC4F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47667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아래 그림은 </a:t>
                </a:r>
                <a:r>
                  <a:rPr lang="ko-KR" altLang="en-US" sz="1600" dirty="0" err="1"/>
                  <a:t>린달의</a:t>
                </a:r>
                <a:r>
                  <a:rPr lang="ko-KR" altLang="en-US" sz="1600" dirty="0"/>
                  <a:t> 자발적 교환 모형을 설명하고 있다</a:t>
                </a:r>
                <a:r>
                  <a:rPr lang="en-US" altLang="ko-KR" sz="1600" dirty="0"/>
                  <a:t>. A, B </a:t>
                </a:r>
                <a:r>
                  <a:rPr lang="ko-KR" altLang="en-US" sz="1600" dirty="0"/>
                  <a:t>두 사람만이 있고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공공재 생산의 단위비용은 생산수준과 관계없이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원으로 일정하다고 하자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왼쪽 아래의 모서리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원점을 나타내고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수평축으로는 공공재의 양을 측정한다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 err="1"/>
                  <a:t>수직축으로는</a:t>
                </a:r>
                <a:r>
                  <a:rPr lang="ko-KR" altLang="en-US" sz="1600" dirty="0"/>
                  <a:t> 단위생산비용 중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가 부담해야 하는 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측정되고 있다</a:t>
                </a:r>
                <a:r>
                  <a:rPr lang="en-US" altLang="ko-KR" sz="160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원점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0</a:t>
                </a:r>
                <a:r>
                  <a:rPr lang="ko-KR" altLang="en-US" sz="1600" dirty="0"/>
                  <a:t>의 값을 갖는데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위로 올라갈수록 커지며 맨 위까지 올라가면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의 값을 갖는다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한편 오른쪽 아래의 모서리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의 원점을 나타내고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수평축으로는 마찬가지로 공공재의 양을 측정한다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수직축으로는 단위생산비용 중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가 부담해야 하는 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측정되고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원점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ko-KR" altLang="en-US" sz="1600" dirty="0"/>
                  <a:t>는 </a:t>
                </a:r>
                <a:r>
                  <a:rPr lang="en-US" altLang="ko-KR" sz="1600" dirty="0"/>
                  <a:t>0</a:t>
                </a:r>
                <a:r>
                  <a:rPr lang="ko-KR" altLang="en-US" sz="1600" dirty="0"/>
                  <a:t>의 값을 갖는데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아래로 내려갈수록 커지며 맨 아래까지 내려가면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의 값을 갖는다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값을 더한 것은 언제나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7E7DF6D8-7CC1-6320-7827-782893E1CC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4766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A2434506-FAAC-F82C-A25D-CF6A0E0B2F49}"/>
              </a:ext>
            </a:extLst>
          </p:cNvPr>
          <p:cNvSpPr txBox="1"/>
          <p:nvPr/>
        </p:nvSpPr>
        <p:spPr>
          <a:xfrm>
            <a:off x="5853962" y="403523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 err="1"/>
              <a:t>린달모형</a:t>
            </a:r>
            <a:r>
              <a:rPr lang="en-US" altLang="ko-KR" sz="1200" spc="-50" dirty="0"/>
              <a:t>: </a:t>
            </a:r>
            <a:r>
              <a:rPr lang="ko-KR" altLang="en-US" sz="1200" spc="-50" dirty="0"/>
              <a:t>수요곡선의 도출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64135539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6F1E94-95A8-C99E-FF00-BE74C65D5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FBF14D-B82D-D9D6-1785-48400105C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EFCC79E-3F1E-EFF5-3261-60B64312AA7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원점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에서 볼 때 </a:t>
                </a:r>
                <a:r>
                  <a:rPr lang="ko-KR" altLang="en-US" sz="1600" dirty="0" err="1"/>
                  <a:t>우하향하는</a:t>
                </a:r>
                <a:r>
                  <a:rPr lang="ko-KR" altLang="en-US" sz="16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 곡선은 공공재에 대한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수요곡선이다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 </a:t>
                </a: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곡선이 </a:t>
                </a:r>
                <a:r>
                  <a:rPr lang="ko-KR" altLang="en-US" sz="1600" dirty="0" err="1"/>
                  <a:t>우하향하는</a:t>
                </a:r>
                <a:r>
                  <a:rPr lang="ko-KR" altLang="en-US" sz="1600" dirty="0"/>
                  <a:t> 모양을 갖는 것은 부담해야 하는 생산비용의 비율</a:t>
                </a:r>
                <a:r>
                  <a:rPr lang="en-US" altLang="ko-KR" sz="16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점차 낮아질수록 더욱 많은 양의 공공재를 </a:t>
                </a:r>
                <a:r>
                  <a:rPr lang="ko-KR" altLang="en-US" sz="1600" dirty="0" err="1"/>
                  <a:t>수요한다는</a:t>
                </a:r>
                <a:r>
                  <a:rPr lang="ko-KR" altLang="en-US" sz="1600" dirty="0"/>
                  <a:t> 것을 뜻한다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이 수요곡선은 아래의 과정을 통해서도 도출이 가능하다</a:t>
                </a:r>
                <a:r>
                  <a:rPr lang="en-US" altLang="ko-KR" sz="160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우선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무차별곡선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그린다</a:t>
                </a:r>
                <a:r>
                  <a:rPr lang="en-US" altLang="ko-KR" sz="1600" dirty="0"/>
                  <a:t>. </a:t>
                </a:r>
                <a:r>
                  <a:rPr lang="ko-KR" altLang="en-US" sz="1600" dirty="0"/>
                  <a:t>무차별곡선은 그에게 똑같은 수준의 효용을 주는 비용부담비율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과 공공재 양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altLang="ko-KR" sz="1600" dirty="0"/>
                  <a:t>) </a:t>
                </a:r>
                <a:r>
                  <a:rPr lang="ko-KR" altLang="en-US" sz="1600" dirty="0"/>
                  <a:t>의 조합들을 모아 놓은 것이다</a:t>
                </a:r>
                <a:r>
                  <a:rPr lang="en-US" altLang="ko-KR" sz="1600" dirty="0"/>
                  <a:t>.</a:t>
                </a:r>
              </a:p>
              <a:p>
                <a:pPr marL="892175" lvl="1" indent="-34290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여러 무차별곡선 중 아래쪽에 위치할수록 더욱 높은 수준의 효용을 뜻한다</a:t>
                </a:r>
                <a:r>
                  <a:rPr lang="en-US" altLang="ko-KR" sz="1600" dirty="0"/>
                  <a:t>.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dirty="0"/>
                  <a:t>가 가장 높은 수준의 효용을 의미함</a:t>
                </a:r>
                <a:r>
                  <a:rPr lang="en-US" altLang="ko-KR" sz="1600" dirty="0"/>
                  <a:t>)</a:t>
                </a:r>
              </a:p>
              <a:p>
                <a:pPr marL="1349375" lvl="2" indent="-34290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똑같은 공공재의 양에 대해 자신이 부담하는 생산비용의 비율이 낮을수록 효용이 더 커지기 때문이다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EFCC79E-3F1E-EFF5-3261-60B64312AA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999347"/>
              </a:xfrm>
              <a:prstGeom prst="rect">
                <a:avLst/>
              </a:prstGeom>
              <a:blipFill>
                <a:blip r:embed="rId2"/>
                <a:stretch>
                  <a:fillRect b="-162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" name="그룹 10">
            <a:extLst>
              <a:ext uri="{FF2B5EF4-FFF2-40B4-BE49-F238E27FC236}">
                <a16:creationId xmlns:a16="http://schemas.microsoft.com/office/drawing/2014/main" id="{9EFFCC92-2E01-3604-4BBA-DB1970B510A5}"/>
              </a:ext>
            </a:extLst>
          </p:cNvPr>
          <p:cNvGrpSpPr/>
          <p:nvPr/>
        </p:nvGrpSpPr>
        <p:grpSpPr>
          <a:xfrm>
            <a:off x="3908135" y="4034209"/>
            <a:ext cx="3984974" cy="2501673"/>
            <a:chOff x="5449068" y="4035234"/>
            <a:chExt cx="3984974" cy="2501673"/>
          </a:xfrm>
        </p:grpSpPr>
        <p:pic>
          <p:nvPicPr>
            <p:cNvPr id="7" name="그림 6" descr="라인, 도표, 그래프, 텍스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63E0FCF1-EBC0-713D-60A8-FEFBB58A16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49068" y="4248727"/>
              <a:ext cx="3906597" cy="228818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4953A1F-BB49-2E9C-1521-854E4ADE3E16}"/>
                </a:ext>
              </a:extLst>
            </p:cNvPr>
            <p:cNvSpPr txBox="1"/>
            <p:nvPr/>
          </p:nvSpPr>
          <p:spPr>
            <a:xfrm>
              <a:off x="5853962" y="4035234"/>
              <a:ext cx="3580080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200" spc="-50" dirty="0"/>
                <a:t>&lt;</a:t>
              </a:r>
              <a:r>
                <a:rPr lang="ko-KR" altLang="en-US" sz="1200" spc="-50" dirty="0" err="1"/>
                <a:t>린달모형</a:t>
              </a:r>
              <a:r>
                <a:rPr lang="en-US" altLang="ko-KR" sz="1200" spc="-50" dirty="0"/>
                <a:t>: </a:t>
              </a:r>
              <a:r>
                <a:rPr lang="ko-KR" altLang="en-US" sz="1200" spc="-50" dirty="0"/>
                <a:t>수요곡선의 도출</a:t>
              </a:r>
              <a:r>
                <a:rPr lang="en-US" altLang="ko-KR" sz="1200" spc="-50" dirty="0"/>
                <a:t>&gt;</a:t>
              </a:r>
              <a:endParaRPr lang="ko-KR" alt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9021496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AD268F-86A9-A2FB-5E65-C7B4889C9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58AF14-493B-9C88-34CC-DBBAC95C8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린달의</a:t>
            </a:r>
            <a:r>
              <a:rPr lang="ko-KR" altLang="en-US" dirty="0"/>
              <a:t> 자발적 교환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8F951D-8267-AD73-68CF-D23BA53CD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08C5947-16DA-B2DD-1D32-D2474D3937B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263001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만약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에게 어떤 비용부담비율이 제시되면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그는 이것을 자신에게 주어진 제약으로 인식하고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 제약하에서 효용이 극대화되는 공공재의 양을 선택하게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그 비용부담비율을 나타내는 수평선과 만나는 무차별곡선 중에서 가장 아래쪽에 있는 것이 가장 높은 효용을 준다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이 수평선과 무차별곡선의 정점이 접하는 곳에서 효용극대화가 이루어진다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접점에서 만큼의 공공재를 수요하고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 결과 이 접점은 수요곡선 위의 한 점이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위의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과정을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거치면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아래 오른쪽 그림과 같이 수요곡선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 를 도출할 수 있다</a:t>
                </a:r>
                <a:r>
                  <a:rPr lang="en-US" altLang="ko-KR" sz="1600" dirty="0"/>
                  <a:t>.</a:t>
                </a:r>
                <a:r>
                  <a:rPr lang="ko-KR" altLang="en-US" sz="1600" dirty="0"/>
                  <a:t> </a:t>
                </a: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dirty="0"/>
                  <a:t>(</a:t>
                </a:r>
                <a:r>
                  <a:rPr lang="ko-KR" altLang="en-US" sz="1600" dirty="0"/>
                  <a:t>뒷장 계속</a:t>
                </a:r>
                <a:r>
                  <a:rPr lang="en-US" altLang="ko-KR" sz="1600" dirty="0"/>
                  <a:t>)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08C5947-16DA-B2DD-1D32-D2474D3937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2630015"/>
              </a:xfrm>
              <a:prstGeom prst="rect">
                <a:avLst/>
              </a:prstGeom>
              <a:blipFill>
                <a:blip r:embed="rId2"/>
                <a:stretch>
                  <a:fillRect b="-185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71FE5E-3625-AC79-BDCA-86E18BB29C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5168" y="4052968"/>
            <a:ext cx="4271651" cy="2502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FDEB793-2F20-D91B-C669-353D8AFCD3B7}"/>
              </a:ext>
            </a:extLst>
          </p:cNvPr>
          <p:cNvSpPr txBox="1"/>
          <p:nvPr/>
        </p:nvSpPr>
        <p:spPr>
          <a:xfrm>
            <a:off x="1320062" y="3839475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 err="1"/>
              <a:t>린달모형</a:t>
            </a:r>
            <a:r>
              <a:rPr lang="en-US" altLang="ko-KR" sz="1200" spc="-50" dirty="0"/>
              <a:t>: </a:t>
            </a:r>
            <a:r>
              <a:rPr lang="ko-KR" altLang="en-US" sz="1200" spc="-50" dirty="0"/>
              <a:t>수요곡선의 도출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sp>
        <p:nvSpPr>
          <p:cNvPr id="14" name="화살표: 오른쪽 13">
            <a:extLst>
              <a:ext uri="{FF2B5EF4-FFF2-40B4-BE49-F238E27FC236}">
                <a16:creationId xmlns:a16="http://schemas.microsoft.com/office/drawing/2014/main" id="{9F9B92BD-B75E-8AE3-0872-BEFB955296E8}"/>
              </a:ext>
            </a:extLst>
          </p:cNvPr>
          <p:cNvSpPr/>
          <p:nvPr/>
        </p:nvSpPr>
        <p:spPr>
          <a:xfrm>
            <a:off x="5355165" y="4969933"/>
            <a:ext cx="520700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9031AE8-D826-AC01-A581-CDD825412017}"/>
              </a:ext>
            </a:extLst>
          </p:cNvPr>
          <p:cNvSpPr txBox="1"/>
          <p:nvPr/>
        </p:nvSpPr>
        <p:spPr>
          <a:xfrm>
            <a:off x="6522828" y="3839475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린달균형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pic>
        <p:nvPicPr>
          <p:cNvPr id="19" name="그림 18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4AE480-9C5E-5394-A36A-8A8CCA14A4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1384" y="4075150"/>
            <a:ext cx="4156920" cy="250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1581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6AE891-BE1B-405B-7294-2E25C0B1ED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린달균형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20AAA8-5016-EBBD-DC18-1BD54C396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7BF707D-1438-B2F1-2345-5658E705295F}"/>
                  </a:ext>
                </a:extLst>
              </p:cNvPr>
              <p:cNvSpPr txBox="1"/>
              <p:nvPr/>
            </p:nvSpPr>
            <p:spPr>
              <a:xfrm>
                <a:off x="288790" y="735324"/>
                <a:ext cx="11693660" cy="3831946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도출된 수요곡선의 높이를 보면 각 사람이 생산비용을 어떤 비율로 분담할 용의가 있는지 알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공공재가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acc>
                  </m:oMath>
                </a14:m>
                <a:r>
                  <a:rPr lang="ko-KR" altLang="en-US" sz="1600" dirty="0"/>
                  <a:t>만큼 생산된다고 할 때</a:t>
                </a:r>
                <a:r>
                  <a:rPr lang="en-US" altLang="ko-KR" sz="1600" dirty="0"/>
                  <a:t>, A</a:t>
                </a:r>
                <a:r>
                  <a:rPr lang="ko-KR" altLang="en-US" sz="1600" dirty="0"/>
                  <a:t>는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</m:bar>
                  </m:oMath>
                </a14:m>
                <a:r>
                  <a:rPr lang="en-US" altLang="ko-KR" sz="1600" dirty="0"/>
                  <a:t>, B</a:t>
                </a:r>
                <a:r>
                  <a:rPr lang="ko-KR" altLang="en-US" sz="1600" dirty="0"/>
                  <a:t>는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bar>
                  </m:oMath>
                </a14:m>
                <a:r>
                  <a:rPr lang="ko-KR" altLang="en-US" sz="1600" dirty="0"/>
                  <a:t> 길이 만큼의 비율을 부담할 용의를 갖고 있는 것이다</a:t>
                </a:r>
                <a:r>
                  <a:rPr lang="en-US" altLang="ko-KR" sz="1600" dirty="0"/>
                  <a:t>.</a:t>
                </a:r>
                <a:endParaRPr lang="ko-KR" altLang="en-US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dirty="0"/>
                  <a:t>B</a:t>
                </a:r>
                <a:r>
                  <a:rPr lang="ko-KR" altLang="en-US" sz="1600" dirty="0"/>
                  <a:t>가 어떤 공공재의 생산수준에 대해 생산비용의 일정 비율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부담할 용의가 있다고 할 때</a:t>
                </a:r>
                <a:r>
                  <a:rPr lang="en-US" altLang="ko-KR" sz="1600" dirty="0"/>
                  <a:t>, A</a:t>
                </a:r>
                <a:r>
                  <a:rPr lang="ko-KR" altLang="en-US" sz="1600" dirty="0"/>
                  <a:t>가 그 나머지 부분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0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을 부담하겠다고 하면 두 사람은 바로 그 수준의 공공재를 공급받을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acc>
                    <m:r>
                      <a:rPr lang="en-US" altLang="ko-KR" sz="1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600" dirty="0"/>
                  <a:t>의 생산수준에 대해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는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sub>
                        </m:s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bar>
                  </m:oMath>
                </a14:m>
                <a:r>
                  <a:rPr lang="ko-KR" altLang="en-US" sz="1600" dirty="0"/>
                  <a:t>의 길이에 해당하는 비율을 부담할 용의가 있으니</a:t>
                </a:r>
                <a:r>
                  <a:rPr lang="en-US" altLang="ko-KR" sz="1600" dirty="0"/>
                  <a:t>, A</a:t>
                </a:r>
                <a:r>
                  <a:rPr lang="ko-KR" altLang="en-US" sz="1600" dirty="0"/>
                  <a:t>는 나머지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 altLang="ko-KR" sz="16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sub>
                        </m:s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</m:bar>
                  </m:oMath>
                </a14:m>
                <a:r>
                  <a:rPr lang="ko-KR" altLang="en-US" sz="1600" dirty="0"/>
                  <a:t>만큼의 비율을 부담하면 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ko-KR" altLang="en-US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</m:acc>
                  </m:oMath>
                </a14:m>
                <a:r>
                  <a:rPr lang="ko-KR" altLang="en-US" sz="1600" dirty="0"/>
                  <a:t>만큼의 공공재를 공급받을 수 있게 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다시 말해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를 기준으로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곡선을 본다면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곡선은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의 공급곡선과 마찬가지다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따라서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두 곡선이 교차하는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ko-KR" altLang="en-US" sz="1600" dirty="0"/>
                  <a:t>점은 수요곡선과 공급곡선이 교차하는 균형점이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이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ko-KR" altLang="en-US" sz="1600" dirty="0"/>
                  <a:t>점을 린달균형 혹은 자발적 교환의 모형이라고 부른다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공공재 생산 수준과 비용부담비율을 두사람이 자발적으로 합의한 결과로 해석하기 때문이다</a:t>
                </a:r>
                <a:r>
                  <a:rPr lang="en-US" altLang="ko-KR" sz="16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7BF707D-1438-B2F1-2345-5658E70529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35324"/>
                <a:ext cx="11693660" cy="3831946"/>
              </a:xfrm>
              <a:prstGeom prst="rect">
                <a:avLst/>
              </a:prstGeom>
              <a:blipFill>
                <a:blip r:embed="rId2"/>
                <a:stretch>
                  <a:fillRect b="-1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그림 8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B0F208-1CD1-07EA-49A5-774039E25D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6328" y="4549409"/>
            <a:ext cx="3377072" cy="2032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49074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B7239-FA66-9713-6946-2F3EBA0EF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5CB9A2-3862-18E6-1F69-8020EC58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린달균형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CB0339-8FD6-C7DD-1121-128D7E2EC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2E639F6-B2A3-3B15-49AE-4B776EF93471}"/>
                  </a:ext>
                </a:extLst>
              </p:cNvPr>
              <p:cNvSpPr txBox="1"/>
              <p:nvPr/>
            </p:nvSpPr>
            <p:spPr>
              <a:xfrm>
                <a:off x="288790" y="791204"/>
                <a:ext cx="11693660" cy="337573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아래 그림에서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ko-KR" altLang="en-US" sz="1600" i="1">
                        <a:latin typeface="Cambria Math" panose="02040503050406030204" pitchFamily="18" charset="0"/>
                      </a:rPr>
                      <m:t>의</m:t>
                    </m:r>
                  </m:oMath>
                </a14:m>
                <a:r>
                  <a:rPr lang="ko-KR" altLang="en-US" sz="1600" dirty="0"/>
                  <a:t> 수평축을 기준으로</a:t>
                </a:r>
                <a:r>
                  <a:rPr lang="en-US" altLang="ko-KR" sz="1600" dirty="0"/>
                  <a:t> A</a:t>
                </a:r>
                <a:r>
                  <a:rPr lang="ko-KR" altLang="en-US" sz="1600" dirty="0"/>
                  <a:t>의 수요곡선의 높이는 공공재 소비로부터 </a:t>
                </a:r>
                <a:r>
                  <a:rPr lang="en-US" altLang="ko-KR" sz="1600" dirty="0"/>
                  <a:t>A</a:t>
                </a:r>
                <a:r>
                  <a:rPr lang="ko-KR" altLang="en-US" sz="1600" dirty="0"/>
                  <a:t>가 누리는 </a:t>
                </a:r>
                <a:r>
                  <a:rPr lang="ko-KR" altLang="en-US" sz="1600" dirty="0" err="1"/>
                  <a:t>한계편익이며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𝑂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ko-KR" altLang="en-US" sz="1600" dirty="0"/>
                  <a:t>의 수평축을 기준으로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의 수요곡선의 높이는 공공재 소비로부터 </a:t>
                </a:r>
                <a:r>
                  <a:rPr lang="en-US" altLang="ko-KR" sz="1600" dirty="0"/>
                  <a:t>B</a:t>
                </a:r>
                <a:r>
                  <a:rPr lang="ko-KR" altLang="en-US" sz="1600" dirty="0"/>
                  <a:t>가 누리는 한계편익이다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여기서 공공재 생산의 단위비용이 </a:t>
                </a:r>
                <a:r>
                  <a:rPr lang="en-US" altLang="ko-KR" sz="1600" dirty="0"/>
                  <a:t>1</a:t>
                </a:r>
                <a:r>
                  <a:rPr lang="ko-KR" altLang="en-US" sz="1600" dirty="0"/>
                  <a:t>원이라고 하였으므로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ko-KR" altLang="en-US" sz="1600" dirty="0"/>
                  <a:t>점에서는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dirty="0"/>
                  <a:t>와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dirty="0"/>
                  <a:t>의 한계편익의 합이 공공재 생산의 한계비용과 일치하게 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따라서 앞서 배운 공공재 적정배분의 조건을 충족한다</a:t>
                </a:r>
                <a:r>
                  <a:rPr lang="en-US" altLang="ko-KR" sz="1600" dirty="0"/>
                  <a:t>. (</a:t>
                </a:r>
                <a:r>
                  <a:rPr lang="en-US" altLang="ko-KR" sz="1600" b="1" spc="-50" dirty="0"/>
                  <a:t>A</a:t>
                </a:r>
                <a:r>
                  <a:rPr lang="ko-KR" altLang="en-US" sz="1600" b="1" spc="-50" dirty="0"/>
                  <a:t>의 한계편익</a:t>
                </a:r>
                <a:r>
                  <a:rPr lang="en-US" altLang="ko-KR" sz="16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𝑨</m:t>
                        </m:r>
                      </m:sub>
                    </m:sSub>
                  </m:oMath>
                </a14:m>
                <a:r>
                  <a:rPr lang="en-US" altLang="ko-KR" sz="1600" b="1" spc="-50" dirty="0"/>
                  <a:t>) + B</a:t>
                </a:r>
                <a:r>
                  <a:rPr lang="ko-KR" altLang="en-US" sz="1600" b="1" spc="-50" dirty="0"/>
                  <a:t>의 한계편익</a:t>
                </a:r>
                <a:r>
                  <a:rPr lang="en-US" altLang="ko-KR" sz="16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𝑴𝑩</m:t>
                        </m:r>
                      </m:e>
                      <m:sub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𝑩</m:t>
                        </m:r>
                      </m:sub>
                    </m:sSub>
                  </m:oMath>
                </a14:m>
                <a:r>
                  <a:rPr lang="en-US" altLang="ko-KR" sz="1600" b="1" spc="-50" dirty="0"/>
                  <a:t>) = </a:t>
                </a:r>
                <a:r>
                  <a:rPr lang="ko-KR" altLang="en-US" sz="1600" b="1" spc="-50" dirty="0"/>
                  <a:t>한계비용</a:t>
                </a:r>
                <a:r>
                  <a:rPr lang="en-US" altLang="ko-KR" sz="1600" b="1" spc="-5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𝑴𝑪</m:t>
                        </m:r>
                      </m:e>
                      <m:sub>
                        <m:r>
                          <a:rPr lang="en-US" altLang="ko-KR" sz="1600" b="1" i="1"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</m:oMath>
                </a14:m>
                <a:r>
                  <a:rPr lang="en-US" altLang="ko-KR" sz="1600" b="1" spc="-50" dirty="0"/>
                  <a:t>)</a:t>
                </a:r>
                <a:r>
                  <a:rPr lang="en-US" altLang="ko-KR" sz="1600" dirty="0"/>
                  <a:t>)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방금 배운 </a:t>
                </a:r>
                <a:r>
                  <a:rPr lang="ko-KR" altLang="en-US" sz="1600" dirty="0" err="1"/>
                  <a:t>린달의</a:t>
                </a:r>
                <a:r>
                  <a:rPr lang="ko-KR" altLang="en-US" sz="1600" dirty="0"/>
                  <a:t> 자발적 교환 모형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그리고 앞서 살펴본 </a:t>
                </a:r>
                <a:r>
                  <a:rPr lang="ko-KR" altLang="en-US" sz="1600" dirty="0" err="1"/>
                  <a:t>새무엘슨</a:t>
                </a:r>
                <a:r>
                  <a:rPr lang="ko-KR" altLang="en-US" sz="1600" dirty="0"/>
                  <a:t> 모형은 소비자들이 공공재에 대한 진정한 선호를 표출한다는 비현실적인 가정을 전제로 한다는 한계점이 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2E639F6-B2A3-3B15-49AE-4B776EF934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791204"/>
                <a:ext cx="11693660" cy="3375732"/>
              </a:xfrm>
              <a:prstGeom prst="rect">
                <a:avLst/>
              </a:prstGeom>
              <a:blipFill>
                <a:blip r:embed="rId2"/>
                <a:stretch>
                  <a:fillRect r="-2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1928CCA6-FE01-92F5-D603-30D48FDD0CA5}"/>
              </a:ext>
            </a:extLst>
          </p:cNvPr>
          <p:cNvSpPr txBox="1"/>
          <p:nvPr/>
        </p:nvSpPr>
        <p:spPr>
          <a:xfrm>
            <a:off x="4526388" y="3762465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린달균형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p:pic>
        <p:nvPicPr>
          <p:cNvPr id="7" name="그림 6" descr="도표, 라인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82D6B2C-8478-BE65-60FF-AFA5E8BD1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3482" y="3977640"/>
            <a:ext cx="4273758" cy="2572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48667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D5750-0F81-1CDD-AA50-3526AE44A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D3EEEE3-7E4A-12C0-24D1-A4B48751D0FF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EAB74A-9E5E-C26B-5D66-3159D49E9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A33A8E5E-851A-66E1-3C61-8C2C9DD6BD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무임승차자의 문제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35130106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23A55-B2CF-4AC9-7398-A8FB3D7E6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5780F4-A8B2-BB2A-486E-06BBF9F2B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무임승차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C8487B-3DE7-FDC4-095E-60FFC194A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891C15-C4FF-8D80-55ED-FB4051CD54C5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지금까지 살펴본 </a:t>
            </a:r>
            <a:r>
              <a:rPr lang="ko-KR" altLang="en-US" sz="1600" dirty="0" err="1"/>
              <a:t>새무엘슨</a:t>
            </a:r>
            <a:r>
              <a:rPr lang="en-US" altLang="ko-KR" sz="1600" dirty="0"/>
              <a:t>, </a:t>
            </a:r>
            <a:r>
              <a:rPr lang="ko-KR" altLang="en-US" sz="1600" dirty="0" err="1"/>
              <a:t>린달</a:t>
            </a:r>
            <a:r>
              <a:rPr lang="ko-KR" altLang="en-US" sz="1600" dirty="0"/>
              <a:t> 모형은 각 개인이 공공재에 대한 진정한 선호를 표출한다는 비현실적인 가정을 전제로 하였다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현실에서 사람들은 공공재의 혜택을 원하면서도 그 비용은 부담하지 않으려는 현상이 나타날 가능성이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비용 부담을 회피하고자 자신은 공공재를 원하지 않는다고 말해 놓고</a:t>
            </a:r>
            <a:r>
              <a:rPr lang="en-US" altLang="ko-KR" sz="1600" dirty="0"/>
              <a:t>, </a:t>
            </a:r>
            <a:r>
              <a:rPr lang="ko-KR" altLang="en-US" sz="1600" dirty="0"/>
              <a:t>공공재가 다른 사람에 의해 공급되면 이에 편승하고자 하는 경향이 나타날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위와 같은 문제를 무임승차자의 문제라고 부른다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사적재화의 경우</a:t>
            </a:r>
            <a:r>
              <a:rPr lang="en-US" altLang="ko-KR" sz="1600" dirty="0"/>
              <a:t>, </a:t>
            </a:r>
            <a:r>
              <a:rPr lang="ko-KR" altLang="en-US" sz="1600" dirty="0"/>
              <a:t>어떤 소비자가 자신의 진정한 선호를 왜곡하여 표출한다고 해도 이득을 볼 여지가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사실은 컴퓨터를 사고 싶은데</a:t>
            </a:r>
            <a:r>
              <a:rPr lang="en-US" altLang="ko-KR" sz="1600" dirty="0"/>
              <a:t>, </a:t>
            </a:r>
            <a:r>
              <a:rPr lang="ko-KR" altLang="en-US" sz="1600" dirty="0"/>
              <a:t>컴퓨터 판매자에게 컴퓨터를 원하지 않는다고 말해봤지 아무런 일이 발생하지 않는다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대부분의 사람들이 무임승차를 시도하면</a:t>
            </a:r>
            <a:r>
              <a:rPr lang="en-US" altLang="ko-KR" sz="1600" dirty="0"/>
              <a:t>, </a:t>
            </a:r>
            <a:r>
              <a:rPr lang="ko-KR" altLang="en-US" sz="1600" dirty="0"/>
              <a:t>자발적인 합의에 의해 결정한 공공재의 수준은 앞서 설명한 공공재의 적정수준만큼 공급될 수 없다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만약 국방회사</a:t>
            </a:r>
            <a:r>
              <a:rPr lang="en-US" altLang="ko-KR" sz="1600" dirty="0"/>
              <a:t>, </a:t>
            </a:r>
            <a:r>
              <a:rPr lang="ko-KR" altLang="en-US" sz="1600" dirty="0"/>
              <a:t>경찰회사와 같이 민간회사가 공공재</a:t>
            </a:r>
            <a:r>
              <a:rPr lang="en-US" altLang="ko-KR" sz="1600" dirty="0"/>
              <a:t>(</a:t>
            </a:r>
            <a:r>
              <a:rPr lang="ko-KR" altLang="en-US" sz="1600" dirty="0"/>
              <a:t>국방</a:t>
            </a:r>
            <a:r>
              <a:rPr lang="en-US" altLang="ko-KR" sz="1600" dirty="0"/>
              <a:t> </a:t>
            </a:r>
            <a:r>
              <a:rPr lang="ko-KR" altLang="en-US" sz="1600" dirty="0"/>
              <a:t>및 치안</a:t>
            </a:r>
            <a:r>
              <a:rPr lang="en-US" altLang="ko-KR" sz="1600" dirty="0"/>
              <a:t>)</a:t>
            </a:r>
            <a:r>
              <a:rPr lang="ko-KR" altLang="en-US" sz="1600" dirty="0"/>
              <a:t>를 공급한다면</a:t>
            </a:r>
            <a:r>
              <a:rPr lang="en-US" altLang="ko-KR" sz="1600" dirty="0"/>
              <a:t>, </a:t>
            </a:r>
            <a:r>
              <a:rPr lang="ko-KR" altLang="en-US" sz="1600" dirty="0"/>
              <a:t>이 회사들이 제공하는 서비스를 구입하려 하는 사람은 거의 없을 것이다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따라서 이 사회에서 국방 및 경찰서비스가 적정한 수준으로 공급되는 것은 불가능하다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1241359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15AC2-A82B-6B45-24E6-2C05471D12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B76369-84F5-F2AD-1D3A-91024ED3F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무임승차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DBFC3D-F1EA-760C-C026-937AD4D03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9E555C-9788-03A1-A147-0F57283BA003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무임승차 문제로 인해 정부가 공공재를 생산</a:t>
            </a:r>
            <a:r>
              <a:rPr lang="en-US" altLang="ko-KR" sz="1600" dirty="0"/>
              <a:t>·</a:t>
            </a:r>
            <a:r>
              <a:rPr lang="ko-KR" altLang="en-US" sz="1600" dirty="0"/>
              <a:t>공급을 담당해야 한다는 주장이 있을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즉 정부가 사람들의 공공재에 대한 선호를 알아내고 강제력을 이용해 생산비용을 거둠으로써 무임승차 문제를 해결할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실제로 정부가 주요 공공재의 공급을 도맡아 하고 있는 현실을 보면</a:t>
            </a:r>
            <a:r>
              <a:rPr lang="en-US" altLang="ko-KR" sz="1600" dirty="0"/>
              <a:t>, </a:t>
            </a:r>
            <a:r>
              <a:rPr lang="ko-KR" altLang="en-US" sz="1600" dirty="0"/>
              <a:t>이러한 주장은 대단히 설득력이 있다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다만 무임승차 문제는 하나의 가설일 뿐이고</a:t>
            </a:r>
            <a:r>
              <a:rPr lang="en-US" altLang="ko-KR" sz="1600" dirty="0"/>
              <a:t>, ‘</a:t>
            </a:r>
            <a:r>
              <a:rPr lang="ko-KR" altLang="en-US" sz="1600" dirty="0"/>
              <a:t>사실</a:t>
            </a:r>
            <a:r>
              <a:rPr lang="en-US" altLang="ko-KR" sz="1600" dirty="0"/>
              <a:t>’ </a:t>
            </a:r>
            <a:r>
              <a:rPr lang="ko-KR" altLang="en-US" sz="1600" dirty="0"/>
              <a:t>그 자체는 아니라는 데 유의해야 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다시 말해 무임승차자 현상이 나타날 가능성이 있다고 말할 뿐</a:t>
            </a:r>
            <a:r>
              <a:rPr lang="en-US" altLang="ko-KR" sz="1600" dirty="0"/>
              <a:t>, </a:t>
            </a:r>
            <a:r>
              <a:rPr lang="ko-KR" altLang="en-US" sz="1600" dirty="0"/>
              <a:t>현실에서 반드시 그런 문제가 발생하는 것은 아니다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민간</a:t>
            </a:r>
            <a:r>
              <a:rPr lang="en-US" altLang="ko-KR" sz="1600" dirty="0"/>
              <a:t>(</a:t>
            </a:r>
            <a:r>
              <a:rPr lang="ko-KR" altLang="en-US" sz="1600" dirty="0"/>
              <a:t>개인</a:t>
            </a:r>
            <a:r>
              <a:rPr lang="en-US" altLang="ko-KR" sz="1600" dirty="0"/>
              <a:t>)</a:t>
            </a:r>
            <a:r>
              <a:rPr lang="ko-KR" altLang="en-US" sz="1600" dirty="0"/>
              <a:t>이 설립한 박물관</a:t>
            </a:r>
            <a:r>
              <a:rPr lang="en-US" altLang="ko-KR" sz="1600" dirty="0"/>
              <a:t>, </a:t>
            </a:r>
            <a:r>
              <a:rPr lang="ko-KR" altLang="en-US" sz="1600" dirty="0"/>
              <a:t>도서관</a:t>
            </a:r>
            <a:r>
              <a:rPr lang="en-US" altLang="ko-KR" sz="1600" dirty="0"/>
              <a:t>, </a:t>
            </a:r>
            <a:r>
              <a:rPr lang="ko-KR" altLang="en-US" sz="1600" dirty="0"/>
              <a:t>연구소 등의 예를 보면 공공재라고 해서 반드시 무임승차자의 문제가 발생하지는 않는다는 사실을 알 수 있다</a:t>
            </a:r>
            <a:r>
              <a:rPr lang="en-US" altLang="ko-KR" sz="1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9919135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FCE796-C254-7B61-33C8-DD6F75A78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B54D93-7665-6649-24F5-6F82AC7B2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협상가능성의 존재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EBD3F3-3A85-59F6-61DB-88F6B7656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0CA2D2-E9E0-60B4-5532-FF16C526C5A2}"/>
              </a:ext>
            </a:extLst>
          </p:cNvPr>
          <p:cNvSpPr txBox="1"/>
          <p:nvPr/>
        </p:nvSpPr>
        <p:spPr>
          <a:xfrm>
            <a:off x="288790" y="958844"/>
            <a:ext cx="11693660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공공재에 관하여</a:t>
            </a:r>
            <a:r>
              <a:rPr lang="en-US" altLang="ko-KR" sz="1600" dirty="0"/>
              <a:t>, </a:t>
            </a:r>
            <a:r>
              <a:rPr lang="ko-KR" altLang="en-US" sz="1600" dirty="0"/>
              <a:t>결국 사람들은 자신에게 더 유리한 결과를 가져오도록 서로 간에 일종의 게임을 하고 있는 상황이라고 볼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때</a:t>
            </a:r>
            <a:r>
              <a:rPr lang="en-US" altLang="ko-KR" sz="1600" dirty="0"/>
              <a:t>, </a:t>
            </a:r>
            <a:r>
              <a:rPr lang="ko-KR" altLang="en-US" sz="1600" dirty="0"/>
              <a:t>사람들은 대화와 협상을 통해 사회적으로 적정한 수준의 공공재가 생산되도록 합의할 가능성도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한 마을에 살고 있는 김씨와 박씨 두 사람이 마을에 홍수방지시설을 해야 할 것인지 논의하고 있다고 해보자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각자 홍수방지시설의 설치비용을 </a:t>
            </a:r>
            <a:r>
              <a:rPr lang="en-US" altLang="ko-KR" sz="1600" dirty="0"/>
              <a:t>1</a:t>
            </a:r>
            <a:r>
              <a:rPr lang="ko-KR" altLang="en-US" sz="1600" dirty="0"/>
              <a:t>천만원씩 부담하거나 혹은 전혀 부담하지 않는 두 가지 전략을 갖고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두 사람이 각각 </a:t>
            </a:r>
            <a:r>
              <a:rPr lang="en-US" altLang="ko-KR" sz="1600" dirty="0"/>
              <a:t>1</a:t>
            </a:r>
            <a:r>
              <a:rPr lang="ko-KR" altLang="en-US" sz="1600" dirty="0"/>
              <a:t>천만원씩 부담하여 홍수방지시설을 완벽히 갖추면</a:t>
            </a:r>
            <a:r>
              <a:rPr lang="en-US" altLang="ko-KR" sz="1600" dirty="0"/>
              <a:t>,</a:t>
            </a:r>
            <a:r>
              <a:rPr lang="ko-KR" altLang="en-US" sz="1600" dirty="0"/>
              <a:t> 각자 </a:t>
            </a:r>
            <a:r>
              <a:rPr lang="en-US" altLang="ko-KR" sz="1600" dirty="0"/>
              <a:t>1</a:t>
            </a:r>
            <a:r>
              <a:rPr lang="ko-KR" altLang="en-US" sz="1600" dirty="0"/>
              <a:t>천 </a:t>
            </a:r>
            <a:r>
              <a:rPr lang="en-US" altLang="ko-KR" sz="1600" dirty="0"/>
              <a:t>5</a:t>
            </a:r>
            <a:r>
              <a:rPr lang="ko-KR" altLang="en-US" sz="1600" dirty="0"/>
              <a:t>백만원의 혜택을 누리게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한 사람만 </a:t>
            </a:r>
            <a:r>
              <a:rPr lang="en-US" altLang="ko-KR" sz="1600" dirty="0"/>
              <a:t>1</a:t>
            </a:r>
            <a:r>
              <a:rPr lang="ko-KR" altLang="en-US" sz="1600" dirty="0"/>
              <a:t>천만원을 부담하면</a:t>
            </a:r>
            <a:r>
              <a:rPr lang="en-US" altLang="ko-KR" sz="1600" dirty="0"/>
              <a:t>, </a:t>
            </a:r>
            <a:r>
              <a:rPr lang="ko-KR" altLang="en-US" sz="1600" dirty="0"/>
              <a:t>각자 </a:t>
            </a:r>
            <a:r>
              <a:rPr lang="en-US" altLang="ko-KR" sz="1600" dirty="0"/>
              <a:t>7</a:t>
            </a:r>
            <a:r>
              <a:rPr lang="ko-KR" altLang="en-US" sz="1600" dirty="0"/>
              <a:t>백</a:t>
            </a:r>
            <a:r>
              <a:rPr lang="en-US" altLang="ko-KR" sz="1600" dirty="0"/>
              <a:t> 5</a:t>
            </a:r>
            <a:r>
              <a:rPr lang="ko-KR" altLang="en-US" sz="1600" dirty="0"/>
              <a:t>십만원의 혜택을 누리게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아무도 홍수방지지설 비용을 부담하지 않으면</a:t>
            </a:r>
            <a:r>
              <a:rPr lang="en-US" altLang="ko-KR" sz="1600" dirty="0"/>
              <a:t>, </a:t>
            </a:r>
            <a:r>
              <a:rPr lang="ko-KR" altLang="en-US" sz="1600" dirty="0"/>
              <a:t>각자의 혜택은 </a:t>
            </a:r>
            <a:r>
              <a:rPr lang="en-US" altLang="ko-KR" sz="1600" dirty="0"/>
              <a:t>0</a:t>
            </a:r>
            <a:r>
              <a:rPr lang="ko-KR" altLang="en-US" sz="1600" dirty="0"/>
              <a:t>원이 된다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(</a:t>
            </a:r>
            <a:r>
              <a:rPr lang="ko-KR" altLang="en-US" sz="1600" dirty="0"/>
              <a:t>뒷장 계속</a:t>
            </a:r>
            <a:r>
              <a:rPr lang="en-US" altLang="ko-KR" sz="16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7763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D8095-62BB-EF9E-CD43-EFC7ECCD8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DBB20A-A14D-6C46-42A1-F7607CB015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협상가능성의 존재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7E2EF70-934D-E5C8-79B2-9BD740AD3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F41558-F52D-2CC8-036F-0C425CBF6547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앞선 상황은 아래의 표와 같이 보수행렬로 정리할 수 있다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괄호 안의 숫자는 각자 전략에 따라 얻는 순편익을 의미한다</a:t>
            </a:r>
            <a:r>
              <a:rPr lang="en-US" altLang="ko-KR" sz="1600" dirty="0"/>
              <a:t>. (</a:t>
            </a:r>
            <a:r>
              <a:rPr lang="ko-KR" altLang="en-US" sz="1600" dirty="0"/>
              <a:t>김씨의 </a:t>
            </a:r>
            <a:r>
              <a:rPr lang="ko-KR" altLang="en-US" sz="1600" dirty="0" err="1"/>
              <a:t>순편익</a:t>
            </a:r>
            <a:r>
              <a:rPr lang="en-US" altLang="ko-KR" sz="1600" dirty="0"/>
              <a:t>, </a:t>
            </a:r>
            <a:r>
              <a:rPr lang="ko-KR" altLang="en-US" sz="1600" dirty="0"/>
              <a:t>박씨의 </a:t>
            </a:r>
            <a:r>
              <a:rPr lang="ko-KR" altLang="en-US" sz="1600" dirty="0" err="1"/>
              <a:t>순편익</a:t>
            </a:r>
            <a:r>
              <a:rPr lang="ko-KR" altLang="en-US" sz="1600" dirty="0"/>
              <a:t> 순서</a:t>
            </a:r>
            <a:r>
              <a:rPr lang="en-US" altLang="ko-KR" sz="160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이 게임에서는 아무도 비용을 부담하지 않는 것이 우월전략이 됨을 알 수 있다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상대가 부담을 하던 </a:t>
            </a:r>
            <a:r>
              <a:rPr lang="ko-KR" altLang="en-US" sz="1600" dirty="0" err="1"/>
              <a:t>안하던</a:t>
            </a:r>
            <a:r>
              <a:rPr lang="en-US" altLang="ko-KR" sz="1600" dirty="0"/>
              <a:t>, </a:t>
            </a:r>
            <a:r>
              <a:rPr lang="ko-KR" altLang="en-US" sz="1600" dirty="0"/>
              <a:t>나는 부담을 </a:t>
            </a:r>
            <a:r>
              <a:rPr lang="ko-KR" altLang="en-US" sz="1600" dirty="0" err="1"/>
              <a:t>안하는</a:t>
            </a:r>
            <a:r>
              <a:rPr lang="ko-KR" altLang="en-US" sz="1600" dirty="0"/>
              <a:t> 경우의 혜택이 더 크다는 것을 확인해보라</a:t>
            </a:r>
            <a:r>
              <a:rPr lang="en-US" altLang="ko-KR" sz="16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결국 앞서 게임에서는 홍수방지시설을 설치 하지 않을 가능성이 제일 크다</a:t>
            </a:r>
            <a:r>
              <a:rPr lang="en-US" altLang="ko-KR" sz="16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dirty="0"/>
              <a:t>하지만 두 사람 모두 비용부담을 통해 홍수방지시설을 갖추는 것이 두 사람 모두에게 큰 편익을 가져다 준다</a:t>
            </a:r>
            <a:r>
              <a:rPr lang="en-US" altLang="ko-KR" sz="16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/>
              <a:t>정부의 개입은 이와 같은 딜레마 상황을 타개하고 협조적인 해결책을 모색해주는 차원에서 의미가 있다</a:t>
            </a:r>
            <a:r>
              <a:rPr lang="en-US" altLang="ko-KR" sz="1600" dirty="0"/>
              <a:t>.</a:t>
            </a:r>
          </a:p>
        </p:txBody>
      </p:sp>
      <p:graphicFrame>
        <p:nvGraphicFramePr>
          <p:cNvPr id="8" name="표 3">
            <a:extLst>
              <a:ext uri="{FF2B5EF4-FFF2-40B4-BE49-F238E27FC236}">
                <a16:creationId xmlns:a16="http://schemas.microsoft.com/office/drawing/2014/main" id="{348F838E-5C0E-9011-8CAE-97DB6AC66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656775"/>
              </p:ext>
            </p:extLst>
          </p:nvPr>
        </p:nvGraphicFramePr>
        <p:xfrm>
          <a:off x="2028690" y="3209106"/>
          <a:ext cx="6485469" cy="745379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161823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161823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2161823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156342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</a:t>
                      </a:r>
                      <a:endParaRPr lang="ko-KR" altLang="en-US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 하지 않음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141397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(500, 500)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(-250, 750)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175319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부담 하지 않음</a:t>
                      </a:r>
                      <a:endParaRPr lang="en-US" sz="1300" b="1" kern="0" spc="0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9E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(750, -250)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(0, 0)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CAD016E-5746-EEB1-AE32-36CA72CC5CBC}"/>
              </a:ext>
            </a:extLst>
          </p:cNvPr>
          <p:cNvSpPr txBox="1"/>
          <p:nvPr/>
        </p:nvSpPr>
        <p:spPr>
          <a:xfrm>
            <a:off x="5855111" y="2870870"/>
            <a:ext cx="99271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 b="1" kern="0" dirty="0">
                <a:latin typeface="+mn-ea"/>
              </a:rPr>
              <a:t>박씨</a:t>
            </a:r>
            <a:endParaRPr lang="ko-KR" altLang="en-US" sz="13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8486B7-AF4A-F9E5-33C6-4025D075FEA9}"/>
              </a:ext>
            </a:extLst>
          </p:cNvPr>
          <p:cNvSpPr txBox="1"/>
          <p:nvPr/>
        </p:nvSpPr>
        <p:spPr>
          <a:xfrm>
            <a:off x="1171440" y="3569371"/>
            <a:ext cx="99271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 b="1" kern="0" dirty="0">
                <a:latin typeface="+mn-ea"/>
              </a:rPr>
              <a:t>김씨</a:t>
            </a:r>
            <a:endParaRPr lang="ko-KR" altLang="en-US" sz="1300" dirty="0"/>
          </a:p>
        </p:txBody>
      </p:sp>
    </p:spTree>
    <p:extLst>
      <p:ext uri="{BB962C8B-B14F-4D97-AF65-F5344CB8AC3E}">
        <p14:creationId xmlns:p14="http://schemas.microsoft.com/office/powerpoint/2010/main" val="35540635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77A28C-73F4-46BB-EB51-6979A9BB5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수요표출기구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FE113E-6425-EF78-6FD1-5DD3CA2E13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04F506E-1EC6-31F8-6738-0E9E4FBF5A27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85306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지금까지 </a:t>
                </a:r>
                <a:r>
                  <a:rPr lang="ko-KR" altLang="en-US" sz="1600" dirty="0" err="1"/>
                  <a:t>살펴본대로</a:t>
                </a:r>
                <a:r>
                  <a:rPr lang="ko-KR" altLang="en-US" sz="1600" dirty="0"/>
                  <a:t> 시장이 공공재를 적절히 배분하지 못하기 때문에 공공부문이 이 일을 맡게 되었다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나아가 공공부문이 이 일을 맡아도 무임승차 문제를 피하기 위해서는 소비자들의 수요를 정확하게 파악해야 한다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소비자들이 전략적으로 수요를 표출한다면 사회적으로 적절한 공공재 배분이 이루어지지 못하기 때문이다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따라서 사람들로 하여금 공공재에 대한 진정한 선호를 표출하도록 유도하는 </a:t>
                </a:r>
                <a:r>
                  <a:rPr lang="ko-KR" altLang="en-US" sz="1600" dirty="0" err="1"/>
                  <a:t>수요표출기구</a:t>
                </a:r>
                <a:r>
                  <a:rPr lang="en-US" altLang="ko-KR" sz="1600" dirty="0"/>
                  <a:t>(demand</a:t>
                </a:r>
                <a:r>
                  <a:rPr lang="ko-KR" altLang="en-US" sz="1600" dirty="0"/>
                  <a:t> </a:t>
                </a:r>
                <a:r>
                  <a:rPr lang="en-US" altLang="ko-KR" sz="1600" dirty="0"/>
                  <a:t>revelation mechanism)</a:t>
                </a:r>
                <a:r>
                  <a:rPr lang="ko-KR" altLang="en-US" sz="1600" dirty="0"/>
                  <a:t>가 필요하다</a:t>
                </a:r>
                <a:r>
                  <a:rPr lang="en-US" altLang="ko-KR" sz="16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 err="1"/>
                  <a:t>수요표출기구의</a:t>
                </a:r>
                <a:r>
                  <a:rPr lang="ko-KR" altLang="en-US" sz="1600" dirty="0"/>
                  <a:t> 기본적인 접근법은 아래와 같다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모든 사람으로 하여금 공공재에 대한 선호를 표출하게 만든 뒤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특정 공식에 의해 적정한 공공재의 수준과 각자가 내야 할 세금의 몫을 결정한다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예를 들어</a:t>
                </a:r>
                <a:r>
                  <a:rPr lang="en-US" altLang="ko-KR" sz="16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dirty="0"/>
                  <a:t>명의 사람들에게 어떤 공공재에 대한 선호를 물었는데 </a:t>
                </a:r>
                <a14:m>
                  <m:oMath xmlns:m="http://schemas.openxmlformats.org/officeDocument/2006/math"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ko-KR" altLang="en-US" sz="1600" dirty="0"/>
                  <a:t>번째 사람이 그것에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a:rPr lang="ko-KR" altLang="en-US" sz="1600" i="1">
                        <a:latin typeface="Cambria Math" panose="02040503050406030204" pitchFamily="18" charset="0"/>
                      </a:rPr>
                      <m:t>라</m:t>
                    </m:r>
                  </m:oMath>
                </a14:m>
                <a:r>
                  <a:rPr lang="ko-KR" altLang="en-US" sz="1600" dirty="0"/>
                  <a:t>는 가치를 부여한다고 대답했다고 하자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100" dirty="0"/>
                  <a:t>여기서</a:t>
                </a:r>
                <a:r>
                  <a:rPr lang="en-US" altLang="ko-KR" sz="1600" spc="-10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ko-KR" altLang="en-US" sz="1600" spc="-100" dirty="0"/>
                  <a:t>는 그 공공재의 양을 뜻하며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이 함수</a:t>
                </a:r>
                <a:r>
                  <a:rPr lang="en-US" altLang="ko-KR" sz="1600" spc="-1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1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의 값은 그 사람이 각 공공재의 양에 대해 부여하는 가치를 뜻한다</a:t>
                </a:r>
                <a:r>
                  <a:rPr lang="en-US" altLang="ko-KR" sz="1600" spc="-1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100" dirty="0"/>
                  <a:t>만약 정부가 공공재를 단위당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ko-KR" altLang="en-US" sz="1600" spc="-100" dirty="0"/>
                  <a:t>원의 비용으로 생산할 수 있다면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정부는 다음의 식을 극대화하는 공공재의 생산수준</a:t>
                </a:r>
                <a:r>
                  <a:rPr lang="en-US" altLang="ko-KR" sz="1600" spc="-100" dirty="0"/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10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p>
                        <m:r>
                          <a:rPr lang="en-US" altLang="ko-KR" sz="1600" b="0" i="1" spc="-100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을 선택한다</a:t>
                </a:r>
                <a:r>
                  <a:rPr lang="en-US" altLang="ko-KR" sz="1600" spc="-1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04F506E-1EC6-31F8-6738-0E9E4FBF5A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853060"/>
              </a:xfrm>
              <a:prstGeom prst="rect">
                <a:avLst/>
              </a:prstGeom>
              <a:blipFill>
                <a:blip r:embed="rId2"/>
                <a:stretch>
                  <a:fillRect r="-261" b="-62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97A359-FCBF-D44C-EB6F-5C08BB354CE0}"/>
                  </a:ext>
                </a:extLst>
              </p:cNvPr>
              <p:cNvSpPr txBox="1"/>
              <p:nvPr/>
            </p:nvSpPr>
            <p:spPr>
              <a:xfrm>
                <a:off x="5094350" y="5675151"/>
                <a:ext cx="1471365" cy="7562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ctrlPr>
                            <a:rPr lang="ko-KR" alt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  <m:e>
                          <m:sSub>
                            <m:sSubPr>
                              <m:ctrlPr>
                                <a:rPr lang="en-US" altLang="ko-K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𝑐𝑍</m:t>
                          </m:r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F97A359-FCBF-D44C-EB6F-5C08BB354C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4350" y="5675151"/>
                <a:ext cx="1471365" cy="75623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473676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E31164-7F07-A6E2-5B78-04596A090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수요표출기구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CA36B5-03BF-35D6-08C4-FF62259D6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0E0EAC-6CBE-A91D-DC69-F60840F8F81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693660" cy="414914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dirty="0"/>
                  <a:t>앞서 공공재 생산수준의 결정방식을 살펴보았는데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이는 사람들이 보고한 공공재의 가치</a:t>
                </a:r>
                <a:r>
                  <a:rPr lang="en-US" altLang="ko-KR" sz="1600" spc="-100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1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altLang="ko-KR" sz="1600" i="1" spc="-10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ko-KR" sz="1600" spc="-100" dirty="0"/>
                  <a:t>) </a:t>
                </a:r>
                <a:r>
                  <a:rPr lang="ko-KR" altLang="en-US" sz="1600" dirty="0"/>
                  <a:t>에 기초하고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즉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사람들이 본인이 느끼는 공공재의 가치를 정직하게 표출하지 않으면</a:t>
                </a:r>
                <a:r>
                  <a:rPr lang="en-US" altLang="ko-KR" sz="1600" spc="-100" dirty="0"/>
                  <a:t>,</a:t>
                </a:r>
                <a:r>
                  <a:rPr lang="ko-KR" altLang="en-US" sz="1600" spc="-100" dirty="0"/>
                  <a:t> 정부는 최적 생산수준을 선택할 수 없다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그러므로 적절한 방식으로 조세를 부과하여 사람들이 본인의 공공재에 대한 선호를 정직하게 표출할 수 있도록 유도해야 한다</a:t>
                </a:r>
                <a:r>
                  <a:rPr lang="en-US" altLang="ko-KR" sz="1600" spc="-1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100" dirty="0"/>
                  <a:t>아래 식에 의해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ko-KR" altLang="en-US" sz="1600" spc="-100" dirty="0"/>
                  <a:t>번째 사람이 부담해야 할 조세의 크기</a:t>
                </a:r>
                <a:r>
                  <a:rPr lang="en-US" altLang="ko-KR" sz="16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를 결정하면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사람들은 전략적으로 행동할 유인이 없어진다</a:t>
                </a:r>
                <a:r>
                  <a:rPr lang="en-US" altLang="ko-KR" sz="1600" spc="-10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10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1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위 식에서 우변의 마지막 항에 나오는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𝑗</m:t>
                        </m:r>
                      </m:sup>
                    </m:sSup>
                    <m:r>
                      <a:rPr lang="en-US" altLang="ko-K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ko-KR" altLang="en-US" sz="1600" spc="-100" dirty="0"/>
                  <a:t>는 임의의 함수이고</a:t>
                </a:r>
                <a:r>
                  <a:rPr lang="en-US" altLang="ko-KR" sz="1600" spc="-100" dirty="0"/>
                  <a:t>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𝑗</m:t>
                        </m:r>
                      </m:sup>
                    </m:sSup>
                  </m:oMath>
                </a14:m>
                <a:r>
                  <a:rPr lang="ko-KR" altLang="en-US" sz="1600" spc="-100" dirty="0"/>
                  <a:t>는 각 사람이 표출한 공공재에 대한 선호를 모두 모은 뒤</a:t>
                </a:r>
                <a:r>
                  <a:rPr lang="en-US" altLang="ko-KR" sz="1600" spc="-10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 spc="-10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ko-KR" altLang="en-US" sz="1600" spc="-100" dirty="0"/>
                  <a:t>번째 사람이 표출한 선호만을 제외하고 만든 </a:t>
                </a:r>
                <a14:m>
                  <m:oMath xmlns:m="http://schemas.openxmlformats.org/officeDocument/2006/math"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altLang="ko-KR" sz="1600" b="0" i="1" spc="-100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ko-KR" altLang="en-US" sz="1600" spc="-100" dirty="0"/>
                  <a:t>차원의 벡터를 뜻한다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이 식에서 가장 중요한 점은 어떤 사람이 부담해야 할 세금의 크기는 남들이 표출한 선호에만 의존하며</a:t>
                </a:r>
                <a:r>
                  <a:rPr lang="en-US" altLang="ko-KR" sz="1600" spc="-100" dirty="0"/>
                  <a:t>, </a:t>
                </a:r>
                <a:r>
                  <a:rPr lang="ko-KR" altLang="en-US" sz="1600" spc="-100" dirty="0"/>
                  <a:t>자신이 표출한 선호와는 무관하게 결정된다는 점이다</a:t>
                </a:r>
                <a:r>
                  <a:rPr lang="en-US" altLang="ko-KR" sz="1600" spc="-1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100" dirty="0"/>
                  <a:t>이러한 </a:t>
                </a:r>
                <a:r>
                  <a:rPr lang="ko-KR" altLang="en-US" sz="1600" spc="-100" dirty="0" err="1"/>
                  <a:t>수요표출기구</a:t>
                </a:r>
                <a:r>
                  <a:rPr lang="en-US" altLang="ko-KR" sz="1600" spc="-100" dirty="0"/>
                  <a:t> (</a:t>
                </a:r>
                <a:r>
                  <a:rPr lang="ko-KR" altLang="en-US" sz="1600" spc="-100" dirty="0"/>
                  <a:t>혹은 메커니즘</a:t>
                </a:r>
                <a:r>
                  <a:rPr lang="en-US" altLang="ko-KR" sz="1600" spc="-100" dirty="0"/>
                  <a:t>)</a:t>
                </a:r>
                <a:r>
                  <a:rPr lang="ko-KR" altLang="en-US" sz="1600" spc="-100" dirty="0"/>
                  <a:t>하에서는 각자가 진정한 선호를 표출하는 것이 우월 전략이 된다</a:t>
                </a:r>
                <a:r>
                  <a:rPr lang="en-US" altLang="ko-KR" sz="1600" spc="-10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C0E0EAC-6CBE-A91D-DC69-F60840F8F8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693660" cy="4149149"/>
              </a:xfrm>
              <a:prstGeom prst="rect">
                <a:avLst/>
              </a:prstGeom>
              <a:blipFill>
                <a:blip r:embed="rId2"/>
                <a:stretch>
                  <a:fillRect r="-573" b="-88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9126E34-C75F-F4C1-1D67-E34CCC63CA67}"/>
                  </a:ext>
                </a:extLst>
              </p:cNvPr>
              <p:cNvSpPr txBox="1"/>
              <p:nvPr/>
            </p:nvSpPr>
            <p:spPr>
              <a:xfrm>
                <a:off x="3991198" y="2554451"/>
                <a:ext cx="3224537" cy="70352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𝑐</m:t>
                      </m:r>
                      <m:sSup>
                        <m:sSup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ko-K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p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</m:e>
                          </m:d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𝑉</m:t>
                              </m:r>
                            </m:e>
                            <m:sup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ko-KR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p>
                          </m:sSup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9126E34-C75F-F4C1-1D67-E34CCC63CA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1198" y="2554451"/>
                <a:ext cx="3224537" cy="7035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9037344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6A9985-B0A2-985B-75B0-DE0A596BB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수요표출기구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0BE949-D0F3-8E4D-FB38-7692E9A112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77A696-0A06-79F7-2B40-B81FAEDACF19}"/>
              </a:ext>
            </a:extLst>
          </p:cNvPr>
          <p:cNvSpPr txBox="1"/>
          <p:nvPr/>
        </p:nvSpPr>
        <p:spPr>
          <a:xfrm>
            <a:off x="288790" y="958844"/>
            <a:ext cx="11693660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 err="1"/>
              <a:t>수요표출기구처럼</a:t>
            </a:r>
            <a:r>
              <a:rPr lang="ko-KR" altLang="en-US" sz="1600" spc="-100" dirty="0"/>
              <a:t> 공공재에 대한 진정한 선호를 표출하도록 유도하는 방법은 아니지만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간접적으로 공공재에 대한 수요를 추정하는 방법도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 방법은 공공재와 사적재화 사이에 존재하는 보완성에 착안하여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소비자가 사적재화에 대해 표출한 선호를 통해 공공재에 대한 수요를 추정하는 것을 기본 아이디로 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예를 들면 국립공원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공공재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를 이용하기 위해서는 특별한 장비가 필요하다고 하자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이 때 그 장비는 </a:t>
            </a:r>
            <a:r>
              <a:rPr lang="ko-KR" altLang="en-US" sz="1600" spc="-100" dirty="0" err="1"/>
              <a:t>사적재화이기</a:t>
            </a:r>
            <a:r>
              <a:rPr lang="ko-KR" altLang="en-US" sz="1600" spc="-100" dirty="0"/>
              <a:t> 때문에 소비자는 진정한 수요를 표출할 수 밖에 없다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소비자는 그 장비를 구매함으로써 국립공원에 대한 선호를 자신도 모르게 표출하게 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그 장비의 시장자료를 모은 뒤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이론적 방법론을 통해 국립공원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공공재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에 대한 수요를 추출할 수 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다만 위의 방법은 공공재와 강한 보완성을 갖는 사적재화가 존재하는 특수한 경우에만 적용 가능하다는 한계가 있다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현실에서는 위와 같은 예시를 찾기 힘들다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100" dirty="0"/>
          </a:p>
        </p:txBody>
      </p:sp>
    </p:spTree>
    <p:extLst>
      <p:ext uri="{BB962C8B-B14F-4D97-AF65-F5344CB8AC3E}">
        <p14:creationId xmlns:p14="http://schemas.microsoft.com/office/powerpoint/2010/main" val="26144566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DED90E-BB64-4240-CF48-5A59A1300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공공재게임</a:t>
            </a:r>
            <a:r>
              <a:rPr lang="en-US" altLang="ko-KR" dirty="0"/>
              <a:t>-</a:t>
            </a:r>
            <a:r>
              <a:rPr lang="ko-KR" altLang="en-US" dirty="0"/>
              <a:t>행태경제이론적 관점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23F724A-9B27-0F26-BFF9-ECD15D13DB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335D13-3623-314E-541B-C78C83DABE44}"/>
              </a:ext>
            </a:extLst>
          </p:cNvPr>
          <p:cNvSpPr txBox="1"/>
          <p:nvPr/>
        </p:nvSpPr>
        <p:spPr>
          <a:xfrm>
            <a:off x="288790" y="958844"/>
            <a:ext cx="11693660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전통적 경제이론의 기본가정이</a:t>
            </a:r>
            <a:r>
              <a:rPr lang="en-US" altLang="ko-KR" sz="1600" spc="-100" dirty="0"/>
              <a:t> (‘</a:t>
            </a:r>
            <a:r>
              <a:rPr lang="ko-KR" altLang="en-US" sz="1600" spc="-100" dirty="0"/>
              <a:t>모든 인간이 이기적이고 합리적이다</a:t>
            </a:r>
            <a:r>
              <a:rPr lang="en-US" altLang="ko-KR" sz="1600" spc="-100" dirty="0"/>
              <a:t>’) </a:t>
            </a:r>
            <a:r>
              <a:rPr lang="ko-KR" altLang="en-US" sz="1600" spc="-100" dirty="0" err="1"/>
              <a:t>맞다면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공공재에 대한 무임승차가 일어나는 것은 당연하다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그러나 현실에서 인간은 완벽하게 이기적이고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또 합리적이라고 단정지을 수 없다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행태경제이론은 위와 같은 전통적 경제이론의 기본가정에 의문을 제기하고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인간은 언제나 이기적이고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합리적이지 않기 때문에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공공재와 관련해 무임승차 문제가 항상 발생하는 것은 아니라는 주장이다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102519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E518F1-9645-A89F-CD45-A5B130DD8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A8541DC-CFC2-EBF7-4672-51532A0C48DC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584AFE-4C54-8894-6AE5-8CF66134E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2B90735-2026-6F47-A63D-208175BDDC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공공재의 다른 측면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35203104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ACFD6-7FD1-919A-2343-2DCD81E95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5E945-881F-CCBA-C70D-49B3FFC955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공급주체의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32EB6F-07F2-5F3C-B0C8-8070112995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8EF03E-2B3C-2D1E-7735-6847382960A9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시장이 공공재를 적절히 배분하지 못하기 때문에 정부의 적극적 역할을 기대할 수 있지만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정부의 개입은 나름대로 문제를 일으킬 수 있는 측면이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만약 정부가 개입하지 않고 민간부문이 자발적으로 공급하는 쪽이 더 효율적이라면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구태여 정부가 나설 필요는 없다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결국 공공재 공급의 주체가 공공부문이어야 하는지</a:t>
            </a:r>
            <a:r>
              <a:rPr lang="en-US" altLang="ko-KR" sz="1600" spc="-100" dirty="0"/>
              <a:t> </a:t>
            </a:r>
            <a:r>
              <a:rPr lang="ko-KR" altLang="en-US" sz="1600" spc="-100" dirty="0"/>
              <a:t>혹은 민간부문이어야 하는 지의 문제는 아래와 같은 측면을 고려해야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첫째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 생산을 위해 사용되는 노동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원자재에 대해 두 부문이 서로 다른 가격을 지불한다면</a:t>
            </a:r>
            <a:r>
              <a:rPr lang="en-US" altLang="ko-KR" sz="1600" spc="-100" dirty="0"/>
              <a:t>,  </a:t>
            </a:r>
            <a:r>
              <a:rPr lang="ko-KR" altLang="en-US" sz="1600" spc="-100" dirty="0"/>
              <a:t>이 같이 상대적 비용 격차가 하나의 고려기준이 될 수 있다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공공재를 더 저렴한 비용으로 공급할 수 있는 쪽이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공공재를 생산해야 한다는 뜻이다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둘째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국민의 다양한 선호에 적절히 부응할 수 있는지가 또 하나의 고려기준이 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공공부문이 공급주체가 되면 관료조직의 특성상 다양한 서비스보다는 획일적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행정편의적 공급이 될 가능성이 크다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셋째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분배적인 측면을 고려해 공급 주체를 생각해볼 필요가 있다</a:t>
            </a:r>
            <a:r>
              <a:rPr lang="en-US" altLang="ko-KR" sz="1600" spc="-10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어떤 공공재는 그 속성상 사회 구성원 모두에게 골고루 분배되는 것이 바람직하다</a:t>
            </a:r>
            <a:r>
              <a:rPr lang="en-US" altLang="ko-KR" sz="1600" spc="-100" dirty="0"/>
              <a:t>. (</a:t>
            </a:r>
            <a:r>
              <a:rPr lang="ko-KR" altLang="en-US" sz="1600" spc="-100" dirty="0"/>
              <a:t>예 초등교육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재난경보</a:t>
            </a:r>
            <a:r>
              <a:rPr lang="en-US" altLang="ko-KR" sz="1600" spc="-100" dirty="0"/>
              <a:t>)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한 가지 짚어야 할 사실은 공공부문이 공급의 주체가 되어야 하는 경우라 할지라도 생산과정까지 공공부문이 도맡아야 할 필요는 없다는 점이다</a:t>
            </a:r>
            <a:r>
              <a:rPr lang="en-US" altLang="ko-KR" sz="1600" spc="-1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관료는 이윤동기 같은 확실한 유인이 없으므로 생산과정에서 비효율성을 보일 수 있다는 뜻이다</a:t>
            </a:r>
            <a:r>
              <a:rPr lang="en-US" altLang="ko-KR" sz="1600" spc="-10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민간부문이 생산과정을 담당하고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공공부문은 공급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배분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과정만을 책임지는 방안도 고려할 수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506862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59B73D-5C19-0CE5-37AA-C88A742E3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중립성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4C6C5A-6B5F-7082-94E6-F54304A69A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6D3A1D-E1DF-D274-6F08-B63F75C0BAD1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애초에 민간부문이 공공재를 자발적으로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공급하고 있을 때 정부가 그것의 공급량을 늘린다면 민간부문은 어떤 반응을 보일까</a:t>
            </a:r>
            <a:r>
              <a:rPr lang="en-US" altLang="ko-KR" sz="1600" spc="-100" dirty="0"/>
              <a:t>?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예를 들어 정부가 도서관을 추가로 공급할 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민간부문이 운영하는 도서관의 수는 종전에 비해 줄어들까</a:t>
            </a:r>
            <a:r>
              <a:rPr lang="en-US" altLang="ko-KR" sz="1600" spc="-10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중립성정리 이론에 따르면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정부가 공공재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공급을 늘리면 민간부문의 공공재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공급은 정부가 늘린 양만큼 줄어든다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즉 정부의 공공재 공급 증가가 민간의 공공재 공급을 완벽히 구축</a:t>
            </a:r>
            <a:r>
              <a:rPr lang="en-US" altLang="ko-KR" sz="1600" spc="-100" dirty="0"/>
              <a:t>(crowd-out)</a:t>
            </a:r>
            <a:r>
              <a:rPr lang="ko-KR" altLang="en-US" sz="1600" spc="-100" dirty="0"/>
              <a:t>한다는 뜻이다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중립성 정리 이론은 아래의 논리에 근거하고 있다</a:t>
            </a:r>
            <a:r>
              <a:rPr lang="en-US" altLang="ko-KR" sz="1600" spc="-100" dirty="0"/>
              <a:t>: </a:t>
            </a:r>
            <a:r>
              <a:rPr lang="ko-KR" altLang="en-US" sz="1600" spc="-100" dirty="0"/>
              <a:t>민간을 대표하는 어떤 한 개인이 있는데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공공재와 사적재화의 일정한 조합을 소비함으로써 효용을 극대화 하고 있다고 하자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그는 바로 이 수준의 공공재가 공급되도록 만들기 위해 세금을 내는 동시에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스스로 공공재를 생산하기도 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정부가 공공재 생산을 늘리기 위해 그 개인에게 더 많은 세금을 거두기로 했다고 하자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그는 늘어난 세금이 공공재의 추가적 공급에 사용될 것임을 알고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스스로 생산하는 공공재의 양을 바로 그만큼 줄이기로 결정하게 된다</a:t>
            </a:r>
            <a:r>
              <a:rPr lang="en-US" altLang="ko-KR" sz="1600" spc="-10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이러한 결정은 종전의 공공재와 사적재화의 조합 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효용이 극대화 되는 조합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을 계속해서 선택할 수 있게끔 만들어준다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현실에서는 이러한 중립성정리가 그대로 성립할 것이라는 보장은 없다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모든 납세자가 스스로 어느 정도의 공공재를 공급하고 있음을 가정하고 있는데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스스로 공공재를 공급하는 사람은 거의 없다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개인이 공공재를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공급하는 행위로부터 효용을 얻고 있다면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정부가 공공재 공급을 늘린다고 해서 자신의 생산을 줄일 유인이 없다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206619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F14249-6110-8003-7B6B-39CC92DD9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중립성 정리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A4C9E0D-216D-67F8-7E3E-EC1DC4B253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4DC2AC-6D34-96A9-0A2A-A9892A567CFE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 err="1"/>
              <a:t>안드레오니</a:t>
            </a:r>
            <a:r>
              <a:rPr lang="ko-KR" altLang="en-US" sz="1600" spc="-100" dirty="0"/>
              <a:t> </a:t>
            </a:r>
            <a:r>
              <a:rPr lang="en-US" altLang="ko-KR" sz="1600" spc="-100" dirty="0"/>
              <a:t>(J. Andreoni, 199)</a:t>
            </a:r>
            <a:r>
              <a:rPr lang="ko-KR" altLang="en-US" sz="1600" spc="-100" dirty="0"/>
              <a:t>은 기부금을 민간이 공급하는 공공재의 일종으로 보고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현실에서의 중립성정리를 검토하였다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기부금의 동기가 순수한 이타심이라면 중립성정리가 성립할 것이라고 말한다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이타적인 사람의 효용은 가난한 사람의 소비수준에 영향을 받을 텐데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정부가 가난한 사람을 돕는다면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이타적인 사람 본인이 기부할 필요가 그만큼 줄어들기 때문이다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따라서 가난한 사람에 대한 정부지출의 증가는 바로 그만큼의 기부감소로 이어지는 구축효과가 발생하게 된다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하지만 현실에서 사람들이 기부금을 내는 데는 다른 동기가 더 큰 역할을 하고 있을 수도 있다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 err="1"/>
              <a:t>안드레오니는</a:t>
            </a:r>
            <a:r>
              <a:rPr lang="ko-KR" altLang="en-US" sz="1600" spc="-100" dirty="0"/>
              <a:t> 기부금을 내는 행위 그 자체가 만족감을 줄 수 있고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그렇다면 기부행위는 순수한 이기심으로 인해 발생하는 것일 수 있다고 지적한다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이처럼 민간이 어떤 공공재를 자발적으로 생산</a:t>
            </a:r>
            <a:r>
              <a:rPr lang="en-US" altLang="ko-KR" sz="1600" spc="-100" dirty="0"/>
              <a:t>·</a:t>
            </a:r>
            <a:r>
              <a:rPr lang="ko-KR" altLang="en-US" sz="1600" spc="-100" dirty="0"/>
              <a:t>공급하는 동기가</a:t>
            </a:r>
            <a:r>
              <a:rPr lang="en-US" altLang="ko-KR" sz="1600" spc="-100" dirty="0"/>
              <a:t> </a:t>
            </a:r>
            <a:r>
              <a:rPr lang="ko-KR" altLang="en-US" sz="1600" spc="-100" dirty="0"/>
              <a:t>자신의 만족감에 있다고 보는 것이 만족감 가설이다</a:t>
            </a:r>
            <a:r>
              <a:rPr lang="en-US" altLang="ko-KR" sz="1600" spc="-10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100" dirty="0"/>
              <a:t>만족감 가설이 </a:t>
            </a:r>
            <a:r>
              <a:rPr lang="ko-KR" altLang="en-US" sz="1600" spc="-100" dirty="0" err="1"/>
              <a:t>맞다면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앞서 말한 중립성정리에 의한 구축효과는 전혀 발생하지 않는다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실증연구에 따르면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구축효과의 정도가 완벽하지는 않은 것으로 나타났다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 err="1"/>
              <a:t>킹마</a:t>
            </a:r>
            <a:r>
              <a:rPr lang="en-US" altLang="ko-KR" sz="1600" spc="-100" dirty="0"/>
              <a:t>(B. Kingma, 1989)</a:t>
            </a:r>
            <a:r>
              <a:rPr lang="ko-KR" altLang="en-US" sz="1600" spc="-100" dirty="0"/>
              <a:t>에 따르면 공공재 공급량이 </a:t>
            </a:r>
            <a:r>
              <a:rPr lang="en-US" altLang="ko-KR" sz="1600" spc="-100" dirty="0"/>
              <a:t>100</a:t>
            </a:r>
            <a:r>
              <a:rPr lang="ko-KR" altLang="en-US" sz="1600" spc="-100" dirty="0"/>
              <a:t>만큼 늘어날 때 민간의 공급은 </a:t>
            </a:r>
            <a:r>
              <a:rPr lang="en-US" altLang="ko-KR" sz="1600" spc="-100" dirty="0"/>
              <a:t>14</a:t>
            </a:r>
            <a:r>
              <a:rPr lang="ko-KR" altLang="en-US" sz="1600" spc="-100" dirty="0"/>
              <a:t>만큼 줄어든다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다른 대부분의 연구 또한 민간부문의 공급은 </a:t>
            </a:r>
            <a:r>
              <a:rPr lang="en-US" altLang="ko-KR" sz="1600" spc="-100" dirty="0"/>
              <a:t>30</a:t>
            </a:r>
            <a:r>
              <a:rPr lang="ko-KR" altLang="en-US" sz="1600" spc="-100" dirty="0"/>
              <a:t>보다 적은 폭으로 줄어든다고 보고하고 있다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459850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DECF6B-B935-B328-8281-16819267E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공공재와 공공선택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127B31-5090-0761-4131-E25A8F1506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A01449-6677-BF39-192C-F9800D5E64CF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지금까지 논의는 공공재의 배분과 관련된 이론적 측면에 치중하였다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그러나 이론적으로 도출된 공공재의 적정배분이 현실에서 그대로 실현될 것이라는 보장은 없다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현실에서 공공부문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즉 정부가 공공재의 배분에 관한 결정을 내릴 때는 공공선택이라고 부르는 집단의사결정 과정을 거친다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이 과정에서 여러 주체들 </a:t>
            </a:r>
            <a:r>
              <a:rPr lang="en-US" altLang="ko-KR" sz="1600" spc="-100" dirty="0"/>
              <a:t>(</a:t>
            </a:r>
            <a:r>
              <a:rPr lang="ko-KR" altLang="en-US" sz="1600" spc="-100" dirty="0"/>
              <a:t>일반국민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정치가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관료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이익집단 등</a:t>
            </a:r>
            <a:r>
              <a:rPr lang="en-US" altLang="ko-KR" sz="1600" spc="-100" dirty="0"/>
              <a:t>)</a:t>
            </a:r>
            <a:r>
              <a:rPr lang="ko-KR" altLang="en-US" sz="1600" spc="-100" dirty="0"/>
              <a:t>이 이득을 위해 행동한다</a:t>
            </a:r>
            <a:r>
              <a:rPr lang="en-US" altLang="ko-KR" sz="1600" spc="-10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100" dirty="0"/>
              <a:t>스미스 </a:t>
            </a:r>
            <a:r>
              <a:rPr lang="en-US" altLang="ko-KR" sz="1600" spc="-100" dirty="0"/>
              <a:t>(A. Smith)</a:t>
            </a:r>
            <a:r>
              <a:rPr lang="ko-KR" altLang="en-US" sz="1600" spc="-100" dirty="0"/>
              <a:t>는 개인이 자신의 이익만을 위해 행동해도 시장의 보이지 않는 손이 작동하여 공익으로 이끌어 간다고 하였지만</a:t>
            </a:r>
            <a:r>
              <a:rPr lang="en-US" altLang="ko-KR" sz="1600" spc="-100" dirty="0"/>
              <a:t>, </a:t>
            </a:r>
            <a:r>
              <a:rPr lang="ko-KR" altLang="en-US" sz="1600" spc="-100" dirty="0"/>
              <a:t>현실의 공공선택 과정에서는 이러한 이상적인 결과를 기대하기는 힘들다</a:t>
            </a:r>
            <a:r>
              <a:rPr lang="en-US" altLang="ko-KR" sz="1600" spc="-10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10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100" dirty="0"/>
              <a:t>다음 장에서부터 바로 이 공공선택의 과정에 초점을 맞추어 보자</a:t>
            </a:r>
            <a:r>
              <a:rPr lang="en-US" altLang="ko-KR" sz="1600" spc="-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0279963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8205</TotalTime>
  <Words>5090</Words>
  <Application>Microsoft Office PowerPoint</Application>
  <PresentationFormat>와이드스크린</PresentationFormat>
  <Paragraphs>470</Paragraphs>
  <Slides>48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48</vt:i4>
      </vt:variant>
    </vt:vector>
  </HeadingPairs>
  <TitlesOfParts>
    <vt:vector size="55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4  공공재의 문제</vt:lpstr>
      <vt:lpstr>Section 1. 공공선택이론의 의의</vt:lpstr>
      <vt:lpstr>공공선택의 의의</vt:lpstr>
      <vt:lpstr>Section 2. 직접민주제 하의 공공선택</vt:lpstr>
      <vt:lpstr>직접민주제하의 공공선택</vt:lpstr>
      <vt:lpstr>전원합의제</vt:lpstr>
      <vt:lpstr>과반수제</vt:lpstr>
      <vt:lpstr>최적다수결제</vt:lpstr>
      <vt:lpstr>최적다수결제</vt:lpstr>
      <vt:lpstr>XXXXXXXXXXXXXXXXXXXXXXXXXXXXXXXXXXXXXXXXXXXXXX</vt:lpstr>
      <vt:lpstr>Section 3. 과반수제하에서의 정치적 균형</vt:lpstr>
      <vt:lpstr>Section 4. 대의민주제하의 공공선택</vt:lpstr>
      <vt:lpstr>공공재의 의미</vt:lpstr>
      <vt:lpstr>공공재의 기본성격</vt:lpstr>
      <vt:lpstr>공공재의 기본성격</vt:lpstr>
      <vt:lpstr>불완전한 공공재</vt:lpstr>
      <vt:lpstr>클럽 이론</vt:lpstr>
      <vt:lpstr>Section 2. 공공재의 최적수준</vt:lpstr>
      <vt:lpstr>공공재에 대한 개인의 수요</vt:lpstr>
      <vt:lpstr>공공재에 대한 개인의 수요</vt:lpstr>
      <vt:lpstr>시장수요의 도출</vt:lpstr>
      <vt:lpstr>시장수요의 도출</vt:lpstr>
      <vt:lpstr>적정수준의 도출</vt:lpstr>
      <vt:lpstr>적정수준의 도출</vt:lpstr>
      <vt:lpstr>적정수준의 도출</vt:lpstr>
      <vt:lpstr>Section 3. 린달의 자발적 교환 모형</vt:lpstr>
      <vt:lpstr>린달의 자발적 교환 모형</vt:lpstr>
      <vt:lpstr>린달의 자발적 교환 모형</vt:lpstr>
      <vt:lpstr>린달의 자발적 교환 모형</vt:lpstr>
      <vt:lpstr>린달의 자발적 교환 모형</vt:lpstr>
      <vt:lpstr>린달균형</vt:lpstr>
      <vt:lpstr>린달균형</vt:lpstr>
      <vt:lpstr>Section 4. 무임승차자의 문제</vt:lpstr>
      <vt:lpstr>무임승차 문제</vt:lpstr>
      <vt:lpstr>무임승차 문제</vt:lpstr>
      <vt:lpstr>협상가능성의 존재</vt:lpstr>
      <vt:lpstr>협상가능성의 존재</vt:lpstr>
      <vt:lpstr>수요표출기구</vt:lpstr>
      <vt:lpstr>수요표출기구</vt:lpstr>
      <vt:lpstr>수요표출기구</vt:lpstr>
      <vt:lpstr>공공재게임-행태경제이론적 관점</vt:lpstr>
      <vt:lpstr>Section 5. 공공재의 다른 측면</vt:lpstr>
      <vt:lpstr>공급주체의 문제</vt:lpstr>
      <vt:lpstr>중립성 정리</vt:lpstr>
      <vt:lpstr>중립성 정리</vt:lpstr>
      <vt:lpstr>공공재와 공공선택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237</cp:revision>
  <dcterms:created xsi:type="dcterms:W3CDTF">2025-07-05T05:15:23Z</dcterms:created>
  <dcterms:modified xsi:type="dcterms:W3CDTF">2026-01-12T07:09:13Z</dcterms:modified>
</cp:coreProperties>
</file>