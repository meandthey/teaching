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4"/>
  </p:notesMasterIdLst>
  <p:sldIdLst>
    <p:sldId id="375" r:id="rId2"/>
    <p:sldId id="405" r:id="rId3"/>
    <p:sldId id="377" r:id="rId4"/>
    <p:sldId id="550" r:id="rId5"/>
    <p:sldId id="376" r:id="rId6"/>
    <p:sldId id="551" r:id="rId7"/>
    <p:sldId id="552" r:id="rId8"/>
    <p:sldId id="553" r:id="rId9"/>
    <p:sldId id="557" r:id="rId10"/>
    <p:sldId id="556" r:id="rId11"/>
    <p:sldId id="558" r:id="rId12"/>
    <p:sldId id="559" r:id="rId13"/>
    <p:sldId id="560" r:id="rId14"/>
    <p:sldId id="562" r:id="rId15"/>
    <p:sldId id="563" r:id="rId16"/>
    <p:sldId id="564" r:id="rId17"/>
    <p:sldId id="565" r:id="rId18"/>
    <p:sldId id="566" r:id="rId19"/>
    <p:sldId id="567" r:id="rId20"/>
    <p:sldId id="568" r:id="rId21"/>
    <p:sldId id="569" r:id="rId22"/>
    <p:sldId id="36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60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재 정 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재정학</a:t>
            </a:r>
            <a:r>
              <a:rPr lang="en-US" altLang="ko-KR" sz="4000" b="1" i="0" spc="150" dirty="0"/>
              <a:t>: </a:t>
            </a:r>
            <a:r>
              <a:rPr lang="ko-KR" altLang="en-US" sz="4000" b="1" i="0" spc="150" dirty="0"/>
              <a:t>의의와 성격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CA8D82-0097-C179-A620-3BFDCD2DA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실증경제학</a:t>
            </a:r>
            <a:r>
              <a:rPr lang="en-US" altLang="ko-KR" dirty="0"/>
              <a:t> vs. </a:t>
            </a:r>
            <a:r>
              <a:rPr lang="ko-KR" altLang="en-US" dirty="0"/>
              <a:t>규범경제학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122CC2-A4CB-8C8B-ED93-CAFD82AB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7800-66DA-3E34-DECC-DF0EA00569DD}"/>
              </a:ext>
            </a:extLst>
          </p:cNvPr>
          <p:cNvSpPr txBox="1"/>
          <p:nvPr/>
        </p:nvSpPr>
        <p:spPr>
          <a:xfrm>
            <a:off x="678872" y="1038536"/>
            <a:ext cx="10975831" cy="49383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경제현상을 설명하고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예측 분석하는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가치판단 없이 원인과 결과를 규명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탄소세가 </a:t>
            </a:r>
            <a:r>
              <a:rPr lang="en-US" altLang="ko-KR" sz="1600" spc="-50" dirty="0"/>
              <a:t>10,000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/tCO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온실가스는 얼만큼 감축될까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규범경제학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경제정책이나 상황에 대해 무엇이 </a:t>
            </a:r>
            <a:r>
              <a:rPr lang="ko-KR" altLang="en-US" sz="1600" spc="-50" dirty="0" err="1"/>
              <a:t>바람직한지</a:t>
            </a:r>
            <a:r>
              <a:rPr lang="ko-KR" altLang="en-US" sz="1600" spc="-50" dirty="0"/>
              <a:t> 논의하는 학문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가치 판단을 통해 정책방향을 제시</a:t>
            </a:r>
            <a:r>
              <a:rPr lang="en-US" altLang="ko-KR" sz="1600" spc="-50" dirty="0"/>
              <a:t>.</a:t>
            </a: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예시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탄소세를 얼마나 높여야 하는가</a:t>
            </a:r>
            <a:r>
              <a:rPr lang="en-US" altLang="ko-KR" sz="1600" spc="-50" dirty="0"/>
              <a:t>?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실증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-&gt;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규범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실증적 결과가 있어야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가치판단을 통해 건설적인 토론이 가능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우리 수업에서는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92075">
              <a:lnSpc>
                <a:spcPct val="150000"/>
              </a:lnSpc>
            </a:pPr>
            <a:r>
              <a:rPr lang="ko-KR" altLang="en-US" sz="1600" spc="-50" dirty="0"/>
              <a:t>우리 수업에서는 기본적으로 실증경제학의 입장을 취한다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8940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재정학 연구의 내용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B7B113-36A4-C1F3-9E9E-939A12CDC18C}"/>
              </a:ext>
            </a:extLst>
          </p:cNvPr>
          <p:cNvSpPr txBox="1"/>
          <p:nvPr/>
        </p:nvSpPr>
        <p:spPr>
          <a:xfrm>
            <a:off x="288790" y="958844"/>
            <a:ext cx="11693660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財政</a:t>
            </a:r>
            <a:r>
              <a:rPr lang="en-US" altLang="ko-KR" sz="1600" dirty="0"/>
              <a:t>, public finance)</a:t>
            </a:r>
            <a:r>
              <a:rPr lang="ko-KR" altLang="en-US" sz="1600" dirty="0"/>
              <a:t>이란 국가나 지방정부가 돈을 모으고 쓰는 과정과 제도를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과거에는 거시경제학과 밀접한 관련을 가졌으나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근래에 들어 미시경제학의 연장선상에 있는 분야로 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미시경제학에서는 소비자의 선택행위는 효용극대화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기업의 선택행위는 이윤극대화라는 기본적인 시각에서 분석한다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소비자나 기업과 달리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어떤 하나의 중심에서 그 행위를 분석하는 것이 쉽지 않은데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점이 미시경제학과 구별되는 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재정학에서는 다음의 세 가지 측면에 관심을 갖고 정부의 경제적 행위를 분석한다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어떤 행위를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행위는 어떤 의사 결정 과정을 통해 하게 되는지 알아본다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정부의 행위가 경제에 어떤 결과를 가져올지 예측해본다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실증적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여러가지 정책 대안들이 있을 때 어떤 것이 좋고 나쁜지를 평가해본다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규범적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217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AFC8-4A57-91D3-26A9-DFD7539B2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38C70F-1F6D-D72B-53B1-B97995F0F5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B30A23-7035-123F-C4C4-AABFA58AD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987B19-3EC7-FC76-E623-3268B9EEE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 err="1"/>
              <a:t>정부란</a:t>
            </a:r>
            <a:r>
              <a:rPr lang="ko-KR" altLang="en-US" sz="4000" b="1" i="0" spc="150" dirty="0"/>
              <a:t> 무엇인가</a:t>
            </a:r>
            <a:r>
              <a:rPr lang="en-US" altLang="ko-KR" sz="4000" b="1" i="0" spc="150" dirty="0"/>
              <a:t>?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562029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723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 </a:t>
            </a:r>
            <a:r>
              <a:rPr lang="en-US" altLang="ko-KR" sz="1600" spc="-50" dirty="0"/>
              <a:t>(</a:t>
            </a:r>
            <a:r>
              <a:rPr lang="ko-KR" altLang="en-US" sz="1600" dirty="0"/>
              <a:t>政府</a:t>
            </a:r>
            <a:r>
              <a:rPr lang="en-US" altLang="ko-KR" sz="1600" dirty="0"/>
              <a:t>, government)</a:t>
            </a:r>
            <a:r>
              <a:rPr lang="ko-KR" altLang="en-US" sz="1600" dirty="0"/>
              <a:t>란 국가를 다스리는 기관을 뜻한다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현대의 정부는 여러 방면에서 다양한 형태로 활동을 하고 있기 때문에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그 실체를 파악하는 것은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한국방송공사</a:t>
            </a:r>
            <a:r>
              <a:rPr lang="en-US" altLang="ko-KR" sz="1600" spc="-50" dirty="0"/>
              <a:t> (KBS, Korean Broadcasting System)</a:t>
            </a:r>
            <a:r>
              <a:rPr lang="ko-KR" altLang="en-US" sz="1600" spc="-50" dirty="0"/>
              <a:t>는 정부에 속하는가</a:t>
            </a:r>
            <a:r>
              <a:rPr lang="en-US" altLang="ko-KR" sz="1600" spc="-50" dirty="0"/>
              <a:t>?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정부부문의 특징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넓은 의미에서 </a:t>
            </a:r>
            <a:r>
              <a:rPr lang="ko-KR" altLang="en-US" sz="1600" spc="-50" dirty="0" err="1"/>
              <a:t>정부란</a:t>
            </a:r>
            <a:r>
              <a:rPr lang="ko-KR" altLang="en-US" sz="1600" spc="-50" dirty="0"/>
              <a:t> 정부투자기관으로 구성된 공공기관까지 포함된다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넓은 의미에서 정부를 정의하면 앞서 언급한 한국방송공사는 정부에 속한다고 볼 수 있을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정부투자기관은 공기업이라고 부르기도 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공기업의 활동을 보면 민간기업과 큰 차이가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정부부문을 민간부문으로부터 특징적으로 구별하는 기준은 다음의 세 가지가 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국민이 직접 선출한 사람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혹은 그 선출된 사람이 임명한 사람들이 운영의 책임을 맡고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국회의원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대통령은 국민이 직접 뽑은 사람들이고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장관들은 대통령이 임명한 사람들이다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국민에 대한 강제력을 가진다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우리는 소득의 일부를 세금으로 내지 않으면 정부로부터 제재를 받는다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정부가 생산한 재화와 서비스가 주로 비시장배분</a:t>
            </a:r>
            <a:r>
              <a:rPr lang="en-US" altLang="ko-KR" sz="1600" spc="-50" dirty="0"/>
              <a:t>(non-market rationing)</a:t>
            </a:r>
            <a:r>
              <a:rPr lang="ko-KR" altLang="en-US" sz="1600" spc="-50" dirty="0"/>
              <a:t>의 방법에 의해 국민에게 배분된다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국방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경찰서비스를 시장을 통해 공급하지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모든 국민에게 똑같이 배분하려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B81B2-705D-16F3-1B30-4310EA079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3B2DD-02D9-1A8E-2745-CC5277FC1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정부를 바라보는 견해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81E62D-47CC-A14A-6B7F-4B92D484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7FBEA-47C3-F81A-64EE-68C92BBB476F}"/>
              </a:ext>
            </a:extLst>
          </p:cNvPr>
          <p:cNvSpPr txBox="1"/>
          <p:nvPr/>
        </p:nvSpPr>
        <p:spPr>
          <a:xfrm>
            <a:off x="288790" y="958844"/>
            <a:ext cx="11693660" cy="49845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정부를 바라보는 두 가지 견해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사람마다 정부에게 기대하는 역할은 각기 다르며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전통적으로 다음의 두 가지가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유기체적 견해에 따르면 사회는 하나의 자연적 유기체라고 생각한다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각 개인이 유기체의 한 부분씩을 구성하고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정부는 유기체의 심장부에 해당한다는 의견이다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정부를 개인 위에 존재하는 우월한 존재로 인식하고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기계론적 견해에 따르면 정부는 단지 개인의 목표 달성에 도움이 될 수 있도록 편의에 의해 고안된 존재일 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독자적인 목표를 갖고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목표달성을 위해 개인이 동원될 수 있다고 볼 수 없다는 의견이다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유기체적 견해가 </a:t>
            </a:r>
            <a:r>
              <a:rPr lang="ko-KR" altLang="en-US" sz="1600" spc="-50" dirty="0" err="1"/>
              <a:t>전체주의적인</a:t>
            </a:r>
            <a:r>
              <a:rPr lang="ko-KR" altLang="en-US" sz="1600" spc="-50" dirty="0"/>
              <a:t> 분위기를 풍기고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기계론적 견해는 개인주의적 성향과 밀접한 관련을 갖는다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기계론적 견해를 갖는 사람들도 구체적으로 들어가면 의견이 엇갈린다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외부로부터의 침략을 막고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개인을 타인의 폭력으로부터 보호하는 등의 최소한의 </a:t>
            </a:r>
            <a:r>
              <a:rPr lang="ko-KR" altLang="en-US" sz="1600" spc="-50" dirty="0" err="1"/>
              <a:t>정부로서의</a:t>
            </a:r>
            <a:r>
              <a:rPr lang="ko-KR" altLang="en-US" sz="1600" spc="-50" dirty="0"/>
              <a:t> 기능을 수행해야 한다는 것에는 동의를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자유론자들은</a:t>
            </a:r>
            <a:r>
              <a:rPr lang="ko-KR" altLang="en-US" sz="1600" spc="-50" dirty="0"/>
              <a:t> 정부는 단지 개인이 남의 간섭 없이 생활 할 수 있는 소극적 의미의 자유를 보장해야 한다고 생각한다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반면 사회민주주의자들은 자유를 단순히 물리적 억압이 없는 것을 넘어 그 이상으로 적극적 의미로 해석한다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0827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09412-C19A-4290-3307-F76585F27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88FA50-5A64-CB2C-A9CC-AC1B6182F7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FBBE6E-76A7-CC95-FDC2-5AFB7A5D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8298C76-ECF9-2277-6763-6ECCF0FAA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혼합경제와 정부의 역할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80565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BACB-E6BF-295D-1F84-9A59920D9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3CB45-1157-EF48-6739-56FAF218E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혼합경제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8C1F17-B4EE-8C60-5C59-DD9C85D5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56CFE7-3724-FB4D-1E95-D50C3EB457E4}"/>
              </a:ext>
            </a:extLst>
          </p:cNvPr>
          <p:cNvSpPr txBox="1"/>
          <p:nvPr/>
        </p:nvSpPr>
        <p:spPr>
          <a:xfrm>
            <a:off x="288790" y="958844"/>
            <a:ext cx="11693660" cy="53538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혼합경제의 의미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대부분의 국가는 기본적으로 시장기능에 의존하고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동시에 정부도 여러 측면에서 적극적 역할을 하도록 만들어 놓은 혼합경제 체제를 채택하고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혼합경제를 기준으로 양 극단에는 순수시장경제와 통제경제 라는 체제가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국민경제에서 정부가 차지하는 비중이 높은 경제를 혼합경제라고 부르지만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비중의 정량적 기준은 존재하지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혼합경제에서는 모든 일을 시장에 맡기지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때때로 정부가 개입해 제약을 가하기도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기본적으로는 시장의 기능을 신뢰하지만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명백한 한계가 있는 부분은 정부가 보충해 주어야 한다는 것이다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시장기구를 보완하고 교정해야 할 이유는 무엇일까</a:t>
            </a:r>
            <a:r>
              <a:rPr lang="en-US" altLang="ko-KR" sz="1600" spc="-50" dirty="0"/>
              <a:t>?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효율적인 자원배분을 가능케 한다고 배웠지만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일련의 이상적인 조건이 충족되어 있을 때를 전제로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일련의 조건이 충족되지 않으면 시장 실패가 발생한다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장에서 자세히 다룰 예정</a:t>
            </a:r>
            <a:r>
              <a:rPr lang="en-US" altLang="ko-KR" sz="1600" spc="-5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시장기구는 소득과 재산을 공평하게 분배한다는 보장이 없다는 문제점을 지적할 수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시장이 독과점 상태이거나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완전경쟁시장이라 하더라도 그 결과가 공평한 분배를 보장하지 않는다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시장기구의 한계를 극복하고자 각각의 장점을 살리자는 의도로 혼합경제체제가 탄생했지만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현실에서는 둘의 단점들이 결합되어 나타나기도 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8528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CF94-A860-E939-3BEC-5190DE4C0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E27725-A198-25D6-0AF8-2139B961E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역할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53E9EE-FBE8-53F0-DA1B-C915FAC6A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D2EF85-8A50-B7CF-FEC6-0A77EEA4AA03}"/>
              </a:ext>
            </a:extLst>
          </p:cNvPr>
          <p:cNvSpPr txBox="1"/>
          <p:nvPr/>
        </p:nvSpPr>
        <p:spPr>
          <a:xfrm>
            <a:off x="288790" y="958844"/>
            <a:ext cx="11693660" cy="3876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운동경기에 비유한 정부의 역할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운동경기에서 가장 핵심 부분은 규칙이다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 다음으로는 심판이다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규칙이 없으면 아예 운동경기 진행이 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심판이 없으면 운동선수들이 본인들 유리한대로 규칙을 해석하게 되어 운동경기가 진행이 안된다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시장경제가 원활히 작동하기 위해서는 적절한 규칙과 갈등을 조정하고 해소해 주는 심판이 있어야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규칙을 결정할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규칙을 해석하고 집행하는 심판의 기능을 수행한다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재산권 보호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독과점 규제를 통한 공정거래질서 유지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오염물질 규제</a:t>
            </a: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정부는 심판의 역할 뿐 아니라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직접 경기에 참여하는 플레이어로서 시장경제에 참여하기도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민간부문의 생산자와 다를 바 없는 기능을 수행하기도 한다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항만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 사회간접자본의 생산 및 공급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139316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6C022-CFF4-E3E4-977A-F643A78CF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5E79AE-1D26-FB67-1FB0-26F0D6A67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기능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3C82DF1-6803-69C1-CFAE-A1097B47F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A192E7-DAC9-3EBB-6205-680B0216BCB9}"/>
              </a:ext>
            </a:extLst>
          </p:cNvPr>
          <p:cNvSpPr txBox="1"/>
          <p:nvPr/>
        </p:nvSpPr>
        <p:spPr>
          <a:xfrm>
            <a:off x="288790" y="971426"/>
            <a:ext cx="11693660" cy="49845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정부의 </a:t>
            </a:r>
            <a:r>
              <a:rPr lang="en-US" altLang="ko-KR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3</a:t>
            </a: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대 주요 기능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자원배분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사회의 경제적 자원을 적절한 용도로 배분하는 일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자원을 어디에 얼마나 쓸까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공공재의 성격을 갖는 재화나 서비스의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시장에 의한 배분이 효율적이지 못하므로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배분에 직접 관여해야 할 필요가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분배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생산된 재화와 서비스를 사회 구성원들에게 공평하게 나눌 수 있는 방법을 찾는 일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누가 얼마나 갖는가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공평한 소득분배의 실현을 위해 노력할 필요가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어떤 분배의 상태가 공평한지에 대해서는 사람들의 의견이 일치하기 쉽지 않다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경제안정</a:t>
            </a:r>
            <a:r>
              <a:rPr lang="en-US" altLang="ko-KR" sz="1600" spc="-50" dirty="0"/>
              <a:t>:</a:t>
            </a:r>
            <a:r>
              <a:rPr lang="ko-KR" altLang="en-US" sz="1600" spc="-50" dirty="0"/>
              <a:t> 경제가 안정적으로 성장할 수 있는 여건을 조성하는 일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정부는 완전고용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물가안정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국제수지 균형 등을 달성하기 위해 여러 가지 재정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통화정책을 동원하게 된다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다만 경제안정을 위한 정부의 개입이 </a:t>
            </a:r>
            <a:r>
              <a:rPr lang="ko-KR" altLang="en-US" sz="1600" spc="-50" dirty="0" err="1"/>
              <a:t>바람직한지에</a:t>
            </a:r>
            <a:r>
              <a:rPr lang="ko-KR" altLang="en-US" sz="1600" spc="-50" dirty="0"/>
              <a:t> 대해서는 많은 논란이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위에 제시된 주요 기능들은 때때로 서로 모순되는 결과를 가져오기도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예컨대 </a:t>
            </a:r>
            <a:r>
              <a:rPr lang="ko-KR" altLang="en-US" sz="1600" spc="-50" dirty="0" err="1"/>
              <a:t>공편한</a:t>
            </a:r>
            <a:r>
              <a:rPr lang="ko-KR" altLang="en-US" sz="1600" spc="-50" dirty="0"/>
              <a:t> 분배를 위한 정부의 정책은 단기적인 효율성을 떨어뜨려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자원 배분 측면에서 문제가 생길 수도 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6924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B591-E238-233E-B310-C00C32CA4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E01D3E-BC08-2302-8BF9-674AAFAC4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크기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1B751-FCAA-1292-FABF-19E1E73FC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0C0D9E-4BD6-C4C2-976E-7FE9725C46A1}"/>
              </a:ext>
            </a:extLst>
          </p:cNvPr>
          <p:cNvSpPr txBox="1"/>
          <p:nvPr/>
        </p:nvSpPr>
        <p:spPr>
          <a:xfrm>
            <a:off x="288790" y="971426"/>
            <a:ext cx="11693660" cy="57231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큰 정부와 작은 정부</a:t>
            </a:r>
            <a:endParaRPr lang="en-US" altLang="ko-KR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</a:t>
            </a:r>
            <a:r>
              <a:rPr lang="ko-KR" altLang="en-US" sz="1600" spc="-50" dirty="0" err="1"/>
              <a:t>배운대로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정부는 여러 방면에서 중요한 역할을 하기 때문에 정부의 활동 범위는 계속 확장 되어 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하지만 너무 큰 정부는 여러 가지 측면에서 우려를 낳는다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모든 일을 처리하면 개인들이 창의성을 발휘하기 쉽지 않다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정부가 시장에 간섭하면 효율성이 떨어지는 경우가 많다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정부의 적절한 크기를 알아내는 것은 쉽지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논쟁은 과거에도 그렇고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앞으로도 끊임없이 계속될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논쟁의 초점은 정부의 크기 보다는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맡아서 해야 할 일과 하지 말아야 할 일을 명확하게 구분하는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정부가 큰지 </a:t>
            </a:r>
            <a:r>
              <a:rPr lang="ko-KR" altLang="en-US" sz="1600" spc="-50" dirty="0" err="1"/>
              <a:t>작은지</a:t>
            </a:r>
            <a:r>
              <a:rPr lang="ko-KR" altLang="en-US" sz="1600" spc="-50" dirty="0"/>
              <a:t> 측정할 수 있는 방법은 여러가지가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정부가 사용하고 있는 자원의 양을 살펴보는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일반적으로 정부 규모는 국내총생산</a:t>
            </a:r>
            <a:r>
              <a:rPr lang="en-US" altLang="ko-KR" sz="1600" spc="-50" dirty="0"/>
              <a:t>(GDP)</a:t>
            </a:r>
            <a:r>
              <a:rPr lang="ko-KR" altLang="en-US" sz="1600" spc="-50" dirty="0"/>
              <a:t>대비 정부예산의 비율로 평가를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하지만 정부가 사용하는 예산 뿐만 아니라 규제를 통해서도 국민경제에 상당한 영향을 준다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규제는 예산을 크게 지출하지 않기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각종 규제를 통해 국민경제에 영향을 미치고 있다면 작은 </a:t>
            </a:r>
            <a:r>
              <a:rPr lang="ko-KR" altLang="en-US" sz="1600" spc="-50" dirty="0" err="1"/>
              <a:t>정부라고만</a:t>
            </a:r>
            <a:r>
              <a:rPr lang="ko-KR" altLang="en-US" sz="1600" spc="-50" dirty="0"/>
              <a:t> 볼 수도 없다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최근 많은 국가들은 너무 많은 규제가 경제의 활력을 저하시킨다는 인식하에 규제완화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민영화 바람이 거세게 불고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우리나라에서도 </a:t>
            </a:r>
            <a:r>
              <a:rPr lang="en-US" altLang="ko-KR" sz="1600" spc="-50" dirty="0"/>
              <a:t>1997</a:t>
            </a:r>
            <a:r>
              <a:rPr lang="ko-KR" altLang="en-US" sz="1600" spc="-50" dirty="0"/>
              <a:t>년 말 외환위기 이후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규제완화와 민영화를 통해 날씬한 정부를 만들어야 한다는 요구가 제기되었다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 결과 한국통신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한국담배인삼공사 등 몇몇 공기업이 민영화가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이후에도 논의가 이루어져왔다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565672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0C8CA-C4F9-74A9-2D8E-EB13DDC9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954D35-4A38-FBE2-F0C5-35FE818504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242638-489F-762B-19A2-A0904024A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4BA2A62-6583-91F7-FA37-1A59F7B3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정부의</a:t>
            </a:r>
            <a:r>
              <a:rPr lang="en-US" altLang="ko-KR" sz="4000" b="1" i="0" spc="150" dirty="0"/>
              <a:t> </a:t>
            </a:r>
            <a:r>
              <a:rPr lang="ko-KR" altLang="en-US" sz="4000" b="1" i="0" spc="150" dirty="0"/>
              <a:t>미래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677401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A319B-AC00-C5FE-05C4-97FF1B96F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39A9E-8CF1-BC51-548F-1C6B3CFE3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세계화의 진전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8EE1E0-54DE-9CDE-867E-94719E395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31F995-0BC7-5C80-0C6F-7AA086372329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세계화는 정부로 하여금 조세징수를 어렵게 만든다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국경이 경제적으로 실질적인 의미를 잃어버리게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노동과 자본이 자유롭게 여러 국가들을 이동하게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세율이 높은 나라는 노동과 자본이 썰물처럼 빠져나가게 되어 조세 징수가 힘들어진다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위와 같은 상황은 각 나라가 세율을 경쟁적으로 낮추어 자원의 이탈을 방지하려고 하는 분위기를 만들게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기업이나 부유한 사람들의 해외 이탈을 막고자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법인세율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소득세율 인하 경쟁이 벌어지게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한편 다국적기업들은 사무실과 공장을 세율이 낮은 곳으로 이전하여 세금을 절약할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최근 미국은 관세 정책이라는 보호무역을 통해 자국 산업을 보호하려고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이는 세계화가 더디어 지고 있음을 의미하지는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세계화 속에서 경쟁하는 방식이 변화하고 있음을 의미한다</a:t>
            </a:r>
            <a:r>
              <a:rPr lang="en-US" altLang="ko-KR" sz="1600" spc="-50"/>
              <a:t>.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05630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7E2B-2BCD-168F-678D-AA3494BC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9A3412-AE65-4287-4EBC-CE87B0982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인터넷의 확산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E6B2B9-B848-F46B-7E20-2C555FA7D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345A7-373C-9EE9-D1A7-79B48A5D3497}"/>
              </a:ext>
            </a:extLst>
          </p:cNvPr>
          <p:cNvSpPr txBox="1"/>
          <p:nvPr/>
        </p:nvSpPr>
        <p:spPr>
          <a:xfrm>
            <a:off x="288790" y="958844"/>
            <a:ext cx="11693660" cy="419967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인터넷을 통한 상거래의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생산자와 소비자가 직접 연결되므로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중간단계 상인들이 사라지는 경향이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기업과 기업이 온라인상에서 직접 거래하는 </a:t>
            </a:r>
            <a:r>
              <a:rPr lang="en-US" altLang="ko-KR" sz="1600" spc="-50" dirty="0"/>
              <a:t>B2B</a:t>
            </a:r>
            <a:r>
              <a:rPr lang="ko-KR" altLang="en-US" sz="1600" spc="-50" dirty="0"/>
              <a:t>의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거래 규모를 파악하는 것조차 어렵다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결국 기업들의 자진신고에 의존해야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성실한 신고를 기대하기 힘들다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전자화폐의 보급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암호화 기술의 발전으로 당사자들 사이의 비밀스러운 거래는 더 용이해지고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국경을 초월하는 인터넷 상거래는 더 복잡한 문제를 야기한다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한국 소비자가 미국 기업으로부터 상품을 구입할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나라의 정부가 이 거래에 대해 과세 권리를 갖는지 불분명하다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국을 경유하는 방법 등을 통해 납세의무를 쉽게 회피할 수도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가상상품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디지털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확산은 조세징수의 어려움을 가중시킨다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음악 혹은 영화가 </a:t>
            </a:r>
            <a:r>
              <a:rPr lang="en-US" altLang="ko-KR" sz="1600" spc="-50" dirty="0"/>
              <a:t>CD</a:t>
            </a:r>
            <a:r>
              <a:rPr lang="ko-KR" altLang="en-US" sz="1600" spc="-50" dirty="0"/>
              <a:t>나 </a:t>
            </a:r>
            <a:r>
              <a:rPr lang="en-US" altLang="ko-KR" sz="1600" spc="-50" dirty="0"/>
              <a:t>DVD</a:t>
            </a:r>
            <a:r>
              <a:rPr lang="ko-KR" altLang="en-US" sz="1600" spc="-50" dirty="0"/>
              <a:t>와 같은 종래의 매체를 통하지 않고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컴퓨터 정보의 형태로 거래되는 것이 대표적인 예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개인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혹은 기업들간 디지털 정보가 왕래하는 것을 파악하여 과세대상으로 삼는 것은 힘든 일이다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1675819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667DD-28DB-D576-043D-85F728D1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90520-4AB7-1057-DA6A-938F86370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정부의 활동영역 축소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2113-D768-1BE0-C9B4-A39B3353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F8399-EFBB-8CC9-6E66-13E80AE567DA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앞서 </a:t>
            </a:r>
            <a:r>
              <a:rPr lang="ko-KR" altLang="en-US" sz="1600" spc="-50" dirty="0" err="1"/>
              <a:t>살펴본대로</a:t>
            </a:r>
            <a:r>
              <a:rPr lang="ko-KR" altLang="en-US" sz="1600" spc="-50" dirty="0"/>
              <a:t> 조세징수가 어려워지면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각 나라의 정부는 재정 압박에 직면하는데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조세수입이 감소하면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가장 우선적인 감축대상은 </a:t>
            </a:r>
            <a:r>
              <a:rPr lang="ko-KR" altLang="en-US" sz="1600" spc="-50" dirty="0" err="1"/>
              <a:t>소득재분배정책이</a:t>
            </a:r>
            <a:r>
              <a:rPr lang="ko-KR" altLang="en-US" sz="1600" spc="-50" dirty="0"/>
              <a:t> 될 가능성이 크다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작은 정부를 주장하는 사람들의 주요 공격 대상이 바로 </a:t>
            </a:r>
            <a:r>
              <a:rPr lang="ko-KR" altLang="en-US" sz="1600" spc="-50" dirty="0" err="1"/>
              <a:t>소득재분배정책이기</a:t>
            </a:r>
            <a:r>
              <a:rPr lang="ko-KR" altLang="en-US" sz="1600" spc="-50" dirty="0"/>
              <a:t> 때문이다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또한 노동과 자본의 해외 이동을 촉발하는 원인이 된다는 점도 이유가 될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부유한 사람들의 입장에서 보면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소득재분배정책</a:t>
            </a:r>
            <a:r>
              <a:rPr lang="ko-KR" altLang="en-US" sz="1600" spc="-50" dirty="0"/>
              <a:t> 수행을 위한 무거운 조세부담이 결코 반갑지 않기 때문이다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강력한 </a:t>
            </a:r>
            <a:r>
              <a:rPr lang="ko-KR" altLang="en-US" sz="1600" spc="-50" dirty="0" err="1"/>
              <a:t>소득재분배정책은</a:t>
            </a:r>
            <a:r>
              <a:rPr lang="ko-KR" altLang="en-US" sz="1600" spc="-50" dirty="0"/>
              <a:t> 부유한 사람들로 하여금 노동과 자본을 해외로 이동시키는 요인이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 압박을 느끼는 정부가 공공서비스의 공급량을 줄여가다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어느 단계에서는 공공서비스에 대한 국민의 정당한 요구조차 수용하기 힘들어지는 단계에 이를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현재 상황을 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그런 단계가 가까운 미래에 다가오지는 않겠지만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앞으로는 정부가 작아지는 방향으로 변화하리라는 것은 분명해 보인다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앞으로 정부의 역할과 위상은 지금과 많이 달라지리라 예상할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3527427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재정학 연구의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A826-9D04-924C-1103-B29BCD81A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2923AF-EF8B-152B-1B42-E0502F51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B41846-7CE8-4671-C3BC-CE813ED1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AE3F6-B8D6-4CA1-D50A-F52982F8CBAC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근대적 의미에서의 공공재정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특히 근대적 조세의 첫 형태는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세기 이탈리아의 도시국가와 독일의 자유시에서 찾아볼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본격적인 의미에서의 공공재정은 그 후에 나타난 민족국가의 단계에서 드러나기 시작했다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민족국가가 본격적으로 등장하기 이전의 체제에서 전통적으로 모든 공공행위는 군주 개인의 일로 간주되었다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가신들에 의해 제공되는 자원이 충분하지 않을 때는 자신의 독자적 수단을 통해 필요한 자금을 마련할 수 밖에 없었다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군주는 자신의 소유토지로부터 거둔 </a:t>
            </a:r>
            <a:r>
              <a:rPr lang="ko-KR" altLang="en-US" sz="1600" spc="-50" dirty="0" err="1"/>
              <a:t>지조라든가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인지세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관세 등의 수입원에서 통치와 생활에 필요한 자금을 충당했다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그러나 용병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상비군 등을 위한 유지비용이 점차 늘어나서 전통적인 수입원으로 충당하는 것이 어려워졌다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군주들은 외국과의 전쟁이 단지 자기 개인만의 일이 아니라고 호소하며 영주들의 자발적 협조를 구했다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이는 군주와 영주간의 갈등이 표면화되는 원인이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과정에서 </a:t>
            </a:r>
            <a:r>
              <a:rPr lang="ko-KR" altLang="en-US" sz="1600" spc="-50" dirty="0" err="1"/>
              <a:t>물품세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유통세 등 간접세에 대한 의존이 급속도로 증가하였다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간접세는 비교적 영주들의 저항이 크지 않았고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귀족과 성직자도 간접세에 대한 납세의무가 있기 때문이다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위처럼 민족국가의 전개과정에서 일어났던 여러가지 이들이 재정학에 대한 본격적 관심을 불러왔다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723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1E2B9-1C14-732B-1AC2-A013200F6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D90A72-139A-2993-B5FC-5F47615EE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BA23C-06D3-DCC4-4047-F33E79D8E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E13D07-BA93-9A8A-3296-1B374869FD4E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공공재정에 관한 논의의 원초적 형태는 </a:t>
            </a:r>
            <a:r>
              <a:rPr lang="en-US" altLang="ko-KR" sz="1600" spc="-50" dirty="0"/>
              <a:t>16</a:t>
            </a:r>
            <a:r>
              <a:rPr lang="ko-KR" altLang="en-US" sz="1600" spc="-50" dirty="0"/>
              <a:t>세기 스콜라학파</a:t>
            </a:r>
            <a:r>
              <a:rPr lang="en-US" altLang="ko-KR" sz="1600" spc="-50" dirty="0"/>
              <a:t>, 17</a:t>
            </a:r>
            <a:r>
              <a:rPr lang="ko-KR" altLang="en-US" sz="1600" spc="-50" dirty="0"/>
              <a:t>세기 중상주의자들의 저술에서 발견할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아담 스미스 시대 </a:t>
            </a:r>
            <a:r>
              <a:rPr lang="en-US" altLang="ko-KR" sz="1600" spc="-50" dirty="0"/>
              <a:t>(18</a:t>
            </a:r>
            <a:r>
              <a:rPr lang="ko-KR" altLang="en-US" sz="1600" spc="-50" dirty="0"/>
              <a:t>세기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 이전에 </a:t>
            </a:r>
            <a:r>
              <a:rPr lang="ko-KR" altLang="en-US" sz="1600" spc="-50" dirty="0" err="1"/>
              <a:t>페티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로크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흄 과 같은 학자들이 공공재정의 문제에 언급한 바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그렇지만 근대적 의미에서의 재정학이라는 분야가 처음 정립된 것은 스미스의 시대에 이르러서 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좋은 조세제도의 요건에 관해 많은 관심을 끌었다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어떤 것이 좋은 조세제도인가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대부분이 꼽은 것은 조세부담은 납세자들 간에 </a:t>
            </a:r>
            <a:r>
              <a:rPr lang="ko-KR" altLang="en-US" sz="1600" b="1" spc="-50" dirty="0"/>
              <a:t>공평</a:t>
            </a:r>
            <a:r>
              <a:rPr lang="ko-KR" altLang="en-US" sz="1600" spc="-50" dirty="0"/>
              <a:t>하게 분배되어야 한다는 점이었다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구체적으로 어떻게 조세부담을 분배하는 것이 공평한지에 대해서는 두 가지 의견이 있었다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정부로부터 받은 </a:t>
            </a:r>
            <a:r>
              <a:rPr lang="ko-KR" altLang="en-US" sz="1600" b="1" spc="-50" dirty="0"/>
              <a:t>혜택</a:t>
            </a:r>
            <a:r>
              <a:rPr lang="ko-KR" altLang="en-US" sz="1600" spc="-50" dirty="0"/>
              <a:t>에 비례하여 부담하는 방식과 경제적 </a:t>
            </a:r>
            <a:r>
              <a:rPr lang="ko-KR" altLang="en-US" sz="1600" b="1" spc="-50" dirty="0"/>
              <a:t>능력</a:t>
            </a:r>
            <a:r>
              <a:rPr lang="ko-KR" altLang="en-US" sz="1600" spc="-50" dirty="0"/>
              <a:t>에 비례해 부담하는 방식이 맞섰다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또 하나의 요건은 조세제도의 효율성이었다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후반에 이르러 재정학은 오늘날 후생경제학이라고 불리는 분야와 밀접한 연관을 맺으며 발전하기 시작하였다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</a:t>
            </a:r>
            <a:r>
              <a:rPr lang="ko-KR" altLang="en-US" sz="1600" spc="-50" dirty="0"/>
              <a:t>세기 말까지의 재정연구 흐름은 영국적인 전통이라 할 수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조세의 측면이 중시되고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지출 측면은 비교적 경시된 특징이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공공선택이라고 부르는 집단의사결정 과정에 대한 논의도 결여되어 있었다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이러한 빈틈을 메워준 것은 북유럽학파와 </a:t>
            </a:r>
            <a:r>
              <a:rPr lang="ko-KR" altLang="en-US" sz="1600" spc="-50" dirty="0" err="1"/>
              <a:t>이탈리학파로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재정의 지출 측면도 충분히 연구할 가치가 있다는 사실을 일깨워주었다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207372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FE2C-5D5B-868E-81FB-DC0077CFB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FE5803-A04D-36F7-79C2-42121EB0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재정학의 역사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2E0D5F-424E-D4FE-BB84-64CED57F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375FE-3505-7554-5255-9A4F83C9ADBB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1930</a:t>
            </a:r>
            <a:r>
              <a:rPr lang="ko-KR" altLang="en-US" sz="1600" spc="-50" dirty="0"/>
              <a:t>년대에 들어오면서 경제학계는 소위 케인즈혁명의 돌풍을 맞게 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재정학의 성격에도 변화가 생긴다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전에는 후생경제학적 문제에 초점을 맞추었으나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경제안정과 관련된 재정의 기능에 대한 관심이 재정학 연구의 주류가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 후 </a:t>
            </a:r>
            <a:r>
              <a:rPr lang="en-US" altLang="ko-KR" sz="1600" spc="-50" dirty="0"/>
              <a:t>20</a:t>
            </a:r>
            <a:r>
              <a:rPr lang="ko-KR" altLang="en-US" sz="1600" spc="-50" dirty="0"/>
              <a:t>년간 케인즈혁명의 열기를 토대로 거시경제의 시각이 재정학을 지배하는 추세가 이어졌다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1950</a:t>
            </a:r>
            <a:r>
              <a:rPr lang="ko-KR" altLang="en-US" sz="1600" spc="-50" dirty="0"/>
              <a:t>년대에 들어와 케인즈혁명의 열기가 가라앉으면서 전통적인 미시적 </a:t>
            </a:r>
            <a:r>
              <a:rPr lang="ko-KR" altLang="en-US" sz="1600" spc="-50"/>
              <a:t>자원분배의 문제에 </a:t>
            </a:r>
            <a:r>
              <a:rPr lang="ko-KR" altLang="en-US" sz="1600" spc="-50" dirty="0"/>
              <a:t>대한 연구가 주된 관심이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애로우</a:t>
            </a:r>
            <a:r>
              <a:rPr lang="en-US" altLang="ko-KR" sz="1600" spc="-50" dirty="0"/>
              <a:t>-</a:t>
            </a:r>
            <a:r>
              <a:rPr lang="ko-KR" altLang="en-US" sz="1600" spc="-50" dirty="0" err="1"/>
              <a:t>드브루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(K. Arrow and J. Debreu)</a:t>
            </a:r>
            <a:r>
              <a:rPr lang="ko-KR" altLang="en-US" sz="1600" spc="-50" dirty="0"/>
              <a:t>의 일반균형이론은 후생경제학에 새로운 바람을 일으키며 재정학에도 많은 영향을 미쳤다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우리가 요즈음 배우고 있는 재정학은 미시적인 자원배분의 문제가 핵심을 이루고 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이는 </a:t>
            </a:r>
            <a:r>
              <a:rPr lang="en-US" altLang="ko-KR" sz="1600" spc="-50" dirty="0"/>
              <a:t>1950</a:t>
            </a:r>
            <a:r>
              <a:rPr lang="ko-KR" altLang="en-US" sz="1600" spc="-50" dirty="0"/>
              <a:t>년대에 정착했다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1954</a:t>
            </a:r>
            <a:r>
              <a:rPr lang="ko-KR" altLang="en-US" sz="1600" spc="-50" dirty="0"/>
              <a:t>년 </a:t>
            </a:r>
            <a:r>
              <a:rPr lang="ko-KR" altLang="en-US" sz="1600" spc="-50" dirty="0" err="1"/>
              <a:t>새무엘슨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(P. Samuelson)</a:t>
            </a:r>
            <a:r>
              <a:rPr lang="ko-KR" altLang="en-US" sz="1600" spc="-50" dirty="0"/>
              <a:t>이 발표한 「공공지출의 순수이론」 이라는 논문에 이르러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공공재의 성격을 가진 재화나 서비스에 관한 개념이 엄밀한 이론적 논의의 대상이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 err="1"/>
              <a:t>스티글러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(G. Stigler)</a:t>
            </a:r>
            <a:r>
              <a:rPr lang="ko-KR" altLang="en-US" sz="1600" spc="-50" dirty="0"/>
              <a:t>는 공공의 이익을 위해 존재하는 규제기관이 로비를 통해 규제를 받는 이익집단에게 오히려 포획되어 이익집단에 유리한 정책을 수립하게 된다는 </a:t>
            </a:r>
            <a:r>
              <a:rPr lang="ko-KR" altLang="en-US" sz="1600" spc="-50" dirty="0" err="1"/>
              <a:t>규제포획이론을</a:t>
            </a:r>
            <a:r>
              <a:rPr lang="ko-KR" altLang="en-US" sz="1600" spc="-50" dirty="0"/>
              <a:t> 발표하였고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니스카넨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(W. Niskanen)</a:t>
            </a:r>
            <a:r>
              <a:rPr lang="ko-KR" altLang="en-US" sz="1600" spc="-50" dirty="0"/>
              <a:t>은 공공의 이익보다는 예산의 극대화를 추구하는 관료제모형을 소개하는 등 재정학 논의의 폭을 넓혔다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재정학은 역사적으로 많은 과정을 거쳐 현대에는 미시적 자원배분의 문제로 </a:t>
            </a:r>
            <a:r>
              <a:rPr lang="ko-KR" altLang="en-US" sz="1600" spc="-50" dirty="0" err="1"/>
              <a:t>옮겨옴으로</a:t>
            </a:r>
            <a:r>
              <a:rPr lang="ko-KR" altLang="en-US" sz="1600" spc="-50" dirty="0"/>
              <a:t> 고유한 영역을 확보하게 되었다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19707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6204</TotalTime>
  <Words>2151</Words>
  <Application>Microsoft Office PowerPoint</Application>
  <PresentationFormat>와이드스크린</PresentationFormat>
  <Paragraphs>208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HY헤드라인M</vt:lpstr>
      <vt:lpstr>KoPub돋움체 Light</vt:lpstr>
      <vt:lpstr>맑은 고딕</vt:lpstr>
      <vt:lpstr>Arial</vt:lpstr>
      <vt:lpstr>Wingdings</vt:lpstr>
      <vt:lpstr>Office 테마</vt:lpstr>
      <vt:lpstr>재 정 학</vt:lpstr>
      <vt:lpstr>Chapter 1  재정학: 의의와 성격</vt:lpstr>
      <vt:lpstr>실증경제학 vs. 규범경제학</vt:lpstr>
      <vt:lpstr>Section 1. 재정학 연구의 내용</vt:lpstr>
      <vt:lpstr>재정학</vt:lpstr>
      <vt:lpstr>Section 2. 정부란 무엇인가?</vt:lpstr>
      <vt:lpstr>정부</vt:lpstr>
      <vt:lpstr>정부를 바라보는 견해</vt:lpstr>
      <vt:lpstr>Section 3. 혼합경제와 정부의 역할</vt:lpstr>
      <vt:lpstr>혼합경제</vt:lpstr>
      <vt:lpstr>정부의 역할</vt:lpstr>
      <vt:lpstr>정부의 기능</vt:lpstr>
      <vt:lpstr>정부의 크기</vt:lpstr>
      <vt:lpstr>Section 4. 정부의 미래</vt:lpstr>
      <vt:lpstr>세계화의 진전</vt:lpstr>
      <vt:lpstr>인터넷의 확산</vt:lpstr>
      <vt:lpstr>정부의 활동영역 축소</vt:lpstr>
      <vt:lpstr>Section 5. 재정학 연구의 역사</vt:lpstr>
      <vt:lpstr>재정학의 역사 (1)</vt:lpstr>
      <vt:lpstr>재정학의 역사 (2)</vt:lpstr>
      <vt:lpstr>재정학의 역사 (3)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136</cp:revision>
  <dcterms:created xsi:type="dcterms:W3CDTF">2025-07-05T05:15:23Z</dcterms:created>
  <dcterms:modified xsi:type="dcterms:W3CDTF">2026-03-16T00:09:54Z</dcterms:modified>
</cp:coreProperties>
</file>