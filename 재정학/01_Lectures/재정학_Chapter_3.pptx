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7"/>
  </p:notesMasterIdLst>
  <p:sldIdLst>
    <p:sldId id="375" r:id="rId2"/>
    <p:sldId id="405" r:id="rId3"/>
    <p:sldId id="550" r:id="rId4"/>
    <p:sldId id="557" r:id="rId5"/>
    <p:sldId id="558" r:id="rId6"/>
    <p:sldId id="551" r:id="rId7"/>
    <p:sldId id="559" r:id="rId8"/>
    <p:sldId id="560" r:id="rId9"/>
    <p:sldId id="552" r:id="rId10"/>
    <p:sldId id="561" r:id="rId11"/>
    <p:sldId id="562" r:id="rId12"/>
    <p:sldId id="563" r:id="rId13"/>
    <p:sldId id="564" r:id="rId14"/>
    <p:sldId id="553" r:id="rId15"/>
    <p:sldId id="565" r:id="rId16"/>
    <p:sldId id="566" r:id="rId17"/>
    <p:sldId id="554" r:id="rId18"/>
    <p:sldId id="567" r:id="rId19"/>
    <p:sldId id="570" r:id="rId20"/>
    <p:sldId id="569" r:id="rId21"/>
    <p:sldId id="571" r:id="rId22"/>
    <p:sldId id="572" r:id="rId23"/>
    <p:sldId id="573" r:id="rId24"/>
    <p:sldId id="575" r:id="rId25"/>
    <p:sldId id="555" r:id="rId26"/>
    <p:sldId id="576" r:id="rId27"/>
    <p:sldId id="577" r:id="rId28"/>
    <p:sldId id="578" r:id="rId29"/>
    <p:sldId id="579" r:id="rId30"/>
    <p:sldId id="580" r:id="rId31"/>
    <p:sldId id="581" r:id="rId32"/>
    <p:sldId id="582" r:id="rId33"/>
    <p:sldId id="556" r:id="rId34"/>
    <p:sldId id="583" r:id="rId35"/>
    <p:sldId id="364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74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- 3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3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후생경제학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후생 평가의 기준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후생 평가의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재정학에서는 정부 정책이 </a:t>
            </a:r>
            <a:r>
              <a:rPr lang="ko-KR" altLang="en-US" sz="1600" spc="-50" dirty="0" err="1"/>
              <a:t>바람직한지의</a:t>
            </a:r>
            <a:r>
              <a:rPr lang="ko-KR" altLang="en-US" sz="1600" spc="-50" dirty="0"/>
              <a:t> 여부를 평가하는 일이 주요 과제 중 하나이다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정책이란 하나의 경제적 상태를 다른 경제적 상태로 변화시키려는 노력을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정책의 바람직함의 여부는 그 정책으로 인해 생긴 변화가 사회후생에 어떤 영향을 미치는지에 의해 평가될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사회후생을 평가하는 기준은 여러가지가 있을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가장 중요한 것은 아래의 두 가지 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자원배분의 </a:t>
            </a:r>
            <a:r>
              <a:rPr lang="ko-KR" altLang="en-US" sz="1600" b="1" spc="-50" dirty="0"/>
              <a:t>효율성</a:t>
            </a:r>
            <a:endParaRPr lang="en-US" altLang="ko-KR" sz="1600" b="1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경제에 존재하는 자원이 낭비되지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얼마나 최선의 방법으로 활용되고 있는지를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분배의 </a:t>
            </a:r>
            <a:r>
              <a:rPr lang="ko-KR" altLang="en-US" sz="1600" b="1" spc="-50" dirty="0" err="1"/>
              <a:t>공평성</a:t>
            </a:r>
            <a:endParaRPr lang="en-US" altLang="ko-KR" sz="1600" b="1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사람들 사이에 자원이 얼마나 공평하게 분배되어 있는지를 의미한다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효율성과 공평성이 사회후생의 평가기준으로 핵심적이지만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 가지 더 보조적 기준으로는 개인의 </a:t>
            </a:r>
            <a:r>
              <a:rPr lang="ko-KR" altLang="en-US" sz="1600" b="1" spc="-50" dirty="0"/>
              <a:t>자유</a:t>
            </a:r>
            <a:r>
              <a:rPr lang="ko-KR" altLang="en-US" sz="1600" spc="-50" dirty="0"/>
              <a:t>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사람들의 자유가 완벽하게 보장되어 있을수록 사회후생이 더 커지는 것으로 본다는 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다만 개인의 자유를 무조건적으로 보장해주는 것이 바람직하다고 말하기는 어렵다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국민연금제도의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국민들에게 강제적으로 저축을 통해 은퇴 후의 생계대책을 마련하도록 요구한다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이처럼 정부가 선의로 개인의 선택에 간섭한다는 뜻에서 온정적 간섭주의라고 부르기도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66C42-76BB-F97B-C3F7-0814E3AF1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7A008-7104-ECEB-6F65-488D95AD4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후생 평가의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064941-96D3-2769-78E1-EB9B4063D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CAC8F-F97E-9C77-920A-53E9CCE33D30}"/>
              </a:ext>
            </a:extLst>
          </p:cNvPr>
          <p:cNvSpPr txBox="1"/>
          <p:nvPr/>
        </p:nvSpPr>
        <p:spPr>
          <a:xfrm>
            <a:off x="288790" y="958844"/>
            <a:ext cx="116936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정책에 대한 사람들의 평가와 의견은 제각기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무엇보다 </a:t>
            </a:r>
            <a:r>
              <a:rPr lang="ko-KR" altLang="en-US" sz="1600" spc="-50" dirty="0" err="1"/>
              <a:t>공평성</a:t>
            </a:r>
            <a:r>
              <a:rPr lang="ko-KR" altLang="en-US" sz="1600" spc="-50" dirty="0"/>
              <a:t> 관점에서 정책을 평가하는 경우 객관적인 기준 자체가 존재하지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효율성 관점에서도 정책이 정말 효율성을 높이는 결과를 가져올 수 </a:t>
            </a:r>
            <a:r>
              <a:rPr lang="ko-KR" altLang="en-US" sz="1600" spc="-50" dirty="0" err="1"/>
              <a:t>있는지의</a:t>
            </a:r>
            <a:r>
              <a:rPr lang="ko-KR" altLang="en-US" sz="1600" spc="-50" dirty="0"/>
              <a:t> 여부를 예측하는 것이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 개인의 자유가 얼마나 존중되어야 </a:t>
            </a:r>
            <a:r>
              <a:rPr lang="ko-KR" altLang="en-US" sz="1600" spc="-50" dirty="0" err="1"/>
              <a:t>하느냐에</a:t>
            </a:r>
            <a:r>
              <a:rPr lang="ko-KR" altLang="en-US" sz="1600" spc="-50" dirty="0"/>
              <a:t> 관한 견해차까지 더해지면 문제는 한층 더 </a:t>
            </a:r>
            <a:r>
              <a:rPr lang="ko-KR" altLang="en-US" sz="1600" spc="-50" dirty="0" err="1"/>
              <a:t>복잡해진다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정책에 대한 적절한 평가를 내리기는 어렵지만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조금이라도 더 나은 평가를 내릴 수 있는 방안을 찾으려고 하는 것이 후생경제학 연구의 주요한 목적이다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2895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ED3C8-A6F8-638A-EA79-55205299E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FEC7D0-2F20-A811-0D3A-9012422556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41CD6A-BFB2-671D-6B8A-BE9D861E4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92D959D-489A-CD50-0163-8044FDC29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자원배분의 효율성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804545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B47A4-3021-F141-9138-993AF0020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C8235-1759-5A79-A5AB-CB2A70FA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파레토 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C5060E-00F9-8A4B-4222-DBC05AFA0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EFBDC-40F3-EB03-1ED3-7AC767060B40}"/>
              </a:ext>
            </a:extLst>
          </p:cNvPr>
          <p:cNvSpPr txBox="1"/>
          <p:nvPr/>
        </p:nvSpPr>
        <p:spPr>
          <a:xfrm>
            <a:off x="288790" y="958844"/>
            <a:ext cx="11693660" cy="41535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효율성은 여러가지로 정의될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아래에 정의된 </a:t>
            </a:r>
            <a:r>
              <a:rPr lang="ko-KR" altLang="en-US" sz="1600" spc="-50" dirty="0" err="1"/>
              <a:t>파레토효율성의</a:t>
            </a:r>
            <a:r>
              <a:rPr lang="ko-KR" altLang="en-US" sz="1600" spc="-50" dirty="0"/>
              <a:t> 개념이 경제학에서 흔하게 쓰이고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50" dirty="0"/>
              <a:t>파레토 효율성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하나의 자원배분 상태가 있다고 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 누구에게도 손해가 가지 않으면서 어떤 사람에게는 이득이 되도록 이를 변화시키는 것이 불가능하다고 하자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그렇다면 이와 같은 자원배분 상태는 파레토 효율적인 성격을 갖는다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50" dirty="0"/>
              <a:t>파레토 개선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사회 전체의 관점에서 손해를 보는 사람은 아무도 없으면서 이득을 얻는 사람이 생기게 만드는 변화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개선이 이루어질 수 있다는 것은 원래의 자원배분 상태가 효율적이 아님을 뜻한다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완전경쟁과 자원배분의 효율성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/>
              <a:t>어떤 경제에서 효율적인 자원배분이 이루어지면</a:t>
            </a:r>
            <a:r>
              <a:rPr lang="en-US" altLang="ko-KR" sz="1600" spc="-100" dirty="0"/>
              <a:t>,</a:t>
            </a:r>
            <a:r>
              <a:rPr lang="ko-KR" altLang="en-US" sz="1600" spc="-100" dirty="0"/>
              <a:t> 구성원들은 주어진 생산자원으로부터 최대한의 효용을 얻을 수 있게 된다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아래 그림의 효용가능경계는 두 사람으로 구성된 경제에서 효율적 자원배분이 이루어진 상태를 보여준다</a:t>
            </a:r>
            <a:r>
              <a:rPr lang="en-US" altLang="ko-KR" sz="1600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주어진 생산자원으로부터 두 사람이 최대한으로 얻을 수 있는 효용수준의 조합을 뜻하는 점을 모아 만든 선이다</a:t>
            </a:r>
            <a:endParaRPr lang="en-US" altLang="ko-KR" sz="1600" spc="-10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만약 자원배분이 효율적으로 이루어지지 못하면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경제는 이 곡선보다 안쪽에 있는 어떤 점으로 이동한다</a:t>
            </a:r>
            <a:r>
              <a:rPr lang="en-US" altLang="ko-KR" sz="1600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CF659D-CB49-B8FF-31D2-B8CCF721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007" y="4750087"/>
            <a:ext cx="2460328" cy="192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70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B00F6-5682-9B8A-11E0-88A32A5D6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F821C-D623-9072-F714-6DFCCC36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완전경쟁과 자원배분의 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1A4515-0AF2-0AAF-8149-22269212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40A0F-634F-20B0-E604-4F1D9042714F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/>
              <a:t>후생경제학에서는 완전경쟁시장에서 이루어지는 자원배분이 효율적이라는 것이 여러 가지 방법으로 입증되어 있다</a:t>
            </a:r>
            <a:r>
              <a:rPr lang="en-US" altLang="ko-KR" sz="1600" spc="-1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/>
              <a:t>이 중 가장 엄밀한 방법으로 완전경쟁시장에 의한 자원배분과 효율성을 연결시키고 있는 것은 아래의 두 기본 정리이다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100" dirty="0"/>
              <a:t>후생경제학의 제 </a:t>
            </a:r>
            <a:r>
              <a:rPr lang="en-US" altLang="ko-KR" sz="1600" b="1" spc="-100" dirty="0"/>
              <a:t>1</a:t>
            </a:r>
            <a:r>
              <a:rPr lang="ko-KR" altLang="en-US" sz="1600" b="1" spc="-100" dirty="0"/>
              <a:t>정리</a:t>
            </a:r>
            <a:r>
              <a:rPr lang="en-US" altLang="ko-KR" sz="1600" b="1" spc="-100" dirty="0"/>
              <a:t>: </a:t>
            </a:r>
            <a:r>
              <a:rPr lang="ko-KR" altLang="en-US" sz="1600" b="1" spc="-100" dirty="0"/>
              <a:t>모든 소비자의 선호체계가 강단조성을 가지면</a:t>
            </a:r>
            <a:r>
              <a:rPr lang="en-US" altLang="ko-KR" sz="1600" b="1" spc="-100" dirty="0"/>
              <a:t>, </a:t>
            </a:r>
            <a:r>
              <a:rPr lang="ko-KR" altLang="en-US" sz="1600" b="1" spc="-100" dirty="0"/>
              <a:t>일반경쟁균형은 파레토 효율적이 된다</a:t>
            </a:r>
            <a:r>
              <a:rPr lang="en-US" altLang="ko-KR" sz="1600" b="1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일반경쟁균형의 배분이란 완전경쟁 시장에서의 자원배분을 의미한다</a:t>
            </a:r>
            <a:r>
              <a:rPr lang="en-US" altLang="ko-KR" sz="1600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스미스</a:t>
            </a:r>
            <a:r>
              <a:rPr lang="en-US" altLang="ko-KR" sz="1600" spc="-100" dirty="0"/>
              <a:t>(A. Smith)</a:t>
            </a:r>
            <a:r>
              <a:rPr lang="ko-KR" altLang="en-US" sz="1600" spc="-100" dirty="0"/>
              <a:t>가 제시한 보이지 않는 손의 명제를 정당화 하고 있기도 하다</a:t>
            </a:r>
            <a:r>
              <a:rPr lang="en-US" altLang="ko-KR" sz="1600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다시 말하면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시장에 맡기면 효율적이 된다</a:t>
            </a:r>
            <a:r>
              <a:rPr lang="en-US" altLang="ko-KR" sz="1600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혹은 시장에 맡기면 낭비는 없다</a:t>
            </a:r>
            <a:r>
              <a:rPr lang="en-US" altLang="ko-KR" sz="1600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1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100" dirty="0"/>
              <a:t>후생경제학의 제</a:t>
            </a:r>
            <a:r>
              <a:rPr lang="en-US" altLang="ko-KR" sz="1600" b="1" spc="-100" dirty="0"/>
              <a:t> 2</a:t>
            </a:r>
            <a:r>
              <a:rPr lang="ko-KR" altLang="en-US" sz="1600" b="1" spc="-100" dirty="0"/>
              <a:t>정리</a:t>
            </a:r>
            <a:r>
              <a:rPr lang="en-US" altLang="ko-KR" sz="1600" b="1" spc="-100" dirty="0"/>
              <a:t>: </a:t>
            </a:r>
            <a:r>
              <a:rPr lang="ko-KR" altLang="en-US" sz="1600" b="1" spc="-100" dirty="0"/>
              <a:t>모든 소비자의 선호체계가 </a:t>
            </a:r>
            <a:r>
              <a:rPr lang="ko-KR" altLang="en-US" sz="1600" b="1" spc="-100" dirty="0" err="1"/>
              <a:t>볼록성을</a:t>
            </a:r>
            <a:r>
              <a:rPr lang="ko-KR" altLang="en-US" sz="1600" b="1" spc="-100" dirty="0"/>
              <a:t> 가지면</a:t>
            </a:r>
            <a:r>
              <a:rPr lang="en-US" altLang="ko-KR" sz="1600" b="1" spc="-100" dirty="0"/>
              <a:t>, </a:t>
            </a:r>
            <a:r>
              <a:rPr lang="ko-KR" altLang="en-US" sz="1600" b="1" spc="-100" dirty="0"/>
              <a:t>파레토 효율적인 배분은 </a:t>
            </a:r>
            <a:r>
              <a:rPr lang="ko-KR" altLang="en-US" sz="1600" b="1" spc="-100" dirty="0" err="1"/>
              <a:t>초기부존자원의</a:t>
            </a:r>
            <a:r>
              <a:rPr lang="ko-KR" altLang="en-US" sz="1600" b="1" spc="-100" dirty="0"/>
              <a:t> 적절한 재배분을 통해 일반경쟁균형으로 달성될 수 있다</a:t>
            </a:r>
            <a:r>
              <a:rPr lang="en-US" altLang="ko-KR" sz="1600" b="1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제</a:t>
            </a:r>
            <a:r>
              <a:rPr lang="en-US" altLang="ko-KR" sz="1600" spc="-100" dirty="0"/>
              <a:t> 2</a:t>
            </a:r>
            <a:r>
              <a:rPr lang="ko-KR" altLang="en-US" sz="1600" spc="-100" dirty="0"/>
              <a:t>정리는 제</a:t>
            </a:r>
            <a:r>
              <a:rPr lang="en-US" altLang="ko-KR" sz="1600" spc="-100" dirty="0"/>
              <a:t>1 </a:t>
            </a:r>
            <a:r>
              <a:rPr lang="ko-KR" altLang="en-US" sz="1600" spc="-100" dirty="0"/>
              <a:t>정리의 역에 해당한다</a:t>
            </a:r>
            <a:r>
              <a:rPr lang="en-US" altLang="ko-KR" sz="1600" spc="-100" dirty="0"/>
              <a:t>. </a:t>
            </a:r>
            <a:r>
              <a:rPr lang="ko-KR" altLang="en-US" sz="1600" spc="-100" dirty="0"/>
              <a:t>어떤 효율적인 배분상태가 있다면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이것으로 하여금 일반경쟁균형이 되게 만드는 가격체계가 존재하는지 여부를 묻고 있다</a:t>
            </a:r>
            <a:r>
              <a:rPr lang="en-US" altLang="ko-KR" sz="1600" spc="-1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다시 말하면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원하는 어떤 효율상태는 시장을 통해 달성 가능하다</a:t>
            </a:r>
            <a:r>
              <a:rPr lang="en-US" altLang="ko-KR" sz="1600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혹은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공평하게 나눈 뒤에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시장에 맡겨 놓아도 효율은 유지가 된다</a:t>
            </a:r>
            <a:r>
              <a:rPr lang="en-US" altLang="ko-KR" sz="1600" spc="-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5353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9E89-2204-A1A6-1BD6-E8CF33B2B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9241CD-9EE1-DD61-A57F-A459E91844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1B4DEE-31FF-EFC9-8704-12C58C03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A11BDDC-38E7-539E-08C5-5100D0E60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시장의 실패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368122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676C6-89B4-4902-542E-81F6CFEE2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시장의 실패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6D1CE9-7E3E-7A0A-4D6E-FB68739E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4DF2C-8C02-40AD-92EF-000E1DFF1D6C}"/>
              </a:ext>
            </a:extLst>
          </p:cNvPr>
          <p:cNvSpPr txBox="1"/>
          <p:nvPr/>
        </p:nvSpPr>
        <p:spPr>
          <a:xfrm>
            <a:off x="288790" y="958844"/>
            <a:ext cx="11693660" cy="48921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완전경쟁이 전제되었을 때 시장에 의한 자원배분은 효율적이라는 결론을 도출하였다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어느 하나의 조건이라도 충족하지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시장에 의한 자원배분이 비효율적이 될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</a:t>
            </a:r>
            <a:r>
              <a:rPr lang="ko-KR" altLang="en-US" sz="1600" b="1" spc="-50" dirty="0"/>
              <a:t>시장실패</a:t>
            </a:r>
            <a:r>
              <a:rPr lang="ko-KR" altLang="en-US" sz="1600" spc="-50" dirty="0"/>
              <a:t>라고 부른다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시장실패의 원인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불완전경쟁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독과점이 존재하는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시장의 실패가 일어날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독점의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생산자는 사회적으로 잉여가 극대화되는 생산량을 선택하지 않았음을 상기해보자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공공재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공공재는 공원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도로 같이 여러 사람의 공동 소비를 위해 생산된 재화나 서비스를 의미한다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공공재는 비경합성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배제불가능성</a:t>
            </a:r>
            <a:r>
              <a:rPr lang="ko-KR" altLang="en-US" sz="1600" spc="-50" dirty="0"/>
              <a:t> 이라는 두 가지 특성을 가지고 있기 때문에 시장 실패를 야기한다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비경합성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한 명이 더 이용해도 추가 비용이 </a:t>
            </a:r>
            <a:r>
              <a:rPr lang="ko-KR" altLang="en-US" sz="1600" spc="-50" dirty="0" err="1"/>
              <a:t>안드는데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굳이 돈을 받아서 이용자를 줄일 이유가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</a:t>
            </a:r>
            <a:r>
              <a:rPr lang="ko-KR" altLang="en-US" sz="1600" spc="-50" dirty="0" err="1"/>
              <a:t>배제불가능성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돈 안낸 사람을 배제할 수 없기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가격을 매겨도 돈을 걷을 수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877465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945F-85B0-BDC4-85AB-E60FE4C76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BCEDA6-CD1F-0BDB-0F8A-1C2A56453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시장의 실패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531E3A-50C7-FDED-BB76-A68E1B326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89AE5-96B9-FD6D-8D2B-9AA412158110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spc="-50" dirty="0" err="1"/>
              <a:t>외부성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사람의 행동이 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자에게 의도하지 않은 이득이나 손해를 주지만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대가를 지불하거나 받지 않을 때 외부효과가 발생했다고 말한다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긍정적 외부효과는 사회적 최적수준보다 적게 생산되고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부정적 외부효과는 최적수준보다 많이 생산된다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spc="-50" dirty="0"/>
              <a:t>불확실성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후생경제학의 정리들은 모든 것이 확실하다는 암묵적인 가정하에서 구해진 것이다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불확실성이 개입되면 일반경쟁균형이 </a:t>
            </a:r>
            <a:r>
              <a:rPr lang="ko-KR" altLang="en-US" sz="1600" spc="-50" dirty="0" err="1"/>
              <a:t>파레토효율성을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가져다준다는</a:t>
            </a:r>
            <a:r>
              <a:rPr lang="ko-KR" altLang="en-US" sz="1600" spc="-50" dirty="0"/>
              <a:t> 정리는 성립하지 못한다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spc="-50" dirty="0"/>
              <a:t>완비되지 못한 시장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 자체가 완전하게 갖춰져 있지 않으면 효율적인 자원배분이 이루어지지 못한다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훌륭한 학생이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지금 당장 등록금이 없어 학자금 융자가 필요하지만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대출시장이 존재하지 않은 경우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spc="-50" dirty="0"/>
              <a:t>불완전한 정보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거래 양 당사자 중 한쪽이 정보를 갖지 못하는 경우 효율적인 자원배분이 이루어지지 못한다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정보경제이론에 나오는 개살구시장에 따르면 중고차시장에서 실제로 거래되는 차들은 거의 다 겉보기만 그럴듯하고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좋은 중고차 거래는 이루어지지 못한다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0593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8740-0AF9-684B-AD4C-CC7F57AF2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A37D8-DB21-8D4C-0265-AAD050B69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시장의 실패와 정부 개입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B6FA2E-0E4A-5DF7-33E6-C9988A40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73AE97-05AF-D27B-02AC-FFBFE025F55B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시장 실패가 생기면 정부가 개입하여 시장기구의 부족한 점을 메워줄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 실패가 생겼을 때 정부가 개입할 수 있다는 것인지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당연히 개입해야 함을 의미하지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시장실패는 정부개입의 필요조건일 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충분조건은 아니다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개입 또한 나름의 문제를 일으킬 수 있기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개입 여부를 신중히 고려해야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조세부과는 민간부문의 의사결정을 교란시켜 초과부담을 일으키는 원인이 되기도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나아가 문제가 더욱 심각해 지게 되는 정부의 실패도 일어나곤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실패를 일으키는 원인 중 중요한 것들만 추려보면 아래와 같다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제한된 지식과 정보</a:t>
            </a: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정책이 좋은 효과를 거두기 위해서는 경제에 어떤 반응이 나타날지 정확하게 예측할 수 있어야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정부도 지식과 정보가 제한되어 있는 상황에서는 정책에 기대한 효과를 거두기 힘들다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민간부문 반응의 통제 불가능성</a:t>
            </a: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어떤 반응이 나타날지 정확한 예측을 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상황에 따라 민간의 반응이 기대한 것과 다르면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원래 의도한 효과를 거둘 수 없다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726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84DFF-BB66-F71C-2FF1-3892C9C3B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시장의 실패와 정부 개입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42CA4B-4E56-0D03-656F-5F91D1862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39D73-D590-C4F7-7DFC-02C1AF036FC4}"/>
              </a:ext>
            </a:extLst>
          </p:cNvPr>
          <p:cNvSpPr txBox="1"/>
          <p:nvPr/>
        </p:nvSpPr>
        <p:spPr>
          <a:xfrm>
            <a:off x="288790" y="958844"/>
            <a:ext cx="116936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92175" lvl="1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spc="-50" dirty="0"/>
              <a:t>정치적 과정에서의 제약</a:t>
            </a: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정책을 통해 이득을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보는 사람도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손해를 보는 사람도 있게 마련이다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다양한 이해관계자들이 정치적 타협을 이룰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과정에서 경제적 합리성이 희생될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주고받기 식의 타협 등</a:t>
            </a:r>
            <a:r>
              <a:rPr lang="en-US" altLang="ko-KR" sz="1600" spc="-50" dirty="0"/>
              <a:t>)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spc="-50" dirty="0"/>
              <a:t>관료조직에 대한 불완전한 통제</a:t>
            </a: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정책을 실제로 집행하는 관료들이 자신의 이익을 우선적으로 고려하여 정책 선택을 하게 될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Ch 5.</a:t>
            </a:r>
            <a:r>
              <a:rPr lang="ko-KR" altLang="en-US" sz="1600" spc="-50" dirty="0"/>
              <a:t>에서 배우겠지만 현실적인 여건상 관료들의 도덕적 해이를 막는 것은 힘든 일이다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0811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CD9F9-1581-1C64-2515-C7C46C501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863468-D92E-4C07-6438-23AE6B68AB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E9E3F0-F13A-C914-9A93-1C4C11CA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C94FF04-725D-62B5-9D0C-F503639BF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분배의 </a:t>
            </a:r>
            <a:r>
              <a:rPr lang="ko-KR" altLang="en-US" sz="4000" b="1" i="0" spc="150" dirty="0" err="1"/>
              <a:t>공평성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118374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CFE02-B927-7D03-F0F3-462C3A47A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E0E09-FEEF-340D-AF47-1F1BAD15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공평성의 의미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97B54D-F851-1E77-4F35-4E6D4514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96A13-C8EC-1563-8E6D-15E346B419D3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공평한 분배라고 할 때 사회의 모든 구성원이 똑같은 크기로 재산 및 소득을 나눠 갖는 상태를 떠올리기 쉽지만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사람이 똑같은 몫을 갖는다고 해서 공평한 분배가 이루어졌다고 말할 수 있는지는 의문이 들게 마련이다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공평한 분배는 여러가지 요소를 포괄하는 복합적인 개념이며 매우 주관적인 가치판단에 의존한다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그럼에도 불구하고 공평한 분배에 대한 사람들의 생각을 정리하여 공통분모를 추려보면 다음 네 가지 요건으로 집약된다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 err="1"/>
              <a:t>평등성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재산 및 소득이 사람들 사이에 고르게 나누어져야 한다는 조건이다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모두가 각기 다른 지역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능력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배경을 갖고 태어나지만 인간으로서 물질적 가치에 대해 기본적으로 동등한 권리를 갖는 것은 공평성의 한 요건이 될 수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정당한 권리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사회 구성원 모두의 정당한 권리가 보장되어 있어야 한다는 조건이다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사람이 정당하게 받아야 할 것을 받지 못하거나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지지 않아도 되는 부담을 떠맡는다면 공평한 것이 아니다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1" spc="-50" dirty="0"/>
              <a:t>공정성</a:t>
            </a:r>
            <a:r>
              <a:rPr lang="en-US" altLang="ko-KR" sz="1600" b="1" spc="-50" dirty="0"/>
              <a:t>: </a:t>
            </a:r>
            <a:r>
              <a:rPr lang="ko-KR" altLang="en-US" sz="1600" spc="-50" dirty="0"/>
              <a:t>모든 일은 미리 정해진 규칙에 따라 공정하게 이루어져야 한다는 조건이다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차별 받는 사람이 없어야 한다</a:t>
            </a:r>
            <a:r>
              <a:rPr lang="en-US" altLang="ko-KR" sz="1600" spc="-50" dirty="0"/>
              <a:t>.)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공평은 결과의 </a:t>
            </a:r>
            <a:r>
              <a:rPr lang="ko-KR" altLang="en-US" sz="1600" spc="-50" dirty="0" err="1"/>
              <a:t>균등성</a:t>
            </a:r>
            <a:r>
              <a:rPr lang="ko-KR" altLang="en-US" sz="1600" spc="-50" dirty="0"/>
              <a:t> 의미에 가깝고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공정은 과정의 올바름에 가깝다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600" b="1" spc="-50" dirty="0"/>
              <a:t>받을 만한 자격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각자 받을 만한 자격에 상응하도록 분배가 되어야 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자격이 무엇에 의해 결정되는지 한마디로 정리하긴 어렵지만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사람의 능력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노력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물질적 필요 등을 생각할 수 있다</a:t>
            </a:r>
            <a:r>
              <a:rPr lang="en-US" altLang="ko-KR" sz="1600" spc="-10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/>
              <a:t>공평한 분배가 되기 위해서는 위의 네 가지 요건을 두루 갖추고 있어야 한다</a:t>
            </a:r>
            <a:r>
              <a:rPr lang="en-US" altLang="ko-KR" sz="1600" spc="-100" dirty="0"/>
              <a:t>. </a:t>
            </a:r>
            <a:r>
              <a:rPr lang="ko-KR" altLang="en-US" sz="1600" spc="-100" dirty="0"/>
              <a:t>다만 요건 간에 서로 충돌하여 부득이하게 포기해야 하는 경우도 생기기도 하며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이에 관한 논의는 쉽게 결론 내릴 수 없다</a:t>
            </a:r>
            <a:r>
              <a:rPr lang="en-US" altLang="ko-KR" sz="1600" spc="-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3720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C5878-0AAB-16EF-9244-1FBD5A20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B0CFB-4FF3-190B-552D-AD1D5052F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공평성과 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53C135-E7BB-24E3-0758-BE128CE3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81F4A-8859-1A18-9B43-72B8C0DA87EB}"/>
              </a:ext>
            </a:extLst>
          </p:cNvPr>
          <p:cNvSpPr txBox="1"/>
          <p:nvPr/>
        </p:nvSpPr>
        <p:spPr>
          <a:xfrm>
            <a:off x="288790" y="958844"/>
            <a:ext cx="11693660" cy="34148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공평성과 효율성 사이의 관계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분배의 공평성과 자원배분의 효율성을 동시에 높이는 정책이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고민 없이 정책을 실행에 옮기면 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현실에서는 두 마리 토끼를 모두 잡을 수 있는 정책은 찾기 힘들다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왜 공평과 효율을 동시에 추구하기 </a:t>
            </a:r>
            <a:r>
              <a:rPr lang="ko-KR" altLang="en-US" sz="1600" spc="-50" dirty="0" err="1"/>
              <a:t>힘든지는</a:t>
            </a:r>
            <a:r>
              <a:rPr lang="ko-KR" altLang="en-US" sz="1600" spc="-50" dirty="0"/>
              <a:t> 추후에 설명하고 아래의 두 가지만 짚고 넘어가자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정책의 긍정적 효과가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부정적 효과로 상쇄되는 경우가 많이 발생하므로 각별히 주의해야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언제나 의도치 않은 측면에서 문제가 발생할 수 있다는 가능성을 염두에 두어야 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공평성과 효율성이 서로 충돌하는 경우가 많기는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경우에 있어 충돌하지는 않는다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장기적인 관점에서 볼 때 공평성과 효율성은 서로 상호보완적이 될 가능성이 크다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2086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79EF-5291-35E9-983B-D341C2032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693CA0-76C6-C94A-15A8-E2179F4B59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08AC91-4817-E5B7-7D82-BF673CEF8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9DA11B9-3738-819D-D2E8-CA14DC2D3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보상의 원칙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894999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9B84-8A06-D205-EFB4-B112A6283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200AC-58F2-0629-D690-F6B2C439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보상의 원칙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B0FF74-BBF8-B2E2-3B12-C67BD00C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B2D9C-F905-C492-02E4-94E45FFEFC94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후생경제학의 주요 과제 중 하나는 어떤 변화가 개선인지의 여부를 평가하는 기준을 찾아내는 일이다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변화로 인해 이득을 보는 사람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손해를 보는 사람 모두 생긴다면 그 이득과 손실을 어떻게 비교해서 결론을 내릴까</a:t>
            </a:r>
            <a:r>
              <a:rPr lang="en-US" altLang="ko-KR" sz="1600" spc="-50" dirty="0"/>
              <a:t>?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변화가 개선인지 평가하기 위해서는 서로 다른 사람에게 일어나는 이득과 손실을 비교할 수 있어야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개인간의 효용비교가 이루어져야 한다는 의미인데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불가능한 일에 가깝다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어떤 변화로 인해 김씨가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단위의 효용 증가를 </a:t>
            </a:r>
            <a:r>
              <a:rPr lang="ko-KR" altLang="en-US" sz="1600" spc="-50" dirty="0" err="1"/>
              <a:t>느껴고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박씨는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단위의 효용 감소를 느꼈다고 하자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사회전체적으로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단위의 효용이 증가했으니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사회가 개선되었다고 평가할 수는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김씨의 효용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단위와 박씨의 효용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단위는 같을 리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그렇다면 우리는 개인간 효용비교를 하지 않으면서도 사회적 변화를 평가할 수 있는 방법을 찾아야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문제의 해결책으로 제시된 이론이 </a:t>
            </a:r>
            <a:r>
              <a:rPr lang="ko-KR" altLang="en-US" sz="1600" b="1" spc="-50" dirty="0"/>
              <a:t>보상의 원칙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b="1" spc="-50" dirty="0" err="1"/>
              <a:t>칼도기준</a:t>
            </a:r>
            <a:r>
              <a:rPr lang="en-US" altLang="ko-KR" sz="1600" spc="-50" dirty="0"/>
              <a:t>,</a:t>
            </a:r>
            <a:r>
              <a:rPr lang="en-US" altLang="ko-KR" sz="1600" b="1" spc="-50" dirty="0"/>
              <a:t> </a:t>
            </a:r>
            <a:r>
              <a:rPr lang="ko-KR" altLang="en-US" sz="1600" b="1" spc="-50" dirty="0" err="1"/>
              <a:t>스키토브스키기준</a:t>
            </a:r>
            <a:r>
              <a:rPr lang="ko-KR" altLang="en-US" sz="1600" spc="-50" dirty="0" err="1"/>
              <a:t>이</a:t>
            </a:r>
            <a:r>
              <a:rPr lang="ko-KR" altLang="en-US" sz="1600" spc="-50" dirty="0"/>
              <a:t> 보상의 원칙에 속한다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파레토기준은</a:t>
            </a:r>
            <a:r>
              <a:rPr lang="ko-KR" altLang="en-US" sz="1600" spc="-50" dirty="0"/>
              <a:t> 엄밀하게 말해 보상의 원칙에 속하지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보상의 원칙을 정확히 이해하기 위해 </a:t>
            </a:r>
            <a:r>
              <a:rPr lang="ko-KR" altLang="en-US" sz="1600" b="1" spc="-50" dirty="0" err="1"/>
              <a:t>파레토기준</a:t>
            </a:r>
            <a:r>
              <a:rPr lang="ko-KR" altLang="en-US" sz="1600" spc="-50" dirty="0"/>
              <a:t> 부터 논의를 시작 </a:t>
            </a:r>
            <a:r>
              <a:rPr lang="ko-KR" altLang="en-US" sz="1600" spc="-50" dirty="0" err="1"/>
              <a:t>하는게</a:t>
            </a:r>
            <a:r>
              <a:rPr lang="ko-KR" altLang="en-US" sz="1600" spc="-50" dirty="0"/>
              <a:t> 바람직하다</a:t>
            </a:r>
            <a:r>
              <a:rPr lang="en-US" altLang="ko-KR" sz="1600" spc="-50" dirty="0"/>
              <a:t>.</a:t>
            </a:r>
            <a:endParaRPr lang="en-US" altLang="ko-KR" sz="1600" spc="-100" dirty="0"/>
          </a:p>
        </p:txBody>
      </p:sp>
    </p:spTree>
    <p:extLst>
      <p:ext uri="{BB962C8B-B14F-4D97-AF65-F5344CB8AC3E}">
        <p14:creationId xmlns:p14="http://schemas.microsoft.com/office/powerpoint/2010/main" val="1712503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F4861-61EA-4E16-9253-6043784F6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1923F1-DE4A-6E75-07C1-BC57F99B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파레토기준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0DE975-E843-5169-492A-80F9FEEF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45CFC6-B38B-31BA-76D4-7958D336FA77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304051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그림에 표현되어 있듯이</a:t>
                </a:r>
                <a:r>
                  <a:rPr lang="en-US" altLang="ko-KR" sz="1600" spc="-50" dirty="0"/>
                  <a:t>, A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B </a:t>
                </a:r>
                <a:r>
                  <a:rPr lang="ko-KR" altLang="en-US" sz="1600" spc="-50" dirty="0"/>
                  <a:t>두 사람이 사는 사회가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현재 두 사람의 효용수준은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spc="-50" dirty="0"/>
                  <a:t>점에 있다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spc="-50" dirty="0"/>
                  <a:t> 즉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ba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효용수준을 갖고</a:t>
                </a:r>
                <a:r>
                  <a:rPr lang="en-US" altLang="ko-KR" sz="1600" spc="-50" dirty="0"/>
                  <a:t>, B</a:t>
                </a:r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ba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효용수준을 갖고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어떤 이유에 의해 이 상태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spc="-50" dirty="0"/>
                  <a:t>점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가 다른 것으로 변화하는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관점에서 이를 개선이라고 평가할 수 있는지 알아보자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b="1" spc="-50" dirty="0"/>
                  <a:t>파레토 기준</a:t>
                </a:r>
                <a:r>
                  <a:rPr lang="ko-KR" altLang="en-US" sz="1600" spc="-50" dirty="0"/>
                  <a:t>이라는 평가 기준에서 개선은 새로운 상태에서 어떤 사람의 효용수준도 이전보다 감소하지 않았고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최소한 한 사람 이상의 효용이 증가한 경우를 의미한다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그림에서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spc="-50" dirty="0"/>
                  <a:t>점을 중심으로 오른쪽 위에 </a:t>
                </a:r>
                <a:r>
                  <a:rPr lang="ko-KR" altLang="en-US" sz="1600" spc="-50" dirty="0" err="1"/>
                  <a:t>노란구역으로의</a:t>
                </a:r>
                <a:r>
                  <a:rPr lang="ko-KR" altLang="en-US" sz="1600" spc="-50" dirty="0"/>
                  <a:t> 변화를 개선이라고 평가할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점에서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dirty="0"/>
                  <a:t> 점으로의 변화는 개선으로 평가할 수 있고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노란구역</a:t>
                </a:r>
                <a:r>
                  <a:rPr lang="ko-KR" altLang="en-US" sz="1600" dirty="0"/>
                  <a:t> 바깥쪽에 있는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ko-KR" altLang="en-US" sz="1600" dirty="0"/>
                  <a:t>으로의 변화는 개선인지 아닌지 알 수 없다고 평가할 수 있다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45CFC6-B38B-31BA-76D4-7958D336F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3040512"/>
              </a:xfrm>
              <a:prstGeom prst="rect">
                <a:avLst/>
              </a:prstGeom>
              <a:blipFill>
                <a:blip r:embed="rId2"/>
                <a:stretch>
                  <a:fillRect b="-1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4CF281-9930-02E9-8DC7-3C2D84B45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768" y="4144161"/>
            <a:ext cx="3031599" cy="23927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E1235D-9AC0-EB46-A137-3F2EB02C0908}"/>
              </a:ext>
            </a:extLst>
          </p:cNvPr>
          <p:cNvSpPr txBox="1"/>
          <p:nvPr/>
        </p:nvSpPr>
        <p:spPr>
          <a:xfrm>
            <a:off x="9085126" y="3808063"/>
            <a:ext cx="19446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파레토 기준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2871D7-8D0D-0A5E-AEC4-C2E2424560CB}"/>
                  </a:ext>
                </a:extLst>
              </p:cNvPr>
              <p:cNvSpPr txBox="1"/>
              <p:nvPr/>
            </p:nvSpPr>
            <p:spPr>
              <a:xfrm>
                <a:off x="288790" y="3937979"/>
                <a:ext cx="8200869" cy="2630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파레토 기준은 대부분의 사람들이 동의할만한 내용이기는 하지만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문제점도 있다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ko-KR" altLang="en-US" sz="1600" dirty="0"/>
                  <a:t> 점으로의 변화에 대해</a:t>
                </a:r>
                <a:r>
                  <a:rPr lang="en-US" altLang="ko-KR" sz="1600" dirty="0"/>
                  <a:t>, B</a:t>
                </a:r>
                <a:r>
                  <a:rPr lang="ko-KR" altLang="en-US" sz="1600" dirty="0"/>
                  <a:t>는 자신의 효용은 그대로인 반면</a:t>
                </a:r>
                <a:r>
                  <a:rPr lang="en-US" altLang="ko-KR" sz="1600" dirty="0"/>
                  <a:t>, A</a:t>
                </a:r>
                <a:r>
                  <a:rPr lang="ko-KR" altLang="en-US" sz="1600" dirty="0"/>
                  <a:t>의 효용만 증가하는데 불만을 가질 수 있다</a:t>
                </a:r>
                <a:r>
                  <a:rPr lang="en-US" altLang="ko-KR" sz="1600" dirty="0"/>
                  <a:t>. 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이러한 경우에는 명백한 개선이라 단정하기는 힘들다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현실세계에서는 대부분의 변화가 어떤 사람에게는 이득을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다른 사람에게는 손해를 주고 있다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dirty="0"/>
                  <a:t>파레토 기준이 현실에서는 유용하지 않다는 비판을 받을 수 있다</a:t>
                </a:r>
                <a:r>
                  <a:rPr lang="en-US" altLang="ko-KR" sz="1600" dirty="0"/>
                  <a:t>.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2871D7-8D0D-0A5E-AEC4-C2E242456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3937979"/>
                <a:ext cx="8200869" cy="2630015"/>
              </a:xfrm>
              <a:prstGeom prst="rect">
                <a:avLst/>
              </a:prstGeom>
              <a:blipFill>
                <a:blip r:embed="rId4"/>
                <a:stretch>
                  <a:fillRect b="-20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042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03958-42D2-D504-E24E-0ED099836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08410-14EA-991B-EB45-61895FB4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칼도기준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9A8CCB-A8B8-EF87-AD7D-654BD4A81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E5D83A-B2E9-C634-3372-D40C6194A16A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파레토기준이 갖는 비현실성을 보완하기 위해 </a:t>
                </a:r>
                <a:r>
                  <a:rPr lang="ko-KR" altLang="en-US" sz="1600" spc="-50" dirty="0" err="1"/>
                  <a:t>칼도기준이</a:t>
                </a:r>
                <a:r>
                  <a:rPr lang="ko-KR" altLang="en-US" sz="1600" spc="-50" dirty="0"/>
                  <a:t>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b="1" spc="-50" dirty="0" err="1"/>
                  <a:t>칼도기준</a:t>
                </a:r>
                <a:r>
                  <a:rPr lang="en-US" altLang="ko-KR" sz="1600" b="1" spc="-50" dirty="0"/>
                  <a:t>: </a:t>
                </a:r>
                <a:r>
                  <a:rPr lang="ko-KR" altLang="en-US" sz="1600" spc="-50" dirty="0"/>
                  <a:t>어떤 변화를 통해 이득을 얻는 사람에 의해 평가된 이득의 화폐가치가 손해를 보는 사람에 의해 평가된 손해의 화폐가치보다 더 클 때 그 변화를 개선이라고 평가할 수 있다</a:t>
                </a:r>
                <a:r>
                  <a:rPr lang="en-US" altLang="ko-KR" sz="1600" spc="-50" dirty="0"/>
                  <a:t>.</a:t>
                </a:r>
                <a:endParaRPr lang="en-US" altLang="ko-KR" sz="1600" b="1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칼도는</a:t>
                </a:r>
                <a:r>
                  <a:rPr lang="ko-KR" altLang="en-US" sz="1600" spc="-50" dirty="0"/>
                  <a:t> 앞 슬라이드의 그림에서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점에서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ko-KR" altLang="en-US" sz="1600" spc="-50" dirty="0"/>
                  <a:t>점으로의 변화가 </a:t>
                </a:r>
                <a:r>
                  <a:rPr lang="ko-KR" altLang="en-US" sz="1600" spc="-50" dirty="0" err="1"/>
                  <a:t>파레토기준이</a:t>
                </a:r>
                <a:r>
                  <a:rPr lang="ko-KR" altLang="en-US" sz="1600" spc="-50" dirty="0"/>
                  <a:t> 적용될 수 없을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대안을 아래와 같이 보였다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효용이 증가하는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에게 그 변화를 가져오게 하기 위해 최대한으로 낼 용의가 있는 금액을 묻는다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질문에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600" spc="-50" dirty="0"/>
                  <a:t>원을 낼 용의가 있다고 대답했다고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이번에는 효용이 감소하는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에게 그런 변화가 생기지 않도록 만들기 위해 최대한으로 낼 용의가 있는 금액을 묻는다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질문에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sz="1600" spc="-50" dirty="0"/>
                  <a:t>원을 낼 용의가 있다고 대답했다고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600" spc="-50" dirty="0"/>
                  <a:t>원과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sz="1600" spc="-50" dirty="0"/>
                  <a:t>원을 비교하여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변화를 개선으로 평가하는 것이 칼도 기준이다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주의할 점은 이런 보상이 실제로 일어나는 것은 아니며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잠재적으로 행해질 수 있다는 것을 의미할 뿐이다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E5D83A-B2E9-C634-3372-D40C6194A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5215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340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8A8CD-1709-5D9D-37BA-FCB69C334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33138-2129-8448-0F77-F9CB40C22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칼도기준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3FAABE-8744-C3CC-F0E9-15E382434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4EE301-8810-3695-3D54-1E30B3BFB320}"/>
                  </a:ext>
                </a:extLst>
              </p:cNvPr>
              <p:cNvSpPr txBox="1"/>
              <p:nvPr/>
            </p:nvSpPr>
            <p:spPr>
              <a:xfrm>
                <a:off x="288790" y="775964"/>
                <a:ext cx="11693660" cy="41292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그림을 통해 </a:t>
                </a:r>
                <a:r>
                  <a:rPr lang="ko-KR" altLang="en-US" sz="1600" spc="-50" dirty="0" err="1"/>
                  <a:t>칼도기준이</a:t>
                </a:r>
                <a:r>
                  <a:rPr lang="ko-KR" altLang="en-US" sz="1600" spc="-50" dirty="0"/>
                  <a:t> 갖는 직관적 의미를 살펴보자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효용가능경계의 안쪽에 있는 한 점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으로부터 그 곡선 위의 한 점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으로 움직이는 경우를 생각해보자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결론부터 말하면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𝑇</m:t>
                    </m:r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600" spc="-50" dirty="0"/>
                  <a:t>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로의 이동은 칼도 기준에 따르면 개선이라고 평가할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우선 </a:t>
                </a:r>
                <a14:m>
                  <m:oMath xmlns:m="http://schemas.openxmlformats.org/officeDocument/2006/math">
                    <m:r>
                      <a:rPr lang="en-US" altLang="ko-KR" sz="1600" i="1" spc="-5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600" spc="-50" dirty="0"/>
                  <a:t>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로의 이동을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𝑇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600" spc="-50" dirty="0"/>
                  <a:t>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수평이동 후에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로의 이동하는 두 단계로 나누어 생각해볼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𝑇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600" spc="-50" dirty="0"/>
                  <a:t>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수평이동 할 때는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의 효용은 변화가 없고</a:t>
                </a:r>
                <a:r>
                  <a:rPr lang="en-US" altLang="ko-KR" sz="1600" spc="-50" dirty="0"/>
                  <a:t>, A</a:t>
                </a:r>
                <a:r>
                  <a:rPr lang="ko-KR" altLang="en-US" sz="1600" spc="-50" dirty="0"/>
                  <a:t>의 효용은 증가한다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변화에 대해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가 부여하는 화폐가치는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이라고 하고</a:t>
                </a:r>
                <a:r>
                  <a:rPr lang="en-US" altLang="ko-KR" sz="1600" spc="-50" dirty="0"/>
                  <a:t>, B</a:t>
                </a:r>
                <a:r>
                  <a:rPr lang="ko-KR" altLang="en-US" sz="1600" spc="-50" dirty="0"/>
                  <a:t>는 효용의 변화가 없으므로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부여하는 화폐가치가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이동 할 때는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의 효용은 감소하는 반면</a:t>
                </a:r>
                <a:r>
                  <a:rPr lang="en-US" altLang="ko-KR" sz="1600" spc="-50" dirty="0"/>
                  <a:t>, A</a:t>
                </a:r>
                <a:r>
                  <a:rPr lang="ko-KR" altLang="en-US" sz="1600" spc="-50" dirty="0"/>
                  <a:t>의 효용은 증가한다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만약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에게 적절한 금액보상을 해줌으로써 그렇게 움직일 수 있다면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이는 보상을 통해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이동함으로써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에게 생긴 손해가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가 얻는 이득에 의해 정확히 상쇄되었다는 뜻이다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그렇다면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이동해 간 데 대해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가 평가한 이득의 가치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 err="1"/>
                  <a:t>이라하자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평가한 손실의 가치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똑같아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pc="-5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관계가 성립하게 된다</a:t>
                </a:r>
                <a:r>
                  <a:rPr lang="en-US" altLang="ko-KR" sz="1600" spc="-50" dirty="0"/>
                  <a:t>.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4EE301-8810-3695-3D54-1E30B3BFB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775964"/>
                <a:ext cx="11693660" cy="4129207"/>
              </a:xfrm>
              <a:prstGeom prst="rect">
                <a:avLst/>
              </a:prstGeom>
              <a:blipFill>
                <a:blip r:embed="rId2"/>
                <a:stretch>
                  <a:fillRect b="-7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EA890F-49D2-968A-DE36-6845DB695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235" y="4576663"/>
            <a:ext cx="2283045" cy="20860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62FC8F-D497-81C3-2EE5-93075BCA874C}"/>
              </a:ext>
            </a:extLst>
          </p:cNvPr>
          <p:cNvSpPr txBox="1"/>
          <p:nvPr/>
        </p:nvSpPr>
        <p:spPr>
          <a:xfrm>
            <a:off x="2857225" y="5604647"/>
            <a:ext cx="27917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칼도기준에</a:t>
            </a:r>
            <a:r>
              <a:rPr lang="ko-KR" altLang="en-US" sz="1400" spc="-50" dirty="0"/>
              <a:t> 의한 개선의 예시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36874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2E08F-A532-7248-40DB-12DA47CF8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1C54C-47C0-A1F1-CBA3-7FDE023C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칼도기준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1C6DCD-CC82-47E3-4137-ED16321AE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2B7B4B-436A-1B6F-8741-D771A328C37B}"/>
                  </a:ext>
                </a:extLst>
              </p:cNvPr>
              <p:cNvSpPr txBox="1"/>
              <p:nvPr/>
            </p:nvSpPr>
            <p:spPr>
              <a:xfrm>
                <a:off x="288790" y="775964"/>
                <a:ext cx="11693660" cy="33686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지금까지 논의를 종합해보자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효용가능경계 안쪽에 있는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ko-KR" altLang="en-US" sz="1600" spc="-50" dirty="0"/>
                  <a:t>점에서 곡선 위의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점으로 이동해 간 결과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가 얻는 이득의 가치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합과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나아가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가 얻은 가치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평가한 손실의 가치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보다 분명히 더 크다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ko-KR" altLang="en-US" sz="1600" spc="-50" dirty="0"/>
                  <a:t>점에서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점으로의 변화에 대해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B </a:t>
                </a:r>
                <a:r>
                  <a:rPr lang="ko-KR" altLang="en-US" sz="1600" spc="-50" dirty="0"/>
                  <a:t>사이의 보상을 통해 </a:t>
                </a:r>
                <a:r>
                  <a:rPr lang="ko-KR" altLang="en-US" sz="1600" spc="-50" dirty="0" err="1"/>
                  <a:t>앞에서와</a:t>
                </a:r>
                <a:r>
                  <a:rPr lang="ko-KR" altLang="en-US" sz="1600" spc="-50" dirty="0"/>
                  <a:t> 같은 논의가 가능하다면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이러한 변화는 </a:t>
                </a:r>
                <a:r>
                  <a:rPr lang="ko-KR" altLang="en-US" sz="1600" spc="-50" dirty="0" err="1"/>
                  <a:t>칼도기준에</a:t>
                </a:r>
                <a:r>
                  <a:rPr lang="ko-KR" altLang="en-US" sz="1600" spc="-50" dirty="0"/>
                  <a:t> 의해 개선되었다고 평가하는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지금까지의 </a:t>
                </a:r>
                <a:r>
                  <a:rPr lang="ko-KR" altLang="en-US" sz="1600" spc="-50" dirty="0" err="1"/>
                  <a:t>칼도기준에</a:t>
                </a:r>
                <a:r>
                  <a:rPr lang="ko-KR" altLang="en-US" sz="1600" spc="-50" dirty="0"/>
                  <a:t> 대한 내용을 엄밀히 따져보면 심각한 문제가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이동해 간 결과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의 손해가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의 이득에 의해 정확하게 상쇄되었다고 볼 수 있는 근거가 분명하지 않다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앞서 이야기했듯이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슬라이드 </a:t>
                </a:r>
                <a:r>
                  <a:rPr lang="en-US" altLang="ko-KR" sz="1600" spc="-50" dirty="0"/>
                  <a:t>18 </a:t>
                </a:r>
                <a:r>
                  <a:rPr lang="ko-KR" altLang="en-US" sz="1600" spc="-50" dirty="0"/>
                  <a:t>참고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각 사람이 경험하는 효용 증가와 효용 감소의 객관적 비교는 불가능하다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결국 </a:t>
                </a:r>
                <a:r>
                  <a:rPr lang="ko-KR" altLang="en-US" sz="1600" spc="-50" dirty="0" err="1"/>
                  <a:t>칼도기준</a:t>
                </a:r>
                <a:r>
                  <a:rPr lang="ko-KR" altLang="en-US" sz="1600" spc="-50" dirty="0"/>
                  <a:t> 또한 개인간 효용을 비교하고 있는 것과 마찬가지다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2B7B4B-436A-1B6F-8741-D771A328C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775964"/>
                <a:ext cx="11693660" cy="3368679"/>
              </a:xfrm>
              <a:prstGeom prst="rect">
                <a:avLst/>
              </a:prstGeom>
              <a:blipFill>
                <a:blip r:embed="rId2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B93CA3-4CC1-6DE7-4EA5-FCFA23188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235" y="4576663"/>
            <a:ext cx="2283045" cy="20860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6A388B-3D07-2984-9D41-BDF361240AFD}"/>
              </a:ext>
            </a:extLst>
          </p:cNvPr>
          <p:cNvSpPr txBox="1"/>
          <p:nvPr/>
        </p:nvSpPr>
        <p:spPr>
          <a:xfrm>
            <a:off x="2857225" y="5604647"/>
            <a:ext cx="27917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칼도기준에</a:t>
            </a:r>
            <a:r>
              <a:rPr lang="ko-KR" altLang="en-US" sz="1400" spc="-50" dirty="0"/>
              <a:t> 의한 개선의 예시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86406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4382C-45F4-B905-B794-81C133ACC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3D23E-958F-2CD7-19DE-C4FE8C4B2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스키토브스키</a:t>
            </a:r>
            <a:r>
              <a:rPr lang="ko-KR" altLang="en-US" dirty="0"/>
              <a:t>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1961DB-7A59-19D7-C14F-2E806097F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FB6350-D33C-70C0-5B4E-DBB419BD82DD}"/>
                  </a:ext>
                </a:extLst>
              </p:cNvPr>
              <p:cNvSpPr txBox="1"/>
              <p:nvPr/>
            </p:nvSpPr>
            <p:spPr>
              <a:xfrm>
                <a:off x="288790" y="775964"/>
                <a:ext cx="11693660" cy="299934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논의에서 자원의 </a:t>
                </a:r>
                <a:r>
                  <a:rPr lang="ko-KR" altLang="en-US" sz="1600" spc="-50" dirty="0" err="1"/>
                  <a:t>재배분</a:t>
                </a:r>
                <a:r>
                  <a:rPr lang="ko-KR" altLang="en-US" sz="1600" spc="-50" dirty="0"/>
                  <a:t> 과정에서 원래의 효용가능경계가 그대로 유지된다는 보장이 없다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그림에서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어떤 </a:t>
                </a:r>
                <a:r>
                  <a:rPr lang="ko-KR" altLang="en-US" sz="1600" spc="-50" dirty="0" err="1"/>
                  <a:t>자원배분하에서</a:t>
                </a:r>
                <a:r>
                  <a:rPr lang="ko-KR" altLang="en-US" sz="1600" spc="-50" dirty="0"/>
                  <a:t> 효용가능경계가 곡선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𝑈𝑃𝐹</m:t>
                    </m:r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주어져 있고</a:t>
                </a:r>
                <a:r>
                  <a:rPr lang="en-US" altLang="ko-KR" sz="1600" spc="-50" dirty="0"/>
                  <a:t>, A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ko-KR" altLang="en-US" sz="1600" spc="-50" dirty="0"/>
                  <a:t>점에서의 효용수준을 누리고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자원 재배분이 이루어진 후 효용가능경계는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𝑈𝑃𝐹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변하고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두 사람은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dirty="0"/>
                  <a:t>점에서 효용을 누리는 상황으로 변했다고 하자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새로운 효용가능경계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𝑈𝑃𝐹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를 기준으로 보면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ko-KR" altLang="en-US" sz="1600" spc="-50" dirty="0"/>
                  <a:t>점에서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dirty="0"/>
                  <a:t>점으로의 변화는 </a:t>
                </a:r>
                <a:r>
                  <a:rPr lang="ko-KR" altLang="en-US" sz="1600" dirty="0" err="1"/>
                  <a:t>칼도기준에</a:t>
                </a:r>
                <a:r>
                  <a:rPr lang="ko-KR" altLang="en-US" sz="1600" dirty="0"/>
                  <a:t> 의한 개선이다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그러나 원래의 효용가능경계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𝑈𝑃𝐹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를 기준으로 본다면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그 반대 방향으로의 변화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dirty="0"/>
                  <a:t>점에서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ko-KR" altLang="en-US" sz="1600" spc="-50" dirty="0"/>
                  <a:t>점으로의 변화 역시 </a:t>
                </a:r>
                <a:r>
                  <a:rPr lang="ko-KR" altLang="en-US" sz="1600" spc="-50" dirty="0" err="1"/>
                  <a:t>칼도기준에</a:t>
                </a:r>
                <a:r>
                  <a:rPr lang="ko-KR" altLang="en-US" sz="1600" spc="-50" dirty="0"/>
                  <a:t> 의한 개선이다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 방향으로의 변화가 개선이고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동시에 그 반대 방향으로의 변화도 개선이라는 </a:t>
                </a:r>
                <a:r>
                  <a:rPr lang="ko-KR" altLang="en-US" sz="1600" spc="-50" dirty="0" err="1"/>
                  <a:t>납득할수</a:t>
                </a:r>
                <a:r>
                  <a:rPr lang="ko-KR" altLang="en-US" sz="1600" spc="-50" dirty="0"/>
                  <a:t> 없는 결과이다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ko-KR" alt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FB6350-D33C-70C0-5B4E-DBB419BD8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775964"/>
                <a:ext cx="11693660" cy="2999347"/>
              </a:xfrm>
              <a:prstGeom prst="rect">
                <a:avLst/>
              </a:prstGeom>
              <a:blipFill>
                <a:blip r:embed="rId2"/>
                <a:stretch>
                  <a:fillRect r="-1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43CAE32-CA2A-24E2-2E67-E8B33917B99B}"/>
              </a:ext>
            </a:extLst>
          </p:cNvPr>
          <p:cNvSpPr txBox="1"/>
          <p:nvPr/>
        </p:nvSpPr>
        <p:spPr>
          <a:xfrm>
            <a:off x="7819115" y="3693264"/>
            <a:ext cx="27917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스키토브스키기준의</a:t>
            </a:r>
            <a:r>
              <a:rPr lang="ko-KR" altLang="en-US" sz="1400" spc="-50" dirty="0"/>
              <a:t> 예시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D147B1-44DF-DE7A-AE67-263D7E7CC802}"/>
              </a:ext>
            </a:extLst>
          </p:cNvPr>
          <p:cNvSpPr txBox="1"/>
          <p:nvPr/>
        </p:nvSpPr>
        <p:spPr>
          <a:xfrm>
            <a:off x="288790" y="3480182"/>
            <a:ext cx="6882477" cy="18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이런 경우에 대비해 </a:t>
            </a:r>
            <a:r>
              <a:rPr lang="ko-KR" altLang="en-US" sz="1600" spc="-50" dirty="0" err="1"/>
              <a:t>스키토브스키는</a:t>
            </a:r>
            <a:r>
              <a:rPr lang="ko-KR" altLang="en-US" sz="1600" spc="-50" dirty="0"/>
              <a:t> 다음과 같은 기준을 제시했다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50" dirty="0" err="1"/>
              <a:t>스키토브스키</a:t>
            </a:r>
            <a:r>
              <a:rPr lang="ko-KR" altLang="en-US" sz="1600" b="1" spc="-50" dirty="0"/>
              <a:t> 기준</a:t>
            </a:r>
            <a:r>
              <a:rPr lang="en-US" altLang="ko-KR" sz="1600" b="1" spc="-50" dirty="0"/>
              <a:t>: </a:t>
            </a:r>
            <a:r>
              <a:rPr lang="ko-KR" altLang="en-US" sz="1600" spc="-50" dirty="0"/>
              <a:t>어떤 변화에 대해 </a:t>
            </a:r>
            <a:r>
              <a:rPr lang="ko-KR" altLang="en-US" sz="1600" spc="-50" dirty="0" err="1"/>
              <a:t>칼도기준을</a:t>
            </a:r>
            <a:r>
              <a:rPr lang="ko-KR" altLang="en-US" sz="1600" spc="-50" dirty="0"/>
              <a:t> 적용해 그것이 개선임이 밝혀지고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동시에 그 반대방향으로의 변화는 </a:t>
            </a:r>
            <a:r>
              <a:rPr lang="ko-KR" altLang="en-US" sz="1600" spc="-50" dirty="0" err="1"/>
              <a:t>칼도기준에</a:t>
            </a:r>
            <a:r>
              <a:rPr lang="ko-KR" altLang="en-US" sz="1600" spc="-50" dirty="0"/>
              <a:t> 의해 개선이 아니라는 것이 확인되었을 때에 한해 그 변화가 개선이라고 말할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2" name="그림 11" descr="라인, 도표, 폰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3327C9-6DDC-AA41-C7BA-9B8747646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50" y="4063645"/>
            <a:ext cx="2743200" cy="242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40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54030-EE66-1D49-5831-3079C95A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5FEC7-845B-A980-D40B-E0A406C4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보상의 원칙에 대한 비판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F865A6-4BCD-2C0E-B1AF-FD54B4340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BD102-EA56-F6FD-A838-DD6B3B34C286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살펴본 보상의 원칙은 개인간의 효용비교라는 문제를 잠재적 보상이라는 개념을 통해 우회하고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보몰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W.Baumol</a:t>
            </a:r>
            <a:r>
              <a:rPr lang="en-US" altLang="ko-KR" sz="1600" spc="-50" dirty="0"/>
              <a:t>), </a:t>
            </a:r>
            <a:r>
              <a:rPr lang="ko-KR" altLang="en-US" sz="1600" spc="-50" dirty="0" err="1"/>
              <a:t>버그슨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A.Bergson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같은 경제학자들은 이것이 문제 해결이 아니라 단지 문제 회피라고 비판한다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실제로 보상이 이루어지는 것을 요구하지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가상적으로 보상이 이루어지는 것을 상정할 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</a:t>
            </a:r>
            <a:r>
              <a:rPr lang="en-US" altLang="ko-KR" sz="1600" spc="-50" dirty="0"/>
              <a:t>A</a:t>
            </a:r>
            <a:r>
              <a:rPr lang="ko-KR" altLang="en-US" sz="1600" spc="-50" dirty="0" err="1"/>
              <a:t>에게의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원은 </a:t>
            </a:r>
            <a:r>
              <a:rPr lang="en-US" altLang="ko-KR" sz="1600" spc="-50" dirty="0"/>
              <a:t>B</a:t>
            </a:r>
            <a:r>
              <a:rPr lang="ko-KR" altLang="en-US" sz="1600" spc="-50" dirty="0" err="1"/>
              <a:t>에게의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원과 같은 사회적 의미를 가진다는 암묵적인 가정하에서 개인간 이득과 손실을 비교한다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가 재벌 총수이고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는 노숙자라고 할 때 이와 같은 평가가 정당화 되기는 힘들다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버그슨은</a:t>
            </a:r>
            <a:r>
              <a:rPr lang="ko-KR" altLang="en-US" sz="1600" spc="-50" dirty="0"/>
              <a:t> 위처럼 적절하지 못한 근거를 토대로 개인간의 효용비교를 하는 것보다는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명백한 가치판단이 전제된 상황에서 평가를 하는 것이 낫다고 주장한다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기수적</a:t>
            </a:r>
            <a:r>
              <a:rPr lang="ko-KR" altLang="en-US" sz="1600" spc="-50" dirty="0"/>
              <a:t> 사회후생함수를 설정해놓고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기초해 변화의 개선 여부를 판단하자는 의미다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</a:t>
            </a:r>
            <a:r>
              <a:rPr lang="ko-KR" altLang="en-US" sz="1600" spc="-50" dirty="0" err="1"/>
              <a:t>기수적</a:t>
            </a:r>
            <a:r>
              <a:rPr lang="ko-KR" altLang="en-US" sz="1600" spc="-50" dirty="0"/>
              <a:t> 사회후생함수는 개인의 </a:t>
            </a:r>
            <a:r>
              <a:rPr lang="ko-KR" altLang="en-US" sz="1600" spc="-50" dirty="0" err="1"/>
              <a:t>기수적</a:t>
            </a:r>
            <a:r>
              <a:rPr lang="ko-KR" altLang="en-US" sz="1600" spc="-50" dirty="0"/>
              <a:t> 효용수준을 통합하여 사회후생의 수준을 하나의 구체적인 숫자로 표현해줄 수 있는 함수를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또 문제는 이 같은 사회후생함수를 만들어 내는 것이 가능한지에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다음 절에서 자세히 살펴보자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5771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214F2-D44D-2602-3DA0-40817476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DD006E-603C-1BA3-2FDC-771147DE0D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D3AF6-0ACA-8938-2B3B-8D960EBB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1526CCA-895C-B9E5-0E75-BD5B276F7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r>
              <a:rPr lang="ko-KR" altLang="en-US" sz="4000" b="1" i="0" spc="150" dirty="0"/>
              <a:t>사회후생함수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035248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749A-C650-9F02-AF10-00C847B2C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F55D0-6F66-7D97-EB6B-F92230F4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사회후생함수의 의미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FE0E79-87B5-C700-DA80-5103AEE1A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95950E-4A55-FCBB-A1D0-65FD6B27EE7C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A, B </a:t>
                </a:r>
                <a:r>
                  <a:rPr lang="ko-KR" altLang="en-US" sz="1600" spc="-50" dirty="0"/>
                  <a:t>두 사람으로 구성된 어떤 한 사회에 대해 아래와 같이 정의되는 </a:t>
                </a:r>
                <a:r>
                  <a:rPr lang="ko-KR" altLang="en-US" sz="1600" b="1" spc="-50" dirty="0"/>
                  <a:t>사회후생함수</a:t>
                </a:r>
                <a:r>
                  <a:rPr lang="ko-KR" altLang="en-US" sz="1600" spc="-50" dirty="0"/>
                  <a:t>가 존재한다면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두 사람의 효용수준이 어떤 조합으로 주어진다 해도 그것과 관련된 사회후생의 수준을 알아낼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이 함수만 알고 있으면 어떤 변화가 개선인지 그 여부를 즉각 판단할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b="1" spc="-50" dirty="0"/>
                  <a:t>사회후생함수</a:t>
                </a:r>
                <a:r>
                  <a:rPr lang="en-US" altLang="ko-KR" sz="1600" b="1" spc="-50" dirty="0"/>
                  <a:t>: </a:t>
                </a:r>
                <a:r>
                  <a:rPr lang="ko-KR" altLang="en-US" sz="1600" spc="-50" dirty="0"/>
                  <a:t>두 사람의 효용수준이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주어졌을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다음과 같은 관계를 사회후생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𝑆𝑊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수준을 그 </a:t>
                </a:r>
                <a:r>
                  <a:rPr lang="ko-KR" altLang="en-US" sz="1600" spc="-50" dirty="0" err="1"/>
                  <a:t>함수값으로</a:t>
                </a:r>
                <a:r>
                  <a:rPr lang="ko-KR" altLang="en-US" sz="1600" spc="-50" dirty="0"/>
                  <a:t> 나타내 주는 것을 사회후생함수라고 부른다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 사회후생함수는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의 효용수준이 주어져 있을 때 이를 종합하여 하나의 사회후생 수준으로 바꿔주는 역할을 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본 보상의 원칙은 개인간 효용비교 문제를 우회하려 했던 데 비해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사회후생함수에 의한 평가는 주관적인 가치판단을 직접 도입하여 이 문제를 정면으로 해결하고자 한다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그러나 이 역시 사람마다 제각기 다른 가치판단을 갖고 있으므로 모든 사람이 흔쾌히 동의할 수 있는 사회후생함수를 찾기 어렵다는 데 근본적인 어려움이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95950E-4A55-FCBB-A1D0-65FD6B27E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4846007"/>
              </a:xfrm>
              <a:prstGeom prst="rect">
                <a:avLst/>
              </a:prstGeom>
              <a:blipFill>
                <a:blip r:embed="rId2"/>
                <a:stretch>
                  <a:fillRect r="-1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90AC98-E895-F333-67BD-0B49AC0D1841}"/>
                  </a:ext>
                </a:extLst>
              </p:cNvPr>
              <p:cNvSpPr txBox="1"/>
              <p:nvPr/>
            </p:nvSpPr>
            <p:spPr>
              <a:xfrm>
                <a:off x="1758543" y="2872201"/>
                <a:ext cx="2867986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20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𝑆𝑊</m:t>
                      </m:r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90AC98-E895-F333-67BD-0B49AC0D1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543" y="2872201"/>
                <a:ext cx="2867986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557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31731-8A87-93FC-6189-30BF1152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B7D61-1C2C-DD5C-CE53-85C7D1CB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사회무차별곡선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BEF756-A0FE-8A7A-DB36-544A78D0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6473E6-1B72-7BAF-D6A1-92B65C616A8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미시경제학의 소비자이론에서는 소비자의 효용함수로부터 똑같은 수준의 효용을 주는 </a:t>
                </a:r>
                <a:r>
                  <a:rPr lang="ko-KR" altLang="en-US" sz="1600" spc="-50" dirty="0" err="1"/>
                  <a:t>상품묶음들의</a:t>
                </a:r>
                <a:r>
                  <a:rPr lang="ko-KR" altLang="en-US" sz="1600" spc="-50" dirty="0"/>
                  <a:t> 집합을 나타내는 무차별곡선을 도출했었다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마찬가지로 사회후생함수로부터 똑같은 수준의 사회후생을 가져다 주는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조합들로 만들어지는 </a:t>
                </a:r>
                <a:r>
                  <a:rPr lang="ko-KR" altLang="en-US" sz="1600" spc="-50" dirty="0" err="1"/>
                  <a:t>사회무차별곡선을</a:t>
                </a:r>
                <a:r>
                  <a:rPr lang="ko-KR" altLang="en-US" sz="1600" spc="-50" dirty="0"/>
                  <a:t> 도출할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사회후생함수가 내포하는 가치판단의 성격은 </a:t>
                </a:r>
                <a:r>
                  <a:rPr lang="ko-KR" altLang="en-US" sz="1600" spc="-50" dirty="0" err="1"/>
                  <a:t>사회무차별곡선의</a:t>
                </a:r>
                <a:r>
                  <a:rPr lang="ko-KR" altLang="en-US" sz="1600" spc="-50" dirty="0"/>
                  <a:t> 모양에 반영되는데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대표적인 예로는 아래의 세 가지가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434975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600" b="1" spc="-50" dirty="0"/>
                  <a:t>공리주의적 가치판단</a:t>
                </a:r>
                <a:r>
                  <a:rPr lang="en-US" altLang="ko-KR" sz="1600" spc="-50" dirty="0"/>
                  <a:t>: </a:t>
                </a:r>
                <a:r>
                  <a:rPr lang="ko-KR" altLang="en-US" sz="1600" spc="-50" dirty="0" err="1"/>
                  <a:t>벤담</a:t>
                </a:r>
                <a:r>
                  <a:rPr lang="en-US" altLang="ko-KR" sz="1600" spc="-50" dirty="0"/>
                  <a:t>(</a:t>
                </a:r>
                <a:r>
                  <a:rPr lang="en-US" altLang="ko-KR" sz="1600" spc="-50" dirty="0" err="1"/>
                  <a:t>J.Bentham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류의 가장 단순한 공리주의적 가치판단을 반영하는 사회후생함수는 다음과 같이 개인의 효용을 단순히 더한 것으로 사회후생을 정의하고 있다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+mj-lt"/>
                  <a:buAutoNum type="arabicPeriod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r>
                  <a:rPr lang="ko-KR" altLang="en-US" sz="1600" spc="-50" dirty="0"/>
                  <a:t> </a:t>
                </a:r>
                <a:endParaRPr lang="en-US" altLang="ko-KR" sz="1600" spc="-50" dirty="0"/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 사회후생은 두 사람 사이에 효용이 어떻게 분배되는지 관계없이 단지 개인 효용의 합에 의해서만 결정된다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+mj-lt"/>
                  <a:buAutoNum type="arabicPeriod"/>
                </a:pPr>
                <a:endParaRPr lang="en-US" altLang="ko-KR" sz="1600" spc="-50" dirty="0"/>
              </a:p>
              <a:p>
                <a:pPr marL="892175" lvl="1" indent="-342900">
                  <a:lnSpc>
                    <a:spcPct val="150000"/>
                  </a:lnSpc>
                  <a:buFont typeface="+mj-lt"/>
                  <a:buAutoNum type="arabicPeriod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6473E6-1B72-7BAF-D6A1-92B65C616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5215338"/>
              </a:xfrm>
              <a:prstGeom prst="rect">
                <a:avLst/>
              </a:prstGeom>
              <a:blipFill>
                <a:blip r:embed="rId2"/>
                <a:stretch>
                  <a:fillRect r="-1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A351FD-1F47-3CF9-2991-E26D1851DECE}"/>
                  </a:ext>
                </a:extLst>
              </p:cNvPr>
              <p:cNvSpPr txBox="1"/>
              <p:nvPr/>
            </p:nvSpPr>
            <p:spPr>
              <a:xfrm>
                <a:off x="1011930" y="4337615"/>
                <a:ext cx="2867986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20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𝑆𝑊</m:t>
                      </m:r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altLang="ko-KR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A351FD-1F47-3CF9-2991-E26D1851D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30" y="4337615"/>
                <a:ext cx="2867986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7471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AE7E1-AC6F-6554-7BF2-FAE584290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사회무차별곡선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65E33C-9F82-452C-79BE-14ED0B0E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CBB9DF-08C4-69C9-9C95-E49076570FC3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434975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600" b="1" spc="-50" dirty="0"/>
                  <a:t>공리주의적 가치판단</a:t>
                </a:r>
                <a:r>
                  <a:rPr lang="en-US" altLang="ko-KR" sz="1600" spc="-50" dirty="0"/>
                  <a:t>: </a:t>
                </a:r>
                <a:r>
                  <a:rPr lang="ko-KR" altLang="en-US" sz="1600" spc="-50" dirty="0" err="1"/>
                  <a:t>벤담</a:t>
                </a:r>
                <a:r>
                  <a:rPr lang="en-US" altLang="ko-KR" sz="1600" spc="-50" dirty="0"/>
                  <a:t>(</a:t>
                </a:r>
                <a:r>
                  <a:rPr lang="en-US" altLang="ko-KR" sz="1600" spc="-50" dirty="0" err="1"/>
                  <a:t>J.Bentham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류의 가장 단순한 공리주의적 가치판단을 반영하는 사회후생함수는 다음과 같이 개인의 효용을 단순히 더한 것으로 사회후생을 정의하고 있다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+mj-lt"/>
                  <a:buAutoNum type="arabicPeriod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r>
                  <a:rPr lang="ko-KR" altLang="en-US" sz="1600" spc="-50" dirty="0"/>
                  <a:t> </a:t>
                </a:r>
                <a:endParaRPr lang="en-US" altLang="ko-KR" sz="1600" spc="-50" dirty="0"/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 사회후생은 두 사람 사이에 효용이 어떻게 분배되는지 관계없이 단지 개인 효용의 합에 의해서만 결정된다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만약 사회후생함수가 위의 형태를 갖는다면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이로부터 도출되는 </a:t>
                </a:r>
                <a:r>
                  <a:rPr lang="ko-KR" altLang="en-US" sz="1600" spc="-50" dirty="0" err="1"/>
                  <a:t>사회무차별곡선은</a:t>
                </a:r>
                <a:r>
                  <a:rPr lang="ko-KR" altLang="en-US" sz="1600" spc="-50" dirty="0"/>
                  <a:t> 아래의 그림처럼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sz="1600" spc="-50" dirty="0"/>
                  <a:t>의 기울기를 가진 선분이 된다</a:t>
                </a:r>
                <a:r>
                  <a:rPr lang="en-US" altLang="ko-KR" sz="1600" spc="-50" dirty="0"/>
                  <a:t>. </a:t>
                </a:r>
              </a:p>
              <a:p>
                <a:pPr marL="1349375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어떤 한 사람이 낮은 효용수준을 갖는다고 해서 그의 효용수준에 더 큰 가중치를 부여하지 않는다는 점을 주의할 필요가 있다</a:t>
                </a:r>
                <a:r>
                  <a:rPr lang="en-US" altLang="ko-KR" sz="1600" spc="-50" dirty="0"/>
                  <a:t>.</a:t>
                </a:r>
              </a:p>
              <a:p>
                <a:pPr marL="892175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92175" lvl="1" indent="-342900">
                  <a:lnSpc>
                    <a:spcPct val="150000"/>
                  </a:lnSpc>
                  <a:buFont typeface="+mj-lt"/>
                  <a:buAutoNum type="arabicPeriod"/>
                </a:pPr>
                <a:endParaRPr lang="en-US" altLang="ko-KR" sz="1600" spc="-50" dirty="0"/>
              </a:p>
              <a:p>
                <a:pPr marL="892175" lvl="1" indent="-342900">
                  <a:lnSpc>
                    <a:spcPct val="150000"/>
                  </a:lnSpc>
                  <a:buFont typeface="+mj-lt"/>
                  <a:buAutoNum type="arabicPeriod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CBB9DF-08C4-69C9-9C95-E49076570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44766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475773-FE81-78DA-88E1-475819F91986}"/>
                  </a:ext>
                </a:extLst>
              </p:cNvPr>
              <p:cNvSpPr txBox="1"/>
              <p:nvPr/>
            </p:nvSpPr>
            <p:spPr>
              <a:xfrm>
                <a:off x="1011930" y="1812230"/>
                <a:ext cx="2867986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20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𝑆𝑊</m:t>
                      </m:r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altLang="ko-KR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475773-FE81-78DA-88E1-475819F91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30" y="1812230"/>
                <a:ext cx="2867986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0DEBCA-B533-C065-FB7C-1AA4DA95A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248" y="4512654"/>
            <a:ext cx="2357274" cy="20559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0B305B-78C8-2747-747E-2DBF39455E7C}"/>
              </a:ext>
            </a:extLst>
          </p:cNvPr>
          <p:cNvSpPr txBox="1"/>
          <p:nvPr/>
        </p:nvSpPr>
        <p:spPr>
          <a:xfrm>
            <a:off x="3604871" y="4204877"/>
            <a:ext cx="33537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사회무차별곡선</a:t>
            </a:r>
            <a:r>
              <a:rPr lang="en-US" altLang="ko-KR" sz="1400" spc="-50" dirty="0"/>
              <a:t>: </a:t>
            </a:r>
            <a:r>
              <a:rPr lang="ko-KR" altLang="en-US" sz="1400" spc="-50" dirty="0"/>
              <a:t>공리주의적 가치판단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88012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BCC7-59EF-833E-DBD2-6110DDE99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F7647-371F-D634-866E-202EC647F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사회무차별곡선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8D3A74-9798-61A8-3F8A-5C06CDBE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E37E6-0FC3-BDD4-D1F3-D17197F449A9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b="1" spc="-50" dirty="0"/>
              <a:t>평등주의적 가치판단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어떤 사람의 효용수준이 높을수록 더 작은 가중치를 적용하여 사회후생을 계산해야 한다는 개념이다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부자들로부터 가난한 </a:t>
            </a:r>
            <a:r>
              <a:rPr lang="ko-KR" altLang="en-US" sz="1600" spc="-50" dirty="0" err="1"/>
              <a:t>사람들에게로</a:t>
            </a:r>
            <a:r>
              <a:rPr lang="ko-KR" altLang="en-US" sz="1600" spc="-50" dirty="0"/>
              <a:t> 소득을 재분배해야 한다는 주장의 유력한 근거가 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평등주의적 가치판단을 반영한 </a:t>
            </a:r>
            <a:r>
              <a:rPr lang="ko-KR" altLang="en-US" sz="1600" spc="-50" dirty="0" err="1"/>
              <a:t>사회무차별곡선은</a:t>
            </a:r>
            <a:r>
              <a:rPr lang="ko-KR" altLang="en-US" sz="1600" spc="-50" dirty="0"/>
              <a:t> 아래와 같이 원점에 대해 볼록한 모양을 갖고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→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→</a:t>
            </a:r>
            <a:r>
              <a:rPr lang="en-US" altLang="ko-KR" sz="1600" spc="-50" dirty="0"/>
              <a:t>c </a:t>
            </a:r>
            <a:r>
              <a:rPr lang="ko-KR" altLang="en-US" sz="1600" spc="-50" dirty="0"/>
              <a:t>로 이동해 갈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곡선 기울기의 절대값이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→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→</a:t>
            </a:r>
            <a:r>
              <a:rPr lang="en-US" altLang="ko-KR" sz="1600" spc="-50" dirty="0"/>
              <a:t>1/3 </a:t>
            </a:r>
            <a:r>
              <a:rPr lang="ko-KR" altLang="en-US" sz="1600" spc="-50" dirty="0"/>
              <a:t>의 크기로 작아진다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점에서 </a:t>
            </a:r>
            <a:r>
              <a:rPr lang="ko-KR" altLang="en-US" sz="1600" spc="-50" dirty="0" err="1"/>
              <a:t>사회무차별곡선</a:t>
            </a:r>
            <a:r>
              <a:rPr lang="ko-KR" altLang="en-US" sz="1600" spc="-50" dirty="0"/>
              <a:t> 기울기의 절대값이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라는 것은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효용을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단위 감소시키고 그 대신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효용을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 증가시키면 사회후생은 예전 수준에서 변함이 없다는 의미를 갖는다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점에서는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한계효용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효용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단위보다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배 더 큰 사회적 중요성을 갖고 있다는 뜻과 같다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점으로 이동함에 따라 기울기가 완만해지면서</a:t>
            </a:r>
            <a:r>
              <a:rPr lang="en-US" altLang="ko-KR" sz="1600" spc="-50" dirty="0"/>
              <a:t> A</a:t>
            </a:r>
            <a:r>
              <a:rPr lang="ko-KR" altLang="en-US" sz="1600" spc="-50" dirty="0"/>
              <a:t>의 한계효용이 갖는 상대적 중요성은 점차 작아진다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A6351-BF9E-8349-1C53-AC1857AFBED0}"/>
              </a:ext>
            </a:extLst>
          </p:cNvPr>
          <p:cNvSpPr txBox="1"/>
          <p:nvPr/>
        </p:nvSpPr>
        <p:spPr>
          <a:xfrm>
            <a:off x="3604871" y="4204877"/>
            <a:ext cx="33537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사회무차별곡선</a:t>
            </a:r>
            <a:r>
              <a:rPr lang="en-US" altLang="ko-KR" sz="1400" spc="-50" dirty="0"/>
              <a:t>: </a:t>
            </a:r>
            <a:r>
              <a:rPr lang="ko-KR" altLang="en-US" sz="1400" spc="-50" dirty="0"/>
              <a:t>공리주의적 가치판단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pic>
        <p:nvPicPr>
          <p:cNvPr id="6" name="그림 5" descr="텍스트, 폰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F11263-CE85-D185-A07A-DBEB37FC4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829" y="4611126"/>
            <a:ext cx="2676936" cy="200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86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E700C-88F1-D757-D1E5-81FEB091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0B8EF-D04F-8E86-E4F2-46D0CABA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사회무차별곡선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25918B-8234-0DE1-4F65-A82D774D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6A3DF-B14A-29EF-7DB3-D2F32ADA12FC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600" b="1" spc="-50" dirty="0" err="1"/>
              <a:t>롤즈적</a:t>
            </a:r>
            <a:r>
              <a:rPr lang="ko-KR" altLang="en-US" sz="1600" b="1" spc="-50" dirty="0"/>
              <a:t> 가치판단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철학자 </a:t>
            </a:r>
            <a:r>
              <a:rPr lang="ko-KR" altLang="en-US" sz="1600" spc="-50" dirty="0" err="1"/>
              <a:t>롤즈</a:t>
            </a:r>
            <a:r>
              <a:rPr lang="en-US" altLang="ko-KR" sz="1600" spc="-50" dirty="0"/>
              <a:t>(J. Rawls)</a:t>
            </a:r>
            <a:r>
              <a:rPr lang="ko-KR" altLang="en-US" sz="1600" spc="-50" dirty="0"/>
              <a:t>는 한 사회에서 가장 못사는 사람의 생활수준을 가능한 한 가장 크게 개선시키는 것이 최우선 과제가 되어야 한다고 주장한다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살펴본 평등주의적 가치판단이 극단에 이르면 </a:t>
            </a:r>
            <a:r>
              <a:rPr lang="ko-KR" altLang="en-US" sz="1600" spc="-50" dirty="0" err="1"/>
              <a:t>롤즈적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사회무차별곡선이</a:t>
            </a:r>
            <a:r>
              <a:rPr lang="ko-KR" altLang="en-US" sz="1600" spc="-50" dirty="0"/>
              <a:t> 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소위 최소극대화 원칙이라고 불리며 다음과 같은 사회후생함수를 배경에 두고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사회후생함수의 모양은 아래와 같으며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 미시경제학의 생산자이론에서 나오는 </a:t>
            </a:r>
            <a:r>
              <a:rPr lang="ko-KR" altLang="en-US" sz="1600" spc="-50" dirty="0" err="1"/>
              <a:t>레온티에프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생산함수와 같은 형태를 갖는다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F85B17-9DA1-6599-6DE9-B1A0278056C3}"/>
              </a:ext>
            </a:extLst>
          </p:cNvPr>
          <p:cNvSpPr txBox="1"/>
          <p:nvPr/>
        </p:nvSpPr>
        <p:spPr>
          <a:xfrm>
            <a:off x="3604871" y="4204877"/>
            <a:ext cx="33537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사회무차별곡선</a:t>
            </a:r>
            <a:r>
              <a:rPr lang="en-US" altLang="ko-KR" sz="1400" spc="-50" dirty="0"/>
              <a:t>: </a:t>
            </a:r>
            <a:r>
              <a:rPr lang="ko-KR" altLang="en-US" sz="1400" spc="-50" dirty="0"/>
              <a:t>공리주의적 가치판단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9FAD22-9211-ACA5-8D55-89D37F11806E}"/>
                  </a:ext>
                </a:extLst>
              </p:cNvPr>
              <p:cNvSpPr txBox="1"/>
              <p:nvPr/>
            </p:nvSpPr>
            <p:spPr>
              <a:xfrm>
                <a:off x="1011930" y="2575628"/>
                <a:ext cx="2867986" cy="515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20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𝑆𝑊</m:t>
                      </m:r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b="0" i="0" spc="-5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altLang="ko-KR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i="1" spc="-5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9FAD22-9211-ACA5-8D55-89D37F118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30" y="2575628"/>
                <a:ext cx="2867986" cy="5156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라인, 텍스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E3538D-ABF6-AD18-368A-0C8354410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768" y="4639112"/>
            <a:ext cx="2628002" cy="20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711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3C71-6827-D9C9-848E-9D1044DA0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B129E-9AE3-5F55-8B73-E003C5FA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가장 바람직한 배분의 도출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F31075-409C-9CDC-125A-22F125ED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A7DEE8-B021-79FC-844C-3EA231C8B944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299934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슬라이드 </a:t>
                </a:r>
                <a:r>
                  <a:rPr lang="en-US" altLang="ko-KR" sz="1600" spc="-50" dirty="0"/>
                  <a:t>7</a:t>
                </a:r>
                <a:r>
                  <a:rPr lang="ko-KR" altLang="en-US" sz="1600" spc="-50" dirty="0"/>
                  <a:t>에서 본 효용가능경계 위의 모든 점들은 효율적인 자원배분을 대표하고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효율성만을 기준으로는 어떤 것이 가장 </a:t>
                </a:r>
                <a:r>
                  <a:rPr lang="ko-KR" altLang="en-US" sz="1600" spc="-50" dirty="0" err="1"/>
                  <a:t>바람직한지</a:t>
                </a:r>
                <a:r>
                  <a:rPr lang="ko-KR" altLang="en-US" sz="1600" spc="-50" dirty="0"/>
                  <a:t> 알 수 없기 때문에 공평성이라는 기준이 추가로 도입되어야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공평성에 대한 특정한 가치판단을 도입하면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이는 특정한 사회후생함수를 상정한다는 것을 의미한다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예컨대 평등주의적 가치판단을 도입한다고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이는 아래 그림과 같이 평등주의적 </a:t>
                </a:r>
                <a:r>
                  <a:rPr lang="ko-KR" altLang="en-US" sz="1600" spc="-50" dirty="0" err="1"/>
                  <a:t>사회무차별곡선을</a:t>
                </a:r>
                <a:r>
                  <a:rPr lang="ko-KR" altLang="en-US" sz="1600" spc="-50" dirty="0"/>
                  <a:t> 통해 효용가능경계 위에 있는 점들을 평가한다는 것을 의미한다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슬라이드</a:t>
                </a:r>
                <a:r>
                  <a:rPr lang="en-US" altLang="ko-KR" sz="1600" spc="-50" dirty="0"/>
                  <a:t> 7</a:t>
                </a:r>
                <a:r>
                  <a:rPr lang="ko-KR" altLang="en-US" sz="1600" spc="-50" dirty="0"/>
                  <a:t>에서 본 효용가능경계와 슬라이드 </a:t>
                </a:r>
                <a:r>
                  <a:rPr lang="en-US" altLang="ko-KR" sz="1600" spc="-50" dirty="0"/>
                  <a:t>29</a:t>
                </a:r>
                <a:r>
                  <a:rPr lang="ko-KR" altLang="en-US" sz="1600" spc="-50" dirty="0"/>
                  <a:t>에서 본 평등주의적 </a:t>
                </a:r>
                <a:r>
                  <a:rPr lang="ko-KR" altLang="en-US" sz="1600" spc="-50" dirty="0" err="1"/>
                  <a:t>사회무차별곡선을</a:t>
                </a:r>
                <a:r>
                  <a:rPr lang="ko-KR" altLang="en-US" sz="1600" spc="-50" dirty="0"/>
                  <a:t> 겹치도록 그린 것이다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그림을 보면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ko-KR" altLang="en-US" sz="1600" spc="-50" dirty="0"/>
                  <a:t>점이 사회적으로 가장 바람직한 배분 상태가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만약 이와 다른 가치판단을 전제로 하면 다른 점이 가장 바람직한 배분으로 평가되는 결과가 나올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A7DEE8-B021-79FC-844C-3EA231C8B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2999347"/>
              </a:xfrm>
              <a:prstGeom prst="rect">
                <a:avLst/>
              </a:prstGeom>
              <a:blipFill>
                <a:blip r:embed="rId2"/>
                <a:stretch>
                  <a:fillRect b="-16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9BF0E7-9317-4A3A-C4DB-0326E69BF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562" y="4526431"/>
            <a:ext cx="2795509" cy="205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DCEF7D-218C-ED66-31A7-253DCC4FE440}"/>
              </a:ext>
            </a:extLst>
          </p:cNvPr>
          <p:cNvSpPr txBox="1"/>
          <p:nvPr/>
        </p:nvSpPr>
        <p:spPr>
          <a:xfrm>
            <a:off x="3604870" y="4204877"/>
            <a:ext cx="41633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가장 바람직한 배분의 도출</a:t>
            </a:r>
            <a:r>
              <a:rPr lang="en-US" altLang="ko-KR" sz="1400" spc="-50" dirty="0"/>
              <a:t>: </a:t>
            </a:r>
            <a:r>
              <a:rPr lang="ko-KR" altLang="en-US" sz="1400" spc="-50" dirty="0"/>
              <a:t>평등주의적 가치판단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59517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9CECA-1F56-4C14-1242-53CAC044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2FCF9-EB7E-C260-50BB-EB7B3B31E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불가능성 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B7AA5F-E920-B3AB-4973-DEF4EB39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C431C-9966-7ACD-0B0C-D14DB9DB13BA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본 것처럼 적절한 사회후생함수만 갖고 있으면 후생경제학적 문제가 쉽게 풀린다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정작 문제는 그와 같은 사회후생함수가 실제로 존재할 수 있느냐 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애로우</a:t>
            </a:r>
            <a:r>
              <a:rPr lang="en-US" altLang="ko-KR" sz="1600" spc="-50" dirty="0"/>
              <a:t> (</a:t>
            </a:r>
            <a:r>
              <a:rPr lang="en-US" altLang="ko-KR" sz="1600" spc="-50" dirty="0" err="1"/>
              <a:t>K.Arrow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</a:t>
            </a:r>
            <a:r>
              <a:rPr lang="ko-KR" altLang="en-US" sz="1600" b="1" spc="-50" dirty="0"/>
              <a:t>불가능성정리</a:t>
            </a:r>
            <a:r>
              <a:rPr lang="ko-KR" altLang="en-US" sz="1600" spc="-50" dirty="0"/>
              <a:t>를 통해 바람직하다고 생각할 수 있는 여러 성격을 두루 갖춘 사회적 선호체계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사회후생함수가 존재하지 않음을 입증했다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애로우는 사회적 선호체계가 가져야 할 바람직한 성격으로 다음의 다섯 가지 공리를 제시하였다</a:t>
            </a:r>
            <a:r>
              <a:rPr lang="en-US" altLang="ko-KR" sz="1600" spc="-50" dirty="0"/>
              <a:t>.</a:t>
            </a:r>
          </a:p>
          <a:p>
            <a:pPr marL="1006475" lvl="2">
              <a:lnSpc>
                <a:spcPct val="150000"/>
              </a:lnSpc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보편성</a:t>
            </a:r>
            <a:r>
              <a:rPr lang="en-US" altLang="ko-KR" sz="1600" spc="-50" dirty="0"/>
              <a:t>,   </a:t>
            </a:r>
            <a:r>
              <a:rPr lang="ko-KR" altLang="en-US" sz="1600" spc="-50" dirty="0"/>
              <a:t>둘째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완비성과 </a:t>
            </a:r>
            <a:r>
              <a:rPr lang="ko-KR" altLang="en-US" sz="1600" spc="-50" dirty="0" err="1"/>
              <a:t>이행성</a:t>
            </a:r>
            <a:r>
              <a:rPr lang="en-US" altLang="ko-KR" sz="1600" spc="-50" dirty="0"/>
              <a:t>,   </a:t>
            </a:r>
            <a:r>
              <a:rPr lang="ko-KR" altLang="en-US" sz="1600" spc="-50" dirty="0"/>
              <a:t>셋째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파레토원칙</a:t>
            </a:r>
            <a:r>
              <a:rPr lang="en-US" altLang="ko-KR" sz="1600" spc="-50" dirty="0"/>
              <a:t>,   </a:t>
            </a:r>
            <a:r>
              <a:rPr lang="ko-KR" altLang="en-US" sz="1600" spc="-50" dirty="0"/>
              <a:t>넷째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비독재성</a:t>
            </a:r>
            <a:r>
              <a:rPr lang="en-US" altLang="ko-KR" sz="1600" spc="-50" dirty="0"/>
              <a:t>,   </a:t>
            </a:r>
            <a:r>
              <a:rPr lang="ko-KR" altLang="en-US" sz="1600" spc="-50" dirty="0"/>
              <a:t>다섯째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제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의 선택가능성으로부터의 독립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다섯가지 공리를 동시에 충족시키는 사회적 선호체계가 존재하지 않는다는 것이 불가능성정리의 내용이다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애로우가 제시한 다섯 가지 공리를 동시에 충족시켜야 한다는 조건은 너무 강한 요구라는 견지에서 다른 경제학자들은 어떤 한 공리를 포기하면 나머지 공리들은 만족시킬 수 있는 사회후생함수가 존재할 수 있음을 보여준 바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어떤 연구도 불가능성정리가 제기하는 문제를 완전히 해결하지는 못했다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애로우가 찾으려고 했던 완벽한 사회적 선호체계를 찾을 수 없다고 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현실에서 우리가 직면하는 제한된 선택지 사이에서도 합리적인 선택을 하지 못한다고 말할 수는 없다</a:t>
            </a:r>
            <a:r>
              <a:rPr lang="en-US" altLang="ko-KR" sz="1600" spc="-50" dirty="0"/>
              <a:t>.	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애로우처럼 최소한의 가치판단만을 전제하는 것이 아니고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버그슨처럼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25) </a:t>
            </a:r>
            <a:r>
              <a:rPr lang="ko-KR" altLang="en-US" sz="1600" spc="-50" dirty="0"/>
              <a:t>가치판단 기준을 적극적으로 도입하여 사회후생을 평가하는 것도 하나의 대안이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가치판단의 개입을 극단적으로 억제한 상태에서는 사회적 후생 평가 그 자체가 불가능해질 수 밖에 없다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43039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F5AD-2A25-4B00-BAF7-3298CA61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DDD672-613B-79BE-6568-FB41DA3A15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8B977F-7C6F-B953-7648-CCDBD8FF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CE3EE6-6BAB-40C5-189A-3EEE89385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7. </a:t>
            </a:r>
            <a:r>
              <a:rPr lang="ko-KR" altLang="en-US" sz="4000" b="1" i="0" spc="150" dirty="0"/>
              <a:t>차선의 이론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641975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4174-1F3E-5BC5-7A1B-C4006B406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14CC4-EF29-8B2E-16B4-2DDF226E5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차선의 이론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9CDB2-50AD-BCEB-0B74-6B09833D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A7597-B276-675E-26FC-A85CE9627776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어떤 한 경제에서 효율적인 자원배분을 위해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 sz="1600" spc="-50" dirty="0"/>
                  <a:t>개의 조건이 동시에 만족되어야 한다고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 sz="1600" spc="-50" dirty="0"/>
                  <a:t>개의 조건이 모두 충족되면 우리는 </a:t>
                </a:r>
                <a:r>
                  <a:rPr lang="ko-KR" altLang="en-US" sz="1600" spc="-50" dirty="0" err="1"/>
                  <a:t>파레토최적배분이</a:t>
                </a:r>
                <a:r>
                  <a:rPr lang="ko-KR" altLang="en-US" sz="1600" spc="-50" dirty="0"/>
                  <a:t> 달성되었다고 말할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그런데 현실에서 어떤 제약 때문에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 sz="1600" spc="-50" dirty="0"/>
                  <a:t>개의 조건 중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한 개의 효율성 조건이 충족될 수 없는 상황이 발생했다고 해보자</a:t>
                </a:r>
                <a:r>
                  <a:rPr lang="en-US" altLang="ko-KR" sz="1600" spc="-50" dirty="0"/>
                  <a:t>.</a:t>
                </a:r>
              </a:p>
              <a:p>
                <a:pPr marL="549275" lvl="1">
                  <a:lnSpc>
                    <a:spcPct val="150000"/>
                  </a:lnSpc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여기서 현실의 제약은 불완전경쟁 혹은 정부의 조세정책이 될 수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이들의 존재가 가격이 한계비용과 같아야 한다는 효율성 조건이 충족되지 못하게 만든다</a:t>
                </a:r>
                <a:r>
                  <a:rPr lang="en-US" altLang="ko-KR" sz="1600" spc="-50" dirty="0"/>
                  <a:t>.)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우리의 직관에 따르면 최선의 배분이 불가능할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나머지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sz="1600" spc="-50" dirty="0"/>
                  <a:t>개의 효율성 조건이라도 모두 충족되는 상태가 차선의 결과라고 생각하기 쉽다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</a:t>
                </a:r>
                <a:r>
                  <a:rPr lang="ko-KR" altLang="en-US" sz="1600" spc="-50" dirty="0" err="1"/>
                  <a:t>립시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 err="1"/>
                  <a:t>랭카스터</a:t>
                </a:r>
                <a:r>
                  <a:rPr lang="en-US" altLang="ko-KR" sz="1600" spc="-50" dirty="0"/>
                  <a:t> (</a:t>
                </a:r>
                <a:r>
                  <a:rPr lang="en-US" altLang="ko-KR" sz="1600" spc="-50" dirty="0" err="1"/>
                  <a:t>R.Lipsey</a:t>
                </a:r>
                <a:r>
                  <a:rPr lang="en-US" altLang="ko-KR" sz="1600" spc="-50" dirty="0"/>
                  <a:t> and K. Lancaster)</a:t>
                </a:r>
                <a:r>
                  <a:rPr lang="ko-KR" altLang="en-US" sz="1600" spc="-50" dirty="0"/>
                  <a:t>는 이러한 직관이 반드시 들어맞는 것은 아님을 증명했다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</a:t>
                </a:r>
                <a:r>
                  <a:rPr lang="ko-KR" altLang="en-US" sz="1600" b="1" spc="-50" dirty="0"/>
                  <a:t>차선의 이론</a:t>
                </a:r>
                <a:r>
                  <a:rPr lang="ko-KR" altLang="en-US" sz="1600" spc="-50" dirty="0"/>
                  <a:t>은 하나 이상의 효율성 조건이 이미 파괴되어 있는 상태에서는 효율성 조건의 수가 많아진다고 해서 사회적 후생이 더욱 커진다는 보장이 없다는 것을 의미한다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 sz="1600" spc="-50" dirty="0"/>
                  <a:t>개의 효율성 조건 중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개가 충족되지 못하고 있는 상황이</a:t>
                </a:r>
                <a:r>
                  <a:rPr lang="en-US" altLang="ko-KR" sz="1600" spc="-50" dirty="0"/>
                  <a:t>, 3</a:t>
                </a:r>
                <a:r>
                  <a:rPr lang="ko-KR" altLang="en-US" sz="1600" spc="-50" dirty="0"/>
                  <a:t>개가 충족되고 있지 못한 상황에 비해 반드시 더 낫다고 말할 수 없다는 뜻이다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조세제도 개혁 등의 경제 조치들을 추진할 때 비합리성의 부분적인 제거를 통해 점진적 개선을 쓰는 경우가 많은데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차선의 이론은 이와 같은 점진적 개혁이 부정적 결과를 가져올 수도 있다는 점을 경고하고 있다</a:t>
                </a:r>
                <a:r>
                  <a:rPr lang="en-US" altLang="ko-KR" sz="1600" spc="-50"/>
                  <a:t>.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A7597-B276-675E-26FC-A85CE9627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5215338"/>
              </a:xfrm>
              <a:prstGeom prst="rect">
                <a:avLst/>
              </a:prstGeom>
              <a:blipFill>
                <a:blip r:embed="rId2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889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8339</TotalTime>
  <Words>3694</Words>
  <Application>Microsoft Office PowerPoint</Application>
  <PresentationFormat>와이드스크린</PresentationFormat>
  <Paragraphs>327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2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재 정 학</vt:lpstr>
      <vt:lpstr>Chapter 3  후생경제학</vt:lpstr>
      <vt:lpstr>Section 1. 후생 평가의 기준</vt:lpstr>
      <vt:lpstr>후생 평가의 기준</vt:lpstr>
      <vt:lpstr>후생 평가의 기준</vt:lpstr>
      <vt:lpstr>Section 2. 자원배분의 효율성</vt:lpstr>
      <vt:lpstr>파레토 효율성</vt:lpstr>
      <vt:lpstr>완전경쟁과 자원배분의 효율성</vt:lpstr>
      <vt:lpstr>Section 3. 시장의 실패</vt:lpstr>
      <vt:lpstr>시장의 실패</vt:lpstr>
      <vt:lpstr>시장의 실패</vt:lpstr>
      <vt:lpstr>시장의 실패와 정부 개입</vt:lpstr>
      <vt:lpstr>시장의 실패와 정부 개입</vt:lpstr>
      <vt:lpstr>Section 4. 분배의 공평성</vt:lpstr>
      <vt:lpstr>공평성의 의미</vt:lpstr>
      <vt:lpstr>공평성과 효율성</vt:lpstr>
      <vt:lpstr>Section 5. 보상의 원칙</vt:lpstr>
      <vt:lpstr>보상의 원칙</vt:lpstr>
      <vt:lpstr>파레토기준</vt:lpstr>
      <vt:lpstr>칼도기준</vt:lpstr>
      <vt:lpstr>칼도기준</vt:lpstr>
      <vt:lpstr>칼도기준</vt:lpstr>
      <vt:lpstr>스키토브스키 기준</vt:lpstr>
      <vt:lpstr>보상의 원칙에 대한 비판</vt:lpstr>
      <vt:lpstr>Section 6. 사회후생함수</vt:lpstr>
      <vt:lpstr>사회후생함수의 의미</vt:lpstr>
      <vt:lpstr>사회무차별곡선</vt:lpstr>
      <vt:lpstr>사회무차별곡선</vt:lpstr>
      <vt:lpstr>사회무차별곡선</vt:lpstr>
      <vt:lpstr>사회무차별곡선</vt:lpstr>
      <vt:lpstr>가장 바람직한 배분의 도출</vt:lpstr>
      <vt:lpstr>불가능성 정리</vt:lpstr>
      <vt:lpstr>Section 7. 차선의 이론</vt:lpstr>
      <vt:lpstr>차선의 이론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249</cp:revision>
  <dcterms:created xsi:type="dcterms:W3CDTF">2025-07-05T05:15:23Z</dcterms:created>
  <dcterms:modified xsi:type="dcterms:W3CDTF">2026-03-22T02:53:11Z</dcterms:modified>
</cp:coreProperties>
</file>