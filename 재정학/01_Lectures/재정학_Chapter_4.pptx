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9"/>
  </p:notesMasterIdLst>
  <p:sldIdLst>
    <p:sldId id="375" r:id="rId2"/>
    <p:sldId id="405" r:id="rId3"/>
    <p:sldId id="550" r:id="rId4"/>
    <p:sldId id="552" r:id="rId5"/>
    <p:sldId id="599" r:id="rId6"/>
    <p:sldId id="600" r:id="rId7"/>
    <p:sldId id="601" r:id="rId8"/>
    <p:sldId id="602" r:id="rId9"/>
    <p:sldId id="603" r:id="rId10"/>
    <p:sldId id="595" r:id="rId11"/>
    <p:sldId id="604" r:id="rId12"/>
    <p:sldId id="605" r:id="rId13"/>
    <p:sldId id="607" r:id="rId14"/>
    <p:sldId id="608" r:id="rId15"/>
    <p:sldId id="606" r:id="rId16"/>
    <p:sldId id="609" r:id="rId17"/>
    <p:sldId id="610" r:id="rId18"/>
    <p:sldId id="596" r:id="rId19"/>
    <p:sldId id="611" r:id="rId20"/>
    <p:sldId id="613" r:id="rId21"/>
    <p:sldId id="612" r:id="rId22"/>
    <p:sldId id="614" r:id="rId23"/>
    <p:sldId id="615" r:id="rId24"/>
    <p:sldId id="616" r:id="rId25"/>
    <p:sldId id="597" r:id="rId26"/>
    <p:sldId id="617" r:id="rId27"/>
    <p:sldId id="618" r:id="rId28"/>
    <p:sldId id="620" r:id="rId29"/>
    <p:sldId id="622" r:id="rId30"/>
    <p:sldId id="623" r:id="rId31"/>
    <p:sldId id="624" r:id="rId32"/>
    <p:sldId id="626" r:id="rId33"/>
    <p:sldId id="627" r:id="rId34"/>
    <p:sldId id="598" r:id="rId35"/>
    <p:sldId id="628" r:id="rId36"/>
    <p:sldId id="629" r:id="rId37"/>
    <p:sldId id="376" r:id="rId38"/>
    <p:sldId id="625" r:id="rId39"/>
    <p:sldId id="570" r:id="rId40"/>
    <p:sldId id="571" r:id="rId41"/>
    <p:sldId id="572" r:id="rId42"/>
    <p:sldId id="573" r:id="rId43"/>
    <p:sldId id="574" r:id="rId44"/>
    <p:sldId id="575" r:id="rId45"/>
    <p:sldId id="576" r:id="rId46"/>
    <p:sldId id="551" r:id="rId47"/>
    <p:sldId id="577" r:id="rId48"/>
    <p:sldId id="578" r:id="rId49"/>
    <p:sldId id="579" r:id="rId50"/>
    <p:sldId id="557" r:id="rId51"/>
    <p:sldId id="580" r:id="rId52"/>
    <p:sldId id="581" r:id="rId53"/>
    <p:sldId id="582" r:id="rId54"/>
    <p:sldId id="583" r:id="rId55"/>
    <p:sldId id="584" r:id="rId56"/>
    <p:sldId id="585" r:id="rId57"/>
    <p:sldId id="586" r:id="rId58"/>
    <p:sldId id="562" r:id="rId59"/>
    <p:sldId id="587" r:id="rId60"/>
    <p:sldId id="588" r:id="rId61"/>
    <p:sldId id="589" r:id="rId62"/>
    <p:sldId id="590" r:id="rId63"/>
    <p:sldId id="591" r:id="rId64"/>
    <p:sldId id="592" r:id="rId65"/>
    <p:sldId id="593" r:id="rId66"/>
    <p:sldId id="594" r:id="rId67"/>
    <p:sldId id="364" r:id="rId6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59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image" Target="../media/image47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470.png"/><Relationship Id="rId10" Type="http://schemas.openxmlformats.org/officeDocument/2006/relationships/image" Target="../media/image55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7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공공재의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공공재의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 </a:t>
            </a:r>
            <a:r>
              <a:rPr lang="en-US" altLang="ko-KR" sz="1600" spc="-50" dirty="0"/>
              <a:t>(public goods)</a:t>
            </a:r>
            <a:r>
              <a:rPr lang="ko-KR" altLang="en-US" sz="1600" spc="-50" dirty="0"/>
              <a:t>는 보통 생각하는 재화나 서비스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사적재화 혹은 </a:t>
            </a:r>
            <a:r>
              <a:rPr lang="en-US" altLang="ko-KR" sz="1600" spc="-50" dirty="0"/>
              <a:t>private goods)</a:t>
            </a:r>
            <a:r>
              <a:rPr lang="ko-KR" altLang="en-US" sz="1600" spc="-50" dirty="0"/>
              <a:t>와 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사람이 공동으로 그 소비에 참여한다는 특징을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펜 등의 것은 개인적인 차원에서 소비가 이루어지지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공동으로 소비하지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공원 등의 것은 여러 사람의 공동 소비를 위해 만들어졌다는 점에서 앞서 말한 것과 큰 차이가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책에서는 공공재를 다음과 같이 정의하고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집단의 어떤 사람을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어떤 사람에 의해 생산되는 즉시 그 집단의 모든 구성원이 함께 소비할 수 있는 재화나 서비스를 공공재라고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생산하여 공급하는 재화나 서비스 중 공공재의 성격을 갖는 것들이 많이 있는 것이 사실이다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공공재라는 것이 정부 혹은 공공기관에 의해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공급되는 재화나 서비스를 뜻하는 것으로 잘못 알고 있는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정부는 의료서비스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주택서비스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수돗물 등과 같이 사적재화의 성격을 갖는 것들을 공급하는 경우도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반대로 민간단체가 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 등 공공재의 성격을 갖는 것들을 공급하는 경우도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 공공재는 그 자체의 성격에 의해 규정되며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주체가 </a:t>
            </a:r>
            <a:r>
              <a:rPr lang="ko-KR" altLang="en-US" sz="1600" spc="-50" dirty="0" err="1"/>
              <a:t>누구냐에</a:t>
            </a:r>
            <a:r>
              <a:rPr lang="ko-KR" altLang="en-US" sz="1600" spc="-50" dirty="0"/>
              <a:t> 따라 규정되는 것이 아니다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8475F-B926-38D0-0D3E-46210803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AFAF0-B341-8AB7-D11A-8BB69119F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75C5D-E72D-0490-F175-D1A6720F9830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공공재 뿐 아니라 사적재화의 성격을 갖는 것도 공급하는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</a:t>
            </a:r>
            <a:r>
              <a:rPr lang="ko-KR" altLang="en-US" sz="1600" spc="-50" dirty="0" err="1"/>
              <a:t>가치재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(merit goods)</a:t>
            </a:r>
            <a:r>
              <a:rPr lang="ko-KR" altLang="en-US" sz="1600" spc="-50" dirty="0"/>
              <a:t>의 성격을 갖기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가치재는 개인의 선택에 맡길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일정수준 이상의 바람직한 상태까지 소비가 되지 않는 재화나 서비스를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모든 국민에게 최소한 일정 수준 이상의 혜택이 보장되어야 하는 재화에 대해서는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직접 공급하기로 결정하게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대표적인 예로는 의무교육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무료급식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예방접종 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공공재에 대한 가치평가는 사람마다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같은 양의 공공재를 소비한다고 해서 같은 편익을 얻는 것은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 토지에 대해 공원 조성을 원하는 사람이 있을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도로 건설을 원하는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780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5C48-76D8-4572-0B1F-F5479759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6CE04E-FE76-764A-E96C-9EA16AE79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835386-5E8A-24AD-EAEB-95044030E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공공재는 다음과 같은 두 가지 기본성격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비경합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비배제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갖기 때문에 사적재화와 명백하게 구분될 수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비경합성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/>
                  <a:t>어떤 사람이 이것을 소비한다고 해서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다른 사람의 소비 가능성이 줄어들지 않는다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개의 사탕이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개를 먹으면 다른 사람이 먹을 수 있는 사탕은 그만큼 줄어들게 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사탕은 경합성이 있는 재화이다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국방서비스는 내가 그 혜택을 누린다고 해서 다른 개인이 누릴 수 있는 안보 수준이 감소하지 않는다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국방서비스는 경합성이 없는 서비스이다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공공재가 생산되면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각각 소비할 수 있는 공공재의 양도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아래 그림의 파란색 실선</a:t>
                </a:r>
                <a:r>
                  <a:rPr lang="en-US" altLang="ko-KR" sz="1600" spc="-50" dirty="0"/>
                  <a:t>)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만약 사적재화 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사람이 소비하는 양을 합친 것이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되어야 한다</a:t>
                </a:r>
                <a:r>
                  <a:rPr lang="en-US" altLang="ko-KR" sz="1600" spc="-50" dirty="0"/>
                  <a:t>. ( </a:t>
                </a:r>
                <a:r>
                  <a:rPr lang="ko-KR" altLang="en-US" sz="1600" spc="-50" dirty="0"/>
                  <a:t>아래 그림의 빨간색 점선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그림 15">
            <a:extLst>
              <a:ext uri="{FF2B5EF4-FFF2-40B4-BE49-F238E27FC236}">
                <a16:creationId xmlns:a16="http://schemas.microsoft.com/office/drawing/2014/main" id="{F2DBEC5D-FF98-7E32-9249-38C506B73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600" y="4298951"/>
            <a:ext cx="2192299" cy="21922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3249D97-E3AA-76C3-C440-A720B2CDAAD9}"/>
              </a:ext>
            </a:extLst>
          </p:cNvPr>
          <p:cNvSpPr txBox="1"/>
          <p:nvPr/>
        </p:nvSpPr>
        <p:spPr>
          <a:xfrm>
            <a:off x="3564333" y="5682869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사적재화의 경우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49C33-EC9E-16A1-FA79-B1830B05F1DD}"/>
              </a:ext>
            </a:extLst>
          </p:cNvPr>
          <p:cNvSpPr txBox="1"/>
          <p:nvPr/>
        </p:nvSpPr>
        <p:spPr>
          <a:xfrm>
            <a:off x="5904733" y="4892526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공공재의 경우</a:t>
            </a:r>
            <a:endParaRPr lang="ko-KR" altLang="en-US" sz="9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94D442-C621-5F87-9E99-B56C4606093F}"/>
              </a:ext>
            </a:extLst>
          </p:cNvPr>
          <p:cNvSpPr txBox="1"/>
          <p:nvPr/>
        </p:nvSpPr>
        <p:spPr>
          <a:xfrm>
            <a:off x="874747" y="4974727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공공재와 사적재화의 소비가능 곡선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/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(B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blipFill>
                <a:blip r:embed="rId4"/>
                <a:stretch>
                  <a:fillRect l="-4854" t="-25000" r="-7282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/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(A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blipFill>
                <a:blip r:embed="rId5"/>
                <a:stretch>
                  <a:fillRect l="-4831" t="-25000" r="-7246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/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/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C6C490E6-D286-11B9-B8FC-C4DA7113FB91}"/>
              </a:ext>
            </a:extLst>
          </p:cNvPr>
          <p:cNvCxnSpPr>
            <a:cxnSpLocks/>
          </p:cNvCxnSpPr>
          <p:nvPr/>
        </p:nvCxnSpPr>
        <p:spPr>
          <a:xfrm flipV="1">
            <a:off x="4679950" y="5745276"/>
            <a:ext cx="610911" cy="53009"/>
          </a:xfrm>
          <a:prstGeom prst="bentConnector3">
            <a:avLst>
              <a:gd name="adj1" fmla="val 25054"/>
            </a:avLst>
          </a:prstGeom>
          <a:ln>
            <a:solidFill>
              <a:srgbClr val="FF00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E8C1EB25-907A-9984-F698-9C2091EFCF73}"/>
              </a:ext>
            </a:extLst>
          </p:cNvPr>
          <p:cNvCxnSpPr>
            <a:cxnSpLocks/>
          </p:cNvCxnSpPr>
          <p:nvPr/>
        </p:nvCxnSpPr>
        <p:spPr>
          <a:xfrm rot="5400000">
            <a:off x="6271555" y="5016822"/>
            <a:ext cx="170865" cy="383937"/>
          </a:xfrm>
          <a:prstGeom prst="bentConnector2">
            <a:avLst/>
          </a:prstGeom>
          <a:ln>
            <a:solidFill>
              <a:srgbClr val="2D72BE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767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966DB-990F-BB39-F362-385D9A5F9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898D8E-4B7C-725D-3E8C-4CCDD35D1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00D1F-9AB4-B438-A2DF-A6A85A15AB6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비배제성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대가를 지불하지 않더라도 소비에서 특정 사람을 배제하기 어렵거나 불가능하다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편의점에 진열되어 있는 과자가 맛있어 보인다고 해서 대가를 지불하지 않고 먹을 수는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편의점 상품은 배제성이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축제의 불꽃놀이는 입장권을 구매하지 않아도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사람이라면 볼 수 있는 경우가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이때 불꽃놀이는 배제성이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비배제성 때문에 공공재에 대해 양</a:t>
            </a:r>
            <a:r>
              <a:rPr lang="en-US" altLang="ko-KR" sz="1600" spc="-50" dirty="0"/>
              <a:t>(+)</a:t>
            </a:r>
            <a:r>
              <a:rPr lang="ko-KR" altLang="en-US" sz="1600" spc="-50" dirty="0"/>
              <a:t>의 가격을 매기려 해도 매길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설사 양의 가격을 매기는 것이 가능하다 해도 그렇게 하는 것은 바람직하지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비경합성도 갖기 때문에 한 명의 소비자를 소비에 추가로 참여시키는 데 드는 한계비용이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효율적인 자원배분을 위해서는 가격을 한계비용과 일치시키는 것이 바람직하므로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공공재의 가격은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원이라 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시장은 배제성이 적용되는 곳에서만 적절한 기능을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</a:t>
            </a:r>
            <a:r>
              <a:rPr lang="ko-KR" altLang="en-US" sz="1600" spc="-50" dirty="0" err="1"/>
              <a:t>살펴본대로</a:t>
            </a:r>
            <a:r>
              <a:rPr lang="ko-KR" altLang="en-US" sz="1600" spc="-50" dirty="0"/>
              <a:t> 공공재의 경우 양의 가격을 매길 수도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그렇게 하는 것이 바람직하지 않다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공공재를 시장을 통해 배분하는 것은 비효율적이 될 것임을 예상할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301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27E98E-66B5-EFB9-7D26-85AD8AD5B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불완전한 공공재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D8AB63-DAE9-02F1-7814-D5BBCB5FC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E9709-99BC-5194-2C80-D565B83F0A39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것처럼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순수한 공공재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라면 비경합성과 비배제성 이라는 두 가지 성격을 완전하게 갖고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현실에서 이 두 성격을 모두 갖는 순수한 공공재를 찾는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현실에서는 비경합성 혹은 비배제성 둘 중 한가지 성격만 갖고 있거나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또한 두 가지 성격을 갖고 있어도 불완전한 정도로 갖고 있는 경우가 흔하다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두가지 특성을 완전히 갖추지 못한 공공재는 순수하지 못한 공공재 </a:t>
            </a:r>
            <a:r>
              <a:rPr lang="ko-KR" altLang="en-US" sz="1600" spc="-50" dirty="0" err="1"/>
              <a:t>라고</a:t>
            </a:r>
            <a:r>
              <a:rPr lang="ko-KR" altLang="en-US" sz="1600" spc="-50" dirty="0"/>
              <a:t>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경합성을 가질 수 있는 공공재가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혼잡가능공공재라고 부르기도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도로가 대표적인 예로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위에 차가 많이 없을 때는 경합성이 없다가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차가 많아지면 경합성이 어느정도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박물관도 혼잡가능공공재의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배제성을 가질 수 있는 공공재도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유료로 운영이 되는 도로의 경우 배제성이 있는 도로가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등대 빛이 육안으로 쉽게 식별 가능하다면 배제성이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기술적으로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등대에서 특별한 신호를 내보내서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신호를 해독할 수 있는 장치가 있어야만 실제로 등대 서비스를 이용할 수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등대 서비스도 배제성이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1855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B567A-9B29-F57E-6F8F-C5F32D6C2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클럽 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4682F1-5C58-3FB8-7120-4ED9E1221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37F7B-CEAC-B863-5500-785A5BC07D75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(J. Buchanan, 1965)</a:t>
            </a:r>
            <a:r>
              <a:rPr lang="ko-KR" altLang="en-US" sz="1600" spc="-50" dirty="0"/>
              <a:t>은 비경합성이 있기는 하나 불완전하여 혼잡이 문제되는 재화나 서비스를 대상으로 하는 클럽 이론을 제시했다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헬스클럽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골프클럽의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많지 않을 때는 혼잡이 발생하지 않다가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수가 점차 불어나면서 혼잡의 문제가 발생하기 시작한다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이론은 클럽의 최적 규모와 최적 회원수의 규모를 찾아내고자 하는데 주안점을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클럽의 규모가 일정하게 주어진 상황에서 회원 수가 늘어남에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인당의 편익과 비용을 관찰해보자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주어진 규모의 클럽을 짓고 운영하는 데 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비용은 회원 수가 증가할 수록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증가할 수록 혼잡이 생겨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편익이 감소하기도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클럽의 회원 수를 주어진 것으로 하면 클럽의 규모에 따라 편익과 비용이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클럽의 회원 수가 주어져 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 규모가 크면 혼잡이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규모가 크면 혼잡은 없어지나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비용이 증가한다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두 가지 측면을 통합하면 최적인 클럽의 규모와 최적인 회원 수를 동시에 찾아낼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5425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6B78-4AE9-D95D-8B4C-5008A3D44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FF820A-FC3D-2E75-D8F0-A416453AF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1E20EC-46C2-1D74-84A1-E73EF374D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C22F06C-7DB9-D880-90E9-4FE9B7D92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공공재의 최적수준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456189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082C2-F834-1E84-0531-62A16179C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8523127" y="3796704"/>
            <a:ext cx="2586833" cy="28151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2B38785-0F55-1337-19AD-168023934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E5BB01-0221-000C-7271-87796026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사회적 관점에서 볼 때 어떤 수준에서 공공재를 생산하고 공급하는 것이 적절한지 논의 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사적재화와 마찬가지로 공공재 또한 수요와 공급에 의해 생산수준이 결정되는 것이 바람직하다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개인의 수요를 어떻게 시장의 수요로 통합해야 하는지 등 구체적인 도출과정에서 공공재의 특성이 드러난다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보통 상품에 대한 수요곡선을 구하는 경우와 마찬가지로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가격을 계속해서 변화시키면서 소비자의 선택점을 추적해보면 공공재에 대한 수요곡선을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사적재화의 가격이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이라 가정하고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경우 단위당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sz="1600" spc="-50" dirty="0"/>
                  <a:t>의 조세가격을 지불해야 하는 것으로 가정하자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이 때 소비자의 예산제약은 아래와 같은 식으로 나타낼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𝑝𝑍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  여기서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600" dirty="0"/>
                  <a:t>는 사용재의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dirty="0"/>
                  <a:t>는 공공재의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은 소득이다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수식을 그림으로 표현하면 오른쪽 그림과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𝐽𝐾</m:t>
                        </m:r>
                      </m:e>
                    </m:bar>
                  </m:oMath>
                </a14:m>
                <a:r>
                  <a:rPr lang="ko-KR" altLang="en-US" sz="1600" dirty="0"/>
                  <a:t>는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일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bar>
                  </m:oMath>
                </a14:m>
                <a:r>
                  <a:rPr lang="ko-KR" altLang="en-US" sz="1600" dirty="0"/>
                  <a:t>은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떨어졌을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떨어지면 수요량이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증가한다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blipFill>
                <a:blip r:embed="rId3"/>
                <a:stretch>
                  <a:fillRect r="-104" b="-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/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원호 40">
            <a:extLst>
              <a:ext uri="{FF2B5EF4-FFF2-40B4-BE49-F238E27FC236}">
                <a16:creationId xmlns:a16="http://schemas.microsoft.com/office/drawing/2014/main" id="{FA33CB24-2B7F-4633-15A0-B0A46904ED51}"/>
              </a:ext>
            </a:extLst>
          </p:cNvPr>
          <p:cNvSpPr/>
          <p:nvPr/>
        </p:nvSpPr>
        <p:spPr>
          <a:xfrm rot="11977327">
            <a:off x="9384704" y="2648312"/>
            <a:ext cx="4199037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원호 42">
            <a:extLst>
              <a:ext uri="{FF2B5EF4-FFF2-40B4-BE49-F238E27FC236}">
                <a16:creationId xmlns:a16="http://schemas.microsoft.com/office/drawing/2014/main" id="{8709EB8F-792D-7CAF-C46B-6890103918F0}"/>
              </a:ext>
            </a:extLst>
          </p:cNvPr>
          <p:cNvSpPr/>
          <p:nvPr/>
        </p:nvSpPr>
        <p:spPr>
          <a:xfrm rot="11931415">
            <a:off x="9268750" y="2840846"/>
            <a:ext cx="3123709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8A366788-C164-376B-8995-A7DBAA7F5BBE}"/>
              </a:ext>
            </a:extLst>
          </p:cNvPr>
          <p:cNvCxnSpPr>
            <a:cxnSpLocks/>
          </p:cNvCxnSpPr>
          <p:nvPr/>
        </p:nvCxnSpPr>
        <p:spPr>
          <a:xfrm>
            <a:off x="10108870" y="5622908"/>
            <a:ext cx="0" cy="64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/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26A46B1-4886-913D-D949-9D71F386DE16}"/>
              </a:ext>
            </a:extLst>
          </p:cNvPr>
          <p:cNvCxnSpPr>
            <a:cxnSpLocks/>
          </p:cNvCxnSpPr>
          <p:nvPr/>
        </p:nvCxnSpPr>
        <p:spPr>
          <a:xfrm>
            <a:off x="9473869" y="5597508"/>
            <a:ext cx="0" cy="684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/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/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/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/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/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/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/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 err="1"/>
                  <a:t>사적재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blipFill>
                <a:blip r:embed="rId12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/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blipFill>
                <a:blip r:embed="rId13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/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blipFill>
                <a:blip r:embed="rId1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연결선: 구부러짐 58">
            <a:extLst>
              <a:ext uri="{FF2B5EF4-FFF2-40B4-BE49-F238E27FC236}">
                <a16:creationId xmlns:a16="http://schemas.microsoft.com/office/drawing/2014/main" id="{E77816C2-899D-DE30-123F-4CCFA044E245}"/>
              </a:ext>
            </a:extLst>
          </p:cNvPr>
          <p:cNvCxnSpPr>
            <a:cxnSpLocks/>
            <a:stCxn id="60" idx="4"/>
            <a:endCxn id="57" idx="0"/>
          </p:cNvCxnSpPr>
          <p:nvPr/>
        </p:nvCxnSpPr>
        <p:spPr>
          <a:xfrm rot="5400000">
            <a:off x="8682452" y="4753094"/>
            <a:ext cx="192032" cy="583289"/>
          </a:xfrm>
          <a:prstGeom prst="curved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타원 59">
            <a:extLst>
              <a:ext uri="{FF2B5EF4-FFF2-40B4-BE49-F238E27FC236}">
                <a16:creationId xmlns:a16="http://schemas.microsoft.com/office/drawing/2014/main" id="{94DC2FC7-534E-B359-B3E2-88EDF7D7E86D}"/>
              </a:ext>
            </a:extLst>
          </p:cNvPr>
          <p:cNvSpPr/>
          <p:nvPr/>
        </p:nvSpPr>
        <p:spPr>
          <a:xfrm flipH="1">
            <a:off x="8993420" y="4795338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/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blipFill>
                <a:blip r:embed="rId1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연결선: 구부러짐 64">
            <a:extLst>
              <a:ext uri="{FF2B5EF4-FFF2-40B4-BE49-F238E27FC236}">
                <a16:creationId xmlns:a16="http://schemas.microsoft.com/office/drawing/2014/main" id="{B3861128-1412-CFB7-C9F6-A3215461FBB4}"/>
              </a:ext>
            </a:extLst>
          </p:cNvPr>
          <p:cNvCxnSpPr>
            <a:cxnSpLocks/>
            <a:stCxn id="66" idx="2"/>
            <a:endCxn id="64" idx="2"/>
          </p:cNvCxnSpPr>
          <p:nvPr/>
        </p:nvCxnSpPr>
        <p:spPr>
          <a:xfrm flipV="1">
            <a:off x="9223867" y="4504553"/>
            <a:ext cx="511886" cy="327768"/>
          </a:xfrm>
          <a:prstGeom prst="curvedConnector2">
            <a:avLst/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타원 65">
            <a:extLst>
              <a:ext uri="{FF2B5EF4-FFF2-40B4-BE49-F238E27FC236}">
                <a16:creationId xmlns:a16="http://schemas.microsoft.com/office/drawing/2014/main" id="{0F54D527-91A9-6494-CCDB-E40B52F1A6EA}"/>
              </a:ext>
            </a:extLst>
          </p:cNvPr>
          <p:cNvSpPr/>
          <p:nvPr/>
        </p:nvSpPr>
        <p:spPr>
          <a:xfrm flipH="1">
            <a:off x="9070483" y="4755629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612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C3E3AF-1BB8-BE5A-05DF-4E609BF13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3F0A65-CA44-3BF6-B9FC-FD79B47F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5" name="그림 4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C1CDCF-9800-CCCB-5120-61DC0DCEBA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7745887" y="1632624"/>
            <a:ext cx="4035965" cy="4392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의 두 조합은 공공재의 가격과 이에 대한 수요량의 관계를 보여주며 각각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ko-KR" altLang="en-US" sz="1600" dirty="0"/>
                  <a:t>점으로 표시되어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이처럼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공공재의 가격을 계속 변화시키면서 수요량의 변화를 추적하면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𝐷𝐷</m:t>
                        </m:r>
                      </m:e>
                    </m:ba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곡선으로 대표되는 수요곡선을 도출할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이렇게 구해진 공공재에 대한 수요곡선은 사적재화에 대해 구해진 수요곡선과 다르지 않다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개별 소비자의 공공재에 대한 수요량은 아래의 식처럼 공공재의 가격과 소득의 함수가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사적재화의 경우와 똑같다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blipFill>
                <a:blip r:embed="rId3"/>
                <a:stretch>
                  <a:fillRect r="-308" b="-10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AE65F58D-A7F6-F50F-B32F-395D7C1CBC42}"/>
              </a:ext>
            </a:extLst>
          </p:cNvPr>
          <p:cNvSpPr/>
          <p:nvPr/>
        </p:nvSpPr>
        <p:spPr>
          <a:xfrm>
            <a:off x="8269288" y="1647825"/>
            <a:ext cx="3198549" cy="385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D9404141-0D8C-4A22-4812-281C42002C76}"/>
              </a:ext>
            </a:extLst>
          </p:cNvPr>
          <p:cNvSpPr/>
          <p:nvPr/>
        </p:nvSpPr>
        <p:spPr>
          <a:xfrm rot="11931415">
            <a:off x="8788761" y="-1647552"/>
            <a:ext cx="6602925" cy="6775976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/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/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altLang="ko-KR" sz="14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blipFill>
                <a:blip r:embed="rId5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600225EB-384A-658C-D933-2CCC4E1C2053}"/>
              </a:ext>
            </a:extLst>
          </p:cNvPr>
          <p:cNvCxnSpPr>
            <a:cxnSpLocks/>
          </p:cNvCxnSpPr>
          <p:nvPr/>
        </p:nvCxnSpPr>
        <p:spPr>
          <a:xfrm>
            <a:off x="9280829" y="3590908"/>
            <a:ext cx="0" cy="19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1C12590-CFC1-C3CC-C54F-CC6EC48B53FE}"/>
              </a:ext>
            </a:extLst>
          </p:cNvPr>
          <p:cNvCxnSpPr>
            <a:cxnSpLocks/>
          </p:cNvCxnSpPr>
          <p:nvPr/>
        </p:nvCxnSpPr>
        <p:spPr>
          <a:xfrm>
            <a:off x="10012349" y="4418948"/>
            <a:ext cx="0" cy="1080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/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1C3C7755-6838-5EAE-2329-CA5EB054D2A6}"/>
              </a:ext>
            </a:extLst>
          </p:cNvPr>
          <p:cNvCxnSpPr>
            <a:cxnSpLocks/>
          </p:cNvCxnSpPr>
          <p:nvPr/>
        </p:nvCxnSpPr>
        <p:spPr>
          <a:xfrm rot="16200000">
            <a:off x="8786149" y="3086491"/>
            <a:ext cx="0" cy="10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BAD6C1D-B305-06D5-69CF-826393E480F3}"/>
              </a:ext>
            </a:extLst>
          </p:cNvPr>
          <p:cNvCxnSpPr>
            <a:cxnSpLocks/>
          </p:cNvCxnSpPr>
          <p:nvPr/>
        </p:nvCxnSpPr>
        <p:spPr>
          <a:xfrm rot="16200000">
            <a:off x="9146149" y="3544788"/>
            <a:ext cx="0" cy="172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/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blipFill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/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blipFill>
                <a:blip r:embed="rId8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/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/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/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blipFill>
                <a:blip r:embed="rId11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/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blipFill>
                <a:blip r:embed="rId12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/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조세가격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blipFill>
                <a:blip r:embed="rId1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667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E0A2-EB3C-C550-5D43-83A34F7F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E94A9-BC4B-B4BC-859A-2C1F204F3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15BF15-BD29-8567-E029-8653D9517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개인의 수요곡선을 종합하여 시장 전체의 수요를 도출하는 것이 필요하다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사적재화의 경우 각 개인의 수요곡선을 수평방향으로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각 가격에서 개별 소비자가 </a:t>
                </a:r>
                <a:r>
                  <a:rPr lang="ko-KR" altLang="en-US" sz="1600" dirty="0" err="1"/>
                  <a:t>수요하는</a:t>
                </a:r>
                <a:r>
                  <a:rPr lang="ko-KR" altLang="en-US" sz="1600" dirty="0"/>
                  <a:t> 양을 모두 더하면 시장 전체에서의 수요량이 되기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수요곡선이 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주어져 있다면 이를 수평으로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blipFill>
                <a:blip r:embed="rId2"/>
                <a:stretch>
                  <a:fillRect r="-625" b="-4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>
            <a:extLst>
              <a:ext uri="{FF2B5EF4-FFF2-40B4-BE49-F238E27FC236}">
                <a16:creationId xmlns:a16="http://schemas.microsoft.com/office/drawing/2014/main" id="{789D2D20-F3B2-8E24-5307-45857740902C}"/>
              </a:ext>
            </a:extLst>
          </p:cNvPr>
          <p:cNvGrpSpPr/>
          <p:nvPr/>
        </p:nvGrpSpPr>
        <p:grpSpPr>
          <a:xfrm>
            <a:off x="3354705" y="2685870"/>
            <a:ext cx="3958946" cy="3920094"/>
            <a:chOff x="3354705" y="2685870"/>
            <a:chExt cx="3958946" cy="3920094"/>
          </a:xfrm>
        </p:grpSpPr>
        <p:pic>
          <p:nvPicPr>
            <p:cNvPr id="11" name="그림 10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80847A9-F78B-4903-F681-1F1A5238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235" t="7307" b="9169"/>
            <a:stretch>
              <a:fillRect/>
            </a:stretch>
          </p:blipFill>
          <p:spPr>
            <a:xfrm>
              <a:off x="3601720" y="2768477"/>
              <a:ext cx="3535680" cy="372884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/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/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/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/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/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/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/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/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/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/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96091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E586E-83A3-DADE-5CEC-3A5ABA535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257B7991-4333-6ECA-93BF-376D47A2B738}"/>
              </a:ext>
            </a:extLst>
          </p:cNvPr>
          <p:cNvGrpSpPr/>
          <p:nvPr/>
        </p:nvGrpSpPr>
        <p:grpSpPr>
          <a:xfrm>
            <a:off x="7811490" y="2764562"/>
            <a:ext cx="4108171" cy="3841402"/>
            <a:chOff x="7811490" y="2764562"/>
            <a:chExt cx="4108171" cy="3841402"/>
          </a:xfrm>
        </p:grpSpPr>
        <p:pic>
          <p:nvPicPr>
            <p:cNvPr id="9" name="그림 8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0ED9047-C92F-1B6E-E921-830ECDBAA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7307" b="10006"/>
            <a:stretch>
              <a:fillRect/>
            </a:stretch>
          </p:blipFill>
          <p:spPr>
            <a:xfrm>
              <a:off x="7811490" y="2764562"/>
              <a:ext cx="3963949" cy="371497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/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/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/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/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/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/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/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/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/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/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35B6387C-D9FA-23C2-240A-A11A564E7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4694B9-E8CF-3556-0CA9-ED3AE2CA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경우 각 개인의 수요곡선을 수직방향으로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모든 사람이 동일한 공공재의 양을 소비함과 동시에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공공재의 소비로부터 얻는 한계편익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지불용의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서로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다르기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공공재에 대한 수요곡선이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로 주어져 있다면 이를 수직으로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blipFill>
                <a:blip r:embed="rId15"/>
                <a:stretch>
                  <a:fillRect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/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시장수요곡선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높이는 개별 수요곡선의 높이를 모두 더한 것과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개별 수요곡선의 높이가 각 수준의 공공재에 대해 개인이 낼 용의를 갖는 가격을 뜻하므로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시장수요곡선의 높이는 각 수준에 대해 그 사회의 구성원 전체가 함께 지불할 용의를 갖는 가격을 뜻하게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현실에서는 소비자들이 자신의 수요를 진실되게 표출한다는 보장이 없다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그럼에도 불구하고 진정한 수요를 표출한다는 가정하에서 도출한 수요곡선이기 때문에 가상수요곡선 </a:t>
                </a:r>
                <a:r>
                  <a:rPr lang="en-US" altLang="ko-KR" sz="1600" dirty="0"/>
                  <a:t>(pseudo-demand curve)</a:t>
                </a:r>
                <a:r>
                  <a:rPr lang="ko-KR" altLang="en-US" sz="1600" dirty="0"/>
                  <a:t>이라고도 부른다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blipFill>
                <a:blip r:embed="rId16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1600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447EA-8E26-B6A0-08B7-7FAB74E33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5862D5-E25C-2F9C-168B-0E099F5C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적절한 공공재의 생산수준은 사회적 한계편익 </a:t>
                </a:r>
                <a:r>
                  <a:rPr lang="en-US" altLang="ko-KR" sz="1600" spc="-50" dirty="0"/>
                  <a:t>(Social Marginal Benefit; SMB)</a:t>
                </a:r>
                <a:r>
                  <a:rPr lang="ko-KR" altLang="en-US" sz="1600" spc="-50" dirty="0"/>
                  <a:t>과 사회적 한계비용 </a:t>
                </a:r>
                <a:r>
                  <a:rPr lang="en-US" altLang="ko-KR" sz="1600" spc="-50" dirty="0"/>
                  <a:t>(Social Marginal Cost; SMC)</a:t>
                </a:r>
                <a:r>
                  <a:rPr lang="ko-KR" altLang="en-US" sz="1600" spc="-50" dirty="0"/>
                  <a:t>이 일치하는 곳에서 이루어진다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공공재의 경우도 사회적 한계편익은 시장수요곡선에 반영되며 사회적 한계비용은 시장공급곡선에 반영된다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사적재화와 마찬가지로 적절한 공공재의 생산수준 역시 시장수요곡선과 시장공급곡선의 교차점에서 찾을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그러나 적정수준이 되기 위한 조건의 내용을 자세히 살펴보면 사적재화와 공공재 간의 뚜렷한 차이가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사적재화를 설명한 앞선 그림을 다시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시장 전체로 볼 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 생산되어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가격에 거래되는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소비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소비하고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지불하고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소비자는 상품소비로부터의 한계편익이 시장가격과 같아질 때까지 수요하고 있으므로 두 사람이 각자 얻는 한계편익은 서로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상품의 시장가격은 공급곡선의 높이와 같고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상품 생산을 위한 한계비용을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위의 내용을 종합해보면 사적재화가 적정 배분 되기 위한 조건은 아래와 같다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blipFill>
                <a:blip r:embed="rId3"/>
                <a:stretch>
                  <a:fillRect r="-495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그림 17">
            <a:extLst>
              <a:ext uri="{FF2B5EF4-FFF2-40B4-BE49-F238E27FC236}">
                <a16:creationId xmlns:a16="http://schemas.microsoft.com/office/drawing/2014/main" id="{370292E5-1FA6-F04D-4B09-672BAE97E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5121" y="3592405"/>
            <a:ext cx="3018889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/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𝑴𝑪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blipFill>
                <a:blip r:embed="rId5"/>
                <a:stretch>
                  <a:fillRect r="-2479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4064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91D-8408-7005-1506-D9B25F8CF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B8D04-0D49-B267-0519-B76CDFA46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DB436-D197-8F73-4AC2-B709F36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공공재를 설명한 앞선 그림을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 역시 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교차점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각 개별 수요곡선의 높이를 더한 것은 공급곡선의 높이와 같게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과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길이를 합친 것이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길이와 같다는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개별 소비자와 관련된 개별 수요곡선의 높이가 그 소비자의 한계편익을 뜻하고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공급곡선의 높이가 바로 공공재의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뜻하므로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적정배분의 조건을 아래와 같이 쓸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F4C9F2C5-44D9-A622-7ACD-784B147C5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0470" y="3593347"/>
            <a:ext cx="3219794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/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+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blipFill>
                <a:blip r:embed="rId4"/>
                <a:stretch>
                  <a:fillRect r="-2424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조건을 보면 사람들이 공공재에서 얻는 한계편익의 합이 그것을 생산하는 데 드는 한계비용과 같아야 공공재가 적정한 수준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생산되는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때 각자가 자신이 얻는 한계편익에 해당하는 가격을 지불하도록 만든다면 공공재 생산과 관련된 재원조달의 문제를 해결할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에게는 </a:t>
                </a: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에게는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징수하면 재원조달을 할 수 있다는 뜻이다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blipFill>
                <a:blip r:embed="rId5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6701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AAA3-392B-26E4-22D8-F3D850134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C19C5-4F60-A03B-AA90-124737129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AE4A75-2D6B-FCC9-1985-43C890F6A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공공재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 이외에도 쌀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이라는 사적재화가 존재하는 상황에서는 앞에서 구한 적정배분의 조건은 어떻게 될지 살펴보자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쌀 가격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이라고 가정하면 사적재화의 적정 분배조건에 따라 아래와 같은 관계가 성립하게 된다</a:t>
                </a:r>
                <a:r>
                  <a:rPr lang="en-US" altLang="ko-KR" sz="1600" dirty="0"/>
                  <a:t>.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적정배분 조건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양변을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 식의 양변으로 각각 나누면 아래와 같은 식이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혹은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는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한계대체율 </a:t>
                </a:r>
                <a:r>
                  <a:rPr lang="en-US" altLang="ko-KR" sz="1600" dirty="0"/>
                  <a:t>(Marginal Rate of Substitution; MRS)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 한계생산변환율 </a:t>
                </a:r>
                <a:r>
                  <a:rPr lang="en-US" altLang="ko-KR" sz="1600" dirty="0"/>
                  <a:t>(Marginal rate of Product transformation)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조건은</a:t>
                </a:r>
                <a:r>
                  <a:rPr lang="en-US" altLang="ko-KR" sz="1600" dirty="0"/>
                  <a:t> n</a:t>
                </a:r>
                <a:r>
                  <a:rPr lang="ko-KR" altLang="en-US" sz="1600" dirty="0"/>
                  <a:t>명의 소비자가 존재하는 경우로 일반화 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일반화된 적정배분의 조건은 아래와 같이 쓸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1954</a:t>
                </a:r>
                <a:r>
                  <a:rPr lang="ko-KR" altLang="en-US" sz="1600" dirty="0"/>
                  <a:t>년 </a:t>
                </a:r>
                <a:r>
                  <a:rPr lang="ko-KR" altLang="en-US" sz="1600" dirty="0" err="1"/>
                  <a:t>새무엘슨이</a:t>
                </a:r>
                <a:r>
                  <a:rPr lang="ko-KR" altLang="en-US" sz="1600" dirty="0"/>
                  <a:t> 처음 입증한 조건이기 때문에 </a:t>
                </a:r>
                <a:r>
                  <a:rPr lang="ko-KR" altLang="en-US" sz="1600" b="1" dirty="0" err="1"/>
                  <a:t>새무엘슨조건</a:t>
                </a:r>
                <a:r>
                  <a:rPr lang="ko-KR" altLang="en-US" sz="1600" dirty="0" err="1"/>
                  <a:t>이라고</a:t>
                </a:r>
                <a:r>
                  <a:rPr lang="ko-KR" altLang="en-US" sz="1600" dirty="0"/>
                  <a:t> 부르기도 한다</a:t>
                </a:r>
                <a:r>
                  <a:rPr lang="en-US" altLang="ko-KR" sz="160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/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/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1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/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ko-KR" altLang="en-US" sz="1800" b="1" spc="-50" dirty="0"/>
                  <a:t>한계대체율의 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  <m:e>
                        <m:sSub>
                          <m:sSubPr>
                            <m:ctrlP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𝑴𝑹𝑺</m:t>
                            </m:r>
                          </m:e>
                          <m:sub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</a:t>
                </a:r>
                <a:r>
                  <a:rPr lang="ko-KR" altLang="en-US" b="1" spc="-50" dirty="0"/>
                  <a:t>생산변환율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𝑴𝑷𝑻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blipFill>
                <a:blip r:embed="rId5"/>
                <a:stretch>
                  <a:fillRect t="-75000" b="-1486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7372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FF2E4-B34C-D052-660C-AD345A09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488433-46E5-A692-F572-5EBF2E42B2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C3C0-C9C3-C5A6-5485-2716859DD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07A75DC-2631-BA75-A7C0-A85087AB0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린달의</a:t>
            </a:r>
            <a:r>
              <a:rPr lang="ko-KR" altLang="en-US" sz="4000" b="1" i="0" spc="150" dirty="0"/>
              <a:t> 자발적 교환 모형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437972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1656-CF83-881D-5668-78733E15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D35B91-C44F-5C98-13D0-1FBEB27C5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262C81-C342-1EE3-15AA-6002F89DE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55F7A-F538-8C9A-1B41-EC7644B2DBDA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공공재의 적절한 생산수준을 도출하였지만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그럼에도 불구하고 공공재는 </a:t>
            </a:r>
            <a:r>
              <a:rPr lang="ko-KR" altLang="en-US" sz="1600" dirty="0" err="1"/>
              <a:t>비경합</a:t>
            </a:r>
            <a:r>
              <a:rPr lang="en-US" altLang="ko-KR" sz="1600" dirty="0"/>
              <a:t>, </a:t>
            </a:r>
            <a:r>
              <a:rPr lang="ko-KR" altLang="en-US" sz="1600" dirty="0"/>
              <a:t>비배제성을 갖기 때문에 사람들 간의 거래가 이루어지기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스웨덴의 경제학자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E.Lindahl</a:t>
            </a:r>
            <a:r>
              <a:rPr lang="en-US" altLang="ko-KR" sz="1600" dirty="0"/>
              <a:t>)</a:t>
            </a:r>
            <a:r>
              <a:rPr lang="ko-KR" altLang="en-US" sz="1600" dirty="0"/>
              <a:t>은 당사자간의 자발적 교환에 의해 공공재의 생산수준과 비용부담비율이 동시에 결정될 수 있는 모형을 제시하였다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자발적 교환의 원리에 입각하고 있다는 측면에서 공공재 생산문제와 관련한 </a:t>
            </a:r>
            <a:r>
              <a:rPr lang="en-US" altLang="ko-KR" sz="1600" dirty="0"/>
              <a:t>‘</a:t>
            </a:r>
            <a:r>
              <a:rPr lang="ko-KR" altLang="en-US" sz="1600" dirty="0"/>
              <a:t>준시장적 해결책</a:t>
            </a:r>
            <a:r>
              <a:rPr lang="en-US" altLang="ko-KR" sz="1600" dirty="0"/>
              <a:t>’</a:t>
            </a:r>
            <a:r>
              <a:rPr lang="ko-KR" altLang="en-US" sz="1600" dirty="0"/>
              <a:t> 으로 불리고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</a:t>
            </a:r>
            <a:r>
              <a:rPr lang="ko-KR" altLang="en-US" sz="1600" dirty="0" err="1"/>
              <a:t>린달의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자발작</a:t>
            </a:r>
            <a:r>
              <a:rPr lang="ko-KR" altLang="en-US" sz="1600" dirty="0"/>
              <a:t> 교환 모형은 이론적으로 생각할 수 있을 뿐 현실에서 발생하기는 힘든 이론이다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46811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D11CB-3F22-5253-72CF-11C673C34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C2ADE2-3510-D5FB-C528-0C63AB96D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6A5EA4-C4B7-06EA-5640-7EB6C82AB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DD7DA5-EBFF-EAB0-CCA6-04D96F587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068" y="4248727"/>
            <a:ext cx="3906597" cy="2288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그림은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모형을 설명하고 있다</a:t>
                </a:r>
                <a:r>
                  <a:rPr lang="en-US" altLang="ko-KR" sz="1600" dirty="0"/>
                  <a:t>. A, B </a:t>
                </a:r>
                <a:r>
                  <a:rPr lang="ko-KR" altLang="en-US" sz="1600" dirty="0"/>
                  <a:t>두 사람만이 있고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 생산의 단위비용은 생산수준과 관계없이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원으로 일정하다고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왼쪽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수직축으로는</a:t>
                </a:r>
                <a:r>
                  <a:rPr lang="ko-KR" altLang="en-US" sz="1600" dirty="0"/>
                  <a:t> 단위생산비용 중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위로 올라갈수록 커지며 맨 위까지 올라가면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한편 오른쪽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마찬가지로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수직축으로는 단위생산비용 중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아래로 내려갈수록 커지며 맨 아래까지 내려가면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값을 더한 것은 언제나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2434506-FAAC-F82C-A25D-CF6A0E0B2F49}"/>
              </a:ext>
            </a:extLst>
          </p:cNvPr>
          <p:cNvSpPr txBox="1"/>
          <p:nvPr/>
        </p:nvSpPr>
        <p:spPr>
          <a:xfrm>
            <a:off x="5853962" y="40352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413553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6F1E94-95A8-C99E-FF00-BE74C65D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FBF14D-B82D-D9D6-1785-48400105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볼 때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 곡선은 공공재에 대한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수요곡선이다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곡선이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모양을 갖는 것은 부담해야 하는 생산비용의 비율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점차 낮아질수록 더욱 많은 양의 공공재를 </a:t>
                </a:r>
                <a:r>
                  <a:rPr lang="ko-KR" altLang="en-US" sz="1600" dirty="0" err="1"/>
                  <a:t>수요한다는</a:t>
                </a:r>
                <a:r>
                  <a:rPr lang="ko-KR" altLang="en-US" sz="1600" dirty="0"/>
                  <a:t> 것을 뜻한다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 수요곡선은 아래의 과정을 통해서도 도출이 가능하다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우선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무차별곡선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그린다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무차별곡선은 그에게 똑같은 수준의 효용을 주는 비용부담비율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과 공공재 양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의 조합들을 모아 놓은 것이다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여러 무차별곡선 중 아래쪽에 위치할수록 더욱 높은 수준의 효용을 뜻한다</a:t>
                </a:r>
                <a:r>
                  <a:rPr lang="en-US" altLang="ko-KR" sz="1600" dirty="0"/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dirty="0"/>
                  <a:t>가 가장 높은 수준의 효용을 의미함</a:t>
                </a:r>
                <a:r>
                  <a:rPr lang="en-US" altLang="ko-KR" sz="1600" dirty="0"/>
                  <a:t>)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똑같은 공공재의 양에 대해 자신이 부담하는 생산비용의 비율이 낮을수록 효용이 더 커지기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그룹 10">
            <a:extLst>
              <a:ext uri="{FF2B5EF4-FFF2-40B4-BE49-F238E27FC236}">
                <a16:creationId xmlns:a16="http://schemas.microsoft.com/office/drawing/2014/main" id="{9EFFCC92-2E01-3604-4BBA-DB1970B510A5}"/>
              </a:ext>
            </a:extLst>
          </p:cNvPr>
          <p:cNvGrpSpPr/>
          <p:nvPr/>
        </p:nvGrpSpPr>
        <p:grpSpPr>
          <a:xfrm>
            <a:off x="3908135" y="4034209"/>
            <a:ext cx="3984974" cy="2501673"/>
            <a:chOff x="5449068" y="4035234"/>
            <a:chExt cx="3984974" cy="2501673"/>
          </a:xfrm>
        </p:grpSpPr>
        <p:pic>
          <p:nvPicPr>
            <p:cNvPr id="7" name="그림 6" descr="라인, 도표, 그래프, 텍스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3E0FCF1-EBC0-713D-60A8-FEFBB58A1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49068" y="4248727"/>
              <a:ext cx="3906597" cy="228818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4953A1F-BB49-2E9C-1521-854E4ADE3E16}"/>
                </a:ext>
              </a:extLst>
            </p:cNvPr>
            <p:cNvSpPr txBox="1"/>
            <p:nvPr/>
          </p:nvSpPr>
          <p:spPr>
            <a:xfrm>
              <a:off x="5853962" y="4035234"/>
              <a:ext cx="35800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spc="-50" dirty="0"/>
                <a:t>&lt;</a:t>
              </a:r>
              <a:r>
                <a:rPr lang="ko-KR" altLang="en-US" sz="1200" spc="-50" dirty="0" err="1"/>
                <a:t>린달모형</a:t>
              </a:r>
              <a:r>
                <a:rPr lang="en-US" altLang="ko-KR" sz="1200" spc="-50" dirty="0"/>
                <a:t>: </a:t>
              </a:r>
              <a:r>
                <a:rPr lang="ko-KR" altLang="en-US" sz="1200" spc="-50" dirty="0"/>
                <a:t>수요곡선의 도출</a:t>
              </a:r>
              <a:r>
                <a:rPr lang="en-US" altLang="ko-KR" sz="1200" spc="-50" dirty="0"/>
                <a:t>&gt;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902149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D268F-86A9-A2FB-5E65-C7B4889C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8AF14-493B-9C88-34CC-DBBAC95C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8F951D-8267-AD73-68CF-D23BA53C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만약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에게 어떤 비용부담비율이 제시되면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그는 이것을 자신에게 주어진 제약으로 인식하고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제약하에서 효용이 극대화되는 공공재의 양을 선택하게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 비용부담비율을 나타내는 수평선과 만나는 무차별곡선 중에서 가장 아래쪽에 있는 것이 가장 높은 효용을 준다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이 수평선과 무차별곡선의 정점이 접하는 곳에서 효용극대화가 이루어진다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접점에서 만큼의 공공재를 수요하고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 결과 이 접점은 수요곡선 위의 한 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위의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과정을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거치면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아래 오른쪽 그림과 같이 수요곡선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 를 도출할 수 있다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(</a:t>
                </a:r>
                <a:r>
                  <a:rPr lang="ko-KR" altLang="en-US" sz="1600" dirty="0"/>
                  <a:t>뒷장 계속</a:t>
                </a:r>
                <a:r>
                  <a:rPr lang="en-US" altLang="ko-KR" sz="1600" dirty="0"/>
                  <a:t>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71FE5E-3625-AC79-BDCA-86E18BB29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68" y="4052968"/>
            <a:ext cx="4271651" cy="2502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DEB793-2F20-D91B-C669-353D8AFCD3B7}"/>
              </a:ext>
            </a:extLst>
          </p:cNvPr>
          <p:cNvSpPr txBox="1"/>
          <p:nvPr/>
        </p:nvSpPr>
        <p:spPr>
          <a:xfrm>
            <a:off x="1320062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9F9B92BD-B75E-8AE3-0872-BEFB955296E8}"/>
              </a:ext>
            </a:extLst>
          </p:cNvPr>
          <p:cNvSpPr/>
          <p:nvPr/>
        </p:nvSpPr>
        <p:spPr>
          <a:xfrm>
            <a:off x="5355165" y="4969933"/>
            <a:ext cx="520700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031AE8-D826-AC01-A581-CDD825412017}"/>
              </a:ext>
            </a:extLst>
          </p:cNvPr>
          <p:cNvSpPr txBox="1"/>
          <p:nvPr/>
        </p:nvSpPr>
        <p:spPr>
          <a:xfrm>
            <a:off x="6522828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19" name="그림 1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AE480-9C5E-5394-A36A-8A8CCA14A4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384" y="4075150"/>
            <a:ext cx="4156920" cy="25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1581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AE891-BE1B-405B-7294-2E25C0B1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20AAA8-5016-EBBD-DC18-1BD54C396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/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도출된 수요곡선의 높이를 보면 각 사람이 생산비용을 어떤 비율로 분담할 용의가 있는지 알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공공재가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 생산된다고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en-US" altLang="ko-KR" sz="1600" dirty="0"/>
                  <a:t>, 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 길이 만큼의 비율을 부담할 용의를 갖고 있는 것이다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어떤 공공재의 생산수준에 대해 생산비용의 일정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부담할 용의가 있다고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가 그 나머지 부분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부담하겠다고 하면 두 사람은 바로 그 수준의 공공재를 공급받을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의 생산수준에 대해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의 길이에 해당하는 비율을 부담할 용의가 있으니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나머지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만큼의 비율을 부담하면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만큼의 공공재를 공급받을 수 있게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를 기준으로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곡선을 본다면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곡선은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공급곡선과 마찬가지다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두 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점은 수요곡선과 공급곡선이 교차하는 균형점이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점을 린달균형 혹은 자발적 교환의 모형이라고 부른다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공공재 생산 수준과 비용부담비율을 두사람이 자발적으로 합의한 결과로 해석하기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blipFill>
                <a:blip r:embed="rId2"/>
                <a:stretch>
                  <a:fillRect b="-1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B0F208-1CD1-07EA-49A5-774039E25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328" y="4549409"/>
            <a:ext cx="3377072" cy="203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490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B7239-FA66-9713-6946-2F3EBA0E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CB9A2-3862-18E6-1F69-8020EC58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CB0339-8FD6-C7DD-1121-128D7E2E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/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ko-KR" altLang="en-US" sz="16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1600" dirty="0"/>
                  <a:t> 수평축을 기준으로</a:t>
                </a:r>
                <a:r>
                  <a:rPr lang="en-US" altLang="ko-KR" sz="1600" dirty="0"/>
                  <a:t> A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누리는 </a:t>
                </a:r>
                <a:r>
                  <a:rPr lang="ko-KR" altLang="en-US" sz="1600" dirty="0" err="1"/>
                  <a:t>한계편익이며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의 수평축을 기준으로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누리는 한계편익이다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공공재 생산의 단위비용이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원이라고 하였으므로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점에서는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/>
                  <a:t>의 한계편익의 합이 공공재 생산의 한계비용과 일치하게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앞서 배운 공공재 적정배분의 조건을 충족한다</a:t>
                </a:r>
                <a:r>
                  <a:rPr lang="en-US" altLang="ko-KR" sz="1600" dirty="0"/>
                  <a:t>. (</a:t>
                </a:r>
                <a:r>
                  <a:rPr lang="en-US" altLang="ko-KR" sz="1600" b="1" spc="-50" dirty="0"/>
                  <a:t>A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+ B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= </a:t>
                </a:r>
                <a:r>
                  <a:rPr lang="ko-KR" altLang="en-US" sz="1600" b="1" spc="-50" dirty="0"/>
                  <a:t>한계비용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𝑴𝑪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</a:t>
                </a:r>
                <a:r>
                  <a:rPr lang="en-US" altLang="ko-KR" sz="160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방금 배운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앞서 살펴본 </a:t>
                </a:r>
                <a:r>
                  <a:rPr lang="ko-KR" altLang="en-US" sz="1600" dirty="0" err="1"/>
                  <a:t>새무엘슨</a:t>
                </a:r>
                <a:r>
                  <a:rPr lang="ko-KR" altLang="en-US" sz="1600" dirty="0"/>
                  <a:t> 모형은 소비자들이 공공재에 대한 진정한 선호를 표출한다는 비현실적인 가정을 전제로 한다는 한계점이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blipFill>
                <a:blip r:embed="rId2"/>
                <a:stretch>
                  <a:fillRect r="-2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928CCA6-FE01-92F5-D603-30D48FDD0CA5}"/>
              </a:ext>
            </a:extLst>
          </p:cNvPr>
          <p:cNvSpPr txBox="1"/>
          <p:nvPr/>
        </p:nvSpPr>
        <p:spPr>
          <a:xfrm>
            <a:off x="4526388" y="376246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7" name="그림 6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2D6B2C-8478-BE65-60FF-AFA5E8BD1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3482" y="3977640"/>
            <a:ext cx="4273758" cy="257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8667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D5750-0F81-1CDD-AA50-3526AE4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3EEEE3-7E4A-12C0-24D1-A4B48751D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EAB74A-9E5E-C26B-5D66-3159D49E9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33A8E5E-851A-66E1-3C61-8C2C9DD6B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무임승차자의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351301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23A55-B2CF-4AC9-7398-A8FB3D7E6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780F4-A8B2-BB2A-486E-06BBF9F2B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C8487B-3DE7-FDC4-095E-60FFC194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891C15-C4FF-8D80-55ED-FB4051CD54C5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 살펴본 </a:t>
            </a:r>
            <a:r>
              <a:rPr lang="ko-KR" altLang="en-US" sz="1600" dirty="0" err="1"/>
              <a:t>새무엘슨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모형은 각 개인이 공공재에 대한 진정한 선호를 표출한다는 비현실적인 가정을 전제로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현실에서 사람들은 공공재의 혜택을 원하면서도 그 비용은 부담하지 않으려는 현상이 나타날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비용 부담을 회피하고자 자신은 공공재를 원하지 않는다고 말해 놓고</a:t>
            </a:r>
            <a:r>
              <a:rPr lang="en-US" altLang="ko-KR" sz="1600" dirty="0"/>
              <a:t>, </a:t>
            </a:r>
            <a:r>
              <a:rPr lang="ko-KR" altLang="en-US" sz="1600" dirty="0"/>
              <a:t>공공재가 다른 사람에 의해 공급되면 이에 편승하고자 하는 경향이 나타날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위와 같은 문제를 무임승차자의 문제라고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사적재화의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어떤 소비자가 자신의 진정한 선호를 왜곡하여 표출한다고 해도 이득을 볼 여지가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사실은 컴퓨터를 사고 싶은데</a:t>
            </a:r>
            <a:r>
              <a:rPr lang="en-US" altLang="ko-KR" sz="1600" dirty="0"/>
              <a:t>, </a:t>
            </a:r>
            <a:r>
              <a:rPr lang="ko-KR" altLang="en-US" sz="1600" dirty="0"/>
              <a:t>컴퓨터 판매자에게 컴퓨터를 원하지 않는다고 말해봤지 아무런 일이 발생하지 않는다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대부분의 사람들이 무임승차를 시도하면</a:t>
            </a:r>
            <a:r>
              <a:rPr lang="en-US" altLang="ko-KR" sz="1600" dirty="0"/>
              <a:t>, </a:t>
            </a:r>
            <a:r>
              <a:rPr lang="ko-KR" altLang="en-US" sz="1600" dirty="0"/>
              <a:t>자발적인 합의에 의해 결정한 공공재의 수준은 앞서 설명한 공공재의 적정수준만큼 공급될 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만약 국방회사</a:t>
            </a:r>
            <a:r>
              <a:rPr lang="en-US" altLang="ko-KR" sz="1600" dirty="0"/>
              <a:t>, </a:t>
            </a:r>
            <a:r>
              <a:rPr lang="ko-KR" altLang="en-US" sz="1600" dirty="0"/>
              <a:t>경찰회사와 같이 민간회사가 공공재</a:t>
            </a:r>
            <a:r>
              <a:rPr lang="en-US" altLang="ko-KR" sz="1600" dirty="0"/>
              <a:t>(</a:t>
            </a:r>
            <a:r>
              <a:rPr lang="ko-KR" altLang="en-US" sz="1600" dirty="0"/>
              <a:t>국방</a:t>
            </a:r>
            <a:r>
              <a:rPr lang="en-US" altLang="ko-KR" sz="1600" dirty="0"/>
              <a:t> </a:t>
            </a:r>
            <a:r>
              <a:rPr lang="ko-KR" altLang="en-US" sz="1600" dirty="0"/>
              <a:t>및 치안</a:t>
            </a:r>
            <a:r>
              <a:rPr lang="en-US" altLang="ko-KR" sz="1600" dirty="0"/>
              <a:t>)</a:t>
            </a:r>
            <a:r>
              <a:rPr lang="ko-KR" altLang="en-US" sz="1600" dirty="0"/>
              <a:t>를 공급한다면</a:t>
            </a:r>
            <a:r>
              <a:rPr lang="en-US" altLang="ko-KR" sz="1600" dirty="0"/>
              <a:t>, </a:t>
            </a:r>
            <a:r>
              <a:rPr lang="ko-KR" altLang="en-US" sz="1600" dirty="0"/>
              <a:t>이 회사들이 제공하는 서비스를 구입하려 하는 사람은 거의 없을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이 사회에서 국방 및 경찰서비스가 적정한 수준으로 공급되는 것은 불가능하다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124135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15AC2-A82B-6B45-24E6-2C05471D1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B76369-84F5-F2AD-1D3A-91024ED3F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DBFC3D-F1EA-760C-C026-937AD4D03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E555C-9788-03A1-A147-0F57283BA003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무임승차 문제로 인해 정부가 공공재를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공급을 담당해야 한다는 주장이 있을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즉 정부가 사람들의 공공재에 대한 선호를 알아내고 강제력을 이용해 생산비용을 거둠으로써 무임승차 문제를 해결할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실제로 정부가 주요 공공재의 공급을 도맡아 하고 있는 현실을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주장은 대단히 설득력이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무임승차 문제는 하나의 가설일 뿐이고</a:t>
            </a:r>
            <a:r>
              <a:rPr lang="en-US" altLang="ko-KR" sz="1600" dirty="0"/>
              <a:t>, ‘</a:t>
            </a:r>
            <a:r>
              <a:rPr lang="ko-KR" altLang="en-US" sz="1600" dirty="0"/>
              <a:t>사실</a:t>
            </a:r>
            <a:r>
              <a:rPr lang="en-US" altLang="ko-KR" sz="1600" dirty="0"/>
              <a:t>’ </a:t>
            </a:r>
            <a:r>
              <a:rPr lang="ko-KR" altLang="en-US" sz="1600" dirty="0"/>
              <a:t>그 자체는 아니라는 데 유의해야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다시 말해 무임승차자 현상이 나타날 가능성이 있다고 말할 뿐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반드시 그런 문제가 발생하는 것은 아니다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민간</a:t>
            </a:r>
            <a:r>
              <a:rPr lang="en-US" altLang="ko-KR" sz="1600" dirty="0"/>
              <a:t>(</a:t>
            </a:r>
            <a:r>
              <a:rPr lang="ko-KR" altLang="en-US" sz="1600" dirty="0"/>
              <a:t>개인</a:t>
            </a:r>
            <a:r>
              <a:rPr lang="en-US" altLang="ko-KR" sz="1600" dirty="0"/>
              <a:t>)</a:t>
            </a:r>
            <a:r>
              <a:rPr lang="ko-KR" altLang="en-US" sz="1600" dirty="0"/>
              <a:t>이 설립한 박물관</a:t>
            </a:r>
            <a:r>
              <a:rPr lang="en-US" altLang="ko-KR" sz="1600" dirty="0"/>
              <a:t>, </a:t>
            </a:r>
            <a:r>
              <a:rPr lang="ko-KR" altLang="en-US" sz="1600" dirty="0"/>
              <a:t>도서관</a:t>
            </a:r>
            <a:r>
              <a:rPr lang="en-US" altLang="ko-KR" sz="1600" dirty="0"/>
              <a:t>, </a:t>
            </a:r>
            <a:r>
              <a:rPr lang="ko-KR" altLang="en-US" sz="1600" dirty="0"/>
              <a:t>연구소 등의 예를 보면 공공재라고 해서 반드시 무임승차자의 문제가 발생하지는 않는다는 사실을 알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91913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CE796-C254-7B61-33C8-DD6F75A7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B54D93-7665-6649-24F5-6F82AC7B2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BD3F3-3A85-59F6-61DB-88F6B7656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CA2D2-E9E0-60B4-5532-FF16C526C5A2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공공재에 관하여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사람들은 자신에게 더 유리한 결과를 가져오도록 서로 간에 일종의 게임을 하고 있는 상황이라고 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때</a:t>
            </a:r>
            <a:r>
              <a:rPr lang="en-US" altLang="ko-KR" sz="1600" dirty="0"/>
              <a:t>, </a:t>
            </a:r>
            <a:r>
              <a:rPr lang="ko-KR" altLang="en-US" sz="1600" dirty="0"/>
              <a:t>사람들은 대화와 협상을 통해 사회적으로 적정한 수준의 공공재가 생산되도록 합의할 가능성도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 마을에 살고 있는 김씨와 박씨 두 사람이 마을에 홍수방지시설을 해야 할 것인지 논의하고 있다고 해보자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각자 홍수방지시설의 설치비용을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부담하거나 혹은 전혀 부담하지 않는 두 가지 전략을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두 사람이 각각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부담하여 홍수방지시설을 완벽히 갖추면</a:t>
            </a:r>
            <a:r>
              <a:rPr lang="en-US" altLang="ko-KR" sz="1600" dirty="0"/>
              <a:t>,</a:t>
            </a:r>
            <a:r>
              <a:rPr lang="ko-KR" altLang="en-US" sz="1600" dirty="0"/>
              <a:t> 각자 </a:t>
            </a:r>
            <a:r>
              <a:rPr lang="en-US" altLang="ko-KR" sz="1600" dirty="0"/>
              <a:t>1</a:t>
            </a:r>
            <a:r>
              <a:rPr lang="ko-KR" altLang="en-US" sz="1600" dirty="0"/>
              <a:t>천 </a:t>
            </a:r>
            <a:r>
              <a:rPr lang="en-US" altLang="ko-KR" sz="1600" dirty="0"/>
              <a:t>5</a:t>
            </a:r>
            <a:r>
              <a:rPr lang="ko-KR" altLang="en-US" sz="1600" dirty="0"/>
              <a:t>백만원의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 사람만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천만원을 부담하면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 </a:t>
            </a:r>
            <a:r>
              <a:rPr lang="en-US" altLang="ko-KR" sz="1600" dirty="0"/>
              <a:t>7</a:t>
            </a:r>
            <a:r>
              <a:rPr lang="ko-KR" altLang="en-US" sz="1600" dirty="0"/>
              <a:t>백</a:t>
            </a:r>
            <a:r>
              <a:rPr lang="en-US" altLang="ko-KR" sz="1600" dirty="0"/>
              <a:t> 5</a:t>
            </a:r>
            <a:r>
              <a:rPr lang="ko-KR" altLang="en-US" sz="1600" dirty="0"/>
              <a:t>십만원의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아무도 홍수방지지설 비용을 부담하지 않으면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각자의 혜택은 </a:t>
            </a:r>
            <a:r>
              <a:rPr lang="en-US" altLang="ko-KR" sz="1600" dirty="0"/>
              <a:t>0</a:t>
            </a:r>
            <a:r>
              <a:rPr lang="ko-KR" altLang="en-US" sz="1600" dirty="0"/>
              <a:t>원이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뒷장 계속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7763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8095-62BB-EF9E-CD43-EFC7ECCD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DBB20A-A14D-6C46-42A1-F7607CB0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E2EF70-934D-E5C8-79B2-9BD740AD3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F41558-F52D-2CC8-036F-0C425CBF654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상황은 아래의 표와 같이 보수행렬로 정리할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괄호 안의 숫자는 각자 전략에 따라 얻는 순편익을 의미한다</a:t>
            </a:r>
            <a:r>
              <a:rPr lang="en-US" altLang="ko-KR" sz="1600" dirty="0"/>
              <a:t>. (</a:t>
            </a:r>
            <a:r>
              <a:rPr lang="ko-KR" altLang="en-US" sz="1600" dirty="0"/>
              <a:t>김씨의 </a:t>
            </a:r>
            <a:r>
              <a:rPr lang="ko-KR" altLang="en-US" sz="1600" dirty="0" err="1"/>
              <a:t>순편익</a:t>
            </a:r>
            <a:r>
              <a:rPr lang="en-US" altLang="ko-KR" sz="1600" dirty="0"/>
              <a:t>, </a:t>
            </a:r>
            <a:r>
              <a:rPr lang="ko-KR" altLang="en-US" sz="1600" dirty="0"/>
              <a:t>박씨의 </a:t>
            </a:r>
            <a:r>
              <a:rPr lang="ko-KR" altLang="en-US" sz="1600" dirty="0" err="1"/>
              <a:t>순편익</a:t>
            </a:r>
            <a:r>
              <a:rPr lang="ko-KR" altLang="en-US" sz="1600" dirty="0"/>
              <a:t> 순서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게임에서는 아무도 비용을 부담하지 않는 것이 우월전략이 됨을 알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상대가 부담을 하던 </a:t>
            </a:r>
            <a:r>
              <a:rPr lang="ko-KR" altLang="en-US" sz="1600" dirty="0" err="1"/>
              <a:t>안하던</a:t>
            </a:r>
            <a:r>
              <a:rPr lang="en-US" altLang="ko-KR" sz="1600" dirty="0"/>
              <a:t>, </a:t>
            </a:r>
            <a:r>
              <a:rPr lang="ko-KR" altLang="en-US" sz="1600" dirty="0"/>
              <a:t>나는 부담을 </a:t>
            </a:r>
            <a:r>
              <a:rPr lang="ko-KR" altLang="en-US" sz="1600" dirty="0" err="1"/>
              <a:t>안하는</a:t>
            </a:r>
            <a:r>
              <a:rPr lang="ko-KR" altLang="en-US" sz="1600" dirty="0"/>
              <a:t> 경우의 혜택이 더 크다는 것을 확인해보라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앞서 게임에서는 홍수방지시설을 설치 하지 않을 가능성이 제일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두 사람 모두 비용부담을 통해 홍수방지시설을 갖추는 것이 두 사람 모두에게 큰 편익을 가져다 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정부의 개입은 이와 같은 딜레마 상황을 타개하고 협조적인 해결책을 모색해주는 차원에서 의미가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8" name="표 3">
            <a:extLst>
              <a:ext uri="{FF2B5EF4-FFF2-40B4-BE49-F238E27FC236}">
                <a16:creationId xmlns:a16="http://schemas.microsoft.com/office/drawing/2014/main" id="{348F838E-5C0E-9011-8CAE-97DB6AC6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656775"/>
              </p:ext>
            </p:extLst>
          </p:nvPr>
        </p:nvGraphicFramePr>
        <p:xfrm>
          <a:off x="2028690" y="3209106"/>
          <a:ext cx="6485469" cy="7453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61823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634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ko-KR" altLang="en-US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14139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(500, 500)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(-250, 750)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17531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(750, -250)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(0, 0)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AD016E-5746-EEB1-AE32-36CA72CC5CBC}"/>
              </a:ext>
            </a:extLst>
          </p:cNvPr>
          <p:cNvSpPr txBox="1"/>
          <p:nvPr/>
        </p:nvSpPr>
        <p:spPr>
          <a:xfrm>
            <a:off x="5855111" y="2870870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박씨</a:t>
            </a:r>
            <a:endParaRPr lang="ko-KR" altLang="en-US" sz="1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8486B7-AF4A-F9E5-33C6-4025D075FEA9}"/>
              </a:ext>
            </a:extLst>
          </p:cNvPr>
          <p:cNvSpPr txBox="1"/>
          <p:nvPr/>
        </p:nvSpPr>
        <p:spPr>
          <a:xfrm>
            <a:off x="1171440" y="3569371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김씨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35540635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77A28C-73F4-46BB-EB51-6979A9BB5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FE113E-6425-EF78-6FD1-5DD3CA2E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지금까지 </a:t>
                </a:r>
                <a:r>
                  <a:rPr lang="ko-KR" altLang="en-US" sz="1600" dirty="0" err="1"/>
                  <a:t>살펴본대로</a:t>
                </a:r>
                <a:r>
                  <a:rPr lang="ko-KR" altLang="en-US" sz="1600" dirty="0"/>
                  <a:t> 시장이 공공재를 적절히 배분하지 못하기 때문에 공공부문이 이 일을 맡게 되었다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나아가 공공부문이 이 일을 맡아도 무임승차 문제를 피하기 위해서는 소비자들의 수요를 정확하게 파악해야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소비자들이 전략적으로 수요를 표출한다면 사회적으로 적절한 공공재 배분이 이루어지지 못하기 때문이다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사람들로 하여금 공공재에 대한 진정한 선호를 표출하도록 유도하는 </a:t>
                </a:r>
                <a:r>
                  <a:rPr lang="ko-KR" altLang="en-US" sz="1600" dirty="0" err="1"/>
                  <a:t>수요표출기구</a:t>
                </a:r>
                <a:r>
                  <a:rPr lang="en-US" altLang="ko-KR" sz="1600" dirty="0"/>
                  <a:t>(demand</a:t>
                </a:r>
                <a:r>
                  <a:rPr lang="ko-KR" altLang="en-US" sz="1600" dirty="0"/>
                  <a:t> </a:t>
                </a:r>
                <a:r>
                  <a:rPr lang="en-US" altLang="ko-KR" sz="1600" dirty="0"/>
                  <a:t>revelation mechanism)</a:t>
                </a:r>
                <a:r>
                  <a:rPr lang="ko-KR" altLang="en-US" sz="1600" dirty="0"/>
                  <a:t>가 필요하다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 err="1"/>
                  <a:t>수요표출기구의</a:t>
                </a:r>
                <a:r>
                  <a:rPr lang="ko-KR" altLang="en-US" sz="1600" dirty="0"/>
                  <a:t> 기본적인 접근법은 아래와 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모든 사람으로 하여금 공공재에 대한 선호를 표출하게 만든 뒤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특정 공식에 의해 적정한 공공재의 수준과 각자가 내야 할 세금의 몫을 결정한다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예를 들어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dirty="0"/>
                  <a:t>명의 사람들에게 어떤 공공재에 대한 선호를 물었는데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dirty="0"/>
                  <a:t>번째 사람이 그것에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sz="1600" dirty="0"/>
                  <a:t>는 가치를 부여한다고 대답했다고 하자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여기서</a:t>
                </a:r>
                <a:r>
                  <a:rPr lang="en-US" altLang="ko-KR" sz="1600" spc="-1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spc="-100" dirty="0"/>
                  <a:t>는 그 공공재의 양을 뜻하며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이 함수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의 값은 그 사람이 각 공공재의 양에 대해 부여하는 가치를 뜻한다</a:t>
                </a:r>
                <a:r>
                  <a:rPr lang="en-US" altLang="ko-KR" sz="1600" spc="-1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만약 정부가 공공재를 단위당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sz="1600" spc="-100" dirty="0"/>
                  <a:t>원의 비용으로 생산할 수 있다면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정부는 다음의 식을 극대화하는 공공재의 생산수준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을 선택한다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blipFill>
                <a:blip r:embed="rId2"/>
                <a:stretch>
                  <a:fillRect r="-261" b="-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/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𝑐𝑍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7367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E31164-7F07-A6E2-5B78-04596A090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A36B5-03BF-35D6-08C4-FF62259D6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공공재 생산수준의 결정방식을 살펴보았는데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사람들이 보고한 공공재의 가치</a:t>
                </a:r>
                <a:r>
                  <a:rPr lang="en-US" altLang="ko-KR" sz="1600" spc="-1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 </a:t>
                </a:r>
                <a:r>
                  <a:rPr lang="ko-KR" altLang="en-US" sz="1600" dirty="0"/>
                  <a:t>에 기초하고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즉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사람들이 본인이 느끼는 공공재의 가치를 정직하게 표출하지 않으면</a:t>
                </a:r>
                <a:r>
                  <a:rPr lang="en-US" altLang="ko-KR" sz="1600" spc="-100" dirty="0"/>
                  <a:t>,</a:t>
                </a:r>
                <a:r>
                  <a:rPr lang="ko-KR" altLang="en-US" sz="1600" spc="-100" dirty="0"/>
                  <a:t> 정부는 최적 생산수준을 선택할 수 없다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그러므로 적절한 방식으로 조세를 부과하여 사람들이 본인의 공공재에 대한 선호를 정직하게 표출할 수 있도록 유도해야 한다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100" dirty="0"/>
                  <a:t>아래 식에 의해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부담해야 할 조세의 크기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를 결정하면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사람들은 전략적으로 행동할 유인이 없어진다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위 식에서 우변의 마지막 항에 나오는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100" dirty="0"/>
                  <a:t>는 임의의 함수이고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는 각 사람이 표출한 공공재에 대한 선호를 모두 모은 뒤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표출한 선호만을 제외하고 만든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100" dirty="0"/>
                  <a:t>차원의 벡터를 뜻한다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 식에서 가장 중요한 점은 어떤 사람이 부담해야 할 세금의 크기는 남들이 표출한 선호에만 의존하며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자신이 표출한 선호와는 무관하게 결정된다는 점이다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이러한 </a:t>
                </a:r>
                <a:r>
                  <a:rPr lang="ko-KR" altLang="en-US" sz="1600" spc="-100" dirty="0" err="1"/>
                  <a:t>수요표출기구</a:t>
                </a:r>
                <a:r>
                  <a:rPr lang="en-US" altLang="ko-KR" sz="1600" spc="-100" dirty="0"/>
                  <a:t> (</a:t>
                </a:r>
                <a:r>
                  <a:rPr lang="ko-KR" altLang="en-US" sz="1600" spc="-100" dirty="0"/>
                  <a:t>혹은 메커니즘</a:t>
                </a:r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하에서는 각자가 진정한 선호를 표출하는 것이 우월 전략이 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blipFill>
                <a:blip r:embed="rId2"/>
                <a:stretch>
                  <a:fillRect r="-573" b="-8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/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03734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6A9985-B0A2-985B-75B0-DE0A596BB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0BE949-D0F3-8E4D-FB38-7692E9A11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77A696-0A06-79F7-2B40-B81FAEDACF19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수요표출기구처럼</a:t>
            </a:r>
            <a:r>
              <a:rPr lang="ko-KR" altLang="en-US" sz="1600" spc="-100" dirty="0"/>
              <a:t> 공공재에 대한 진정한 선호를 표출하도록 유도하는 방법은 아니지만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간접적으로 공공재에 대한 수요를 추정하는 방법도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방법은 공공재와 사적재화 사이에 존재하는 보완성에 착안하여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소비자가 사적재화에 대해 표출한 선호를 통해 공공재에 대한 수요를 추정하는 것을 기본 아이디로 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예를 들면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를 이용하기 위해서는 특별한 장비가 필요하다고 하자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이 때 그 장비는 </a:t>
            </a:r>
            <a:r>
              <a:rPr lang="ko-KR" altLang="en-US" sz="1600" spc="-100" dirty="0" err="1"/>
              <a:t>사적재화이기</a:t>
            </a:r>
            <a:r>
              <a:rPr lang="ko-KR" altLang="en-US" sz="1600" spc="-100" dirty="0"/>
              <a:t> 때문에 소비자는 진정한 수요를 표출할 수 밖에 없다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소비자는 그 장비를 구매함으로써 국립공원에 대한 선호를 자신도 모르게 표출하게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 장비의 시장자료를 모은 뒤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이론적 방법론을 통해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에 대한 수요를 추출할 수 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다만 위의 방법은 공공재와 강한 보완성을 갖는 사적재화가 존재하는 특수한 경우에만 적용 가능하다는 한계가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현실에서는 위와 같은 예시를 찾기 힘들다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100" dirty="0"/>
          </a:p>
        </p:txBody>
      </p:sp>
    </p:spTree>
    <p:extLst>
      <p:ext uri="{BB962C8B-B14F-4D97-AF65-F5344CB8AC3E}">
        <p14:creationId xmlns:p14="http://schemas.microsoft.com/office/powerpoint/2010/main" val="2614456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ED90E-BB64-4240-CF48-5A59A1300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공공재게임</a:t>
            </a:r>
            <a:r>
              <a:rPr lang="en-US" altLang="ko-KR" dirty="0"/>
              <a:t>-</a:t>
            </a:r>
            <a:r>
              <a:rPr lang="ko-KR" altLang="en-US" dirty="0"/>
              <a:t>행태경제이론적 관점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F724A-9B27-0F26-BFF9-ECD15D13D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335D13-3623-314E-541B-C78C83DABE44}"/>
              </a:ext>
            </a:extLst>
          </p:cNvPr>
          <p:cNvSpPr txBox="1"/>
          <p:nvPr/>
        </p:nvSpPr>
        <p:spPr>
          <a:xfrm>
            <a:off x="288790" y="958844"/>
            <a:ext cx="1169366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전통적 경제이론의 기본가정이</a:t>
            </a:r>
            <a:r>
              <a:rPr lang="en-US" altLang="ko-KR" sz="1600" spc="-100" dirty="0"/>
              <a:t> (‘</a:t>
            </a:r>
            <a:r>
              <a:rPr lang="ko-KR" altLang="en-US" sz="1600" spc="-100" dirty="0"/>
              <a:t>모든 인간이 이기적이고 합리적이다</a:t>
            </a:r>
            <a:r>
              <a:rPr lang="en-US" altLang="ko-KR" sz="1600" spc="-100" dirty="0"/>
              <a:t>’) </a:t>
            </a:r>
            <a:r>
              <a:rPr lang="ko-KR" altLang="en-US" sz="1600" spc="-100" dirty="0" err="1"/>
              <a:t>맞다면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공공재에 대한 무임승차가 일어나는 것은 당연하다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현실에서 인간은 완벽하게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또 합리적이라고 단정지을 수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행태경제이론은 위와 같은 전통적 경제이론의 기본가정에 의문을 제기하고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인간은 언제나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합리적이지 않기 때문에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공공재와 관련해 무임승차 문제가 항상 발생하는 것은 아니라는 주장이다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02519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18F1-9645-A89F-CD45-A5B130DD8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A8541DC-CFC2-EBF7-4672-51532A0C48D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584AFE-4C54-8894-6AE5-8CF66134E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B90735-2026-6F47-A63D-208175BDD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공공재의 다른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52031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CFD6-7FD1-919A-2343-2DCD81E95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5E945-881F-CCBA-C70D-49B3FFC95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공급주체의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32EB6F-07F2-5F3C-B0C8-807011299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EF03E-2B3C-2D1E-7735-6847382960A9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시장이 공공재를 적절히 배분하지 못하기 때문에 정부의 적극적 역할을 기대할 수 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정부의 개입은 나름대로 문제를 일으킬 수 있는 측면이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만약 정부가 개입하지 않고 민간부문이 자발적으로 공급하는 쪽이 더 효율적이라면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구태여 정부가 나설 필요는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결국 공공재 공급의 주체가 공공부문이어야 하는지</a:t>
            </a:r>
            <a:r>
              <a:rPr lang="en-US" altLang="ko-KR" sz="1600" spc="-100" dirty="0"/>
              <a:t> </a:t>
            </a:r>
            <a:r>
              <a:rPr lang="ko-KR" altLang="en-US" sz="1600" spc="-100" dirty="0"/>
              <a:t>혹은 민간부문이어야 하는 지의 문제는 아래와 같은 측면을 고려해야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첫째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 생산을 위해 사용되는 노동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원자재에 대해 두 부문이 서로 다른 가격을 지불한다면</a:t>
            </a:r>
            <a:r>
              <a:rPr lang="en-US" altLang="ko-KR" sz="1600" spc="-100" dirty="0"/>
              <a:t>,  </a:t>
            </a:r>
            <a:r>
              <a:rPr lang="ko-KR" altLang="en-US" sz="1600" spc="-100" dirty="0"/>
              <a:t>이 같이 상대적 비용 격차가 하나의 고려기준이 될 수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공공재를 더 저렴한 비용으로 공급할 수 있는 쪽이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공공재를 생산해야 한다는 뜻이다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둘째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국민의 다양한 선호에 적절히 부응할 수 있는지가 또 하나의 고려기준이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공공부문이 공급주체가 되면 관료조직의 특성상 다양한 서비스보다는 획일적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행정편의적 공급이 될 가능성이 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셋째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분배적인 측면을 고려해 공급 주체를 생각해볼 필요가 있다</a:t>
            </a:r>
            <a:r>
              <a:rPr lang="en-US" altLang="ko-KR" sz="1600" spc="-1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어떤 공공재는 그 속성상 사회 구성원 모두에게 골고루 분배되는 것이 바람직하다</a:t>
            </a:r>
            <a:r>
              <a:rPr lang="en-US" altLang="ko-KR" sz="1600" spc="-100" dirty="0"/>
              <a:t>. (</a:t>
            </a:r>
            <a:r>
              <a:rPr lang="ko-KR" altLang="en-US" sz="1600" spc="-100" dirty="0"/>
              <a:t>예 초등교육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재난경보</a:t>
            </a:r>
            <a:r>
              <a:rPr lang="en-US" altLang="ko-KR" sz="1600" spc="-100" dirty="0"/>
              <a:t>)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한 가지 짚어야 할 사실은 공공부문이 공급의 주체가 되어야 하는 경우라 할지라도 생산과정까지 공공부문이 도맡아야 할 필요는 없다는 점이다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관료는 이윤동기 같은 확실한 유인이 없으므로 생산과정에서 비효율성을 보일 수 있다는 뜻이다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민간부문이 생산과정을 담당하고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공공부문은 공급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배분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과정만을 책임지는 방안도 고려할 수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50686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9B73D-5C19-0CE5-37AA-C88A742E3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중립성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4C6C5A-6B5F-7082-94E6-F54304A6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D3A1D-E1DF-D274-6F08-B63F75C0BAD1}"/>
              </a:ext>
            </a:extLst>
          </p:cNvPr>
          <p:cNvSpPr txBox="1"/>
          <p:nvPr/>
        </p:nvSpPr>
        <p:spPr>
          <a:xfrm>
            <a:off x="288790" y="958844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/>
              <a:t>애초에 민간부문이 </a:t>
            </a:r>
            <a:endParaRPr lang="en-US" altLang="ko-KR" sz="1600" spc="-100" dirty="0"/>
          </a:p>
        </p:txBody>
      </p:sp>
    </p:spTree>
    <p:extLst>
      <p:ext uri="{BB962C8B-B14F-4D97-AF65-F5344CB8AC3E}">
        <p14:creationId xmlns:p14="http://schemas.microsoft.com/office/powerpoint/2010/main" val="24206619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XXXXXXXXXXXXXXXXXXXXX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78B37-EAA7-28D8-BDA8-B62EC22EE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704428-79CE-52CC-4C0F-8B00F9EA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재정의 기본골격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BE056D-0367-563A-C3E1-139F0364B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C4D591-35A7-5FBF-B3E7-7795B0BCD05C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국민경제는 민간부문과 공공부문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정부부문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두 부문으로 구분이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정부는 앞 장에서 설명한 넓은 의미로서의 정부를 뜻하며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아래의 표처럼 다시 공공기관과 좁은 의미에서의 정부로 구분이 가능하다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C0DD93-775A-D27F-107E-C71A4323E8A6}"/>
              </a:ext>
            </a:extLst>
          </p:cNvPr>
          <p:cNvSpPr txBox="1"/>
          <p:nvPr/>
        </p:nvSpPr>
        <p:spPr>
          <a:xfrm>
            <a:off x="565795" y="408423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민간부문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83A928-0E97-C85A-011A-75CA4257F462}"/>
              </a:ext>
            </a:extLst>
          </p:cNvPr>
          <p:cNvSpPr txBox="1"/>
          <p:nvPr/>
        </p:nvSpPr>
        <p:spPr>
          <a:xfrm>
            <a:off x="565795" y="526467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공공부문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11F79-2DAA-970C-4547-8766AFDAE8D4}"/>
              </a:ext>
            </a:extLst>
          </p:cNvPr>
          <p:cNvSpPr txBox="1"/>
          <p:nvPr/>
        </p:nvSpPr>
        <p:spPr>
          <a:xfrm>
            <a:off x="2576358" y="468754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정 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186588-33F7-A169-A5B0-E986C74AF10C}"/>
              </a:ext>
            </a:extLst>
          </p:cNvPr>
          <p:cNvSpPr txBox="1"/>
          <p:nvPr/>
        </p:nvSpPr>
        <p:spPr>
          <a:xfrm>
            <a:off x="2576358" y="592111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공공기관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59C442-EE2C-1327-E506-A7B36DE2C22D}"/>
              </a:ext>
            </a:extLst>
          </p:cNvPr>
          <p:cNvSpPr txBox="1"/>
          <p:nvPr/>
        </p:nvSpPr>
        <p:spPr>
          <a:xfrm>
            <a:off x="4497849" y="376781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중앙정부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9A22FF-8AB9-A66D-3956-CC58E130BEA3}"/>
              </a:ext>
            </a:extLst>
          </p:cNvPr>
          <p:cNvSpPr txBox="1"/>
          <p:nvPr/>
        </p:nvSpPr>
        <p:spPr>
          <a:xfrm>
            <a:off x="4497849" y="52799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지방정부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0DF93A-FF27-5FD2-3FB2-2ABB22D61FBE}"/>
              </a:ext>
            </a:extLst>
          </p:cNvPr>
          <p:cNvSpPr txBox="1"/>
          <p:nvPr/>
        </p:nvSpPr>
        <p:spPr>
          <a:xfrm>
            <a:off x="6395158" y="34493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예 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E02BF95-DCB1-1AD7-B5D1-A1707CCD87F2}"/>
              </a:ext>
            </a:extLst>
          </p:cNvPr>
          <p:cNvSpPr txBox="1"/>
          <p:nvPr/>
        </p:nvSpPr>
        <p:spPr>
          <a:xfrm>
            <a:off x="6395158" y="404947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기 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689AB5-1B05-EFD4-442C-6E708F0FC79F}"/>
              </a:ext>
            </a:extLst>
          </p:cNvPr>
          <p:cNvSpPr txBox="1"/>
          <p:nvPr/>
        </p:nvSpPr>
        <p:spPr>
          <a:xfrm>
            <a:off x="8291809" y="308786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98F606-CAE1-9358-B444-1278CE09815B}"/>
              </a:ext>
            </a:extLst>
          </p:cNvPr>
          <p:cNvSpPr txBox="1"/>
          <p:nvPr/>
        </p:nvSpPr>
        <p:spPr>
          <a:xfrm>
            <a:off x="8291809" y="373570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  <p:sp>
        <p:nvSpPr>
          <p:cNvPr id="51" name="왼쪽 중괄호 50">
            <a:extLst>
              <a:ext uri="{FF2B5EF4-FFF2-40B4-BE49-F238E27FC236}">
                <a16:creationId xmlns:a16="http://schemas.microsoft.com/office/drawing/2014/main" id="{2BC940DA-76F5-E30D-D4E6-BB4F7157AB30}"/>
              </a:ext>
            </a:extLst>
          </p:cNvPr>
          <p:cNvSpPr/>
          <p:nvPr/>
        </p:nvSpPr>
        <p:spPr>
          <a:xfrm>
            <a:off x="2278734" y="4931833"/>
            <a:ext cx="297623" cy="1152688"/>
          </a:xfrm>
          <a:prstGeom prst="leftBrace">
            <a:avLst>
              <a:gd name="adj1" fmla="val 0"/>
              <a:gd name="adj2" fmla="val 435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8430D42D-E441-6581-5D5E-DC73F2A8F316}"/>
              </a:ext>
            </a:extLst>
          </p:cNvPr>
          <p:cNvSpPr/>
          <p:nvPr/>
        </p:nvSpPr>
        <p:spPr>
          <a:xfrm>
            <a:off x="4289297" y="4168639"/>
            <a:ext cx="208551" cy="1280586"/>
          </a:xfrm>
          <a:prstGeom prst="leftBrace">
            <a:avLst>
              <a:gd name="adj1" fmla="val 0"/>
              <a:gd name="adj2" fmla="val 54055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왼쪽 중괄호 52">
            <a:extLst>
              <a:ext uri="{FF2B5EF4-FFF2-40B4-BE49-F238E27FC236}">
                <a16:creationId xmlns:a16="http://schemas.microsoft.com/office/drawing/2014/main" id="{A48AC7DF-4A62-EA6D-F4DE-3BBD4A464BF3}"/>
              </a:ext>
            </a:extLst>
          </p:cNvPr>
          <p:cNvSpPr/>
          <p:nvPr/>
        </p:nvSpPr>
        <p:spPr>
          <a:xfrm>
            <a:off x="6211447" y="3577167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왼쪽 중괄호 53">
            <a:extLst>
              <a:ext uri="{FF2B5EF4-FFF2-40B4-BE49-F238E27FC236}">
                <a16:creationId xmlns:a16="http://schemas.microsoft.com/office/drawing/2014/main" id="{324AF123-75C2-6C4D-B5D9-20E82E1B6895}"/>
              </a:ext>
            </a:extLst>
          </p:cNvPr>
          <p:cNvSpPr/>
          <p:nvPr/>
        </p:nvSpPr>
        <p:spPr>
          <a:xfrm>
            <a:off x="8108098" y="3257141"/>
            <a:ext cx="183711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C106E900-BDFD-D76E-DB40-1907F017E075}"/>
              </a:ext>
            </a:extLst>
          </p:cNvPr>
          <p:cNvSpPr/>
          <p:nvPr/>
        </p:nvSpPr>
        <p:spPr>
          <a:xfrm>
            <a:off x="6211447" y="5106130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91E1D9-5F2B-ADF3-49E0-F06D449B90E2}"/>
              </a:ext>
            </a:extLst>
          </p:cNvPr>
          <p:cNvSpPr txBox="1"/>
          <p:nvPr/>
        </p:nvSpPr>
        <p:spPr>
          <a:xfrm>
            <a:off x="6395158" y="492533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일반재정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1B2176-B256-EAA5-CA07-5151D1B64849}"/>
              </a:ext>
            </a:extLst>
          </p:cNvPr>
          <p:cNvSpPr txBox="1"/>
          <p:nvPr/>
        </p:nvSpPr>
        <p:spPr>
          <a:xfrm>
            <a:off x="6395158" y="557769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교육재정</a:t>
            </a:r>
          </a:p>
        </p:txBody>
      </p:sp>
      <p:sp>
        <p:nvSpPr>
          <p:cNvPr id="58" name="왼쪽 중괄호 57">
            <a:extLst>
              <a:ext uri="{FF2B5EF4-FFF2-40B4-BE49-F238E27FC236}">
                <a16:creationId xmlns:a16="http://schemas.microsoft.com/office/drawing/2014/main" id="{190667DD-6992-F490-EA54-73B1F855F86E}"/>
              </a:ext>
            </a:extLst>
          </p:cNvPr>
          <p:cNvSpPr/>
          <p:nvPr/>
        </p:nvSpPr>
        <p:spPr>
          <a:xfrm>
            <a:off x="8108099" y="4720281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223FC4-A0BA-28E1-11A1-D6A2A9903139}"/>
              </a:ext>
            </a:extLst>
          </p:cNvPr>
          <p:cNvSpPr txBox="1"/>
          <p:nvPr/>
        </p:nvSpPr>
        <p:spPr>
          <a:xfrm>
            <a:off x="8291809" y="456861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예 산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F487319-FCAD-C0F9-1755-E3D91E0E3DA8}"/>
              </a:ext>
            </a:extLst>
          </p:cNvPr>
          <p:cNvSpPr txBox="1"/>
          <p:nvPr/>
        </p:nvSpPr>
        <p:spPr>
          <a:xfrm>
            <a:off x="8291809" y="521645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기 금</a:t>
            </a:r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92467F3C-A35A-6ECB-43C3-8ED100458886}"/>
              </a:ext>
            </a:extLst>
          </p:cNvPr>
          <p:cNvSpPr/>
          <p:nvPr/>
        </p:nvSpPr>
        <p:spPr>
          <a:xfrm>
            <a:off x="10004749" y="4377952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297991-D7DF-B539-8E1C-8C600922776A}"/>
              </a:ext>
            </a:extLst>
          </p:cNvPr>
          <p:cNvSpPr txBox="1"/>
          <p:nvPr/>
        </p:nvSpPr>
        <p:spPr>
          <a:xfrm>
            <a:off x="10190933" y="421689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528E4C5-50DA-61CE-EFD9-D0406C8E089D}"/>
              </a:ext>
            </a:extLst>
          </p:cNvPr>
          <p:cNvSpPr txBox="1"/>
          <p:nvPr/>
        </p:nvSpPr>
        <p:spPr>
          <a:xfrm>
            <a:off x="10190933" y="486256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</p:spTree>
    <p:extLst>
      <p:ext uri="{BB962C8B-B14F-4D97-AF65-F5344CB8AC3E}">
        <p14:creationId xmlns:p14="http://schemas.microsoft.com/office/powerpoint/2010/main" val="34559986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3FB948-AD36-2891-6DB7-C142F0A00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재정규모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0F73B5-63BF-B5EB-866B-64C43991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3A3329A-F486-5A53-6765-2BB1251C2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83"/>
              </p:ext>
            </p:extLst>
          </p:nvPr>
        </p:nvGraphicFramePr>
        <p:xfrm>
          <a:off x="701293" y="3305932"/>
          <a:ext cx="9537045" cy="332308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6243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1380406718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재정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(GDP)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대비 재정규모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예산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기금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세입세출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특별회계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690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437.0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651.6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19.8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957.4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188.0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19.6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1,322.6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19.2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1,658.0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20.5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1,740.8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354.4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2017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1,835.7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105.8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20.7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1,898.2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246.4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41.7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112.4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407.1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2019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1,919.0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23.8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49E7DC-F89D-9E7E-9BF1-73EB25B16528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년까지 예산과 기금으로 구성된 중앙정부의 재정규모가 어떻게 변화했는지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중앙정부의 재정규모가 </a:t>
            </a:r>
            <a:r>
              <a:rPr lang="en-US" altLang="ko-KR" sz="1600" spc="-50" dirty="0"/>
              <a:t>GDP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17%, </a:t>
            </a:r>
            <a:r>
              <a:rPr lang="ko-KR" altLang="en-US" sz="1600" spc="-50" dirty="0"/>
              <a:t>이후 그 비중이 증가하여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23.8%</a:t>
            </a:r>
            <a:r>
              <a:rPr lang="ko-KR" altLang="en-US" sz="1600" spc="-50" dirty="0"/>
              <a:t>에 이르렀다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예산과 기금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비중은 점차 증가했지만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예산이 훨씬 더 큰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2019</a:t>
            </a:r>
            <a:r>
              <a:rPr lang="ko-KR" altLang="en-US" sz="1600" spc="-50" dirty="0"/>
              <a:t>년 중앙정부의 재정에서 예산의 비중은 </a:t>
            </a:r>
            <a:r>
              <a:rPr lang="en-US" altLang="ko-KR" sz="1600" spc="-50" dirty="0"/>
              <a:t>71.0%, </a:t>
            </a:r>
            <a:r>
              <a:rPr lang="ko-KR" altLang="en-US" sz="1600" spc="-50" dirty="0"/>
              <a:t>기금의 비중은 </a:t>
            </a:r>
            <a:r>
              <a:rPr lang="en-US" altLang="ko-KR" sz="1600" spc="-50" dirty="0"/>
              <a:t>26.5% </a:t>
            </a:r>
            <a:r>
              <a:rPr lang="ko-KR" altLang="en-US" sz="1600" spc="-50" dirty="0"/>
              <a:t>수준에 머물고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 내에서 일반회계와 특별회계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일반회계의 규모가 훨씬 더 큰 추세가 계속되어 왔다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85AC43-1AED-6E5B-F7EB-C610CFA82971}"/>
              </a:ext>
            </a:extLst>
          </p:cNvPr>
          <p:cNvSpPr txBox="1"/>
          <p:nvPr/>
        </p:nvSpPr>
        <p:spPr>
          <a:xfrm>
            <a:off x="4142665" y="3000100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중앙정부의 재정규모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762511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E36DF-6AD5-9427-6DC5-81DB5261B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D88E6D-15DC-8587-9B8B-B2F0E0116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A801AB-87C5-8A42-44DD-A58746D26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D0AD3F6-B31F-102F-C382-2EAAC9AFE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3668606"/>
              </p:ext>
            </p:extLst>
          </p:nvPr>
        </p:nvGraphicFramePr>
        <p:xfrm>
          <a:off x="7372350" y="1080010"/>
          <a:ext cx="4408152" cy="545128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3469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251473912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95048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세외수입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95048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관세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24.1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2.8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26.8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(14.2)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45.8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(86.5)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4.6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50.4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(95.3)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76.2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5.8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82.0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10.6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(89.7)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14.1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160.2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10.7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170.9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(16.7)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202.3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(77.2)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8.5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(3.2)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210.8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(19.5)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261.9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227.7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8.0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235.7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46.0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(16.3)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281.7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2017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250.0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8.5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258.5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(88.3)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(11.7)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292.9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227.7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(87.6)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8.8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285.9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(90.4)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30.3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(9.6)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316.2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2019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278.1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286.0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(86.1)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46.2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(13.9)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332.2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E5860BE-337A-C3B1-98ED-CECFF864FCCC}"/>
              </a:ext>
            </a:extLst>
          </p:cNvPr>
          <p:cNvSpPr txBox="1"/>
          <p:nvPr/>
        </p:nvSpPr>
        <p:spPr>
          <a:xfrm>
            <a:off x="8295565" y="759017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 세입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0B2249-F511-CCAD-4D05-EC223BD416E1}"/>
              </a:ext>
            </a:extLst>
          </p:cNvPr>
          <p:cNvSpPr txBox="1"/>
          <p:nvPr/>
        </p:nvSpPr>
        <p:spPr>
          <a:xfrm>
            <a:off x="288790" y="958844"/>
            <a:ext cx="6962910" cy="461517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(1)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세입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일반회계의 세입은 중앙정부의 각종 내국세와 관세 등을 통해 얻는 조세수입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재산수입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경상이전수입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판매수입 등이 포함되어 있는 세외수입의 두 부분으로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내국세는 </a:t>
            </a:r>
            <a:r>
              <a:rPr lang="ko-KR" altLang="en-US" sz="1600" spc="-50" dirty="0" err="1"/>
              <a:t>세입원</a:t>
            </a:r>
            <a:r>
              <a:rPr lang="ko-KR" altLang="en-US" sz="1600" spc="-50" dirty="0"/>
              <a:t> 중에서도 압도적인 중요성을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 관세를 제외한 모든 세금이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표에서 볼 수 있듯이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 일반회계 세입의 </a:t>
            </a:r>
            <a:r>
              <a:rPr lang="en-US" altLang="ko-KR" sz="1600" spc="-50" dirty="0"/>
              <a:t>86.1%</a:t>
            </a:r>
            <a:r>
              <a:rPr lang="ko-KR" altLang="en-US" sz="1600" spc="-50" dirty="0"/>
              <a:t>에 해당하는 </a:t>
            </a:r>
            <a:r>
              <a:rPr lang="en-US" altLang="ko-KR" sz="1600" spc="-50" dirty="0"/>
              <a:t>286</a:t>
            </a:r>
            <a:r>
              <a:rPr lang="ko-KR" altLang="en-US" sz="1600" spc="-50" dirty="0"/>
              <a:t>조원이 조세수입으로 충당되고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중 내국세 수입은 </a:t>
            </a:r>
            <a:r>
              <a:rPr lang="en-US" altLang="ko-KR" sz="1600" spc="-50" dirty="0"/>
              <a:t>278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천억원으로 일반회계 세입의 </a:t>
            </a:r>
            <a:r>
              <a:rPr lang="en-US" altLang="ko-KR" sz="1600" spc="-50" dirty="0"/>
              <a:t>83.7%</a:t>
            </a:r>
            <a:r>
              <a:rPr lang="ko-KR" altLang="en-US" sz="1600" spc="-50" dirty="0"/>
              <a:t>를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표에는 나타나 있지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내국세 중에서도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부가가치세의 세 가지 조세로부터의 수입은 </a:t>
            </a:r>
            <a:r>
              <a:rPr lang="en-US" altLang="ko-KR" sz="1600" spc="-50" dirty="0"/>
              <a:t>226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천억원으로 전체 조세수입의 </a:t>
            </a:r>
            <a:r>
              <a:rPr lang="en-US" altLang="ko-KR" sz="1600" spc="-50" dirty="0"/>
              <a:t>79.2%</a:t>
            </a:r>
            <a:r>
              <a:rPr lang="ko-KR" altLang="en-US" sz="1600" spc="-50" dirty="0"/>
              <a:t>를 차지할 만큼 큰 비중을 차지한다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9530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144E-46F8-9B14-1181-8703CF39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CCA4-3C2B-5B33-322A-C3D926CE1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8498EE-CB3A-80D0-2E9D-2B7047076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E95856-9596-86E7-0F26-2A6111102B84}"/>
              </a:ext>
            </a:extLst>
          </p:cNvPr>
          <p:cNvSpPr txBox="1"/>
          <p:nvPr/>
        </p:nvSpPr>
        <p:spPr>
          <a:xfrm>
            <a:off x="8997133" y="91915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135E70-49C9-38CD-5BA8-09F9D66CD8BE}"/>
              </a:ext>
            </a:extLst>
          </p:cNvPr>
          <p:cNvSpPr txBox="1"/>
          <p:nvPr/>
        </p:nvSpPr>
        <p:spPr>
          <a:xfrm>
            <a:off x="8997133" y="130447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법인세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63BE68-5F37-ACBD-2CF7-4223394C3961}"/>
              </a:ext>
            </a:extLst>
          </p:cNvPr>
          <p:cNvSpPr txBox="1"/>
          <p:nvPr/>
        </p:nvSpPr>
        <p:spPr>
          <a:xfrm>
            <a:off x="8997133" y="169228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부가가치세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C0349D-11FC-AFF0-26D8-68A050CFC2C2}"/>
              </a:ext>
            </a:extLst>
          </p:cNvPr>
          <p:cNvSpPr txBox="1"/>
          <p:nvPr/>
        </p:nvSpPr>
        <p:spPr>
          <a:xfrm>
            <a:off x="8997133" y="207760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개별소비세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632C85-8AAF-0F73-3300-B30200F9AA4B}"/>
              </a:ext>
            </a:extLst>
          </p:cNvPr>
          <p:cNvSpPr txBox="1"/>
          <p:nvPr/>
        </p:nvSpPr>
        <p:spPr>
          <a:xfrm>
            <a:off x="8997133" y="24629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상속세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0129BA-2EBB-BE30-E3A5-44FE054C5A1D}"/>
              </a:ext>
            </a:extLst>
          </p:cNvPr>
          <p:cNvSpPr txBox="1"/>
          <p:nvPr/>
        </p:nvSpPr>
        <p:spPr>
          <a:xfrm>
            <a:off x="8997133" y="28482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증여세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DF9C6E-8707-109E-42CF-16A9C5B4D4F2}"/>
              </a:ext>
            </a:extLst>
          </p:cNvPr>
          <p:cNvSpPr txBox="1"/>
          <p:nvPr/>
        </p:nvSpPr>
        <p:spPr>
          <a:xfrm>
            <a:off x="8997133" y="323605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증권거래세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DEDA87-40F8-72B0-6B0A-767D91004723}"/>
              </a:ext>
            </a:extLst>
          </p:cNvPr>
          <p:cNvSpPr txBox="1"/>
          <p:nvPr/>
        </p:nvSpPr>
        <p:spPr>
          <a:xfrm>
            <a:off x="8997133" y="362137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인지세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F45D5B-C0A0-EF88-9DA8-C467F7A959B2}"/>
              </a:ext>
            </a:extLst>
          </p:cNvPr>
          <p:cNvSpPr txBox="1"/>
          <p:nvPr/>
        </p:nvSpPr>
        <p:spPr>
          <a:xfrm>
            <a:off x="8997133" y="409644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종합부동산세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0AB43-49B2-58D3-FCC9-FF8B9AFCD78F}"/>
              </a:ext>
            </a:extLst>
          </p:cNvPr>
          <p:cNvSpPr txBox="1"/>
          <p:nvPr/>
        </p:nvSpPr>
        <p:spPr>
          <a:xfrm>
            <a:off x="8997133" y="457701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농어촌특별세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C4F338-8891-95B6-AB92-D08A39916BAE}"/>
              </a:ext>
            </a:extLst>
          </p:cNvPr>
          <p:cNvSpPr txBox="1"/>
          <p:nvPr/>
        </p:nvSpPr>
        <p:spPr>
          <a:xfrm>
            <a:off x="8997133" y="49648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A2D81D-1E06-BE90-DC4F-EB6D71A787B6}"/>
              </a:ext>
            </a:extLst>
          </p:cNvPr>
          <p:cNvSpPr txBox="1"/>
          <p:nvPr/>
        </p:nvSpPr>
        <p:spPr>
          <a:xfrm>
            <a:off x="8997133" y="53501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교통</a:t>
            </a:r>
            <a:r>
              <a:rPr kumimoji="0" lang="en-US" altLang="ko-KR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에너지</a:t>
            </a:r>
            <a:r>
              <a:rPr lang="en-US" altLang="ko-KR" sz="14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환경세</a:t>
            </a:r>
            <a:endParaRPr kumimoji="0" lang="ko-KR" altLang="en-US" sz="1400" b="0" i="0" u="none" strike="noStrike" kern="1200" cap="none" spc="-10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6F6718-55CB-1010-DF33-DDB95CD8FEA1}"/>
              </a:ext>
            </a:extLst>
          </p:cNvPr>
          <p:cNvSpPr txBox="1"/>
          <p:nvPr/>
        </p:nvSpPr>
        <p:spPr>
          <a:xfrm>
            <a:off x="8997133" y="5820973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주세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30FBE5-2292-E707-5894-3E501D8EB3CB}"/>
              </a:ext>
            </a:extLst>
          </p:cNvPr>
          <p:cNvSpPr txBox="1"/>
          <p:nvPr/>
        </p:nvSpPr>
        <p:spPr>
          <a:xfrm>
            <a:off x="8997133" y="6244391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관세</a:t>
            </a:r>
          </a:p>
        </p:txBody>
      </p:sp>
      <p:sp>
        <p:nvSpPr>
          <p:cNvPr id="45" name="오른쪽 중괄호 44">
            <a:extLst>
              <a:ext uri="{FF2B5EF4-FFF2-40B4-BE49-F238E27FC236}">
                <a16:creationId xmlns:a16="http://schemas.microsoft.com/office/drawing/2014/main" id="{D3359BEB-8FE7-3B37-01E2-FFE31669923D}"/>
              </a:ext>
            </a:extLst>
          </p:cNvPr>
          <p:cNvSpPr/>
          <p:nvPr/>
        </p:nvSpPr>
        <p:spPr>
          <a:xfrm>
            <a:off x="10779125" y="1006419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오른쪽 중괄호 45">
            <a:extLst>
              <a:ext uri="{FF2B5EF4-FFF2-40B4-BE49-F238E27FC236}">
                <a16:creationId xmlns:a16="http://schemas.microsoft.com/office/drawing/2014/main" id="{74EF7990-7CFA-8218-F863-95695961ECBE}"/>
              </a:ext>
            </a:extLst>
          </p:cNvPr>
          <p:cNvSpPr/>
          <p:nvPr/>
        </p:nvSpPr>
        <p:spPr>
          <a:xfrm>
            <a:off x="10779125" y="1786940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오른쪽 중괄호 47">
            <a:extLst>
              <a:ext uri="{FF2B5EF4-FFF2-40B4-BE49-F238E27FC236}">
                <a16:creationId xmlns:a16="http://schemas.microsoft.com/office/drawing/2014/main" id="{C612A5A5-1795-D49B-EC66-1B1D65257DE3}"/>
              </a:ext>
            </a:extLst>
          </p:cNvPr>
          <p:cNvSpPr/>
          <p:nvPr/>
        </p:nvSpPr>
        <p:spPr>
          <a:xfrm>
            <a:off x="10779125" y="2567460"/>
            <a:ext cx="152400" cy="1682869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오른쪽 중괄호 48">
            <a:extLst>
              <a:ext uri="{FF2B5EF4-FFF2-40B4-BE49-F238E27FC236}">
                <a16:creationId xmlns:a16="http://schemas.microsoft.com/office/drawing/2014/main" id="{2B91C317-5D35-413F-7D7E-7020242BD832}"/>
              </a:ext>
            </a:extLst>
          </p:cNvPr>
          <p:cNvSpPr/>
          <p:nvPr/>
        </p:nvSpPr>
        <p:spPr>
          <a:xfrm>
            <a:off x="10779125" y="5489311"/>
            <a:ext cx="152400" cy="911490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5AF6E3-B437-B492-6ED2-65D76458A989}"/>
              </a:ext>
            </a:extLst>
          </p:cNvPr>
          <p:cNvSpPr txBox="1"/>
          <p:nvPr/>
        </p:nvSpPr>
        <p:spPr>
          <a:xfrm>
            <a:off x="10710073" y="1086503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소득과세</a:t>
            </a:r>
            <a:endParaRPr lang="ko-KR" altLang="en-US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981550-1A93-6525-51EF-E5A678C84ACF}"/>
              </a:ext>
            </a:extLst>
          </p:cNvPr>
          <p:cNvSpPr txBox="1"/>
          <p:nvPr/>
        </p:nvSpPr>
        <p:spPr>
          <a:xfrm>
            <a:off x="10710073" y="1865895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F32DF57-36D6-5086-079F-9D237D442655}"/>
              </a:ext>
            </a:extLst>
          </p:cNvPr>
          <p:cNvSpPr txBox="1"/>
          <p:nvPr/>
        </p:nvSpPr>
        <p:spPr>
          <a:xfrm>
            <a:off x="10710073" y="3032214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재산과세</a:t>
            </a:r>
            <a:endParaRPr lang="ko-KR" altLang="en-US" sz="1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E4DA5A-6147-EB92-8A48-A3477396F54A}"/>
              </a:ext>
            </a:extLst>
          </p:cNvPr>
          <p:cNvSpPr txBox="1"/>
          <p:nvPr/>
        </p:nvSpPr>
        <p:spPr>
          <a:xfrm>
            <a:off x="10710073" y="5788361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E4AF541B-68DC-2BC4-67AC-D360DEFBCBD6}"/>
              </a:ext>
            </a:extLst>
          </p:cNvPr>
          <p:cNvSpPr/>
          <p:nvPr/>
        </p:nvSpPr>
        <p:spPr>
          <a:xfrm>
            <a:off x="8475133" y="1081827"/>
            <a:ext cx="507301" cy="2728171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D7FBB2-0D73-CC3A-8B31-45DC841F76ED}"/>
              </a:ext>
            </a:extLst>
          </p:cNvPr>
          <p:cNvSpPr txBox="1"/>
          <p:nvPr/>
        </p:nvSpPr>
        <p:spPr>
          <a:xfrm>
            <a:off x="7564119" y="233184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내국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(8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8BA25A-B97D-DC80-AFEB-E611A56374D4}"/>
              </a:ext>
            </a:extLst>
          </p:cNvPr>
          <p:cNvSpPr txBox="1"/>
          <p:nvPr/>
        </p:nvSpPr>
        <p:spPr>
          <a:xfrm>
            <a:off x="7564119" y="485710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(3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왼쪽 중괄호 58">
            <a:extLst>
              <a:ext uri="{FF2B5EF4-FFF2-40B4-BE49-F238E27FC236}">
                <a16:creationId xmlns:a16="http://schemas.microsoft.com/office/drawing/2014/main" id="{B2C7ACAD-B6ED-E709-5419-915D9E19E244}"/>
              </a:ext>
            </a:extLst>
          </p:cNvPr>
          <p:cNvSpPr/>
          <p:nvPr/>
        </p:nvSpPr>
        <p:spPr>
          <a:xfrm>
            <a:off x="8475133" y="4732052"/>
            <a:ext cx="507301" cy="757259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95E942-44AB-4B75-8070-86CA049C86C0}"/>
              </a:ext>
            </a:extLst>
          </p:cNvPr>
          <p:cNvSpPr txBox="1"/>
          <p:nvPr/>
        </p:nvSpPr>
        <p:spPr>
          <a:xfrm>
            <a:off x="6136900" y="3429000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(14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C0B7AAFF-3C4F-BE5F-C7EA-D9A970AD913B}"/>
              </a:ext>
            </a:extLst>
          </p:cNvPr>
          <p:cNvSpPr/>
          <p:nvPr/>
        </p:nvSpPr>
        <p:spPr>
          <a:xfrm>
            <a:off x="7051571" y="2593451"/>
            <a:ext cx="507301" cy="2562749"/>
          </a:xfrm>
          <a:prstGeom prst="leftBrace">
            <a:avLst>
              <a:gd name="adj1" fmla="val 0"/>
              <a:gd name="adj2" fmla="val 434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283855E3-2040-3A1C-291D-154A2775B625}"/>
              </a:ext>
            </a:extLst>
          </p:cNvPr>
          <p:cNvCxnSpPr>
            <a:cxnSpLocks/>
          </p:cNvCxnSpPr>
          <p:nvPr/>
        </p:nvCxnSpPr>
        <p:spPr>
          <a:xfrm>
            <a:off x="7305221" y="2593450"/>
            <a:ext cx="0" cy="3816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1956F552-1A70-F29C-9B39-80DAFB0213B4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3404330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8E3B3A4-D193-D333-BCF7-D11E66718F18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128861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618A7B3-C016-85FB-75D2-99A5E7682322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561619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D96D7B5-85C1-68E6-21DA-168E4B004A04}"/>
              </a:ext>
            </a:extLst>
          </p:cNvPr>
          <p:cNvSpPr txBox="1"/>
          <p:nvPr/>
        </p:nvSpPr>
        <p:spPr>
          <a:xfrm>
            <a:off x="6145362" y="130334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현행 국세체계 </a:t>
            </a:r>
            <a:r>
              <a:rPr lang="en-US" altLang="ko-KR" sz="1400" spc="-50" dirty="0"/>
              <a:t>(2020</a:t>
            </a:r>
            <a:r>
              <a:rPr lang="ko-KR" altLang="en-US" sz="1400" spc="-50" dirty="0"/>
              <a:t>년</a:t>
            </a:r>
            <a:r>
              <a:rPr lang="en-US" altLang="ko-KR" sz="1400" spc="-50" dirty="0"/>
              <a:t>)&gt;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1AE427-C1D7-870B-C690-94A91AF6DE49}"/>
              </a:ext>
            </a:extLst>
          </p:cNvPr>
          <p:cNvSpPr txBox="1"/>
          <p:nvPr/>
        </p:nvSpPr>
        <p:spPr>
          <a:xfrm>
            <a:off x="288789" y="958844"/>
            <a:ext cx="5800581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국세체계는 </a:t>
            </a:r>
            <a:r>
              <a:rPr lang="en-US" altLang="ko-KR" sz="1600" spc="-50" dirty="0"/>
              <a:t>14</a:t>
            </a:r>
            <a:r>
              <a:rPr lang="ko-KR" altLang="en-US" sz="1600" spc="-50" dirty="0"/>
              <a:t>가지의 국세로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국세 중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가지 조세는 이로부터 거둔 수입 중 일부를 지방정부에 나눠주는 재원으로 사용할 수 있는 성격의 내국세로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농어촌특별세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교육세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교통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에너지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환경세는 이로부터 거둬들인 수입을 특정한 용도에 사용하도록 되어있는 목적세의 성격을 갖는다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과세대상에 따라 조세를 세 가지 범주로 구분할 수 있다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개인과 법인의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소득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법인세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재산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상속세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증여세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소비행위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가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개별소비세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세금 부과 방식에 따라 조세를 두 가지로 분류하기도 한다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조세부담 주체에게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직접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직접세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상품 등에 부과해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간접적으로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간접세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263588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CE79A3-DD30-3239-EBFE-8356435B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B4C24-BE6B-BD3E-F79C-8048F168E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FF0B59-32DB-8294-F72B-55C4AD1ECB58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(2)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세출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 세출의 각 항목은 세 가지 기준에 의해 구분하고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기준은 세출예산이 배정되는 기관을 기준으로 하는 </a:t>
            </a:r>
            <a:r>
              <a:rPr lang="ko-KR" altLang="en-US" sz="1600" b="1" spc="-50" dirty="0"/>
              <a:t>소관별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기준 </a:t>
            </a:r>
            <a:r>
              <a:rPr lang="en-US" altLang="ko-KR" sz="1600" spc="-50" dirty="0"/>
              <a:t>55</a:t>
            </a:r>
            <a:r>
              <a:rPr lang="ko-KR" altLang="en-US" sz="1600" spc="-50" dirty="0"/>
              <a:t>개의 소관으로 분류하고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세출예산의 대표적 분류방식으로 꼽힌다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기준은 예산사업이 수행하는 기능에 따라 분류하는 </a:t>
            </a:r>
            <a:r>
              <a:rPr lang="ko-KR" altLang="en-US" sz="1600" b="1" spc="-50" dirty="0"/>
              <a:t>기능별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소관별 분류방식은 정부 지출을 통해 어떤 기능을 하는지 파악하기 힘들다는 단점을 갖고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보완할 수 있는 분류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물류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 등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가지로 나누어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세번째 기준은 세출예산의 지출대상이 어떤 성격을 </a:t>
            </a:r>
            <a:r>
              <a:rPr lang="ko-KR" altLang="en-US" sz="1600" spc="-50" dirty="0" err="1"/>
              <a:t>갖느냐에</a:t>
            </a:r>
            <a:r>
              <a:rPr lang="ko-KR" altLang="en-US" sz="1600" spc="-50" dirty="0"/>
              <a:t> 따라 분류하는 </a:t>
            </a:r>
            <a:r>
              <a:rPr lang="ko-KR" altLang="en-US" sz="1600" b="1" spc="-50" dirty="0"/>
              <a:t>성질별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기능별 분류방식과 달리 지출의 목적과 관계없이 어떤 성격을 갖는지 초점을 맞추어 분류하는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자산취득 등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 범주로 나누어 분류한다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16870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7860-E011-DD32-6F15-7C8BDB81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7E9BFB-04A1-D925-5D24-234EF5B4F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5FF82B-626E-0A72-31CA-D65A24A90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CA9F4-75F5-9848-5A30-9E931A6FAFBE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세출예산을 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성질별로 </a:t>
            </a:r>
            <a:r>
              <a:rPr lang="ko-KR" altLang="en-US" sz="1600" spc="-50" dirty="0" err="1"/>
              <a:t>분류해놓았다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기능별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 총 세출의 </a:t>
            </a:r>
            <a:r>
              <a:rPr lang="en-US" altLang="ko-KR" sz="1600" spc="-50" dirty="0"/>
              <a:t>20.7%</a:t>
            </a:r>
            <a:r>
              <a:rPr lang="ko-KR" altLang="en-US" sz="1600" spc="-50" dirty="0"/>
              <a:t>를 차지해 가장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사회복지</a:t>
            </a:r>
            <a:r>
              <a:rPr lang="en-US" altLang="ko-KR" sz="1600" spc="-50" dirty="0"/>
              <a:t>’, ‘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으로 각각 </a:t>
            </a:r>
            <a:r>
              <a:rPr lang="en-US" altLang="ko-KR" sz="1600" spc="-50" dirty="0"/>
              <a:t>20.3%,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17.5%, 14.1%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성질별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성격을 갖는 지출이 총 세출의 </a:t>
            </a:r>
            <a:r>
              <a:rPr lang="en-US" altLang="ko-KR" sz="1600" spc="-50" dirty="0"/>
              <a:t>58.8%</a:t>
            </a:r>
            <a:r>
              <a:rPr lang="ko-KR" altLang="en-US" sz="1600" spc="-50" dirty="0"/>
              <a:t>를 차지해 압도적으로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전출금</a:t>
            </a:r>
            <a:r>
              <a:rPr lang="ko-KR" altLang="en-US" sz="1600" spc="-50" dirty="0"/>
              <a:t> 등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인건비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각각 </a:t>
            </a:r>
            <a:r>
              <a:rPr lang="en-US" altLang="ko-KR" sz="1600" spc="-50" dirty="0"/>
              <a:t>14.3%, 10.7%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기능별 분류의 경우보다 직관적인 설명력이 다소 떨어진다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예산안에는 일반회계 세출예산을 소관별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성질별의 세 가지로 분류한 것을 동시에 제시하고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정부지출의 성격으로 여러 측면에서 살펴보기 위한 의도이다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AF70D39-8F34-45DB-DDD7-3CACA7B7C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5" y="4825744"/>
            <a:ext cx="4584589" cy="143268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6D5BDF4-A021-9B98-40D9-C82BC1F8B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6625" y="4825744"/>
            <a:ext cx="4584589" cy="14326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6C982C1-C491-AAC3-F036-0E18E78EF7FA}"/>
              </a:ext>
            </a:extLst>
          </p:cNvPr>
          <p:cNvSpPr txBox="1"/>
          <p:nvPr/>
        </p:nvSpPr>
        <p:spPr>
          <a:xfrm>
            <a:off x="1278834" y="5855270"/>
            <a:ext cx="88524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일반</a:t>
            </a:r>
            <a:r>
              <a:rPr lang="en-US" altLang="ko-KR" sz="900" spc="-50" dirty="0"/>
              <a:t>·</a:t>
            </a:r>
            <a:r>
              <a:rPr lang="ko-KR" altLang="en-US" sz="900" spc="-50" dirty="0"/>
              <a:t>지방행정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D6FE31-4FDD-655C-E2B9-3236FFEB9865}"/>
              </a:ext>
            </a:extLst>
          </p:cNvPr>
          <p:cNvSpPr txBox="1"/>
          <p:nvPr/>
        </p:nvSpPr>
        <p:spPr>
          <a:xfrm>
            <a:off x="1659834" y="4871332"/>
            <a:ext cx="10630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dirty="0"/>
              <a:t>공공질서</a:t>
            </a:r>
            <a:endParaRPr lang="en-US" altLang="ko-KR" sz="900" dirty="0"/>
          </a:p>
          <a:p>
            <a:pPr algn="ctr"/>
            <a:r>
              <a:rPr lang="ko-KR" altLang="en-US" sz="900" dirty="0"/>
              <a:t>및</a:t>
            </a:r>
            <a:endParaRPr lang="en-US" altLang="ko-KR" sz="900" dirty="0"/>
          </a:p>
          <a:p>
            <a:pPr algn="ctr"/>
            <a:r>
              <a:rPr lang="ko-KR" altLang="en-US" sz="900" dirty="0"/>
              <a:t>안전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2C5AEC-F88D-B914-3991-6CB1CA564CE0}"/>
              </a:ext>
            </a:extLst>
          </p:cNvPr>
          <p:cNvSpPr txBox="1"/>
          <p:nvPr/>
        </p:nvSpPr>
        <p:spPr>
          <a:xfrm>
            <a:off x="2294834" y="5855270"/>
            <a:ext cx="4382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국방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CBF484-C457-85C4-DAF6-E7D611FFF94F}"/>
              </a:ext>
            </a:extLst>
          </p:cNvPr>
          <p:cNvSpPr txBox="1"/>
          <p:nvPr/>
        </p:nvSpPr>
        <p:spPr>
          <a:xfrm>
            <a:off x="2928068" y="5855270"/>
            <a:ext cx="4382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교육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7435E-E56D-4DFD-9103-46B980AB694C}"/>
              </a:ext>
            </a:extLst>
          </p:cNvPr>
          <p:cNvSpPr txBox="1"/>
          <p:nvPr/>
        </p:nvSpPr>
        <p:spPr>
          <a:xfrm>
            <a:off x="3591835" y="5855270"/>
            <a:ext cx="438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사회복지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E37CF4-4773-D886-6057-A66372CEE4DE}"/>
              </a:ext>
            </a:extLst>
          </p:cNvPr>
          <p:cNvSpPr txBox="1"/>
          <p:nvPr/>
        </p:nvSpPr>
        <p:spPr>
          <a:xfrm>
            <a:off x="3966154" y="4871332"/>
            <a:ext cx="46360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dirty="0"/>
              <a:t>교통</a:t>
            </a:r>
            <a:endParaRPr lang="en-US" altLang="ko-KR" sz="900" dirty="0"/>
          </a:p>
          <a:p>
            <a:pPr algn="ctr"/>
            <a:r>
              <a:rPr lang="ko-KR" altLang="en-US" sz="900" dirty="0"/>
              <a:t>및</a:t>
            </a:r>
            <a:endParaRPr lang="en-US" altLang="ko-KR" sz="900" dirty="0"/>
          </a:p>
          <a:p>
            <a:pPr algn="ctr"/>
            <a:r>
              <a:rPr lang="ko-KR" altLang="en-US" sz="900" dirty="0"/>
              <a:t>물류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D895CE-E0B3-AA36-3BFC-1A710ACF14BC}"/>
              </a:ext>
            </a:extLst>
          </p:cNvPr>
          <p:cNvSpPr txBox="1"/>
          <p:nvPr/>
        </p:nvSpPr>
        <p:spPr>
          <a:xfrm>
            <a:off x="4377164" y="5855270"/>
            <a:ext cx="4382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기타</a:t>
            </a:r>
            <a:endParaRPr lang="ko-KR" altLang="en-US" sz="9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97CC42-F9E6-C95A-8F2D-6929CCA2EC96}"/>
              </a:ext>
            </a:extLst>
          </p:cNvPr>
          <p:cNvSpPr txBox="1"/>
          <p:nvPr/>
        </p:nvSpPr>
        <p:spPr>
          <a:xfrm>
            <a:off x="3449428" y="4395225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&lt;2020</a:t>
            </a:r>
            <a:r>
              <a:rPr lang="ko-KR" altLang="en-US" sz="1400" spc="-50" dirty="0"/>
              <a:t>년도 일반회계 세출예산 내역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CA29D0-D6E1-4AF3-6852-C14B30E8DCD9}"/>
              </a:ext>
            </a:extLst>
          </p:cNvPr>
          <p:cNvSpPr txBox="1"/>
          <p:nvPr/>
        </p:nvSpPr>
        <p:spPr>
          <a:xfrm>
            <a:off x="6341166" y="5855270"/>
            <a:ext cx="39491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인건비</a:t>
            </a:r>
            <a:endParaRPr lang="ko-KR" altLang="en-US" sz="9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7C9CBF-B384-8B02-245F-225428B57E8F}"/>
              </a:ext>
            </a:extLst>
          </p:cNvPr>
          <p:cNvSpPr txBox="1"/>
          <p:nvPr/>
        </p:nvSpPr>
        <p:spPr>
          <a:xfrm>
            <a:off x="6649057" y="5855270"/>
            <a:ext cx="39491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물건비</a:t>
            </a:r>
            <a:endParaRPr lang="ko-KR" altLang="en-US" sz="9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B27C6F-C567-0C14-B997-0328FF228790}"/>
              </a:ext>
            </a:extLst>
          </p:cNvPr>
          <p:cNvSpPr txBox="1"/>
          <p:nvPr/>
        </p:nvSpPr>
        <p:spPr>
          <a:xfrm>
            <a:off x="7537394" y="5855270"/>
            <a:ext cx="88524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이전지출</a:t>
            </a:r>
            <a:endParaRPr lang="ko-KR" altLang="en-US" sz="9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E5DED9-D13D-359E-956A-E9CFA8907E11}"/>
              </a:ext>
            </a:extLst>
          </p:cNvPr>
          <p:cNvSpPr txBox="1"/>
          <p:nvPr/>
        </p:nvSpPr>
        <p:spPr>
          <a:xfrm>
            <a:off x="8926223" y="5855270"/>
            <a:ext cx="394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자산취득</a:t>
            </a:r>
            <a:endParaRPr lang="ko-KR" altLang="en-US" sz="9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C0A309-3581-54CE-AB71-34568B2AD423}"/>
              </a:ext>
            </a:extLst>
          </p:cNvPr>
          <p:cNvSpPr txBox="1"/>
          <p:nvPr/>
        </p:nvSpPr>
        <p:spPr>
          <a:xfrm>
            <a:off x="9049577" y="5855270"/>
            <a:ext cx="8852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 err="1"/>
              <a:t>전출금</a:t>
            </a:r>
            <a:r>
              <a:rPr lang="ko-KR" altLang="en-US" sz="900" spc="-50" dirty="0"/>
              <a:t> 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등</a:t>
            </a:r>
            <a:endParaRPr lang="ko-KR" altLang="en-US" sz="9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DDF100-F10A-0C7A-CA89-1D976707B036}"/>
              </a:ext>
            </a:extLst>
          </p:cNvPr>
          <p:cNvSpPr txBox="1"/>
          <p:nvPr/>
        </p:nvSpPr>
        <p:spPr>
          <a:xfrm>
            <a:off x="9382097" y="5855270"/>
            <a:ext cx="8852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타</a:t>
            </a:r>
            <a:endParaRPr lang="en-US" altLang="ko-KR" sz="900" spc="-50" dirty="0"/>
          </a:p>
        </p:txBody>
      </p:sp>
    </p:spTree>
    <p:extLst>
      <p:ext uri="{BB962C8B-B14F-4D97-AF65-F5344CB8AC3E}">
        <p14:creationId xmlns:p14="http://schemas.microsoft.com/office/powerpoint/2010/main" val="30847153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B7BEF-C226-D189-642D-662ABE3EB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22787-6FCB-7528-CE48-5B11C5E89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특별회계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451EC9-0BE1-0B9B-5C96-305739ED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F906F-E76D-362B-BA3E-07D726B7198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수행하고 있는 예산사업의 성격상 일반회계와 별도로 특별한 회계를 만들어 관리하는 것이 바람직한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사업의 성격이 독특해 별도의 관리를 </a:t>
            </a:r>
            <a:r>
              <a:rPr lang="ko-KR" altLang="en-US" sz="1600" spc="-50" dirty="0" err="1"/>
              <a:t>요구한다든지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세입과 세출을 한꺼번에 묶어 다로 관리할 필요가 있는 등의 이유로 특별회계를 만들어 운영하게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설립목적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 주체 등 </a:t>
            </a:r>
            <a:r>
              <a:rPr lang="ko-KR" altLang="en-US" sz="1600" spc="-50" dirty="0" err="1"/>
              <a:t>여러사항들을</a:t>
            </a:r>
            <a:r>
              <a:rPr lang="ko-KR" altLang="en-US" sz="1600" spc="-50" dirty="0"/>
              <a:t> 규정한 개별 법률이 특별회계를 뒷받침하고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일반예산과 마찬가지로 행정부가 편성하고 국회의 심의를 받아 의결되는 과정을 거쳐야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우리나라에는 기업특별회계와 기타특별회계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나누어 운영하고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기업특별회계는 공기업과 관련된 특별회계의 범주를 의미한다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양곡관리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우편사업 등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기타특별회계에서는 교통시설특별회계가 특별회계 총 예산에서 가장 큰 비중</a:t>
            </a:r>
            <a:r>
              <a:rPr lang="en-US" altLang="ko-KR" sz="1600" spc="-50" dirty="0"/>
              <a:t>(22.6%)</a:t>
            </a:r>
            <a:r>
              <a:rPr lang="ko-KR" altLang="en-US" sz="1600" spc="-50" dirty="0"/>
              <a:t>을 차지하고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그 밖에 환경개선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농어촌구조개선 등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특별회계의 바람직한 규모는 명확히 정할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예산통일의 원칙 관점에서는 일반회계의 예외 경우인 특별회계의 수는 적을수록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너무 많은 특별회계를 운영하면 국회와 국민이 그 예산을 감시하고 통제하는 일이 어려워진다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특별회계의 설치는 행정기관에 자유재량의 여지를 넓혀 줌으로 인해 행정능률과 경영능률 향상에 기여하는 측면이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535625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9BA4A-1962-A081-5985-4994B8526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F06C1-62E1-9E5F-EAC0-6168E4784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869A00-DE85-CDA6-CA3C-8B3DDDF2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C2F832-4628-8F54-108D-BDD4D293C282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특별한 목적을 수행하기 위해 특정한 자금을 예산과는 독립적으로 운영할 필요가 있을 때 설치된다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일반회계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특별회계의 경우에는 국회의 심의와 의결을 거쳐야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까다로운 규정들이 적용되기 때문에 경직성을 가질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까다로운 규정은 행정부의 자의적 행동을 규제한다는 긍정적 측면을 갖고 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경제상황의 변화에 유연한 대처가 어렵다는 단점이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문제를 해결 하고자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자금을 예산의 틀 밖에서 기금을 탄력적으로 운영하고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특정한 수입을 특정한 지출에 사용할 수 있도록 하기 위해 설립되는 것이기 때문에 유용하게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세입을 특정한 세출목적과 결부시키는 것을 금지하는 목적구속금지의 원칙에 기초하고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세입과 세출의 측면을 유기적으로 연관시켜 사업을 효율적으로 추진하기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목적구속금지 원칙의 예외로 목적세가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현실적인 제약으로 인해 너무 많은 목적세를 운영할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각 부처가 경쟁적으로 수많은 기금들을 설립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운영해왔다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현재 무려 </a:t>
            </a:r>
            <a:r>
              <a:rPr lang="en-US" altLang="ko-KR" sz="1600" spc="-50" dirty="0"/>
              <a:t>67</a:t>
            </a:r>
            <a:r>
              <a:rPr lang="ko-KR" altLang="en-US" sz="1600" spc="-50" dirty="0"/>
              <a:t>개의 기금이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운용규모는 일반회계 예산규모의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배에 가까운 </a:t>
            </a:r>
            <a:r>
              <a:rPr lang="en-US" altLang="ko-KR" sz="1600" spc="-50" dirty="0"/>
              <a:t>724.8</a:t>
            </a:r>
            <a:r>
              <a:rPr lang="ko-KR" altLang="en-US" sz="1600" spc="-50" dirty="0"/>
              <a:t>조원이다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56994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AFC8-4A57-91D3-26A9-DFD7539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38C70F-1F6D-D72B-53B1-B97995F0F5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30A23-7035-123F-C4C4-AABFA58A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987B19-3EC7-FC76-E623-3268B9EE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정부지출의 수준과 구성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620293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BE2F-5E20-744C-9432-8FCF8D19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EF7115-CAED-6AB9-0435-998FA0B3A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17B6A6-631E-CF99-0A4F-8B916A8C6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8014B1-403E-7BFA-D5DB-8CE5492D9064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번 슬라이드의 표에는 중앙정부의 재정규모가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과 대비되어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보면 중앙정부 재정의 규모가 국내총생산보다 상대적으로 더 빠른 속도로 커져온 추세를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중앙정부의 재정규모를 국내총생산으로 나눈 비율이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17.0%</a:t>
            </a:r>
            <a:r>
              <a:rPr lang="ko-KR" altLang="en-US" sz="1600" spc="-50" dirty="0"/>
              <a:t>였지만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23.8% </a:t>
            </a:r>
            <a:r>
              <a:rPr lang="ko-KR" altLang="en-US" sz="1600" spc="-50" dirty="0"/>
              <a:t>수준까지 증가하였다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국내총생산 대비 재정규모 비중의 적정한 수준이라는 것은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재정규모를 다른 나라와 비교를 해보면 아래의 그림과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국제통화기금</a:t>
            </a:r>
            <a:r>
              <a:rPr lang="en-US" altLang="ko-KR" sz="1600" spc="-50" dirty="0"/>
              <a:t>(IMF)</a:t>
            </a:r>
            <a:r>
              <a:rPr lang="ko-KR" altLang="en-US" sz="1600" spc="-50" dirty="0"/>
              <a:t>에서 정리한 자료로서 우리나라를 포함한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개국의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에서 중앙정부의 지출이 차지하는 비중을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우리나라의 재정규모는 선진국은 물론 우리와 비슷한 소득수준의 다른 나라들에 비해 작은 편에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이러한 사실을 토대로 우리나라 재정규모가 더 커지는 것이 </a:t>
            </a:r>
            <a:r>
              <a:rPr lang="ko-KR" altLang="en-US" sz="1600" spc="-50" dirty="0" err="1"/>
              <a:t>바람직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ko-KR" altLang="en-US" sz="1600" spc="-50" dirty="0"/>
              <a:t>     하다는 규범적인 주장까지 이르면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나라마다 여건이 다르므로 반드시 선례를 따를 이유는 없기 때문이다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43C4891-2E8B-D060-BF69-2DC554C56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680" y="4350863"/>
            <a:ext cx="3782238" cy="22390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98E4DD-2FD6-1F2A-1559-15F0CAE69303}"/>
              </a:ext>
            </a:extLst>
          </p:cNvPr>
          <p:cNvSpPr txBox="1"/>
          <p:nvPr/>
        </p:nvSpPr>
        <p:spPr>
          <a:xfrm>
            <a:off x="8081759" y="4073566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중앙정부 지출이 </a:t>
            </a:r>
            <a:r>
              <a:rPr lang="en-US" altLang="ko-KR" sz="1200" spc="-50" dirty="0"/>
              <a:t>GDP</a:t>
            </a:r>
            <a:r>
              <a:rPr lang="ko-KR" altLang="en-US" sz="1200" spc="-50" dirty="0"/>
              <a:t>에서 차지하는 비중 </a:t>
            </a:r>
            <a:r>
              <a:rPr lang="en-US" altLang="ko-KR" sz="1200" spc="-50" dirty="0"/>
              <a:t>(2018)&gt;</a:t>
            </a:r>
            <a:endParaRPr lang="ko-KR" alt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F0DF43-2152-49C6-FC05-5CEDCC8D6E3D}"/>
              </a:ext>
            </a:extLst>
          </p:cNvPr>
          <p:cNvSpPr txBox="1"/>
          <p:nvPr/>
        </p:nvSpPr>
        <p:spPr>
          <a:xfrm>
            <a:off x="10901159" y="6259908"/>
            <a:ext cx="686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spc="-50" dirty="0"/>
              <a:t>단위</a:t>
            </a:r>
            <a:r>
              <a:rPr lang="en-US" altLang="ko-KR" sz="1200" spc="-50" dirty="0"/>
              <a:t>: %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12791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3C622-CBE5-AFFA-6202-009FA890A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DAA2D-1A0A-BA9E-036C-2D652B1D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B70C85-8A88-3D62-8E68-86852C71FC03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현재의 재정규모가 적정한 것인지 평가 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하는 일을 자세히 살펴보아야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낭비를 삼가고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꼭 필요한 활동만 효율적으로 하면 작은 정부라면 문제가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정부가 당연히 해야 할 일도 하지 못하는 작은 정부라면 문제가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표를 보면 우리나라의 국내총생산 대비 공공부문 사회적 지출 비중이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 중 최하위인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선진국들은 국내총생산의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내외를 사회적 지출로 사용하지만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대에 머물고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333A60E-5062-F52A-B60E-6DB915EAA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984225"/>
              </p:ext>
            </p:extLst>
          </p:nvPr>
        </p:nvGraphicFramePr>
        <p:xfrm>
          <a:off x="701293" y="3427852"/>
          <a:ext cx="10413750" cy="297135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오스트레일리아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FEBF603-E318-D48E-639D-893C9CC291FE}"/>
              </a:ext>
            </a:extLst>
          </p:cNvPr>
          <p:cNvSpPr txBox="1"/>
          <p:nvPr/>
        </p:nvSpPr>
        <p:spPr>
          <a:xfrm>
            <a:off x="2801470" y="3122020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&lt;OECD </a:t>
            </a:r>
            <a:r>
              <a:rPr lang="ko-KR" altLang="en-US" sz="1400" spc="-50" dirty="0"/>
              <a:t>국가들의 국내총생산 대비 공공부문 사회적 지출의 비율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885300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90F98-1AB4-900F-C3D7-72007327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08D5E-778D-8BCA-A514-0192E7917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지출의</a:t>
            </a:r>
            <a:r>
              <a:rPr lang="en-US" altLang="ko-KR" dirty="0"/>
              <a:t> </a:t>
            </a:r>
            <a:r>
              <a:rPr lang="ko-KR" altLang="en-US" dirty="0"/>
              <a:t>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BCB87-B27B-FC9A-83F3-F5996A19A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7139C8-8E95-9150-3056-2BF0CF453D31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정부 지출의 기능별 배분 추이를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년까지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부문의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8.9%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17.1%</a:t>
            </a:r>
            <a:r>
              <a:rPr lang="ko-KR" altLang="en-US" sz="1600" spc="-50" dirty="0"/>
              <a:t>에 이르는 수준으로 크게 높아졌다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국민의 삶의 질 향상을 위해 지속적으로 노력한 결과라고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국방비의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14.1%</a:t>
            </a:r>
            <a:r>
              <a:rPr lang="ko-KR" altLang="en-US" sz="1600" spc="-50" dirty="0"/>
              <a:t>의 수준으로 그 비중이 계속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다른 나라에 비하면 여전히 우리나라의 국방비 지출 비중은 상대적으로 높은 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교육분야의 경우 꾸준히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 수준을 유지하고 있어 중요한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경제분야의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수준이었으나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14.5%</a:t>
            </a:r>
            <a:r>
              <a:rPr lang="ko-KR" altLang="en-US" sz="1600" spc="-50" dirty="0"/>
              <a:t>까지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경제발전 초기에는 정부가 경제에 깊숙이 개입했지만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현재는 개입의 범위를 줄여가고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C7F84E-379F-A9A9-B6D6-CB8F23EF0D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982798"/>
              </p:ext>
            </p:extLst>
          </p:nvPr>
        </p:nvGraphicFramePr>
        <p:xfrm>
          <a:off x="701293" y="4317068"/>
          <a:ext cx="10413753" cy="227041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사회복지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국방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교육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경제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255B126-01FB-50EE-F291-9D2B7A1CBFCA}"/>
              </a:ext>
            </a:extLst>
          </p:cNvPr>
          <p:cNvSpPr txBox="1"/>
          <p:nvPr/>
        </p:nvSpPr>
        <p:spPr>
          <a:xfrm>
            <a:off x="2801470" y="4011236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일반회계의 기능별 세출비중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410308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9412-C19A-4290-3307-F76585F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88FA50-5A64-CB2C-A9CC-AC1B6182F7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BBE6E-76A7-CC95-FDC2-5AFB7A5D4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8298C76-ECF9-2277-6763-6ECCF0FA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조세제도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8056537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86259-671B-F062-8351-75E300F3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B8EBF-4393-A8DD-8CF1-E9B724A25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조세부담률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98386-B654-43BA-2A03-B2E4BAFB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58D68F-139D-CBA8-A14E-41372BE66B81}"/>
              </a:ext>
            </a:extLst>
          </p:cNvPr>
          <p:cNvSpPr txBox="1"/>
          <p:nvPr/>
        </p:nvSpPr>
        <p:spPr>
          <a:xfrm>
            <a:off x="288790" y="958844"/>
            <a:ext cx="1169366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에서 보았듯이 우리나라의 재정규모는 경제성장 속도보다 더 빠른 속도로 팽창해왔다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왼쪽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표에서 </a:t>
            </a:r>
            <a:r>
              <a:rPr lang="ko-KR" altLang="en-US" sz="1600" spc="-50" dirty="0" err="1"/>
              <a:t>조세부담률</a:t>
            </a:r>
            <a:r>
              <a:rPr lang="ko-KR" altLang="en-US" sz="1600" spc="-50" dirty="0"/>
              <a:t> 추이를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16.6% </a:t>
            </a:r>
            <a:r>
              <a:rPr lang="ko-KR" altLang="en-US" sz="1600" spc="-50" dirty="0"/>
              <a:t>수준이었던 것이 꾸준히 상승하여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19.8%</a:t>
            </a:r>
            <a:r>
              <a:rPr lang="ko-KR" altLang="en-US" sz="1600" spc="-50" dirty="0"/>
              <a:t>까지 높아졌다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외국과 비교해보면 우리나라의 </a:t>
            </a:r>
            <a:r>
              <a:rPr lang="ko-KR" altLang="en-US" sz="1600" spc="-50" dirty="0" err="1"/>
              <a:t>조세부담률은</a:t>
            </a:r>
            <a:r>
              <a:rPr lang="ko-KR" altLang="en-US" sz="1600" spc="-50" dirty="0"/>
              <a:t> 상대적으로 낮은 수준이다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선진국들의 </a:t>
            </a:r>
            <a:r>
              <a:rPr lang="ko-KR" altLang="en-US" sz="1600" spc="-50" dirty="0" err="1"/>
              <a:t>조세부담률이</a:t>
            </a:r>
            <a:r>
              <a:rPr lang="ko-KR" altLang="en-US" sz="1600" spc="-50" dirty="0"/>
              <a:t> 높은 것은 정부가 사회복지 측면에서 적극적인 활동을 벌이고 있기 때문이다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80D263-E644-2D6C-2D79-6935DD9AD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860779"/>
              </p:ext>
            </p:extLst>
          </p:nvPr>
        </p:nvGraphicFramePr>
        <p:xfrm>
          <a:off x="396137" y="3157765"/>
          <a:ext cx="8366862" cy="330721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9447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국민조세부담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70954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지방세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72.10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651.6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113.50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163.50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1,322.6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226.90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1,658.0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288.90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1,740.8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318.10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345.80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1,898.2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293.6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377.90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1,919.0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379.04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B3480EA-11E9-68E9-83E5-0606E65C5675}"/>
              </a:ext>
            </a:extLst>
          </p:cNvPr>
          <p:cNvSpPr txBox="1"/>
          <p:nvPr/>
        </p:nvSpPr>
        <p:spPr>
          <a:xfrm>
            <a:off x="2948509" y="283558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변화 추이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CDBD6CB-3D32-8E54-4162-057E2F9AD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715283"/>
              </p:ext>
            </p:extLst>
          </p:nvPr>
        </p:nvGraphicFramePr>
        <p:xfrm>
          <a:off x="8932334" y="3157765"/>
          <a:ext cx="2975358" cy="330722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32505382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849595612"/>
                    </a:ext>
                  </a:extLst>
                </a:gridCol>
              </a:tblGrid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6549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05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83966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486497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423549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0467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8820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233629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704078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 </a:t>
                      </a: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altLang="ko-KR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99899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5F8CDE6-9CBB-6D08-0B29-C34011522AD7}"/>
              </a:ext>
            </a:extLst>
          </p:cNvPr>
          <p:cNvSpPr txBox="1"/>
          <p:nvPr/>
        </p:nvSpPr>
        <p:spPr>
          <a:xfrm>
            <a:off x="9092863" y="283558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국제비교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6705630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1B86-662E-5586-CCE7-462308174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12154-34D1-9A9C-04FE-D23C7D471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243109-A14D-3C51-5731-77D81EB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E9470-75AB-024D-4B37-29607FCC6B5F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에서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국세는 과세대상이 무엇인가에 따라 소득과세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재산과세로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소득세와 법인세로 구성된 소득과세가 전체 국세수입의 </a:t>
            </a:r>
            <a:r>
              <a:rPr lang="en-US" altLang="ko-KR" sz="1600" spc="-50" dirty="0"/>
              <a:t>53.1%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 모두 경제주체에게 직접적으로 세금을 부과하는 직접세의 성격을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직접세는 납세자의 조세부담 능력에 따라 세금의 크기를 결정하는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통해 </a:t>
            </a:r>
            <a:r>
              <a:rPr lang="ko-KR" altLang="en-US" sz="1600" spc="-50" dirty="0" err="1"/>
              <a:t>어느정도의</a:t>
            </a:r>
            <a:r>
              <a:rPr lang="ko-KR" altLang="en-US" sz="1600" spc="-50" dirty="0"/>
              <a:t> 소득 재분배 효과를 얻을 수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소비과세 중심의 간접세는 상품이나 경제활동을 대상으로 부과하므로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누가 그 세금을 부담하게 될지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간접세의 경우 납세자의 조세부담 능력에 맞춰 세금의 크기를 결정하기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측면에서 직접세의 비중이 클 수록 </a:t>
            </a:r>
            <a:r>
              <a:rPr lang="ko-KR" altLang="en-US" sz="1600" spc="-50" dirty="0" err="1"/>
              <a:t>공평성</a:t>
            </a:r>
            <a:r>
              <a:rPr lang="ko-KR" altLang="en-US" sz="1600" spc="-50" dirty="0"/>
              <a:t> 측면에서 바람직하다고 여기는 경향이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직접세와 간접세 간의 비중만을 두고 모든 것을 판단할 수 없다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621AE-0A91-A814-745A-B6755106B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622" y="4635500"/>
            <a:ext cx="1885374" cy="184573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2C74370-63C0-454B-6B74-3D86AA1A5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099" y="4546765"/>
            <a:ext cx="2035813" cy="20651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93426A-B47D-7F3E-2CE4-B4353507D63D}"/>
              </a:ext>
            </a:extLst>
          </p:cNvPr>
          <p:cNvSpPr txBox="1"/>
          <p:nvPr/>
        </p:nvSpPr>
        <p:spPr>
          <a:xfrm>
            <a:off x="2230967" y="4387646"/>
            <a:ext cx="33249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/>
              <a:t>중앙정부의 조세수입 내역 </a:t>
            </a:r>
            <a:r>
              <a:rPr lang="en-US" altLang="ko-KR" sz="1050" spc="-50" dirty="0"/>
              <a:t>(2019</a:t>
            </a:r>
            <a:r>
              <a:rPr lang="ko-KR" altLang="en-US" sz="1050" spc="-50" dirty="0"/>
              <a:t>년도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4F0993-12F7-6AE6-2169-C13653F22D72}"/>
              </a:ext>
            </a:extLst>
          </p:cNvPr>
          <p:cNvSpPr txBox="1"/>
          <p:nvPr/>
        </p:nvSpPr>
        <p:spPr>
          <a:xfrm>
            <a:off x="5617633" y="4235839"/>
            <a:ext cx="33249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/>
              <a:t>현행 국세체계 </a:t>
            </a:r>
            <a:r>
              <a:rPr lang="en-US" altLang="ko-KR" sz="1050" spc="-50" dirty="0"/>
              <a:t>(2020</a:t>
            </a:r>
            <a:r>
              <a:rPr lang="ko-KR" altLang="en-US" sz="1050" spc="-50" dirty="0"/>
              <a:t>년도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240495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D1B66-8063-CE95-696C-4A21AC30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2DF105-A148-7096-4ADF-D126DF7C2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1D0E20-B15F-780F-0CE9-F5F80446BD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조세부담이 공평하게 분배되고 있는지는 어떤 종류의 조세가 어떤 방식으로 부과되고 있는지 직접 관찰하는 방법을 통해서만 알아볼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납세자의 경제적 능력을 감안해 과세한다는 점에서 소득세가 가장 바람직하다고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소득세가 어떻게 운영되고 있는지에 따라 부담이 분배되는 양상이 크게 달라질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하위 소득계층의 주요 수입원인 근로소득에 대한 과세를 강화한다면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외형상의 수치가 시사하는 바와는 정반대의 실질적 결과가 나타날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우리나라에서 공평한 조세부담의 분배가 이루어지지 못하고 있는 것은 다음과 같은 측면에서 문제점을 갖고 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매우 큰 규모의 탈세가 행해지고 있는 지하경제가 만연하고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근로소득은 빠짐없이 과세대상에 포함이 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사업소득의 경우 과세대상에서 빠져 나가는 부분이 크다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의사나 변호사 같은 전문직 종사자들의 납세액은 실제 소득에 비해 굉장히 적다는 사실은 널리 알려져 있다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증여세를 제대로 부과하지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세금 부담 없이 다음 세대로 부를 </a:t>
            </a:r>
            <a:r>
              <a:rPr lang="ko-KR" altLang="en-US" sz="1600" spc="-50" dirty="0" err="1"/>
              <a:t>세습시킬</a:t>
            </a:r>
            <a:r>
              <a:rPr lang="ko-KR" altLang="en-US" sz="1600" spc="-50" dirty="0"/>
              <a:t>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경우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증여세는 납세자들이 내려는 의도가 있을 때만 거둘 수 있다는 느낌을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위에서 언급한 소득세와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증여세의 문제점을 개선하면 직접세의 비중은 자연히 커질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조세체계를 달성할 수 있을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729453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C352-A9D3-46F3-351F-2399FCA6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61A15-39D2-2449-6F3D-C6DB22009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FD821A-7952-090A-A5B7-A79F9B1C8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A7051-15F0-FDF4-28A1-334455FBFB01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소비과세에는 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개별소비세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환경세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주세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세금은 보통 재화나 서비스를 판매하는 사람이 세금을 납부하도록 되어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 조세부담은 소비자들이 진다는 의미에서 간접세로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를 보면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 중앙정부의 조세수입 중 소비과세로부터의 수입이 </a:t>
            </a:r>
            <a:r>
              <a:rPr lang="en-US" altLang="ko-KR" sz="1600" spc="-50" dirty="0"/>
              <a:t>36.3%</a:t>
            </a:r>
            <a:r>
              <a:rPr lang="ko-KR" altLang="en-US" sz="1600" spc="-50" dirty="0"/>
              <a:t>의 비중을 차지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중에서도 부가가치세가 </a:t>
            </a:r>
            <a:r>
              <a:rPr lang="en-US" altLang="ko-KR" sz="1600" spc="-50" dirty="0"/>
              <a:t>66.5%</a:t>
            </a:r>
            <a:r>
              <a:rPr lang="ko-KR" altLang="en-US" sz="1600" spc="-50" dirty="0"/>
              <a:t>로 가장 큰 비중을 차지하고 있었다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 수입은 전체 조세수입 중 </a:t>
            </a:r>
            <a:r>
              <a:rPr lang="en-US" altLang="ko-KR" sz="1600" spc="-50" dirty="0"/>
              <a:t>24.1%</a:t>
            </a:r>
            <a:r>
              <a:rPr lang="ko-KR" altLang="en-US" sz="1600" spc="-50" dirty="0"/>
              <a:t>를 차지하여 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소득세에 이어 세번째로 높은 비중을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의 단일세율을 적용하고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거의 모든 상품을 부과대상으로 하므로 단 </a:t>
            </a:r>
            <a:r>
              <a:rPr lang="en-US" altLang="ko-KR" sz="1600" spc="-50" dirty="0"/>
              <a:t>1%</a:t>
            </a:r>
            <a:r>
              <a:rPr lang="ko-KR" altLang="en-US" sz="1600" spc="-50" dirty="0"/>
              <a:t>포인트만 올려도 조세수입이 큰 폭으로 늘어난다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부가가치세는 </a:t>
            </a:r>
            <a:r>
              <a:rPr lang="ko-KR" altLang="en-US" sz="1600" spc="-50" dirty="0" err="1"/>
              <a:t>단일세율이므로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높을수록 소득에서 부가가치세가 차지하는 비중이 낮아지는 경향이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개별소비세는 이와 같은 부가가치세의 역진성을 상쇄시키는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개별소비세는 귀금속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고급 운동기구 등 사치재의 성격을 갖는 상품에 선별적으로 부과하는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상품은 주로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고소득계층이 많이 소비하기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누진성을 갖게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97333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3BDD3-DFE5-E83E-E7C1-0B30CCF13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AAEA2-B924-3EE0-C3AA-663D5B44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212A78-6CBF-EC1C-54F3-FD13F0307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B9FEB-257C-0B0F-82D5-ED31EFFEEDCB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개별소비세에 대해서는 다음과 같은 문제점이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제한된 품목에만 선별적으로 적용하기 때문에 소비자 선택에 교란을 일으킨다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 어떤 상품에 개별소비세가 부과될 예정이라는 것이 알려지면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상품의 수요가 급등하게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시간이 지남에 따라 더 이상 사치재로 볼 수 없어졌음에도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계속해서 개별소비세가 부과되는 경우이다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조세당국이 여건 변화에 적응하는 데 시차가 있을 수 밖에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업계의 이해관계가 얽혀 있어 문제가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소비세의 일종이지만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교통혼잡 등을 감소시키는 목적으로 부과되고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선택에 변화를 가져와 사회적으로 바람직한 결과를 이끌어낸다는 의미에서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앞서 개별소비세의 단점으로 지적한 소비자 선택의 교란과는 좋은 대조를 이룬다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우리나라 조세수입의 </a:t>
            </a:r>
            <a:r>
              <a:rPr lang="en-US" altLang="ko-KR" sz="1600" spc="-50" dirty="0"/>
              <a:t>5%</a:t>
            </a:r>
            <a:r>
              <a:rPr lang="ko-KR" altLang="en-US" sz="1600" spc="-50" dirty="0"/>
              <a:t>의 비중을 차지하고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법인세에 이어 정부의 중요한 재원조달 수단으로 활용되고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698835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A5C6F-952C-587C-E2DA-CEFD7FFFB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ECD242-AD5E-82FC-5605-25FD4E53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6FA944-F78B-3E0B-B809-C46AF320C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118860-0159-C3D0-3F82-BFF6D7A12E68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재산과세는 부동산이나 주식과 같은 재산에 대해 부과하는 세금이다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재산을 거래할 때 부과되는 세금과 보유단계에 부과되는 세금으로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국세 중에서는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인지세는 거래단계에서 부과되는 재산세이고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종합부동산세는 보유단계에서 부과되는 재산세이다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지방세 중에서는 취득세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재산세 등이 재산과세로 분류된다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를 보면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 중앙정부의 조세수입 중 </a:t>
            </a:r>
            <a:r>
              <a:rPr lang="en-US" altLang="ko-KR" sz="1600" spc="-50" dirty="0"/>
              <a:t>5.5% </a:t>
            </a:r>
            <a:r>
              <a:rPr lang="ko-KR" altLang="en-US" sz="1600" spc="-50" dirty="0"/>
              <a:t>정도만이 재산과세에 해당한다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소득과세에 비해 자산과세의 비중은 매우 작다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재산과세 중 절반 가까운 비중을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증여세가 차지하고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뒤를 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종합부동산세가 잇고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조세수입에서 재산과세가 차지하는 비중은 중앙정부보다 훨씬 더 높게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뒤에서 배우겠지만 우리나라 지방세 수입에서 취득세와 재산세 같은 재산과세가 차지하는 비중은 상당히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사실은 다른 </a:t>
            </a:r>
            <a:r>
              <a:rPr lang="ko-KR" altLang="en-US" sz="1600" spc="-50" dirty="0" err="1"/>
              <a:t>나라들에서도</a:t>
            </a:r>
            <a:r>
              <a:rPr lang="ko-KR" altLang="en-US" sz="1600" spc="-50" dirty="0"/>
              <a:t> 공통적으로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 통계를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중앙정부의 조세수입에서 차지하는 비중은 평균 </a:t>
            </a:r>
            <a:r>
              <a:rPr lang="en-US" altLang="ko-KR" sz="1600" spc="-50" dirty="0"/>
              <a:t>3.3% </a:t>
            </a:r>
            <a:r>
              <a:rPr lang="ko-KR" altLang="en-US" sz="1600" spc="-50" dirty="0"/>
              <a:t>였으나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지방정부의 조세수입에서는 </a:t>
            </a:r>
            <a:r>
              <a:rPr lang="en-US" altLang="ko-KR" sz="1600" spc="-50" dirty="0"/>
              <a:t>47.1%</a:t>
            </a:r>
            <a:r>
              <a:rPr lang="ko-KR" altLang="en-US" sz="1600" spc="-50" dirty="0"/>
              <a:t>에 이르는 높은 비중을 차지하고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43574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8860D-2BCA-D94F-E924-91A412DD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7E1FC-E91E-264A-2BFF-AA787A449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1FA4C-BB35-FE53-CB20-B282BBD3BE4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지방정부의 조세수입에서 재산과세가 높은 비중을 차지하고 있는 이유는 다음과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편익성의 원칙에 비추어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적합한 조세징수 수단이 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편익성의 원칙은 지역주민들이 지방정부가 제공하는 공공서비스로부터 얻은 편익에 대한 대가로 세금을 납부한다는 개념이다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지역의 부동산 가격이 높은 것은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해당 지역정부가 교통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 등의 측면에서 좋은 여건을 제공한 덕분이라고 볼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 지역의 부동산을 보유한 사람들은 재산과세를 통해 이에 대한 대가를 지불하는 것이 적합하다고 보는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안정성의 원칙을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안정성의 원칙은 지방정부가 지속적 운영을 하려면 안정적인 조세수입을 확보하고 있어야 한다는 원칙이다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사람들은 세금부담을 피하고자 다른 지역으로 쉽게 이동할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토지나 건물 같은 부동산은 세금부담을 피하고자 다른 지역으로 이동해 가는 것이 불가능하다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사람들의 소득에 세금을 부과하는 것보다 지역 내 부동산에 대해 세금을 부과하는 것이 지방정부의 안정적인 조세수입 확보 측면에서 더 낫다고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재산세를 지방세의 중심축으로 삼는 것은 지역간 재정불균형을 </a:t>
            </a:r>
            <a:r>
              <a:rPr lang="ko-KR" altLang="en-US" sz="1600" spc="-50" dirty="0" err="1"/>
              <a:t>심화시키는</a:t>
            </a:r>
            <a:r>
              <a:rPr lang="ko-KR" altLang="en-US" sz="1600" spc="-50" dirty="0"/>
              <a:t> 문제를 야기할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서울과 지방의 주택 가격은 현저한 차이가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거둬들이는 세금의 규모도 큰 차이가 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지역간 재정불균형이 심하게 나타나는 것은 재산과세의 형태로 거두는 지방세 수입 차이에 기인하는 바가 크다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16125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C8CA-C4F9-74A9-2D8E-EB13DDC9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54D35-4A38-FBE2-F0C5-35FE818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42638-489F-762B-19A2-A0904024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BA2A62-6583-91F7-FA37-1A59F7B39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지방재정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774017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7FE1-B59E-E933-8902-AC710633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FF7794-0B7B-BAD8-6E7C-372E802D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8545B2-678A-65D2-E325-73C481D61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D4ABA5-AB69-7519-AE6D-8070BF07DD7A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중앙정부가 모든 일을 도맡아서 하는 체제하에서는 재정운영도 획일적으로 이루어질 수 밖에 없으므로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특수한 사정과 지역주민들의 선호가 반영될 수 있도록 중앙정부와 지방정부 사이의 적절한 역할 분담이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우리나라는 오랫동안 중앙집권 체제를 유지해왔기 때문에 지방재정의 역할은 제한되어 있는 것이 사실이다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의 표를 참고하면 지방재정의 구성에 대한 윤곽을 확인할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지방정부의 재정은 일반적인 지방정부가 관리하는 재정과 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도 교육청이 관리하는 교육재정으로 구성된다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교육재정은 지방재정과 별개로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지방재정이라고 하면 교육재정을 제외한 지방정부의 재정을 의미하는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D10DD79-4AE4-7606-A894-292A8ECE3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715" y="3782551"/>
            <a:ext cx="9264569" cy="266835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292C710-7F3C-6323-C4B3-5B5F81EB0A2A}"/>
              </a:ext>
            </a:extLst>
          </p:cNvPr>
          <p:cNvSpPr/>
          <p:nvPr/>
        </p:nvSpPr>
        <p:spPr>
          <a:xfrm>
            <a:off x="1463715" y="3581486"/>
            <a:ext cx="7741246" cy="1330147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153D0E-3599-3DE8-181F-7F07EC1BC9E3}"/>
              </a:ext>
            </a:extLst>
          </p:cNvPr>
          <p:cNvSpPr/>
          <p:nvPr/>
        </p:nvSpPr>
        <p:spPr>
          <a:xfrm>
            <a:off x="1463714" y="4820194"/>
            <a:ext cx="3164892" cy="1600234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7808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F6C48-17CB-08B7-ADF4-26B639E90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A1B44-8978-E390-8646-957FA982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B72F1B-32CC-F03E-EDB5-C4098A06E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4035F-DDCA-1778-281A-B6C0852D74E3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재정과 마찬가지로 지방정부의 재정도 예산과 기금으로 구성되며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예산은 일반회계와 특별회계로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아래의 그림은 우리나라 지방재정의 구성을 보여주고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예산이 지방정부의 대부분을 차지하고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중에서도 일반회계가 매우 큰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재정수입은 지방정부가 자체적으로 조달하는 자체재원과 중앙정부나 상위 지방정부로부터 지원받는 의존재원으로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자체재원은 지방정부가 거둬들이는 지방세 수입과 각종 사용료나 수수료 등의 세외수입이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의존재원에는 지방교부세와 보조금이 포함된다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지방교부세와 보조금은 중앙정부 또는 상위 지방정부가 자신의 재원 중 일부를 지방정부에게 지원해주는 것을 뜻한다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지방교부세는 지방정부의 일반적인 행정운영에 사용할 수 있는 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보조금은 특정 목적을 위해서만 사용할 수 있도록 되어 있다는 점에서 차이가 있다</a:t>
            </a:r>
            <a:r>
              <a:rPr lang="en-US" altLang="ko-KR" sz="1600" spc="-1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또한 지방정부는 필요에 따라 지방채 발행을 통해 재원을 마련할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2DBDF-B080-5823-0E4C-5ACAC11CC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331" y="5453674"/>
            <a:ext cx="3344087" cy="10444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1AE4A8-C53C-1BF6-6128-EB39E4BD246C}"/>
              </a:ext>
            </a:extLst>
          </p:cNvPr>
          <p:cNvSpPr txBox="1"/>
          <p:nvPr/>
        </p:nvSpPr>
        <p:spPr>
          <a:xfrm>
            <a:off x="3818279" y="5174790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B8EEA7-630A-289B-00F4-767928AAAADA}"/>
              </a:ext>
            </a:extLst>
          </p:cNvPr>
          <p:cNvSpPr txBox="1"/>
          <p:nvPr/>
        </p:nvSpPr>
        <p:spPr>
          <a:xfrm>
            <a:off x="5076796" y="5452724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645FF-7430-3500-3129-273086A29360}"/>
              </a:ext>
            </a:extLst>
          </p:cNvPr>
          <p:cNvSpPr txBox="1"/>
          <p:nvPr/>
        </p:nvSpPr>
        <p:spPr>
          <a:xfrm>
            <a:off x="4963586" y="5959735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3059EB-3EBB-D457-4006-A421B810C14A}"/>
              </a:ext>
            </a:extLst>
          </p:cNvPr>
          <p:cNvSpPr txBox="1"/>
          <p:nvPr/>
        </p:nvSpPr>
        <p:spPr>
          <a:xfrm>
            <a:off x="6712881" y="5345002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544C09-D14F-B6AC-9D89-B43C60C7F45D}"/>
              </a:ext>
            </a:extLst>
          </p:cNvPr>
          <p:cNvSpPr txBox="1"/>
          <p:nvPr/>
        </p:nvSpPr>
        <p:spPr>
          <a:xfrm>
            <a:off x="6574968" y="5887834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CA471C-410D-0C94-BAAE-2917BD1B4B2F}"/>
              </a:ext>
            </a:extLst>
          </p:cNvPr>
          <p:cNvSpPr txBox="1"/>
          <p:nvPr/>
        </p:nvSpPr>
        <p:spPr>
          <a:xfrm>
            <a:off x="6894693" y="5959734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D2F349-C61C-68DA-B017-14FBC986F2B7}"/>
              </a:ext>
            </a:extLst>
          </p:cNvPr>
          <p:cNvSpPr txBox="1"/>
          <p:nvPr/>
        </p:nvSpPr>
        <p:spPr>
          <a:xfrm>
            <a:off x="6930596" y="5442158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026134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DA346A-23C0-E3DD-4A0A-B9AF589F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F4BD86-3CC4-7A0A-61E3-F3025ADB7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61</a:t>
            </a:fld>
            <a:endParaRPr lang="ko-KR" altLang="en-US"/>
          </a:p>
        </p:txBody>
      </p:sp>
      <p:pic>
        <p:nvPicPr>
          <p:cNvPr id="6" name="그림 5" descr="텍스트, 원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EBED4D-98DC-3897-3F9F-8342DEB03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091" y="4177245"/>
            <a:ext cx="2508995" cy="24346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A1EEA5-57FC-3BEA-2F81-F770598B1DC7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지방정부의 재원구성을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조세수입은 정부 재원의 중요한 구성요소이지만 우리나라 지방재정의 재원에서 지방세로부터의 수입이 차지하는 비중은 </a:t>
            </a:r>
            <a:r>
              <a:rPr lang="en-US" altLang="ko-KR" sz="1600" spc="-50" dirty="0"/>
              <a:t>31.4%</a:t>
            </a:r>
            <a:r>
              <a:rPr lang="ko-KR" altLang="en-US" sz="1600" spc="-50" dirty="0"/>
              <a:t>에 불과하고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자체수입에 의한 재원조달 비중도 </a:t>
            </a:r>
            <a:r>
              <a:rPr lang="en-US" altLang="ko-KR" sz="1600" spc="-50" dirty="0"/>
              <a:t>41.0%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지방정부는 재정운영에 필요한 재원의 </a:t>
            </a:r>
            <a:r>
              <a:rPr lang="en-US" altLang="ko-KR" sz="1600" spc="-50" dirty="0"/>
              <a:t>43.0%</a:t>
            </a:r>
            <a:r>
              <a:rPr lang="ko-KR" altLang="en-US" sz="1600" spc="-50" dirty="0"/>
              <a:t>를 중앙정부나 상위 지방정부가 지방교부세나 보조금의 형태로 제공하는 지원에 의존하고 있는 실정이다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지방정부가 재정적으로 지방정부에 의존하는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독자적인 사업을 운영하는데 제약을 받을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지방교부세의 형태로 재정보조를 해줄 때는 아무런 조건을 달지 않고 지원을 해주는 것이 원칙이나 실제로는 중앙정부의 입김이 어떤 형태로든 작용하는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5137FF-3351-7231-616F-8EC8E10BBD3C}"/>
              </a:ext>
            </a:extLst>
          </p:cNvPr>
          <p:cNvSpPr txBox="1"/>
          <p:nvPr/>
        </p:nvSpPr>
        <p:spPr>
          <a:xfrm>
            <a:off x="4009868" y="386227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재원구성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0080689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D9B21-16B6-A643-7C51-DA3C56D07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393EF5-9151-A28E-9470-1B06C02E5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62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C5BBDB-BCE5-56D0-1EC2-D68EBBC19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609" y="3787373"/>
            <a:ext cx="4596782" cy="27495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563F7F-80BB-AE35-D09E-5A888F216528}"/>
              </a:ext>
            </a:extLst>
          </p:cNvPr>
          <p:cNvSpPr txBox="1"/>
          <p:nvPr/>
        </p:nvSpPr>
        <p:spPr>
          <a:xfrm>
            <a:off x="4305960" y="352576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지방정부의 분야별 지출 비중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D1426B-9502-390D-71EE-AA71B4B2F27C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우리나라 지방정부가 분야별로 재원을 어떻게 사용했는지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지방정부의 재정지출에서 가장 비중이 큰 것은 사회복지 관련 지출로 전체의 </a:t>
            </a:r>
            <a:r>
              <a:rPr lang="en-US" altLang="ko-KR" sz="1600" spc="-50" dirty="0"/>
              <a:t>29.8%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수요가 커짐에 따라 사회복지와 관련한 지방정부의 재정지출은 지속적으로 증가하는 추세를 보이고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적절한 재원이 마련되지 않은 채 복지를 위한 재정지출만 증가하면 재정적으로 부담이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관련 지출에 이어 큰 비중을 차지하는 항목은 인력운영비와 환경보호 관련 지출로 각각 </a:t>
            </a:r>
            <a:r>
              <a:rPr lang="en-US" altLang="ko-KR" sz="1600" spc="-50" dirty="0"/>
              <a:t>12.5%, 10.1%</a:t>
            </a:r>
            <a:r>
              <a:rPr lang="ko-KR" altLang="en-US" sz="1600" spc="-50" dirty="0"/>
              <a:t> 의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4161811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4883-9B9A-588B-EAE2-A625EB2D6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2E316-59FE-3C1F-77B2-2F9377A4A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63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AED3D6F-AD4E-80EA-1AC5-1E385C77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424" y="4634914"/>
            <a:ext cx="3180688" cy="191689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927BB8E-84A1-9016-B039-C337F6FD7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37" y="4635842"/>
            <a:ext cx="3193410" cy="19211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70FB96-002B-F016-978B-00F56E65DB6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지방자치제도가 정착되어 나가면서 지방정부의 역할이 커지고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재정에서 중앙정부가 차지하는 비중은 지방정부에 비해 상당히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그림을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이래로 중앙정부의 예산이 지방정부의 예산보다 줄곧 더 큰 규모로 유지되어 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2019</a:t>
            </a:r>
            <a:r>
              <a:rPr lang="ko-KR" altLang="en-US" sz="1600" spc="-50" dirty="0"/>
              <a:t>년 전체에서 중앙정부가 차지하는 비중은 </a:t>
            </a:r>
            <a:r>
              <a:rPr lang="en-US" altLang="ko-KR" sz="1600" spc="-50" dirty="0"/>
              <a:t>59% </a:t>
            </a:r>
            <a:r>
              <a:rPr lang="ko-KR" altLang="en-US" sz="1600" spc="-50" dirty="0"/>
              <a:t>인 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지방정부는 </a:t>
            </a:r>
            <a:r>
              <a:rPr lang="en-US" altLang="ko-KR" sz="1600" spc="-50" dirty="0"/>
              <a:t>41%</a:t>
            </a:r>
            <a:r>
              <a:rPr lang="ko-KR" altLang="en-US" sz="1600" spc="-50" dirty="0"/>
              <a:t>에 불과하였다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 측면에서 보면 불균형은 한층 더 심하다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 전체에서 지방정부가 거둬들이는 지방세 수입 비중이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수준을 크게 벗어나지 못하고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진정한 지방자치시대로 나아가기 위해서는 지방정부의 재정자립도를 높이기 위한 근본 대책이 마련되어야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충분한 지방세 수입을 확보해야 하는데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그러기 위해서는 지방세 세율을 높이거나 새로운 지방세 도입이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지역 간 경제력에 매우 큰 차이기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지역간 빈익빈 부익부 현상이 심화될 가능성이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252DF-71D5-E136-E05C-F80B968E8534}"/>
              </a:ext>
            </a:extLst>
          </p:cNvPr>
          <p:cNvSpPr txBox="1"/>
          <p:nvPr/>
        </p:nvSpPr>
        <p:spPr>
          <a:xfrm>
            <a:off x="3207385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일반회계</a:t>
            </a:r>
            <a:r>
              <a:rPr lang="en-US" altLang="ko-KR" sz="1100" spc="-50" dirty="0"/>
              <a:t>(</a:t>
            </a:r>
            <a:r>
              <a:rPr lang="ko-KR" altLang="en-US" sz="1100" spc="-50" dirty="0" err="1"/>
              <a:t>순계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C87CED-2DAD-44D6-949E-70799C22B4CC}"/>
              </a:ext>
            </a:extLst>
          </p:cNvPr>
          <p:cNvSpPr txBox="1"/>
          <p:nvPr/>
        </p:nvSpPr>
        <p:spPr>
          <a:xfrm>
            <a:off x="7791983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조세수입</a:t>
            </a:r>
            <a:r>
              <a:rPr lang="en-US" altLang="ko-KR" sz="1100" spc="-50" dirty="0"/>
              <a:t>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99979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0820D-FE08-14C8-9238-2CF4F172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9B5081-BE46-9929-DFD9-00740527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64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B918C39-07D3-EA56-9065-D7FEC3890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21442"/>
              </p:ext>
            </p:extLst>
          </p:nvPr>
        </p:nvGraphicFramePr>
        <p:xfrm>
          <a:off x="2258493" y="3922669"/>
          <a:ext cx="3550884" cy="2471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4047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광역시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자치구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서울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부산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대구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인천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대전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울산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세종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13D90CF-D40C-378B-8258-1129C7076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546285"/>
              </p:ext>
            </p:extLst>
          </p:nvPr>
        </p:nvGraphicFramePr>
        <p:xfrm>
          <a:off x="6352320" y="3922669"/>
          <a:ext cx="3550884" cy="247103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8957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강원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943D3C7-33C1-F6A1-6EF1-D58EF8B08CE5}"/>
              </a:ext>
            </a:extLst>
          </p:cNvPr>
          <p:cNvSpPr txBox="1"/>
          <p:nvPr/>
        </p:nvSpPr>
        <p:spPr>
          <a:xfrm>
            <a:off x="6750797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6325B6-F397-E631-5D64-04A4BD477F08}"/>
              </a:ext>
            </a:extLst>
          </p:cNvPr>
          <p:cNvSpPr txBox="1"/>
          <p:nvPr/>
        </p:nvSpPr>
        <p:spPr>
          <a:xfrm>
            <a:off x="2732470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ADB0B3-4E34-962C-EFFD-8FA7DF066296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지역간 재정불균형의 정도는 지방정부의 전체 예산에서 자체재원이 얼마나 되는지를 측정한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재정자립도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라는 지표를 통해 측정할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 표는 우리나라의 지역별 재정자립도 현황을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광역시의 재정자립도가 평균적으로 도보다 높다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서울의 재정자립도는 </a:t>
            </a:r>
            <a:r>
              <a:rPr lang="en-US" altLang="ko-KR" sz="1600" spc="-50" dirty="0"/>
              <a:t>79.4%</a:t>
            </a:r>
            <a:r>
              <a:rPr lang="ko-KR" altLang="en-US" sz="1600" spc="-50" dirty="0"/>
              <a:t>인데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전남의 재정자립도는 </a:t>
            </a:r>
            <a:r>
              <a:rPr lang="en-US" altLang="ko-KR" sz="1600" spc="-50" dirty="0"/>
              <a:t>26.5%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상위 지방자치단체에서 하위로 갈수록 재정자립도가 더 낮아진다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광역시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특별자치시의 재정자립도 평균은 </a:t>
            </a:r>
            <a:r>
              <a:rPr lang="en-US" altLang="ko-KR" sz="1600" spc="-50" dirty="0"/>
              <a:t>60.9%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 자치구들의 평균은 </a:t>
            </a:r>
            <a:r>
              <a:rPr lang="en-US" altLang="ko-KR" sz="1600" spc="-50" dirty="0"/>
              <a:t>29%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5805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B68AC-2CD6-B732-C2FE-FDBD6E8C4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지방세 체계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F513F8-E1DB-9C35-4AE1-F0180AE15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90497-7C99-416C-2A40-8FD2AF4E5806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지방세 체계는 아래의 표와 같이 </a:t>
            </a:r>
            <a:r>
              <a:rPr lang="en-US" altLang="ko-KR" sz="1600" spc="-50" dirty="0"/>
              <a:t>11</a:t>
            </a:r>
            <a:r>
              <a:rPr lang="ko-KR" altLang="en-US" sz="1600" spc="-50" dirty="0"/>
              <a:t>가지의 지방세로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징수 주체에 따라 도세와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군세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또 광역시세와 자치구세로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세수가 일반적인 세입인지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특정 용도로만 사용되는지에 따라 보통세와 목적세로 구분한다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0A4A95-EAA7-B4B6-05D7-9B87C6F1427F}"/>
              </a:ext>
            </a:extLst>
          </p:cNvPr>
          <p:cNvSpPr txBox="1"/>
          <p:nvPr/>
        </p:nvSpPr>
        <p:spPr>
          <a:xfrm>
            <a:off x="3009304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196BD5-A50D-CAE3-32C5-06AE18CA3D33}"/>
              </a:ext>
            </a:extLst>
          </p:cNvPr>
          <p:cNvSpPr txBox="1"/>
          <p:nvPr/>
        </p:nvSpPr>
        <p:spPr>
          <a:xfrm>
            <a:off x="3009304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AA6C9-96BE-CDE0-19DF-747CE4CAE825}"/>
              </a:ext>
            </a:extLst>
          </p:cNvPr>
          <p:cNvSpPr txBox="1"/>
          <p:nvPr/>
        </p:nvSpPr>
        <p:spPr>
          <a:xfrm>
            <a:off x="3009304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AB9BC3-7F33-84DA-38EF-138442B65355}"/>
              </a:ext>
            </a:extLst>
          </p:cNvPr>
          <p:cNvSpPr txBox="1"/>
          <p:nvPr/>
        </p:nvSpPr>
        <p:spPr>
          <a:xfrm>
            <a:off x="3009304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7A3054-05FA-544A-8323-DA62DCDCA049}"/>
              </a:ext>
            </a:extLst>
          </p:cNvPr>
          <p:cNvSpPr txBox="1"/>
          <p:nvPr/>
        </p:nvSpPr>
        <p:spPr>
          <a:xfrm>
            <a:off x="3009304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9909F9-10C6-6E1F-0887-86EA1142EBA3}"/>
              </a:ext>
            </a:extLst>
          </p:cNvPr>
          <p:cNvSpPr txBox="1"/>
          <p:nvPr/>
        </p:nvSpPr>
        <p:spPr>
          <a:xfrm>
            <a:off x="3009304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91D563-5862-A70E-98D5-93C027999337}"/>
              </a:ext>
            </a:extLst>
          </p:cNvPr>
          <p:cNvSpPr txBox="1"/>
          <p:nvPr/>
        </p:nvSpPr>
        <p:spPr>
          <a:xfrm>
            <a:off x="3009304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AF0C36-61F0-D7E0-8D46-BC5BA1EA501F}"/>
              </a:ext>
            </a:extLst>
          </p:cNvPr>
          <p:cNvSpPr txBox="1"/>
          <p:nvPr/>
        </p:nvSpPr>
        <p:spPr>
          <a:xfrm>
            <a:off x="3009304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3AEDB5-FF5C-9E28-E7D1-489DCD46EE8C}"/>
              </a:ext>
            </a:extLst>
          </p:cNvPr>
          <p:cNvSpPr txBox="1"/>
          <p:nvPr/>
        </p:nvSpPr>
        <p:spPr>
          <a:xfrm>
            <a:off x="3009304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0A9B0D-65D7-0D15-D0C7-E83BB088B467}"/>
              </a:ext>
            </a:extLst>
          </p:cNvPr>
          <p:cNvSpPr txBox="1"/>
          <p:nvPr/>
        </p:nvSpPr>
        <p:spPr>
          <a:xfrm>
            <a:off x="3009304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7355C8-05D6-5EA2-D543-9A7DA11F278B}"/>
              </a:ext>
            </a:extLst>
          </p:cNvPr>
          <p:cNvSpPr txBox="1"/>
          <p:nvPr/>
        </p:nvSpPr>
        <p:spPr>
          <a:xfrm>
            <a:off x="3009304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E8A242-A8AC-9524-6885-F530B4620490}"/>
              </a:ext>
            </a:extLst>
          </p:cNvPr>
          <p:cNvSpPr txBox="1"/>
          <p:nvPr/>
        </p:nvSpPr>
        <p:spPr>
          <a:xfrm>
            <a:off x="2098885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21168BD2-9B99-1A7A-9123-185FC1D2B4FA}"/>
              </a:ext>
            </a:extLst>
          </p:cNvPr>
          <p:cNvSpPr/>
          <p:nvPr/>
        </p:nvSpPr>
        <p:spPr>
          <a:xfrm>
            <a:off x="2802900" y="3376110"/>
            <a:ext cx="206404" cy="802905"/>
          </a:xfrm>
          <a:prstGeom prst="leftBrace">
            <a:avLst>
              <a:gd name="adj1" fmla="val 0"/>
              <a:gd name="adj2" fmla="val 2414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06A0DA-177E-90D2-1221-9323666F076C}"/>
              </a:ext>
            </a:extLst>
          </p:cNvPr>
          <p:cNvSpPr txBox="1"/>
          <p:nvPr/>
        </p:nvSpPr>
        <p:spPr>
          <a:xfrm>
            <a:off x="2098885" y="437801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0D20EB-AB72-39E2-B5AB-EAB714CB5555}"/>
              </a:ext>
            </a:extLst>
          </p:cNvPr>
          <p:cNvSpPr txBox="1"/>
          <p:nvPr/>
        </p:nvSpPr>
        <p:spPr>
          <a:xfrm>
            <a:off x="2098885" y="5264493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C16A74-346E-7DE3-A10E-FD3BFAFEDC7E}"/>
              </a:ext>
            </a:extLst>
          </p:cNvPr>
          <p:cNvSpPr txBox="1"/>
          <p:nvPr/>
        </p:nvSpPr>
        <p:spPr>
          <a:xfrm>
            <a:off x="1195316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도세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(6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85AEE2-D724-64A7-1A4B-C1BDE3CC6BE0}"/>
              </a:ext>
            </a:extLst>
          </p:cNvPr>
          <p:cNvSpPr txBox="1"/>
          <p:nvPr/>
        </p:nvSpPr>
        <p:spPr>
          <a:xfrm>
            <a:off x="283218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0" name="왼쪽 중괄호 59">
            <a:extLst>
              <a:ext uri="{FF2B5EF4-FFF2-40B4-BE49-F238E27FC236}">
                <a16:creationId xmlns:a16="http://schemas.microsoft.com/office/drawing/2014/main" id="{49331248-C34B-4BE0-DDE5-8C97F7095DA8}"/>
              </a:ext>
            </a:extLst>
          </p:cNvPr>
          <p:cNvSpPr/>
          <p:nvPr/>
        </p:nvSpPr>
        <p:spPr>
          <a:xfrm>
            <a:off x="2802900" y="4362091"/>
            <a:ext cx="206404" cy="286038"/>
          </a:xfrm>
          <a:prstGeom prst="leftBrace">
            <a:avLst>
              <a:gd name="adj1" fmla="val 0"/>
              <a:gd name="adj2" fmla="val 4356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9A7B4811-C9DF-F73D-8DAC-088A351770C2}"/>
              </a:ext>
            </a:extLst>
          </p:cNvPr>
          <p:cNvSpPr/>
          <p:nvPr/>
        </p:nvSpPr>
        <p:spPr>
          <a:xfrm>
            <a:off x="2802900" y="4863040"/>
            <a:ext cx="206404" cy="102150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A870EF76-2432-BC2D-AE4B-FBA323F9F99B}"/>
              </a:ext>
            </a:extLst>
          </p:cNvPr>
          <p:cNvSpPr/>
          <p:nvPr/>
        </p:nvSpPr>
        <p:spPr>
          <a:xfrm>
            <a:off x="1892481" y="3546961"/>
            <a:ext cx="206404" cy="966107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9235CB-53B2-C7BB-7E9C-C86A9CC15900}"/>
              </a:ext>
            </a:extLst>
          </p:cNvPr>
          <p:cNvSpPr txBox="1"/>
          <p:nvPr/>
        </p:nvSpPr>
        <p:spPr>
          <a:xfrm>
            <a:off x="1195316" y="5195478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군세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(5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06C884C-CB14-2CC6-AD6F-173130802DBD}"/>
              </a:ext>
            </a:extLst>
          </p:cNvPr>
          <p:cNvCxnSpPr>
            <a:cxnSpLocks/>
            <a:stCxn id="63" idx="3"/>
            <a:endCxn id="54" idx="1"/>
          </p:cNvCxnSpPr>
          <p:nvPr/>
        </p:nvCxnSpPr>
        <p:spPr>
          <a:xfrm flipV="1">
            <a:off x="1897455" y="5379909"/>
            <a:ext cx="201430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왼쪽 중괄호 67">
            <a:extLst>
              <a:ext uri="{FF2B5EF4-FFF2-40B4-BE49-F238E27FC236}">
                <a16:creationId xmlns:a16="http://schemas.microsoft.com/office/drawing/2014/main" id="{63748D88-C801-F583-E0F6-72D53A576E69}"/>
              </a:ext>
            </a:extLst>
          </p:cNvPr>
          <p:cNvSpPr/>
          <p:nvPr/>
        </p:nvSpPr>
        <p:spPr>
          <a:xfrm>
            <a:off x="986295" y="3999799"/>
            <a:ext cx="206404" cy="1380110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07F978-D918-A7E2-26C4-2C8BDFEC50B3}"/>
              </a:ext>
            </a:extLst>
          </p:cNvPr>
          <p:cNvSpPr txBox="1"/>
          <p:nvPr/>
        </p:nvSpPr>
        <p:spPr>
          <a:xfrm>
            <a:off x="8725548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7BFABB-A51F-3C9A-5645-F60E75571C01}"/>
              </a:ext>
            </a:extLst>
          </p:cNvPr>
          <p:cNvSpPr txBox="1"/>
          <p:nvPr/>
        </p:nvSpPr>
        <p:spPr>
          <a:xfrm>
            <a:off x="8725548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5C369BE-CEF9-236D-C5EC-A15EB6239917}"/>
              </a:ext>
            </a:extLst>
          </p:cNvPr>
          <p:cNvSpPr txBox="1"/>
          <p:nvPr/>
        </p:nvSpPr>
        <p:spPr>
          <a:xfrm>
            <a:off x="8725548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37109F-27C7-F4F3-940A-99EDE964EEB1}"/>
              </a:ext>
            </a:extLst>
          </p:cNvPr>
          <p:cNvSpPr txBox="1"/>
          <p:nvPr/>
        </p:nvSpPr>
        <p:spPr>
          <a:xfrm>
            <a:off x="8725548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508E75-4C75-4346-7533-F7D3E2DC687F}"/>
              </a:ext>
            </a:extLst>
          </p:cNvPr>
          <p:cNvSpPr txBox="1"/>
          <p:nvPr/>
        </p:nvSpPr>
        <p:spPr>
          <a:xfrm>
            <a:off x="8725548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98F867-A261-FCFA-4B7A-25264121B49F}"/>
              </a:ext>
            </a:extLst>
          </p:cNvPr>
          <p:cNvSpPr txBox="1"/>
          <p:nvPr/>
        </p:nvSpPr>
        <p:spPr>
          <a:xfrm>
            <a:off x="8725548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7B5C89-55DE-66F0-ADA0-373F4F570BC4}"/>
              </a:ext>
            </a:extLst>
          </p:cNvPr>
          <p:cNvSpPr txBox="1"/>
          <p:nvPr/>
        </p:nvSpPr>
        <p:spPr>
          <a:xfrm>
            <a:off x="8725548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A88838F-D8E0-C502-7F22-21895B722889}"/>
              </a:ext>
            </a:extLst>
          </p:cNvPr>
          <p:cNvSpPr txBox="1"/>
          <p:nvPr/>
        </p:nvSpPr>
        <p:spPr>
          <a:xfrm>
            <a:off x="8725548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A3EE7E-1331-2465-9E77-FCC65E1CBD9D}"/>
              </a:ext>
            </a:extLst>
          </p:cNvPr>
          <p:cNvSpPr txBox="1"/>
          <p:nvPr/>
        </p:nvSpPr>
        <p:spPr>
          <a:xfrm>
            <a:off x="8725548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C2E8-E078-C375-5AE9-9F230EDC6D6D}"/>
              </a:ext>
            </a:extLst>
          </p:cNvPr>
          <p:cNvSpPr txBox="1"/>
          <p:nvPr/>
        </p:nvSpPr>
        <p:spPr>
          <a:xfrm>
            <a:off x="8725548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924395A-655A-CA29-0675-25E42C9C1978}"/>
              </a:ext>
            </a:extLst>
          </p:cNvPr>
          <p:cNvSpPr txBox="1"/>
          <p:nvPr/>
        </p:nvSpPr>
        <p:spPr>
          <a:xfrm>
            <a:off x="8725548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D39BA7-1FE8-6B91-802D-897F3B1B9F99}"/>
              </a:ext>
            </a:extLst>
          </p:cNvPr>
          <p:cNvSpPr txBox="1"/>
          <p:nvPr/>
        </p:nvSpPr>
        <p:spPr>
          <a:xfrm>
            <a:off x="7815129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2" name="왼쪽 중괄호 81">
            <a:extLst>
              <a:ext uri="{FF2B5EF4-FFF2-40B4-BE49-F238E27FC236}">
                <a16:creationId xmlns:a16="http://schemas.microsoft.com/office/drawing/2014/main" id="{3D32521D-BCFB-71DA-B987-FFCFA5F95A20}"/>
              </a:ext>
            </a:extLst>
          </p:cNvPr>
          <p:cNvSpPr/>
          <p:nvPr/>
        </p:nvSpPr>
        <p:spPr>
          <a:xfrm>
            <a:off x="8519144" y="3376110"/>
            <a:ext cx="206404" cy="1499384"/>
          </a:xfrm>
          <a:prstGeom prst="leftBrace">
            <a:avLst>
              <a:gd name="adj1" fmla="val 0"/>
              <a:gd name="adj2" fmla="val 1299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A4AEB4B-C82F-19BB-ACA6-35FCB62AEDA8}"/>
              </a:ext>
            </a:extLst>
          </p:cNvPr>
          <p:cNvSpPr txBox="1"/>
          <p:nvPr/>
        </p:nvSpPr>
        <p:spPr>
          <a:xfrm>
            <a:off x="7815129" y="514636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FCCDEB3-3FCF-92EE-68F0-5D05BCEB2D57}"/>
              </a:ext>
            </a:extLst>
          </p:cNvPr>
          <p:cNvSpPr txBox="1"/>
          <p:nvPr/>
        </p:nvSpPr>
        <p:spPr>
          <a:xfrm>
            <a:off x="7815129" y="5643376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E7A9A8-D64C-76DC-C1E2-12A9FBFC2F91}"/>
              </a:ext>
            </a:extLst>
          </p:cNvPr>
          <p:cNvSpPr txBox="1"/>
          <p:nvPr/>
        </p:nvSpPr>
        <p:spPr>
          <a:xfrm>
            <a:off x="6909443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광역시세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87" name="왼쪽 중괄호 86">
            <a:extLst>
              <a:ext uri="{FF2B5EF4-FFF2-40B4-BE49-F238E27FC236}">
                <a16:creationId xmlns:a16="http://schemas.microsoft.com/office/drawing/2014/main" id="{6359183B-426A-3459-2E38-267FA01EDD78}"/>
              </a:ext>
            </a:extLst>
          </p:cNvPr>
          <p:cNvSpPr/>
          <p:nvPr/>
        </p:nvSpPr>
        <p:spPr>
          <a:xfrm>
            <a:off x="8519144" y="5130441"/>
            <a:ext cx="206404" cy="268811"/>
          </a:xfrm>
          <a:prstGeom prst="leftBrace">
            <a:avLst>
              <a:gd name="adj1" fmla="val 0"/>
              <a:gd name="adj2" fmla="val 50654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왼쪽 중괄호 88">
            <a:extLst>
              <a:ext uri="{FF2B5EF4-FFF2-40B4-BE49-F238E27FC236}">
                <a16:creationId xmlns:a16="http://schemas.microsoft.com/office/drawing/2014/main" id="{91DE40EB-DA21-C8D9-2DEA-D3587618E7B1}"/>
              </a:ext>
            </a:extLst>
          </p:cNvPr>
          <p:cNvSpPr/>
          <p:nvPr/>
        </p:nvSpPr>
        <p:spPr>
          <a:xfrm>
            <a:off x="7608725" y="3563897"/>
            <a:ext cx="206404" cy="1699594"/>
          </a:xfrm>
          <a:prstGeom prst="leftBrace">
            <a:avLst>
              <a:gd name="adj1" fmla="val 0"/>
              <a:gd name="adj2" fmla="val 2552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AFC98A4-314D-2A91-308E-9214FC4E2DDF}"/>
              </a:ext>
            </a:extLst>
          </p:cNvPr>
          <p:cNvSpPr txBox="1"/>
          <p:nvPr/>
        </p:nvSpPr>
        <p:spPr>
          <a:xfrm>
            <a:off x="6909443" y="557436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자치구세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(2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50696374-FD04-A479-ABFE-EF64BEA5CDB7}"/>
              </a:ext>
            </a:extLst>
          </p:cNvPr>
          <p:cNvCxnSpPr>
            <a:cxnSpLocks/>
            <a:stCxn id="90" idx="3"/>
            <a:endCxn id="84" idx="1"/>
          </p:cNvCxnSpPr>
          <p:nvPr/>
        </p:nvCxnSpPr>
        <p:spPr>
          <a:xfrm flipV="1">
            <a:off x="7611582" y="5758792"/>
            <a:ext cx="203547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왼쪽 중괄호 91">
            <a:extLst>
              <a:ext uri="{FF2B5EF4-FFF2-40B4-BE49-F238E27FC236}">
                <a16:creationId xmlns:a16="http://schemas.microsoft.com/office/drawing/2014/main" id="{081074D2-3CD9-D319-B019-29561300D12B}"/>
              </a:ext>
            </a:extLst>
          </p:cNvPr>
          <p:cNvSpPr/>
          <p:nvPr/>
        </p:nvSpPr>
        <p:spPr>
          <a:xfrm>
            <a:off x="6702539" y="3999798"/>
            <a:ext cx="206404" cy="1758993"/>
          </a:xfrm>
          <a:prstGeom prst="leftBrace">
            <a:avLst>
              <a:gd name="adj1" fmla="val 0"/>
              <a:gd name="adj2" fmla="val 3642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왼쪽 중괄호 92">
            <a:extLst>
              <a:ext uri="{FF2B5EF4-FFF2-40B4-BE49-F238E27FC236}">
                <a16:creationId xmlns:a16="http://schemas.microsoft.com/office/drawing/2014/main" id="{E9737CBA-9454-9DC1-1607-BA1D72784711}"/>
              </a:ext>
            </a:extLst>
          </p:cNvPr>
          <p:cNvSpPr/>
          <p:nvPr/>
        </p:nvSpPr>
        <p:spPr>
          <a:xfrm>
            <a:off x="8519144" y="5630383"/>
            <a:ext cx="206404" cy="25017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5698BD8-93EA-74C9-C03F-359EFAA5B414}"/>
              </a:ext>
            </a:extLst>
          </p:cNvPr>
          <p:cNvSpPr txBox="1"/>
          <p:nvPr/>
        </p:nvSpPr>
        <p:spPr>
          <a:xfrm>
            <a:off x="4051811" y="2732695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현행 지방세 체계 </a:t>
            </a:r>
            <a:r>
              <a:rPr lang="en-US" altLang="ko-KR" sz="1200" spc="-50" dirty="0"/>
              <a:t>(2020</a:t>
            </a:r>
            <a:r>
              <a:rPr lang="ko-KR" altLang="en-US" sz="1200" spc="-50" dirty="0"/>
              <a:t>년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10D30F4-F54B-6987-E5A9-44D8678A60ED}"/>
              </a:ext>
            </a:extLst>
          </p:cNvPr>
          <p:cNvSpPr txBox="1"/>
          <p:nvPr/>
        </p:nvSpPr>
        <p:spPr>
          <a:xfrm>
            <a:off x="6001247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590555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0D6765-AD75-D0AA-7E89-9AF17DAD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7D615A-0676-29EC-3183-87E8A101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804746-9001-0706-654B-67BEBED7DE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년도 우리나라 지방세 수입의 구성비율을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중 가장 많은 수입을 올리고 있는 것은 부동산이나 자동차 등의 자산을 </a:t>
            </a:r>
            <a:r>
              <a:rPr lang="ko-KR" altLang="en-US" sz="1600" spc="-50" dirty="0" err="1"/>
              <a:t>취득할때</a:t>
            </a:r>
            <a:r>
              <a:rPr lang="ko-KR" altLang="en-US" sz="1600" spc="-50" dirty="0"/>
              <a:t> 부과하는 취득세로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 수입의 </a:t>
            </a:r>
            <a:r>
              <a:rPr lang="en-US" altLang="ko-KR" sz="1600" spc="-50" dirty="0"/>
              <a:t>24.5%</a:t>
            </a:r>
            <a:r>
              <a:rPr lang="ko-KR" altLang="en-US" sz="1600" spc="-50" dirty="0"/>
              <a:t>에 이르는 비중을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다음으로는 </a:t>
            </a:r>
            <a:r>
              <a:rPr lang="ko-KR" altLang="en-US" sz="1600" spc="-50" dirty="0" err="1"/>
              <a:t>지방소비세인데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지방세수 중 </a:t>
            </a:r>
            <a:r>
              <a:rPr lang="en-US" altLang="ko-KR" sz="1600" spc="-50" dirty="0"/>
              <a:t>17.7%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그리고 국세인 소득세나 법인세와 별개로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개인이나 법인의 소득에 부과되는 지방소득세가 </a:t>
            </a:r>
            <a:r>
              <a:rPr lang="en-US" altLang="ko-KR" sz="1600" spc="-50" dirty="0"/>
              <a:t>16.6%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 등의 자산에 대해 부과되는 재산세는 </a:t>
            </a:r>
            <a:r>
              <a:rPr lang="en-US" altLang="ko-KR" sz="1600" spc="-50" dirty="0"/>
              <a:t>14.1%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 지방세 구조를 </a:t>
            </a:r>
            <a:r>
              <a:rPr lang="ko-KR" altLang="en-US" sz="1600" spc="-50" dirty="0" err="1"/>
              <a:t>다른나라들과</a:t>
            </a:r>
            <a:r>
              <a:rPr lang="ko-KR" altLang="en-US" sz="1600" spc="-50" dirty="0"/>
              <a:t>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재산과세의 비중이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우리나라처럼 지역간 경제 격차가 클 때</a:t>
            </a:r>
            <a:r>
              <a:rPr lang="en-US" altLang="ko-KR" sz="1600" spc="-80" dirty="0"/>
              <a:t>,</a:t>
            </a:r>
            <a:r>
              <a:rPr lang="ko-KR" altLang="en-US" sz="1600" spc="-80" dirty="0"/>
              <a:t> 재산과세의 비중이 높은 것은 지역간 재정불균형을 </a:t>
            </a:r>
            <a:r>
              <a:rPr lang="ko-KR" altLang="en-US" sz="1600" spc="-80" dirty="0" err="1"/>
              <a:t>심화시키는</a:t>
            </a:r>
            <a:r>
              <a:rPr lang="ko-KR" altLang="en-US" sz="1600" spc="-80" dirty="0"/>
              <a:t> 요인으로 작용한다</a:t>
            </a:r>
            <a:r>
              <a:rPr lang="en-US" altLang="ko-KR" sz="1600" spc="-8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30" dirty="0"/>
              <a:t>재산과세 중에서도 취득세 같은 거래단계에서의 과세가 재산세 같은 보유단계에서의 과세보다 더 큰 비중을 차지한다는 특징이 있다</a:t>
            </a:r>
            <a:r>
              <a:rPr lang="en-US" altLang="ko-KR" sz="1600" spc="-13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보유단계보다 거래단계에서의 과세 비중이 높은 것은 경제상황에 따라 큰 폭의 변화를 동반하여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조세수입의 안정성 측면에서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D7E299-911F-4119-9FA2-CFEEEC4580EA}"/>
              </a:ext>
            </a:extLst>
          </p:cNvPr>
          <p:cNvSpPr txBox="1"/>
          <p:nvPr/>
        </p:nvSpPr>
        <p:spPr>
          <a:xfrm>
            <a:off x="2217740" y="5640553"/>
            <a:ext cx="129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지방세 수입 구성비율</a:t>
            </a:r>
            <a:endParaRPr lang="en-US" altLang="ko-KR" sz="900" spc="-50" dirty="0"/>
          </a:p>
          <a:p>
            <a:pPr algn="ctr"/>
            <a:r>
              <a:rPr lang="en-US" altLang="ko-KR" sz="900" spc="-50" dirty="0"/>
              <a:t>(2020</a:t>
            </a:r>
            <a:r>
              <a:rPr lang="ko-KR" altLang="en-US" sz="900" spc="-50" dirty="0"/>
              <a:t>년도 예산</a:t>
            </a:r>
            <a:r>
              <a:rPr lang="en-US" altLang="ko-KR" sz="900" spc="-50" dirty="0"/>
              <a:t>)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5EFE439-F2EA-0E9E-873E-BE8B71B0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1" t="35360" r="453" b="26545"/>
          <a:stretch>
            <a:fillRect/>
          </a:stretch>
        </p:blipFill>
        <p:spPr>
          <a:xfrm>
            <a:off x="3598863" y="5516000"/>
            <a:ext cx="4994275" cy="5891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8B3C7-36F7-2348-213C-ACD0C7532FB7}"/>
              </a:ext>
            </a:extLst>
          </p:cNvPr>
          <p:cNvSpPr txBox="1"/>
          <p:nvPr/>
        </p:nvSpPr>
        <p:spPr>
          <a:xfrm>
            <a:off x="3908743" y="5342341"/>
            <a:ext cx="567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취득세</a:t>
            </a:r>
            <a:endParaRPr lang="ko-KR" altLang="en-US" sz="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CF30C2-5837-BE0D-CD40-19467DE299E5}"/>
              </a:ext>
            </a:extLst>
          </p:cNvPr>
          <p:cNvSpPr txBox="1"/>
          <p:nvPr/>
        </p:nvSpPr>
        <p:spPr>
          <a:xfrm>
            <a:off x="4883787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지방소비세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EFA42F-2641-58D5-7E98-3B1517464755}"/>
              </a:ext>
            </a:extLst>
          </p:cNvPr>
          <p:cNvSpPr txBox="1"/>
          <p:nvPr/>
        </p:nvSpPr>
        <p:spPr>
          <a:xfrm>
            <a:off x="5721669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지방소득세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D2AF5-06EA-29B2-0B3A-CEA3AC2B8F77}"/>
              </a:ext>
            </a:extLst>
          </p:cNvPr>
          <p:cNvSpPr txBox="1"/>
          <p:nvPr/>
        </p:nvSpPr>
        <p:spPr>
          <a:xfrm>
            <a:off x="6470331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재산세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C3DE3-39F8-06EC-E8FB-34A4C474A969}"/>
              </a:ext>
            </a:extLst>
          </p:cNvPr>
          <p:cNvSpPr txBox="1"/>
          <p:nvPr/>
        </p:nvSpPr>
        <p:spPr>
          <a:xfrm>
            <a:off x="7071044" y="520518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자동차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세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CB07CD-E4DE-9E7B-BA10-EA8D8CA11BC0}"/>
              </a:ext>
            </a:extLst>
          </p:cNvPr>
          <p:cNvSpPr txBox="1"/>
          <p:nvPr/>
        </p:nvSpPr>
        <p:spPr>
          <a:xfrm>
            <a:off x="7440321" y="521026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교육세</a:t>
            </a:r>
            <a:endParaRPr lang="ko-KR" alt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750A51-1E95-C958-E255-6C5A5EBE8810}"/>
              </a:ext>
            </a:extLst>
          </p:cNvPr>
          <p:cNvSpPr txBox="1"/>
          <p:nvPr/>
        </p:nvSpPr>
        <p:spPr>
          <a:xfrm>
            <a:off x="7719723" y="4987013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담배소비세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41A2D3-1961-E852-CE9E-D8F64FFFA9D4}"/>
              </a:ext>
            </a:extLst>
          </p:cNvPr>
          <p:cNvSpPr txBox="1"/>
          <p:nvPr/>
        </p:nvSpPr>
        <p:spPr>
          <a:xfrm>
            <a:off x="7865136" y="6118919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주민세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4D2000-801F-FA08-C530-FC0A726831F0}"/>
              </a:ext>
            </a:extLst>
          </p:cNvPr>
          <p:cNvSpPr txBox="1"/>
          <p:nvPr/>
        </p:nvSpPr>
        <p:spPr>
          <a:xfrm>
            <a:off x="8216269" y="5281513"/>
            <a:ext cx="4336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기타</a:t>
            </a:r>
            <a:endParaRPr lang="ko-KR" altLang="en-US" sz="9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A76FE13-ABE1-AD7B-7365-D35C87233CEF}"/>
              </a:ext>
            </a:extLst>
          </p:cNvPr>
          <p:cNvCxnSpPr>
            <a:cxnSpLocks/>
          </p:cNvCxnSpPr>
          <p:nvPr/>
        </p:nvCxnSpPr>
        <p:spPr>
          <a:xfrm>
            <a:off x="8095004" y="5205181"/>
            <a:ext cx="0" cy="338368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3185FF3-0C39-C4C5-067D-C7F40FDA1C0F}"/>
              </a:ext>
            </a:extLst>
          </p:cNvPr>
          <p:cNvCxnSpPr>
            <a:cxnSpLocks/>
          </p:cNvCxnSpPr>
          <p:nvPr/>
        </p:nvCxnSpPr>
        <p:spPr>
          <a:xfrm>
            <a:off x="8239467" y="609595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44FFB28-13F2-47B8-CCE5-9F46865513DD}"/>
              </a:ext>
            </a:extLst>
          </p:cNvPr>
          <p:cNvCxnSpPr>
            <a:cxnSpLocks/>
          </p:cNvCxnSpPr>
          <p:nvPr/>
        </p:nvCxnSpPr>
        <p:spPr>
          <a:xfrm>
            <a:off x="8439469" y="546944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925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7990</TotalTime>
  <Words>8082</Words>
  <Application>Microsoft Office PowerPoint</Application>
  <PresentationFormat>와이드스크린</PresentationFormat>
  <Paragraphs>1302</Paragraphs>
  <Slides>67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67</vt:i4>
      </vt:variant>
    </vt:vector>
  </HeadingPairs>
  <TitlesOfParts>
    <vt:vector size="7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4  공공재의 문제</vt:lpstr>
      <vt:lpstr>Section 1. 공공재의 의미</vt:lpstr>
      <vt:lpstr>공공재의 의미</vt:lpstr>
      <vt:lpstr>공공재의 의미</vt:lpstr>
      <vt:lpstr>공공재의 기본성격</vt:lpstr>
      <vt:lpstr>공공재의 기본성격</vt:lpstr>
      <vt:lpstr>불완전한 공공재</vt:lpstr>
      <vt:lpstr>클럽 이론</vt:lpstr>
      <vt:lpstr>Section 2. 공공재의 최적수준</vt:lpstr>
      <vt:lpstr>공공재에 대한 개인의 수요</vt:lpstr>
      <vt:lpstr>공공재에 대한 개인의 수요</vt:lpstr>
      <vt:lpstr>시장수요의 도출</vt:lpstr>
      <vt:lpstr>시장수요의 도출</vt:lpstr>
      <vt:lpstr>적정수준의 도출</vt:lpstr>
      <vt:lpstr>적정수준의 도출</vt:lpstr>
      <vt:lpstr>적정수준의 도출</vt:lpstr>
      <vt:lpstr>Section 3. 린달의 자발적 교환 모형</vt:lpstr>
      <vt:lpstr>린달의 자발적 교환 모형</vt:lpstr>
      <vt:lpstr>린달의 자발적 교환 모형</vt:lpstr>
      <vt:lpstr>린달의 자발적 교환 모형</vt:lpstr>
      <vt:lpstr>린달의 자발적 교환 모형</vt:lpstr>
      <vt:lpstr>린달균형</vt:lpstr>
      <vt:lpstr>린달균형</vt:lpstr>
      <vt:lpstr>Section 4. 무임승차자의 문제</vt:lpstr>
      <vt:lpstr>무임승차 문제</vt:lpstr>
      <vt:lpstr>무임승차 문제</vt:lpstr>
      <vt:lpstr>협상가능성의 존재</vt:lpstr>
      <vt:lpstr>협상가능성의 존재</vt:lpstr>
      <vt:lpstr>수요표출기구</vt:lpstr>
      <vt:lpstr>수요표출기구</vt:lpstr>
      <vt:lpstr>수요표출기구</vt:lpstr>
      <vt:lpstr>공공재게임-행태경제이론적 관점</vt:lpstr>
      <vt:lpstr>Section 5. 공공재의 다른 측면</vt:lpstr>
      <vt:lpstr>공급주체의 문제</vt:lpstr>
      <vt:lpstr>중립성 정리</vt:lpstr>
      <vt:lpstr>XXXXXXXXXXXXXXXXXXXXX</vt:lpstr>
      <vt:lpstr>재정의 기본골격</vt:lpstr>
      <vt:lpstr>중앙정부의 재정규모</vt:lpstr>
      <vt:lpstr>일반회계</vt:lpstr>
      <vt:lpstr>일반회계</vt:lpstr>
      <vt:lpstr>일반회계</vt:lpstr>
      <vt:lpstr>일반회계</vt:lpstr>
      <vt:lpstr>특별회계</vt:lpstr>
      <vt:lpstr>기금</vt:lpstr>
      <vt:lpstr>Section 2. 정부지출의 수준과 구성</vt:lpstr>
      <vt:lpstr>지출수준</vt:lpstr>
      <vt:lpstr>지출수준</vt:lpstr>
      <vt:lpstr>지출의 구성</vt:lpstr>
      <vt:lpstr>Section 3. 조세제도</vt:lpstr>
      <vt:lpstr>조세부담률</vt:lpstr>
      <vt:lpstr>소득과세</vt:lpstr>
      <vt:lpstr>소득과세</vt:lpstr>
      <vt:lpstr>소비과세</vt:lpstr>
      <vt:lpstr>소비과세</vt:lpstr>
      <vt:lpstr>재산과세</vt:lpstr>
      <vt:lpstr>재산과세</vt:lpstr>
      <vt:lpstr>Section 4. 지방재정</vt:lpstr>
      <vt:lpstr>재방재정의 구성</vt:lpstr>
      <vt:lpstr>재방재정의 구성</vt:lpstr>
      <vt:lpstr>재방재정의 구성</vt:lpstr>
      <vt:lpstr>지방재정의 구성</vt:lpstr>
      <vt:lpstr>지방재정의 구성</vt:lpstr>
      <vt:lpstr>지방재정의 구성</vt:lpstr>
      <vt:lpstr>지방세 체계</vt:lpstr>
      <vt:lpstr>PowerPoint 프레젠테이션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226</cp:revision>
  <dcterms:created xsi:type="dcterms:W3CDTF">2025-07-05T05:15:23Z</dcterms:created>
  <dcterms:modified xsi:type="dcterms:W3CDTF">2026-01-09T06:52:25Z</dcterms:modified>
</cp:coreProperties>
</file>