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1"/>
  </p:notesMasterIdLst>
  <p:sldIdLst>
    <p:sldId id="375" r:id="rId2"/>
    <p:sldId id="405" r:id="rId3"/>
    <p:sldId id="550" r:id="rId4"/>
    <p:sldId id="552" r:id="rId5"/>
    <p:sldId id="599" r:id="rId6"/>
    <p:sldId id="600" r:id="rId7"/>
    <p:sldId id="601" r:id="rId8"/>
    <p:sldId id="602" r:id="rId9"/>
    <p:sldId id="603" r:id="rId10"/>
    <p:sldId id="595" r:id="rId11"/>
    <p:sldId id="604" r:id="rId12"/>
    <p:sldId id="605" r:id="rId13"/>
    <p:sldId id="607" r:id="rId14"/>
    <p:sldId id="608" r:id="rId15"/>
    <p:sldId id="606" r:id="rId16"/>
    <p:sldId id="609" r:id="rId17"/>
    <p:sldId id="610" r:id="rId18"/>
    <p:sldId id="596" r:id="rId19"/>
    <p:sldId id="611" r:id="rId20"/>
    <p:sldId id="613" r:id="rId21"/>
    <p:sldId id="612" r:id="rId22"/>
    <p:sldId id="614" r:id="rId23"/>
    <p:sldId id="615" r:id="rId24"/>
    <p:sldId id="616" r:id="rId25"/>
    <p:sldId id="597" r:id="rId26"/>
    <p:sldId id="617" r:id="rId27"/>
    <p:sldId id="618" r:id="rId28"/>
    <p:sldId id="619" r:id="rId29"/>
    <p:sldId id="598" r:id="rId30"/>
    <p:sldId id="376" r:id="rId31"/>
    <p:sldId id="570" r:id="rId32"/>
    <p:sldId id="571" r:id="rId33"/>
    <p:sldId id="572" r:id="rId34"/>
    <p:sldId id="573" r:id="rId35"/>
    <p:sldId id="574" r:id="rId36"/>
    <p:sldId id="575" r:id="rId37"/>
    <p:sldId id="576" r:id="rId38"/>
    <p:sldId id="551" r:id="rId39"/>
    <p:sldId id="577" r:id="rId40"/>
    <p:sldId id="578" r:id="rId41"/>
    <p:sldId id="579" r:id="rId42"/>
    <p:sldId id="557" r:id="rId43"/>
    <p:sldId id="580" r:id="rId44"/>
    <p:sldId id="581" r:id="rId45"/>
    <p:sldId id="582" r:id="rId46"/>
    <p:sldId id="583" r:id="rId47"/>
    <p:sldId id="584" r:id="rId48"/>
    <p:sldId id="585" r:id="rId49"/>
    <p:sldId id="586" r:id="rId50"/>
    <p:sldId id="562" r:id="rId51"/>
    <p:sldId id="587" r:id="rId52"/>
    <p:sldId id="588" r:id="rId53"/>
    <p:sldId id="589" r:id="rId54"/>
    <p:sldId id="590" r:id="rId55"/>
    <p:sldId id="591" r:id="rId56"/>
    <p:sldId id="592" r:id="rId57"/>
    <p:sldId id="593" r:id="rId58"/>
    <p:sldId id="594" r:id="rId59"/>
    <p:sldId id="364" r:id="rId6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72BE"/>
    <a:srgbClr val="E15F5F"/>
    <a:srgbClr val="F8F7FC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620" y="6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59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image" Target="../media/image47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470.png"/><Relationship Id="rId10" Type="http://schemas.openxmlformats.org/officeDocument/2006/relationships/image" Target="../media/image55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7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재 정 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- 4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4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공공재의 문제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공공재의 의미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4ACB-B8A0-8B8E-50AE-F6949A86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30496-A872-5CFB-3130-C4429F82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공공재의 의미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72302-C21E-82F3-1317-6A67EB85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EC86F-2434-0377-0126-D48FC4912B4A}"/>
              </a:ext>
            </a:extLst>
          </p:cNvPr>
          <p:cNvSpPr txBox="1"/>
          <p:nvPr/>
        </p:nvSpPr>
        <p:spPr>
          <a:xfrm>
            <a:off x="288790" y="958844"/>
            <a:ext cx="116936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공공재 </a:t>
            </a:r>
            <a:r>
              <a:rPr lang="en-US" altLang="ko-KR" sz="1600" spc="-50" dirty="0"/>
              <a:t>(public goods)</a:t>
            </a:r>
            <a:r>
              <a:rPr lang="ko-KR" altLang="en-US" sz="1600" spc="-50" dirty="0"/>
              <a:t>는 보통 생각하는 재화나 서비스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사적재화 혹은 </a:t>
            </a:r>
            <a:r>
              <a:rPr lang="en-US" altLang="ko-KR" sz="1600" spc="-50" dirty="0"/>
              <a:t>private goods)</a:t>
            </a:r>
            <a:r>
              <a:rPr lang="ko-KR" altLang="en-US" sz="1600" spc="-50" dirty="0"/>
              <a:t>와 달리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여러 사람이 공동으로 그 소비에 참여한다는 특징을 갖는다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옷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펜 등의 것은 개인적인 차원에서 소비가 이루어지지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공동으로 소비하지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도로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공원 등의 것은 여러 사람의 공동 소비를 위해 만들어졌다는 점에서 앞서 말한 것과 큰 차이가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 책에서는 공공재를 다음과 같이 정의하고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 집단의 어떤 사람을 위해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혹은 어떤 사람에 의해 생산되는 즉시 그 집단의 모든 구성원이 함께 소비할 수 있는 재화나 서비스를 공공재라고 부른다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생산하여 공급하는 재화나 서비스 중 공공재의 성격을 갖는 것들이 많이 있는 것이 사실이다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하지만 공공재라는 것이 정부 혹은 공공기관에 의해 생산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공급되는 재화나 서비스를 뜻하는 것으로 잘못 알고 있는 경우가 많다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정부는 의료서비스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주택서비스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수돗물 등과 같이 사적재화의 성격을 갖는 것들을 공급하는 경우도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반대로 민간단체가 공원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박물관 등 공공재의 성격을 갖는 것들을 공급하는 경우도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즉 공공재는 그 자체의 성격에 의해 규정되며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공급 주체가 </a:t>
            </a:r>
            <a:r>
              <a:rPr lang="ko-KR" altLang="en-US" sz="1600" spc="-50" dirty="0" err="1"/>
              <a:t>누구냐에</a:t>
            </a:r>
            <a:r>
              <a:rPr lang="ko-KR" altLang="en-US" sz="1600" spc="-50" dirty="0"/>
              <a:t> 따라 규정되는 것이 아니다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8071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68475F-B926-38D0-0D3E-462108032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공공재의 의미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AAFAF0-B341-8AB7-D11A-8BB6911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75C5D-E72D-0490-F175-D1A6720F9830}"/>
              </a:ext>
            </a:extLst>
          </p:cNvPr>
          <p:cNvSpPr txBox="1"/>
          <p:nvPr/>
        </p:nvSpPr>
        <p:spPr>
          <a:xfrm>
            <a:off x="288790" y="958844"/>
            <a:ext cx="11693660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공공재 뿐 아니라 사적재화의 성격을 갖는 것도 공급하는 이유는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그것이 </a:t>
            </a:r>
            <a:r>
              <a:rPr lang="ko-KR" altLang="en-US" sz="1600" spc="-50" dirty="0" err="1"/>
              <a:t>가치재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(merit goods)</a:t>
            </a:r>
            <a:r>
              <a:rPr lang="ko-KR" altLang="en-US" sz="1600" spc="-50" dirty="0"/>
              <a:t>의 성격을 갖기 때문이다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가치재는 개인의 선택에 맡길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일정수준 이상의 바람직한 상태까지 소비가 되지 않는 재화나 서비스를 말한다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정부는 모든 국민에게 최소한 일정 수준 이상의 혜택이 보장되어야 하는 재화에 대해서는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직접 공급하기로 결정하게 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대표적인 예로는 의무교육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무료급식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예방접종 등이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공공재에 대한 가치평가는 사람마다 다르므로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모든 사람이 같은 양의 공공재를 소비한다고 해서 같은 편익을 얻는 것은 아니다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예컨대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특정 토지에 대해 공원 조성을 원하는 사람이 있을 것이고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반대로 도로 건설을 원하는 사람이 있을 수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9780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85C48-76D8-4572-0B1F-F54797594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6CE04E-FE76-764A-E96C-9EA16AE79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공공재의 기본성격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835386-5E8A-24AD-EAEB-95044030E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DC5EBD-30CC-62A0-808E-AC74F2ABF097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345100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공공재는 다음과 같은 두 가지 기본성격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 err="1"/>
                  <a:t>비경합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비배제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을 갖기 때문에 사적재화와 명백하게 구분될 수 있다</a:t>
                </a:r>
                <a:r>
                  <a:rPr lang="en-US" altLang="ko-KR" sz="1600" spc="-5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비경합성</a:t>
                </a:r>
                <a:r>
                  <a:rPr lang="en-US" altLang="ko-KR" sz="1600" spc="-50" dirty="0"/>
                  <a:t>: </a:t>
                </a:r>
                <a:r>
                  <a:rPr lang="ko-KR" altLang="en-US" sz="1600" spc="-50" dirty="0"/>
                  <a:t>어떤 사람이 이것을 소비한다고 해서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다른 사람의 소비 가능성이 줄어들지 않는다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ko-KR" sz="1600" spc="-50" dirty="0"/>
                  <a:t>10</a:t>
                </a:r>
                <a:r>
                  <a:rPr lang="ko-KR" altLang="en-US" sz="1600" spc="-50" dirty="0"/>
                  <a:t>개의 사탕이 있는데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내가 </a:t>
                </a:r>
                <a:r>
                  <a:rPr lang="en-US" altLang="ko-KR" sz="1600" spc="-50" dirty="0"/>
                  <a:t>3</a:t>
                </a:r>
                <a:r>
                  <a:rPr lang="ko-KR" altLang="en-US" sz="1600" spc="-50" dirty="0"/>
                  <a:t>개를 먹으면 다른 사람이 먹을 수 있는 사탕은 그만큼 줄어들게 된다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따라서 사탕은 경합성이 있는 재화이다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국방서비스는 내가 그 혜택을 누린다고 해서 다른 개인이 누릴 수 있는 안보 수준이 감소하지 않는다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따라서 국방서비스는 경합성이 없는 서비스이다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공공재가 생산되면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두 사람 모두 각각 소비할 수 있는 공공재의 양도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아래 그림의 파란색 실선</a:t>
                </a:r>
                <a:r>
                  <a:rPr lang="en-US" altLang="ko-KR" sz="1600" spc="-50" dirty="0"/>
                  <a:t>)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만약 사적재화 라면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두 사람이 소비하는 양을 합친 것이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가 되어야 한다</a:t>
                </a:r>
                <a:r>
                  <a:rPr lang="en-US" altLang="ko-KR" sz="1600" spc="-50" dirty="0"/>
                  <a:t>. ( </a:t>
                </a:r>
                <a:r>
                  <a:rPr lang="ko-KR" altLang="en-US" sz="1600" spc="-50" dirty="0"/>
                  <a:t>아래 그림의 빨간색 점선</a:t>
                </a:r>
                <a:r>
                  <a:rPr lang="en-US" altLang="ko-KR" sz="1600" spc="-50" dirty="0"/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DC5EBD-30CC-62A0-808E-AC74F2ABF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34510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그림 15">
            <a:extLst>
              <a:ext uri="{FF2B5EF4-FFF2-40B4-BE49-F238E27FC236}">
                <a16:creationId xmlns:a16="http://schemas.microsoft.com/office/drawing/2014/main" id="{F2DBEC5D-FF98-7E32-9249-38C506B73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600" y="4298951"/>
            <a:ext cx="2192299" cy="21922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3249D97-E3AA-76C3-C440-A720B2CDAAD9}"/>
              </a:ext>
            </a:extLst>
          </p:cNvPr>
          <p:cNvSpPr txBox="1"/>
          <p:nvPr/>
        </p:nvSpPr>
        <p:spPr>
          <a:xfrm>
            <a:off x="3564333" y="5682869"/>
            <a:ext cx="13519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사적재화의 경우</a:t>
            </a:r>
            <a:endParaRPr lang="ko-KR" altLang="en-US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049C33-EC9E-16A1-FA79-B1830B05F1DD}"/>
              </a:ext>
            </a:extLst>
          </p:cNvPr>
          <p:cNvSpPr txBox="1"/>
          <p:nvPr/>
        </p:nvSpPr>
        <p:spPr>
          <a:xfrm>
            <a:off x="5904733" y="4892526"/>
            <a:ext cx="13519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공공재의 경우</a:t>
            </a:r>
            <a:endParaRPr lang="ko-KR" altLang="en-US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94D442-C621-5F87-9E99-B56C4606093F}"/>
              </a:ext>
            </a:extLst>
          </p:cNvPr>
          <p:cNvSpPr txBox="1"/>
          <p:nvPr/>
        </p:nvSpPr>
        <p:spPr>
          <a:xfrm>
            <a:off x="874747" y="4974727"/>
            <a:ext cx="358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공공재와 사적재화의 소비가능 곡선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C472E14-313B-83C3-5BA0-046ED6D99EAE}"/>
                  </a:ext>
                </a:extLst>
              </p:cNvPr>
              <p:cNvSpPr txBox="1"/>
              <p:nvPr/>
            </p:nvSpPr>
            <p:spPr>
              <a:xfrm>
                <a:off x="4320711" y="4128086"/>
                <a:ext cx="125604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ko-KR" altLang="en-US" sz="1400" dirty="0"/>
                  <a:t> </a:t>
                </a:r>
                <a:r>
                  <a:rPr lang="en-US" altLang="ko-KR" sz="1400" dirty="0"/>
                  <a:t>(B</a:t>
                </a:r>
                <a:r>
                  <a:rPr lang="ko-KR" altLang="en-US" sz="1400" dirty="0"/>
                  <a:t>의 소비량</a:t>
                </a:r>
                <a:r>
                  <a:rPr lang="en-US" altLang="ko-KR" sz="1400" dirty="0"/>
                  <a:t>)</a:t>
                </a:r>
                <a:endParaRPr lang="ko-KR" altLang="en-US" sz="1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C472E14-313B-83C3-5BA0-046ED6D99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711" y="4128086"/>
                <a:ext cx="1256049" cy="215444"/>
              </a:xfrm>
              <a:prstGeom prst="rect">
                <a:avLst/>
              </a:prstGeom>
              <a:blipFill>
                <a:blip r:embed="rId4"/>
                <a:stretch>
                  <a:fillRect l="-4854" t="-25000" r="-7282" b="-47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C00214-443B-ED10-EE40-DD26493B13F2}"/>
                  </a:ext>
                </a:extLst>
              </p:cNvPr>
              <p:cNvSpPr txBox="1"/>
              <p:nvPr/>
            </p:nvSpPr>
            <p:spPr>
              <a:xfrm>
                <a:off x="7096899" y="6275806"/>
                <a:ext cx="125771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400" dirty="0"/>
                  <a:t> </a:t>
                </a:r>
                <a:r>
                  <a:rPr lang="en-US" altLang="ko-KR" sz="1400" dirty="0"/>
                  <a:t>(A</a:t>
                </a:r>
                <a:r>
                  <a:rPr lang="ko-KR" altLang="en-US" sz="1400" dirty="0"/>
                  <a:t>의 소비량</a:t>
                </a:r>
                <a:r>
                  <a:rPr lang="en-US" altLang="ko-KR" sz="1400" dirty="0"/>
                  <a:t>)</a:t>
                </a:r>
                <a:endParaRPr lang="ko-KR" altLang="en-US" sz="1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C00214-443B-ED10-EE40-DD26493B1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899" y="6275806"/>
                <a:ext cx="1257717" cy="215444"/>
              </a:xfrm>
              <a:prstGeom prst="rect">
                <a:avLst/>
              </a:prstGeom>
              <a:blipFill>
                <a:blip r:embed="rId5"/>
                <a:stretch>
                  <a:fillRect l="-4831" t="-25000" r="-7246" b="-47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26A9777-7881-BBEB-1328-D81656010E63}"/>
                  </a:ext>
                </a:extLst>
              </p:cNvPr>
              <p:cNvSpPr txBox="1"/>
              <p:nvPr/>
            </p:nvSpPr>
            <p:spPr>
              <a:xfrm>
                <a:off x="5959559" y="6405593"/>
                <a:ext cx="352122" cy="3317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400" i="1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400" b="0" i="1" spc="-5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bar>
                  </m:oMath>
                </a14:m>
                <a:r>
                  <a:rPr lang="en-US" altLang="ko-KR" sz="1400" spc="-50" dirty="0"/>
                  <a:t> </a:t>
                </a:r>
                <a:endParaRPr lang="ko-KR" altLang="en-US" sz="1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26A9777-7881-BBEB-1328-D81656010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559" y="6405593"/>
                <a:ext cx="352122" cy="3317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70270FC-5D06-F56D-F82B-B5546AB55A05}"/>
                  </a:ext>
                </a:extLst>
              </p:cNvPr>
              <p:cNvSpPr txBox="1"/>
              <p:nvPr/>
            </p:nvSpPr>
            <p:spPr>
              <a:xfrm>
                <a:off x="4646704" y="5104233"/>
                <a:ext cx="352122" cy="3317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400" i="1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400" b="0" i="1" spc="-5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bar>
                  </m:oMath>
                </a14:m>
                <a:r>
                  <a:rPr lang="en-US" altLang="ko-KR" sz="1400" spc="-50" dirty="0"/>
                  <a:t> </a:t>
                </a:r>
                <a:endParaRPr lang="ko-KR" altLang="en-US" sz="1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70270FC-5D06-F56D-F82B-B5546AB55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704" y="5104233"/>
                <a:ext cx="352122" cy="3317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C6C490E6-D286-11B9-B8FC-C4DA7113FB91}"/>
              </a:ext>
            </a:extLst>
          </p:cNvPr>
          <p:cNvCxnSpPr>
            <a:cxnSpLocks/>
          </p:cNvCxnSpPr>
          <p:nvPr/>
        </p:nvCxnSpPr>
        <p:spPr>
          <a:xfrm flipV="1">
            <a:off x="4679950" y="5745276"/>
            <a:ext cx="610911" cy="53009"/>
          </a:xfrm>
          <a:prstGeom prst="bentConnector3">
            <a:avLst>
              <a:gd name="adj1" fmla="val 25054"/>
            </a:avLst>
          </a:prstGeom>
          <a:ln>
            <a:solidFill>
              <a:srgbClr val="FF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E8C1EB25-907A-9984-F698-9C2091EFCF73}"/>
              </a:ext>
            </a:extLst>
          </p:cNvPr>
          <p:cNvCxnSpPr>
            <a:cxnSpLocks/>
          </p:cNvCxnSpPr>
          <p:nvPr/>
        </p:nvCxnSpPr>
        <p:spPr>
          <a:xfrm rot="5400000">
            <a:off x="6271555" y="5016822"/>
            <a:ext cx="170865" cy="383937"/>
          </a:xfrm>
          <a:prstGeom prst="bentConnector2">
            <a:avLst/>
          </a:prstGeom>
          <a:ln>
            <a:solidFill>
              <a:srgbClr val="2D72BE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767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7966DB-990F-BB39-F362-385D9A5F9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공공재의 기본성격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898D8E-4B7C-725D-3E8C-4CCDD35D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00D1F-9AB4-B438-A2DF-A6A85A15AB64}"/>
              </a:ext>
            </a:extLst>
          </p:cNvPr>
          <p:cNvSpPr txBox="1"/>
          <p:nvPr/>
        </p:nvSpPr>
        <p:spPr>
          <a:xfrm>
            <a:off x="288790" y="958844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비배제성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대가를 지불하지 않더라도 소비에서 특정 사람을 배제하기 어렵거나 불가능하다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편의점에 진열되어 있는 과자가 맛있어 보인다고 해서 대가를 지불하지 않고 먹을 수는 없다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편의점 상품은 배제성이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축제의 불꽃놀이는 입장권을 구매하지 않아도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주변 사람이라면 볼 수 있는 경우가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이때 불꽃놀이는 배제성이 없다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이와 같은 비배제성 때문에 공공재에 대해 양</a:t>
            </a:r>
            <a:r>
              <a:rPr lang="en-US" altLang="ko-KR" sz="1600" spc="-50" dirty="0"/>
              <a:t>(+)</a:t>
            </a:r>
            <a:r>
              <a:rPr lang="ko-KR" altLang="en-US" sz="1600" spc="-50" dirty="0"/>
              <a:t>의 가격을 매기려 해도 매길 수 없다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뿐만 아니라 설사 양의 가격을 매기는 것이 가능하다 해도 그렇게 하는 것은 바람직하지 않다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공공재는 비경합성도 갖기 때문에 한 명의 소비자를 소비에 추가로 참여시키는 데 드는 한계비용이 </a:t>
            </a:r>
            <a:r>
              <a:rPr lang="en-US" altLang="ko-KR" sz="1600" spc="-50" dirty="0"/>
              <a:t>0</a:t>
            </a:r>
            <a:r>
              <a:rPr lang="ko-KR" altLang="en-US" sz="1600" spc="-50" dirty="0"/>
              <a:t>이기 때문이다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효율적인 자원배분을 위해서는 가격을 한계비용과 일치시키는 것이 바람직하므로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공공재의 가격은 </a:t>
            </a:r>
            <a:r>
              <a:rPr lang="en-US" altLang="ko-KR" sz="1600" spc="-50" dirty="0"/>
              <a:t>0</a:t>
            </a:r>
            <a:r>
              <a:rPr lang="ko-KR" altLang="en-US" sz="1600" spc="-50" dirty="0"/>
              <a:t>원이라 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일반적으로 시장은 배제성이 적용되는 곳에서만 적절한 기능을 할 수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지금까지 </a:t>
            </a:r>
            <a:r>
              <a:rPr lang="ko-KR" altLang="en-US" sz="1600" spc="-50" dirty="0" err="1"/>
              <a:t>살펴본대로</a:t>
            </a:r>
            <a:r>
              <a:rPr lang="ko-KR" altLang="en-US" sz="1600" spc="-50" dirty="0"/>
              <a:t> 공공재의 경우 양의 가격을 매길 수도 없고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그렇게 하는 것이 바람직하지 않다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공공재를 시장을 통해 배분하는 것은 비효율적이 될 것임을 예상할 수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3018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27E98E-66B5-EFB9-7D26-85AD8AD5B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불완전한 공공재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D8AB63-DAE9-02F1-7814-D5BBCB5FC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2E9709-99BC-5194-2C80-D565B83F0A39}"/>
              </a:ext>
            </a:extLst>
          </p:cNvPr>
          <p:cNvSpPr txBox="1"/>
          <p:nvPr/>
        </p:nvSpPr>
        <p:spPr>
          <a:xfrm>
            <a:off x="288790" y="958844"/>
            <a:ext cx="116936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지금까지 설명한 것처럼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순수한 공공재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라면 비경합성과 비배제성 이라는 두 가지 성격을 완전하게 갖고 있어야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현실에서 이 두 성격을 모두 갖는 순수한 공공재를 찾는 것은 힘들다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현실에서는 비경합성 혹은 비배제성 둘 중 한가지 성격만 갖고 있거나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또한 두 가지 성격을 갖고 있어도 불완전한 정도로 갖고 있는 경우가 흔하다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이처럼 두가지 특성을 완전히 갖추지 못한 공공재는 순수하지 못한 공공재 </a:t>
            </a:r>
            <a:r>
              <a:rPr lang="ko-KR" altLang="en-US" sz="1600" spc="-50" dirty="0" err="1"/>
              <a:t>라고</a:t>
            </a:r>
            <a:r>
              <a:rPr lang="ko-KR" altLang="en-US" sz="1600" spc="-50" dirty="0"/>
              <a:t> 부른다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순수한 공공재라고 하기에는 어느 정도의 경합성을 가질 수 있는 공공재가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혼잡가능공공재라고 부르기도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도로가 대표적인 예로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도로 위에 차가 많이 없을 때는 경합성이 없다가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차가 많아지면 경합성이 어느정도 생긴다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박물관도 혼잡가능공공재의 좋은 예이다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순수한 공공재라고 하기에는 어느 정도의 배제성을 가질 수 있는 공공재도 있다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유료로 운영이 되는 도로의 경우 배제성이 있는 도로가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등대 빛이 육안으로 쉽게 식별 가능하다면 배제성이 없지만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기술적으로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등대에서 특별한 신호를 내보내서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신호를 해독할 수 있는 장치가 있어야만 실제로 등대 서비스를 이용할 수 있다면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등대 서비스도 배제성이 생긴다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855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1B567A-9B29-F57E-6F8F-C5F32D6C2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클럽 이론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4682F1-5C58-3FB8-7120-4ED9E1221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937F7B-CEAC-B863-5500-785A5BC07D75}"/>
              </a:ext>
            </a:extLst>
          </p:cNvPr>
          <p:cNvSpPr txBox="1"/>
          <p:nvPr/>
        </p:nvSpPr>
        <p:spPr>
          <a:xfrm>
            <a:off x="288790" y="958844"/>
            <a:ext cx="116936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부캐넌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(J. Buchanan, 1965)</a:t>
            </a:r>
            <a:r>
              <a:rPr lang="ko-KR" altLang="en-US" sz="1600" spc="-50" dirty="0"/>
              <a:t>은 비경합성이 있기는 하나 불완전하여 혼잡이 문제되는 재화나 서비스를 대상으로 하는 클럽 이론을 제시했다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헬스클럽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골프클럽의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회원 수가 많지 않을 때는 혼잡이 발생하지 않다가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수가 점차 불어나면서 혼잡의 문제가 발생하기 시작한다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이론은 클럽의 최적 규모와 최적 회원수의 규모를 찾아내고자 하는데 주안점을 두고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클럽의 규모가 일정하게 주어진 상황에서 회원 수가 늘어남에 따라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회원</a:t>
            </a:r>
            <a:r>
              <a:rPr lang="en-US" altLang="ko-KR" sz="1600" spc="-50" dirty="0"/>
              <a:t> 1</a:t>
            </a:r>
            <a:r>
              <a:rPr lang="ko-KR" altLang="en-US" sz="1600" spc="-50" dirty="0"/>
              <a:t>인당의 편익과 비용을 관찰해보자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주어진 규모의 클럽을 짓고 운영하는 데 드는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인당 비용은 회원 수가 증가할 수록 감소한다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회원 수가 증가할 수록 혼잡이 생겨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인당 편익이 감소하기도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클럽의 회원 수를 주어진 것으로 하면 클럽의 규모에 따라 편익과 비용이 달라진다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클럽의 회원 수가 주어져 있을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클럽 규모가 크면 혼잡이 감소한다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규모가 크면 혼잡은 없어지나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인당 비용이 증가한다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위의 두 가지 측면을 통합하면 최적인 클럽의 규모와 최적인 회원 수를 동시에 찾아낼 수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5425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96B78-4AE9-D95D-8B4C-5008A3D44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FF820A-FC3D-2E75-D8F0-A416453AF0F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1E20EC-46C2-1D74-84A1-E73EF374D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C22F06C-7DB9-D880-90E9-4FE9B7D92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공공재의 최적수준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456189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라인, 스크린샷, 텍스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A082C2-F834-1E84-0531-62A16179C5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76"/>
          <a:stretch>
            <a:fillRect/>
          </a:stretch>
        </p:blipFill>
        <p:spPr>
          <a:xfrm>
            <a:off x="8523127" y="3796704"/>
            <a:ext cx="2586833" cy="281519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2B38785-0F55-1337-19AD-168023934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공공재에 대한 개인의 수요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E5BB01-0221-000C-7271-877960261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2723AC5-596A-5F74-9319-6E13D5EF901D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492833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사회적 관점에서 볼 때 어떤 수준에서 공공재를 생산하고 공급하는 것이 적절한지 논의 해보자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사적재화와 마찬가지로 공공재 또한 수요와 공급에 의해 생산수준이 결정되는 것이 바람직하다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다만 개인의 수요를 어떻게 시장의 수요로 통합해야 하는지 등 구체적인 도출과정에서 공공재의 특성이 드러난다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보통 상품에 대한 수요곡선을 구하는 경우와 마찬가지로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공공재의 가격을 계속해서 변화시키면서 소비자의 선택점을 추적해보면 공공재에 대한 수요곡선을 도출할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사적재화의 가격이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이라 가정하고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공공재의 경우 단위당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 sz="1600" spc="-50" dirty="0"/>
                  <a:t>의 조세가격을 지불해야 하는 것으로 가정하자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이 때 소비자의 예산제약은 아래와 같은 식으로 나타낼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𝑝𝑍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en-US" sz="1600" dirty="0"/>
                  <a:t>  여기서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ko-KR" altLang="en-US" sz="1600" dirty="0"/>
                  <a:t>는 사용재의 양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ko-KR" altLang="en-US" sz="1600" dirty="0"/>
                  <a:t>는 공공재의 양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en-US" sz="1600" dirty="0"/>
                  <a:t>은 소득이다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이 수식을 그림으로 표현하면 오른쪽 그림과 같다</a:t>
                </a:r>
                <a:r>
                  <a:rPr lang="en-US" altLang="ko-KR" sz="160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𝐽𝐾</m:t>
                        </m:r>
                      </m:e>
                    </m:bar>
                  </m:oMath>
                </a14:m>
                <a:r>
                  <a:rPr lang="ko-KR" altLang="en-US" sz="1600" dirty="0"/>
                  <a:t>는 공공재의 가격이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dirty="0"/>
                  <a:t>일 때의 예산선</a:t>
                </a:r>
                <a:endParaRPr lang="en-US" altLang="ko-KR" sz="1600" dirty="0"/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bar>
                  </m:oMath>
                </a14:m>
                <a:r>
                  <a:rPr lang="ko-KR" altLang="en-US" sz="1600" dirty="0"/>
                  <a:t>은 공공재의 가격이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dirty="0"/>
                  <a:t>로 떨어졌을 때의 예산선</a:t>
                </a:r>
                <a:endParaRPr lang="en-US" altLang="ko-KR" sz="1600" dirty="0"/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dirty="0"/>
                  <a:t>가격이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dirty="0"/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dirty="0"/>
                  <a:t>로 떨어지면 수요량이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dirty="0"/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dirty="0"/>
                  <a:t>로 증가한다</a:t>
                </a:r>
                <a:r>
                  <a:rPr lang="en-US" altLang="ko-KR" sz="1600" dirty="0"/>
                  <a:t>.</a:t>
                </a:r>
                <a:endParaRPr lang="ko-KR" alt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2723AC5-596A-5F74-9319-6E13D5EF9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4928337"/>
              </a:xfrm>
              <a:prstGeom prst="rect">
                <a:avLst/>
              </a:prstGeom>
              <a:blipFill>
                <a:blip r:embed="rId3"/>
                <a:stretch>
                  <a:fillRect r="-104" b="-4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0061AFB-8439-E3C1-7439-9ED437CCB191}"/>
                  </a:ext>
                </a:extLst>
              </p:cNvPr>
              <p:cNvSpPr txBox="1"/>
              <p:nvPr/>
            </p:nvSpPr>
            <p:spPr>
              <a:xfrm>
                <a:off x="9264630" y="6261901"/>
                <a:ext cx="49403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0061AFB-8439-E3C1-7439-9ED437CCB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4630" y="6261901"/>
                <a:ext cx="494030" cy="2616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원호 40">
            <a:extLst>
              <a:ext uri="{FF2B5EF4-FFF2-40B4-BE49-F238E27FC236}">
                <a16:creationId xmlns:a16="http://schemas.microsoft.com/office/drawing/2014/main" id="{FA33CB24-2B7F-4633-15A0-B0A46904ED51}"/>
              </a:ext>
            </a:extLst>
          </p:cNvPr>
          <p:cNvSpPr/>
          <p:nvPr/>
        </p:nvSpPr>
        <p:spPr>
          <a:xfrm rot="11977327">
            <a:off x="9384704" y="2648312"/>
            <a:ext cx="4199037" cy="3505925"/>
          </a:xfrm>
          <a:prstGeom prst="arc">
            <a:avLst>
              <a:gd name="adj1" fmla="val 16200000"/>
              <a:gd name="adj2" fmla="val 19697531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원호 42">
            <a:extLst>
              <a:ext uri="{FF2B5EF4-FFF2-40B4-BE49-F238E27FC236}">
                <a16:creationId xmlns:a16="http://schemas.microsoft.com/office/drawing/2014/main" id="{8709EB8F-792D-7CAF-C46B-6890103918F0}"/>
              </a:ext>
            </a:extLst>
          </p:cNvPr>
          <p:cNvSpPr/>
          <p:nvPr/>
        </p:nvSpPr>
        <p:spPr>
          <a:xfrm rot="11931415">
            <a:off x="9268750" y="2840846"/>
            <a:ext cx="3123709" cy="3505925"/>
          </a:xfrm>
          <a:prstGeom prst="arc">
            <a:avLst>
              <a:gd name="adj1" fmla="val 16200000"/>
              <a:gd name="adj2" fmla="val 19697531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8A366788-C164-376B-8995-A7DBAA7F5BBE}"/>
              </a:ext>
            </a:extLst>
          </p:cNvPr>
          <p:cNvCxnSpPr>
            <a:cxnSpLocks/>
          </p:cNvCxnSpPr>
          <p:nvPr/>
        </p:nvCxnSpPr>
        <p:spPr>
          <a:xfrm>
            <a:off x="10108870" y="5622908"/>
            <a:ext cx="0" cy="648000"/>
          </a:xfrm>
          <a:prstGeom prst="line">
            <a:avLst/>
          </a:prstGeom>
          <a:ln w="9525">
            <a:solidFill>
              <a:srgbClr val="070B1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F89EF42-713E-5643-E0BD-6018EE020131}"/>
                  </a:ext>
                </a:extLst>
              </p:cNvPr>
              <p:cNvSpPr txBox="1"/>
              <p:nvPr/>
            </p:nvSpPr>
            <p:spPr>
              <a:xfrm>
                <a:off x="9902480" y="6242568"/>
                <a:ext cx="49403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F89EF42-713E-5643-E0BD-6018EE020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2480" y="6242568"/>
                <a:ext cx="494030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826A46B1-4886-913D-D949-9D71F386DE16}"/>
              </a:ext>
            </a:extLst>
          </p:cNvPr>
          <p:cNvCxnSpPr>
            <a:cxnSpLocks/>
          </p:cNvCxnSpPr>
          <p:nvPr/>
        </p:nvCxnSpPr>
        <p:spPr>
          <a:xfrm>
            <a:off x="9473869" y="5597508"/>
            <a:ext cx="0" cy="684000"/>
          </a:xfrm>
          <a:prstGeom prst="line">
            <a:avLst/>
          </a:prstGeom>
          <a:ln w="9525">
            <a:solidFill>
              <a:srgbClr val="070B1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18962D2-685C-F245-B93A-8A9356F7EA21}"/>
                  </a:ext>
                </a:extLst>
              </p:cNvPr>
              <p:cNvSpPr txBox="1"/>
              <p:nvPr/>
            </p:nvSpPr>
            <p:spPr>
              <a:xfrm>
                <a:off x="9322513" y="5398923"/>
                <a:ext cx="49403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18962D2-685C-F245-B93A-8A9356F7E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513" y="5398923"/>
                <a:ext cx="494030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7B16C17-15C4-D72B-F071-09C44EDEE21A}"/>
                  </a:ext>
                </a:extLst>
              </p:cNvPr>
              <p:cNvSpPr txBox="1"/>
              <p:nvPr/>
            </p:nvSpPr>
            <p:spPr>
              <a:xfrm>
                <a:off x="9969221" y="5389638"/>
                <a:ext cx="49403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7B16C17-15C4-D72B-F071-09C44EDEE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9221" y="5389638"/>
                <a:ext cx="494030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919D8A7-4789-4E4F-6C2B-51772564A35E}"/>
                  </a:ext>
                </a:extLst>
              </p:cNvPr>
              <p:cNvSpPr txBox="1"/>
              <p:nvPr/>
            </p:nvSpPr>
            <p:spPr>
              <a:xfrm>
                <a:off x="10659391" y="6242568"/>
                <a:ext cx="49403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919D8A7-4789-4E4F-6C2B-51772564A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9391" y="6242568"/>
                <a:ext cx="494030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42B0F97-DC0E-8CBC-5728-A491BB0C29F9}"/>
                  </a:ext>
                </a:extLst>
              </p:cNvPr>
              <p:cNvSpPr txBox="1"/>
              <p:nvPr/>
            </p:nvSpPr>
            <p:spPr>
              <a:xfrm>
                <a:off x="9643593" y="6242568"/>
                <a:ext cx="49403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42B0F97-DC0E-8CBC-5728-A491BB0C2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3593" y="6242568"/>
                <a:ext cx="494030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185436F-48F5-8956-9C7C-0B99FFD63ED4}"/>
                  </a:ext>
                </a:extLst>
              </p:cNvPr>
              <p:cNvSpPr txBox="1"/>
              <p:nvPr/>
            </p:nvSpPr>
            <p:spPr>
              <a:xfrm>
                <a:off x="8538993" y="4401274"/>
                <a:ext cx="49403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185436F-48F5-8956-9C7C-0B99FFD63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8993" y="4401274"/>
                <a:ext cx="494030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ACA4897-2B4B-83C3-97B6-4B6AEA7127D9}"/>
                  </a:ext>
                </a:extLst>
              </p:cNvPr>
              <p:cNvSpPr txBox="1"/>
              <p:nvPr/>
            </p:nvSpPr>
            <p:spPr>
              <a:xfrm>
                <a:off x="8538993" y="6219486"/>
                <a:ext cx="49403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ACA4897-2B4B-83C3-97B6-4B6AEA712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8993" y="6219486"/>
                <a:ext cx="494030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1E7463C-B485-585A-BC81-8B6ED535B572}"/>
                  </a:ext>
                </a:extLst>
              </p:cNvPr>
              <p:cNvSpPr txBox="1"/>
              <p:nvPr/>
            </p:nvSpPr>
            <p:spPr>
              <a:xfrm>
                <a:off x="8450518" y="3569733"/>
                <a:ext cx="934876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ko-KR" altLang="en-US" sz="1100" dirty="0"/>
                  <a:t> </a:t>
                </a:r>
                <a:r>
                  <a:rPr lang="en-US" altLang="ko-KR" sz="1100" dirty="0"/>
                  <a:t>(</a:t>
                </a:r>
                <a:r>
                  <a:rPr lang="ko-KR" altLang="en-US" sz="1100" dirty="0" err="1"/>
                  <a:t>사적재</a:t>
                </a:r>
                <a:r>
                  <a:rPr lang="en-US" altLang="ko-KR" sz="1100" dirty="0"/>
                  <a:t>)</a:t>
                </a:r>
                <a:endParaRPr lang="ko-KR" altLang="en-US" sz="11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1E7463C-B485-585A-BC81-8B6ED535B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0518" y="3569733"/>
                <a:ext cx="934876" cy="261610"/>
              </a:xfrm>
              <a:prstGeom prst="rect">
                <a:avLst/>
              </a:prstGeom>
              <a:blipFill>
                <a:blip r:embed="rId12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85167AD-C1C5-87E2-D0C0-5289CA63C414}"/>
                  </a:ext>
                </a:extLst>
              </p:cNvPr>
              <p:cNvSpPr txBox="1"/>
              <p:nvPr/>
            </p:nvSpPr>
            <p:spPr>
              <a:xfrm>
                <a:off x="11047574" y="6242568"/>
                <a:ext cx="934876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ko-KR" altLang="en-US" sz="1100" dirty="0"/>
                  <a:t> </a:t>
                </a:r>
                <a:r>
                  <a:rPr lang="en-US" altLang="ko-KR" sz="1100" dirty="0"/>
                  <a:t>(</a:t>
                </a:r>
                <a:r>
                  <a:rPr lang="ko-KR" altLang="en-US" sz="1100" dirty="0"/>
                  <a:t>공공재</a:t>
                </a:r>
                <a:r>
                  <a:rPr lang="en-US" altLang="ko-KR" sz="1100" dirty="0"/>
                  <a:t>)</a:t>
                </a:r>
                <a:endParaRPr lang="ko-KR" altLang="en-US" sz="11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85167AD-C1C5-87E2-D0C0-5289CA63C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7574" y="6242568"/>
                <a:ext cx="934876" cy="261610"/>
              </a:xfrm>
              <a:prstGeom prst="rect">
                <a:avLst/>
              </a:prstGeom>
              <a:blipFill>
                <a:blip r:embed="rId1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A012C11-F811-E070-E2A7-E25109241E69}"/>
                  </a:ext>
                </a:extLst>
              </p:cNvPr>
              <p:cNvSpPr txBox="1"/>
              <p:nvPr/>
            </p:nvSpPr>
            <p:spPr>
              <a:xfrm>
                <a:off x="8119583" y="5140754"/>
                <a:ext cx="734480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700" b="0" dirty="0"/>
                  <a:t>기울기</a:t>
                </a:r>
                <a:r>
                  <a:rPr lang="en-US" altLang="ko-KR" sz="900" b="0" dirty="0"/>
                  <a:t>= 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ko-KR" altLang="en-US" sz="7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A012C11-F811-E070-E2A7-E25109241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9583" y="5140754"/>
                <a:ext cx="734480" cy="230832"/>
              </a:xfrm>
              <a:prstGeom prst="rect">
                <a:avLst/>
              </a:prstGeom>
              <a:blipFill>
                <a:blip r:embed="rId1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연결선: 구부러짐 58">
            <a:extLst>
              <a:ext uri="{FF2B5EF4-FFF2-40B4-BE49-F238E27FC236}">
                <a16:creationId xmlns:a16="http://schemas.microsoft.com/office/drawing/2014/main" id="{E77816C2-899D-DE30-123F-4CCFA044E245}"/>
              </a:ext>
            </a:extLst>
          </p:cNvPr>
          <p:cNvCxnSpPr>
            <a:cxnSpLocks/>
            <a:stCxn id="60" idx="4"/>
            <a:endCxn id="57" idx="0"/>
          </p:cNvCxnSpPr>
          <p:nvPr/>
        </p:nvCxnSpPr>
        <p:spPr>
          <a:xfrm rot="5400000">
            <a:off x="8682452" y="4753094"/>
            <a:ext cx="192032" cy="583289"/>
          </a:xfrm>
          <a:prstGeom prst="curvedConnector3">
            <a:avLst>
              <a:gd name="adj1" fmla="val 50000"/>
            </a:avLst>
          </a:prstGeom>
          <a:ln w="9525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타원 59">
            <a:extLst>
              <a:ext uri="{FF2B5EF4-FFF2-40B4-BE49-F238E27FC236}">
                <a16:creationId xmlns:a16="http://schemas.microsoft.com/office/drawing/2014/main" id="{94DC2FC7-534E-B359-B3E2-88EDF7D7E86D}"/>
              </a:ext>
            </a:extLst>
          </p:cNvPr>
          <p:cNvSpPr/>
          <p:nvPr/>
        </p:nvSpPr>
        <p:spPr>
          <a:xfrm flipH="1">
            <a:off x="8993420" y="4795338"/>
            <a:ext cx="153384" cy="153384"/>
          </a:xfrm>
          <a:prstGeom prst="ellipse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645D685-471E-5610-AB46-2942E4752A61}"/>
                  </a:ext>
                </a:extLst>
              </p:cNvPr>
              <p:cNvSpPr txBox="1"/>
              <p:nvPr/>
            </p:nvSpPr>
            <p:spPr>
              <a:xfrm>
                <a:off x="9368513" y="4273721"/>
                <a:ext cx="734480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700" b="0" dirty="0"/>
                  <a:t>기울기</a:t>
                </a:r>
                <a:r>
                  <a:rPr lang="en-US" altLang="ko-KR" sz="900" b="0" dirty="0"/>
                  <a:t>= 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ko-KR" altLang="en-US" sz="7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645D685-471E-5610-AB46-2942E4752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8513" y="4273721"/>
                <a:ext cx="734480" cy="230832"/>
              </a:xfrm>
              <a:prstGeom prst="rect">
                <a:avLst/>
              </a:prstGeom>
              <a:blipFill>
                <a:blip r:embed="rId1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연결선: 구부러짐 64">
            <a:extLst>
              <a:ext uri="{FF2B5EF4-FFF2-40B4-BE49-F238E27FC236}">
                <a16:creationId xmlns:a16="http://schemas.microsoft.com/office/drawing/2014/main" id="{B3861128-1412-CFB7-C9F6-A3215461FBB4}"/>
              </a:ext>
            </a:extLst>
          </p:cNvPr>
          <p:cNvCxnSpPr>
            <a:cxnSpLocks/>
            <a:stCxn id="66" idx="2"/>
            <a:endCxn id="64" idx="2"/>
          </p:cNvCxnSpPr>
          <p:nvPr/>
        </p:nvCxnSpPr>
        <p:spPr>
          <a:xfrm flipV="1">
            <a:off x="9223867" y="4504553"/>
            <a:ext cx="511886" cy="327768"/>
          </a:xfrm>
          <a:prstGeom prst="curvedConnector2">
            <a:avLst/>
          </a:prstGeom>
          <a:ln w="9525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타원 65">
            <a:extLst>
              <a:ext uri="{FF2B5EF4-FFF2-40B4-BE49-F238E27FC236}">
                <a16:creationId xmlns:a16="http://schemas.microsoft.com/office/drawing/2014/main" id="{0F54D527-91A9-6494-CCDB-E40B52F1A6EA}"/>
              </a:ext>
            </a:extLst>
          </p:cNvPr>
          <p:cNvSpPr/>
          <p:nvPr/>
        </p:nvSpPr>
        <p:spPr>
          <a:xfrm flipH="1">
            <a:off x="9070483" y="4755629"/>
            <a:ext cx="153384" cy="153384"/>
          </a:xfrm>
          <a:prstGeom prst="ellipse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612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C3E3AF-1BB8-BE5A-05DF-4E609BF13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공공재에 대한 개인의 수요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3F0A65-CA44-3BF6-B9FC-FD79B47F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5" name="그림 4" descr="라인, 스크린샷, 텍스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C1CDCF-9800-CCCB-5120-61DC0DCEBA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76"/>
          <a:stretch>
            <a:fillRect/>
          </a:stretch>
        </p:blipFill>
        <p:spPr>
          <a:xfrm>
            <a:off x="7745887" y="1632624"/>
            <a:ext cx="4035965" cy="43922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C15133-1D73-54E9-F6A0-539377BBE6DB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7915410" cy="340984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오른쪽 그림에서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dirty="0"/>
                  <a:t>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dirty="0"/>
                  <a:t>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dirty="0"/>
                  <a:t>의 두 조합은 공공재의 가격과 이에 대한 수요량의 관계를 보여주며 각각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ko-KR" altLang="en-US" sz="1600" dirty="0"/>
                  <a:t>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ko-KR" altLang="en-US" sz="1600" dirty="0"/>
                  <a:t>점으로 표시되어 있다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이처럼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공공재의 가격을 계속 변화시키면서 수요량의 변화를 추적하면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𝐷𝐷</m:t>
                        </m:r>
                      </m:e>
                    </m:ba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곡선으로 대표되는 수요곡선을 도출할 수 있다</a:t>
                </a:r>
                <a:r>
                  <a:rPr lang="en-US" altLang="ko-KR" sz="160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이렇게 구해진 공공재에 대한 수요곡선은 사적재화에 대해 구해진 수요곡선과 다르지 않다</a:t>
                </a:r>
                <a:r>
                  <a:rPr lang="en-US" altLang="ko-KR" sz="160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개별 소비자의 공공재에 대한 수요량은 아래의 식처럼 공공재의 가격과 소득의 함수가 되는데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이는 사적재화의 경우와 똑같다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C15133-1D73-54E9-F6A0-539377BBE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7915410" cy="3409844"/>
              </a:xfrm>
              <a:prstGeom prst="rect">
                <a:avLst/>
              </a:prstGeom>
              <a:blipFill>
                <a:blip r:embed="rId3"/>
                <a:stretch>
                  <a:fillRect r="-308" b="-10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직사각형 6">
            <a:extLst>
              <a:ext uri="{FF2B5EF4-FFF2-40B4-BE49-F238E27FC236}">
                <a16:creationId xmlns:a16="http://schemas.microsoft.com/office/drawing/2014/main" id="{AE65F58D-A7F6-F50F-B32F-395D7C1CBC42}"/>
              </a:ext>
            </a:extLst>
          </p:cNvPr>
          <p:cNvSpPr/>
          <p:nvPr/>
        </p:nvSpPr>
        <p:spPr>
          <a:xfrm>
            <a:off x="8269288" y="1647825"/>
            <a:ext cx="3198549" cy="3851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원호 7">
            <a:extLst>
              <a:ext uri="{FF2B5EF4-FFF2-40B4-BE49-F238E27FC236}">
                <a16:creationId xmlns:a16="http://schemas.microsoft.com/office/drawing/2014/main" id="{D9404141-0D8C-4A22-4812-281C42002C76}"/>
              </a:ext>
            </a:extLst>
          </p:cNvPr>
          <p:cNvSpPr/>
          <p:nvPr/>
        </p:nvSpPr>
        <p:spPr>
          <a:xfrm rot="11931415">
            <a:off x="8788761" y="-1647552"/>
            <a:ext cx="6602925" cy="6775976"/>
          </a:xfrm>
          <a:prstGeom prst="arc">
            <a:avLst>
              <a:gd name="adj1" fmla="val 16200000"/>
              <a:gd name="adj2" fmla="val 19697531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A8A294-F2E1-F1B7-F543-3C0E26BD60F8}"/>
                  </a:ext>
                </a:extLst>
              </p:cNvPr>
              <p:cNvSpPr txBox="1"/>
              <p:nvPr/>
            </p:nvSpPr>
            <p:spPr>
              <a:xfrm>
                <a:off x="9054134" y="5493076"/>
                <a:ext cx="49403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A8A294-F2E1-F1B7-F543-3C0E26BD6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134" y="5493076"/>
                <a:ext cx="49403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7D2110-DC81-5710-BAE8-3F1A0175C1AA}"/>
                  </a:ext>
                </a:extLst>
              </p:cNvPr>
              <p:cNvSpPr txBox="1"/>
              <p:nvPr/>
            </p:nvSpPr>
            <p:spPr>
              <a:xfrm>
                <a:off x="10831445" y="5448704"/>
                <a:ext cx="1206770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altLang="ko-KR" sz="1400" dirty="0"/>
              </a:p>
              <a:p>
                <a:pPr algn="ctr"/>
                <a:r>
                  <a:rPr lang="en-US" altLang="ko-KR" sz="1100" dirty="0"/>
                  <a:t>(</a:t>
                </a:r>
                <a:r>
                  <a:rPr lang="ko-KR" altLang="en-US" sz="1100" dirty="0"/>
                  <a:t>공공재의 양</a:t>
                </a:r>
                <a:r>
                  <a:rPr lang="en-US" altLang="ko-KR" sz="1100" dirty="0"/>
                  <a:t>)</a:t>
                </a:r>
                <a:endParaRPr lang="ko-KR" altLang="en-US" sz="11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7D2110-DC81-5710-BAE8-3F1A0175C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1445" y="5448704"/>
                <a:ext cx="1206770" cy="492443"/>
              </a:xfrm>
              <a:prstGeom prst="rect">
                <a:avLst/>
              </a:prstGeom>
              <a:blipFill>
                <a:blip r:embed="rId5"/>
                <a:stretch>
                  <a:fillRect b="-49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00225EB-384A-658C-D933-2CCC4E1C2053}"/>
              </a:ext>
            </a:extLst>
          </p:cNvPr>
          <p:cNvCxnSpPr>
            <a:cxnSpLocks/>
          </p:cNvCxnSpPr>
          <p:nvPr/>
        </p:nvCxnSpPr>
        <p:spPr>
          <a:xfrm>
            <a:off x="9280829" y="3590908"/>
            <a:ext cx="0" cy="1908000"/>
          </a:xfrm>
          <a:prstGeom prst="line">
            <a:avLst/>
          </a:prstGeom>
          <a:ln w="9525">
            <a:solidFill>
              <a:srgbClr val="070B1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1C12590-CFC1-C3CC-C54F-CC6EC48B53FE}"/>
              </a:ext>
            </a:extLst>
          </p:cNvPr>
          <p:cNvCxnSpPr>
            <a:cxnSpLocks/>
          </p:cNvCxnSpPr>
          <p:nvPr/>
        </p:nvCxnSpPr>
        <p:spPr>
          <a:xfrm>
            <a:off x="10012349" y="4418948"/>
            <a:ext cx="0" cy="1080000"/>
          </a:xfrm>
          <a:prstGeom prst="line">
            <a:avLst/>
          </a:prstGeom>
          <a:ln w="9525">
            <a:solidFill>
              <a:srgbClr val="070B1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E5300D3-2D48-CF50-098B-27D0150E9EAB}"/>
                  </a:ext>
                </a:extLst>
              </p:cNvPr>
              <p:cNvSpPr txBox="1"/>
              <p:nvPr/>
            </p:nvSpPr>
            <p:spPr>
              <a:xfrm>
                <a:off x="9798341" y="5493076"/>
                <a:ext cx="49403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E5300D3-2D48-CF50-098B-27D0150E9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8341" y="5493076"/>
                <a:ext cx="494030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C3C7755-6838-5EAE-2329-CA5EB054D2A6}"/>
              </a:ext>
            </a:extLst>
          </p:cNvPr>
          <p:cNvCxnSpPr>
            <a:cxnSpLocks/>
          </p:cNvCxnSpPr>
          <p:nvPr/>
        </p:nvCxnSpPr>
        <p:spPr>
          <a:xfrm rot="16200000">
            <a:off x="8786149" y="3086491"/>
            <a:ext cx="0" cy="1008000"/>
          </a:xfrm>
          <a:prstGeom prst="line">
            <a:avLst/>
          </a:prstGeom>
          <a:ln w="9525">
            <a:solidFill>
              <a:srgbClr val="070B1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FBAD6C1D-B305-06D5-69CF-826393E480F3}"/>
              </a:ext>
            </a:extLst>
          </p:cNvPr>
          <p:cNvCxnSpPr>
            <a:cxnSpLocks/>
          </p:cNvCxnSpPr>
          <p:nvPr/>
        </p:nvCxnSpPr>
        <p:spPr>
          <a:xfrm rot="16200000">
            <a:off x="9146149" y="3544788"/>
            <a:ext cx="0" cy="1728000"/>
          </a:xfrm>
          <a:prstGeom prst="line">
            <a:avLst/>
          </a:prstGeom>
          <a:ln w="9525">
            <a:solidFill>
              <a:srgbClr val="070B1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5B85C32-D613-969D-AC84-C40A4D1F91A1}"/>
                  </a:ext>
                </a:extLst>
              </p:cNvPr>
              <p:cNvSpPr txBox="1"/>
              <p:nvPr/>
            </p:nvSpPr>
            <p:spPr>
              <a:xfrm>
                <a:off x="7843301" y="3406684"/>
                <a:ext cx="494030" cy="3118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5B85C32-D613-969D-AC84-C40A4D1F9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3301" y="3406684"/>
                <a:ext cx="494030" cy="311817"/>
              </a:xfrm>
              <a:prstGeom prst="rect">
                <a:avLst/>
              </a:prstGeom>
              <a:blipFill>
                <a:blip r:embed="rId7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0A915BC-428A-4162-A0A2-38024BA6D296}"/>
                  </a:ext>
                </a:extLst>
              </p:cNvPr>
              <p:cNvSpPr txBox="1"/>
              <p:nvPr/>
            </p:nvSpPr>
            <p:spPr>
              <a:xfrm>
                <a:off x="7843301" y="4233091"/>
                <a:ext cx="494030" cy="3118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0A915BC-428A-4162-A0A2-38024BA6D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3301" y="4233091"/>
                <a:ext cx="494030" cy="311817"/>
              </a:xfrm>
              <a:prstGeom prst="rect">
                <a:avLst/>
              </a:prstGeom>
              <a:blipFill>
                <a:blip r:embed="rId8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A505F7F-9191-3F6E-60E3-0A177CD125D9}"/>
                  </a:ext>
                </a:extLst>
              </p:cNvPr>
              <p:cNvSpPr txBox="1"/>
              <p:nvPr/>
            </p:nvSpPr>
            <p:spPr>
              <a:xfrm>
                <a:off x="9225062" y="3289380"/>
                <a:ext cx="26035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400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A505F7F-9191-3F6E-60E3-0A177CD12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5062" y="3289380"/>
                <a:ext cx="260350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B768DB7-502E-3515-2E64-D63798B5E5E3}"/>
                  </a:ext>
                </a:extLst>
              </p:cNvPr>
              <p:cNvSpPr txBox="1"/>
              <p:nvPr/>
            </p:nvSpPr>
            <p:spPr>
              <a:xfrm>
                <a:off x="9963978" y="4161792"/>
                <a:ext cx="26035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400" b="0" i="0" smtClean="0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B768DB7-502E-3515-2E64-D63798B5E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3978" y="4161792"/>
                <a:ext cx="260350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4BE6D5D-EC09-0ECF-641E-C4576FF81198}"/>
                  </a:ext>
                </a:extLst>
              </p:cNvPr>
              <p:cNvSpPr txBox="1"/>
              <p:nvPr/>
            </p:nvSpPr>
            <p:spPr>
              <a:xfrm>
                <a:off x="8602551" y="2214252"/>
                <a:ext cx="26035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400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4BE6D5D-EC09-0ECF-641E-C4576FF81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2551" y="2214252"/>
                <a:ext cx="260350" cy="307777"/>
              </a:xfrm>
              <a:prstGeom prst="rect">
                <a:avLst/>
              </a:prstGeom>
              <a:blipFill>
                <a:blip r:embed="rId11"/>
                <a:stretch>
                  <a:fillRect r="-23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AEAB600-3EF0-11ED-DA4F-9A4C2FCFCB09}"/>
                  </a:ext>
                </a:extLst>
              </p:cNvPr>
              <p:cNvSpPr txBox="1"/>
              <p:nvPr/>
            </p:nvSpPr>
            <p:spPr>
              <a:xfrm>
                <a:off x="10968355" y="4850443"/>
                <a:ext cx="26035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400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AEAB600-3EF0-11ED-DA4F-9A4C2FCFC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8355" y="4850443"/>
                <a:ext cx="260350" cy="307777"/>
              </a:xfrm>
              <a:prstGeom prst="rect">
                <a:avLst/>
              </a:prstGeom>
              <a:blipFill>
                <a:blip r:embed="rId12"/>
                <a:stretch>
                  <a:fillRect r="-23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B297002-EB06-6CA4-E217-9D10BA59750F}"/>
                  </a:ext>
                </a:extLst>
              </p:cNvPr>
              <p:cNvSpPr txBox="1"/>
              <p:nvPr/>
            </p:nvSpPr>
            <p:spPr>
              <a:xfrm>
                <a:off x="8032480" y="1372920"/>
                <a:ext cx="120677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sz="1400" dirty="0"/>
                  <a:t> </a:t>
                </a:r>
                <a:r>
                  <a:rPr lang="en-US" altLang="ko-KR" sz="1100" dirty="0"/>
                  <a:t>(</a:t>
                </a:r>
                <a:r>
                  <a:rPr lang="ko-KR" altLang="en-US" sz="1100" dirty="0"/>
                  <a:t>조세가격</a:t>
                </a:r>
                <a:r>
                  <a:rPr lang="en-US" altLang="ko-KR" sz="1100" dirty="0"/>
                  <a:t>)</a:t>
                </a:r>
                <a:endParaRPr lang="ko-KR" altLang="en-US" sz="11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B297002-EB06-6CA4-E217-9D10BA597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2480" y="1372920"/>
                <a:ext cx="1206770" cy="307777"/>
              </a:xfrm>
              <a:prstGeom prst="rect">
                <a:avLst/>
              </a:prstGeom>
              <a:blipFill>
                <a:blip r:embed="rId13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5667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FE0A2-EB3C-C550-5D43-83A34F7F6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5E94A9-BC4B-B4BC-859A-2C1F204F3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시장수요의 도출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15BF15-BD29-8567-E029-8653D9517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5DB4A2-5E88-FC52-6345-1A42783A0260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152272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이제 개인의 수요곡선을 종합하여 시장 전체의 수요를 도출하는 것이 필요하다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사적재화의 경우 각 개인의 수요곡선을 수평방향으로 더함으로써 시장수요곡선을 구한다</a:t>
                </a:r>
                <a:r>
                  <a:rPr lang="en-US" altLang="ko-KR" sz="160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dirty="0"/>
                  <a:t>각 가격에서 개별 소비자가 </a:t>
                </a:r>
                <a:r>
                  <a:rPr lang="ko-KR" altLang="en-US" sz="1600" dirty="0" err="1"/>
                  <a:t>수요하는</a:t>
                </a:r>
                <a:r>
                  <a:rPr lang="ko-KR" altLang="en-US" sz="1600" dirty="0"/>
                  <a:t> 양을 모두 더하면 시장 전체에서의 수요량이 되기 때문이다</a:t>
                </a:r>
                <a:r>
                  <a:rPr lang="en-US" altLang="ko-KR" sz="160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dirty="0"/>
                  <a:t>아래 그림에서 보듯이 </a:t>
                </a:r>
                <a:r>
                  <a:rPr lang="en-US" altLang="ko-KR" sz="1600" dirty="0"/>
                  <a:t>A</a:t>
                </a:r>
                <a:r>
                  <a:rPr lang="ko-KR" altLang="en-US" sz="1600" dirty="0"/>
                  <a:t>와 </a:t>
                </a:r>
                <a:r>
                  <a:rPr lang="en-US" altLang="ko-KR" sz="1600" dirty="0"/>
                  <a:t>B </a:t>
                </a:r>
                <a:r>
                  <a:rPr lang="ko-KR" altLang="en-US" sz="1600" dirty="0"/>
                  <a:t>두사람의 수요곡선이 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ko-KR" altLang="en-US" sz="1600" dirty="0"/>
                  <a:t>주어져 있다면 이를 수평으로 더하여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ko-KR" altLang="en-US" sz="1600" dirty="0"/>
                  <a:t>을 도출한다</a:t>
                </a:r>
                <a:r>
                  <a:rPr lang="en-US" altLang="ko-KR" sz="1600" dirty="0"/>
                  <a:t>.</a:t>
                </a:r>
                <a:r>
                  <a:rPr lang="ko-KR" altLang="en-US" sz="1600" dirty="0"/>
                  <a:t> </a:t>
                </a:r>
                <a:endParaRPr lang="en-US" altLang="ko-KR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5DB4A2-5E88-FC52-6345-1A42783A0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1522725"/>
              </a:xfrm>
              <a:prstGeom prst="rect">
                <a:avLst/>
              </a:prstGeom>
              <a:blipFill>
                <a:blip r:embed="rId2"/>
                <a:stretch>
                  <a:fillRect r="-625" b="-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그룹 8">
            <a:extLst>
              <a:ext uri="{FF2B5EF4-FFF2-40B4-BE49-F238E27FC236}">
                <a16:creationId xmlns:a16="http://schemas.microsoft.com/office/drawing/2014/main" id="{789D2D20-F3B2-8E24-5307-45857740902C}"/>
              </a:ext>
            </a:extLst>
          </p:cNvPr>
          <p:cNvGrpSpPr/>
          <p:nvPr/>
        </p:nvGrpSpPr>
        <p:grpSpPr>
          <a:xfrm>
            <a:off x="3354705" y="2685870"/>
            <a:ext cx="3958946" cy="3920094"/>
            <a:chOff x="3354705" y="2685870"/>
            <a:chExt cx="3958946" cy="3920094"/>
          </a:xfrm>
        </p:grpSpPr>
        <p:pic>
          <p:nvPicPr>
            <p:cNvPr id="11" name="그림 10" descr="라인, 도표, 평행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80847A9-F78B-4903-F681-1F1A5238FD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235" t="7307" b="9169"/>
            <a:stretch>
              <a:fillRect/>
            </a:stretch>
          </p:blipFill>
          <p:spPr>
            <a:xfrm>
              <a:off x="3601720" y="2768477"/>
              <a:ext cx="3535680" cy="372884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2AFB3013-24BC-4565-A521-F304F8A908B7}"/>
                    </a:ext>
                  </a:extLst>
                </p:cNvPr>
                <p:cNvSpPr txBox="1"/>
                <p:nvPr/>
              </p:nvSpPr>
              <p:spPr>
                <a:xfrm>
                  <a:off x="6819621" y="4716827"/>
                  <a:ext cx="49403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2AFB3013-24BC-4565-A521-F304F8A908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9621" y="4716827"/>
                  <a:ext cx="494030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EE9AD56-6154-FE25-14EC-4B098B4E4B35}"/>
                    </a:ext>
                  </a:extLst>
                </p:cNvPr>
                <p:cNvSpPr txBox="1"/>
                <p:nvPr/>
              </p:nvSpPr>
              <p:spPr>
                <a:xfrm>
                  <a:off x="5369560" y="3801917"/>
                  <a:ext cx="49403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EE9AD56-6154-FE25-14EC-4B098B4E4B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9560" y="3801917"/>
                  <a:ext cx="494030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482F6B0-165D-D3DF-1909-B5782960E0C8}"/>
                    </a:ext>
                  </a:extLst>
                </p:cNvPr>
                <p:cNvSpPr txBox="1"/>
                <p:nvPr/>
              </p:nvSpPr>
              <p:spPr>
                <a:xfrm>
                  <a:off x="6819621" y="5803947"/>
                  <a:ext cx="49403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482F6B0-165D-D3DF-1909-B5782960E0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9621" y="5803947"/>
                  <a:ext cx="494030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E2415F3-443F-9630-AEE0-8DCF8E442D96}"/>
                    </a:ext>
                  </a:extLst>
                </p:cNvPr>
                <p:cNvSpPr txBox="1"/>
                <p:nvPr/>
              </p:nvSpPr>
              <p:spPr>
                <a:xfrm>
                  <a:off x="5925541" y="5906823"/>
                  <a:ext cx="49403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E2415F3-443F-9630-AEE0-8DCF8E442D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5541" y="5906823"/>
                  <a:ext cx="494030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C3FF250-070F-4D93-4552-190ABB291D50}"/>
                    </a:ext>
                  </a:extLst>
                </p:cNvPr>
                <p:cNvSpPr txBox="1"/>
                <p:nvPr/>
              </p:nvSpPr>
              <p:spPr>
                <a:xfrm>
                  <a:off x="3354705" y="3971194"/>
                  <a:ext cx="49403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C3FF250-070F-4D93-4552-190ABB291D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705" y="3971194"/>
                  <a:ext cx="494030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153904C-8B9F-5BF5-33E2-A34395899D1C}"/>
                    </a:ext>
                  </a:extLst>
                </p:cNvPr>
                <p:cNvSpPr txBox="1"/>
                <p:nvPr/>
              </p:nvSpPr>
              <p:spPr>
                <a:xfrm>
                  <a:off x="6731496" y="2685870"/>
                  <a:ext cx="49403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153904C-8B9F-5BF5-33E2-A34395899D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1496" y="2685870"/>
                  <a:ext cx="494030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E7852E0-4813-50FD-CE27-869DF61AA05D}"/>
                    </a:ext>
                  </a:extLst>
                </p:cNvPr>
                <p:cNvSpPr txBox="1"/>
                <p:nvPr/>
              </p:nvSpPr>
              <p:spPr>
                <a:xfrm>
                  <a:off x="4284701" y="6267410"/>
                  <a:ext cx="49403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E7852E0-4813-50FD-CE27-869DF61AA0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4701" y="6267410"/>
                  <a:ext cx="494030" cy="338554"/>
                </a:xfrm>
                <a:prstGeom prst="rect">
                  <a:avLst/>
                </a:prstGeom>
                <a:blipFill>
                  <a:blip r:embed="rId10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15542BF-F4E9-B6FC-39C8-A5DCC06493CE}"/>
                    </a:ext>
                  </a:extLst>
                </p:cNvPr>
                <p:cNvSpPr txBox="1"/>
                <p:nvPr/>
              </p:nvSpPr>
              <p:spPr>
                <a:xfrm>
                  <a:off x="4675861" y="6267410"/>
                  <a:ext cx="49403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15542BF-F4E9-B6FC-39C8-A5DCC06493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5861" y="6267410"/>
                  <a:ext cx="494030" cy="338554"/>
                </a:xfrm>
                <a:prstGeom prst="rect">
                  <a:avLst/>
                </a:prstGeom>
                <a:blipFill>
                  <a:blip r:embed="rId11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8FDEEDB-BBD6-A54B-A64A-A587CDE01163}"/>
                    </a:ext>
                  </a:extLst>
                </p:cNvPr>
                <p:cNvSpPr txBox="1"/>
                <p:nvPr/>
              </p:nvSpPr>
              <p:spPr>
                <a:xfrm>
                  <a:off x="5369560" y="6267410"/>
                  <a:ext cx="49403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8FDEEDB-BBD6-A54B-A64A-A587CDE011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9560" y="6267410"/>
                  <a:ext cx="494030" cy="338554"/>
                </a:xfrm>
                <a:prstGeom prst="rect">
                  <a:avLst/>
                </a:prstGeom>
                <a:blipFill>
                  <a:blip r:embed="rId12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7C3E5F6-2360-9B6A-33B5-E38F5BFEC50C}"/>
                    </a:ext>
                  </a:extLst>
                </p:cNvPr>
                <p:cNvSpPr txBox="1"/>
                <p:nvPr/>
              </p:nvSpPr>
              <p:spPr>
                <a:xfrm>
                  <a:off x="3440709" y="6262674"/>
                  <a:ext cx="49403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7C3E5F6-2360-9B6A-33B5-E38F5BFEC5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0709" y="6262674"/>
                  <a:ext cx="494030" cy="3385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96091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E586E-83A3-DADE-5CEC-3A5ABA535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>
            <a:extLst>
              <a:ext uri="{FF2B5EF4-FFF2-40B4-BE49-F238E27FC236}">
                <a16:creationId xmlns:a16="http://schemas.microsoft.com/office/drawing/2014/main" id="{257B7991-4333-6ECA-93BF-376D47A2B738}"/>
              </a:ext>
            </a:extLst>
          </p:cNvPr>
          <p:cNvGrpSpPr/>
          <p:nvPr/>
        </p:nvGrpSpPr>
        <p:grpSpPr>
          <a:xfrm>
            <a:off x="7811490" y="2764562"/>
            <a:ext cx="4108171" cy="3841402"/>
            <a:chOff x="7811490" y="2764562"/>
            <a:chExt cx="4108171" cy="3841402"/>
          </a:xfrm>
        </p:grpSpPr>
        <p:pic>
          <p:nvPicPr>
            <p:cNvPr id="9" name="그림 8" descr="라인, 도표, 평행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0ED9047-C92F-1B6E-E921-830ECDBAAB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7307" b="10006"/>
            <a:stretch>
              <a:fillRect/>
            </a:stretch>
          </p:blipFill>
          <p:spPr>
            <a:xfrm>
              <a:off x="7811490" y="2764562"/>
              <a:ext cx="3963949" cy="371497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FD10C42-27AE-4B55-819B-9FB0BB4E91E1}"/>
                    </a:ext>
                  </a:extLst>
                </p:cNvPr>
                <p:cNvSpPr txBox="1"/>
                <p:nvPr/>
              </p:nvSpPr>
              <p:spPr>
                <a:xfrm>
                  <a:off x="11425631" y="4923016"/>
                  <a:ext cx="49403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FD10C42-27AE-4B55-819B-9FB0BB4E91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25631" y="4923016"/>
                  <a:ext cx="494030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8B85E3F-8AE0-0181-A316-C273B3B268B3}"/>
                    </a:ext>
                  </a:extLst>
                </p:cNvPr>
                <p:cNvSpPr txBox="1"/>
                <p:nvPr/>
              </p:nvSpPr>
              <p:spPr>
                <a:xfrm>
                  <a:off x="10363200" y="4038551"/>
                  <a:ext cx="49403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8B85E3F-8AE0-0181-A316-C273B3B268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3200" y="4038551"/>
                  <a:ext cx="494030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C3E9BF1-42DA-F23D-F02D-1F5556CAE9C9}"/>
                    </a:ext>
                  </a:extLst>
                </p:cNvPr>
                <p:cNvSpPr txBox="1"/>
                <p:nvPr/>
              </p:nvSpPr>
              <p:spPr>
                <a:xfrm>
                  <a:off x="11372569" y="3525471"/>
                  <a:ext cx="49403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C3E9BF1-42DA-F23D-F02D-1F5556CAE9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72569" y="3525471"/>
                  <a:ext cx="494030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7D7324F-6D7F-2EE1-A471-CA6418358218}"/>
                    </a:ext>
                  </a:extLst>
                </p:cNvPr>
                <p:cNvSpPr txBox="1"/>
                <p:nvPr/>
              </p:nvSpPr>
              <p:spPr>
                <a:xfrm>
                  <a:off x="11425631" y="5413664"/>
                  <a:ext cx="49403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7D7324F-6D7F-2EE1-A471-CA64183582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25631" y="5413664"/>
                  <a:ext cx="494030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46BB9EE-7528-8934-EBCD-FD89FA3D2297}"/>
                    </a:ext>
                  </a:extLst>
                </p:cNvPr>
                <p:cNvSpPr txBox="1"/>
                <p:nvPr/>
              </p:nvSpPr>
              <p:spPr>
                <a:xfrm>
                  <a:off x="11425631" y="5695472"/>
                  <a:ext cx="49403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46BB9EE-7528-8934-EBCD-FD89FA3D22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25631" y="5695472"/>
                  <a:ext cx="494030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35EC7A9-C541-0AE4-1349-E26879C56AEA}"/>
                    </a:ext>
                  </a:extLst>
                </p:cNvPr>
                <p:cNvSpPr txBox="1"/>
                <p:nvPr/>
              </p:nvSpPr>
              <p:spPr>
                <a:xfrm>
                  <a:off x="7990840" y="4243388"/>
                  <a:ext cx="49403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35EC7A9-C541-0AE4-1349-E26879C56A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0840" y="4243388"/>
                  <a:ext cx="494030" cy="338554"/>
                </a:xfrm>
                <a:prstGeom prst="rect">
                  <a:avLst/>
                </a:prstGeom>
                <a:blipFill>
                  <a:blip r:embed="rId10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0E58DA4-7772-B43B-AFF0-43F9F5906B41}"/>
                    </a:ext>
                  </a:extLst>
                </p:cNvPr>
                <p:cNvSpPr txBox="1"/>
                <p:nvPr/>
              </p:nvSpPr>
              <p:spPr>
                <a:xfrm>
                  <a:off x="7990840" y="4969828"/>
                  <a:ext cx="49403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0E58DA4-7772-B43B-AFF0-43F9F5906B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0840" y="4969828"/>
                  <a:ext cx="494030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E762B7F-CA3D-DF12-72AA-ABA1315D9284}"/>
                    </a:ext>
                  </a:extLst>
                </p:cNvPr>
                <p:cNvSpPr txBox="1"/>
                <p:nvPr/>
              </p:nvSpPr>
              <p:spPr>
                <a:xfrm>
                  <a:off x="7990840" y="5371624"/>
                  <a:ext cx="49403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E762B7F-CA3D-DF12-72AA-ABA1315D92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0840" y="5371624"/>
                  <a:ext cx="494030" cy="33855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4ADDE81-B578-2D3F-ADE7-2E5CCFAA1733}"/>
                    </a:ext>
                  </a:extLst>
                </p:cNvPr>
                <p:cNvSpPr txBox="1"/>
                <p:nvPr/>
              </p:nvSpPr>
              <p:spPr>
                <a:xfrm>
                  <a:off x="10368280" y="6267410"/>
                  <a:ext cx="49403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4ADDE81-B578-2D3F-ADE7-2E5CCFAA17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8280" y="6267410"/>
                  <a:ext cx="494030" cy="3385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2FBAFD8-342D-82F9-3DE5-94C8271EA4CA}"/>
                    </a:ext>
                  </a:extLst>
                </p:cNvPr>
                <p:cNvSpPr txBox="1"/>
                <p:nvPr/>
              </p:nvSpPr>
              <p:spPr>
                <a:xfrm>
                  <a:off x="8066963" y="6267410"/>
                  <a:ext cx="49403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2FBAFD8-342D-82F9-3DE5-94C8271EA4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6963" y="6267410"/>
                  <a:ext cx="494030" cy="33855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35B6387C-D9FA-23C2-240A-A11A564E7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시장수요의 도출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4694B9-E8CF-3556-0CA9-ED3AE2CA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C271FA-2E98-D32C-0CE8-0D5A03B0E32B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189205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공공재의 경우 각 개인의 수요곡선을 수직방향으로 더함으로써 시장수요곡선을 구한다</a:t>
                </a:r>
                <a:r>
                  <a:rPr lang="en-US" altLang="ko-KR" sz="160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dirty="0"/>
                  <a:t>모든 사람이 동일한 공공재의 양을 소비함과 동시에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공공재의 소비로부터 얻는 한계편익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지불용의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가격</a:t>
                </a:r>
                <a:r>
                  <a:rPr lang="en-US" altLang="ko-KR" sz="1600" dirty="0"/>
                  <a:t>)</a:t>
                </a:r>
                <a:r>
                  <a:rPr lang="ko-KR" altLang="en-US" sz="1600" dirty="0"/>
                  <a:t>이 서로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다르기 때문이다</a:t>
                </a:r>
                <a:r>
                  <a:rPr lang="en-US" altLang="ko-KR" sz="160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dirty="0"/>
                  <a:t>아래 그림에서 보듯이 </a:t>
                </a:r>
                <a:r>
                  <a:rPr lang="en-US" altLang="ko-KR" sz="1600" dirty="0"/>
                  <a:t>A</a:t>
                </a:r>
                <a:r>
                  <a:rPr lang="ko-KR" altLang="en-US" sz="1600" dirty="0"/>
                  <a:t>와 </a:t>
                </a:r>
                <a:r>
                  <a:rPr lang="en-US" altLang="ko-KR" sz="1600" dirty="0"/>
                  <a:t>B </a:t>
                </a:r>
                <a:r>
                  <a:rPr lang="ko-KR" altLang="en-US" sz="1600" dirty="0"/>
                  <a:t>두사람의 공공재에 대한 수요곡선이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ko-KR" altLang="en-US" sz="1600" dirty="0"/>
                  <a:t>로 주어져 있다면 이를 수직으로 더하여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ko-KR" altLang="en-US" sz="1600" dirty="0"/>
                  <a:t>을 도출한다</a:t>
                </a:r>
                <a:r>
                  <a:rPr lang="en-US" altLang="ko-KR" sz="160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C271FA-2E98-D32C-0CE8-0D5A03B0E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1892056"/>
              </a:xfrm>
              <a:prstGeom prst="rect">
                <a:avLst/>
              </a:prstGeom>
              <a:blipFill>
                <a:blip r:embed="rId15"/>
                <a:stretch>
                  <a:fillRect b="-28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E3AFA19-9607-C41D-D9BE-18F84BF11EFD}"/>
                  </a:ext>
                </a:extLst>
              </p:cNvPr>
              <p:cNvSpPr txBox="1"/>
              <p:nvPr/>
            </p:nvSpPr>
            <p:spPr>
              <a:xfrm>
                <a:off x="283710" y="2936525"/>
                <a:ext cx="7752850" cy="33686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dirty="0"/>
                  <a:t>시장수요곡선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60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altLang="ko-KR" sz="1600" dirty="0"/>
                  <a:t>)</a:t>
                </a:r>
                <a:r>
                  <a:rPr lang="ko-KR" altLang="en-US" sz="1600" dirty="0"/>
                  <a:t>의 높이는 개별 수요곡선의 높이를 모두 더한 것과 같다</a:t>
                </a:r>
                <a:r>
                  <a:rPr lang="en-US" altLang="ko-KR" sz="160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dirty="0"/>
                  <a:t>개별 수요곡선의 높이가 각 수준의 공공재에 대해 개인이 낼 용의를 갖는 가격을 뜻하므로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시장수요곡선의 높이는 각 수준에 대해 그 사회의 구성원 전체가 함께 지불할 용의를 갖는 가격을 뜻하게 된다</a:t>
                </a:r>
                <a:r>
                  <a:rPr lang="en-US" altLang="ko-KR" sz="160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en-US" altLang="ko-KR" sz="160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현실에서는 소비자들이 자신의 수요를 진실되게 표출한다는 보장이 없다</a:t>
                </a:r>
                <a:r>
                  <a:rPr lang="en-US" altLang="ko-KR" sz="1600" dirty="0"/>
                  <a:t>. </a:t>
                </a:r>
                <a:r>
                  <a:rPr lang="ko-KR" altLang="en-US" sz="1600" dirty="0"/>
                  <a:t>그럼에도 불구하고 진정한 수요를 표출한다는 가정하에서 도출한 수요곡선이기 때문에 가상수요곡선 </a:t>
                </a:r>
                <a:r>
                  <a:rPr lang="en-US" altLang="ko-KR" sz="1600" dirty="0"/>
                  <a:t>(pseudo-demand curve)</a:t>
                </a:r>
                <a:r>
                  <a:rPr lang="ko-KR" altLang="en-US" sz="1600" dirty="0"/>
                  <a:t>이라고도 부른다</a:t>
                </a:r>
                <a:r>
                  <a:rPr lang="en-US" altLang="ko-KR" sz="1600" dirty="0"/>
                  <a:t>. 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E3AFA19-9607-C41D-D9BE-18F84BF11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710" y="2936525"/>
                <a:ext cx="7752850" cy="3368679"/>
              </a:xfrm>
              <a:prstGeom prst="rect">
                <a:avLst/>
              </a:prstGeom>
              <a:blipFill>
                <a:blip r:embed="rId16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1600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7447EA-8E26-B6A0-08B7-7FAB74E33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적정수준의 도출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5862D5-E25C-2F9C-168B-0E099F5C3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618F05-30AB-DBD7-B274-62DDC3B3A18B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336867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적절한 공공재의 생산수준은 사회적 한계편익 </a:t>
                </a:r>
                <a:r>
                  <a:rPr lang="en-US" altLang="ko-KR" sz="1600" spc="-50" dirty="0"/>
                  <a:t>(Social Marginal Benefit; SMB)</a:t>
                </a:r>
                <a:r>
                  <a:rPr lang="ko-KR" altLang="en-US" sz="1600" spc="-50" dirty="0"/>
                  <a:t>과 사회적 한계비용 </a:t>
                </a:r>
                <a:r>
                  <a:rPr lang="en-US" altLang="ko-KR" sz="1600" spc="-50" dirty="0"/>
                  <a:t>(Social Marginal Cost; SMC)</a:t>
                </a:r>
                <a:r>
                  <a:rPr lang="ko-KR" altLang="en-US" sz="1600" spc="-50" dirty="0"/>
                  <a:t>이 일치하는 곳에서 이루어진다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공공재의 경우도 사회적 한계편익은 시장수요곡선에 반영되며 사회적 한계비용은 시장공급곡선에 반영된다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사적재화와 마찬가지로 적절한 공공재의 생산수준 역시 시장수요곡선과 시장공급곡선의 교차점에서 찾을 수 있다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그러나 적정수준이 되기 위한 조건의 내용을 자세히 살펴보면 사적재화와 공공재 간의 뚜렷한 차이가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사적재화를 설명한 앞선 그림을 다시 보면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시장수요곡선과 공급곡선이 교차하는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ko-KR" altLang="en-US" sz="1600" spc="-50" dirty="0"/>
                  <a:t>점에서 적정배분이 이루어지고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ko-KR" alt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618F05-30AB-DBD7-B274-62DDC3B3A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3368679"/>
              </a:xfrm>
              <a:prstGeom prst="rect">
                <a:avLst/>
              </a:prstGeom>
              <a:blipFill>
                <a:blip r:embed="rId2"/>
                <a:stretch>
                  <a:fillRect r="-1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3990F0-31B7-2679-77C0-182AA89272C4}"/>
                  </a:ext>
                </a:extLst>
              </p:cNvPr>
              <p:cNvSpPr txBox="1"/>
              <p:nvPr/>
            </p:nvSpPr>
            <p:spPr>
              <a:xfrm>
                <a:off x="288790" y="3538115"/>
                <a:ext cx="8622104" cy="2260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시장 전체로 볼 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만큼 생산되어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가격에 거래되는 것을 뜻한다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만큼은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가 소비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만큼은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가 소비하고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두 사람 모두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를 지불하고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각 소비자는 상품소비로부터의 한계편익이 시장가격과 같아질 때까지 수요하고 있으므로 두 사람이 각자 얻는 한계편익은 서로 같다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상품의 시장가격은 공급곡선의 높이와 같고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이는 상품 생산을 위한 한계비용을 뜻한다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위의 내용을 종합해보면 사적재화가 적정 배분 되기 위한 조건은 아래와 같다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3990F0-31B7-2679-77C0-182AA8927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3538115"/>
                <a:ext cx="8622104" cy="2260683"/>
              </a:xfrm>
              <a:prstGeom prst="rect">
                <a:avLst/>
              </a:prstGeom>
              <a:blipFill>
                <a:blip r:embed="rId3"/>
                <a:stretch>
                  <a:fillRect r="-495" b="-24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그림 17">
            <a:extLst>
              <a:ext uri="{FF2B5EF4-FFF2-40B4-BE49-F238E27FC236}">
                <a16:creationId xmlns:a16="http://schemas.microsoft.com/office/drawing/2014/main" id="{370292E5-1FA6-F04D-4B09-672BAE97E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5121" y="3592405"/>
            <a:ext cx="3018889" cy="3009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525998F-949C-91F0-693E-BEE0D0DC23B3}"/>
                  </a:ext>
                </a:extLst>
              </p:cNvPr>
              <p:cNvSpPr txBox="1"/>
              <p:nvPr/>
            </p:nvSpPr>
            <p:spPr>
              <a:xfrm>
                <a:off x="1349762" y="5947650"/>
                <a:ext cx="6635998" cy="455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49275" lvl="1" algn="ctr">
                  <a:lnSpc>
                    <a:spcPct val="150000"/>
                  </a:lnSpc>
                </a:pPr>
                <a:r>
                  <a:rPr lang="en-US" altLang="ko-KR" sz="1800" b="1" spc="-50" dirty="0"/>
                  <a:t>A</a:t>
                </a:r>
                <a:r>
                  <a:rPr lang="ko-KR" altLang="en-US" sz="1800" b="1" spc="-50" dirty="0"/>
                  <a:t>의 한계편익</a:t>
                </a:r>
                <a:r>
                  <a:rPr lang="en-US" altLang="ko-KR" sz="1800" b="1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1" i="1" smtClean="0">
                            <a:latin typeface="Cambria Math" panose="02040503050406030204" pitchFamily="18" charset="0"/>
                          </a:rPr>
                          <m:t>𝑴𝑩</m:t>
                        </m:r>
                      </m:e>
                      <m:sub>
                        <m:r>
                          <a:rPr lang="en-US" altLang="ko-KR" sz="18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altLang="ko-KR" sz="1800" b="1" spc="-50" dirty="0"/>
                  <a:t>) = B</a:t>
                </a:r>
                <a:r>
                  <a:rPr lang="ko-KR" altLang="en-US" sz="1800" b="1" spc="-50" dirty="0"/>
                  <a:t>의 한계편익</a:t>
                </a:r>
                <a:r>
                  <a:rPr lang="en-US" altLang="ko-KR" sz="1800" b="1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𝑴𝑩</m:t>
                        </m:r>
                      </m:e>
                      <m:sub>
                        <m:r>
                          <a:rPr lang="en-US" altLang="ko-KR" sz="18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ko-KR" sz="1800" b="1" spc="-50" dirty="0"/>
                  <a:t>) = </a:t>
                </a:r>
                <a:r>
                  <a:rPr lang="ko-KR" altLang="en-US" sz="1800" b="1" spc="-50" dirty="0"/>
                  <a:t>한계비용</a:t>
                </a:r>
                <a:r>
                  <a:rPr lang="en-US" altLang="ko-KR" sz="1800" b="1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800" b="1" i="1" spc="-50" smtClean="0">
                        <a:latin typeface="Cambria Math" panose="02040503050406030204" pitchFamily="18" charset="0"/>
                      </a:rPr>
                      <m:t>𝑴𝑪</m:t>
                    </m:r>
                  </m:oMath>
                </a14:m>
                <a:r>
                  <a:rPr lang="en-US" altLang="ko-KR" sz="1800" b="1" spc="-50" dirty="0"/>
                  <a:t>)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525998F-949C-91F0-693E-BEE0D0DC2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762" y="5947650"/>
                <a:ext cx="6635998" cy="455061"/>
              </a:xfrm>
              <a:prstGeom prst="rect">
                <a:avLst/>
              </a:prstGeom>
              <a:blipFill>
                <a:blip r:embed="rId5"/>
                <a:stretch>
                  <a:fillRect r="-2479" b="-216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4064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0591D-8408-7005-1506-D9B25F8CF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6B8D04-0D49-B267-0519-B76CDFA46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적정수준의 도출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5DB436-D197-8F73-4AC2-B709F36B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1887B4-792E-83C2-B2F0-517D24BBD1BF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341228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공공재를 설명한 앞선 그림을 보면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공공재 역시 시장수요곡선과 공급곡선이 교차하는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ko-KR" altLang="en-US" sz="1600" spc="-50" dirty="0"/>
                  <a:t>점에서 적정배분이 이루어지고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교차점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ko-KR" altLang="en-US" sz="1600" spc="-50" dirty="0"/>
                  <a:t>점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에서 각 개별 수요곡선의 높이를 더한 것은 공급곡선의 높이와 같게 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dirty="0"/>
                  <a:t>선분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𝑂𝐿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과 선분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의 길이를 합친 것이 선분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의 길이와 같다는 것을 뜻한다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개별 소비자와 관련된 개별 수요곡선의 높이가 그 소비자의 한계편익을 뜻하고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공급곡선의 높이가 바로 공공재의 한계비용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𝑀𝐶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을 뜻하므로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적정배분의 조건을 아래와 같이 쓸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ko-KR" alt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1887B4-792E-83C2-B2F0-517D24BBD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3412281"/>
              </a:xfrm>
              <a:prstGeom prst="rect">
                <a:avLst/>
              </a:prstGeom>
              <a:blipFill>
                <a:blip r:embed="rId2"/>
                <a:stretch>
                  <a:fillRect r="-1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F4C9F2C5-44D9-A622-7ACD-784B147C5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470" y="3593347"/>
            <a:ext cx="3219794" cy="3009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FEC00E-F803-9541-C68F-2C5C76203229}"/>
                  </a:ext>
                </a:extLst>
              </p:cNvPr>
              <p:cNvSpPr txBox="1"/>
              <p:nvPr/>
            </p:nvSpPr>
            <p:spPr>
              <a:xfrm>
                <a:off x="1075442" y="2916525"/>
                <a:ext cx="6788398" cy="455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49275" lvl="1" algn="ctr">
                  <a:lnSpc>
                    <a:spcPct val="150000"/>
                  </a:lnSpc>
                </a:pPr>
                <a:r>
                  <a:rPr lang="en-US" altLang="ko-KR" sz="1800" b="1" spc="-50" dirty="0"/>
                  <a:t>A</a:t>
                </a:r>
                <a:r>
                  <a:rPr lang="ko-KR" altLang="en-US" sz="1800" b="1" spc="-50" dirty="0"/>
                  <a:t>의 한계편익</a:t>
                </a:r>
                <a:r>
                  <a:rPr lang="en-US" altLang="ko-KR" sz="1800" b="1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1" i="1" smtClean="0">
                            <a:latin typeface="Cambria Math" panose="02040503050406030204" pitchFamily="18" charset="0"/>
                          </a:rPr>
                          <m:t>𝑴𝑩</m:t>
                        </m:r>
                      </m:e>
                      <m:sub>
                        <m:r>
                          <a:rPr lang="en-US" altLang="ko-KR" sz="18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altLang="ko-KR" sz="1800" b="1" spc="-50" dirty="0"/>
                  <a:t>) + B</a:t>
                </a:r>
                <a:r>
                  <a:rPr lang="ko-KR" altLang="en-US" sz="1800" b="1" spc="-50" dirty="0"/>
                  <a:t>의 한계편익</a:t>
                </a:r>
                <a:r>
                  <a:rPr lang="en-US" altLang="ko-KR" sz="1800" b="1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𝑴𝑩</m:t>
                        </m:r>
                      </m:e>
                      <m:sub>
                        <m:r>
                          <a:rPr lang="en-US" altLang="ko-KR" sz="18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ko-KR" sz="1800" b="1" spc="-50" dirty="0"/>
                  <a:t>) = </a:t>
                </a:r>
                <a:r>
                  <a:rPr lang="ko-KR" altLang="en-US" sz="1800" b="1" spc="-50" dirty="0"/>
                  <a:t>한계비용</a:t>
                </a:r>
                <a:r>
                  <a:rPr lang="en-US" altLang="ko-KR" sz="1800" b="1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𝒁</m:t>
                        </m:r>
                      </m:sub>
                    </m:sSub>
                  </m:oMath>
                </a14:m>
                <a:r>
                  <a:rPr lang="en-US" altLang="ko-KR" sz="1800" b="1" spc="-50" dirty="0"/>
                  <a:t>)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FEC00E-F803-9541-C68F-2C5C76203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442" y="2916525"/>
                <a:ext cx="6788398" cy="455061"/>
              </a:xfrm>
              <a:prstGeom prst="rect">
                <a:avLst/>
              </a:prstGeom>
              <a:blipFill>
                <a:blip r:embed="rId4"/>
                <a:stretch>
                  <a:fillRect r="-2424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473913-ABB4-3EC0-88F4-A7F6D5185190}"/>
                  </a:ext>
                </a:extLst>
              </p:cNvPr>
              <p:cNvSpPr txBox="1"/>
              <p:nvPr/>
            </p:nvSpPr>
            <p:spPr>
              <a:xfrm>
                <a:off x="288790" y="3538115"/>
                <a:ext cx="8622104" cy="23042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위 조건을 보면 사람들이 공공재에서 얻는 한계편익의 합이 그것을 생산하는 데 드는 한계비용과 같아야 공공재가 적정한 수준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에서 생산되는 것을 알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때 각자가 자신이 얻는 한계편익에 해당하는 가격을 지불하도록 만든다면 공공재 생산과 관련된 재원조달의 문제를 해결할 수 있다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에게는 </a:t>
                </a:r>
                <a:r>
                  <a:rPr lang="ko-KR" altLang="en-US" sz="1600" dirty="0"/>
                  <a:t>선분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𝑂𝐿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의 길이에 해당하는 가격을 징수하고</a:t>
                </a:r>
                <a:r>
                  <a:rPr lang="en-US" altLang="ko-KR" sz="1600" spc="-50" dirty="0"/>
                  <a:t>, B</a:t>
                </a:r>
                <a:r>
                  <a:rPr lang="ko-KR" altLang="en-US" sz="1600" spc="-50" dirty="0"/>
                  <a:t>에게는 선분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의 길이에 해당하는 가격을 징수하면 재원조달을 할 수 있다는 뜻이다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473913-ABB4-3EC0-88F4-A7F6D5185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3538115"/>
                <a:ext cx="8622104" cy="2304285"/>
              </a:xfrm>
              <a:prstGeom prst="rect">
                <a:avLst/>
              </a:prstGeom>
              <a:blipFill>
                <a:blip r:embed="rId5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6701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9AAA3-392B-26E4-22D8-F3D850134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2C19C5-4F60-A03B-AA90-124737129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적정수준의 도출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AE4A75-2D6B-FCC9-1985-43C890F6A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6E7D7D-F789-5547-0DCE-D581A721931D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52153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공공재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altLang="ko-KR" sz="1600" dirty="0"/>
                  <a:t>)</a:t>
                </a:r>
                <a:r>
                  <a:rPr lang="ko-KR" altLang="en-US" sz="1600" dirty="0"/>
                  <a:t> 이외에도 쌀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sz="1600" dirty="0"/>
                  <a:t>)</a:t>
                </a:r>
                <a:r>
                  <a:rPr lang="ko-KR" altLang="en-US" sz="1600" dirty="0"/>
                  <a:t>이라는 사적재화가 존재하는 상황에서는 앞에서 구한 적정배분의 조건은 어떻게 될지 살펴보자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쌀 가격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ko-KR" sz="1600" dirty="0"/>
                  <a:t>)</a:t>
                </a:r>
                <a:r>
                  <a:rPr lang="ko-KR" altLang="en-US" sz="1600" dirty="0"/>
                  <a:t>을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이라고 가정하면 사적재화의 적정 분배조건에 따라 아래와 같은 관계가 성립하게 된다</a:t>
                </a:r>
                <a:r>
                  <a:rPr lang="en-US" altLang="ko-KR" sz="1600" dirty="0"/>
                  <a:t>.</a:t>
                </a:r>
              </a:p>
              <a:p>
                <a:pPr marL="549275" lvl="1">
                  <a:lnSpc>
                    <a:spcPct val="150000"/>
                  </a:lnSpc>
                </a:pPr>
                <a:endParaRPr lang="en-US" altLang="ko-KR" sz="160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공공재의 적정배분 조건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ko-KR" sz="1600" dirty="0"/>
                  <a:t>)</a:t>
                </a:r>
                <a:r>
                  <a:rPr lang="ko-KR" altLang="en-US" sz="1600" dirty="0"/>
                  <a:t>의 양변을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위 식의 양변으로 각각 나누면 아래와 같은 식이 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dirty="0"/>
                  <a:t>여기서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𝑀𝐵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𝑀𝐵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혹은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ko-KR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𝑀𝐵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𝑀𝐵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dirty="0"/>
                  <a:t>는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한계대체율 </a:t>
                </a:r>
                <a:r>
                  <a:rPr lang="en-US" altLang="ko-KR" sz="1600" dirty="0"/>
                  <a:t>(Marginal Rate of Substitution; MRS)</a:t>
                </a:r>
                <a:r>
                  <a:rPr lang="ko-KR" altLang="en-US" sz="1600" dirty="0"/>
                  <a:t>을 의미한다</a:t>
                </a:r>
                <a:r>
                  <a:rPr lang="en-US" altLang="ko-KR" sz="160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ko-KR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는 한계생산변환율 </a:t>
                </a:r>
                <a:r>
                  <a:rPr lang="en-US" altLang="ko-KR" sz="1600" dirty="0"/>
                  <a:t>(Marginal rate of Product transformation)</a:t>
                </a:r>
                <a:r>
                  <a:rPr lang="ko-KR" altLang="en-US" sz="1600" dirty="0"/>
                  <a:t>을 의미한다</a:t>
                </a:r>
                <a:r>
                  <a:rPr lang="en-US" altLang="ko-KR" sz="160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위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조건은</a:t>
                </a:r>
                <a:r>
                  <a:rPr lang="en-US" altLang="ko-KR" sz="1600" dirty="0"/>
                  <a:t> n</a:t>
                </a:r>
                <a:r>
                  <a:rPr lang="ko-KR" altLang="en-US" sz="1600" dirty="0"/>
                  <a:t>명의 소비자가 존재하는 경우로 일반화 할 수 있다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일반화된 적정배분의 조건은 아래와 같이 쓸 수 있다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dirty="0"/>
                  <a:t>1954</a:t>
                </a:r>
                <a:r>
                  <a:rPr lang="ko-KR" altLang="en-US" sz="1600" dirty="0"/>
                  <a:t>년 </a:t>
                </a:r>
                <a:r>
                  <a:rPr lang="ko-KR" altLang="en-US" sz="1600" dirty="0" err="1"/>
                  <a:t>새무엘슨이</a:t>
                </a:r>
                <a:r>
                  <a:rPr lang="ko-KR" altLang="en-US" sz="1600" dirty="0"/>
                  <a:t> 처음 입증한 조건이기 때문에 </a:t>
                </a:r>
                <a:r>
                  <a:rPr lang="ko-KR" altLang="en-US" sz="1600" b="1" dirty="0" err="1"/>
                  <a:t>새무엘슨조건</a:t>
                </a:r>
                <a:r>
                  <a:rPr lang="ko-KR" altLang="en-US" sz="1600" dirty="0" err="1"/>
                  <a:t>이라고</a:t>
                </a:r>
                <a:r>
                  <a:rPr lang="ko-KR" altLang="en-US" sz="1600" dirty="0"/>
                  <a:t> 부르기도 한다</a:t>
                </a:r>
                <a:r>
                  <a:rPr lang="en-US" altLang="ko-KR" sz="1600" dirty="0"/>
                  <a:t>.</a:t>
                </a:r>
              </a:p>
              <a:p>
                <a:pPr marL="434975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6E7D7D-F789-5547-0DCE-D581A7219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52153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356A11-BF1E-8D00-E0F4-F7D02C9BA638}"/>
                  </a:ext>
                </a:extLst>
              </p:cNvPr>
              <p:cNvSpPr txBox="1"/>
              <p:nvPr/>
            </p:nvSpPr>
            <p:spPr>
              <a:xfrm>
                <a:off x="1918970" y="1758434"/>
                <a:ext cx="19164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𝑀𝐵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356A11-BF1E-8D00-E0F4-F7D02C9BA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970" y="1758434"/>
                <a:ext cx="191643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622573-17FF-868A-64E9-CB9E82CF6A92}"/>
                  </a:ext>
                </a:extLst>
              </p:cNvPr>
              <p:cNvSpPr txBox="1"/>
              <p:nvPr/>
            </p:nvSpPr>
            <p:spPr>
              <a:xfrm>
                <a:off x="1690370" y="2501995"/>
                <a:ext cx="2586990" cy="6576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𝑀𝐵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𝑀𝐵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𝑀𝐵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𝑀𝐵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sz="1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622573-17FF-868A-64E9-CB9E82CF6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0370" y="2501995"/>
                <a:ext cx="2586990" cy="6576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41A539E-0C25-4914-1F6E-EE5C6CFF6ADA}"/>
                  </a:ext>
                </a:extLst>
              </p:cNvPr>
              <p:cNvSpPr txBox="1"/>
              <p:nvPr/>
            </p:nvSpPr>
            <p:spPr>
              <a:xfrm>
                <a:off x="1349761" y="4757356"/>
                <a:ext cx="8465357" cy="4599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49275" lvl="1" algn="ctr">
                  <a:lnSpc>
                    <a:spcPct val="150000"/>
                  </a:lnSpc>
                </a:pPr>
                <a:r>
                  <a:rPr lang="ko-KR" altLang="en-US" sz="1800" b="1" spc="-50" dirty="0"/>
                  <a:t>한계대체율의 합</a:t>
                </a:r>
                <a:r>
                  <a:rPr lang="en-US" altLang="ko-KR" sz="1800" b="1" spc="-50" dirty="0"/>
                  <a:t>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1800" b="1" i="1" spc="-5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800" b="1" i="1" spc="-50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ko-KR" sz="1800" b="1" i="1" spc="-5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800" b="1" i="1" spc="-5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ko-KR" sz="1800" b="1" i="1" spc="-50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en-US" altLang="ko-KR" sz="1800" b="1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1" i="1" spc="-50" smtClean="0">
                                <a:latin typeface="Cambria Math" panose="02040503050406030204" pitchFamily="18" charset="0"/>
                              </a:rPr>
                              <m:t>𝑴𝑹𝑺</m:t>
                            </m:r>
                          </m:e>
                          <m:sub>
                            <m:r>
                              <a:rPr lang="en-US" altLang="ko-KR" sz="1800" b="1" i="1" spc="-50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ko-KR" sz="1800" b="1" spc="-50" dirty="0"/>
                  <a:t>) = </a:t>
                </a:r>
                <a:r>
                  <a:rPr lang="ko-KR" altLang="en-US" sz="1800" b="1" spc="-50" dirty="0"/>
                  <a:t>한계</a:t>
                </a:r>
                <a:r>
                  <a:rPr lang="ko-KR" altLang="en-US" b="1" spc="-50" dirty="0"/>
                  <a:t>생산변환율</a:t>
                </a:r>
                <a:r>
                  <a:rPr lang="en-US" altLang="ko-KR" sz="1800" b="1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800" b="1" i="1" spc="-50" smtClean="0">
                        <a:latin typeface="Cambria Math" panose="02040503050406030204" pitchFamily="18" charset="0"/>
                      </a:rPr>
                      <m:t>𝑴𝑷𝑻</m:t>
                    </m:r>
                  </m:oMath>
                </a14:m>
                <a:r>
                  <a:rPr lang="en-US" altLang="ko-KR" sz="1800" b="1" spc="-50" dirty="0"/>
                  <a:t>)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41A539E-0C25-4914-1F6E-EE5C6CFF6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761" y="4757356"/>
                <a:ext cx="8465357" cy="459934"/>
              </a:xfrm>
              <a:prstGeom prst="rect">
                <a:avLst/>
              </a:prstGeom>
              <a:blipFill>
                <a:blip r:embed="rId5"/>
                <a:stretch>
                  <a:fillRect t="-75000" b="-1486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7372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FF2E4-B34C-D052-660C-AD345A092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488433-46E5-A692-F572-5EBF2E42B2B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4EC3C0-C9C3-C5A6-5485-2716859DD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07A75DC-2631-BA75-A7C0-A85087AB0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 err="1"/>
              <a:t>린달의</a:t>
            </a:r>
            <a:r>
              <a:rPr lang="ko-KR" altLang="en-US" sz="4000" b="1" i="0" spc="150" dirty="0"/>
              <a:t> 자발적 교환 모형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843797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91656-CF83-881D-5668-78733E15C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D35B91-C44F-5C98-13D0-1FBEB27C5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린달의</a:t>
            </a:r>
            <a:r>
              <a:rPr lang="ko-KR" altLang="en-US" dirty="0"/>
              <a:t> 자발적 교환 모형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262C81-C342-1EE3-15AA-6002F89DE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D55F7A-F538-8C9A-1B41-EC7644B2DBDA}"/>
              </a:ext>
            </a:extLst>
          </p:cNvPr>
          <p:cNvSpPr txBox="1"/>
          <p:nvPr/>
        </p:nvSpPr>
        <p:spPr>
          <a:xfrm>
            <a:off x="288790" y="958844"/>
            <a:ext cx="11693660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공공재의 적절한 생산수준을 도출하였지만</a:t>
            </a:r>
            <a:r>
              <a:rPr lang="en-US" altLang="ko-KR" sz="1600" dirty="0"/>
              <a:t>, </a:t>
            </a:r>
            <a:r>
              <a:rPr lang="ko-KR" altLang="en-US" sz="1600" dirty="0"/>
              <a:t>그럼에도 불구하고 공공재는 </a:t>
            </a:r>
            <a:r>
              <a:rPr lang="ko-KR" altLang="en-US" sz="1600" dirty="0" err="1"/>
              <a:t>비경합</a:t>
            </a:r>
            <a:r>
              <a:rPr lang="en-US" altLang="ko-KR" sz="1600" dirty="0"/>
              <a:t>, </a:t>
            </a:r>
            <a:r>
              <a:rPr lang="ko-KR" altLang="en-US" sz="1600" dirty="0"/>
              <a:t>비배제성을 갖기 때문에 사람들 간의 거래가 이루어지기 어렵다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스웨덴의 경제학자 </a:t>
            </a:r>
            <a:r>
              <a:rPr lang="ko-KR" altLang="en-US" sz="1600" dirty="0" err="1"/>
              <a:t>린달</a:t>
            </a:r>
            <a:r>
              <a:rPr lang="ko-KR" altLang="en-US" sz="1600" dirty="0"/>
              <a:t> </a:t>
            </a:r>
            <a:r>
              <a:rPr lang="en-US" altLang="ko-KR" sz="1600" dirty="0"/>
              <a:t>(</a:t>
            </a:r>
            <a:r>
              <a:rPr lang="en-US" altLang="ko-KR" sz="1600" dirty="0" err="1"/>
              <a:t>E.Lindahl</a:t>
            </a:r>
            <a:r>
              <a:rPr lang="en-US" altLang="ko-KR" sz="1600" dirty="0"/>
              <a:t>)</a:t>
            </a:r>
            <a:r>
              <a:rPr lang="ko-KR" altLang="en-US" sz="1600" dirty="0"/>
              <a:t>은 당사자간의 자발적 교환에 의해 공공재의 생산수준과 비용부담비율이 동시에 결정될 수 있는 모형을 제시하였다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자발적 교환의 원리에 입각하고 있다는 측면에서 공공재 생산문제와 관련한 </a:t>
            </a:r>
            <a:r>
              <a:rPr lang="en-US" altLang="ko-KR" sz="1600" dirty="0"/>
              <a:t>‘</a:t>
            </a:r>
            <a:r>
              <a:rPr lang="ko-KR" altLang="en-US" sz="1600" dirty="0"/>
              <a:t>준시장적 해결책</a:t>
            </a:r>
            <a:r>
              <a:rPr lang="en-US" altLang="ko-KR" sz="1600" dirty="0"/>
              <a:t>’</a:t>
            </a:r>
            <a:r>
              <a:rPr lang="ko-KR" altLang="en-US" sz="1600" dirty="0"/>
              <a:t> 으로 불리고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하지만 </a:t>
            </a:r>
            <a:r>
              <a:rPr lang="ko-KR" altLang="en-US" sz="1600" dirty="0" err="1"/>
              <a:t>린달의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자발작</a:t>
            </a:r>
            <a:r>
              <a:rPr lang="ko-KR" altLang="en-US" sz="1600" dirty="0"/>
              <a:t> 교환 모형은 이론적으로 생각할 수 있을 뿐 현실에서 발생하기는 힘든 이론이다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746811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D11CB-3F22-5253-72CF-11C673C34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C2ADE2-3510-D5FB-C528-0C63AB96D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린달의</a:t>
            </a:r>
            <a:r>
              <a:rPr lang="ko-KR" altLang="en-US" dirty="0"/>
              <a:t> 자발적 교환 모형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6A5EA4-C4B7-06EA-5640-7EB6C82A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7" name="그림 6" descr="라인, 도표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DD7DA5-EBFF-EAB0-CCA6-04D96F587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068" y="4248727"/>
            <a:ext cx="3906597" cy="22881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E7DF6D8-7CC1-6320-7827-782893E1CC4F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44766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아래 그림은 </a:t>
                </a:r>
                <a:r>
                  <a:rPr lang="ko-KR" altLang="en-US" sz="1600" dirty="0" err="1"/>
                  <a:t>린달의</a:t>
                </a:r>
                <a:r>
                  <a:rPr lang="ko-KR" altLang="en-US" sz="1600" dirty="0"/>
                  <a:t> 자발적 교환 모형을 설명하고 있다</a:t>
                </a:r>
                <a:r>
                  <a:rPr lang="en-US" altLang="ko-KR" sz="1600" dirty="0"/>
                  <a:t>. A, B </a:t>
                </a:r>
                <a:r>
                  <a:rPr lang="ko-KR" altLang="en-US" sz="1600" dirty="0"/>
                  <a:t>두 사람만이 있고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공공재 생산의 단위비용은 생산수준과 관계없이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원으로 일정하다고 하자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왼쪽 아래의 모서리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dirty="0"/>
                  <a:t>는 </a:t>
                </a:r>
                <a:r>
                  <a:rPr lang="en-US" altLang="ko-KR" sz="1600" dirty="0"/>
                  <a:t>A</a:t>
                </a:r>
                <a:r>
                  <a:rPr lang="ko-KR" altLang="en-US" sz="1600" dirty="0"/>
                  <a:t>의 원점을 나타내고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수평축으로는 공공재의 양을 측정한다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 err="1"/>
                  <a:t>수직축으로는</a:t>
                </a:r>
                <a:r>
                  <a:rPr lang="ko-KR" altLang="en-US" sz="1600" dirty="0"/>
                  <a:t> 단위생산비용 중 </a:t>
                </a:r>
                <a:r>
                  <a:rPr lang="en-US" altLang="ko-KR" sz="1600" dirty="0"/>
                  <a:t>A</a:t>
                </a:r>
                <a:r>
                  <a:rPr lang="ko-KR" altLang="en-US" sz="1600" dirty="0"/>
                  <a:t>가 부담해야 하는 비율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ko-KR" sz="1600" dirty="0"/>
                  <a:t>)</a:t>
                </a:r>
                <a:r>
                  <a:rPr lang="ko-KR" altLang="en-US" sz="1600" dirty="0"/>
                  <a:t>이 측정되고 있다</a:t>
                </a:r>
                <a:r>
                  <a:rPr lang="en-US" altLang="ko-KR" sz="160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원점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dirty="0"/>
                  <a:t>에서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ko-KR" altLang="en-US" sz="1600" dirty="0"/>
                  <a:t>는 </a:t>
                </a:r>
                <a:r>
                  <a:rPr lang="en-US" altLang="ko-KR" sz="1600" dirty="0"/>
                  <a:t>0</a:t>
                </a:r>
                <a:r>
                  <a:rPr lang="ko-KR" altLang="en-US" sz="1600" dirty="0"/>
                  <a:t>의 값을 갖는데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위로 올라갈수록 커지며 맨 위까지 올라가면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의 값을 갖는다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한편 오른쪽 아래의 모서리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ko-KR" altLang="en-US" sz="1600" dirty="0"/>
                  <a:t>는 </a:t>
                </a:r>
                <a:r>
                  <a:rPr lang="en-US" altLang="ko-KR" sz="1600" dirty="0"/>
                  <a:t>B</a:t>
                </a:r>
                <a:r>
                  <a:rPr lang="ko-KR" altLang="en-US" sz="1600" dirty="0"/>
                  <a:t>의 원점을 나타내고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수평축으로는 마찬가지로 공공재의 양을 측정한다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수직축으로는 단위생산비용 중 </a:t>
                </a:r>
                <a:r>
                  <a:rPr lang="en-US" altLang="ko-KR" sz="1600" dirty="0"/>
                  <a:t>B</a:t>
                </a:r>
                <a:r>
                  <a:rPr lang="ko-KR" altLang="en-US" sz="1600" dirty="0"/>
                  <a:t>가 부담해야 하는 비율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ko-KR" sz="1600" dirty="0"/>
                  <a:t>)</a:t>
                </a:r>
                <a:r>
                  <a:rPr lang="ko-KR" altLang="en-US" sz="1600" dirty="0"/>
                  <a:t>이 측정되고 있다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원점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ko-KR" altLang="en-US" sz="1600" dirty="0"/>
                  <a:t>에서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ko-KR" altLang="en-US" sz="1600" dirty="0"/>
                  <a:t>는 </a:t>
                </a:r>
                <a:r>
                  <a:rPr lang="en-US" altLang="ko-KR" sz="1600" dirty="0"/>
                  <a:t>0</a:t>
                </a:r>
                <a:r>
                  <a:rPr lang="ko-KR" altLang="en-US" sz="1600" dirty="0"/>
                  <a:t>의 값을 갖는데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아래로 내려갈수록 커지며 맨 아래까지 내려가면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의 값을 갖는다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ko-KR" altLang="en-US" sz="1600" dirty="0"/>
                  <a:t>와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값을 더한 것은 언제나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이다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E7DF6D8-7CC1-6320-7827-782893E1C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44766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2434506-FAAC-F82C-A25D-CF6A0E0B2F49}"/>
              </a:ext>
            </a:extLst>
          </p:cNvPr>
          <p:cNvSpPr txBox="1"/>
          <p:nvPr/>
        </p:nvSpPr>
        <p:spPr>
          <a:xfrm>
            <a:off x="5853962" y="4035234"/>
            <a:ext cx="358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 err="1"/>
              <a:t>린달모형</a:t>
            </a:r>
            <a:r>
              <a:rPr lang="en-US" altLang="ko-KR" sz="1200" spc="-50" dirty="0"/>
              <a:t>: </a:t>
            </a:r>
            <a:r>
              <a:rPr lang="ko-KR" altLang="en-US" sz="1200" spc="-50" dirty="0"/>
              <a:t>수요곡선의 도출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41355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6F1E94-95A8-C99E-FF00-BE74C65D5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린달의</a:t>
            </a:r>
            <a:r>
              <a:rPr lang="ko-KR" altLang="en-US" dirty="0"/>
              <a:t> 자발적 교환 모형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FBF14D-B82D-D9D6-1785-48400105C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FCC79E-3F1E-EFF5-3261-60B64312AA7E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299934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A</a:t>
                </a:r>
                <a:r>
                  <a:rPr lang="ko-KR" altLang="en-US" sz="1600" dirty="0"/>
                  <a:t>의 원점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dirty="0"/>
                  <a:t>에서 볼 때 </a:t>
                </a:r>
                <a:r>
                  <a:rPr lang="ko-KR" altLang="en-US" sz="1600" dirty="0" err="1"/>
                  <a:t>우하향하는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dirty="0"/>
                  <a:t> 곡선은 공공재에 대한 </a:t>
                </a:r>
                <a:r>
                  <a:rPr lang="en-US" altLang="ko-KR" sz="1600" dirty="0"/>
                  <a:t>A</a:t>
                </a:r>
                <a:r>
                  <a:rPr lang="ko-KR" altLang="en-US" sz="1600" dirty="0"/>
                  <a:t>의 수요곡선이다</a:t>
                </a:r>
                <a:r>
                  <a:rPr lang="en-US" altLang="ko-KR" sz="1600" dirty="0"/>
                  <a:t>.</a:t>
                </a:r>
                <a:r>
                  <a:rPr lang="ko-KR" altLang="en-US" sz="1600" dirty="0"/>
                  <a:t>  </a:t>
                </a:r>
                <a:endParaRPr lang="en-US" altLang="ko-KR" sz="160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이 곡선이 </a:t>
                </a:r>
                <a:r>
                  <a:rPr lang="ko-KR" altLang="en-US" sz="1600" dirty="0" err="1"/>
                  <a:t>우하향하는</a:t>
                </a:r>
                <a:r>
                  <a:rPr lang="ko-KR" altLang="en-US" sz="1600" dirty="0"/>
                  <a:t> 모양을 갖는 것은 부담해야 하는 생산비용의 비율</a:t>
                </a:r>
                <a:r>
                  <a:rPr lang="en-US" altLang="ko-KR" sz="1600" dirty="0"/>
                  <a:t> (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ko-KR" sz="1600" dirty="0"/>
                  <a:t>)</a:t>
                </a:r>
                <a:r>
                  <a:rPr lang="ko-KR" altLang="en-US" sz="1600" dirty="0"/>
                  <a:t>이 점차 낮아질수록 더욱 많은 양의 공공재를 </a:t>
                </a:r>
                <a:r>
                  <a:rPr lang="ko-KR" altLang="en-US" sz="1600" dirty="0" err="1"/>
                  <a:t>수요한다는</a:t>
                </a:r>
                <a:r>
                  <a:rPr lang="ko-KR" altLang="en-US" sz="1600" dirty="0"/>
                  <a:t> 것을 뜻한다</a:t>
                </a:r>
                <a:r>
                  <a:rPr lang="en-US" altLang="ko-KR" sz="160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이 수요곡선은 아래의 과정을 통해서도 도출이 가능하다</a:t>
                </a:r>
                <a:r>
                  <a:rPr lang="en-US" altLang="ko-KR" sz="1600" dirty="0"/>
                  <a:t>.</a:t>
                </a:r>
              </a:p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우선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무차별곡선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600" dirty="0"/>
                  <a:t>)</a:t>
                </a:r>
                <a:r>
                  <a:rPr lang="ko-KR" altLang="en-US" sz="1600" dirty="0"/>
                  <a:t>을 그린다</a:t>
                </a:r>
                <a:r>
                  <a:rPr lang="en-US" altLang="ko-KR" sz="1600" dirty="0"/>
                  <a:t>. </a:t>
                </a:r>
                <a:r>
                  <a:rPr lang="ko-KR" altLang="en-US" sz="1600" dirty="0"/>
                  <a:t>무차별곡선은 그에게 똑같은 수준의 효용을 주는 비용부담비율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ko-KR" sz="1600" dirty="0"/>
                  <a:t>) </a:t>
                </a:r>
                <a:r>
                  <a:rPr lang="ko-KR" altLang="en-US" sz="1600" dirty="0"/>
                  <a:t>과 공공재 양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altLang="ko-KR" sz="1600" dirty="0"/>
                  <a:t>) </a:t>
                </a:r>
                <a:r>
                  <a:rPr lang="ko-KR" altLang="en-US" sz="1600" dirty="0"/>
                  <a:t>의 조합들을 모아 놓은 것이다</a:t>
                </a:r>
                <a:r>
                  <a:rPr lang="en-US" altLang="ko-KR" sz="1600" dirty="0"/>
                  <a:t>.</a:t>
                </a:r>
              </a:p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여러 무차별곡선 중 아래쪽에 위치할수록 더욱 높은 수준의 효용을 뜻한다</a:t>
                </a:r>
                <a:r>
                  <a:rPr lang="en-US" altLang="ko-KR" sz="1600" dirty="0"/>
                  <a:t>.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600" dirty="0"/>
                  <a:t>가 가장 높은 수준의 효용을 의미함</a:t>
                </a:r>
                <a:r>
                  <a:rPr lang="en-US" altLang="ko-KR" sz="1600" dirty="0"/>
                  <a:t>)</a:t>
                </a:r>
              </a:p>
              <a:p>
                <a:pPr marL="1349375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dirty="0"/>
                  <a:t>똑같은 공공재의 양에 대해 자신이 부담하는 생산비용의 비율이 낮을수록 효용이 더 커지기 때문이다</a:t>
                </a:r>
                <a:r>
                  <a:rPr lang="en-US" altLang="ko-KR" sz="1600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FCC79E-3F1E-EFF5-3261-60B64312A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2999347"/>
              </a:xfrm>
              <a:prstGeom prst="rect">
                <a:avLst/>
              </a:prstGeom>
              <a:blipFill>
                <a:blip r:embed="rId2"/>
                <a:stretch>
                  <a:fillRect b="-16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그룹 10">
            <a:extLst>
              <a:ext uri="{FF2B5EF4-FFF2-40B4-BE49-F238E27FC236}">
                <a16:creationId xmlns:a16="http://schemas.microsoft.com/office/drawing/2014/main" id="{9EFFCC92-2E01-3604-4BBA-DB1970B510A5}"/>
              </a:ext>
            </a:extLst>
          </p:cNvPr>
          <p:cNvGrpSpPr/>
          <p:nvPr/>
        </p:nvGrpSpPr>
        <p:grpSpPr>
          <a:xfrm>
            <a:off x="3908135" y="4034209"/>
            <a:ext cx="3984974" cy="2501673"/>
            <a:chOff x="5449068" y="4035234"/>
            <a:chExt cx="3984974" cy="2501673"/>
          </a:xfrm>
        </p:grpSpPr>
        <p:pic>
          <p:nvPicPr>
            <p:cNvPr id="7" name="그림 6" descr="라인, 도표, 그래프, 텍스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3E0FCF1-EBC0-713D-60A8-FEFBB58A1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49068" y="4248727"/>
              <a:ext cx="3906597" cy="228818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4953A1F-BB49-2E9C-1521-854E4ADE3E16}"/>
                </a:ext>
              </a:extLst>
            </p:cNvPr>
            <p:cNvSpPr txBox="1"/>
            <p:nvPr/>
          </p:nvSpPr>
          <p:spPr>
            <a:xfrm>
              <a:off x="5853962" y="4035234"/>
              <a:ext cx="35800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spc="-50" dirty="0"/>
                <a:t>&lt;</a:t>
              </a:r>
              <a:r>
                <a:rPr lang="ko-KR" altLang="en-US" sz="1200" spc="-50" dirty="0" err="1"/>
                <a:t>린달모형</a:t>
              </a:r>
              <a:r>
                <a:rPr lang="en-US" altLang="ko-KR" sz="1200" spc="-50" dirty="0"/>
                <a:t>: </a:t>
              </a:r>
              <a:r>
                <a:rPr lang="ko-KR" altLang="en-US" sz="1200" spc="-50" dirty="0"/>
                <a:t>수요곡선의 도출</a:t>
              </a:r>
              <a:r>
                <a:rPr lang="en-US" altLang="ko-KR" sz="1200" spc="-50" dirty="0"/>
                <a:t>&gt;</a:t>
              </a:r>
              <a:endParaRPr lang="ko-KR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90214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D268F-86A9-A2FB-5E65-C7B4889C9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58AF14-493B-9C88-34CC-DBBAC95C8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린달의</a:t>
            </a:r>
            <a:r>
              <a:rPr lang="ko-KR" altLang="en-US" dirty="0"/>
              <a:t> 자발적 교환 모형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8F951D-8267-AD73-68CF-D23BA53CD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08C5947-16DA-B2DD-1D32-D2474D3937BE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26300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만약 </a:t>
                </a:r>
                <a:r>
                  <a:rPr lang="en-US" altLang="ko-KR" sz="1600" dirty="0"/>
                  <a:t>A</a:t>
                </a:r>
                <a:r>
                  <a:rPr lang="ko-KR" altLang="en-US" sz="1600" dirty="0"/>
                  <a:t>에게 어떤 비용부담비율이 제시되면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그는 이것을 자신에게 주어진 제약으로 인식하고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이 제약하에서 효용이 극대화되는 공공재의 양을 선택하게 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그 비용부담비율을 나타내는 수평선과 만나는 무차별곡선 중에서 가장 아래쪽에 있는 것이 가장 높은 효용을 준다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따라서 이 수평선과 무차별곡선의 정점이 접하는 곳에서 효용극대화가 이루어진다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접점에서 만큼의 공공재를 수요하고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그 결과 이 접점은 수요곡선 위의 한 점이 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위의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과정을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거치면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아래 오른쪽 그림과 같이 수요곡선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dirty="0"/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ko-KR" altLang="en-US" sz="1600" dirty="0"/>
                  <a:t> 를 도출할 수 있다</a:t>
                </a:r>
                <a:r>
                  <a:rPr lang="en-US" altLang="ko-KR" sz="1600" dirty="0"/>
                  <a:t>.</a:t>
                </a:r>
                <a:r>
                  <a:rPr lang="ko-KR" altLang="en-US" sz="1600" dirty="0"/>
                  <a:t> </a:t>
                </a:r>
                <a:endParaRPr lang="en-US" altLang="ko-KR" sz="160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dirty="0"/>
                  <a:t>(</a:t>
                </a:r>
                <a:r>
                  <a:rPr lang="ko-KR" altLang="en-US" sz="1600" dirty="0"/>
                  <a:t>뒷장 계속</a:t>
                </a:r>
                <a:r>
                  <a:rPr lang="en-US" altLang="ko-KR" sz="1600" dirty="0"/>
                  <a:t>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08C5947-16DA-B2DD-1D32-D2474D393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2630015"/>
              </a:xfrm>
              <a:prstGeom prst="rect">
                <a:avLst/>
              </a:prstGeom>
              <a:blipFill>
                <a:blip r:embed="rId2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 descr="라인, 도표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71FE5E-3625-AC79-BDCA-86E18BB29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68" y="4052968"/>
            <a:ext cx="4271651" cy="2502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FDEB793-2F20-D91B-C669-353D8AFCD3B7}"/>
              </a:ext>
            </a:extLst>
          </p:cNvPr>
          <p:cNvSpPr txBox="1"/>
          <p:nvPr/>
        </p:nvSpPr>
        <p:spPr>
          <a:xfrm>
            <a:off x="1320062" y="3839475"/>
            <a:ext cx="358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 err="1"/>
              <a:t>린달모형</a:t>
            </a:r>
            <a:r>
              <a:rPr lang="en-US" altLang="ko-KR" sz="1200" spc="-50" dirty="0"/>
              <a:t>: </a:t>
            </a:r>
            <a:r>
              <a:rPr lang="ko-KR" altLang="en-US" sz="1200" spc="-50" dirty="0"/>
              <a:t>수요곡선의 도출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9F9B92BD-B75E-8AE3-0872-BEFB955296E8}"/>
              </a:ext>
            </a:extLst>
          </p:cNvPr>
          <p:cNvSpPr/>
          <p:nvPr/>
        </p:nvSpPr>
        <p:spPr>
          <a:xfrm>
            <a:off x="5355165" y="4969933"/>
            <a:ext cx="520700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031AE8-D826-AC01-A581-CDD825412017}"/>
              </a:ext>
            </a:extLst>
          </p:cNvPr>
          <p:cNvSpPr txBox="1"/>
          <p:nvPr/>
        </p:nvSpPr>
        <p:spPr>
          <a:xfrm>
            <a:off x="6522828" y="3839475"/>
            <a:ext cx="358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린달균형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  <p:pic>
        <p:nvPicPr>
          <p:cNvPr id="19" name="그림 18" descr="도표, 라인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4AE480-9C5E-5394-A36A-8A8CCA14A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1384" y="4075150"/>
            <a:ext cx="4156920" cy="25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1581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6AE891-BE1B-405B-7294-2E25C0B1E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린달균형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20AAA8-5016-EBBD-DC18-1BD54C396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BF707D-1438-B2F1-2345-5658E705295F}"/>
                  </a:ext>
                </a:extLst>
              </p:cNvPr>
              <p:cNvSpPr txBox="1"/>
              <p:nvPr/>
            </p:nvSpPr>
            <p:spPr>
              <a:xfrm>
                <a:off x="288790" y="735324"/>
                <a:ext cx="11693660" cy="383194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도출된 수요곡선의 높이를 보면 각 사람이 생산비용을 어떤 비율로 분담할 용의가 있는지 알 수 있다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공공재가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acc>
                  </m:oMath>
                </a14:m>
                <a:r>
                  <a:rPr lang="ko-KR" altLang="en-US" sz="1600" dirty="0"/>
                  <a:t>만큼 생산된다고 할 때</a:t>
                </a:r>
                <a:r>
                  <a:rPr lang="en-US" altLang="ko-KR" sz="1600" dirty="0"/>
                  <a:t>, A</a:t>
                </a:r>
                <a:r>
                  <a:rPr lang="ko-KR" altLang="en-US" sz="1600" dirty="0"/>
                  <a:t>는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altLang="ko-KR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bar>
                  </m:oMath>
                </a14:m>
                <a:r>
                  <a:rPr lang="en-US" altLang="ko-KR" sz="1600" dirty="0"/>
                  <a:t>, B</a:t>
                </a:r>
                <a:r>
                  <a:rPr lang="ko-KR" altLang="en-US" sz="1600" dirty="0"/>
                  <a:t>는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bar>
                  </m:oMath>
                </a14:m>
                <a:r>
                  <a:rPr lang="ko-KR" altLang="en-US" sz="1600" dirty="0"/>
                  <a:t> 길이 만큼의 비율을 부담할 용의를 갖고 있는 것이다</a:t>
                </a:r>
                <a:r>
                  <a:rPr lang="en-US" altLang="ko-KR" sz="1600" dirty="0"/>
                  <a:t>.</a:t>
                </a:r>
                <a:endParaRPr lang="ko-KR" altLang="en-US" sz="160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B</a:t>
                </a:r>
                <a:r>
                  <a:rPr lang="ko-KR" altLang="en-US" sz="1600" dirty="0"/>
                  <a:t>가 어떤 공공재의 생산수준에 대해 생산비용의 일정 비율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ko-KR" sz="1600" dirty="0"/>
                  <a:t>)</a:t>
                </a:r>
                <a:r>
                  <a:rPr lang="ko-KR" altLang="en-US" sz="1600" dirty="0"/>
                  <a:t>을 부담할 용의가 있다고 할 때</a:t>
                </a:r>
                <a:r>
                  <a:rPr lang="en-US" altLang="ko-KR" sz="1600" dirty="0"/>
                  <a:t>, A</a:t>
                </a:r>
                <a:r>
                  <a:rPr lang="ko-KR" altLang="en-US" sz="1600" dirty="0"/>
                  <a:t>가 그 나머지 부분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ko-KR" sz="1600" dirty="0"/>
                  <a:t>)</a:t>
                </a:r>
                <a:r>
                  <a:rPr lang="ko-KR" altLang="en-US" sz="1600" dirty="0"/>
                  <a:t>을 부담하겠다고 하면 두 사람은 바로 그 수준의 공공재를 공급받을 수 있다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acc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dirty="0"/>
                  <a:t>의 생산수준에 대해 </a:t>
                </a:r>
                <a:r>
                  <a:rPr lang="en-US" altLang="ko-KR" sz="1600" dirty="0"/>
                  <a:t>B</a:t>
                </a:r>
                <a:r>
                  <a:rPr lang="ko-KR" altLang="en-US" sz="1600" dirty="0"/>
                  <a:t>는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bar>
                  </m:oMath>
                </a14:m>
                <a:r>
                  <a:rPr lang="ko-KR" altLang="en-US" sz="1600" dirty="0"/>
                  <a:t>의 길이에 해당하는 비율을 부담할 용의가 있으니</a:t>
                </a:r>
                <a:r>
                  <a:rPr lang="en-US" altLang="ko-KR" sz="1600" dirty="0"/>
                  <a:t>, A</a:t>
                </a:r>
                <a:r>
                  <a:rPr lang="ko-KR" altLang="en-US" sz="1600" dirty="0"/>
                  <a:t>는 나머지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bar>
                  </m:oMath>
                </a14:m>
                <a:r>
                  <a:rPr lang="ko-KR" altLang="en-US" sz="1600" dirty="0"/>
                  <a:t>만큼의 비율을 부담하면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acc>
                  </m:oMath>
                </a14:m>
                <a:r>
                  <a:rPr lang="ko-KR" altLang="en-US" sz="1600" dirty="0"/>
                  <a:t>만큼의 공공재를 공급받을 수 있게 된다</a:t>
                </a:r>
                <a:r>
                  <a:rPr lang="en-US" altLang="ko-KR" sz="160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dirty="0"/>
                  <a:t>다시 말해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dirty="0"/>
                  <a:t>를 기준으로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ko-KR" altLang="en-US" sz="1600" dirty="0"/>
                  <a:t>곡선을 본다면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ko-KR" altLang="en-US" sz="1600" dirty="0"/>
                  <a:t>곡선은 </a:t>
                </a:r>
                <a:r>
                  <a:rPr lang="en-US" altLang="ko-KR" sz="1600" dirty="0"/>
                  <a:t>A</a:t>
                </a:r>
                <a:r>
                  <a:rPr lang="ko-KR" altLang="en-US" sz="1600" dirty="0"/>
                  <a:t>의 공급곡선과 마찬가지다</a:t>
                </a:r>
                <a:r>
                  <a:rPr lang="en-US" altLang="ko-KR" sz="160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따라서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dirty="0"/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두 곡선이 교차하는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ko-KR" altLang="en-US" sz="1600" dirty="0"/>
                  <a:t>점은 수요곡선과 공급곡선이 교차하는 균형점이 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이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ko-KR" altLang="en-US" sz="1600" dirty="0"/>
                  <a:t>점을 린달균형 혹은 자발적 교환의 모형이라고 부른다</a:t>
                </a:r>
                <a:r>
                  <a:rPr lang="en-US" altLang="ko-KR" sz="160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dirty="0"/>
                  <a:t>공공재 생산 수준과 비용부담비율을 두사람이 자발적으로 합의한 결과로 해석하기 때문이다</a:t>
                </a:r>
                <a:r>
                  <a:rPr lang="en-US" altLang="ko-KR" sz="1600" dirty="0"/>
                  <a:t>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BF707D-1438-B2F1-2345-5658E7052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735324"/>
                <a:ext cx="11693660" cy="3831946"/>
              </a:xfrm>
              <a:prstGeom prst="rect">
                <a:avLst/>
              </a:prstGeom>
              <a:blipFill>
                <a:blip r:embed="rId2"/>
                <a:stretch>
                  <a:fillRect b="-1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 descr="도표, 라인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B0F208-1CD1-07EA-49A5-774039E25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328" y="4549409"/>
            <a:ext cx="3377072" cy="203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4907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B7239-FA66-9713-6946-2F3EBA0EF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5CB9A2-3862-18E6-1F69-8020EC58E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린달균형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CB0339-8FD6-C7DD-1121-128D7E2EC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E639F6-B2A3-3B15-49AE-4B776EF93471}"/>
                  </a:ext>
                </a:extLst>
              </p:cNvPr>
              <p:cNvSpPr txBox="1"/>
              <p:nvPr/>
            </p:nvSpPr>
            <p:spPr>
              <a:xfrm>
                <a:off x="288790" y="791204"/>
                <a:ext cx="11693660" cy="337573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아래 그림에서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ko-KR" altLang="en-US" sz="16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sz="1600" dirty="0"/>
                  <a:t> 수평축을 기준으로</a:t>
                </a:r>
                <a:r>
                  <a:rPr lang="en-US" altLang="ko-KR" sz="1600" dirty="0"/>
                  <a:t> A</a:t>
                </a:r>
                <a:r>
                  <a:rPr lang="ko-KR" altLang="en-US" sz="1600" dirty="0"/>
                  <a:t>의 수요곡선의 높이는 공공재 소비로부터 </a:t>
                </a:r>
                <a:r>
                  <a:rPr lang="en-US" altLang="ko-KR" sz="1600" dirty="0"/>
                  <a:t>A</a:t>
                </a:r>
                <a:r>
                  <a:rPr lang="ko-KR" altLang="en-US" sz="1600" dirty="0"/>
                  <a:t>가 누리는 </a:t>
                </a:r>
                <a:r>
                  <a:rPr lang="ko-KR" altLang="en-US" sz="1600" dirty="0" err="1"/>
                  <a:t>한계편익이며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ko-KR" altLang="en-US" sz="1600" dirty="0"/>
                  <a:t>의 수평축을 기준으로 </a:t>
                </a:r>
                <a:r>
                  <a:rPr lang="en-US" altLang="ko-KR" sz="1600" dirty="0"/>
                  <a:t>B</a:t>
                </a:r>
                <a:r>
                  <a:rPr lang="ko-KR" altLang="en-US" sz="1600" dirty="0"/>
                  <a:t>의 수요곡선의 높이는 공공재 소비로부터 </a:t>
                </a:r>
                <a:r>
                  <a:rPr lang="en-US" altLang="ko-KR" sz="1600" dirty="0"/>
                  <a:t>B</a:t>
                </a:r>
                <a:r>
                  <a:rPr lang="ko-KR" altLang="en-US" sz="1600" dirty="0"/>
                  <a:t>가 누리는 한계편익이다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여기서 공공재 생산의 단위비용이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원이라고 하였으므로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ko-KR" altLang="en-US" sz="1600" dirty="0"/>
                  <a:t>점에서는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sz="1600" dirty="0"/>
                  <a:t>와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ko-KR" altLang="en-US" sz="1600" dirty="0"/>
                  <a:t>의 한계편익의 합이 공공재 생산의 한계비용과 일치하게 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따라서 앞서 배운 공공재 적정배분의 조건을 충족한다</a:t>
                </a:r>
                <a:r>
                  <a:rPr lang="en-US" altLang="ko-KR" sz="1600" dirty="0"/>
                  <a:t>. (</a:t>
                </a:r>
                <a:r>
                  <a:rPr lang="en-US" altLang="ko-KR" sz="1600" b="1" spc="-50" dirty="0"/>
                  <a:t>A</a:t>
                </a:r>
                <a:r>
                  <a:rPr lang="ko-KR" altLang="en-US" sz="1600" b="1" spc="-50" dirty="0"/>
                  <a:t>의 한계편익</a:t>
                </a:r>
                <a:r>
                  <a:rPr lang="en-US" altLang="ko-KR" sz="1600" b="1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𝑴𝑩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altLang="ko-KR" sz="1600" b="1" spc="-50" dirty="0"/>
                  <a:t>) + B</a:t>
                </a:r>
                <a:r>
                  <a:rPr lang="ko-KR" altLang="en-US" sz="1600" b="1" spc="-50" dirty="0"/>
                  <a:t>의 한계편익</a:t>
                </a:r>
                <a:r>
                  <a:rPr lang="en-US" altLang="ko-KR" sz="1600" b="1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𝑴𝑩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ko-KR" sz="1600" b="1" spc="-50" dirty="0"/>
                  <a:t>) = </a:t>
                </a:r>
                <a:r>
                  <a:rPr lang="ko-KR" altLang="en-US" sz="1600" b="1" spc="-50" dirty="0"/>
                  <a:t>한계비용</a:t>
                </a:r>
                <a:r>
                  <a:rPr lang="en-US" altLang="ko-KR" sz="1600" b="1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𝑴</m:t>
                        </m:r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𝒁</m:t>
                        </m:r>
                      </m:sub>
                    </m:sSub>
                  </m:oMath>
                </a14:m>
                <a:r>
                  <a:rPr lang="en-US" altLang="ko-KR" sz="1600" b="1" spc="-50" dirty="0"/>
                  <a:t>)</a:t>
                </a:r>
                <a:r>
                  <a:rPr lang="en-US" altLang="ko-KR" sz="1600" dirty="0"/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방금 배운 </a:t>
                </a:r>
                <a:r>
                  <a:rPr lang="ko-KR" altLang="en-US" sz="1600" dirty="0" err="1"/>
                  <a:t>린달의</a:t>
                </a:r>
                <a:r>
                  <a:rPr lang="ko-KR" altLang="en-US" sz="1600" dirty="0"/>
                  <a:t> 자발적 교환 모형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그리고 앞서 살펴본 </a:t>
                </a:r>
                <a:r>
                  <a:rPr lang="ko-KR" altLang="en-US" sz="1600" dirty="0" err="1"/>
                  <a:t>새무엘슨</a:t>
                </a:r>
                <a:r>
                  <a:rPr lang="ko-KR" altLang="en-US" sz="1600" dirty="0"/>
                  <a:t> 모형은 소비자들이 공공재에 대한 진정한 선호를 표출한다는 비현실적인 가정을 전제로 한다는 한계점이 있다</a:t>
                </a:r>
                <a:r>
                  <a:rPr lang="en-US" altLang="ko-KR" sz="160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E639F6-B2A3-3B15-49AE-4B776EF93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791204"/>
                <a:ext cx="11693660" cy="3375732"/>
              </a:xfrm>
              <a:prstGeom prst="rect">
                <a:avLst/>
              </a:prstGeom>
              <a:blipFill>
                <a:blip r:embed="rId2"/>
                <a:stretch>
                  <a:fillRect r="-2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928CCA6-FE01-92F5-D603-30D48FDD0CA5}"/>
              </a:ext>
            </a:extLst>
          </p:cNvPr>
          <p:cNvSpPr txBox="1"/>
          <p:nvPr/>
        </p:nvSpPr>
        <p:spPr>
          <a:xfrm>
            <a:off x="4526388" y="3762465"/>
            <a:ext cx="358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린달균형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  <p:pic>
        <p:nvPicPr>
          <p:cNvPr id="7" name="그림 6" descr="도표, 라인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2D6B2C-8478-BE65-60FF-AFA5E8BD1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482" y="3977640"/>
            <a:ext cx="4273758" cy="257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866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D5750-0F81-1CDD-AA50-3526AE44A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3EEEE3-7E4A-12C0-24D1-A4B48751D0F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EAB74A-9E5E-C26B-5D66-3159D49E9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33A8E5E-851A-66E1-3C61-8C2C9DD6B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무임승차자의 문제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3513010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23A55-B2CF-4AC9-7398-A8FB3D7E6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780F4-A8B2-BB2A-486E-06BBF9F2B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무임승차 문제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C8487B-3DE7-FDC4-095E-60FFC194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891C15-C4FF-8D80-55ED-FB4051CD54C5}"/>
              </a:ext>
            </a:extLst>
          </p:cNvPr>
          <p:cNvSpPr txBox="1"/>
          <p:nvPr/>
        </p:nvSpPr>
        <p:spPr>
          <a:xfrm>
            <a:off x="288790" y="958844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지금까지 살펴본 </a:t>
            </a:r>
            <a:r>
              <a:rPr lang="ko-KR" altLang="en-US" sz="1600" dirty="0" err="1"/>
              <a:t>새무엘슨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린달</a:t>
            </a:r>
            <a:r>
              <a:rPr lang="ko-KR" altLang="en-US" sz="1600" dirty="0"/>
              <a:t> 모형은 각 개인이 공공재에 대한 진정한 선호를 표출한다는 비현실적인 가정을 전제로 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하지만 현실에서 사람들은 공공재의 혜택을 원하면서도 그 비용은 부담하지 않으려는 현상이 나타날 가능성이 크다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비용 부담을 회피하고자 자신은 공공재를 원하지 않는다고 말해 놓고</a:t>
            </a:r>
            <a:r>
              <a:rPr lang="en-US" altLang="ko-KR" sz="1600" dirty="0"/>
              <a:t>, </a:t>
            </a:r>
            <a:r>
              <a:rPr lang="ko-KR" altLang="en-US" sz="1600" dirty="0"/>
              <a:t>공공재가 다른 사람에 의해 공급되면 이에 편승하고자 하는 경향이 나타날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위와 같은 문제를 무임승차자의 문제라고 부른다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사적재화의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어떤 소비자가 자신의 진정한 선호를 왜곡하여 표출한다고 해도 이득을 볼 여지가 없다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사실은 컴퓨터를 사고 싶은데</a:t>
            </a:r>
            <a:r>
              <a:rPr lang="en-US" altLang="ko-KR" sz="1600" dirty="0"/>
              <a:t>, </a:t>
            </a:r>
            <a:r>
              <a:rPr lang="ko-KR" altLang="en-US" sz="1600" dirty="0"/>
              <a:t>컴퓨터 판매자에게 컴퓨터를 원하지 않는다고 말해봤지 아무런 일이 발생하지 않는다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대부분의 사람들이 무임승차를 시도하면</a:t>
            </a:r>
            <a:r>
              <a:rPr lang="en-US" altLang="ko-KR" sz="1600" dirty="0"/>
              <a:t>, </a:t>
            </a:r>
            <a:r>
              <a:rPr lang="ko-KR" altLang="en-US" sz="1600" dirty="0"/>
              <a:t>자발적인 합의에 의해 결정한 공공재의 수준은 앞서 설명한 공공재의 적정수준만큼 공급될 수 없다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만약 국방회사</a:t>
            </a:r>
            <a:r>
              <a:rPr lang="en-US" altLang="ko-KR" sz="1600" dirty="0"/>
              <a:t>, </a:t>
            </a:r>
            <a:r>
              <a:rPr lang="ko-KR" altLang="en-US" sz="1600" dirty="0"/>
              <a:t>경찰회사와 같이 민간회사가 공공재</a:t>
            </a:r>
            <a:r>
              <a:rPr lang="en-US" altLang="ko-KR" sz="1600" dirty="0"/>
              <a:t>(</a:t>
            </a:r>
            <a:r>
              <a:rPr lang="ko-KR" altLang="en-US" sz="1600" dirty="0"/>
              <a:t>국방</a:t>
            </a:r>
            <a:r>
              <a:rPr lang="en-US" altLang="ko-KR" sz="1600" dirty="0"/>
              <a:t> </a:t>
            </a:r>
            <a:r>
              <a:rPr lang="ko-KR" altLang="en-US" sz="1600" dirty="0"/>
              <a:t>및 치안</a:t>
            </a:r>
            <a:r>
              <a:rPr lang="en-US" altLang="ko-KR" sz="1600" dirty="0"/>
              <a:t>)</a:t>
            </a:r>
            <a:r>
              <a:rPr lang="ko-KR" altLang="en-US" sz="1600" dirty="0"/>
              <a:t>를 공급한다면</a:t>
            </a:r>
            <a:r>
              <a:rPr lang="en-US" altLang="ko-KR" sz="1600" dirty="0"/>
              <a:t>, </a:t>
            </a:r>
            <a:r>
              <a:rPr lang="ko-KR" altLang="en-US" sz="1600" dirty="0"/>
              <a:t>이 회사들이 제공하는 서비스를 구입하려 하는 사람은 거의 없을 것이다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따라서 이 사회에서 국방 및 경찰서비스가 적정한 수준으로 공급되는 것은 불가능하다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41241359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15AC2-A82B-6B45-24E6-2C05471D1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B76369-84F5-F2AD-1D3A-91024ED3F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무임승차 문제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DBFC3D-F1EA-760C-C026-937AD4D03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9E555C-9788-03A1-A147-0F57283BA003}"/>
              </a:ext>
            </a:extLst>
          </p:cNvPr>
          <p:cNvSpPr txBox="1"/>
          <p:nvPr/>
        </p:nvSpPr>
        <p:spPr>
          <a:xfrm>
            <a:off x="288790" y="958844"/>
            <a:ext cx="11693660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무임승차 문제로 인해 정부가 공공재를 생산</a:t>
            </a:r>
            <a:r>
              <a:rPr lang="en-US" altLang="ko-KR" sz="1600" dirty="0"/>
              <a:t>·</a:t>
            </a:r>
            <a:r>
              <a:rPr lang="ko-KR" altLang="en-US" sz="1600" dirty="0"/>
              <a:t>공급을 담당해야 한다는 주장이 있을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즉 정부가 사람들의 공공재에 대한 선호를 알아내고 강제력을 이용해 생산비용을 거둠으로써 무임승차 문제를 해결할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실제로 정부가 주요 공공재의 공급을 도맡아 하고 있는 현실을 보면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주장은 대단히 설득력이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다만 무임승차 문제는 하나의 가설일 뿐이고</a:t>
            </a:r>
            <a:r>
              <a:rPr lang="en-US" altLang="ko-KR" sz="1600" dirty="0"/>
              <a:t>, ‘</a:t>
            </a:r>
            <a:r>
              <a:rPr lang="ko-KR" altLang="en-US" sz="1600" dirty="0"/>
              <a:t>사실</a:t>
            </a:r>
            <a:r>
              <a:rPr lang="en-US" altLang="ko-KR" sz="1600" dirty="0"/>
              <a:t>’ </a:t>
            </a:r>
            <a:r>
              <a:rPr lang="ko-KR" altLang="en-US" sz="1600" dirty="0"/>
              <a:t>그 자체는 아니라는 데 유의해야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다시 말해 무임승차자 현상이 나타날 가능성이 있다고 말할 뿐</a:t>
            </a:r>
            <a:r>
              <a:rPr lang="en-US" altLang="ko-KR" sz="1600" dirty="0"/>
              <a:t>, </a:t>
            </a:r>
            <a:r>
              <a:rPr lang="ko-KR" altLang="en-US" sz="1600" dirty="0"/>
              <a:t>현실에서 반드시 그런 문제가 발생하는 것은 아니다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민간</a:t>
            </a:r>
            <a:r>
              <a:rPr lang="en-US" altLang="ko-KR" sz="1600" dirty="0"/>
              <a:t>(</a:t>
            </a:r>
            <a:r>
              <a:rPr lang="ko-KR" altLang="en-US" sz="1600" dirty="0"/>
              <a:t>개인</a:t>
            </a:r>
            <a:r>
              <a:rPr lang="en-US" altLang="ko-KR" sz="1600" dirty="0"/>
              <a:t>)</a:t>
            </a:r>
            <a:r>
              <a:rPr lang="ko-KR" altLang="en-US" sz="1600" dirty="0"/>
              <a:t>이 설립한 박물관</a:t>
            </a:r>
            <a:r>
              <a:rPr lang="en-US" altLang="ko-KR" sz="1600" dirty="0"/>
              <a:t>, </a:t>
            </a:r>
            <a:r>
              <a:rPr lang="ko-KR" altLang="en-US" sz="1600" dirty="0"/>
              <a:t>도서관</a:t>
            </a:r>
            <a:r>
              <a:rPr lang="en-US" altLang="ko-KR" sz="1600" dirty="0"/>
              <a:t>, </a:t>
            </a:r>
            <a:r>
              <a:rPr lang="ko-KR" altLang="en-US" sz="1600" dirty="0"/>
              <a:t>연구소 등의 예를 보면 공공재라고 해서 반드시 무임승차자의 문제가 발생하지는 않는다는 사실을 알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91913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94302-6B69-EFA8-E571-268DB8C44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192044-D3F0-6666-B961-41C386350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협상가능성의 존재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960949-1C46-CF19-3F3F-DECE98AB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F58229-DB88-9980-80EB-7DA2C01F997F}"/>
              </a:ext>
            </a:extLst>
          </p:cNvPr>
          <p:cNvSpPr txBox="1"/>
          <p:nvPr/>
        </p:nvSpPr>
        <p:spPr>
          <a:xfrm>
            <a:off x="288790" y="958844"/>
            <a:ext cx="11693660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공공재에 관하여</a:t>
            </a:r>
            <a:r>
              <a:rPr lang="en-US" altLang="ko-KR" sz="1600" dirty="0"/>
              <a:t>, </a:t>
            </a:r>
            <a:r>
              <a:rPr lang="ko-KR" altLang="en-US" sz="1600" dirty="0"/>
              <a:t>결국 사람들은 자신에게 더 유리한 결과를 가져오도록 서로 간에 일종의 게임을 하고 있는 상황이라고 볼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때</a:t>
            </a:r>
            <a:r>
              <a:rPr lang="en-US" altLang="ko-KR" sz="1600" dirty="0"/>
              <a:t>, </a:t>
            </a:r>
            <a:r>
              <a:rPr lang="ko-KR" altLang="en-US" sz="1600" dirty="0"/>
              <a:t>사람들은 대화와 협상을 통해 사회적으로 적정한 수준의 공공재가 생산되도록 합의할 가능성도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 마을에 살고 있는 김씨와 박씨 두 사람이 마을에 홍수방지시설을 해야 할 것인지 논의하고 있다고 해보자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8B267138-643A-398F-5776-792F2B4F6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392166"/>
              </p:ext>
            </p:extLst>
          </p:nvPr>
        </p:nvGraphicFramePr>
        <p:xfrm>
          <a:off x="2366433" y="4066356"/>
          <a:ext cx="6485469" cy="74537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61823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2161823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2161823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634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부담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부담 하지 않음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14139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부담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(500, 500)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(-250, 750)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17531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부담 하지 않음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(750, -250)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(0, 0)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13B9195-05FB-7D78-09A3-48DE7196E7E4}"/>
              </a:ext>
            </a:extLst>
          </p:cNvPr>
          <p:cNvSpPr txBox="1"/>
          <p:nvPr/>
        </p:nvSpPr>
        <p:spPr>
          <a:xfrm>
            <a:off x="6192854" y="3728120"/>
            <a:ext cx="9927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 b="1" kern="0" dirty="0">
                <a:latin typeface="+mn-ea"/>
              </a:rPr>
              <a:t>박씨</a:t>
            </a:r>
            <a:endParaRPr lang="ko-KR" altLang="en-US" sz="13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7AFE96-F31C-0C73-74EC-ADA600556E4C}"/>
              </a:ext>
            </a:extLst>
          </p:cNvPr>
          <p:cNvSpPr txBox="1"/>
          <p:nvPr/>
        </p:nvSpPr>
        <p:spPr>
          <a:xfrm>
            <a:off x="1509183" y="4426621"/>
            <a:ext cx="9927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 b="1" kern="0" dirty="0">
                <a:latin typeface="+mn-ea"/>
              </a:rPr>
              <a:t>김씨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10658514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518F1-9645-A89F-CD45-A5B130DD8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8541DC-CFC2-EBF7-4672-51532A0C48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584AFE-4C54-8894-6AE5-8CF66134E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2B90735-2026-6F47-A63D-208175BDD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5. </a:t>
            </a:r>
            <a:r>
              <a:rPr lang="ko-KR" altLang="en-US" sz="4000" b="1" i="0" spc="150" dirty="0"/>
              <a:t>공공재의 다른 측면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3520310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재정의 기본골격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B7B113-36A4-C1F3-9E9E-939A12CDC18C}"/>
              </a:ext>
            </a:extLst>
          </p:cNvPr>
          <p:cNvSpPr txBox="1"/>
          <p:nvPr/>
        </p:nvSpPr>
        <p:spPr>
          <a:xfrm>
            <a:off x="288790" y="958844"/>
            <a:ext cx="11693660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국민경제는 민간부문과 공공부문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정부부문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두 부문으로 구분이 가능하다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여기서 정부는 앞 장에서 설명한 넓은 의미로서의 정부를 뜻하며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이는 아래의 표처럼 다시 공공기관과 좁은 의미에서의 정부로 구분이 가능하다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F00245-C3E1-9EFA-6E34-B6D6D3C3BB6A}"/>
              </a:ext>
            </a:extLst>
          </p:cNvPr>
          <p:cNvSpPr txBox="1"/>
          <p:nvPr/>
        </p:nvSpPr>
        <p:spPr>
          <a:xfrm>
            <a:off x="565795" y="4084235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민간부문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25D519-D8E7-0DB7-DCDA-EB370D250EB8}"/>
              </a:ext>
            </a:extLst>
          </p:cNvPr>
          <p:cNvSpPr txBox="1"/>
          <p:nvPr/>
        </p:nvSpPr>
        <p:spPr>
          <a:xfrm>
            <a:off x="565795" y="5264672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공공부문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52BFFE-1904-A432-EB17-AC32F12C00CA}"/>
              </a:ext>
            </a:extLst>
          </p:cNvPr>
          <p:cNvSpPr txBox="1"/>
          <p:nvPr/>
        </p:nvSpPr>
        <p:spPr>
          <a:xfrm>
            <a:off x="2576358" y="4687547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정 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6BD709-08A8-1208-4986-37B6225493AD}"/>
              </a:ext>
            </a:extLst>
          </p:cNvPr>
          <p:cNvSpPr txBox="1"/>
          <p:nvPr/>
        </p:nvSpPr>
        <p:spPr>
          <a:xfrm>
            <a:off x="2576358" y="5921115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공공기관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95038-3174-B7BD-5285-61B7A3936406}"/>
              </a:ext>
            </a:extLst>
          </p:cNvPr>
          <p:cNvSpPr txBox="1"/>
          <p:nvPr/>
        </p:nvSpPr>
        <p:spPr>
          <a:xfrm>
            <a:off x="4497849" y="3767819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중앙정부 재정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5E7D3D-1751-50DC-C931-016CF0008448}"/>
              </a:ext>
            </a:extLst>
          </p:cNvPr>
          <p:cNvSpPr txBox="1"/>
          <p:nvPr/>
        </p:nvSpPr>
        <p:spPr>
          <a:xfrm>
            <a:off x="4497849" y="5279948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지방정부 재정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935949-BEBC-5FC0-B9EB-EA7DC20047D0}"/>
              </a:ext>
            </a:extLst>
          </p:cNvPr>
          <p:cNvSpPr txBox="1"/>
          <p:nvPr/>
        </p:nvSpPr>
        <p:spPr>
          <a:xfrm>
            <a:off x="6395158" y="3449348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예 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08BEF4-C7F8-439D-08D7-CB57B9E7CF3D}"/>
              </a:ext>
            </a:extLst>
          </p:cNvPr>
          <p:cNvSpPr txBox="1"/>
          <p:nvPr/>
        </p:nvSpPr>
        <p:spPr>
          <a:xfrm>
            <a:off x="6395158" y="4049475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기 금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3F69BC-35BA-52A7-7478-3D57A44B2111}"/>
              </a:ext>
            </a:extLst>
          </p:cNvPr>
          <p:cNvSpPr txBox="1"/>
          <p:nvPr/>
        </p:nvSpPr>
        <p:spPr>
          <a:xfrm>
            <a:off x="8291809" y="3087864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일반회계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AD4FE0-3739-DA8D-F037-2B0BA42E94D2}"/>
              </a:ext>
            </a:extLst>
          </p:cNvPr>
          <p:cNvSpPr txBox="1"/>
          <p:nvPr/>
        </p:nvSpPr>
        <p:spPr>
          <a:xfrm>
            <a:off x="8291809" y="3735709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특별회계</a:t>
            </a:r>
          </a:p>
        </p:txBody>
      </p:sp>
      <p:sp>
        <p:nvSpPr>
          <p:cNvPr id="51" name="왼쪽 중괄호 50">
            <a:extLst>
              <a:ext uri="{FF2B5EF4-FFF2-40B4-BE49-F238E27FC236}">
                <a16:creationId xmlns:a16="http://schemas.microsoft.com/office/drawing/2014/main" id="{B1389F24-0CCA-304E-2F04-B18F0F0CF8A2}"/>
              </a:ext>
            </a:extLst>
          </p:cNvPr>
          <p:cNvSpPr/>
          <p:nvPr/>
        </p:nvSpPr>
        <p:spPr>
          <a:xfrm>
            <a:off x="2278734" y="4931833"/>
            <a:ext cx="297623" cy="1152688"/>
          </a:xfrm>
          <a:prstGeom prst="leftBrace">
            <a:avLst>
              <a:gd name="adj1" fmla="val 0"/>
              <a:gd name="adj2" fmla="val 43589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왼쪽 중괄호 51">
            <a:extLst>
              <a:ext uri="{FF2B5EF4-FFF2-40B4-BE49-F238E27FC236}">
                <a16:creationId xmlns:a16="http://schemas.microsoft.com/office/drawing/2014/main" id="{7932B6B5-4353-AB20-DAFE-A774054F6E89}"/>
              </a:ext>
            </a:extLst>
          </p:cNvPr>
          <p:cNvSpPr/>
          <p:nvPr/>
        </p:nvSpPr>
        <p:spPr>
          <a:xfrm>
            <a:off x="4289297" y="4168639"/>
            <a:ext cx="208551" cy="1280586"/>
          </a:xfrm>
          <a:prstGeom prst="leftBrace">
            <a:avLst>
              <a:gd name="adj1" fmla="val 0"/>
              <a:gd name="adj2" fmla="val 54055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왼쪽 중괄호 52">
            <a:extLst>
              <a:ext uri="{FF2B5EF4-FFF2-40B4-BE49-F238E27FC236}">
                <a16:creationId xmlns:a16="http://schemas.microsoft.com/office/drawing/2014/main" id="{E4013B28-D2A6-0590-FBB0-A34F4BE1E62B}"/>
              </a:ext>
            </a:extLst>
          </p:cNvPr>
          <p:cNvSpPr/>
          <p:nvPr/>
        </p:nvSpPr>
        <p:spPr>
          <a:xfrm>
            <a:off x="6211447" y="3577167"/>
            <a:ext cx="183711" cy="655638"/>
          </a:xfrm>
          <a:prstGeom prst="leftBrace">
            <a:avLst>
              <a:gd name="adj1" fmla="val 0"/>
              <a:gd name="adj2" fmla="val 53687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왼쪽 중괄호 53">
            <a:extLst>
              <a:ext uri="{FF2B5EF4-FFF2-40B4-BE49-F238E27FC236}">
                <a16:creationId xmlns:a16="http://schemas.microsoft.com/office/drawing/2014/main" id="{A89932B1-74AC-BD77-A89B-37A694A9E996}"/>
              </a:ext>
            </a:extLst>
          </p:cNvPr>
          <p:cNvSpPr/>
          <p:nvPr/>
        </p:nvSpPr>
        <p:spPr>
          <a:xfrm>
            <a:off x="8108098" y="3257141"/>
            <a:ext cx="183711" cy="655638"/>
          </a:xfrm>
          <a:prstGeom prst="leftBrace">
            <a:avLst>
              <a:gd name="adj1" fmla="val 0"/>
              <a:gd name="adj2" fmla="val 5538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왼쪽 중괄호 54">
            <a:extLst>
              <a:ext uri="{FF2B5EF4-FFF2-40B4-BE49-F238E27FC236}">
                <a16:creationId xmlns:a16="http://schemas.microsoft.com/office/drawing/2014/main" id="{38448622-02BB-EDC1-0F0A-3ADB774DB0AF}"/>
              </a:ext>
            </a:extLst>
          </p:cNvPr>
          <p:cNvSpPr/>
          <p:nvPr/>
        </p:nvSpPr>
        <p:spPr>
          <a:xfrm>
            <a:off x="6211447" y="5106130"/>
            <a:ext cx="183711" cy="655638"/>
          </a:xfrm>
          <a:prstGeom prst="leftBrace">
            <a:avLst>
              <a:gd name="adj1" fmla="val 0"/>
              <a:gd name="adj2" fmla="val 53687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6C5921-C585-6EA1-45D1-BF10B3DBC105}"/>
              </a:ext>
            </a:extLst>
          </p:cNvPr>
          <p:cNvSpPr txBox="1"/>
          <p:nvPr/>
        </p:nvSpPr>
        <p:spPr>
          <a:xfrm>
            <a:off x="6395158" y="4925337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일반재정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0FE3AFF-841A-A46E-BBA8-D8B01E034306}"/>
              </a:ext>
            </a:extLst>
          </p:cNvPr>
          <p:cNvSpPr txBox="1"/>
          <p:nvPr/>
        </p:nvSpPr>
        <p:spPr>
          <a:xfrm>
            <a:off x="6395158" y="5577694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교육재정</a:t>
            </a:r>
          </a:p>
        </p:txBody>
      </p:sp>
      <p:sp>
        <p:nvSpPr>
          <p:cNvPr id="58" name="왼쪽 중괄호 57">
            <a:extLst>
              <a:ext uri="{FF2B5EF4-FFF2-40B4-BE49-F238E27FC236}">
                <a16:creationId xmlns:a16="http://schemas.microsoft.com/office/drawing/2014/main" id="{24FBB0A1-E097-46E6-9052-8AF98C386B3C}"/>
              </a:ext>
            </a:extLst>
          </p:cNvPr>
          <p:cNvSpPr/>
          <p:nvPr/>
        </p:nvSpPr>
        <p:spPr>
          <a:xfrm>
            <a:off x="8108099" y="4720281"/>
            <a:ext cx="183710" cy="655638"/>
          </a:xfrm>
          <a:prstGeom prst="leftBrace">
            <a:avLst>
              <a:gd name="adj1" fmla="val 0"/>
              <a:gd name="adj2" fmla="val 5538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6A59A45-3322-6AB6-DE80-2264CC686547}"/>
              </a:ext>
            </a:extLst>
          </p:cNvPr>
          <p:cNvSpPr txBox="1"/>
          <p:nvPr/>
        </p:nvSpPr>
        <p:spPr>
          <a:xfrm>
            <a:off x="8291809" y="4568612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예 산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62A840E-5A43-0E91-4F63-F6BB98AC1A19}"/>
              </a:ext>
            </a:extLst>
          </p:cNvPr>
          <p:cNvSpPr txBox="1"/>
          <p:nvPr/>
        </p:nvSpPr>
        <p:spPr>
          <a:xfrm>
            <a:off x="8291809" y="5216457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기 금</a:t>
            </a:r>
          </a:p>
        </p:txBody>
      </p:sp>
      <p:sp>
        <p:nvSpPr>
          <p:cNvPr id="62" name="왼쪽 중괄호 61">
            <a:extLst>
              <a:ext uri="{FF2B5EF4-FFF2-40B4-BE49-F238E27FC236}">
                <a16:creationId xmlns:a16="http://schemas.microsoft.com/office/drawing/2014/main" id="{F5BDB20F-43D1-A263-3D41-A29A3F48B94C}"/>
              </a:ext>
            </a:extLst>
          </p:cNvPr>
          <p:cNvSpPr/>
          <p:nvPr/>
        </p:nvSpPr>
        <p:spPr>
          <a:xfrm>
            <a:off x="10004749" y="4377952"/>
            <a:ext cx="183710" cy="655638"/>
          </a:xfrm>
          <a:prstGeom prst="leftBrace">
            <a:avLst>
              <a:gd name="adj1" fmla="val 0"/>
              <a:gd name="adj2" fmla="val 5538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5B80EF2-AB5E-6AF6-2235-32B45F7EDC27}"/>
              </a:ext>
            </a:extLst>
          </p:cNvPr>
          <p:cNvSpPr txBox="1"/>
          <p:nvPr/>
        </p:nvSpPr>
        <p:spPr>
          <a:xfrm>
            <a:off x="10190933" y="4216899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일반회계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738B090-4ABB-0329-A531-C7EECAD40AF6}"/>
              </a:ext>
            </a:extLst>
          </p:cNvPr>
          <p:cNvSpPr txBox="1"/>
          <p:nvPr/>
        </p:nvSpPr>
        <p:spPr>
          <a:xfrm>
            <a:off x="10190933" y="4862567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특별회계</a:t>
            </a:r>
          </a:p>
        </p:txBody>
      </p:sp>
    </p:spTree>
    <p:extLst>
      <p:ext uri="{BB962C8B-B14F-4D97-AF65-F5344CB8AC3E}">
        <p14:creationId xmlns:p14="http://schemas.microsoft.com/office/powerpoint/2010/main" val="1521771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3FB948-AD36-2891-6DB7-C142F0A00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중앙정부의 재정규모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0F73B5-63BF-B5EB-866B-64C43991D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3A3329A-F486-5A53-6765-2BB1251C2B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83"/>
              </p:ext>
            </p:extLst>
          </p:nvPr>
        </p:nvGraphicFramePr>
        <p:xfrm>
          <a:off x="701293" y="3305932"/>
          <a:ext cx="9537045" cy="332308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62435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362435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089948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1089948">
                  <a:extLst>
                    <a:ext uri="{9D8B030D-6E8A-4147-A177-3AD203B41FA5}">
                      <a16:colId xmlns:a16="http://schemas.microsoft.com/office/drawing/2014/main" val="1380406718"/>
                    </a:ext>
                  </a:extLst>
                </a:gridCol>
                <a:gridCol w="1089948">
                  <a:extLst>
                    <a:ext uri="{9D8B030D-6E8A-4147-A177-3AD203B41FA5}">
                      <a16:colId xmlns:a16="http://schemas.microsoft.com/office/drawing/2014/main" val="4283011541"/>
                    </a:ext>
                  </a:extLst>
                </a:gridCol>
                <a:gridCol w="1089948">
                  <a:extLst>
                    <a:ext uri="{9D8B030D-6E8A-4147-A177-3AD203B41FA5}">
                      <a16:colId xmlns:a16="http://schemas.microsoft.com/office/drawing/2014/main" val="4206849505"/>
                    </a:ext>
                  </a:extLst>
                </a:gridCol>
                <a:gridCol w="1089948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136243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360135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국내총생산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명목 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GDP)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재정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국내총생산 </a:t>
                      </a:r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(GDP)</a:t>
                      </a: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대비 재정규모 </a:t>
                      </a:r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(%)</a:t>
                      </a: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235477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예산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기금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세입세출</a:t>
                      </a: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외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292284"/>
                  </a:ext>
                </a:extLst>
              </a:tr>
              <a:tr h="2354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일반회계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특별회계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690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1990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34.0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17.0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1995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437.0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38.8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71.6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16.4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651.6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62.3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40.2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129.3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19.8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957.4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106.6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28.6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52.8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188.0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19.6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1,322.6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156.2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37.7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59.4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254.2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19.2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1,658.0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206.0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45.1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88.0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339.4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20.5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1,740.8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216.9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42.2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94.9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354.4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20.4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2017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1,835.7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225.5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44.5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105.8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379.8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20.7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2018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1,898.2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246.4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41.7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112.4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407.1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21.4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2019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1,919.0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277.7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46.1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121.0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455.9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23.8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D49E7DC-F89D-9E7E-9BF1-73EB25B16528}"/>
              </a:ext>
            </a:extLst>
          </p:cNvPr>
          <p:cNvSpPr txBox="1"/>
          <p:nvPr/>
        </p:nvSpPr>
        <p:spPr>
          <a:xfrm>
            <a:off x="288790" y="958844"/>
            <a:ext cx="11693660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표는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년부터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년까지 예산과 기금으로 구성된 중앙정부의 재정규모가 어떻게 변화했는지 보여주고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1990</a:t>
            </a:r>
            <a:r>
              <a:rPr lang="ko-KR" altLang="en-US" sz="1600" spc="-50" dirty="0"/>
              <a:t>년에는 중앙정부의 재정규모가 </a:t>
            </a:r>
            <a:r>
              <a:rPr lang="en-US" altLang="ko-KR" sz="1600" spc="-50" dirty="0"/>
              <a:t>GDP</a:t>
            </a:r>
            <a:r>
              <a:rPr lang="ko-KR" altLang="en-US" sz="1600" spc="-50" dirty="0"/>
              <a:t>의 </a:t>
            </a:r>
            <a:r>
              <a:rPr lang="en-US" altLang="ko-KR" sz="1600" spc="-50" dirty="0"/>
              <a:t>17%, </a:t>
            </a:r>
            <a:r>
              <a:rPr lang="ko-KR" altLang="en-US" sz="1600" spc="-50" dirty="0"/>
              <a:t>이후 그 비중이 증가하여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23.8%</a:t>
            </a:r>
            <a:r>
              <a:rPr lang="ko-KR" altLang="en-US" sz="1600" spc="-50" dirty="0"/>
              <a:t>에 이르렀다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예산과 기금 간의 비중을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기금의 비중은 점차 증가했지만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여전히 예산이 훨씬 더 큰 비중을 차지하고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2019</a:t>
            </a:r>
            <a:r>
              <a:rPr lang="ko-KR" altLang="en-US" sz="1600" spc="-50" dirty="0"/>
              <a:t>년 중앙정부의 재정에서 예산의 비중은 </a:t>
            </a:r>
            <a:r>
              <a:rPr lang="en-US" altLang="ko-KR" sz="1600" spc="-50" dirty="0"/>
              <a:t>71.0%, </a:t>
            </a:r>
            <a:r>
              <a:rPr lang="ko-KR" altLang="en-US" sz="1600" spc="-50" dirty="0"/>
              <a:t>기금의 비중은 </a:t>
            </a:r>
            <a:r>
              <a:rPr lang="en-US" altLang="ko-KR" sz="1600" spc="-50" dirty="0"/>
              <a:t>26.5% </a:t>
            </a:r>
            <a:r>
              <a:rPr lang="ko-KR" altLang="en-US" sz="1600" spc="-50" dirty="0"/>
              <a:t>수준에 머물고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예산 내에서 일반회계와 특별회계 간의 비중을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일반회계의 규모가 훨씬 더 큰 추세가 계속되어 왔다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85AC43-1AED-6E5B-F7EB-C610CFA82971}"/>
              </a:ext>
            </a:extLst>
          </p:cNvPr>
          <p:cNvSpPr txBox="1"/>
          <p:nvPr/>
        </p:nvSpPr>
        <p:spPr>
          <a:xfrm>
            <a:off x="4142665" y="3000100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중앙정부의 재정규모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762511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E36DF-6AD5-9427-6DC5-81DB5261B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D88E6D-15DC-8587-9B8B-B2F0E0116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일반회계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A801AB-87C5-8A42-44DD-A58746D2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D0AD3F6-B31F-102F-C382-2EAAC9AFE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668606"/>
              </p:ext>
            </p:extLst>
          </p:nvPr>
        </p:nvGraphicFramePr>
        <p:xfrm>
          <a:off x="7372350" y="1080010"/>
          <a:ext cx="4408152" cy="545128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734692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734692">
                  <a:extLst>
                    <a:ext uri="{9D8B030D-6E8A-4147-A177-3AD203B41FA5}">
                      <a16:colId xmlns:a16="http://schemas.microsoft.com/office/drawing/2014/main" val="4283011541"/>
                    </a:ext>
                  </a:extLst>
                </a:gridCol>
                <a:gridCol w="734692">
                  <a:extLst>
                    <a:ext uri="{9D8B030D-6E8A-4147-A177-3AD203B41FA5}">
                      <a16:colId xmlns:a16="http://schemas.microsoft.com/office/drawing/2014/main" val="4206849505"/>
                    </a:ext>
                  </a:extLst>
                </a:gridCol>
                <a:gridCol w="734692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734692">
                  <a:extLst>
                    <a:ext uri="{9D8B030D-6E8A-4147-A177-3AD203B41FA5}">
                      <a16:colId xmlns:a16="http://schemas.microsoft.com/office/drawing/2014/main" val="2514739121"/>
                    </a:ext>
                  </a:extLst>
                </a:gridCol>
                <a:gridCol w="734692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295048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국세</a:t>
                      </a:r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일반회계</a:t>
                      </a:r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세외수입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총계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295048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내국세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관세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총계</a:t>
                      </a:r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292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1990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24.1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(76.9)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2.8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(8.8)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26.8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(85.8)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4.5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(14.2)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31.3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1995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45.8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(86.5)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4.6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(8.8)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50.4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(95.3)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2.5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(4.7)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52.9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76.2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(82.3)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5.8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(6.3)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82.0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(88.5)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10.6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(11.5)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92.6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116.1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(85.1)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6.3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(4.6)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122.4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(89.7)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14.1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(10.3)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136.5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160.2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(78.1)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10.7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(5.2)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170.9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(83.3)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34.3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(16.7)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205.2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202.3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(77.2)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8.5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(3.2)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210.8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(80.5)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51.1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(19.5)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261.9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227.7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(80.8)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8.0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(2.9)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235.7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(83.7)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46.0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(16.3)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281.7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2017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250.0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(85.3)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8.5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(2.9)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258.5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(88.3)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34.4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(11.7)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292.9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2018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227.7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(87.6)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8.8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(2.8)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285.9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(90.4)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30.3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(9.6)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316.2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2019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278.1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(83.7)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7.9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(2.4)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286.0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(86.1)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46.2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(13.9)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332.2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E5860BE-337A-C3B1-98ED-CECFF864FCCC}"/>
              </a:ext>
            </a:extLst>
          </p:cNvPr>
          <p:cNvSpPr txBox="1"/>
          <p:nvPr/>
        </p:nvSpPr>
        <p:spPr>
          <a:xfrm>
            <a:off x="8295565" y="759017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일반회계 세입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0B2249-F511-CCAD-4D05-EC223BD416E1}"/>
              </a:ext>
            </a:extLst>
          </p:cNvPr>
          <p:cNvSpPr txBox="1"/>
          <p:nvPr/>
        </p:nvSpPr>
        <p:spPr>
          <a:xfrm>
            <a:off x="288790" y="958844"/>
            <a:ext cx="6962910" cy="46151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(1)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세입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일반회계의 세입은 중앙정부의 각종 내국세와 관세 등을 통해 얻는 조세수입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그리고 재산수입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경상이전수입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판매수입 등이 포함되어 있는 세외수입의 두 부분으로 구성된다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내국세는 </a:t>
            </a:r>
            <a:r>
              <a:rPr lang="ko-KR" altLang="en-US" sz="1600" spc="-50" dirty="0" err="1"/>
              <a:t>세입원</a:t>
            </a:r>
            <a:r>
              <a:rPr lang="ko-KR" altLang="en-US" sz="1600" spc="-50" dirty="0"/>
              <a:t> 중에서도 압도적인 중요성을 가지며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법인세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부가가치세 등 관세를 제외한 모든 세금이 포함된다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오른쪽 표에서 볼 수 있듯이</a:t>
            </a:r>
            <a:r>
              <a:rPr lang="en-US" altLang="ko-KR" sz="1600" spc="-50" dirty="0"/>
              <a:t>, 2019</a:t>
            </a:r>
            <a:r>
              <a:rPr lang="ko-KR" altLang="en-US" sz="1600" spc="-50" dirty="0"/>
              <a:t>년 일반회계 세입의 </a:t>
            </a:r>
            <a:r>
              <a:rPr lang="en-US" altLang="ko-KR" sz="1600" spc="-50" dirty="0"/>
              <a:t>86.1%</a:t>
            </a:r>
            <a:r>
              <a:rPr lang="ko-KR" altLang="en-US" sz="1600" spc="-50" dirty="0"/>
              <a:t>에 해당하는 </a:t>
            </a:r>
            <a:r>
              <a:rPr lang="en-US" altLang="ko-KR" sz="1600" spc="-50" dirty="0"/>
              <a:t>286</a:t>
            </a:r>
            <a:r>
              <a:rPr lang="ko-KR" altLang="en-US" sz="1600" spc="-50" dirty="0"/>
              <a:t>조원이 조세수입으로 충당되고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중 내국세 수입은 </a:t>
            </a:r>
            <a:r>
              <a:rPr lang="en-US" altLang="ko-KR" sz="1600" spc="-50" dirty="0"/>
              <a:t>278</a:t>
            </a:r>
            <a:r>
              <a:rPr lang="ko-KR" altLang="en-US" sz="1600" spc="-50" dirty="0"/>
              <a:t>조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천억원으로 일반회계 세입의 </a:t>
            </a:r>
            <a:r>
              <a:rPr lang="en-US" altLang="ko-KR" sz="1600" spc="-50" dirty="0"/>
              <a:t>83.7%</a:t>
            </a:r>
            <a:r>
              <a:rPr lang="ko-KR" altLang="en-US" sz="1600" spc="-50" dirty="0"/>
              <a:t>를 차지하였다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표에는 나타나 있지 않지만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내국세 중에서도 소득세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법인세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부가가치세의 세 가지 조세로부터의 수입은 </a:t>
            </a:r>
            <a:r>
              <a:rPr lang="en-US" altLang="ko-KR" sz="1600" spc="-50" dirty="0"/>
              <a:t>226</a:t>
            </a:r>
            <a:r>
              <a:rPr lang="ko-KR" altLang="en-US" sz="1600" spc="-50" dirty="0"/>
              <a:t>조 </a:t>
            </a:r>
            <a:r>
              <a:rPr lang="en-US" altLang="ko-KR" sz="1600" spc="-50" dirty="0"/>
              <a:t>6</a:t>
            </a:r>
            <a:r>
              <a:rPr lang="ko-KR" altLang="en-US" sz="1600" spc="-50" dirty="0"/>
              <a:t>천억원으로 전체 조세수입의 </a:t>
            </a:r>
            <a:r>
              <a:rPr lang="en-US" altLang="ko-KR" sz="1600" spc="-50" dirty="0"/>
              <a:t>79.2%</a:t>
            </a:r>
            <a:r>
              <a:rPr lang="ko-KR" altLang="en-US" sz="1600" spc="-50" dirty="0"/>
              <a:t>를 차지할 만큼 큰 비중을 차지한다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95308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4144E-46F8-9B14-1181-8703CF39B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BDCCA4-3C2B-5B33-322A-C3D926CE1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일반회계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8498EE-CB3A-80D0-2E9D-2B7047076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E95856-9596-86E7-0F26-2A6111102B84}"/>
              </a:ext>
            </a:extLst>
          </p:cNvPr>
          <p:cNvSpPr txBox="1"/>
          <p:nvPr/>
        </p:nvSpPr>
        <p:spPr>
          <a:xfrm>
            <a:off x="8997133" y="919156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소득세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135E70-49C9-38CD-5BA8-09F9D66CD8BE}"/>
              </a:ext>
            </a:extLst>
          </p:cNvPr>
          <p:cNvSpPr txBox="1"/>
          <p:nvPr/>
        </p:nvSpPr>
        <p:spPr>
          <a:xfrm>
            <a:off x="8997133" y="1304474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법인세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63BE68-5F37-ACBD-2CF7-4223394C3961}"/>
              </a:ext>
            </a:extLst>
          </p:cNvPr>
          <p:cNvSpPr txBox="1"/>
          <p:nvPr/>
        </p:nvSpPr>
        <p:spPr>
          <a:xfrm>
            <a:off x="8997133" y="1692286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부가가치세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C0349D-11FC-AFF0-26D8-68A050CFC2C2}"/>
              </a:ext>
            </a:extLst>
          </p:cNvPr>
          <p:cNvSpPr txBox="1"/>
          <p:nvPr/>
        </p:nvSpPr>
        <p:spPr>
          <a:xfrm>
            <a:off x="8997133" y="2077604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개별소비세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632C85-8AAF-0F73-3300-B30200F9AA4B}"/>
              </a:ext>
            </a:extLst>
          </p:cNvPr>
          <p:cNvSpPr txBox="1"/>
          <p:nvPr/>
        </p:nvSpPr>
        <p:spPr>
          <a:xfrm>
            <a:off x="8997133" y="2462922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상속세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0129BA-2EBB-BE30-E3A5-44FE054C5A1D}"/>
              </a:ext>
            </a:extLst>
          </p:cNvPr>
          <p:cNvSpPr txBox="1"/>
          <p:nvPr/>
        </p:nvSpPr>
        <p:spPr>
          <a:xfrm>
            <a:off x="8997133" y="2848240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증여세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DF9C6E-8707-109E-42CF-16A9C5B4D4F2}"/>
              </a:ext>
            </a:extLst>
          </p:cNvPr>
          <p:cNvSpPr txBox="1"/>
          <p:nvPr/>
        </p:nvSpPr>
        <p:spPr>
          <a:xfrm>
            <a:off x="8997133" y="3236052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증권거래세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DEDA87-40F8-72B0-6B0A-767D91004723}"/>
              </a:ext>
            </a:extLst>
          </p:cNvPr>
          <p:cNvSpPr txBox="1"/>
          <p:nvPr/>
        </p:nvSpPr>
        <p:spPr>
          <a:xfrm>
            <a:off x="8997133" y="3621370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인지세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F45D5B-C0A0-EF88-9DA8-C467F7A959B2}"/>
              </a:ext>
            </a:extLst>
          </p:cNvPr>
          <p:cNvSpPr txBox="1"/>
          <p:nvPr/>
        </p:nvSpPr>
        <p:spPr>
          <a:xfrm>
            <a:off x="8997133" y="4096442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종합부동산세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70AB43-49B2-58D3-FCC9-FF8B9AFCD78F}"/>
              </a:ext>
            </a:extLst>
          </p:cNvPr>
          <p:cNvSpPr txBox="1"/>
          <p:nvPr/>
        </p:nvSpPr>
        <p:spPr>
          <a:xfrm>
            <a:off x="8997133" y="4577010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농어촌특별세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9C4F338-8891-95B6-AB92-D08A39916BAE}"/>
              </a:ext>
            </a:extLst>
          </p:cNvPr>
          <p:cNvSpPr txBox="1"/>
          <p:nvPr/>
        </p:nvSpPr>
        <p:spPr>
          <a:xfrm>
            <a:off x="8997133" y="4964822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교육세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A2D81D-1E06-BE90-DC4F-EB6D71A787B6}"/>
              </a:ext>
            </a:extLst>
          </p:cNvPr>
          <p:cNvSpPr txBox="1"/>
          <p:nvPr/>
        </p:nvSpPr>
        <p:spPr>
          <a:xfrm>
            <a:off x="8997133" y="5350140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kumimoji="0" lang="ko-KR" altLang="en-US" sz="14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교통</a:t>
            </a:r>
            <a:r>
              <a:rPr kumimoji="0" lang="en-US" altLang="ko-KR" sz="14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·</a:t>
            </a:r>
            <a:r>
              <a:rPr kumimoji="0" lang="ko-KR" altLang="en-US" sz="14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에너지</a:t>
            </a:r>
            <a:r>
              <a:rPr lang="en-US" altLang="ko-KR" sz="1400" spc="-100" dirty="0">
                <a:solidFill>
                  <a:prstClr val="black"/>
                </a:solidFill>
                <a:latin typeface="+mn-ea"/>
              </a:rPr>
              <a:t>·</a:t>
            </a:r>
            <a:r>
              <a:rPr kumimoji="0" lang="ko-KR" altLang="en-US" sz="1400" b="0" i="0" u="none" strike="noStrike" kern="1200" cap="none" spc="-10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환경세</a:t>
            </a:r>
            <a:endParaRPr kumimoji="0" lang="ko-KR" altLang="en-US" sz="1400" b="0" i="0" u="none" strike="noStrike" kern="1200" cap="none" spc="-10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6F6718-55CB-1010-DF33-DDB95CD8FEA1}"/>
              </a:ext>
            </a:extLst>
          </p:cNvPr>
          <p:cNvSpPr txBox="1"/>
          <p:nvPr/>
        </p:nvSpPr>
        <p:spPr>
          <a:xfrm>
            <a:off x="8997133" y="5820973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주세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30FBE5-2292-E707-5894-3E501D8EB3CB}"/>
              </a:ext>
            </a:extLst>
          </p:cNvPr>
          <p:cNvSpPr txBox="1"/>
          <p:nvPr/>
        </p:nvSpPr>
        <p:spPr>
          <a:xfrm>
            <a:off x="8997133" y="6244391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관세</a:t>
            </a:r>
          </a:p>
        </p:txBody>
      </p:sp>
      <p:sp>
        <p:nvSpPr>
          <p:cNvPr id="45" name="오른쪽 중괄호 44">
            <a:extLst>
              <a:ext uri="{FF2B5EF4-FFF2-40B4-BE49-F238E27FC236}">
                <a16:creationId xmlns:a16="http://schemas.microsoft.com/office/drawing/2014/main" id="{D3359BEB-8FE7-3B37-01E2-FFE31669923D}"/>
              </a:ext>
            </a:extLst>
          </p:cNvPr>
          <p:cNvSpPr/>
          <p:nvPr/>
        </p:nvSpPr>
        <p:spPr>
          <a:xfrm>
            <a:off x="10779125" y="1006419"/>
            <a:ext cx="152400" cy="509922"/>
          </a:xfrm>
          <a:prstGeom prst="rightBrace">
            <a:avLst>
              <a:gd name="adj1" fmla="val 147059"/>
              <a:gd name="adj2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오른쪽 중괄호 45">
            <a:extLst>
              <a:ext uri="{FF2B5EF4-FFF2-40B4-BE49-F238E27FC236}">
                <a16:creationId xmlns:a16="http://schemas.microsoft.com/office/drawing/2014/main" id="{74EF7990-7CFA-8218-F863-95695961ECBE}"/>
              </a:ext>
            </a:extLst>
          </p:cNvPr>
          <p:cNvSpPr/>
          <p:nvPr/>
        </p:nvSpPr>
        <p:spPr>
          <a:xfrm>
            <a:off x="10779125" y="1786940"/>
            <a:ext cx="152400" cy="509922"/>
          </a:xfrm>
          <a:prstGeom prst="rightBrace">
            <a:avLst>
              <a:gd name="adj1" fmla="val 147059"/>
              <a:gd name="adj2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오른쪽 중괄호 47">
            <a:extLst>
              <a:ext uri="{FF2B5EF4-FFF2-40B4-BE49-F238E27FC236}">
                <a16:creationId xmlns:a16="http://schemas.microsoft.com/office/drawing/2014/main" id="{C612A5A5-1795-D49B-EC66-1B1D65257DE3}"/>
              </a:ext>
            </a:extLst>
          </p:cNvPr>
          <p:cNvSpPr/>
          <p:nvPr/>
        </p:nvSpPr>
        <p:spPr>
          <a:xfrm>
            <a:off x="10779125" y="2567460"/>
            <a:ext cx="152400" cy="1682869"/>
          </a:xfrm>
          <a:prstGeom prst="rightBrace">
            <a:avLst>
              <a:gd name="adj1" fmla="val 147059"/>
              <a:gd name="adj2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오른쪽 중괄호 48">
            <a:extLst>
              <a:ext uri="{FF2B5EF4-FFF2-40B4-BE49-F238E27FC236}">
                <a16:creationId xmlns:a16="http://schemas.microsoft.com/office/drawing/2014/main" id="{2B91C317-5D35-413F-7D7E-7020242BD832}"/>
              </a:ext>
            </a:extLst>
          </p:cNvPr>
          <p:cNvSpPr/>
          <p:nvPr/>
        </p:nvSpPr>
        <p:spPr>
          <a:xfrm>
            <a:off x="10779125" y="5489311"/>
            <a:ext cx="152400" cy="911490"/>
          </a:xfrm>
          <a:prstGeom prst="rightBrace">
            <a:avLst>
              <a:gd name="adj1" fmla="val 147059"/>
              <a:gd name="adj2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5AF6E3-B437-B492-6ED2-65D76458A989}"/>
              </a:ext>
            </a:extLst>
          </p:cNvPr>
          <p:cNvSpPr txBox="1"/>
          <p:nvPr/>
        </p:nvSpPr>
        <p:spPr>
          <a:xfrm>
            <a:off x="10710073" y="1086503"/>
            <a:ext cx="1350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소득과세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4981550-1A93-6525-51EF-E5A678C84ACF}"/>
              </a:ext>
            </a:extLst>
          </p:cNvPr>
          <p:cNvSpPr txBox="1"/>
          <p:nvPr/>
        </p:nvSpPr>
        <p:spPr>
          <a:xfrm>
            <a:off x="10710073" y="1865895"/>
            <a:ext cx="1350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소비과세</a:t>
            </a:r>
            <a:endParaRPr lang="ko-KR" altLang="en-US" sz="1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F32DF57-36D6-5086-079F-9D237D442655}"/>
              </a:ext>
            </a:extLst>
          </p:cNvPr>
          <p:cNvSpPr txBox="1"/>
          <p:nvPr/>
        </p:nvSpPr>
        <p:spPr>
          <a:xfrm>
            <a:off x="10710073" y="3032214"/>
            <a:ext cx="1350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재산과세</a:t>
            </a:r>
            <a:endParaRPr lang="ko-KR" altLang="en-US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BE4DA5A-6147-EB92-8A48-A3477396F54A}"/>
              </a:ext>
            </a:extLst>
          </p:cNvPr>
          <p:cNvSpPr txBox="1"/>
          <p:nvPr/>
        </p:nvSpPr>
        <p:spPr>
          <a:xfrm>
            <a:off x="10710073" y="5788361"/>
            <a:ext cx="1350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소비과세</a:t>
            </a:r>
            <a:endParaRPr lang="ko-KR" altLang="en-US" sz="1400" dirty="0"/>
          </a:p>
        </p:txBody>
      </p:sp>
      <p:sp>
        <p:nvSpPr>
          <p:cNvPr id="55" name="왼쪽 중괄호 54">
            <a:extLst>
              <a:ext uri="{FF2B5EF4-FFF2-40B4-BE49-F238E27FC236}">
                <a16:creationId xmlns:a16="http://schemas.microsoft.com/office/drawing/2014/main" id="{E4AF541B-68DC-2BC4-67AC-D360DEFBCBD6}"/>
              </a:ext>
            </a:extLst>
          </p:cNvPr>
          <p:cNvSpPr/>
          <p:nvPr/>
        </p:nvSpPr>
        <p:spPr>
          <a:xfrm>
            <a:off x="8475133" y="1081827"/>
            <a:ext cx="507301" cy="2728171"/>
          </a:xfrm>
          <a:prstGeom prst="leftBrace">
            <a:avLst>
              <a:gd name="adj1" fmla="val 0"/>
              <a:gd name="adj2" fmla="val 5538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D7FBB2-0D73-CC3A-8B31-45DC841F76ED}"/>
              </a:ext>
            </a:extLst>
          </p:cNvPr>
          <p:cNvSpPr txBox="1"/>
          <p:nvPr/>
        </p:nvSpPr>
        <p:spPr>
          <a:xfrm>
            <a:off x="7564119" y="2331841"/>
            <a:ext cx="913081" cy="5232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내국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세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(8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개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)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8BA25A-B97D-DC80-AFEB-E611A56374D4}"/>
              </a:ext>
            </a:extLst>
          </p:cNvPr>
          <p:cNvSpPr txBox="1"/>
          <p:nvPr/>
        </p:nvSpPr>
        <p:spPr>
          <a:xfrm>
            <a:off x="7564119" y="4857101"/>
            <a:ext cx="913081" cy="5232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목적세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(3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개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)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9" name="왼쪽 중괄호 58">
            <a:extLst>
              <a:ext uri="{FF2B5EF4-FFF2-40B4-BE49-F238E27FC236}">
                <a16:creationId xmlns:a16="http://schemas.microsoft.com/office/drawing/2014/main" id="{B2C7ACAD-B6ED-E709-5419-915D9E19E244}"/>
              </a:ext>
            </a:extLst>
          </p:cNvPr>
          <p:cNvSpPr/>
          <p:nvPr/>
        </p:nvSpPr>
        <p:spPr>
          <a:xfrm>
            <a:off x="8475133" y="4732052"/>
            <a:ext cx="507301" cy="757259"/>
          </a:xfrm>
          <a:prstGeom prst="leftBrace">
            <a:avLst>
              <a:gd name="adj1" fmla="val 0"/>
              <a:gd name="adj2" fmla="val 5538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95E942-44AB-4B75-8070-86CA049C86C0}"/>
              </a:ext>
            </a:extLst>
          </p:cNvPr>
          <p:cNvSpPr txBox="1"/>
          <p:nvPr/>
        </p:nvSpPr>
        <p:spPr>
          <a:xfrm>
            <a:off x="6136900" y="3429000"/>
            <a:ext cx="913081" cy="5232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국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세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(14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개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)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1" name="왼쪽 중괄호 60">
            <a:extLst>
              <a:ext uri="{FF2B5EF4-FFF2-40B4-BE49-F238E27FC236}">
                <a16:creationId xmlns:a16="http://schemas.microsoft.com/office/drawing/2014/main" id="{C0B7AAFF-3C4F-BE5F-C7EA-D9A970AD913B}"/>
              </a:ext>
            </a:extLst>
          </p:cNvPr>
          <p:cNvSpPr/>
          <p:nvPr/>
        </p:nvSpPr>
        <p:spPr>
          <a:xfrm>
            <a:off x="7051571" y="2593451"/>
            <a:ext cx="507301" cy="2562749"/>
          </a:xfrm>
          <a:prstGeom prst="leftBrace">
            <a:avLst>
              <a:gd name="adj1" fmla="val 0"/>
              <a:gd name="adj2" fmla="val 43489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283855E3-2040-3A1C-291D-154A2775B625}"/>
              </a:ext>
            </a:extLst>
          </p:cNvPr>
          <p:cNvCxnSpPr>
            <a:cxnSpLocks/>
          </p:cNvCxnSpPr>
          <p:nvPr/>
        </p:nvCxnSpPr>
        <p:spPr>
          <a:xfrm>
            <a:off x="7305221" y="2593450"/>
            <a:ext cx="0" cy="38160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1956F552-1A70-F29C-9B39-80DAFB0213B4}"/>
              </a:ext>
            </a:extLst>
          </p:cNvPr>
          <p:cNvCxnSpPr>
            <a:cxnSpLocks/>
          </p:cNvCxnSpPr>
          <p:nvPr/>
        </p:nvCxnSpPr>
        <p:spPr>
          <a:xfrm rot="16200000">
            <a:off x="8152877" y="3404330"/>
            <a:ext cx="0" cy="16920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B8E3B3A4-D193-D333-BCF7-D11E66718F18}"/>
              </a:ext>
            </a:extLst>
          </p:cNvPr>
          <p:cNvCxnSpPr>
            <a:cxnSpLocks/>
          </p:cNvCxnSpPr>
          <p:nvPr/>
        </p:nvCxnSpPr>
        <p:spPr>
          <a:xfrm rot="16200000">
            <a:off x="8152877" y="5128861"/>
            <a:ext cx="0" cy="16920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5618A7B3-C016-85FB-75D2-99A5E7682322}"/>
              </a:ext>
            </a:extLst>
          </p:cNvPr>
          <p:cNvCxnSpPr>
            <a:cxnSpLocks/>
          </p:cNvCxnSpPr>
          <p:nvPr/>
        </p:nvCxnSpPr>
        <p:spPr>
          <a:xfrm rot="16200000">
            <a:off x="8152877" y="5561619"/>
            <a:ext cx="0" cy="16920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D96D7B5-85C1-68E6-21DA-168E4B004A04}"/>
              </a:ext>
            </a:extLst>
          </p:cNvPr>
          <p:cNvSpPr txBox="1"/>
          <p:nvPr/>
        </p:nvSpPr>
        <p:spPr>
          <a:xfrm>
            <a:off x="6145362" y="1303346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현행 국세체계 </a:t>
            </a:r>
            <a:r>
              <a:rPr lang="en-US" altLang="ko-KR" sz="1400" spc="-50" dirty="0"/>
              <a:t>(2020</a:t>
            </a:r>
            <a:r>
              <a:rPr lang="ko-KR" altLang="en-US" sz="1400" spc="-50" dirty="0"/>
              <a:t>년</a:t>
            </a:r>
            <a:r>
              <a:rPr lang="en-US" altLang="ko-KR" sz="1400" spc="-50" dirty="0"/>
              <a:t>)&gt;</a:t>
            </a:r>
            <a:endParaRPr lang="ko-KR" altLang="en-US" sz="14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D1AE427-C1D7-870B-C690-94A91AF6DE49}"/>
              </a:ext>
            </a:extLst>
          </p:cNvPr>
          <p:cNvSpPr txBox="1"/>
          <p:nvPr/>
        </p:nvSpPr>
        <p:spPr>
          <a:xfrm>
            <a:off x="288789" y="958844"/>
            <a:ext cx="5800581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우리나라의 국세체계는 </a:t>
            </a:r>
            <a:r>
              <a:rPr lang="en-US" altLang="ko-KR" sz="1600" spc="-50" dirty="0"/>
              <a:t>14</a:t>
            </a:r>
            <a:r>
              <a:rPr lang="ko-KR" altLang="en-US" sz="1600" spc="-50" dirty="0"/>
              <a:t>가지의 국세로 구성된다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국세 중 소득세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법인세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부가가치세 등의 </a:t>
            </a:r>
            <a:r>
              <a:rPr lang="en-US" altLang="ko-KR" sz="1600" spc="-50" dirty="0"/>
              <a:t>8</a:t>
            </a:r>
            <a:r>
              <a:rPr lang="ko-KR" altLang="en-US" sz="1600" spc="-50" dirty="0"/>
              <a:t>가지 조세는 이로부터 거둔 수입 중 일부를 지방정부에 나눠주는 재원으로 사용할 수 있는 성격의 내국세로 분류된다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농어촌특별세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교육세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교통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에너지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환경세는 이로부터 거둬들인 수입을 특정한 용도에 사용하도록 되어있는 목적세의 성격을 갖는다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과세대상에 따라 조세를 세 가지 범주로 구분할 수 있다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개인과 법인의 </a:t>
            </a:r>
            <a:r>
              <a:rPr lang="ko-KR" altLang="en-US" sz="1600" b="1" spc="-100" dirty="0">
                <a:solidFill>
                  <a:prstClr val="black"/>
                </a:solidFill>
                <a:latin typeface="+mn-ea"/>
              </a:rPr>
              <a:t>소득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이 과세대상인 경우 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소득세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법인세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spc="-100" dirty="0">
                <a:solidFill>
                  <a:prstClr val="black"/>
                </a:solidFill>
                <a:latin typeface="+mn-ea"/>
              </a:rPr>
              <a:t>재산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이 과세대상인 경우 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상속세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증여세 등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spc="-100" dirty="0">
                <a:solidFill>
                  <a:prstClr val="black"/>
                </a:solidFill>
                <a:latin typeface="+mn-ea"/>
              </a:rPr>
              <a:t>소비행위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가 과세대상인 경우 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부가가치세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개별소비세 등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세금 부과 방식에 따라 조세를 두 가지로 분류하기도 한다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조세부담 주체에게 </a:t>
            </a:r>
            <a:r>
              <a:rPr lang="ko-KR" altLang="en-US" sz="1600" b="1" spc="-100" dirty="0">
                <a:solidFill>
                  <a:prstClr val="black"/>
                </a:solidFill>
                <a:latin typeface="+mn-ea"/>
              </a:rPr>
              <a:t>직접 부과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하는 직접세 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소득세 등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상품 등에 부과해 </a:t>
            </a:r>
            <a:r>
              <a:rPr lang="ko-KR" altLang="en-US" sz="1600" b="1" spc="-100" dirty="0">
                <a:solidFill>
                  <a:prstClr val="black"/>
                </a:solidFill>
                <a:latin typeface="+mn-ea"/>
              </a:rPr>
              <a:t>간접적으로 부과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하는 간접세 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부가가치세 등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)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7263588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CE79A3-DD30-3239-EBFE-8356435B5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일반회계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9B4C24-BE6B-BD3E-F79C-8048F168E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FF0B59-32DB-8294-F72B-55C4AD1ECB58}"/>
              </a:ext>
            </a:extLst>
          </p:cNvPr>
          <p:cNvSpPr txBox="1"/>
          <p:nvPr/>
        </p:nvSpPr>
        <p:spPr>
          <a:xfrm>
            <a:off x="288790" y="958844"/>
            <a:ext cx="11693660" cy="41535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(2) 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세출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일반회계 세출의 각 항목은 세 가지 기준에 의해 구분하고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첫번째 기준은 세출예산이 배정되는 기관을 기준으로 하는 </a:t>
            </a:r>
            <a:r>
              <a:rPr lang="ko-KR" altLang="en-US" sz="1600" b="1" spc="-50" dirty="0"/>
              <a:t>소관별 분류</a:t>
            </a:r>
            <a:r>
              <a:rPr lang="ko-KR" altLang="en-US" sz="1600" spc="-50" dirty="0"/>
              <a:t> 방식이다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2020</a:t>
            </a:r>
            <a:r>
              <a:rPr lang="ko-KR" altLang="en-US" sz="1600" spc="-50" dirty="0"/>
              <a:t>년 기준 </a:t>
            </a:r>
            <a:r>
              <a:rPr lang="en-US" altLang="ko-KR" sz="1600" spc="-50" dirty="0"/>
              <a:t>55</a:t>
            </a:r>
            <a:r>
              <a:rPr lang="ko-KR" altLang="en-US" sz="1600" spc="-50" dirty="0"/>
              <a:t>개의 소관으로 분류하고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세출예산의 대표적 분류방식으로 꼽힌다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두번째 기준은 예산사업이 수행하는 기능에 따라 분류하는 </a:t>
            </a:r>
            <a:r>
              <a:rPr lang="ko-KR" altLang="en-US" sz="1600" b="1" spc="-50" dirty="0"/>
              <a:t>기능별 분류</a:t>
            </a:r>
            <a:r>
              <a:rPr lang="ko-KR" altLang="en-US" sz="1600" spc="-50" dirty="0"/>
              <a:t> 방식이다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앞서 설명한 소관별 분류방식은 정부 지출을 통해 어떤 기능을 하는지 파악하기 힘들다는 단점을 갖고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보완할 수 있는 분류 방식이다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일반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지방행정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교육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교통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및 물류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사회복지 등 </a:t>
            </a:r>
            <a:r>
              <a:rPr lang="en-US" altLang="ko-KR" sz="1600" spc="-50" dirty="0"/>
              <a:t>16</a:t>
            </a:r>
            <a:r>
              <a:rPr lang="ko-KR" altLang="en-US" sz="1600" spc="-50" dirty="0"/>
              <a:t>가지로 나누어 분류한다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세번째 기준은 세출예산의 지출대상이 어떤 성격을 </a:t>
            </a:r>
            <a:r>
              <a:rPr lang="ko-KR" altLang="en-US" sz="1600" spc="-50" dirty="0" err="1"/>
              <a:t>갖느냐에</a:t>
            </a:r>
            <a:r>
              <a:rPr lang="ko-KR" altLang="en-US" sz="1600" spc="-50" dirty="0"/>
              <a:t> 따라 분류하는 </a:t>
            </a:r>
            <a:r>
              <a:rPr lang="ko-KR" altLang="en-US" sz="1600" b="1" spc="-50" dirty="0"/>
              <a:t>성질별 분류</a:t>
            </a:r>
            <a:r>
              <a:rPr lang="ko-KR" altLang="en-US" sz="1600" spc="-50" dirty="0"/>
              <a:t> 방식이다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앞서 설명한 기능별 분류방식과 달리 지출의 목적과 관계없이 어떤 성격을 갖는지 초점을 맞추어 분류하는 방식이다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인건비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물건비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이전지출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자산취득 등 </a:t>
            </a:r>
            <a:r>
              <a:rPr lang="en-US" altLang="ko-KR" sz="1600" spc="-50" dirty="0"/>
              <a:t>7</a:t>
            </a:r>
            <a:r>
              <a:rPr lang="ko-KR" altLang="en-US" sz="1600" spc="-50" dirty="0"/>
              <a:t>가지 범주로 나누어 분류한다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16870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77860-E011-DD32-6F15-7C8BDB81D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7E9BFB-04A1-D925-5D24-234EF5B4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일반회계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5FF82B-626E-0A72-31CA-D65A24A90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5CA9F4-75F5-9848-5A30-9E931A6FAFBE}"/>
              </a:ext>
            </a:extLst>
          </p:cNvPr>
          <p:cNvSpPr txBox="1"/>
          <p:nvPr/>
        </p:nvSpPr>
        <p:spPr>
          <a:xfrm>
            <a:off x="288790" y="958844"/>
            <a:ext cx="11693660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그림은 </a:t>
            </a:r>
            <a:r>
              <a:rPr lang="en-US" altLang="ko-KR" sz="1600" spc="-50" dirty="0"/>
              <a:t>2020</a:t>
            </a:r>
            <a:r>
              <a:rPr lang="ko-KR" altLang="en-US" sz="1600" spc="-50" dirty="0"/>
              <a:t>년 세출예산을 기능별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성질별로 </a:t>
            </a:r>
            <a:r>
              <a:rPr lang="ko-KR" altLang="en-US" sz="1600" spc="-50" dirty="0" err="1"/>
              <a:t>분류해놓았다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기능별 기준에서 볼 때</a:t>
            </a:r>
            <a:r>
              <a:rPr lang="en-US" altLang="ko-KR" sz="1600" spc="-50" dirty="0"/>
              <a:t>, ‘</a:t>
            </a:r>
            <a:r>
              <a:rPr lang="ko-KR" altLang="en-US" sz="1600" spc="-50" dirty="0"/>
              <a:t>일반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지방행정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이 총 세출의 </a:t>
            </a:r>
            <a:r>
              <a:rPr lang="en-US" altLang="ko-KR" sz="1600" spc="-50" dirty="0"/>
              <a:t>20.7%</a:t>
            </a:r>
            <a:r>
              <a:rPr lang="ko-KR" altLang="en-US" sz="1600" spc="-50" dirty="0"/>
              <a:t>를 차지해 가장 큰 비중을 차지하고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 다음으로 큰 비중을 차지하고 있는 것은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교육</a:t>
            </a:r>
            <a:r>
              <a:rPr lang="en-US" altLang="ko-KR" sz="1600" spc="-50" dirty="0"/>
              <a:t>’,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사회복지</a:t>
            </a:r>
            <a:r>
              <a:rPr lang="en-US" altLang="ko-KR" sz="1600" spc="-50" dirty="0"/>
              <a:t>’, ‘</a:t>
            </a:r>
            <a:r>
              <a:rPr lang="ko-KR" altLang="en-US" sz="1600" spc="-50" dirty="0"/>
              <a:t>국방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 으로 각각 </a:t>
            </a:r>
            <a:r>
              <a:rPr lang="en-US" altLang="ko-KR" sz="1600" spc="-50" dirty="0"/>
              <a:t>20.3%,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17.5%, 14.1%</a:t>
            </a:r>
            <a:r>
              <a:rPr lang="ko-KR" altLang="en-US" sz="1600" spc="-50" dirty="0"/>
              <a:t>를 차지하고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성질별 기준에서 볼 때</a:t>
            </a:r>
            <a:r>
              <a:rPr lang="en-US" altLang="ko-KR" sz="1600" spc="-50" dirty="0"/>
              <a:t>, ‘</a:t>
            </a:r>
            <a:r>
              <a:rPr lang="ko-KR" altLang="en-US" sz="1600" spc="-50" dirty="0"/>
              <a:t>이전지출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의 성격을 갖는 지출이 총 세출의 </a:t>
            </a:r>
            <a:r>
              <a:rPr lang="en-US" altLang="ko-KR" sz="1600" spc="-50" dirty="0"/>
              <a:t>58.8%</a:t>
            </a:r>
            <a:r>
              <a:rPr lang="ko-KR" altLang="en-US" sz="1600" spc="-50" dirty="0"/>
              <a:t>를 차지해 압도적으로 큰 비중을 차지하고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 다음으로 큰 비중을 차지하고 있는 것은 </a:t>
            </a:r>
            <a:r>
              <a:rPr lang="en-US" altLang="ko-KR" sz="1600" spc="-50" dirty="0"/>
              <a:t>‘</a:t>
            </a:r>
            <a:r>
              <a:rPr lang="ko-KR" altLang="en-US" sz="1600" spc="-50" dirty="0" err="1"/>
              <a:t>전출금</a:t>
            </a:r>
            <a:r>
              <a:rPr lang="ko-KR" altLang="en-US" sz="1600" spc="-50" dirty="0"/>
              <a:t> 등</a:t>
            </a:r>
            <a:r>
              <a:rPr lang="en-US" altLang="ko-KR" sz="1600" spc="-50" dirty="0"/>
              <a:t>’,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인건비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로 각각 </a:t>
            </a:r>
            <a:r>
              <a:rPr lang="en-US" altLang="ko-KR" sz="1600" spc="-50" dirty="0"/>
              <a:t>14.3%, 10.7%</a:t>
            </a:r>
            <a:r>
              <a:rPr lang="ko-KR" altLang="en-US" sz="1600" spc="-50" dirty="0"/>
              <a:t>를 차지하고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기능별 분류의 경우보다 직관적인 설명력이 다소 떨어진다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예산안에는 일반회계 세출예산을 소관별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기능별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성질별의 세 가지로 분류한 것을 동시에 제시하고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정부지출의 성격으로 여러 측면에서 살펴보기 위한 의도이다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AF70D39-8F34-45DB-DDD7-3CACA7B7C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5" y="4825744"/>
            <a:ext cx="4584589" cy="143268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6D5BDF4-A021-9B98-40D9-C82BC1F8B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625" y="4825744"/>
            <a:ext cx="4584589" cy="14326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6C982C1-C491-AAC3-F036-0E18E78EF7FA}"/>
              </a:ext>
            </a:extLst>
          </p:cNvPr>
          <p:cNvSpPr txBox="1"/>
          <p:nvPr/>
        </p:nvSpPr>
        <p:spPr>
          <a:xfrm>
            <a:off x="1278834" y="5855270"/>
            <a:ext cx="88524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일반</a:t>
            </a:r>
            <a:r>
              <a:rPr lang="en-US" altLang="ko-KR" sz="900" spc="-50" dirty="0"/>
              <a:t>·</a:t>
            </a:r>
            <a:r>
              <a:rPr lang="ko-KR" altLang="en-US" sz="900" spc="-50" dirty="0"/>
              <a:t>지방행정</a:t>
            </a:r>
            <a:endParaRPr lang="ko-KR" alt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D6FE31-4FDD-655C-E2B9-3236FFEB9865}"/>
              </a:ext>
            </a:extLst>
          </p:cNvPr>
          <p:cNvSpPr txBox="1"/>
          <p:nvPr/>
        </p:nvSpPr>
        <p:spPr>
          <a:xfrm>
            <a:off x="1659834" y="4871332"/>
            <a:ext cx="106304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dirty="0"/>
              <a:t>공공질서</a:t>
            </a:r>
            <a:endParaRPr lang="en-US" altLang="ko-KR" sz="900" dirty="0"/>
          </a:p>
          <a:p>
            <a:pPr algn="ctr"/>
            <a:r>
              <a:rPr lang="ko-KR" altLang="en-US" sz="900" dirty="0"/>
              <a:t>및</a:t>
            </a:r>
            <a:endParaRPr lang="en-US" altLang="ko-KR" sz="900" dirty="0"/>
          </a:p>
          <a:p>
            <a:pPr algn="ctr"/>
            <a:r>
              <a:rPr lang="ko-KR" altLang="en-US" sz="900" dirty="0"/>
              <a:t>안전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2C5AEC-F88D-B914-3991-6CB1CA564CE0}"/>
              </a:ext>
            </a:extLst>
          </p:cNvPr>
          <p:cNvSpPr txBox="1"/>
          <p:nvPr/>
        </p:nvSpPr>
        <p:spPr>
          <a:xfrm>
            <a:off x="2294834" y="5855270"/>
            <a:ext cx="4382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/>
              <a:t>국방</a:t>
            </a:r>
            <a:endParaRPr lang="ko-KR" alt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CBF484-C457-85C4-DAF6-E7D611FFF94F}"/>
              </a:ext>
            </a:extLst>
          </p:cNvPr>
          <p:cNvSpPr txBox="1"/>
          <p:nvPr/>
        </p:nvSpPr>
        <p:spPr>
          <a:xfrm>
            <a:off x="2928068" y="5855270"/>
            <a:ext cx="4382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교육</a:t>
            </a:r>
            <a:endParaRPr lang="ko-KR" alt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77435E-E56D-4DFD-9103-46B980AB694C}"/>
              </a:ext>
            </a:extLst>
          </p:cNvPr>
          <p:cNvSpPr txBox="1"/>
          <p:nvPr/>
        </p:nvSpPr>
        <p:spPr>
          <a:xfrm>
            <a:off x="3591835" y="5855270"/>
            <a:ext cx="438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사회복지</a:t>
            </a:r>
            <a:endParaRPr lang="ko-KR" alt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E37CF4-4773-D886-6057-A66372CEE4DE}"/>
              </a:ext>
            </a:extLst>
          </p:cNvPr>
          <p:cNvSpPr txBox="1"/>
          <p:nvPr/>
        </p:nvSpPr>
        <p:spPr>
          <a:xfrm>
            <a:off x="3966154" y="4871332"/>
            <a:ext cx="46360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dirty="0"/>
              <a:t>교통</a:t>
            </a:r>
            <a:endParaRPr lang="en-US" altLang="ko-KR" sz="900" dirty="0"/>
          </a:p>
          <a:p>
            <a:pPr algn="ctr"/>
            <a:r>
              <a:rPr lang="ko-KR" altLang="en-US" sz="900" dirty="0"/>
              <a:t>및</a:t>
            </a:r>
            <a:endParaRPr lang="en-US" altLang="ko-KR" sz="900" dirty="0"/>
          </a:p>
          <a:p>
            <a:pPr algn="ctr"/>
            <a:r>
              <a:rPr lang="ko-KR" altLang="en-US" sz="900" dirty="0"/>
              <a:t>물류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D895CE-E0B3-AA36-3BFC-1A710ACF14BC}"/>
              </a:ext>
            </a:extLst>
          </p:cNvPr>
          <p:cNvSpPr txBox="1"/>
          <p:nvPr/>
        </p:nvSpPr>
        <p:spPr>
          <a:xfrm>
            <a:off x="4377164" y="5855270"/>
            <a:ext cx="4382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기타</a:t>
            </a:r>
            <a:endParaRPr lang="ko-KR" altLang="en-US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97CC42-F9E6-C95A-8F2D-6929CCA2EC96}"/>
              </a:ext>
            </a:extLst>
          </p:cNvPr>
          <p:cNvSpPr txBox="1"/>
          <p:nvPr/>
        </p:nvSpPr>
        <p:spPr>
          <a:xfrm>
            <a:off x="3449428" y="4395225"/>
            <a:ext cx="358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&lt;2020</a:t>
            </a:r>
            <a:r>
              <a:rPr lang="ko-KR" altLang="en-US" sz="1400" spc="-50" dirty="0"/>
              <a:t>년도 일반회계 세출예산 내역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CA29D0-D6E1-4AF3-6852-C14B30E8DCD9}"/>
              </a:ext>
            </a:extLst>
          </p:cNvPr>
          <p:cNvSpPr txBox="1"/>
          <p:nvPr/>
        </p:nvSpPr>
        <p:spPr>
          <a:xfrm>
            <a:off x="6341166" y="5855270"/>
            <a:ext cx="3949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/>
              <a:t>인건비</a:t>
            </a:r>
            <a:endParaRPr lang="ko-KR" altLang="en-US" sz="9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7C9CBF-B384-8B02-245F-225428B57E8F}"/>
              </a:ext>
            </a:extLst>
          </p:cNvPr>
          <p:cNvSpPr txBox="1"/>
          <p:nvPr/>
        </p:nvSpPr>
        <p:spPr>
          <a:xfrm>
            <a:off x="6649057" y="5855270"/>
            <a:ext cx="3949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물건비</a:t>
            </a:r>
            <a:endParaRPr lang="ko-KR" altLang="en-US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B27C6F-C567-0C14-B997-0328FF228790}"/>
              </a:ext>
            </a:extLst>
          </p:cNvPr>
          <p:cNvSpPr txBox="1"/>
          <p:nvPr/>
        </p:nvSpPr>
        <p:spPr>
          <a:xfrm>
            <a:off x="7537394" y="5855270"/>
            <a:ext cx="88524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이전지출</a:t>
            </a:r>
            <a:endParaRPr lang="ko-KR" altLang="en-US" sz="9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E5DED9-D13D-359E-956A-E9CFA8907E11}"/>
              </a:ext>
            </a:extLst>
          </p:cNvPr>
          <p:cNvSpPr txBox="1"/>
          <p:nvPr/>
        </p:nvSpPr>
        <p:spPr>
          <a:xfrm>
            <a:off x="8926223" y="5855270"/>
            <a:ext cx="3949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자산취득</a:t>
            </a:r>
            <a:endParaRPr lang="ko-KR" altLang="en-US" sz="9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C0A309-3581-54CE-AB71-34568B2AD423}"/>
              </a:ext>
            </a:extLst>
          </p:cNvPr>
          <p:cNvSpPr txBox="1"/>
          <p:nvPr/>
        </p:nvSpPr>
        <p:spPr>
          <a:xfrm>
            <a:off x="9049577" y="5855270"/>
            <a:ext cx="885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 err="1"/>
              <a:t>전출금</a:t>
            </a:r>
            <a:r>
              <a:rPr lang="ko-KR" altLang="en-US" sz="900" spc="-50" dirty="0"/>
              <a:t> </a:t>
            </a:r>
            <a:endParaRPr lang="en-US" altLang="ko-KR" sz="900" spc="-50" dirty="0"/>
          </a:p>
          <a:p>
            <a:pPr algn="ctr"/>
            <a:r>
              <a:rPr lang="ko-KR" altLang="en-US" sz="900" spc="-50" dirty="0"/>
              <a:t>등</a:t>
            </a:r>
            <a:endParaRPr lang="ko-KR" altLang="en-US" sz="9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DDF100-F10A-0C7A-CA89-1D976707B036}"/>
              </a:ext>
            </a:extLst>
          </p:cNvPr>
          <p:cNvSpPr txBox="1"/>
          <p:nvPr/>
        </p:nvSpPr>
        <p:spPr>
          <a:xfrm>
            <a:off x="9382097" y="5855270"/>
            <a:ext cx="885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기</a:t>
            </a:r>
            <a:endParaRPr lang="en-US" altLang="ko-KR" sz="900" spc="-50" dirty="0"/>
          </a:p>
          <a:p>
            <a:pPr algn="ctr"/>
            <a:r>
              <a:rPr lang="ko-KR" altLang="en-US" sz="900" spc="-50" dirty="0"/>
              <a:t>타</a:t>
            </a:r>
            <a:endParaRPr lang="en-US" altLang="ko-KR" sz="900" spc="-50" dirty="0"/>
          </a:p>
        </p:txBody>
      </p:sp>
    </p:spTree>
    <p:extLst>
      <p:ext uri="{BB962C8B-B14F-4D97-AF65-F5344CB8AC3E}">
        <p14:creationId xmlns:p14="http://schemas.microsoft.com/office/powerpoint/2010/main" val="30847153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B7BEF-C226-D189-642D-662ABE3EB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222787-6FCB-7528-CE48-5B11C5E89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특별회계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451EC9-0BE1-0B9B-5C96-305739ED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3F906F-E76D-362B-BA3E-07D726B71981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수행하고 있는 예산사업의 성격상 일반회계와 별도로 특별한 회계를 만들어 관리하는 것이 바람직한 경우가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예를 들어 어떤 사업의 성격이 독특해 별도의 관리를 </a:t>
            </a:r>
            <a:r>
              <a:rPr lang="ko-KR" altLang="en-US" sz="1600" spc="-50" dirty="0" err="1"/>
              <a:t>요구한다든지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아니면 세입과 세출을 한꺼번에 묶어 다로 관리할 필요가 있는 등의 이유로 특별회계를 만들어 운영하게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설립목적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운영 주체 등 </a:t>
            </a:r>
            <a:r>
              <a:rPr lang="ko-KR" altLang="en-US" sz="1600" spc="-50" dirty="0" err="1"/>
              <a:t>여러사항들을</a:t>
            </a:r>
            <a:r>
              <a:rPr lang="ko-KR" altLang="en-US" sz="1600" spc="-50" dirty="0"/>
              <a:t> 규정한 개별 법률이 특별회계를 뒷받침하고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일반예산과 마찬가지로 행정부가 편성하고 국회의 심의를 받아 의결되는 과정을 거쳐야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우리나라에는 기업특별회계와 기타특별회계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범주로 나누어 운영하고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기업특별회계는 공기업과 관련된 특별회계의 범주를 의미한다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양곡관리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우편사업 등 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가지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기타특별회계에서는 교통시설특별회계가 특별회계 총 예산에서 가장 큰 비중</a:t>
            </a:r>
            <a:r>
              <a:rPr lang="en-US" altLang="ko-KR" sz="1600" spc="-50" dirty="0"/>
              <a:t>(22.6%)</a:t>
            </a:r>
            <a:r>
              <a:rPr lang="ko-KR" altLang="en-US" sz="1600" spc="-50" dirty="0"/>
              <a:t>을 차지하고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그 밖에 환경개선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농어촌구조개선 등 </a:t>
            </a:r>
            <a:r>
              <a:rPr lang="en-US" altLang="ko-KR" sz="1600" spc="-50" dirty="0"/>
              <a:t>15</a:t>
            </a:r>
            <a:r>
              <a:rPr lang="ko-KR" altLang="en-US" sz="1600" spc="-50" dirty="0"/>
              <a:t>가지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특별회계의 바람직한 규모는 명확히 정할 수는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예산통일의 원칙 관점에서는 일반회계의 예외 경우인 특별회계의 수는 적을수록 바람직하다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너무 많은 특별회계를 운영하면 국회와 국민이 그 예산을 감시하고 통제하는 일이 어려워진다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반면 특별회계의 설치는 행정기관에 자유재량의 여지를 넓혀 줌으로 인해 행정능률과 경영능률 향상에 기여하는 측면이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35625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9BA4A-1962-A081-5985-4994B8526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1F06C1-62E1-9E5F-EAC0-6168E4784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869A00-DE85-CDA6-CA3C-8B3DDDF2C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C2F832-4628-8F54-108D-BDD4D293C282}"/>
              </a:ext>
            </a:extLst>
          </p:cNvPr>
          <p:cNvSpPr txBox="1"/>
          <p:nvPr/>
        </p:nvSpPr>
        <p:spPr>
          <a:xfrm>
            <a:off x="288790" y="958844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기금은 특별한 목적을 수행하기 위해 특정한 자금을 예산과는 독립적으로 운영할 필요가 있을 때 설치된다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설명한 일반회계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특별회계의 경우에는 국회의 심의와 의결을 거쳐야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까다로운 규정들이 적용되기 때문에 경직성을 가질 수 밖에 없다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이러한 까다로운 규정은 행정부의 자의적 행동을 규제한다는 긍정적 측면을 갖고 있으나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경제상황의 변화에 유연한 대처가 어렵다는 단점이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이런 문제를 해결 하고자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특정한 자금을 예산의 틀 밖에서 기금을 탄력적으로 운영하고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기금은 특정한 수입을 특정한 지출에 사용할 수 있도록 하기 위해 설립되는 것이기 때문에 유용하게 활용할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예산의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특정한 세입을 특정한 세출목적과 결부시키는 것을 금지하는 목적구속금지의 원칙에 기초하고 있기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세입과 세출의 측면을 유기적으로 연관시켜 사업을 효율적으로 추진하기 힘들다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목적구속금지 원칙의 예외로 목적세가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현실적인 제약으로 인해 너무 많은 목적세를 운영할 수는 없다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우리나라는 각 부처가 경쟁적으로 수많은 기금들을 설립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운영해왔다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2020</a:t>
            </a:r>
            <a:r>
              <a:rPr lang="ko-KR" altLang="en-US" sz="1600" spc="-50" dirty="0"/>
              <a:t>년 현재 무려 </a:t>
            </a:r>
            <a:r>
              <a:rPr lang="en-US" altLang="ko-KR" sz="1600" spc="-50" dirty="0"/>
              <a:t>67</a:t>
            </a:r>
            <a:r>
              <a:rPr lang="ko-KR" altLang="en-US" sz="1600" spc="-50" dirty="0"/>
              <a:t>개의 기금이 존재하고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총 운용규모는 일반회계 예산규모의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배에 가까운 </a:t>
            </a:r>
            <a:r>
              <a:rPr lang="en-US" altLang="ko-KR" sz="1600" spc="-50" dirty="0"/>
              <a:t>724.8</a:t>
            </a:r>
            <a:r>
              <a:rPr lang="ko-KR" altLang="en-US" sz="1600" spc="-50" dirty="0"/>
              <a:t>조원이다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56994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9AFC8-4A57-91D3-26A9-DFD7539B2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38C70F-1F6D-D72B-53B1-B97995F0F5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B30A23-7035-123F-C4C4-AABFA58AD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9987B19-3EC7-FC76-E623-3268B9EEE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정부지출의 수준과 구성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5620293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BBE2F-5E20-744C-9432-8FCF8D19F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EF7115-CAED-6AB9-0435-998FA0B3A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지출수준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17B6A6-631E-CF99-0A4F-8B916A8C6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8014B1-403E-7BFA-D5DB-8CE5492D9064}"/>
              </a:ext>
            </a:extLst>
          </p:cNvPr>
          <p:cNvSpPr txBox="1"/>
          <p:nvPr/>
        </p:nvSpPr>
        <p:spPr>
          <a:xfrm>
            <a:off x="288790" y="958844"/>
            <a:ext cx="11693660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</a:t>
            </a:r>
            <a:r>
              <a:rPr lang="en-US" altLang="ko-KR" sz="1600" spc="-50" dirty="0"/>
              <a:t>6</a:t>
            </a:r>
            <a:r>
              <a:rPr lang="ko-KR" altLang="en-US" sz="1600" spc="-50" dirty="0"/>
              <a:t>번 슬라이드의 표에는 중앙정부의 재정규모가 국내총생산</a:t>
            </a:r>
            <a:r>
              <a:rPr lang="en-US" altLang="ko-KR" sz="1600" spc="-50" dirty="0"/>
              <a:t>(GDP)</a:t>
            </a:r>
            <a:r>
              <a:rPr lang="ko-KR" altLang="en-US" sz="1600" spc="-50" dirty="0"/>
              <a:t>과 대비되어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보면 중앙정부 재정의 규모가 국내총생산보다 상대적으로 더 빠른 속도로 커져온 추세를 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중앙정부의 재정규모를 국내총생산으로 나눈 비율이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17.0%</a:t>
            </a:r>
            <a:r>
              <a:rPr lang="ko-KR" altLang="en-US" sz="1600" spc="-50" dirty="0"/>
              <a:t>였지만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23.8% </a:t>
            </a:r>
            <a:r>
              <a:rPr lang="ko-KR" altLang="en-US" sz="1600" spc="-50" dirty="0"/>
              <a:t>수준까지 증가하였다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</a:t>
            </a:r>
            <a:r>
              <a:rPr lang="ko-KR" altLang="en-US" sz="1600" spc="-50" dirty="0" err="1"/>
              <a:t>설명했다시피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국내총생산 대비 재정규모 비중의 적정한 수준이라는 것은 없다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우리나라의 재정규모를 다른 나라와 비교를 해보면 아래의 그림과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국제통화기금</a:t>
            </a:r>
            <a:r>
              <a:rPr lang="en-US" altLang="ko-KR" sz="1600" spc="-50" dirty="0"/>
              <a:t>(IMF)</a:t>
            </a:r>
            <a:r>
              <a:rPr lang="ko-KR" altLang="en-US" sz="1600" spc="-50" dirty="0"/>
              <a:t>에서 정리한 자료로서 우리나라를 포함한 </a:t>
            </a:r>
            <a:r>
              <a:rPr lang="en-US" altLang="ko-KR" sz="1600" spc="-50" dirty="0"/>
              <a:t>9</a:t>
            </a:r>
            <a:r>
              <a:rPr lang="ko-KR" altLang="en-US" sz="1600" spc="-50" dirty="0"/>
              <a:t>개국의 국내총생산</a:t>
            </a:r>
            <a:r>
              <a:rPr lang="en-US" altLang="ko-KR" sz="1600" spc="-50" dirty="0"/>
              <a:t>(GDP)</a:t>
            </a:r>
            <a:r>
              <a:rPr lang="ko-KR" altLang="en-US" sz="1600" spc="-50" dirty="0"/>
              <a:t>에서 중앙정부의 지출이 차지하는 비중을 보여주고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현재 우리나라의 재정규모는 선진국은 물론 우리와 비슷한 소득수준의 다른 나라들에 비해 작은 편에 속한다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이러한 사실을 토대로 우리나라 재정규모가 더 커지는 것이 </a:t>
            </a:r>
            <a:r>
              <a:rPr lang="ko-KR" altLang="en-US" sz="1600" spc="-50" dirty="0" err="1"/>
              <a:t>바람직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r>
              <a:rPr lang="ko-KR" altLang="en-US" sz="1600" spc="-50" dirty="0"/>
              <a:t>     하다는 규범적인 주장까지 이르면 문제가 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나라마다 여건이 다르므로 반드시 선례를 따를 이유는 없기 때문이다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43C4891-2E8B-D060-BF69-2DC554C56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680" y="4350863"/>
            <a:ext cx="3782238" cy="22390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98E4DD-2FD6-1F2A-1559-15F0CAE69303}"/>
              </a:ext>
            </a:extLst>
          </p:cNvPr>
          <p:cNvSpPr txBox="1"/>
          <p:nvPr/>
        </p:nvSpPr>
        <p:spPr>
          <a:xfrm>
            <a:off x="8081759" y="4073566"/>
            <a:ext cx="358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중앙정부 지출이 </a:t>
            </a:r>
            <a:r>
              <a:rPr lang="en-US" altLang="ko-KR" sz="1200" spc="-50" dirty="0"/>
              <a:t>GDP</a:t>
            </a:r>
            <a:r>
              <a:rPr lang="ko-KR" altLang="en-US" sz="1200" spc="-50" dirty="0"/>
              <a:t>에서 차지하는 비중 </a:t>
            </a:r>
            <a:r>
              <a:rPr lang="en-US" altLang="ko-KR" sz="1200" spc="-50" dirty="0"/>
              <a:t>(2018)&gt;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F0DF43-2152-49C6-FC05-5CEDCC8D6E3D}"/>
              </a:ext>
            </a:extLst>
          </p:cNvPr>
          <p:cNvSpPr txBox="1"/>
          <p:nvPr/>
        </p:nvSpPr>
        <p:spPr>
          <a:xfrm>
            <a:off x="10901159" y="6259908"/>
            <a:ext cx="6863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50" dirty="0"/>
              <a:t>단위</a:t>
            </a:r>
            <a:r>
              <a:rPr lang="en-US" altLang="ko-KR" sz="1200" spc="-50" dirty="0"/>
              <a:t>: %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212791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B3C622-CBE5-AFFA-6202-009FA890A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지출수준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DAA2D-1A0A-BA9E-036C-2D652B1DC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B70C85-8A88-3D62-8E68-86852C71FC03}"/>
              </a:ext>
            </a:extLst>
          </p:cNvPr>
          <p:cNvSpPr txBox="1"/>
          <p:nvPr/>
        </p:nvSpPr>
        <p:spPr>
          <a:xfrm>
            <a:off x="288790" y="958844"/>
            <a:ext cx="11693660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현재의 재정규모가 적정한 것인지 평가 하려면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하는 일을 자세히 살펴보아야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낭비를 삼가고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꼭 필요한 활동만 효율적으로 하면 작은 정부라면 문제가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한편 정부가 당연히 해야 할 일도 하지 못하는 작은 정부라면 문제가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아래의 표를 보면 우리나라의 국내총생산 대비 공공부문 사회적 지출 비중이 </a:t>
            </a:r>
            <a:r>
              <a:rPr lang="en-US" altLang="ko-KR" sz="1600" spc="-50" dirty="0"/>
              <a:t>OECD </a:t>
            </a:r>
            <a:r>
              <a:rPr lang="ko-KR" altLang="en-US" sz="1600" spc="-50" dirty="0"/>
              <a:t>국가들 중 최하위인 것을 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선진국들은 국내총생산의 </a:t>
            </a:r>
            <a:r>
              <a:rPr lang="en-US" altLang="ko-KR" sz="1600" spc="-50" dirty="0"/>
              <a:t>20% </a:t>
            </a:r>
            <a:r>
              <a:rPr lang="ko-KR" altLang="en-US" sz="1600" spc="-50" dirty="0"/>
              <a:t>내외를 사회적 지출로 사용하지만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우리나라는 </a:t>
            </a:r>
            <a:r>
              <a:rPr lang="en-US" altLang="ko-KR" sz="1600" spc="-50" dirty="0"/>
              <a:t>10%</a:t>
            </a:r>
            <a:r>
              <a:rPr lang="ko-KR" altLang="en-US" sz="1600" spc="-50" dirty="0"/>
              <a:t>대에 머물고 있다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333A60E-5062-F52A-B60E-6DB915EAA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984225"/>
              </p:ext>
            </p:extLst>
          </p:nvPr>
        </p:nvGraphicFramePr>
        <p:xfrm>
          <a:off x="701293" y="3427852"/>
          <a:ext cx="10413750" cy="297135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35625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3382775548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4205076024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1990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2015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2018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오스트레일리아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캐나다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덴마크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프랑스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독일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노르웨이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스웨덴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305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FEBF603-E318-D48E-639D-893C9CC291FE}"/>
              </a:ext>
            </a:extLst>
          </p:cNvPr>
          <p:cNvSpPr txBox="1"/>
          <p:nvPr/>
        </p:nvSpPr>
        <p:spPr>
          <a:xfrm>
            <a:off x="2801470" y="3122020"/>
            <a:ext cx="53366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&lt;OECD </a:t>
            </a:r>
            <a:r>
              <a:rPr lang="ko-KR" altLang="en-US" sz="1400" spc="-50" dirty="0"/>
              <a:t>국가들의 국내총생산 대비 공공부문 사회적 지출의 비율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885300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90F98-1AB4-900F-C3D7-72007327F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08D5E-778D-8BCA-A514-0192E7917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지출의</a:t>
            </a:r>
            <a:r>
              <a:rPr lang="en-US" altLang="ko-KR" dirty="0"/>
              <a:t> </a:t>
            </a:r>
            <a:r>
              <a:rPr lang="ko-KR" altLang="en-US" dirty="0"/>
              <a:t>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2BCB87-B27B-FC9A-83F3-F5996A19A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7139C8-8E95-9150-3056-2BF0CF453D31}"/>
              </a:ext>
            </a:extLst>
          </p:cNvPr>
          <p:cNvSpPr txBox="1"/>
          <p:nvPr/>
        </p:nvSpPr>
        <p:spPr>
          <a:xfrm>
            <a:off x="288790" y="958844"/>
            <a:ext cx="11693660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표는 정부 지출의 기능별 배분 추이를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년부터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년까지 보여주고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사회복지 부문의 경우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8.9%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17.1%</a:t>
            </a:r>
            <a:r>
              <a:rPr lang="ko-KR" altLang="en-US" sz="1600" spc="-50" dirty="0"/>
              <a:t>에 이르는 수준으로 크게 높아졌다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정부가 국민의 삶의 질 향상을 위해 지속적으로 노력한 결과라고 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국방비의 경우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25%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14.1%</a:t>
            </a:r>
            <a:r>
              <a:rPr lang="ko-KR" altLang="en-US" sz="1600" spc="-50" dirty="0"/>
              <a:t>의 수준으로 그 비중이 계속 줄어들었다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다른 나라에 비하면 여전히 우리나라의 국방비 지출 비중은 상대적으로 높은 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교육분야의 경우 꾸준히 </a:t>
            </a:r>
            <a:r>
              <a:rPr lang="en-US" altLang="ko-KR" sz="1600" spc="-50" dirty="0"/>
              <a:t>20% </a:t>
            </a:r>
            <a:r>
              <a:rPr lang="ko-KR" altLang="en-US" sz="1600" spc="-50" dirty="0"/>
              <a:t>내외 수준을 유지하고 있어 중요한 비중을 차지하고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경제분야의 경우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년대에는 </a:t>
            </a:r>
            <a:r>
              <a:rPr lang="en-US" altLang="ko-KR" sz="1600" spc="-50" dirty="0"/>
              <a:t>20% </a:t>
            </a:r>
            <a:r>
              <a:rPr lang="ko-KR" altLang="en-US" sz="1600" spc="-50" dirty="0"/>
              <a:t>수준이었으나</a:t>
            </a:r>
            <a:r>
              <a:rPr lang="en-US" altLang="ko-KR" sz="1600" spc="-50" dirty="0"/>
              <a:t>, 2019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14.5%</a:t>
            </a:r>
            <a:r>
              <a:rPr lang="ko-KR" altLang="en-US" sz="1600" spc="-50" dirty="0"/>
              <a:t>까지 줄어들었다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경제발전 초기에는 정부가 경제에 깊숙이 개입했지만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현재는 개입의 범위를 줄여가고 있다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4C7F84E-379F-A9A9-B6D6-CB8F23EF0D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982798"/>
              </p:ext>
            </p:extLst>
          </p:nvPr>
        </p:nvGraphicFramePr>
        <p:xfrm>
          <a:off x="701293" y="4317068"/>
          <a:ext cx="10413753" cy="227041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87679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3382775548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1783205468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4205076024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사회복지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국방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교육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경제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기타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  <a:endParaRPr lang="en-US" sz="105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2017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2018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2019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255B126-01FB-50EE-F291-9D2B7A1CBFCA}"/>
              </a:ext>
            </a:extLst>
          </p:cNvPr>
          <p:cNvSpPr txBox="1"/>
          <p:nvPr/>
        </p:nvSpPr>
        <p:spPr>
          <a:xfrm>
            <a:off x="2801470" y="4011236"/>
            <a:ext cx="53366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일반회계의 기능별 세출비중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410308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09412-C19A-4290-3307-F76585F27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88FA50-5A64-CB2C-A9CC-AC1B6182F7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FBBE6E-76A7-CC95-FDC2-5AFB7A5D4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8298C76-ECF9-2277-6763-6ECCF0FA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조세제도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6805653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86259-671B-F062-8351-75E300F38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BB8EBF-4393-A8DD-8CF1-E9B724A25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조세부담률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E98386-B654-43BA-2A03-B2E4BAFB4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58D68F-139D-CBA8-A14E-41372BE66B81}"/>
              </a:ext>
            </a:extLst>
          </p:cNvPr>
          <p:cNvSpPr txBox="1"/>
          <p:nvPr/>
        </p:nvSpPr>
        <p:spPr>
          <a:xfrm>
            <a:off x="288790" y="958844"/>
            <a:ext cx="11693660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슬라이드 </a:t>
            </a:r>
            <a:r>
              <a:rPr lang="en-US" altLang="ko-KR" sz="1600" spc="-50" dirty="0"/>
              <a:t>6</a:t>
            </a:r>
            <a:r>
              <a:rPr lang="ko-KR" altLang="en-US" sz="1600" spc="-50" dirty="0"/>
              <a:t>에서 보았듯이 우리나라의 재정규모는 경제성장 속도보다 더 빠른 속도로 팽창해왔다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아래 왼쪽 표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아래 표에서 </a:t>
            </a:r>
            <a:r>
              <a:rPr lang="ko-KR" altLang="en-US" sz="1600" spc="-50" dirty="0" err="1"/>
              <a:t>조세부담률</a:t>
            </a:r>
            <a:r>
              <a:rPr lang="ko-KR" altLang="en-US" sz="1600" spc="-50" dirty="0"/>
              <a:t> 추이를 보면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16.6% </a:t>
            </a:r>
            <a:r>
              <a:rPr lang="ko-KR" altLang="en-US" sz="1600" spc="-50" dirty="0"/>
              <a:t>수준이었던 것이 꾸준히 상승하여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19.8%</a:t>
            </a:r>
            <a:r>
              <a:rPr lang="ko-KR" altLang="en-US" sz="1600" spc="-50" dirty="0"/>
              <a:t>까지 높아졌다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외국과 비교해보면 우리나라의 </a:t>
            </a:r>
            <a:r>
              <a:rPr lang="ko-KR" altLang="en-US" sz="1600" spc="-50" dirty="0" err="1"/>
              <a:t>조세부담률은</a:t>
            </a:r>
            <a:r>
              <a:rPr lang="ko-KR" altLang="en-US" sz="1600" spc="-50" dirty="0"/>
              <a:t> 상대적으로 낮은 수준이다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아래 오른쪽 표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선진국들의 </a:t>
            </a:r>
            <a:r>
              <a:rPr lang="ko-KR" altLang="en-US" sz="1600" spc="-50" dirty="0" err="1"/>
              <a:t>조세부담률이</a:t>
            </a:r>
            <a:r>
              <a:rPr lang="ko-KR" altLang="en-US" sz="1600" spc="-50" dirty="0"/>
              <a:t> 높은 것은 정부가 사회복지 측면에서 적극적인 활동을 벌이고 있기 때문이다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880D263-E644-2D6C-2D79-6935DD9AD6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860779"/>
              </p:ext>
            </p:extLst>
          </p:nvPr>
        </p:nvGraphicFramePr>
        <p:xfrm>
          <a:off x="396137" y="3157765"/>
          <a:ext cx="8366862" cy="330721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94477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394477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394477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1394477">
                  <a:extLst>
                    <a:ext uri="{9D8B030D-6E8A-4147-A177-3AD203B41FA5}">
                      <a16:colId xmlns:a16="http://schemas.microsoft.com/office/drawing/2014/main" val="4206849505"/>
                    </a:ext>
                  </a:extLst>
                </a:gridCol>
                <a:gridCol w="1394477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1394477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360135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국내총생산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명목 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GDP)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국민조세부담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조세부담률</a:t>
                      </a: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(%)</a:t>
                      </a: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470954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국세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지방세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292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33.20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437.0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72.10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651.6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957.4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127.5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163.50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1,322.6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177.7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226.90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1,658.0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217.9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288.90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1,740.8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242.6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318.10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2017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1,835.7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265.4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345.80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2018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1,898.2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293.6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377.90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2019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1,919.0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293.5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379.04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B3480EA-11E9-68E9-83E5-0606E65C5675}"/>
              </a:ext>
            </a:extLst>
          </p:cNvPr>
          <p:cNvSpPr txBox="1"/>
          <p:nvPr/>
        </p:nvSpPr>
        <p:spPr>
          <a:xfrm>
            <a:off x="2948509" y="2835586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 err="1"/>
              <a:t>조세부담률의</a:t>
            </a:r>
            <a:r>
              <a:rPr lang="ko-KR" altLang="en-US" sz="1400" spc="-50" dirty="0"/>
              <a:t> 변화 추이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CDBD6CB-3D32-8E54-4162-057E2F9AD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715283"/>
              </p:ext>
            </p:extLst>
          </p:nvPr>
        </p:nvGraphicFramePr>
        <p:xfrm>
          <a:off x="8932334" y="3157765"/>
          <a:ext cx="2975358" cy="330722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87679">
                  <a:extLst>
                    <a:ext uri="{9D8B030D-6E8A-4147-A177-3AD203B41FA5}">
                      <a16:colId xmlns:a16="http://schemas.microsoft.com/office/drawing/2014/main" val="2325053829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1849595612"/>
                    </a:ext>
                  </a:extLst>
                </a:gridCol>
              </a:tblGrid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국가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조세부담률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654906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</a:t>
                      </a:r>
                      <a:endParaRPr lang="en-US" sz="105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839663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486497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423549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영국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046706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프랑스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8820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독일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336293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덴마크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704078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 </a:t>
                      </a: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평균</a:t>
                      </a:r>
                      <a:endParaRPr lang="en-US" altLang="ko-KR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9989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5F8CDE6-9CBB-6D08-0B29-C34011522AD7}"/>
              </a:ext>
            </a:extLst>
          </p:cNvPr>
          <p:cNvSpPr txBox="1"/>
          <p:nvPr/>
        </p:nvSpPr>
        <p:spPr>
          <a:xfrm>
            <a:off x="9092863" y="2835586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 err="1"/>
              <a:t>조세부담률의</a:t>
            </a:r>
            <a:r>
              <a:rPr lang="ko-KR" altLang="en-US" sz="1400" spc="-50" dirty="0"/>
              <a:t> 국제비교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670563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61B86-662E-5586-CCE7-462308174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B12154-34D1-9A9C-04FE-D23C7D471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소득과세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243109-A14D-3C51-5731-77D81EB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CE9470-75AB-024D-4B37-29607FCC6B5F}"/>
              </a:ext>
            </a:extLst>
          </p:cNvPr>
          <p:cNvSpPr txBox="1"/>
          <p:nvPr/>
        </p:nvSpPr>
        <p:spPr>
          <a:xfrm>
            <a:off x="288790" y="958844"/>
            <a:ext cx="11693660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슬라이드 </a:t>
            </a:r>
            <a:r>
              <a:rPr lang="en-US" altLang="ko-KR" sz="1600" spc="-50" dirty="0"/>
              <a:t>8</a:t>
            </a:r>
            <a:r>
              <a:rPr lang="ko-KR" altLang="en-US" sz="1600" spc="-50" dirty="0"/>
              <a:t>에서 보았듯이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우리나라 국세는 과세대상이 무엇인가에 따라 소득과세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소비과세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재산과세로 분류한다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소득세와 법인세로 구성된 소득과세가 전체 국세수입의 </a:t>
            </a:r>
            <a:r>
              <a:rPr lang="en-US" altLang="ko-KR" sz="1600" spc="-50" dirty="0"/>
              <a:t>53.1%</a:t>
            </a:r>
            <a:r>
              <a:rPr lang="ko-KR" altLang="en-US" sz="1600" spc="-50" dirty="0"/>
              <a:t>를 차지하고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소득세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법인세 모두 경제주체에게 직접적으로 세금을 부과하는 직접세의 성격을 갖는다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직접세는 납세자의 조세부담 능력에 따라 세금의 크기를 결정하는 것이므로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통해 </a:t>
            </a:r>
            <a:r>
              <a:rPr lang="ko-KR" altLang="en-US" sz="1600" spc="-50" dirty="0" err="1"/>
              <a:t>어느정도의</a:t>
            </a:r>
            <a:r>
              <a:rPr lang="ko-KR" altLang="en-US" sz="1600" spc="-50" dirty="0"/>
              <a:t> 소득 재분배 효과를 얻을 수 있다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반면 소비과세 중심의 간접세는 상품이나 경제활동을 대상으로 부과하므로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누가 그 세금을 부담하게 될지 알 수 없다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간접세의 경우 납세자의 조세부담 능력에 맞춰 세금의 크기를 결정하기 어렵다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이러한 측면에서 직접세의 비중이 클 수록 </a:t>
            </a:r>
            <a:r>
              <a:rPr lang="ko-KR" altLang="en-US" sz="1600" spc="-50" dirty="0" err="1"/>
              <a:t>공평성</a:t>
            </a:r>
            <a:r>
              <a:rPr lang="ko-KR" altLang="en-US" sz="1600" spc="-50" dirty="0"/>
              <a:t> 측면에서 바람직하다고 여기는 경향이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직접세와 간접세 간의 비중만을 두고 모든 것을 판단할 수 없다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 descr="텍스트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3621AE-0A91-A814-745A-B6755106B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622" y="4635500"/>
            <a:ext cx="1885374" cy="184573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2C74370-63C0-454B-6B74-3D86AA1A5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099" y="4546765"/>
            <a:ext cx="2035813" cy="20651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593426A-B47D-7F3E-2CE4-B4353507D63D}"/>
              </a:ext>
            </a:extLst>
          </p:cNvPr>
          <p:cNvSpPr txBox="1"/>
          <p:nvPr/>
        </p:nvSpPr>
        <p:spPr>
          <a:xfrm>
            <a:off x="2230967" y="4387646"/>
            <a:ext cx="33249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</a:t>
            </a:r>
            <a:r>
              <a:rPr lang="ko-KR" altLang="en-US" sz="1050" spc="-50" dirty="0"/>
              <a:t>중앙정부의 조세수입 내역 </a:t>
            </a:r>
            <a:r>
              <a:rPr lang="en-US" altLang="ko-KR" sz="1050" spc="-50" dirty="0"/>
              <a:t>(2019</a:t>
            </a:r>
            <a:r>
              <a:rPr lang="ko-KR" altLang="en-US" sz="1050" spc="-50" dirty="0"/>
              <a:t>년도</a:t>
            </a:r>
            <a:r>
              <a:rPr lang="en-US" altLang="ko-KR" sz="1050" spc="-50" dirty="0"/>
              <a:t>)&gt;</a:t>
            </a:r>
            <a:endParaRPr lang="ko-KR" altLang="en-US" sz="10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4F0993-12F7-6AE6-2169-C13653F22D72}"/>
              </a:ext>
            </a:extLst>
          </p:cNvPr>
          <p:cNvSpPr txBox="1"/>
          <p:nvPr/>
        </p:nvSpPr>
        <p:spPr>
          <a:xfrm>
            <a:off x="5617633" y="4235839"/>
            <a:ext cx="33249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</a:t>
            </a:r>
            <a:r>
              <a:rPr lang="ko-KR" altLang="en-US" sz="1050" spc="-50" dirty="0"/>
              <a:t>현행 국세체계 </a:t>
            </a:r>
            <a:r>
              <a:rPr lang="en-US" altLang="ko-KR" sz="1050" spc="-50" dirty="0"/>
              <a:t>(2020</a:t>
            </a:r>
            <a:r>
              <a:rPr lang="ko-KR" altLang="en-US" sz="1050" spc="-50" dirty="0"/>
              <a:t>년도</a:t>
            </a:r>
            <a:r>
              <a:rPr lang="en-US" altLang="ko-KR" sz="1050" spc="-50" dirty="0"/>
              <a:t>)&gt;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240495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2D1B66-8063-CE95-696C-4A21AC30F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소득과세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2DF105-A148-7096-4ADF-D126DF7C2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1D0E20-B15F-780F-0CE9-F5F80446BD4A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실제로 조세부담이 공평하게 분배되고 있는지는 어떤 종류의 조세가 어떤 방식으로 부과되고 있는지 직접 관찰하는 방법을 통해서만 알아볼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납세자의 경제적 능력을 감안해 과세한다는 점에서 소득세가 가장 바람직하다고 볼 수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실제로 소득세가 어떻게 운영되고 있는지에 따라 부담이 분배되는 양상이 크게 달라질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예컨대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하위 소득계층의 주요 수입원인 근로소득에 대한 과세를 강화한다면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외형상의 수치가 시사하는 바와는 정반대의 실질적 결과가 나타날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우리나라에서 공평한 조세부담의 분배가 이루어지지 못하고 있는 것은 다음과 같은 측면에서 문제점을 갖고 있기 때문이다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매우 큰 규모의 탈세가 행해지고 있는 지하경제가 만연하고 있기 때문이다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근로소득은 빠짐없이 과세대상에 포함이 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사업소득의 경우 과세대상에서 빠져 나가는 부분이 크다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의사나 변호사 같은 전문직 종사자들의 납세액은 실제 소득에 비해 굉장히 적다는 사실은 널리 알려져 있다</a:t>
            </a:r>
            <a:r>
              <a:rPr lang="en-US" altLang="ko-KR" sz="1600" spc="-50" dirty="0"/>
              <a:t>.)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상속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증여세를 제대로 부과하지 못하면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아무런 세금 부담 없이 다음 세대로 부를 </a:t>
            </a:r>
            <a:r>
              <a:rPr lang="ko-KR" altLang="en-US" sz="1600" spc="-50" dirty="0" err="1"/>
              <a:t>세습시킬</a:t>
            </a:r>
            <a:r>
              <a:rPr lang="ko-KR" altLang="en-US" sz="1600" spc="-50" dirty="0"/>
              <a:t> 수 있기 때문이다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우리나라의 경우 상속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증여세는 납세자들이 내려는 의도가 있을 때만 거둘 수 있다는 느낌을 받는다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위에서 언급한 소득세와 상속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증여세의 문제점을 개선하면 직접세의 비중은 자연히 커질 것이고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공평한 조세체계를 달성할 수 있을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1729453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0C352-A9D3-46F3-351F-2399FCA65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161A15-39D2-2449-6F3D-C6DB22009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소비과세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FD821A-7952-090A-A5B7-A79F9B1C8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EA7051-15F0-FDF4-28A1-334455FBFB01}"/>
              </a:ext>
            </a:extLst>
          </p:cNvPr>
          <p:cNvSpPr txBox="1"/>
          <p:nvPr/>
        </p:nvSpPr>
        <p:spPr>
          <a:xfrm>
            <a:off x="288790" y="958844"/>
            <a:ext cx="116936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소비과세에는 부가가치세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개별소비세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교통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에너지</a:t>
            </a:r>
            <a:r>
              <a:rPr lang="en-US" altLang="ko-KR" sz="1600" spc="-50" dirty="0"/>
              <a:t>·</a:t>
            </a:r>
            <a:r>
              <a:rPr lang="ko-KR" altLang="en-US" sz="1600" spc="-50" dirty="0" err="1"/>
              <a:t>환경세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주세 등이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세금은 보통 재화나 서비스를 판매하는 사람이 세금을 납부하도록 되어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실제 조세부담은 소비자들이 진다는 의미에서 간접세로 분류된다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슬라이드 </a:t>
            </a:r>
            <a:r>
              <a:rPr lang="en-US" altLang="ko-KR" sz="1600" spc="-50" dirty="0"/>
              <a:t>19</a:t>
            </a:r>
            <a:r>
              <a:rPr lang="ko-KR" altLang="en-US" sz="1600" spc="-50" dirty="0"/>
              <a:t>를 보면</a:t>
            </a:r>
            <a:r>
              <a:rPr lang="en-US" altLang="ko-KR" sz="1600" spc="-50" dirty="0"/>
              <a:t>, 2019</a:t>
            </a:r>
            <a:r>
              <a:rPr lang="ko-KR" altLang="en-US" sz="1600" spc="-50" dirty="0"/>
              <a:t>년 중앙정부의 조세수입 중 소비과세로부터의 수입이 </a:t>
            </a:r>
            <a:r>
              <a:rPr lang="en-US" altLang="ko-KR" sz="1600" spc="-50" dirty="0"/>
              <a:t>36.3%</a:t>
            </a:r>
            <a:r>
              <a:rPr lang="ko-KR" altLang="en-US" sz="1600" spc="-50" dirty="0"/>
              <a:t>의 비중을 차지 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중에서도 부가가치세가 </a:t>
            </a:r>
            <a:r>
              <a:rPr lang="en-US" altLang="ko-KR" sz="1600" spc="-50" dirty="0"/>
              <a:t>66.5%</a:t>
            </a:r>
            <a:r>
              <a:rPr lang="ko-KR" altLang="en-US" sz="1600" spc="-50" dirty="0"/>
              <a:t>로 가장 큰 비중을 차지하고 있었다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부가가치세 수입은 전체 조세수입 중 </a:t>
            </a:r>
            <a:r>
              <a:rPr lang="en-US" altLang="ko-KR" sz="1600" spc="-50" dirty="0"/>
              <a:t>24.1%</a:t>
            </a:r>
            <a:r>
              <a:rPr lang="ko-KR" altLang="en-US" sz="1600" spc="-50" dirty="0"/>
              <a:t>를 차지하여 법인세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소득세에 이어 세번째로 높은 비중을 차지한다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부가가치세는 </a:t>
            </a:r>
            <a:r>
              <a:rPr lang="en-US" altLang="ko-KR" sz="1600" spc="-50" dirty="0"/>
              <a:t>10%</a:t>
            </a:r>
            <a:r>
              <a:rPr lang="ko-KR" altLang="en-US" sz="1600" spc="-50" dirty="0"/>
              <a:t>의 단일세율을 적용하고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거의 모든 상품을 부과대상으로 하므로 단 </a:t>
            </a:r>
            <a:r>
              <a:rPr lang="en-US" altLang="ko-KR" sz="1600" spc="-50" dirty="0"/>
              <a:t>1%</a:t>
            </a:r>
            <a:r>
              <a:rPr lang="ko-KR" altLang="en-US" sz="1600" spc="-50" dirty="0"/>
              <a:t>포인트만 올려도 조세수입이 큰 폭으로 늘어난다</a:t>
            </a:r>
            <a:r>
              <a:rPr lang="en-US" altLang="ko-KR" sz="1600" spc="-50" dirty="0"/>
              <a:t>. 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부가가치세는 </a:t>
            </a:r>
            <a:r>
              <a:rPr lang="ko-KR" altLang="en-US" sz="1600" spc="-50" dirty="0" err="1"/>
              <a:t>단일세율이므로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소득수준이 높을수록 소득에서 부가가치세가 차지하는 비중이 낮아지는 경향이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개별소비세는 이와 같은 부가가치세의 역진성을 상쇄시키는 역할을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개별소비세는 귀금속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고급 운동기구 등 사치재의 성격을 갖는 상품에 선별적으로 부과하는 경우가 많다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상품은 주로 중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고소득계층이 많이 소비하기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어느 정도의 누진성을 갖게 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97333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3BDD3-DFE5-E83E-E7C1-0B30CCF13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6AAEA2-B924-3EE0-C3AA-663D5B446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소비과세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212A78-6CBF-EC1C-54F3-FD13F0307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B9FEB-257C-0B0F-82D5-ED31EFFEEDCB}"/>
              </a:ext>
            </a:extLst>
          </p:cNvPr>
          <p:cNvSpPr txBox="1"/>
          <p:nvPr/>
        </p:nvSpPr>
        <p:spPr>
          <a:xfrm>
            <a:off x="288790" y="958844"/>
            <a:ext cx="116936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하지만 개별소비세에 대해서는 다음과 같은 문제점이 나타난다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제한된 품목에만 선별적으로 적용하기 때문에 소비자 선택에 교란을 일으킨다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예컨대 어떤 상품에 개별소비세가 부과될 예정이라는 것이 알려지면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해당 상품의 수요가 급등하게 된다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시간이 지남에 따라 더 이상 사치재로 볼 수 없어졌음에도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계속해서 개별소비세가 부과되는 경우이다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조세당국이 여건 변화에 적응하는 데 시차가 있을 수 밖에 없고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업계의 이해관계가 얽혀 있어 문제가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교통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에너지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환경세는 소비세의 일종이지만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대기오염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교통혼잡 등을 감소시키는 목적으로 부과되고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 선택에 변화를 가져와 사회적으로 바람직한 결과를 이끌어낸다는 의미에서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앞서 개별소비세의 단점으로 지적한 소비자 선택의 교란과는 좋은 대조를 이룬다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또한 교통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에너지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환경세는 우리나라 조세수입의 </a:t>
            </a:r>
            <a:r>
              <a:rPr lang="en-US" altLang="ko-KR" sz="1600" spc="-50" dirty="0"/>
              <a:t>5%</a:t>
            </a:r>
            <a:r>
              <a:rPr lang="ko-KR" altLang="en-US" sz="1600" spc="-50" dirty="0"/>
              <a:t>의 비중을 차지하고 있어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부가가치세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법인세에 이어 정부의 중요한 재원조달 수단으로 활용되고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9698835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A5C6F-952C-587C-E2DA-CEFD7FFFB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ECD242-AD5E-82FC-5605-25FD4E533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재산과세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6FA944-F78B-3E0B-B809-C46AF320C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18860-0159-C3D0-3F82-BFF6D7A12E68}"/>
              </a:ext>
            </a:extLst>
          </p:cNvPr>
          <p:cNvSpPr txBox="1"/>
          <p:nvPr/>
        </p:nvSpPr>
        <p:spPr>
          <a:xfrm>
            <a:off x="288790" y="958844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재산과세는 부동산이나 주식과 같은 재산에 대해 부과하는 세금이다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재산을 거래할 때 부과되는 세금과 보유단계에 부과되는 세금으로 구분할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국세 중에서는 상속세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증여세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증권거래세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인지세는 거래단계에서 부과되는 재산세이고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한편 종합부동산세는 보유단계에서 부과되는 재산세이다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지방세 중에서는 취득세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재산세 등이 재산과세로 분류된다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슬라이드 </a:t>
            </a:r>
            <a:r>
              <a:rPr lang="en-US" altLang="ko-KR" sz="1600" spc="-50" dirty="0"/>
              <a:t>19</a:t>
            </a:r>
            <a:r>
              <a:rPr lang="ko-KR" altLang="en-US" sz="1600" spc="-50" dirty="0"/>
              <a:t>를 보면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 중앙정부의 조세수입 중 </a:t>
            </a:r>
            <a:r>
              <a:rPr lang="en-US" altLang="ko-KR" sz="1600" spc="-50" dirty="0"/>
              <a:t>5.5% </a:t>
            </a:r>
            <a:r>
              <a:rPr lang="ko-KR" altLang="en-US" sz="1600" spc="-50" dirty="0"/>
              <a:t>정도만이 재산과세에 해당한다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소비과세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소득과세에 비해 자산과세의 비중은 매우 작다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재산과세 중 절반 가까운 비중을 상속세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증여세가 차지하고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뒤를 증권거래세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종합부동산세가 잇고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지방정부의 조세수입에서 재산과세가 차지하는 비중은 중앙정부보다 훨씬 더 높게 나타난다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뒤에서 배우겠지만 우리나라 지방세 수입에서 취득세와 재산세 같은 재산과세가 차지하는 비중은 상당히 높다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사실은 다른 </a:t>
            </a:r>
            <a:r>
              <a:rPr lang="ko-KR" altLang="en-US" sz="1600" spc="-50" dirty="0" err="1"/>
              <a:t>나라들에서도</a:t>
            </a:r>
            <a:r>
              <a:rPr lang="ko-KR" altLang="en-US" sz="1600" spc="-50" dirty="0"/>
              <a:t> 공통적으로 나타난다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2018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OECD </a:t>
            </a:r>
            <a:r>
              <a:rPr lang="ko-KR" altLang="en-US" sz="1600" spc="-50" dirty="0"/>
              <a:t>국가 통계를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재산과세가 중앙정부의 조세수입에서 차지하는 비중은 평균 </a:t>
            </a:r>
            <a:r>
              <a:rPr lang="en-US" altLang="ko-KR" sz="1600" spc="-50" dirty="0"/>
              <a:t>3.3% </a:t>
            </a:r>
            <a:r>
              <a:rPr lang="ko-KR" altLang="en-US" sz="1600" spc="-50" dirty="0"/>
              <a:t>였으나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지방정부의 조세수입에서는 </a:t>
            </a:r>
            <a:r>
              <a:rPr lang="en-US" altLang="ko-KR" sz="1600" spc="-50" dirty="0"/>
              <a:t>47.1%</a:t>
            </a:r>
            <a:r>
              <a:rPr lang="ko-KR" altLang="en-US" sz="1600" spc="-50" dirty="0"/>
              <a:t>에 이르는 높은 비중을 차지하고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43574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8860D-2BCA-D94F-E924-91A412DD9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재산과세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97E1FC-E91E-264A-2BFF-AA787A449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E1FA4C-BB35-FE53-CB20-B282BBD3BE43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이처럼 지방정부의 조세수입에서 재산과세가 높은 비중을 차지하고 있는 이유는 다음과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첫째로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편익성의 원칙에 비추어 볼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재산과세가 적합한 조세징수 수단이 될 수 있기 때문이다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편익성의 원칙은 지역주민들이 지방정부가 제공하는 공공서비스로부터 얻은 편익에 대한 대가로 세금을 납부한다는 개념이다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예컨대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어떤 지역의 부동산 가격이 높은 것은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해당 지역정부가 교통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교육 등의 측면에서 좋은 여건을 제공한 덕분이라고 볼 수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이 지역의 부동산을 보유한 사람들은 재산과세를 통해 이에 대한 대가를 지불하는 것이 적합하다고 보는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둘째로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안정성의 원칙을 들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안정성의 원칙은 지방정부가 지속적 운영을 하려면 안정적인 조세수입을 확보하고 있어야 한다는 원칙이다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사람들은 세금부담을 피하고자 다른 지역으로 쉽게 이동할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토지나 건물 같은 부동산은 세금부담을 피하고자 다른 지역으로 이동해 가는 것이 불가능하다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사람들의 소득에 세금을 부과하는 것보다 지역 내 부동산에 대해 세금을 부과하는 것이 지방정부의 안정적인 조세수입 확보 측면에서 더 낫다고 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다만 재산세를 지방세의 중심축으로 삼는 것은 지역간 재정불균형을 </a:t>
            </a:r>
            <a:r>
              <a:rPr lang="ko-KR" altLang="en-US" sz="1600" spc="-50" dirty="0" err="1"/>
              <a:t>심화시키는</a:t>
            </a:r>
            <a:r>
              <a:rPr lang="ko-KR" altLang="en-US" sz="1600" spc="-50" dirty="0"/>
              <a:t> 문제를 야기할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서울과 지방의 주택 가격은 현저한 차이가 있으므로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이로부터 거둬들이는 세금의 규모도 큰 차이가 날 수 밖에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우리나라 지역간 재정불균형이 심하게 나타나는 것은 재산과세의 형태로 거두는 지방세 수입 차이에 기인하는 바가 크다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16125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0C8CA-C4F9-74A9-2D8E-EB13DDC9F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954D35-4A38-FBE2-F0C5-35FE818504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242638-489F-762B-19A2-A0904024A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4BA2A62-6583-91F7-FA37-1A59F7B39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지방재정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6774017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17FE1-B59E-E933-8902-AC710633F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FF7794-0B7B-BAD8-6E7C-372E802D2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재방재정의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8545B2-678A-65D2-E325-73C481D61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D4ABA5-AB69-7519-AE6D-8070BF07DD7A}"/>
              </a:ext>
            </a:extLst>
          </p:cNvPr>
          <p:cNvSpPr txBox="1"/>
          <p:nvPr/>
        </p:nvSpPr>
        <p:spPr>
          <a:xfrm>
            <a:off x="288790" y="958844"/>
            <a:ext cx="11693660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중앙정부가 모든 일을 도맡아서 하는 체제하에서는 재정운영도 획일적으로 이루어질 수 밖에 없으므로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지역의 특수한 사정과 지역주민들의 선호가 반영될 수 있도록 중앙정부와 지방정부 사이의 적절한 역할 분담이 필요하다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우리나라는 오랫동안 중앙집권 체제를 유지해왔기 때문에 지방재정의 역할은 제한되어 있는 것이 사실이다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슬라이드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의 표를 참고하면 지방재정의 구성에 대한 윤곽을 확인할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넓은 의미에서 지방정부의 재정은 일반적인 지방정부가 관리하는 재정과 시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도 교육청이 관리하는 교육재정으로 구성된다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그러나 교육재정은 지방재정과 별개로 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지방재정이라고 하면 교육재정을 제외한 지방정부의 재정을 의미하는 것이 보통이다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D10DD79-4AE4-7606-A894-292A8ECE3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715" y="3782551"/>
            <a:ext cx="9264569" cy="266835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292C710-7F3C-6323-C4B3-5B5F81EB0A2A}"/>
              </a:ext>
            </a:extLst>
          </p:cNvPr>
          <p:cNvSpPr/>
          <p:nvPr/>
        </p:nvSpPr>
        <p:spPr>
          <a:xfrm>
            <a:off x="1463715" y="3581486"/>
            <a:ext cx="7741246" cy="1330147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153D0E-3599-3DE8-181F-7F07EC1BC9E3}"/>
              </a:ext>
            </a:extLst>
          </p:cNvPr>
          <p:cNvSpPr/>
          <p:nvPr/>
        </p:nvSpPr>
        <p:spPr>
          <a:xfrm>
            <a:off x="1463714" y="4820194"/>
            <a:ext cx="3164892" cy="1600234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7808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F6C48-17CB-08B7-ADF4-26B639E90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4A1B44-8978-E390-8646-957FA982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재방재정의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B72F1B-32CC-F03E-EDB5-C4098A06E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A4035F-DDCA-1778-281A-B6C0852D74E3}"/>
              </a:ext>
            </a:extLst>
          </p:cNvPr>
          <p:cNvSpPr txBox="1"/>
          <p:nvPr/>
        </p:nvSpPr>
        <p:spPr>
          <a:xfrm>
            <a:off x="288790" y="958844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중앙정부의 재정과 마찬가지로 지방정부의 재정도 예산과 기금으로 구성되며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예산은 일반회계와 특별회계로 구분된다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아래의 그림은 우리나라 지방재정의 구성을 보여주고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예산이 지방정부의 대부분을 차지하고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예산 중에서도 일반회계가 매우 큰 비중을 차지하고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지방정부의 재정수입은 지방정부가 자체적으로 조달하는 자체재원과 중앙정부나 상위 지방정부로부터 지원받는 의존재원으로 구분할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자체재원은 지방정부가 거둬들이는 지방세 수입과 각종 사용료나 수수료 등의 세외수입이 포함된다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의존재원에는 지방교부세와 보조금이 포함된다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100" dirty="0"/>
              <a:t>지방교부세와 보조금은 중앙정부 또는 상위 지방정부가 자신의 재원 중 일부를 지방정부에게 지원해주는 것을 뜻한다</a:t>
            </a:r>
            <a:r>
              <a:rPr lang="en-US" altLang="ko-KR" sz="1600" spc="-1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100" dirty="0"/>
              <a:t>지방교부세는 지방정부의 일반적인 행정운영에 사용할 수 있는 반면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보조금은 특정 목적을 위해서만 사용할 수 있도록 되어 있다는 점에서 차이가 있다</a:t>
            </a:r>
            <a:r>
              <a:rPr lang="en-US" altLang="ko-KR" sz="1600" spc="-10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100" dirty="0"/>
              <a:t>또한 지방정부는 필요에 따라 지방채 발행을 통해 재원을 마련할 수도 있다</a:t>
            </a:r>
            <a:r>
              <a:rPr lang="en-US" altLang="ko-KR" sz="1600" spc="-1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442DBDF-B080-5823-0E4C-5ACAC11CC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331" y="5453674"/>
            <a:ext cx="3344087" cy="10444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1AE4A8-C53C-1BF6-6128-EB39E4BD246C}"/>
              </a:ext>
            </a:extLst>
          </p:cNvPr>
          <p:cNvSpPr txBox="1"/>
          <p:nvPr/>
        </p:nvSpPr>
        <p:spPr>
          <a:xfrm>
            <a:off x="3818279" y="5174790"/>
            <a:ext cx="3580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spc="-50" dirty="0"/>
              <a:t>&lt;</a:t>
            </a:r>
            <a:r>
              <a:rPr lang="ko-KR" altLang="en-US" sz="1100" spc="-50" dirty="0"/>
              <a:t>지방재정의 구성 </a:t>
            </a:r>
            <a:r>
              <a:rPr lang="en-US" altLang="ko-KR" sz="1100" spc="-50" dirty="0"/>
              <a:t>(2019</a:t>
            </a:r>
            <a:r>
              <a:rPr lang="ko-KR" altLang="en-US" sz="1100" spc="-50" dirty="0"/>
              <a:t>년</a:t>
            </a:r>
            <a:r>
              <a:rPr lang="en-US" altLang="ko-KR" sz="1100" spc="-50" dirty="0"/>
              <a:t>)&gt;</a:t>
            </a:r>
            <a:endParaRPr lang="ko-KR" alt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B8EEA7-630A-289B-00F4-767928AAAADA}"/>
              </a:ext>
            </a:extLst>
          </p:cNvPr>
          <p:cNvSpPr txBox="1"/>
          <p:nvPr/>
        </p:nvSpPr>
        <p:spPr>
          <a:xfrm>
            <a:off x="5076796" y="5452724"/>
            <a:ext cx="106304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dirty="0"/>
              <a:t>일반회계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0645FF-7430-3500-3129-273086A29360}"/>
              </a:ext>
            </a:extLst>
          </p:cNvPr>
          <p:cNvSpPr txBox="1"/>
          <p:nvPr/>
        </p:nvSpPr>
        <p:spPr>
          <a:xfrm>
            <a:off x="4963586" y="5959735"/>
            <a:ext cx="106304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dirty="0"/>
              <a:t>일반회계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3059EB-3EBB-D457-4006-A421B810C14A}"/>
              </a:ext>
            </a:extLst>
          </p:cNvPr>
          <p:cNvSpPr txBox="1"/>
          <p:nvPr/>
        </p:nvSpPr>
        <p:spPr>
          <a:xfrm>
            <a:off x="6712881" y="5345002"/>
            <a:ext cx="4354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dirty="0"/>
              <a:t>특별</a:t>
            </a:r>
            <a:endParaRPr lang="en-US" altLang="ko-KR" sz="700" dirty="0"/>
          </a:p>
          <a:p>
            <a:pPr algn="ctr"/>
            <a:r>
              <a:rPr lang="ko-KR" altLang="en-US" sz="700" dirty="0"/>
              <a:t>회계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544C09-D14F-B6AC-9D89-B43C60C7F45D}"/>
              </a:ext>
            </a:extLst>
          </p:cNvPr>
          <p:cNvSpPr txBox="1"/>
          <p:nvPr/>
        </p:nvSpPr>
        <p:spPr>
          <a:xfrm>
            <a:off x="6574968" y="5887834"/>
            <a:ext cx="4354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dirty="0"/>
              <a:t>특별</a:t>
            </a:r>
            <a:endParaRPr lang="en-US" altLang="ko-KR" sz="700" dirty="0"/>
          </a:p>
          <a:p>
            <a:pPr algn="ctr"/>
            <a:r>
              <a:rPr lang="ko-KR" altLang="en-US" sz="700" dirty="0"/>
              <a:t>회계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CA471C-410D-0C94-BAAE-2917BD1B4B2F}"/>
              </a:ext>
            </a:extLst>
          </p:cNvPr>
          <p:cNvSpPr txBox="1"/>
          <p:nvPr/>
        </p:nvSpPr>
        <p:spPr>
          <a:xfrm>
            <a:off x="6894693" y="5959734"/>
            <a:ext cx="43543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/>
              <a:t>기금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D2F349-C61C-68DA-B017-14FBC986F2B7}"/>
              </a:ext>
            </a:extLst>
          </p:cNvPr>
          <p:cNvSpPr txBox="1"/>
          <p:nvPr/>
        </p:nvSpPr>
        <p:spPr>
          <a:xfrm>
            <a:off x="6930596" y="5442158"/>
            <a:ext cx="43543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/>
              <a:t>기금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026134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DA346A-23C0-E3DD-4A0A-B9AF589FD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재방재정의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F4BD86-3CC4-7A0A-61E3-F3025ADB7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53</a:t>
            </a:fld>
            <a:endParaRPr lang="ko-KR" altLang="en-US"/>
          </a:p>
        </p:txBody>
      </p:sp>
      <p:pic>
        <p:nvPicPr>
          <p:cNvPr id="6" name="그림 5" descr="텍스트, 원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EBED4D-98DC-3897-3F9F-8342DEB03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091" y="4177245"/>
            <a:ext cx="2508995" cy="24346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A1EEA5-57FC-3BEA-2F81-F770598B1DC7}"/>
              </a:ext>
            </a:extLst>
          </p:cNvPr>
          <p:cNvSpPr txBox="1"/>
          <p:nvPr/>
        </p:nvSpPr>
        <p:spPr>
          <a:xfrm>
            <a:off x="288790" y="958844"/>
            <a:ext cx="11693660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그림은 지방정부의 재원구성을 보여주고 있다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조세수입은 정부 재원의 중요한 구성요소이지만 우리나라 지방재정의 재원에서 지방세로부터의 수입이 차지하는 비중은 </a:t>
            </a:r>
            <a:r>
              <a:rPr lang="en-US" altLang="ko-KR" sz="1600" spc="-50" dirty="0"/>
              <a:t>31.4%</a:t>
            </a:r>
            <a:r>
              <a:rPr lang="ko-KR" altLang="en-US" sz="1600" spc="-50" dirty="0"/>
              <a:t>에 불과하고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자체수입에 의한 재원조달 비중도 </a:t>
            </a:r>
            <a:r>
              <a:rPr lang="en-US" altLang="ko-KR" sz="1600" spc="-50" dirty="0"/>
              <a:t>41.0%</a:t>
            </a:r>
            <a:r>
              <a:rPr lang="ko-KR" altLang="en-US" sz="1600" spc="-50" dirty="0"/>
              <a:t>에 불과하다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지방정부는 재정운영에 필요한 재원의 </a:t>
            </a:r>
            <a:r>
              <a:rPr lang="en-US" altLang="ko-KR" sz="1600" spc="-50" dirty="0"/>
              <a:t>43.0%</a:t>
            </a:r>
            <a:r>
              <a:rPr lang="ko-KR" altLang="en-US" sz="1600" spc="-50" dirty="0"/>
              <a:t>를 중앙정부나 상위 지방정부가 지방교부세나 보조금의 형태로 제공하는 지원에 의존하고 있는 실정이다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이처럼 지방정부가 재정적으로 지방정부에 의존하는 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독자적인 사업을 운영하는데 제약을 받을 수 밖에 없다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지방교부세의 형태로 재정보조를 해줄 때는 아무런 조건을 달지 않고 지원을 해주는 것이 원칙이나 실제로는 중앙정부의 입김이 어떤 형태로든 작용하는 경우가 많다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5137FF-3351-7231-616F-8EC8E10BBD3C}"/>
              </a:ext>
            </a:extLst>
          </p:cNvPr>
          <p:cNvSpPr txBox="1"/>
          <p:nvPr/>
        </p:nvSpPr>
        <p:spPr>
          <a:xfrm>
            <a:off x="4009868" y="3862273"/>
            <a:ext cx="3580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spc="-50" dirty="0"/>
              <a:t>&lt;</a:t>
            </a:r>
            <a:r>
              <a:rPr lang="ko-KR" altLang="en-US" sz="1100" spc="-50" dirty="0"/>
              <a:t>지방재정의 재원구성 </a:t>
            </a:r>
            <a:r>
              <a:rPr lang="en-US" altLang="ko-KR" sz="1100" spc="-50" dirty="0"/>
              <a:t>(2019</a:t>
            </a:r>
            <a:r>
              <a:rPr lang="ko-KR" altLang="en-US" sz="1100" spc="-50" dirty="0"/>
              <a:t>년</a:t>
            </a:r>
            <a:r>
              <a:rPr lang="en-US" altLang="ko-KR" sz="1100" spc="-50" dirty="0"/>
              <a:t>)&gt;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0080689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D9B21-16B6-A643-7C51-DA3C56D07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지방재정의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393EF5-9151-A28E-9470-1B06C02E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C5BBDB-BCE5-56D0-1EC2-D68EBBC19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609" y="3787373"/>
            <a:ext cx="4596782" cy="27495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563F7F-80BB-AE35-D09E-5A888F216528}"/>
              </a:ext>
            </a:extLst>
          </p:cNvPr>
          <p:cNvSpPr txBox="1"/>
          <p:nvPr/>
        </p:nvSpPr>
        <p:spPr>
          <a:xfrm>
            <a:off x="4305960" y="3525763"/>
            <a:ext cx="3580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spc="-50" dirty="0"/>
              <a:t>&lt;</a:t>
            </a:r>
            <a:r>
              <a:rPr lang="ko-KR" altLang="en-US" sz="1100" spc="-50" dirty="0"/>
              <a:t>지방정부의 분야별 지출 비중 </a:t>
            </a:r>
            <a:r>
              <a:rPr lang="en-US" altLang="ko-KR" sz="1100" spc="-50" dirty="0"/>
              <a:t>(2019</a:t>
            </a:r>
            <a:r>
              <a:rPr lang="ko-KR" altLang="en-US" sz="1100" spc="-50" dirty="0"/>
              <a:t>년</a:t>
            </a:r>
            <a:r>
              <a:rPr lang="en-US" altLang="ko-KR" sz="1100" spc="-50" dirty="0"/>
              <a:t>)&gt;</a:t>
            </a:r>
            <a:endParaRPr lang="ko-KR" alt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D1426B-9502-390D-71EE-AA71B4B2F27C}"/>
              </a:ext>
            </a:extLst>
          </p:cNvPr>
          <p:cNvSpPr txBox="1"/>
          <p:nvPr/>
        </p:nvSpPr>
        <p:spPr>
          <a:xfrm>
            <a:off x="288790" y="958844"/>
            <a:ext cx="11693660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그림은 우리나라 지방정부가 분야별로 재원을 어떻게 사용했는지 보여준다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지방정부의 재정지출에서 가장 비중이 큰 것은 사회복지 관련 지출로 전체의 </a:t>
            </a:r>
            <a:r>
              <a:rPr lang="en-US" altLang="ko-KR" sz="1600" spc="-50" dirty="0"/>
              <a:t>29.8%</a:t>
            </a:r>
            <a:r>
              <a:rPr lang="ko-KR" altLang="en-US" sz="1600" spc="-50" dirty="0"/>
              <a:t>를 차지하고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사회적 수요가 커짐에 따라 사회복지와 관련한 지방정부의 재정지출은 지속적으로 증가하는 추세를 보이고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적절한 재원이 마련되지 않은 채 복지를 위한 재정지출만 증가하면 재정적으로 부담이 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사회복지 관련 지출에 이어 큰 비중을 차지하는 항목은 인력운영비와 환경보호 관련 지출로 각각 </a:t>
            </a:r>
            <a:r>
              <a:rPr lang="en-US" altLang="ko-KR" sz="1600" spc="-50" dirty="0"/>
              <a:t>12.5%, 10.1%</a:t>
            </a:r>
            <a:r>
              <a:rPr lang="ko-KR" altLang="en-US" sz="1600" spc="-50" dirty="0"/>
              <a:t> 의 비중을 차지하고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4161811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A4883-9B9A-588B-EAE2-A625EB2D6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지방재정의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A2E316-59FE-3C1F-77B2-2F9377A4A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55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AED3D6F-AD4E-80EA-1AC5-1E385C771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424" y="4634914"/>
            <a:ext cx="3180688" cy="191689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927BB8E-84A1-9016-B039-C337F6FD7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37" y="4635842"/>
            <a:ext cx="3193410" cy="19211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70FB96-002B-F016-978B-00F56E65DB63}"/>
              </a:ext>
            </a:extLst>
          </p:cNvPr>
          <p:cNvSpPr txBox="1"/>
          <p:nvPr/>
        </p:nvSpPr>
        <p:spPr>
          <a:xfrm>
            <a:off x="288790" y="958844"/>
            <a:ext cx="11693660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우리나라는 지방자치제도가 정착되어 나가면서 지방정부의 역할이 커지고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전체 재정에서 중앙정부가 차지하는 비중은 지방정부에 비해 상당히 크다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아래 그림을 보면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 이래로 중앙정부의 예산이 지방정부의 예산보다 줄곧 더 큰 규모로 유지되어 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2019</a:t>
            </a:r>
            <a:r>
              <a:rPr lang="ko-KR" altLang="en-US" sz="1600" spc="-50" dirty="0"/>
              <a:t>년 전체에서 중앙정부가 차지하는 비중은 </a:t>
            </a:r>
            <a:r>
              <a:rPr lang="en-US" altLang="ko-KR" sz="1600" spc="-50" dirty="0"/>
              <a:t>59% </a:t>
            </a:r>
            <a:r>
              <a:rPr lang="ko-KR" altLang="en-US" sz="1600" spc="-50" dirty="0"/>
              <a:t>인 데 반해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지방정부는 </a:t>
            </a:r>
            <a:r>
              <a:rPr lang="en-US" altLang="ko-KR" sz="1600" spc="-50" dirty="0"/>
              <a:t>41%</a:t>
            </a:r>
            <a:r>
              <a:rPr lang="ko-KR" altLang="en-US" sz="1600" spc="-50" dirty="0"/>
              <a:t>에 불과하였다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조세수입 측면에서 보면 불균형은 한층 더 심하다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1990</a:t>
            </a:r>
            <a:r>
              <a:rPr lang="ko-KR" altLang="en-US" sz="1600" spc="-50" dirty="0"/>
              <a:t>년 이래 전체에서 지방정부가 거둬들이는 지방세 수입 비중이 </a:t>
            </a:r>
            <a:r>
              <a:rPr lang="en-US" altLang="ko-KR" sz="1600" spc="-50" dirty="0"/>
              <a:t>20%</a:t>
            </a:r>
            <a:r>
              <a:rPr lang="ko-KR" altLang="en-US" sz="1600" spc="-50" dirty="0"/>
              <a:t>수준을 크게 벗어나지 못하고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진정한 지방자치시대로 나아가기 위해서는 지방정부의 재정자립도를 높이기 위한 근본 대책이 마련되어야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충분한 지방세 수입을 확보해야 하는데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그러기 위해서는 지방세 세율을 높이거나 새로운 지방세 도입이 필요하다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다만 지역 간 경제력에 매우 큰 차이기 있어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지역간 빈익빈 부익부 현상이 심화될 가능성이 있다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252DF-71D5-E136-E05C-F80B968E8534}"/>
              </a:ext>
            </a:extLst>
          </p:cNvPr>
          <p:cNvSpPr txBox="1"/>
          <p:nvPr/>
        </p:nvSpPr>
        <p:spPr>
          <a:xfrm>
            <a:off x="3207385" y="4372238"/>
            <a:ext cx="13394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spc="-50" dirty="0"/>
              <a:t>&lt;</a:t>
            </a:r>
            <a:r>
              <a:rPr lang="ko-KR" altLang="en-US" sz="1100" spc="-50" dirty="0"/>
              <a:t>일반회계</a:t>
            </a:r>
            <a:r>
              <a:rPr lang="en-US" altLang="ko-KR" sz="1100" spc="-50" dirty="0"/>
              <a:t>(</a:t>
            </a:r>
            <a:r>
              <a:rPr lang="ko-KR" altLang="en-US" sz="1100" spc="-50" dirty="0" err="1"/>
              <a:t>순계</a:t>
            </a:r>
            <a:r>
              <a:rPr lang="en-US" altLang="ko-KR" sz="1100" spc="-50" dirty="0"/>
              <a:t>)&gt;</a:t>
            </a:r>
            <a:endParaRPr lang="ko-KR" alt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87CED-2DAD-44D6-949E-70799C22B4CC}"/>
              </a:ext>
            </a:extLst>
          </p:cNvPr>
          <p:cNvSpPr txBox="1"/>
          <p:nvPr/>
        </p:nvSpPr>
        <p:spPr>
          <a:xfrm>
            <a:off x="7791983" y="4372238"/>
            <a:ext cx="13394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spc="-50" dirty="0"/>
              <a:t>&lt;</a:t>
            </a:r>
            <a:r>
              <a:rPr lang="ko-KR" altLang="en-US" sz="1100" spc="-50" dirty="0"/>
              <a:t>조세수입</a:t>
            </a:r>
            <a:r>
              <a:rPr lang="en-US" altLang="ko-KR" sz="1100" spc="-50" dirty="0"/>
              <a:t>&gt;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4499979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0820D-FE08-14C8-9238-2CF4F1727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지방재정의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9B5081-BE46-9929-DFD9-00740527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56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B918C39-07D3-EA56-9065-D7FEC3890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021442"/>
              </p:ext>
            </p:extLst>
          </p:nvPr>
        </p:nvGraphicFramePr>
        <p:xfrm>
          <a:off x="2258493" y="3922669"/>
          <a:ext cx="3550884" cy="24719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87721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887721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887721">
                  <a:extLst>
                    <a:ext uri="{9D8B030D-6E8A-4147-A177-3AD203B41FA5}">
                      <a16:colId xmlns:a16="http://schemas.microsoft.com/office/drawing/2014/main" val="4206849505"/>
                    </a:ext>
                  </a:extLst>
                </a:gridCol>
                <a:gridCol w="887721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4047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특별시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광역시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특별자치시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자치구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군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서울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부산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대구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인천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광주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대전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울산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세종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평균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13D90CF-D40C-378B-8258-1129C7076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546285"/>
              </p:ext>
            </p:extLst>
          </p:nvPr>
        </p:nvGraphicFramePr>
        <p:xfrm>
          <a:off x="6352320" y="3922669"/>
          <a:ext cx="3550884" cy="247103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87721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887721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887721">
                  <a:extLst>
                    <a:ext uri="{9D8B030D-6E8A-4147-A177-3AD203B41FA5}">
                      <a16:colId xmlns:a16="http://schemas.microsoft.com/office/drawing/2014/main" val="4206849505"/>
                    </a:ext>
                  </a:extLst>
                </a:gridCol>
                <a:gridCol w="887721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8957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특별자치도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군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경기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강원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충북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충남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전북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전남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경북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경남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제주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평균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943D3C7-33C1-F6A1-6EF1-D58EF8B08CE5}"/>
              </a:ext>
            </a:extLst>
          </p:cNvPr>
          <p:cNvSpPr txBox="1"/>
          <p:nvPr/>
        </p:nvSpPr>
        <p:spPr>
          <a:xfrm>
            <a:off x="6750797" y="3577666"/>
            <a:ext cx="27539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시도별 재정자립도 현황 </a:t>
            </a:r>
            <a:r>
              <a:rPr lang="en-US" altLang="ko-KR" sz="1200" spc="-50" dirty="0"/>
              <a:t>(2019&gt;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6325B6-F397-E631-5D64-04A4BD477F08}"/>
              </a:ext>
            </a:extLst>
          </p:cNvPr>
          <p:cNvSpPr txBox="1"/>
          <p:nvPr/>
        </p:nvSpPr>
        <p:spPr>
          <a:xfrm>
            <a:off x="2732470" y="3577666"/>
            <a:ext cx="27539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시도별 재정자립도 현황 </a:t>
            </a:r>
            <a:r>
              <a:rPr lang="en-US" altLang="ko-KR" sz="1200" spc="-50" dirty="0"/>
              <a:t>(2019&gt;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ADB0B3-4E34-962C-EFFD-8FA7DF066296}"/>
              </a:ext>
            </a:extLst>
          </p:cNvPr>
          <p:cNvSpPr txBox="1"/>
          <p:nvPr/>
        </p:nvSpPr>
        <p:spPr>
          <a:xfrm>
            <a:off x="288790" y="958844"/>
            <a:ext cx="11693660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지역간 재정불균형의 정도는 지방정부의 전체 예산에서 자체재원이 얼마나 되는지를 측정한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재정자립도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라는 지표를 통해 측정할 수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아래 표는 우리나라의 지역별 재정자립도 현황을 보여주고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특별시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광역시의 재정자립도가 평균적으로 도보다 높다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서울의 재정자립도는 </a:t>
            </a:r>
            <a:r>
              <a:rPr lang="en-US" altLang="ko-KR" sz="1600" spc="-50" dirty="0"/>
              <a:t>79.4%</a:t>
            </a:r>
            <a:r>
              <a:rPr lang="ko-KR" altLang="en-US" sz="1600" spc="-50" dirty="0"/>
              <a:t>인데 반해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전남의 재정자립도는 </a:t>
            </a:r>
            <a:r>
              <a:rPr lang="en-US" altLang="ko-KR" sz="1600" spc="-50" dirty="0"/>
              <a:t>26.5%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상위 지방자치단체에서 하위로 갈수록 재정자립도가 더 낮아진다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특별시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광역시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특별자치시의 재정자립도 평균은 </a:t>
            </a:r>
            <a:r>
              <a:rPr lang="en-US" altLang="ko-KR" sz="1600" spc="-50" dirty="0"/>
              <a:t>60.9%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이들 자치구들의 평균은 </a:t>
            </a:r>
            <a:r>
              <a:rPr lang="en-US" altLang="ko-KR" sz="1600" spc="-50" dirty="0"/>
              <a:t>29%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5805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AB68AC-2CD6-B732-C2FE-FDBD6E8C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지방세 체계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F513F8-E1DB-9C35-4AE1-F0180AE15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57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F90497-7C99-416C-2A40-8FD2AF4E5806}"/>
              </a:ext>
            </a:extLst>
          </p:cNvPr>
          <p:cNvSpPr txBox="1"/>
          <p:nvPr/>
        </p:nvSpPr>
        <p:spPr>
          <a:xfrm>
            <a:off x="288790" y="958844"/>
            <a:ext cx="11693660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2020</a:t>
            </a:r>
            <a:r>
              <a:rPr lang="ko-KR" altLang="en-US" sz="1600" spc="-50" dirty="0"/>
              <a:t>년 지방세 체계는 아래의 표와 같이 </a:t>
            </a:r>
            <a:r>
              <a:rPr lang="en-US" altLang="ko-KR" sz="1600" spc="-50" dirty="0"/>
              <a:t>11</a:t>
            </a:r>
            <a:r>
              <a:rPr lang="ko-KR" altLang="en-US" sz="1600" spc="-50" dirty="0"/>
              <a:t>가지의 지방세로 구성되어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지방세 징수 주체에 따라 도세와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시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군세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그리고 또 광역시세와 자치구세로 구분할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더 나아가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세수가 일반적인 세입인지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아니면 특정 용도로만 사용되는지에 따라 보통세와 목적세로 구분한다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40A4A95-EAA7-B4B6-05D7-9B87C6F1427F}"/>
              </a:ext>
            </a:extLst>
          </p:cNvPr>
          <p:cNvSpPr txBox="1"/>
          <p:nvPr/>
        </p:nvSpPr>
        <p:spPr>
          <a:xfrm>
            <a:off x="3009304" y="3260695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취득세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196BD5-A50D-CAE3-32C5-06AE18CA3D33}"/>
              </a:ext>
            </a:extLst>
          </p:cNvPr>
          <p:cNvSpPr txBox="1"/>
          <p:nvPr/>
        </p:nvSpPr>
        <p:spPr>
          <a:xfrm>
            <a:off x="3009304" y="3511170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등록면허세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2AAA6C9-96BE-CDE0-19DF-747CE4CAE825}"/>
              </a:ext>
            </a:extLst>
          </p:cNvPr>
          <p:cNvSpPr txBox="1"/>
          <p:nvPr/>
        </p:nvSpPr>
        <p:spPr>
          <a:xfrm>
            <a:off x="3009304" y="3761645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레저세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AB9BC3-7F33-84DA-38EF-138442B65355}"/>
              </a:ext>
            </a:extLst>
          </p:cNvPr>
          <p:cNvSpPr txBox="1"/>
          <p:nvPr/>
        </p:nvSpPr>
        <p:spPr>
          <a:xfrm>
            <a:off x="3009304" y="4012120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지방소비세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7A3054-05FA-544A-8323-DA62DCDCA049}"/>
              </a:ext>
            </a:extLst>
          </p:cNvPr>
          <p:cNvSpPr txBox="1"/>
          <p:nvPr/>
        </p:nvSpPr>
        <p:spPr>
          <a:xfrm>
            <a:off x="3009304" y="4262594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지역자원시설세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9909F9-10C6-6E1F-0887-86EA1142EBA3}"/>
              </a:ext>
            </a:extLst>
          </p:cNvPr>
          <p:cNvSpPr txBox="1"/>
          <p:nvPr/>
        </p:nvSpPr>
        <p:spPr>
          <a:xfrm>
            <a:off x="3009304" y="4513068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지방교육세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91D563-5862-A70E-98D5-93C027999337}"/>
              </a:ext>
            </a:extLst>
          </p:cNvPr>
          <p:cNvSpPr txBox="1"/>
          <p:nvPr/>
        </p:nvSpPr>
        <p:spPr>
          <a:xfrm>
            <a:off x="3009304" y="4763543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주민세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AF0C36-61F0-D7E0-8D46-BC5BA1EA501F}"/>
              </a:ext>
            </a:extLst>
          </p:cNvPr>
          <p:cNvSpPr txBox="1"/>
          <p:nvPr/>
        </p:nvSpPr>
        <p:spPr>
          <a:xfrm>
            <a:off x="3009304" y="5014018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재산세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C3AEDB5-FF5C-9E28-E7D1-489DCD46EE8C}"/>
              </a:ext>
            </a:extLst>
          </p:cNvPr>
          <p:cNvSpPr txBox="1"/>
          <p:nvPr/>
        </p:nvSpPr>
        <p:spPr>
          <a:xfrm>
            <a:off x="3009304" y="5264493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자동차세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0A9B0D-65D7-0D15-D0C7-E83BB088B467}"/>
              </a:ext>
            </a:extLst>
          </p:cNvPr>
          <p:cNvSpPr txBox="1"/>
          <p:nvPr/>
        </p:nvSpPr>
        <p:spPr>
          <a:xfrm>
            <a:off x="3009304" y="5514967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담배소비세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C7355C8-05D6-5EA2-D543-9A7DA11F278B}"/>
              </a:ext>
            </a:extLst>
          </p:cNvPr>
          <p:cNvSpPr txBox="1"/>
          <p:nvPr/>
        </p:nvSpPr>
        <p:spPr>
          <a:xfrm>
            <a:off x="3009304" y="5765441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지방소득세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E8A242-A8AC-9524-6885-F530B4620490}"/>
              </a:ext>
            </a:extLst>
          </p:cNvPr>
          <p:cNvSpPr txBox="1"/>
          <p:nvPr/>
        </p:nvSpPr>
        <p:spPr>
          <a:xfrm>
            <a:off x="2098885" y="3454705"/>
            <a:ext cx="702139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보통세</a:t>
            </a:r>
          </a:p>
        </p:txBody>
      </p:sp>
      <p:sp>
        <p:nvSpPr>
          <p:cNvPr id="52" name="왼쪽 중괄호 51">
            <a:extLst>
              <a:ext uri="{FF2B5EF4-FFF2-40B4-BE49-F238E27FC236}">
                <a16:creationId xmlns:a16="http://schemas.microsoft.com/office/drawing/2014/main" id="{21168BD2-9B99-1A7A-9123-185FC1D2B4FA}"/>
              </a:ext>
            </a:extLst>
          </p:cNvPr>
          <p:cNvSpPr/>
          <p:nvPr/>
        </p:nvSpPr>
        <p:spPr>
          <a:xfrm>
            <a:off x="2802900" y="3376110"/>
            <a:ext cx="206404" cy="802905"/>
          </a:xfrm>
          <a:prstGeom prst="leftBrace">
            <a:avLst>
              <a:gd name="adj1" fmla="val 0"/>
              <a:gd name="adj2" fmla="val 2414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406A0DA-177E-90D2-1221-9323666F076C}"/>
              </a:ext>
            </a:extLst>
          </p:cNvPr>
          <p:cNvSpPr txBox="1"/>
          <p:nvPr/>
        </p:nvSpPr>
        <p:spPr>
          <a:xfrm>
            <a:off x="2098885" y="4378010"/>
            <a:ext cx="702139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목적세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0D20EB-AB72-39E2-B5AB-EAB714CB5555}"/>
              </a:ext>
            </a:extLst>
          </p:cNvPr>
          <p:cNvSpPr txBox="1"/>
          <p:nvPr/>
        </p:nvSpPr>
        <p:spPr>
          <a:xfrm>
            <a:off x="2098885" y="5264493"/>
            <a:ext cx="702139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보통세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C16A74-346E-7DE3-A10E-FD3BFAFEDC7E}"/>
              </a:ext>
            </a:extLst>
          </p:cNvPr>
          <p:cNvSpPr txBox="1"/>
          <p:nvPr/>
        </p:nvSpPr>
        <p:spPr>
          <a:xfrm>
            <a:off x="1195316" y="3810801"/>
            <a:ext cx="70213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도세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(6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685AEE2-D724-64A7-1A4B-C1BDE3CC6BE0}"/>
              </a:ext>
            </a:extLst>
          </p:cNvPr>
          <p:cNvSpPr txBox="1"/>
          <p:nvPr/>
        </p:nvSpPr>
        <p:spPr>
          <a:xfrm>
            <a:off x="283218" y="4462186"/>
            <a:ext cx="70213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지방세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prstClr val="black"/>
                </a:solidFill>
                <a:latin typeface="+mn-ea"/>
              </a:rPr>
              <a:t>(11</a:t>
            </a:r>
            <a:r>
              <a:rPr lang="ko-KR" altLang="en-US" sz="900" dirty="0">
                <a:solidFill>
                  <a:prstClr val="black"/>
                </a:solidFill>
                <a:latin typeface="+mn-ea"/>
              </a:rPr>
              <a:t>개</a:t>
            </a:r>
            <a:r>
              <a:rPr lang="en-US" altLang="ko-KR" sz="900" dirty="0">
                <a:solidFill>
                  <a:prstClr val="black"/>
                </a:solidFill>
                <a:latin typeface="+mn-ea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0" name="왼쪽 중괄호 59">
            <a:extLst>
              <a:ext uri="{FF2B5EF4-FFF2-40B4-BE49-F238E27FC236}">
                <a16:creationId xmlns:a16="http://schemas.microsoft.com/office/drawing/2014/main" id="{49331248-C34B-4BE0-DDE5-8C97F7095DA8}"/>
              </a:ext>
            </a:extLst>
          </p:cNvPr>
          <p:cNvSpPr/>
          <p:nvPr/>
        </p:nvSpPr>
        <p:spPr>
          <a:xfrm>
            <a:off x="2802900" y="4362091"/>
            <a:ext cx="206404" cy="286038"/>
          </a:xfrm>
          <a:prstGeom prst="leftBrace">
            <a:avLst>
              <a:gd name="adj1" fmla="val 0"/>
              <a:gd name="adj2" fmla="val 43567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왼쪽 중괄호 60">
            <a:extLst>
              <a:ext uri="{FF2B5EF4-FFF2-40B4-BE49-F238E27FC236}">
                <a16:creationId xmlns:a16="http://schemas.microsoft.com/office/drawing/2014/main" id="{9A7B4811-C9DF-F73D-8DAC-088A351770C2}"/>
              </a:ext>
            </a:extLst>
          </p:cNvPr>
          <p:cNvSpPr/>
          <p:nvPr/>
        </p:nvSpPr>
        <p:spPr>
          <a:xfrm>
            <a:off x="2802900" y="4863040"/>
            <a:ext cx="206404" cy="1021505"/>
          </a:xfrm>
          <a:prstGeom prst="leftBrace">
            <a:avLst>
              <a:gd name="adj1" fmla="val 0"/>
              <a:gd name="adj2" fmla="val 50251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왼쪽 중괄호 61">
            <a:extLst>
              <a:ext uri="{FF2B5EF4-FFF2-40B4-BE49-F238E27FC236}">
                <a16:creationId xmlns:a16="http://schemas.microsoft.com/office/drawing/2014/main" id="{A870EF76-2432-BC2D-AE4B-FBA323F9F99B}"/>
              </a:ext>
            </a:extLst>
          </p:cNvPr>
          <p:cNvSpPr/>
          <p:nvPr/>
        </p:nvSpPr>
        <p:spPr>
          <a:xfrm>
            <a:off x="1892481" y="3546961"/>
            <a:ext cx="206404" cy="966107"/>
          </a:xfrm>
          <a:prstGeom prst="leftBrace">
            <a:avLst>
              <a:gd name="adj1" fmla="val 0"/>
              <a:gd name="adj2" fmla="val 46818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29235CB-53B2-C7BB-7E9C-C86A9CC15900}"/>
              </a:ext>
            </a:extLst>
          </p:cNvPr>
          <p:cNvSpPr txBox="1"/>
          <p:nvPr/>
        </p:nvSpPr>
        <p:spPr>
          <a:xfrm>
            <a:off x="1195316" y="5195478"/>
            <a:ext cx="70213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·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군세 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(5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206C884C-CB14-2CC6-AD6F-173130802DBD}"/>
              </a:ext>
            </a:extLst>
          </p:cNvPr>
          <p:cNvCxnSpPr>
            <a:cxnSpLocks/>
            <a:stCxn id="63" idx="3"/>
            <a:endCxn id="54" idx="1"/>
          </p:cNvCxnSpPr>
          <p:nvPr/>
        </p:nvCxnSpPr>
        <p:spPr>
          <a:xfrm flipV="1">
            <a:off x="1897455" y="5379909"/>
            <a:ext cx="201430" cy="235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왼쪽 중괄호 67">
            <a:extLst>
              <a:ext uri="{FF2B5EF4-FFF2-40B4-BE49-F238E27FC236}">
                <a16:creationId xmlns:a16="http://schemas.microsoft.com/office/drawing/2014/main" id="{63748D88-C801-F583-E0F6-72D53A576E69}"/>
              </a:ext>
            </a:extLst>
          </p:cNvPr>
          <p:cNvSpPr/>
          <p:nvPr/>
        </p:nvSpPr>
        <p:spPr>
          <a:xfrm>
            <a:off x="986295" y="3999799"/>
            <a:ext cx="206404" cy="1380110"/>
          </a:xfrm>
          <a:prstGeom prst="leftBrace">
            <a:avLst>
              <a:gd name="adj1" fmla="val 0"/>
              <a:gd name="adj2" fmla="val 46818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B07F978-D918-A7E2-26C4-2C8BDFEC50B3}"/>
              </a:ext>
            </a:extLst>
          </p:cNvPr>
          <p:cNvSpPr txBox="1"/>
          <p:nvPr/>
        </p:nvSpPr>
        <p:spPr>
          <a:xfrm>
            <a:off x="8725548" y="3260695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취득세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C7BFABB-A51F-3C9A-5645-F60E75571C01}"/>
              </a:ext>
            </a:extLst>
          </p:cNvPr>
          <p:cNvSpPr txBox="1"/>
          <p:nvPr/>
        </p:nvSpPr>
        <p:spPr>
          <a:xfrm>
            <a:off x="8725548" y="3511170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레저세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5C369BE-CEF9-236D-C5EC-A15EB6239917}"/>
              </a:ext>
            </a:extLst>
          </p:cNvPr>
          <p:cNvSpPr txBox="1"/>
          <p:nvPr/>
        </p:nvSpPr>
        <p:spPr>
          <a:xfrm>
            <a:off x="8725548" y="3761645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담배소비세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37109F-27C7-F4F3-940A-99EDE964EEB1}"/>
              </a:ext>
            </a:extLst>
          </p:cNvPr>
          <p:cNvSpPr txBox="1"/>
          <p:nvPr/>
        </p:nvSpPr>
        <p:spPr>
          <a:xfrm>
            <a:off x="8725548" y="4012120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지방소비세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2508E75-4C75-4346-7533-F7D3E2DC687F}"/>
              </a:ext>
            </a:extLst>
          </p:cNvPr>
          <p:cNvSpPr txBox="1"/>
          <p:nvPr/>
        </p:nvSpPr>
        <p:spPr>
          <a:xfrm>
            <a:off x="8725548" y="4262594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주민세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798F867-A261-FCFA-4B7A-25264121B49F}"/>
              </a:ext>
            </a:extLst>
          </p:cNvPr>
          <p:cNvSpPr txBox="1"/>
          <p:nvPr/>
        </p:nvSpPr>
        <p:spPr>
          <a:xfrm>
            <a:off x="8725548" y="4513068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지방소득세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57B5C89-55DE-66F0-ADA0-373F4F570BC4}"/>
              </a:ext>
            </a:extLst>
          </p:cNvPr>
          <p:cNvSpPr txBox="1"/>
          <p:nvPr/>
        </p:nvSpPr>
        <p:spPr>
          <a:xfrm>
            <a:off x="8725548" y="4763543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자동차세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A88838F-D8E0-C502-7F22-21895B722889}"/>
              </a:ext>
            </a:extLst>
          </p:cNvPr>
          <p:cNvSpPr txBox="1"/>
          <p:nvPr/>
        </p:nvSpPr>
        <p:spPr>
          <a:xfrm>
            <a:off x="8725548" y="5014018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지역자원시설세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AA3EE7E-1331-2465-9E77-FCC65E1CBD9D}"/>
              </a:ext>
            </a:extLst>
          </p:cNvPr>
          <p:cNvSpPr txBox="1"/>
          <p:nvPr/>
        </p:nvSpPr>
        <p:spPr>
          <a:xfrm>
            <a:off x="8725548" y="5264493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지방교육세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4D2C2E8-E078-C375-5AE9-9F230EDC6D6D}"/>
              </a:ext>
            </a:extLst>
          </p:cNvPr>
          <p:cNvSpPr txBox="1"/>
          <p:nvPr/>
        </p:nvSpPr>
        <p:spPr>
          <a:xfrm>
            <a:off x="8725548" y="5514967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등록면허세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924395A-655A-CA29-0675-25E42C9C1978}"/>
              </a:ext>
            </a:extLst>
          </p:cNvPr>
          <p:cNvSpPr txBox="1"/>
          <p:nvPr/>
        </p:nvSpPr>
        <p:spPr>
          <a:xfrm>
            <a:off x="8725548" y="5765441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재산세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BD39BA7-1FE8-6B91-802D-897F3B1B9F99}"/>
              </a:ext>
            </a:extLst>
          </p:cNvPr>
          <p:cNvSpPr txBox="1"/>
          <p:nvPr/>
        </p:nvSpPr>
        <p:spPr>
          <a:xfrm>
            <a:off x="7815129" y="3454705"/>
            <a:ext cx="702139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보통세</a:t>
            </a:r>
          </a:p>
        </p:txBody>
      </p:sp>
      <p:sp>
        <p:nvSpPr>
          <p:cNvPr id="82" name="왼쪽 중괄호 81">
            <a:extLst>
              <a:ext uri="{FF2B5EF4-FFF2-40B4-BE49-F238E27FC236}">
                <a16:creationId xmlns:a16="http://schemas.microsoft.com/office/drawing/2014/main" id="{3D32521D-BCFB-71DA-B987-FFCFA5F95A20}"/>
              </a:ext>
            </a:extLst>
          </p:cNvPr>
          <p:cNvSpPr/>
          <p:nvPr/>
        </p:nvSpPr>
        <p:spPr>
          <a:xfrm>
            <a:off x="8519144" y="3376110"/>
            <a:ext cx="206404" cy="1499384"/>
          </a:xfrm>
          <a:prstGeom prst="leftBrace">
            <a:avLst>
              <a:gd name="adj1" fmla="val 0"/>
              <a:gd name="adj2" fmla="val 1299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A4AEB4B-C82F-19BB-ACA6-35FCB62AEDA8}"/>
              </a:ext>
            </a:extLst>
          </p:cNvPr>
          <p:cNvSpPr txBox="1"/>
          <p:nvPr/>
        </p:nvSpPr>
        <p:spPr>
          <a:xfrm>
            <a:off x="7815129" y="5146360"/>
            <a:ext cx="702139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목적세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FCCDEB3-3FCF-92EE-68F0-5D05BCEB2D57}"/>
              </a:ext>
            </a:extLst>
          </p:cNvPr>
          <p:cNvSpPr txBox="1"/>
          <p:nvPr/>
        </p:nvSpPr>
        <p:spPr>
          <a:xfrm>
            <a:off x="7815129" y="5643376"/>
            <a:ext cx="702139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보통세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9E7A9A8-D64C-76DC-C1E2-12A9FBFC2F91}"/>
              </a:ext>
            </a:extLst>
          </p:cNvPr>
          <p:cNvSpPr txBox="1"/>
          <p:nvPr/>
        </p:nvSpPr>
        <p:spPr>
          <a:xfrm>
            <a:off x="6909443" y="3810801"/>
            <a:ext cx="70213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광역시세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(9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7" name="왼쪽 중괄호 86">
            <a:extLst>
              <a:ext uri="{FF2B5EF4-FFF2-40B4-BE49-F238E27FC236}">
                <a16:creationId xmlns:a16="http://schemas.microsoft.com/office/drawing/2014/main" id="{6359183B-426A-3459-2E38-267FA01EDD78}"/>
              </a:ext>
            </a:extLst>
          </p:cNvPr>
          <p:cNvSpPr/>
          <p:nvPr/>
        </p:nvSpPr>
        <p:spPr>
          <a:xfrm>
            <a:off x="8519144" y="5130441"/>
            <a:ext cx="206404" cy="268811"/>
          </a:xfrm>
          <a:prstGeom prst="leftBrace">
            <a:avLst>
              <a:gd name="adj1" fmla="val 0"/>
              <a:gd name="adj2" fmla="val 50654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왼쪽 중괄호 88">
            <a:extLst>
              <a:ext uri="{FF2B5EF4-FFF2-40B4-BE49-F238E27FC236}">
                <a16:creationId xmlns:a16="http://schemas.microsoft.com/office/drawing/2014/main" id="{91DE40EB-DA21-C8D9-2DEA-D3587618E7B1}"/>
              </a:ext>
            </a:extLst>
          </p:cNvPr>
          <p:cNvSpPr/>
          <p:nvPr/>
        </p:nvSpPr>
        <p:spPr>
          <a:xfrm>
            <a:off x="7608725" y="3563897"/>
            <a:ext cx="206404" cy="1699594"/>
          </a:xfrm>
          <a:prstGeom prst="leftBrace">
            <a:avLst>
              <a:gd name="adj1" fmla="val 0"/>
              <a:gd name="adj2" fmla="val 2552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AFC98A4-314D-2A91-308E-9214FC4E2DDF}"/>
              </a:ext>
            </a:extLst>
          </p:cNvPr>
          <p:cNvSpPr txBox="1"/>
          <p:nvPr/>
        </p:nvSpPr>
        <p:spPr>
          <a:xfrm>
            <a:off x="6909443" y="5574361"/>
            <a:ext cx="70213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자치구세 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(2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50696374-FD04-A479-ABFE-EF64BEA5CDB7}"/>
              </a:ext>
            </a:extLst>
          </p:cNvPr>
          <p:cNvCxnSpPr>
            <a:cxnSpLocks/>
            <a:stCxn id="90" idx="3"/>
            <a:endCxn id="84" idx="1"/>
          </p:cNvCxnSpPr>
          <p:nvPr/>
        </p:nvCxnSpPr>
        <p:spPr>
          <a:xfrm flipV="1">
            <a:off x="7611582" y="5758792"/>
            <a:ext cx="203547" cy="235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왼쪽 중괄호 91">
            <a:extLst>
              <a:ext uri="{FF2B5EF4-FFF2-40B4-BE49-F238E27FC236}">
                <a16:creationId xmlns:a16="http://schemas.microsoft.com/office/drawing/2014/main" id="{081074D2-3CD9-D319-B019-29561300D12B}"/>
              </a:ext>
            </a:extLst>
          </p:cNvPr>
          <p:cNvSpPr/>
          <p:nvPr/>
        </p:nvSpPr>
        <p:spPr>
          <a:xfrm>
            <a:off x="6702539" y="3999798"/>
            <a:ext cx="206404" cy="1758993"/>
          </a:xfrm>
          <a:prstGeom prst="leftBrace">
            <a:avLst>
              <a:gd name="adj1" fmla="val 0"/>
              <a:gd name="adj2" fmla="val 36421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왼쪽 중괄호 92">
            <a:extLst>
              <a:ext uri="{FF2B5EF4-FFF2-40B4-BE49-F238E27FC236}">
                <a16:creationId xmlns:a16="http://schemas.microsoft.com/office/drawing/2014/main" id="{E9737CBA-9454-9DC1-1607-BA1D72784711}"/>
              </a:ext>
            </a:extLst>
          </p:cNvPr>
          <p:cNvSpPr/>
          <p:nvPr/>
        </p:nvSpPr>
        <p:spPr>
          <a:xfrm>
            <a:off x="8519144" y="5630383"/>
            <a:ext cx="206404" cy="250175"/>
          </a:xfrm>
          <a:prstGeom prst="leftBrace">
            <a:avLst>
              <a:gd name="adj1" fmla="val 0"/>
              <a:gd name="adj2" fmla="val 50251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5698BD8-93EA-74C9-C03F-359EFAA5B414}"/>
              </a:ext>
            </a:extLst>
          </p:cNvPr>
          <p:cNvSpPr txBox="1"/>
          <p:nvPr/>
        </p:nvSpPr>
        <p:spPr>
          <a:xfrm>
            <a:off x="4051811" y="2732695"/>
            <a:ext cx="27539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현행 지방세 체계 </a:t>
            </a:r>
            <a:r>
              <a:rPr lang="en-US" altLang="ko-KR" sz="1200" spc="-50" dirty="0"/>
              <a:t>(2020</a:t>
            </a:r>
            <a:r>
              <a:rPr lang="ko-KR" altLang="en-US" sz="1200" spc="-50" dirty="0"/>
              <a:t>년</a:t>
            </a:r>
            <a:r>
              <a:rPr lang="en-US" altLang="ko-KR" sz="1200" spc="-50" dirty="0"/>
              <a:t>)&gt;</a:t>
            </a:r>
            <a:endParaRPr lang="ko-KR" altLang="en-US" sz="12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10D30F4-F54B-6987-E5A9-44D8678A60ED}"/>
              </a:ext>
            </a:extLst>
          </p:cNvPr>
          <p:cNvSpPr txBox="1"/>
          <p:nvPr/>
        </p:nvSpPr>
        <p:spPr>
          <a:xfrm>
            <a:off x="6001247" y="4462186"/>
            <a:ext cx="70213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지방세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prstClr val="black"/>
                </a:solidFill>
                <a:latin typeface="+mn-ea"/>
              </a:rPr>
              <a:t>(11</a:t>
            </a:r>
            <a:r>
              <a:rPr lang="ko-KR" altLang="en-US" sz="900" dirty="0">
                <a:solidFill>
                  <a:prstClr val="black"/>
                </a:solidFill>
                <a:latin typeface="+mn-ea"/>
              </a:rPr>
              <a:t>개</a:t>
            </a:r>
            <a:r>
              <a:rPr lang="en-US" altLang="ko-KR" sz="900" dirty="0">
                <a:solidFill>
                  <a:prstClr val="black"/>
                </a:solidFill>
                <a:latin typeface="+mn-ea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590555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0D6765-AD75-D0AA-7E89-9AF17DADA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7D615A-0676-29EC-3183-87E8A101D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804746-9001-0706-654B-67BEBED7DE4A}"/>
              </a:ext>
            </a:extLst>
          </p:cNvPr>
          <p:cNvSpPr txBox="1"/>
          <p:nvPr/>
        </p:nvSpPr>
        <p:spPr>
          <a:xfrm>
            <a:off x="288790" y="958844"/>
            <a:ext cx="116936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그림은 </a:t>
            </a:r>
            <a:r>
              <a:rPr lang="en-US" altLang="ko-KR" sz="1600" spc="-50" dirty="0"/>
              <a:t>2020</a:t>
            </a:r>
            <a:r>
              <a:rPr lang="ko-KR" altLang="en-US" sz="1600" spc="-50" dirty="0"/>
              <a:t>년도 우리나라 지방세 수입의 구성비율을 보여주고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지방세 중 가장 많은 수입을 올리고 있는 것은 부동산이나 자동차 등의 자산을 </a:t>
            </a:r>
            <a:r>
              <a:rPr lang="ko-KR" altLang="en-US" sz="1600" spc="-50" dirty="0" err="1"/>
              <a:t>취득할때</a:t>
            </a:r>
            <a:r>
              <a:rPr lang="ko-KR" altLang="en-US" sz="1600" spc="-50" dirty="0"/>
              <a:t> 부과하는 취득세로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전체 지방세 수입의 </a:t>
            </a:r>
            <a:r>
              <a:rPr lang="en-US" altLang="ko-KR" sz="1600" spc="-50" dirty="0"/>
              <a:t>24.5%</a:t>
            </a:r>
            <a:r>
              <a:rPr lang="ko-KR" altLang="en-US" sz="1600" spc="-50" dirty="0"/>
              <a:t>에 이르는 비중을 차지하였다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 다음으로는 </a:t>
            </a:r>
            <a:r>
              <a:rPr lang="ko-KR" altLang="en-US" sz="1600" spc="-50" dirty="0" err="1"/>
              <a:t>지방소비세인데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전체 지방세수 중 </a:t>
            </a:r>
            <a:r>
              <a:rPr lang="en-US" altLang="ko-KR" sz="1600" spc="-50" dirty="0"/>
              <a:t>17.7%</a:t>
            </a:r>
            <a:r>
              <a:rPr lang="ko-KR" altLang="en-US" sz="1600" spc="-50" dirty="0"/>
              <a:t>를 차지하고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그리고 국세인 소득세나 법인세와 별개로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개인이나 법인의 소득에 부과되는 지방소득세가 </a:t>
            </a:r>
            <a:r>
              <a:rPr lang="en-US" altLang="ko-KR" sz="1600" spc="-50" dirty="0"/>
              <a:t>16.6%</a:t>
            </a:r>
            <a:r>
              <a:rPr lang="ko-KR" altLang="en-US" sz="1600" spc="-50" dirty="0"/>
              <a:t>의 비중을 차지하고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토지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선박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항공기 등의 자산에 대해 부과되는 재산세는 </a:t>
            </a:r>
            <a:r>
              <a:rPr lang="en-US" altLang="ko-KR" sz="1600" spc="-50" dirty="0"/>
              <a:t>14.1%</a:t>
            </a:r>
            <a:r>
              <a:rPr lang="ko-KR" altLang="en-US" sz="1600" spc="-50" dirty="0"/>
              <a:t>의 비중을 차지하고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 지방세 구조를 </a:t>
            </a:r>
            <a:r>
              <a:rPr lang="ko-KR" altLang="en-US" sz="1600" spc="-50" dirty="0" err="1"/>
              <a:t>다른나라들과</a:t>
            </a:r>
            <a:r>
              <a:rPr lang="ko-KR" altLang="en-US" sz="1600" spc="-50" dirty="0"/>
              <a:t> 비교해보면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재산과세의 비중이 높다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80" dirty="0"/>
              <a:t>우리나라처럼 지역간 경제 격차가 클 때</a:t>
            </a:r>
            <a:r>
              <a:rPr lang="en-US" altLang="ko-KR" sz="1600" spc="-80" dirty="0"/>
              <a:t>,</a:t>
            </a:r>
            <a:r>
              <a:rPr lang="ko-KR" altLang="en-US" sz="1600" spc="-80" dirty="0"/>
              <a:t> 재산과세의 비중이 높은 것은 지역간 재정불균형을 </a:t>
            </a:r>
            <a:r>
              <a:rPr lang="ko-KR" altLang="en-US" sz="1600" spc="-80" dirty="0" err="1"/>
              <a:t>심화시키는</a:t>
            </a:r>
            <a:r>
              <a:rPr lang="ko-KR" altLang="en-US" sz="1600" spc="-80" dirty="0"/>
              <a:t> 요인으로 작용한다</a:t>
            </a:r>
            <a:r>
              <a:rPr lang="en-US" altLang="ko-KR" sz="1600" spc="-8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130" dirty="0"/>
              <a:t>재산과세 중에서도 취득세 같은 거래단계에서의 과세가 재산세 같은 보유단계에서의 과세보다 더 큰 비중을 차지한다는 특징이 있다</a:t>
            </a:r>
            <a:r>
              <a:rPr lang="en-US" altLang="ko-KR" sz="1600" spc="-13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보유단계보다 거래단계에서의 과세 비중이 높은 것은 경제상황에 따라 큰 폭의 변화를 동반하여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조세수입의 안정성 측면에서 문제가 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D7E299-911F-4119-9FA2-CFEEEC4580EA}"/>
              </a:ext>
            </a:extLst>
          </p:cNvPr>
          <p:cNvSpPr txBox="1"/>
          <p:nvPr/>
        </p:nvSpPr>
        <p:spPr>
          <a:xfrm>
            <a:off x="2217740" y="5640553"/>
            <a:ext cx="129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지방세 수입 구성비율</a:t>
            </a:r>
            <a:endParaRPr lang="en-US" altLang="ko-KR" sz="900" spc="-50" dirty="0"/>
          </a:p>
          <a:p>
            <a:pPr algn="ctr"/>
            <a:r>
              <a:rPr lang="en-US" altLang="ko-KR" sz="900" spc="-50" dirty="0"/>
              <a:t>(2020</a:t>
            </a:r>
            <a:r>
              <a:rPr lang="ko-KR" altLang="en-US" sz="900" spc="-50" dirty="0"/>
              <a:t>년도 예산</a:t>
            </a:r>
            <a:r>
              <a:rPr lang="en-US" altLang="ko-KR" sz="900" spc="-50" dirty="0"/>
              <a:t>)</a:t>
            </a:r>
            <a:endParaRPr lang="ko-KR" altLang="en-US" sz="9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5EFE439-F2EA-0E9E-873E-BE8B71B032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1" t="35360" r="453" b="26545"/>
          <a:stretch>
            <a:fillRect/>
          </a:stretch>
        </p:blipFill>
        <p:spPr>
          <a:xfrm>
            <a:off x="3598863" y="5516000"/>
            <a:ext cx="4994275" cy="5891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98B3C7-36F7-2348-213C-ACD0C7532FB7}"/>
              </a:ext>
            </a:extLst>
          </p:cNvPr>
          <p:cNvSpPr txBox="1"/>
          <p:nvPr/>
        </p:nvSpPr>
        <p:spPr>
          <a:xfrm>
            <a:off x="3908743" y="5342341"/>
            <a:ext cx="5670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/>
              <a:t>취득세</a:t>
            </a:r>
            <a:endParaRPr lang="ko-KR" altLang="en-US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CF30C2-5837-BE0D-CD40-19467DE299E5}"/>
              </a:ext>
            </a:extLst>
          </p:cNvPr>
          <p:cNvSpPr txBox="1"/>
          <p:nvPr/>
        </p:nvSpPr>
        <p:spPr>
          <a:xfrm>
            <a:off x="4883787" y="5342341"/>
            <a:ext cx="7486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/>
              <a:t>지방소비세</a:t>
            </a:r>
            <a:endParaRPr lang="ko-KR" alt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EFA42F-2641-58D5-7E98-3B1517464755}"/>
              </a:ext>
            </a:extLst>
          </p:cNvPr>
          <p:cNvSpPr txBox="1"/>
          <p:nvPr/>
        </p:nvSpPr>
        <p:spPr>
          <a:xfrm>
            <a:off x="5721669" y="5342341"/>
            <a:ext cx="7486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/>
              <a:t>지방소득세</a:t>
            </a:r>
            <a:endParaRPr lang="ko-KR" altLang="en-US" sz="9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AD2AF5-06EA-29B2-0B3A-CEA3AC2B8F77}"/>
              </a:ext>
            </a:extLst>
          </p:cNvPr>
          <p:cNvSpPr txBox="1"/>
          <p:nvPr/>
        </p:nvSpPr>
        <p:spPr>
          <a:xfrm>
            <a:off x="6470331" y="5342341"/>
            <a:ext cx="7486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/>
              <a:t>재산세</a:t>
            </a:r>
            <a:endParaRPr lang="ko-KR" alt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AC3DE3-39F8-06EC-E8FB-34A4C474A969}"/>
              </a:ext>
            </a:extLst>
          </p:cNvPr>
          <p:cNvSpPr txBox="1"/>
          <p:nvPr/>
        </p:nvSpPr>
        <p:spPr>
          <a:xfrm>
            <a:off x="7071044" y="5205181"/>
            <a:ext cx="748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자동차</a:t>
            </a:r>
            <a:endParaRPr lang="en-US" altLang="ko-KR" sz="900" spc="-50" dirty="0"/>
          </a:p>
          <a:p>
            <a:pPr algn="ctr"/>
            <a:r>
              <a:rPr lang="ko-KR" altLang="en-US" sz="900" spc="-50" dirty="0"/>
              <a:t>세</a:t>
            </a:r>
            <a:endParaRPr lang="ko-KR" alt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CB07CD-E4DE-9E7B-BA10-EA8D8CA11BC0}"/>
              </a:ext>
            </a:extLst>
          </p:cNvPr>
          <p:cNvSpPr txBox="1"/>
          <p:nvPr/>
        </p:nvSpPr>
        <p:spPr>
          <a:xfrm>
            <a:off x="7440321" y="5210261"/>
            <a:ext cx="748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지방</a:t>
            </a:r>
            <a:endParaRPr lang="en-US" altLang="ko-KR" sz="900" spc="-50" dirty="0"/>
          </a:p>
          <a:p>
            <a:pPr algn="ctr"/>
            <a:r>
              <a:rPr lang="ko-KR" altLang="en-US" sz="900" spc="-50" dirty="0"/>
              <a:t>교육세</a:t>
            </a:r>
            <a:endParaRPr lang="ko-KR" altLang="en-US" sz="9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750A51-1E95-C958-E255-6C5A5EBE8810}"/>
              </a:ext>
            </a:extLst>
          </p:cNvPr>
          <p:cNvSpPr txBox="1"/>
          <p:nvPr/>
        </p:nvSpPr>
        <p:spPr>
          <a:xfrm>
            <a:off x="7719723" y="4987013"/>
            <a:ext cx="7486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담배소비세</a:t>
            </a:r>
            <a:endParaRPr lang="ko-KR" alt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41A2D3-1961-E852-CE9E-D8F64FFFA9D4}"/>
              </a:ext>
            </a:extLst>
          </p:cNvPr>
          <p:cNvSpPr txBox="1"/>
          <p:nvPr/>
        </p:nvSpPr>
        <p:spPr>
          <a:xfrm>
            <a:off x="7865136" y="6118919"/>
            <a:ext cx="7486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주민세</a:t>
            </a:r>
            <a:endParaRPr lang="ko-KR" altLang="en-US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4D2000-801F-FA08-C530-FC0A726831F0}"/>
              </a:ext>
            </a:extLst>
          </p:cNvPr>
          <p:cNvSpPr txBox="1"/>
          <p:nvPr/>
        </p:nvSpPr>
        <p:spPr>
          <a:xfrm>
            <a:off x="8216269" y="5281513"/>
            <a:ext cx="4336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기타</a:t>
            </a:r>
            <a:endParaRPr lang="ko-KR" altLang="en-US" sz="900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A76FE13-ABE1-AD7B-7365-D35C87233CEF}"/>
              </a:ext>
            </a:extLst>
          </p:cNvPr>
          <p:cNvCxnSpPr>
            <a:cxnSpLocks/>
          </p:cNvCxnSpPr>
          <p:nvPr/>
        </p:nvCxnSpPr>
        <p:spPr>
          <a:xfrm>
            <a:off x="8095004" y="5205181"/>
            <a:ext cx="0" cy="33836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73185FF3-0C39-C4C5-067D-C7F40FDA1C0F}"/>
              </a:ext>
            </a:extLst>
          </p:cNvPr>
          <p:cNvCxnSpPr>
            <a:cxnSpLocks/>
          </p:cNvCxnSpPr>
          <p:nvPr/>
        </p:nvCxnSpPr>
        <p:spPr>
          <a:xfrm>
            <a:off x="8239467" y="6095951"/>
            <a:ext cx="0" cy="7200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44FFB28-13F2-47B8-CCE5-9F46865513DD}"/>
              </a:ext>
            </a:extLst>
          </p:cNvPr>
          <p:cNvCxnSpPr>
            <a:cxnSpLocks/>
          </p:cNvCxnSpPr>
          <p:nvPr/>
        </p:nvCxnSpPr>
        <p:spPr>
          <a:xfrm>
            <a:off x="8439469" y="5469441"/>
            <a:ext cx="0" cy="7200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5392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7695</TotalTime>
  <Words>7178</Words>
  <Application>Microsoft Office PowerPoint</Application>
  <PresentationFormat>와이드스크린</PresentationFormat>
  <Paragraphs>1222</Paragraphs>
  <Slides>59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59</vt:i4>
      </vt:variant>
    </vt:vector>
  </HeadingPairs>
  <TitlesOfParts>
    <vt:vector size="66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재 정 학</vt:lpstr>
      <vt:lpstr>Chapter 4  공공재의 문제</vt:lpstr>
      <vt:lpstr>Section 1. 공공재의 의미</vt:lpstr>
      <vt:lpstr>공공재의 의미</vt:lpstr>
      <vt:lpstr>공공재의 의미</vt:lpstr>
      <vt:lpstr>공공재의 기본성격</vt:lpstr>
      <vt:lpstr>공공재의 기본성격</vt:lpstr>
      <vt:lpstr>불완전한 공공재</vt:lpstr>
      <vt:lpstr>클럽 이론</vt:lpstr>
      <vt:lpstr>Section 2. 공공재의 최적수준</vt:lpstr>
      <vt:lpstr>공공재에 대한 개인의 수요</vt:lpstr>
      <vt:lpstr>공공재에 대한 개인의 수요</vt:lpstr>
      <vt:lpstr>시장수요의 도출</vt:lpstr>
      <vt:lpstr>시장수요의 도출</vt:lpstr>
      <vt:lpstr>적정수준의 도출</vt:lpstr>
      <vt:lpstr>적정수준의 도출</vt:lpstr>
      <vt:lpstr>적정수준의 도출</vt:lpstr>
      <vt:lpstr>Section 3. 린달의 자발적 교환 모형</vt:lpstr>
      <vt:lpstr>린달의 자발적 교환 모형</vt:lpstr>
      <vt:lpstr>린달의 자발적 교환 모형</vt:lpstr>
      <vt:lpstr>린달의 자발적 교환 모형</vt:lpstr>
      <vt:lpstr>린달의 자발적 교환 모형</vt:lpstr>
      <vt:lpstr>린달균형</vt:lpstr>
      <vt:lpstr>린달균형</vt:lpstr>
      <vt:lpstr>Section 4. 무임승차자의 문제</vt:lpstr>
      <vt:lpstr>무임승차 문제</vt:lpstr>
      <vt:lpstr>무임승차 문제</vt:lpstr>
      <vt:lpstr>협상가능성의 존재</vt:lpstr>
      <vt:lpstr>Section 5. 공공재의 다른 측면</vt:lpstr>
      <vt:lpstr>재정의 기본골격</vt:lpstr>
      <vt:lpstr>중앙정부의 재정규모</vt:lpstr>
      <vt:lpstr>일반회계</vt:lpstr>
      <vt:lpstr>일반회계</vt:lpstr>
      <vt:lpstr>일반회계</vt:lpstr>
      <vt:lpstr>일반회계</vt:lpstr>
      <vt:lpstr>특별회계</vt:lpstr>
      <vt:lpstr>기금</vt:lpstr>
      <vt:lpstr>Section 2. 정부지출의 수준과 구성</vt:lpstr>
      <vt:lpstr>지출수준</vt:lpstr>
      <vt:lpstr>지출수준</vt:lpstr>
      <vt:lpstr>지출의 구성</vt:lpstr>
      <vt:lpstr>Section 3. 조세제도</vt:lpstr>
      <vt:lpstr>조세부담률</vt:lpstr>
      <vt:lpstr>소득과세</vt:lpstr>
      <vt:lpstr>소득과세</vt:lpstr>
      <vt:lpstr>소비과세</vt:lpstr>
      <vt:lpstr>소비과세</vt:lpstr>
      <vt:lpstr>재산과세</vt:lpstr>
      <vt:lpstr>재산과세</vt:lpstr>
      <vt:lpstr>Section 4. 지방재정</vt:lpstr>
      <vt:lpstr>재방재정의 구성</vt:lpstr>
      <vt:lpstr>재방재정의 구성</vt:lpstr>
      <vt:lpstr>재방재정의 구성</vt:lpstr>
      <vt:lpstr>지방재정의 구성</vt:lpstr>
      <vt:lpstr>지방재정의 구성</vt:lpstr>
      <vt:lpstr>지방재정의 구성</vt:lpstr>
      <vt:lpstr>지방세 체계</vt:lpstr>
      <vt:lpstr>PowerPoint 프레젠테이션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216</cp:revision>
  <dcterms:created xsi:type="dcterms:W3CDTF">2025-07-05T05:15:23Z</dcterms:created>
  <dcterms:modified xsi:type="dcterms:W3CDTF">2026-01-07T02:20:38Z</dcterms:modified>
</cp:coreProperties>
</file>