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599" r:id="rId6"/>
    <p:sldId id="600" r:id="rId7"/>
    <p:sldId id="601" r:id="rId8"/>
    <p:sldId id="602" r:id="rId9"/>
    <p:sldId id="603" r:id="rId10"/>
    <p:sldId id="595" r:id="rId11"/>
    <p:sldId id="604" r:id="rId12"/>
    <p:sldId id="605" r:id="rId13"/>
    <p:sldId id="607" r:id="rId14"/>
    <p:sldId id="608" r:id="rId15"/>
    <p:sldId id="606" r:id="rId16"/>
    <p:sldId id="609" r:id="rId17"/>
    <p:sldId id="610" r:id="rId18"/>
    <p:sldId id="596" r:id="rId19"/>
    <p:sldId id="611" r:id="rId20"/>
    <p:sldId id="613" r:id="rId21"/>
    <p:sldId id="612" r:id="rId22"/>
    <p:sldId id="614" r:id="rId23"/>
    <p:sldId id="615" r:id="rId24"/>
    <p:sldId id="616" r:id="rId25"/>
    <p:sldId id="597" r:id="rId26"/>
    <p:sldId id="617" r:id="rId27"/>
    <p:sldId id="618" r:id="rId28"/>
    <p:sldId id="620" r:id="rId29"/>
    <p:sldId id="622" r:id="rId30"/>
    <p:sldId id="623" r:id="rId31"/>
    <p:sldId id="624" r:id="rId32"/>
    <p:sldId id="626" r:id="rId33"/>
    <p:sldId id="627" r:id="rId34"/>
    <p:sldId id="632" r:id="rId35"/>
    <p:sldId id="598" r:id="rId36"/>
    <p:sldId id="628" r:id="rId37"/>
    <p:sldId id="629" r:id="rId38"/>
    <p:sldId id="630" r:id="rId39"/>
    <p:sldId id="631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0.png"/><Relationship Id="rId4" Type="http://schemas.openxmlformats.org/officeDocument/2006/relationships/image" Target="../media/image6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공공재의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 </a:t>
            </a:r>
            <a:r>
              <a:rPr lang="en-US" altLang="ko-KR" sz="1600" spc="-50" dirty="0"/>
              <a:t>(public goods)</a:t>
            </a:r>
            <a:r>
              <a:rPr lang="ko-KR" altLang="en-US" sz="1600" spc="-50" dirty="0"/>
              <a:t>는 보통 생각하는 재화나 서비스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사적재화 혹은 </a:t>
            </a:r>
            <a:r>
              <a:rPr lang="en-US" altLang="ko-KR" sz="1600" spc="-50" dirty="0"/>
              <a:t>private goods)</a:t>
            </a:r>
            <a:r>
              <a:rPr lang="ko-KR" altLang="en-US" sz="1600" spc="-50" dirty="0"/>
              <a:t>와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사람이 공동으로 그 소비에 참여한다는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펜 등의 것은 개인적인 차원에서 소비가 이루어지지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공동으로 소비하지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공원 등의 것은 여러 사람의 공동 소비를 위해 만들어졌다는 점에서 앞서 말한 것과 큰 차이가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책에서는 공공재를 다음과 같이 정의하고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집단의 어떤 사람을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어떤 사람에 의해 생산되는 즉시 그 집단의 모든 구성원이 함께 소비할 수 있는 재화나 서비스를 공공재라고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생산하여 공급하는 재화나 서비스 중 공공재의 성격을 갖는 것들이 많이 있는 것이 사실이다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공공재라는 것이 정부 혹은 공공기관에 의해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공급되는 재화나 서비스를 뜻하는 것으로 잘못 알고 있는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정부는 의료서비스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수돗물 등과 같이 사적재화의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민간단체가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 등 공공재의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공공재는 그 자체의 성격에 의해 규정되며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주체가 </a:t>
            </a:r>
            <a:r>
              <a:rPr lang="ko-KR" altLang="en-US" sz="1600" spc="-50" dirty="0" err="1"/>
              <a:t>누구냐에</a:t>
            </a:r>
            <a:r>
              <a:rPr lang="ko-KR" altLang="en-US" sz="1600" spc="-50" dirty="0"/>
              <a:t> 따라 규정되는 것이 아니다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공공재게임이라는 실험적 상황을 통해 사람들의 행태를 관찰한 결과 무임승차 이론이 꼭 들어 맞는 것이 아님을 밝혔다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전형적인 공공재 게임은 다음과 같이 진행된다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실험에 참가한 사람들은 각각 </a:t>
            </a:r>
            <a:r>
              <a:rPr lang="en-US" altLang="ko-KR" sz="1600" spc="-100" dirty="0"/>
              <a:t>10</a:t>
            </a:r>
            <a:r>
              <a:rPr lang="ko-KR" altLang="en-US" sz="1600" spc="-100" dirty="0"/>
              <a:t>장의 표를 받는다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표는 자기가 가질 수도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투자할 수 있다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두 가지 중 하나</a:t>
            </a:r>
            <a:r>
              <a:rPr lang="en-US" altLang="ko-KR" sz="1600" spc="-1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자기가 가지면 </a:t>
            </a:r>
            <a:r>
              <a:rPr lang="en-US" altLang="ko-KR" sz="1600" spc="-100" dirty="0"/>
              <a:t>1</a:t>
            </a:r>
            <a:r>
              <a:rPr lang="ko-KR" altLang="en-US" sz="1600" spc="-100" dirty="0"/>
              <a:t>만원을 받고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투자하면 실험에 참가한 모든 사람들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자신 포함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</a:t>
            </a:r>
            <a:r>
              <a:rPr lang="en-US" altLang="ko-KR" sz="1600" spc="-100" dirty="0"/>
              <a:t>5</a:t>
            </a:r>
            <a:r>
              <a:rPr lang="ko-KR" altLang="en-US" sz="1600" spc="-100" dirty="0"/>
              <a:t>천원씩 받는다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무임승차 이론이 </a:t>
            </a:r>
            <a:r>
              <a:rPr lang="ko-KR" altLang="en-US" sz="1600" spc="-100" dirty="0" err="1"/>
              <a:t>맞다면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,</a:t>
            </a:r>
            <a:r>
              <a:rPr lang="ko-KR" altLang="en-US" sz="1600" spc="-100" dirty="0"/>
              <a:t> 각 개인은 다른 사람이 공공재에 </a:t>
            </a:r>
            <a:r>
              <a:rPr lang="ko-KR" altLang="en-US" sz="1600" spc="-100" dirty="0" err="1"/>
              <a:t>투자해주길</a:t>
            </a:r>
            <a:r>
              <a:rPr lang="ko-KR" altLang="en-US" sz="1600" spc="-100" dirty="0"/>
              <a:t> 바라며</a:t>
            </a:r>
            <a:r>
              <a:rPr lang="en-US" altLang="ko-KR" sz="1600" spc="-100" dirty="0"/>
              <a:t>, 10</a:t>
            </a:r>
            <a:r>
              <a:rPr lang="ko-KR" altLang="en-US" sz="1600" spc="-100" dirty="0"/>
              <a:t>장의 표 전부를 자기가 가지고 있어야 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마웰</a:t>
            </a:r>
            <a:r>
              <a:rPr lang="en-US" altLang="ko-KR" sz="1600" spc="-100" dirty="0"/>
              <a:t>-</a:t>
            </a:r>
            <a:r>
              <a:rPr lang="ko-KR" altLang="en-US" sz="1600" spc="-100" dirty="0" err="1"/>
              <a:t>에임즈는</a:t>
            </a:r>
            <a:r>
              <a:rPr lang="ko-KR" altLang="en-US" sz="1600" spc="-100" dirty="0"/>
              <a:t> 조건을 조금씩 다르게 해서 공공재게임을 여러 번 해본 결과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자신에게 배정된 표의 </a:t>
            </a:r>
            <a:r>
              <a:rPr lang="en-US" altLang="ko-KR" sz="1600" spc="-100" dirty="0"/>
              <a:t>40%~60% </a:t>
            </a:r>
            <a:r>
              <a:rPr lang="ko-KR" altLang="en-US" sz="1600" spc="-100" dirty="0"/>
              <a:t>정도를 공공재에 투자하는 것으로 </a:t>
            </a:r>
            <a:r>
              <a:rPr lang="ko-KR" altLang="en-US" sz="1600" spc="-100" dirty="0" err="1"/>
              <a:t>드러</a:t>
            </a:r>
            <a:r>
              <a:rPr lang="ko-KR" altLang="en-US" sz="1600" spc="-100" dirty="0"/>
              <a:t> 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이는 사람들이 무임승차를 할 수 있는 상황에서도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무임승차를 자제한 것이다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F2DC6-A6DD-3A81-789C-298E0360C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A1E4E9-0DB1-E528-F64A-7004789B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1DBD68-FBD2-321B-B1B8-0609B535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134A6-4DB4-918B-E5FF-7B16D94CEF53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앞서 공공재 게임에서 사람들은 왜 무임승차를 하지 </a:t>
            </a:r>
            <a:r>
              <a:rPr lang="ko-KR" altLang="en-US" sz="1600" spc="-100" dirty="0" err="1"/>
              <a:t>않았을지</a:t>
            </a:r>
            <a:r>
              <a:rPr lang="ko-KR" altLang="en-US" sz="1600" spc="-100" dirty="0"/>
              <a:t> 이유를 생각해보면 다음과 같다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무임승차 하는 것은 떳떳하지 못한 일이라는 인식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소소한 인식보다는 명예를 더 중시하는 사람인 경우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또 무임승차를 하려는 행위가 다른 사람의 분노를 사서 더 큰 불이익으로 이어질지도 모른다는 두려움이 생기는 경우</a:t>
            </a: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퍼</a:t>
            </a:r>
            <a:r>
              <a:rPr lang="en-US" altLang="ko-KR" sz="1600" spc="-100" dirty="0"/>
              <a:t>-</a:t>
            </a:r>
            <a:r>
              <a:rPr lang="ko-KR" altLang="en-US" sz="1600" spc="-100" dirty="0"/>
              <a:t>게히터는 또 다른 형태의 공공재 게임을 고안했는데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여러 라운드에 걸쳐 공공재 게임을 진행하며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각 라운드가 끝날 때마다 각자가 어떤 결정을 했는지 모두에게 공개를 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세부 규칙은 아래와 같았다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어떤 사람이 무임승차를 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다른 사람들은 그에게 벌점을 주는데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다음 라운드에서 그는 다른 사람에게 받은 벌점만큼 돈이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동시에 다른 사람에게 벌점을 주기 위해서는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벌점 주는 사람 자신도 일정 금액을 포기해야 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이 게임에서 모든 사람이 이기적이고 합리적이라면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무임승차를 하는 사람에게 아무런 징벌도 가하지 않을 것이다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징벌을 내리는 사람도 돈을 잃기 때문</a:t>
            </a:r>
            <a:r>
              <a:rPr lang="en-US" altLang="ko-KR" sz="1600" spc="-100" dirty="0"/>
              <a:t>). </a:t>
            </a:r>
            <a:r>
              <a:rPr lang="ko-KR" altLang="en-US" sz="1600" spc="-100" dirty="0"/>
              <a:t>따라서 </a:t>
            </a:r>
            <a:r>
              <a:rPr lang="ko-KR" altLang="en-US" sz="1600" spc="-100" dirty="0" err="1"/>
              <a:t>아까와</a:t>
            </a:r>
            <a:r>
              <a:rPr lang="ko-KR" altLang="en-US" sz="1600" spc="-100" dirty="0"/>
              <a:t> 달리 징벌제도가 있어도 실험의 결과는 아무런 차이가 없을 것으로 예측할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결과는 정반대로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사람들이 비용을 치르면서까지 무임승차 하는 사람에게 징벌을 가하였다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실험 결과는 다른 사람의 분노를 살 수도 있다는 이유가 무임승차를 자제하는 큰 이유가 될 수 있음을 보여준다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그러나 구성원의 숫자가 많아지면 익명성 때문에 징벌을 가하기 어렵고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이를 틈타 무임승차자가 많이 생길 수도 있기도 하다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68496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애초에 민간부문이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공급하고 있을 때 정부가 그것의 공급량을 늘린다면 민간부문은 어떤 반응을 보일까</a:t>
            </a:r>
            <a:r>
              <a:rPr lang="en-US" altLang="ko-KR" sz="1600" spc="-1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예를 들어 정부가 도서관을 추가로 공급할 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민간부문이 운영하는 도서관의 수는 종전에 비해 줄어들까</a:t>
            </a:r>
            <a:r>
              <a:rPr lang="en-US" altLang="ko-KR" sz="1600" spc="-10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중립성정리 이론에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공급을 늘리면 민간부문의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공급은 정부가 늘린 양만큼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즉 정부의 공공재 공급 증가가 민간의 공공재 공급을 완벽히 구축</a:t>
            </a:r>
            <a:r>
              <a:rPr lang="en-US" altLang="ko-KR" sz="1600" spc="-100" dirty="0"/>
              <a:t>(crowd-out)</a:t>
            </a:r>
            <a:r>
              <a:rPr lang="ko-KR" altLang="en-US" sz="1600" spc="-100" dirty="0"/>
              <a:t>한다는 뜻이다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중립성 정리 이론은 아래의 논리에 근거하고 있다</a:t>
            </a:r>
            <a:r>
              <a:rPr lang="en-US" altLang="ko-KR" sz="1600" spc="-100" dirty="0"/>
              <a:t>: </a:t>
            </a:r>
            <a:r>
              <a:rPr lang="ko-KR" altLang="en-US" sz="1600" spc="-100" dirty="0"/>
              <a:t>민간을 대표하는 어떤 한 개인이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사적재화의 일정한 조합을 소비함으로써 효용을 극대화 하고 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바로 이 수준의 공공재가 공급되도록 만들기 위해 세금을 내는 동시에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생산하기도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정부가 공공재 생산을 늘리기 위해 그 개인에게 더 많은 세금을 거두기로 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늘어난 세금이 공공재의 추가적 공급에 사용될 것임을 알고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생산하는 공공재의 양을 바로 그만큼 줄이기로 결정하게 된다</a:t>
            </a:r>
            <a:r>
              <a:rPr lang="en-US" altLang="ko-KR" sz="1600" spc="-1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이러한 결정은 종전의 공공재와 사적재화의 조합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효용이 극대화 되는 조합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을 계속해서 선택할 수 있게끔 만들어준다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현실에서는 이러한 중립성정리가 그대로 성립할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모든 납세자가 스스로 어느 정도의 공공재를 공급하고 있음을 가정하고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공급하는 사람은 거의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개인이 공공재를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행위로부터 효용을 얻고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공급을 늘린다고 해서 자신의 생산을 줄일 유인이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14249-6110-8003-7B6B-39CC92DD9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C9E0D-216D-67F8-7E3E-EC1DC4B2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DC2AC-6D34-96A9-0A2A-A9892A567CFE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안드레오니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(J. Andreoni, 199)</a:t>
            </a:r>
            <a:r>
              <a:rPr lang="ko-KR" altLang="en-US" sz="1600" spc="-100" dirty="0"/>
              <a:t>은 기부금을 민간이 공급하는 공공재의 일종으로 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현실에서의 중립성정리를 검토하였다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기부금의 동기가 순수한 이타심이라면 중립성정리가 성립할 것이라고 말한다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이타적인 사람의 효용은 가난한 사람의 소비수준에 영향을 받을 텐데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가난한 사람을 돕는다면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이타적인 사람 본인이 기부할 필요가 그만큼 줄어들기 때문이다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따라서 가난한 사람에 대한 정부지출의 증가는 바로 그만큼의 기부감소로 이어지는 구축효과가 발생하게 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하지만 현실에서 사람들이 기부금을 내는 데는 다른 동기가 더 큰 역할을 하고 있을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안드레오니는</a:t>
            </a:r>
            <a:r>
              <a:rPr lang="ko-KR" altLang="en-US" sz="1600" spc="-100" dirty="0"/>
              <a:t> 기부금을 내는 행위 그 자체가 만족감을 줄 수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그렇다면 기부행위는 순수한 이기심으로 인해 발생하는 것일 수 있다고 지적한다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이처럼 민간이 어떤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동기가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자신의 만족감에 있다고 보는 것이 만족감 가설이다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만족감 가설이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앞서 말한 중립성정리에 의한 구축효과는 전혀 발생하지 않는다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실증연구에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구축효과의 정도가 완벽하지는 않은 것으로 나타났다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킹마</a:t>
            </a:r>
            <a:r>
              <a:rPr lang="en-US" altLang="ko-KR" sz="1600" spc="-100" dirty="0"/>
              <a:t>(B. Kingma, 1989)</a:t>
            </a:r>
            <a:r>
              <a:rPr lang="ko-KR" altLang="en-US" sz="1600" spc="-100" dirty="0"/>
              <a:t>에 따르면 공공재 공급량이 </a:t>
            </a:r>
            <a:r>
              <a:rPr lang="en-US" altLang="ko-KR" sz="1600" spc="-100" dirty="0"/>
              <a:t>100</a:t>
            </a:r>
            <a:r>
              <a:rPr lang="ko-KR" altLang="en-US" sz="1600" spc="-100" dirty="0"/>
              <a:t>만큼 늘어날 때 민간의 공급은 </a:t>
            </a:r>
            <a:r>
              <a:rPr lang="en-US" altLang="ko-KR" sz="1600" spc="-100" dirty="0"/>
              <a:t>14</a:t>
            </a:r>
            <a:r>
              <a:rPr lang="ko-KR" altLang="en-US" sz="1600" spc="-100" dirty="0"/>
              <a:t>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다른 대부분의 연구 또한 민간부문의 공급은 </a:t>
            </a:r>
            <a:r>
              <a:rPr lang="en-US" altLang="ko-KR" sz="1600" spc="-100" dirty="0"/>
              <a:t>30</a:t>
            </a:r>
            <a:r>
              <a:rPr lang="ko-KR" altLang="en-US" sz="1600" spc="-100" dirty="0"/>
              <a:t>보다 적은 폭으로 줄어든다고 보고하고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5985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ECF6B-B935-B328-8281-16819267E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공공재와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127B31-5090-0761-4131-E25A8F15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1449-6677-BF39-192C-F9800D5E64C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 논의는 공공재의 배분과 관련된 이론적 측면에 치중하였다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이론적으로 도출된 공공재의 적정배분이 현실에서 그대로 실현될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 공공부문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즉 정부가 공공재의 배분에 관한 결정을 내릴 때는 공공선택이라고 부르는 집단의사결정 과정을 거친다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과정에서 여러 주체들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일반국민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정치가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관료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이익집단 등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이득을 위해 행동한다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스미스 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는 개인이 자신의 이익만을 위해 행동해도 시장의 보이지 않는 손이 작동하여 공익으로 이끌어 간다고 하였지만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현실의 공공선택 과정에서는 이러한 이상적인 결과를 기대하기는 힘들다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다음 장에서부터 바로 이 공공선택의 과정에 초점을 맞추어 보자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7996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8406</TotalTime>
  <Words>4812</Words>
  <Application>Microsoft Office PowerPoint</Application>
  <PresentationFormat>와이드스크린</PresentationFormat>
  <Paragraphs>432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공공재의 의미</vt:lpstr>
      <vt:lpstr>공공재의 의미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공공재게임-행태경제이론적 관점</vt:lpstr>
      <vt:lpstr>Section 5. 공공재의 다른 측면</vt:lpstr>
      <vt:lpstr>공급주체의 문제</vt:lpstr>
      <vt:lpstr>중립성 정리</vt:lpstr>
      <vt:lpstr>중립성 정리</vt:lpstr>
      <vt:lpstr>공공재와 공공선택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232</cp:revision>
  <dcterms:created xsi:type="dcterms:W3CDTF">2025-07-05T05:15:23Z</dcterms:created>
  <dcterms:modified xsi:type="dcterms:W3CDTF">2026-04-06T00:10:50Z</dcterms:modified>
</cp:coreProperties>
</file>