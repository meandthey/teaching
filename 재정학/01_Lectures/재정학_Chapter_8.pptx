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6"/>
  </p:notesMasterIdLst>
  <p:sldIdLst>
    <p:sldId id="375" r:id="rId2"/>
    <p:sldId id="405" r:id="rId3"/>
    <p:sldId id="550" r:id="rId4"/>
    <p:sldId id="552" r:id="rId5"/>
    <p:sldId id="722" r:id="rId6"/>
    <p:sldId id="723" r:id="rId7"/>
    <p:sldId id="724" r:id="rId8"/>
    <p:sldId id="725" r:id="rId9"/>
    <p:sldId id="719" r:id="rId10"/>
    <p:sldId id="726" r:id="rId11"/>
    <p:sldId id="727" r:id="rId12"/>
    <p:sldId id="720" r:id="rId13"/>
    <p:sldId id="728" r:id="rId14"/>
    <p:sldId id="729" r:id="rId15"/>
    <p:sldId id="730" r:id="rId16"/>
    <p:sldId id="731" r:id="rId17"/>
    <p:sldId id="732" r:id="rId18"/>
    <p:sldId id="721" r:id="rId19"/>
    <p:sldId id="688" r:id="rId20"/>
    <p:sldId id="689" r:id="rId21"/>
    <p:sldId id="690" r:id="rId22"/>
    <p:sldId id="691" r:id="rId23"/>
    <p:sldId id="692" r:id="rId24"/>
    <p:sldId id="693" r:id="rId25"/>
    <p:sldId id="694" r:id="rId26"/>
    <p:sldId id="695" r:id="rId27"/>
    <p:sldId id="696" r:id="rId28"/>
    <p:sldId id="632" r:id="rId29"/>
    <p:sldId id="697" r:id="rId30"/>
    <p:sldId id="698" r:id="rId31"/>
    <p:sldId id="699" r:id="rId32"/>
    <p:sldId id="700" r:id="rId33"/>
    <p:sldId id="701" r:id="rId34"/>
    <p:sldId id="633" r:id="rId35"/>
    <p:sldId id="702" r:id="rId36"/>
    <p:sldId id="703" r:id="rId37"/>
    <p:sldId id="704" r:id="rId38"/>
    <p:sldId id="705" r:id="rId39"/>
    <p:sldId id="634" r:id="rId40"/>
    <p:sldId id="706" r:id="rId41"/>
    <p:sldId id="707" r:id="rId42"/>
    <p:sldId id="708" r:id="rId43"/>
    <p:sldId id="709" r:id="rId44"/>
    <p:sldId id="710" r:id="rId45"/>
    <p:sldId id="711" r:id="rId46"/>
    <p:sldId id="687" r:id="rId47"/>
    <p:sldId id="712" r:id="rId48"/>
    <p:sldId id="713" r:id="rId49"/>
    <p:sldId id="714" r:id="rId50"/>
    <p:sldId id="715" r:id="rId51"/>
    <p:sldId id="716" r:id="rId52"/>
    <p:sldId id="717" r:id="rId53"/>
    <p:sldId id="718" r:id="rId54"/>
    <p:sldId id="364" r:id="rId5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소득분배이론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분배의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오래전부터 철학자들은 바람직한 분배</a:t>
            </a:r>
            <a:r>
              <a:rPr lang="en-US" altLang="ko-KR" sz="1600" spc="-50" dirty="0"/>
              <a:t>(distribution)</a:t>
            </a:r>
            <a:r>
              <a:rPr lang="ko-KR" altLang="en-US" sz="1600" spc="-50" dirty="0"/>
              <a:t>의 문제를 정의</a:t>
            </a:r>
            <a:r>
              <a:rPr lang="en-US" altLang="ko-KR" sz="1600" spc="-50" dirty="0"/>
              <a:t>(justice) </a:t>
            </a:r>
            <a:r>
              <a:rPr lang="ko-KR" altLang="en-US" sz="1600" spc="-50" dirty="0"/>
              <a:t>개념과 결부시켜 생각했다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분배와 관련된 정의</a:t>
            </a:r>
            <a:r>
              <a:rPr lang="en-US" altLang="ko-KR" sz="1600" spc="-50" dirty="0"/>
              <a:t>(justice)</a:t>
            </a:r>
            <a:r>
              <a:rPr lang="ko-KR" altLang="en-US" sz="1600" spc="-50" dirty="0"/>
              <a:t>의 본질이 무엇인지에 대한 물음이 도덕철학 혹은 윤리학의 일부로 논의 </a:t>
            </a:r>
            <a:r>
              <a:rPr lang="ko-KR" altLang="en-US" sz="1600" spc="-50" dirty="0" err="1"/>
              <a:t>한것이다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정의 </a:t>
            </a:r>
            <a:r>
              <a:rPr lang="en-US" altLang="ko-KR" sz="1600" spc="-50" dirty="0"/>
              <a:t>(distributive justice)</a:t>
            </a:r>
            <a:r>
              <a:rPr lang="ko-KR" altLang="en-US" sz="1600" spc="-50" dirty="0"/>
              <a:t>에 관한 최초 본격적 논의는 아리스토텔레스의 </a:t>
            </a:r>
            <a:r>
              <a:rPr lang="en-US" altLang="ko-KR" sz="1600" spc="-50" dirty="0"/>
              <a:t>『</a:t>
            </a:r>
            <a:r>
              <a:rPr lang="ko-KR" altLang="en-US" sz="1600" spc="-50" dirty="0" err="1"/>
              <a:t>니코마스</a:t>
            </a:r>
            <a:r>
              <a:rPr lang="ko-KR" altLang="en-US" sz="1600" spc="-50" dirty="0"/>
              <a:t> 윤리학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책에서는 각자가 가진 가치에 비례하는 분배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각자가 사회에 기여하는 양에 따라 비례하여 분배하는 것이 정의로운 분배라는 견해를 밝히고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 개념은 넓게 혹은 좁게 해석할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보면 사회적으로 의미 있는 모든 편익과 부담이 사회 구성원 사이에서 분배되는 것과 관련된 정의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좁은 의미에서 보면 경제적인 것에 한하여 편익과 부담의 분배와 관련된 정의 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재정학 수업에서는 주로 물질의 분배와 관련되므로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좁은 의미에서의 분배의 정의를 논의하고자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정의에 어떤 구체적 내용이 들어가야 하는지 각자 생각은 다를 수 있지만 적어도 아래 네 가지 기본요소를 포함하는 복합적인 개념이라는 것은 대부분의 철학자들이 인식을 같이한다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평등성</a:t>
            </a:r>
            <a:r>
              <a:rPr lang="en-US" altLang="ko-KR" sz="1600" spc="-50" dirty="0"/>
              <a:t>(equality), </a:t>
            </a:r>
            <a:r>
              <a:rPr lang="ko-KR" altLang="en-US" sz="1600" spc="-50" dirty="0"/>
              <a:t>정당한 권리</a:t>
            </a:r>
            <a:r>
              <a:rPr lang="en-US" altLang="ko-KR" sz="1600" spc="-50" dirty="0"/>
              <a:t>(rights), </a:t>
            </a:r>
            <a:r>
              <a:rPr lang="ko-KR" altLang="en-US" sz="1600" spc="-50" dirty="0"/>
              <a:t>공정성</a:t>
            </a:r>
            <a:r>
              <a:rPr lang="en-US" altLang="ko-KR" sz="1600" spc="-50" dirty="0"/>
              <a:t>(fairness), </a:t>
            </a:r>
            <a:r>
              <a:rPr lang="ko-KR" altLang="en-US" sz="1600" spc="-50" dirty="0"/>
              <a:t>받을 만한 자격</a:t>
            </a:r>
            <a:r>
              <a:rPr lang="en-US" altLang="ko-KR" sz="1600" spc="-50" dirty="0"/>
              <a:t>(deserts)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토대로 모든 사람이 물질적 가치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재산과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고루 나눠 가진 상태를 뜻한다는 결론을 도출한다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</a:t>
            </a:r>
            <a:r>
              <a:rPr lang="ko-KR" altLang="en-US" sz="1600" spc="-50" dirty="0" err="1"/>
              <a:t>것이아니라</a:t>
            </a:r>
            <a:r>
              <a:rPr lang="ko-KR" altLang="en-US" sz="1600" spc="-50" dirty="0"/>
              <a:t>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CB75-DD25-9C04-EE78-CF9B81DBB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1D42FE-EF94-9C9B-BD7D-2519415EF9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6FABE-9767-4650-A5B2-96E770A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729DCDE-771C-64D9-24FB-2A2E3D69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공리주의적 최적분배이론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595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E9A9B-82F9-C0D9-D06A-30B6EC0C7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5B396-CC66-E23A-A063-A17427B5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1CBAAB-D0D5-6EB2-A620-861EA6C5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07EAC-5BFF-F83A-AE95-1D18CB0311ED}"/>
              </a:ext>
            </a:extLst>
          </p:cNvPr>
          <p:cNvSpPr txBox="1"/>
          <p:nvPr/>
        </p:nvSpPr>
        <p:spPr>
          <a:xfrm>
            <a:off x="288790" y="958844"/>
            <a:ext cx="11250267" cy="37841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정해진 크기의 총소득이 주어져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사회 구성원간 분배를 할 때 어떤 것이 바람직할지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공리주의적 사고에 기초한다면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후생이 극대화되는 분배 상태가 논의의 답이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에지워스의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최적분배이론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문제에 대해서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에지워스</a:t>
            </a:r>
            <a:r>
              <a:rPr lang="en-US" altLang="ko-KR" sz="1600" spc="-50" dirty="0"/>
              <a:t>(F. Edgeworth)</a:t>
            </a:r>
            <a:r>
              <a:rPr lang="ko-KR" altLang="en-US" sz="1600" spc="-50" dirty="0"/>
              <a:t>는 아래와 같은 가정을 통해 모든 사람에게 완전히 균등한 소득을 나눠 주는 것이 가장 바람직한 분배라는 결론을 도출했다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사회후생은 개인들의 효용을 합친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효용함수를 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효용은 오직 소득수준에 의해서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증가함에 따라 소득의 한계효용은 작아진다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87051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E242-F278-94FC-A1E8-9C49A1CD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CE2DAF-47FD-25E9-C075-9AD83BC01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6C41D-F7C2-ADAD-53D7-45D747F2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에지워스가</a:t>
                </a:r>
                <a:r>
                  <a:rPr lang="ko-KR" altLang="en-US" sz="1600" spc="-50" dirty="0"/>
                  <a:t> 도출한 결론을 살펴보자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0" spc="-50" dirty="0"/>
                  <a:t>그림에서 수평</a:t>
                </a:r>
                <a:r>
                  <a:rPr lang="ko-KR" altLang="en-US" sz="1600" spc="-50" dirty="0"/>
                  <a:t>거리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는 주어진 크기의 총소득을 나타낸다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소득은 김씨와 박씨 두 사람 간에 분배되는데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김씨의 소득은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ko-KR" altLang="en-US" sz="1600" spc="-50" dirty="0"/>
                  <a:t>를 원점으로 하여 오른쪽으로 가면서 더 커지도록 하는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박씨의 소득은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원점으로 하여 왼쪽으로 가면서 더 커지게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만큼의 소득을 김씨에게 주고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소득을 박씨에게 주는 분배 상황에서 출발하기로 하자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만약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만큼의 소득을 박씨에게서 떼어내 김씨에게 주면 김씨의 효용증가는 사다리꼴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𝐺𝐴𝐵𝐽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4E68B51-46FF-46F5-AFCF-E9DFD69B8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8" t="13165" r="23172" b="7440"/>
          <a:stretch>
            <a:fillRect/>
          </a:stretch>
        </p:blipFill>
        <p:spPr>
          <a:xfrm>
            <a:off x="8584909" y="3460459"/>
            <a:ext cx="3397541" cy="30332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/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때 박씨의 효용감소는 </a:t>
                </a:r>
                <a:r>
                  <a:rPr lang="ko-KR" altLang="en-US" sz="1600" dirty="0"/>
                  <a:t>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𝐻𝐴𝐵𝐼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따라서 총소득을 재분배하면 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𝐺𝐻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ko-KR" sz="1600" spc="-60" dirty="0"/>
                  <a:t> </a:t>
                </a:r>
                <a:r>
                  <a:rPr lang="ko-KR" altLang="en-US" sz="1600" spc="-60" dirty="0"/>
                  <a:t>면적만큼 사회후생이 더 커진다</a:t>
                </a:r>
                <a:r>
                  <a:rPr lang="en-US" altLang="ko-KR" sz="1600" spc="-6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논리를 계속 </a:t>
                </a:r>
                <a:r>
                  <a:rPr lang="ko-KR" altLang="en-US" sz="1600" spc="-60" dirty="0" err="1"/>
                  <a:t>적용하다보면</a:t>
                </a:r>
                <a:r>
                  <a:rPr lang="ko-KR" altLang="en-US" sz="1600" spc="-60" dirty="0"/>
                  <a:t> 완전히 균등한 분배 </a:t>
                </a:r>
                <a:r>
                  <a:rPr lang="en-US" altLang="ko-KR" sz="1600" spc="-6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60" dirty="0"/>
                  <a:t>)</a:t>
                </a:r>
                <a:r>
                  <a:rPr lang="ko-KR" altLang="en-US" sz="1600" spc="-60" dirty="0"/>
                  <a:t>가</a:t>
                </a:r>
                <a:r>
                  <a:rPr lang="en-US" altLang="ko-KR" sz="1600" spc="-60" dirty="0"/>
                  <a:t> </a:t>
                </a:r>
                <a:r>
                  <a:rPr lang="ko-KR" altLang="en-US" sz="1600" spc="-60" dirty="0" err="1"/>
                  <a:t>됬을때</a:t>
                </a:r>
                <a:r>
                  <a:rPr lang="ko-KR" altLang="en-US" sz="1600" spc="-60" dirty="0"/>
                  <a:t> 비로소 사회후생이 극대화된다고 말할 수 있다</a:t>
                </a:r>
                <a:r>
                  <a:rPr lang="en-US" altLang="ko-KR" sz="1600" spc="-6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60" dirty="0"/>
                  <a:t>이와 같은 결론은 가정에 큰 문제를 삼을 수 있다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사람마다 효용함수가 다를 가능성이 크다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소득의 한계효용은 상품의 한계효용과 달리 체감한다고 보장하기 어렵다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보통 분배상태가 변하면 총소득의 크기도 달라지는 것이 보통이다</a:t>
                </a:r>
                <a:r>
                  <a:rPr lang="en-US" altLang="ko-KR" sz="1600" spc="-60" dirty="0"/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blipFill>
                <a:blip r:embed="rId4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CD2A4A-47A2-6753-44EE-1BB90667DF9E}"/>
              </a:ext>
            </a:extLst>
          </p:cNvPr>
          <p:cNvSpPr txBox="1"/>
          <p:nvPr/>
        </p:nvSpPr>
        <p:spPr>
          <a:xfrm>
            <a:off x="9389028" y="3568554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에지워스의</a:t>
            </a:r>
            <a:r>
              <a:rPr lang="ko-KR" altLang="en-US" sz="1200" spc="-50" dirty="0"/>
              <a:t> 최적분배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2749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8BB0-1339-9BBC-6871-1DA32D2B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EE3F5-8FF1-21A8-B566-A244B706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D35CF-2380-EB91-F154-151A6D68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CA047BE-1A26-153C-9944-7F86414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불평등도지수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1926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E998-B028-AEE5-C486-6038B6FF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41EDE-F095-7E51-3B09-8200F58B7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E0143A-D35B-63C0-E560-44398C92F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분배의 상태를 정량적으로 평가하기 위해 여러 가지 불평등도지수가 개발되었다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로렌츠곡선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한 사회의 구성원을 소득이 가장 낮은 사람으로부터 높아지는 순서대로 배열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하위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에 속하는 사람들이 전체 소득 중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를 차지하고 있는지를 나타내는 점들을 모아 놓은 곡선을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점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는 이 곡선이 대표하고 있는 사회의 하위소득자 </a:t>
                </a:r>
                <a:r>
                  <a:rPr lang="en-US" altLang="ko-KR" sz="1600" spc="-50" dirty="0"/>
                  <a:t>30%</a:t>
                </a:r>
                <a:r>
                  <a:rPr lang="ko-KR" altLang="en-US" sz="1600" spc="-50" dirty="0"/>
                  <a:t>가 사회 전체 소득의 </a:t>
                </a:r>
                <a:r>
                  <a:rPr lang="en-US" altLang="ko-KR" sz="1600" spc="-50" dirty="0"/>
                  <a:t>12%</a:t>
                </a:r>
                <a:r>
                  <a:rPr lang="ko-KR" altLang="en-US" sz="1600" spc="-50" dirty="0"/>
                  <a:t>를 차지하고 있다는 사실을 나타내고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blipFill>
                <a:blip r:embed="rId2"/>
                <a:stretch>
                  <a:fillRect l="-433" b="-20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FC4E7C7-37E1-C639-4378-30294F373B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8753911" y="3678568"/>
            <a:ext cx="3133289" cy="2894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61D1AE-12F4-0395-26A0-1573CC44FCDB}"/>
              </a:ext>
            </a:extLst>
          </p:cNvPr>
          <p:cNvSpPr txBox="1"/>
          <p:nvPr/>
        </p:nvSpPr>
        <p:spPr>
          <a:xfrm>
            <a:off x="9552613" y="3525470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/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로렌츠 곡선이 대각선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와 일치한다면 완전히 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로렌츠 곡선이 푸른색 점선으로 표시된 것처럼 수평축으로 가다가 갑자기 </a:t>
                </a:r>
                <a:r>
                  <a:rPr lang="en-US" altLang="ko-KR" sz="1600" spc="-50" dirty="0"/>
                  <a:t>100%</a:t>
                </a:r>
                <a:r>
                  <a:rPr lang="ko-KR" altLang="en-US" sz="1600" spc="-50" dirty="0"/>
                  <a:t>에 이르는 순간 수직선으로 가면 가장 불평등한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사실 지금 여기서는 균등한 분배가 평등한 분배라는 전제하에서 논의를 진행시키지만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엄밀하게 말하면 균등과 평등의 개념은 같을 수 없다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6233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7671-BAF8-8177-6990-CAD2EFDB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97141-DDC3-9C9C-11B2-207F768C2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C1ED61-3A31-45AD-11D3-663179D9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아래의 그림에서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사회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대표하는 로렌츠 곡선 도출했다고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의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로렌츠곡선보다</a:t>
                </a:r>
                <a:r>
                  <a:rPr lang="ko-KR" altLang="en-US" sz="1600" spc="-50" dirty="0"/>
                  <a:t> 모든 구간에서 위쪽에 위치하고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의 분배상태가 더 평등하다고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주의할 점은 이런 평가가 </a:t>
                </a:r>
                <a:r>
                  <a:rPr lang="ko-KR" altLang="en-US" sz="1600" spc="-50" dirty="0" err="1"/>
                  <a:t>서수적</a:t>
                </a:r>
                <a:r>
                  <a:rPr lang="en-US" altLang="ko-KR" sz="1600" spc="-50" dirty="0"/>
                  <a:t>(ordinal)</a:t>
                </a:r>
                <a:r>
                  <a:rPr lang="ko-KR" altLang="en-US" sz="1600" spc="-50" dirty="0"/>
                  <a:t>인 성격을 갖고 있어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상대적 비교만 할 수 있을 뿐이며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어느 정도로 평등한지는 말할 수 없다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또한 두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교차하면 아무런 판단도 내릴 수 없다는 것 역시 잊어서는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blipFill>
                <a:blip r:embed="rId2"/>
                <a:stretch>
                  <a:fillRect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56D35C-9ABA-E56B-DFA4-257A3C006706}"/>
              </a:ext>
            </a:extLst>
          </p:cNvPr>
          <p:cNvSpPr txBox="1"/>
          <p:nvPr/>
        </p:nvSpPr>
        <p:spPr>
          <a:xfrm>
            <a:off x="9489695" y="3422567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곡선의</a:t>
            </a:r>
            <a:r>
              <a:rPr lang="en-US" altLang="ko-KR" sz="1200" spc="-50" dirty="0"/>
              <a:t> </a:t>
            </a:r>
            <a:r>
              <a:rPr lang="ko-KR" altLang="en-US" sz="1200" spc="-50" dirty="0"/>
              <a:t>비교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3E30E0-2223-810E-1274-5782E20BC9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5" t="12058" r="22914" b="7396"/>
          <a:stretch>
            <a:fillRect/>
          </a:stretch>
        </p:blipFill>
        <p:spPr>
          <a:xfrm>
            <a:off x="8724550" y="3625927"/>
            <a:ext cx="3132000" cy="2856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6F0CE5-7C8A-B02B-26F1-4E6B390C9CBA}"/>
              </a:ext>
            </a:extLst>
          </p:cNvPr>
          <p:cNvSpPr txBox="1"/>
          <p:nvPr/>
        </p:nvSpPr>
        <p:spPr>
          <a:xfrm>
            <a:off x="288790" y="3257440"/>
            <a:ext cx="826797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로렌츠곡선의</a:t>
            </a:r>
            <a:r>
              <a:rPr lang="ko-KR" altLang="en-US" sz="1600" spc="-50" dirty="0"/>
              <a:t> 상대적 위치를 보고 불평등도를 평가하는 것은 주관적 가치판단을 최소한으로 하여 높은 객관성을 유지할 수 있다는 장점을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상황에서는 </a:t>
            </a:r>
            <a:r>
              <a:rPr lang="ko-KR" altLang="en-US" sz="1600" spc="-50" dirty="0" err="1"/>
              <a:t>로렌츠곡선들이</a:t>
            </a:r>
            <a:r>
              <a:rPr lang="ko-KR" altLang="en-US" sz="1600" spc="-50" dirty="0"/>
              <a:t> 서로 교차하여 명백한 판단을 내릴 수 </a:t>
            </a:r>
            <a:r>
              <a:rPr lang="ko-KR" altLang="en-US" sz="1600" spc="-50" dirty="0" err="1"/>
              <a:t>없는경우를</a:t>
            </a:r>
            <a:r>
              <a:rPr lang="ko-KR" altLang="en-US" sz="1600" spc="-50" dirty="0"/>
              <a:t> 많이 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이유로 </a:t>
            </a:r>
            <a:r>
              <a:rPr lang="ko-KR" altLang="en-US" sz="1600" spc="-50" dirty="0" err="1"/>
              <a:t>기수적</a:t>
            </a:r>
            <a:r>
              <a:rPr lang="en-US" altLang="ko-KR" sz="1600" spc="-50" dirty="0"/>
              <a:t>(cardinal)</a:t>
            </a:r>
            <a:r>
              <a:rPr lang="ko-KR" altLang="en-US" sz="1600" spc="-50" dirty="0"/>
              <a:t>평가 방법을 쓰는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평가방법은 불평등 정도를 구체적인 수치로 나타낸다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723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A9456-DF89-2F17-5FEE-07D710257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FFCDA-8170-053D-04E5-AB3592511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387EC-853B-EDF1-2FA9-237E01FA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6616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지니계수는 우리가 흔히 사용하는 </a:t>
                </a:r>
                <a:r>
                  <a:rPr lang="ko-KR" altLang="en-US" sz="1600" spc="-50" dirty="0" err="1"/>
                  <a:t>불평등도지수</a:t>
                </a:r>
                <a:r>
                  <a:rPr lang="ko-KR" altLang="en-US" sz="1600" spc="-50" dirty="0"/>
                  <a:t> 중 하나로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구하는 방법은 두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첫번째 방법은 </a:t>
                </a:r>
                <a:r>
                  <a:rPr lang="ko-KR" altLang="en-US" sz="1600" spc="-50" dirty="0" err="1"/>
                  <a:t>로렌츠곡선을</a:t>
                </a:r>
                <a:r>
                  <a:rPr lang="ko-KR" altLang="en-US" sz="1600" spc="-50" dirty="0"/>
                  <a:t> 활용하는 방법이다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오른쪽 그림에서 초승달 모양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노란색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아래쪽 삼각형의 나머지 구역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연두색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</a:t>
                </a:r>
                <a:r>
                  <a:rPr lang="ko-KR" altLang="en-US" sz="1600" spc="-50" dirty="0" err="1"/>
                  <a:t>할때</a:t>
                </a:r>
                <a:r>
                  <a:rPr lang="en-US" altLang="ko-KR" sz="1600" spc="-50" dirty="0"/>
                  <a:t>,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𝜃</m:t>
                        </m:r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완전 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가장 불평등한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두번째 방법은 아래의 산식을 통해 구해지는 인구의 평균적인 소득격차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개념을 활용한다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사람의 소득을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은 전체 인구를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사람들을 순서를 따지면서 둘씩 </a:t>
                </a:r>
                <a:r>
                  <a:rPr lang="ko-KR" altLang="en-US" sz="1600" spc="-50" dirty="0" err="1"/>
                  <a:t>짝지운다고</a:t>
                </a:r>
                <a:r>
                  <a:rPr lang="ko-KR" altLang="en-US" sz="1600" spc="-50" dirty="0"/>
                  <a:t>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개의 짝을 얻게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sz="1600" spc="-50" dirty="0"/>
                  <a:t>는 임의의 두 사람 사이에 존재하는 소득격차를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이를 모두 더해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나누면 평균적인 소득격차를 얻게 된다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661668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68F2831-0F46-983B-2D48-92E8CA2C0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9605393" y="2270707"/>
            <a:ext cx="1711355" cy="15807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/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ko-KR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pc="-5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b="0" i="1" spc="-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A70232-052D-10E2-7095-7B86A7395DFC}"/>
              </a:ext>
            </a:extLst>
          </p:cNvPr>
          <p:cNvSpPr txBox="1"/>
          <p:nvPr/>
        </p:nvSpPr>
        <p:spPr>
          <a:xfrm>
            <a:off x="10093881" y="2162985"/>
            <a:ext cx="8915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spc="-50" dirty="0"/>
              <a:t>&lt;</a:t>
            </a:r>
            <a:r>
              <a:rPr lang="ko-KR" altLang="en-US" sz="800" spc="-50" dirty="0"/>
              <a:t>로렌츠 곡선</a:t>
            </a:r>
            <a:r>
              <a:rPr lang="en-US" altLang="ko-KR" sz="800" spc="-50" dirty="0"/>
              <a:t>&gt;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38888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82FE-BFA2-FFB0-2E9B-2BD63F2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95D4B-F245-5E61-435F-57631150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09CEC-8679-14E0-A1C1-43939E93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지니계수를</a:t>
                </a:r>
                <a:r>
                  <a:rPr lang="ko-KR" altLang="en-US" sz="1600" spc="-50" dirty="0"/>
                  <a:t> 구하는 두가지 식의 관계는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평균소득격차</a:t>
                </a:r>
                <a:r>
                  <a:rPr lang="en-US" altLang="ko-KR" sz="1600" spc="-50" dirty="0"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평균소득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두 배로 나눈 비율로써 구할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평소 주위에서 소득분배 얘기가 나오면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자주 등장하는데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지니계수의</a:t>
                </a:r>
                <a:r>
                  <a:rPr lang="ko-KR" altLang="en-US" sz="1600" spc="-50" dirty="0"/>
                  <a:t> 정확한 성격은 많이 알려지지 않은 것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일련의 가치판단을 전제로 하여 얻어지는 것이므로 상당한 주관성을 내포하고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0.35 </a:t>
                </a:r>
                <a:r>
                  <a:rPr lang="ko-KR" altLang="en-US" sz="1600" spc="-50" dirty="0"/>
                  <a:t>혹은 </a:t>
                </a:r>
                <a:r>
                  <a:rPr lang="en-US" altLang="ko-KR" sz="1600" spc="-50" dirty="0"/>
                  <a:t>0.41 </a:t>
                </a:r>
                <a:r>
                  <a:rPr lang="ko-KR" altLang="en-US" sz="1600" spc="-50" dirty="0"/>
                  <a:t>같이 수치로 주어질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언뜻 매우 직관적인 평가를 할 수 있으리라 기대할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사실은 그렇지 않다는 점을 잊으면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blipFill>
                <a:blip r:embed="rId2"/>
                <a:stretch>
                  <a:fillRect r="-867" b="-11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/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ko-KR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en-US" b="0" i="1" spc="-5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72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875C-E603-5EB7-7F64-E9EE55CA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C7E6F-C06A-95E2-E5D6-718493A9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분위 배율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A558B-7B7F-7A91-4623-7151D9216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더불어 가장 많이 사용하는 불평등도지수로 아래 식과 같이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분위배율이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상위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 대비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18913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/>
              <p:nvPr/>
            </p:nvSpPr>
            <p:spPr>
              <a:xfrm>
                <a:off x="1641096" y="1828249"/>
                <a:ext cx="4231197" cy="686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상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num>
                        <m:den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하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6" y="1828249"/>
                <a:ext cx="4231197" cy="6862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813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1EC5-A470-8A1E-5DCF-1E04A904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1FA9FD-0CB3-0347-F9C2-F0B5D5A337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89AD-4657-B5E9-DF15-42E8C5FB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69F4F89-EECA-252F-74CA-0DD0D19AE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불평등 발생의 원인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6205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관찰 </a:t>
            </a:r>
            <a:r>
              <a:rPr lang="ko-KR" altLang="en-US" sz="1600" spc="-50" dirty="0" err="1"/>
              <a:t>결과을</a:t>
            </a:r>
            <a:r>
              <a:rPr lang="ko-KR" altLang="en-US" sz="1600" spc="-50" dirty="0"/>
              <a:t> 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</a:t>
            </a:r>
            <a:r>
              <a:rPr lang="ko-KR" altLang="en-US" sz="1600" spc="-50"/>
              <a:t>밖에 </a:t>
            </a:r>
            <a:r>
              <a:rPr lang="ko-KR" altLang="en-US" sz="1600" spc="-50" dirty="0"/>
              <a:t>없</a:t>
            </a:r>
            <a:r>
              <a:rPr lang="ko-KR" altLang="en-US" sz="1600" spc="-50"/>
              <a:t>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조건부평가법이 설문조사 방법이 갖는 일반적인 문제에서 자유롭지 못한 것도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비용들이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 err="1"/>
              <a:t>파립협정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12851</TotalTime>
  <Words>6927</Words>
  <Application>Microsoft Office PowerPoint</Application>
  <PresentationFormat>와이드스크린</PresentationFormat>
  <Paragraphs>536</Paragraphs>
  <Slides>54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2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8  소득분배이론</vt:lpstr>
      <vt:lpstr>Section 1. 분배의 정의</vt:lpstr>
      <vt:lpstr>환경정책의 편익과 비용</vt:lpstr>
      <vt:lpstr>평등주의적 정의관</vt:lpstr>
      <vt:lpstr>자유론적 정의관</vt:lpstr>
      <vt:lpstr>공리주의적 정의관</vt:lpstr>
      <vt:lpstr>롤즈의 최소극대화원칙</vt:lpstr>
      <vt:lpstr>Section 2. 공리주의적 최적분배이론</vt:lpstr>
      <vt:lpstr>공리주의적 최적분배이론</vt:lpstr>
      <vt:lpstr>공리주의적 최적분배이론</vt:lpstr>
      <vt:lpstr>Section 3. 불평등도지수</vt:lpstr>
      <vt:lpstr>불평등도지수</vt:lpstr>
      <vt:lpstr>불평등도지수</vt:lpstr>
      <vt:lpstr>지니계수</vt:lpstr>
      <vt:lpstr>지니계수</vt:lpstr>
      <vt:lpstr>5분위 배율</vt:lpstr>
      <vt:lpstr>Section 4. 불평등 발생의 원인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459</cp:revision>
  <dcterms:created xsi:type="dcterms:W3CDTF">2025-07-05T05:15:23Z</dcterms:created>
  <dcterms:modified xsi:type="dcterms:W3CDTF">2026-03-18T08:25:12Z</dcterms:modified>
</cp:coreProperties>
</file>