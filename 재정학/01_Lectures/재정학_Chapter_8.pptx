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7"/>
  </p:notesMasterIdLst>
  <p:sldIdLst>
    <p:sldId id="375" r:id="rId2"/>
    <p:sldId id="405" r:id="rId3"/>
    <p:sldId id="550" r:id="rId4"/>
    <p:sldId id="552" r:id="rId5"/>
    <p:sldId id="722" r:id="rId6"/>
    <p:sldId id="723" r:id="rId7"/>
    <p:sldId id="724" r:id="rId8"/>
    <p:sldId id="725" r:id="rId9"/>
    <p:sldId id="719" r:id="rId10"/>
    <p:sldId id="726" r:id="rId11"/>
    <p:sldId id="727" r:id="rId12"/>
    <p:sldId id="720" r:id="rId13"/>
    <p:sldId id="728" r:id="rId14"/>
    <p:sldId id="729" r:id="rId15"/>
    <p:sldId id="730" r:id="rId16"/>
    <p:sldId id="731" r:id="rId17"/>
    <p:sldId id="732" r:id="rId18"/>
    <p:sldId id="721" r:id="rId19"/>
    <p:sldId id="734" r:id="rId20"/>
    <p:sldId id="735" r:id="rId21"/>
    <p:sldId id="736" r:id="rId22"/>
    <p:sldId id="737" r:id="rId23"/>
    <p:sldId id="738" r:id="rId24"/>
    <p:sldId id="739" r:id="rId25"/>
    <p:sldId id="364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72BE"/>
    <a:srgbClr val="E15F5F"/>
    <a:srgbClr val="F8F7FC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재 정 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- 8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8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소득분배이론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분배의 정의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4ACB-B8A0-8B8E-50AE-F6949A86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30496-A872-5CFB-3130-C4429F82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분배의 정의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D72302-C21E-82F3-1317-6A67EB85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EC86F-2434-0377-0126-D48FC4912B4A}"/>
              </a:ext>
            </a:extLst>
          </p:cNvPr>
          <p:cNvSpPr txBox="1"/>
          <p:nvPr/>
        </p:nvSpPr>
        <p:spPr>
          <a:xfrm>
            <a:off x="288790" y="958844"/>
            <a:ext cx="11250267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오래전부터 철학자들은 바람직한 분배</a:t>
            </a:r>
            <a:r>
              <a:rPr lang="en-US" altLang="ko-KR" sz="1600" spc="-50" dirty="0"/>
              <a:t>(distribution)</a:t>
            </a:r>
            <a:r>
              <a:rPr lang="ko-KR" altLang="en-US" sz="1600" spc="-50" dirty="0"/>
              <a:t>의 문제를 정의</a:t>
            </a:r>
            <a:r>
              <a:rPr lang="en-US" altLang="ko-KR" sz="1600" spc="-50" dirty="0"/>
              <a:t>(justice) </a:t>
            </a:r>
            <a:r>
              <a:rPr lang="ko-KR" altLang="en-US" sz="1600" spc="-50" dirty="0"/>
              <a:t>개념과 결부시켜 생각했다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분배와 관련된 정의</a:t>
            </a:r>
            <a:r>
              <a:rPr lang="en-US" altLang="ko-KR" sz="1600" spc="-50" dirty="0"/>
              <a:t>(justice)</a:t>
            </a:r>
            <a:r>
              <a:rPr lang="ko-KR" altLang="en-US" sz="1600" spc="-50" dirty="0"/>
              <a:t>의 본질이 무엇인지에 대한 물음이 도덕철학 혹은 윤리학의 일부로 논의 </a:t>
            </a:r>
            <a:r>
              <a:rPr lang="ko-KR" altLang="en-US" sz="1600" spc="-50" dirty="0" err="1"/>
              <a:t>한것이다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분배의 정의 </a:t>
            </a:r>
            <a:r>
              <a:rPr lang="en-US" altLang="ko-KR" sz="1600" spc="-50" dirty="0"/>
              <a:t>(distributive justice)</a:t>
            </a:r>
            <a:r>
              <a:rPr lang="ko-KR" altLang="en-US" sz="1600" spc="-50" dirty="0"/>
              <a:t>에 관한 최초 본격적 논의는 아리스토텔레스의 </a:t>
            </a:r>
            <a:r>
              <a:rPr lang="en-US" altLang="ko-KR" sz="1600" spc="-50" dirty="0"/>
              <a:t>『</a:t>
            </a:r>
            <a:r>
              <a:rPr lang="ko-KR" altLang="en-US" sz="1600" spc="-50" dirty="0" err="1"/>
              <a:t>니코마스</a:t>
            </a:r>
            <a:r>
              <a:rPr lang="ko-KR" altLang="en-US" sz="1600" spc="-50" dirty="0"/>
              <a:t> 윤리학</a:t>
            </a:r>
            <a:r>
              <a:rPr lang="en-US" altLang="ko-KR" sz="1600" spc="-50" dirty="0"/>
              <a:t>』</a:t>
            </a:r>
            <a:r>
              <a:rPr lang="ko-KR" altLang="en-US" sz="1600" spc="-50" dirty="0"/>
              <a:t>에서 찾을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그 책에서는 각자가 가진 가치에 비례하는 분배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즉 각자가 사회에 기여하는 양에 따라 비례하여 분배하는 것이 정의로운 분배라는 견해를 밝히고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분배의 정의 개념은 넓게 혹은 좁게 해석할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넓은 의미에서 보면 사회적으로 의미 있는 모든 편익과 부담이 사회 구성원 사이에서 분배되는 것과 관련된 정의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좁은 의미에서 보면 경제적인 것에 한하여 편익과 부담의 분배와 관련된 정의 </a:t>
            </a:r>
            <a:r>
              <a:rPr lang="ko-KR" altLang="en-US" sz="1600" spc="-50" dirty="0" err="1"/>
              <a:t>를</a:t>
            </a:r>
            <a:r>
              <a:rPr lang="ko-KR" altLang="en-US" sz="1600" spc="-50" dirty="0"/>
              <a:t> 뜻한다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재정학 수업에서는 주로 물질의 분배와 관련되므로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좁은 의미에서의 분배의 정의를 논의하고자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분배의 정의에 어떤 구체적 내용이 들어가야 하는지 각자 생각은 다를 수 있지만 적어도 아래 네 가지 기본요소를 포함하는 복합적인 개념이라는 것은 대부분의 철학자들이 인식을 같이한다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평등성</a:t>
            </a:r>
            <a:r>
              <a:rPr lang="en-US" altLang="ko-KR" sz="1600" spc="-50" dirty="0"/>
              <a:t>(equality), </a:t>
            </a:r>
            <a:r>
              <a:rPr lang="ko-KR" altLang="en-US" sz="1600" spc="-50" dirty="0"/>
              <a:t>정당한 권리</a:t>
            </a:r>
            <a:r>
              <a:rPr lang="en-US" altLang="ko-KR" sz="1600" spc="-50" dirty="0"/>
              <a:t>(rights), </a:t>
            </a:r>
            <a:r>
              <a:rPr lang="ko-KR" altLang="en-US" sz="1600" spc="-50" dirty="0"/>
              <a:t>공정성</a:t>
            </a:r>
            <a:r>
              <a:rPr lang="en-US" altLang="ko-KR" sz="1600" spc="-50" dirty="0"/>
              <a:t>(fairness), </a:t>
            </a:r>
            <a:r>
              <a:rPr lang="ko-KR" altLang="en-US" sz="1600" spc="-50" dirty="0"/>
              <a:t>받을 만한 자격</a:t>
            </a:r>
            <a:r>
              <a:rPr lang="en-US" altLang="ko-KR" sz="1600" spc="-50" dirty="0"/>
              <a:t>(deserts)</a:t>
            </a:r>
          </a:p>
        </p:txBody>
      </p:sp>
    </p:spTree>
    <p:extLst>
      <p:ext uri="{BB962C8B-B14F-4D97-AF65-F5344CB8AC3E}">
        <p14:creationId xmlns:p14="http://schemas.microsoft.com/office/powerpoint/2010/main" val="3608071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D2EA7-4229-BBF1-13E2-7702F9EE4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11D50-F124-C960-548B-67808DD34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평등주의적 정의관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C65300-1DF5-992E-4A09-CA6213FF9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4BD75F-08BC-CBF7-41F9-257306F669A6}"/>
              </a:ext>
            </a:extLst>
          </p:cNvPr>
          <p:cNvSpPr txBox="1"/>
          <p:nvPr/>
        </p:nvSpPr>
        <p:spPr>
          <a:xfrm>
            <a:off x="288790" y="958844"/>
            <a:ext cx="1125026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평등주의는 모든 사람이 똑같은 도덕적 가치를 갖고 이 세상에 태어났다는 점을 그 출발점으로 삼고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100" dirty="0"/>
              <a:t>이를 토대로 정의로운 분배는 모든 사람이 물질적 가치</a:t>
            </a:r>
            <a:r>
              <a:rPr lang="en-US" altLang="ko-KR" sz="1600" spc="-100" dirty="0"/>
              <a:t> (</a:t>
            </a:r>
            <a:r>
              <a:rPr lang="ko-KR" altLang="en-US" sz="1600" spc="-100" dirty="0"/>
              <a:t>재산과 소득</a:t>
            </a:r>
            <a:r>
              <a:rPr lang="en-US" altLang="ko-KR" sz="1600" spc="-100" dirty="0"/>
              <a:t>)</a:t>
            </a:r>
            <a:r>
              <a:rPr lang="ko-KR" altLang="en-US" sz="1600" spc="-100" dirty="0"/>
              <a:t>를 고루 나눠 가진 상태를 뜻한다는 결론을 도출한다</a:t>
            </a:r>
            <a:r>
              <a:rPr lang="en-US" altLang="ko-KR" sz="1600" spc="-1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그러나 모든 사람이 똑같은 도덕적 가치를 갖고 이세상에 태어났다고 해서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이들이 물질적 가치도 똑같이 나눠 가져야 한다는 결론이 필연적으로 도출되지는 않는다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말한 것처럼 여러 요건들이 함께 충족이 되어야 정의로운 분배가 달성되므로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모두가 똑같은 몫을 가진 분배가 정의로운 분배를 뜻한다고 말하기는 힘들다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평등주의의 큰 문제점은 평등한 분배를 추구하는 과정에서 개인의 정당한 권리가 침해될 가능성이 있다는 점이다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 평등성에 대한 요구는 자유와 </a:t>
            </a:r>
            <a:r>
              <a:rPr lang="ko-KR" altLang="en-US" sz="1600" spc="-50" dirty="0" err="1"/>
              <a:t>상출될</a:t>
            </a:r>
            <a:r>
              <a:rPr lang="ko-KR" altLang="en-US" sz="1600" spc="-50" dirty="0"/>
              <a:t> 가능성이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그렇다면 평등한 분배라는 것은 구체적으로 무엇을 뜻하는지 생각해보자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극단적으로 모든 사람이 같은 양의 자원을 갖는 상태를 생각해 볼 수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그런 상태가 현실에서 가능한 것인지는 </a:t>
            </a:r>
            <a:r>
              <a:rPr lang="ko-KR" altLang="en-US" sz="1600" spc="-50" dirty="0" err="1"/>
              <a:t>제쳐두고라도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그것이 바람직한 일인지 의심하지 않을 수 없다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평등한 분배라는 것이 보다 설득력을 갖기 위해서는 탄력적인 해석이 필요하다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예컨대 모든 사람이</a:t>
            </a:r>
            <a:r>
              <a:rPr lang="en-US" altLang="ko-KR" sz="1600" spc="-50" dirty="0"/>
              <a:t> ‘</a:t>
            </a:r>
            <a:r>
              <a:rPr lang="ko-KR" altLang="en-US" sz="1600" spc="-50" dirty="0"/>
              <a:t>최소한의 생활수준에 대해 동등한 권리를 갖는다</a:t>
            </a:r>
            <a:r>
              <a:rPr lang="en-US" altLang="ko-KR" sz="1600" spc="-50" dirty="0"/>
              <a:t>‘ </a:t>
            </a:r>
            <a:r>
              <a:rPr lang="ko-KR" altLang="en-US" sz="1600" spc="-50" dirty="0"/>
              <a:t>혹은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모든 사람이 동등한 기회를 갖는다</a:t>
            </a:r>
            <a:r>
              <a:rPr lang="en-US" altLang="ko-KR" sz="1600" spc="-50" dirty="0"/>
              <a:t>‘ </a:t>
            </a:r>
            <a:r>
              <a:rPr lang="ko-KR" altLang="en-US" sz="1600" spc="-50" dirty="0"/>
              <a:t>로 해석할 수 있다면 보다 설득력이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평등주의는 강한 직관적 호소력을 갖지만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평등주의 논리를 살펴보면 따져볼 것들이 많다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7512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076F8-7289-0805-0E24-8FB1BC27F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CDB55E-4EF8-9A5A-4B0C-AE7128D00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자유론적</a:t>
            </a:r>
            <a:r>
              <a:rPr lang="ko-KR" altLang="en-US" dirty="0"/>
              <a:t> 정의관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11BEA9-6E8D-F8F2-2298-0E9D5931A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743C94-3A0E-A64B-5B45-B3BAE71B2C6C}"/>
              </a:ext>
            </a:extLst>
          </p:cNvPr>
          <p:cNvSpPr txBox="1"/>
          <p:nvPr/>
        </p:nvSpPr>
        <p:spPr>
          <a:xfrm>
            <a:off x="288790" y="958844"/>
            <a:ext cx="1125026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자유론적</a:t>
            </a:r>
            <a:r>
              <a:rPr lang="ko-KR" altLang="en-US" sz="1600" spc="-50" dirty="0"/>
              <a:t> 정의관은 모든 사람이 정당하게 가질 권리가 있는 </a:t>
            </a:r>
            <a:r>
              <a:rPr lang="ko-KR" altLang="en-US" sz="1600" spc="-50" dirty="0" err="1"/>
              <a:t>것만을</a:t>
            </a:r>
            <a:r>
              <a:rPr lang="ko-KR" altLang="en-US" sz="1600" spc="-50" dirty="0"/>
              <a:t> 소유한 분배의 상태가 정의롭다고 말한다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정의라는 이름 아래 개인의 자유가 침해되는 일이 없어야 한다고 말한다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철학자 </a:t>
            </a:r>
            <a:r>
              <a:rPr lang="ko-KR" altLang="en-US" sz="1600" spc="-50" dirty="0" err="1"/>
              <a:t>노직</a:t>
            </a:r>
            <a:r>
              <a:rPr lang="en-US" altLang="ko-KR" sz="1600" spc="-50" dirty="0"/>
              <a:t>(R. Nozick, 1974)</a:t>
            </a:r>
            <a:r>
              <a:rPr lang="ko-KR" altLang="en-US" sz="1600" spc="-50" dirty="0"/>
              <a:t>이 쓴 </a:t>
            </a:r>
            <a:r>
              <a:rPr lang="en-US" altLang="ko-KR" sz="1600" spc="-50" dirty="0"/>
              <a:t>『</a:t>
            </a:r>
            <a:r>
              <a:rPr lang="ko-KR" altLang="en-US" sz="1600" spc="-50" dirty="0"/>
              <a:t>무정부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그리고 유토피아</a:t>
            </a:r>
            <a:r>
              <a:rPr lang="en-US" altLang="ko-KR" sz="1600" spc="-50" dirty="0"/>
              <a:t>』</a:t>
            </a:r>
            <a:r>
              <a:rPr lang="ko-KR" altLang="en-US" sz="1600" spc="-50" dirty="0"/>
              <a:t>는 </a:t>
            </a:r>
            <a:r>
              <a:rPr lang="ko-KR" altLang="en-US" sz="1600" spc="-50" dirty="0" err="1"/>
              <a:t>자유론적</a:t>
            </a:r>
            <a:r>
              <a:rPr lang="ko-KR" altLang="en-US" sz="1600" spc="-50" dirty="0"/>
              <a:t> 정의관의 고전으로 널리 알려져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노직은</a:t>
            </a:r>
            <a:r>
              <a:rPr lang="ko-KR" altLang="en-US" sz="1600" spc="-50" dirty="0"/>
              <a:t> 사람이 수단일 수는 없고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목적 그 자체여야 한다는 칸트</a:t>
            </a:r>
            <a:r>
              <a:rPr lang="en-US" altLang="ko-KR" sz="1600" spc="-50" dirty="0"/>
              <a:t>(I. Kant)</a:t>
            </a:r>
            <a:r>
              <a:rPr lang="ko-KR" altLang="en-US" sz="1600" spc="-50" dirty="0"/>
              <a:t>적인 원칙을 출발점으로 삼고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 원칙하에서는 개인의 권리는 어떤 경우에도 침해될 수 없고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어느 누구도 사회 전체를 위한다는 미명 아래 다른 사람을 이용할 권리를 가질 수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노직이</a:t>
            </a:r>
            <a:r>
              <a:rPr lang="ko-KR" altLang="en-US" sz="1600" spc="-50" dirty="0"/>
              <a:t> 말하는 정당한 권리의 원칙은 어떤 사람이 정의로운 방법을 통해 어떤 물건을 소유하고 있으면 그것을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정당하게 가질 권리가 있다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고 인정한다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또 다른 사람으로부터 올바른 방법을 통해 소유권을 이전 받아도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역시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정당하게 가질 권리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를 인정한다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이와 같은 생각에서 결과의 정의보다는 절차상의 정의를 더욱 중요시하는 태도를 찾아볼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그러나 많은 사람들은 절차상의 형식적 정당성을 강조하며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결과로 나타난 불평등에 대해서 문제점을 지적한다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또 정당한 </a:t>
            </a:r>
            <a:r>
              <a:rPr lang="ko-KR" altLang="en-US" sz="1600" spc="-50" dirty="0" err="1"/>
              <a:t>방법이라는게</a:t>
            </a:r>
            <a:r>
              <a:rPr lang="ko-KR" altLang="en-US" sz="1600" spc="-50" dirty="0"/>
              <a:t> 상황에 따라 달라질 수 있는 만큼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정당한 방법이 무엇인지에 대한 논란이 있을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자유론자들은</a:t>
            </a:r>
            <a:r>
              <a:rPr lang="ko-KR" altLang="en-US" sz="1600" spc="-50" dirty="0"/>
              <a:t> 보통 </a:t>
            </a:r>
            <a:r>
              <a:rPr lang="ko-KR" altLang="en-US" sz="1600" spc="-50" dirty="0" err="1"/>
              <a:t>현실옹호적인</a:t>
            </a:r>
            <a:r>
              <a:rPr lang="ko-KR" altLang="en-US" sz="1600" spc="-50" dirty="0"/>
              <a:t> 태도를 보이는데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또한 많은 사람들의 비판대상이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현실을 무조건 옹호할 것이 아니라 냉철한 비판자의 면모를 보여야 한다는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막연히 부정의를 시정해야 한다고 말하는 것이 아니라 실천에 옮겨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구체적 방안을 제시하는 것이 필요하다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1776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02297-4B80-D577-A759-EE9E22320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B4E12C-4297-D051-C1B2-AA73EF122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공리주의적 정의관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B14CA6-9B52-CFD5-78BD-16E5E6A70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BF17D4-9093-D36F-A268-C6EA6A55EC84}"/>
              </a:ext>
            </a:extLst>
          </p:cNvPr>
          <p:cNvSpPr txBox="1"/>
          <p:nvPr/>
        </p:nvSpPr>
        <p:spPr>
          <a:xfrm>
            <a:off x="288790" y="958844"/>
            <a:ext cx="1125026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공리주의적 정의관에서 바람직한 </a:t>
            </a:r>
            <a:r>
              <a:rPr lang="ko-KR" altLang="en-US" sz="1600" spc="-50" dirty="0" err="1"/>
              <a:t>분배란</a:t>
            </a:r>
            <a:r>
              <a:rPr lang="ko-KR" altLang="en-US" sz="1600" spc="-50" dirty="0"/>
              <a:t> 그 사회의 총체적 후생을 극대화할 수 있는 분배여야 한다는 것이 핵심이다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벤담</a:t>
            </a:r>
            <a:r>
              <a:rPr lang="en-US" altLang="ko-KR" sz="1600" spc="-50" dirty="0"/>
              <a:t>(J. Bentham)</a:t>
            </a:r>
            <a:r>
              <a:rPr lang="ko-KR" altLang="en-US" sz="1600" spc="-50" dirty="0"/>
              <a:t>의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최대다수의 최대행복</a:t>
            </a:r>
            <a:r>
              <a:rPr lang="en-US" altLang="ko-KR" sz="1600" spc="-50" dirty="0"/>
              <a:t>‘ </a:t>
            </a:r>
            <a:r>
              <a:rPr lang="ko-KR" altLang="en-US" sz="1600" spc="-50" dirty="0"/>
              <a:t>이라는 말에 잘 나타나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최대다수의 최대행복을 가져오는 분배상태란 구체적으로 어떤 상태인지 알아보자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물질적 가치가 모든 사람에게 고루 나누어진 상태 혹은 소수가 독점하고 있는 상태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둘 중 한마디로 답하기는 어렵다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 err="1"/>
              <a:t>공리주의적인</a:t>
            </a:r>
            <a:r>
              <a:rPr lang="ko-KR" altLang="en-US" sz="1600" spc="-50" dirty="0"/>
              <a:t> 정의의 원칙이 적용되는 상황에 따라 다르기 때문이다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그럼에도 불구하고 일반적으로 공리주의적 정의관을 가진 사람들은 평등한 분배에 호의적인 태도를 갖고 있다는 점이다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특히 </a:t>
            </a:r>
            <a:r>
              <a:rPr lang="ko-KR" altLang="en-US" sz="1600" spc="-50" dirty="0" err="1"/>
              <a:t>벤담이</a:t>
            </a:r>
            <a:r>
              <a:rPr lang="ko-KR" altLang="en-US" sz="1600" spc="-50" dirty="0"/>
              <a:t> 사회의 행복 총합을 계산할 때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모든 사람이 한 몫으로서 포함되어야 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어느 누구도 한 몫 이상으로 셈하면 안된다</a:t>
            </a:r>
            <a:r>
              <a:rPr lang="en-US" altLang="ko-KR" sz="1600" spc="-50" dirty="0"/>
              <a:t>.’ </a:t>
            </a:r>
            <a:r>
              <a:rPr lang="ko-KR" altLang="en-US" sz="1600" spc="-50" dirty="0"/>
              <a:t>라고 말 한 것이 좋은 예이다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반대로 공리주의적 정의관은 불균등한 분배 상태를 정당화시킬 때도 있다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엄청난 소득을 얻고 있으면서도 소득의 한계효용이 떨어지지 않는 사람이 있다면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공리주의적 원칙은 이 사람에게 더욱더 많은 소득을 분배해 주도록 요구하는 것이다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공리주의의 가장 큰 문제는 실천과정에서 개인의 권리가 침해될 수 있다는 사실이다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 사람이 다른 사람에게 부를 이전시켜 사회후생이 증가할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개인의 정당한 권리가 침해된다면 큰 문제가 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또 공리주의는 개인간의 효용비교를 전제로 하기 때문에 비판의 대상이 되기도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이처럼 적지 않은 문제에도 불구하고 사회 후생을 증가시킨다는 점에서 실용성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현실성을 갖추고 있어 호소력이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80124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2FD1C-81BE-A33F-23C2-F4CB2336C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8FE5D6-BF1F-ED1A-7F84-AB55B87D5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롤즈의</a:t>
            </a:r>
            <a:r>
              <a:rPr lang="ko-KR" altLang="en-US" dirty="0"/>
              <a:t> 최소극대화원칙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8F09F0-EEE5-C21F-E865-07405E78D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1440F7-7E14-DC15-BFDC-1F4DAEA8D9F2}"/>
              </a:ext>
            </a:extLst>
          </p:cNvPr>
          <p:cNvSpPr txBox="1"/>
          <p:nvPr/>
        </p:nvSpPr>
        <p:spPr>
          <a:xfrm>
            <a:off x="288790" y="958844"/>
            <a:ext cx="1125026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현대 철학계에서 분배의 정의 이론의 거봉으로 인정받는 </a:t>
            </a:r>
            <a:r>
              <a:rPr lang="ko-KR" altLang="en-US" sz="1600" spc="-50" dirty="0" err="1"/>
              <a:t>롤즈</a:t>
            </a:r>
            <a:r>
              <a:rPr lang="en-US" altLang="ko-KR" sz="1600" spc="-50" dirty="0"/>
              <a:t>(J. Rawls, 1971)</a:t>
            </a:r>
            <a:r>
              <a:rPr lang="ko-KR" altLang="en-US" sz="1600" spc="-50" dirty="0"/>
              <a:t>의 정의관은 평등주의의 변형이다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롤즈를</a:t>
            </a:r>
            <a:r>
              <a:rPr lang="ko-KR" altLang="en-US" sz="1600" spc="-50" dirty="0"/>
              <a:t> 자유주의자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혹은 평등주의자로 볼 것인지 논란이 일기도 하지만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샌델</a:t>
            </a:r>
            <a:r>
              <a:rPr lang="en-US" altLang="ko-KR" sz="1600" spc="-50" dirty="0"/>
              <a:t>(M. Sandel, 2009)</a:t>
            </a:r>
            <a:r>
              <a:rPr lang="ko-KR" altLang="en-US" sz="1600" spc="-50" dirty="0"/>
              <a:t>은 </a:t>
            </a:r>
            <a:r>
              <a:rPr lang="ko-KR" altLang="en-US" sz="1600" spc="-50" dirty="0" err="1"/>
              <a:t>롤즈를</a:t>
            </a:r>
            <a:r>
              <a:rPr lang="ko-KR" altLang="en-US" sz="1600" spc="-50" dirty="0"/>
              <a:t> 평등주의적 자유주의자라고 부른다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롤즈의</a:t>
            </a:r>
            <a:r>
              <a:rPr lang="ko-KR" altLang="en-US" sz="1600" spc="-50" dirty="0"/>
              <a:t> 정의관은 원초적 상황이라는 가상적 상황으로부터 출발한다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상태는 아무런 사회질서가 없고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모든 사람이 무지의 장막에 가려 어떻게 될지 모르는 상태라고 설명한다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상황 속에서 사람들은 사회질서의 선택과정에서 공정하고 편파적이지 않은 기준을 선택하게 된다는 것이다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이런 원초적 상황에서 사람들이 선택할 것이라 기대할 수 있는 정의의 원칙으로 다음 두 가지를 제시한다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모든 사람이 다른 사람들의 자유와 양립가능한 선에서 가장 광범위한 자유에 대한 동등한 권리를 가져야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둘째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사회적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경제적 불평등은 다음의 두 조건을 모두 충족할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정당성을 인정받는다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차등의 원칙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불평등성이 모든 사람에게 이득이 되는 것을 기대할 수 있어야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모든 사람에게 기회가 개방된 직위 및 직책과 </a:t>
            </a:r>
            <a:r>
              <a:rPr lang="ko-KR" altLang="en-US" sz="1600" spc="-50" dirty="0" err="1"/>
              <a:t>결부되어서만</a:t>
            </a:r>
            <a:r>
              <a:rPr lang="ko-KR" altLang="en-US" sz="1600" spc="-50" dirty="0"/>
              <a:t> 불평등성이 존재해야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롤즈의</a:t>
            </a:r>
            <a:r>
              <a:rPr lang="ko-KR" altLang="en-US" sz="1600" spc="-50" dirty="0"/>
              <a:t> 정의관에서 평등주의적 개념이 선명히 드러나 있는 것은 두 번째 원칙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즉 차등의 원칙이다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차등의 원칙을 통해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최소극대화의 원칙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을 도출할 수 있다고 설명하는데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 사회의 가장 못사는 사람에게 가장 큰 이득이 돌아가도록 사회의 기본구조를 짜야 한다는 내용을 담고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롤즈</a:t>
            </a:r>
            <a:r>
              <a:rPr lang="ko-KR" altLang="en-US" sz="1600" spc="-50" dirty="0"/>
              <a:t> 정의관의 가장 큰 문제는 현실에 존재하지 않는 원초적 상황으로부터 정의의 원칙을 끌어냈다는 점이다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9714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4CB75-DD25-9C04-EE78-CF9B81DBB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1D42FE-EF94-9C9B-BD7D-2519415EF9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C6FABE-9767-4650-A5B2-96E770A00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729DCDE-771C-64D9-24FB-2A2E3D69A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공리주의적 최적분배이론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55955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E9A9B-82F9-C0D9-D06A-30B6EC0C7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D5B396-CC66-E23A-A063-A17427B51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공리주의적 최적분배이론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1CBAAB-D0D5-6EB2-A620-861EA6C57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607EAC-5BFF-F83A-AE95-1D18CB0311ED}"/>
              </a:ext>
            </a:extLst>
          </p:cNvPr>
          <p:cNvSpPr txBox="1"/>
          <p:nvPr/>
        </p:nvSpPr>
        <p:spPr>
          <a:xfrm>
            <a:off x="288790" y="958844"/>
            <a:ext cx="11250267" cy="37841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정해진 크기의 총소득이 주어져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사회 구성원간 분배를 할 때 어떤 것이 바람직할지 알아보자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공리주의적 사고에 기초한다면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 전체의 후생이 극대화되는 분배 상태가 논의의 답이 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 err="1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에지워스의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최적분배이론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 문제에 대해서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에지워스</a:t>
            </a:r>
            <a:r>
              <a:rPr lang="en-US" altLang="ko-KR" sz="1600" spc="-50" dirty="0"/>
              <a:t>(F. Edgeworth)</a:t>
            </a:r>
            <a:r>
              <a:rPr lang="ko-KR" altLang="en-US" sz="1600" spc="-50" dirty="0"/>
              <a:t>는 아래와 같은 가정을 통해 모든 사람에게 완전히 균등한 소득을 나눠 주는 것이 가장 바람직한 분배라는 결론을 도출했다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사회후생은 개인들의 효용을 합친 것과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둘째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모든 사람이 똑같은 효용함수를 가지고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효용은 오직 소득수준에 의해서 결정된다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셋째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소득수준이 증가함에 따라 소득의 한계효용은 작아진다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187051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7E242-F278-94FC-A1E8-9C49A1CDB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CE2DAF-47FD-25E9-C075-9AD83BC01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공리주의적 최적분배이론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86C41D-F7C2-ADAD-53D7-45D747F2F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BFD1DD0-5445-4788-4BAE-14B8D9C4D371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250267" cy="263001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아래 그림을 통해 </a:t>
                </a:r>
                <a:r>
                  <a:rPr lang="ko-KR" altLang="en-US" sz="1600" spc="-50" dirty="0" err="1"/>
                  <a:t>에지워스가</a:t>
                </a:r>
                <a:r>
                  <a:rPr lang="ko-KR" altLang="en-US" sz="1600" spc="-50" dirty="0"/>
                  <a:t> 도출한 결론을 살펴보자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b="0" spc="-50" dirty="0"/>
                  <a:t>그림에서 수평</a:t>
                </a:r>
                <a:r>
                  <a:rPr lang="ko-KR" altLang="en-US" sz="1600" spc="-50" dirty="0"/>
                  <a:t>거리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𝑂</m:t>
                    </m:r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는 주어진 크기의 총소득을 나타낸다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총 소득은 김씨와 박씨 두 사람 간에 분배되는데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김씨의 소득은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ko-KR" altLang="en-US" sz="1600" spc="-50" dirty="0"/>
                  <a:t>를 원점으로 하여 오른쪽으로 가면서 더 커지도록 하는 한편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박씨의 소득은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을 원점으로 하여 왼쪽으로 가면서 더 커지게 표현되어 있다</a:t>
                </a:r>
                <a:r>
                  <a:rPr lang="en-US" altLang="ko-KR" sz="1600" spc="-50" dirty="0"/>
                  <a:t>.</a:t>
                </a:r>
              </a:p>
              <a:p>
                <a:pPr marL="434975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우선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𝑂𝐴</m:t>
                    </m:r>
                  </m:oMath>
                </a14:m>
                <a:r>
                  <a:rPr lang="ko-KR" altLang="en-US" sz="1600" spc="-50" dirty="0"/>
                  <a:t>만큼의 소득을 김씨에게 주고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만큼의 소득을 박씨에게 주는 분배 상황에서 출발하기로 하자</a:t>
                </a:r>
                <a:r>
                  <a:rPr lang="en-US" altLang="ko-KR" sz="1600" spc="-50" dirty="0"/>
                  <a:t>.</a:t>
                </a:r>
              </a:p>
              <a:p>
                <a:pPr marL="892175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여기서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만약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만큼의 소득을 박씨에게서 떼어내 김씨에게 주면 김씨의 효용증가는 사다리꼴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𝐺𝐴𝐵𝐽</m:t>
                    </m:r>
                  </m:oMath>
                </a14:m>
                <a:r>
                  <a:rPr lang="ko-KR" altLang="en-US" sz="1600" dirty="0"/>
                  <a:t> 면적으로 나타낼 수 있다</a:t>
                </a:r>
                <a:r>
                  <a:rPr lang="en-US" altLang="ko-KR" sz="160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BFD1DD0-5445-4788-4BAE-14B8D9C4D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250267" cy="2630015"/>
              </a:xfrm>
              <a:prstGeom prst="rect">
                <a:avLst/>
              </a:prstGeom>
              <a:blipFill>
                <a:blip r:embed="rId2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04E68B51-46FF-46F5-AFCF-E9DFD69B80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8" t="13165" r="23172" b="7440"/>
          <a:stretch>
            <a:fillRect/>
          </a:stretch>
        </p:blipFill>
        <p:spPr>
          <a:xfrm>
            <a:off x="8584909" y="3460459"/>
            <a:ext cx="3397541" cy="30332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6DFCB4D-7547-DEF1-E621-30F29BA7BF27}"/>
                  </a:ext>
                </a:extLst>
              </p:cNvPr>
              <p:cNvSpPr txBox="1"/>
              <p:nvPr/>
            </p:nvSpPr>
            <p:spPr>
              <a:xfrm>
                <a:off x="288790" y="3480182"/>
                <a:ext cx="8247008" cy="29993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92175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60" dirty="0"/>
                  <a:t>이 때 박씨의 효용감소는 </a:t>
                </a:r>
                <a:r>
                  <a:rPr lang="ko-KR" altLang="en-US" sz="1600" dirty="0"/>
                  <a:t>사다리꼴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𝐻𝐴𝐵𝐼</m:t>
                    </m:r>
                  </m:oMath>
                </a14:m>
                <a:r>
                  <a:rPr lang="ko-KR" altLang="en-US" sz="1600" dirty="0"/>
                  <a:t> 면적으로 나타낼 수 있다</a:t>
                </a:r>
                <a:r>
                  <a:rPr lang="en-US" altLang="ko-KR" sz="1600" dirty="0"/>
                  <a:t>.</a:t>
                </a:r>
              </a:p>
              <a:p>
                <a:pPr marL="892175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60" dirty="0"/>
                  <a:t>따라서 총소득을 재분배하면 사다리꼴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𝐺𝐻𝐼𝐽</m:t>
                    </m:r>
                  </m:oMath>
                </a14:m>
                <a:r>
                  <a:rPr lang="en-US" altLang="ko-KR" sz="1600" spc="-60" dirty="0"/>
                  <a:t> </a:t>
                </a:r>
                <a:r>
                  <a:rPr lang="ko-KR" altLang="en-US" sz="1600" spc="-60" dirty="0"/>
                  <a:t>면적만큼 사회후생이 더 커진다</a:t>
                </a:r>
                <a:r>
                  <a:rPr lang="en-US" altLang="ko-KR" sz="1600" spc="-60" dirty="0"/>
                  <a:t>.</a:t>
                </a:r>
              </a:p>
              <a:p>
                <a:pPr marL="892175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60" dirty="0"/>
                  <a:t>이 논리를 계속 </a:t>
                </a:r>
                <a:r>
                  <a:rPr lang="ko-KR" altLang="en-US" sz="1600" spc="-60" dirty="0" err="1"/>
                  <a:t>적용하다보면</a:t>
                </a:r>
                <a:r>
                  <a:rPr lang="ko-KR" altLang="en-US" sz="1600" spc="-60" dirty="0"/>
                  <a:t> 완전히 균등한 분배 </a:t>
                </a:r>
                <a:r>
                  <a:rPr lang="en-US" altLang="ko-KR" sz="1600" spc="-6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ko-KR" sz="1600" spc="-60" dirty="0"/>
                  <a:t>)</a:t>
                </a:r>
                <a:r>
                  <a:rPr lang="ko-KR" altLang="en-US" sz="1600" spc="-60" dirty="0"/>
                  <a:t>가</a:t>
                </a:r>
                <a:r>
                  <a:rPr lang="en-US" altLang="ko-KR" sz="1600" spc="-60" dirty="0"/>
                  <a:t> </a:t>
                </a:r>
                <a:r>
                  <a:rPr lang="ko-KR" altLang="en-US" sz="1600" spc="-60" dirty="0" err="1"/>
                  <a:t>됬을때</a:t>
                </a:r>
                <a:r>
                  <a:rPr lang="ko-KR" altLang="en-US" sz="1600" spc="-60" dirty="0"/>
                  <a:t> 비로소 사회후생이 극대화된다고 말할 수 있다</a:t>
                </a:r>
                <a:r>
                  <a:rPr lang="en-US" altLang="ko-KR" sz="1600" spc="-60" dirty="0"/>
                  <a:t>.</a:t>
                </a:r>
              </a:p>
              <a:p>
                <a:pPr marL="434975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60" dirty="0"/>
                  <a:t>이와 같은 결론은 가정에 큰 문제를 삼을 수 있다</a:t>
                </a:r>
                <a:r>
                  <a:rPr lang="en-US" altLang="ko-KR" sz="1600" spc="-6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60" dirty="0"/>
                  <a:t>사람마다 효용함수가 다를 가능성이 크다</a:t>
                </a:r>
                <a:r>
                  <a:rPr lang="en-US" altLang="ko-KR" sz="1600" spc="-6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60" dirty="0"/>
                  <a:t>소득의 한계효용은 상품의 한계효용과 달리 체감한다고 보장하기 어렵다</a:t>
                </a:r>
                <a:r>
                  <a:rPr lang="en-US" altLang="ko-KR" sz="1600" spc="-6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60" dirty="0"/>
                  <a:t>보통 분배상태가 변하면 총소득의 크기도 달라지는 것이 보통이다</a:t>
                </a:r>
                <a:r>
                  <a:rPr lang="en-US" altLang="ko-KR" sz="1600" spc="-60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6DFCB4D-7547-DEF1-E621-30F29BA7B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3480182"/>
                <a:ext cx="8247008" cy="2999347"/>
              </a:xfrm>
              <a:prstGeom prst="rect">
                <a:avLst/>
              </a:prstGeom>
              <a:blipFill>
                <a:blip r:embed="rId4"/>
                <a:stretch>
                  <a:fillRect b="-16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ACD2A4A-47A2-6753-44EE-1BB90667DF9E}"/>
              </a:ext>
            </a:extLst>
          </p:cNvPr>
          <p:cNvSpPr txBox="1"/>
          <p:nvPr/>
        </p:nvSpPr>
        <p:spPr>
          <a:xfrm>
            <a:off x="9389028" y="3568554"/>
            <a:ext cx="17893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 err="1"/>
              <a:t>에지워스의</a:t>
            </a:r>
            <a:r>
              <a:rPr lang="ko-KR" altLang="en-US" sz="1200" spc="-50" dirty="0"/>
              <a:t> 최적분배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227496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08BB0-1339-9BBC-6871-1DA32D2B8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CEE3F5-8FF1-21A8-B566-A244B706FB2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DD35CF-2380-EB91-F154-151A6D68D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CA047BE-1A26-153C-9944-7F8641424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 err="1"/>
              <a:t>불평등도지수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19263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9E998-B028-AEE5-C486-6038B6FF2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241EDE-F095-7E51-3B09-8200F58B7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불평등도지수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E0143A-D35B-63C0-E560-44398C92F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F701E0-D373-BE86-30BB-362B38667D56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250267" cy="267618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분배의 상태를 정량적으로 평가하기 위해 여러 가지 불평등도지수가 개발되었다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>
                  <a:lnSpc>
                    <a:spcPct val="150000"/>
                  </a:lnSpc>
                </a:pPr>
                <a:r>
                  <a:rPr lang="ko-KR" altLang="en-US" u="sng" dirty="0" err="1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로렌츠곡선</a:t>
                </a:r>
                <a:endParaRPr lang="en-US" altLang="ko-KR" sz="4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한 사회의 구성원을 소득이 가장 낮은 사람으로부터 높아지는 순서대로 배열 할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하위 몇</a:t>
                </a:r>
                <a:r>
                  <a:rPr lang="en-US" altLang="ko-KR" sz="1600" spc="-50" dirty="0"/>
                  <a:t> %</a:t>
                </a:r>
                <a:r>
                  <a:rPr lang="ko-KR" altLang="en-US" sz="1600" spc="-50" dirty="0"/>
                  <a:t>에 속하는 사람들이 전체 소득 중 몇</a:t>
                </a:r>
                <a:r>
                  <a:rPr lang="en-US" altLang="ko-KR" sz="1600" spc="-50" dirty="0"/>
                  <a:t> %</a:t>
                </a:r>
                <a:r>
                  <a:rPr lang="ko-KR" altLang="en-US" sz="1600" spc="-50" dirty="0"/>
                  <a:t>를 차지하고 있는지를 나타내는 점들을 모아 놓은 곡선을 뜻한다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예를 들면 점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ko-KR" altLang="en-US" sz="1600" spc="-50" dirty="0"/>
                  <a:t>는 이 곡선이 대표하고 있는 사회의 하위소득자 </a:t>
                </a:r>
                <a:r>
                  <a:rPr lang="en-US" altLang="ko-KR" sz="1600" spc="-50" dirty="0"/>
                  <a:t>30%</a:t>
                </a:r>
                <a:r>
                  <a:rPr lang="ko-KR" altLang="en-US" sz="1600" spc="-50" dirty="0"/>
                  <a:t>가 사회 전체 소득의 </a:t>
                </a:r>
                <a:r>
                  <a:rPr lang="en-US" altLang="ko-KR" sz="1600" spc="-50" dirty="0"/>
                  <a:t>12%</a:t>
                </a:r>
                <a:r>
                  <a:rPr lang="ko-KR" altLang="en-US" sz="1600" spc="-50" dirty="0"/>
                  <a:t>를 차지하고 있다는 사실을 나타내고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F701E0-D373-BE86-30BB-362B38667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250267" cy="2676182"/>
              </a:xfrm>
              <a:prstGeom prst="rect">
                <a:avLst/>
              </a:prstGeom>
              <a:blipFill>
                <a:blip r:embed="rId2"/>
                <a:stretch>
                  <a:fillRect l="-433" r="-163" b="-20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1FC4E7C7-37E1-C639-4378-30294F373B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04" t="11865" r="22940" b="6550"/>
          <a:stretch>
            <a:fillRect/>
          </a:stretch>
        </p:blipFill>
        <p:spPr>
          <a:xfrm>
            <a:off x="8753911" y="3678568"/>
            <a:ext cx="3133289" cy="28942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61D1AE-12F4-0395-26A0-1573CC44FCDB}"/>
              </a:ext>
            </a:extLst>
          </p:cNvPr>
          <p:cNvSpPr txBox="1"/>
          <p:nvPr/>
        </p:nvSpPr>
        <p:spPr>
          <a:xfrm>
            <a:off x="9552613" y="3525470"/>
            <a:ext cx="17893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로렌츠 곡선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6E08BA-A842-CA86-86FA-FA89CB19EC83}"/>
                  </a:ext>
                </a:extLst>
              </p:cNvPr>
              <p:cNvSpPr txBox="1"/>
              <p:nvPr/>
            </p:nvSpPr>
            <p:spPr>
              <a:xfrm>
                <a:off x="288790" y="3601377"/>
                <a:ext cx="8267979" cy="189135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로렌츠 곡선이 대각선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𝑂𝐴</m:t>
                    </m:r>
                  </m:oMath>
                </a14:m>
                <a:r>
                  <a:rPr lang="ko-KR" altLang="en-US" sz="1600" spc="-50" dirty="0"/>
                  <a:t>와 일치한다면 완전히 평등한 분배를 의미한다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로렌츠 곡선이 푸른색 점선으로 표시된 것처럼 수평축으로 가다가 갑자기 </a:t>
                </a:r>
                <a:r>
                  <a:rPr lang="en-US" altLang="ko-KR" sz="1600" spc="-50" dirty="0"/>
                  <a:t>100%</a:t>
                </a:r>
                <a:r>
                  <a:rPr lang="ko-KR" altLang="en-US" sz="1600" spc="-50" dirty="0"/>
                  <a:t>에 이르는 순간 수직선으로 가면 가장 불평등한 분배를 의미한다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사실 지금 여기서는 균등한 분배가 평등한 분배라는 전제하에서 논의를 진행시키지만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엄밀하게 말하면 균등과 평등의 개념은 같을 수 없다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6E08BA-A842-CA86-86FA-FA89CB19E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3601377"/>
                <a:ext cx="8267979" cy="1891352"/>
              </a:xfrm>
              <a:prstGeom prst="rect">
                <a:avLst/>
              </a:prstGeom>
              <a:blipFill>
                <a:blip r:embed="rId4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6233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B7671-BAF8-8177-6990-CAD2EFDBD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797141-DDC3-9C9C-11B2-207F768C2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불평등도지수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C1ED61-3A31-45AD-11D3-663179D93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9DF78F-4B28-A9DA-89D2-80ED5DBF0A99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250267" cy="226773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아래의 그림에서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두 사회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를 대표하는 로렌츠 곡선 도출했다고 하자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spc="-50" dirty="0"/>
                  <a:t>의 </a:t>
                </a:r>
                <a:r>
                  <a:rPr lang="ko-KR" altLang="en-US" sz="1600" spc="-50" dirty="0" err="1"/>
                  <a:t>로렌츠곡선이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 err="1"/>
                  <a:t>로렌츠곡선보다</a:t>
                </a:r>
                <a:r>
                  <a:rPr lang="ko-KR" altLang="en-US" sz="1600" spc="-50" dirty="0"/>
                  <a:t> 모든 구간에서 위쪽에 위치하고 있다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이 경우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ko-KR" altLang="en-US" sz="1600" spc="-50" dirty="0"/>
                  <a:t>의 분배상태가 더 평등하다고 판단할 수 있다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주의할 점은 이런 평가가 </a:t>
                </a:r>
                <a:r>
                  <a:rPr lang="ko-KR" altLang="en-US" sz="1600" spc="-50" dirty="0" err="1"/>
                  <a:t>서수적</a:t>
                </a:r>
                <a:r>
                  <a:rPr lang="en-US" altLang="ko-KR" sz="1600" spc="-50" dirty="0"/>
                  <a:t>(ordinal)</a:t>
                </a:r>
                <a:r>
                  <a:rPr lang="ko-KR" altLang="en-US" sz="1600" spc="-50" dirty="0"/>
                  <a:t>인 성격을 갖고 있어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상대적 비교만 할 수 있을 뿐이며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어느 정도로 평등한지는 말할 수 없다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또한 두 </a:t>
                </a:r>
                <a:r>
                  <a:rPr lang="ko-KR" altLang="en-US" sz="1600" spc="-50" dirty="0" err="1"/>
                  <a:t>로렌츠곡선이</a:t>
                </a:r>
                <a:r>
                  <a:rPr lang="ko-KR" altLang="en-US" sz="1600" spc="-50" dirty="0"/>
                  <a:t> 교차하면 아무런 판단도 내릴 수 없다는 것 역시 잊어서는 안된다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9DF78F-4B28-A9DA-89D2-80ED5DBF0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250267" cy="2267737"/>
              </a:xfrm>
              <a:prstGeom prst="rect">
                <a:avLst/>
              </a:prstGeom>
              <a:blipFill>
                <a:blip r:embed="rId2"/>
                <a:stretch>
                  <a:fillRect b="-24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656D35C-9ABA-E56B-DFA4-257A3C006706}"/>
              </a:ext>
            </a:extLst>
          </p:cNvPr>
          <p:cNvSpPr txBox="1"/>
          <p:nvPr/>
        </p:nvSpPr>
        <p:spPr>
          <a:xfrm>
            <a:off x="9489695" y="3422567"/>
            <a:ext cx="17893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로렌츠 곡선의</a:t>
            </a:r>
            <a:r>
              <a:rPr lang="en-US" altLang="ko-KR" sz="1200" spc="-50" dirty="0"/>
              <a:t> </a:t>
            </a:r>
            <a:r>
              <a:rPr lang="ko-KR" altLang="en-US" sz="1200" spc="-50" dirty="0"/>
              <a:t>비교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43E30E0-2223-810E-1274-5782E20BC9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25" t="12058" r="22914" b="7396"/>
          <a:stretch>
            <a:fillRect/>
          </a:stretch>
        </p:blipFill>
        <p:spPr>
          <a:xfrm>
            <a:off x="8724550" y="3625927"/>
            <a:ext cx="3132000" cy="28562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6F0CE5-7C8A-B02B-26F1-4E6B390C9CBA}"/>
              </a:ext>
            </a:extLst>
          </p:cNvPr>
          <p:cNvSpPr txBox="1"/>
          <p:nvPr/>
        </p:nvSpPr>
        <p:spPr>
          <a:xfrm>
            <a:off x="288790" y="3257440"/>
            <a:ext cx="8267979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로렌츠곡선의</a:t>
            </a:r>
            <a:r>
              <a:rPr lang="ko-KR" altLang="en-US" sz="1600" spc="-50" dirty="0"/>
              <a:t> 상대적 위치를 보고 불평등도를 평가하는 것은 주관적 가치판단을 최소한으로 하여 높은 객관성을 유지할 수 있다는 장점을 갖는다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실제 상황에서는 </a:t>
            </a:r>
            <a:r>
              <a:rPr lang="ko-KR" altLang="en-US" sz="1600" spc="-50" dirty="0" err="1"/>
              <a:t>로렌츠곡선들이</a:t>
            </a:r>
            <a:r>
              <a:rPr lang="ko-KR" altLang="en-US" sz="1600" spc="-50" dirty="0"/>
              <a:t> 서로 교차하여 명백한 판단을 내릴 수 없는 경우를 많이 보게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이유로 </a:t>
            </a:r>
            <a:r>
              <a:rPr lang="ko-KR" altLang="en-US" sz="1600" spc="-50" dirty="0" err="1"/>
              <a:t>기수적</a:t>
            </a:r>
            <a:r>
              <a:rPr lang="en-US" altLang="ko-KR" sz="1600" spc="-50" dirty="0"/>
              <a:t>(cardinal)</a:t>
            </a:r>
            <a:r>
              <a:rPr lang="ko-KR" altLang="en-US" sz="1600" spc="-50" dirty="0"/>
              <a:t>평가 방법을 쓰는 것이 보통이다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 err="1"/>
              <a:t>기수적</a:t>
            </a:r>
            <a:r>
              <a:rPr lang="ko-KR" altLang="en-US" sz="1600" spc="-50" dirty="0"/>
              <a:t> 평가방법은 불평등 정도를 구체적인 수치로 나타낸다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3723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A9456-DF89-2F17-5FEE-07D710257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FFCDA-8170-053D-04E5-AB3592511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지니계수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3387EC-853B-EDF1-2FA9-237E01FA7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179C284-743A-FE7B-EBFA-48DCFF08AF3E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250267" cy="550868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지니계수는 우리가 흔히 사용하는 </a:t>
                </a:r>
                <a:r>
                  <a:rPr lang="ko-KR" altLang="en-US" sz="1600" spc="-50" dirty="0" err="1"/>
                  <a:t>불평등도지수</a:t>
                </a:r>
                <a:r>
                  <a:rPr lang="ko-KR" altLang="en-US" sz="1600" spc="-50" dirty="0"/>
                  <a:t> 중 하나로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구하는 방법은 두 가지가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첫번째 방법은 </a:t>
                </a:r>
                <a:r>
                  <a:rPr lang="ko-KR" altLang="en-US" sz="1600" spc="-50" dirty="0" err="1"/>
                  <a:t>로렌츠곡선을</a:t>
                </a:r>
                <a:r>
                  <a:rPr lang="ko-KR" altLang="en-US" sz="1600" spc="-50" dirty="0"/>
                  <a:t> 활용하는 방법이다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오른쪽 그림에서 초승달 모양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노란색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의 면적이 </a:t>
                </a:r>
                <a14:m>
                  <m:oMath xmlns:m="http://schemas.openxmlformats.org/officeDocument/2006/math"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아래쪽 삼각형의 나머지 구역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연두색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의 면적이 </a:t>
                </a:r>
                <a14:m>
                  <m:oMath xmlns:m="http://schemas.openxmlformats.org/officeDocument/2006/math"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라고 </a:t>
                </a:r>
                <a:r>
                  <a:rPr lang="ko-KR" altLang="en-US" sz="1600" spc="-50" dirty="0" err="1"/>
                  <a:t>할때</a:t>
                </a:r>
                <a:r>
                  <a:rPr lang="en-US" altLang="ko-KR" sz="1600" spc="-50" dirty="0"/>
                  <a:t>,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 err="1"/>
                  <a:t>지니계수는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1" spc="-5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ko-KR" b="0" i="1" spc="-5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pc="-5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i="1" spc="-50">
                            <a:latin typeface="Cambria Math" panose="02040503050406030204" pitchFamily="18" charset="0"/>
                          </a:rPr>
                          <m:t>𝜂</m:t>
                        </m:r>
                      </m:num>
                      <m:den>
                        <m:r>
                          <a:rPr lang="ko-KR" altLang="en-US" i="1" spc="-50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 altLang="ko-KR" b="0" i="1" spc="-5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i="1" spc="-50"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계산할 수 있다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완전 평등한 분배인 경우는 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ko-KR" altLang="en-US" sz="1600" spc="-50" dirty="0"/>
                  <a:t>가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이 되고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ko-KR" altLang="en-US" sz="1600" spc="-50" dirty="0"/>
                  <a:t>는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이므로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 err="1"/>
                  <a:t>지니계수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이 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가장 불평등한 분배인 경우는 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ko-KR" altLang="en-US" sz="1600" spc="-50" dirty="0"/>
                  <a:t>가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이 되고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ko-KR" altLang="en-US" sz="1600" spc="-50" dirty="0"/>
                  <a:t>는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이므로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 err="1"/>
                  <a:t>지니계수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이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두번째 방법은 아래의 산식을 통해 구해지는 인구의 평균적인 소득격차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60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개념을 활용한다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endParaRPr lang="en-US" altLang="ko-KR" sz="1600" i="1" spc="-50" dirty="0">
                  <a:latin typeface="Cambria Math" panose="02040503050406030204" pitchFamily="18" charset="0"/>
                </a:endParaRP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ko-KR" altLang="en-US" sz="1600" spc="-50" dirty="0"/>
                  <a:t>번째 사람의 소득을 나타내고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sz="1600" spc="-50" dirty="0"/>
                  <a:t>은 전체 인구를 의미한다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sz="1600" spc="-50" dirty="0"/>
                  <a:t>명의 사람들을 순서를 따지면서 둘씩 </a:t>
                </a:r>
                <a:r>
                  <a:rPr lang="ko-KR" altLang="en-US" sz="1600" spc="-50" dirty="0" err="1"/>
                  <a:t>짝지운다고</a:t>
                </a:r>
                <a:r>
                  <a:rPr lang="ko-KR" altLang="en-US" sz="1600" spc="-50" dirty="0"/>
                  <a:t> 할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모두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개의 짝을 얻게 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1600" spc="-50" dirty="0"/>
                  <a:t>는 임의의 두 사람 사이에 존재하는 소득격차를 뜻하므로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이를 모두 더해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으로 나누면 평균적인 소득격차를 얻게 된다</a:t>
                </a:r>
                <a:r>
                  <a:rPr lang="en-US" altLang="ko-KR" sz="1600" spc="-50" dirty="0"/>
                  <a:t>.</a:t>
                </a:r>
                <a:r>
                  <a:rPr lang="ko-KR" altLang="en-US" sz="1600" spc="-50" dirty="0"/>
                  <a:t> 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179C284-743A-FE7B-EBFA-48DCFF08A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250267" cy="5508688"/>
              </a:xfrm>
              <a:prstGeom prst="rect">
                <a:avLst/>
              </a:prstGeom>
              <a:blipFill>
                <a:blip r:embed="rId2"/>
                <a:stretch>
                  <a:fillRect b="-4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168F2831-0F46-983B-2D48-92E8CA2C0E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04" t="11865" r="22940" b="6550"/>
          <a:stretch>
            <a:fillRect/>
          </a:stretch>
        </p:blipFill>
        <p:spPr>
          <a:xfrm>
            <a:off x="9605393" y="2270707"/>
            <a:ext cx="1711355" cy="15807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EB172C2-D0C5-28C4-A128-0D5C98BE7CD7}"/>
                  </a:ext>
                </a:extLst>
              </p:cNvPr>
              <p:cNvSpPr txBox="1"/>
              <p:nvPr/>
            </p:nvSpPr>
            <p:spPr>
              <a:xfrm>
                <a:off x="1711354" y="3920143"/>
                <a:ext cx="2638338" cy="8798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ko-KR" i="1" spc="-5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ko-KR" b="0" i="1" spc="-5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 spc="-5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i="1" spc="-5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pc="-5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ko-KR" b="0" i="1" spc="-5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ctrlPr>
                            <a:rPr lang="en-US" altLang="ko-KR" i="1" spc="-5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pc="-5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pc="-5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pc="-5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ko-KR" i="1" spc="-5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b="0" i="1" spc="-5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b="0" i="1" spc="-5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b="0" i="1" spc="-5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i="1" spc="-5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i="1" spc="-5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pc="-5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ko-KR" b="0" i="1" spc="-5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b="0" i="1" spc="-5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b="0" i="1" spc="-5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pc="-5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ko-KR" b="0" i="1" spc="-5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EB172C2-D0C5-28C4-A128-0D5C98BE7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1354" y="3920143"/>
                <a:ext cx="2638338" cy="8798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0A70232-052D-10E2-7095-7B86A7395DFC}"/>
              </a:ext>
            </a:extLst>
          </p:cNvPr>
          <p:cNvSpPr txBox="1"/>
          <p:nvPr/>
        </p:nvSpPr>
        <p:spPr>
          <a:xfrm>
            <a:off x="10093881" y="2162985"/>
            <a:ext cx="8915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spc="-50" dirty="0"/>
              <a:t>&lt;</a:t>
            </a:r>
            <a:r>
              <a:rPr lang="ko-KR" altLang="en-US" sz="800" spc="-50" dirty="0"/>
              <a:t>로렌츠 곡선</a:t>
            </a:r>
            <a:r>
              <a:rPr lang="en-US" altLang="ko-KR" sz="800" spc="-50" dirty="0"/>
              <a:t>&gt;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3938888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082FE-BFA2-FFB0-2E9B-2BD63F28B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A95D4B-F245-5E61-435F-576311507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지니계수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B09CEC-8679-14E0-A1C1-43939E938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386B647-7300-7D17-CC66-7C23DCD22164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250267" cy="336867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앞서 살펴본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 err="1"/>
                  <a:t>지니계수를</a:t>
                </a:r>
                <a:r>
                  <a:rPr lang="ko-KR" altLang="en-US" sz="1600" spc="-50" dirty="0"/>
                  <a:t> 구하는 두가지 식의 관계는 아래와 같다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평균소득격차</a:t>
                </a:r>
                <a:r>
                  <a:rPr lang="en-US" altLang="ko-KR" sz="1600" spc="-50" dirty="0"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를 평균소득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의 두 배로 나눈 비율로써 구할 수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평소 주위에서 소득분배 얘기가 나오면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 err="1"/>
                  <a:t>지니계수가</a:t>
                </a:r>
                <a:r>
                  <a:rPr lang="ko-KR" altLang="en-US" sz="1600" spc="-50" dirty="0"/>
                  <a:t> 자주 등장하는데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 err="1"/>
                  <a:t>지니계수의</a:t>
                </a:r>
                <a:r>
                  <a:rPr lang="ko-KR" altLang="en-US" sz="1600" spc="-50" dirty="0"/>
                  <a:t> 정확한 성격은 많이 알려지지 않았다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 err="1"/>
                  <a:t>지니계수는</a:t>
                </a:r>
                <a:r>
                  <a:rPr lang="ko-KR" altLang="en-US" sz="1600" spc="-50" dirty="0"/>
                  <a:t> 일련의 가치판단을 전제로 하여 얻어지는 것이므로 상당한 주관성을 내포하고 있다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 err="1"/>
                  <a:t>지니계수가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0.35 </a:t>
                </a:r>
                <a:r>
                  <a:rPr lang="ko-KR" altLang="en-US" sz="1600" spc="-50" dirty="0"/>
                  <a:t>혹은 </a:t>
                </a:r>
                <a:r>
                  <a:rPr lang="en-US" altLang="ko-KR" sz="1600" spc="-50" dirty="0"/>
                  <a:t>0.41 </a:t>
                </a:r>
                <a:r>
                  <a:rPr lang="ko-KR" altLang="en-US" sz="1600" spc="-50" dirty="0"/>
                  <a:t>같이 수치로 주어질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언뜻 매우 직관적인 평가를 할 수 있으리라 기대할 수 있는데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사실은 그렇지 않다는 점을 잊으면 안된다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386B647-7300-7D17-CC66-7C23DCD22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250267" cy="3368679"/>
              </a:xfrm>
              <a:prstGeom prst="rect">
                <a:avLst/>
              </a:prstGeom>
              <a:blipFill>
                <a:blip r:embed="rId2"/>
                <a:stretch>
                  <a:fillRect r="-867" b="-12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7A96AC-9935-4155-E762-ED2D5DF273DF}"/>
                  </a:ext>
                </a:extLst>
              </p:cNvPr>
              <p:cNvSpPr txBox="1"/>
              <p:nvPr/>
            </p:nvSpPr>
            <p:spPr>
              <a:xfrm>
                <a:off x="1641097" y="1371055"/>
                <a:ext cx="1706110" cy="6561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pc="-50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ko-KR" b="0" i="1" spc="-5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pc="-5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altLang="ko-KR" i="1" spc="-5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num>
                        <m:den>
                          <m:r>
                            <a:rPr lang="en-US" altLang="ko-KR" b="0" i="1" spc="-5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ko-KR" altLang="en-US" b="0" i="1" spc="-5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7A96AC-9935-4155-E762-ED2D5DF27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097" y="1371055"/>
                <a:ext cx="1706110" cy="6561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7727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D875C-E603-5EB7-7F64-E9EE55CA1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8C7E6F-C06A-95E2-E5D6-718493A99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/>
              <a:t>분위 배율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1A558B-7B7F-7A91-4623-7151D9216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CB7DDC-4624-7E07-2293-64CD3C2E99C7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250267" cy="373801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지니계수와</a:t>
                </a:r>
                <a:r>
                  <a:rPr lang="ko-KR" altLang="en-US" sz="1600" spc="-50" dirty="0"/>
                  <a:t> 더불어 가장 많이 사용하는 불평등도지수로 아래 식과 같이 </a:t>
                </a:r>
                <a:r>
                  <a:rPr lang="en-US" altLang="ko-KR" sz="1600" spc="-50" dirty="0"/>
                  <a:t>5</a:t>
                </a:r>
                <a:r>
                  <a:rPr lang="ko-KR" altLang="en-US" sz="1600" spc="-50" dirty="0"/>
                  <a:t>분위배율이 있다</a:t>
                </a:r>
                <a:r>
                  <a:rPr lang="en-US" altLang="ko-KR" sz="1600" spc="-5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5</a:t>
                </a:r>
                <a:r>
                  <a:rPr lang="ko-KR" altLang="en-US" sz="1600" spc="-50" dirty="0"/>
                  <a:t>분위 배율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은 상위 </a:t>
                </a:r>
                <a:r>
                  <a:rPr lang="en-US" altLang="ko-KR" sz="1600" spc="-50" dirty="0"/>
                  <a:t>20%</a:t>
                </a:r>
                <a:r>
                  <a:rPr lang="ko-KR" altLang="en-US" sz="1600" spc="-50" dirty="0"/>
                  <a:t>에 속하는 사람들의 소득점유비율 대비 하위 </a:t>
                </a:r>
                <a:r>
                  <a:rPr lang="en-US" altLang="ko-KR" sz="1600" spc="-50" dirty="0"/>
                  <a:t>20%</a:t>
                </a:r>
                <a:r>
                  <a:rPr lang="ko-KR" altLang="en-US" sz="1600" spc="-50" dirty="0"/>
                  <a:t>에 속하는 사람들의 소득점유비율이다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위 식에서 알 수 있듯이 모두가 균등한 소득을 가지고 있으면 분자와 분모의 값이 같아지므로 </a:t>
                </a:r>
                <a:r>
                  <a:rPr lang="en-US" altLang="ko-KR" sz="1600" spc="-50" dirty="0"/>
                  <a:t>5</a:t>
                </a:r>
                <a:r>
                  <a:rPr lang="ko-KR" altLang="en-US" sz="1600" spc="-50" dirty="0"/>
                  <a:t>분위 배율은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이 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5</a:t>
                </a:r>
                <a:r>
                  <a:rPr lang="ko-KR" altLang="en-US" sz="1600" spc="-50" dirty="0"/>
                  <a:t>분위 배율은 정교한 이론적 배경을 갖고 있지 않지만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쉽고 해석하기 편하다는 이유에서 많이 사용되고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하지만 상위 </a:t>
                </a:r>
                <a:r>
                  <a:rPr lang="en-US" altLang="ko-KR" sz="1600" spc="-50" dirty="0"/>
                  <a:t>20% </a:t>
                </a:r>
                <a:r>
                  <a:rPr lang="ko-KR" altLang="en-US" sz="1600" spc="-50" dirty="0"/>
                  <a:t>또는 하위 </a:t>
                </a:r>
                <a:r>
                  <a:rPr lang="en-US" altLang="ko-KR" sz="1600" spc="-50" dirty="0"/>
                  <a:t>20%</a:t>
                </a:r>
                <a:r>
                  <a:rPr lang="ko-KR" altLang="en-US" sz="1600" spc="-50" dirty="0"/>
                  <a:t>에 속하지 않는 사람들의 분배 상태를 반영하지 못한다는 점에서 한계가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우리나라 정부는 매년 소득 불평등도지수로 </a:t>
                </a:r>
                <a:r>
                  <a:rPr lang="ko-KR" altLang="en-US" sz="1600" spc="-50" dirty="0" err="1"/>
                  <a:t>지니계수와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5</a:t>
                </a:r>
                <a:r>
                  <a:rPr lang="ko-KR" altLang="en-US" sz="1600" spc="-50" dirty="0"/>
                  <a:t>분위 배율을 발표하고 있다</a:t>
                </a:r>
                <a:r>
                  <a:rPr lang="en-US" altLang="ko-KR" sz="1600" spc="-5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그림에서는 </a:t>
                </a:r>
                <a:r>
                  <a:rPr lang="en-US" altLang="ko-KR" sz="1600" spc="-50" dirty="0"/>
                  <a:t>2011~2018</a:t>
                </a:r>
                <a:r>
                  <a:rPr lang="ko-KR" altLang="en-US" sz="1600" spc="-50" dirty="0"/>
                  <a:t> 기간 우리나라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소득 분배상태가 개선되고 있음을 보여주고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CB7DDC-4624-7E07-2293-64CD3C2E9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250267" cy="3738011"/>
              </a:xfrm>
              <a:prstGeom prst="rect">
                <a:avLst/>
              </a:prstGeom>
              <a:blipFill>
                <a:blip r:embed="rId2"/>
                <a:stretch>
                  <a:fillRect r="-108" b="-11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1C6D79-87EE-78CB-2435-E08E8DF9963B}"/>
                  </a:ext>
                </a:extLst>
              </p:cNvPr>
              <p:cNvSpPr txBox="1"/>
              <p:nvPr/>
            </p:nvSpPr>
            <p:spPr>
              <a:xfrm>
                <a:off x="1641096" y="1907941"/>
                <a:ext cx="4231197" cy="6862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pc="-5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ko-KR" b="0" i="1" spc="-5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pc="-5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 spc="-50">
                              <a:latin typeface="Cambria Math" panose="02040503050406030204" pitchFamily="18" charset="0"/>
                            </a:rPr>
                            <m:t>상</m:t>
                          </m:r>
                          <m:r>
                            <a:rPr lang="ko-KR" altLang="en-US" i="1" spc="-50" smtClean="0">
                              <a:latin typeface="Cambria Math" panose="02040503050406030204" pitchFamily="18" charset="0"/>
                            </a:rPr>
                            <m:t>위</m:t>
                          </m:r>
                          <m:r>
                            <a:rPr lang="en-US" altLang="ko-KR" b="0" i="1" spc="-50" smtClean="0">
                              <a:latin typeface="Cambria Math" panose="02040503050406030204" pitchFamily="18" charset="0"/>
                            </a:rPr>
                            <m:t> 20%</m:t>
                          </m:r>
                          <m:r>
                            <a:rPr lang="ko-KR" altLang="en-US" i="1" spc="-50">
                              <a:latin typeface="Cambria Math" panose="02040503050406030204" pitchFamily="18" charset="0"/>
                            </a:rPr>
                            <m:t>의</m:t>
                          </m:r>
                          <m:r>
                            <a:rPr lang="en-US" altLang="ko-KR" b="0" i="1" spc="-5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i="1" spc="-50">
                              <a:latin typeface="Cambria Math" panose="02040503050406030204" pitchFamily="18" charset="0"/>
                            </a:rPr>
                            <m:t>소</m:t>
                          </m:r>
                          <m:r>
                            <a:rPr lang="ko-KR" altLang="en-US" i="1" spc="-50" smtClean="0">
                              <a:latin typeface="Cambria Math" panose="02040503050406030204" pitchFamily="18" charset="0"/>
                            </a:rPr>
                            <m:t>득</m:t>
                          </m:r>
                          <m:r>
                            <a:rPr lang="ko-KR" altLang="en-US" i="1" spc="-50">
                              <a:latin typeface="Cambria Math" panose="02040503050406030204" pitchFamily="18" charset="0"/>
                            </a:rPr>
                            <m:t>점</m:t>
                          </m:r>
                          <m:r>
                            <a:rPr lang="ko-KR" altLang="en-US" i="1" spc="-50" smtClean="0">
                              <a:latin typeface="Cambria Math" panose="02040503050406030204" pitchFamily="18" charset="0"/>
                            </a:rPr>
                            <m:t>유</m:t>
                          </m:r>
                          <m:r>
                            <a:rPr lang="en-US" altLang="ko-KR" b="0" i="1" spc="-5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i="1" spc="-50">
                              <a:latin typeface="Cambria Math" panose="02040503050406030204" pitchFamily="18" charset="0"/>
                            </a:rPr>
                            <m:t>비</m:t>
                          </m:r>
                          <m:r>
                            <a:rPr lang="ko-KR" altLang="en-US" i="1" spc="-50" smtClean="0">
                              <a:latin typeface="Cambria Math" panose="02040503050406030204" pitchFamily="18" charset="0"/>
                            </a:rPr>
                            <m:t>율</m:t>
                          </m:r>
                        </m:num>
                        <m:den>
                          <m:r>
                            <a:rPr lang="ko-KR" altLang="en-US" i="1" spc="-50">
                              <a:latin typeface="Cambria Math" panose="02040503050406030204" pitchFamily="18" charset="0"/>
                            </a:rPr>
                            <m:t>하위</m:t>
                          </m:r>
                          <m:r>
                            <a:rPr lang="en-US" altLang="ko-KR" b="0" i="1" spc="-50" smtClean="0">
                              <a:latin typeface="Cambria Math" panose="02040503050406030204" pitchFamily="18" charset="0"/>
                            </a:rPr>
                            <m:t> 20%</m:t>
                          </m:r>
                          <m:r>
                            <a:rPr lang="ko-KR" altLang="en-US" i="1" spc="-50">
                              <a:latin typeface="Cambria Math" panose="02040503050406030204" pitchFamily="18" charset="0"/>
                            </a:rPr>
                            <m:t>의</m:t>
                          </m:r>
                          <m:r>
                            <a:rPr lang="en-US" altLang="ko-KR" b="0" i="1" spc="-5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i="1" spc="-50">
                              <a:latin typeface="Cambria Math" panose="02040503050406030204" pitchFamily="18" charset="0"/>
                            </a:rPr>
                            <m:t>소</m:t>
                          </m:r>
                          <m:r>
                            <a:rPr lang="ko-KR" altLang="en-US" i="1" spc="-50" smtClean="0">
                              <a:latin typeface="Cambria Math" panose="02040503050406030204" pitchFamily="18" charset="0"/>
                            </a:rPr>
                            <m:t>득</m:t>
                          </m:r>
                          <m:r>
                            <a:rPr lang="ko-KR" altLang="en-US" i="1" spc="-50">
                              <a:latin typeface="Cambria Math" panose="02040503050406030204" pitchFamily="18" charset="0"/>
                            </a:rPr>
                            <m:t>점</m:t>
                          </m:r>
                          <m:r>
                            <a:rPr lang="ko-KR" altLang="en-US" i="1" spc="-50" smtClean="0">
                              <a:latin typeface="Cambria Math" panose="02040503050406030204" pitchFamily="18" charset="0"/>
                            </a:rPr>
                            <m:t>유</m:t>
                          </m:r>
                          <m:r>
                            <a:rPr lang="ko-KR" altLang="en-US" i="1" spc="-50">
                              <a:latin typeface="Cambria Math" panose="02040503050406030204" pitchFamily="18" charset="0"/>
                            </a:rPr>
                            <m:t>비</m:t>
                          </m:r>
                          <m:r>
                            <a:rPr lang="ko-KR" altLang="en-US" i="1" spc="-50" smtClean="0">
                              <a:latin typeface="Cambria Math" panose="02040503050406030204" pitchFamily="18" charset="0"/>
                            </a:rPr>
                            <m:t>율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1C6D79-87EE-78CB-2435-E08E8DF99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096" y="1907941"/>
                <a:ext cx="4231197" cy="6862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EF4680D-EF86-7E1C-01BE-D0E4964892A1}"/>
              </a:ext>
            </a:extLst>
          </p:cNvPr>
          <p:cNvSpPr txBox="1"/>
          <p:nvPr/>
        </p:nvSpPr>
        <p:spPr>
          <a:xfrm>
            <a:off x="288789" y="4666789"/>
            <a:ext cx="6023927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우리나라 </a:t>
            </a:r>
            <a:r>
              <a:rPr lang="ko-KR" altLang="en-US" sz="1600" spc="-50" dirty="0" err="1"/>
              <a:t>지니계수는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2015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0.35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2023</a:t>
            </a:r>
            <a:r>
              <a:rPr lang="ko-KR" altLang="en-US" sz="1600" spc="-50" dirty="0"/>
              <a:t>년에는 </a:t>
            </a:r>
            <a:r>
              <a:rPr lang="en-US" altLang="ko-KR" sz="1600" spc="-50" dirty="0"/>
              <a:t>0.323</a:t>
            </a:r>
            <a:r>
              <a:rPr lang="ko-KR" altLang="en-US" sz="1600" spc="-50" dirty="0"/>
              <a:t>로 낮아졌다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5</a:t>
            </a:r>
            <a:r>
              <a:rPr lang="ko-KR" altLang="en-US" sz="1600" spc="-50" dirty="0"/>
              <a:t>분위 배율도 </a:t>
            </a:r>
            <a:r>
              <a:rPr lang="ko-KR" altLang="en-US" sz="1600" spc="-50" dirty="0" err="1"/>
              <a:t>같은기간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6.81</a:t>
            </a:r>
            <a:r>
              <a:rPr lang="ko-KR" altLang="en-US" sz="1600" spc="-50" dirty="0"/>
              <a:t>에서 </a:t>
            </a:r>
            <a:r>
              <a:rPr lang="en-US" altLang="ko-KR" sz="1600" spc="-50"/>
              <a:t>5.72</a:t>
            </a:r>
            <a:r>
              <a:rPr lang="ko-KR" altLang="en-US" sz="1600" spc="-50"/>
              <a:t>까지 </a:t>
            </a:r>
            <a:r>
              <a:rPr lang="ko-KR" altLang="en-US" sz="1600" spc="-50" dirty="0"/>
              <a:t>낮아졌다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1EE969-63BB-7717-7214-3BB498E59AC3}"/>
              </a:ext>
            </a:extLst>
          </p:cNvPr>
          <p:cNvSpPr txBox="1"/>
          <p:nvPr/>
        </p:nvSpPr>
        <p:spPr>
          <a:xfrm>
            <a:off x="7891591" y="4650451"/>
            <a:ext cx="30603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우리나라의 소득 </a:t>
            </a:r>
            <a:r>
              <a:rPr lang="ko-KR" altLang="en-US" sz="1200" spc="-50" dirty="0" err="1"/>
              <a:t>불평등도지수</a:t>
            </a:r>
            <a:r>
              <a:rPr lang="ko-KR" altLang="en-US" sz="1200" spc="-50" dirty="0"/>
              <a:t> 변화 추이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C3529D2-6F3A-4EA2-B636-EE64BA91C7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0" t="17413" r="3592" b="17214"/>
          <a:stretch>
            <a:fillRect/>
          </a:stretch>
        </p:blipFill>
        <p:spPr>
          <a:xfrm>
            <a:off x="6847826" y="5027053"/>
            <a:ext cx="4782847" cy="155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813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D1EC5-A470-8A1E-5DCF-1E04A904F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1FA9FD-0CB3-0347-F9C2-F0B5D5A337F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6C89AD-4657-B5E9-DF15-42E8C5FB7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369F4F89-EECA-252F-74CA-0DD0D19AE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/>
              <a:t>불평등 발생의 원인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262055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59759-B7AA-01F8-4E91-95B7F1838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D6A1B8-BCBB-9E4E-2B81-5C3FD87C6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개인적요인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82AAF2-1245-774B-93DD-7D6E504B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35292A-862D-590E-A579-61ED220DBBD8}"/>
              </a:ext>
            </a:extLst>
          </p:cNvPr>
          <p:cNvSpPr txBox="1"/>
          <p:nvPr/>
        </p:nvSpPr>
        <p:spPr>
          <a:xfrm>
            <a:off x="288790" y="958844"/>
            <a:ext cx="11250267" cy="26761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소득분배 혹은 경제적지위의 불평등을 발생시키는 원인은 크게 개인적 요인과 사회적 요인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 범주로 나누어 볼 수 있다</a:t>
            </a:r>
            <a:r>
              <a:rPr lang="en-US" altLang="ko-KR" sz="1600" spc="-5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개인적 요인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434975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spc="-50" dirty="0"/>
              <a:t>원초적 단계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인생의 가장 원초적인 단계에서 발생하는 불평등의 원인들은 다음과 같이 세 가지로 정리해 볼 수 있다</a:t>
            </a:r>
            <a:r>
              <a:rPr lang="en-US" altLang="ko-KR" sz="1600" spc="-50" dirty="0"/>
              <a:t>.</a:t>
            </a:r>
          </a:p>
          <a:p>
            <a:pPr marL="835200" lvl="1" indent="-2844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spc="-50" dirty="0"/>
              <a:t>유전적 요인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태어날 때부터 갖고 있는 유전자가 경제적 지위에 영향을 주는 것을 말한다</a:t>
            </a:r>
            <a:r>
              <a:rPr lang="en-US" altLang="ko-KR" sz="1600" spc="-50" dirty="0"/>
              <a:t>.</a:t>
            </a:r>
          </a:p>
          <a:p>
            <a:pPr marL="835200" lvl="1" indent="-2844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spc="-50" dirty="0"/>
              <a:t>교육적 환경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후천적 성장과정이 그의 경제적 지위에 영향을 주는 것을 말한다</a:t>
            </a:r>
            <a:r>
              <a:rPr lang="en-US" altLang="ko-KR" sz="1600" spc="-50" dirty="0"/>
              <a:t>.</a:t>
            </a:r>
          </a:p>
          <a:p>
            <a:pPr marL="835200" lvl="1" indent="-2844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spc="-50" dirty="0"/>
              <a:t>경제적 환경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유복한 집안에서 태어난 사람은 교육 기회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혹은 다른 측면에서 유리한 여건을 갖는 것을 말한다</a:t>
            </a:r>
            <a:r>
              <a:rPr lang="en-US" altLang="ko-KR" sz="1600" spc="-50" dirty="0"/>
              <a:t>.</a:t>
            </a:r>
          </a:p>
          <a:p>
            <a:pPr marL="835200" lvl="1" indent="-2844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8396D40-027D-3B4E-FB85-FB711D5392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86" t="11647" r="21093" b="6029"/>
          <a:stretch>
            <a:fillRect/>
          </a:stretch>
        </p:blipFill>
        <p:spPr>
          <a:xfrm>
            <a:off x="8320655" y="3202798"/>
            <a:ext cx="3411348" cy="34091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7F5C63-668E-2D40-F00F-90BE55E882F6}"/>
              </a:ext>
            </a:extLst>
          </p:cNvPr>
          <p:cNvSpPr txBox="1"/>
          <p:nvPr/>
        </p:nvSpPr>
        <p:spPr>
          <a:xfrm>
            <a:off x="7805605" y="3254500"/>
            <a:ext cx="14914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불평등 발생경로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001C50-0C9B-D5B8-DBC4-304CD5EE77AC}"/>
              </a:ext>
            </a:extLst>
          </p:cNvPr>
          <p:cNvSpPr txBox="1"/>
          <p:nvPr/>
        </p:nvSpPr>
        <p:spPr>
          <a:xfrm>
            <a:off x="288789" y="3274228"/>
            <a:ext cx="7516816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그림에서 가장 안쪽에 있는 것이 개인적 차원에서 발생하는 불평등 요인이다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원초적 요인들이 싹터 불평등이 중간단계의 차이로 이어지고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결국은 맨 윗줄에 있는 경제적 지위의 결정요인으로 귀착되는 것을 보여주고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결국 개인적인 차원에서의 불평등의 싹은 가정에서 출발한다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어떤 사람이 어느 가정에서 어떤 소질을 가지고 태어났느냐가 그 사람의 경제적인 장래를 좌우한다는 말이다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가정이 개인적 차원에서 발생하는 불평등에 얼마나 중요한지 알 수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5617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98376-8C19-3CF4-8F99-490067760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90C3F8-B587-6CAB-9441-A40328689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개인적요인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9BEF14-B7F5-B251-2C53-090495B3B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D7DBC2-1BFC-BF32-C373-CBA100D1AE64}"/>
              </a:ext>
            </a:extLst>
          </p:cNvPr>
          <p:cNvSpPr txBox="1"/>
          <p:nvPr/>
        </p:nvSpPr>
        <p:spPr>
          <a:xfrm>
            <a:off x="288790" y="958844"/>
            <a:ext cx="11250267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4975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600" b="1" spc="-50" dirty="0"/>
              <a:t>중간적 단계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유전적 요인과 교육적 환경에 따라 어떤 개인의 능력이 달라질 수 있다고 배웠는데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능력은 인지능력과 비인지 능력으로 나누어 볼 수 있다</a:t>
            </a:r>
            <a:r>
              <a:rPr lang="en-US" altLang="ko-KR" sz="1600" spc="-50" dirty="0"/>
              <a:t>.</a:t>
            </a:r>
          </a:p>
          <a:p>
            <a:pPr marL="835200" lvl="1" indent="-2844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spc="-50" dirty="0"/>
              <a:t>인지능력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언어와 숫자를 능숙하게 구사하는지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이해력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논리력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추리력 등을 뜻한다</a:t>
            </a:r>
            <a:r>
              <a:rPr lang="en-US" altLang="ko-KR" sz="1600" spc="-50" dirty="0"/>
              <a:t>.</a:t>
            </a:r>
          </a:p>
          <a:p>
            <a:pPr marL="835200" lvl="1" indent="-2844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spc="-50" dirty="0"/>
              <a:t>비인지능력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지적인 능력 외의 넓은 의미에서의 능력을 말하며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성취동기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신체능력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심리적 요인 등을 포함한다</a:t>
            </a:r>
            <a:r>
              <a:rPr lang="en-US" altLang="ko-KR" sz="1600" spc="-50" dirty="0"/>
              <a:t>.</a:t>
            </a:r>
          </a:p>
          <a:p>
            <a:pPr marL="379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유전적 요인과 교육적 환경은 개인의 능력 뿐 아니라 </a:t>
            </a:r>
            <a:r>
              <a:rPr lang="ko-KR" altLang="en-US" sz="1600" b="1" spc="-50" dirty="0"/>
              <a:t>개인의 특성</a:t>
            </a:r>
            <a:r>
              <a:rPr lang="ko-KR" altLang="en-US" sz="1600" spc="-50" dirty="0"/>
              <a:t>에도 많은 영향을 준다</a:t>
            </a:r>
            <a:r>
              <a:rPr lang="en-US" altLang="ko-KR" sz="1600" spc="-50" dirty="0"/>
              <a:t>.</a:t>
            </a:r>
          </a:p>
          <a:p>
            <a:pPr marL="8365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말하는 방식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옷 입는 방식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행동거지 등을 예로 들 수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이런 것들을 능력이라고 말할 수는 없지만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경제적 지위를 결정하는데 영향을 미치는 것은 분명하다</a:t>
            </a:r>
            <a:r>
              <a:rPr lang="en-US" altLang="ko-KR" sz="1600" spc="-50" dirty="0"/>
              <a:t>.</a:t>
            </a:r>
          </a:p>
          <a:p>
            <a:pPr marL="379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개인의 능력 혹은 개인의 특성이 교육수준에 영향을 미치지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곧바로 경제적 지위에 영향을 미칠 수도 있는데 이 경로는 점선으로 나타나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전 슬라이드의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불평등 발생경로</a:t>
            </a:r>
            <a:r>
              <a:rPr lang="en-US" altLang="ko-KR" sz="1600" spc="-50" dirty="0"/>
              <a:t>’ </a:t>
            </a:r>
            <a:r>
              <a:rPr lang="ko-KR" altLang="en-US" sz="1600" spc="-50" dirty="0"/>
              <a:t>그림</a:t>
            </a:r>
            <a:r>
              <a:rPr lang="en-US" altLang="ko-KR" sz="1600" spc="-50" dirty="0"/>
              <a:t>)</a:t>
            </a:r>
          </a:p>
          <a:p>
            <a:pPr marL="379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그림의 오른쪽에는 세 번째 불평등 요인은 경제적 환경의 차이가 </a:t>
            </a:r>
            <a:r>
              <a:rPr lang="ko-KR" altLang="en-US" sz="1600" b="1" spc="-50" dirty="0"/>
              <a:t>증여와 상속</a:t>
            </a:r>
            <a:r>
              <a:rPr lang="ko-KR" altLang="en-US" sz="1600" spc="-50" dirty="0"/>
              <a:t>의 과정을 거쳐 </a:t>
            </a:r>
            <a:r>
              <a:rPr lang="ko-KR" altLang="en-US" sz="1600" b="1" spc="-50" dirty="0"/>
              <a:t>재산</a:t>
            </a:r>
            <a:r>
              <a:rPr lang="ko-KR" altLang="en-US" sz="1600" spc="-50" dirty="0"/>
              <a:t>상의 차이로 이어진다</a:t>
            </a:r>
            <a:r>
              <a:rPr lang="en-US" altLang="ko-KR" sz="1600" spc="-50" dirty="0"/>
              <a:t>.</a:t>
            </a:r>
          </a:p>
          <a:p>
            <a:pPr marL="8365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부모가 자신의 경제적 지위를 자식에게 물려주는 경우를 흔히 볼 수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부모가 자녀의 교육비를 부담하는 것도 증여행위의 일종이라고 볼 수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그렇다면 </a:t>
            </a:r>
            <a:r>
              <a:rPr lang="ko-KR" altLang="en-US" sz="1600" b="1" spc="-50" dirty="0"/>
              <a:t>경제적 환경</a:t>
            </a:r>
            <a:r>
              <a:rPr lang="ko-KR" altLang="en-US" sz="1600" spc="-50" dirty="0"/>
              <a:t>은 교육수준에도 어느정도 영향을 미친다고 할 수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44924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95037-1D80-C0B6-EB98-50F364362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75080F-CC1D-7EA4-7B92-D49648D39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개인적요인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50F100-AFC7-4C53-F05F-BEC4A5C0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03580C-1AF7-2007-C7E6-61A80042204A}"/>
              </a:ext>
            </a:extLst>
          </p:cNvPr>
          <p:cNvSpPr txBox="1"/>
          <p:nvPr/>
        </p:nvSpPr>
        <p:spPr>
          <a:xfrm>
            <a:off x="288790" y="958844"/>
            <a:ext cx="11250267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4975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1600" b="1" spc="-50" dirty="0"/>
              <a:t>경제적 지위의 격차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어떤 사람의 경제적 지위는 소득에 크게 영향을 받는데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소득은 </a:t>
            </a:r>
            <a:r>
              <a:rPr lang="ko-KR" altLang="en-US" sz="1600" b="1" spc="-50" dirty="0"/>
              <a:t>근로소득</a:t>
            </a:r>
            <a:r>
              <a:rPr lang="ko-KR" altLang="en-US" sz="1600" spc="-50" dirty="0"/>
              <a:t>과 </a:t>
            </a:r>
            <a:r>
              <a:rPr lang="ko-KR" altLang="en-US" sz="1600" b="1" spc="-50" dirty="0"/>
              <a:t>비근로소득</a:t>
            </a:r>
            <a:r>
              <a:rPr lang="ko-KR" altLang="en-US" sz="1600" spc="-50" dirty="0"/>
              <a:t>으로 나누어 생각할 수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또 경제적 지위가 소득의 크기에 의해서만 결정되지는 않고</a:t>
            </a:r>
            <a:r>
              <a:rPr lang="en-US" altLang="ko-KR" sz="1600" spc="-50" dirty="0"/>
              <a:t>, </a:t>
            </a:r>
            <a:r>
              <a:rPr lang="ko-KR" altLang="en-US" sz="1600" b="1" spc="-50" dirty="0"/>
              <a:t>직업적 지위</a:t>
            </a:r>
            <a:r>
              <a:rPr lang="ko-KR" altLang="en-US" sz="1600" spc="-50" dirty="0"/>
              <a:t>도 중요한 결정 요인이다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그림에서 볼 수 있듯이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직업적 지위와 근로소득의 결정에 직접적인 영향을 미치는 것이 바로 교육수준이다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전체적으로 그림에서 왼편에는 불평등의 발생경로가 </a:t>
            </a:r>
            <a:r>
              <a:rPr lang="ko-KR" altLang="en-US" sz="1600" spc="-50" dirty="0" err="1"/>
              <a:t>비물질적인</a:t>
            </a:r>
            <a:r>
              <a:rPr lang="ko-KR" altLang="en-US" sz="1600" spc="-50" dirty="0"/>
              <a:t> 경우를 나타내고</a:t>
            </a:r>
            <a:r>
              <a:rPr lang="en-US" altLang="ko-KR" sz="1600" spc="-50" dirty="0"/>
              <a:t>, (</a:t>
            </a:r>
            <a:r>
              <a:rPr lang="ko-KR" altLang="en-US" sz="1600" spc="-50" dirty="0"/>
              <a:t>인지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비인지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개인특성 등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오른편에는 불평등의 발생경로가 물질적 경로인 경우를 나타내고 있다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증여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상속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등</a:t>
            </a:r>
            <a:r>
              <a:rPr lang="en-US" altLang="ko-KR" sz="1600" spc="-50" dirty="0"/>
              <a:t>)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번외로 전체적인 과정에서 </a:t>
            </a:r>
            <a:r>
              <a:rPr lang="ko-KR" altLang="en-US" sz="1600" b="1" spc="-50" dirty="0"/>
              <a:t>우연성</a:t>
            </a:r>
            <a:r>
              <a:rPr lang="ko-KR" altLang="en-US" sz="1600" spc="-50" dirty="0"/>
              <a:t>이라는 것도 중요한 변수이다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좋은 가정에서 태어나 훌륭한 교육을 받은 사람도 </a:t>
            </a:r>
            <a:r>
              <a:rPr lang="ko-KR" altLang="en-US" sz="1600" spc="-50" dirty="0" err="1"/>
              <a:t>불으로</a:t>
            </a:r>
            <a:r>
              <a:rPr lang="ko-KR" altLang="en-US" sz="1600" spc="-50" dirty="0"/>
              <a:t> 인해 경제적 몰락을 경험할 수 있고</a:t>
            </a:r>
            <a:r>
              <a:rPr lang="en-US" altLang="ko-KR" sz="1600" spc="-50" dirty="0"/>
              <a:t>,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어려운 가정에서 태어났지만 어떤 우연으로 인해 부자가 되는 경우가 있을 수 있다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41335969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AB8CA-6636-C4FE-B606-8C3E56AFD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554886-72A3-90E3-AB59-A9369010E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사회적요인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91F950-743F-640F-9008-254DC7F04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D41EE3-64CA-EDE2-E141-AEBE9D0EB5B5}"/>
              </a:ext>
            </a:extLst>
          </p:cNvPr>
          <p:cNvSpPr txBox="1"/>
          <p:nvPr/>
        </p:nvSpPr>
        <p:spPr>
          <a:xfrm>
            <a:off x="288790" y="958844"/>
            <a:ext cx="1125026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경제적 지위의 불평등은 한 사람이 배경으로 하고 있는 사회적 상황에 의해서도 경제적 지위가 좌우될 가능성이 크다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사회적 요인은 </a:t>
            </a:r>
            <a:r>
              <a:rPr lang="ko-KR" altLang="en-US" sz="1600" b="1" spc="-50" dirty="0"/>
              <a:t>체제 내적인 것</a:t>
            </a:r>
            <a:r>
              <a:rPr lang="ko-KR" altLang="en-US" sz="1600" spc="-50" dirty="0"/>
              <a:t>과</a:t>
            </a:r>
            <a:r>
              <a:rPr lang="en-US" altLang="ko-KR" sz="1600" spc="-50" dirty="0"/>
              <a:t> </a:t>
            </a:r>
            <a:r>
              <a:rPr lang="ko-KR" altLang="en-US" sz="1600" b="1" spc="-50" dirty="0"/>
              <a:t>체제 그 자체</a:t>
            </a:r>
            <a:r>
              <a:rPr lang="ko-KR" altLang="en-US" sz="1600" spc="-50" dirty="0"/>
              <a:t>와 관련된 것으로 나누어 볼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b="1" spc="-50" dirty="0"/>
          </a:p>
          <a:p>
            <a:pPr marL="434975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spc="-50" dirty="0"/>
              <a:t>체제 내적 요인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경제체제 내부에서 정부 정책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제도 설계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시장 상황과 관련된 수많은 요인들이 있다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정부의 정책에 따라 </a:t>
            </a:r>
            <a:r>
              <a:rPr lang="ko-KR" altLang="en-US" sz="1600" spc="-50"/>
              <a:t>분배상태가 달라질 </a:t>
            </a:r>
            <a:r>
              <a:rPr lang="ko-KR" altLang="en-US" sz="1600" spc="-50" dirty="0"/>
              <a:t>수 있다</a:t>
            </a:r>
            <a:r>
              <a:rPr lang="en-US" altLang="ko-KR" sz="1600" spc="-50" dirty="0"/>
              <a:t>.</a:t>
            </a:r>
          </a:p>
          <a:p>
            <a:pPr marL="835200" lvl="1" indent="-2844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누진세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사회복지제도 등은 분배의 평등화를 가져오는데 기여한다</a:t>
            </a:r>
            <a:r>
              <a:rPr lang="en-US" altLang="ko-KR" sz="1600" spc="-50" dirty="0"/>
              <a:t>.</a:t>
            </a:r>
          </a:p>
          <a:p>
            <a:pPr marL="835200" lvl="1" indent="-2844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반면 인두세 같은 경우는 불평등을 </a:t>
            </a:r>
            <a:r>
              <a:rPr lang="ko-KR" altLang="en-US" sz="1600" spc="-50" dirty="0" err="1"/>
              <a:t>심화시키도</a:t>
            </a:r>
            <a:r>
              <a:rPr lang="ko-KR" altLang="en-US" sz="1600" spc="-50" dirty="0"/>
              <a:t> 한다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채택하는 경제정책의 기조에 따라 분배상태가 달라지기도 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우리나라는 지난 수십년 동안 채택해온 개발전략은 빠른 성장을 강조하고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분배에 관한 논의는 뒷전이었다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노동시장의 상황에 따라 분배상태가 달라지기도 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어떤 사람의 능력이 그 사회에서 인정받지 못한다면 경제적 지위는 떨어지게 된다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자원 간 상대가격구조 변화에 따라 분배상태가 달라지기도 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어떤 사람이 많이 소비하고 있는 물품의 가격이 오르면 그 사람의 실질소득은 어쩔 수 없이 떨어지게 된다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 외에도 차별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부정부패 등과 같은 사회적 여건도 분배상태에 영향을 준다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미국에서의 인종차별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우리나라에서의 인종차별 등을 대표적인 예로 들 수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4287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A74BF-21B4-E8BF-F7DD-B9558ADE3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367731-BB43-9DC9-F092-555AB1E6C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사회적요인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417EE4-B377-9713-02BD-F87DC5981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348D18-5F4C-40F2-C8A3-589F475565BC}"/>
              </a:ext>
            </a:extLst>
          </p:cNvPr>
          <p:cNvSpPr txBox="1"/>
          <p:nvPr/>
        </p:nvSpPr>
        <p:spPr>
          <a:xfrm>
            <a:off x="288790" y="958844"/>
            <a:ext cx="11250267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4975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600" b="1" spc="-50" dirty="0"/>
              <a:t>체제 자체의 성격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어떤 사회가 채택하고 있는 경제체제 그 자체의 성격이 분배 상태에 영향을 미칠 수 있다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835200" lvl="1" indent="-2844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대부분의 일을 시장기능에 맡기는 순수한 자본주의체제보다 정부가 일정한 역할을 맡고 있는 혼합경제체제에서의 분배상태가 보다 </a:t>
            </a:r>
            <a:r>
              <a:rPr lang="ko-KR" altLang="en-US" sz="1600" spc="-50" dirty="0" err="1"/>
              <a:t>평등화된</a:t>
            </a:r>
            <a:r>
              <a:rPr lang="ko-KR" altLang="en-US" sz="1600" spc="-50" dirty="0"/>
              <a:t> 양상일 것이라고 기대할 수 있다</a:t>
            </a:r>
            <a:r>
              <a:rPr lang="en-US" altLang="ko-KR" sz="1600" spc="-50" dirty="0"/>
              <a:t>.</a:t>
            </a:r>
          </a:p>
          <a:p>
            <a:pPr marL="835200" lvl="1" indent="-2844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오히려 정부의 개입이 분배상태를 도리어 더욱 불평등하게 만들 가능성도 분명히 있다</a:t>
            </a:r>
            <a:r>
              <a:rPr lang="en-US" altLang="ko-KR" sz="1600" spc="-50" dirty="0"/>
              <a:t>.</a:t>
            </a:r>
          </a:p>
          <a:p>
            <a:pPr marL="379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또한 이론에서 논의되는 이상적인 사회주의체제가 실현될 수 있다면 자본주의체제에 비해 더욱 </a:t>
            </a:r>
            <a:r>
              <a:rPr lang="ko-KR" altLang="en-US" sz="1600" spc="-50" dirty="0" err="1"/>
              <a:t>평등화된</a:t>
            </a:r>
            <a:r>
              <a:rPr lang="ko-KR" altLang="en-US" sz="1600" spc="-50" dirty="0"/>
              <a:t> 분배상태를 달성할지도 모른다</a:t>
            </a:r>
            <a:r>
              <a:rPr lang="en-US" altLang="ko-KR" sz="1600" spc="-50" dirty="0"/>
              <a:t>.</a:t>
            </a:r>
          </a:p>
          <a:p>
            <a:pPr marL="8365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경험적으로 옛 소련과 동유럽에서 시험된 바 있는 사회주의체제가 몰락할 수 밖에 없었던 중요한 이유 중 하나가 불공평한 분배였다는 점을 생각하면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이론에서 보이는 사회주의가 실현될 수 있을지 회의를 가질 수 밖에 없다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17672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1192E-E4B6-54D2-F5D6-45F511CC8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5BB58B-887A-064D-ADD0-A6822216B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불평등 요인의 제거 가능성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EA2F8A-FE20-C5C9-001A-14102EFD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041AEC-A650-DCCA-8430-26240C1D7844}"/>
              </a:ext>
            </a:extLst>
          </p:cNvPr>
          <p:cNvSpPr txBox="1"/>
          <p:nvPr/>
        </p:nvSpPr>
        <p:spPr>
          <a:xfrm>
            <a:off x="288790" y="958844"/>
            <a:ext cx="11250267" cy="567700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2075"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개인적 차원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지금까지 </a:t>
            </a:r>
            <a:r>
              <a:rPr lang="ko-KR" altLang="en-US" sz="1600" spc="-50" dirty="0" err="1"/>
              <a:t>살펴본대로</a:t>
            </a:r>
            <a:r>
              <a:rPr lang="ko-KR" altLang="en-US" sz="1600" spc="-50" dirty="0"/>
              <a:t> 불평등을 일으키는 원인은 가정이라는 울타리 안에서 돋아난다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중 특히 유전적 요인은 주어지는 것으로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유전적 격차는 제거하기 힘든 요인이다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교육적 환경의 격차는 유전적 요인 대비 격차를 줄이기 쉬울지 몰라도 이것 역시 쉬운 일이 아니다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아기가 태어나자마자 부모로부터 격리해 나라에서 맡아 기르기 전까지는 교육적 환경의 격차를 제거할 수 없다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인지적 능력과 비인지적 능력의 차이나 개인적 특성의 차이 역시 일단 발생한 것을 제거하기 힘들기는 마찬가지다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정부에서 아무리 교육에 힘써도 모든 청소년들을 성실한 태도로 만들 수 없고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지능지수를 </a:t>
            </a:r>
            <a:r>
              <a:rPr lang="ko-KR" altLang="en-US" sz="1600" spc="-50" dirty="0" err="1"/>
              <a:t>균등화할</a:t>
            </a:r>
            <a:r>
              <a:rPr lang="ko-KR" altLang="en-US" sz="1600" spc="-50" dirty="0"/>
              <a:t> 수 없다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능력이나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개인적 특성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교육수준은 평준화가 불가능할 뿐 아니라 바람직하지 않다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따라서 개인적 차원에서 비물질적 경로를 통해 발생하는 불평등은 그대로 놓아둘 수 밖에 없다는 결론에 이른다</a:t>
            </a:r>
            <a:r>
              <a:rPr lang="en-US" altLang="ko-KR" sz="1600" spc="-50" dirty="0"/>
              <a:t>.</a:t>
            </a:r>
          </a:p>
          <a:p>
            <a:pPr marL="92075"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사회적 차원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사회적 차원에서 발생하는 불평등 요인의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제거 가능한 것이 대부분이다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 전체가 노력함으로써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제도나 정책에 의해 생기는 불평등 요인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차별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부정부패 등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제거해 나갈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평등한 사회를 건설하고자 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현재 분배상태가 언제든 바뀔 수 있다고 인식하고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모든 것이 개인의 책임이 아니라는 인식이 필요하다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594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13705</TotalTime>
  <Words>2984</Words>
  <Application>Microsoft Office PowerPoint</Application>
  <PresentationFormat>와이드스크린</PresentationFormat>
  <Paragraphs>251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2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재 정 학</vt:lpstr>
      <vt:lpstr>Chapter 8  소득분배이론</vt:lpstr>
      <vt:lpstr>Section 1. 분배의 정의</vt:lpstr>
      <vt:lpstr>분배의 정의</vt:lpstr>
      <vt:lpstr>평등주의적 정의관</vt:lpstr>
      <vt:lpstr>자유론적 정의관</vt:lpstr>
      <vt:lpstr>공리주의적 정의관</vt:lpstr>
      <vt:lpstr>롤즈의 최소극대화원칙</vt:lpstr>
      <vt:lpstr>Section 2. 공리주의적 최적분배이론</vt:lpstr>
      <vt:lpstr>공리주의적 최적분배이론</vt:lpstr>
      <vt:lpstr>공리주의적 최적분배이론</vt:lpstr>
      <vt:lpstr>Section 3. 불평등도지수</vt:lpstr>
      <vt:lpstr>불평등도지수</vt:lpstr>
      <vt:lpstr>불평등도지수</vt:lpstr>
      <vt:lpstr>지니계수</vt:lpstr>
      <vt:lpstr>지니계수</vt:lpstr>
      <vt:lpstr>5분위 배율</vt:lpstr>
      <vt:lpstr>Section 4. 불평등 발생의 원인</vt:lpstr>
      <vt:lpstr>개인적요인</vt:lpstr>
      <vt:lpstr>개인적요인</vt:lpstr>
      <vt:lpstr>개인적요인</vt:lpstr>
      <vt:lpstr>사회적요인</vt:lpstr>
      <vt:lpstr>사회적요인</vt:lpstr>
      <vt:lpstr>불평등 요인의 제거 가능성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482</cp:revision>
  <dcterms:created xsi:type="dcterms:W3CDTF">2025-07-05T05:15:23Z</dcterms:created>
  <dcterms:modified xsi:type="dcterms:W3CDTF">2026-05-13T08:29:36Z</dcterms:modified>
</cp:coreProperties>
</file>