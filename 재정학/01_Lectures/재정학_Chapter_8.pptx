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375" r:id="rId2"/>
    <p:sldId id="405" r:id="rId3"/>
    <p:sldId id="550" r:id="rId4"/>
    <p:sldId id="552" r:id="rId5"/>
    <p:sldId id="722" r:id="rId6"/>
    <p:sldId id="723" r:id="rId7"/>
    <p:sldId id="724" r:id="rId8"/>
    <p:sldId id="725" r:id="rId9"/>
    <p:sldId id="719" r:id="rId10"/>
    <p:sldId id="726" r:id="rId11"/>
    <p:sldId id="727" r:id="rId12"/>
    <p:sldId id="720" r:id="rId13"/>
    <p:sldId id="728" r:id="rId14"/>
    <p:sldId id="729" r:id="rId15"/>
    <p:sldId id="730" r:id="rId16"/>
    <p:sldId id="731" r:id="rId17"/>
    <p:sldId id="732" r:id="rId18"/>
    <p:sldId id="733" r:id="rId19"/>
    <p:sldId id="740" r:id="rId20"/>
    <p:sldId id="721" r:id="rId21"/>
    <p:sldId id="734" r:id="rId22"/>
    <p:sldId id="735" r:id="rId23"/>
    <p:sldId id="736" r:id="rId24"/>
    <p:sldId id="737" r:id="rId25"/>
    <p:sldId id="738" r:id="rId26"/>
    <p:sldId id="739" r:id="rId27"/>
    <p:sldId id="364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- 8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소득분배이론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분배의 정의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분배의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오래전부터 철학자들은 바람직한 분배</a:t>
            </a:r>
            <a:r>
              <a:rPr lang="en-US" altLang="ko-KR" sz="1600" spc="-50" dirty="0"/>
              <a:t>(distribution)</a:t>
            </a:r>
            <a:r>
              <a:rPr lang="ko-KR" altLang="en-US" sz="1600" spc="-50" dirty="0"/>
              <a:t>의 문제를 정의</a:t>
            </a:r>
            <a:r>
              <a:rPr lang="en-US" altLang="ko-KR" sz="1600" spc="-50" dirty="0"/>
              <a:t>(justice) </a:t>
            </a:r>
            <a:r>
              <a:rPr lang="ko-KR" altLang="en-US" sz="1600" spc="-50" dirty="0"/>
              <a:t>개념과 결부시켜 생각했다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분배와 관련된 정의</a:t>
            </a:r>
            <a:r>
              <a:rPr lang="en-US" altLang="ko-KR" sz="1600" spc="-50" dirty="0"/>
              <a:t>(justice)</a:t>
            </a:r>
            <a:r>
              <a:rPr lang="ko-KR" altLang="en-US" sz="1600" spc="-50" dirty="0"/>
              <a:t>의 본질이 무엇인지에 대한 물음이 도덕철학 혹은 윤리학의 일부로 논의 </a:t>
            </a:r>
            <a:r>
              <a:rPr lang="ko-KR" altLang="en-US" sz="1600" spc="-50" dirty="0" err="1"/>
              <a:t>한것이다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정의 </a:t>
            </a:r>
            <a:r>
              <a:rPr lang="en-US" altLang="ko-KR" sz="1600" spc="-50" dirty="0"/>
              <a:t>(distributive justice)</a:t>
            </a:r>
            <a:r>
              <a:rPr lang="ko-KR" altLang="en-US" sz="1600" spc="-50" dirty="0"/>
              <a:t>에 관한 최초 본격적 논의는 아리스토텔레스의 </a:t>
            </a:r>
            <a:r>
              <a:rPr lang="en-US" altLang="ko-KR" sz="1600" spc="-50" dirty="0"/>
              <a:t>『</a:t>
            </a:r>
            <a:r>
              <a:rPr lang="ko-KR" altLang="en-US" sz="1600" spc="-50" dirty="0" err="1"/>
              <a:t>니코마스</a:t>
            </a:r>
            <a:r>
              <a:rPr lang="ko-KR" altLang="en-US" sz="1600" spc="-50" dirty="0"/>
              <a:t> 윤리학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책에서는 각자가 가진 가치에 비례하는 분배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각자가 사회에 기여하는 양에 따라 비례하여 분배하는 것이 정의로운 분배라는 견해를 밝히고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 개념은 넓게 혹은 좁게 해석할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보면 사회적으로 의미 있는 모든 편익과 부담이 사회 구성원 사이에서 분배되는 것과 관련된 정의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좁은 의미에서 보면 경제적인 것에 한하여 편익과 부담의 분배와 관련된 정의 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재정학 수업에서는 주로 물질의 분배와 관련되므로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좁은 의미에서의 분배의 정의를 논의하고자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정의에 어떤 구체적 내용이 들어가야 하는지 각자 생각은 다를 수 있지만 적어도 아래 네 가지 기본요소를 포함하는 복합적인 개념이라는 것은 대부분의 철학자들이 인식을 같이한다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평등성</a:t>
            </a:r>
            <a:r>
              <a:rPr lang="en-US" altLang="ko-KR" sz="1600" spc="-50" dirty="0"/>
              <a:t>(equality), </a:t>
            </a:r>
            <a:r>
              <a:rPr lang="ko-KR" altLang="en-US" sz="1600" spc="-50" dirty="0"/>
              <a:t>정당한 권리</a:t>
            </a:r>
            <a:r>
              <a:rPr lang="en-US" altLang="ko-KR" sz="1600" spc="-50" dirty="0"/>
              <a:t>(rights), </a:t>
            </a:r>
            <a:r>
              <a:rPr lang="ko-KR" altLang="en-US" sz="1600" spc="-50" dirty="0"/>
              <a:t>공정성</a:t>
            </a:r>
            <a:r>
              <a:rPr lang="en-US" altLang="ko-KR" sz="1600" spc="-50" dirty="0"/>
              <a:t>(fairness), </a:t>
            </a:r>
            <a:r>
              <a:rPr lang="ko-KR" altLang="en-US" sz="1600" spc="-50" dirty="0"/>
              <a:t>받을 만한 자격</a:t>
            </a:r>
            <a:r>
              <a:rPr lang="en-US" altLang="ko-KR" sz="1600" spc="-50" dirty="0"/>
              <a:t>(deserts)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이를 토대로 정의로운 분배는 모든 사람이 물질적 가치</a:t>
            </a:r>
            <a:r>
              <a:rPr lang="en-US" altLang="ko-KR" sz="1600" spc="-100" dirty="0"/>
              <a:t> (</a:t>
            </a:r>
            <a:r>
              <a:rPr lang="ko-KR" altLang="en-US" sz="1600" spc="-100" dirty="0"/>
              <a:t>재산과 소득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고루 나눠 가진 상태를 뜻한다는 결론을 도출한다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것이 아니라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2297-4B80-D577-A759-EE9E2232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E12C-4297-D051-C1B2-AA73EF12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14CA6-9B52-CFD5-78BD-16E5E6A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F17D4-9093-D36F-A268-C6EA6A55EC8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공리주의적 정의관에서 바람직한 </a:t>
            </a:r>
            <a:r>
              <a:rPr lang="ko-KR" altLang="en-US" sz="1600" spc="-50" dirty="0" err="1"/>
              <a:t>분배란</a:t>
            </a:r>
            <a:r>
              <a:rPr lang="ko-KR" altLang="en-US" sz="1600" spc="-50" dirty="0"/>
              <a:t> 그 사회의 총체적 후생을 극대화할 수 있는 분배여야 한다는 것이 핵심이다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벤담</a:t>
            </a:r>
            <a:r>
              <a:rPr lang="en-US" altLang="ko-KR" sz="1600" spc="-50" dirty="0"/>
              <a:t>(J. Bentham)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최대다수의 최대행복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이라는 말에 잘 나타나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최대다수의 최대행복을 가져오는 분배상태란 구체적으로 어떤 상태인지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물질적 가치가 모든 사람에게 고루 나누어진 상태 혹은 소수가 독점하고 있는 상태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중 한마디로 답하기는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공리주의적인</a:t>
            </a:r>
            <a:r>
              <a:rPr lang="ko-KR" altLang="en-US" sz="1600" spc="-50" dirty="0"/>
              <a:t> 정의의 원칙이 적용되는 상황에 따라 다르기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일반적으로 공리주의적 정의관을 가진 사람들은 평등한 분배에 호의적인 태도를 갖고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ko-KR" altLang="en-US" sz="1600" spc="-50" dirty="0" err="1"/>
              <a:t>벤담이</a:t>
            </a:r>
            <a:r>
              <a:rPr lang="ko-KR" altLang="en-US" sz="1600" spc="-50" dirty="0"/>
              <a:t> 사회의 행복 총합을 계산할 때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한 몫으로서 포함되어야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어느 누구도 한 몫 이상으로 셈하면 안된다</a:t>
            </a:r>
            <a:r>
              <a:rPr lang="en-US" altLang="ko-KR" sz="1600" spc="-50" dirty="0"/>
              <a:t>.’ </a:t>
            </a:r>
            <a:r>
              <a:rPr lang="ko-KR" altLang="en-US" sz="1600" spc="-50" dirty="0"/>
              <a:t>라고 말 한 것이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공리주의적 정의관은 불균등한 분배 상태를 정당화시킬 때도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소득을 얻고 있으면서도 소득의 한계효용이 떨어지지 않는 사람이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공리주의적 원칙은 이 사람에게 더욱더 많은 소득을 분배해 주도록 요구하는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공리주의의 가장 큰 문제는 실천과정에서 개인의 권리가 침해될 수 있다는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사람이 다른 사람에게 부를 이전시켜 사회후생이 증가할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정당한 권리가 침해된다면 큰 문제가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공리주의는 개인간의 효용비교를 전제로 하기 때문에 비판의 대상이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적지 않은 문제에도 불구하고 사회 후생을 증가시킨다는 점에서 실용성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현실성을 갖추고 있어 호소력이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0124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FD1C-81BE-A33F-23C2-F4CB233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FE5D6-BF1F-ED1A-7F84-AB55B87D5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롤즈의</a:t>
            </a:r>
            <a:r>
              <a:rPr lang="ko-KR" altLang="en-US" dirty="0"/>
              <a:t> 최소극대화원칙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8F09F0-EEE5-C21F-E865-07405E78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1440F7-7E14-DC15-BFDC-1F4DAEA8D9F2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철학계에서 분배의 정의 이론의 거봉으로 인정받는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Rawls, 1971)</a:t>
            </a:r>
            <a:r>
              <a:rPr lang="ko-KR" altLang="en-US" sz="1600" spc="-50" dirty="0"/>
              <a:t>의 정의관은 평등주의의 변형이다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자유주의자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평등주의자로 볼 것인지 논란이 일기도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샌델</a:t>
            </a:r>
            <a:r>
              <a:rPr lang="en-US" altLang="ko-KR" sz="1600" spc="-50" dirty="0"/>
              <a:t>(M. Sandel, 2009)</a:t>
            </a:r>
            <a:r>
              <a:rPr lang="ko-KR" altLang="en-US" sz="1600" spc="-50" dirty="0"/>
              <a:t>은 </a:t>
            </a: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평등주의적 자유주의자라고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정의관은 원초적 상황이라는 가상적 상황으로부터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상태는 아무런 사회질서가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무지의 장막에 가려 어떻게 될지 모르는 상태라고 설명한다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 속에서 사람들은 사회질서의 선택과정에서 공정하고 편파적이지 않은 기준을 선택하게 된다는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원초적 상황에서 사람들이 선택할 것이라 기대할 수 있는 정의의 원칙으로 다음 두 가지를 제시한다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다른 사람들의 자유와 양립가능한 선에서 가장 광범위한 자유에 대한 동등한 권리를 가져야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사회적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불평등은 다음의 두 조건을 모두 충족할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정당성을 인정받는다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차등의 원칙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불평등성이 모든 사람에게 이득이 되는 것을 기대할 수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기회가 개방된 직위 및 직책과 </a:t>
            </a:r>
            <a:r>
              <a:rPr lang="ko-KR" altLang="en-US" sz="1600" spc="-50" dirty="0" err="1"/>
              <a:t>결부되어서만</a:t>
            </a:r>
            <a:r>
              <a:rPr lang="ko-KR" altLang="en-US" sz="1600" spc="-50" dirty="0"/>
              <a:t> 불평등성이 존재해야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정의관에서 평등주의적 개념이 선명히 드러나 있는 것은 두 번째 원칙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차등의 원칙이다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차등의 원칙을 통해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최소극대화의 원칙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도출할 수 있다고 설명하는데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사회의 가장 못사는 사람에게 가장 큰 이득이 돌아가도록 사회의 기본구조를 짜야 한다는 내용을 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</a:t>
            </a:r>
            <a:r>
              <a:rPr lang="ko-KR" altLang="en-US" sz="1600" spc="-50" dirty="0"/>
              <a:t> 정의관의 가장 큰 문제는 현실에 존재하지 않는 원초적 상황으로부터 정의의 원칙을 끌어냈다는 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9714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4CB75-DD25-9C04-EE78-CF9B81DBB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1D42FE-EF94-9C9B-BD7D-2519415EF9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6FABE-9767-4650-A5B2-96E770A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729DCDE-771C-64D9-24FB-2A2E3D69A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공리주의적 최적분배이론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5955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E9A9B-82F9-C0D9-D06A-30B6EC0C7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5B396-CC66-E23A-A063-A17427B5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1CBAAB-D0D5-6EB2-A620-861EA6C5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07EAC-5BFF-F83A-AE95-1D18CB0311ED}"/>
              </a:ext>
            </a:extLst>
          </p:cNvPr>
          <p:cNvSpPr txBox="1"/>
          <p:nvPr/>
        </p:nvSpPr>
        <p:spPr>
          <a:xfrm>
            <a:off x="288790" y="958844"/>
            <a:ext cx="11250267" cy="37841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정해진 크기의 총소득이 주어져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사회 구성원간 분배를 할 때 어떤 것이 바람직할지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공리주의적 사고에 기초한다면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후생이 극대화되는 분배 상태가 논의의 답이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에지워스의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최적분배이론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문제에 대해서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에지워스</a:t>
            </a:r>
            <a:r>
              <a:rPr lang="en-US" altLang="ko-KR" sz="1600" spc="-50" dirty="0"/>
              <a:t>(F. Edgeworth)</a:t>
            </a:r>
            <a:r>
              <a:rPr lang="ko-KR" altLang="en-US" sz="1600" spc="-50" dirty="0"/>
              <a:t>는 아래와 같은 가정을 통해 모든 사람에게 완전히 균등한 소득을 나눠 주는 것이 가장 바람직한 분배라는 결론을 도출했다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사회후생은 개인들의 효용을 합친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효용함수를 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효용은 오직 소득수준에 의해서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증가함에 따라 소득의 한계효용은 작아진다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87051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7E242-F278-94FC-A1E8-9C49A1CD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CE2DAF-47FD-25E9-C075-9AD83BC01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6C41D-F7C2-ADAD-53D7-45D747F2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에지워스가</a:t>
                </a:r>
                <a:r>
                  <a:rPr lang="ko-KR" altLang="en-US" sz="1600" spc="-50" dirty="0"/>
                  <a:t> 도출한 결론을 살펴보자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0" spc="-50" dirty="0"/>
                  <a:t>그림에서 수평</a:t>
                </a:r>
                <a:r>
                  <a:rPr lang="ko-KR" altLang="en-US" sz="1600" spc="-50" dirty="0"/>
                  <a:t>거리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는 주어진 크기의 총소득을 나타낸다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소득은 김씨와 박씨 두 사람 간에 분배되는데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김씨의 소득은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ko-KR" altLang="en-US" sz="1600" spc="-50" dirty="0"/>
                  <a:t>를 원점으로 하여 오른쪽으로 가면서 더 커지도록 하는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박씨의 소득은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을 원점으로 하여 왼쪽으로 가면서 더 커지게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만큼의 소득을 김씨에게 주고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소득을 박씨에게 주는 분배 상황에서 출발하기로 하자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만약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만큼의 소득을 박씨에게서 떼어내 김씨에게 주면 김씨의 효용증가는 사다리꼴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𝐺𝐴𝐵𝐽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4E68B51-46FF-46F5-AFCF-E9DFD69B80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8" t="13165" r="23172" b="7440"/>
          <a:stretch>
            <a:fillRect/>
          </a:stretch>
        </p:blipFill>
        <p:spPr>
          <a:xfrm>
            <a:off x="8584909" y="3460459"/>
            <a:ext cx="3397541" cy="30332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/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때 박씨의 효용감소는 </a:t>
                </a:r>
                <a:r>
                  <a:rPr lang="ko-KR" altLang="en-US" sz="1600" dirty="0"/>
                  <a:t>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𝐻𝐴𝐵𝐼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따라서 총소득을 재분배하면 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𝐺𝐻𝐼𝐽</m:t>
                    </m:r>
                  </m:oMath>
                </a14:m>
                <a:r>
                  <a:rPr lang="en-US" altLang="ko-KR" sz="1600" spc="-60" dirty="0"/>
                  <a:t> </a:t>
                </a:r>
                <a:r>
                  <a:rPr lang="ko-KR" altLang="en-US" sz="1600" spc="-60" dirty="0"/>
                  <a:t>면적만큼 사회후생이 더 커진다</a:t>
                </a:r>
                <a:r>
                  <a:rPr lang="en-US" altLang="ko-KR" sz="1600" spc="-6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논리를 계속 </a:t>
                </a:r>
                <a:r>
                  <a:rPr lang="ko-KR" altLang="en-US" sz="1600" spc="-60" dirty="0" err="1"/>
                  <a:t>적용하다보면</a:t>
                </a:r>
                <a:r>
                  <a:rPr lang="ko-KR" altLang="en-US" sz="1600" spc="-60" dirty="0"/>
                  <a:t> 완전히 균등한 분배 </a:t>
                </a:r>
                <a:r>
                  <a:rPr lang="en-US" altLang="ko-KR" sz="1600" spc="-6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60" dirty="0"/>
                  <a:t>)</a:t>
                </a:r>
                <a:r>
                  <a:rPr lang="ko-KR" altLang="en-US" sz="1600" spc="-60" dirty="0"/>
                  <a:t>가</a:t>
                </a:r>
                <a:r>
                  <a:rPr lang="en-US" altLang="ko-KR" sz="1600" spc="-60" dirty="0"/>
                  <a:t> </a:t>
                </a:r>
                <a:r>
                  <a:rPr lang="ko-KR" altLang="en-US" sz="1600" spc="-60" dirty="0" err="1"/>
                  <a:t>됬을때</a:t>
                </a:r>
                <a:r>
                  <a:rPr lang="ko-KR" altLang="en-US" sz="1600" spc="-60" dirty="0"/>
                  <a:t> 비로소 사회후생이 극대화된다고 말할 수 있다</a:t>
                </a:r>
                <a:r>
                  <a:rPr lang="en-US" altLang="ko-KR" sz="1600" spc="-6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60" dirty="0"/>
                  <a:t>이와 같은 결론은 가정에 큰 문제를 삼을 수 있다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사람마다 효용함수가 다를 가능성이 크다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소득의 한계효용은 상품의 한계효용과 달리 체감한다고 보장하기 어렵다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보통 분배상태가 변하면 총소득의 크기도 달라지는 것이 보통이다</a:t>
                </a:r>
                <a:r>
                  <a:rPr lang="en-US" altLang="ko-KR" sz="1600" spc="-6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blipFill>
                <a:blip r:embed="rId4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ACD2A4A-47A2-6753-44EE-1BB90667DF9E}"/>
              </a:ext>
            </a:extLst>
          </p:cNvPr>
          <p:cNvSpPr txBox="1"/>
          <p:nvPr/>
        </p:nvSpPr>
        <p:spPr>
          <a:xfrm>
            <a:off x="9389028" y="3568554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에지워스의</a:t>
            </a:r>
            <a:r>
              <a:rPr lang="ko-KR" altLang="en-US" sz="1200" spc="-50" dirty="0"/>
              <a:t> 최적분배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2749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8BB0-1339-9BBC-6871-1DA32D2B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EE3F5-8FF1-21A8-B566-A244B706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D35CF-2380-EB91-F154-151A6D68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CA047BE-1A26-153C-9944-7F864142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불평등도지수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1926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E998-B028-AEE5-C486-6038B6FF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41EDE-F095-7E51-3B09-8200F58B7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E0143A-D35B-63C0-E560-44398C92F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분배의 상태를 정량적으로 평가하기 위해 여러 가지 불평등도지수가 개발되었다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u="sng" dirty="0" err="1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로렌츠곡선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한 사회의 구성원을 소득이 가장 낮은 사람으로부터 높아지는 순서대로 배열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하위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에 속하는 사람들이 전체 소득 중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를 차지하고 있는지를 나타내는 점들을 모아 놓은 곡선을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예를 들면 점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spc="-50" dirty="0"/>
                  <a:t>는 이 곡선이 대표하고 있는 사회의 하위소득자 </a:t>
                </a:r>
                <a:r>
                  <a:rPr lang="en-US" altLang="ko-KR" sz="1600" spc="-50" dirty="0"/>
                  <a:t>30%</a:t>
                </a:r>
                <a:r>
                  <a:rPr lang="ko-KR" altLang="en-US" sz="1600" spc="-50" dirty="0"/>
                  <a:t>가 사회 전체 소득의 </a:t>
                </a:r>
                <a:r>
                  <a:rPr lang="en-US" altLang="ko-KR" sz="1600" spc="-50" dirty="0"/>
                  <a:t>12%</a:t>
                </a:r>
                <a:r>
                  <a:rPr lang="ko-KR" altLang="en-US" sz="1600" spc="-50" dirty="0"/>
                  <a:t>를 차지하고 있다는 사실을 나타내고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blipFill>
                <a:blip r:embed="rId2"/>
                <a:stretch>
                  <a:fillRect l="-433" r="-163" b="-20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FC4E7C7-37E1-C639-4378-30294F373B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8753911" y="3678568"/>
            <a:ext cx="3133289" cy="2894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61D1AE-12F4-0395-26A0-1573CC44FCDB}"/>
              </a:ext>
            </a:extLst>
          </p:cNvPr>
          <p:cNvSpPr txBox="1"/>
          <p:nvPr/>
        </p:nvSpPr>
        <p:spPr>
          <a:xfrm>
            <a:off x="9552613" y="3525470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/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로렌츠 곡선이 대각선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와 일치한다면 완전히 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로렌츠 곡선이 푸른색 점선으로 표시된 것처럼 수평축으로 가다가 갑자기 </a:t>
                </a:r>
                <a:r>
                  <a:rPr lang="en-US" altLang="ko-KR" sz="1600" spc="-50" dirty="0"/>
                  <a:t>100%</a:t>
                </a:r>
                <a:r>
                  <a:rPr lang="ko-KR" altLang="en-US" sz="1600" spc="-50" dirty="0"/>
                  <a:t>에 이르는 순간 수직선으로 가면 가장 불평등한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사실 지금 여기서는 균등한 분배가 평등한 분배라는 전제하에서 논의를 진행시키지만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엄밀하게 말하면 균등과 평등의 개념은 같을 수 없다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blipFill>
                <a:blip r:embed="rId4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6233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7671-BAF8-8177-6990-CAD2EFDB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97141-DDC3-9C9C-11B2-207F768C2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C1ED61-3A31-45AD-11D3-663179D93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아래의 그림에서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사회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대표하는 로렌츠 곡선 도출했다고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의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로렌츠곡선보다</a:t>
                </a:r>
                <a:r>
                  <a:rPr lang="ko-KR" altLang="en-US" sz="1600" spc="-50" dirty="0"/>
                  <a:t> 모든 구간에서 위쪽에 위치하고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경우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의 분배상태가 더 평등하다고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주의할 점은 이런 평가가 </a:t>
                </a:r>
                <a:r>
                  <a:rPr lang="ko-KR" altLang="en-US" sz="1600" spc="-50" dirty="0" err="1"/>
                  <a:t>서수적</a:t>
                </a:r>
                <a:r>
                  <a:rPr lang="en-US" altLang="ko-KR" sz="1600" spc="-50" dirty="0"/>
                  <a:t>(ordinal)</a:t>
                </a:r>
                <a:r>
                  <a:rPr lang="ko-KR" altLang="en-US" sz="1600" spc="-50" dirty="0"/>
                  <a:t>인 성격을 갖고 있어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상대적 비교만 할 수 있을 뿐이며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어느 정도로 평등한지는 말할 수 없다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또한 두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교차하면 아무런 판단도 내릴 수 없다는 것 역시 잊어서는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blipFill>
                <a:blip r:embed="rId2"/>
                <a:stretch>
                  <a:fillRect b="-24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56D35C-9ABA-E56B-DFA4-257A3C006706}"/>
              </a:ext>
            </a:extLst>
          </p:cNvPr>
          <p:cNvSpPr txBox="1"/>
          <p:nvPr/>
        </p:nvSpPr>
        <p:spPr>
          <a:xfrm>
            <a:off x="9489695" y="3422567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곡선의</a:t>
            </a:r>
            <a:r>
              <a:rPr lang="en-US" altLang="ko-KR" sz="1200" spc="-50" dirty="0"/>
              <a:t> </a:t>
            </a:r>
            <a:r>
              <a:rPr lang="ko-KR" altLang="en-US" sz="1200" spc="-50" dirty="0"/>
              <a:t>비교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3E30E0-2223-810E-1274-5782E20BC9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5" t="12058" r="22914" b="7396"/>
          <a:stretch>
            <a:fillRect/>
          </a:stretch>
        </p:blipFill>
        <p:spPr>
          <a:xfrm>
            <a:off x="8724550" y="3625927"/>
            <a:ext cx="3132000" cy="2856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6F0CE5-7C8A-B02B-26F1-4E6B390C9CBA}"/>
              </a:ext>
            </a:extLst>
          </p:cNvPr>
          <p:cNvSpPr txBox="1"/>
          <p:nvPr/>
        </p:nvSpPr>
        <p:spPr>
          <a:xfrm>
            <a:off x="288790" y="3257440"/>
            <a:ext cx="826797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로렌츠곡선의</a:t>
            </a:r>
            <a:r>
              <a:rPr lang="ko-KR" altLang="en-US" sz="1600" spc="-50" dirty="0"/>
              <a:t> 상대적 위치를 보고 불평등도를 평가하는 것은 주관적 가치판단을 최소한으로 하여 높은 객관성을 유지할 수 있다는 장점을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상황에서는 </a:t>
            </a:r>
            <a:r>
              <a:rPr lang="ko-KR" altLang="en-US" sz="1600" spc="-50" dirty="0" err="1"/>
              <a:t>로렌츠곡선들이</a:t>
            </a:r>
            <a:r>
              <a:rPr lang="ko-KR" altLang="en-US" sz="1600" spc="-50" dirty="0"/>
              <a:t> 서로 교차하여 명백한 판단을 내릴 수 없는 경우를 많이 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이유로 </a:t>
            </a:r>
            <a:r>
              <a:rPr lang="ko-KR" altLang="en-US" sz="1600" spc="-50" dirty="0" err="1"/>
              <a:t>기수적</a:t>
            </a:r>
            <a:r>
              <a:rPr lang="en-US" altLang="ko-KR" sz="1600" spc="-50" dirty="0"/>
              <a:t>(cardinal)</a:t>
            </a:r>
            <a:r>
              <a:rPr lang="ko-KR" altLang="en-US" sz="1600" spc="-50" dirty="0"/>
              <a:t>평가 방법을 쓰는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평가방법은 불평등 정도를 구체적인 수치로 나타낸다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723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A9456-DF89-2F17-5FEE-07D710257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FFCDA-8170-053D-04E5-AB3592511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387EC-853B-EDF1-2FA9-237E01FA7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08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지니계수는 우리가 흔히 사용하는 </a:t>
                </a:r>
                <a:r>
                  <a:rPr lang="ko-KR" altLang="en-US" sz="1600" spc="-50" dirty="0" err="1"/>
                  <a:t>불평등도지수</a:t>
                </a:r>
                <a:r>
                  <a:rPr lang="ko-KR" altLang="en-US" sz="1600" spc="-50" dirty="0"/>
                  <a:t> 중 하나로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구하는 방법은 두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첫번째 방법은 </a:t>
                </a:r>
                <a:r>
                  <a:rPr lang="ko-KR" altLang="en-US" sz="1600" spc="-50" dirty="0" err="1"/>
                  <a:t>로렌츠곡선을</a:t>
                </a:r>
                <a:r>
                  <a:rPr lang="ko-KR" altLang="en-US" sz="1600" spc="-50" dirty="0"/>
                  <a:t> 활용하는 방법이다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오른쪽 그림에서 초승달 모양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노란색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아래쪽 삼각형의 나머지 구역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연두색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</a:t>
                </a:r>
                <a:r>
                  <a:rPr lang="ko-KR" altLang="en-US" sz="1600" spc="-50" dirty="0" err="1"/>
                  <a:t>할때</a:t>
                </a:r>
                <a:r>
                  <a:rPr lang="en-US" altLang="ko-KR" sz="1600" spc="-50" dirty="0"/>
                  <a:t>,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𝜃</m:t>
                        </m:r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완전 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가장 불평등한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두번째 방법은 아래의 산식을 통해 구해지는 인구의 평균적인 소득격차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개념을 활용한다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spc="-50" dirty="0"/>
                  <a:t>번째 사람의 소득을 나타내고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은 전체 인구를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사람들을 순서를 따지면서 둘씩 </a:t>
                </a:r>
                <a:r>
                  <a:rPr lang="ko-KR" altLang="en-US" sz="1600" spc="-50" dirty="0" err="1"/>
                  <a:t>짝지운다고</a:t>
                </a:r>
                <a:r>
                  <a:rPr lang="ko-KR" altLang="en-US" sz="1600" spc="-50" dirty="0"/>
                  <a:t>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개의 짝을 얻게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sz="1600" spc="-50" dirty="0"/>
                  <a:t>는 임의의 두 사람 사이에 존재하는 소득격차를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이를 모두 더해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나누면 평균적인 소득격차를 얻게 된다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08688"/>
              </a:xfrm>
              <a:prstGeom prst="rect">
                <a:avLst/>
              </a:prstGeom>
              <a:blipFill>
                <a:blip r:embed="rId2"/>
                <a:stretch>
                  <a:fillRect b="-4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68F2831-0F46-983B-2D48-92E8CA2C0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9605393" y="2270707"/>
            <a:ext cx="1711355" cy="1580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/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ko-KR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 spc="-5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b="0" i="1" spc="-5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0A70232-052D-10E2-7095-7B86A7395DFC}"/>
              </a:ext>
            </a:extLst>
          </p:cNvPr>
          <p:cNvSpPr txBox="1"/>
          <p:nvPr/>
        </p:nvSpPr>
        <p:spPr>
          <a:xfrm>
            <a:off x="10093881" y="2162985"/>
            <a:ext cx="8915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spc="-50" dirty="0"/>
              <a:t>&lt;</a:t>
            </a:r>
            <a:r>
              <a:rPr lang="ko-KR" altLang="en-US" sz="800" spc="-50" dirty="0"/>
              <a:t>로렌츠 곡선</a:t>
            </a:r>
            <a:r>
              <a:rPr lang="en-US" altLang="ko-KR" sz="800" spc="-50" dirty="0"/>
              <a:t>&gt;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938888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82FE-BFA2-FFB0-2E9B-2BD63F2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A95D4B-F245-5E61-435F-576311507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09CEC-8679-14E0-A1C1-43939E93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지니계수를</a:t>
                </a:r>
                <a:r>
                  <a:rPr lang="ko-KR" altLang="en-US" sz="1600" spc="-50" dirty="0"/>
                  <a:t> 구하는 두가지 식의 관계는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평균소득격차</a:t>
                </a:r>
                <a:r>
                  <a:rPr lang="en-US" altLang="ko-KR" sz="1600" spc="-50" dirty="0"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평균소득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두 배로 나눈 비율로써 구할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평소 주위에서 소득분배 얘기가 나오면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자주 등장하는데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지니계수의</a:t>
                </a:r>
                <a:r>
                  <a:rPr lang="ko-KR" altLang="en-US" sz="1600" spc="-50" dirty="0"/>
                  <a:t> 정확한 성격은 많이 알려지지 않았다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일련의 가치판단을 전제로 하여 얻어지는 것이므로 상당한 주관성을 내포하고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0.35 </a:t>
                </a:r>
                <a:r>
                  <a:rPr lang="ko-KR" altLang="en-US" sz="1600" spc="-50" dirty="0"/>
                  <a:t>혹은 </a:t>
                </a:r>
                <a:r>
                  <a:rPr lang="en-US" altLang="ko-KR" sz="1600" spc="-50" dirty="0"/>
                  <a:t>0.41 </a:t>
                </a:r>
                <a:r>
                  <a:rPr lang="ko-KR" altLang="en-US" sz="1600" spc="-50" dirty="0"/>
                  <a:t>같이 수치로 주어질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언뜻 매우 직관적인 평가를 할 수 있으리라 기대할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사실은 그렇지 않다는 점을 잊으면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368679"/>
              </a:xfrm>
              <a:prstGeom prst="rect">
                <a:avLst/>
              </a:prstGeom>
              <a:blipFill>
                <a:blip r:embed="rId2"/>
                <a:stretch>
                  <a:fillRect r="-867"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/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altLang="ko-KR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o-KR" altLang="en-US" b="0" i="1" spc="-5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72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D875C-E603-5EB7-7F64-E9EE55CA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8C7E6F-C06A-95E2-E5D6-718493A9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분위 배율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A558B-7B7F-7A91-4623-7151D9216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더불어 가장 많이 사용하는 불평등도지수로 아래 식과 같이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분위배율이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상위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 대비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식에서 알 수 있듯이 모두가 균등한 소득을 가지고 있으면 분자와 분모의 값이 같아지므로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배율은 정교한 이론적 배경을 갖고 있지 않지만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쉽고 해석하기 편하다는 이유에서 많이 사용되고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상위 </a:t>
                </a:r>
                <a:r>
                  <a:rPr lang="en-US" altLang="ko-KR" sz="1600" spc="-50" dirty="0"/>
                  <a:t>20% </a:t>
                </a:r>
                <a:r>
                  <a:rPr lang="ko-KR" altLang="en-US" sz="1600" spc="-50" dirty="0"/>
                  <a:t>또는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속하지 않는 사람들의 분배 상태를 반영하지 못한다는 점에서 한계가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 정부는 매년 소득 불평등도지수로 </a:t>
                </a: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배율을 발표하고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그림에서는 </a:t>
                </a:r>
                <a:r>
                  <a:rPr lang="en-US" altLang="ko-KR" sz="1600" spc="-50" dirty="0"/>
                  <a:t>2011~2018</a:t>
                </a:r>
                <a:r>
                  <a:rPr lang="ko-KR" altLang="en-US" sz="1600" spc="-50" dirty="0"/>
                  <a:t> 기간 우리나라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소득 분배상태가 개선되고 있음을 보여주고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blipFill>
                <a:blip r:embed="rId2"/>
                <a:stretch>
                  <a:fillRect r="-108" b="-11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/>
              <p:nvPr/>
            </p:nvSpPr>
            <p:spPr>
              <a:xfrm>
                <a:off x="1641096" y="1907941"/>
                <a:ext cx="4231197" cy="6862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상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num>
                        <m:den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하위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6" y="1907941"/>
                <a:ext cx="4231197" cy="6862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EF4680D-EF86-7E1C-01BE-D0E4964892A1}"/>
              </a:ext>
            </a:extLst>
          </p:cNvPr>
          <p:cNvSpPr txBox="1"/>
          <p:nvPr/>
        </p:nvSpPr>
        <p:spPr>
          <a:xfrm>
            <a:off x="288789" y="4666789"/>
            <a:ext cx="602392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 </a:t>
            </a:r>
            <a:r>
              <a:rPr lang="ko-KR" altLang="en-US" sz="1600" spc="-50" dirty="0" err="1"/>
              <a:t>지니계수는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2015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0.35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0.323</a:t>
            </a:r>
            <a:r>
              <a:rPr lang="ko-KR" altLang="en-US" sz="1600" spc="-50" dirty="0"/>
              <a:t>로 낮아졌다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</a:t>
            </a:r>
            <a:r>
              <a:rPr lang="ko-KR" altLang="en-US" sz="1600" spc="-50" dirty="0"/>
              <a:t>분위 배율도 </a:t>
            </a:r>
            <a:r>
              <a:rPr lang="ko-KR" altLang="en-US" sz="1600" spc="-50" dirty="0" err="1"/>
              <a:t>같은기간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6.81</a:t>
            </a:r>
            <a:r>
              <a:rPr lang="ko-KR" altLang="en-US" sz="1600" spc="-50" dirty="0"/>
              <a:t>에서 </a:t>
            </a:r>
            <a:r>
              <a:rPr lang="en-US" altLang="ko-KR" sz="1600" spc="-50"/>
              <a:t>5.72</a:t>
            </a:r>
            <a:r>
              <a:rPr lang="ko-KR" altLang="en-US" sz="1600" spc="-50"/>
              <a:t>까지 </a:t>
            </a:r>
            <a:r>
              <a:rPr lang="ko-KR" altLang="en-US" sz="1600" spc="-50" dirty="0"/>
              <a:t>낮아졌다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EE969-63BB-7717-7214-3BB498E59AC3}"/>
              </a:ext>
            </a:extLst>
          </p:cNvPr>
          <p:cNvSpPr txBox="1"/>
          <p:nvPr/>
        </p:nvSpPr>
        <p:spPr>
          <a:xfrm>
            <a:off x="7891591" y="4650451"/>
            <a:ext cx="30603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우리나라의 소득 </a:t>
            </a:r>
            <a:r>
              <a:rPr lang="ko-KR" altLang="en-US" sz="1200" spc="-50" dirty="0" err="1"/>
              <a:t>불평등도지수</a:t>
            </a:r>
            <a:r>
              <a:rPr lang="ko-KR" altLang="en-US" sz="1200" spc="-50" dirty="0"/>
              <a:t> 변화 추이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C3529D2-6F3A-4EA2-B636-EE64BA91C7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0" t="17413" r="3592" b="17214"/>
          <a:stretch>
            <a:fillRect/>
          </a:stretch>
        </p:blipFill>
        <p:spPr>
          <a:xfrm>
            <a:off x="6847826" y="5027053"/>
            <a:ext cx="4782847" cy="155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813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A6D79-DA12-AD01-644B-B2CF67C7D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C53A6-FF5E-185B-2001-0B7F5D11B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앳킨슨</a:t>
            </a:r>
            <a:r>
              <a:rPr lang="ko-KR" altLang="en-US" dirty="0"/>
              <a:t> 지수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1177FA-D460-B652-89C8-677C69C77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2E5C67-F822-E779-DA23-CD2BD99926D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54784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앳킨슨</a:t>
                </a:r>
                <a:r>
                  <a:rPr lang="en-US" altLang="ko-KR" sz="1600" spc="-50" dirty="0"/>
                  <a:t>(A. Atkinson, 1970)</a:t>
                </a:r>
                <a:r>
                  <a:rPr lang="ko-KR" altLang="en-US" sz="1600" spc="-50" dirty="0"/>
                  <a:t>은 기존의 불평등지수는 특정한 가치판단 혹은 사회후생함수를 내포하고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사회후생함수의 성격에 문제가 있는 경우가 대부분이라고 지적한다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점을 고려하여 사회후생함수가 명확히 드러날 수 있는 성격을 가진 새로운 </a:t>
                </a:r>
                <a:r>
                  <a:rPr lang="ko-KR" altLang="en-US" sz="1600" spc="-50" dirty="0" err="1"/>
                  <a:t>불평등도지수를</a:t>
                </a:r>
                <a:r>
                  <a:rPr lang="ko-KR" altLang="en-US" sz="1600" spc="-50" dirty="0"/>
                  <a:t> 개발했다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그는 우선 </a:t>
                </a:r>
                <a:r>
                  <a:rPr lang="ko-KR" altLang="en-US" sz="1600" spc="-50" dirty="0" err="1"/>
                  <a:t>균등분배대등소득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(equally distributed equivalent income)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다음과 같이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1" spc="-50" dirty="0" err="1"/>
                  <a:t>균등분배대등소득</a:t>
                </a:r>
                <a:r>
                  <a:rPr lang="en-US" altLang="ko-KR" sz="1600" b="1" spc="-50" dirty="0"/>
                  <a:t>:</a:t>
                </a:r>
                <a:r>
                  <a:rPr lang="en-US" altLang="ko-KR" sz="1600" spc="-50" dirty="0"/>
                  <a:t> 1</a:t>
                </a:r>
                <a:r>
                  <a:rPr lang="ko-KR" altLang="en-US" sz="1600" spc="-50" dirty="0"/>
                  <a:t>인당 평균소득이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주어진 사회에서 소득이 어떤 특정한 상태로 사람들 사이에 분배된 결과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사회후생수준이 달성되었다고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모든 사람에게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씩의 소득을 균등하게 분배해 줄 때 그 경우와 똑같이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사회후생수준이 달성될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우리는 바로 이 소득수준을 </a:t>
                </a:r>
                <a:r>
                  <a:rPr lang="ko-KR" altLang="en-US" sz="1600" spc="-50" dirty="0" err="1"/>
                  <a:t>균등분배대등소득</a:t>
                </a:r>
                <a:r>
                  <a:rPr lang="ko-KR" altLang="en-US" sz="1600" spc="-50" dirty="0"/>
                  <a:t> 이라고 정의한다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예를 들면 우리나라의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평균소득이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만달러 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현재 상태로 분배되어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사회후생수준을 달성했다고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만약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만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천달러씩 균등하게 분배함으로써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사회후생을 달성할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만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천 달러가 </a:t>
                </a:r>
                <a:r>
                  <a:rPr lang="ko-KR" altLang="en-US" sz="1600" spc="-50" dirty="0" err="1"/>
                  <a:t>균등분배대등소득이</a:t>
                </a:r>
                <a:r>
                  <a:rPr lang="ko-KR" altLang="en-US" sz="1600" spc="-50" dirty="0"/>
                  <a:t>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균등분배대등소득은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평균소득보다 더 작은 값을 갖는데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불균등한 분배가 사회후생을 떨어뜨리기 때문이다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2E5C67-F822-E779-DA23-CD2BD9992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547848"/>
              </a:xfrm>
              <a:prstGeom prst="rect">
                <a:avLst/>
              </a:prstGeom>
              <a:blipFill>
                <a:blip r:embed="rId2"/>
                <a:stretch>
                  <a:fillRect b="-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0969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9759-B7AA-01F8-4E91-95B7F183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D6A1B8-BCBB-9E4E-2B81-5C3FD87C6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앳킨슨</a:t>
            </a:r>
            <a:r>
              <a:rPr lang="ko-KR" altLang="en-US" dirty="0"/>
              <a:t> 지수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82AAF2-1245-774B-93DD-7D6E504B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5292A-862D-590E-A579-61ED220DBBD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2654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앳킨슨은 이 균등분배소득에 기초해 다음과 같이 불평등도를 평가할 수 있는 </a:t>
                </a:r>
                <a:r>
                  <a:rPr lang="ko-KR" altLang="en-US" sz="1600" spc="-50" dirty="0" err="1"/>
                  <a:t>앳킨슨</a:t>
                </a:r>
                <a:r>
                  <a:rPr lang="ko-KR" altLang="en-US" sz="1600" spc="-50" dirty="0"/>
                  <a:t> 지수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산출할 수 있다고 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소득분배가 완전히 균등하면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성립할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ko-KR" altLang="en-US" sz="1600" spc="-50" dirty="0" err="1"/>
                  <a:t>앳킨슨지수는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의 값을 갖는다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반대의 극단이어서 거의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원에 가까운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소득이라도 균등하게 분배되기만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지금의 사회후생을 달성할 수 있을 때 </a:t>
                </a:r>
                <a:r>
                  <a:rPr lang="ko-KR" altLang="en-US" sz="1600" spc="-50" dirty="0" err="1"/>
                  <a:t>앳킨슨지수는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에 가까운 값을 갖게 된다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앳킨슨지수는</a:t>
                </a:r>
                <a:r>
                  <a:rPr lang="ko-KR" altLang="en-US" sz="1600" spc="-50" dirty="0"/>
                  <a:t> 아래의 식을 통해 도출이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92075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spc="-50" dirty="0"/>
                  <a:t>번째 소득계층에 속하는 사람들의 소득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이 소득계층에 속하는 사람들이 전체 인구에서 차지하는 비율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식에서 </a:t>
                </a:r>
                <a:r>
                  <a:rPr lang="ko-KR" altLang="en-US" sz="1600" spc="-50" dirty="0" err="1"/>
                  <a:t>분배매개변수</a:t>
                </a:r>
                <a:r>
                  <a:rPr lang="en-US" altLang="ko-KR" sz="1600" spc="-50" dirty="0"/>
                  <a:t>(distributive parameter)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ko-KR" altLang="en-US" sz="1600" spc="-50" dirty="0"/>
                  <a:t>이 중요한 역할을 수행한다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같은 분배상태여도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ko-KR" altLang="en-US" sz="1600" spc="-50" dirty="0"/>
                  <a:t>값이 달라지면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앳킨슨지수가</a:t>
                </a:r>
                <a:r>
                  <a:rPr lang="ko-KR" altLang="en-US" sz="1600" spc="-50" dirty="0"/>
                  <a:t> 값이 다르기 때문이다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에부터 무한대까지 값을 가질 수 있으며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값이 커질수록 저소득층의 소득에 부여하는 가중치 값이 커진다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평등을 선호하는 사람일수록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더 높은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값을 마음에 두고 있게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5292A-862D-590E-A579-61ED220DB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26540"/>
              </a:xfrm>
              <a:prstGeom prst="rect">
                <a:avLst/>
              </a:prstGeom>
              <a:blipFill>
                <a:blip r:embed="rId2"/>
                <a:stretch>
                  <a:fillRect r="-650" b="-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A95C47-E49C-BA73-8925-8C53544D0DB0}"/>
                  </a:ext>
                </a:extLst>
              </p:cNvPr>
              <p:cNvSpPr txBox="1"/>
              <p:nvPr/>
            </p:nvSpPr>
            <p:spPr>
              <a:xfrm>
                <a:off x="2207353" y="1449016"/>
                <a:ext cx="1706110" cy="648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A95C47-E49C-BA73-8925-8C53544D0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7353" y="1449016"/>
                <a:ext cx="1706110" cy="6482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5798CA-981D-3A56-EBBE-537522F4FF4C}"/>
                  </a:ext>
                </a:extLst>
              </p:cNvPr>
              <p:cNvSpPr txBox="1"/>
              <p:nvPr/>
            </p:nvSpPr>
            <p:spPr>
              <a:xfrm>
                <a:off x="2207353" y="3609666"/>
                <a:ext cx="3320992" cy="1026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altLang="ko-KR" i="1" spc="-5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US" altLang="ko-KR" i="1" spc="-5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ko-KR" i="1" spc="-5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i="1" spc="-5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i="1" spc="-5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bar>
                                            <m:barPr>
                                              <m:pos m:val="top"/>
                                              <m:ctrlPr>
                                                <a:rPr lang="en-US" altLang="ko-KR" i="1" spc="-5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barPr>
                                            <m:e>
                                              <m:r>
                                                <a:rPr lang="en-US" altLang="ko-KR" i="1" spc="-5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</m:bar>
                                        </m:den>
                                      </m:f>
                                    </m:e>
                                    <m:sup>
                                      <m:r>
                                        <a:rPr lang="en-US" altLang="ko-KR" i="1" spc="-50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ko-KR" altLang="en-US" i="1" spc="-50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sup>
                                  </m:sSup>
                                </m:e>
                              </m:nary>
                              <m:sSub>
                                <m:sSubPr>
                                  <m:ctrlP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ko-KR" i="1" spc="-5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ko-KR" altLang="en-US" b="0" i="1" spc="-50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5798CA-981D-3A56-EBBE-537522F4F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7353" y="3609666"/>
                <a:ext cx="3320992" cy="10261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612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1EC5-A470-8A1E-5DCF-1E04A904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1FA9FD-0CB3-0347-F9C2-F0B5D5A337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89AD-4657-B5E9-DF15-42E8C5FB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69F4F89-EECA-252F-74CA-0DD0D19AE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불평등 발생의 원인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62055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9759-B7AA-01F8-4E91-95B7F183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D6A1B8-BCBB-9E4E-2B81-5C3FD87C6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82AAF2-1245-774B-93DD-7D6E504B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5292A-862D-590E-A579-61ED220DBBD8}"/>
              </a:ext>
            </a:extLst>
          </p:cNvPr>
          <p:cNvSpPr txBox="1"/>
          <p:nvPr/>
        </p:nvSpPr>
        <p:spPr>
          <a:xfrm>
            <a:off x="288790" y="958844"/>
            <a:ext cx="11250267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소득분배 혹은 경제적지위의 불평등을 발생시키는 원인은 크게 개인적 요인과 사회적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볼 수 있다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개인적 요인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원초적 단계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인생의 가장 원초적인 단계에서 발생하는 불평등의 원인들은 다음과 같이 세 가지로 정리해 볼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유전적 요인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태어날 때부터 갖고 있는 유전자가 경제적 지위에 영향을 주는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교육적 환경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후천적 성장과정이 그의 경제적 지위에 영향을 주는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경제적 환경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유복한 집안에서 태어난 사람은 교육 기회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다른 측면에서 유리한 여건을 갖는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8396D40-027D-3B4E-FB85-FB711D539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86" t="11647" r="21093" b="6029"/>
          <a:stretch>
            <a:fillRect/>
          </a:stretch>
        </p:blipFill>
        <p:spPr>
          <a:xfrm>
            <a:off x="8320655" y="3202798"/>
            <a:ext cx="3411348" cy="3409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7F5C63-668E-2D40-F00F-90BE55E882F6}"/>
              </a:ext>
            </a:extLst>
          </p:cNvPr>
          <p:cNvSpPr txBox="1"/>
          <p:nvPr/>
        </p:nvSpPr>
        <p:spPr>
          <a:xfrm>
            <a:off x="7805605" y="3254500"/>
            <a:ext cx="1491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불평등 발생경로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01C50-0C9B-D5B8-DBC4-304CD5EE77AC}"/>
              </a:ext>
            </a:extLst>
          </p:cNvPr>
          <p:cNvSpPr txBox="1"/>
          <p:nvPr/>
        </p:nvSpPr>
        <p:spPr>
          <a:xfrm>
            <a:off x="288789" y="3274228"/>
            <a:ext cx="751681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그림에서 가장 안쪽에 있는 것이 개인적 차원에서 발생하는 불평등 요인이다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원초적 요인들이 싹터 불평등이 중간단계의 차이로 이어지고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결국은 맨 윗줄에 있는 경제적 지위의 결정요인으로 귀착되는 것을 보여주고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개인적인 차원에서의 불평등의 싹은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어느 가정에서 어떤 소질을 가지고 태어났느냐가 그 사람의 경제적인 장래를 좌우한다는 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가정이 개인적 차원에서 발생하는 불평등에 얼마나 중요한지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56172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98376-8C19-3CF4-8F99-49006776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0C3F8-B587-6CAB-9441-A40328689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BEF14-B7F5-B251-2C53-090495B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7DBC2-1BFC-BF32-C373-CBA100D1AE6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중간적 단계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유전적 요인과 교육적 환경에 따라 어떤 개인의 능력이 달라질 수 있다고 배웠는데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능력은 인지능력과 비인지 능력으로 나누어 볼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인지능력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언어와 숫자를 능숙하게 구사하는지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이해력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논리력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추리력 등을 뜻한다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비인지능력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지적인 능력 외의 넓은 의미에서의 능력을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성취동기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신체능력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심리적 요인 등을 포함한다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유전적 요인과 교육적 환경은 개인의 능력 뿐 아니라 </a:t>
            </a:r>
            <a:r>
              <a:rPr lang="ko-KR" altLang="en-US" sz="1600" b="1" spc="-50" dirty="0"/>
              <a:t>개인의 특성</a:t>
            </a:r>
            <a:r>
              <a:rPr lang="ko-KR" altLang="en-US" sz="1600" spc="-50" dirty="0"/>
              <a:t>에도 많은 영향을 준다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말하는 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옷 입는 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행동거지 등을 예로 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것들을 능력이라고 말할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경제적 지위를 결정하는데 영향을 미치는 것은 분명하다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개인의 능력 혹은 개인의 특성이 교육수준에 영향을 미치지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곧바로 경제적 지위에 영향을 미칠 수도 있는데 이 경로는 점선으로 나타나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불평등 발생경로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그림</a:t>
            </a:r>
            <a:r>
              <a:rPr lang="en-US" altLang="ko-KR" sz="1600" spc="-50" dirty="0"/>
              <a:t>)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그림의 오른쪽에는 세 번째 불평등 요인은 경제적 환경의 차이가 </a:t>
            </a:r>
            <a:r>
              <a:rPr lang="ko-KR" altLang="en-US" sz="1600" b="1" spc="-50" dirty="0"/>
              <a:t>증여와 상속</a:t>
            </a:r>
            <a:r>
              <a:rPr lang="ko-KR" altLang="en-US" sz="1600" spc="-50" dirty="0"/>
              <a:t>의 과정을 거쳐 </a:t>
            </a:r>
            <a:r>
              <a:rPr lang="ko-KR" altLang="en-US" sz="1600" b="1" spc="-50" dirty="0"/>
              <a:t>재산</a:t>
            </a:r>
            <a:r>
              <a:rPr lang="ko-KR" altLang="en-US" sz="1600" spc="-50" dirty="0"/>
              <a:t>상의 차이로 이어진다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부모가 자신의 경제적 지위를 자식에게 물려주는 경우를 흔히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부모가 자녀의 교육비를 부담하는 것도 증여행위의 일종이라고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그렇다면 </a:t>
            </a:r>
            <a:r>
              <a:rPr lang="ko-KR" altLang="en-US" sz="1600" b="1" spc="-50" dirty="0"/>
              <a:t>경제적 환경</a:t>
            </a:r>
            <a:r>
              <a:rPr lang="ko-KR" altLang="en-US" sz="1600" spc="-50" dirty="0"/>
              <a:t>은 교육수준에도 어느정도 영향을 미친다고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4492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5037-1D80-C0B6-EB98-50F364362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5080F-CC1D-7EA4-7B92-D49648D39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0F100-AFC7-4C53-F05F-BEC4A5C0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3580C-1AF7-2007-C7E6-61A80042204A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경제적 지위의 격차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사람의 경제적 지위는 소득에 크게 영향을 받는데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소득은 </a:t>
            </a:r>
            <a:r>
              <a:rPr lang="ko-KR" altLang="en-US" sz="1600" b="1" spc="-50" dirty="0"/>
              <a:t>근로소득</a:t>
            </a:r>
            <a:r>
              <a:rPr lang="ko-KR" altLang="en-US" sz="1600" spc="-50" dirty="0"/>
              <a:t>과 </a:t>
            </a:r>
            <a:r>
              <a:rPr lang="ko-KR" altLang="en-US" sz="1600" b="1" spc="-50" dirty="0"/>
              <a:t>비근로소득</a:t>
            </a:r>
            <a:r>
              <a:rPr lang="ko-KR" altLang="en-US" sz="1600" spc="-50" dirty="0"/>
              <a:t>으로 나누어 생각할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경제적 지위가 소득의 크기에 의해서만 결정되지는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직업적 지위</a:t>
            </a:r>
            <a:r>
              <a:rPr lang="ko-KR" altLang="en-US" sz="1600" spc="-50" dirty="0"/>
              <a:t>도 중요한 결정 요인이다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그림에서 볼 수 있듯이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직업적 지위와 근로소득의 결정에 직접적인 영향을 미치는 것이 바로 교육수준이다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전체적으로 그림에서 왼편에는 불평등의 발생경로가 </a:t>
            </a:r>
            <a:r>
              <a:rPr lang="ko-KR" altLang="en-US" sz="1600" spc="-50" dirty="0" err="1"/>
              <a:t>비물질적인</a:t>
            </a:r>
            <a:r>
              <a:rPr lang="ko-KR" altLang="en-US" sz="1600" spc="-50" dirty="0"/>
              <a:t> 경우를 나타내고</a:t>
            </a:r>
            <a:r>
              <a:rPr lang="en-US" altLang="ko-KR" sz="1600" spc="-50" dirty="0"/>
              <a:t>, (</a:t>
            </a:r>
            <a:r>
              <a:rPr lang="ko-KR" altLang="en-US" sz="1600" spc="-50" dirty="0"/>
              <a:t>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개인특성 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오른편에는 불평등의 발생경로가 물질적 경로인 경우를 나타내고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증여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상속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번외로 전체적인 과정에서 </a:t>
            </a:r>
            <a:r>
              <a:rPr lang="ko-KR" altLang="en-US" sz="1600" b="1" spc="-50" dirty="0"/>
              <a:t>우연성</a:t>
            </a:r>
            <a:r>
              <a:rPr lang="ko-KR" altLang="en-US" sz="1600" spc="-50" dirty="0"/>
              <a:t>이라는 것도 중요한 변수이다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좋은 가정에서 태어나 훌륭한 교육을 받은 사람도 </a:t>
            </a:r>
            <a:r>
              <a:rPr lang="ko-KR" altLang="en-US" sz="1600" spc="-50" dirty="0" err="1"/>
              <a:t>불으로</a:t>
            </a:r>
            <a:r>
              <a:rPr lang="ko-KR" altLang="en-US" sz="1600" spc="-50" dirty="0"/>
              <a:t> 인해 경제적 몰락을 경험할 수 있고</a:t>
            </a:r>
            <a:r>
              <a:rPr lang="en-US" altLang="ko-KR" sz="1600" spc="-50" dirty="0"/>
              <a:t>,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어려운 가정에서 태어났지만 어떤 우연으로 인해 부자가 되는 경우가 있을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33596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AB8CA-6636-C4FE-B606-8C3E56AFD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54886-72A3-90E3-AB59-A9369010E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1F950-743F-640F-9008-254DC7F0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D41EE3-64CA-EDE2-E141-AEBE9D0EB5B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경제적 지위의 불평등은 한 사람이 배경으로 하고 있는 사회적 상황에 의해서도 경제적 지위가 좌우될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요인은 </a:t>
            </a:r>
            <a:r>
              <a:rPr lang="ko-KR" altLang="en-US" sz="1600" b="1" spc="-50" dirty="0"/>
              <a:t>체제 내적인 것</a:t>
            </a:r>
            <a:r>
              <a:rPr lang="ko-KR" altLang="en-US" sz="1600" spc="-50" dirty="0"/>
              <a:t>과</a:t>
            </a:r>
            <a:r>
              <a:rPr lang="en-US" altLang="ko-KR" sz="1600" spc="-50" dirty="0"/>
              <a:t> </a:t>
            </a:r>
            <a:r>
              <a:rPr lang="ko-KR" altLang="en-US" sz="1600" b="1" spc="-50" dirty="0"/>
              <a:t>체제 그 자체</a:t>
            </a:r>
            <a:r>
              <a:rPr lang="ko-KR" altLang="en-US" sz="1600" spc="-50" dirty="0"/>
              <a:t>와 관련된 것으로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b="1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체제 내적 요인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경제체제 내부에서 정부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 설계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상황과 관련된 수많은 요인들이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정책에 따라 </a:t>
            </a:r>
            <a:r>
              <a:rPr lang="ko-KR" altLang="en-US" sz="1600" spc="-50"/>
              <a:t>분배상태가 달라질 </a:t>
            </a:r>
            <a:r>
              <a:rPr lang="ko-KR" altLang="en-US" sz="1600" spc="-50" dirty="0"/>
              <a:t>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 등은 분배의 평등화를 가져오는데 기여한다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인두세 같은 경우는 불평등을 </a:t>
            </a:r>
            <a:r>
              <a:rPr lang="ko-KR" altLang="en-US" sz="1600" spc="-50" dirty="0" err="1"/>
              <a:t>심화시키도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채택하는 경제정책의 기조에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지난 수십년 동안 채택해온 개발전략은 빠른 성장을 강조하고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분배에 관한 논의는 뒷전이었다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노동시장의 상황에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사람의 능력이 그 사회에서 인정받지 못한다면 경제적 지위는 떨어지게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자원 간 상대가격구조 변화에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많이 소비하고 있는 물품의 가격이 오르면 그 사람의 실질소득은 어쩔 수 없이 떨어지게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 외에도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부정부패 등과 같은 사회적 여건도 분배상태에 영향을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미국에서의 인종차별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우리나라에서의 인종차별 등을 대표적인 예로 들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4287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74BF-21B4-E8BF-F7DD-B9558ADE3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67731-BB43-9DC9-F092-555AB1E6C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17EE4-B377-9713-02BD-F87DC598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48D18-5F4C-40F2-C8A3-589F475565B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체제 자체의 성격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사회가 채택하고 있는 경제체제 그 자체의 성격이 분배 상태에 영향을 미칠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대부분의 일을 시장기능에 맡기는 순수한 자본주의체제보다 정부가 일정한 역할을 맡고 있는 혼합경제체제에서의 분배상태가 보다 </a:t>
            </a:r>
            <a:r>
              <a:rPr lang="ko-KR" altLang="en-US" sz="1600" spc="-50" dirty="0" err="1"/>
              <a:t>평등화된</a:t>
            </a:r>
            <a:r>
              <a:rPr lang="ko-KR" altLang="en-US" sz="1600" spc="-50" dirty="0"/>
              <a:t> 양상일 것이라고 기대할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정부의 개입이 분배상태를 도리어 더욱 불평등하게 만들 가능성도 분명히 있다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이론에서 논의되는 이상적인 사회주의체제가 실현될 수 있다면 자본주의체제에 비해 더욱 </a:t>
            </a:r>
            <a:r>
              <a:rPr lang="ko-KR" altLang="en-US" sz="1600" spc="-50" dirty="0" err="1"/>
              <a:t>평등화된</a:t>
            </a:r>
            <a:r>
              <a:rPr lang="ko-KR" altLang="en-US" sz="1600" spc="-50" dirty="0"/>
              <a:t> 분배상태를 달성할지도 모른다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경험적으로 옛 소련과 동유럽에서 시험된 바 있는 사회주의체제가 몰락할 수 밖에 없었던 중요한 이유 중 하나가 불공평한 분배였다는 점을 생각하면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이론에서 보이는 사회주의가 실현될 수 있을지 회의를 가질 수 밖에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1767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192E-E4B6-54D2-F5D6-45F511CC8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5BB58B-887A-064D-ADD0-A6822216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불평등 요인의 제거 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A2F8A-FE20-C5C9-001A-14102EFDA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41AEC-A650-DCCA-8430-26240C1D7844}"/>
              </a:ext>
            </a:extLst>
          </p:cNvPr>
          <p:cNvSpPr txBox="1"/>
          <p:nvPr/>
        </p:nvSpPr>
        <p:spPr>
          <a:xfrm>
            <a:off x="288790" y="958844"/>
            <a:ext cx="11250267" cy="567700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개인적 차원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 </a:t>
            </a:r>
            <a:r>
              <a:rPr lang="ko-KR" altLang="en-US" sz="1600" spc="-50" dirty="0" err="1"/>
              <a:t>본대로</a:t>
            </a:r>
            <a:r>
              <a:rPr lang="ko-KR" altLang="en-US" sz="1600" spc="-50" dirty="0"/>
              <a:t> 불평등을 일으키는 원인은 가정이라는 울타리 안에서 돋아난다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중 특히 유전적 요인은 주어지는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유전적 격차는 제거하기 힘든 요인이다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교육적 환경의 격차는 유전적 요인 대비 격차를 줄이기 쉬울지 몰라도 이것 역시 쉬운 일이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아기가 태어나자마자 부모로부터 격리해 나라에서 맡아 기르기 전까지는 교육적 환경의 격차를 제거할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인지적 능력과 비인지적 능력의 차이나 개인적 특성의 차이 역시 일단 발생한 것을 제거하기 힘들기는 마찬가지다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정부에서 아무리 교육에 힘써도 모든 청소년들을 성실한 태도로 만들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지능지수를 </a:t>
            </a:r>
            <a:r>
              <a:rPr lang="ko-KR" altLang="en-US" sz="1600" spc="-50" dirty="0" err="1"/>
              <a:t>균등화할</a:t>
            </a:r>
            <a:r>
              <a:rPr lang="ko-KR" altLang="en-US" sz="1600" spc="-50" dirty="0"/>
              <a:t>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능력이나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개인적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교육수준은 평준화가 불가능할 뿐 아니라 바람직하지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개인적 차원에서 비물질적 경로를 통해 발생하는 불평등은 그대로 놓아둘 수 밖에 없다는 결론에 이른다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차원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차원에서 발생하는 불평등 요인의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제거 가능한 것이 대부분이다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전체가 노력함으로써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제도나 정책에 의해 생기는 불평등 요인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차별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부정부패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제거해 나갈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사회를 건설하고자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분배상태가 언제든 바뀔 수 있다고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모든 것이 개인의 책임이 아니라는 인식이 필요하다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594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13844</TotalTime>
  <Words>3321</Words>
  <Application>Microsoft Office PowerPoint</Application>
  <PresentationFormat>와이드스크린</PresentationFormat>
  <Paragraphs>277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8  소득분배이론</vt:lpstr>
      <vt:lpstr>Section 1. 분배의 정의</vt:lpstr>
      <vt:lpstr>분배의 정의</vt:lpstr>
      <vt:lpstr>평등주의적 정의관</vt:lpstr>
      <vt:lpstr>자유론적 정의관</vt:lpstr>
      <vt:lpstr>공리주의적 정의관</vt:lpstr>
      <vt:lpstr>롤즈의 최소극대화원칙</vt:lpstr>
      <vt:lpstr>Section 2. 공리주의적 최적분배이론</vt:lpstr>
      <vt:lpstr>공리주의적 최적분배이론</vt:lpstr>
      <vt:lpstr>공리주의적 최적분배이론</vt:lpstr>
      <vt:lpstr>Section 3. 불평등도지수</vt:lpstr>
      <vt:lpstr>불평등도지수</vt:lpstr>
      <vt:lpstr>불평등도지수</vt:lpstr>
      <vt:lpstr>지니계수</vt:lpstr>
      <vt:lpstr>지니계수</vt:lpstr>
      <vt:lpstr>5분위 배율</vt:lpstr>
      <vt:lpstr>앳킨슨 지수</vt:lpstr>
      <vt:lpstr>앳킨슨 지수</vt:lpstr>
      <vt:lpstr>Section 4. 불평등 발생의 원인</vt:lpstr>
      <vt:lpstr>개인적요인</vt:lpstr>
      <vt:lpstr>개인적요인</vt:lpstr>
      <vt:lpstr>개인적요인</vt:lpstr>
      <vt:lpstr>사회적요인</vt:lpstr>
      <vt:lpstr>사회적요인</vt:lpstr>
      <vt:lpstr>불평등 요인의 제거 가능성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485</cp:revision>
  <dcterms:created xsi:type="dcterms:W3CDTF">2025-07-05T05:15:23Z</dcterms:created>
  <dcterms:modified xsi:type="dcterms:W3CDTF">2026-05-18T00:26:37Z</dcterms:modified>
</cp:coreProperties>
</file>