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1"/>
  </p:sldMasterIdLst>
  <p:notesMasterIdLst>
    <p:notesMasterId r:id="rId56"/>
  </p:notesMasterIdLst>
  <p:sldIdLst>
    <p:sldId id="375" r:id="rId2"/>
    <p:sldId id="405" r:id="rId3"/>
    <p:sldId id="550" r:id="rId4"/>
    <p:sldId id="552" r:id="rId5"/>
    <p:sldId id="758" r:id="rId6"/>
    <p:sldId id="759" r:id="rId7"/>
    <p:sldId id="752" r:id="rId8"/>
    <p:sldId id="760" r:id="rId9"/>
    <p:sldId id="761" r:id="rId10"/>
    <p:sldId id="762" r:id="rId11"/>
    <p:sldId id="763" r:id="rId12"/>
    <p:sldId id="765" r:id="rId13"/>
    <p:sldId id="764" r:id="rId14"/>
    <p:sldId id="753" r:id="rId15"/>
    <p:sldId id="766" r:id="rId16"/>
    <p:sldId id="767" r:id="rId17"/>
    <p:sldId id="768" r:id="rId18"/>
    <p:sldId id="769" r:id="rId19"/>
    <p:sldId id="770" r:id="rId20"/>
    <p:sldId id="771" r:id="rId21"/>
    <p:sldId id="772" r:id="rId22"/>
    <p:sldId id="773" r:id="rId23"/>
    <p:sldId id="774" r:id="rId24"/>
    <p:sldId id="754" r:id="rId25"/>
    <p:sldId id="755" r:id="rId26"/>
    <p:sldId id="756" r:id="rId27"/>
    <p:sldId id="757" r:id="rId28"/>
    <p:sldId id="729" r:id="rId29"/>
    <p:sldId id="730" r:id="rId30"/>
    <p:sldId id="731" r:id="rId31"/>
    <p:sldId id="726" r:id="rId32"/>
    <p:sldId id="732" r:id="rId33"/>
    <p:sldId id="733" r:id="rId34"/>
    <p:sldId id="734" r:id="rId35"/>
    <p:sldId id="735" r:id="rId36"/>
    <p:sldId id="736" r:id="rId37"/>
    <p:sldId id="737" r:id="rId38"/>
    <p:sldId id="738" r:id="rId39"/>
    <p:sldId id="739" r:id="rId40"/>
    <p:sldId id="740" r:id="rId41"/>
    <p:sldId id="741" r:id="rId42"/>
    <p:sldId id="742" r:id="rId43"/>
    <p:sldId id="743" r:id="rId44"/>
    <p:sldId id="744" r:id="rId45"/>
    <p:sldId id="745" r:id="rId46"/>
    <p:sldId id="727" r:id="rId47"/>
    <p:sldId id="746" r:id="rId48"/>
    <p:sldId id="747" r:id="rId49"/>
    <p:sldId id="748" r:id="rId50"/>
    <p:sldId id="749" r:id="rId51"/>
    <p:sldId id="750" r:id="rId52"/>
    <p:sldId id="728" r:id="rId53"/>
    <p:sldId id="751" r:id="rId54"/>
    <p:sldId id="364" r:id="rId55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2D72BE"/>
    <a:srgbClr val="E15F5F"/>
    <a:srgbClr val="F8F7FC"/>
    <a:srgbClr val="070B12"/>
    <a:srgbClr val="0047A0"/>
    <a:srgbClr val="E3605B"/>
    <a:srgbClr val="FFFFFF"/>
    <a:srgbClr val="FFFDFF"/>
    <a:srgbClr val="00ADD0"/>
    <a:srgbClr val="EEF0E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5D4F822-9B6C-2312-BC7C-289E6CBD8A83}" v="204" dt="2025-07-20T13:57:47.285"/>
    <p1510:client id="{6FC94FB9-0A6B-4253-B3BE-E28497FA5913}" v="13" dt="2025-07-21T06:43:27.973"/>
    <p1510:client id="{ACAA3603-E3D6-4895-8F10-727493C87641}" v="65" dt="2025-07-21T00:56:35.769"/>
    <p1510:client id="{F2AEC958-FA13-3020-BC15-FF90776EF069}" v="4" dt="2025-07-21T06:39:02.781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48" d="100"/>
          <a:sy n="148" d="100"/>
        </p:scale>
        <p:origin x="740" y="88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viewProps" Target="viewProps.xml"/><Relationship Id="rId5" Type="http://schemas.openxmlformats.org/officeDocument/2006/relationships/slide" Target="slides/slide4.xml"/><Relationship Id="rId61" Type="http://schemas.microsoft.com/office/2015/10/relationships/revisionInfo" Target="revisionInfo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notesMaster" Target="notesMasters/notesMaster1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theme" Target="theme/theme1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presProps" Target="presProps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A5E00EF-AEA4-43E2-9451-8F9C59A39471}" type="datetimeFigureOut">
              <a:rPr lang="ko-KR" altLang="en-US" smtClean="0"/>
              <a:t>2026-04-02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6183C86-FCDD-4CD4-A668-4DF0BEDE3EB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5483682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9AB1E38-39C7-48C4-086A-B6EF68CA504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EE913856-496C-B1A2-D9C8-F0B2113C592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8D845EA-812B-B94C-5F91-4538C5B0842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CD32C56F-BD27-4999-9E6D-D4EACE3DA9F4}" type="datetime1">
              <a:rPr lang="ko-KR" altLang="en-US" smtClean="0"/>
              <a:t>2026-04-02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4127CC3D-4E75-B1F8-2261-C9EEA1AA9C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3BF1B240-7572-2884-ADF8-CC4D01D436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183520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D86E21D-82E6-C9AF-A630-9F90B75413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8B394455-1CD5-40DD-A267-639381E2942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1A468D34-B903-2F96-71AD-0A335A08665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16B83F9E-22C9-45CA-9E85-070F1D3EF530}" type="datetime1">
              <a:rPr lang="ko-KR" altLang="en-US" smtClean="0"/>
              <a:t>2026-04-02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F736989-7205-0872-8F94-F68B3387B3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80E82D4-4058-837B-0186-DF1F17F36C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3793704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DE35CB0-2E64-7E17-7F11-3E336F1ABC5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E2D50A24-08A9-B9E0-2E86-A56A1D9E742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7D0B33A9-AC09-8991-549A-226E174EB90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03278F45-FB3C-4C4D-B89A-7BC3F5F229F6}" type="datetime1">
              <a:rPr lang="ko-KR" altLang="en-US" smtClean="0"/>
              <a:t>2026-04-02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19A77B79-B6C6-4181-A645-4655A0A56BA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7D7EF39A-AD25-8789-D43C-8EA119BB94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8245549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자유형: 도형 5">
            <a:extLst>
              <a:ext uri="{FF2B5EF4-FFF2-40B4-BE49-F238E27FC236}">
                <a16:creationId xmlns:a16="http://schemas.microsoft.com/office/drawing/2014/main" id="{6B2B1356-24BE-84BC-4DC7-3DE366037E84}"/>
              </a:ext>
            </a:extLst>
          </p:cNvPr>
          <p:cNvSpPr/>
          <p:nvPr userDrawn="1"/>
        </p:nvSpPr>
        <p:spPr>
          <a:xfrm>
            <a:off x="832348" y="226088"/>
            <a:ext cx="11070092" cy="399644"/>
          </a:xfrm>
          <a:custGeom>
            <a:avLst/>
            <a:gdLst>
              <a:gd name="connsiteX0" fmla="*/ 66609 w 11133508"/>
              <a:gd name="connsiteY0" fmla="*/ 0 h 399644"/>
              <a:gd name="connsiteX1" fmla="*/ 11066899 w 11133508"/>
              <a:gd name="connsiteY1" fmla="*/ 0 h 399644"/>
              <a:gd name="connsiteX2" fmla="*/ 11133508 w 11133508"/>
              <a:gd name="connsiteY2" fmla="*/ 66609 h 399644"/>
              <a:gd name="connsiteX3" fmla="*/ 11133508 w 11133508"/>
              <a:gd name="connsiteY3" fmla="*/ 333035 h 399644"/>
              <a:gd name="connsiteX4" fmla="*/ 11066899 w 11133508"/>
              <a:gd name="connsiteY4" fmla="*/ 399644 h 399644"/>
              <a:gd name="connsiteX5" fmla="*/ 613523 w 11133508"/>
              <a:gd name="connsiteY5" fmla="*/ 399644 h 399644"/>
              <a:gd name="connsiteX6" fmla="*/ 516629 w 11133508"/>
              <a:gd name="connsiteY6" fmla="*/ 232586 h 399644"/>
              <a:gd name="connsiteX7" fmla="*/ 419736 w 11133508"/>
              <a:gd name="connsiteY7" fmla="*/ 399644 h 399644"/>
              <a:gd name="connsiteX8" fmla="*/ 66609 w 11133508"/>
              <a:gd name="connsiteY8" fmla="*/ 399644 h 399644"/>
              <a:gd name="connsiteX9" fmla="*/ 0 w 11133508"/>
              <a:gd name="connsiteY9" fmla="*/ 333035 h 399644"/>
              <a:gd name="connsiteX10" fmla="*/ 0 w 11133508"/>
              <a:gd name="connsiteY10" fmla="*/ 66609 h 399644"/>
              <a:gd name="connsiteX11" fmla="*/ 66609 w 11133508"/>
              <a:gd name="connsiteY11" fmla="*/ 0 h 3996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11133508" h="399644">
                <a:moveTo>
                  <a:pt x="66609" y="0"/>
                </a:moveTo>
                <a:lnTo>
                  <a:pt x="11066899" y="0"/>
                </a:lnTo>
                <a:cubicBezTo>
                  <a:pt x="11103686" y="0"/>
                  <a:pt x="11133508" y="29822"/>
                  <a:pt x="11133508" y="66609"/>
                </a:cubicBezTo>
                <a:lnTo>
                  <a:pt x="11133508" y="333035"/>
                </a:lnTo>
                <a:cubicBezTo>
                  <a:pt x="11133508" y="369822"/>
                  <a:pt x="11103686" y="399644"/>
                  <a:pt x="11066899" y="399644"/>
                </a:cubicBezTo>
                <a:lnTo>
                  <a:pt x="613523" y="399644"/>
                </a:lnTo>
                <a:lnTo>
                  <a:pt x="516629" y="232586"/>
                </a:lnTo>
                <a:lnTo>
                  <a:pt x="419736" y="399644"/>
                </a:lnTo>
                <a:lnTo>
                  <a:pt x="66609" y="399644"/>
                </a:lnTo>
                <a:cubicBezTo>
                  <a:pt x="29822" y="399644"/>
                  <a:pt x="0" y="369822"/>
                  <a:pt x="0" y="333035"/>
                </a:cubicBezTo>
                <a:lnTo>
                  <a:pt x="0" y="66609"/>
                </a:lnTo>
                <a:cubicBezTo>
                  <a:pt x="0" y="29822"/>
                  <a:pt x="29822" y="0"/>
                  <a:pt x="66609" y="0"/>
                </a:cubicBezTo>
                <a:close/>
              </a:path>
            </a:pathLst>
          </a:custGeom>
          <a:solidFill>
            <a:schemeClr val="bg1"/>
          </a:solidFill>
          <a:ln w="92075" cap="rnd">
            <a:solidFill>
              <a:schemeClr val="bg1"/>
            </a:solidFill>
            <a:round/>
          </a:ln>
          <a:effectLst>
            <a:outerShdw blurRad="254000" dist="38100" dir="2700000" algn="tl" rotWithShape="0">
              <a:prstClr val="black">
                <a:alpha val="5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174625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2603500" algn="l"/>
              </a:tabLst>
              <a:defRPr/>
            </a:pPr>
            <a:endParaRPr kumimoji="0" lang="ko-KR" altLang="en-US" sz="1600" b="0" i="0" u="none" strike="noStrike" kern="1200" cap="none" spc="0" normalizeH="0" baseline="0" noProof="0">
              <a:ln>
                <a:noFill/>
              </a:ln>
              <a:solidFill>
                <a:prstClr val="white">
                  <a:lumMod val="85000"/>
                </a:prstClr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0F930236-B5C8-D9A4-EA14-40915FCDBA70}"/>
              </a:ext>
            </a:extLst>
          </p:cNvPr>
          <p:cNvSpPr/>
          <p:nvPr userDrawn="1"/>
        </p:nvSpPr>
        <p:spPr>
          <a:xfrm>
            <a:off x="1037626" y="520066"/>
            <a:ext cx="635786" cy="15784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8374F9DA-878E-E86E-075B-62CFB99FBDF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38FDAC3C-35A6-415C-9F03-738A6AC328B1}" type="datetime1">
              <a:rPr lang="ko-KR" altLang="en-US" smtClean="0"/>
              <a:t>2026-04-02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E7EE000A-EE22-ABA9-FA89-DA9EA0B9A9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B5EA1F0-774A-3104-2C40-0915864269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  <p:pic>
        <p:nvPicPr>
          <p:cNvPr id="5" name="그림 4" descr="상징, 원, 로고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34F494D8-0B43-4288-8718-B3CEFA702069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9550" y="173911"/>
            <a:ext cx="503999" cy="503999"/>
          </a:xfrm>
          <a:prstGeom prst="rect">
            <a:avLst/>
          </a:prstGeom>
        </p:spPr>
      </p:pic>
      <p:grpSp>
        <p:nvGrpSpPr>
          <p:cNvPr id="7" name="그룹 6">
            <a:extLst>
              <a:ext uri="{FF2B5EF4-FFF2-40B4-BE49-F238E27FC236}">
                <a16:creationId xmlns:a16="http://schemas.microsoft.com/office/drawing/2014/main" id="{965ECDD4-C7AB-0780-5C56-AF0432547CDE}"/>
              </a:ext>
            </a:extLst>
          </p:cNvPr>
          <p:cNvGrpSpPr/>
          <p:nvPr userDrawn="1"/>
        </p:nvGrpSpPr>
        <p:grpSpPr>
          <a:xfrm>
            <a:off x="965438" y="334122"/>
            <a:ext cx="36002" cy="185944"/>
            <a:chOff x="398695" y="310309"/>
            <a:chExt cx="36002" cy="185944"/>
          </a:xfrm>
        </p:grpSpPr>
        <p:sp>
          <p:nvSpPr>
            <p:cNvPr id="8" name="타원 7">
              <a:extLst>
                <a:ext uri="{FF2B5EF4-FFF2-40B4-BE49-F238E27FC236}">
                  <a16:creationId xmlns:a16="http://schemas.microsoft.com/office/drawing/2014/main" id="{ED730A23-15D1-AC6C-BF3C-193DD65B5ED2}"/>
                </a:ext>
              </a:extLst>
            </p:cNvPr>
            <p:cNvSpPr/>
            <p:nvPr/>
          </p:nvSpPr>
          <p:spPr>
            <a:xfrm>
              <a:off x="398697" y="310309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9" name="타원 8">
              <a:extLst>
                <a:ext uri="{FF2B5EF4-FFF2-40B4-BE49-F238E27FC236}">
                  <a16:creationId xmlns:a16="http://schemas.microsoft.com/office/drawing/2014/main" id="{9A8DF95E-63D4-C269-1A9E-58D5FB253590}"/>
                </a:ext>
              </a:extLst>
            </p:cNvPr>
            <p:cNvSpPr/>
            <p:nvPr/>
          </p:nvSpPr>
          <p:spPr>
            <a:xfrm>
              <a:off x="398696" y="385281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10" name="타원 9">
              <a:extLst>
                <a:ext uri="{FF2B5EF4-FFF2-40B4-BE49-F238E27FC236}">
                  <a16:creationId xmlns:a16="http://schemas.microsoft.com/office/drawing/2014/main" id="{592BD15F-E509-254C-B07E-B9BE6F1576B5}"/>
                </a:ext>
              </a:extLst>
            </p:cNvPr>
            <p:cNvSpPr/>
            <p:nvPr/>
          </p:nvSpPr>
          <p:spPr>
            <a:xfrm>
              <a:off x="398695" y="460253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</p:grpSp>
      <p:sp>
        <p:nvSpPr>
          <p:cNvPr id="11" name="Freeform 9">
            <a:extLst>
              <a:ext uri="{FF2B5EF4-FFF2-40B4-BE49-F238E27FC236}">
                <a16:creationId xmlns:a16="http://schemas.microsoft.com/office/drawing/2014/main" id="{47220B64-BDC8-944A-0E1A-C71EB0647CDA}"/>
              </a:ext>
            </a:extLst>
          </p:cNvPr>
          <p:cNvSpPr>
            <a:spLocks/>
          </p:cNvSpPr>
          <p:nvPr userDrawn="1"/>
        </p:nvSpPr>
        <p:spPr bwMode="auto">
          <a:xfrm>
            <a:off x="11662598" y="370122"/>
            <a:ext cx="106877" cy="141044"/>
          </a:xfrm>
          <a:custGeom>
            <a:avLst/>
            <a:gdLst>
              <a:gd name="T0" fmla="*/ 1093 w 9310"/>
              <a:gd name="T1" fmla="*/ 12245 h 12286"/>
              <a:gd name="T2" fmla="*/ 582 w 9310"/>
              <a:gd name="T3" fmla="*/ 12007 h 12286"/>
              <a:gd name="T4" fmla="*/ 279 w 9310"/>
              <a:gd name="T5" fmla="*/ 11710 h 12286"/>
              <a:gd name="T6" fmla="*/ 42 w 9310"/>
              <a:gd name="T7" fmla="*/ 11209 h 12286"/>
              <a:gd name="T8" fmla="*/ 0 w 9310"/>
              <a:gd name="T9" fmla="*/ 1919 h 12286"/>
              <a:gd name="T10" fmla="*/ 117 w 9310"/>
              <a:gd name="T11" fmla="*/ 1260 h 12286"/>
              <a:gd name="T12" fmla="*/ 498 w 9310"/>
              <a:gd name="T13" fmla="*/ 629 h 12286"/>
              <a:gd name="T14" fmla="*/ 1088 w 9310"/>
              <a:gd name="T15" fmla="*/ 189 h 12286"/>
              <a:gd name="T16" fmla="*/ 1821 w 9310"/>
              <a:gd name="T17" fmla="*/ 1 h 12286"/>
              <a:gd name="T18" fmla="*/ 7682 w 9310"/>
              <a:gd name="T19" fmla="*/ 22 h 12286"/>
              <a:gd name="T20" fmla="*/ 8385 w 9310"/>
              <a:gd name="T21" fmla="*/ 278 h 12286"/>
              <a:gd name="T22" fmla="*/ 8929 w 9310"/>
              <a:gd name="T23" fmla="*/ 772 h 12286"/>
              <a:gd name="T24" fmla="*/ 9250 w 9310"/>
              <a:gd name="T25" fmla="*/ 1440 h 12286"/>
              <a:gd name="T26" fmla="*/ 9310 w 9310"/>
              <a:gd name="T27" fmla="*/ 8471 h 12286"/>
              <a:gd name="T28" fmla="*/ 9201 w 9310"/>
              <a:gd name="T29" fmla="*/ 8777 h 12286"/>
              <a:gd name="T30" fmla="*/ 8880 w 9310"/>
              <a:gd name="T31" fmla="*/ 8949 h 12286"/>
              <a:gd name="T32" fmla="*/ 8601 w 9310"/>
              <a:gd name="T33" fmla="*/ 8894 h 12286"/>
              <a:gd name="T34" fmla="*/ 8370 w 9310"/>
              <a:gd name="T35" fmla="*/ 8615 h 12286"/>
              <a:gd name="T36" fmla="*/ 8349 w 9310"/>
              <a:gd name="T37" fmla="*/ 1870 h 12286"/>
              <a:gd name="T38" fmla="*/ 8255 w 9310"/>
              <a:gd name="T39" fmla="*/ 1503 h 12286"/>
              <a:gd name="T40" fmla="*/ 8035 w 9310"/>
              <a:gd name="T41" fmla="*/ 1209 h 12286"/>
              <a:gd name="T42" fmla="*/ 7720 w 9310"/>
              <a:gd name="T43" fmla="*/ 1018 h 12286"/>
              <a:gd name="T44" fmla="*/ 7390 w 9310"/>
              <a:gd name="T45" fmla="*/ 960 h 12286"/>
              <a:gd name="T46" fmla="*/ 1680 w 9310"/>
              <a:gd name="T47" fmla="*/ 989 h 12286"/>
              <a:gd name="T48" fmla="*/ 1346 w 9310"/>
              <a:gd name="T49" fmla="*/ 1150 h 12286"/>
              <a:gd name="T50" fmla="*/ 1098 w 9310"/>
              <a:gd name="T51" fmla="*/ 1423 h 12286"/>
              <a:gd name="T52" fmla="*/ 970 w 9310"/>
              <a:gd name="T53" fmla="*/ 1774 h 12286"/>
              <a:gd name="T54" fmla="*/ 962 w 9310"/>
              <a:gd name="T55" fmla="*/ 10904 h 12286"/>
              <a:gd name="T56" fmla="*/ 1091 w 9310"/>
              <a:gd name="T57" fmla="*/ 11185 h 12286"/>
              <a:gd name="T58" fmla="*/ 1405 w 9310"/>
              <a:gd name="T59" fmla="*/ 11326 h 12286"/>
              <a:gd name="T60" fmla="*/ 1677 w 9310"/>
              <a:gd name="T61" fmla="*/ 11273 h 12286"/>
              <a:gd name="T62" fmla="*/ 4346 w 9310"/>
              <a:gd name="T63" fmla="*/ 8559 h 12286"/>
              <a:gd name="T64" fmla="*/ 4655 w 9310"/>
              <a:gd name="T65" fmla="*/ 8448 h 12286"/>
              <a:gd name="T66" fmla="*/ 4964 w 9310"/>
              <a:gd name="T67" fmla="*/ 8559 h 12286"/>
              <a:gd name="T68" fmla="*/ 7633 w 9310"/>
              <a:gd name="T69" fmla="*/ 11273 h 12286"/>
              <a:gd name="T70" fmla="*/ 7902 w 9310"/>
              <a:gd name="T71" fmla="*/ 11326 h 12286"/>
              <a:gd name="T72" fmla="*/ 8215 w 9310"/>
              <a:gd name="T73" fmla="*/ 11182 h 12286"/>
              <a:gd name="T74" fmla="*/ 8349 w 9310"/>
              <a:gd name="T75" fmla="*/ 10897 h 12286"/>
              <a:gd name="T76" fmla="*/ 8408 w 9310"/>
              <a:gd name="T77" fmla="*/ 10618 h 12286"/>
              <a:gd name="T78" fmla="*/ 8687 w 9310"/>
              <a:gd name="T79" fmla="*/ 10387 h 12286"/>
              <a:gd name="T80" fmla="*/ 8974 w 9310"/>
              <a:gd name="T81" fmla="*/ 10387 h 12286"/>
              <a:gd name="T82" fmla="*/ 9253 w 9310"/>
              <a:gd name="T83" fmla="*/ 10618 h 12286"/>
              <a:gd name="T84" fmla="*/ 9309 w 9310"/>
              <a:gd name="T85" fmla="*/ 10920 h 12286"/>
              <a:gd name="T86" fmla="*/ 9174 w 9310"/>
              <a:gd name="T87" fmla="*/ 11466 h 12286"/>
              <a:gd name="T88" fmla="*/ 8890 w 9310"/>
              <a:gd name="T89" fmla="*/ 11865 h 12286"/>
              <a:gd name="T90" fmla="*/ 8474 w 9310"/>
              <a:gd name="T91" fmla="*/ 12151 h 12286"/>
              <a:gd name="T92" fmla="*/ 7913 w 9310"/>
              <a:gd name="T93" fmla="*/ 12286 h 12286"/>
              <a:gd name="T94" fmla="*/ 7489 w 9310"/>
              <a:gd name="T95" fmla="*/ 12242 h 12286"/>
              <a:gd name="T96" fmla="*/ 6997 w 9310"/>
              <a:gd name="T97" fmla="*/ 12001 h 12286"/>
              <a:gd name="T98" fmla="*/ 2472 w 9310"/>
              <a:gd name="T99" fmla="*/ 11859 h 12286"/>
              <a:gd name="T100" fmla="*/ 2080 w 9310"/>
              <a:gd name="T101" fmla="*/ 12145 h 12286"/>
              <a:gd name="T102" fmla="*/ 1545 w 9310"/>
              <a:gd name="T103" fmla="*/ 12285 h 1228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  <a:cxn ang="0">
                <a:pos x="T100" y="T101"/>
              </a:cxn>
              <a:cxn ang="0">
                <a:pos x="T102" y="T103"/>
              </a:cxn>
            </a:cxnLst>
            <a:rect l="0" t="0" r="r" b="b"/>
            <a:pathLst>
              <a:path w="9310" h="12286">
                <a:moveTo>
                  <a:pt x="1447" y="12286"/>
                </a:moveTo>
                <a:lnTo>
                  <a:pt x="1375" y="12286"/>
                </a:lnTo>
                <a:lnTo>
                  <a:pt x="1232" y="12272"/>
                </a:lnTo>
                <a:lnTo>
                  <a:pt x="1093" y="12245"/>
                </a:lnTo>
                <a:lnTo>
                  <a:pt x="957" y="12203"/>
                </a:lnTo>
                <a:lnTo>
                  <a:pt x="826" y="12150"/>
                </a:lnTo>
                <a:lnTo>
                  <a:pt x="700" y="12085"/>
                </a:lnTo>
                <a:lnTo>
                  <a:pt x="582" y="12007"/>
                </a:lnTo>
                <a:lnTo>
                  <a:pt x="471" y="11918"/>
                </a:lnTo>
                <a:lnTo>
                  <a:pt x="419" y="11869"/>
                </a:lnTo>
                <a:lnTo>
                  <a:pt x="370" y="11818"/>
                </a:lnTo>
                <a:lnTo>
                  <a:pt x="279" y="11710"/>
                </a:lnTo>
                <a:lnTo>
                  <a:pt x="202" y="11595"/>
                </a:lnTo>
                <a:lnTo>
                  <a:pt x="135" y="11471"/>
                </a:lnTo>
                <a:lnTo>
                  <a:pt x="82" y="11343"/>
                </a:lnTo>
                <a:lnTo>
                  <a:pt x="42" y="11209"/>
                </a:lnTo>
                <a:lnTo>
                  <a:pt x="14" y="11070"/>
                </a:lnTo>
                <a:lnTo>
                  <a:pt x="1" y="10927"/>
                </a:lnTo>
                <a:lnTo>
                  <a:pt x="0" y="10855"/>
                </a:lnTo>
                <a:lnTo>
                  <a:pt x="0" y="1919"/>
                </a:lnTo>
                <a:lnTo>
                  <a:pt x="1" y="1821"/>
                </a:lnTo>
                <a:lnTo>
                  <a:pt x="22" y="1627"/>
                </a:lnTo>
                <a:lnTo>
                  <a:pt x="60" y="1440"/>
                </a:lnTo>
                <a:lnTo>
                  <a:pt x="117" y="1260"/>
                </a:lnTo>
                <a:lnTo>
                  <a:pt x="189" y="1089"/>
                </a:lnTo>
                <a:lnTo>
                  <a:pt x="278" y="924"/>
                </a:lnTo>
                <a:lnTo>
                  <a:pt x="382" y="772"/>
                </a:lnTo>
                <a:lnTo>
                  <a:pt x="498" y="629"/>
                </a:lnTo>
                <a:lnTo>
                  <a:pt x="629" y="498"/>
                </a:lnTo>
                <a:lnTo>
                  <a:pt x="772" y="382"/>
                </a:lnTo>
                <a:lnTo>
                  <a:pt x="924" y="278"/>
                </a:lnTo>
                <a:lnTo>
                  <a:pt x="1088" y="189"/>
                </a:lnTo>
                <a:lnTo>
                  <a:pt x="1260" y="117"/>
                </a:lnTo>
                <a:lnTo>
                  <a:pt x="1440" y="60"/>
                </a:lnTo>
                <a:lnTo>
                  <a:pt x="1627" y="22"/>
                </a:lnTo>
                <a:lnTo>
                  <a:pt x="1821" y="1"/>
                </a:lnTo>
                <a:lnTo>
                  <a:pt x="1919" y="0"/>
                </a:lnTo>
                <a:lnTo>
                  <a:pt x="7390" y="0"/>
                </a:lnTo>
                <a:lnTo>
                  <a:pt x="7489" y="1"/>
                </a:lnTo>
                <a:lnTo>
                  <a:pt x="7682" y="22"/>
                </a:lnTo>
                <a:lnTo>
                  <a:pt x="7869" y="60"/>
                </a:lnTo>
                <a:lnTo>
                  <a:pt x="8049" y="117"/>
                </a:lnTo>
                <a:lnTo>
                  <a:pt x="8222" y="189"/>
                </a:lnTo>
                <a:lnTo>
                  <a:pt x="8385" y="278"/>
                </a:lnTo>
                <a:lnTo>
                  <a:pt x="8539" y="382"/>
                </a:lnTo>
                <a:lnTo>
                  <a:pt x="8681" y="498"/>
                </a:lnTo>
                <a:lnTo>
                  <a:pt x="8811" y="629"/>
                </a:lnTo>
                <a:lnTo>
                  <a:pt x="8929" y="772"/>
                </a:lnTo>
                <a:lnTo>
                  <a:pt x="9033" y="924"/>
                </a:lnTo>
                <a:lnTo>
                  <a:pt x="9120" y="1089"/>
                </a:lnTo>
                <a:lnTo>
                  <a:pt x="9194" y="1260"/>
                </a:lnTo>
                <a:lnTo>
                  <a:pt x="9250" y="1440"/>
                </a:lnTo>
                <a:lnTo>
                  <a:pt x="9289" y="1627"/>
                </a:lnTo>
                <a:lnTo>
                  <a:pt x="9308" y="1821"/>
                </a:lnTo>
                <a:lnTo>
                  <a:pt x="9310" y="1919"/>
                </a:lnTo>
                <a:lnTo>
                  <a:pt x="9310" y="8471"/>
                </a:lnTo>
                <a:lnTo>
                  <a:pt x="9308" y="8521"/>
                </a:lnTo>
                <a:lnTo>
                  <a:pt x="9289" y="8615"/>
                </a:lnTo>
                <a:lnTo>
                  <a:pt x="9253" y="8700"/>
                </a:lnTo>
                <a:lnTo>
                  <a:pt x="9201" y="8777"/>
                </a:lnTo>
                <a:lnTo>
                  <a:pt x="9136" y="8842"/>
                </a:lnTo>
                <a:lnTo>
                  <a:pt x="9058" y="8894"/>
                </a:lnTo>
                <a:lnTo>
                  <a:pt x="8974" y="8930"/>
                </a:lnTo>
                <a:lnTo>
                  <a:pt x="8880" y="8949"/>
                </a:lnTo>
                <a:lnTo>
                  <a:pt x="8830" y="8952"/>
                </a:lnTo>
                <a:lnTo>
                  <a:pt x="8781" y="8949"/>
                </a:lnTo>
                <a:lnTo>
                  <a:pt x="8687" y="8930"/>
                </a:lnTo>
                <a:lnTo>
                  <a:pt x="8601" y="8894"/>
                </a:lnTo>
                <a:lnTo>
                  <a:pt x="8524" y="8842"/>
                </a:lnTo>
                <a:lnTo>
                  <a:pt x="8460" y="8777"/>
                </a:lnTo>
                <a:lnTo>
                  <a:pt x="8408" y="8700"/>
                </a:lnTo>
                <a:lnTo>
                  <a:pt x="8370" y="8615"/>
                </a:lnTo>
                <a:lnTo>
                  <a:pt x="8352" y="8521"/>
                </a:lnTo>
                <a:lnTo>
                  <a:pt x="8350" y="8471"/>
                </a:lnTo>
                <a:lnTo>
                  <a:pt x="8350" y="1919"/>
                </a:lnTo>
                <a:lnTo>
                  <a:pt x="8349" y="1870"/>
                </a:lnTo>
                <a:lnTo>
                  <a:pt x="8340" y="1774"/>
                </a:lnTo>
                <a:lnTo>
                  <a:pt x="8320" y="1680"/>
                </a:lnTo>
                <a:lnTo>
                  <a:pt x="8293" y="1590"/>
                </a:lnTo>
                <a:lnTo>
                  <a:pt x="8255" y="1503"/>
                </a:lnTo>
                <a:lnTo>
                  <a:pt x="8211" y="1423"/>
                </a:lnTo>
                <a:lnTo>
                  <a:pt x="8160" y="1346"/>
                </a:lnTo>
                <a:lnTo>
                  <a:pt x="8101" y="1274"/>
                </a:lnTo>
                <a:lnTo>
                  <a:pt x="8035" y="1209"/>
                </a:lnTo>
                <a:lnTo>
                  <a:pt x="7964" y="1150"/>
                </a:lnTo>
                <a:lnTo>
                  <a:pt x="7888" y="1099"/>
                </a:lnTo>
                <a:lnTo>
                  <a:pt x="7806" y="1054"/>
                </a:lnTo>
                <a:lnTo>
                  <a:pt x="7720" y="1018"/>
                </a:lnTo>
                <a:lnTo>
                  <a:pt x="7630" y="989"/>
                </a:lnTo>
                <a:lnTo>
                  <a:pt x="7537" y="970"/>
                </a:lnTo>
                <a:lnTo>
                  <a:pt x="7440" y="960"/>
                </a:lnTo>
                <a:lnTo>
                  <a:pt x="7390" y="960"/>
                </a:lnTo>
                <a:lnTo>
                  <a:pt x="1919" y="960"/>
                </a:lnTo>
                <a:lnTo>
                  <a:pt x="1870" y="960"/>
                </a:lnTo>
                <a:lnTo>
                  <a:pt x="1774" y="970"/>
                </a:lnTo>
                <a:lnTo>
                  <a:pt x="1680" y="989"/>
                </a:lnTo>
                <a:lnTo>
                  <a:pt x="1589" y="1018"/>
                </a:lnTo>
                <a:lnTo>
                  <a:pt x="1503" y="1054"/>
                </a:lnTo>
                <a:lnTo>
                  <a:pt x="1422" y="1099"/>
                </a:lnTo>
                <a:lnTo>
                  <a:pt x="1346" y="1150"/>
                </a:lnTo>
                <a:lnTo>
                  <a:pt x="1274" y="1209"/>
                </a:lnTo>
                <a:lnTo>
                  <a:pt x="1209" y="1274"/>
                </a:lnTo>
                <a:lnTo>
                  <a:pt x="1150" y="1346"/>
                </a:lnTo>
                <a:lnTo>
                  <a:pt x="1098" y="1423"/>
                </a:lnTo>
                <a:lnTo>
                  <a:pt x="1054" y="1503"/>
                </a:lnTo>
                <a:lnTo>
                  <a:pt x="1018" y="1590"/>
                </a:lnTo>
                <a:lnTo>
                  <a:pt x="989" y="1680"/>
                </a:lnTo>
                <a:lnTo>
                  <a:pt x="970" y="1774"/>
                </a:lnTo>
                <a:lnTo>
                  <a:pt x="960" y="1870"/>
                </a:lnTo>
                <a:lnTo>
                  <a:pt x="960" y="1919"/>
                </a:lnTo>
                <a:lnTo>
                  <a:pt x="960" y="10855"/>
                </a:lnTo>
                <a:lnTo>
                  <a:pt x="962" y="10904"/>
                </a:lnTo>
                <a:lnTo>
                  <a:pt x="978" y="10995"/>
                </a:lnTo>
                <a:lnTo>
                  <a:pt x="1011" y="11078"/>
                </a:lnTo>
                <a:lnTo>
                  <a:pt x="1061" y="11152"/>
                </a:lnTo>
                <a:lnTo>
                  <a:pt x="1091" y="11185"/>
                </a:lnTo>
                <a:lnTo>
                  <a:pt x="1129" y="11218"/>
                </a:lnTo>
                <a:lnTo>
                  <a:pt x="1212" y="11271"/>
                </a:lnTo>
                <a:lnTo>
                  <a:pt x="1306" y="11307"/>
                </a:lnTo>
                <a:lnTo>
                  <a:pt x="1405" y="11326"/>
                </a:lnTo>
                <a:lnTo>
                  <a:pt x="1456" y="11327"/>
                </a:lnTo>
                <a:lnTo>
                  <a:pt x="1504" y="11325"/>
                </a:lnTo>
                <a:lnTo>
                  <a:pt x="1595" y="11307"/>
                </a:lnTo>
                <a:lnTo>
                  <a:pt x="1677" y="11273"/>
                </a:lnTo>
                <a:lnTo>
                  <a:pt x="1751" y="11222"/>
                </a:lnTo>
                <a:lnTo>
                  <a:pt x="1784" y="11191"/>
                </a:lnTo>
                <a:lnTo>
                  <a:pt x="4310" y="8592"/>
                </a:lnTo>
                <a:lnTo>
                  <a:pt x="4346" y="8559"/>
                </a:lnTo>
                <a:lnTo>
                  <a:pt x="4426" y="8505"/>
                </a:lnTo>
                <a:lnTo>
                  <a:pt x="4513" y="8468"/>
                </a:lnTo>
                <a:lnTo>
                  <a:pt x="4607" y="8449"/>
                </a:lnTo>
                <a:lnTo>
                  <a:pt x="4655" y="8448"/>
                </a:lnTo>
                <a:lnTo>
                  <a:pt x="4703" y="8449"/>
                </a:lnTo>
                <a:lnTo>
                  <a:pt x="4797" y="8468"/>
                </a:lnTo>
                <a:lnTo>
                  <a:pt x="4885" y="8505"/>
                </a:lnTo>
                <a:lnTo>
                  <a:pt x="4964" y="8559"/>
                </a:lnTo>
                <a:lnTo>
                  <a:pt x="4999" y="8592"/>
                </a:lnTo>
                <a:lnTo>
                  <a:pt x="7527" y="11191"/>
                </a:lnTo>
                <a:lnTo>
                  <a:pt x="7560" y="11222"/>
                </a:lnTo>
                <a:lnTo>
                  <a:pt x="7633" y="11273"/>
                </a:lnTo>
                <a:lnTo>
                  <a:pt x="7714" y="11307"/>
                </a:lnTo>
                <a:lnTo>
                  <a:pt x="7803" y="11325"/>
                </a:lnTo>
                <a:lnTo>
                  <a:pt x="7852" y="11327"/>
                </a:lnTo>
                <a:lnTo>
                  <a:pt x="7902" y="11326"/>
                </a:lnTo>
                <a:lnTo>
                  <a:pt x="8002" y="11306"/>
                </a:lnTo>
                <a:lnTo>
                  <a:pt x="8095" y="11270"/>
                </a:lnTo>
                <a:lnTo>
                  <a:pt x="8179" y="11215"/>
                </a:lnTo>
                <a:lnTo>
                  <a:pt x="8215" y="11182"/>
                </a:lnTo>
                <a:lnTo>
                  <a:pt x="8248" y="11148"/>
                </a:lnTo>
                <a:lnTo>
                  <a:pt x="8298" y="11073"/>
                </a:lnTo>
                <a:lnTo>
                  <a:pt x="8331" y="10989"/>
                </a:lnTo>
                <a:lnTo>
                  <a:pt x="8349" y="10897"/>
                </a:lnTo>
                <a:lnTo>
                  <a:pt x="8350" y="10847"/>
                </a:lnTo>
                <a:lnTo>
                  <a:pt x="8352" y="10798"/>
                </a:lnTo>
                <a:lnTo>
                  <a:pt x="8370" y="10704"/>
                </a:lnTo>
                <a:lnTo>
                  <a:pt x="8408" y="10618"/>
                </a:lnTo>
                <a:lnTo>
                  <a:pt x="8460" y="10541"/>
                </a:lnTo>
                <a:lnTo>
                  <a:pt x="8524" y="10477"/>
                </a:lnTo>
                <a:lnTo>
                  <a:pt x="8601" y="10425"/>
                </a:lnTo>
                <a:lnTo>
                  <a:pt x="8687" y="10387"/>
                </a:lnTo>
                <a:lnTo>
                  <a:pt x="8781" y="10369"/>
                </a:lnTo>
                <a:lnTo>
                  <a:pt x="8830" y="10367"/>
                </a:lnTo>
                <a:lnTo>
                  <a:pt x="8880" y="10369"/>
                </a:lnTo>
                <a:lnTo>
                  <a:pt x="8974" y="10387"/>
                </a:lnTo>
                <a:lnTo>
                  <a:pt x="9058" y="10425"/>
                </a:lnTo>
                <a:lnTo>
                  <a:pt x="9136" y="10477"/>
                </a:lnTo>
                <a:lnTo>
                  <a:pt x="9201" y="10541"/>
                </a:lnTo>
                <a:lnTo>
                  <a:pt x="9253" y="10618"/>
                </a:lnTo>
                <a:lnTo>
                  <a:pt x="9289" y="10704"/>
                </a:lnTo>
                <a:lnTo>
                  <a:pt x="9308" y="10798"/>
                </a:lnTo>
                <a:lnTo>
                  <a:pt x="9310" y="10847"/>
                </a:lnTo>
                <a:lnTo>
                  <a:pt x="9309" y="10920"/>
                </a:lnTo>
                <a:lnTo>
                  <a:pt x="9295" y="11063"/>
                </a:lnTo>
                <a:lnTo>
                  <a:pt x="9267" y="11202"/>
                </a:lnTo>
                <a:lnTo>
                  <a:pt x="9227" y="11336"/>
                </a:lnTo>
                <a:lnTo>
                  <a:pt x="9174" y="11466"/>
                </a:lnTo>
                <a:lnTo>
                  <a:pt x="9107" y="11588"/>
                </a:lnTo>
                <a:lnTo>
                  <a:pt x="9030" y="11705"/>
                </a:lnTo>
                <a:lnTo>
                  <a:pt x="8939" y="11814"/>
                </a:lnTo>
                <a:lnTo>
                  <a:pt x="8890" y="11865"/>
                </a:lnTo>
                <a:lnTo>
                  <a:pt x="8837" y="11915"/>
                </a:lnTo>
                <a:lnTo>
                  <a:pt x="8724" y="12006"/>
                </a:lnTo>
                <a:lnTo>
                  <a:pt x="8602" y="12085"/>
                </a:lnTo>
                <a:lnTo>
                  <a:pt x="8474" y="12151"/>
                </a:lnTo>
                <a:lnTo>
                  <a:pt x="8340" y="12206"/>
                </a:lnTo>
                <a:lnTo>
                  <a:pt x="8200" y="12246"/>
                </a:lnTo>
                <a:lnTo>
                  <a:pt x="8058" y="12273"/>
                </a:lnTo>
                <a:lnTo>
                  <a:pt x="7913" y="12286"/>
                </a:lnTo>
                <a:lnTo>
                  <a:pt x="7841" y="12286"/>
                </a:lnTo>
                <a:lnTo>
                  <a:pt x="7767" y="12285"/>
                </a:lnTo>
                <a:lnTo>
                  <a:pt x="7626" y="12269"/>
                </a:lnTo>
                <a:lnTo>
                  <a:pt x="7489" y="12242"/>
                </a:lnTo>
                <a:lnTo>
                  <a:pt x="7358" y="12200"/>
                </a:lnTo>
                <a:lnTo>
                  <a:pt x="7232" y="12147"/>
                </a:lnTo>
                <a:lnTo>
                  <a:pt x="7111" y="12079"/>
                </a:lnTo>
                <a:lnTo>
                  <a:pt x="6997" y="12001"/>
                </a:lnTo>
                <a:lnTo>
                  <a:pt x="6889" y="11911"/>
                </a:lnTo>
                <a:lnTo>
                  <a:pt x="6839" y="11859"/>
                </a:lnTo>
                <a:lnTo>
                  <a:pt x="4655" y="9615"/>
                </a:lnTo>
                <a:lnTo>
                  <a:pt x="2472" y="11859"/>
                </a:lnTo>
                <a:lnTo>
                  <a:pt x="2422" y="11909"/>
                </a:lnTo>
                <a:lnTo>
                  <a:pt x="2315" y="12000"/>
                </a:lnTo>
                <a:lnTo>
                  <a:pt x="2201" y="12079"/>
                </a:lnTo>
                <a:lnTo>
                  <a:pt x="2080" y="12145"/>
                </a:lnTo>
                <a:lnTo>
                  <a:pt x="1955" y="12199"/>
                </a:lnTo>
                <a:lnTo>
                  <a:pt x="1823" y="12240"/>
                </a:lnTo>
                <a:lnTo>
                  <a:pt x="1686" y="12269"/>
                </a:lnTo>
                <a:lnTo>
                  <a:pt x="1545" y="12285"/>
                </a:lnTo>
                <a:lnTo>
                  <a:pt x="1473" y="12286"/>
                </a:lnTo>
                <a:lnTo>
                  <a:pt x="1460" y="12286"/>
                </a:lnTo>
                <a:lnTo>
                  <a:pt x="1447" y="12286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3" name="제목 개체 틀 1">
            <a:extLst>
              <a:ext uri="{FF2B5EF4-FFF2-40B4-BE49-F238E27FC236}">
                <a16:creationId xmlns:a16="http://schemas.microsoft.com/office/drawing/2014/main" id="{8C980597-6F00-BBCB-9829-8C1C97B25C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37626" y="321093"/>
            <a:ext cx="10430212" cy="233532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ko-KR" altLang="en-US"/>
              <a:t>마스터 제목 스타일 편집</a:t>
            </a:r>
          </a:p>
        </p:txBody>
      </p:sp>
    </p:spTree>
    <p:extLst>
      <p:ext uri="{BB962C8B-B14F-4D97-AF65-F5344CB8AC3E}">
        <p14:creationId xmlns:p14="http://schemas.microsoft.com/office/powerpoint/2010/main" val="94099829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FEEA165-3F0A-880B-9371-6CA4FC662C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C7F3832-D575-B192-C9E5-3F5F5AF820B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32A0875B-5012-C4D4-34DD-64942B1EC8C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A5E6234D-EC06-5E2E-B205-92424C15624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07A0DF1-AEE6-4B0D-89D2-351E7B3EF65C}" type="datetime1">
              <a:rPr lang="ko-KR" altLang="en-US" smtClean="0"/>
              <a:t>2026-04-02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206D4A64-BD06-1C65-8FEE-8AB7FC5A97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3FEC033B-08C1-51C2-514D-21FE02EF1D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9209300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94C80B3-2773-0186-7384-F0AD5CD4FE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DF910DF1-53D0-7068-0730-1D1CCBC68FD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42A78ACE-35BC-CE88-0216-E9051C73F59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8A81F8D8-0F51-47D0-BB1F-D8D9CC14030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9E14E3C8-8748-5265-4FD0-09D2757103B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50C317E0-79A6-DDA2-6311-F5CA96E315EE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CA93B8C9-630F-4D57-944D-04FD37CECCD3}" type="datetime1">
              <a:rPr lang="ko-KR" altLang="en-US" smtClean="0"/>
              <a:t>2026-04-02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C64B9B9B-DE29-812B-D879-30570E55DE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781069FA-9B24-53DC-4E72-47AB792BD1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1218016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87BEAC6-B210-057A-EDB2-6820333F56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1C77D0B3-A47C-9147-4B3A-92CAB4BE49C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E986165A-AC43-4902-9541-874ECD310BA3}" type="datetime1">
              <a:rPr lang="ko-KR" altLang="en-US" smtClean="0"/>
              <a:t>2026-04-02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41131659-D086-7B2B-7BDA-2B7B4CA560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4BA19E18-62FF-7A30-2F06-02E7580CA9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5750456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DE71917-1F20-572F-E94C-A526C06852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07D9E8E-1032-5491-08E1-2F612B3EA0A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55900DF7-AD67-D88E-48D9-88D790EC2DA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A9CD9FBF-F3FA-7658-7936-0D1A2FF02DF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47E6EE6D-2B0E-43A9-87A2-7354CDB998F4}" type="datetime1">
              <a:rPr lang="ko-KR" altLang="en-US" smtClean="0"/>
              <a:t>2026-04-02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15A39D0C-3288-26C9-1E44-0431F48984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BB7CA71F-AE7D-1B55-21A0-1A87DCD4C6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5919040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85D7F17-3594-D182-A5C0-437C03D88C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E04DF7D6-CE8D-00BB-75E2-3478943B7DE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D5C66BC9-C6B7-805A-D64F-129BC272771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E91EE813-70EE-6511-B077-F5126220657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CC5944E-0BC8-4FAA-9F94-6B4B05834E10}" type="datetime1">
              <a:rPr lang="ko-KR" altLang="en-US" smtClean="0"/>
              <a:t>2026-04-02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6D1B9F22-5574-7ED4-D06B-C97AF0BD9C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E4FEAF6C-BEDB-9F84-DFBC-95DABECC8F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1780768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95EE7C2-4CFD-C1E6-3632-13EC3CAC61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D19B1155-E241-263B-AF79-491CBDDA3BD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B6A664C-62FC-AE91-4AEB-8FAEB493B892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8EF4A19C-72C8-45CA-8E3F-68A7FA345D6C}" type="datetime1">
              <a:rPr lang="ko-KR" altLang="en-US" smtClean="0"/>
              <a:t>2026-04-02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3E9205B3-A98D-6C78-D6F4-825DDC6BBF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E523C234-845E-B13B-0C99-9B2EEA171E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8862654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68451ECF-85EC-C955-3B84-54453192B08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1F7F4FAD-DE4B-C65A-B284-2FC60889FBF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CB65CBDD-200F-9431-F587-79B0E4721B4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6A175B2-010B-4341-954C-5F8F5C70B124}" type="datetime1">
              <a:rPr lang="ko-KR" altLang="en-US" smtClean="0"/>
              <a:t>2026-04-02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10C0058-AB3B-AC27-3514-3ABE595D3F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393A7CF-BE0B-8336-2308-D2D5924009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0147275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7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1" name="그림 30" descr="상징, 원, 로고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76D4470C-5E69-55C1-270F-9A78C936D5EB}"/>
              </a:ext>
            </a:extLst>
          </p:cNvPr>
          <p:cNvPicPr>
            <a:picLocks noChangeAspect="1"/>
          </p:cNvPicPr>
          <p:nvPr userDrawn="1"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9550" y="173911"/>
            <a:ext cx="503999" cy="503999"/>
          </a:xfrm>
          <a:prstGeom prst="rect">
            <a:avLst/>
          </a:prstGeom>
        </p:spPr>
      </p:pic>
      <p:sp>
        <p:nvSpPr>
          <p:cNvPr id="15" name="자유형: 도형 14">
            <a:extLst>
              <a:ext uri="{FF2B5EF4-FFF2-40B4-BE49-F238E27FC236}">
                <a16:creationId xmlns:a16="http://schemas.microsoft.com/office/drawing/2014/main" id="{B6D54C95-5DE1-BB83-7600-92BCFDA2E6BA}"/>
              </a:ext>
            </a:extLst>
          </p:cNvPr>
          <p:cNvSpPr/>
          <p:nvPr userDrawn="1"/>
        </p:nvSpPr>
        <p:spPr>
          <a:xfrm>
            <a:off x="832348" y="226088"/>
            <a:ext cx="11070092" cy="399644"/>
          </a:xfrm>
          <a:custGeom>
            <a:avLst/>
            <a:gdLst>
              <a:gd name="connsiteX0" fmla="*/ 66609 w 11133508"/>
              <a:gd name="connsiteY0" fmla="*/ 0 h 399644"/>
              <a:gd name="connsiteX1" fmla="*/ 11066899 w 11133508"/>
              <a:gd name="connsiteY1" fmla="*/ 0 h 399644"/>
              <a:gd name="connsiteX2" fmla="*/ 11133508 w 11133508"/>
              <a:gd name="connsiteY2" fmla="*/ 66609 h 399644"/>
              <a:gd name="connsiteX3" fmla="*/ 11133508 w 11133508"/>
              <a:gd name="connsiteY3" fmla="*/ 333035 h 399644"/>
              <a:gd name="connsiteX4" fmla="*/ 11066899 w 11133508"/>
              <a:gd name="connsiteY4" fmla="*/ 399644 h 399644"/>
              <a:gd name="connsiteX5" fmla="*/ 613523 w 11133508"/>
              <a:gd name="connsiteY5" fmla="*/ 399644 h 399644"/>
              <a:gd name="connsiteX6" fmla="*/ 516629 w 11133508"/>
              <a:gd name="connsiteY6" fmla="*/ 232586 h 399644"/>
              <a:gd name="connsiteX7" fmla="*/ 419736 w 11133508"/>
              <a:gd name="connsiteY7" fmla="*/ 399644 h 399644"/>
              <a:gd name="connsiteX8" fmla="*/ 66609 w 11133508"/>
              <a:gd name="connsiteY8" fmla="*/ 399644 h 399644"/>
              <a:gd name="connsiteX9" fmla="*/ 0 w 11133508"/>
              <a:gd name="connsiteY9" fmla="*/ 333035 h 399644"/>
              <a:gd name="connsiteX10" fmla="*/ 0 w 11133508"/>
              <a:gd name="connsiteY10" fmla="*/ 66609 h 399644"/>
              <a:gd name="connsiteX11" fmla="*/ 66609 w 11133508"/>
              <a:gd name="connsiteY11" fmla="*/ 0 h 3996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11133508" h="399644">
                <a:moveTo>
                  <a:pt x="66609" y="0"/>
                </a:moveTo>
                <a:lnTo>
                  <a:pt x="11066899" y="0"/>
                </a:lnTo>
                <a:cubicBezTo>
                  <a:pt x="11103686" y="0"/>
                  <a:pt x="11133508" y="29822"/>
                  <a:pt x="11133508" y="66609"/>
                </a:cubicBezTo>
                <a:lnTo>
                  <a:pt x="11133508" y="333035"/>
                </a:lnTo>
                <a:cubicBezTo>
                  <a:pt x="11133508" y="369822"/>
                  <a:pt x="11103686" y="399644"/>
                  <a:pt x="11066899" y="399644"/>
                </a:cubicBezTo>
                <a:lnTo>
                  <a:pt x="613523" y="399644"/>
                </a:lnTo>
                <a:lnTo>
                  <a:pt x="516629" y="232586"/>
                </a:lnTo>
                <a:lnTo>
                  <a:pt x="419736" y="399644"/>
                </a:lnTo>
                <a:lnTo>
                  <a:pt x="66609" y="399644"/>
                </a:lnTo>
                <a:cubicBezTo>
                  <a:pt x="29822" y="399644"/>
                  <a:pt x="0" y="369822"/>
                  <a:pt x="0" y="333035"/>
                </a:cubicBezTo>
                <a:lnTo>
                  <a:pt x="0" y="66609"/>
                </a:lnTo>
                <a:cubicBezTo>
                  <a:pt x="0" y="29822"/>
                  <a:pt x="29822" y="0"/>
                  <a:pt x="66609" y="0"/>
                </a:cubicBezTo>
                <a:close/>
              </a:path>
            </a:pathLst>
          </a:custGeom>
          <a:solidFill>
            <a:schemeClr val="bg1"/>
          </a:solidFill>
          <a:ln w="92075" cap="rnd">
            <a:solidFill>
              <a:schemeClr val="bg1"/>
            </a:solidFill>
            <a:round/>
          </a:ln>
          <a:effectLst>
            <a:outerShdw blurRad="254000" dist="38100" dir="2700000" algn="tl" rotWithShape="0">
              <a:prstClr val="black">
                <a:alpha val="5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174625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2603500" algn="l"/>
              </a:tabLst>
              <a:defRPr/>
            </a:pPr>
            <a:endParaRPr kumimoji="0" lang="ko-KR" altLang="en-US" sz="1600" b="0" i="0" u="none" strike="noStrike" kern="1200" cap="none" spc="0" normalizeH="0" baseline="0" noProof="0">
              <a:ln>
                <a:noFill/>
              </a:ln>
              <a:solidFill>
                <a:prstClr val="white">
                  <a:lumMod val="85000"/>
                </a:prstClr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grpSp>
        <p:nvGrpSpPr>
          <p:cNvPr id="16" name="그룹 15">
            <a:extLst>
              <a:ext uri="{FF2B5EF4-FFF2-40B4-BE49-F238E27FC236}">
                <a16:creationId xmlns:a16="http://schemas.microsoft.com/office/drawing/2014/main" id="{3D9701EA-CA45-03D3-8629-CACB976B13C7}"/>
              </a:ext>
            </a:extLst>
          </p:cNvPr>
          <p:cNvGrpSpPr/>
          <p:nvPr userDrawn="1"/>
        </p:nvGrpSpPr>
        <p:grpSpPr>
          <a:xfrm>
            <a:off x="965438" y="334122"/>
            <a:ext cx="36002" cy="185944"/>
            <a:chOff x="398695" y="310309"/>
            <a:chExt cx="36002" cy="185944"/>
          </a:xfrm>
        </p:grpSpPr>
        <p:sp>
          <p:nvSpPr>
            <p:cNvPr id="17" name="타원 16">
              <a:extLst>
                <a:ext uri="{FF2B5EF4-FFF2-40B4-BE49-F238E27FC236}">
                  <a16:creationId xmlns:a16="http://schemas.microsoft.com/office/drawing/2014/main" id="{41659905-6BB4-F77A-C4B2-CD01EE50E9A3}"/>
                </a:ext>
              </a:extLst>
            </p:cNvPr>
            <p:cNvSpPr/>
            <p:nvPr/>
          </p:nvSpPr>
          <p:spPr>
            <a:xfrm>
              <a:off x="398697" y="310309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18" name="타원 17">
              <a:extLst>
                <a:ext uri="{FF2B5EF4-FFF2-40B4-BE49-F238E27FC236}">
                  <a16:creationId xmlns:a16="http://schemas.microsoft.com/office/drawing/2014/main" id="{56276BA2-601C-3FB1-B544-5F1FB3A4C59F}"/>
                </a:ext>
              </a:extLst>
            </p:cNvPr>
            <p:cNvSpPr/>
            <p:nvPr/>
          </p:nvSpPr>
          <p:spPr>
            <a:xfrm>
              <a:off x="398696" y="385281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19" name="타원 18">
              <a:extLst>
                <a:ext uri="{FF2B5EF4-FFF2-40B4-BE49-F238E27FC236}">
                  <a16:creationId xmlns:a16="http://schemas.microsoft.com/office/drawing/2014/main" id="{6E75D259-5225-4C37-ABC2-39DA372499A1}"/>
                </a:ext>
              </a:extLst>
            </p:cNvPr>
            <p:cNvSpPr/>
            <p:nvPr/>
          </p:nvSpPr>
          <p:spPr>
            <a:xfrm>
              <a:off x="398695" y="460253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</p:grpSp>
      <p:sp>
        <p:nvSpPr>
          <p:cNvPr id="21" name="Freeform 9">
            <a:extLst>
              <a:ext uri="{FF2B5EF4-FFF2-40B4-BE49-F238E27FC236}">
                <a16:creationId xmlns:a16="http://schemas.microsoft.com/office/drawing/2014/main" id="{6514361D-8169-AF24-F568-2B5FC5AD42A2}"/>
              </a:ext>
            </a:extLst>
          </p:cNvPr>
          <p:cNvSpPr>
            <a:spLocks/>
          </p:cNvSpPr>
          <p:nvPr userDrawn="1"/>
        </p:nvSpPr>
        <p:spPr bwMode="auto">
          <a:xfrm>
            <a:off x="11662598" y="370122"/>
            <a:ext cx="106877" cy="141044"/>
          </a:xfrm>
          <a:custGeom>
            <a:avLst/>
            <a:gdLst>
              <a:gd name="T0" fmla="*/ 1093 w 9310"/>
              <a:gd name="T1" fmla="*/ 12245 h 12286"/>
              <a:gd name="T2" fmla="*/ 582 w 9310"/>
              <a:gd name="T3" fmla="*/ 12007 h 12286"/>
              <a:gd name="T4" fmla="*/ 279 w 9310"/>
              <a:gd name="T5" fmla="*/ 11710 h 12286"/>
              <a:gd name="T6" fmla="*/ 42 w 9310"/>
              <a:gd name="T7" fmla="*/ 11209 h 12286"/>
              <a:gd name="T8" fmla="*/ 0 w 9310"/>
              <a:gd name="T9" fmla="*/ 1919 h 12286"/>
              <a:gd name="T10" fmla="*/ 117 w 9310"/>
              <a:gd name="T11" fmla="*/ 1260 h 12286"/>
              <a:gd name="T12" fmla="*/ 498 w 9310"/>
              <a:gd name="T13" fmla="*/ 629 h 12286"/>
              <a:gd name="T14" fmla="*/ 1088 w 9310"/>
              <a:gd name="T15" fmla="*/ 189 h 12286"/>
              <a:gd name="T16" fmla="*/ 1821 w 9310"/>
              <a:gd name="T17" fmla="*/ 1 h 12286"/>
              <a:gd name="T18" fmla="*/ 7682 w 9310"/>
              <a:gd name="T19" fmla="*/ 22 h 12286"/>
              <a:gd name="T20" fmla="*/ 8385 w 9310"/>
              <a:gd name="T21" fmla="*/ 278 h 12286"/>
              <a:gd name="T22" fmla="*/ 8929 w 9310"/>
              <a:gd name="T23" fmla="*/ 772 h 12286"/>
              <a:gd name="T24" fmla="*/ 9250 w 9310"/>
              <a:gd name="T25" fmla="*/ 1440 h 12286"/>
              <a:gd name="T26" fmla="*/ 9310 w 9310"/>
              <a:gd name="T27" fmla="*/ 8471 h 12286"/>
              <a:gd name="T28" fmla="*/ 9201 w 9310"/>
              <a:gd name="T29" fmla="*/ 8777 h 12286"/>
              <a:gd name="T30" fmla="*/ 8880 w 9310"/>
              <a:gd name="T31" fmla="*/ 8949 h 12286"/>
              <a:gd name="T32" fmla="*/ 8601 w 9310"/>
              <a:gd name="T33" fmla="*/ 8894 h 12286"/>
              <a:gd name="T34" fmla="*/ 8370 w 9310"/>
              <a:gd name="T35" fmla="*/ 8615 h 12286"/>
              <a:gd name="T36" fmla="*/ 8349 w 9310"/>
              <a:gd name="T37" fmla="*/ 1870 h 12286"/>
              <a:gd name="T38" fmla="*/ 8255 w 9310"/>
              <a:gd name="T39" fmla="*/ 1503 h 12286"/>
              <a:gd name="T40" fmla="*/ 8035 w 9310"/>
              <a:gd name="T41" fmla="*/ 1209 h 12286"/>
              <a:gd name="T42" fmla="*/ 7720 w 9310"/>
              <a:gd name="T43" fmla="*/ 1018 h 12286"/>
              <a:gd name="T44" fmla="*/ 7390 w 9310"/>
              <a:gd name="T45" fmla="*/ 960 h 12286"/>
              <a:gd name="T46" fmla="*/ 1680 w 9310"/>
              <a:gd name="T47" fmla="*/ 989 h 12286"/>
              <a:gd name="T48" fmla="*/ 1346 w 9310"/>
              <a:gd name="T49" fmla="*/ 1150 h 12286"/>
              <a:gd name="T50" fmla="*/ 1098 w 9310"/>
              <a:gd name="T51" fmla="*/ 1423 h 12286"/>
              <a:gd name="T52" fmla="*/ 970 w 9310"/>
              <a:gd name="T53" fmla="*/ 1774 h 12286"/>
              <a:gd name="T54" fmla="*/ 962 w 9310"/>
              <a:gd name="T55" fmla="*/ 10904 h 12286"/>
              <a:gd name="T56" fmla="*/ 1091 w 9310"/>
              <a:gd name="T57" fmla="*/ 11185 h 12286"/>
              <a:gd name="T58" fmla="*/ 1405 w 9310"/>
              <a:gd name="T59" fmla="*/ 11326 h 12286"/>
              <a:gd name="T60" fmla="*/ 1677 w 9310"/>
              <a:gd name="T61" fmla="*/ 11273 h 12286"/>
              <a:gd name="T62" fmla="*/ 4346 w 9310"/>
              <a:gd name="T63" fmla="*/ 8559 h 12286"/>
              <a:gd name="T64" fmla="*/ 4655 w 9310"/>
              <a:gd name="T65" fmla="*/ 8448 h 12286"/>
              <a:gd name="T66" fmla="*/ 4964 w 9310"/>
              <a:gd name="T67" fmla="*/ 8559 h 12286"/>
              <a:gd name="T68" fmla="*/ 7633 w 9310"/>
              <a:gd name="T69" fmla="*/ 11273 h 12286"/>
              <a:gd name="T70" fmla="*/ 7902 w 9310"/>
              <a:gd name="T71" fmla="*/ 11326 h 12286"/>
              <a:gd name="T72" fmla="*/ 8215 w 9310"/>
              <a:gd name="T73" fmla="*/ 11182 h 12286"/>
              <a:gd name="T74" fmla="*/ 8349 w 9310"/>
              <a:gd name="T75" fmla="*/ 10897 h 12286"/>
              <a:gd name="T76" fmla="*/ 8408 w 9310"/>
              <a:gd name="T77" fmla="*/ 10618 h 12286"/>
              <a:gd name="T78" fmla="*/ 8687 w 9310"/>
              <a:gd name="T79" fmla="*/ 10387 h 12286"/>
              <a:gd name="T80" fmla="*/ 8974 w 9310"/>
              <a:gd name="T81" fmla="*/ 10387 h 12286"/>
              <a:gd name="T82" fmla="*/ 9253 w 9310"/>
              <a:gd name="T83" fmla="*/ 10618 h 12286"/>
              <a:gd name="T84" fmla="*/ 9309 w 9310"/>
              <a:gd name="T85" fmla="*/ 10920 h 12286"/>
              <a:gd name="T86" fmla="*/ 9174 w 9310"/>
              <a:gd name="T87" fmla="*/ 11466 h 12286"/>
              <a:gd name="T88" fmla="*/ 8890 w 9310"/>
              <a:gd name="T89" fmla="*/ 11865 h 12286"/>
              <a:gd name="T90" fmla="*/ 8474 w 9310"/>
              <a:gd name="T91" fmla="*/ 12151 h 12286"/>
              <a:gd name="T92" fmla="*/ 7913 w 9310"/>
              <a:gd name="T93" fmla="*/ 12286 h 12286"/>
              <a:gd name="T94" fmla="*/ 7489 w 9310"/>
              <a:gd name="T95" fmla="*/ 12242 h 12286"/>
              <a:gd name="T96" fmla="*/ 6997 w 9310"/>
              <a:gd name="T97" fmla="*/ 12001 h 12286"/>
              <a:gd name="T98" fmla="*/ 2472 w 9310"/>
              <a:gd name="T99" fmla="*/ 11859 h 12286"/>
              <a:gd name="T100" fmla="*/ 2080 w 9310"/>
              <a:gd name="T101" fmla="*/ 12145 h 12286"/>
              <a:gd name="T102" fmla="*/ 1545 w 9310"/>
              <a:gd name="T103" fmla="*/ 12285 h 1228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  <a:cxn ang="0">
                <a:pos x="T100" y="T101"/>
              </a:cxn>
              <a:cxn ang="0">
                <a:pos x="T102" y="T103"/>
              </a:cxn>
            </a:cxnLst>
            <a:rect l="0" t="0" r="r" b="b"/>
            <a:pathLst>
              <a:path w="9310" h="12286">
                <a:moveTo>
                  <a:pt x="1447" y="12286"/>
                </a:moveTo>
                <a:lnTo>
                  <a:pt x="1375" y="12286"/>
                </a:lnTo>
                <a:lnTo>
                  <a:pt x="1232" y="12272"/>
                </a:lnTo>
                <a:lnTo>
                  <a:pt x="1093" y="12245"/>
                </a:lnTo>
                <a:lnTo>
                  <a:pt x="957" y="12203"/>
                </a:lnTo>
                <a:lnTo>
                  <a:pt x="826" y="12150"/>
                </a:lnTo>
                <a:lnTo>
                  <a:pt x="700" y="12085"/>
                </a:lnTo>
                <a:lnTo>
                  <a:pt x="582" y="12007"/>
                </a:lnTo>
                <a:lnTo>
                  <a:pt x="471" y="11918"/>
                </a:lnTo>
                <a:lnTo>
                  <a:pt x="419" y="11869"/>
                </a:lnTo>
                <a:lnTo>
                  <a:pt x="370" y="11818"/>
                </a:lnTo>
                <a:lnTo>
                  <a:pt x="279" y="11710"/>
                </a:lnTo>
                <a:lnTo>
                  <a:pt x="202" y="11595"/>
                </a:lnTo>
                <a:lnTo>
                  <a:pt x="135" y="11471"/>
                </a:lnTo>
                <a:lnTo>
                  <a:pt x="82" y="11343"/>
                </a:lnTo>
                <a:lnTo>
                  <a:pt x="42" y="11209"/>
                </a:lnTo>
                <a:lnTo>
                  <a:pt x="14" y="11070"/>
                </a:lnTo>
                <a:lnTo>
                  <a:pt x="1" y="10927"/>
                </a:lnTo>
                <a:lnTo>
                  <a:pt x="0" y="10855"/>
                </a:lnTo>
                <a:lnTo>
                  <a:pt x="0" y="1919"/>
                </a:lnTo>
                <a:lnTo>
                  <a:pt x="1" y="1821"/>
                </a:lnTo>
                <a:lnTo>
                  <a:pt x="22" y="1627"/>
                </a:lnTo>
                <a:lnTo>
                  <a:pt x="60" y="1440"/>
                </a:lnTo>
                <a:lnTo>
                  <a:pt x="117" y="1260"/>
                </a:lnTo>
                <a:lnTo>
                  <a:pt x="189" y="1089"/>
                </a:lnTo>
                <a:lnTo>
                  <a:pt x="278" y="924"/>
                </a:lnTo>
                <a:lnTo>
                  <a:pt x="382" y="772"/>
                </a:lnTo>
                <a:lnTo>
                  <a:pt x="498" y="629"/>
                </a:lnTo>
                <a:lnTo>
                  <a:pt x="629" y="498"/>
                </a:lnTo>
                <a:lnTo>
                  <a:pt x="772" y="382"/>
                </a:lnTo>
                <a:lnTo>
                  <a:pt x="924" y="278"/>
                </a:lnTo>
                <a:lnTo>
                  <a:pt x="1088" y="189"/>
                </a:lnTo>
                <a:lnTo>
                  <a:pt x="1260" y="117"/>
                </a:lnTo>
                <a:lnTo>
                  <a:pt x="1440" y="60"/>
                </a:lnTo>
                <a:lnTo>
                  <a:pt x="1627" y="22"/>
                </a:lnTo>
                <a:lnTo>
                  <a:pt x="1821" y="1"/>
                </a:lnTo>
                <a:lnTo>
                  <a:pt x="1919" y="0"/>
                </a:lnTo>
                <a:lnTo>
                  <a:pt x="7390" y="0"/>
                </a:lnTo>
                <a:lnTo>
                  <a:pt x="7489" y="1"/>
                </a:lnTo>
                <a:lnTo>
                  <a:pt x="7682" y="22"/>
                </a:lnTo>
                <a:lnTo>
                  <a:pt x="7869" y="60"/>
                </a:lnTo>
                <a:lnTo>
                  <a:pt x="8049" y="117"/>
                </a:lnTo>
                <a:lnTo>
                  <a:pt x="8222" y="189"/>
                </a:lnTo>
                <a:lnTo>
                  <a:pt x="8385" y="278"/>
                </a:lnTo>
                <a:lnTo>
                  <a:pt x="8539" y="382"/>
                </a:lnTo>
                <a:lnTo>
                  <a:pt x="8681" y="498"/>
                </a:lnTo>
                <a:lnTo>
                  <a:pt x="8811" y="629"/>
                </a:lnTo>
                <a:lnTo>
                  <a:pt x="8929" y="772"/>
                </a:lnTo>
                <a:lnTo>
                  <a:pt x="9033" y="924"/>
                </a:lnTo>
                <a:lnTo>
                  <a:pt x="9120" y="1089"/>
                </a:lnTo>
                <a:lnTo>
                  <a:pt x="9194" y="1260"/>
                </a:lnTo>
                <a:lnTo>
                  <a:pt x="9250" y="1440"/>
                </a:lnTo>
                <a:lnTo>
                  <a:pt x="9289" y="1627"/>
                </a:lnTo>
                <a:lnTo>
                  <a:pt x="9308" y="1821"/>
                </a:lnTo>
                <a:lnTo>
                  <a:pt x="9310" y="1919"/>
                </a:lnTo>
                <a:lnTo>
                  <a:pt x="9310" y="8471"/>
                </a:lnTo>
                <a:lnTo>
                  <a:pt x="9308" y="8521"/>
                </a:lnTo>
                <a:lnTo>
                  <a:pt x="9289" y="8615"/>
                </a:lnTo>
                <a:lnTo>
                  <a:pt x="9253" y="8700"/>
                </a:lnTo>
                <a:lnTo>
                  <a:pt x="9201" y="8777"/>
                </a:lnTo>
                <a:lnTo>
                  <a:pt x="9136" y="8842"/>
                </a:lnTo>
                <a:lnTo>
                  <a:pt x="9058" y="8894"/>
                </a:lnTo>
                <a:lnTo>
                  <a:pt x="8974" y="8930"/>
                </a:lnTo>
                <a:lnTo>
                  <a:pt x="8880" y="8949"/>
                </a:lnTo>
                <a:lnTo>
                  <a:pt x="8830" y="8952"/>
                </a:lnTo>
                <a:lnTo>
                  <a:pt x="8781" y="8949"/>
                </a:lnTo>
                <a:lnTo>
                  <a:pt x="8687" y="8930"/>
                </a:lnTo>
                <a:lnTo>
                  <a:pt x="8601" y="8894"/>
                </a:lnTo>
                <a:lnTo>
                  <a:pt x="8524" y="8842"/>
                </a:lnTo>
                <a:lnTo>
                  <a:pt x="8460" y="8777"/>
                </a:lnTo>
                <a:lnTo>
                  <a:pt x="8408" y="8700"/>
                </a:lnTo>
                <a:lnTo>
                  <a:pt x="8370" y="8615"/>
                </a:lnTo>
                <a:lnTo>
                  <a:pt x="8352" y="8521"/>
                </a:lnTo>
                <a:lnTo>
                  <a:pt x="8350" y="8471"/>
                </a:lnTo>
                <a:lnTo>
                  <a:pt x="8350" y="1919"/>
                </a:lnTo>
                <a:lnTo>
                  <a:pt x="8349" y="1870"/>
                </a:lnTo>
                <a:lnTo>
                  <a:pt x="8340" y="1774"/>
                </a:lnTo>
                <a:lnTo>
                  <a:pt x="8320" y="1680"/>
                </a:lnTo>
                <a:lnTo>
                  <a:pt x="8293" y="1590"/>
                </a:lnTo>
                <a:lnTo>
                  <a:pt x="8255" y="1503"/>
                </a:lnTo>
                <a:lnTo>
                  <a:pt x="8211" y="1423"/>
                </a:lnTo>
                <a:lnTo>
                  <a:pt x="8160" y="1346"/>
                </a:lnTo>
                <a:lnTo>
                  <a:pt x="8101" y="1274"/>
                </a:lnTo>
                <a:lnTo>
                  <a:pt x="8035" y="1209"/>
                </a:lnTo>
                <a:lnTo>
                  <a:pt x="7964" y="1150"/>
                </a:lnTo>
                <a:lnTo>
                  <a:pt x="7888" y="1099"/>
                </a:lnTo>
                <a:lnTo>
                  <a:pt x="7806" y="1054"/>
                </a:lnTo>
                <a:lnTo>
                  <a:pt x="7720" y="1018"/>
                </a:lnTo>
                <a:lnTo>
                  <a:pt x="7630" y="989"/>
                </a:lnTo>
                <a:lnTo>
                  <a:pt x="7537" y="970"/>
                </a:lnTo>
                <a:lnTo>
                  <a:pt x="7440" y="960"/>
                </a:lnTo>
                <a:lnTo>
                  <a:pt x="7390" y="960"/>
                </a:lnTo>
                <a:lnTo>
                  <a:pt x="1919" y="960"/>
                </a:lnTo>
                <a:lnTo>
                  <a:pt x="1870" y="960"/>
                </a:lnTo>
                <a:lnTo>
                  <a:pt x="1774" y="970"/>
                </a:lnTo>
                <a:lnTo>
                  <a:pt x="1680" y="989"/>
                </a:lnTo>
                <a:lnTo>
                  <a:pt x="1589" y="1018"/>
                </a:lnTo>
                <a:lnTo>
                  <a:pt x="1503" y="1054"/>
                </a:lnTo>
                <a:lnTo>
                  <a:pt x="1422" y="1099"/>
                </a:lnTo>
                <a:lnTo>
                  <a:pt x="1346" y="1150"/>
                </a:lnTo>
                <a:lnTo>
                  <a:pt x="1274" y="1209"/>
                </a:lnTo>
                <a:lnTo>
                  <a:pt x="1209" y="1274"/>
                </a:lnTo>
                <a:lnTo>
                  <a:pt x="1150" y="1346"/>
                </a:lnTo>
                <a:lnTo>
                  <a:pt x="1098" y="1423"/>
                </a:lnTo>
                <a:lnTo>
                  <a:pt x="1054" y="1503"/>
                </a:lnTo>
                <a:lnTo>
                  <a:pt x="1018" y="1590"/>
                </a:lnTo>
                <a:lnTo>
                  <a:pt x="989" y="1680"/>
                </a:lnTo>
                <a:lnTo>
                  <a:pt x="970" y="1774"/>
                </a:lnTo>
                <a:lnTo>
                  <a:pt x="960" y="1870"/>
                </a:lnTo>
                <a:lnTo>
                  <a:pt x="960" y="1919"/>
                </a:lnTo>
                <a:lnTo>
                  <a:pt x="960" y="10855"/>
                </a:lnTo>
                <a:lnTo>
                  <a:pt x="962" y="10904"/>
                </a:lnTo>
                <a:lnTo>
                  <a:pt x="978" y="10995"/>
                </a:lnTo>
                <a:lnTo>
                  <a:pt x="1011" y="11078"/>
                </a:lnTo>
                <a:lnTo>
                  <a:pt x="1061" y="11152"/>
                </a:lnTo>
                <a:lnTo>
                  <a:pt x="1091" y="11185"/>
                </a:lnTo>
                <a:lnTo>
                  <a:pt x="1129" y="11218"/>
                </a:lnTo>
                <a:lnTo>
                  <a:pt x="1212" y="11271"/>
                </a:lnTo>
                <a:lnTo>
                  <a:pt x="1306" y="11307"/>
                </a:lnTo>
                <a:lnTo>
                  <a:pt x="1405" y="11326"/>
                </a:lnTo>
                <a:lnTo>
                  <a:pt x="1456" y="11327"/>
                </a:lnTo>
                <a:lnTo>
                  <a:pt x="1504" y="11325"/>
                </a:lnTo>
                <a:lnTo>
                  <a:pt x="1595" y="11307"/>
                </a:lnTo>
                <a:lnTo>
                  <a:pt x="1677" y="11273"/>
                </a:lnTo>
                <a:lnTo>
                  <a:pt x="1751" y="11222"/>
                </a:lnTo>
                <a:lnTo>
                  <a:pt x="1784" y="11191"/>
                </a:lnTo>
                <a:lnTo>
                  <a:pt x="4310" y="8592"/>
                </a:lnTo>
                <a:lnTo>
                  <a:pt x="4346" y="8559"/>
                </a:lnTo>
                <a:lnTo>
                  <a:pt x="4426" y="8505"/>
                </a:lnTo>
                <a:lnTo>
                  <a:pt x="4513" y="8468"/>
                </a:lnTo>
                <a:lnTo>
                  <a:pt x="4607" y="8449"/>
                </a:lnTo>
                <a:lnTo>
                  <a:pt x="4655" y="8448"/>
                </a:lnTo>
                <a:lnTo>
                  <a:pt x="4703" y="8449"/>
                </a:lnTo>
                <a:lnTo>
                  <a:pt x="4797" y="8468"/>
                </a:lnTo>
                <a:lnTo>
                  <a:pt x="4885" y="8505"/>
                </a:lnTo>
                <a:lnTo>
                  <a:pt x="4964" y="8559"/>
                </a:lnTo>
                <a:lnTo>
                  <a:pt x="4999" y="8592"/>
                </a:lnTo>
                <a:lnTo>
                  <a:pt x="7527" y="11191"/>
                </a:lnTo>
                <a:lnTo>
                  <a:pt x="7560" y="11222"/>
                </a:lnTo>
                <a:lnTo>
                  <a:pt x="7633" y="11273"/>
                </a:lnTo>
                <a:lnTo>
                  <a:pt x="7714" y="11307"/>
                </a:lnTo>
                <a:lnTo>
                  <a:pt x="7803" y="11325"/>
                </a:lnTo>
                <a:lnTo>
                  <a:pt x="7852" y="11327"/>
                </a:lnTo>
                <a:lnTo>
                  <a:pt x="7902" y="11326"/>
                </a:lnTo>
                <a:lnTo>
                  <a:pt x="8002" y="11306"/>
                </a:lnTo>
                <a:lnTo>
                  <a:pt x="8095" y="11270"/>
                </a:lnTo>
                <a:lnTo>
                  <a:pt x="8179" y="11215"/>
                </a:lnTo>
                <a:lnTo>
                  <a:pt x="8215" y="11182"/>
                </a:lnTo>
                <a:lnTo>
                  <a:pt x="8248" y="11148"/>
                </a:lnTo>
                <a:lnTo>
                  <a:pt x="8298" y="11073"/>
                </a:lnTo>
                <a:lnTo>
                  <a:pt x="8331" y="10989"/>
                </a:lnTo>
                <a:lnTo>
                  <a:pt x="8349" y="10897"/>
                </a:lnTo>
                <a:lnTo>
                  <a:pt x="8350" y="10847"/>
                </a:lnTo>
                <a:lnTo>
                  <a:pt x="8352" y="10798"/>
                </a:lnTo>
                <a:lnTo>
                  <a:pt x="8370" y="10704"/>
                </a:lnTo>
                <a:lnTo>
                  <a:pt x="8408" y="10618"/>
                </a:lnTo>
                <a:lnTo>
                  <a:pt x="8460" y="10541"/>
                </a:lnTo>
                <a:lnTo>
                  <a:pt x="8524" y="10477"/>
                </a:lnTo>
                <a:lnTo>
                  <a:pt x="8601" y="10425"/>
                </a:lnTo>
                <a:lnTo>
                  <a:pt x="8687" y="10387"/>
                </a:lnTo>
                <a:lnTo>
                  <a:pt x="8781" y="10369"/>
                </a:lnTo>
                <a:lnTo>
                  <a:pt x="8830" y="10367"/>
                </a:lnTo>
                <a:lnTo>
                  <a:pt x="8880" y="10369"/>
                </a:lnTo>
                <a:lnTo>
                  <a:pt x="8974" y="10387"/>
                </a:lnTo>
                <a:lnTo>
                  <a:pt x="9058" y="10425"/>
                </a:lnTo>
                <a:lnTo>
                  <a:pt x="9136" y="10477"/>
                </a:lnTo>
                <a:lnTo>
                  <a:pt x="9201" y="10541"/>
                </a:lnTo>
                <a:lnTo>
                  <a:pt x="9253" y="10618"/>
                </a:lnTo>
                <a:lnTo>
                  <a:pt x="9289" y="10704"/>
                </a:lnTo>
                <a:lnTo>
                  <a:pt x="9308" y="10798"/>
                </a:lnTo>
                <a:lnTo>
                  <a:pt x="9310" y="10847"/>
                </a:lnTo>
                <a:lnTo>
                  <a:pt x="9309" y="10920"/>
                </a:lnTo>
                <a:lnTo>
                  <a:pt x="9295" y="11063"/>
                </a:lnTo>
                <a:lnTo>
                  <a:pt x="9267" y="11202"/>
                </a:lnTo>
                <a:lnTo>
                  <a:pt x="9227" y="11336"/>
                </a:lnTo>
                <a:lnTo>
                  <a:pt x="9174" y="11466"/>
                </a:lnTo>
                <a:lnTo>
                  <a:pt x="9107" y="11588"/>
                </a:lnTo>
                <a:lnTo>
                  <a:pt x="9030" y="11705"/>
                </a:lnTo>
                <a:lnTo>
                  <a:pt x="8939" y="11814"/>
                </a:lnTo>
                <a:lnTo>
                  <a:pt x="8890" y="11865"/>
                </a:lnTo>
                <a:lnTo>
                  <a:pt x="8837" y="11915"/>
                </a:lnTo>
                <a:lnTo>
                  <a:pt x="8724" y="12006"/>
                </a:lnTo>
                <a:lnTo>
                  <a:pt x="8602" y="12085"/>
                </a:lnTo>
                <a:lnTo>
                  <a:pt x="8474" y="12151"/>
                </a:lnTo>
                <a:lnTo>
                  <a:pt x="8340" y="12206"/>
                </a:lnTo>
                <a:lnTo>
                  <a:pt x="8200" y="12246"/>
                </a:lnTo>
                <a:lnTo>
                  <a:pt x="8058" y="12273"/>
                </a:lnTo>
                <a:lnTo>
                  <a:pt x="7913" y="12286"/>
                </a:lnTo>
                <a:lnTo>
                  <a:pt x="7841" y="12286"/>
                </a:lnTo>
                <a:lnTo>
                  <a:pt x="7767" y="12285"/>
                </a:lnTo>
                <a:lnTo>
                  <a:pt x="7626" y="12269"/>
                </a:lnTo>
                <a:lnTo>
                  <a:pt x="7489" y="12242"/>
                </a:lnTo>
                <a:lnTo>
                  <a:pt x="7358" y="12200"/>
                </a:lnTo>
                <a:lnTo>
                  <a:pt x="7232" y="12147"/>
                </a:lnTo>
                <a:lnTo>
                  <a:pt x="7111" y="12079"/>
                </a:lnTo>
                <a:lnTo>
                  <a:pt x="6997" y="12001"/>
                </a:lnTo>
                <a:lnTo>
                  <a:pt x="6889" y="11911"/>
                </a:lnTo>
                <a:lnTo>
                  <a:pt x="6839" y="11859"/>
                </a:lnTo>
                <a:lnTo>
                  <a:pt x="4655" y="9615"/>
                </a:lnTo>
                <a:lnTo>
                  <a:pt x="2472" y="11859"/>
                </a:lnTo>
                <a:lnTo>
                  <a:pt x="2422" y="11909"/>
                </a:lnTo>
                <a:lnTo>
                  <a:pt x="2315" y="12000"/>
                </a:lnTo>
                <a:lnTo>
                  <a:pt x="2201" y="12079"/>
                </a:lnTo>
                <a:lnTo>
                  <a:pt x="2080" y="12145"/>
                </a:lnTo>
                <a:lnTo>
                  <a:pt x="1955" y="12199"/>
                </a:lnTo>
                <a:lnTo>
                  <a:pt x="1823" y="12240"/>
                </a:lnTo>
                <a:lnTo>
                  <a:pt x="1686" y="12269"/>
                </a:lnTo>
                <a:lnTo>
                  <a:pt x="1545" y="12285"/>
                </a:lnTo>
                <a:lnTo>
                  <a:pt x="1473" y="12286"/>
                </a:lnTo>
                <a:lnTo>
                  <a:pt x="1460" y="12286"/>
                </a:lnTo>
                <a:lnTo>
                  <a:pt x="1447" y="12286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28" name="이등변 삼각형 27">
            <a:extLst>
              <a:ext uri="{FF2B5EF4-FFF2-40B4-BE49-F238E27FC236}">
                <a16:creationId xmlns:a16="http://schemas.microsoft.com/office/drawing/2014/main" id="{AD4066BA-D2BC-37E9-976A-8204B8EF9F62}"/>
              </a:ext>
            </a:extLst>
          </p:cNvPr>
          <p:cNvSpPr/>
          <p:nvPr userDrawn="1"/>
        </p:nvSpPr>
        <p:spPr>
          <a:xfrm>
            <a:off x="1235851" y="667970"/>
            <a:ext cx="211949" cy="182715"/>
          </a:xfrm>
          <a:prstGeom prst="triangle">
            <a:avLst/>
          </a:prstGeom>
          <a:solidFill>
            <a:schemeClr val="bg1"/>
          </a:solidFill>
          <a:ln w="47625" cap="rnd">
            <a:solidFill>
              <a:schemeClr val="bg1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4" name="사각형: 둥근 모서리 13">
            <a:extLst>
              <a:ext uri="{FF2B5EF4-FFF2-40B4-BE49-F238E27FC236}">
                <a16:creationId xmlns:a16="http://schemas.microsoft.com/office/drawing/2014/main" id="{81DE6459-0E1B-62B4-B07B-EB5555E53206}"/>
              </a:ext>
            </a:extLst>
          </p:cNvPr>
          <p:cNvSpPr/>
          <p:nvPr userDrawn="1"/>
        </p:nvSpPr>
        <p:spPr>
          <a:xfrm>
            <a:off x="209550" y="778044"/>
            <a:ext cx="11756306" cy="5832862"/>
          </a:xfrm>
          <a:prstGeom prst="roundRect">
            <a:avLst>
              <a:gd name="adj" fmla="val 1861"/>
            </a:avLst>
          </a:prstGeom>
          <a:solidFill>
            <a:schemeClr val="bg1"/>
          </a:solidFill>
          <a:ln w="92075" cap="rnd">
            <a:noFill/>
            <a:round/>
          </a:ln>
          <a:effectLst>
            <a:outerShdw blurRad="254000" dist="38100" dir="2700000" algn="tl" rotWithShape="0">
              <a:prstClr val="black">
                <a:alpha val="5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9468F272-B293-6379-50B0-01D6BCACCF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37626" y="321093"/>
            <a:ext cx="10430212" cy="233532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61675170-525C-B88C-2549-1515AC8C009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10559" y="1193822"/>
            <a:ext cx="10754289" cy="500130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186C6AE6-3A65-C287-7112-FF1BCC98D0A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239250" y="6611900"/>
            <a:ext cx="2743200" cy="23989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="1">
                <a:solidFill>
                  <a:schemeClr val="tx2"/>
                </a:solidFill>
                <a:latin typeface="+mn-lt"/>
              </a:defRPr>
            </a:lvl1pPr>
          </a:lstStyle>
          <a:p>
            <a:fld id="{109C872D-39A9-4065-8BF3-6A613116E2A1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0487645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5" r:id="rId4"/>
    <p:sldLayoutId id="2147483652" r:id="rId5"/>
    <p:sldLayoutId id="2147483653" r:id="rId6"/>
    <p:sldLayoutId id="2147483654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2200" i="1" kern="1200">
          <a:solidFill>
            <a:schemeClr val="tx1"/>
          </a:solidFill>
          <a:latin typeface="HY헤드라인M" panose="02030600000101010101" pitchFamily="18" charset="-127"/>
          <a:ea typeface="HY헤드라인M" panose="02030600000101010101" pitchFamily="18" charset="-127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0.png"/><Relationship Id="rId2" Type="http://schemas.openxmlformats.org/officeDocument/2006/relationships/image" Target="../media/image50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80.png"/><Relationship Id="rId4" Type="http://schemas.openxmlformats.org/officeDocument/2006/relationships/image" Target="../media/image12.png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jpeg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jpeg"/><Relationship Id="rId2" Type="http://schemas.openxmlformats.org/officeDocument/2006/relationships/image" Target="../media/image100.png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5.jpe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0.png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959EC3-FDAD-5008-2635-A7E4EDD289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CEE82B6-2F0F-6FB8-F71F-495B423ABF8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69950" y="192979"/>
            <a:ext cx="10452100" cy="2912171"/>
          </a:xfrm>
          <a:effectLst>
            <a:reflection blurRad="50800" stA="45000" endPos="44000" dir="5400000" sy="-100000" algn="bl" rotWithShape="0"/>
          </a:effectLst>
        </p:spPr>
        <p:txBody>
          <a:bodyPr/>
          <a:lstStyle/>
          <a:p>
            <a:r>
              <a:rPr lang="ko-KR" altLang="en-US" sz="6600" b="1" i="0" dirty="0"/>
              <a:t>재 정 학</a:t>
            </a:r>
            <a:endParaRPr lang="ko-KR" altLang="en-US" i="0" dirty="0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AD3B6547-3B8C-6CD4-91B3-9723EB5A4D5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556665"/>
            <a:ext cx="9144000" cy="935960"/>
          </a:xfrm>
        </p:spPr>
        <p:txBody>
          <a:bodyPr>
            <a:normAutofit/>
          </a:bodyPr>
          <a:lstStyle/>
          <a:p>
            <a:endParaRPr lang="en-US" altLang="ko-KR" dirty="0">
              <a:latin typeface="HY헤드라인M" panose="02030600000101010101" pitchFamily="18" charset="-127"/>
              <a:ea typeface="HY헤드라인M" panose="02030600000101010101" pitchFamily="18" charset="-127"/>
            </a:endParaRPr>
          </a:p>
          <a:p>
            <a:r>
              <a:rPr lang="en-US" altLang="ko-KR" sz="2800" dirty="0">
                <a:latin typeface="HY헤드라인M" panose="02030600000101010101" pitchFamily="18" charset="-127"/>
                <a:ea typeface="HY헤드라인M" panose="02030600000101010101" pitchFamily="18" charset="-127"/>
              </a:rPr>
              <a:t>Lecture - 10</a:t>
            </a:r>
            <a:endParaRPr lang="ko-KR" altLang="en-US" sz="1700" dirty="0">
              <a:latin typeface="+mn-ea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DD5F631-FC1F-A584-173C-4EA4C43A874E}"/>
              </a:ext>
            </a:extLst>
          </p:cNvPr>
          <p:cNvSpPr txBox="1"/>
          <p:nvPr/>
        </p:nvSpPr>
        <p:spPr>
          <a:xfrm>
            <a:off x="5499100" y="5036208"/>
            <a:ext cx="11938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18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전 승 호</a:t>
            </a:r>
            <a:endParaRPr lang="ko-KR" altLang="en-US" dirty="0">
              <a:latin typeface="KoPub돋움체 Light" panose="02020603020101020101" pitchFamily="18" charset="-127"/>
              <a:ea typeface="KoPub돋움체 Light" panose="02020603020101020101" pitchFamily="18" charset="-127"/>
            </a:endParaRPr>
          </a:p>
        </p:txBody>
      </p:sp>
      <p:pic>
        <p:nvPicPr>
          <p:cNvPr id="7" name="그림 6" descr="텍스트, 폰트, 그래픽, 스크린샷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2266D5C0-E865-7613-63AD-5D846835D6A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601325" y="6408811"/>
            <a:ext cx="1461138" cy="3150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834029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1D0659-CAFD-F53E-5E96-AE42A73FE9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D5C3F3A0-36ED-43FB-2D13-6CAA30B083C2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8D19C74-D6C9-BA18-D11B-15A0CD9AF9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B58D8A77-45B6-C35A-AFD8-829E4435C9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2478940"/>
            <a:ext cx="11007224" cy="193942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Chapter 10</a:t>
            </a:r>
            <a:br>
              <a:rPr lang="en-US" altLang="ko-KR" sz="4000" b="1" i="0" spc="150" dirty="0"/>
            </a:br>
            <a:br>
              <a:rPr lang="en-US" altLang="ko-KR" sz="4000" b="1" i="0" spc="150" dirty="0"/>
            </a:br>
            <a:r>
              <a:rPr lang="ko-KR" altLang="en-US" sz="4000" b="1" i="0" spc="150" dirty="0"/>
              <a:t>사회보험제도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265512363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05B55B-4FE0-4C0D-6AE9-E8B03A536F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54468326-0C4F-70CF-91C2-93E0C5D03BA8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69E45BD-0D56-9ECF-89E6-4AF42F45BF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728B965C-181E-543B-9F2C-6FEAEBB87B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3765550"/>
            <a:ext cx="11150600" cy="65281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Section 1. </a:t>
            </a:r>
            <a:r>
              <a:rPr lang="ko-KR" altLang="en-US" sz="4000" b="1" i="0" spc="150" dirty="0"/>
              <a:t>사회보험제도의 의미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295707307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764ACB-B8A0-8B8E-50AE-F6949A866C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B730496-A872-5CFB-3130-C4429F8285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사회보험제도의 의미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BD72302-C21E-82F3-1317-6A67EB8523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4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331E4DF-D5A4-61E7-1307-371A5A496859}"/>
              </a:ext>
            </a:extLst>
          </p:cNvPr>
          <p:cNvSpPr txBox="1"/>
          <p:nvPr/>
        </p:nvSpPr>
        <p:spPr>
          <a:xfrm>
            <a:off x="288790" y="958844"/>
            <a:ext cx="11250267" cy="55846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우리는 경제생활을 하면서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크고 작은 여러 위험에 노출되어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나이가 많아져 더 이상 일을 할 수 없거나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갑작스럽게 병이 생기거나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직장에서 부상을 당하는 등의 위험이 있다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이런 위험에 대해 정부가 보험을 제공하는 것이 사회보험제도이다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사회보장기본법에는 </a:t>
            </a:r>
            <a:r>
              <a:rPr lang="en-US" altLang="ko-KR" sz="1600" spc="-50" dirty="0"/>
              <a:t>“</a:t>
            </a:r>
            <a:r>
              <a:rPr lang="ko-KR" altLang="en-US" sz="1600" spc="-50" dirty="0"/>
              <a:t>국민에게 발생하는 사회적 위험을 보험의 방식으로 대처함으로써 국민의 건강과 소득을 보장하는 제도</a:t>
            </a:r>
            <a:r>
              <a:rPr lang="en-US" altLang="ko-KR" sz="1600" spc="-50" dirty="0"/>
              <a:t>“ </a:t>
            </a:r>
            <a:r>
              <a:rPr lang="ko-KR" altLang="en-US" sz="1600" spc="-50" dirty="0"/>
              <a:t>라고 정의되어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아래와 같이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여러가지 이유로 민간부문에서의 보험시장이 완벽하지 못하여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정부가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개입할 필요가 생긴다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434975" indent="-342900">
              <a:lnSpc>
                <a:spcPct val="150000"/>
              </a:lnSpc>
              <a:buFont typeface="+mj-lt"/>
              <a:buAutoNum type="arabicPeriod"/>
            </a:pPr>
            <a:r>
              <a:rPr lang="ko-KR" altLang="en-US" sz="1600" spc="-50" dirty="0"/>
              <a:t>보험시장은 정보의 비대칭성을 전형적으로 갖고 있어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역선택과 도덕적 해이 문제가 필연적으로 나타난다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완벽한 보험이란 일어날 수 있는 모든 가능성에 대해 완벽한 대비를 할 수 있게끔 만들어주는 것을 뜻한다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이 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역선택과 도덕적 해이는 완벽한 보험을 제공할 수 없게 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다시 말하면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완벽한 보험을 제공하는 보험회사가 있다면 수익성 악화로 문을 닫게 된다</a:t>
            </a:r>
            <a:r>
              <a:rPr lang="en-US" altLang="ko-KR" sz="1600" spc="-50" dirty="0"/>
              <a:t>.</a:t>
            </a:r>
          </a:p>
          <a:p>
            <a:pPr marL="434975" indent="-342900">
              <a:lnSpc>
                <a:spcPct val="150000"/>
              </a:lnSpc>
              <a:buFont typeface="+mj-lt"/>
              <a:buAutoNum type="arabicPeriod"/>
            </a:pPr>
            <a:r>
              <a:rPr lang="ko-KR" altLang="en-US" sz="1600" spc="-50" dirty="0"/>
              <a:t>위험의 종류에 따라 적절한 보험상품을 제공하는 것이 불가능한 경우가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민간 보험사 입장에서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노후의 생계를 위해 </a:t>
            </a:r>
            <a:r>
              <a:rPr lang="ko-KR" altLang="en-US" sz="1600" spc="-50" dirty="0" err="1"/>
              <a:t>저축하고자하는</a:t>
            </a:r>
            <a:r>
              <a:rPr lang="ko-KR" altLang="en-US" sz="1600" spc="-50" dirty="0"/>
              <a:t> 사람에게 실질가치가 보장되는 연금보험 상품을 제공하는 것은 어려운 일이다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물가가 오를 때 세금을 더 많이 거둘 수 있는 것도 아니므로 실질가치 보장이 불가능하다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15243445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6177E6-2BE2-8810-F89F-48E53629EB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FA7A44D-A761-673A-4E43-DE33CE2766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사회보험제도의 의미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92F3803-4273-D729-E62C-66D07D9E6A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5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1DCF3A8-8A08-DF37-1A5B-CD577B183587}"/>
              </a:ext>
            </a:extLst>
          </p:cNvPr>
          <p:cNvSpPr txBox="1"/>
          <p:nvPr/>
        </p:nvSpPr>
        <p:spPr>
          <a:xfrm>
            <a:off x="288790" y="958844"/>
            <a:ext cx="11250267" cy="5215338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434975" indent="-342900">
              <a:lnSpc>
                <a:spcPct val="150000"/>
              </a:lnSpc>
              <a:buFont typeface="+mj-lt"/>
              <a:buAutoNum type="arabicPeriod" startAt="3"/>
            </a:pPr>
            <a:r>
              <a:rPr lang="ko-KR" altLang="en-US" sz="1600" spc="-50" dirty="0"/>
              <a:t>보험시장이 잘 작동한다 하더라도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사람들이 근시안적으로 행동하여 위험에 대한 대비가 소홀해질 수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사람들은 위험에 직면하게 될 것을 짐작함에도 불구하고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당장 보험료가 아까워 보험에 가입하지 않을 수 있다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사소한 경우라면 무방할 수 있지만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생계 자체가 위협을 받게 되는 위험이라면 정부가 개입할 필요가 생긴다</a:t>
            </a:r>
            <a:r>
              <a:rPr lang="en-US" altLang="ko-KR" sz="1600" spc="-50" dirty="0"/>
              <a:t>.</a:t>
            </a:r>
          </a:p>
          <a:p>
            <a:pPr marL="434975" indent="-342900">
              <a:lnSpc>
                <a:spcPct val="150000"/>
              </a:lnSpc>
              <a:buFont typeface="+mj-lt"/>
              <a:buAutoNum type="arabicPeriod" startAt="3"/>
            </a:pPr>
            <a:r>
              <a:rPr lang="ko-KR" altLang="en-US" sz="1600" spc="-50" dirty="0"/>
              <a:t>어떤 상품의 경우에는 모든 국민이 고루 누릴 수 있어야 하는 상품 평등주의 관점에서 정부가 개입할 필요가 있다</a:t>
            </a:r>
            <a:r>
              <a:rPr lang="en-US" altLang="ko-KR" sz="1600" spc="-50" dirty="0"/>
              <a:t>.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아픈 사람은 소득과 관계없이 의료서비스 혜택을 누릴 수 있어야 한다</a:t>
            </a:r>
            <a:r>
              <a:rPr lang="en-US" altLang="ko-KR" sz="1600" spc="-50" dirty="0"/>
              <a:t>.</a:t>
            </a:r>
          </a:p>
          <a:p>
            <a:pPr marL="1349375" lvl="2" indent="-34290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민간부문이 모든 의료보험을 운영하고 있다면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돈이 없어서 치료 받지 못하는 사람이 생길 수 있다</a:t>
            </a:r>
            <a:r>
              <a:rPr lang="en-US" altLang="ko-KR" sz="1600" spc="-50" dirty="0"/>
              <a:t>.</a:t>
            </a:r>
          </a:p>
          <a:p>
            <a:pPr marL="1349375" lvl="2" indent="-34290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spc="-50" dirty="0"/>
          </a:p>
          <a:p>
            <a:pPr marL="434975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정부가 운영하는 사회보험은 민간부문의 보험과 여러 측면에서 차이를 갖는다</a:t>
            </a:r>
            <a:r>
              <a:rPr lang="en-US" altLang="ko-KR" sz="1600" spc="-50" dirty="0"/>
              <a:t>.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사회보험은 강제성을 가진다</a:t>
            </a:r>
            <a:endParaRPr lang="en-US" altLang="ko-KR" sz="1600" spc="-50" dirty="0"/>
          </a:p>
          <a:p>
            <a:pPr marL="1349375" lvl="2" indent="-34290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일정한 조건을 갖춘 국민이면 반드시 사회보험에 가입하도록 되어 있다</a:t>
            </a:r>
            <a:r>
              <a:rPr lang="en-US" altLang="ko-KR" sz="1600" spc="-50" dirty="0"/>
              <a:t>.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민간보험과는 달리 사회보험은 본인 외에도 고용주와 정부가 비용의 일부를 부담한다</a:t>
            </a:r>
            <a:r>
              <a:rPr lang="en-US" altLang="ko-KR" sz="1600" spc="-50" dirty="0"/>
              <a:t>.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민간보험은 가입자가 낸 보험료와 혜택이 밀접한 관련을 갖는데 반해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사회보험은 소득의 재분배적 성격이 가미되어 사회적 정합성과 개인적 공평성을 고려한다</a:t>
            </a:r>
            <a:r>
              <a:rPr lang="en-US" altLang="ko-KR" sz="1600" spc="-50" dirty="0"/>
              <a:t>.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https://www.4insure.or.kr/pbiz/feii/sinsDefIntroView.do</a:t>
            </a:r>
          </a:p>
        </p:txBody>
      </p:sp>
    </p:spTree>
    <p:extLst>
      <p:ext uri="{BB962C8B-B14F-4D97-AF65-F5344CB8AC3E}">
        <p14:creationId xmlns:p14="http://schemas.microsoft.com/office/powerpoint/2010/main" val="272410860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6B5BBC-2173-0A91-45C7-3F99C44AA8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C81F982-0296-CCCD-0C64-398986AF27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사회보험제도의 의미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CE964F4-122E-78EB-A96C-D340D809A4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6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B01E0BF-2701-6A9F-2294-3922ABA0E93C}"/>
              </a:ext>
            </a:extLst>
          </p:cNvPr>
          <p:cNvSpPr txBox="1"/>
          <p:nvPr/>
        </p:nvSpPr>
        <p:spPr>
          <a:xfrm>
            <a:off x="288790" y="958844"/>
            <a:ext cx="11250267" cy="1891352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앞서 </a:t>
            </a:r>
            <a:r>
              <a:rPr lang="en-US" altLang="ko-KR" sz="1600" spc="-50" dirty="0"/>
              <a:t>Ch.9</a:t>
            </a:r>
            <a:r>
              <a:rPr lang="ko-KR" altLang="en-US" sz="1600" spc="-50" dirty="0"/>
              <a:t>에서 사회복지제도 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혹은 사회보장제도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는 사회보험제도와 공공부조 프로그램으로 나누어 볼 수 있다고 하였다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아래 그림은 사회보험제도를 포함한 우리나라의 전체적인 사회복지제도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혹은 사회보장제도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를 보여주고 있다</a:t>
            </a:r>
            <a:r>
              <a:rPr lang="en-US" altLang="ko-KR" sz="1600" spc="-50" dirty="0"/>
              <a:t>.</a:t>
            </a:r>
            <a:r>
              <a:rPr lang="ko-KR" altLang="en-US" sz="1600" spc="-50" dirty="0"/>
              <a:t> </a:t>
            </a: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현재 우리나라는 사회보험제도 중 대표적으로 </a:t>
            </a:r>
            <a:r>
              <a:rPr lang="en-US" altLang="ko-KR" sz="1600" spc="-50" dirty="0"/>
              <a:t>4</a:t>
            </a:r>
            <a:r>
              <a:rPr lang="ko-KR" altLang="en-US" sz="1600" spc="-50" dirty="0"/>
              <a:t>대 보험이라는 것이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국민연금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건강보험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고용보험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산재보험이다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사회보장제도에서 사회보험제도와 어깨를 나란히 하고 있는 것은 공공부조 프로그램인데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그 차이는 아래와 같다</a:t>
            </a:r>
            <a:r>
              <a:rPr lang="en-US" altLang="ko-KR" sz="1600" spc="-50" dirty="0"/>
              <a:t>.</a:t>
            </a: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F8FB33C6-A189-8615-BF00-081949CE2EC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0074" t="16241" r="10015" b="16674"/>
          <a:stretch>
            <a:fillRect/>
          </a:stretch>
        </p:blipFill>
        <p:spPr>
          <a:xfrm>
            <a:off x="7075841" y="4365938"/>
            <a:ext cx="4601004" cy="2069947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658D2604-068E-9703-EA96-918F4740395F}"/>
              </a:ext>
            </a:extLst>
          </p:cNvPr>
          <p:cNvSpPr txBox="1"/>
          <p:nvPr/>
        </p:nvSpPr>
        <p:spPr>
          <a:xfrm>
            <a:off x="7721177" y="3429000"/>
            <a:ext cx="2543286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400" spc="-50" dirty="0"/>
              <a:t>&lt;</a:t>
            </a:r>
            <a:r>
              <a:rPr lang="ko-KR" altLang="en-US" sz="1400" spc="-50" dirty="0"/>
              <a:t>우리나라의 사회보장제도</a:t>
            </a:r>
            <a:r>
              <a:rPr lang="en-US" altLang="ko-KR" sz="1400" spc="-50" dirty="0"/>
              <a:t>&gt;</a:t>
            </a:r>
            <a:endParaRPr lang="ko-KR" altLang="en-US" sz="14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D1204B4-142B-1F6B-58AA-3FFCB518699F}"/>
              </a:ext>
            </a:extLst>
          </p:cNvPr>
          <p:cNvSpPr txBox="1"/>
          <p:nvPr/>
        </p:nvSpPr>
        <p:spPr>
          <a:xfrm>
            <a:off x="288790" y="2853326"/>
            <a:ext cx="7146613" cy="152202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사회보험제도는 가입자들이 낸 보험료에 의해 운영이 된다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공공부조 프로그램은 정부의 일반 예산에서 재원이 충당된다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사회보험제도는 재분배효과를 적극적으로는 추구하지 못한다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공공부조 프로그램은 명확히 재분배효과를 지향하고 있다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34970594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979C92-A271-9EF1-D024-A336BAE365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F21CD27C-B206-96C4-A0EB-3390E20F4640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3D716CE-62C5-58A3-4FB7-71D8824C3D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7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67B6DC08-E49D-5E93-62E8-32DA7183BD0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3765550"/>
            <a:ext cx="11150600" cy="65281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Section 2. </a:t>
            </a:r>
            <a:r>
              <a:rPr lang="ko-KR" altLang="en-US" sz="4000" b="1" i="0" spc="150" dirty="0"/>
              <a:t>국민연금제도의 기본성격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92375038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DAC2F7-3D24-4C16-439D-44B64B00F5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9B0F1A1-5AB4-7004-7A94-3121DC63EF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중복세대의 모형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D541E72-0DCE-06C0-389D-3A17C8C49D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8</a:t>
            </a:fld>
            <a:endParaRPr lang="ko-KR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10003A55-333F-0B98-577A-4D414D026D5D}"/>
                  </a:ext>
                </a:extLst>
              </p:cNvPr>
              <p:cNvSpPr txBox="1"/>
              <p:nvPr/>
            </p:nvSpPr>
            <p:spPr>
              <a:xfrm>
                <a:off x="288790" y="958844"/>
                <a:ext cx="11250267" cy="5215338"/>
              </a:xfrm>
              <a:prstGeom prst="rect">
                <a:avLst/>
              </a:prstGeom>
              <a:noFill/>
            </p:spPr>
            <p:txBody>
              <a:bodyPr wrap="square" rtlCol="0" anchor="t">
                <a:spAutoFit/>
              </a:bodyPr>
              <a:lstStyle/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spc="-50" dirty="0"/>
                  <a:t>일단 국민연금제도는 기본적으로 정부가 강제저축을 통해 국민의 노후 생계를 보장해 주는 보편적 연금 프로그램이다</a:t>
                </a:r>
                <a:r>
                  <a:rPr lang="en-US" altLang="ko-KR" sz="1600" spc="-50" dirty="0"/>
                  <a:t>.</a:t>
                </a:r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endParaRPr lang="en-US" altLang="ko-KR" sz="1600" spc="-50" dirty="0"/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spc="-50" dirty="0"/>
                  <a:t>국민연금제도가 갖는 성격을 간단히 이해하고자 </a:t>
                </a:r>
                <a:r>
                  <a:rPr lang="ko-KR" altLang="en-US" sz="1600" spc="-50" dirty="0" err="1"/>
                  <a:t>새뮤엘슨의</a:t>
                </a:r>
                <a:r>
                  <a:rPr lang="ko-KR" altLang="en-US" sz="1600" spc="-50" dirty="0"/>
                  <a:t> </a:t>
                </a:r>
                <a:r>
                  <a:rPr lang="ko-KR" altLang="en-US" sz="1600" b="1" spc="-50" dirty="0"/>
                  <a:t>중복세대의 모형</a:t>
                </a:r>
                <a:r>
                  <a:rPr lang="ko-KR" altLang="en-US" sz="1600" spc="-50" dirty="0"/>
                  <a:t>을 살펴보자</a:t>
                </a:r>
                <a:r>
                  <a:rPr lang="en-US" altLang="ko-KR" sz="1600" spc="-50" dirty="0"/>
                  <a:t>. (P. Samuelson, 1958)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한 사회에 매 기간마다 </a:t>
                </a:r>
                <a14:m>
                  <m:oMath xmlns:m="http://schemas.openxmlformats.org/officeDocument/2006/math">
                    <m:r>
                      <a:rPr lang="en-US" altLang="ko-KR" sz="1600" b="0" i="1" spc="-50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ko-KR" altLang="en-US" sz="1600" spc="-50" dirty="0"/>
                  <a:t>명의 사람들이 태어나고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각 사람은 두 기간에 걸쳐 생존한다고 가정한다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따라서 한 시점에서 보면 </a:t>
                </a:r>
                <a14:m>
                  <m:oMath xmlns:m="http://schemas.openxmlformats.org/officeDocument/2006/math">
                    <m:r>
                      <a:rPr lang="en-US" altLang="ko-KR" sz="1600" b="0" i="0" spc="-50" smtClean="0">
                        <a:latin typeface="Cambria Math" panose="02040503050406030204" pitchFamily="18" charset="0"/>
                      </a:rPr>
                      <m:t>2</m:t>
                    </m:r>
                    <m:r>
                      <a:rPr lang="en-US" altLang="ko-KR" sz="1600" i="1" spc="-5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ko-KR" altLang="en-US" sz="1600" spc="-50" dirty="0"/>
                  <a:t> 명의 사람들이 살고 있다</a:t>
                </a:r>
                <a:r>
                  <a:rPr lang="en-US" altLang="ko-KR" sz="1600" spc="-50" dirty="0"/>
                  <a:t>.</a:t>
                </a:r>
              </a:p>
              <a:p>
                <a:pPr marL="1292225" lvl="2" indent="-285750">
                  <a:lnSpc>
                    <a:spcPct val="150000"/>
                  </a:lnSpc>
                  <a:buFont typeface="Wingdings" panose="05000000000000000000" pitchFamily="2" charset="2"/>
                  <a:buChar char="Ø"/>
                </a:pPr>
                <a:r>
                  <a:rPr lang="ko-KR" altLang="en-US" sz="1600" spc="-50" dirty="0"/>
                  <a:t>이 중 </a:t>
                </a:r>
                <a14:m>
                  <m:oMath xmlns:m="http://schemas.openxmlformats.org/officeDocument/2006/math">
                    <m:r>
                      <a:rPr lang="en-US" altLang="ko-KR" sz="1600" i="1" spc="-5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ko-KR" altLang="en-US" sz="1600" spc="-50" dirty="0"/>
                  <a:t>명은 젊은 세대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나머지 </a:t>
                </a:r>
                <a14:m>
                  <m:oMath xmlns:m="http://schemas.openxmlformats.org/officeDocument/2006/math">
                    <m:r>
                      <a:rPr lang="en-US" altLang="ko-KR" sz="1600" i="1" spc="-5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ko-KR" altLang="en-US" sz="1600" spc="-50" dirty="0"/>
                  <a:t>명은 나이 든 세대에 속하는 사람들이다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각 사람은 </a:t>
                </a:r>
                <a:r>
                  <a:rPr lang="en-US" altLang="ko-KR" sz="1600" spc="-50" dirty="0"/>
                  <a:t>2</a:t>
                </a:r>
                <a:r>
                  <a:rPr lang="ko-KR" altLang="en-US" sz="1600" spc="-50" dirty="0"/>
                  <a:t>단위의 소비가능한 자원을 갖고 태어나는데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그 자원은 그 기간에만 소비할 수 있고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다음 기간으로 넘겨 소비가 불가능하다고 한다</a:t>
                </a:r>
                <a:r>
                  <a:rPr lang="en-US" altLang="ko-KR" sz="1600" spc="-50" dirty="0"/>
                  <a:t>.</a:t>
                </a:r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spc="-50" dirty="0"/>
                  <a:t>이 단순한 경제에서 자원배분이 어떤 방식으로 이루어질지 생각해보면 우선</a:t>
                </a:r>
                <a:r>
                  <a:rPr lang="en-US" altLang="ko-KR" sz="1600" spc="-50" dirty="0"/>
                  <a:t> </a:t>
                </a:r>
                <a:r>
                  <a:rPr lang="ko-KR" altLang="en-US" sz="1600" spc="-50" dirty="0"/>
                  <a:t>첫째로 생각할 수 있는 하나의 균형상태는 각자가 태어날 때 갖고 나온 자원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즉 </a:t>
                </a:r>
                <a:r>
                  <a:rPr lang="en-US" altLang="ko-KR" sz="1600" spc="-50" dirty="0"/>
                  <a:t>2</a:t>
                </a:r>
                <a:r>
                  <a:rPr lang="ko-KR" altLang="en-US" sz="1600" spc="-50" dirty="0"/>
                  <a:t>단위의 </a:t>
                </a:r>
                <a:r>
                  <a:rPr lang="ko-KR" altLang="en-US" sz="1600" spc="-50" dirty="0" err="1"/>
                  <a:t>초기부존자원을</a:t>
                </a:r>
                <a:r>
                  <a:rPr lang="ko-KR" altLang="en-US" sz="1600" spc="-50" dirty="0"/>
                  <a:t> 모두 생애의 제</a:t>
                </a:r>
                <a:r>
                  <a:rPr lang="en-US" altLang="ko-KR" sz="1600" spc="-50" dirty="0"/>
                  <a:t>1</a:t>
                </a:r>
                <a:r>
                  <a:rPr lang="ko-KR" altLang="en-US" sz="1600" spc="-50" dirty="0"/>
                  <a:t>기에 소비하는 것이다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자원을 소비할 때 느끼는 한계효용이 체감한다는 것을 생각하면</a:t>
                </a:r>
                <a:r>
                  <a:rPr lang="en-US" altLang="ko-KR" sz="1600" spc="-50" dirty="0"/>
                  <a:t> </a:t>
                </a:r>
                <a:r>
                  <a:rPr lang="ko-KR" altLang="en-US" sz="1600" spc="-50" dirty="0"/>
                  <a:t>비효율적인 소비 방식이다</a:t>
                </a:r>
                <a:r>
                  <a:rPr lang="en-US" altLang="ko-KR" sz="1600" spc="-50" dirty="0"/>
                  <a:t>.</a:t>
                </a:r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spc="-50" dirty="0"/>
                  <a:t>이제 사회적 계약을 통해 이루어지는 새로운 자원배분의 상태를 고려해보자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현재 젊은 세대의 사람들이 </a:t>
                </a:r>
                <a:r>
                  <a:rPr lang="ko-KR" altLang="en-US" sz="1600" spc="-50" dirty="0" err="1"/>
                  <a:t>초기부존자원</a:t>
                </a:r>
                <a:r>
                  <a:rPr lang="ko-KR" altLang="en-US" sz="1600" spc="-50" dirty="0"/>
                  <a:t> </a:t>
                </a:r>
                <a:r>
                  <a:rPr lang="en-US" altLang="ko-KR" sz="1600" spc="-50" dirty="0"/>
                  <a:t>2</a:t>
                </a:r>
                <a:r>
                  <a:rPr lang="ko-KR" altLang="en-US" sz="1600" spc="-50" dirty="0"/>
                  <a:t>단위 중 </a:t>
                </a:r>
                <a:r>
                  <a:rPr lang="en-US" altLang="ko-KR" sz="1600" spc="-50" dirty="0"/>
                  <a:t>1</a:t>
                </a:r>
                <a:r>
                  <a:rPr lang="ko-KR" altLang="en-US" sz="1600" spc="-50" dirty="0"/>
                  <a:t>단위를 나이 든 세대에 속하는 사람에게 이전하고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그 대신 다음 기간에서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그때의 젊은 세대에게 </a:t>
                </a:r>
                <a:r>
                  <a:rPr lang="en-US" altLang="ko-KR" sz="1600" spc="-50" dirty="0"/>
                  <a:t>1</a:t>
                </a:r>
                <a:r>
                  <a:rPr lang="ko-KR" altLang="en-US" sz="1600" spc="-50" dirty="0"/>
                  <a:t>단위의 자원을 이전 받기로 한다는 사회적 계약이다</a:t>
                </a:r>
                <a:r>
                  <a:rPr lang="en-US" altLang="ko-KR" sz="1600" spc="-50" dirty="0"/>
                  <a:t>.</a:t>
                </a:r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10003A55-333F-0B98-577A-4D414D026D5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8790" y="958844"/>
                <a:ext cx="11250267" cy="5215338"/>
              </a:xfrm>
              <a:prstGeom prst="rect">
                <a:avLst/>
              </a:prstGeom>
              <a:blipFill>
                <a:blip r:embed="rId2"/>
                <a:stretch>
                  <a:fillRect b="-467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54888907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897080-EE07-77C1-F643-6E40F8CAE0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F9D7F58-262E-C38A-025F-1B88AFE8D7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중복세대의 모형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5D88528-E587-067F-06AB-CDD52AF63C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9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04869A4-C2E1-6E25-F31A-E26E4526BEEB}"/>
              </a:ext>
            </a:extLst>
          </p:cNvPr>
          <p:cNvSpPr txBox="1"/>
          <p:nvPr/>
        </p:nvSpPr>
        <p:spPr>
          <a:xfrm>
            <a:off x="288790" y="958844"/>
            <a:ext cx="11250267" cy="263001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이 사회적 계약을 통해 모든 사람이 생애의 제</a:t>
            </a:r>
            <a:r>
              <a:rPr lang="en-US" altLang="ko-KR" sz="1600" spc="-50" dirty="0"/>
              <a:t>1</a:t>
            </a:r>
            <a:r>
              <a:rPr lang="ko-KR" altLang="en-US" sz="1600" spc="-50" dirty="0"/>
              <a:t>기와 </a:t>
            </a:r>
            <a:r>
              <a:rPr lang="en-US" altLang="ko-KR" sz="1600" spc="-50" dirty="0"/>
              <a:t>2</a:t>
            </a:r>
            <a:r>
              <a:rPr lang="ko-KR" altLang="en-US" sz="1600" spc="-50" dirty="0"/>
              <a:t>기에 각각 </a:t>
            </a:r>
            <a:r>
              <a:rPr lang="en-US" altLang="ko-KR" sz="1600" spc="-50" dirty="0"/>
              <a:t>1</a:t>
            </a:r>
            <a:r>
              <a:rPr lang="ko-KR" altLang="en-US" sz="1600" spc="-50" dirty="0"/>
              <a:t>단위씩 자원을 소비할 수 있게 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한계효용의 체감을 고려할 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사회적 계약이 이루어지기 전 보다 명백하게 더 우월한 소비방식임을 알 수 있다</a:t>
            </a:r>
            <a:r>
              <a:rPr lang="en-US" altLang="ko-KR" sz="1600" spc="-50" dirty="0"/>
              <a:t>. 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이와 같은 사회적 계약을 통해 모든 사람의 후생이 증진될 수 있는데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바로 국민연금제도가 이 사회적 계약을 구체화시킨 제도라고 볼 수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 err="1"/>
              <a:t>사무엘슨의</a:t>
            </a:r>
            <a:r>
              <a:rPr lang="ko-KR" altLang="en-US" sz="1600" spc="-50" dirty="0"/>
              <a:t> 중복세대 모형은 이 제도의 요체가 세대 사이에서 자원을 이전함으로써 사회후생을 증진시키자는 약속에 있다는 사실을 깨우쳐 준다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76286608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3BC0D3-89A5-D086-D1C7-94CDBEF501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23F6DE8-CEED-C9AC-5E5C-68F754E13B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국민연금제도의 의의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6463E4F-53A4-5BDB-2980-FB587E5B09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10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8438000-2E87-772C-81D8-5C56B4859A66}"/>
              </a:ext>
            </a:extLst>
          </p:cNvPr>
          <p:cNvSpPr txBox="1"/>
          <p:nvPr/>
        </p:nvSpPr>
        <p:spPr>
          <a:xfrm>
            <a:off x="288790" y="958844"/>
            <a:ext cx="11250267" cy="5215338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일반적으로 정부의 재정 프로그램은 다음과 같은 네 가지 기능 측면에서 정당성을 인정 받을 수 있다</a:t>
            </a:r>
            <a:r>
              <a:rPr lang="en-US" altLang="ko-KR" sz="1600" spc="-50" dirty="0"/>
              <a:t>.</a:t>
            </a:r>
          </a:p>
          <a:p>
            <a:pPr marL="549275" lvl="1">
              <a:lnSpc>
                <a:spcPct val="150000"/>
              </a:lnSpc>
            </a:pPr>
            <a:r>
              <a:rPr lang="en-US" altLang="ko-KR" sz="1600" spc="-50" dirty="0"/>
              <a:t>1. </a:t>
            </a:r>
            <a:r>
              <a:rPr lang="ko-KR" altLang="en-US" sz="1600" spc="-50" dirty="0"/>
              <a:t>재정수입 달성</a:t>
            </a:r>
            <a:r>
              <a:rPr lang="en-US" altLang="ko-KR" sz="1600" spc="-50" dirty="0"/>
              <a:t>,     2. </a:t>
            </a:r>
            <a:r>
              <a:rPr lang="ko-KR" altLang="en-US" sz="1600" spc="-50" dirty="0"/>
              <a:t>시장실패의 보완</a:t>
            </a:r>
            <a:r>
              <a:rPr lang="en-US" altLang="ko-KR" sz="1600" spc="-50" dirty="0"/>
              <a:t>,     3. </a:t>
            </a:r>
            <a:r>
              <a:rPr lang="ko-KR" altLang="en-US" sz="1600" spc="-50" dirty="0"/>
              <a:t>소득재분배</a:t>
            </a:r>
            <a:r>
              <a:rPr lang="en-US" altLang="ko-KR" sz="1600" spc="-50" dirty="0"/>
              <a:t>,     4. </a:t>
            </a:r>
            <a:r>
              <a:rPr lang="ko-KR" altLang="en-US" sz="1600" spc="-50" dirty="0"/>
              <a:t>온정적 간섭주의에 의한 개입</a:t>
            </a: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국민연금제도가 이 네 가지 기능 측면에서 어떤 의의를 갖는지 평가해보자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434975" indent="-342900">
              <a:lnSpc>
                <a:spcPct val="150000"/>
              </a:lnSpc>
              <a:buFont typeface="+mj-lt"/>
              <a:buAutoNum type="arabicPeriod"/>
            </a:pPr>
            <a:r>
              <a:rPr lang="ko-KR" altLang="en-US" sz="1600" b="1" spc="-50" dirty="0"/>
              <a:t>재정수입 달성</a:t>
            </a:r>
            <a:r>
              <a:rPr lang="en-US" altLang="ko-KR" sz="1600" spc="-50" dirty="0"/>
              <a:t>: </a:t>
            </a:r>
            <a:r>
              <a:rPr lang="ko-KR" altLang="en-US" sz="1600" spc="-50" dirty="0"/>
              <a:t>국민연금제도는 이 기능과 아무런 관련이 없다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국민연금제도 초기단계에서는 수입이 지출보다 클 수 있지만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성숙된 단계이 이르면 연금 지출이 수입보다 많아져서 다른 재원을 끌어와서 써야 할 상황이 되기도 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434975" indent="-342900">
              <a:lnSpc>
                <a:spcPct val="150000"/>
              </a:lnSpc>
              <a:buFont typeface="+mj-lt"/>
              <a:buAutoNum type="arabicPeriod"/>
            </a:pPr>
            <a:r>
              <a:rPr lang="ko-KR" altLang="en-US" sz="1600" b="1" spc="-50" dirty="0"/>
              <a:t>시장실패의 보완</a:t>
            </a:r>
            <a:r>
              <a:rPr lang="en-US" altLang="ko-KR" sz="1600" b="1" spc="-50" dirty="0"/>
              <a:t>: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다음의 형태로 나타날 수 있는 시장실패를 보완해 준다는 점에서 정당성의 근거를 찾을 수 있다</a:t>
            </a:r>
            <a:r>
              <a:rPr lang="en-US" altLang="ko-KR" sz="1600" spc="-50" dirty="0"/>
              <a:t>.</a:t>
            </a:r>
          </a:p>
          <a:p>
            <a:pPr marL="892175" lvl="1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노후 생계를 위해 저축하려는 사람에게 실질가치 측면에서 안전한 투자기회 혹은 연금상품이 제공되지 못하고 있다는 점에서 시장실패가 일어날 수 있다</a:t>
            </a:r>
            <a:r>
              <a:rPr lang="en-US" altLang="ko-KR" sz="1600" spc="-50" dirty="0"/>
              <a:t>.</a:t>
            </a:r>
          </a:p>
          <a:p>
            <a:pPr marL="1349375" lvl="2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이런 시장실패를 보완하기 위해 반드시 국민연금제도가 유일한 해결책은 아니긴 하다</a:t>
            </a:r>
            <a:r>
              <a:rPr lang="en-US" altLang="ko-KR" sz="1600" spc="-50" dirty="0"/>
              <a:t>. </a:t>
            </a:r>
            <a:r>
              <a:rPr lang="ko-KR" altLang="en-US" sz="1600" spc="-50" dirty="0"/>
              <a:t>물가연동공채를 발행하여 어느 정도 해결할 수도 있다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20696015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97700F-D851-9191-A36A-2F1DD90FF4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117AF53-10F8-4881-B1CC-7EA663748E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국민연금제도의 의의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ED66CF7-FF9E-8AC4-23D2-DCDBAA7EC8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11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6B03B3D-73CA-5E2A-886C-20E3FB881A90}"/>
              </a:ext>
            </a:extLst>
          </p:cNvPr>
          <p:cNvSpPr txBox="1"/>
          <p:nvPr/>
        </p:nvSpPr>
        <p:spPr>
          <a:xfrm>
            <a:off x="288790" y="958844"/>
            <a:ext cx="11250267" cy="447667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835025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또 다른 시장 실패로는 사람마다 현역으로 일할 수 있는 기간이 다른 데 따르는 위험성을 대상으로 하는 보험상품이 없다는 뜻에서의 시장실패이다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다른 사람보다 빨리 은퇴해야 할 사정이 있는 사람은 더 적은 저축으로 더 오랜 은퇴기간을 생활해야 하는 위험이 있지만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민간 보험사는 역선택과 도덕적해이의 문제 때문에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이에 대한 적절한 보험을 제공할 수 없는 처지다</a:t>
            </a:r>
            <a:r>
              <a:rPr lang="en-US" altLang="ko-KR" sz="1600" spc="-50" dirty="0"/>
              <a:t>.</a:t>
            </a:r>
          </a:p>
          <a:p>
            <a:pPr marL="1749425" lvl="3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역선택의 문제는 다른 사람보다 더 일찍 은퇴하게 될 사람들만 앞다투어 보험에 가입하게 되는데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역선택에 직면하는 보험사가 보험료를 올리면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훨씬 더 빠르게 은퇴할 사람들만 가입하게 되어 문제가 심해진다</a:t>
            </a:r>
            <a:r>
              <a:rPr lang="en-US" altLang="ko-KR" sz="1600" spc="-50" dirty="0"/>
              <a:t>.</a:t>
            </a:r>
          </a:p>
          <a:p>
            <a:pPr marL="1749425" lvl="3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도덕적해이의 문제는 보험에 가입한 사람들이 충분히 일을 할 수 있음에도 불구하고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보험을 믿고 일찍 은퇴해 버리는 데서 발생한다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정보경제이론에서는 역선택의 문제를 해소할 수 있는 방법 중 하나는 사람들을 단체보험에 가입시키는 것이다</a:t>
            </a:r>
            <a:r>
              <a:rPr lang="en-US" altLang="ko-KR" sz="1600" spc="-50" dirty="0"/>
              <a:t>.</a:t>
            </a:r>
          </a:p>
          <a:p>
            <a:pPr marL="1749425" lvl="3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모든 국민이 국민연금 제도의 적용을 받으면 일찍 은퇴할 가능성이 높은 사람만 가입하는 역선택 문제는 발생하지 않는다</a:t>
            </a:r>
            <a:r>
              <a:rPr lang="en-US" altLang="ko-KR" sz="1600" spc="-50" dirty="0"/>
              <a:t>.</a:t>
            </a:r>
          </a:p>
          <a:p>
            <a:pPr marL="1749425" lvl="3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다만 도덕적 해이의 문제는 국민연금제도를 도입한다 하더라도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근본적인 해결이 되지는 않는다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19401878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61F1AE-79B4-F98F-D5D0-648D2C582B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2EF1CA2-EDCC-5D2D-0602-AF11E96B69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국민연금제도의 의의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13446ED-CDBD-D899-4F94-214872EEF4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12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69CC721-B2A8-812D-C8E5-31CB56693F46}"/>
              </a:ext>
            </a:extLst>
          </p:cNvPr>
          <p:cNvSpPr txBox="1"/>
          <p:nvPr/>
        </p:nvSpPr>
        <p:spPr>
          <a:xfrm>
            <a:off x="288790" y="958844"/>
            <a:ext cx="11250267" cy="3368679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434975" indent="-342900">
              <a:lnSpc>
                <a:spcPct val="150000"/>
              </a:lnSpc>
              <a:buFont typeface="+mj-lt"/>
              <a:buAutoNum type="arabicPeriod" startAt="3"/>
            </a:pPr>
            <a:r>
              <a:rPr lang="ko-KR" altLang="en-US" sz="1600" b="1" spc="-50" dirty="0"/>
              <a:t>소득재분배</a:t>
            </a:r>
            <a:r>
              <a:rPr lang="en-US" altLang="ko-KR" sz="1600" spc="-50" dirty="0"/>
              <a:t>: </a:t>
            </a:r>
            <a:r>
              <a:rPr lang="ko-KR" altLang="en-US" sz="1600" spc="-50" dirty="0"/>
              <a:t>국민연금제도는 다음의 경로를 통해 소득 재분배에 기여할 수 있다</a:t>
            </a:r>
            <a:r>
              <a:rPr lang="en-US" altLang="ko-KR" sz="1600" spc="-50" dirty="0"/>
              <a:t>.</a:t>
            </a:r>
          </a:p>
          <a:p>
            <a:pPr marL="835200" lvl="1" indent="-2844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첫째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한 세대 안에서의 소득 재분배효과가 나타날 수 있다</a:t>
            </a:r>
            <a:r>
              <a:rPr lang="en-US" altLang="ko-KR" sz="1600" spc="-50" dirty="0"/>
              <a:t>.</a:t>
            </a:r>
          </a:p>
          <a:p>
            <a:pPr marL="835200" lvl="1" indent="-2844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둘째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세대와 세대 사이의 소득 재분배 효과가 나타날 수 있다</a:t>
            </a:r>
            <a:r>
              <a:rPr lang="en-US" altLang="ko-KR" sz="1600" spc="-50" dirty="0"/>
              <a:t>.</a:t>
            </a:r>
          </a:p>
          <a:p>
            <a:pPr marL="1293750" lvl="2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축적된 기금에서 </a:t>
            </a:r>
            <a:r>
              <a:rPr lang="ko-KR" altLang="en-US" sz="1600" spc="-50" dirty="0" err="1"/>
              <a:t>운여되는</a:t>
            </a:r>
            <a:r>
              <a:rPr lang="ko-KR" altLang="en-US" sz="1600" spc="-50" dirty="0"/>
              <a:t> 것이 아니라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현재 일하고 있는 사람들로부터 거두어들인 조세수입으로 운영되는 경우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이 효과는 더욱 크다</a:t>
            </a:r>
            <a:r>
              <a:rPr lang="en-US" altLang="ko-KR" sz="1600" spc="-50" dirty="0"/>
              <a:t>.</a:t>
            </a:r>
          </a:p>
          <a:p>
            <a:pPr marL="1293750" lvl="2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따라서 자신이 기여한 것보다 더 큰 혜택을 받을 수도 있고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그 반대의 경우가 될 수도 있다</a:t>
            </a:r>
            <a:r>
              <a:rPr lang="en-US" altLang="ko-KR" sz="1600" spc="-50" dirty="0"/>
              <a:t>.</a:t>
            </a:r>
          </a:p>
          <a:p>
            <a:pPr marL="1293750" lvl="2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제도의 수혜자인 노년층이 다른 연령그룹에 비해 빈곤율이 높기 때문에 어느 정도 재분배 효과가 나타난다</a:t>
            </a:r>
            <a:r>
              <a:rPr lang="en-US" altLang="ko-KR" sz="1600" spc="-50" dirty="0"/>
              <a:t>.</a:t>
            </a:r>
          </a:p>
          <a:p>
            <a:pPr marL="8365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결국 국민연금제도를 설계할 때 어느 정도로 재분배효과를 추구할 것인지 선택해야 하며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사회적 적합성과 개인적 공평성이라는 두가지 목표 사이에서 타협을 해야 한다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57165645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59C23E-C60C-9588-E9F9-B8C8AF2AF1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AACFCDE-4BF7-9A17-5820-540520BB4A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국민연금제도의 의의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44A3303-2882-AB18-A51C-1864334AD5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13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C602D25-3C3A-238D-A84C-4010DCC44374}"/>
              </a:ext>
            </a:extLst>
          </p:cNvPr>
          <p:cNvSpPr txBox="1"/>
          <p:nvPr/>
        </p:nvSpPr>
        <p:spPr>
          <a:xfrm>
            <a:off x="288790" y="958844"/>
            <a:ext cx="11250267" cy="2260683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434975" indent="-342900">
              <a:lnSpc>
                <a:spcPct val="150000"/>
              </a:lnSpc>
              <a:buFont typeface="+mj-lt"/>
              <a:buAutoNum type="arabicPeriod" startAt="4"/>
            </a:pPr>
            <a:r>
              <a:rPr lang="ko-KR" altLang="en-US" sz="1600" b="1" spc="-50" dirty="0"/>
              <a:t>온정적 간섭주의에 의한 개입</a:t>
            </a:r>
            <a:r>
              <a:rPr lang="en-US" altLang="ko-KR" sz="1600" b="1" spc="-50" dirty="0"/>
              <a:t>: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개인은 알아서 노후 생계를 위한 대책을 마련해야 하지만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현실에서는 개인이 언제나 분별력이 있을 수 없고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정보가 부족할 수도 있는 등 여러가지 이유로 스스로의 이익에 부합하는 결정을 내리지 못할 때가 있다</a:t>
            </a:r>
            <a:r>
              <a:rPr lang="en-US" altLang="ko-KR" sz="1600" spc="-50" dirty="0"/>
              <a:t>. </a:t>
            </a:r>
            <a:r>
              <a:rPr lang="ko-KR" altLang="en-US" sz="1600" spc="-50" dirty="0"/>
              <a:t>이러한 점을 봤을 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개인의 일이라고 해서 정부가 완전히 손을 뗄 수만은 없다</a:t>
            </a:r>
            <a:r>
              <a:rPr lang="en-US" altLang="ko-KR" sz="1600" spc="-50" dirty="0"/>
              <a:t>.</a:t>
            </a:r>
          </a:p>
          <a:p>
            <a:pPr marL="892175" lvl="1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통계청이 발표한 </a:t>
            </a:r>
            <a:r>
              <a:rPr lang="en-US" altLang="ko-KR" sz="1600" spc="-50" dirty="0"/>
              <a:t>‘2023</a:t>
            </a:r>
            <a:r>
              <a:rPr lang="ko-KR" altLang="en-US" sz="1600" spc="-50" dirty="0"/>
              <a:t>년 사회조사</a:t>
            </a:r>
            <a:r>
              <a:rPr lang="en-US" altLang="ko-KR" sz="1600" spc="-50" dirty="0"/>
              <a:t>’</a:t>
            </a:r>
            <a:r>
              <a:rPr lang="ko-KR" altLang="en-US" sz="1600" spc="-50" dirty="0"/>
              <a:t>에 따르면 우리나라 사람들의 </a:t>
            </a:r>
            <a:r>
              <a:rPr lang="en-US" altLang="ko-KR" sz="1600" spc="-50" dirty="0"/>
              <a:t>30%</a:t>
            </a:r>
            <a:r>
              <a:rPr lang="ko-KR" altLang="en-US" sz="1600" spc="-50" dirty="0"/>
              <a:t>가 노후를 준비하지 못하고 있고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노후를 준비하는 사람들의 절반 이상이 국민연금에 크게 의존하고 있는 것으로 나타났다</a:t>
            </a:r>
            <a:r>
              <a:rPr lang="en-US" altLang="ko-KR" sz="1600" spc="-50" dirty="0"/>
              <a:t>.</a:t>
            </a:r>
          </a:p>
          <a:p>
            <a:pPr marL="1349375" lvl="2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이러한 점을 보면 개인의 노후 생계 보장을 위해 정부가 개입할 수 밖에 없다는 논리에 설득력이 생긴다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36975590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FD52DA-1C35-A7F3-0F0C-94904C150D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05D72FC7-2637-7617-AB37-CE9256778D11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86A8251-DD9C-7650-0B0C-DF74ED370B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14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2B80A8C0-9D58-68A5-1D3D-BF806CEDF4D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3765550"/>
            <a:ext cx="11150600" cy="65281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Section 3. </a:t>
            </a:r>
            <a:r>
              <a:rPr lang="ko-KR" altLang="en-US" sz="4000" b="1" i="0" spc="150" dirty="0"/>
              <a:t>국민연금제도 관련 중요쟁점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193145394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5815E5-9AB9-4EE7-DE28-E40DA3A6CA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98542E5-558F-E401-D3B7-3B102FA0BC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사회보험제도의 의미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7D6148A-B2C4-2184-088D-F176ADB71A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15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A0F4A32-6669-5120-35C8-1374C264532B}"/>
              </a:ext>
            </a:extLst>
          </p:cNvPr>
          <p:cNvSpPr txBox="1"/>
          <p:nvPr/>
        </p:nvSpPr>
        <p:spPr>
          <a:xfrm>
            <a:off x="288790" y="958844"/>
            <a:ext cx="11250267" cy="2999347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정부주도하의 보편적 연금 프로그램이 존재할 필요가 있는지 의문을 제기하는 사람들도 상당하다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많은 국민들이 지지하는 바람직한 국민연금제도 확립을 위해서는 다음의 쟁점들에 대한 해답 마련이 필요하다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강제적이며 공적인 해결방식의 필요성</a:t>
            </a:r>
            <a:endParaRPr lang="en-US" altLang="ko-KR" sz="1600" spc="-50" dirty="0"/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적립방식과 부과방식</a:t>
            </a:r>
            <a:endParaRPr lang="en-US" altLang="ko-KR" sz="1600" spc="-50" dirty="0"/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재분배적 요소</a:t>
            </a:r>
            <a:endParaRPr lang="en-US" altLang="ko-KR" sz="1600" spc="-50" dirty="0"/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목적세 부과의 필요성</a:t>
            </a:r>
            <a:endParaRPr lang="en-US" altLang="ko-KR" sz="1600" spc="-50" dirty="0"/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합리적인 연금 급여수준의 문제</a:t>
            </a: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</p:txBody>
      </p:sp>
    </p:spTree>
    <p:extLst>
      <p:ext uri="{BB962C8B-B14F-4D97-AF65-F5344CB8AC3E}">
        <p14:creationId xmlns:p14="http://schemas.microsoft.com/office/powerpoint/2010/main" val="65094199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ED3FE0-3C4A-7983-0F0A-A67DE50C11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B265176-FDDD-B2E6-3A8E-53B74F3C4F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강제적이고 공적이 해결방식의 필요성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C77BF37-C362-747E-D7D0-6840B5E668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16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A4E1E49-DCAD-C344-B216-83F9A9DB6DB8}"/>
              </a:ext>
            </a:extLst>
          </p:cNvPr>
          <p:cNvSpPr txBox="1"/>
          <p:nvPr/>
        </p:nvSpPr>
        <p:spPr>
          <a:xfrm>
            <a:off x="288790" y="958844"/>
            <a:ext cx="11250267" cy="5215338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노후 생계보장의 중요성을 인정하더라도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과연 이 일이 강제적이고 공적으로 다루어야 하는지 의문이 들 수 있다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우선 강제적 해결방식의 필요성을 논의 해보자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이 의문에 대한 답은 온정적 간섭주의에서 찾을 수 있다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개인에게 맡기면 노후를 부적절하게 준비하는 사람이 발생한다는 것이다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소비자주권을 신봉하는 이들에게는 이 논리는 큰 설득력을 가지지 못한다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전반적으로 국민연금제도에 강제성이 필요하다는 근거는 명확하지 않다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이제 공적 해결방식의 필요성을 논의 해보자</a:t>
            </a:r>
            <a:r>
              <a:rPr lang="en-US" altLang="ko-KR" sz="1600" spc="-50" dirty="0"/>
              <a:t>.</a:t>
            </a:r>
          </a:p>
          <a:p>
            <a:pPr marL="892175" lvl="1" indent="-342900">
              <a:lnSpc>
                <a:spcPct val="150000"/>
              </a:lnSpc>
              <a:buFont typeface="+mj-lt"/>
              <a:buAutoNum type="arabicPeriod"/>
            </a:pPr>
            <a:r>
              <a:rPr lang="ko-KR" altLang="en-US" sz="1600" spc="-50" dirty="0"/>
              <a:t>우선 효율성 측면에서 찾을 수 있다</a:t>
            </a:r>
            <a:r>
              <a:rPr lang="en-US" altLang="ko-KR" sz="1600" spc="-50" dirty="0"/>
              <a:t>. </a:t>
            </a:r>
          </a:p>
          <a:p>
            <a:pPr marL="1349375" lvl="2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규모의 경제라는 측면에서 민간보험보다 유리하다</a:t>
            </a:r>
            <a:r>
              <a:rPr lang="en-US" altLang="ko-KR" sz="1600" spc="-50" dirty="0"/>
              <a:t>.</a:t>
            </a:r>
          </a:p>
          <a:p>
            <a:pPr marL="1806575" lvl="3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보험이라는 것이 위험을 여럿이 나누어 부담하는 것을 의미하는데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참여자가 많을수록 그 이득이 커진다</a:t>
            </a:r>
            <a:r>
              <a:rPr lang="en-US" altLang="ko-KR" sz="1600" spc="-50" dirty="0"/>
              <a:t>.</a:t>
            </a:r>
          </a:p>
          <a:p>
            <a:pPr marL="892175" lvl="1" indent="-342900">
              <a:lnSpc>
                <a:spcPct val="150000"/>
              </a:lnSpc>
              <a:buFont typeface="+mj-lt"/>
              <a:buAutoNum type="arabicPeriod"/>
            </a:pPr>
            <a:r>
              <a:rPr lang="ko-KR" altLang="en-US" sz="1600" spc="-50" dirty="0"/>
              <a:t>역선택의 문제를 해소할 수 있다는 면에서 사적 보험보다 효율적이다</a:t>
            </a:r>
            <a:r>
              <a:rPr lang="en-US" altLang="ko-KR" sz="1600" spc="-50" dirty="0"/>
              <a:t>.</a:t>
            </a:r>
          </a:p>
          <a:p>
            <a:pPr marL="1349375" lvl="2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앞서 살펴본 </a:t>
            </a:r>
            <a:r>
              <a:rPr lang="en-US" altLang="ko-KR" sz="1600" spc="-50" dirty="0"/>
              <a:t>(11</a:t>
            </a:r>
            <a:r>
              <a:rPr lang="ko-KR" altLang="en-US" sz="1600" spc="-50" dirty="0"/>
              <a:t>슬라이드</a:t>
            </a:r>
            <a:r>
              <a:rPr lang="en-US" altLang="ko-KR" sz="1600" spc="-50" dirty="0"/>
              <a:t>) </a:t>
            </a:r>
            <a:r>
              <a:rPr lang="ko-KR" altLang="en-US" sz="1600" spc="-50" dirty="0"/>
              <a:t>역선택의 문제가 발생하지 않는다</a:t>
            </a:r>
            <a:r>
              <a:rPr lang="en-US" altLang="ko-KR" sz="1600" spc="-50" dirty="0"/>
              <a:t>.</a:t>
            </a:r>
          </a:p>
          <a:p>
            <a:pPr marL="1349375" lvl="2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</p:txBody>
      </p:sp>
    </p:spTree>
    <p:extLst>
      <p:ext uri="{BB962C8B-B14F-4D97-AF65-F5344CB8AC3E}">
        <p14:creationId xmlns:p14="http://schemas.microsoft.com/office/powerpoint/2010/main" val="157256796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8FE21A-9627-BC3F-E59F-FF5C24A1EB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2602FC8-9E27-70D9-763B-4F8B41754D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강제적이고 공적이 해결방식의 필요성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711FF70-C38C-15AC-F1AA-C46EAD7FFD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17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DEF36C5-C34B-3396-D5BE-167A839EF118}"/>
              </a:ext>
            </a:extLst>
          </p:cNvPr>
          <p:cNvSpPr txBox="1"/>
          <p:nvPr/>
        </p:nvSpPr>
        <p:spPr>
          <a:xfrm>
            <a:off x="288790" y="958844"/>
            <a:ext cx="11250267" cy="5215338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892175" lvl="1" indent="-342900">
              <a:lnSpc>
                <a:spcPct val="150000"/>
              </a:lnSpc>
              <a:buFont typeface="+mj-lt"/>
              <a:buAutoNum type="arabicPeriod" startAt="3"/>
            </a:pPr>
            <a:r>
              <a:rPr lang="ko-KR" altLang="en-US" sz="1600" spc="-50" dirty="0"/>
              <a:t>지급준비금을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많이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보유할 필요가 없으므로 높은 수익을 보장해줄 수 있다</a:t>
            </a:r>
            <a:r>
              <a:rPr lang="en-US" altLang="ko-KR" sz="1600" spc="-50" dirty="0"/>
              <a:t>. </a:t>
            </a:r>
          </a:p>
          <a:p>
            <a:pPr marL="1349375" lvl="2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민간 보험회사는 보유자금의 일부를 아무런 수익도 가져다 주지 않는 지급준비금 형태로 보유하고 있어야 한다</a:t>
            </a:r>
            <a:r>
              <a:rPr lang="en-US" altLang="ko-KR" sz="1600" spc="-50" dirty="0"/>
              <a:t>.</a:t>
            </a:r>
          </a:p>
          <a:p>
            <a:pPr marL="1349375" lvl="2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한편 안정적인 보험료의 수입을 기대할 수 있는 공적 프로그램의 경우 비교적 지급준비금이 많지 않아도 된다</a:t>
            </a:r>
            <a:r>
              <a:rPr lang="en-US" altLang="ko-KR" sz="1600" spc="-50" dirty="0"/>
              <a:t>.</a:t>
            </a:r>
          </a:p>
          <a:p>
            <a:pPr marL="1806575" lvl="3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이 점이 높은 수익으로 연결되면 더 좋은 노령연금 혜택을 제공할 수 있다</a:t>
            </a:r>
            <a:r>
              <a:rPr lang="en-US" altLang="ko-KR" sz="1600" spc="-50" dirty="0"/>
              <a:t>.</a:t>
            </a:r>
          </a:p>
          <a:p>
            <a:pPr marL="892175" lvl="1" indent="-342900">
              <a:lnSpc>
                <a:spcPct val="150000"/>
              </a:lnSpc>
              <a:buFont typeface="+mj-lt"/>
              <a:buAutoNum type="arabicPeriod" startAt="3"/>
            </a:pPr>
            <a:r>
              <a:rPr lang="ko-KR" altLang="en-US" sz="1600" spc="-50" dirty="0"/>
              <a:t>행정비용 측면에서 공적 프로그램이 더욱 경제적이라는 주장도 있다</a:t>
            </a:r>
            <a:r>
              <a:rPr lang="en-US" altLang="ko-KR" sz="1600" spc="-50" dirty="0"/>
              <a:t>.</a:t>
            </a:r>
          </a:p>
          <a:p>
            <a:pPr marL="1349375" lvl="2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미국 사회보장제도의 경우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행정비용이 관련 예산의 </a:t>
            </a:r>
            <a:r>
              <a:rPr lang="en-US" altLang="ko-KR" sz="1600" spc="-50" dirty="0"/>
              <a:t>2%</a:t>
            </a:r>
            <a:r>
              <a:rPr lang="ko-KR" altLang="en-US" sz="1600" spc="-50" dirty="0"/>
              <a:t>에 불과하다는 연구결과가 있다</a:t>
            </a:r>
            <a:r>
              <a:rPr lang="en-US" altLang="ko-KR" sz="1600" spc="-50" dirty="0"/>
              <a:t>.</a:t>
            </a:r>
          </a:p>
          <a:p>
            <a:pPr marL="1349375" lvl="2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이에 반해 민간 보험사가 지출하는 행정비용은 매우 클 것으로 짐작하는데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규모의 경제가 작용한 결과라고 볼 수 있다</a:t>
            </a:r>
            <a:r>
              <a:rPr lang="en-US" altLang="ko-KR" sz="1600" spc="-50" dirty="0"/>
              <a:t>.</a:t>
            </a:r>
          </a:p>
          <a:p>
            <a:pPr marL="892175" lvl="1" indent="-342900">
              <a:lnSpc>
                <a:spcPct val="150000"/>
              </a:lnSpc>
              <a:buFont typeface="+mj-lt"/>
              <a:buAutoNum type="arabicPeriod" startAt="3"/>
            </a:pPr>
            <a:r>
              <a:rPr lang="ko-KR" altLang="en-US" sz="1600" spc="-50" dirty="0"/>
              <a:t>인플레이션에 대한 적응이라는 측면에서 공적 프로그램이 한층 더 유리하다</a:t>
            </a:r>
            <a:r>
              <a:rPr lang="en-US" altLang="ko-KR" sz="1600" spc="-50" dirty="0"/>
              <a:t>.</a:t>
            </a:r>
          </a:p>
          <a:p>
            <a:pPr marL="1349375" lvl="2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인플레이션 상황에서는 명목임금이 상승하여 보험료와 동시에 사회보장세 수입이 자동적으로 증가하게 된다</a:t>
            </a:r>
            <a:r>
              <a:rPr lang="en-US" altLang="ko-KR" sz="1600" spc="-50" dirty="0"/>
              <a:t>.</a:t>
            </a:r>
          </a:p>
          <a:p>
            <a:pPr marL="1349375" lvl="2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한편 민간 보험사는 이러한 적응능력을 갖추지 못하여 보험 혜택의 실질가치가 떨어지는 문제가 생긴다</a:t>
            </a:r>
            <a:r>
              <a:rPr lang="en-US" altLang="ko-KR" sz="1600" spc="-50" dirty="0"/>
              <a:t>.</a:t>
            </a:r>
          </a:p>
          <a:p>
            <a:pPr marL="1349375" lvl="2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434975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위와 같이 공적으로 운영하는 것이 많은 장점이 있긴 하지만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민간으로 운영할 때의 장점도 있다</a:t>
            </a:r>
            <a:r>
              <a:rPr lang="en-US" altLang="ko-KR" sz="1600" spc="-50" dirty="0"/>
              <a:t>.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민간 보험사는 정부보다 소비자의 요구에 부응하는 다양한 보험상품을 개발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공급할 수 있는 능력이 있다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6203668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D41B83-0722-3C4D-5ACB-FCB6519131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D9CB405-E5E8-CCDE-9081-882EEC5FAC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적립방식과 부과방식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BA97F42-F585-7CEB-A86D-3709ED40DE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18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071E081-D14E-07C1-DB5A-C63524F1F198}"/>
              </a:ext>
            </a:extLst>
          </p:cNvPr>
          <p:cNvSpPr txBox="1"/>
          <p:nvPr/>
        </p:nvSpPr>
        <p:spPr>
          <a:xfrm>
            <a:off x="288790" y="958844"/>
            <a:ext cx="11250267" cy="4846007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국민연금제도의 재원을 충당하는 방법에는 적립방식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부과방식 두 가지가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 err="1"/>
              <a:t>적립방식이란</a:t>
            </a:r>
            <a:r>
              <a:rPr lang="ko-KR" altLang="en-US" sz="1600" spc="-50" dirty="0"/>
              <a:t> 내가 낸 돈을 내가 나중에 받는다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민간 보험사의 운영 방식과 비슷하게 운영되는 결과</a:t>
            </a: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 err="1"/>
              <a:t>부과방식이란</a:t>
            </a:r>
            <a:r>
              <a:rPr lang="ko-KR" altLang="en-US" sz="1600" spc="-50" dirty="0"/>
              <a:t> 지금 세대가 이전 세대를 부양한다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세대 사이의 계약을 통해 부양의무에 관해 합의를 본 것</a:t>
            </a: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적립방식은 부과방식에 비해 다음의 측면에서 상대적인 장점을 갖고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예전에 자신이 낸 돈을 돌려받는 것 자체가 장점이 될 수 있다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부과방식의 경우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사회심리학적으로 젊은 세대에게 부담을 주고 있다는 사실에서 거북함을 느끼게 된다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적립방식의 경우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거북함을 느낄 필요가 전혀 없다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 err="1"/>
              <a:t>적립방식하에서는</a:t>
            </a:r>
            <a:r>
              <a:rPr lang="ko-KR" altLang="en-US" sz="1600" spc="-50" dirty="0"/>
              <a:t> 지불능력에 아무런 문제가 생기지 않는다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부과방식의 경우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외부 변수</a:t>
            </a:r>
            <a:r>
              <a:rPr lang="en-US" altLang="ko-KR" sz="1600" spc="-50" dirty="0"/>
              <a:t> (GDP </a:t>
            </a:r>
            <a:r>
              <a:rPr lang="ko-KR" altLang="en-US" sz="1600" spc="-50" dirty="0"/>
              <a:t>성장률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실업률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출생률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기대수명 등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의불확실성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불안정성을 동반하게 된다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적립방식의 경우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기금의 한도 안에서만 연금이 지급되기 때문에 지불능력에 문제가 생길 이유가 없다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91202117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DA9B00-210D-5DAB-FD6C-D352DDC395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99377EE-F4D0-FCDD-7948-7BE4B39CBB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적립방식과 부과방식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4FCCBD0-BDCB-9ED3-7688-FA359D915E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19</a:t>
            </a:fld>
            <a:endParaRPr lang="ko-KR" alt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D48287E9-0F06-6876-32E3-446ABC9C246E}"/>
                  </a:ext>
                </a:extLst>
              </p:cNvPr>
              <p:cNvSpPr txBox="1"/>
              <p:nvPr/>
            </p:nvSpPr>
            <p:spPr>
              <a:xfrm>
                <a:off x="288790" y="958844"/>
                <a:ext cx="11250267" cy="5584670"/>
              </a:xfrm>
              <a:prstGeom prst="rect">
                <a:avLst/>
              </a:prstGeom>
              <a:noFill/>
            </p:spPr>
            <p:txBody>
              <a:bodyPr wrap="square" rtlCol="0" anchor="t">
                <a:spAutoFit/>
              </a:bodyPr>
              <a:lstStyle/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spc="-50" dirty="0"/>
                  <a:t>우리나라를 포함하여 전 세계적으로 인구 고령화가 나타나고 있는 가운데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적립방식의 상대적 이점이 두드러진다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고령화는 일하는 사람들 대비 은퇴한 사람들이 상대적으로 많다는 것을 뜻한다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적립방식의 경우 축적된 기금이 완충작용을 해줄 수 있는 한편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부과방식의 경우 일하는 사람이 추가적인 부담을 </a:t>
                </a:r>
                <a:r>
                  <a:rPr lang="ko-KR" altLang="en-US" sz="1600" spc="-50" dirty="0" err="1"/>
                  <a:t>떠안야</a:t>
                </a:r>
                <a:r>
                  <a:rPr lang="ko-KR" altLang="en-US" sz="1600" spc="-50" dirty="0"/>
                  <a:t> 하기 때문이다</a:t>
                </a:r>
                <a:r>
                  <a:rPr lang="en-US" altLang="ko-KR" sz="1600" spc="-50" dirty="0"/>
                  <a:t>.</a:t>
                </a:r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spc="-50" dirty="0" err="1"/>
                  <a:t>부과방식하에서</a:t>
                </a:r>
                <a:r>
                  <a:rPr lang="ko-KR" altLang="en-US" sz="1600" spc="-50" dirty="0"/>
                  <a:t> </a:t>
                </a:r>
                <a:r>
                  <a:rPr lang="ko-KR" altLang="en-US" sz="1600" spc="-50" dirty="0" err="1"/>
                  <a:t>국민염금재정의</a:t>
                </a:r>
                <a:r>
                  <a:rPr lang="ko-KR" altLang="en-US" sz="1600" spc="-50" dirty="0"/>
                  <a:t> 수입과 지출은 아래의 공식에 의해 균형을 이루는데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이 식을 통해 고령화가 국민연금재정에 어떤 문제를 가져오는 알아보자</a:t>
                </a:r>
                <a:r>
                  <a:rPr lang="en-US" altLang="ko-KR" sz="1600" spc="-50" dirty="0"/>
                  <a:t>.</a:t>
                </a:r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endParaRPr lang="en-US" altLang="ko-KR" sz="1600" spc="-50" dirty="0"/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endParaRPr lang="en-US" altLang="ko-KR" sz="1600" spc="-50" dirty="0"/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14:m>
                  <m:oMath xmlns:m="http://schemas.openxmlformats.org/officeDocument/2006/math">
                    <m:r>
                      <a:rPr lang="en-US" altLang="ko-KR" sz="1600" i="1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ko-KR" altLang="en-US" sz="1600" spc="-50" dirty="0"/>
                  <a:t>는 보험료율</a:t>
                </a:r>
                <a:r>
                  <a:rPr lang="en-US" altLang="ko-KR" sz="1600" spc="-50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𝑁</m:t>
                        </m:r>
                      </m:e>
                      <m:sub>
                        <m:r>
                          <a:rPr lang="en-US" altLang="ko-KR" sz="1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𝑤</m:t>
                        </m:r>
                      </m:sub>
                    </m:sSub>
                  </m:oMath>
                </a14:m>
                <a:r>
                  <a:rPr lang="ko-KR" altLang="en-US" sz="1600" spc="-50" dirty="0"/>
                  <a:t>는 보험료를 내는 사람의 수</a:t>
                </a:r>
                <a:r>
                  <a:rPr lang="en-US" altLang="ko-KR" sz="1600" spc="-50" dirty="0"/>
                  <a:t>, </a:t>
                </a:r>
                <a14:m>
                  <m:oMath xmlns:m="http://schemas.openxmlformats.org/officeDocument/2006/math">
                    <m:bar>
                      <m:barPr>
                        <m:pos m:val="top"/>
                        <m:ctrlPr>
                          <a:rPr lang="en-US" altLang="ko-KR" sz="1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barPr>
                      <m:e>
                        <m:r>
                          <a:rPr lang="en-US" altLang="ko-KR" sz="1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𝑤</m:t>
                        </m:r>
                      </m:e>
                    </m:bar>
                  </m:oMath>
                </a14:m>
                <a:r>
                  <a:rPr lang="ko-KR" altLang="en-US" sz="1600" spc="-50" dirty="0"/>
                  <a:t>는 평균임금을 나타내고</a:t>
                </a:r>
                <a:r>
                  <a:rPr lang="en-US" altLang="ko-KR" sz="1600" spc="-50" dirty="0"/>
                  <a:t>,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𝑁</m:t>
                        </m:r>
                      </m:e>
                      <m:sub>
                        <m:r>
                          <a:rPr lang="en-US" altLang="ko-KR" sz="1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𝑏</m:t>
                        </m:r>
                      </m:sub>
                    </m:sSub>
                  </m:oMath>
                </a14:m>
                <a:r>
                  <a:rPr lang="ko-KR" altLang="en-US" sz="1600" spc="-50" dirty="0"/>
                  <a:t>는 연금 혜택을 받는 사람의 수</a:t>
                </a:r>
                <a:r>
                  <a:rPr lang="en-US" altLang="ko-KR" sz="1600" spc="-50" dirty="0"/>
                  <a:t>, </a:t>
                </a:r>
                <a14:m>
                  <m:oMath xmlns:m="http://schemas.openxmlformats.org/officeDocument/2006/math">
                    <m:r>
                      <a:rPr lang="en-US" altLang="ko-KR" sz="16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𝐵</m:t>
                    </m:r>
                  </m:oMath>
                </a14:m>
                <a:r>
                  <a:rPr lang="ko-KR" altLang="en-US" sz="1600" spc="-50" dirty="0"/>
                  <a:t>는 평균 연금 수준을 나타낸다</a:t>
                </a:r>
                <a:r>
                  <a:rPr lang="en-US" altLang="ko-KR" sz="1600" spc="-50" dirty="0"/>
                  <a:t>. 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endParaRPr lang="en-US" altLang="ko-KR" sz="1600" spc="-50" dirty="0"/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spc="-50" dirty="0"/>
                  <a:t>위 식을 </a:t>
                </a:r>
                <a14:m>
                  <m:oMath xmlns:m="http://schemas.openxmlformats.org/officeDocument/2006/math">
                    <m:r>
                      <a:rPr lang="en-US" altLang="ko-KR" sz="1600" i="1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ko-KR" altLang="en-US" sz="1600" spc="-50" dirty="0"/>
                  <a:t>에 대해 풀면 아래의 식으로 만들 수 있는데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아래 식을 통해 보험료 부담이 어떤 요인에 영향을 받는지 알아보자</a:t>
                </a:r>
                <a:r>
                  <a:rPr lang="en-US" altLang="ko-KR" sz="1600" spc="-50" dirty="0"/>
                  <a:t>.</a:t>
                </a:r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endParaRPr lang="en-US" altLang="ko-KR" sz="1600" spc="-50" dirty="0"/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endParaRPr lang="en-US" altLang="ko-KR" sz="1600" spc="-50" dirty="0"/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en-US" altLang="ko-KR" sz="1600" spc="-50" dirty="0"/>
                  <a:t>(</a:t>
                </a:r>
                <a:r>
                  <a:rPr lang="ko-KR" altLang="en-US" sz="1600" spc="-50" dirty="0"/>
                  <a:t>뒷장 계속</a:t>
                </a:r>
                <a:r>
                  <a:rPr lang="en-US" altLang="ko-KR" sz="1600" spc="-50" dirty="0"/>
                  <a:t>)</a:t>
                </a:r>
              </a:p>
            </p:txBody>
          </p:sp>
        </mc:Choice>
        <mc:Fallback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D48287E9-0F06-6876-32E3-446ABC9C246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8790" y="958844"/>
                <a:ext cx="11250267" cy="5584670"/>
              </a:xfrm>
              <a:prstGeom prst="rect">
                <a:avLst/>
              </a:prstGeom>
              <a:blipFill>
                <a:blip r:embed="rId2"/>
                <a:stretch>
                  <a:fillRect b="-437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4BDA0237-4774-0C44-6313-144F4D5247E7}"/>
                  </a:ext>
                </a:extLst>
              </p:cNvPr>
              <p:cNvSpPr txBox="1"/>
              <p:nvPr/>
            </p:nvSpPr>
            <p:spPr>
              <a:xfrm>
                <a:off x="2472743" y="3363532"/>
                <a:ext cx="2286010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 ×</m:t>
                      </m:r>
                      <m:sSub>
                        <m:sSubPr>
                          <m:ctrlPr>
                            <a:rPr lang="en-US" altLang="ko-K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𝑁</m:t>
                          </m:r>
                        </m:e>
                        <m:sub>
                          <m:r>
                            <a:rPr lang="en-US" altLang="ko-K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𝑤</m:t>
                          </m:r>
                        </m:sub>
                      </m:sSub>
                      <m:r>
                        <a:rPr lang="en-US" altLang="ko-KR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×</m:t>
                      </m:r>
                      <m:bar>
                        <m:barPr>
                          <m:pos m:val="top"/>
                          <m:ctrlPr>
                            <a:rPr lang="en-US" altLang="ko-K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barPr>
                        <m:e>
                          <m:r>
                            <a:rPr lang="en-US" altLang="ko-K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𝑤</m:t>
                          </m:r>
                        </m:e>
                      </m:bar>
                      <m:r>
                        <a:rPr lang="en-US" altLang="ko-KR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 </m:t>
                      </m:r>
                      <m:sSub>
                        <m:sSubPr>
                          <m:ctrlPr>
                            <a:rPr lang="en-US" altLang="ko-K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𝑁</m:t>
                          </m:r>
                        </m:e>
                        <m:sub>
                          <m:r>
                            <a:rPr lang="en-US" altLang="ko-K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𝑏</m:t>
                          </m:r>
                        </m:sub>
                      </m:sSub>
                      <m:r>
                        <a:rPr lang="en-US" altLang="ko-KR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×</m:t>
                      </m:r>
                      <m:r>
                        <a:rPr lang="en-US" altLang="ko-KR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𝐵</m:t>
                      </m:r>
                    </m:oMath>
                  </m:oMathPara>
                </a14:m>
                <a:endParaRPr lang="ko-KR" altLang="en-US" dirty="0"/>
              </a:p>
            </p:txBody>
          </p:sp>
        </mc:Choice>
        <mc:Fallback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4BDA0237-4774-0C44-6313-144F4D5247E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72743" y="3363532"/>
                <a:ext cx="2286010" cy="276999"/>
              </a:xfrm>
              <a:prstGeom prst="rect">
                <a:avLst/>
              </a:prstGeom>
              <a:blipFill>
                <a:blip r:embed="rId3"/>
                <a:stretch>
                  <a:fillRect l="-1333" r="-1067" b="-20000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8F45E843-6697-1B61-E5BC-98D9B65738B8}"/>
                  </a:ext>
                </a:extLst>
              </p:cNvPr>
              <p:cNvSpPr txBox="1"/>
              <p:nvPr/>
            </p:nvSpPr>
            <p:spPr>
              <a:xfrm>
                <a:off x="2472743" y="5622157"/>
                <a:ext cx="1414169" cy="56521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 = </m:t>
                      </m:r>
                      <m:f>
                        <m:fPr>
                          <m:ctrlPr>
                            <a:rPr lang="en-US" altLang="ko-K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US" altLang="ko-KR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ko-KR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en-US" altLang="ko-KR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𝑏</m:t>
                              </m:r>
                            </m:sub>
                          </m:sSub>
                        </m:num>
                        <m:den>
                          <m:sSub>
                            <m:sSubPr>
                              <m:ctrlPr>
                                <a:rPr lang="en-US" altLang="ko-KR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ko-KR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en-US" altLang="ko-KR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𝑤</m:t>
                              </m:r>
                            </m:sub>
                          </m:sSub>
                        </m:den>
                      </m:f>
                      <m:r>
                        <a:rPr lang="en-US" altLang="ko-KR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×</m:t>
                      </m:r>
                      <m:f>
                        <m:fPr>
                          <m:ctrlPr>
                            <a:rPr lang="en-US" altLang="ko-K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ko-K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𝐵</m:t>
                          </m:r>
                        </m:num>
                        <m:den>
                          <m:bar>
                            <m:barPr>
                              <m:pos m:val="top"/>
                              <m:ctrlPr>
                                <a:rPr lang="en-US" altLang="ko-KR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barPr>
                            <m:e>
                              <m:r>
                                <a:rPr lang="en-US" altLang="ko-KR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𝑤</m:t>
                              </m:r>
                            </m:e>
                          </m:bar>
                        </m:den>
                      </m:f>
                    </m:oMath>
                  </m:oMathPara>
                </a14:m>
                <a:endParaRPr lang="ko-KR" altLang="en-US" dirty="0"/>
              </a:p>
            </p:txBody>
          </p:sp>
        </mc:Choice>
        <mc:Fallback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8F45E843-6697-1B61-E5BC-98D9B65738B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72743" y="5622157"/>
                <a:ext cx="1414169" cy="565219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19579927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DC6A29-C83F-F0D3-88CA-0904B9351F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23593BC-E2B8-33AE-011C-D15E60FE52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적립방식과 부과방식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873C217-9F2D-42DE-ADD5-F2B87220D9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20</a:t>
            </a:fld>
            <a:endParaRPr lang="ko-KR" alt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48FB1D3B-DC40-7E46-26F4-18FB18B8CC51}"/>
                  </a:ext>
                </a:extLst>
              </p:cNvPr>
              <p:cNvSpPr txBox="1"/>
              <p:nvPr/>
            </p:nvSpPr>
            <p:spPr>
              <a:xfrm>
                <a:off x="288790" y="958844"/>
                <a:ext cx="11250267" cy="5570564"/>
              </a:xfrm>
              <a:prstGeom prst="rect">
                <a:avLst/>
              </a:prstGeom>
              <a:noFill/>
            </p:spPr>
            <p:txBody>
              <a:bodyPr wrap="square" rtlCol="0" anchor="t">
                <a:spAutoFit/>
              </a:bodyPr>
              <a:lstStyle/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endParaRPr lang="en-US" altLang="ko-KR" sz="1600" spc="-50" dirty="0"/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endParaRPr lang="en-US" altLang="ko-KR" sz="1600" spc="-50" dirty="0"/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spc="-50" dirty="0"/>
                  <a:t>위 식에서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altLang="ko-KR" sz="1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en-US" altLang="ko-KR" sz="1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sz="1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𝑁</m:t>
                            </m:r>
                          </m:e>
                          <m:sub>
                            <m:r>
                              <a:rPr lang="en-US" altLang="ko-KR" sz="1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𝑏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en-US" altLang="ko-KR" sz="1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sz="1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𝑁</m:t>
                            </m:r>
                          </m:e>
                          <m:sub>
                            <m:r>
                              <a:rPr lang="en-US" altLang="ko-KR" sz="1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𝑤</m:t>
                            </m:r>
                          </m:sub>
                        </m:sSub>
                      </m:den>
                    </m:f>
                  </m:oMath>
                </a14:m>
                <a:r>
                  <a:rPr lang="en-US" altLang="ko-KR" sz="1600" spc="-50" dirty="0"/>
                  <a:t> </a:t>
                </a:r>
                <a:r>
                  <a:rPr lang="ko-KR" altLang="en-US" sz="1600" spc="-50" dirty="0"/>
                  <a:t>는 연금 수혜자 수를 일하는 사람의 수로 나눈 비율로 </a:t>
                </a:r>
                <a:r>
                  <a:rPr lang="en-US" altLang="ko-KR" sz="1600" spc="-50" dirty="0"/>
                  <a:t>‘</a:t>
                </a:r>
                <a:r>
                  <a:rPr lang="ko-KR" altLang="en-US" sz="1600" spc="-50" dirty="0"/>
                  <a:t>의존비율</a:t>
                </a:r>
                <a:r>
                  <a:rPr lang="en-US" altLang="ko-KR" sz="1600" spc="-50" dirty="0"/>
                  <a:t>’ </a:t>
                </a:r>
                <a:r>
                  <a:rPr lang="ko-KR" altLang="en-US" sz="1600" spc="-50" dirty="0"/>
                  <a:t>이라고 할 수 있다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고령화가 진행될 수록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이 값은 자연히 올라가게 되고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따라서 보험료율</a:t>
                </a:r>
                <a:r>
                  <a:rPr lang="en-US" altLang="ko-KR" sz="1600" spc="-50" dirty="0"/>
                  <a:t>(</a:t>
                </a:r>
                <a14:m>
                  <m:oMath xmlns:m="http://schemas.openxmlformats.org/officeDocument/2006/math">
                    <m:r>
                      <a:rPr lang="en-US" altLang="ko-KR" sz="1600" i="1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en-US" altLang="ko-KR" sz="1600" spc="-50" dirty="0"/>
                  <a:t>)</a:t>
                </a:r>
                <a:r>
                  <a:rPr lang="ko-KR" altLang="en-US" sz="1600" spc="-50" dirty="0"/>
                  <a:t>의 인상이 불가피해진다는 것을 알 수 있다</a:t>
                </a:r>
                <a:r>
                  <a:rPr lang="en-US" altLang="ko-KR" sz="1600" spc="-50" dirty="0"/>
                  <a:t>.</a:t>
                </a:r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spc="-50" dirty="0"/>
                  <a:t>둘째 항인</a:t>
                </a:r>
                <a:r>
                  <a:rPr lang="en-US" altLang="ko-KR" sz="1600" dirty="0"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altLang="ko-KR" sz="1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altLang="ko-KR" sz="1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𝐵</m:t>
                        </m:r>
                      </m:num>
                      <m:den>
                        <m:bar>
                          <m:barPr>
                            <m:pos m:val="top"/>
                            <m:ctrlPr>
                              <a:rPr lang="en-US" altLang="ko-KR" sz="1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barPr>
                          <m:e>
                            <m:r>
                              <a:rPr lang="en-US" altLang="ko-KR" sz="1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𝑤</m:t>
                            </m:r>
                          </m:e>
                        </m:bar>
                      </m:den>
                    </m:f>
                  </m:oMath>
                </a14:m>
                <a:r>
                  <a:rPr lang="ko-KR" altLang="en-US" sz="1600" spc="-50" dirty="0"/>
                  <a:t> 은 평균적인 소득대체율을 뜻한다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고령화로 의존비율이 올라가는 상황에서 보험료율을 일정하게 유지시키려면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이 비율을 떨어뜨려야 한다</a:t>
                </a:r>
                <a:r>
                  <a:rPr lang="en-US" altLang="ko-KR" sz="1600" spc="-50" dirty="0"/>
                  <a:t>.</a:t>
                </a:r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spc="-50" dirty="0"/>
                  <a:t>결국 부과방식을 채택하는 경우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일하는 사람의 보험료 부담을 높이거나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아니면 연금 지급액을 줄이는 것 중 하나를 선택해야 한다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이와 같은 양자택일 상황에서는 사회적 갈등이 매우 심각해질 수 있다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그렇다고 어느 조치도 취하지 않으면 연금재정이 파탄지경에 이를 가능성도 있다</a:t>
                </a:r>
                <a:r>
                  <a:rPr lang="en-US" altLang="ko-KR" sz="1600" spc="-50" dirty="0"/>
                  <a:t>. </a:t>
                </a:r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spc="-50" dirty="0"/>
                  <a:t>부과방식은 </a:t>
                </a:r>
                <a:r>
                  <a:rPr lang="en-US" altLang="ko-KR" sz="1600" spc="-50" dirty="0"/>
                  <a:t>1889</a:t>
                </a:r>
                <a:r>
                  <a:rPr lang="ko-KR" altLang="en-US" sz="1600" spc="-50" dirty="0"/>
                  <a:t>년에 처음 사회보장제도가 출범할 때 채택한 방식으로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당시에는 연금 수혜자 보다 일하는 사람이 압도적으로 많았다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지금은 부과방식을 채택하고 있는 많은 국가들이 연금재정의 위기를 겪고 있다</a:t>
                </a:r>
                <a:r>
                  <a:rPr lang="en-US" altLang="ko-KR" sz="1600" spc="-50" dirty="0"/>
                  <a:t>.</a:t>
                </a:r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endParaRPr lang="en-US" altLang="ko-KR" sz="1600" spc="-50" dirty="0"/>
              </a:p>
            </p:txBody>
          </p:sp>
        </mc:Choice>
        <mc:Fallback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48FB1D3B-DC40-7E46-26F4-18FB18B8CC5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8790" y="958844"/>
                <a:ext cx="11250267" cy="5570564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B3C0CE51-DAA1-4BD3-43EC-E9DC3B90402D}"/>
                  </a:ext>
                </a:extLst>
              </p:cNvPr>
              <p:cNvSpPr txBox="1"/>
              <p:nvPr/>
            </p:nvSpPr>
            <p:spPr>
              <a:xfrm>
                <a:off x="2047740" y="958844"/>
                <a:ext cx="1414169" cy="56521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 = </m:t>
                      </m:r>
                      <m:f>
                        <m:fPr>
                          <m:ctrlPr>
                            <a:rPr lang="en-US" altLang="ko-K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US" altLang="ko-KR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ko-KR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en-US" altLang="ko-KR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𝑏</m:t>
                              </m:r>
                            </m:sub>
                          </m:sSub>
                        </m:num>
                        <m:den>
                          <m:sSub>
                            <m:sSubPr>
                              <m:ctrlPr>
                                <a:rPr lang="en-US" altLang="ko-KR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ko-KR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en-US" altLang="ko-KR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𝑤</m:t>
                              </m:r>
                            </m:sub>
                          </m:sSub>
                        </m:den>
                      </m:f>
                      <m:r>
                        <a:rPr lang="en-US" altLang="ko-KR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×</m:t>
                      </m:r>
                      <m:f>
                        <m:fPr>
                          <m:ctrlPr>
                            <a:rPr lang="en-US" altLang="ko-K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ko-K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𝐵</m:t>
                          </m:r>
                        </m:num>
                        <m:den>
                          <m:bar>
                            <m:barPr>
                              <m:pos m:val="top"/>
                              <m:ctrlPr>
                                <a:rPr lang="en-US" altLang="ko-KR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barPr>
                            <m:e>
                              <m:r>
                                <a:rPr lang="en-US" altLang="ko-KR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𝑤</m:t>
                              </m:r>
                            </m:e>
                          </m:bar>
                        </m:den>
                      </m:f>
                    </m:oMath>
                  </m:oMathPara>
                </a14:m>
                <a:endParaRPr lang="ko-KR" altLang="en-US" dirty="0"/>
              </a:p>
            </p:txBody>
          </p:sp>
        </mc:Choice>
        <mc:Fallback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B3C0CE51-DAA1-4BD3-43EC-E9DC3B90402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47740" y="958844"/>
                <a:ext cx="1414169" cy="565219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230416539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37E220-A81E-59E2-45AD-51567B94EC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91C141A-B86C-76BE-E885-250C9FF9F0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재분배적 요소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2A78BCF-7E4A-FD22-E1B8-64650EB34F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21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3093FD9-F5CE-2DDA-6919-E0E48EF0F8EB}"/>
              </a:ext>
            </a:extLst>
          </p:cNvPr>
          <p:cNvSpPr txBox="1"/>
          <p:nvPr/>
        </p:nvSpPr>
        <p:spPr>
          <a:xfrm>
            <a:off x="288790" y="958844"/>
            <a:ext cx="11250267" cy="4107343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앞서 </a:t>
            </a:r>
            <a:r>
              <a:rPr lang="ko-KR" altLang="en-US" sz="1600" spc="-50" dirty="0" err="1"/>
              <a:t>설명했다시피</a:t>
            </a:r>
            <a:r>
              <a:rPr lang="ko-KR" altLang="en-US" sz="1600" spc="-50" dirty="0"/>
              <a:t> 국민연금제도를 설계할 때는 사회적 적합성과 개인적 </a:t>
            </a:r>
            <a:r>
              <a:rPr lang="ko-KR" altLang="en-US" sz="1600" spc="-50" dirty="0" err="1"/>
              <a:t>공평성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이 두 가지 기준을 적절히 타협한 선에서 재분배효과를 가미하게 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민간 보험사와 유사한 운영을 강조한다면 개인적 공평성에 더 큰 비중을 두게 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한편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국민연금제도가 소득재분배 기능도 일부 맡아야 한다고 생각하면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사회적 적합성에 더 큰 비중을 두게 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결국 국민연금제도의 성격을 어떻게 </a:t>
            </a:r>
            <a:r>
              <a:rPr lang="ko-KR" altLang="en-US" sz="1600" spc="-50" dirty="0" err="1"/>
              <a:t>이해하느냐에</a:t>
            </a:r>
            <a:r>
              <a:rPr lang="ko-KR" altLang="en-US" sz="1600" spc="-50" dirty="0"/>
              <a:t> 따라 위의 두 가지 목표의 상대적 중요성을 평가하게 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다만 분명한 것은 이 제도의 목표는 노후의 생계안정이지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한 세대 안의 소득격차를 줄이는 것이 아니다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현실에서는 많은 나라들이 재분배효과를 지향하는 국민연금제도를 운영하고 있지 않다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즉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은퇴 전의 지위를 은퇴 후에도 그대로 유지할 수 있게 만든 기본골격을 채택하는 것이다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민간 보험사와 비슷하게 운영해야 한다는 사고방식이 현실의 국민연금제도 운영에 큰 영향을 주고 있음을 알 수 있다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095467164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6E8A6D-D66B-9EE6-55D8-3AD6FF4025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5BBC5ED-C3D8-716F-B9E9-C0270BA9B7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목적세 부과의 필요성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28B7012-7408-96A7-BEDB-140B517079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22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0FB24A2-5B8C-9D20-734E-DD8816AB550F}"/>
              </a:ext>
            </a:extLst>
          </p:cNvPr>
          <p:cNvSpPr txBox="1"/>
          <p:nvPr/>
        </p:nvSpPr>
        <p:spPr>
          <a:xfrm>
            <a:off x="288790" y="958844"/>
            <a:ext cx="11250267" cy="3368679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대부분의 나라가 보험료 혹은 사회보장세라고 부르는 목적세를 부과해 국민연금제도의 재원으로 사용하고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많은 나라들이 목적세를 채택하는 데에는 아래와 같은 이유가 있을 수 있다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정치적이유로서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국민연금제도를 일반 지출 프로그램과 구별해야 할 필요가 있다</a:t>
            </a:r>
            <a:endParaRPr lang="en-US" altLang="ko-KR" sz="1600" spc="-50" dirty="0"/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기존의 조세만으로는 국민연금제도 운영에 필요한 자금을 조달하기 어려울 수 있다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연금 수혜자가 자신이 낸 돈을 돌려 받게 된다는 자부심을 가질 수 있게끔 한다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보험료 혹은 사회보장세가 갖고 있는 역진성을 줄이고자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정부의 일반적인 세원에 의해 재원을 조달하는 방식으로 전환해야 한다는 주장이 있기는 하다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이러한 주장은 정치적으로 매우 민감한 문제이며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정부의 비대화를 우려하는 사람들에게 공격의 대상이 된다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828789935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737A0C-3619-BA3D-2878-3962F8A9FE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2A832AE-6AB0-6847-1F19-D0FA2A968E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합리적인 연금 급여수준의 문제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CAF8B6E-CFDE-4C10-4CF5-2322E3197C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23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D96CB00-4240-29C6-1C94-C2631887712C}"/>
              </a:ext>
            </a:extLst>
          </p:cNvPr>
          <p:cNvSpPr txBox="1"/>
          <p:nvPr/>
        </p:nvSpPr>
        <p:spPr>
          <a:xfrm>
            <a:off x="288790" y="958844"/>
            <a:ext cx="11250267" cy="3738011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끊임 없이 변하는 경제상황 속에서 합리적인 연금의 급여수준을 찾아내는 것은 쉬운 일이 아니다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노년층에게 단지 생존을 위한 수단을 제공하는 선에서 그쳐야 하는지</a:t>
            </a:r>
            <a:endParaRPr lang="en-US" altLang="ko-KR" sz="1600" spc="-50" dirty="0"/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이처럼 노년층의 실질소득을 유지해주는 선에서 그치면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노년층의 상대적 지위가 악화 될 수 밖에 없다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일반 국민이 누리고 있는 생활수준 향상의 혜택을 공유할 수 있도록 배려해야 하는지 선택 해야 한다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이와 같이 관대한 급여수준을 유지하기 위해서는 젊은 세대에 무거운 세금을 부과할 수 밖에 없다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뿐만 아니라 급여수준 조정의 기준이 되는 가격과 소득의 변동을 어느 시기에 기준을 두고 측정해야 할 것인지 문제다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이미 일어난 변화를 기준으로 하여 급여수준을 조정할 것인지 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역사적 방식</a:t>
            </a:r>
            <a:r>
              <a:rPr lang="en-US" altLang="ko-KR" sz="1600" spc="-50" dirty="0"/>
              <a:t>)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앞으로 일어날 변화를 예측하여 이를 조정 기준으로 삼아야 하는지 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예측 방식</a:t>
            </a:r>
            <a:r>
              <a:rPr lang="en-US" altLang="ko-KR" sz="1600" spc="-50" dirty="0"/>
              <a:t>) </a:t>
            </a:r>
            <a:r>
              <a:rPr lang="ko-KR" altLang="en-US" sz="1600" spc="-50" dirty="0"/>
              <a:t>선택해야 하는 문제가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논리적으로는 예측 방식이 설득력이 있지만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구체적인 실천에 따르는 문제가 많이 생긴다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980874238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8A7D6A-5714-21DE-75FD-2FF792657A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3C8406DE-3D30-0569-FF83-40CBDCEE969B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904F37A-BEE6-2F0A-9DEC-FEBCB024D2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24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C1A8964E-BF4B-8FDF-E617-A2DA934DC79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3765550"/>
            <a:ext cx="11150600" cy="65281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Section 4. </a:t>
            </a:r>
            <a:r>
              <a:rPr lang="ko-KR" altLang="en-US" sz="4000" b="1" i="0" spc="150" dirty="0"/>
              <a:t>국민연금제도의 경제적 효과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467070501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0D4CD8-D4E5-79CF-7C73-EBCD33FF1D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CCE0E5F8-4925-2624-367B-370EE7DB0934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B773A13-9ADD-F29A-22B5-8B7F19B124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25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786B2AB1-97D8-F883-34D3-4CC74466BA7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3765550"/>
            <a:ext cx="11150600" cy="65281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Section 5. </a:t>
            </a:r>
            <a:r>
              <a:rPr lang="ko-KR" altLang="en-US" sz="4000" b="1" i="0" spc="150" dirty="0"/>
              <a:t>우리나라의 국민연금제도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3415039828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A7EF4E-B5E0-3A1D-111F-8C3807B2C6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8874C330-8ACD-3363-687A-E20C99E8F966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04AB3A2-801B-F0F4-9ABE-28BF0BC7E5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26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59B23D82-89C3-EE4E-1C72-E7278FA1DEA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3765550"/>
            <a:ext cx="11150600" cy="65281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Section 6. </a:t>
            </a:r>
            <a:r>
              <a:rPr lang="ko-KR" altLang="en-US" sz="4000" b="1" i="0" spc="150" dirty="0"/>
              <a:t>건강보험제도의 기본성격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797057951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88FAAE-F208-7323-0B7B-79314966BF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861D89AF-D865-CF91-B0A0-E9B2EBC2C6FB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B428E16-A285-ADD2-098D-FFC7DEC112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27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80C8B4D5-4027-0895-6282-01FB061A2E7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3765550"/>
            <a:ext cx="11150600" cy="65281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Section 7. </a:t>
            </a:r>
            <a:r>
              <a:rPr lang="ko-KR" altLang="en-US" sz="4000" b="1" i="0" spc="150" dirty="0"/>
              <a:t>우리나라의 국민건강보험제도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1606299614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AF4B43-09B4-0ECF-E26D-84F2E26EB2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597A1CD-38FF-A245-BBC6-B324884256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재분배정책에 대한 찬반의견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6041E48-F037-1375-FF0E-BBDBC755A7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28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E9FC4E3-47A9-296B-4B15-F3F3798E39D7}"/>
              </a:ext>
            </a:extLst>
          </p:cNvPr>
          <p:cNvSpPr txBox="1"/>
          <p:nvPr/>
        </p:nvSpPr>
        <p:spPr>
          <a:xfrm>
            <a:off x="288790" y="958844"/>
            <a:ext cx="11250267" cy="447667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434975" indent="-342900">
              <a:lnSpc>
                <a:spcPct val="150000"/>
              </a:lnSpc>
              <a:buFont typeface="+mj-lt"/>
              <a:buAutoNum type="arabicPeriod" startAt="2"/>
            </a:pPr>
            <a:r>
              <a:rPr lang="ko-KR" altLang="en-US" sz="1600" b="1" spc="-50" dirty="0"/>
              <a:t>효율성에 대한 부정적 영향</a:t>
            </a:r>
            <a:r>
              <a:rPr lang="en-US" altLang="ko-KR" sz="1600" spc="-50" dirty="0"/>
              <a:t>: </a:t>
            </a:r>
            <a:r>
              <a:rPr lang="ko-KR" altLang="en-US" sz="1600" spc="-50" dirty="0"/>
              <a:t>재분배정책이 효율적 자원배분을 저해하는 결과를 가져올 것이라는 점을 들어 반대한다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예컨대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재분배효과를 크게 하기 위해 급격한 누진적 조세제도를 도입하면 사람들은 더 많이 일하는 동기가 감소할 것이다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또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빈곤층에 대한 소득보조 프로그램은 가난한 사람들의 근로 의욕을 감소시킬 수도 있다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그러나 </a:t>
            </a:r>
            <a:r>
              <a:rPr lang="ko-KR" altLang="en-US" sz="1600" spc="-50" dirty="0" err="1"/>
              <a:t>아직까지는</a:t>
            </a:r>
            <a:r>
              <a:rPr lang="ko-KR" altLang="en-US" sz="1600" spc="-50" dirty="0"/>
              <a:t> 재분배정책이 효율성 감소에 어느정도 영향을 미치는지 정확히 알고 있지 못하다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434975" indent="-342900">
              <a:lnSpc>
                <a:spcPct val="150000"/>
              </a:lnSpc>
              <a:buFont typeface="+mj-lt"/>
              <a:buAutoNum type="arabicPeriod" startAt="3"/>
            </a:pPr>
            <a:r>
              <a:rPr lang="ko-KR" altLang="en-US" sz="1600" b="1" spc="-50" dirty="0"/>
              <a:t>정치적 현실의 관점</a:t>
            </a:r>
            <a:r>
              <a:rPr lang="en-US" altLang="ko-KR" sz="1600" b="1" spc="-50" dirty="0"/>
              <a:t>: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정치기구가 과연 재분배작업을 성공적으로 해낼 수 있는지 의문을 가지고 반대한다</a:t>
            </a:r>
            <a:r>
              <a:rPr lang="en-US" altLang="ko-KR" sz="1600" spc="-50" dirty="0"/>
              <a:t>.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재분배작업을 </a:t>
            </a:r>
            <a:r>
              <a:rPr lang="ko-KR" altLang="en-US" sz="1600" spc="-50" dirty="0" err="1"/>
              <a:t>담당해야하는</a:t>
            </a:r>
            <a:r>
              <a:rPr lang="ko-KR" altLang="en-US" sz="1600" spc="-50" dirty="0"/>
              <a:t> 정치기구 역시 여러 집단의 이익이 복잡하게 </a:t>
            </a:r>
            <a:r>
              <a:rPr lang="ko-KR" altLang="en-US" sz="1600" spc="-50" dirty="0" err="1"/>
              <a:t>얽혀있기</a:t>
            </a:r>
            <a:r>
              <a:rPr lang="ko-KR" altLang="en-US" sz="1600" spc="-50" dirty="0"/>
              <a:t> 때문에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공평한 재분배를 수행하기 힘든 것이 사실이다</a:t>
            </a:r>
            <a:r>
              <a:rPr lang="en-US" altLang="ko-KR" sz="1600" spc="-50" dirty="0"/>
              <a:t>.</a:t>
            </a:r>
          </a:p>
          <a:p>
            <a:pPr marL="434975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또 한가지 반대 논리는 재분배정책이 </a:t>
            </a:r>
            <a:r>
              <a:rPr lang="ko-KR" altLang="en-US" sz="1600" spc="-50" dirty="0" err="1"/>
              <a:t>계층간의</a:t>
            </a:r>
            <a:r>
              <a:rPr lang="ko-KR" altLang="en-US" sz="1600" spc="-50" dirty="0"/>
              <a:t> 갈등을 조장함으로써 정치과정에 심각한 긴장을 일으킨다는 것이다</a:t>
            </a:r>
            <a:r>
              <a:rPr lang="en-US" altLang="ko-KR" sz="1600" spc="-50" dirty="0"/>
              <a:t>.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재분배라는 것이 어떤 사람으로부터 경제적 자원을 거두어 다른 사람에게 넘겨주는 것이기 때문에 이러한 주장에 일리가 있긴 하지만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재분배가 이루어지지 않을 때 </a:t>
            </a:r>
            <a:r>
              <a:rPr lang="ko-KR" altLang="en-US" sz="1600" spc="-50" dirty="0" err="1"/>
              <a:t>계층간의</a:t>
            </a:r>
            <a:r>
              <a:rPr lang="ko-KR" altLang="en-US" sz="1600" spc="-50" dirty="0"/>
              <a:t> 긴장과 갈등이 더 심해질 수도 있는 것이 사실이다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620952806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30D0EF-168D-4D0B-382A-14535921A3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1A04DD1-B821-23EA-0CFC-B188679FBE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재분배정책에 대한 찬반의견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B8262B7-878F-30FB-81A2-6AAD48AC24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29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40ABBB2-5E06-7126-F790-E2C507B57338}"/>
              </a:ext>
            </a:extLst>
          </p:cNvPr>
          <p:cNvSpPr txBox="1"/>
          <p:nvPr/>
        </p:nvSpPr>
        <p:spPr>
          <a:xfrm>
            <a:off x="288790" y="958844"/>
            <a:ext cx="11250267" cy="526150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u="sng" dirty="0">
                <a:ln w="3175">
                  <a:noFill/>
                </a:ln>
                <a:latin typeface="HY헤드라인M" panose="02030600000101010101" pitchFamily="18" charset="-127"/>
                <a:ea typeface="HY헤드라인M" panose="02030600000101010101" pitchFamily="18" charset="-127"/>
              </a:rPr>
              <a:t>찬성의 논리</a:t>
            </a:r>
            <a:endParaRPr lang="en-US" altLang="ko-KR" sz="400" u="sng" dirty="0">
              <a:ln w="3175">
                <a:noFill/>
              </a:ln>
              <a:latin typeface="HY헤드라인M" panose="02030600000101010101" pitchFamily="18" charset="-127"/>
              <a:ea typeface="HY헤드라인M" panose="02030600000101010101" pitchFamily="18" charset="-127"/>
            </a:endParaRPr>
          </a:p>
          <a:p>
            <a:pPr marL="434975" indent="-342900">
              <a:lnSpc>
                <a:spcPct val="150000"/>
              </a:lnSpc>
              <a:buFont typeface="+mj-lt"/>
              <a:buAutoNum type="arabicPeriod"/>
            </a:pPr>
            <a:r>
              <a:rPr lang="ko-KR" altLang="en-US" sz="1600" b="1" spc="-50" dirty="0"/>
              <a:t>윤리적 관점</a:t>
            </a:r>
            <a:r>
              <a:rPr lang="en-US" altLang="ko-KR" sz="1600" spc="-50" dirty="0"/>
              <a:t>: </a:t>
            </a:r>
            <a:r>
              <a:rPr lang="ko-KR" altLang="en-US" sz="1600" spc="-50" dirty="0"/>
              <a:t>평등주의자들은 분배상태가 평등하지 못하면 이를 시정하려는 노력이 따라야 한다고 주장한다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평등주의 뿐 아니라 공리주의자도 재분배를 위한 개입을 지지한다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다만 공리의 원칙은 단순히 사회적 후생의 총합이 극대화되는 분배상태를 요구할 뿐이지만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공리주의자들이 일반적으로 설정하는 상황에서는 재분배를 통한 평등화가 사회 전체의 후생을 증진시키기 때문이다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spc="-50" dirty="0"/>
          </a:p>
          <a:p>
            <a:pPr marL="434975" indent="-342900">
              <a:lnSpc>
                <a:spcPct val="150000"/>
              </a:lnSpc>
              <a:buFont typeface="+mj-lt"/>
              <a:buAutoNum type="arabicPeriod"/>
            </a:pPr>
            <a:r>
              <a:rPr lang="ko-KR" altLang="en-US" sz="1600" b="1" spc="-50" dirty="0" err="1"/>
              <a:t>공공재로서의</a:t>
            </a:r>
            <a:r>
              <a:rPr lang="ko-KR" altLang="en-US" sz="1600" b="1" spc="-50" dirty="0"/>
              <a:t> 공평한분배</a:t>
            </a:r>
            <a:r>
              <a:rPr lang="en-US" altLang="ko-KR" sz="1600" spc="-50" dirty="0"/>
              <a:t>: </a:t>
            </a:r>
            <a:r>
              <a:rPr lang="ko-KR" altLang="en-US" sz="1600" spc="-50" dirty="0"/>
              <a:t>재분배가 </a:t>
            </a:r>
            <a:r>
              <a:rPr lang="ko-KR" altLang="en-US" sz="1600" spc="-50" dirty="0" err="1"/>
              <a:t>가져다주는</a:t>
            </a:r>
            <a:r>
              <a:rPr lang="ko-KR" altLang="en-US" sz="1600" spc="-50" dirty="0"/>
              <a:t> 사회적 이득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범죄 감소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사회적 안정성 증대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이 마치 공공재와 같은 성격을 갖는다고 주장한다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그 혜택을 누구나 누릴 수 있어 </a:t>
            </a:r>
            <a:r>
              <a:rPr lang="ko-KR" altLang="en-US" sz="1600" spc="-50" dirty="0" err="1"/>
              <a:t>배제불가능하며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또 누군가 혜택을 누린다고 해서 다른 사람이 얻는 혜택이 줄어들지 않는다는 점에서 비경합성도 갖고 있다고 주장한다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재분배로부터의 사회적 이득이 공공재 성격을 갖는다면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정부가 재분배를 위해 개입해야 할 필요가 생긴다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altLang="ko-KR" sz="1600" spc="-50" dirty="0"/>
              <a:t>4</a:t>
            </a:r>
            <a:r>
              <a:rPr lang="ko-KR" altLang="en-US" sz="1600" spc="-50" dirty="0"/>
              <a:t>장 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공공재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에서 배웠듯이 공공재의 경우 무임승차 문제가 발생할 수 있기 때문이다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부유한 사람들이 빈곤한 사람에게 소득을 나누어 주지 않고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다른 부유한 사람들에게 그 일을 떠맡기는 것이다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</p:txBody>
      </p:sp>
    </p:spTree>
    <p:extLst>
      <p:ext uri="{BB962C8B-B14F-4D97-AF65-F5344CB8AC3E}">
        <p14:creationId xmlns:p14="http://schemas.microsoft.com/office/powerpoint/2010/main" val="1769245089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5FB47C-3726-C9E0-C9E7-FFDDE32099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C7B97E2-F210-8875-7AB5-10FD09DA15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재분배정책에 대한 찬반의견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2F91DFC-EAD3-E4FF-030C-0E96EA359B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30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509C429-DA59-D9FA-5751-536773D5059C}"/>
              </a:ext>
            </a:extLst>
          </p:cNvPr>
          <p:cNvSpPr txBox="1"/>
          <p:nvPr/>
        </p:nvSpPr>
        <p:spPr>
          <a:xfrm>
            <a:off x="288790" y="958844"/>
            <a:ext cx="11250267" cy="2999347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434975" indent="-342900">
              <a:lnSpc>
                <a:spcPct val="150000"/>
              </a:lnSpc>
              <a:buFont typeface="+mj-lt"/>
              <a:buAutoNum type="arabicPeriod" startAt="3"/>
            </a:pPr>
            <a:r>
              <a:rPr lang="ko-KR" altLang="en-US" sz="1600" b="1" spc="-50" dirty="0" err="1"/>
              <a:t>사회보험으로서의</a:t>
            </a:r>
            <a:r>
              <a:rPr lang="ko-KR" altLang="en-US" sz="1600" b="1" spc="-50" dirty="0"/>
              <a:t> 재분배</a:t>
            </a:r>
            <a:r>
              <a:rPr lang="en-US" altLang="ko-KR" sz="1600" spc="-50" dirty="0"/>
              <a:t>: </a:t>
            </a:r>
            <a:r>
              <a:rPr lang="ko-KR" altLang="en-US" sz="1600" spc="-50" dirty="0"/>
              <a:t>재분배정책을 사회보험이라는 관점에서 정당화하고자 하는 시도도 있다</a:t>
            </a:r>
            <a:r>
              <a:rPr lang="en-US" altLang="ko-KR" sz="1600" spc="-50" dirty="0"/>
              <a:t>.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우리는 뜻하지 않은 일로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빈곤해질 수 있는 가능성을 항상 가지고 있다</a:t>
            </a:r>
            <a:r>
              <a:rPr lang="en-US" altLang="ko-KR" sz="1600" spc="-50" dirty="0"/>
              <a:t>.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이런 경우를 대비하는 차원에서 재분배 정책은 일종의 사회적 안전장치를 마련해 놓는 것이다</a:t>
            </a:r>
            <a:r>
              <a:rPr lang="en-US" altLang="ko-KR" sz="1600" spc="-50" dirty="0"/>
              <a:t>.</a:t>
            </a:r>
          </a:p>
          <a:p>
            <a:pPr marL="434975" indent="-342900">
              <a:lnSpc>
                <a:spcPct val="150000"/>
              </a:lnSpc>
              <a:buFont typeface="+mj-lt"/>
              <a:buAutoNum type="arabicPeriod" startAt="3"/>
            </a:pPr>
            <a:endParaRPr lang="en-US" altLang="ko-KR" sz="1600" spc="-50" dirty="0"/>
          </a:p>
          <a:p>
            <a:pPr marL="434975" indent="-342900">
              <a:lnSpc>
                <a:spcPct val="150000"/>
              </a:lnSpc>
              <a:buFont typeface="+mj-lt"/>
              <a:buAutoNum type="arabicPeriod" startAt="3"/>
            </a:pPr>
            <a:r>
              <a:rPr lang="ko-KR" altLang="en-US" sz="1600" b="1" spc="-50" dirty="0"/>
              <a:t>정치적 관점</a:t>
            </a:r>
            <a:r>
              <a:rPr lang="en-US" altLang="ko-KR" sz="1600" spc="-50" dirty="0"/>
              <a:t>: </a:t>
            </a:r>
            <a:r>
              <a:rPr lang="ko-KR" altLang="en-US" sz="1600" spc="-50" dirty="0"/>
              <a:t>어떤 사람이 부유하다는 것은 경제적 자원 뿐만 아니라 정치적 권력을 더 많이 갖고 있음을 의미한다</a:t>
            </a:r>
            <a:r>
              <a:rPr lang="en-US" altLang="ko-KR" sz="1600" spc="-50" dirty="0"/>
              <a:t>.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이를 바탕으로 보면 부가 소수에 집중되어 있을 때 정치적 권력도 소수에 집중되는 결과를 낳게 된다</a:t>
            </a:r>
            <a:r>
              <a:rPr lang="en-US" altLang="ko-KR" sz="1600" spc="-50" dirty="0"/>
              <a:t>.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부당한 권력의 집중을 방지하기 위해서는 재분배정책을 통해 부를 과감하게 분산시켜 정치적 권력도 함께 분산 시키는 것이 필요하다는 주장이다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4018274826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49E00A-5187-4C65-52E9-63306C3F89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D156AEEF-DA17-2EC9-6260-BC326D47EF02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F954DBE-4BA0-6BBA-7BC4-FDCEDCD571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31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7DC7C092-9F83-9AEC-2DE6-4EDC5AF822F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3765550"/>
            <a:ext cx="11150600" cy="65281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Section 2. </a:t>
            </a:r>
            <a:r>
              <a:rPr lang="ko-KR" altLang="en-US" sz="4000" b="1" i="0" spc="150" dirty="0"/>
              <a:t>재분배정책의 실례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2589408965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E281FE-0393-7988-CEC4-F037AB2003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6D0C283-45F1-D7BE-5488-41999EE3F6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일반적 조세제도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2C94553-870D-29D7-F5BF-01C75520E3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32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B1167B3-202B-2970-DB6A-4115B053DB54}"/>
              </a:ext>
            </a:extLst>
          </p:cNvPr>
          <p:cNvSpPr txBox="1"/>
          <p:nvPr/>
        </p:nvSpPr>
        <p:spPr>
          <a:xfrm>
            <a:off x="288790" y="958844"/>
            <a:ext cx="11250267" cy="4846007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다양한 유형의 재분배정책이 있지만</a:t>
            </a:r>
            <a:r>
              <a:rPr lang="en-US" altLang="ko-KR" sz="1600" spc="-50" dirty="0"/>
              <a:t>,</a:t>
            </a:r>
            <a:r>
              <a:rPr lang="ko-KR" altLang="en-US" sz="1600" spc="-50" dirty="0"/>
              <a:t> 우리는 아래와 같이 기본적인 정책을 살펴보자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일반적 조세제도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사회복지제도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부의 소득세제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근로장려세제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기본소득제도</a:t>
            </a: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조세가 누진성을 갖는다는 것은 납세자의 소득수준이 높을수록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소득의 더 큰 비율을 세금으로 납부하게 된다는 의미다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누진적 조세를 통해 부유층과 빈곤층 사이에 존재하는 처분가능소득의 격차 감소를 기대할 수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처분가능소득 격차가 줄어들기는 하지만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빈곤층에게 직접적인 도움을 주는 효과는 기대할 수 없다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다만 조세수입이 정부지출로 전환되는 과정에서 빈곤층에 더 많은 혜택이 돌아가는 정책을 시행하여 빈곤층에게 간접적으로 도움이 되도록 만들 수는 있다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조세제도의 특성에 따라 누진성은 달라지는데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누진성이 클수록 더 큰 재분배효과가 나타난다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조세수입에서 간접세의 비중이 크면 누진성을 기대할 수 없어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재분배효과가 제한적이다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간접세는 납세자의 특성을 고려하지 않기 때문에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고소득자에게 특정하여 무거운 세금 부담을 지울 길이 없다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따라서 누진성을 높이기 위해서는 납세자 개인의 경제적 능력에 따라 과세할 수 있는 직접세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특히 소득세의 비중이 높아져야 한다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820932550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290E10-2542-5AE1-D9DE-830619EB70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A4DC9EC-457C-BC16-89BE-73BDE3A83B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일반적 조세제도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18F1FB6-A978-6487-18EC-1377D9AF5B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33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733921C-1B1E-4481-1DE9-E6AFF2F286E6}"/>
              </a:ext>
            </a:extLst>
          </p:cNvPr>
          <p:cNvSpPr txBox="1"/>
          <p:nvPr/>
        </p:nvSpPr>
        <p:spPr>
          <a:xfrm>
            <a:off x="288790" y="958844"/>
            <a:ext cx="11250267" cy="55846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하지만 소득세의 비중이 높아진다고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반드시 조세제도 전반의 누진성이 커진다고 말하기는 힘들다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실제로 우리나라를 포함한 대부분의 나라는 소득세율 구조가 겉으로 보기엔 상당한 누진성을 갖고 있다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그러나 실제 소득세 부담은 소득세의 세율 뿐만 아니라 공제제도에 의해서도 영향을 많이 받는다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부유층은 조세를 회피할 수 있는 수단이 많기 때문에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실제로 소득세 부담의 분배는 보통 누진적이지 않다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우리나라의 경우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근로소득자들만 세금을 충실히 납부하며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다른 유형의 소득을 얻는 사람들은 탈세하는 정도가 크다고 알려져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이들 대부분이 부유층이라는 사실을 고려하면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소득세의 누진성은 실질적으로 크지 않다고 볼 수 있다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뿐만 아니라 전체 세수에서 소득세가 차지하는 비중이 </a:t>
            </a:r>
            <a:r>
              <a:rPr lang="en-US" altLang="ko-KR" sz="1600" spc="-50" dirty="0"/>
              <a:t>35%</a:t>
            </a:r>
            <a:r>
              <a:rPr lang="ko-KR" altLang="en-US" sz="1600" spc="-50" dirty="0"/>
              <a:t>에도 못 미치고 있어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조세제도 전반의 누진성은 그리 크지 못한 실정이다</a:t>
            </a:r>
            <a:r>
              <a:rPr lang="en-US" altLang="ko-KR" sz="1600" spc="-50" dirty="0"/>
              <a:t>.</a:t>
            </a: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AE8C1D82-B3A8-5F1E-5714-BF87AD4F521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31781" y="1841679"/>
            <a:ext cx="5209849" cy="1689426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E06DD46B-01CB-9203-93AF-9438509617C5}"/>
              </a:ext>
            </a:extLst>
          </p:cNvPr>
          <p:cNvSpPr txBox="1"/>
          <p:nvPr/>
        </p:nvSpPr>
        <p:spPr>
          <a:xfrm>
            <a:off x="2431781" y="3537692"/>
            <a:ext cx="4030014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800" dirty="0"/>
              <a:t>출처</a:t>
            </a:r>
            <a:r>
              <a:rPr lang="en-US" altLang="ko-KR" sz="800" dirty="0"/>
              <a:t>: </a:t>
            </a:r>
            <a:r>
              <a:rPr lang="ko-KR" altLang="en-US" sz="800" dirty="0"/>
              <a:t>https://www.nts.go.kr/nts/cm/cntnts/cntntsView.do?mi=2227&amp;cntntsId=7667</a:t>
            </a:r>
          </a:p>
        </p:txBody>
      </p:sp>
    </p:spTree>
    <p:extLst>
      <p:ext uri="{BB962C8B-B14F-4D97-AF65-F5344CB8AC3E}">
        <p14:creationId xmlns:p14="http://schemas.microsoft.com/office/powerpoint/2010/main" val="3629519005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D8E7BB-1BBD-5ACE-3661-E82C8BF706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E9AC5B0-0F92-CE68-DF93-58A6E0A2A1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사회복지제도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464095C-61E0-344D-4FD1-7155ECDAF0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34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7588F77-9A82-ABCB-4561-AAD9A5B1AAD8}"/>
              </a:ext>
            </a:extLst>
          </p:cNvPr>
          <p:cNvSpPr txBox="1"/>
          <p:nvPr/>
        </p:nvSpPr>
        <p:spPr>
          <a:xfrm>
            <a:off x="288790" y="958844"/>
            <a:ext cx="11250267" cy="55846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사회복지제도는 사회보험제도와 공공부조 프로그램의 두 유형으로 구성되어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사회보험제도는 이에 대해 기여한 사람만 혜택을 받을 수 있다는 기여원칙에 기초 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공공부조 프로그램은 기여 여부에 관계 없이 가난한 사람이면 혜택을 받을 수 있게끔 되어 있다</a:t>
            </a:r>
            <a:r>
              <a:rPr lang="en-US" altLang="ko-KR" sz="1600" spc="-50" dirty="0"/>
              <a:t>.</a:t>
            </a:r>
          </a:p>
          <a:p>
            <a:pPr marL="434975" indent="-342900">
              <a:lnSpc>
                <a:spcPct val="150000"/>
              </a:lnSpc>
              <a:buFont typeface="+mj-lt"/>
              <a:buAutoNum type="arabicPeriod"/>
            </a:pPr>
            <a:r>
              <a:rPr lang="ko-KR" altLang="en-US" sz="1600" b="1" spc="-50" dirty="0"/>
              <a:t>사회보험제도</a:t>
            </a:r>
            <a:r>
              <a:rPr lang="en-US" altLang="ko-KR" sz="1600" spc="-50" dirty="0"/>
              <a:t>: </a:t>
            </a:r>
            <a:r>
              <a:rPr lang="ko-KR" altLang="en-US" sz="1600" spc="-50" dirty="0"/>
              <a:t>국민에게 발생하는 사회적 위험을 보험 방식으로 대처함으로써 국민의 건강과 소득을 보장한다</a:t>
            </a:r>
            <a:r>
              <a:rPr lang="en-US" altLang="ko-KR" sz="1600" spc="-50" dirty="0"/>
              <a:t>.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사회보험제도의 예로는 국민연금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건강보험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고용보험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산재보험 등이 있다</a:t>
            </a:r>
            <a:r>
              <a:rPr lang="en-US" altLang="ko-KR" sz="1600" spc="-50" dirty="0"/>
              <a:t>.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60" dirty="0"/>
              <a:t>저소득층이 사회보험제도의 덕을 볼 수 있다는 근거는 아래와 같다</a:t>
            </a:r>
            <a:r>
              <a:rPr lang="en-US" altLang="ko-KR" sz="1600" spc="-60" dirty="0"/>
              <a:t>.</a:t>
            </a:r>
          </a:p>
          <a:p>
            <a:pPr marL="1349375" lvl="2" indent="-34290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60" dirty="0"/>
              <a:t>모든 국민이 자유의사에 따라 노후를 대비하도록 방임해두면</a:t>
            </a:r>
            <a:r>
              <a:rPr lang="en-US" altLang="ko-KR" sz="1600" spc="-60" dirty="0"/>
              <a:t>, </a:t>
            </a:r>
            <a:r>
              <a:rPr lang="ko-KR" altLang="en-US" sz="1600" spc="-60" dirty="0"/>
              <a:t>무방비상태로 노령에 이르게 될 가능성이 가장 큰 계층이 바로 저소득층이라는 점이다</a:t>
            </a:r>
            <a:r>
              <a:rPr lang="en-US" altLang="ko-KR" sz="1600" spc="-60" dirty="0"/>
              <a:t>.</a:t>
            </a:r>
          </a:p>
          <a:p>
            <a:pPr marL="1349375" lvl="2" indent="-34290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60" dirty="0"/>
              <a:t>또 이 제도의 수혜자인 노년층이 다른 연령그룹에 비해 상대적으로 더 높은 비율의 빈곤층을 포함하고 있다는 점에서도 재분배효과를 기대할 수 있다</a:t>
            </a:r>
            <a:r>
              <a:rPr lang="en-US" altLang="ko-KR" sz="1600" spc="-60" dirty="0"/>
              <a:t>.</a:t>
            </a:r>
            <a:endParaRPr lang="en-US" altLang="ko-KR" sz="1600" spc="-50" dirty="0"/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그럼에도 불구하고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사회보험제도는 민간부문과 달리 강제성이 있지만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민간부문의 보험과 흡사한 방식으로 운영이 되는 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재분배효과는 클 수 없다</a:t>
            </a:r>
            <a:r>
              <a:rPr lang="en-US" altLang="ko-KR" sz="1600" spc="-50" dirty="0"/>
              <a:t>. (</a:t>
            </a:r>
            <a:r>
              <a:rPr lang="ko-KR" altLang="en-US" sz="1600" spc="-50" dirty="0"/>
              <a:t>사회보험제도의 예로는 국민연금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건강보험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고용보험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산재보험 등이 있다</a:t>
            </a:r>
            <a:r>
              <a:rPr lang="en-US" altLang="ko-KR" sz="1600" spc="-50" dirty="0"/>
              <a:t>.)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또 이 제도가 역진적 성격을 갖는 세입원에 의존하고 있는 한 명백한 한계가 있을 수 밖에 없다</a:t>
            </a:r>
            <a:r>
              <a:rPr lang="en-US" altLang="ko-KR" sz="1600" spc="-50" dirty="0"/>
              <a:t>.</a:t>
            </a:r>
          </a:p>
          <a:p>
            <a:pPr marL="1349375" lvl="2" indent="-34290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대부분 나라에서 국민연금제도는 일반적 세입원에 기초하는 것이 아니라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목적세에 의해 운영되고 있다</a:t>
            </a:r>
            <a:r>
              <a:rPr lang="en-US" altLang="ko-KR" sz="1600" spc="-50" dirty="0"/>
              <a:t>.</a:t>
            </a:r>
          </a:p>
          <a:p>
            <a:pPr marL="1349375" lvl="2" indent="-34290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목적세 같은 경우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가난한 사람일수록 상대적으로 부담이 더 무거워지는 역진성을 갖는 것이 보통이다</a:t>
            </a:r>
            <a:r>
              <a:rPr lang="en-US" altLang="ko-KR" sz="1600" spc="-50" dirty="0"/>
              <a:t>.</a:t>
            </a:r>
            <a:endParaRPr lang="en-US" altLang="ko-KR" sz="1600" spc="-60" dirty="0"/>
          </a:p>
        </p:txBody>
      </p:sp>
    </p:spTree>
    <p:extLst>
      <p:ext uri="{BB962C8B-B14F-4D97-AF65-F5344CB8AC3E}">
        <p14:creationId xmlns:p14="http://schemas.microsoft.com/office/powerpoint/2010/main" val="3640806041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38E30EC-62F1-0B20-BD25-FF7D8F0FF5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A502163-A538-5818-1432-EE85DE09F6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사회복지제도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BD5E8F2-6622-3004-853B-0620AC6F05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35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253E70B-9248-9D7F-6CBA-CD09F02529F5}"/>
              </a:ext>
            </a:extLst>
          </p:cNvPr>
          <p:cNvSpPr txBox="1"/>
          <p:nvPr/>
        </p:nvSpPr>
        <p:spPr>
          <a:xfrm>
            <a:off x="288790" y="958844"/>
            <a:ext cx="11250267" cy="55846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434975" indent="-342900">
              <a:lnSpc>
                <a:spcPct val="150000"/>
              </a:lnSpc>
              <a:buFont typeface="+mj-lt"/>
              <a:buAutoNum type="arabicPeriod" startAt="2"/>
            </a:pPr>
            <a:r>
              <a:rPr lang="ko-KR" altLang="en-US" sz="1600" b="1" spc="-50" dirty="0"/>
              <a:t>공공부조 프로그램</a:t>
            </a:r>
            <a:r>
              <a:rPr lang="en-US" altLang="ko-KR" sz="1600" spc="-50" dirty="0"/>
              <a:t>: </a:t>
            </a:r>
            <a:r>
              <a:rPr lang="ko-KR" altLang="en-US" sz="1600" spc="-50" dirty="0"/>
              <a:t>저소득층에게 최소생활을 보장하기 위한 선별적 복지제도 이다</a:t>
            </a:r>
            <a:r>
              <a:rPr lang="en-US" altLang="ko-KR" sz="1600" spc="-50" dirty="0"/>
              <a:t>.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사회 도움이 절실히 필요한 극빈계층에 초점을 맞추어 재분배효과의 극대화를 지향한다</a:t>
            </a:r>
            <a:r>
              <a:rPr lang="en-US" altLang="ko-KR" sz="1600" spc="-50" dirty="0"/>
              <a:t>.</a:t>
            </a:r>
          </a:p>
          <a:p>
            <a:pPr marL="1349375" lvl="2" indent="-34290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우리나라의 대표적인 공공부조 프로그램은 </a:t>
            </a:r>
            <a:r>
              <a:rPr lang="ko-KR" altLang="en-US" sz="1600" spc="-50" dirty="0" err="1"/>
              <a:t>국민기초생활보장제도가</a:t>
            </a:r>
            <a:r>
              <a:rPr lang="ko-KR" altLang="en-US" sz="1600" spc="-50" dirty="0"/>
              <a:t> 있다</a:t>
            </a:r>
            <a:r>
              <a:rPr lang="en-US" altLang="ko-KR" sz="1600" spc="-50" dirty="0"/>
              <a:t>.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앞서 설명한 재분배정책인 누진적 조세제도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사회보험제도의 경우 특정한 계층에 대한 배려가 불가능하여 재분배효과가 제한적일 수 밖에 없었는데 반해</a:t>
            </a:r>
            <a:r>
              <a:rPr lang="en-US" altLang="ko-KR" sz="1600" spc="-50" dirty="0"/>
              <a:t>,</a:t>
            </a:r>
            <a:r>
              <a:rPr lang="ko-KR" altLang="en-US" sz="1600" spc="-50" dirty="0"/>
              <a:t> 공공부조 프로그램은 애초에 극빈계층을 염두에 두고 실시하므로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같은 예산으로 더 큰 재분배효과를 기대할 수 있다</a:t>
            </a:r>
            <a:r>
              <a:rPr lang="en-US" altLang="ko-KR" sz="1600" spc="-50" dirty="0"/>
              <a:t> (</a:t>
            </a:r>
            <a:r>
              <a:rPr lang="ko-KR" altLang="en-US" sz="1600" spc="-50" dirty="0"/>
              <a:t>목표 효율성이라고 표현하기도 한다</a:t>
            </a:r>
            <a:r>
              <a:rPr lang="en-US" altLang="ko-KR" sz="1600" spc="-50" dirty="0"/>
              <a:t>.)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공공부조 프로그램은 일반적 공공부조와 범주적 공공부조로 세분화 할 수 있다</a:t>
            </a:r>
            <a:r>
              <a:rPr lang="en-US" altLang="ko-KR" sz="1600" spc="-50" dirty="0"/>
              <a:t>.</a:t>
            </a:r>
          </a:p>
          <a:p>
            <a:pPr marL="1349375" lvl="2" indent="-34290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일반적 공공부조는 일정수준 이하의 소득을 가진 사람에게 혜택을 돌아가게 한다</a:t>
            </a:r>
            <a:r>
              <a:rPr lang="en-US" altLang="ko-KR" sz="1600" spc="-50" dirty="0"/>
              <a:t>.</a:t>
            </a:r>
          </a:p>
          <a:p>
            <a:pPr marL="1349375" lvl="2" indent="-34290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범주적 공공부조는 소득 이외의 추가적 기준 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나이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가장 여부 등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을 적용하여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그 사람들만 혜택을 준다</a:t>
            </a:r>
            <a:r>
              <a:rPr lang="en-US" altLang="ko-KR" sz="1600" spc="-50" dirty="0"/>
              <a:t>.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대부분 나라는 범주적 공공부조 형태로 운영을 하고 있는데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정책 집행 과정에서 여러 요건에 대한 심사가 필수다</a:t>
            </a:r>
            <a:r>
              <a:rPr lang="en-US" altLang="ko-KR" sz="1600" spc="-50" dirty="0"/>
              <a:t>.</a:t>
            </a:r>
          </a:p>
          <a:p>
            <a:pPr marL="1349375" lvl="2" indent="-34290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 err="1"/>
              <a:t>그렇다고해서</a:t>
            </a:r>
            <a:r>
              <a:rPr lang="ko-KR" altLang="en-US" sz="1600" spc="-50" dirty="0"/>
              <a:t> 수혜 대상자의 생활 전반을 뒤짐으로써 심한 모욕감을 줄 수 도 있고</a:t>
            </a:r>
            <a:r>
              <a:rPr lang="en-US" altLang="ko-KR" sz="1600" spc="-50" dirty="0"/>
              <a:t>,</a:t>
            </a:r>
          </a:p>
          <a:p>
            <a:pPr marL="1349375" lvl="2" indent="-34290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한편 심사가 </a:t>
            </a:r>
            <a:r>
              <a:rPr lang="ko-KR" altLang="en-US" sz="1600" spc="-50" dirty="0" err="1"/>
              <a:t>느슨해지면</a:t>
            </a:r>
            <a:r>
              <a:rPr lang="ko-KR" altLang="en-US" sz="1600" spc="-50" dirty="0"/>
              <a:t> 부정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사기가 일어날 수 있고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사회의 도움에만 의존하려는 경향까지 나타날 수 있다</a:t>
            </a:r>
            <a:r>
              <a:rPr lang="en-US" altLang="ko-KR" sz="1600" spc="-50" dirty="0"/>
              <a:t>.</a:t>
            </a:r>
          </a:p>
          <a:p>
            <a:pPr marL="1349375" lvl="2" indent="-34290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따라서 공공부조를 운영할 때 어느 정도까지 혜택을 줄지는 빈곤의 증상 완화와 정책에 대한 의존성을 줄이는 것 사이에 적절한 균형이 필요하다</a:t>
            </a:r>
            <a:r>
              <a:rPr lang="en-US" altLang="ko-KR" sz="1600" spc="-50" dirty="0"/>
              <a:t>.</a:t>
            </a:r>
          </a:p>
          <a:p>
            <a:pPr marL="1349375" lvl="2" indent="-34290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altLang="ko-KR" sz="1600" spc="-50" dirty="0"/>
              <a:t>(</a:t>
            </a:r>
            <a:r>
              <a:rPr lang="ko-KR" altLang="en-US" sz="1600" spc="-50" dirty="0"/>
              <a:t>뒷장 계속</a:t>
            </a:r>
            <a:r>
              <a:rPr lang="en-US" altLang="ko-KR" sz="1600" spc="-50" dirty="0"/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4201394871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E0ACAE-FBA7-9390-60F4-B67A245B7B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8E74BAE-9DEF-18EA-EC32-E99E43C8B8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사회복지제도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499E356-3190-16BE-7F71-F27305A471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36</a:t>
            </a:fld>
            <a:endParaRPr lang="ko-KR" alt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4561F07-03AE-D3B5-AB75-7B98731E2105}"/>
              </a:ext>
            </a:extLst>
          </p:cNvPr>
          <p:cNvSpPr txBox="1"/>
          <p:nvPr/>
        </p:nvSpPr>
        <p:spPr>
          <a:xfrm>
            <a:off x="288790" y="958844"/>
            <a:ext cx="11250267" cy="55846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보다 근본적인 문제는 공공부조 프로그램이 어느정도 실질적인 도움을 줄 수 있느냐 이다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단지 빈곤에 대한 대증요법에 그칠 것이 아니라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장기적으로 빈곤 그 자체를 치유하는데 역점을 두어야 한다</a:t>
            </a:r>
            <a:r>
              <a:rPr lang="en-US" altLang="ko-KR" sz="1600" spc="-50" dirty="0"/>
              <a:t>.</a:t>
            </a:r>
          </a:p>
          <a:p>
            <a:pPr marL="434975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우리나라의 대표적 공공부조 프로그램인 </a:t>
            </a:r>
            <a:r>
              <a:rPr lang="ko-KR" altLang="en-US" sz="1600" b="1" spc="-50" dirty="0" err="1"/>
              <a:t>국민기초생활보장제도</a:t>
            </a:r>
            <a:r>
              <a:rPr lang="ko-KR" altLang="en-US" sz="1600" spc="-50" dirty="0" err="1"/>
              <a:t>를</a:t>
            </a:r>
            <a:r>
              <a:rPr lang="ko-KR" altLang="en-US" sz="1600" spc="-50" dirty="0"/>
              <a:t> 살펴보자</a:t>
            </a:r>
            <a:r>
              <a:rPr lang="en-US" altLang="ko-KR" sz="1600" spc="-50" dirty="0"/>
              <a:t>. 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2000</a:t>
            </a:r>
            <a:r>
              <a:rPr lang="ko-KR" altLang="en-US" sz="1600" spc="-50" dirty="0"/>
              <a:t>년 </a:t>
            </a:r>
            <a:r>
              <a:rPr lang="en-US" altLang="ko-KR" sz="1600" spc="-50" dirty="0"/>
              <a:t>10</a:t>
            </a:r>
            <a:r>
              <a:rPr lang="ko-KR" altLang="en-US" sz="1600" spc="-50" dirty="0"/>
              <a:t>월에 출범한 이 제도는 그 이전에 실시하던 </a:t>
            </a:r>
            <a:r>
              <a:rPr lang="ko-KR" altLang="en-US" sz="1600" b="1" spc="-50" dirty="0"/>
              <a:t>생활보호제도</a:t>
            </a:r>
            <a:r>
              <a:rPr lang="ko-KR" altLang="en-US" sz="1600" spc="-50" dirty="0"/>
              <a:t>와 몇 가지 차이가 있다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현재는 근로능력과 관계없이 어떤 가구의 소득이 최소한의 수준에 미치지 못하면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그 차액에 해당하는 부분을 정부가 보조해 주는 방식이다</a:t>
            </a:r>
            <a:r>
              <a:rPr lang="en-US" altLang="ko-KR" sz="1600" spc="-50" dirty="0"/>
              <a:t>. (‘</a:t>
            </a:r>
            <a:r>
              <a:rPr lang="ko-KR" altLang="en-US" sz="1600" spc="-50" dirty="0"/>
              <a:t>보충급여</a:t>
            </a:r>
            <a:r>
              <a:rPr lang="en-US" altLang="ko-KR" sz="1600" spc="-50" dirty="0"/>
              <a:t>’</a:t>
            </a:r>
            <a:r>
              <a:rPr lang="ko-KR" altLang="en-US" sz="1600" spc="-50" dirty="0"/>
              <a:t>의 원칙</a:t>
            </a:r>
            <a:r>
              <a:rPr lang="en-US" altLang="ko-KR" sz="1600" spc="-50" dirty="0"/>
              <a:t>). </a:t>
            </a:r>
            <a:r>
              <a:rPr lang="ko-KR" altLang="en-US" sz="1600" spc="-50" dirty="0"/>
              <a:t>한편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이 전에는 근로능력을 가진 사람에게 생계보조를 해주지 않는 것이 원칙이었고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모든 사람에게 최소한의 생계를 보장한다는 목표를 지향하지도 않았다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제도의 이름 변화가 말해 주듯이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저소득층에 대한 접근이 </a:t>
            </a:r>
            <a:r>
              <a:rPr lang="en-US" altLang="ko-KR" sz="1600" spc="-50" dirty="0"/>
              <a:t>‘</a:t>
            </a:r>
            <a:r>
              <a:rPr lang="ko-KR" altLang="en-US" sz="1600" spc="-50" dirty="0"/>
              <a:t>국가의 보호</a:t>
            </a:r>
            <a:r>
              <a:rPr lang="en-US" altLang="ko-KR" sz="1600" spc="-50" dirty="0"/>
              <a:t>’</a:t>
            </a:r>
            <a:r>
              <a:rPr lang="ko-KR" altLang="en-US" sz="1600" spc="-50" dirty="0"/>
              <a:t> 에서 </a:t>
            </a:r>
            <a:r>
              <a:rPr lang="en-US" altLang="ko-KR" sz="1600" spc="-50" dirty="0"/>
              <a:t>‘</a:t>
            </a:r>
            <a:r>
              <a:rPr lang="ko-KR" altLang="en-US" sz="1600" spc="-50" dirty="0"/>
              <a:t>국민의 권리</a:t>
            </a:r>
            <a:r>
              <a:rPr lang="en-US" altLang="ko-KR" sz="1600" spc="-50" dirty="0"/>
              <a:t>’</a:t>
            </a:r>
            <a:r>
              <a:rPr lang="ko-KR" altLang="en-US" sz="1600" spc="-50" dirty="0"/>
              <a:t>로 바뀐 점이다</a:t>
            </a:r>
            <a:r>
              <a:rPr lang="en-US" altLang="ko-KR" sz="1600" spc="-50" dirty="0"/>
              <a:t>. </a:t>
            </a:r>
            <a:r>
              <a:rPr lang="ko-KR" altLang="en-US" sz="1600" spc="-50" dirty="0"/>
              <a:t>이런 관점의 변화가 얼마나 실질적인 변화를 의미하는지는 의문을 표시할 수 있지만 상징적인 의미가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 err="1"/>
              <a:t>국민기초생활보장제도는</a:t>
            </a:r>
            <a:r>
              <a:rPr lang="ko-KR" altLang="en-US" sz="1600" spc="-50" dirty="0"/>
              <a:t> 생계급여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주거급여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의료급여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등 여러 방식으로 이루어진다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이 중 생계급여 항목이 가장 큰 비중을 차지한다</a:t>
            </a:r>
            <a:r>
              <a:rPr lang="en-US" altLang="ko-KR" sz="1600" spc="-50" dirty="0"/>
              <a:t>. ‘</a:t>
            </a:r>
            <a:r>
              <a:rPr lang="ko-KR" altLang="en-US" sz="1600" spc="-50" dirty="0"/>
              <a:t>기준 중위소득</a:t>
            </a:r>
            <a:r>
              <a:rPr lang="en-US" altLang="ko-KR" sz="1600" spc="-50" dirty="0"/>
              <a:t>’</a:t>
            </a:r>
            <a:r>
              <a:rPr lang="ko-KR" altLang="en-US" sz="1600" spc="-50" dirty="0"/>
              <a:t>의 </a:t>
            </a:r>
            <a:r>
              <a:rPr lang="en-US" altLang="ko-KR" sz="1600" spc="-50" dirty="0"/>
              <a:t>32%</a:t>
            </a:r>
            <a:r>
              <a:rPr lang="ko-KR" altLang="en-US" sz="1600" spc="-50" dirty="0"/>
              <a:t>보다 적은 소득을 얻는 가구는 그 기준에서 실제 소득과의 </a:t>
            </a:r>
            <a:r>
              <a:rPr lang="ko-KR" altLang="en-US" sz="1600" spc="-50" dirty="0" err="1"/>
              <a:t>차액만큼을</a:t>
            </a:r>
            <a:r>
              <a:rPr lang="ko-KR" altLang="en-US" sz="1600" spc="-50" dirty="0"/>
              <a:t> 지급받을 수 있다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 err="1"/>
              <a:t>국민기초생활보장제도</a:t>
            </a:r>
            <a:r>
              <a:rPr lang="ko-KR" altLang="en-US" sz="1600" spc="-50" dirty="0"/>
              <a:t> 자체는 매우 선진적인 공공부조 프로그램이지만 개선해야 할 점도 분명 존재한다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일을 해서 소득이 기준을 넘지 못하면 실질적 세율이 </a:t>
            </a:r>
            <a:r>
              <a:rPr lang="en-US" altLang="ko-KR" sz="1600" spc="-50" dirty="0"/>
              <a:t>100%</a:t>
            </a:r>
            <a:r>
              <a:rPr lang="ko-KR" altLang="en-US" sz="1600" spc="-50" dirty="0"/>
              <a:t>이므로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노력하려는 의욕을 저하시킬 수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2025</a:t>
            </a:r>
            <a:r>
              <a:rPr lang="ko-KR" altLang="en-US" sz="1600" spc="-50" dirty="0"/>
              <a:t>년 </a:t>
            </a:r>
            <a:r>
              <a:rPr lang="en-US" altLang="ko-KR" sz="1600" spc="-50" dirty="0"/>
              <a:t>4</a:t>
            </a:r>
            <a:r>
              <a:rPr lang="ko-KR" altLang="en-US" sz="1600" spc="-50" dirty="0"/>
              <a:t>인가구의 생계급여 기준이 월 </a:t>
            </a:r>
            <a:r>
              <a:rPr lang="en-US" altLang="ko-KR" sz="1600" spc="-50" dirty="0"/>
              <a:t>195</a:t>
            </a:r>
            <a:r>
              <a:rPr lang="ko-KR" altLang="en-US" sz="1600" spc="-50" dirty="0"/>
              <a:t>만원인데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이 금액으로는 최소한의 생활이 보장될 수 없다고 지적한다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270003102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8B9DF9-B83F-F2E0-D3FB-E5D5A98F3C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93E9DEA-4847-4DED-6143-47A0280B41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부의 소득세제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C2CA21D-0C93-44FC-100C-EBDBC88E82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37</a:t>
            </a:fld>
            <a:endParaRPr lang="ko-KR" alt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C5E174E-743C-D340-23E8-B69EB5466F04}"/>
              </a:ext>
            </a:extLst>
          </p:cNvPr>
          <p:cNvSpPr txBox="1"/>
          <p:nvPr/>
        </p:nvSpPr>
        <p:spPr>
          <a:xfrm>
            <a:off x="288790" y="958844"/>
            <a:ext cx="11250267" cy="3738011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600" u="sng" dirty="0">
                <a:ln w="3175">
                  <a:noFill/>
                </a:ln>
                <a:latin typeface="HY헤드라인M" panose="02030600000101010101" pitchFamily="18" charset="-127"/>
                <a:ea typeface="HY헤드라인M" panose="02030600000101010101" pitchFamily="18" charset="-127"/>
              </a:rPr>
              <a:t>기본성격</a:t>
            </a: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부의 소득세제</a:t>
            </a:r>
            <a:r>
              <a:rPr lang="en-US" altLang="ko-KR" sz="1600" spc="-50" dirty="0"/>
              <a:t> (negative income tax)</a:t>
            </a:r>
            <a:r>
              <a:rPr lang="ko-KR" altLang="en-US" sz="1600" spc="-50" dirty="0"/>
              <a:t>는 개인의 소득이 일정 수준 이하로 떨어질 경우 음</a:t>
            </a:r>
            <a:r>
              <a:rPr lang="en-US" altLang="ko-KR" sz="1600" spc="-50" dirty="0"/>
              <a:t>(-)</a:t>
            </a:r>
            <a:r>
              <a:rPr lang="ko-KR" altLang="en-US" sz="1600" spc="-50" dirty="0"/>
              <a:t>의 세율을 적용하는 것이다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일정 수준 이하의 소득자들에게는 세금을 거두는 것이 아니라 오히려 정부가 나눠 주어야 </a:t>
            </a:r>
            <a:r>
              <a:rPr lang="ko-KR" altLang="en-US" sz="1600" spc="-50" dirty="0" err="1"/>
              <a:t>한다는게</a:t>
            </a:r>
            <a:r>
              <a:rPr lang="ko-KR" altLang="en-US" sz="1600" spc="-50" dirty="0"/>
              <a:t> 기본 취지다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이 점에서 누진적 소득세제의 연장이라고 말할 수 있다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누진세는 소득수준 상승에 따라 높은 세율이 적용되는 것을 의미하고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반대로 소득수준이 계속 내려가서 아주 낮은 소득에서는 음의 세율까지 도달하는 것을 의미하기 때문이다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앞서 사회복지제도에서는 자신이 사회의 도움이 필요하다는 합당한 이유를 제시해야 했지만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부의 소득세제는 그럴 필요가 없다는 것이 장점이 될 수 있다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사회 도움을 받는 과정에서 수치심을 느끼게 된다면 바람직한 일이 아니기 때문이다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또 행정적으로 단순하고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수혜자에게 현물이 아닌 현금을 주기 때문에 수혜자가 자유로이 처분할 수 있다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176949177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D2846A-A858-FC96-A95F-2FE2F7208C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D13DC7F-67C7-8690-0A6C-12EB0E0327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부의 소득세제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419B7E4-E648-D013-05AC-E12C81D546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38</a:t>
            </a:fld>
            <a:endParaRPr lang="ko-KR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31B92C3B-773B-73DD-F717-7C1BFB75B706}"/>
                  </a:ext>
                </a:extLst>
              </p:cNvPr>
              <p:cNvSpPr txBox="1"/>
              <p:nvPr/>
            </p:nvSpPr>
            <p:spPr>
              <a:xfrm>
                <a:off x="288790" y="958844"/>
                <a:ext cx="11250267" cy="3862981"/>
              </a:xfrm>
              <a:prstGeom prst="rect">
                <a:avLst/>
              </a:prstGeom>
              <a:noFill/>
            </p:spPr>
            <p:txBody>
              <a:bodyPr wrap="square" rtlCol="0" anchor="t">
                <a:spAutoFit/>
              </a:bodyPr>
              <a:lstStyle/>
              <a:p>
                <a:pPr>
                  <a:lnSpc>
                    <a:spcPct val="150000"/>
                  </a:lnSpc>
                </a:pPr>
                <a:r>
                  <a:rPr lang="ko-KR" altLang="en-US" sz="1600" u="sng" dirty="0">
                    <a:ln w="3175">
                      <a:noFill/>
                    </a:ln>
                    <a:latin typeface="HY헤드라인M" panose="02030600000101010101" pitchFamily="18" charset="-127"/>
                    <a:ea typeface="HY헤드라인M" panose="02030600000101010101" pitchFamily="18" charset="-127"/>
                  </a:rPr>
                  <a:t>운영방식</a:t>
                </a:r>
                <a:endParaRPr lang="en-US" altLang="ko-KR" sz="1600" spc="-50" dirty="0"/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spc="-50" dirty="0"/>
                  <a:t>우선 모든 사람에게 보장하는 최소한의 소득이라는 의미로 </a:t>
                </a:r>
                <a:r>
                  <a:rPr lang="ko-KR" altLang="en-US" sz="1600" b="1" spc="-50" dirty="0"/>
                  <a:t>기초수당</a:t>
                </a:r>
                <a:r>
                  <a:rPr lang="ko-KR" altLang="en-US" sz="1600" spc="-50" dirty="0"/>
                  <a:t>이 일정한 수준으로 정해져 있다</a:t>
                </a:r>
                <a:r>
                  <a:rPr lang="en-US" altLang="ko-KR" sz="1600" spc="-50" dirty="0"/>
                  <a:t>.</a:t>
                </a:r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spc="-50" dirty="0"/>
                  <a:t>또 일정한 크기의 </a:t>
                </a:r>
                <a:r>
                  <a:rPr lang="ko-KR" altLang="en-US" sz="1600" b="1" spc="-50" dirty="0"/>
                  <a:t>한계세율</a:t>
                </a:r>
                <a:r>
                  <a:rPr lang="ko-KR" altLang="en-US" sz="1600" spc="-50" dirty="0"/>
                  <a:t>을 선택하여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수혜자 스스로 벌어들인 소득이 일어날 때 그 비율로 지급액이 줄어들도록 만든다</a:t>
                </a:r>
                <a:r>
                  <a:rPr lang="en-US" altLang="ko-KR" sz="1600" spc="-50" dirty="0"/>
                  <a:t>.</a:t>
                </a:r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spc="-50" dirty="0"/>
                  <a:t>기초수당</a:t>
                </a:r>
                <a:r>
                  <a:rPr lang="en-US" altLang="ko-KR" sz="1600" spc="-50" dirty="0"/>
                  <a:t>(</a:t>
                </a:r>
                <a14:m>
                  <m:oMath xmlns:m="http://schemas.openxmlformats.org/officeDocument/2006/math">
                    <m:r>
                      <a:rPr lang="en-US" altLang="ko-KR" sz="1600" i="1">
                        <a:latin typeface="Cambria Math" panose="02040503050406030204" pitchFamily="18" charset="0"/>
                      </a:rPr>
                      <m:t>𝑚</m:t>
                    </m:r>
                  </m:oMath>
                </a14:m>
                <a:r>
                  <a:rPr lang="en-US" altLang="ko-KR" sz="1600" spc="-50" dirty="0"/>
                  <a:t>),</a:t>
                </a:r>
                <a:r>
                  <a:rPr lang="ko-KR" altLang="en-US" sz="1600" spc="-50" dirty="0"/>
                  <a:t> 한계세율</a:t>
                </a:r>
                <a:r>
                  <a:rPr lang="en-US" altLang="ko-KR" sz="1600" spc="-50" dirty="0"/>
                  <a:t>(</a:t>
                </a:r>
                <a14:m>
                  <m:oMath xmlns:m="http://schemas.openxmlformats.org/officeDocument/2006/math">
                    <m:r>
                      <a:rPr lang="en-US" altLang="ko-KR" sz="1600" i="1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en-US" altLang="ko-KR" sz="1600" spc="-50" dirty="0"/>
                  <a:t>), </a:t>
                </a:r>
                <a:r>
                  <a:rPr lang="ko-KR" altLang="en-US" sz="1600" spc="-50" dirty="0"/>
                  <a:t>소득</a:t>
                </a:r>
                <a:r>
                  <a:rPr lang="en-US" altLang="ko-KR" sz="1600" spc="-50" dirty="0"/>
                  <a:t>(</a:t>
                </a:r>
                <a14:m>
                  <m:oMath xmlns:m="http://schemas.openxmlformats.org/officeDocument/2006/math">
                    <m:r>
                      <a:rPr lang="en-US" altLang="ko-KR" sz="1600" i="1">
                        <a:latin typeface="Cambria Math" panose="02040503050406030204" pitchFamily="18" charset="0"/>
                      </a:rPr>
                      <m:t>𝐸</m:t>
                    </m:r>
                  </m:oMath>
                </a14:m>
                <a:r>
                  <a:rPr lang="en-US" altLang="ko-KR" sz="1600" spc="-50" dirty="0"/>
                  <a:t>)</a:t>
                </a:r>
                <a:r>
                  <a:rPr lang="ko-KR" altLang="en-US" sz="1600" spc="-50" dirty="0"/>
                  <a:t> 이 정해지면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저소득자가 받을 보조금 </a:t>
                </a:r>
                <a:r>
                  <a:rPr lang="en-US" altLang="ko-KR" sz="1600" spc="-50" dirty="0"/>
                  <a:t>(</a:t>
                </a:r>
                <a14:m>
                  <m:oMath xmlns:m="http://schemas.openxmlformats.org/officeDocument/2006/math">
                    <m:r>
                      <a:rPr lang="en-US" altLang="ko-KR" sz="1600" b="0" i="1" spc="-50" smtClean="0">
                        <a:latin typeface="Cambria Math" panose="02040503050406030204" pitchFamily="18" charset="0"/>
                      </a:rPr>
                      <m:t>𝑆</m:t>
                    </m:r>
                  </m:oMath>
                </a14:m>
                <a:r>
                  <a:rPr lang="en-US" altLang="ko-KR" sz="1600" spc="-50" dirty="0"/>
                  <a:t>)</a:t>
                </a:r>
                <a:r>
                  <a:rPr lang="ko-KR" altLang="en-US" sz="1600" spc="-50" dirty="0"/>
                  <a:t>는 다음 공식에 의해 결정된다</a:t>
                </a:r>
                <a:r>
                  <a:rPr lang="en-US" altLang="ko-KR" sz="1600" spc="-50" dirty="0"/>
                  <a:t>.</a:t>
                </a:r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endParaRPr lang="en-US" altLang="ko-KR" sz="1600" spc="-50" dirty="0"/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14:m>
                  <m:oMath xmlns:m="http://schemas.openxmlformats.org/officeDocument/2006/math">
                    <m:r>
                      <a:rPr lang="en-US" altLang="ko-KR" sz="1600" i="1">
                        <a:latin typeface="Cambria Math" panose="02040503050406030204" pitchFamily="18" charset="0"/>
                      </a:rPr>
                      <m:t>𝑆</m:t>
                    </m:r>
                    <m:r>
                      <a:rPr lang="en-US" altLang="ko-KR" sz="1600" i="1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ko-KR" altLang="en-US" sz="1600" dirty="0"/>
                  <a:t>으로 놓고 이 식을 </a:t>
                </a:r>
                <a14:m>
                  <m:oMath xmlns:m="http://schemas.openxmlformats.org/officeDocument/2006/math">
                    <m:r>
                      <a:rPr lang="en-US" altLang="ko-KR" sz="1600" i="1">
                        <a:latin typeface="Cambria Math" panose="02040503050406030204" pitchFamily="18" charset="0"/>
                      </a:rPr>
                      <m:t>𝐸</m:t>
                    </m:r>
                  </m:oMath>
                </a14:m>
                <a:r>
                  <a:rPr lang="ko-KR" altLang="en-US" sz="1600" dirty="0"/>
                  <a:t>에 대해 풀면</a:t>
                </a:r>
                <a:r>
                  <a:rPr lang="en-US" altLang="ko-KR" sz="1600" dirty="0"/>
                  <a:t>, </a:t>
                </a:r>
                <a:r>
                  <a:rPr lang="ko-KR" altLang="en-US" sz="1600" dirty="0"/>
                  <a:t>소득</a:t>
                </a:r>
                <a:r>
                  <a:rPr lang="en-US" altLang="ko-KR" sz="1600" dirty="0"/>
                  <a:t> (</a:t>
                </a:r>
                <a14:m>
                  <m:oMath xmlns:m="http://schemas.openxmlformats.org/officeDocument/2006/math">
                    <m:r>
                      <a:rPr lang="en-US" altLang="ko-KR" sz="1600" i="1">
                        <a:latin typeface="Cambria Math" panose="02040503050406030204" pitchFamily="18" charset="0"/>
                      </a:rPr>
                      <m:t>𝐸</m:t>
                    </m:r>
                  </m:oMath>
                </a14:m>
                <a:r>
                  <a:rPr lang="en-US" altLang="ko-KR" sz="1600" dirty="0"/>
                  <a:t>)</a:t>
                </a:r>
                <a:r>
                  <a:rPr lang="ko-KR" altLang="en-US" sz="1600" dirty="0"/>
                  <a:t>이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altLang="ko-KR" sz="160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altLang="ko-KR" sz="1600" b="0" i="1" smtClean="0">
                            <a:latin typeface="Cambria Math" panose="02040503050406030204" pitchFamily="18" charset="0"/>
                          </a:rPr>
                          <m:t>𝑚</m:t>
                        </m:r>
                      </m:num>
                      <m:den>
                        <m:r>
                          <a:rPr lang="en-US" altLang="ko-KR" sz="16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den>
                    </m:f>
                  </m:oMath>
                </a14:m>
                <a:r>
                  <a:rPr lang="en-US" altLang="ko-KR" sz="1600" dirty="0"/>
                  <a:t> </a:t>
                </a:r>
                <a:r>
                  <a:rPr lang="ko-KR" altLang="en-US" sz="1600" dirty="0"/>
                  <a:t>에 이르면</a:t>
                </a:r>
                <a:r>
                  <a:rPr lang="en-US" altLang="ko-KR" sz="1600" dirty="0"/>
                  <a:t>, </a:t>
                </a:r>
                <a:r>
                  <a:rPr lang="ko-KR" altLang="en-US" sz="1600" dirty="0"/>
                  <a:t>이 제도에 의한 혜택이 중단됨을 알 수 있다</a:t>
                </a:r>
                <a:r>
                  <a:rPr lang="en-US" altLang="ko-KR" sz="1600" dirty="0"/>
                  <a:t>.</a:t>
                </a:r>
              </a:p>
              <a:p>
                <a:pPr marL="1292225" lvl="2" indent="-285750">
                  <a:lnSpc>
                    <a:spcPct val="150000"/>
                  </a:lnSpc>
                  <a:buFont typeface="Wingdings" panose="05000000000000000000" pitchFamily="2" charset="2"/>
                  <a:buChar char="Ø"/>
                </a:pPr>
                <a:r>
                  <a:rPr lang="ko-KR" altLang="en-US" sz="1600" dirty="0"/>
                  <a:t>부의 소득세제가 여기서 끝나는 것이다</a:t>
                </a:r>
                <a:r>
                  <a:rPr lang="en-US" altLang="ko-KR" sz="1600" dirty="0"/>
                  <a:t>.</a:t>
                </a:r>
              </a:p>
              <a:p>
                <a:pPr marL="1292225" lvl="2" indent="-285750">
                  <a:lnSpc>
                    <a:spcPct val="150000"/>
                  </a:lnSpc>
                  <a:buFont typeface="Wingdings" panose="05000000000000000000" pitchFamily="2" charset="2"/>
                  <a:buChar char="Ø"/>
                </a:pPr>
                <a:endParaRPr lang="en-US" altLang="ko-KR" sz="1600" dirty="0"/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endParaRPr lang="en-US" altLang="ko-KR" sz="1600" spc="-50" dirty="0"/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endParaRPr lang="en-US" altLang="ko-KR" sz="1600" spc="-50" dirty="0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31B92C3B-773B-73DD-F717-7C1BFB75B70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8790" y="958844"/>
                <a:ext cx="11250267" cy="3862981"/>
              </a:xfrm>
              <a:prstGeom prst="rect">
                <a:avLst/>
              </a:prstGeom>
              <a:blipFill>
                <a:blip r:embed="rId2"/>
                <a:stretch>
                  <a:fillRect l="-271" r="-379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E09CE564-73C6-BA1A-52A1-9ED0DB303CD9}"/>
                  </a:ext>
                </a:extLst>
              </p:cNvPr>
              <p:cNvSpPr txBox="1"/>
              <p:nvPr/>
            </p:nvSpPr>
            <p:spPr>
              <a:xfrm>
                <a:off x="2030587" y="2522580"/>
                <a:ext cx="1916430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𝑆</m:t>
                      </m:r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𝑚</m:t>
                      </m:r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𝑡𝐸</m:t>
                      </m:r>
                    </m:oMath>
                  </m:oMathPara>
                </a14:m>
                <a:endParaRPr lang="ko-KR" altLang="en-US" dirty="0"/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E09CE564-73C6-BA1A-52A1-9ED0DB303CD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30587" y="2522580"/>
                <a:ext cx="1916430" cy="369332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그림 4">
            <a:extLst>
              <a:ext uri="{FF2B5EF4-FFF2-40B4-BE49-F238E27FC236}">
                <a16:creationId xmlns:a16="http://schemas.microsoft.com/office/drawing/2014/main" id="{BFA88F11-11D4-36EB-1B9F-D2CBB398F427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6077" t="15545" r="13750" b="8422"/>
          <a:stretch>
            <a:fillRect/>
          </a:stretch>
        </p:blipFill>
        <p:spPr>
          <a:xfrm>
            <a:off x="7778805" y="3889420"/>
            <a:ext cx="4141577" cy="2537833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F01AF991-7747-668E-D15F-B524686684E0}"/>
              </a:ext>
            </a:extLst>
          </p:cNvPr>
          <p:cNvSpPr txBox="1"/>
          <p:nvPr/>
        </p:nvSpPr>
        <p:spPr>
          <a:xfrm>
            <a:off x="8086300" y="3573807"/>
            <a:ext cx="358008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200" spc="-50" dirty="0"/>
              <a:t>&lt;</a:t>
            </a:r>
            <a:r>
              <a:rPr lang="ko-KR" altLang="en-US" sz="1200" spc="-50" dirty="0"/>
              <a:t>부의 소득세제</a:t>
            </a:r>
            <a:r>
              <a:rPr lang="en-US" altLang="ko-KR" sz="1200" spc="-50" dirty="0"/>
              <a:t>&gt;</a:t>
            </a:r>
            <a:endParaRPr lang="ko-KR" altLang="en-US" sz="12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1EA498B3-024B-33E3-D7CC-E8A3FC770EDA}"/>
                  </a:ext>
                </a:extLst>
              </p:cNvPr>
              <p:cNvSpPr txBox="1"/>
              <p:nvPr/>
            </p:nvSpPr>
            <p:spPr>
              <a:xfrm>
                <a:off x="288790" y="3693049"/>
                <a:ext cx="7490015" cy="2999347"/>
              </a:xfrm>
              <a:prstGeom prst="rect">
                <a:avLst/>
              </a:prstGeom>
              <a:noFill/>
            </p:spPr>
            <p:txBody>
              <a:bodyPr wrap="square" rtlCol="0" anchor="t">
                <a:spAutoFit/>
              </a:bodyPr>
              <a:lstStyle/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dirty="0"/>
                  <a:t>정부가 소득세제를 설계할 때 선택할 수 있는 변수는 </a:t>
                </a:r>
                <a14:m>
                  <m:oMath xmlns:m="http://schemas.openxmlformats.org/officeDocument/2006/math">
                    <m:r>
                      <a:rPr lang="en-US" altLang="ko-KR" sz="1600" i="1">
                        <a:latin typeface="Cambria Math" panose="02040503050406030204" pitchFamily="18" charset="0"/>
                      </a:rPr>
                      <m:t>𝑚</m:t>
                    </m:r>
                  </m:oMath>
                </a14:m>
                <a:r>
                  <a:rPr lang="ko-KR" altLang="en-US" sz="1600" dirty="0"/>
                  <a:t>과 </a:t>
                </a:r>
                <a14:m>
                  <m:oMath xmlns:m="http://schemas.openxmlformats.org/officeDocument/2006/math">
                    <m:r>
                      <a:rPr lang="en-US" altLang="ko-KR" sz="1600" i="1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ko-KR" altLang="en-US" sz="1600" dirty="0"/>
                  <a:t>이다</a:t>
                </a:r>
                <a:r>
                  <a:rPr lang="en-US" altLang="ko-KR" sz="1600" dirty="0"/>
                  <a:t>.</a:t>
                </a:r>
              </a:p>
              <a:p>
                <a:pPr marL="1292225" lvl="2" indent="-285750">
                  <a:lnSpc>
                    <a:spcPct val="150000"/>
                  </a:lnSpc>
                  <a:buFont typeface="Wingdings" panose="05000000000000000000" pitchFamily="2" charset="2"/>
                  <a:buChar char="Ø"/>
                </a:pPr>
                <a:r>
                  <a:rPr lang="ko-KR" altLang="en-US" sz="1600" dirty="0"/>
                  <a:t>정부의 예산이 정해져 있으면 선택변수는 하나가 되는데</a:t>
                </a:r>
                <a:r>
                  <a:rPr lang="en-US" altLang="ko-KR" sz="1600" dirty="0"/>
                  <a:t>, </a:t>
                </a:r>
                <a:r>
                  <a:rPr lang="ko-KR" altLang="en-US" sz="1600" dirty="0"/>
                  <a:t>즉</a:t>
                </a:r>
                <a:r>
                  <a:rPr lang="en-US" altLang="ko-KR" sz="1600" dirty="0"/>
                  <a:t> </a:t>
                </a:r>
                <a:r>
                  <a:rPr lang="ko-KR" altLang="en-US" sz="1600" dirty="0"/>
                  <a:t>보조금의 총 지급액이 미리 정해져 있으면</a:t>
                </a:r>
                <a:r>
                  <a:rPr lang="en-US" altLang="ko-KR" sz="1600" dirty="0"/>
                  <a:t>, </a:t>
                </a:r>
                <a:r>
                  <a:rPr lang="ko-KR" altLang="en-US" sz="1600" dirty="0"/>
                  <a:t>둘 중 하나만 자유롭게 선택할 수 있다</a:t>
                </a:r>
                <a:r>
                  <a:rPr lang="en-US" altLang="ko-KR" sz="160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부의 소득세제에 의한 혜택까지 포함한 처분가능소득</a:t>
                </a:r>
                <a:r>
                  <a:rPr lang="en-US" altLang="ko-KR" sz="1600" spc="-50" dirty="0"/>
                  <a:t>(</a:t>
                </a:r>
                <a14:m>
                  <m:oMath xmlns:m="http://schemas.openxmlformats.org/officeDocument/2006/math">
                    <m:r>
                      <a:rPr lang="en-US" altLang="ko-KR" sz="1600" b="0" i="1" spc="-50" smtClean="0">
                        <a:latin typeface="Cambria Math" panose="02040503050406030204" pitchFamily="18" charset="0"/>
                      </a:rPr>
                      <m:t>𝑌</m:t>
                    </m:r>
                  </m:oMath>
                </a14:m>
                <a:r>
                  <a:rPr lang="en-US" altLang="ko-KR" sz="1600" spc="-50" dirty="0"/>
                  <a:t>)</a:t>
                </a:r>
                <a:r>
                  <a:rPr lang="ko-KR" altLang="en-US" sz="1600" spc="-50" dirty="0"/>
                  <a:t>과 스스로 번 소득 </a:t>
                </a:r>
                <a:r>
                  <a:rPr lang="en-US" altLang="ko-KR" sz="1600" spc="-50" dirty="0"/>
                  <a:t>(</a:t>
                </a:r>
                <a14:m>
                  <m:oMath xmlns:m="http://schemas.openxmlformats.org/officeDocument/2006/math">
                    <m:r>
                      <a:rPr lang="en-US" altLang="ko-KR" sz="1600" b="0" i="1" spc="-50" smtClean="0">
                        <a:latin typeface="Cambria Math" panose="02040503050406030204" pitchFamily="18" charset="0"/>
                      </a:rPr>
                      <m:t>𝐸</m:t>
                    </m:r>
                  </m:oMath>
                </a14:m>
                <a:r>
                  <a:rPr lang="en-US" altLang="ko-KR" sz="1600" spc="-50" dirty="0"/>
                  <a:t>) </a:t>
                </a:r>
                <a:r>
                  <a:rPr lang="ko-KR" altLang="en-US" sz="1600" spc="-50" dirty="0"/>
                  <a:t>사이의 관계는 오른쪽 그림과 같다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endParaRPr lang="en-US" altLang="ko-KR" sz="1600" spc="-50" dirty="0"/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endParaRPr lang="en-US" altLang="ko-KR" sz="1600" spc="-50" dirty="0"/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1EA498B3-024B-33E3-D7CC-E8A3FC770ED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8790" y="3693049"/>
                <a:ext cx="7490015" cy="2999347"/>
              </a:xfrm>
              <a:prstGeom prst="rect">
                <a:avLst/>
              </a:prstGeom>
              <a:blipFill>
                <a:blip r:embed="rId5"/>
                <a:stretch>
                  <a:fillRect r="-325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832122346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ECB7E6-9CD6-F9E3-6699-39F1F2035E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A91C24C-6239-7417-727F-2C265DAC2A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부의 소득세제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862EA08-97E6-AF78-D5BF-7D3EE59552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39</a:t>
            </a:fld>
            <a:endParaRPr lang="ko-KR" alt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2A1A4A2-1625-618C-65F5-F7A5A6693285}"/>
              </a:ext>
            </a:extLst>
          </p:cNvPr>
          <p:cNvSpPr txBox="1"/>
          <p:nvPr/>
        </p:nvSpPr>
        <p:spPr>
          <a:xfrm>
            <a:off x="288790" y="958844"/>
            <a:ext cx="11250267" cy="5215338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기초수당과 한계세율의 선택은 어떤 의미를 갖는지 알아보자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기초수당이 클수록 재분배효과는 더 커진다고 말할 수 있다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모든 사람에게 최소한으로 보장하는 소득이 더 커지기 때문이다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한계세율의 크기는 이 제도의 효율성 측면과 관계가 있다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한계세율이 </a:t>
            </a:r>
            <a:r>
              <a:rPr lang="en-US" altLang="ko-KR" sz="1600" spc="-50" dirty="0"/>
              <a:t>100%</a:t>
            </a:r>
            <a:r>
              <a:rPr lang="ko-KR" altLang="en-US" sz="1600" spc="-50" dirty="0"/>
              <a:t>라면 내가 벌어들이는 돈이 늘어날 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똑같은 금액만큼 정부의 지급액이 줄어든다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돈을 더 </a:t>
            </a:r>
            <a:r>
              <a:rPr lang="ko-KR" altLang="en-US" sz="1600" spc="-50" dirty="0" err="1"/>
              <a:t>벌어보았자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내 주머니 상황은 똑같기 때문에 열심히 일할 의욕을 잃게 된다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이 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기초수당은 높은 수준에서 유지하고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한계세율은 낮게 유지하는 것이 가능하다면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효율성 상실의 문제를 일으키지 않으면서 재분배효과를 크게 만들 수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그러나 부의 소득세제 운영에 쓸 수 있는 재원이 고정된 상황에서는 기초수당과 한계세율을 동시에 원하는 수준으로 선택할 수 없다는 문제가 있다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기초수당은 정부 입장에서 나가는 금액이고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한계세율은 들어오는 금액이기 때문에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기초수당을 올리면 한계세율도 올려야 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따라서 재분배효과와 효율성 사이에서의 적절한 타협점은 중요한 고려사항이 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</p:txBody>
      </p:sp>
    </p:spTree>
    <p:extLst>
      <p:ext uri="{BB962C8B-B14F-4D97-AF65-F5344CB8AC3E}">
        <p14:creationId xmlns:p14="http://schemas.microsoft.com/office/powerpoint/2010/main" val="2263154895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E9F64C-A0C9-50CF-7FB3-E8EA8CC50A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E3ED61E-A205-BA56-25F8-72E7C51977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부의 소득세제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9A3B144-03FB-9E91-0C2C-CA6886DF94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40</a:t>
            </a:fld>
            <a:endParaRPr lang="ko-KR" alt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C666D38-D222-328E-54F4-58AA0FF4C5AD}"/>
              </a:ext>
            </a:extLst>
          </p:cNvPr>
          <p:cNvSpPr txBox="1"/>
          <p:nvPr/>
        </p:nvSpPr>
        <p:spPr>
          <a:xfrm>
            <a:off x="288790" y="958844"/>
            <a:ext cx="11465328" cy="3738011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600" u="sng" dirty="0">
                <a:ln w="3175">
                  <a:noFill/>
                </a:ln>
                <a:latin typeface="HY헤드라인M" panose="02030600000101010101" pitchFamily="18" charset="-127"/>
                <a:ea typeface="HY헤드라인M" panose="02030600000101010101" pitchFamily="18" charset="-127"/>
              </a:rPr>
              <a:t>문제점</a:t>
            </a: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부의 소득세제가 이론적으로는 매우 합리적이지만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현실에서 보기 힘든 것은 엄청난 재정부담 때문이다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또 하나의 문제점은 부의 소득세가 적용되는 </a:t>
            </a:r>
            <a:r>
              <a:rPr lang="ko-KR" altLang="en-US" sz="1600" spc="-50" dirty="0" err="1"/>
              <a:t>사람들뿐</a:t>
            </a:r>
            <a:r>
              <a:rPr lang="ko-KR" altLang="en-US" sz="1600" spc="-50" dirty="0"/>
              <a:t> 아니라 기준선보다 약간 더 많은 소득을 벌고 있는 사람들의 근로의욕에까지 악영향을 끼칠 수 있다는 점이다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더 많은 여가를 즐기고자 노동시간을 일부러 줄이고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부의 소득세 혜택을 받으려는 사람이 나타날 수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모든 재분배정책에서 공통적으로 나타나는 문제점이기는 하나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부의 소득세제 같은 경우에는 제도에 기여한 바와 관계없이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또 경제능력의 평가를 받지 않고 수혜자가 되는 특성이 있기 때문에 다른 재분배정책보다 심각할 수 있다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가장 근본적인 질문은 이처럼 막대한 예산을 들여 소득을 재분배 한다고 해서 실제 사회가 얼마나 개선이 되느냐 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빈곤한 사람들이 빈곤의 굴레에서 벗어난다는 보장이 없다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빈곤의 증상만을 다스리는 단기적 미봉책에 불과하다는 한계를 갖고 있다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368154194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174711-65AB-680F-5898-BEFA5EF423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C5D69B6-99C8-061D-B4C7-CE468525B4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근로장려세제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B5CA5DE-11CD-13AD-55C5-EE7F5FEDF1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41</a:t>
            </a:fld>
            <a:endParaRPr lang="ko-KR" alt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765D08E-86B9-38C6-8976-71145B8B1D4C}"/>
              </a:ext>
            </a:extLst>
          </p:cNvPr>
          <p:cNvSpPr txBox="1"/>
          <p:nvPr/>
        </p:nvSpPr>
        <p:spPr>
          <a:xfrm>
            <a:off x="288790" y="958844"/>
            <a:ext cx="11250267" cy="1891352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근로장려세제는 </a:t>
            </a:r>
            <a:r>
              <a:rPr lang="en-US" altLang="ko-KR" sz="1600" spc="-50" dirty="0"/>
              <a:t>2008</a:t>
            </a:r>
            <a:r>
              <a:rPr lang="ko-KR" altLang="en-US" sz="1600" spc="-50" dirty="0"/>
              <a:t>년에 도입한 정책으로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소득이 적어 생활이 어려운 근로자가구에 대해 생계비를 보조해주는 제도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앞서 살펴본 </a:t>
            </a:r>
            <a:r>
              <a:rPr lang="en-US" altLang="ko-KR" sz="1600" spc="-50" dirty="0"/>
              <a:t>‘</a:t>
            </a:r>
            <a:r>
              <a:rPr lang="ko-KR" altLang="en-US" sz="1600" spc="-50" dirty="0"/>
              <a:t>부의 소득세제</a:t>
            </a:r>
            <a:r>
              <a:rPr lang="en-US" altLang="ko-KR" sz="1600" spc="-50" dirty="0"/>
              <a:t>’</a:t>
            </a:r>
            <a:r>
              <a:rPr lang="ko-KR" altLang="en-US" sz="1600" spc="-50" dirty="0"/>
              <a:t>와 매우 비슷한 성격이지만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일을 하고 있으나 빈곤에서 벗어나지 못하는 근로빈곤층을 돕는 다는 것이 특징이다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기초생활보장제도와 사회보험의 혜택에서도 제외되는 경우가 많아 특별한 배려가 필요한 계층이고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이들의 생계안정과 근로유인을 제공하고자 만들어진 제도이다</a:t>
            </a:r>
            <a:r>
              <a:rPr lang="en-US" altLang="ko-KR" sz="1600" spc="-50" dirty="0"/>
              <a:t>.</a:t>
            </a:r>
          </a:p>
        </p:txBody>
      </p:sp>
      <p:pic>
        <p:nvPicPr>
          <p:cNvPr id="3" name="그림 2" descr="텍스트, 라인, 도표, 그래프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0371B145-2B8B-3956-FA59-D9AB8D025A2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553" t="17356" r="6284" b="16664"/>
          <a:stretch>
            <a:fillRect/>
          </a:stretch>
        </p:blipFill>
        <p:spPr>
          <a:xfrm>
            <a:off x="6078871" y="3926672"/>
            <a:ext cx="5790079" cy="2410939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D702F49F-2A99-ECD5-B234-364A173A9AA9}"/>
              </a:ext>
            </a:extLst>
          </p:cNvPr>
          <p:cNvSpPr txBox="1"/>
          <p:nvPr/>
        </p:nvSpPr>
        <p:spPr>
          <a:xfrm>
            <a:off x="288791" y="2909564"/>
            <a:ext cx="5790080" cy="152202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근로장려금 지급 기준과 금액은 다음과 같다 </a:t>
            </a:r>
            <a:r>
              <a:rPr lang="en-US" altLang="ko-KR" sz="1600" spc="-50" dirty="0"/>
              <a:t>(2025 </a:t>
            </a:r>
            <a:r>
              <a:rPr lang="ko-KR" altLang="en-US" sz="1600" spc="-50" dirty="0"/>
              <a:t>기준</a:t>
            </a:r>
            <a:r>
              <a:rPr lang="en-US" altLang="ko-KR" sz="1600" spc="-50" dirty="0"/>
              <a:t>)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단독가구</a:t>
            </a:r>
            <a:r>
              <a:rPr lang="en-US" altLang="ko-KR" sz="1600" spc="-50" dirty="0"/>
              <a:t>: </a:t>
            </a:r>
            <a:r>
              <a:rPr lang="ko-KR" altLang="en-US" sz="1600" spc="-50" dirty="0"/>
              <a:t>연간 근로소득이 </a:t>
            </a:r>
            <a:r>
              <a:rPr lang="en-US" altLang="ko-KR" sz="1600" spc="-50" dirty="0"/>
              <a:t>2,200</a:t>
            </a:r>
            <a:r>
              <a:rPr lang="ko-KR" altLang="en-US" sz="1600" spc="-50" dirty="0"/>
              <a:t>만원 미만인 경우 </a:t>
            </a: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 err="1"/>
              <a:t>홑벌이가구</a:t>
            </a:r>
            <a:r>
              <a:rPr lang="en-US" altLang="ko-KR" sz="1600" spc="-50" dirty="0"/>
              <a:t>: </a:t>
            </a:r>
            <a:r>
              <a:rPr lang="ko-KR" altLang="en-US" sz="1600" spc="-50" dirty="0"/>
              <a:t>연간 근로소득이 </a:t>
            </a:r>
            <a:r>
              <a:rPr lang="en-US" altLang="ko-KR" sz="1600" spc="-50" dirty="0"/>
              <a:t>3,200</a:t>
            </a:r>
            <a:r>
              <a:rPr lang="ko-KR" altLang="en-US" sz="1600" spc="-50" dirty="0"/>
              <a:t>만원 미만인 경우</a:t>
            </a: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맞벌이가구</a:t>
            </a:r>
            <a:r>
              <a:rPr lang="en-US" altLang="ko-KR" sz="1600" spc="-50" dirty="0"/>
              <a:t>: </a:t>
            </a:r>
            <a:r>
              <a:rPr lang="ko-KR" altLang="en-US" sz="1600" spc="-50" dirty="0"/>
              <a:t>연간 근로소득이 </a:t>
            </a:r>
            <a:r>
              <a:rPr lang="en-US" altLang="ko-KR" sz="1600" spc="-50" dirty="0"/>
              <a:t>4,400</a:t>
            </a:r>
            <a:r>
              <a:rPr lang="ko-KR" altLang="en-US" sz="1600" spc="-50" dirty="0"/>
              <a:t>만원 미만인 경우</a:t>
            </a:r>
            <a:endParaRPr lang="en-US" altLang="ko-KR" sz="1600" spc="-5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B0A4AAF-2C75-1734-4935-BD65F428C63E}"/>
              </a:ext>
            </a:extLst>
          </p:cNvPr>
          <p:cNvSpPr txBox="1"/>
          <p:nvPr/>
        </p:nvSpPr>
        <p:spPr>
          <a:xfrm>
            <a:off x="7183870" y="3649673"/>
            <a:ext cx="358008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200" spc="-50" dirty="0"/>
              <a:t>&lt;</a:t>
            </a:r>
            <a:r>
              <a:rPr lang="ko-KR" altLang="en-US" sz="1200" spc="-50" dirty="0"/>
              <a:t>근로장려금 지급금액 </a:t>
            </a:r>
            <a:r>
              <a:rPr lang="en-US" altLang="ko-KR" sz="1200" spc="-50" dirty="0"/>
              <a:t>(2025</a:t>
            </a:r>
            <a:r>
              <a:rPr lang="ko-KR" altLang="en-US" sz="1200" spc="-50" dirty="0"/>
              <a:t>기준</a:t>
            </a:r>
            <a:r>
              <a:rPr lang="en-US" altLang="ko-KR" sz="1200" spc="-50" dirty="0"/>
              <a:t>)&gt;</a:t>
            </a:r>
            <a:endParaRPr lang="ko-KR" altLang="en-US" sz="1200" dirty="0"/>
          </a:p>
        </p:txBody>
      </p:sp>
    </p:spTree>
    <p:extLst>
      <p:ext uri="{BB962C8B-B14F-4D97-AF65-F5344CB8AC3E}">
        <p14:creationId xmlns:p14="http://schemas.microsoft.com/office/powerpoint/2010/main" val="1302667390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65A812-5927-40A7-9AC1-9F20A8C1CD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76DECE9-30ED-DD55-8B6D-B5FBB6576E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근로장려세제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5B691AD-E02D-6D61-7C54-C847D5F5C1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42</a:t>
            </a:fld>
            <a:endParaRPr lang="ko-KR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2334513A-189C-7733-EAD0-97778466DF02}"/>
                  </a:ext>
                </a:extLst>
              </p:cNvPr>
              <p:cNvSpPr txBox="1"/>
              <p:nvPr/>
            </p:nvSpPr>
            <p:spPr>
              <a:xfrm>
                <a:off x="288790" y="958844"/>
                <a:ext cx="11250267" cy="3586238"/>
              </a:xfrm>
              <a:prstGeom prst="rect">
                <a:avLst/>
              </a:prstGeom>
              <a:noFill/>
            </p:spPr>
            <p:txBody>
              <a:bodyPr wrap="square" rtlCol="0" anchor="t">
                <a:spAutoFit/>
              </a:bodyPr>
              <a:lstStyle/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spc="-50" dirty="0"/>
                  <a:t>그래프를 통해 공공부조 프로그램과 근로장려세제가 근로의욕에 미치는 영향을 살펴보자</a:t>
                </a:r>
                <a:r>
                  <a:rPr lang="en-US" altLang="ko-KR" sz="1600" spc="-50" dirty="0"/>
                  <a:t>.</a:t>
                </a:r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spc="-50" dirty="0"/>
                  <a:t>우선 아래 그림은 공공부조 프로그램의 효과이다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어떤 사람의 예산제약을 선분 </a:t>
                </a:r>
                <a14:m>
                  <m:oMath xmlns:m="http://schemas.openxmlformats.org/officeDocument/2006/math">
                    <m:bar>
                      <m:barPr>
                        <m:pos m:val="top"/>
                        <m:ctrlPr>
                          <a:rPr lang="en-US" altLang="ko-KR" sz="1600" i="1" spc="-50" smtClean="0">
                            <a:latin typeface="Cambria Math" panose="02040503050406030204" pitchFamily="18" charset="0"/>
                          </a:rPr>
                        </m:ctrlPr>
                      </m:barPr>
                      <m:e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𝐴𝐵</m:t>
                        </m:r>
                      </m:e>
                    </m:bar>
                  </m:oMath>
                </a14:m>
                <a:r>
                  <a:rPr lang="ko-KR" altLang="en-US" sz="1600" spc="-50" dirty="0"/>
                  <a:t>로 나타내고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예산선의 기울기 </a:t>
                </a:r>
                <a14:m>
                  <m:oMath xmlns:m="http://schemas.openxmlformats.org/officeDocument/2006/math">
                    <m:r>
                      <a:rPr lang="en-US" altLang="ko-KR" sz="1600" b="0" i="1" spc="-50" smtClean="0">
                        <a:latin typeface="Cambria Math" panose="02040503050406030204" pitchFamily="18" charset="0"/>
                      </a:rPr>
                      <m:t>−</m:t>
                    </m:r>
                    <m:sSub>
                      <m:sSubPr>
                        <m:ctrlP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𝑤</m:t>
                        </m:r>
                      </m:e>
                      <m:sub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ko-KR" altLang="en-US" sz="1600" spc="-50" dirty="0"/>
                  <a:t>는 그 사람의 시간당 임금을 뜻한다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만약 정부가 </a:t>
                </a:r>
                <a14:m>
                  <m:oMath xmlns:m="http://schemas.openxmlformats.org/officeDocument/2006/math">
                    <m:bar>
                      <m:barPr>
                        <m:pos m:val="top"/>
                        <m:ctrlPr>
                          <a:rPr lang="en-US" altLang="ko-KR" sz="1600" i="1" spc="-50">
                            <a:latin typeface="Cambria Math" panose="02040503050406030204" pitchFamily="18" charset="0"/>
                          </a:rPr>
                        </m:ctrlPr>
                      </m:barPr>
                      <m:e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𝑚</m:t>
                        </m:r>
                      </m:e>
                    </m:bar>
                  </m:oMath>
                </a14:m>
                <a:r>
                  <a:rPr lang="ko-KR" altLang="en-US" sz="1600" spc="-50" dirty="0"/>
                  <a:t>만큼의 최저생계비를 보장하는 공공부조 프로그램을 도입한다고 해보자</a:t>
                </a:r>
                <a:r>
                  <a:rPr lang="en-US" altLang="ko-KR" sz="1600" spc="-50" dirty="0"/>
                  <a:t>.</a:t>
                </a:r>
              </a:p>
              <a:p>
                <a:pPr marL="1292225" lvl="2" indent="-285750">
                  <a:lnSpc>
                    <a:spcPct val="150000"/>
                  </a:lnSpc>
                  <a:buFont typeface="Wingdings" panose="05000000000000000000" pitchFamily="2" charset="2"/>
                  <a:buChar char="Ø"/>
                </a:pPr>
                <a:r>
                  <a:rPr lang="ko-KR" altLang="en-US" sz="1600" spc="-50" dirty="0"/>
                  <a:t>혜택 받는 사람의 예산제약은 선분 </a:t>
                </a:r>
                <a14:m>
                  <m:oMath xmlns:m="http://schemas.openxmlformats.org/officeDocument/2006/math">
                    <m:bar>
                      <m:barPr>
                        <m:pos m:val="top"/>
                        <m:ctrlPr>
                          <a:rPr lang="en-US" altLang="ko-KR" sz="1600" i="1" spc="-50">
                            <a:latin typeface="Cambria Math" panose="02040503050406030204" pitchFamily="18" charset="0"/>
                          </a:rPr>
                        </m:ctrlPr>
                      </m:barPr>
                      <m:e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𝐴𝐵</m:t>
                        </m:r>
                      </m:e>
                    </m:bar>
                  </m:oMath>
                </a14:m>
                <a:r>
                  <a:rPr lang="ko-KR" altLang="en-US" sz="1600" spc="-50" dirty="0"/>
                  <a:t>에서 붉은색의 </a:t>
                </a:r>
                <a:r>
                  <a:rPr lang="ko-KR" altLang="en-US" sz="1600" spc="-50" dirty="0" err="1"/>
                  <a:t>꺽어진</a:t>
                </a:r>
                <a:r>
                  <a:rPr lang="ko-KR" altLang="en-US" sz="1600" spc="-50" dirty="0"/>
                  <a:t> 선분으로 변한다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공공부조 프로그램이 도입되기 전에는 선분 </a:t>
                </a:r>
                <a14:m>
                  <m:oMath xmlns:m="http://schemas.openxmlformats.org/officeDocument/2006/math">
                    <m:bar>
                      <m:barPr>
                        <m:pos m:val="top"/>
                        <m:ctrlPr>
                          <a:rPr lang="en-US" altLang="ko-KR" sz="1600" i="1" spc="-50">
                            <a:latin typeface="Cambria Math" panose="02040503050406030204" pitchFamily="18" charset="0"/>
                          </a:rPr>
                        </m:ctrlPr>
                      </m:barPr>
                      <m:e>
                        <m:sSup>
                          <m:sSupPr>
                            <m:ctrlPr>
                              <a:rPr lang="en-US" altLang="ko-KR" sz="1600" i="1" spc="-50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altLang="ko-KR" sz="1600" b="0" i="1" spc="-50" smtClean="0">
                                <a:latin typeface="Cambria Math" panose="02040503050406030204" pitchFamily="18" charset="0"/>
                              </a:rPr>
                              <m:t>𝐿</m:t>
                            </m:r>
                          </m:e>
                          <m:sup>
                            <m:r>
                              <a:rPr lang="en-US" altLang="ko-KR" sz="1600" b="0" i="1" spc="-50" smtClean="0">
                                <a:latin typeface="Cambria Math" panose="02040503050406030204" pitchFamily="18" charset="0"/>
                              </a:rPr>
                              <m:t>∗</m:t>
                            </m:r>
                          </m:sup>
                        </m:sSup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</m:bar>
                  </m:oMath>
                </a14:m>
                <a:r>
                  <a:rPr lang="en-US" altLang="ko-KR" sz="1600" spc="-50" dirty="0"/>
                  <a:t> </a:t>
                </a:r>
                <a:r>
                  <a:rPr lang="ko-KR" altLang="en-US" sz="1600" spc="-50" dirty="0"/>
                  <a:t>길이 만큼 노동을 공급할 의사가 있었는데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프로그램이 도입 된 후에는 전혀 일을 하지 않으려고 한다는 것을 볼 수 있다</a:t>
                </a:r>
                <a:r>
                  <a:rPr lang="en-US" altLang="ko-KR" sz="1600" spc="-50" dirty="0"/>
                  <a:t>.</a:t>
                </a:r>
              </a:p>
              <a:p>
                <a:pPr marL="1292225" lvl="2" indent="-285750">
                  <a:lnSpc>
                    <a:spcPct val="150000"/>
                  </a:lnSpc>
                  <a:buFont typeface="Wingdings" panose="05000000000000000000" pitchFamily="2" charset="2"/>
                  <a:buChar char="Ø"/>
                </a:pPr>
                <a:r>
                  <a:rPr lang="ko-KR" altLang="en-US" sz="1600" spc="-50" dirty="0"/>
                  <a:t>그의 선택점이 </a:t>
                </a:r>
                <a14:m>
                  <m:oMath xmlns:m="http://schemas.openxmlformats.org/officeDocument/2006/math">
                    <m:r>
                      <a:rPr lang="en-US" altLang="ko-KR" sz="1600" b="0" i="1" spc="-50" smtClean="0">
                        <a:latin typeface="Cambria Math" panose="02040503050406030204" pitchFamily="18" charset="0"/>
                      </a:rPr>
                      <m:t>𝐸</m:t>
                    </m:r>
                  </m:oMath>
                </a14:m>
                <a:r>
                  <a:rPr lang="ko-KR" altLang="en-US" sz="1600" spc="-50" dirty="0"/>
                  <a:t>에서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ko-KR" sz="1600" i="1" spc="-50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𝐸</m:t>
                        </m:r>
                      </m:e>
                      <m:sup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</m:oMath>
                </a14:m>
                <a:r>
                  <a:rPr lang="ko-KR" altLang="en-US" sz="1600" spc="-50" dirty="0"/>
                  <a:t>으로 이동한 것을 보면 알 수 있다</a:t>
                </a:r>
                <a:r>
                  <a:rPr lang="en-US" altLang="ko-KR" sz="1600" spc="-50" dirty="0"/>
                  <a:t>.</a:t>
                </a:r>
                <a:r>
                  <a:rPr lang="ko-KR" altLang="en-US" sz="1600" spc="-50" dirty="0"/>
                  <a:t>  </a:t>
                </a:r>
                <a:endParaRPr lang="en-US" altLang="ko-KR" sz="1600" spc="-50" dirty="0"/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endParaRPr lang="en-US" altLang="ko-KR" sz="1600" spc="-50" dirty="0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2334513A-189C-7733-EAD0-97778466DF0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8790" y="958844"/>
                <a:ext cx="11250267" cy="3586238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8" name="그림 7" descr="라인, 도표, 그래프, 텍스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4D2F1F6C-A8F3-BCBC-3CC3-2C075458858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2079" t="15945" r="21816" b="6582"/>
          <a:stretch>
            <a:fillRect/>
          </a:stretch>
        </p:blipFill>
        <p:spPr>
          <a:xfrm>
            <a:off x="7140844" y="3569501"/>
            <a:ext cx="3580080" cy="3037274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1C4AEE02-378C-47CF-40A4-8AFBEE451345}"/>
              </a:ext>
            </a:extLst>
          </p:cNvPr>
          <p:cNvSpPr txBox="1"/>
          <p:nvPr/>
        </p:nvSpPr>
        <p:spPr>
          <a:xfrm>
            <a:off x="7549911" y="3664913"/>
            <a:ext cx="358008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200" spc="-50" dirty="0"/>
              <a:t>&lt;</a:t>
            </a:r>
            <a:r>
              <a:rPr lang="ko-KR" altLang="en-US" sz="1200" spc="-50" dirty="0"/>
              <a:t>공공부조 프로그램의 효과</a:t>
            </a:r>
            <a:r>
              <a:rPr lang="en-US" altLang="ko-KR" sz="1200" spc="-50" dirty="0"/>
              <a:t>&gt;</a:t>
            </a:r>
            <a:endParaRPr lang="ko-KR" altLang="en-US" sz="1200" dirty="0"/>
          </a:p>
        </p:txBody>
      </p:sp>
    </p:spTree>
    <p:extLst>
      <p:ext uri="{BB962C8B-B14F-4D97-AF65-F5344CB8AC3E}">
        <p14:creationId xmlns:p14="http://schemas.microsoft.com/office/powerpoint/2010/main" val="4074870753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750B05-6DA6-FB10-6EEC-569A5C8424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>
            <a:extLst>
              <a:ext uri="{FF2B5EF4-FFF2-40B4-BE49-F238E27FC236}">
                <a16:creationId xmlns:a16="http://schemas.microsoft.com/office/drawing/2014/main" id="{22048E7A-E17F-8319-0E28-0FF747AC806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8141" t="14353" r="26408" b="8619"/>
          <a:stretch>
            <a:fillRect/>
          </a:stretch>
        </p:blipFill>
        <p:spPr>
          <a:xfrm>
            <a:off x="7884582" y="3498507"/>
            <a:ext cx="3832844" cy="3038400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714A10FC-9A50-D98F-C7E4-E16CF5ACD8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근로장려세제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DD0DE01-7005-B7B7-BA87-EC54A804C8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43</a:t>
            </a:fld>
            <a:endParaRPr lang="ko-KR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3F4BBCC4-CA37-A392-2EB2-D6AA9DB35B34}"/>
                  </a:ext>
                </a:extLst>
              </p:cNvPr>
              <p:cNvSpPr txBox="1"/>
              <p:nvPr/>
            </p:nvSpPr>
            <p:spPr>
              <a:xfrm>
                <a:off x="288790" y="958844"/>
                <a:ext cx="11250267" cy="2714782"/>
              </a:xfrm>
              <a:prstGeom prst="rect">
                <a:avLst/>
              </a:prstGeom>
              <a:noFill/>
            </p:spPr>
            <p:txBody>
              <a:bodyPr wrap="square" rtlCol="0" anchor="t">
                <a:spAutoFit/>
              </a:bodyPr>
              <a:lstStyle/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spc="-50" dirty="0"/>
                  <a:t>아래 그림은 근로장려세제의 도입 효과이다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맞벌이 가구의 상황을 기초해 그렸으며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예산제약이 공공부조 프로그램과 달리 두 번 </a:t>
                </a:r>
                <a:r>
                  <a:rPr lang="ko-KR" altLang="en-US" sz="1600" spc="-50" dirty="0" err="1"/>
                  <a:t>꺽어진</a:t>
                </a:r>
                <a:r>
                  <a:rPr lang="ko-KR" altLang="en-US" sz="1600" spc="-50" dirty="0"/>
                  <a:t> 선분으로 나타나 있다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세 개 구간의 기울기가 각기 다른 것을 볼 수 있다</a:t>
                </a:r>
                <a:r>
                  <a:rPr lang="en-US" altLang="ko-KR" sz="1600" spc="-50" dirty="0"/>
                  <a:t>.</a:t>
                </a:r>
              </a:p>
              <a:p>
                <a:pPr marL="1292225" lvl="2" indent="-285750">
                  <a:lnSpc>
                    <a:spcPct val="150000"/>
                  </a:lnSpc>
                  <a:buFont typeface="Wingdings" panose="05000000000000000000" pitchFamily="2" charset="2"/>
                  <a:buChar char="Ø"/>
                </a:pPr>
                <a14:m>
                  <m:oMath xmlns:m="http://schemas.openxmlformats.org/officeDocument/2006/math">
                    <m:bar>
                      <m:barPr>
                        <m:pos m:val="top"/>
                        <m:ctrlPr>
                          <a:rPr lang="en-US" altLang="ko-KR" sz="1600" i="1" spc="-50">
                            <a:latin typeface="Cambria Math" panose="02040503050406030204" pitchFamily="18" charset="0"/>
                          </a:rPr>
                        </m:ctrlPr>
                      </m:barPr>
                      <m:e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𝐻𝐼</m:t>
                        </m:r>
                      </m:e>
                    </m:bar>
                  </m:oMath>
                </a14:m>
                <a:r>
                  <a:rPr lang="ko-KR" altLang="en-US" sz="1600" spc="-50" dirty="0"/>
                  <a:t>의 기울기는 </a:t>
                </a:r>
                <a14:m>
                  <m:oMath xmlns:m="http://schemas.openxmlformats.org/officeDocument/2006/math">
                    <m:r>
                      <a:rPr lang="en-US" altLang="ko-KR" sz="1600" i="1" spc="-50">
                        <a:latin typeface="Cambria Math" panose="02040503050406030204" pitchFamily="18" charset="0"/>
                      </a:rPr>
                      <m:t>−</m:t>
                    </m:r>
                    <m:sSub>
                      <m:sSubPr>
                        <m:ctrlPr>
                          <a:rPr lang="en-US" altLang="ko-KR" sz="1600" i="1" spc="-5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𝑤</m:t>
                        </m:r>
                      </m:e>
                      <m:sub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en-US" altLang="ko-KR" sz="1600" spc="-50" dirty="0"/>
                  <a:t> </a:t>
                </a:r>
                <a:r>
                  <a:rPr lang="ko-KR" altLang="en-US" sz="1600" spc="-50" dirty="0"/>
                  <a:t>인데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소득이 </a:t>
                </a:r>
                <a:r>
                  <a:rPr lang="en-US" altLang="ko-KR" sz="1600" spc="-50" dirty="0"/>
                  <a:t>800</a:t>
                </a:r>
                <a:r>
                  <a:rPr lang="ko-KR" altLang="en-US" sz="1600" spc="-50" dirty="0"/>
                  <a:t>만원</a:t>
                </a:r>
                <a:r>
                  <a:rPr lang="en-US" altLang="ko-KR" sz="1600" spc="-50" dirty="0"/>
                  <a:t>~1,700</a:t>
                </a:r>
                <a:r>
                  <a:rPr lang="ko-KR" altLang="en-US" sz="1600" spc="-50" dirty="0"/>
                  <a:t>만원 사이에 있는 근로자는 </a:t>
                </a:r>
                <a:r>
                  <a:rPr lang="en-US" altLang="ko-KR" sz="1600" spc="-50" dirty="0"/>
                  <a:t>330</a:t>
                </a:r>
                <a:r>
                  <a:rPr lang="ko-KR" altLang="en-US" sz="1600" spc="-50" dirty="0"/>
                  <a:t>만원의 고정된 근로장려금을 받는 사실을 반영하고 있다</a:t>
                </a:r>
                <a:r>
                  <a:rPr lang="en-US" altLang="ko-KR" sz="1600" spc="-50" dirty="0"/>
                  <a:t>.</a:t>
                </a:r>
              </a:p>
              <a:p>
                <a:pPr marL="1292225" lvl="2" indent="-285750">
                  <a:lnSpc>
                    <a:spcPct val="150000"/>
                  </a:lnSpc>
                  <a:buFont typeface="Wingdings" panose="05000000000000000000" pitchFamily="2" charset="2"/>
                  <a:buChar char="Ø"/>
                </a:pPr>
                <a14:m>
                  <m:oMath xmlns:m="http://schemas.openxmlformats.org/officeDocument/2006/math">
                    <m:bar>
                      <m:barPr>
                        <m:pos m:val="top"/>
                        <m:ctrlPr>
                          <a:rPr lang="en-US" altLang="ko-KR" sz="1600" i="1" spc="-50">
                            <a:latin typeface="Cambria Math" panose="02040503050406030204" pitchFamily="18" charset="0"/>
                          </a:rPr>
                        </m:ctrlPr>
                      </m:barPr>
                      <m:e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𝐺𝐻</m:t>
                        </m:r>
                      </m:e>
                    </m:bar>
                  </m:oMath>
                </a14:m>
                <a:r>
                  <a:rPr lang="en-US" altLang="ko-KR" sz="1600" spc="-50" dirty="0">
                    <a:latin typeface="Cambria Math" panose="02040503050406030204" pitchFamily="18" charset="0"/>
                  </a:rPr>
                  <a:t> </a:t>
                </a:r>
                <a:r>
                  <a:rPr lang="ko-KR" altLang="en-US" sz="1600" spc="-50" dirty="0">
                    <a:latin typeface="Cambria Math" panose="02040503050406030204" pitchFamily="18" charset="0"/>
                  </a:rPr>
                  <a:t>구간은</a:t>
                </a:r>
                <a:r>
                  <a:rPr lang="ko-KR" altLang="en-US" sz="1600" i="1" spc="-50" dirty="0">
                    <a:latin typeface="Cambria Math" panose="02040503050406030204" pitchFamily="18" charset="0"/>
                  </a:rPr>
                  <a:t> </a:t>
                </a:r>
                <a:r>
                  <a:rPr lang="en-US" altLang="ko-KR" sz="1600" spc="-50" dirty="0"/>
                  <a:t>18</a:t>
                </a:r>
                <a:r>
                  <a:rPr lang="ko-KR" altLang="en-US" sz="1600" spc="-50" dirty="0"/>
                  <a:t>슬라이드 그림에서 </a:t>
                </a:r>
                <a:r>
                  <a:rPr lang="en-US" altLang="ko-KR" sz="1600" spc="-50" dirty="0"/>
                  <a:t>‘</a:t>
                </a:r>
                <a:r>
                  <a:rPr lang="ko-KR" altLang="en-US" sz="1600" spc="-50" dirty="0"/>
                  <a:t>맞벌이 기준</a:t>
                </a:r>
                <a:r>
                  <a:rPr lang="en-US" altLang="ko-KR" sz="1600" spc="-50" dirty="0"/>
                  <a:t>’ </a:t>
                </a:r>
                <a:r>
                  <a:rPr lang="ko-KR" altLang="en-US" sz="1600" spc="-50" dirty="0"/>
                  <a:t>곡선의 </a:t>
                </a:r>
                <a:r>
                  <a:rPr lang="en-US" altLang="ko-KR" sz="1600" spc="-50" dirty="0"/>
                  <a:t>800</a:t>
                </a:r>
                <a:r>
                  <a:rPr lang="ko-KR" altLang="en-US" sz="1600" spc="-50" dirty="0"/>
                  <a:t>만원 미만인 경우</a:t>
                </a:r>
                <a:endParaRPr lang="en-US" altLang="ko-KR" sz="1600" spc="-50" dirty="0"/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endParaRPr lang="en-US" altLang="ko-KR" sz="1600" spc="-50" dirty="0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3F4BBCC4-CA37-A392-2EB2-D6AA9DB35B3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8790" y="958844"/>
                <a:ext cx="11250267" cy="2714782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TextBox 8">
            <a:extLst>
              <a:ext uri="{FF2B5EF4-FFF2-40B4-BE49-F238E27FC236}">
                <a16:creationId xmlns:a16="http://schemas.microsoft.com/office/drawing/2014/main" id="{C05CE4E9-8175-73DE-CFD7-B42BA90AC7DD}"/>
              </a:ext>
            </a:extLst>
          </p:cNvPr>
          <p:cNvSpPr txBox="1"/>
          <p:nvPr/>
        </p:nvSpPr>
        <p:spPr>
          <a:xfrm>
            <a:off x="8210311" y="3285014"/>
            <a:ext cx="358008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200" spc="-50" dirty="0"/>
              <a:t>&lt;</a:t>
            </a:r>
            <a:r>
              <a:rPr lang="ko-KR" altLang="en-US" sz="1200" spc="-50" dirty="0"/>
              <a:t>근로장려세제의 효과</a:t>
            </a:r>
            <a:r>
              <a:rPr lang="en-US" altLang="ko-KR" sz="1200" spc="-50" dirty="0"/>
              <a:t>&gt;</a:t>
            </a:r>
            <a:endParaRPr lang="ko-KR" altLang="en-US" sz="12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64323ED6-911B-5AAA-5451-9E8110132A8F}"/>
                  </a:ext>
                </a:extLst>
              </p:cNvPr>
              <p:cNvSpPr txBox="1"/>
              <p:nvPr/>
            </p:nvSpPr>
            <p:spPr>
              <a:xfrm>
                <a:off x="288790" y="3282992"/>
                <a:ext cx="7522827" cy="2773067"/>
              </a:xfrm>
              <a:prstGeom prst="rect">
                <a:avLst/>
              </a:prstGeom>
              <a:noFill/>
            </p:spPr>
            <p:txBody>
              <a:bodyPr wrap="square" rtlCol="0" anchor="t">
                <a:spAutoFit/>
              </a:bodyPr>
              <a:lstStyle/>
              <a:p>
                <a:pPr marL="1292225" lvl="2" indent="-285750">
                  <a:lnSpc>
                    <a:spcPct val="150000"/>
                  </a:lnSpc>
                  <a:buFont typeface="Wingdings" panose="05000000000000000000" pitchFamily="2" charset="2"/>
                  <a:buChar char="Ø"/>
                </a:pPr>
                <a14:m>
                  <m:oMath xmlns:m="http://schemas.openxmlformats.org/officeDocument/2006/math">
                    <m:bar>
                      <m:barPr>
                        <m:pos m:val="top"/>
                        <m:ctrlPr>
                          <a:rPr lang="en-US" altLang="ko-KR" sz="1600" i="1" spc="-50" smtClean="0">
                            <a:latin typeface="Cambria Math" panose="02040503050406030204" pitchFamily="18" charset="0"/>
                          </a:rPr>
                        </m:ctrlPr>
                      </m:barPr>
                      <m:e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𝐼𝐵</m:t>
                        </m:r>
                      </m:e>
                    </m:bar>
                  </m:oMath>
                </a14:m>
                <a:r>
                  <a:rPr lang="en-US" altLang="ko-KR" sz="1600" spc="-50" dirty="0"/>
                  <a:t> </a:t>
                </a:r>
                <a:r>
                  <a:rPr lang="ko-KR" altLang="en-US" sz="1600" spc="-50" dirty="0"/>
                  <a:t>구간은 </a:t>
                </a:r>
                <a:r>
                  <a:rPr lang="en-US" altLang="ko-KR" sz="1600" spc="-50" dirty="0"/>
                  <a:t>18</a:t>
                </a:r>
                <a:r>
                  <a:rPr lang="ko-KR" altLang="en-US" sz="1600" spc="-50" dirty="0"/>
                  <a:t>슬라이드 그림에서 </a:t>
                </a:r>
                <a:r>
                  <a:rPr lang="en-US" altLang="ko-KR" sz="1600" spc="-50" dirty="0"/>
                  <a:t>‘</a:t>
                </a:r>
                <a:r>
                  <a:rPr lang="ko-KR" altLang="en-US" sz="1600" spc="-50" dirty="0"/>
                  <a:t>맞벌이 기준</a:t>
                </a:r>
                <a:r>
                  <a:rPr lang="en-US" altLang="ko-KR" sz="1600" spc="-50" dirty="0"/>
                  <a:t>’ </a:t>
                </a:r>
                <a:r>
                  <a:rPr lang="ko-KR" altLang="en-US" sz="1600" spc="-50" dirty="0"/>
                  <a:t>곡선의 </a:t>
                </a:r>
                <a:r>
                  <a:rPr lang="en-US" altLang="ko-KR" sz="1600" spc="-50" dirty="0"/>
                  <a:t>1,700</a:t>
                </a:r>
                <a:r>
                  <a:rPr lang="ko-KR" altLang="en-US" sz="1600" spc="-50" dirty="0"/>
                  <a:t>만원 이상인 경우를 보여주고 있다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근로장려세제 도입 후의 노동 공급량은 </a:t>
                </a:r>
                <a14:m>
                  <m:oMath xmlns:m="http://schemas.openxmlformats.org/officeDocument/2006/math">
                    <m:bar>
                      <m:barPr>
                        <m:pos m:val="top"/>
                        <m:ctrlPr>
                          <a:rPr lang="en-US" altLang="ko-KR" sz="1600" i="1" spc="-50">
                            <a:latin typeface="Cambria Math" panose="02040503050406030204" pitchFamily="18" charset="0"/>
                          </a:rPr>
                        </m:ctrlPr>
                      </m:barPr>
                      <m:e>
                        <m:sSup>
                          <m:sSupPr>
                            <m:ctrlPr>
                              <a:rPr lang="en-US" altLang="ko-KR" sz="1600" i="1" spc="-50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altLang="ko-KR" sz="1600" b="0" i="1" spc="-50" smtClean="0">
                                <a:latin typeface="Cambria Math" panose="02040503050406030204" pitchFamily="18" charset="0"/>
                              </a:rPr>
                              <m:t>𝐿</m:t>
                            </m:r>
                          </m:e>
                          <m:sup>
                            <m:r>
                              <a:rPr lang="en-US" altLang="ko-KR" sz="1600" b="0" i="1" spc="-50" smtClean="0">
                                <a:latin typeface="Cambria Math" panose="02040503050406030204" pitchFamily="18" charset="0"/>
                              </a:rPr>
                              <m:t>∗</m:t>
                            </m:r>
                          </m:sup>
                        </m:sSup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</m:bar>
                  </m:oMath>
                </a14:m>
                <a:r>
                  <a:rPr lang="en-US" altLang="ko-KR" sz="1600" spc="-50" dirty="0"/>
                  <a:t> </a:t>
                </a:r>
                <a:r>
                  <a:rPr lang="ko-KR" altLang="en-US" sz="1600" spc="-50" dirty="0"/>
                  <a:t>에서 </a:t>
                </a:r>
                <a14:m>
                  <m:oMath xmlns:m="http://schemas.openxmlformats.org/officeDocument/2006/math">
                    <m:bar>
                      <m:barPr>
                        <m:pos m:val="top"/>
                        <m:ctrlPr>
                          <a:rPr lang="en-US" altLang="ko-KR" sz="1600" i="1" spc="-50">
                            <a:latin typeface="Cambria Math" panose="02040503050406030204" pitchFamily="18" charset="0"/>
                          </a:rPr>
                        </m:ctrlPr>
                      </m:barPr>
                      <m:e>
                        <m:acc>
                          <m:accPr>
                            <m:chr m:val="̂"/>
                            <m:ctrlPr>
                              <a:rPr lang="en-US" altLang="ko-KR" sz="1600" i="1" spc="-50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altLang="ko-KR" sz="1600" b="0" i="1" spc="-50" smtClean="0">
                                <a:latin typeface="Cambria Math" panose="02040503050406030204" pitchFamily="18" charset="0"/>
                              </a:rPr>
                              <m:t>𝐿</m:t>
                            </m:r>
                          </m:e>
                        </m:acc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</m:bar>
                  </m:oMath>
                </a14:m>
                <a:r>
                  <a:rPr lang="en-US" altLang="ko-KR" sz="1600" spc="-50" dirty="0"/>
                  <a:t> </a:t>
                </a:r>
                <a:r>
                  <a:rPr lang="ko-KR" altLang="en-US" sz="1600" spc="-50" dirty="0"/>
                  <a:t>로 줄었다</a:t>
                </a:r>
                <a:r>
                  <a:rPr lang="en-US" altLang="ko-KR" sz="1600" spc="-50" dirty="0"/>
                  <a:t>.</a:t>
                </a:r>
              </a:p>
              <a:p>
                <a:pPr marL="1292225" lvl="2" indent="-285750">
                  <a:lnSpc>
                    <a:spcPct val="150000"/>
                  </a:lnSpc>
                  <a:buFont typeface="Wingdings" panose="05000000000000000000" pitchFamily="2" charset="2"/>
                  <a:buChar char="Ø"/>
                </a:pPr>
                <a:r>
                  <a:rPr lang="ko-KR" altLang="en-US" sz="1600" spc="-50" dirty="0"/>
                  <a:t>그의 선택점이 </a:t>
                </a:r>
                <a14:m>
                  <m:oMath xmlns:m="http://schemas.openxmlformats.org/officeDocument/2006/math">
                    <m:r>
                      <a:rPr lang="en-US" altLang="ko-KR" sz="1600" i="1" spc="-50">
                        <a:latin typeface="Cambria Math" panose="02040503050406030204" pitchFamily="18" charset="0"/>
                      </a:rPr>
                      <m:t>𝐸</m:t>
                    </m:r>
                  </m:oMath>
                </a14:m>
                <a:r>
                  <a:rPr lang="ko-KR" altLang="en-US" sz="1600" spc="-50" dirty="0"/>
                  <a:t>에서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ko-KR" sz="1600" i="1" spc="-5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𝐸</m:t>
                        </m:r>
                      </m:e>
                      <m:sup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′</m:t>
                        </m:r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</m:oMath>
                </a14:m>
                <a:r>
                  <a:rPr lang="ko-KR" altLang="en-US" sz="1600" spc="-50" dirty="0"/>
                  <a:t>으로 이동한 것을 보면 알 수 있다</a:t>
                </a:r>
                <a:r>
                  <a:rPr lang="en-US" altLang="ko-KR" sz="1600" spc="-50" dirty="0"/>
                  <a:t>.</a:t>
                </a:r>
                <a:r>
                  <a:rPr lang="ko-KR" altLang="en-US" sz="1600" spc="-50" dirty="0"/>
                  <a:t>  </a:t>
                </a:r>
                <a:endParaRPr lang="en-US" altLang="ko-KR" sz="1600" spc="-50" dirty="0"/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앞서 공공부조 프로그램과 비교했을 때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노동의 감소폭이 작다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endParaRPr lang="en-US" altLang="ko-KR" sz="1600" spc="-50" dirty="0"/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endParaRPr lang="en-US" altLang="ko-KR" sz="1600" spc="-50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64323ED6-911B-5AAA-5451-9E8110132A8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8790" y="3282992"/>
                <a:ext cx="7522827" cy="2773067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869088750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F71A1E-9B47-50D7-EEE7-449268E691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69F5F5A-E448-C19B-DD73-26E1A5B6DB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기본소득제도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E53D890-E99F-579A-6CBF-09CC3971CC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44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7F9C7F3-4B34-D8C7-B1F2-9952E8DA66E6}"/>
              </a:ext>
            </a:extLst>
          </p:cNvPr>
          <p:cNvSpPr txBox="1"/>
          <p:nvPr/>
        </p:nvSpPr>
        <p:spPr>
          <a:xfrm>
            <a:off x="288790" y="958844"/>
            <a:ext cx="11250267" cy="5215338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기본소득제도는 사회에 속한 모든 사람들을 똑같이 지원 대상으로 삼는다는 점에서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빈곤층을 대상으로만 하는 공공부조 프로그램과 차이를 갖는다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모든 구성원들이 각자의 상황과 관계없이 최소한의 생활수준을 누릴 권리를 갖고 있다는 의미이다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선별적 복지제도와 비교했을 때</a:t>
            </a:r>
            <a:r>
              <a:rPr lang="en-US" altLang="ko-KR" sz="1600" spc="-50" dirty="0"/>
              <a:t>,</a:t>
            </a:r>
            <a:r>
              <a:rPr lang="ko-KR" altLang="en-US" sz="1600" spc="-50" dirty="0"/>
              <a:t> 기본소득제도가 갖는 장점은 아래와 같다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대상을 선별하지 않으니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그만큼 행정비용이 줄어든다는 장점이 있고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복지의 사각지대가 해소될 수 있다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선별적 복지제도는 지원 대상을 선별하는 과정에서 지원대상이 될 수 없는 사람들이 지원을 받거나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지원 대상이 되어야 할 사람들이 지원을 못 받는 문제가 끊임없이 발생하고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선별적 복지의 대상인 구성원들은 무능력하거나 게으른 사람이라고 사회적 낙인이 찍힌다는 문제가 발생하는데 반해</a:t>
            </a:r>
            <a:r>
              <a:rPr lang="en-US" altLang="ko-KR" sz="1600" spc="-50" dirty="0"/>
              <a:t>, </a:t>
            </a:r>
            <a:r>
              <a:rPr lang="ko-KR" altLang="en-US" sz="1600" spc="-50" dirty="0" err="1"/>
              <a:t>기본소득제도하에서는</a:t>
            </a:r>
            <a:r>
              <a:rPr lang="ko-KR" altLang="en-US" sz="1600" spc="-50" dirty="0"/>
              <a:t> 그런 문제가 발생하지 않는다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그러나 기본소득제도가 갖는 단점도 존재한다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엄청난 규모의 재원이 필요하다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국민들의 동의를 받아 엄청나게 많은 세금을 거두어야 하는 것은 불가피한 일이다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근로의욕을 떨어뜨려 경제의 생산성 하락을 유발할 수 있다</a:t>
            </a:r>
            <a:r>
              <a:rPr lang="en-US" altLang="ko-KR" sz="1600" spc="-50" dirty="0"/>
              <a:t>. 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사회적 낙인을 걱정할 필요 없이 구태여 힘들게 일을 할 필요가 없어지기 때문이다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18429427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398A0A-7389-D3DF-CACE-D1A9231611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F623959-216D-873F-0CEA-DF36605869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기본소득제도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FA54FA9-3647-51B8-9737-393348C76E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45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95D7CB8-A0DA-0577-4EA0-5EF7AAE125EA}"/>
              </a:ext>
            </a:extLst>
          </p:cNvPr>
          <p:cNvSpPr txBox="1"/>
          <p:nvPr/>
        </p:nvSpPr>
        <p:spPr>
          <a:xfrm>
            <a:off x="288790" y="958844"/>
            <a:ext cx="11250267" cy="1891352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기본소득제도는 비교적 최근에 와서 본격적인 주목을 받기 시작했고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앞으로도 저출산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고령화 문제가 심각해지면서 이에 관한 논의가 점점 활발해질 것으로 보인다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기존의 선별적 복지제도가 갖는 한계점을 인식하고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대안을 모색한다는 점에서 중요한 의미를 갖는다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다만 기본소득제도는 일단 도입이 되면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다시 되돌리는 것이 쉽지 않다는 점에서 신중할 필요가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또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기본소득의 수준과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재원마련에 대한 검토가 선행되어야 한다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299870628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BC57B2-AE5E-36AE-C6C5-CBAF277ECE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6CDB4492-3DF0-B173-9F25-F94C7AE4276B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A3CB83F-A488-50C4-ACDB-7E287E1648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46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3369BB03-BFE1-4F1F-5002-B8809938481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3765550"/>
            <a:ext cx="11150600" cy="65281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Section 3. </a:t>
            </a:r>
            <a:r>
              <a:rPr lang="ko-KR" altLang="en-US" sz="4000" b="1" i="0" spc="150" dirty="0"/>
              <a:t>빈곤선의 결정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937852302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CFC944-53E8-0769-8FEF-02CA6A97FB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34AFABA-462E-2668-9892-943A57FD2F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빈곤선의 결정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7A506A0-6796-BF89-32C1-860CF7B0A7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47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A8D6E92-810C-6274-D426-A759A56674CE}"/>
              </a:ext>
            </a:extLst>
          </p:cNvPr>
          <p:cNvSpPr txBox="1"/>
          <p:nvPr/>
        </p:nvSpPr>
        <p:spPr>
          <a:xfrm>
            <a:off x="288790" y="958844"/>
            <a:ext cx="11250267" cy="4107343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선별적 복지정책은 어떤 사람이 복지정책의 대상이 될지 결정하는 과정으로부터 출발한다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보통 어떤 하나의 소득수준을 </a:t>
            </a:r>
            <a:r>
              <a:rPr lang="ko-KR" altLang="en-US" sz="1600" b="1" spc="-50" dirty="0"/>
              <a:t>빈곤선</a:t>
            </a:r>
            <a:r>
              <a:rPr lang="ko-KR" altLang="en-US" sz="1600" spc="-50" dirty="0"/>
              <a:t>으로 책정해놓고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그 소득 수준에 미치지 못하면 빈곤한 사람으로 간주한다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빈곤한 사람과 그렇지 않은 사람을 가르는 기준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빈곤선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을 어떻게 설정해야 할지 고민하기 시작하면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과연 빈곤이라는 것이 무엇인가 라는 원초적인 질문을 하게 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이에 대해 우리 사회는 한 가지로 통일된 답을 갖고 있지 않다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의식주를 고려하여 절대적 기준을 정해 놓고 이를 구입하기에 충분하지 못한 소득을 가진 사람을 빈곤한 사람이라고 </a:t>
            </a:r>
            <a:r>
              <a:rPr lang="ko-KR" altLang="en-US" sz="1600" spc="-50" dirty="0" err="1"/>
              <a:t>간주해야한다는</a:t>
            </a:r>
            <a:r>
              <a:rPr lang="ko-KR" altLang="en-US" sz="1600" spc="-50" dirty="0"/>
              <a:t> 의견이 있을 수 있고</a:t>
            </a:r>
            <a:r>
              <a:rPr lang="en-US" altLang="ko-KR" sz="1600" spc="-50" dirty="0"/>
              <a:t>,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모두가 풍요로운 생활을 하고 있는 사회 일지라도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상대적으로 빈곤층이 있을 수 있음을 지적하기도 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한편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빈곤을 주관적으로 평가할 수도 있다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최소한의 생활도 유지하지 못하는 소득을 가지고 있지만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자신은 빈곤하지 않다고 주장하는 사람이 있을 수 있는데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이 경우 빈곤을 평가하기란 무척 힘들다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243390816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EC384B-A2EA-EF8C-A505-DFBCB6FE3E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0A4B746-BA0F-6479-392D-091BE1CF0D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절대적이며 객관적인 기준에 의한 빈곤선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24A986E-DF44-BDE3-E605-16C01402C2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48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201900F-75AD-9573-DEC2-0E918EEEE2B1}"/>
              </a:ext>
            </a:extLst>
          </p:cNvPr>
          <p:cNvSpPr txBox="1"/>
          <p:nvPr/>
        </p:nvSpPr>
        <p:spPr>
          <a:xfrm>
            <a:off x="288790" y="958844"/>
            <a:ext cx="11250267" cy="5215338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영국의 </a:t>
            </a:r>
            <a:r>
              <a:rPr lang="ko-KR" altLang="en-US" sz="1600" spc="-50" dirty="0" err="1"/>
              <a:t>라운트리</a:t>
            </a:r>
            <a:r>
              <a:rPr lang="ko-KR" altLang="en-US" sz="1600" spc="-50" dirty="0"/>
              <a:t> </a:t>
            </a:r>
            <a:r>
              <a:rPr lang="en-US" altLang="ko-KR" sz="1600" spc="-50" dirty="0"/>
              <a:t>(S. Rowntree) </a:t>
            </a:r>
            <a:r>
              <a:rPr lang="ko-KR" altLang="en-US" sz="1600" spc="-50" dirty="0"/>
              <a:t>학자는 </a:t>
            </a:r>
            <a:r>
              <a:rPr lang="en-US" altLang="ko-KR" sz="1600" spc="-50" dirty="0"/>
              <a:t>1899</a:t>
            </a:r>
            <a:r>
              <a:rPr lang="ko-KR" altLang="en-US" sz="1600" spc="-50" dirty="0"/>
              <a:t>년 요크</a:t>
            </a:r>
            <a:r>
              <a:rPr lang="en-US" altLang="ko-KR" sz="1600" spc="-50" dirty="0"/>
              <a:t>(York) </a:t>
            </a:r>
            <a:r>
              <a:rPr lang="ko-KR" altLang="en-US" sz="1600" spc="-50" dirty="0"/>
              <a:t>지역 주민 대상으로 최소한의 생활에 필요한 소득을 조사하였다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주택임대료 </a:t>
            </a:r>
            <a:r>
              <a:rPr lang="en-US" altLang="ko-KR" sz="1600" spc="-50" dirty="0"/>
              <a:t>(17</a:t>
            </a:r>
            <a:r>
              <a:rPr lang="ko-KR" altLang="en-US" sz="1600" spc="-50" dirty="0"/>
              <a:t>실링 </a:t>
            </a:r>
            <a:r>
              <a:rPr lang="en-US" altLang="ko-KR" sz="1600" spc="-50" dirty="0"/>
              <a:t>8</a:t>
            </a:r>
            <a:r>
              <a:rPr lang="ko-KR" altLang="en-US" sz="1600" spc="-50" dirty="0"/>
              <a:t>펜스</a:t>
            </a:r>
            <a:r>
              <a:rPr lang="en-US" altLang="ko-KR" sz="1600" spc="-50" dirty="0"/>
              <a:t>), </a:t>
            </a:r>
            <a:r>
              <a:rPr lang="ko-KR" altLang="en-US" sz="1600" spc="-50" dirty="0"/>
              <a:t>음식 </a:t>
            </a:r>
            <a:r>
              <a:rPr lang="en-US" altLang="ko-KR" sz="1600" spc="-50" dirty="0"/>
              <a:t>(12</a:t>
            </a:r>
            <a:r>
              <a:rPr lang="ko-KR" altLang="en-US" sz="1600" spc="-50" dirty="0"/>
              <a:t>실링 </a:t>
            </a:r>
            <a:r>
              <a:rPr lang="en-US" altLang="ko-KR" sz="1600" spc="-50" dirty="0"/>
              <a:t>9</a:t>
            </a:r>
            <a:r>
              <a:rPr lang="ko-KR" altLang="en-US" sz="1600" spc="-50" dirty="0"/>
              <a:t>펜스</a:t>
            </a:r>
            <a:r>
              <a:rPr lang="en-US" altLang="ko-KR" sz="1600" spc="-50" dirty="0"/>
              <a:t>), </a:t>
            </a:r>
            <a:r>
              <a:rPr lang="ko-KR" altLang="en-US" sz="1600" spc="-50" dirty="0"/>
              <a:t>옷 </a:t>
            </a:r>
            <a:r>
              <a:rPr lang="en-US" altLang="ko-KR" sz="1600" spc="-50" dirty="0"/>
              <a:t>(2</a:t>
            </a:r>
            <a:r>
              <a:rPr lang="ko-KR" altLang="en-US" sz="1600" spc="-50" dirty="0"/>
              <a:t>실링 </a:t>
            </a:r>
            <a:r>
              <a:rPr lang="en-US" altLang="ko-KR" sz="1600" spc="-50" dirty="0"/>
              <a:t>3</a:t>
            </a:r>
            <a:r>
              <a:rPr lang="ko-KR" altLang="en-US" sz="1600" spc="-50" dirty="0"/>
              <a:t>펜스</a:t>
            </a:r>
            <a:r>
              <a:rPr lang="en-US" altLang="ko-KR" sz="1600" spc="-50" dirty="0"/>
              <a:t>), </a:t>
            </a:r>
            <a:r>
              <a:rPr lang="ko-KR" altLang="en-US" sz="1600" spc="-50" dirty="0"/>
              <a:t>연료비 </a:t>
            </a:r>
            <a:r>
              <a:rPr lang="en-US" altLang="ko-KR" sz="1600" spc="-50" dirty="0"/>
              <a:t>(1</a:t>
            </a:r>
            <a:r>
              <a:rPr lang="ko-KR" altLang="en-US" sz="1600" spc="-50" dirty="0"/>
              <a:t>실링 </a:t>
            </a:r>
            <a:r>
              <a:rPr lang="en-US" altLang="ko-KR" sz="1600" spc="-50" dirty="0"/>
              <a:t>10</a:t>
            </a:r>
            <a:r>
              <a:rPr lang="ko-KR" altLang="en-US" sz="1600" spc="-50" dirty="0"/>
              <a:t>펜스</a:t>
            </a:r>
            <a:r>
              <a:rPr lang="en-US" altLang="ko-KR" sz="1600" spc="-50" dirty="0"/>
              <a:t>), </a:t>
            </a:r>
            <a:r>
              <a:rPr lang="ko-KR" altLang="en-US" sz="1600" spc="-50" dirty="0"/>
              <a:t>기타 </a:t>
            </a:r>
            <a:r>
              <a:rPr lang="en-US" altLang="ko-KR" sz="1600" spc="-50" dirty="0"/>
              <a:t>(10</a:t>
            </a:r>
            <a:r>
              <a:rPr lang="ko-KR" altLang="en-US" sz="1600" spc="-50" dirty="0"/>
              <a:t>펜스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 항목으로 조사하였다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이러한 방식을 우리는 </a:t>
            </a:r>
            <a:r>
              <a:rPr lang="ko-KR" altLang="en-US" sz="1600" b="1" spc="-50" dirty="0" err="1"/>
              <a:t>라운트리</a:t>
            </a:r>
            <a:r>
              <a:rPr lang="ko-KR" altLang="en-US" sz="1600" b="1" spc="-50" dirty="0"/>
              <a:t> 방식</a:t>
            </a:r>
            <a:r>
              <a:rPr lang="ko-KR" altLang="en-US" sz="1600" spc="-50" dirty="0"/>
              <a:t>이라고 부르며</a:t>
            </a:r>
            <a:r>
              <a:rPr lang="en-US" altLang="ko-KR" sz="1600" spc="-50" dirty="0"/>
              <a:t>, </a:t>
            </a:r>
            <a:r>
              <a:rPr lang="ko-KR" altLang="en-US" sz="1600" spc="-50" dirty="0" err="1"/>
              <a:t>라운트리</a:t>
            </a:r>
            <a:r>
              <a:rPr lang="ko-KR" altLang="en-US" sz="1600" spc="-50" dirty="0"/>
              <a:t> 이후로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최소한의 의식주라는 관점에서 빈곤선을 산출해왔다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절대적이고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객관적인 기준에 의해 빈곤을 보고 있다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이 방법이 갖는 문제점은 기본적 필요라는 것이 구체적으로 무엇을 의미하는지 분명하지 않다는 데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인간이 생물적으로 살아남는 데 필요한 자원은 물론이며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사회적 생존을 위해 필요한 자원도 포함되어야 한다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간신히 굶지 않고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얼어 죽지 않을 만큼만 살아가고 있는 사람은 거의 죽은 사람이나 다름이 없다고 봐야 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사회적 생존을 위해 필요한 자원을 구체적으로 알아내는 것은 주관적이며</a:t>
            </a:r>
            <a:r>
              <a:rPr lang="en-US" altLang="ko-KR" sz="1600" spc="-50" dirty="0"/>
              <a:t>,</a:t>
            </a:r>
            <a:r>
              <a:rPr lang="ko-KR" altLang="en-US" sz="1600" spc="-50" dirty="0"/>
              <a:t> 대단히 힘들다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미국의 사회보장청은 다음과 같은 방법으로 이 문제를 피해 가고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우선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미국의 일반적인 저소득층이 전 지출의 </a:t>
            </a:r>
            <a:r>
              <a:rPr lang="en-US" altLang="ko-KR" sz="1600" spc="-50" dirty="0"/>
              <a:t>1/3</a:t>
            </a:r>
            <a:r>
              <a:rPr lang="ko-KR" altLang="en-US" sz="1600" spc="-50" dirty="0"/>
              <a:t>을 식품 구입에 사용하고 있다는 것이 통계적으로 밝혀져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이 사실을 통해 식품과 관련된 최저생계비를 산출한 후에 </a:t>
            </a:r>
            <a:r>
              <a:rPr lang="en-US" altLang="ko-KR" sz="1600" spc="-50" dirty="0"/>
              <a:t>3</a:t>
            </a:r>
            <a:r>
              <a:rPr lang="ko-KR" altLang="en-US" sz="1600" spc="-50" dirty="0"/>
              <a:t>을 곱한 금액을 전체 최저생계비로 잡고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사회적 생존에 필요한 지출을 직접 계산하는 것이 아니고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저소득층의 지출양식을 통해 간접적으로 유추하는 것이다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924228272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BB8E02-1711-0AC3-75F4-330243F90E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0C9BA87-D0E3-CF8A-2A20-700F540D00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상대적이며 객관적인 기준에 의한 빈곤선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9C30D31-1353-1854-0BF0-A5E47DB202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49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73956C0-19BF-CFE5-8313-C8CF28C3DF51}"/>
              </a:ext>
            </a:extLst>
          </p:cNvPr>
          <p:cNvSpPr txBox="1"/>
          <p:nvPr/>
        </p:nvSpPr>
        <p:spPr>
          <a:xfrm>
            <a:off x="288790" y="958844"/>
            <a:ext cx="11250267" cy="2260683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빈곤을 절대적인 것이 아니라 상대적인 것으로 파악해야 한다는 입장에서 보면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그 사회의 평균적인 생활수준과 관련해 빈곤을 정의할 수 있다</a:t>
            </a:r>
            <a:r>
              <a:rPr lang="en-US" altLang="ko-KR" sz="1600" spc="-50" dirty="0"/>
              <a:t>. </a:t>
            </a:r>
            <a:r>
              <a:rPr lang="ko-KR" altLang="en-US" sz="1600" spc="-50" dirty="0"/>
              <a:t>여러 방법이 있겠지만 아래와 같은 방법이 대표적으로 쓰이고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평균소득 혹은 중위소득의 일정비율을 빈곤선으로 잡을 수 있다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예를 들면 그 사회의 중위소득이 얼마인지 알아내고 그것의 </a:t>
            </a:r>
            <a:r>
              <a:rPr lang="en-US" altLang="ko-KR" sz="1600" spc="-50" dirty="0"/>
              <a:t>50% </a:t>
            </a:r>
            <a:r>
              <a:rPr lang="ko-KR" altLang="en-US" sz="1600" spc="-50" dirty="0"/>
              <a:t>혹은 </a:t>
            </a:r>
            <a:r>
              <a:rPr lang="en-US" altLang="ko-KR" sz="1600" spc="-50" dirty="0"/>
              <a:t>30% </a:t>
            </a:r>
            <a:r>
              <a:rPr lang="ko-KR" altLang="en-US" sz="1600" spc="-50" dirty="0"/>
              <a:t>수준을 빈곤선으로 설정할 수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사회 구성원을 소득순으로 나열한 뒤에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소득 수준이 낮은 몇</a:t>
            </a:r>
            <a:r>
              <a:rPr lang="en-US" altLang="ko-KR" sz="1600" spc="-50" dirty="0"/>
              <a:t>%</a:t>
            </a:r>
            <a:r>
              <a:rPr lang="ko-KR" altLang="en-US" sz="1600" spc="-50" dirty="0"/>
              <a:t>의 사람을 빈곤층으로 간주하는 것이다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예를 들면 소득이 낮은 </a:t>
            </a:r>
            <a:r>
              <a:rPr lang="en-US" altLang="ko-KR" sz="1600" spc="-50" dirty="0"/>
              <a:t>20%</a:t>
            </a:r>
            <a:r>
              <a:rPr lang="ko-KR" altLang="en-US" sz="1600" spc="-50" dirty="0"/>
              <a:t>의 사람들을 빈곤층이라고 간주하는 것이다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4016974101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BDE100-0D22-B429-B4E0-B7EE94193F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05DDA49-AA79-1335-F2DD-E23AE20138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주관적인 기준에 의한 빈곤선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05A065E-F873-545C-EA2E-B640741656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50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72DA3D3-EA55-E462-DC4C-956DDF6605F6}"/>
              </a:ext>
            </a:extLst>
          </p:cNvPr>
          <p:cNvSpPr txBox="1"/>
          <p:nvPr/>
        </p:nvSpPr>
        <p:spPr>
          <a:xfrm>
            <a:off x="288790" y="958844"/>
            <a:ext cx="11250267" cy="263001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지금까지 알아본 객관적인 방법과 달리 주관적인 평가를 토대로 빈곤을 정의할 수도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가장 대표적인 방법이 설문조사의 결과에 입각하여 빈곤선을 알아내는 방법이다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첫째 유형으로는 제</a:t>
            </a:r>
            <a:r>
              <a:rPr lang="en-US" altLang="ko-KR" sz="1600" spc="-50" dirty="0"/>
              <a:t>3</a:t>
            </a:r>
            <a:r>
              <a:rPr lang="ko-KR" altLang="en-US" sz="1600" spc="-50" dirty="0"/>
              <a:t>자적 소견을 묻는 경우로서</a:t>
            </a:r>
            <a:r>
              <a:rPr lang="en-US" altLang="ko-KR" sz="1600" spc="-50" dirty="0"/>
              <a:t>, “</a:t>
            </a:r>
            <a:r>
              <a:rPr lang="ko-KR" altLang="en-US" sz="1600" spc="-50" dirty="0"/>
              <a:t>당신이 사는 지역에서 </a:t>
            </a:r>
            <a:r>
              <a:rPr lang="en-US" altLang="ko-KR" sz="1600" spc="-50" dirty="0"/>
              <a:t>4</a:t>
            </a:r>
            <a:r>
              <a:rPr lang="ko-KR" altLang="en-US" sz="1600" spc="-50" dirty="0"/>
              <a:t>인 가족이 근근이 살아가기에 필요한 최소한의 소득은 얼마입니까</a:t>
            </a:r>
            <a:r>
              <a:rPr lang="en-US" altLang="ko-KR" sz="1600" spc="-50" dirty="0"/>
              <a:t>?” </a:t>
            </a:r>
            <a:r>
              <a:rPr lang="ko-KR" altLang="en-US" sz="1600" spc="-50" dirty="0"/>
              <a:t>라는 식으로 제</a:t>
            </a:r>
            <a:r>
              <a:rPr lang="en-US" altLang="ko-KR" sz="1600" spc="-50" dirty="0"/>
              <a:t>3</a:t>
            </a:r>
            <a:r>
              <a:rPr lang="ko-KR" altLang="en-US" sz="1600" spc="-50" dirty="0"/>
              <a:t>자적 소견을 묻는 경우다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둘째 유형으로는 사람들에게 자신의 여건에 입각해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최소한으로 필요한 소득이 얼마인지 묻는 방식이다</a:t>
            </a:r>
            <a:r>
              <a:rPr lang="en-US" altLang="ko-KR" sz="1600" spc="-50" dirty="0"/>
              <a:t>. (</a:t>
            </a:r>
            <a:r>
              <a:rPr lang="ko-KR" altLang="en-US" sz="1600" spc="-50" dirty="0" err="1"/>
              <a:t>라이덴</a:t>
            </a:r>
            <a:r>
              <a:rPr lang="ko-KR" altLang="en-US" sz="1600" spc="-50" dirty="0"/>
              <a:t> 대학교에서 개발하여 </a:t>
            </a:r>
            <a:r>
              <a:rPr lang="ko-KR" altLang="en-US" sz="1600" spc="-50" dirty="0" err="1"/>
              <a:t>라이덴</a:t>
            </a:r>
            <a:r>
              <a:rPr lang="ko-KR" altLang="en-US" sz="1600" spc="-50" dirty="0"/>
              <a:t> 방식이라고 부르기도 한다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spc="-50" dirty="0"/>
          </a:p>
        </p:txBody>
      </p:sp>
    </p:spTree>
    <p:extLst>
      <p:ext uri="{BB962C8B-B14F-4D97-AF65-F5344CB8AC3E}">
        <p14:creationId xmlns:p14="http://schemas.microsoft.com/office/powerpoint/2010/main" val="1563459701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E0678B-2C54-F543-2A64-B6197C364E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8CFB745-5DE7-23ED-764A-03F2033A30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정책적인 빈곤선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2D00A29-5F89-C886-A807-AC70C3ADF4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51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6225294-83CB-18CF-D0BF-3229553C8AA7}"/>
              </a:ext>
            </a:extLst>
          </p:cNvPr>
          <p:cNvSpPr txBox="1"/>
          <p:nvPr/>
        </p:nvSpPr>
        <p:spPr>
          <a:xfrm>
            <a:off x="288790" y="958844"/>
            <a:ext cx="11250267" cy="3368679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앞서 순수한 이론적 관점에서 빈곤을 정의하려는 접근법과 달리 정책적 접근법을 활용할 수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사회의 전반적인 경제적 능력과 그 사회에서 빈곤을 퇴치하려고 하는 의지라는 두 요소에 기초하여 적절한 빈곤선을 선택하는 것이다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우리나라의 경우 앞서 설명한 </a:t>
            </a:r>
            <a:r>
              <a:rPr lang="ko-KR" altLang="en-US" sz="1600" spc="-50" dirty="0" err="1"/>
              <a:t>국민기초생활보장제도를</a:t>
            </a:r>
            <a:r>
              <a:rPr lang="ko-KR" altLang="en-US" sz="1600" spc="-50" dirty="0"/>
              <a:t> 예로 들면</a:t>
            </a:r>
            <a:r>
              <a:rPr lang="en-US" altLang="ko-KR" sz="1600" spc="-50" dirty="0"/>
              <a:t>, 2025</a:t>
            </a:r>
            <a:r>
              <a:rPr lang="ko-KR" altLang="en-US" sz="1600" spc="-50" dirty="0"/>
              <a:t>년 생계급여를 지급 받기 위한 기준소득은 </a:t>
            </a:r>
            <a:r>
              <a:rPr lang="en-US" altLang="ko-KR" sz="1600" spc="-50" dirty="0"/>
              <a:t>4</a:t>
            </a:r>
            <a:r>
              <a:rPr lang="ko-KR" altLang="en-US" sz="1600" spc="-50" dirty="0"/>
              <a:t>인 가구 기준 월 </a:t>
            </a:r>
            <a:r>
              <a:rPr lang="en-US" altLang="ko-KR" sz="1600" spc="-50" dirty="0"/>
              <a:t>195</a:t>
            </a:r>
            <a:r>
              <a:rPr lang="ko-KR" altLang="en-US" sz="1600" spc="-50" dirty="0"/>
              <a:t>만원이다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이 금액이 합리적인 빈곤선의 기준이라고 볼 수 있는지에 대한 의문의 여지는 많이 있다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이 금액으로는 최소한의 생계유지가 불가능하다고 지적하는 것이다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정부도 그런 상황에 대한 지적을 모르는 것이 아니지만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예산상의 제약 때문에 현실적인 수준으로 올리지 못할 수 있다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912252466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FF1F20-BFFD-8B79-CD45-D5E28C0186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E08CC498-F8E3-F728-A493-580FF322EA34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7A8933B-D2B8-04D3-E28B-3F7B949384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52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59F26F8B-5AC0-5DD7-76B0-9276D2D7286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3765550"/>
            <a:ext cx="11150600" cy="65281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Section 4</a:t>
            </a:r>
            <a:r>
              <a:rPr lang="en-US" altLang="ko-KR" sz="4000" b="1" i="0" spc="150"/>
              <a:t>. </a:t>
            </a:r>
            <a:r>
              <a:rPr lang="ko-KR" altLang="en-US" sz="4000" b="1" i="0" spc="150"/>
              <a:t>재분배정책과 효율성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715861017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CE1F9D-D2C2-8892-CF3D-3C5B8C9D06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5BC7766-70D3-029D-9D16-4236757284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재분배정책과 효율성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739D1CB-86FE-F78F-0C64-70966FFB7E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53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45AEA97-186D-4C10-C99C-03FFD6B04DC1}"/>
              </a:ext>
            </a:extLst>
          </p:cNvPr>
          <p:cNvSpPr txBox="1"/>
          <p:nvPr/>
        </p:nvSpPr>
        <p:spPr>
          <a:xfrm>
            <a:off x="288790" y="958844"/>
            <a:ext cx="11250267" cy="5215338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재분배정책이 갖는 가장 큰 문제는 최소한 단기적으로 경제의 효율성을 감소시킨다는 점이다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단적으로 생각해보면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국가가 모든 사람의 생계를 책임진다면 사람들은 일하려는 동기가 없다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‘</a:t>
            </a:r>
            <a:r>
              <a:rPr lang="ko-KR" altLang="en-US" sz="1600" spc="-50" dirty="0" err="1"/>
              <a:t>복지병</a:t>
            </a:r>
            <a:r>
              <a:rPr lang="en-US" altLang="ko-KR" sz="1600" spc="-50" dirty="0"/>
              <a:t>’ </a:t>
            </a:r>
            <a:r>
              <a:rPr lang="ko-KR" altLang="en-US" sz="1600" spc="-50" dirty="0"/>
              <a:t>이라는 말은 이런 병리현상을 잘 표현하고 있다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그러나 공평한 분배를 지향하는 정부의 모든 정책이 효율성 감소를 가져오지는 않는다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정책에 따라서 재분배정책이 공평성뿐 아니라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효율성 측면에서도 긍정적인 효과를 낼 수 있다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예를 들어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정부가 그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사회에 만연해 있는 차별을 철폐하여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차별 받고 있는 사람들이 능력을 발휘할 수 있는 일을 가질 수 있게 한다면 공평성과 효율성 모든 측면에서 긍정적인 효과가 나타나는 것이다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또한 장기적인 시각에서 보면 공평성과 효율성은 보완적인 관계가 될 가능성이 크다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 err="1"/>
              <a:t>써로</a:t>
            </a:r>
            <a:r>
              <a:rPr lang="ko-KR" altLang="en-US" sz="1600" spc="-50" dirty="0"/>
              <a:t> </a:t>
            </a:r>
            <a:r>
              <a:rPr lang="en-US" altLang="ko-KR" sz="1600" spc="-50" dirty="0"/>
              <a:t>(L. </a:t>
            </a:r>
            <a:r>
              <a:rPr lang="en-US" altLang="ko-KR" sz="1600" spc="-50" dirty="0" err="1"/>
              <a:t>Thruow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는 주류경제학의 이론이 경제의 장기발전에 필수적인 요소 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동기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협동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팀워크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를 간과하고 있다고 지적한다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altLang="ko-KR" sz="1600" spc="-50" dirty="0"/>
              <a:t>3</a:t>
            </a:r>
            <a:r>
              <a:rPr lang="ko-KR" altLang="en-US" sz="1600" spc="-50" dirty="0"/>
              <a:t>가지 필수요소가 잘 발휘되기 위해서는 사회구성원들이 공평한 대우를 받고 있다는 느낌을 갖고 있어야 한다고 말한다</a:t>
            </a:r>
            <a:r>
              <a:rPr lang="en-US" altLang="ko-KR" sz="1600" spc="-50"/>
              <a:t>.</a:t>
            </a:r>
            <a:endParaRPr lang="en-US" altLang="ko-KR" sz="1600" spc="-50" dirty="0"/>
          </a:p>
        </p:txBody>
      </p:sp>
    </p:spTree>
    <p:extLst>
      <p:ext uri="{BB962C8B-B14F-4D97-AF65-F5344CB8AC3E}">
        <p14:creationId xmlns:p14="http://schemas.microsoft.com/office/powerpoint/2010/main" val="1088023555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C8B0EB-74B1-B51C-A4E6-7DD41C0B04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C524993C-D1C3-8436-D8C1-21698BE6D1B3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051A9577-CCBA-F474-5E82-99100C452E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9"/>
            <a:ext cx="10515600" cy="2134292"/>
          </a:xfrm>
          <a:effectLst>
            <a:reflection blurRad="50800" stA="45000" endPos="44000" dir="5400000" sy="-100000" algn="bl" rotWithShape="0"/>
          </a:effectLst>
        </p:spPr>
        <p:txBody>
          <a:bodyPr/>
          <a:lstStyle/>
          <a:p>
            <a:r>
              <a:rPr lang="en-US" altLang="ko-KR" b="1" i="0" spc="150">
                <a:solidFill>
                  <a:schemeClr val="accent2"/>
                </a:solidFill>
              </a:rPr>
              <a:t>T</a:t>
            </a:r>
            <a:r>
              <a:rPr lang="en-US" altLang="ko-KR" sz="5400" i="0" spc="100"/>
              <a:t>hank you</a:t>
            </a:r>
            <a:endParaRPr lang="ko-KR" altLang="en-US" sz="5400" i="0" spc="10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F4898E0-926C-D8DA-8874-21A66F64BB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54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3040487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사용자 지정 6">
      <a:dk1>
        <a:srgbClr val="262626"/>
      </a:dk1>
      <a:lt1>
        <a:sysClr val="window" lastClr="FFFFFF"/>
      </a:lt1>
      <a:dk2>
        <a:srgbClr val="262626"/>
      </a:dk2>
      <a:lt2>
        <a:srgbClr val="EFEFEF"/>
      </a:lt2>
      <a:accent1>
        <a:srgbClr val="2D72BE"/>
      </a:accent1>
      <a:accent2>
        <a:srgbClr val="E15F5F"/>
      </a:accent2>
      <a:accent3>
        <a:srgbClr val="DA9D6D"/>
      </a:accent3>
      <a:accent4>
        <a:srgbClr val="009AB7"/>
      </a:accent4>
      <a:accent5>
        <a:srgbClr val="FF6600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14266</TotalTime>
  <Words>5639</Words>
  <Application>Microsoft Office PowerPoint</Application>
  <PresentationFormat>와이드스크린</PresentationFormat>
  <Paragraphs>503</Paragraphs>
  <Slides>54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6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54</vt:i4>
      </vt:variant>
    </vt:vector>
  </HeadingPairs>
  <TitlesOfParts>
    <vt:vector size="61" baseType="lpstr">
      <vt:lpstr>HY헤드라인M</vt:lpstr>
      <vt:lpstr>KoPub돋움체 Light</vt:lpstr>
      <vt:lpstr>맑은 고딕</vt:lpstr>
      <vt:lpstr>Arial</vt:lpstr>
      <vt:lpstr>Cambria Math</vt:lpstr>
      <vt:lpstr>Wingdings</vt:lpstr>
      <vt:lpstr>Office 테마</vt:lpstr>
      <vt:lpstr>재 정 학</vt:lpstr>
      <vt:lpstr>Chapter 10  사회보험제도</vt:lpstr>
      <vt:lpstr>Section 1. 사회보험제도의 의미</vt:lpstr>
      <vt:lpstr>사회보험제도의 의미</vt:lpstr>
      <vt:lpstr>사회보험제도의 의미</vt:lpstr>
      <vt:lpstr>사회보험제도의 의미</vt:lpstr>
      <vt:lpstr>Section 2. 국민연금제도의 기본성격</vt:lpstr>
      <vt:lpstr>중복세대의 모형</vt:lpstr>
      <vt:lpstr>중복세대의 모형</vt:lpstr>
      <vt:lpstr>국민연금제도의 의의</vt:lpstr>
      <vt:lpstr>국민연금제도의 의의</vt:lpstr>
      <vt:lpstr>국민연금제도의 의의</vt:lpstr>
      <vt:lpstr>국민연금제도의 의의</vt:lpstr>
      <vt:lpstr>Section 3. 국민연금제도 관련 중요쟁점</vt:lpstr>
      <vt:lpstr>사회보험제도의 의미</vt:lpstr>
      <vt:lpstr>강제적이고 공적이 해결방식의 필요성</vt:lpstr>
      <vt:lpstr>강제적이고 공적이 해결방식의 필요성</vt:lpstr>
      <vt:lpstr>적립방식과 부과방식</vt:lpstr>
      <vt:lpstr>적립방식과 부과방식</vt:lpstr>
      <vt:lpstr>적립방식과 부과방식</vt:lpstr>
      <vt:lpstr>재분배적 요소</vt:lpstr>
      <vt:lpstr>목적세 부과의 필요성</vt:lpstr>
      <vt:lpstr>합리적인 연금 급여수준의 문제</vt:lpstr>
      <vt:lpstr>Section 4. 국민연금제도의 경제적 효과</vt:lpstr>
      <vt:lpstr>Section 5. 우리나라의 국민연금제도</vt:lpstr>
      <vt:lpstr>Section 6. 건강보험제도의 기본성격</vt:lpstr>
      <vt:lpstr>Section 7. 우리나라의 국민건강보험제도</vt:lpstr>
      <vt:lpstr>재분배정책에 대한 찬반의견</vt:lpstr>
      <vt:lpstr>재분배정책에 대한 찬반의견</vt:lpstr>
      <vt:lpstr>재분배정책에 대한 찬반의견</vt:lpstr>
      <vt:lpstr>Section 2. 재분배정책의 실례</vt:lpstr>
      <vt:lpstr>일반적 조세제도</vt:lpstr>
      <vt:lpstr>일반적 조세제도</vt:lpstr>
      <vt:lpstr>사회복지제도</vt:lpstr>
      <vt:lpstr>사회복지제도</vt:lpstr>
      <vt:lpstr>사회복지제도</vt:lpstr>
      <vt:lpstr>부의 소득세제</vt:lpstr>
      <vt:lpstr>부의 소득세제</vt:lpstr>
      <vt:lpstr>부의 소득세제</vt:lpstr>
      <vt:lpstr>부의 소득세제</vt:lpstr>
      <vt:lpstr>근로장려세제</vt:lpstr>
      <vt:lpstr>근로장려세제</vt:lpstr>
      <vt:lpstr>근로장려세제</vt:lpstr>
      <vt:lpstr>기본소득제도</vt:lpstr>
      <vt:lpstr>기본소득제도</vt:lpstr>
      <vt:lpstr>Section 3. 빈곤선의 결정</vt:lpstr>
      <vt:lpstr>빈곤선의 결정</vt:lpstr>
      <vt:lpstr>절대적이며 객관적인 기준에 의한 빈곤선</vt:lpstr>
      <vt:lpstr>상대적이며 객관적인 기준에 의한 빈곤선</vt:lpstr>
      <vt:lpstr>주관적인 기준에 의한 빈곤선</vt:lpstr>
      <vt:lpstr>정책적인 빈곤선</vt:lpstr>
      <vt:lpstr>Section 4. 재분배정책과 효율성</vt:lpstr>
      <vt:lpstr>재분배정책과 효율성</vt:lpstr>
      <vt:lpstr>Thank you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Minyoung Roh</dc:creator>
  <cp:lastModifiedBy>Seungho Jeon</cp:lastModifiedBy>
  <cp:revision>621</cp:revision>
  <dcterms:created xsi:type="dcterms:W3CDTF">2025-07-05T05:15:23Z</dcterms:created>
  <dcterms:modified xsi:type="dcterms:W3CDTF">2026-04-02T01:25:46Z</dcterms:modified>
</cp:coreProperties>
</file>