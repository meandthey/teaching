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2"/>
  </p:notesMasterIdLst>
  <p:sldIdLst>
    <p:sldId id="375" r:id="rId2"/>
    <p:sldId id="405" r:id="rId3"/>
    <p:sldId id="550" r:id="rId4"/>
    <p:sldId id="552" r:id="rId5"/>
    <p:sldId id="758" r:id="rId6"/>
    <p:sldId id="759" r:id="rId7"/>
    <p:sldId id="752" r:id="rId8"/>
    <p:sldId id="760" r:id="rId9"/>
    <p:sldId id="761" r:id="rId10"/>
    <p:sldId id="762" r:id="rId11"/>
    <p:sldId id="763" r:id="rId12"/>
    <p:sldId id="765" r:id="rId13"/>
    <p:sldId id="764" r:id="rId14"/>
    <p:sldId id="753" r:id="rId15"/>
    <p:sldId id="766" r:id="rId16"/>
    <p:sldId id="767" r:id="rId17"/>
    <p:sldId id="768" r:id="rId18"/>
    <p:sldId id="769" r:id="rId19"/>
    <p:sldId id="770" r:id="rId20"/>
    <p:sldId id="771" r:id="rId21"/>
    <p:sldId id="772" r:id="rId22"/>
    <p:sldId id="773" r:id="rId23"/>
    <p:sldId id="774" r:id="rId24"/>
    <p:sldId id="754" r:id="rId25"/>
    <p:sldId id="775" r:id="rId26"/>
    <p:sldId id="776" r:id="rId27"/>
    <p:sldId id="778" r:id="rId28"/>
    <p:sldId id="755" r:id="rId29"/>
    <p:sldId id="779" r:id="rId30"/>
    <p:sldId id="780" r:id="rId31"/>
    <p:sldId id="781" r:id="rId32"/>
    <p:sldId id="782" r:id="rId33"/>
    <p:sldId id="783" r:id="rId34"/>
    <p:sldId id="784" r:id="rId35"/>
    <p:sldId id="785" r:id="rId36"/>
    <p:sldId id="786" r:id="rId37"/>
    <p:sldId id="787" r:id="rId38"/>
    <p:sldId id="756" r:id="rId39"/>
    <p:sldId id="788" r:id="rId40"/>
    <p:sldId id="789" r:id="rId41"/>
    <p:sldId id="790" r:id="rId42"/>
    <p:sldId id="791" r:id="rId43"/>
    <p:sldId id="757" r:id="rId44"/>
    <p:sldId id="792" r:id="rId45"/>
    <p:sldId id="793" r:id="rId46"/>
    <p:sldId id="794" r:id="rId47"/>
    <p:sldId id="795" r:id="rId48"/>
    <p:sldId id="796" r:id="rId49"/>
    <p:sldId id="797" r:id="rId50"/>
    <p:sldId id="364" r:id="rId5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72BE"/>
    <a:srgbClr val="E15F5F"/>
    <a:srgbClr val="F8F7FC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740" y="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1159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1ECDA-1170-E0DC-18EB-393978A3C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6AE6AC-0AE5-31E3-E057-50C7BF7BE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CEBE2D-87CC-2D85-0BDE-402B795B2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CCDC17-813B-259A-29C4-D45934ADB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198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2BA03-DA04-13B3-8550-BA1E2F82E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190253-2E7A-09AA-C55A-19C58099F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C59E29-782A-A96F-19CA-2C375632E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3FE328-F92A-2CA0-15CA-AEDCBE449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434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3C30-8B79-8687-1601-7D9616740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DAA1AD-C9F0-68E2-8C85-CE76EEB2D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E12189-35E2-F46D-9FD0-CEDED7FD9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6AB2BB-FF8A-65E6-6B98-76E4BC45CF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279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237CD-3A7D-C5B1-C61B-18504DFC5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A9351B-A39C-CC80-19A1-CDF7C8521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527CFA-C136-EF74-5B44-B6B94A358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F97E62-4B9D-FF59-EB42-5DA0A35092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128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231E7-21B9-6B3A-A738-0EF710DA8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CEA2C2-1659-9630-D256-2B60ADF68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D45C12-09ED-A152-3D63-A92508A23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7B4978-CC79-79B1-32C4-B0CCB80C15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614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5A93C-EA83-95A6-F843-9E733E5BA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CA7752-7344-70A2-FB6C-DE0BDB34C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F64095-A881-A1A7-6603-DB2A30FC4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95D563-DC09-0144-AE02-BEE2E7311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158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799AA-1D2C-01D0-A841-119F79B7C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7D4377-9F75-9CE5-CF7C-FFB23EC561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956FE8-74EA-D706-0880-4EF7C9599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7DB9C4-A06F-32BE-92D1-E446CD98B7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305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6CA4A-EB0C-835E-1280-B0572AB2F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E91C22-994C-2075-1880-9892584F7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A5E363-9EEB-7BD0-CA84-C5DA18A79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1AFD0-1959-AD0A-952A-A736D7CCD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08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B1D3C-1CDC-6CE7-D8CC-51AAFE4A3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BE3877-5A25-3244-B6A4-1BC805119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478745-0E94-A5C9-C82F-F6BDC492D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44866F-58C4-EE2F-9207-83EA37230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9299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71998-8FB1-70EB-209E-379B0E93E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8DD251-2493-FF02-D711-1F5F9688F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965A5C-3637-59FB-8F34-39714A156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7F86F0-F17A-453E-0C1C-5B803EAE65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5748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0E16C-4DA5-3C0B-4198-16655FB11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CB3965-7DD0-D763-8D23-1C3F840FF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58E740-49D6-FC0F-1B26-F97FA9310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8F8CEB-63A8-005C-9C64-643BBB372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0357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F4BB9-9E59-395E-48C7-CDF041A6C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05C6EB-FA11-F3B4-A724-053885007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F99926-F3B0-11F0-D16C-0320FCC81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2D0734-42AF-B7E2-9267-C0D647A36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741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C66C-9BAB-9260-F2CE-F446BA37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98A256-7569-7CC2-8FAC-63AE782F2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C1FC5C-7528-1706-5AC7-7B50D05E7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0A1F2A-4700-4C4E-8190-F5F653E12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9245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9D7F5-3935-DA64-5CA3-F92EC1265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7A4F86-8BAC-28F2-CCE2-EDB1C0791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DB3068-4B42-6B80-2886-6A2176A281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7482D1-D2F2-BA2F-1B09-BEB199BDF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143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7BECA-931F-5210-24BD-A8A1940CA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48B348-274C-453B-8862-67C65088F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089E55-5EC4-36CB-D988-63EAA5E5D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14F199-9911-B3D7-29EB-9E31CBEF8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740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재 정 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- 10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10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사회보험제도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사회보험제도의 의미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사회보험제도의 의미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31E4DF-D5A4-61E7-1307-371A5A496859}"/>
              </a:ext>
            </a:extLst>
          </p:cNvPr>
          <p:cNvSpPr txBox="1"/>
          <p:nvPr/>
        </p:nvSpPr>
        <p:spPr>
          <a:xfrm>
            <a:off x="288790" y="958844"/>
            <a:ext cx="1125026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우리는 경제생활을 하면서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크고 작은 여러 위험에 노출되어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나이가 많아져 더 이상 일을 할 수 없거나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갑작스럽게 병이 생기거나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직장에서 부상을 당하는 등의 위험이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이런 위험에 대해 정부가 보험을 제공하는 것이 사회보험제도이다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사회보장기본법에는 </a:t>
            </a:r>
            <a:r>
              <a:rPr lang="en-US" altLang="ko-KR" sz="1600" spc="-50" dirty="0"/>
              <a:t>“</a:t>
            </a:r>
            <a:r>
              <a:rPr lang="ko-KR" altLang="en-US" sz="1600" spc="-50" dirty="0"/>
              <a:t>국민에게 발생하는 사회적 위험을 보험의 방식으로 대처함으로써 국민의 건강과 소득을 보장하는 제도</a:t>
            </a:r>
            <a:r>
              <a:rPr lang="en-US" altLang="ko-KR" sz="1600" spc="-50" dirty="0"/>
              <a:t>“ </a:t>
            </a:r>
            <a:r>
              <a:rPr lang="ko-KR" altLang="en-US" sz="1600" spc="-50" dirty="0"/>
              <a:t>라고 정의되어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아래와 같이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여러가지 이유로 민간부문에서의 보험시장이 완벽하지 못하여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개입할 필요가 생긴다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보험시장은 정보의 비대칭성을 전형적으로 갖고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역선택과 도덕적 해이 문제가 필연적으로 나타난다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완벽한 보험이란 일어날 수 있는 모든 가능성에 대해 완벽한 대비를 할 수 있게끔 만들어주는 것을 뜻한다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역선택과 도덕적 해이는 완벽한 보험을 제공할 수 없게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다시 말하면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완벽한 보험을 제공하는 보험회사가 있다면 수익성 악화로 문을 닫게 된다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위험의 종류에 따라 적절한 보험상품을 제공하는 것이 불가능한 경우가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민간 보험사 입장에서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노후의 생계를 위해 저축하고자 하는 사람에게 실질가치가 보장되는 연금보험 상품을 제공하는 것은 어려운 일이다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정부처럼 물가가 오를 때 세금을 더 많이 거둘 수 있는 것도 아니므로 실질가치 보장이 어렵다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2434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177E6-2BE2-8810-F89F-48E5362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A7A44D-A761-673A-4E43-DE33CE276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사회보험제도의 의미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2F3803-4273-D729-E62C-66D07D9E6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DCF3A8-8A08-DF37-1A5B-CD577B183587}"/>
              </a:ext>
            </a:extLst>
          </p:cNvPr>
          <p:cNvSpPr txBox="1"/>
          <p:nvPr/>
        </p:nvSpPr>
        <p:spPr>
          <a:xfrm>
            <a:off x="288790" y="958844"/>
            <a:ext cx="1125026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spc="-50" dirty="0"/>
              <a:t>보험시장이 잘 작동한다 하더라도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사람들이 근시안적으로 행동하여 위험에 대한 대비가 소홀해질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사람들은 위험에 직면하게 될 것을 짐작함에도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당장 보험료가 아까워 보험에 가입하지 않을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사소한 경우라면 무방할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생계 자체가 위협을 받게 되는 위험이라면 정부가 개입할 필요가 생긴다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spc="-50" dirty="0"/>
              <a:t>어떤 상품의 경우에는 모든 국민이 고루 누릴 수 있어야 하는 상품 평등주의 관점에서 정부가 개입할 필요가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아픈 사람은 소득과 관계없이 의료서비스 혜택을 누릴 수 있어야 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민간부문이 모든 의료보험을 운영하고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돈이 없어서 치료 받지 못하는 사람이 생길 수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운영하는 사회보험은 민간부문의 보험과 여러 측면에서 차이를 갖는다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사회보험은 강제성을 가진다</a:t>
            </a:r>
            <a:endParaRPr lang="en-US" altLang="ko-KR" sz="1600" spc="-50" dirty="0"/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일정한 조건을 갖춘 국민이면 반드시 사회보험에 가입하도록 되어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민간보험과는 달리 사회보험은 본인 외에도 고용주와 정부가 비용의 일부를 부담한다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민간보험은 가입자가 낸 보험료와 혜택이 밀접한 관련을 갖는데 반해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사회보험은 소득의 재분배적 성격이 가미되어 사회적 정합성과 개인적 공평성을 고려한다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https://www.4insure.or.kr/pbiz/feii/sinsDefIntroView.do</a:t>
            </a:r>
          </a:p>
        </p:txBody>
      </p:sp>
    </p:spTree>
    <p:extLst>
      <p:ext uri="{BB962C8B-B14F-4D97-AF65-F5344CB8AC3E}">
        <p14:creationId xmlns:p14="http://schemas.microsoft.com/office/powerpoint/2010/main" val="2724108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B5BBC-2173-0A91-45C7-3F99C44AA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1F982-0296-CCCD-0C64-398986AF2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사회보험제도의 의미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E964F4-122E-78EB-A96C-D340D809A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01E0BF-2701-6A9F-2294-3922ABA0E93C}"/>
              </a:ext>
            </a:extLst>
          </p:cNvPr>
          <p:cNvSpPr txBox="1"/>
          <p:nvPr/>
        </p:nvSpPr>
        <p:spPr>
          <a:xfrm>
            <a:off x="288790" y="958844"/>
            <a:ext cx="11250267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</a:t>
            </a:r>
            <a:r>
              <a:rPr lang="en-US" altLang="ko-KR" sz="1600" spc="-50" dirty="0"/>
              <a:t>Ch.9</a:t>
            </a:r>
            <a:r>
              <a:rPr lang="ko-KR" altLang="en-US" sz="1600" spc="-50" dirty="0"/>
              <a:t>에서 사회복지제도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사회보장제도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는 사회보험제도와 공공부조 프로그램으로 나누어 볼 수 있다고 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 그림은 사회보험제도를 포함한 우리나라의 전체적인 사회복지제도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사회보장제도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보여주고 있다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현재 우리나라는 사회보험제도 중 대표적으로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대 보험이라는 것이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국민연금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건강보험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고용보험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산재보험이다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사회보장제도에서 사회보험제도와 어깨를 나란히 하고 있는 것은 공공부조 프로그램인데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차이는 아래와 같다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8FB33C6-A189-8615-BF00-081949CE2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74" t="16241" r="10015" b="16674"/>
          <a:stretch>
            <a:fillRect/>
          </a:stretch>
        </p:blipFill>
        <p:spPr>
          <a:xfrm>
            <a:off x="6369716" y="4048260"/>
            <a:ext cx="5307129" cy="23876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8D2604-068E-9703-EA96-918F4740395F}"/>
              </a:ext>
            </a:extLst>
          </p:cNvPr>
          <p:cNvSpPr txBox="1"/>
          <p:nvPr/>
        </p:nvSpPr>
        <p:spPr>
          <a:xfrm>
            <a:off x="7721177" y="3429000"/>
            <a:ext cx="2543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우리나라의 사회보장제도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1204B4-142B-1F6B-58AA-3FFCB518699F}"/>
              </a:ext>
            </a:extLst>
          </p:cNvPr>
          <p:cNvSpPr txBox="1"/>
          <p:nvPr/>
        </p:nvSpPr>
        <p:spPr>
          <a:xfrm>
            <a:off x="288790" y="2853326"/>
            <a:ext cx="7146613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사회보험제도는 가입자들이 낸 보험료에 의해 운영이 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공공부조 프로그램은 정부의 일반 예산에서 재원이 충당된다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사회보험제도는 재분배효과를 적극적으로는 추구하지 못한다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공공부조 프로그램은 명확히 재분배효과를 지향하고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9705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79C92-A271-9EF1-D024-A336BAE36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1CD27C-B206-96C4-A0EB-3390E20F46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D716CE-62C5-58A3-4FB7-71D8824C3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7B6DC08-E49D-5E93-62E8-32DA7183B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국민연금제도의 기본성격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923750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AC2F7-3D24-4C16-439D-44B64B00F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B0F1A1-5AB4-7004-7A94-3121DC63E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중복세대의 모형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541E72-0DCE-06C0-389D-3A17C8C49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003A55-333F-0B98-577A-4D414D026D5D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250267" cy="52153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일단 국민연금제도는 기본적으로 정부가 강제저축을 통해 국민의 노후 생계를 보장해 주는 보편적 연금 프로그램이다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국민연금제도가 갖는 성격을 간단히 이해하고자 </a:t>
                </a:r>
                <a:r>
                  <a:rPr lang="ko-KR" altLang="en-US" sz="1600" spc="-50" dirty="0" err="1"/>
                  <a:t>새뮤엘슨의</a:t>
                </a:r>
                <a:r>
                  <a:rPr lang="ko-KR" altLang="en-US" sz="1600" spc="-50" dirty="0"/>
                  <a:t> </a:t>
                </a:r>
                <a:r>
                  <a:rPr lang="ko-KR" altLang="en-US" sz="1600" b="1" spc="-50" dirty="0"/>
                  <a:t>중복세대의 모형</a:t>
                </a:r>
                <a:r>
                  <a:rPr lang="ko-KR" altLang="en-US" sz="1600" spc="-50" dirty="0"/>
                  <a:t>을 살펴보자</a:t>
                </a:r>
                <a:r>
                  <a:rPr lang="en-US" altLang="ko-KR" sz="1600" spc="-50" dirty="0"/>
                  <a:t>. (P. Samuelson, 1958)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한 사회에 매 기간마다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1600" spc="-50" dirty="0"/>
                  <a:t>명의 사람들이 태어나고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사람은 두 기간에 걸쳐 생존한다고 가정한다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한 시점에서 보면 </a:t>
                </a:r>
                <a14:m>
                  <m:oMath xmlns:m="http://schemas.openxmlformats.org/officeDocument/2006/math"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1600" spc="-50" dirty="0"/>
                  <a:t> 명의 사람들이 살고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 중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1600" spc="-50" dirty="0"/>
                  <a:t>명은 젊은 세대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나머지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1600" spc="-50" dirty="0"/>
                  <a:t>명은 나이 든 세대에 속하는 사람들이다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각 사람은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단위의 소비가능한 자원을 갖고 태어나는데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 자원은 그 기간에만 소비할 수 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다음 기간으로 넘겨 소비가 불가능하다고 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 단순한 경제에서 자원배분이 어떤 방식으로 이루어질지 생각해보면 우선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첫째로 생각할 수 있는 하나의 균형상태는 각자가 태어날 때 갖고 나온 자원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즉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단위의 </a:t>
                </a:r>
                <a:r>
                  <a:rPr lang="ko-KR" altLang="en-US" sz="1600" spc="-50" dirty="0" err="1"/>
                  <a:t>초기부존자원을</a:t>
                </a:r>
                <a:r>
                  <a:rPr lang="ko-KR" altLang="en-US" sz="1600" spc="-50" dirty="0"/>
                  <a:t> 모두 생애의 제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기에 소비하는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자원을 소비할 때 느끼는 한계효용이 체감한다는 것을 생각하면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비효율적인 소비 방식이다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이제 사회적 계약을 통해 이루어지는 새로운 자원배분의 상태를 고려해보자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현재 젊은 세대의 사람들이 </a:t>
                </a:r>
                <a:r>
                  <a:rPr lang="ko-KR" altLang="en-US" sz="1600" spc="-50" dirty="0" err="1"/>
                  <a:t>초기부존자원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단위 중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단위를 나이 든 세대에 속하는 사람에게 이전하고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 대신 다음 기간에서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그때의 젊은 세대에게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단위의 자원을 이전 받기로 한다는 사회적 계약이다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003A55-333F-0B98-577A-4D414D026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250267" cy="5215338"/>
              </a:xfrm>
              <a:prstGeom prst="rect">
                <a:avLst/>
              </a:prstGeom>
              <a:blipFill>
                <a:blip r:embed="rId2"/>
                <a:stretch>
                  <a:fillRect b="-4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8889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97080-EE07-77C1-F643-6E40F8CA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9D7F58-262E-C38A-025F-1B88AFE8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중복세대의 모형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D88528-E587-067F-06AB-CDD52AF63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4869A4-C2E1-6E25-F31A-E26E4526BEEB}"/>
              </a:ext>
            </a:extLst>
          </p:cNvPr>
          <p:cNvSpPr txBox="1"/>
          <p:nvPr/>
        </p:nvSpPr>
        <p:spPr>
          <a:xfrm>
            <a:off x="288790" y="958844"/>
            <a:ext cx="11250267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 사회적 계약을 통해 모든 사람이 생애의 제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기와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기에 각각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단위씩 자원을 소비할 수 있게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한계효용의 체감을 고려할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사회적 계약이 이루어지기 전 보다 명백하게 더 우월한 소비방식임을 알 수 있다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이와 같은 사회적 계약을 통해 모든 사람의 후생이 증진될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바로 국민연금제도가 이 사회적 계약을 구체화시킨 제도라고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사무엘슨의</a:t>
            </a:r>
            <a:r>
              <a:rPr lang="ko-KR" altLang="en-US" sz="1600" spc="-50" dirty="0"/>
              <a:t> 중복세대 모형은 이 제도의 요체가 세대 사이에서 자원을 이전함으로써 사회후생을 증진시키자는 약속에 있다는 사실을 깨우쳐 준다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2866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BC0D3-89A5-D086-D1C7-94CDBEF50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3F6DE8-CEED-C9AC-5E5C-68F754E13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국민연금제도의 의의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463E4F-53A4-5BDB-2980-FB587E5B0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438000-2E87-772C-81D8-5C56B4859A66}"/>
              </a:ext>
            </a:extLst>
          </p:cNvPr>
          <p:cNvSpPr txBox="1"/>
          <p:nvPr/>
        </p:nvSpPr>
        <p:spPr>
          <a:xfrm>
            <a:off x="288790" y="958844"/>
            <a:ext cx="1125026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일반적으로 정부의 재정 프로그램은 다음과 같은 네 가지 기능 측면에서 정당성을 인정 받을 수 있다</a:t>
            </a:r>
            <a:r>
              <a:rPr lang="en-US" altLang="ko-KR" sz="1600" spc="-50" dirty="0"/>
              <a:t>.</a:t>
            </a:r>
          </a:p>
          <a:p>
            <a:pPr marL="549275" lvl="1">
              <a:lnSpc>
                <a:spcPct val="150000"/>
              </a:lnSpc>
            </a:pPr>
            <a:r>
              <a:rPr lang="en-US" altLang="ko-KR" sz="1600" spc="-50" dirty="0"/>
              <a:t>1. </a:t>
            </a:r>
            <a:r>
              <a:rPr lang="ko-KR" altLang="en-US" sz="1600" spc="-50" dirty="0"/>
              <a:t>재정수입 달성</a:t>
            </a:r>
            <a:r>
              <a:rPr lang="en-US" altLang="ko-KR" sz="1600" spc="-50" dirty="0"/>
              <a:t>,     2. </a:t>
            </a:r>
            <a:r>
              <a:rPr lang="ko-KR" altLang="en-US" sz="1600" spc="-50" dirty="0"/>
              <a:t>시장실패의 보완</a:t>
            </a:r>
            <a:r>
              <a:rPr lang="en-US" altLang="ko-KR" sz="1600" spc="-50" dirty="0"/>
              <a:t>,     3. </a:t>
            </a:r>
            <a:r>
              <a:rPr lang="ko-KR" altLang="en-US" sz="1600" spc="-50" dirty="0"/>
              <a:t>소득재분배</a:t>
            </a:r>
            <a:r>
              <a:rPr lang="en-US" altLang="ko-KR" sz="1600" spc="-50" dirty="0"/>
              <a:t>,     4. </a:t>
            </a:r>
            <a:r>
              <a:rPr lang="ko-KR" altLang="en-US" sz="1600" spc="-50" dirty="0"/>
              <a:t>온정적 간섭주의에 의한 개입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국민연금제도가 이 네 가지 기능 측면에서 어떤 의의를 갖는지 평가해보자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spc="-50" dirty="0"/>
              <a:t>재정수입 달성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국민연금제도는 이 기능과 아무런 관련이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국민연금제도 초기단계에서는 수입이 지출보다 클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성숙된 단계이 이르면 연금 지출이 수입보다 많아져서 다른 재원을 끌어와서 써야 할 상황이 되기도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spc="-50" dirty="0"/>
              <a:t>시장실패의 보완</a:t>
            </a:r>
            <a:r>
              <a:rPr lang="en-US" altLang="ko-KR" sz="1600" b="1" spc="-50" dirty="0"/>
              <a:t>: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다음의 형태로 나타날 수 있는 시장실패를 보완해 준다는 점에서 정당성의 근거를 찾을 수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노후 생계를 위해 저축하려는 사람에게 실질가치 측면에서 안전한 투자기회 혹은 연금상품이 제공되지 못하고 있다는 점에서 시장실패가 일어날 수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이런 시장실패를 보완하기 위해 반드시 국민연금제도가 유일한 해결책은 아니긴 하다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물가연동공채를 발행하여 어느 정도 해결할 수도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6960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7700F-D851-9191-A36A-2F1DD90FF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7AF53-10F8-4881-B1CC-7EA663748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국민연금제도의 의의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D66CF7-FF9E-8AC4-23D2-DCDBAA7EC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B03B3D-73CA-5E2A-886C-20E3FB881A90}"/>
              </a:ext>
            </a:extLst>
          </p:cNvPr>
          <p:cNvSpPr txBox="1"/>
          <p:nvPr/>
        </p:nvSpPr>
        <p:spPr>
          <a:xfrm>
            <a:off x="288790" y="958844"/>
            <a:ext cx="1125026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또 다른 시장 실패로는 사람마다 현역으로 일할 수 있는 기간이 다른 데 따르는 위험성을 대상으로 하는 보험상품이 없다는 뜻에서의 시장실패이다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다른 사람보다 빨리 은퇴해야 할 사정이 있는 사람은 더 적은 저축으로 더 오랜 은퇴기간을 생활해야 하는 위험이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민간 보험사는 역선택과 도덕적해이의 문제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대한 적절한 보험을 제공할 수 없는 처지다</a:t>
            </a:r>
            <a:r>
              <a:rPr lang="en-US" altLang="ko-KR" sz="1600" spc="-50" dirty="0"/>
              <a:t>.</a:t>
            </a:r>
          </a:p>
          <a:p>
            <a:pPr marL="1749425" lvl="3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역선택의 문제는 다른 사람보다 더 일찍 은퇴하게 될 사람들만 앞다투어 보험에 가입하게 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역선택에 직면하는 보험사가 보험료를 올리면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훨씬 더 빠르게 은퇴할 사람들만 가입하게 되어 문제가 심해진다</a:t>
            </a:r>
            <a:r>
              <a:rPr lang="en-US" altLang="ko-KR" sz="1600" spc="-50" dirty="0"/>
              <a:t>.</a:t>
            </a:r>
          </a:p>
          <a:p>
            <a:pPr marL="1749425" lvl="3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도덕적해이의 문제는 보험에 가입한 사람들이 충분히 일을 할 수 있음에도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보험을 믿고 일찍 은퇴해 버리는 데서 발생한다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정보경제이론에서는 역선택의 문제를 해소할 수 있는 방법 중 하나는 사람들을 단체보험에 가입시키는 것이다</a:t>
            </a:r>
            <a:r>
              <a:rPr lang="en-US" altLang="ko-KR" sz="1600" spc="-50" dirty="0"/>
              <a:t>.</a:t>
            </a:r>
          </a:p>
          <a:p>
            <a:pPr marL="1749425" lvl="3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모든 국민이 국민연금 제도의 적용을 받으면 일찍 은퇴할 가능성이 높은 사람만 가입하는 역선택 문제는 발생하지 않는다</a:t>
            </a:r>
            <a:r>
              <a:rPr lang="en-US" altLang="ko-KR" sz="1600" spc="-50" dirty="0"/>
              <a:t>.</a:t>
            </a:r>
          </a:p>
          <a:p>
            <a:pPr marL="1749425" lvl="3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다만 도덕적 해이의 문제는 국민연금제도를 도입한다 하더라도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근본적인 해결이 되지는 않는다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4018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1F1AE-79B4-F98F-D5D0-648D2C58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EF1CA2-EDCC-5D2D-0602-AF11E96B6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국민연금제도의 의의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3446ED-CDBD-D899-4F94-214872EE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CC721-B2A8-812D-C8E5-31CB56693F46}"/>
              </a:ext>
            </a:extLst>
          </p:cNvPr>
          <p:cNvSpPr txBox="1"/>
          <p:nvPr/>
        </p:nvSpPr>
        <p:spPr>
          <a:xfrm>
            <a:off x="288790" y="958844"/>
            <a:ext cx="11250267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b="1" spc="-50" dirty="0"/>
              <a:t>소득재분배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국민연금제도는 다음의 경로를 통해 소득 재분배에 기여할 수 있다</a:t>
            </a:r>
            <a:r>
              <a:rPr lang="en-US" altLang="ko-KR" sz="1600" spc="-50" dirty="0"/>
              <a:t>.</a:t>
            </a:r>
          </a:p>
          <a:p>
            <a:pPr marL="8352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첫째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 세대 안에서의 소득 재분배효과가 나타날 수 있다</a:t>
            </a:r>
            <a:r>
              <a:rPr lang="en-US" altLang="ko-KR" sz="1600" spc="-50" dirty="0"/>
              <a:t>.</a:t>
            </a:r>
          </a:p>
          <a:p>
            <a:pPr marL="8352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둘째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세대와 세대 사이의 소득 재분배 효과가 나타날 수 있다</a:t>
            </a:r>
            <a:r>
              <a:rPr lang="en-US" altLang="ko-KR" sz="1600" spc="-50" dirty="0"/>
              <a:t>.</a:t>
            </a:r>
          </a:p>
          <a:p>
            <a:pPr marL="1293750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축적된 기금에서 </a:t>
            </a:r>
            <a:r>
              <a:rPr lang="ko-KR" altLang="en-US" sz="1600" spc="-50" dirty="0" err="1"/>
              <a:t>운여되는</a:t>
            </a:r>
            <a:r>
              <a:rPr lang="ko-KR" altLang="en-US" sz="1600" spc="-50" dirty="0"/>
              <a:t> 것이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현재 일하고 있는 사람들로부터 거두어들인 조세수입으로 운영되는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효과는 더욱 크다</a:t>
            </a:r>
            <a:r>
              <a:rPr lang="en-US" altLang="ko-KR" sz="1600" spc="-50" dirty="0"/>
              <a:t>.</a:t>
            </a:r>
          </a:p>
          <a:p>
            <a:pPr marL="1293750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자신이 기여한 것보다 더 큰 혜택을 받을 수도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반대의 경우가 될 수도 있다</a:t>
            </a:r>
            <a:r>
              <a:rPr lang="en-US" altLang="ko-KR" sz="1600" spc="-50" dirty="0"/>
              <a:t>.</a:t>
            </a:r>
          </a:p>
          <a:p>
            <a:pPr marL="1293750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제도의 수혜자인 노년층이 다른 연령그룹에 비해 빈곤율이 높기 때문에 어느 정도 재분배 효과가 나타난다</a:t>
            </a:r>
            <a:r>
              <a:rPr lang="en-US" altLang="ko-KR" sz="1600" spc="-50" dirty="0"/>
              <a:t>.</a:t>
            </a:r>
          </a:p>
          <a:p>
            <a:pPr marL="8365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결국 국민연금제도를 설계할 때 어느 정도로 재분배효과를 추구할 것인지 선택해야 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사회적 적합성과 개인적 공평성이라는 두가지 목표 사이에서 타협을 해야 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1656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9C23E-C60C-9588-E9F9-B8C8AF2AF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CFCDE-4BF7-9A17-5820-540520BB4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국민연금제도의 의의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4A3303-2882-AB18-A51C-1864334AD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602D25-3C3A-238D-A84C-4010DCC44374}"/>
              </a:ext>
            </a:extLst>
          </p:cNvPr>
          <p:cNvSpPr txBox="1"/>
          <p:nvPr/>
        </p:nvSpPr>
        <p:spPr>
          <a:xfrm>
            <a:off x="288790" y="958844"/>
            <a:ext cx="11250267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1600" b="1" spc="-50" dirty="0"/>
              <a:t>온정적 간섭주의에 의한 개입</a:t>
            </a:r>
            <a:r>
              <a:rPr lang="en-US" altLang="ko-KR" sz="1600" b="1" spc="-50" dirty="0"/>
              <a:t>: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개인은 알아서 노후 생계를 위한 대책을 마련해야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현실에서는 개인이 언제나 분별력이 있을 수 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정보가 부족할 수도 있는 등 여러가지 이유로 스스로의 이익에 부합하는 결정을 내리지 못할 때가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이러한 점을 봤을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개인의 일이라고 해서 정부가 완전히 손을 뗄 수만은 없다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통계청이 발표한 </a:t>
            </a:r>
            <a:r>
              <a:rPr lang="en-US" altLang="ko-KR" sz="1600" spc="-50" dirty="0"/>
              <a:t>‘2023</a:t>
            </a:r>
            <a:r>
              <a:rPr lang="ko-KR" altLang="en-US" sz="1600" spc="-50" dirty="0"/>
              <a:t>년 사회조사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에 따르면 우리나라 사람들의 </a:t>
            </a:r>
            <a:r>
              <a:rPr lang="en-US" altLang="ko-KR" sz="1600" spc="-50" dirty="0"/>
              <a:t>30%</a:t>
            </a:r>
            <a:r>
              <a:rPr lang="ko-KR" altLang="en-US" sz="1600" spc="-50" dirty="0"/>
              <a:t>가 노후를 준비하지 못하고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노후를 준비하는 사람들의 절반 이상이 국민연금에 크게 의존하고 있는 것으로 나타났다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점을 보면 개인의 노후 생계 보장을 위해 정부가 개입할 수 밖에 없다는 논리에 설득력이 생긴다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9755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D52DA-1C35-A7F3-0F0C-94904C150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D72FC7-2637-7617-AB37-CE9256778D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6A8251-DD9C-7650-0B0C-DF74ED370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B80A8C0-9D58-68A5-1D3D-BF806CEDF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국민연금제도 관련 중요쟁점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931453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815E5-9AB9-4EE7-DE28-E40DA3A6C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8542E5-558F-E401-D3B7-3B102FA0B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사회보험제도의 의미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D6148A-B2C4-2184-088D-F176ADB71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0F4A32-6669-5120-35C8-1374C264532B}"/>
              </a:ext>
            </a:extLst>
          </p:cNvPr>
          <p:cNvSpPr txBox="1"/>
          <p:nvPr/>
        </p:nvSpPr>
        <p:spPr>
          <a:xfrm>
            <a:off x="288790" y="958844"/>
            <a:ext cx="11250267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정부주도하의 보편적 연금 프로그램이 존재할 필요가 있는지 의문을 제기하는 사람들도 상당하다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많은 국민들이 지지하는 바람직한 국민연금제도 확립을 위해서는 다음의 쟁점들에 대한 해답 마련이 필요하다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강제적이며 공적인 해결방식의 필요성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적립방식과 부과방식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재분배적 요소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목적세 부과의 필요성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합리적인 연금 급여수준의 문제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650941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D3FE0-3C4A-7983-0F0A-A67DE50C1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265176-FDDD-B2E6-3A8E-53B74F3C4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강제적이고 공적이 해결방식의 필요성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77BF37-C362-747E-D7D0-6840B5E66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4E1E49-DCAD-C344-B216-83F9A9DB6DB8}"/>
              </a:ext>
            </a:extLst>
          </p:cNvPr>
          <p:cNvSpPr txBox="1"/>
          <p:nvPr/>
        </p:nvSpPr>
        <p:spPr>
          <a:xfrm>
            <a:off x="288790" y="958844"/>
            <a:ext cx="1125026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노후 생계보장의 중요성을 인정하더라도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과연 이 일이 강제적이고 공적으로 다루어야 하는지 의문이 들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우선 강제적 해결방식의 필요성을 논의 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의문에 대한 답은 온정적 간섭주의에서 찾을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개인에게 맡기면 노후를 부적절하게 준비하는 사람이 발생한다는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소비자주권을 신봉하는 이들에게는 이 논리는 큰 설득력을 가지지 못한다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전반적으로 국민연금제도에 강제성이 필요하다는 근거는 명확하지 않다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이제 공적 해결방식의 필요성을 논의 해보자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우선 효율성 측면에서 찾을 수 있다</a:t>
            </a:r>
            <a:r>
              <a:rPr lang="en-US" altLang="ko-KR" sz="1600" spc="-50" dirty="0"/>
              <a:t>. </a:t>
            </a:r>
          </a:p>
          <a:p>
            <a:pPr marL="1349375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규모의 경제라는 측면에서 민간보험보다 유리하다</a:t>
            </a:r>
            <a:r>
              <a:rPr lang="en-US" altLang="ko-KR" sz="1600" spc="-50" dirty="0"/>
              <a:t>.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보험이라는 것이 위험을 여럿이 나누어 부담하는 것을 의미하는데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참여자가 많을수록 그 이득이 커진다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역선택의 문제를 해소할 수 있다는 면에서 사적 보험보다 효율적이다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살펴본 </a:t>
            </a:r>
            <a:r>
              <a:rPr lang="en-US" altLang="ko-KR" sz="1600" spc="-50" dirty="0"/>
              <a:t>(11</a:t>
            </a:r>
            <a:r>
              <a:rPr lang="ko-KR" altLang="en-US" sz="1600" spc="-50" dirty="0"/>
              <a:t>슬라이드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역선택의 문제가 발생하지 않는다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572567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FE21A-9627-BC3F-E59F-FF5C24A1E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602FC8-9E27-70D9-763B-4F8B41754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강제적이고 공적이 해결방식의 필요성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11FF70-C38C-15AC-F1AA-C46EAD7FF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EF36C5-C34B-3396-D5BE-167A839EF118}"/>
              </a:ext>
            </a:extLst>
          </p:cNvPr>
          <p:cNvSpPr txBox="1"/>
          <p:nvPr/>
        </p:nvSpPr>
        <p:spPr>
          <a:xfrm>
            <a:off x="288790" y="958844"/>
            <a:ext cx="1125026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92175" lvl="1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spc="-50" dirty="0"/>
              <a:t>지급준비금을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많이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보유할 필요가 없으므로 높은 수익을 보장해줄 수 있다</a:t>
            </a:r>
            <a:r>
              <a:rPr lang="en-US" altLang="ko-KR" sz="1600" spc="-50" dirty="0"/>
              <a:t>. </a:t>
            </a:r>
          </a:p>
          <a:p>
            <a:pPr marL="1349375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민간 보험회사는 보유자금의 일부를 아무런 수익도 가져다 주지 않는 지급준비금 형태로 보유하고 있어야 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한편 안정적인 보험료의 수입을 기대할 수 있는 공적 프로그램의 경우 비교적 지급준비금이 많지 않아도 된다</a:t>
            </a:r>
            <a:r>
              <a:rPr lang="en-US" altLang="ko-KR" sz="1600" spc="-50" dirty="0"/>
              <a:t>.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점이 높은 수익으로 연결되면 더 좋은 노령연금 혜택을 제공할 수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spc="-50" dirty="0"/>
              <a:t>행정비용 측면에서 공적 프로그램이 더욱 경제적이라는 주장도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미국 사회보장제도의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행정비용이 관련 예산의 </a:t>
            </a:r>
            <a:r>
              <a:rPr lang="en-US" altLang="ko-KR" sz="1600" spc="-50" dirty="0"/>
              <a:t>2%</a:t>
            </a:r>
            <a:r>
              <a:rPr lang="ko-KR" altLang="en-US" sz="1600" spc="-50" dirty="0"/>
              <a:t>에 불과하다는 연구결과가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이에 반해 민간 보험사가 지출하는 행정비용은 매우 클 것으로 짐작하는데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규모의 경제가 작용한 결과라고 볼 수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spc="-50" dirty="0"/>
              <a:t>인플레이션에 대한 적응이라는 측면에서 공적 프로그램이 한층 더 유리하다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인플레이션 상황에서는 명목임금이 상승하여 보험료와 동시에 사회보장세 수입이 자동적으로 증가하게 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한편 민간 보험사는 이러한 적응능력을 갖추지 못하여 보험 혜택의 실질가치가 떨어지는 문제가 생긴다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위와 같이 공적으로 운영하는 것이 많은 장점이 있긴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민간으로 운영할 때의 장점도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민간 보험사는 정부보다 소비자의 요구에 부응하는 다양한 보험상품을 개발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공급할 수 있는 능력이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036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41B83-0722-3C4D-5ACB-FCB651913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9CB405-E5E8-CCDE-9081-882EEC5FA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적립방식과 부과방식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A97F42-F585-7CEB-A86D-3709ED40D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71E081-D14E-07C1-DB5A-C63524F1F198}"/>
              </a:ext>
            </a:extLst>
          </p:cNvPr>
          <p:cNvSpPr txBox="1"/>
          <p:nvPr/>
        </p:nvSpPr>
        <p:spPr>
          <a:xfrm>
            <a:off x="288790" y="958844"/>
            <a:ext cx="1125026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국민연금제도의 재원을 충당하는 방법에는 적립방식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부과방식 두 가지가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적립방식이란</a:t>
            </a:r>
            <a:r>
              <a:rPr lang="ko-KR" altLang="en-US" sz="1600" spc="-50" dirty="0"/>
              <a:t> 내가 낸 돈을 내가 나중에 받는다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민간 보험사의 운영 방식과 비슷하게 운영되는 결과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부과방식이란</a:t>
            </a:r>
            <a:r>
              <a:rPr lang="ko-KR" altLang="en-US" sz="1600" spc="-50" dirty="0"/>
              <a:t> 지금 세대가 이전 세대를 부양한다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세대 사이의 계약을 통해 부양의무에 관해 합의를 본 것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적립방식은 부과방식에 비해 다음의 측면에서 상대적인 장점을 갖고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예전에 자신이 낸 돈을 돌려받는 것 자체가 장점이 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부과방식의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사회심리학적으로 젊은 세대에게 부담을 주고 있다는 사실에서 거북함을 느끼게 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적립방식의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거북함을 느낄 필요가 전혀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적립방식하에서는</a:t>
            </a:r>
            <a:r>
              <a:rPr lang="ko-KR" altLang="en-US" sz="1600" spc="-50" dirty="0"/>
              <a:t> 지불능력에 아무런 문제가 생기지 않는다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부과방식의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외부 변수</a:t>
            </a:r>
            <a:r>
              <a:rPr lang="en-US" altLang="ko-KR" sz="1600" spc="-50" dirty="0"/>
              <a:t> (GDP </a:t>
            </a:r>
            <a:r>
              <a:rPr lang="ko-KR" altLang="en-US" sz="1600" spc="-50" dirty="0"/>
              <a:t>성장률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실업률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출생률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기대수명 등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의불확실성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불안정성을 동반하게 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적립방식의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기금의 한도 안에서만 연금이 지급되기 때문에 지불능력에 문제가 생길 이유가 없다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2021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A9B00-210D-5DAB-FD6C-D352DDC39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9377EE-F4D0-FCDD-7948-7BE4B39CB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적립방식과 부과방식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FCCBD0-BDCB-9ED3-7688-FA359D915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8287E9-0F06-6876-32E3-446ABC9C246E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250267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우리나라를 포함하여 전 세계적으로 인구 고령화가 나타나고 있는 가운데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적립방식의 상대적 이점이 두드러진다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고령화는 일하는 사람들 대비 은퇴한 사람들이 상대적으로 많다는 것을 뜻한다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적립방식의 경우 축적된 기금이 완충작용을 해줄 수 있는 한편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부과방식의 경우 일하는 사람이 추가적인 부담을 </a:t>
                </a:r>
                <a:r>
                  <a:rPr lang="ko-KR" altLang="en-US" sz="1600" spc="-50" dirty="0" err="1"/>
                  <a:t>떠안야</a:t>
                </a:r>
                <a:r>
                  <a:rPr lang="ko-KR" altLang="en-US" sz="1600" spc="-50" dirty="0"/>
                  <a:t> 하기 때문이다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부과방식하에서</a:t>
                </a:r>
                <a:r>
                  <a:rPr lang="ko-KR" altLang="en-US" sz="1600" spc="-50" dirty="0"/>
                  <a:t> </a:t>
                </a:r>
                <a:r>
                  <a:rPr lang="ko-KR" altLang="en-US" sz="1600" spc="-50" dirty="0" err="1"/>
                  <a:t>국민염금재정의</a:t>
                </a:r>
                <a:r>
                  <a:rPr lang="ko-KR" altLang="en-US" sz="1600" spc="-50" dirty="0"/>
                  <a:t> 수입과 지출은 아래의 공식에 의해 균형을 이루는데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식을 통해 고령화가 국민연금재정에 어떤 문제를 가져오는 알아보자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600" spc="-50" dirty="0"/>
                  <a:t>는 보험료율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보험료를 내는 사람의 수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는 평균임금을 나타내고</a:t>
                </a:r>
                <a:r>
                  <a:rPr lang="en-US" altLang="ko-KR" sz="1600" spc="-50" dirty="0"/>
                  <a:t>,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연금 혜택을 받는 사람의 수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ko-KR" altLang="en-US" sz="1600" spc="-50" dirty="0"/>
                  <a:t>는 평균 연금 수준을 나타낸다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위 식을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600" spc="-50" dirty="0"/>
                  <a:t>에 대해 풀면 아래의 식으로 만들 수 있는데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아래 식을 통해 보험료 부담이 어떤 요인에 영향을 받는지 알아보자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뒷장 계속</a:t>
                </a:r>
                <a:r>
                  <a:rPr lang="en-US" altLang="ko-KR" sz="1600" spc="-50" dirty="0"/>
                  <a:t>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8287E9-0F06-6876-32E3-446ABC9C2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250267" cy="5584670"/>
              </a:xfrm>
              <a:prstGeom prst="rect">
                <a:avLst/>
              </a:prstGeom>
              <a:blipFill>
                <a:blip r:embed="rId2"/>
                <a:stretch>
                  <a:fillRect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DA0237-4774-0C44-6313-144F4D5247E7}"/>
                  </a:ext>
                </a:extLst>
              </p:cNvPr>
              <p:cNvSpPr txBox="1"/>
              <p:nvPr/>
            </p:nvSpPr>
            <p:spPr>
              <a:xfrm>
                <a:off x="2472743" y="3363532"/>
                <a:ext cx="22860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×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pos m:val="top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ba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DA0237-4774-0C44-6313-144F4D524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743" y="3363532"/>
                <a:ext cx="2286010" cy="276999"/>
              </a:xfrm>
              <a:prstGeom prst="rect">
                <a:avLst/>
              </a:prstGeom>
              <a:blipFill>
                <a:blip r:embed="rId3"/>
                <a:stretch>
                  <a:fillRect l="-1333" r="-1067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45E843-6697-1B61-E5BC-98D9B65738B8}"/>
                  </a:ext>
                </a:extLst>
              </p:cNvPr>
              <p:cNvSpPr txBox="1"/>
              <p:nvPr/>
            </p:nvSpPr>
            <p:spPr>
              <a:xfrm>
                <a:off x="2472743" y="5622157"/>
                <a:ext cx="1414169" cy="565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bar>
                            <m:barPr>
                              <m:pos m:val="top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</m:ba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45E843-6697-1B61-E5BC-98D9B6573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743" y="5622157"/>
                <a:ext cx="1414169" cy="5652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5799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C6A29-C83F-F0D3-88CA-0904B9351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593BC-E2B8-33AE-011C-D15E60FE5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적립방식과 부과방식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73C217-9F2D-42DE-ADD5-F2B87220D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FB1D3B-DC40-7E46-26F4-18FB18B8CC51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250267" cy="557056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위 식에서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는 연금 수혜자 수를 일하는 사람의 수로 나눈 비율로 </a:t>
                </a:r>
                <a:r>
                  <a:rPr lang="en-US" altLang="ko-KR" sz="1600" spc="-50" dirty="0"/>
                  <a:t>‘</a:t>
                </a:r>
                <a:r>
                  <a:rPr lang="ko-KR" altLang="en-US" sz="1600" spc="-50" dirty="0"/>
                  <a:t>의존비율</a:t>
                </a:r>
                <a:r>
                  <a:rPr lang="en-US" altLang="ko-KR" sz="1600" spc="-50" dirty="0"/>
                  <a:t>’ </a:t>
                </a:r>
                <a:r>
                  <a:rPr lang="ko-KR" altLang="en-US" sz="1600" spc="-50" dirty="0"/>
                  <a:t>이라고 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고령화가 진행될 수록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값은 자연히 올라가게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따라서 보험료율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의 인상이 불가피해진다는 것을 알 수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둘째 항인</a:t>
                </a:r>
                <a:r>
                  <a:rPr lang="en-US" altLang="ko-KR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bar>
                          <m:barPr>
                            <m:pos m:val="top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</m:bar>
                      </m:den>
                    </m:f>
                  </m:oMath>
                </a14:m>
                <a:r>
                  <a:rPr lang="ko-KR" altLang="en-US" sz="1600" spc="-50" dirty="0"/>
                  <a:t> 은 평균적인 소득대체율을 뜻한다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고령화로 의존비율이 올라가는 상황에서 보험료율을 일정하게 유지시키려면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비율을 떨어뜨려야 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결국 부과방식을 채택하는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일하는 사람의 보험료 부담을 높이거나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아니면 연금 지급액을 줄이는 것 중 하나를 선택해야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이와 같은 양자택일 상황에서는 사회적 갈등이 매우 심각해질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그렇다고 어느 조치도 취하지 않으면 연금재정이 파탄지경에 이를 가능성도 있다</a:t>
                </a:r>
                <a:r>
                  <a:rPr lang="en-US" altLang="ko-KR" sz="1600" spc="-50" dirty="0"/>
                  <a:t>. 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부과방식은 </a:t>
                </a:r>
                <a:r>
                  <a:rPr lang="en-US" altLang="ko-KR" sz="1600" spc="-50" dirty="0"/>
                  <a:t>1889</a:t>
                </a:r>
                <a:r>
                  <a:rPr lang="ko-KR" altLang="en-US" sz="1600" spc="-50" dirty="0"/>
                  <a:t>년에 처음 사회보장제도가 출범할 때 채택한 방식으로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당시에는 연금 수혜자 보다 일하는 사람이 압도적으로 많았다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지금은 부과방식을 채택하고 있는 많은 국가들이 연금재정의 위기를 겪고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FB1D3B-DC40-7E46-26F4-18FB18B8C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250267" cy="55705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C0CE51-DAA1-4BD3-43EC-E9DC3B90402D}"/>
                  </a:ext>
                </a:extLst>
              </p:cNvPr>
              <p:cNvSpPr txBox="1"/>
              <p:nvPr/>
            </p:nvSpPr>
            <p:spPr>
              <a:xfrm>
                <a:off x="2047740" y="958844"/>
                <a:ext cx="1414169" cy="565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bar>
                            <m:barPr>
                              <m:pos m:val="top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</m:ba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C0CE51-DAA1-4BD3-43EC-E9DC3B904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740" y="958844"/>
                <a:ext cx="1414169" cy="5652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0416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7E220-A81E-59E2-45AD-51567B94E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C141A-B86C-76BE-E885-250C9FF9F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재분배적 요소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A78BCF-7E4A-FD22-E1B8-64650EB34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93FD9-F5CE-2DDA-6919-E0E48EF0F8EB}"/>
              </a:ext>
            </a:extLst>
          </p:cNvPr>
          <p:cNvSpPr txBox="1"/>
          <p:nvPr/>
        </p:nvSpPr>
        <p:spPr>
          <a:xfrm>
            <a:off x="288790" y="958844"/>
            <a:ext cx="11250267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</a:t>
            </a:r>
            <a:r>
              <a:rPr lang="ko-KR" altLang="en-US" sz="1600" spc="-50" dirty="0" err="1"/>
              <a:t>설명했다시피</a:t>
            </a:r>
            <a:r>
              <a:rPr lang="ko-KR" altLang="en-US" sz="1600" spc="-50" dirty="0"/>
              <a:t> 국민연금제도를 설계할 때는 사회적 적합성과 개인적 </a:t>
            </a:r>
            <a:r>
              <a:rPr lang="ko-KR" altLang="en-US" sz="1600" spc="-50" dirty="0" err="1"/>
              <a:t>공평성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두 가지 기준을 적절히 타협한 선에서 재분배효과를 가미하게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민간 보험사와 유사한 운영을 강조한다면 개인적 공평성에 더 큰 비중을 두게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국민연금제도가 소득재분배 기능도 일부 맡아야 한다고 생각하면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사회적 적합성에 더 큰 비중을 두게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결국 국민연금제도의 성격을 어떻게 </a:t>
            </a:r>
            <a:r>
              <a:rPr lang="ko-KR" altLang="en-US" sz="1600" spc="-50" dirty="0" err="1"/>
              <a:t>이해하느냐에</a:t>
            </a:r>
            <a:r>
              <a:rPr lang="ko-KR" altLang="en-US" sz="1600" spc="-50" dirty="0"/>
              <a:t> 따라 위의 두 가지 목표의 상대적 중요성을 평가하게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다만 분명한 것은 이 제도의 목표는 노후의 생계안정이지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 세대 안의 소득격차를 줄이는 것이 아니다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현실에서는 많은 나라들이 재분배효과를 지향하는 국민연금제도를 운영하고 있지 않다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은퇴 전의 지위를 은퇴 후에도 그대로 유지할 수 있게 만든 기본골격을 채택하는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민간 보험사와 비슷하게 운영해야 한다는 사고방식이 현실의 국민연금제도 운영에 큰 영향을 주고 있음을 알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4671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E8A6D-D66B-9EE6-55D8-3AD6FF402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BBC5ED-C3D8-716F-B9E9-C0270BA9B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목적세 부과의 필요성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8B7012-7408-96A7-BEDB-140B51707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FB24A2-5B8C-9D20-734E-DD8816AB550F}"/>
              </a:ext>
            </a:extLst>
          </p:cNvPr>
          <p:cNvSpPr txBox="1"/>
          <p:nvPr/>
        </p:nvSpPr>
        <p:spPr>
          <a:xfrm>
            <a:off x="288790" y="958844"/>
            <a:ext cx="11250267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대부분의 나라가 보험료 혹은 사회보장세라고 부르는 목적세를 부과해 국민연금제도의 재원으로 사용하고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많은 나라들이 목적세를 채택하는 데에는 아래와 같은 이유가 있을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정치적이유로서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국민연금제도를 일반 지출 프로그램과 구별해야 할 필요가 있다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기존의 조세만으로는 국민연금제도 운영에 필요한 자금을 조달하기 어려울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연금 수혜자가 자신이 낸 돈을 돌려 받게 된다는 자부심을 가질 수 있게끔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보험료 혹은 사회보장세가 갖고 있는 역진성을 줄이고자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정부의 일반적인 세원에 의해 재원을 조달하는 방식으로 전환해야 한다는 주장이 있기는 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주장은 정치적으로 매우 민감한 문제이며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정부의 비대화를 우려하는 사람들에게 공격의 대상이 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87899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37A0C-3619-BA3D-2878-3962F8A9F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A832AE-6AB0-6847-1F19-D0FA2A968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합리적인 연금 급여수준의 문제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AF8B6E-CFDE-4C10-4CF5-2322E3197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6CB00-4240-29C6-1C94-C2631887712C}"/>
              </a:ext>
            </a:extLst>
          </p:cNvPr>
          <p:cNvSpPr txBox="1"/>
          <p:nvPr/>
        </p:nvSpPr>
        <p:spPr>
          <a:xfrm>
            <a:off x="288790" y="958844"/>
            <a:ext cx="11250267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끊임 없이 변하는 경제상황 속에서 합리적인 연금의 급여수준을 찾아내는 것은 쉬운 일이 아니다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노년층에게 단지 생존을 위한 수단을 제공하는 선에서 그쳐야 하는지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이처럼 노년층의 실질소득을 유지해주는 선에서 그치면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노년층의 상대적 지위가 악화 될 수 밖에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일반 국민이 누리고 있는 생활수준 향상의 혜택을 공유할 수 있도록 배려해야 하는지 선택 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이와 같이 관대한 급여수준을 유지하기 위해서는 젊은 세대에 무거운 세금을 부과할 수 밖에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뿐만 아니라 급여수준 조정의 기준이 되는 가격과 소득의 변동을 어느 시기에 기준을 두고 측정해야 할 것인지 문제다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이미 일어난 변화를 기준으로 하여 급여수준을 조정할 것인지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역사적 방식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앞으로 일어날 변화를 예측하여 이를 조정 기준으로 삼아야 하는지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예측 방식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선택해야 하는 문제가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논리적으로는 예측 방식이 설득력이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구체적인 실천에 따르는 문제가 많이 생긴다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0874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A7D6A-5714-21DE-75FD-2FF792657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8406DE-3D30-0569-FF83-40CBDCEE969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04F37A-BEE6-2F0A-9DEC-FEBCB024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1A8964E-BF4B-8FDF-E617-A2DA934DC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국민연금제도의 경제적 효과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467070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A671A-FAA7-E5AA-12BD-45342FAB3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5EA36-73F9-DA21-47F6-1584F45D1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저축행위에 미치는 영향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6635AF-EC17-17CF-F3FD-A26A34BFB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195FE-E67F-26A3-44A3-0217297114CC}"/>
              </a:ext>
            </a:extLst>
          </p:cNvPr>
          <p:cNvSpPr txBox="1"/>
          <p:nvPr/>
        </p:nvSpPr>
        <p:spPr>
          <a:xfrm>
            <a:off x="288790" y="958844"/>
            <a:ext cx="1125026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국민연금 운용규모는 국내총생산의 </a:t>
            </a:r>
            <a:r>
              <a:rPr lang="en-US" altLang="ko-KR" sz="1600" spc="-50" dirty="0"/>
              <a:t>50%</a:t>
            </a:r>
            <a:r>
              <a:rPr lang="ko-KR" altLang="en-US" sz="1600" spc="-50" dirty="0"/>
              <a:t>에 근접할 정도로 크게 성장하였고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따라서 민간부문의 여러 가지 경제활동에 영향을 주게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특히 사람들의 저축과 노동공급 행위에 큰 영향을 미친다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국민연금제도는 다음의 경로를 통해 저축행위에 영향을 줄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첫째는 재산대체효과 인데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정부의 강제저축 프로그램 때문에 자발적인 저축의 필요성이 줄어드는 것을 의미한다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사람들이 강제저축에 의해 형성된 재산을 개인 재산의 대체물로 인식하고 자발적인 저축을 줄인다고 의미에서 이런 이름이 붙여졌다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앞에서 살펴봤듯이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완전한 적립방식을 채택하고 있다면 민간의 저축 감소가 정부의 저축 증가로 상쇄될 수 있을 것이다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하지만 올해 거둔 세금으로 올해 연금을 지급하는 부과방식에서는 민간의 저축이 줄어들기만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둘째는 은퇴효과 인데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국민연금제도의 도입이 퇴직상태에 있는 기간의 연장을 가져올 수 있음을 의미한다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국민연금제도 도입이 사람들로 하여금 보다 빨리 은퇴하도록 만들고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은퇴상태의 기간이 길어지면 더 많은 저축을 필요로 하게 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자발적인 저축이 증가하는 것을 은퇴효과라 부른다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081285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F2171-FD49-659E-30E9-A600D143D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BCD445-B3E9-22C7-707C-3D003623E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저축행위에 미치는 영향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3E1A8A-B043-6383-521C-72EF67647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1ACA24-69C9-FE2A-3104-FD5212B87040}"/>
              </a:ext>
            </a:extLst>
          </p:cNvPr>
          <p:cNvSpPr txBox="1"/>
          <p:nvPr/>
        </p:nvSpPr>
        <p:spPr>
          <a:xfrm>
            <a:off x="288790" y="958844"/>
            <a:ext cx="1125026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셋째는 </a:t>
            </a:r>
            <a:r>
              <a:rPr lang="ko-KR" altLang="en-US" sz="1600" spc="-50" dirty="0" err="1"/>
              <a:t>상속효과인데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국민연금제도로 인해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자식들의 처분가능소득 감소를 야기한다고 예상하는 부모들은 이를 상쇄하고자 더 많은 재산을 상속해주려고 노력할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많은 재산을 상속해주기 위해서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저축을 늘려야 할 것이므로 상속효과는 저축을 증가시키는 방향으로 작용한다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논의를 종합해보면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자산대체효과만 저축을 줄이는 방향으로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다른 두 가지는 저축을 증가시키는 방향으로 영향을 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저축의 절대적인 </a:t>
            </a:r>
            <a:r>
              <a:rPr lang="ko-KR" altLang="en-US" sz="1600" spc="-50" dirty="0" err="1"/>
              <a:t>변화량를</a:t>
            </a:r>
            <a:r>
              <a:rPr lang="ko-KR" altLang="en-US" sz="1600" spc="-50" dirty="0"/>
              <a:t> 기준으로 보면 재산대체효과가 다른 두 효과보다 더 클 가능성도 있으므로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실증연구에 의해 밝혀져야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펠드스타인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M.Feldstein</a:t>
            </a:r>
            <a:r>
              <a:rPr lang="en-US" altLang="ko-KR" sz="1600" spc="-50" dirty="0"/>
              <a:t>, 1974)</a:t>
            </a:r>
            <a:r>
              <a:rPr lang="ko-KR" altLang="en-US" sz="1600" spc="-50" dirty="0"/>
              <a:t>은 미국의 경우 사회보장제도 도입이 저축을 현저하게 줄이는 결과를 가져왔다는 실증연구 결과를 발표한 바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1971</a:t>
            </a:r>
            <a:r>
              <a:rPr lang="ko-KR" altLang="en-US" sz="1600" spc="-50" dirty="0"/>
              <a:t>년 기준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사회보장제도의 도입이 개인저축을 반으로 줄어들게 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경제 전체의 총저축을 </a:t>
            </a:r>
            <a:r>
              <a:rPr lang="en-US" altLang="ko-KR" sz="1600" spc="-50" dirty="0"/>
              <a:t>38% </a:t>
            </a:r>
            <a:r>
              <a:rPr lang="ko-KR" altLang="en-US" sz="1600" spc="-50" dirty="0"/>
              <a:t>감소시키는 결과를 가져왔다고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이후 다른 경제학자들이 </a:t>
            </a:r>
            <a:r>
              <a:rPr lang="ko-KR" altLang="en-US" sz="1600" spc="-50" dirty="0" err="1"/>
              <a:t>펠드스타인의</a:t>
            </a:r>
            <a:r>
              <a:rPr lang="ko-KR" altLang="en-US" sz="1600" spc="-50" dirty="0"/>
              <a:t> 연구에서 잘못된 부분을 지적하며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논란이 지금까지도 이어지고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현재는 대부분의 경제학자들은 사회보장제도 도입이 저축을 어느정도 감소시키는 하지만 </a:t>
            </a:r>
            <a:r>
              <a:rPr lang="ko-KR" altLang="en-US" sz="1600" spc="-50" dirty="0" err="1"/>
              <a:t>펠드스타인의</a:t>
            </a:r>
            <a:r>
              <a:rPr lang="ko-KR" altLang="en-US" sz="1600" spc="-50" dirty="0"/>
              <a:t> 연구처럼 현저한 감소라고 생각하는 사람은 소수에 지나지 않는다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64117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DC130-69FF-95FD-4A23-6C4D7F047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1172AB-8EAA-7D37-3712-BE94FC478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노동공급에 미치는 영향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590AF7-2416-2A1D-748C-91C5A640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96A24-7649-C9A2-3798-C090F6CBAB04}"/>
              </a:ext>
            </a:extLst>
          </p:cNvPr>
          <p:cNvSpPr txBox="1"/>
          <p:nvPr/>
        </p:nvSpPr>
        <p:spPr>
          <a:xfrm>
            <a:off x="288790" y="958844"/>
            <a:ext cx="1125026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국민연금제도가 노동공급에 미치는 영향은 소득효과와 대체효과의 틀 안에서 분석할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소득효과는 사람들의 생애에 걸친 소득을 증가시키므로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보통 노동시간을 줄이는 방향으로 영향을 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사람들이 일할 때 더 큰 조세부담을 지는 대신 은퇴 후에는 보다 더 큰 연금 혜택을 받는 것이 보통이다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사람들의 순자산 혹은 실질소득 증가를 가져오므로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사람들이 더 많은 여가소비를 즐기도록 만든다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대체효과는 국민연금 도입으로 인해 여가의 기회비용에 어떤 변화가 </a:t>
            </a:r>
            <a:r>
              <a:rPr lang="ko-KR" altLang="en-US" sz="1600" spc="-50" dirty="0" err="1"/>
              <a:t>생기는지와</a:t>
            </a:r>
            <a:r>
              <a:rPr lang="ko-KR" altLang="en-US" sz="1600" spc="-50" dirty="0"/>
              <a:t> 관련이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 시간 더 일할 때 얻을 수 있는 순소득이 어떻게 변화하는지를 살펴봐야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국민연금 제도의 도입은 노동을 한시간 더 할 때 얻는 순소득에서 새로운 조세부담이 생긴다는 것을 뜻한다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여가의 기회비용 감소를 의미하고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이는 노동의 공급량을 줄이는 방향으로 작용하게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사람들이 이 세금은 나중에 은퇴하고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다시 연금으로 되돌려 받는다는 사실을 알고 의사결정을 한다면 대체효과는 다른 방향으로 작용할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국민연금제도 도입이 여가의 기회비용을 상승시킨 셈으로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노동의 공급량을 증가시키는 방향으로 작용한다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소득효과는 명백히 노동을 줄이고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대체효과는 그 효과의 방향이 분명하지 않아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지금까지 명백한 해답은 없다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84596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D4CD8-D4E5-79CF-7C73-EBCD33FF1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E0E5F8-4925-2624-367B-370EE7DB09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773A13-9ADD-F29A-22B5-8B7F19B12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86B2AB1-97D8-F883-34D3-4CC74466B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5. </a:t>
            </a:r>
            <a:r>
              <a:rPr lang="ko-KR" altLang="en-US" sz="4000" b="1" i="0" spc="150" dirty="0"/>
              <a:t>우리나라의 국민연금제도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415039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45EE0-7E49-3928-B6D5-90F5F5ADE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0B6116-93D0-0C6F-AB49-7BADF59C0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적용대상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44F25C-41BE-AD1F-5EE1-FF336034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4A242-BB4C-59B7-3A6E-B5AABCFED15E}"/>
              </a:ext>
            </a:extLst>
          </p:cNvPr>
          <p:cNvSpPr txBox="1"/>
          <p:nvPr/>
        </p:nvSpPr>
        <p:spPr>
          <a:xfrm>
            <a:off x="288790" y="958844"/>
            <a:ext cx="1125026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우리나라에 국민연금제도가 처음 도입된 것은 </a:t>
            </a:r>
            <a:r>
              <a:rPr lang="en-US" altLang="ko-KR" sz="1600" spc="-50" dirty="0"/>
              <a:t>1988</a:t>
            </a:r>
            <a:r>
              <a:rPr lang="ko-KR" altLang="en-US" sz="1600" spc="-50" dirty="0"/>
              <a:t>년으로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역사가 길지 않다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모든 국민이 가입할 수 있고</a:t>
            </a:r>
            <a:r>
              <a:rPr lang="en-US" altLang="ko-KR" sz="1600" spc="-50" dirty="0"/>
              <a:t>, 1,200</a:t>
            </a:r>
            <a:r>
              <a:rPr lang="ko-KR" altLang="en-US" sz="1600" spc="-50" dirty="0"/>
              <a:t>조원이 넘는 기금을 확보한 중요한 재정 프로그램으로 정착하였다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우리나라의 국민연금제도는 국내에 거주하는 </a:t>
            </a:r>
            <a:r>
              <a:rPr lang="en-US" altLang="ko-KR" sz="1600" spc="-50" dirty="0"/>
              <a:t>18</a:t>
            </a:r>
            <a:r>
              <a:rPr lang="ko-KR" altLang="en-US" sz="1600" spc="-50" dirty="0"/>
              <a:t>세 이상</a:t>
            </a:r>
            <a:r>
              <a:rPr lang="en-US" altLang="ko-KR" sz="1600" spc="-50" dirty="0"/>
              <a:t>, 60</a:t>
            </a:r>
            <a:r>
              <a:rPr lang="ko-KR" altLang="en-US" sz="1600" spc="-50" dirty="0"/>
              <a:t>세 미만의 국민이면 누구나 다 가입할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가입자는 사업장가입자와 지역가입자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범주로 나눌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사업장가입자는 직장을 통해 제도에 가입한 사람을 의미한다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지역가입자는 도시자영업자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농어민의 신분으로 국민연금제도에 가입한 사람을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공무원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군인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사립학교 교직원은 자체의 연금 프로그램을 갖고 있으므로 제외하고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사업장가입자와 지역가입자는 의무적으로 국민연금제도에 가입한 경우지만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가입해야 할 의무가 없는데도 본인이 원해서 가입자가 되는 경우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임의가입자 혹은 </a:t>
            </a:r>
            <a:r>
              <a:rPr lang="ko-KR" altLang="en-US" sz="1600" spc="-50" dirty="0" err="1"/>
              <a:t>임의계속가입자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임의가입자는 전업주부처럼 근로소득이 없는 사람 중 국민연금 혜택을 받고 싶어 가입한 사람을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임의계속가입자는</a:t>
            </a:r>
            <a:r>
              <a:rPr lang="ko-KR" altLang="en-US" sz="1600" spc="-50" dirty="0"/>
              <a:t> 나이가 많거나 혹은 늦게 가입하여 최소가입연수를 채우지 못하여 임의로 연장해 가입한 사람을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임의가입자와 </a:t>
            </a:r>
            <a:r>
              <a:rPr lang="ko-KR" altLang="en-US" sz="1600" spc="-50" dirty="0" err="1"/>
              <a:t>임의계속가입자의</a:t>
            </a:r>
            <a:r>
              <a:rPr lang="ko-KR" altLang="en-US" sz="1600" spc="-50" dirty="0"/>
              <a:t> 비중은 매우 낮은 편이다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50589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8D145-88B0-21C8-D558-DB8693D4C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59BA62-3AD2-2CD0-882C-B519705FA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보험료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520C5C-BE95-C7C4-2F10-26987E12D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88A1C5-7533-92BD-3A81-E61C54ED1A86}"/>
              </a:ext>
            </a:extLst>
          </p:cNvPr>
          <p:cNvSpPr txBox="1"/>
          <p:nvPr/>
        </p:nvSpPr>
        <p:spPr>
          <a:xfrm>
            <a:off x="288790" y="958844"/>
            <a:ext cx="1125026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우리나라는 국민연금제도를 적립방식으로 운영하고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가입자가 납부한 보험료는 국민연금기금의 조성에 투입되고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기금으로부터 은퇴 후 지급되는 연금이 나온다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보험료는 국민연금의 주된 재원이고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가입자들은 보험료를 납부하지 않으면 정부가 강제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압류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로 징수할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국민연금의 보험료는 가입자의 </a:t>
            </a:r>
            <a:r>
              <a:rPr lang="ko-KR" altLang="en-US" sz="1600" spc="-50" dirty="0" err="1"/>
              <a:t>기준소득월액에</a:t>
            </a:r>
            <a:r>
              <a:rPr lang="ko-KR" altLang="en-US" sz="1600" spc="-50" dirty="0"/>
              <a:t> 보험료율을 곱하여 산정한다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기준소득월액</a:t>
            </a:r>
            <a:r>
              <a:rPr lang="ko-KR" altLang="en-US" sz="1600" spc="-50" dirty="0"/>
              <a:t> 은 국민연금제도에서 규정하고 있는 가입자의 한 달 소득이다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단순 월 소득이라고 표현하지 않는 이유는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소득의 일부는 보험료 징수대상에서 제외되기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2025</a:t>
            </a:r>
            <a:r>
              <a:rPr lang="ko-KR" altLang="en-US" sz="1600" spc="-50" dirty="0"/>
              <a:t>년 기준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보험료 부과대상이 되는 소득에 </a:t>
            </a:r>
            <a:r>
              <a:rPr lang="en-US" altLang="ko-KR" sz="1600" spc="-50" dirty="0"/>
              <a:t>40</a:t>
            </a:r>
            <a:r>
              <a:rPr lang="ko-KR" altLang="en-US" sz="1600" spc="-50" dirty="0"/>
              <a:t>만원의 하한과 </a:t>
            </a:r>
            <a:r>
              <a:rPr lang="en-US" altLang="ko-KR" sz="1600" spc="-50" dirty="0"/>
              <a:t>637</a:t>
            </a:r>
            <a:r>
              <a:rPr lang="ko-KR" altLang="en-US" sz="1600" spc="-50" dirty="0"/>
              <a:t>만원의 상한이 설정되어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상한과 하한 사이의 소득만 보험료 징수대상이 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이는 부담 분배의 역진성을 발생시킨다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2025</a:t>
            </a:r>
            <a:r>
              <a:rPr lang="ko-KR" altLang="en-US" sz="1600" spc="-50" dirty="0"/>
              <a:t>년 사업장가입자 혹은 지역가입자에게 적용되는 국민연금 보험료율은 </a:t>
            </a:r>
            <a:r>
              <a:rPr lang="en-US" altLang="ko-KR" sz="1600" spc="-50" dirty="0"/>
              <a:t>9%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실제 납부방식은 가입자 유형에 따라 다르다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사업장가입자의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가입자와 고용주가 절반씩 부담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가입자의 </a:t>
            </a:r>
            <a:r>
              <a:rPr lang="ko-KR" altLang="en-US" sz="1600" spc="-50" dirty="0" err="1"/>
              <a:t>기준소득월액의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4.5%</a:t>
            </a:r>
            <a:r>
              <a:rPr lang="ko-KR" altLang="en-US" sz="1600" spc="-50" dirty="0"/>
              <a:t>씩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지역가입자의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본인이 보험료를 전액 부담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95086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DE6B9-00AB-2F55-33B1-7D357E6FA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5157A2-D3CC-CF0A-1B28-BCFF3E45E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보험료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FCD16D-A0C1-0304-8ABC-07596AD25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07896C-935A-7260-8D1B-98F4C9FDDFAD}"/>
              </a:ext>
            </a:extLst>
          </p:cNvPr>
          <p:cNvSpPr txBox="1"/>
          <p:nvPr/>
        </p:nvSpPr>
        <p:spPr>
          <a:xfrm>
            <a:off x="288790" y="958844"/>
            <a:ext cx="11250267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우리나라는 국민연금제도 도입 초기에 보험료율을 </a:t>
            </a:r>
            <a:r>
              <a:rPr lang="en-US" altLang="ko-KR" sz="1600" spc="-50" dirty="0"/>
              <a:t>3%</a:t>
            </a:r>
            <a:r>
              <a:rPr lang="ko-KR" altLang="en-US" sz="1600" spc="-50" dirty="0"/>
              <a:t>라는 낮은 수준으로 설정했기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제도의 안정적 운영을 위해 보험료율을 인상해야 한다는 주장이 계속 제기되어 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1998</a:t>
            </a:r>
            <a:r>
              <a:rPr lang="ko-KR" altLang="en-US" sz="1600" spc="-50" dirty="0"/>
              <a:t>년에 보험료율을 </a:t>
            </a:r>
            <a:r>
              <a:rPr lang="en-US" altLang="ko-KR" sz="1600" spc="-50" dirty="0"/>
              <a:t>9%</a:t>
            </a:r>
            <a:r>
              <a:rPr lang="ko-KR" altLang="en-US" sz="1600" spc="-50" dirty="0"/>
              <a:t>로 상향조정하고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이후에는 별다른 조정이 없었다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2025</a:t>
            </a:r>
            <a:r>
              <a:rPr lang="ko-KR" altLang="en-US" sz="1600" spc="-50" dirty="0"/>
              <a:t>년에 보험료율을 </a:t>
            </a:r>
            <a:r>
              <a:rPr lang="en-US" altLang="ko-KR" sz="1600" spc="-50" dirty="0"/>
              <a:t>2033</a:t>
            </a:r>
            <a:r>
              <a:rPr lang="ko-KR" altLang="en-US" sz="1600" spc="-50" dirty="0"/>
              <a:t>년까지 </a:t>
            </a:r>
            <a:r>
              <a:rPr lang="en-US" altLang="ko-KR" sz="1600" spc="-50" dirty="0"/>
              <a:t>13%</a:t>
            </a:r>
            <a:r>
              <a:rPr lang="ko-KR" altLang="en-US" sz="1600" spc="-50" dirty="0"/>
              <a:t> 수준에 도달하는 단계적 인상 방안을 마련하였다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향후 국민연금 보험료율이 인상되더라도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다른 나라와 비교하면 여전히 낮은 수준일 가능성이 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이탈리아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네덜란드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프랑스 등의 연금 보험료율은 </a:t>
            </a:r>
            <a:r>
              <a:rPr lang="en-US" altLang="ko-KR" sz="1600" spc="-50" dirty="0"/>
              <a:t>25% </a:t>
            </a:r>
            <a:r>
              <a:rPr lang="ko-KR" altLang="en-US" sz="1600" spc="-50" dirty="0"/>
              <a:t>수준이 넘고</a:t>
            </a:r>
            <a:r>
              <a:rPr lang="en-US" altLang="ko-KR" sz="1600" spc="-50" dirty="0"/>
              <a:t>, OECD </a:t>
            </a:r>
            <a:r>
              <a:rPr lang="ko-KR" altLang="en-US" sz="1600" spc="-50" dirty="0"/>
              <a:t>평균은 </a:t>
            </a:r>
            <a:r>
              <a:rPr lang="en-US" altLang="ko-KR" sz="1600" spc="-50" dirty="0"/>
              <a:t>18%</a:t>
            </a:r>
            <a:r>
              <a:rPr lang="ko-KR" altLang="en-US" sz="1600" spc="-50" dirty="0"/>
              <a:t>에 달한다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보험료율의 높고 낮음에 정답은 없지만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낮은 보험료율로 인해 우리나라 연금의 재정은 근본적으로 취약성을 가질 수 밖에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0611924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3C92B-6A23-9B2C-673E-0B2C9E48D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FA525-9A48-4544-62A9-FCCDA4FEE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연금의 급여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8AFA4E-7996-0549-009E-A15AC1B1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0851E6-BD04-8186-DBBF-87351589802E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250267" cy="484760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국민연금제도에서 지급하는 급여의 종류에는 노령연금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장애연금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유족연금이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노령연금이 가장 기본적인 연금으로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가입기간이 </a:t>
                </a:r>
                <a:r>
                  <a:rPr lang="en-US" altLang="ko-KR" sz="1600" spc="-50" dirty="0"/>
                  <a:t>10</a:t>
                </a:r>
                <a:r>
                  <a:rPr lang="ko-KR" altLang="en-US" sz="1600" spc="-50" dirty="0"/>
                  <a:t>년이 넘고</a:t>
                </a:r>
                <a:r>
                  <a:rPr lang="en-US" altLang="ko-KR" sz="1600" spc="-50" dirty="0"/>
                  <a:t>, 60</a:t>
                </a:r>
                <a:r>
                  <a:rPr lang="ko-KR" altLang="en-US" sz="1600" spc="-50" dirty="0"/>
                  <a:t>세에 도달한 사람이 받게 되는 연금이다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소득이 있는 업무에 종사하지 않는 경우는 </a:t>
                </a:r>
                <a:r>
                  <a:rPr lang="en-US" altLang="ko-KR" sz="1600" spc="-50" dirty="0"/>
                  <a:t>55</a:t>
                </a:r>
                <a:r>
                  <a:rPr lang="ko-KR" altLang="en-US" sz="1600" spc="-50" dirty="0"/>
                  <a:t>세를 기준으로 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가입자가 받게 되는 노령연금의 금액은 아래와 같은 방식으로 결정된다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각 가입자가 얼마나 오랜 기간동안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얼마의 보험료를 </a:t>
                </a:r>
                <a:r>
                  <a:rPr lang="ko-KR" altLang="en-US" sz="1600" spc="-50" dirty="0" err="1"/>
                  <a:t>납부했느냐에</a:t>
                </a:r>
                <a:r>
                  <a:rPr lang="ko-KR" altLang="en-US" sz="1600" spc="-50" dirty="0"/>
                  <a:t> 따라 그가 받을 기본연금액이 결정된다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1</a:t>
                </a:r>
                <a:r>
                  <a:rPr lang="ko-KR" altLang="en-US" sz="1600" spc="-50" dirty="0" err="1"/>
                  <a:t>년동안의</a:t>
                </a:r>
                <a:r>
                  <a:rPr lang="ko-KR" altLang="en-US" sz="1600" spc="-50" dirty="0"/>
                  <a:t> 기본연금액을 산정하는 공식은 아래와 같다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sz="1600" spc="-50" dirty="0"/>
                  <a:t>는 연금수급 직전 </a:t>
                </a:r>
                <a:r>
                  <a:rPr lang="en-US" altLang="ko-KR" sz="1600" spc="-50" dirty="0"/>
                  <a:t>3</a:t>
                </a:r>
                <a:r>
                  <a:rPr lang="ko-KR" altLang="en-US" sz="1600" spc="-50" dirty="0"/>
                  <a:t>년 동안의 전체 가입자의 월 평균보수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ko-KR" altLang="en-US" sz="1600" spc="-50" dirty="0"/>
                  <a:t>는 가입자 개인의 가입기간 중 월 평균보수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20</a:t>
                </a:r>
                <a:r>
                  <a:rPr lang="ko-KR" altLang="en-US" sz="1600" spc="-50" dirty="0"/>
                  <a:t>년을 초과하는 가입연수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600" dirty="0">
                    <a:latin typeface="Cambria Math" panose="02040503050406030204" pitchFamily="18" charset="0"/>
                  </a:rPr>
                  <a:t>는 소득대체율과</a:t>
                </a:r>
                <a:r>
                  <a:rPr lang="en-US" altLang="ko-KR" sz="1600" spc="-50" dirty="0">
                    <a:latin typeface="Cambria Math" panose="02040503050406030204" pitchFamily="18" charset="0"/>
                  </a:rPr>
                  <a:t> </a:t>
                </a:r>
                <a:r>
                  <a:rPr lang="ko-KR" altLang="en-US" sz="1600" spc="-50" dirty="0">
                    <a:latin typeface="Cambria Math" panose="02040503050406030204" pitchFamily="18" charset="0"/>
                  </a:rPr>
                  <a:t>관련된 상수로</a:t>
                </a:r>
                <a:r>
                  <a:rPr lang="en-US" altLang="ko-KR" sz="1600" spc="-50" dirty="0">
                    <a:latin typeface="Cambria Math" panose="02040503050406030204" pitchFamily="18" charset="0"/>
                  </a:rPr>
                  <a:t>, </a:t>
                </a:r>
                <a:r>
                  <a:rPr lang="ko-KR" altLang="en-US" sz="1600" spc="-50" dirty="0">
                    <a:latin typeface="Cambria Math" panose="02040503050406030204" pitchFamily="18" charset="0"/>
                  </a:rPr>
                  <a:t>이는 제도의 변화로 인해 가입자가 언제 </a:t>
                </a:r>
                <a:r>
                  <a:rPr lang="ko-KR" altLang="en-US" sz="1600" spc="-50" dirty="0" err="1">
                    <a:latin typeface="Cambria Math" panose="02040503050406030204" pitchFamily="18" charset="0"/>
                  </a:rPr>
                  <a:t>가입했느냐에</a:t>
                </a:r>
                <a:r>
                  <a:rPr lang="ko-KR" altLang="en-US" sz="1600" spc="-50" dirty="0">
                    <a:latin typeface="Cambria Math" panose="02040503050406030204" pitchFamily="18" charset="0"/>
                  </a:rPr>
                  <a:t> 따라 다른 값을 갖는다</a:t>
                </a:r>
                <a:r>
                  <a:rPr lang="en-US" altLang="ko-KR" sz="1600" spc="-50">
                    <a:latin typeface="Cambria Math" panose="02040503050406030204" pitchFamily="18" charset="0"/>
                  </a:rPr>
                  <a:t>.</a:t>
                </a:r>
                <a:endParaRPr lang="en-US" altLang="ko-KR" sz="16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0851E6-BD04-8186-DBBF-873515898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250267" cy="4847609"/>
              </a:xfrm>
              <a:prstGeom prst="rect">
                <a:avLst/>
              </a:prstGeom>
              <a:blipFill>
                <a:blip r:embed="rId3"/>
                <a:stretch>
                  <a:fillRect b="-5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2076AF-AD77-7700-37DB-7D967903178F}"/>
                  </a:ext>
                </a:extLst>
              </p:cNvPr>
              <p:cNvSpPr txBox="1"/>
              <p:nvPr/>
            </p:nvSpPr>
            <p:spPr>
              <a:xfrm>
                <a:off x="1369503" y="3812796"/>
                <a:ext cx="4010713" cy="2821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본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금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×(1+0.05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2076AF-AD77-7700-37DB-7D9679031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9503" y="3812796"/>
                <a:ext cx="4010713" cy="282193"/>
              </a:xfrm>
              <a:prstGeom prst="rect">
                <a:avLst/>
              </a:prstGeom>
              <a:blipFill>
                <a:blip r:embed="rId4"/>
                <a:stretch>
                  <a:fillRect t="-6383" b="-361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59538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ED331-C4DC-191B-2AFB-95C7F589F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37AFB0-F537-B88B-9CA8-B12B179AD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연금의 급여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D5D92C-D69B-C903-EB0E-9B072C108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F2E42A-5388-4EEB-94C5-470A4D7DF9E4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250267" cy="521732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가입자 개인의 가입기간 중 평균보수인</a:t>
                </a:r>
                <a:r>
                  <a:rPr lang="en-US" altLang="ko-KR" sz="16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ko-KR" altLang="en-US" sz="1600" dirty="0">
                    <a:latin typeface="Cambria Math" panose="02040503050406030204" pitchFamily="18" charset="0"/>
                  </a:rPr>
                  <a:t>가 기본연금액을 결정하는 공식에 포함된 것은 당연하다</a:t>
                </a:r>
                <a:r>
                  <a:rPr lang="en-US" altLang="ko-KR" sz="1600" dirty="0">
                    <a:latin typeface="Cambria Math" panose="02040503050406030204" pitchFamily="18" charset="0"/>
                  </a:rPr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>
                    <a:latin typeface="Cambria Math" panose="02040503050406030204" pitchFamily="18" charset="0"/>
                  </a:rPr>
                  <a:t>평균 보수가 더 클수록 더 많은 보험료를 납부했을 것이기 때문에</a:t>
                </a:r>
                <a:r>
                  <a:rPr lang="en-US" altLang="ko-KR" sz="1600" dirty="0">
                    <a:latin typeface="Cambria Math" panose="02040503050406030204" pitchFamily="18" charset="0"/>
                  </a:rPr>
                  <a:t>, 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더 많은 연금을 탈 자격이 생긴다</a:t>
                </a:r>
                <a:r>
                  <a:rPr lang="en-US" altLang="ko-KR" sz="1600" dirty="0">
                    <a:latin typeface="Cambria Math" panose="02040503050406030204" pitchFamily="18" charset="0"/>
                  </a:rPr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>
                    <a:latin typeface="Cambria Math" panose="02040503050406030204" pitchFamily="18" charset="0"/>
                  </a:rPr>
                  <a:t>전체 가입자의 </a:t>
                </a:r>
                <a:r>
                  <a:rPr lang="en-US" altLang="ko-KR" sz="1600" dirty="0">
                    <a:latin typeface="Cambria Math" panose="02040503050406030204" pitchFamily="18" charset="0"/>
                  </a:rPr>
                  <a:t>3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년간 평균보수인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sz="1600" dirty="0">
                    <a:latin typeface="Cambria Math" panose="02040503050406030204" pitchFamily="18" charset="0"/>
                  </a:rPr>
                  <a:t>가 연금액의 결정공식에 들어가는 것은 제도에 어느 정도의 재분배효과를 도입하려는 의도를 반영하고 있다</a:t>
                </a:r>
                <a:r>
                  <a:rPr lang="en-US" altLang="ko-KR" sz="1600" dirty="0">
                    <a:latin typeface="Cambria Math" panose="02040503050406030204" pitchFamily="18" charset="0"/>
                  </a:rPr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>
                    <a:latin typeface="Cambria Math" panose="02040503050406030204" pitchFamily="18" charset="0"/>
                  </a:rPr>
                  <a:t>모든 가입자에게 공통으로 적용되기 때문에</a:t>
                </a:r>
                <a:r>
                  <a:rPr lang="en-US" altLang="ko-KR" sz="1600" dirty="0">
                    <a:latin typeface="Cambria Math" panose="02040503050406030204" pitchFamily="18" charset="0"/>
                  </a:rPr>
                  <a:t>, 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가입기간 동안의 평균보수가 낮은 사람일수록 유리하다</a:t>
                </a:r>
                <a:r>
                  <a:rPr lang="en-US" altLang="ko-KR" sz="1600" dirty="0">
                    <a:latin typeface="Cambria Math" panose="02040503050406030204" pitchFamily="18" charset="0"/>
                  </a:rPr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>
                    <a:latin typeface="Cambria Math" panose="02040503050406030204" pitchFamily="18" charset="0"/>
                  </a:rPr>
                  <a:t>또한 이 부분을 통해 인플레이션에 대한 조정이 어느 정도 가능해지는 측면이 있다</a:t>
                </a:r>
                <a:r>
                  <a:rPr lang="en-US" altLang="ko-KR" sz="1600" dirty="0">
                    <a:latin typeface="Cambria Math" panose="02040503050406030204" pitchFamily="18" charset="0"/>
                  </a:rPr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>
                    <a:latin typeface="Cambria Math" panose="02040503050406030204" pitchFamily="18" charset="0"/>
                  </a:rPr>
                  <a:t>식에는 나타나 있지 않지만</a:t>
                </a:r>
                <a:r>
                  <a:rPr lang="en-US" altLang="ko-KR" sz="1600" dirty="0">
                    <a:latin typeface="Cambria Math" panose="02040503050406030204" pitchFamily="18" charset="0"/>
                  </a:rPr>
                  <a:t>, 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추가 </a:t>
                </a:r>
                <a:r>
                  <a:rPr lang="ko-KR" altLang="en-US" sz="1600" dirty="0" err="1">
                    <a:latin typeface="Cambria Math" panose="02040503050406030204" pitchFamily="18" charset="0"/>
                  </a:rPr>
                  <a:t>크레딧을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 통해 가급금이 더해지기도 한다</a:t>
                </a:r>
                <a:r>
                  <a:rPr lang="en-US" altLang="ko-KR" sz="1600" dirty="0">
                    <a:latin typeface="Cambria Math" panose="02040503050406030204" pitchFamily="18" charset="0"/>
                  </a:rPr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>
                    <a:latin typeface="Cambria Math" panose="02040503050406030204" pitchFamily="18" charset="0"/>
                  </a:rPr>
                  <a:t>저출산 문제에 대한 대응의 성격을</a:t>
                </a:r>
                <a:r>
                  <a:rPr lang="en-US" altLang="ko-KR" sz="1600" dirty="0">
                    <a:latin typeface="Cambria Math" panose="02040503050406030204" pitchFamily="18" charset="0"/>
                  </a:rPr>
                  <a:t> 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갖는 출산 크레딧</a:t>
                </a:r>
                <a:endParaRPr lang="en-US" altLang="ko-KR" sz="1600" dirty="0">
                  <a:latin typeface="Cambria Math" panose="02040503050406030204" pitchFamily="18" charset="0"/>
                </a:endParaRP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>
                    <a:latin typeface="Cambria Math" panose="02040503050406030204" pitchFamily="18" charset="0"/>
                  </a:rPr>
                  <a:t>군복무자에 대한 배려를 뜻하는 군복무 크레딧</a:t>
                </a:r>
                <a:endParaRPr lang="en-US" altLang="ko-KR" sz="1600" dirty="0">
                  <a:latin typeface="Cambria Math" panose="02040503050406030204" pitchFamily="18" charset="0"/>
                </a:endParaRP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>
                    <a:latin typeface="Cambria Math" panose="02040503050406030204" pitchFamily="18" charset="0"/>
                  </a:rPr>
                  <a:t>결국 가입자가 실제로 받게 되는 연금은 위 식을 통해 계산한 기본연금액에 연금종별 지급률 및 제한율을 곱해서 얻은 값에다가 부양가족연금액을 더한 것이 된다</a:t>
                </a:r>
                <a:r>
                  <a:rPr lang="en-US" altLang="ko-KR" sz="1600" dirty="0">
                    <a:latin typeface="Cambria Math" panose="02040503050406030204" pitchFamily="18" charset="0"/>
                  </a:rPr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dirty="0">
                    <a:latin typeface="+mn-ea"/>
                  </a:rPr>
                  <a:t>https://www.nps.or.kr/pnsinfo/ntpsklg/getOHAF0048M0.do?menuId=MN24001117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F2E42A-5388-4EEB-94C5-470A4D7DF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250267" cy="52173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FAB8A5-8EB4-7FA8-1613-5CA12EE56670}"/>
                  </a:ext>
                </a:extLst>
              </p:cNvPr>
              <p:cNvSpPr txBox="1"/>
              <p:nvPr/>
            </p:nvSpPr>
            <p:spPr>
              <a:xfrm>
                <a:off x="1369503" y="958844"/>
                <a:ext cx="4010713" cy="2821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본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금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×(1+0.05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FAB8A5-8EB4-7FA8-1613-5CA12EE56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9503" y="958844"/>
                <a:ext cx="4010713" cy="282193"/>
              </a:xfrm>
              <a:prstGeom prst="rect">
                <a:avLst/>
              </a:prstGeom>
              <a:blipFill>
                <a:blip r:embed="rId4"/>
                <a:stretch>
                  <a:fillRect t="-6383" b="-361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36362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1EA1C-D0BA-961A-1618-249BA8BA1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1BAAE-4BDE-63AB-44B8-3475C3935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연금의 급여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414458-D7FD-DCAC-217A-E1487CCAA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926327-4D7E-96DA-6A2D-EF828BF51045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250267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+mn-ea"/>
                  </a:rPr>
                  <a:t>가입자가 받는 기본연금액은 그 성격상 균등부분과 소득비례부분의 두 부분으로 구분될 수 있다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>
                    <a:latin typeface="+mn-ea"/>
                  </a:rPr>
                  <a:t>균등부분은 모든 가입자가 똑같은 수준으로 받게 되는 것을 뜻하는데</a:t>
                </a:r>
                <a:r>
                  <a:rPr lang="en-US" altLang="ko-KR" sz="1600" dirty="0">
                    <a:latin typeface="+mn-ea"/>
                  </a:rPr>
                  <a:t>, </a:t>
                </a:r>
                <a:r>
                  <a:rPr lang="ko-KR" altLang="en-US" sz="1600" dirty="0">
                    <a:latin typeface="+mn-ea"/>
                  </a:rPr>
                  <a:t>위의 공식에서 변수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sz="1600" dirty="0">
                    <a:latin typeface="+mn-ea"/>
                  </a:rPr>
                  <a:t>와 관련이 있다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>
                    <a:latin typeface="+mn-ea"/>
                  </a:rPr>
                  <a:t>소득비례부분은 가입자의 평균보수에 비례하는 것으로</a:t>
                </a:r>
                <a:r>
                  <a:rPr lang="en-US" altLang="ko-KR" sz="1600" dirty="0">
                    <a:latin typeface="+mn-ea"/>
                  </a:rPr>
                  <a:t>, </a:t>
                </a:r>
                <a:r>
                  <a:rPr lang="ko-KR" altLang="en-US" sz="1600" dirty="0">
                    <a:latin typeface="+mn-ea"/>
                  </a:rPr>
                  <a:t>위의 공식에서 변수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ko-KR" altLang="en-US" sz="1600" dirty="0">
                    <a:latin typeface="+mn-ea"/>
                  </a:rPr>
                  <a:t>와 관련이 있다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>
                    <a:latin typeface="+mn-ea"/>
                  </a:rPr>
                  <a:t>식을 살펴보면 균등부분</a:t>
                </a:r>
                <a:r>
                  <a:rPr lang="en-US" altLang="ko-KR" sz="1600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ko-KR" sz="1600" dirty="0">
                    <a:latin typeface="+mn-ea"/>
                  </a:rPr>
                  <a:t>)</a:t>
                </a:r>
                <a:r>
                  <a:rPr lang="ko-KR" altLang="en-US" sz="1600" dirty="0">
                    <a:latin typeface="+mn-ea"/>
                  </a:rPr>
                  <a:t>과 소득비례부분</a:t>
                </a:r>
                <a:r>
                  <a:rPr lang="en-US" altLang="ko-KR" sz="1600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ko-KR" sz="1600" dirty="0">
                    <a:latin typeface="+mn-ea"/>
                  </a:rPr>
                  <a:t>)</a:t>
                </a:r>
                <a:r>
                  <a:rPr lang="ko-KR" altLang="en-US" sz="1600" dirty="0">
                    <a:latin typeface="+mn-ea"/>
                  </a:rPr>
                  <a:t>이 </a:t>
                </a:r>
                <a:r>
                  <a:rPr lang="en-US" altLang="ko-KR" sz="1600" dirty="0">
                    <a:latin typeface="+mn-ea"/>
                  </a:rPr>
                  <a:t>1:1</a:t>
                </a:r>
                <a:r>
                  <a:rPr lang="ko-KR" altLang="en-US" sz="1600" dirty="0">
                    <a:latin typeface="+mn-ea"/>
                  </a:rPr>
                  <a:t>의 비율을 유지하고 있다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>
                    <a:latin typeface="+mn-ea"/>
                  </a:rPr>
                  <a:t>사회적 적합성과 개인 공평성을 적절한 선에서 절충하려는 노력의 결과이다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0.05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1600" dirty="0">
                    <a:latin typeface="+mn-ea"/>
                  </a:rPr>
                  <a:t> </a:t>
                </a:r>
                <a:r>
                  <a:rPr lang="ko-KR" altLang="en-US" sz="1600" dirty="0">
                    <a:latin typeface="+mn-ea"/>
                  </a:rPr>
                  <a:t>는 가입기간이 긴 사람일수록 더 많은 연금을 탈 수 있게 </a:t>
                </a:r>
                <a:r>
                  <a:rPr lang="ko-KR" altLang="en-US" sz="1600" dirty="0" err="1">
                    <a:latin typeface="+mn-ea"/>
                  </a:rPr>
                  <a:t>만드려는</a:t>
                </a:r>
                <a:r>
                  <a:rPr lang="ko-KR" altLang="en-US" sz="1600" dirty="0">
                    <a:latin typeface="+mn-ea"/>
                  </a:rPr>
                  <a:t> 의도를 반영한다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>
                  <a:latin typeface="+mn-ea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+mn-ea"/>
                  </a:rPr>
                  <a:t>국민연금제도의 연금 급여수준이 얼마나 관대한지의 척도로 소득대체율이라는 개념을 종종 사용한다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>
                    <a:latin typeface="+mn-ea"/>
                  </a:rPr>
                  <a:t>소득 </a:t>
                </a:r>
                <a:r>
                  <a:rPr lang="ko-KR" altLang="en-US" sz="1600" dirty="0" err="1">
                    <a:latin typeface="+mn-ea"/>
                  </a:rPr>
                  <a:t>대체율이란</a:t>
                </a:r>
                <a:r>
                  <a:rPr lang="ko-KR" altLang="en-US" sz="1600" dirty="0">
                    <a:latin typeface="+mn-ea"/>
                  </a:rPr>
                  <a:t> 어떤 사람이 받는 연금을 은퇴하기 전의 평균보수로 나눈 비율을 의미한다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>
                    <a:latin typeface="+mn-ea"/>
                  </a:rPr>
                  <a:t>이 비율의 값이 </a:t>
                </a:r>
                <a:r>
                  <a:rPr lang="en-US" altLang="ko-KR" sz="1600" dirty="0">
                    <a:latin typeface="+mn-ea"/>
                  </a:rPr>
                  <a:t>100%</a:t>
                </a:r>
                <a:r>
                  <a:rPr lang="ko-KR" altLang="en-US" sz="1600" dirty="0">
                    <a:latin typeface="+mn-ea"/>
                  </a:rPr>
                  <a:t>라면 은퇴한 후에도 처분가능소득에는 변화가 없는 것이다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>
                    <a:latin typeface="+mn-ea"/>
                  </a:rPr>
                  <a:t>따라서 소득대체율이 </a:t>
                </a:r>
                <a:r>
                  <a:rPr lang="en-US" altLang="ko-KR" sz="1600" dirty="0">
                    <a:latin typeface="+mn-ea"/>
                  </a:rPr>
                  <a:t>100%</a:t>
                </a:r>
                <a:r>
                  <a:rPr lang="ko-KR" altLang="en-US" sz="1600" dirty="0">
                    <a:latin typeface="+mn-ea"/>
                  </a:rPr>
                  <a:t>에 가까울수록 급여수준이 관대한 것이다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100" dirty="0">
                    <a:latin typeface="+mn-ea"/>
                  </a:rPr>
                  <a:t>제도 도입 당시 소득대체율은 </a:t>
                </a:r>
                <a:r>
                  <a:rPr lang="en-US" altLang="ko-KR" sz="1600" spc="-100" dirty="0">
                    <a:latin typeface="+mn-ea"/>
                  </a:rPr>
                  <a:t>70%</a:t>
                </a:r>
                <a:r>
                  <a:rPr lang="ko-KR" altLang="en-US" sz="1600" spc="-100" dirty="0">
                    <a:latin typeface="+mn-ea"/>
                  </a:rPr>
                  <a:t>였고</a:t>
                </a:r>
                <a:r>
                  <a:rPr lang="en-US" altLang="ko-KR" sz="1600" spc="-100" dirty="0">
                    <a:latin typeface="+mn-ea"/>
                  </a:rPr>
                  <a:t>, </a:t>
                </a:r>
                <a:r>
                  <a:rPr lang="ko-KR" altLang="en-US" sz="1600" spc="-100" dirty="0">
                    <a:latin typeface="+mn-ea"/>
                  </a:rPr>
                  <a:t>하향 조정이 몇 차례 이루어지고 </a:t>
                </a:r>
                <a:r>
                  <a:rPr lang="en-US" altLang="ko-KR" sz="1600" spc="-100" dirty="0">
                    <a:latin typeface="+mn-ea"/>
                  </a:rPr>
                  <a:t>2028</a:t>
                </a:r>
                <a:r>
                  <a:rPr lang="ko-KR" altLang="en-US" sz="1600" spc="-100" dirty="0">
                    <a:latin typeface="+mn-ea"/>
                  </a:rPr>
                  <a:t>년에는 </a:t>
                </a:r>
                <a:r>
                  <a:rPr lang="en-US" altLang="ko-KR" sz="1600" spc="-100" dirty="0">
                    <a:latin typeface="+mn-ea"/>
                  </a:rPr>
                  <a:t>40% </a:t>
                </a:r>
                <a:r>
                  <a:rPr lang="ko-KR" altLang="en-US" sz="1600" spc="-100" dirty="0">
                    <a:latin typeface="+mn-ea"/>
                  </a:rPr>
                  <a:t>수준에 도달할 예정이었다</a:t>
                </a:r>
                <a:r>
                  <a:rPr lang="en-US" altLang="ko-KR" sz="1600" spc="-100" dirty="0">
                    <a:latin typeface="+mn-ea"/>
                  </a:rPr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dirty="0">
                    <a:latin typeface="+mn-ea"/>
                  </a:rPr>
                  <a:t>2025</a:t>
                </a:r>
                <a:r>
                  <a:rPr lang="ko-KR" altLang="en-US" sz="1600" dirty="0">
                    <a:latin typeface="+mn-ea"/>
                  </a:rPr>
                  <a:t>년에 이루어진 연금개혁에서는 노령층의 소득보장을 강화해야 한다는 이유로 소득대체율을 </a:t>
                </a:r>
                <a:r>
                  <a:rPr lang="en-US" altLang="ko-KR" sz="1600" dirty="0">
                    <a:latin typeface="+mn-ea"/>
                  </a:rPr>
                  <a:t>43%</a:t>
                </a:r>
                <a:r>
                  <a:rPr lang="ko-KR" altLang="en-US" sz="1600" dirty="0">
                    <a:latin typeface="+mn-ea"/>
                  </a:rPr>
                  <a:t>로 상향 조정하고</a:t>
                </a:r>
                <a:r>
                  <a:rPr lang="en-US" altLang="ko-KR" sz="1600" dirty="0">
                    <a:latin typeface="+mn-ea"/>
                  </a:rPr>
                  <a:t>, </a:t>
                </a:r>
                <a:r>
                  <a:rPr lang="ko-KR" altLang="en-US" sz="1600" dirty="0">
                    <a:latin typeface="+mn-ea"/>
                  </a:rPr>
                  <a:t>계속 유지하기로 하였다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>
                    <a:latin typeface="+mn-ea"/>
                  </a:rPr>
                  <a:t>노령층의 생활 안정이라는 긍정적 측면도 있지만</a:t>
                </a:r>
                <a:r>
                  <a:rPr lang="en-US" altLang="ko-KR" sz="1600" dirty="0">
                    <a:latin typeface="+mn-ea"/>
                  </a:rPr>
                  <a:t>, </a:t>
                </a:r>
                <a:r>
                  <a:rPr lang="ko-KR" altLang="en-US" sz="1600" dirty="0">
                    <a:latin typeface="+mn-ea"/>
                  </a:rPr>
                  <a:t>국민연금의 재정 건정성에 대한 우려가 커진다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926327-4D7E-96DA-6A2D-EF828BF51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250267" cy="5584670"/>
              </a:xfrm>
              <a:prstGeom prst="rect">
                <a:avLst/>
              </a:prstGeom>
              <a:blipFill>
                <a:blip r:embed="rId3"/>
                <a:stretch>
                  <a:fillRect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2561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C8E31-EDDF-1AAF-FA6E-DD9CB7BAE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ABA4BC-CD23-D3CA-AAD6-7AD67E8D5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국민연금제도의 개혁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050E50-1619-D233-A58E-60DCA3F3A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43FFA7-FDE8-64FA-A3FF-8517BB7F6B6C}"/>
              </a:ext>
            </a:extLst>
          </p:cNvPr>
          <p:cNvSpPr txBox="1"/>
          <p:nvPr/>
        </p:nvSpPr>
        <p:spPr>
          <a:xfrm>
            <a:off x="288790" y="958844"/>
            <a:ext cx="11086682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우리나라의 국민연금제도는 </a:t>
            </a:r>
            <a:r>
              <a:rPr lang="en-US" altLang="ko-KR" sz="1600" spc="-50" dirty="0"/>
              <a:t>3%</a:t>
            </a:r>
            <a:r>
              <a:rPr lang="ko-KR" altLang="en-US" sz="1600" spc="-50" dirty="0"/>
              <a:t>라는 낮은 보험료율과 </a:t>
            </a:r>
            <a:r>
              <a:rPr lang="en-US" altLang="ko-KR" sz="1600" spc="-50" dirty="0"/>
              <a:t>70%</a:t>
            </a:r>
            <a:r>
              <a:rPr lang="ko-KR" altLang="en-US" sz="1600" spc="-50" dirty="0"/>
              <a:t>라는 높은 소득대체율로 출범했기 때문에 연금재정이 근본적인 취약성을 안고 있었다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Cambria Math" panose="02040503050406030204" pitchFamily="18" charset="0"/>
              </a:rPr>
              <a:t>이에 따라 보험료와 급여의 수준을 대폭 조정하지 않으면 연금기금이 장래에 고갈될 것이라는 위기의식이 생겼다</a:t>
            </a:r>
            <a:r>
              <a:rPr lang="en-US" altLang="ko-KR" sz="1600" dirty="0">
                <a:latin typeface="Cambria Math" panose="02040503050406030204" pitchFamily="18" charset="0"/>
              </a:rPr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정부는 </a:t>
            </a:r>
            <a:r>
              <a:rPr lang="en-US" altLang="ko-KR" sz="1600" spc="-50" dirty="0"/>
              <a:t>1998</a:t>
            </a:r>
            <a:r>
              <a:rPr lang="ko-KR" altLang="en-US" sz="1600" spc="-50" dirty="0"/>
              <a:t>년 「국민연금법」 개정을 통해 보험료율을 </a:t>
            </a:r>
            <a:r>
              <a:rPr lang="en-US" altLang="ko-KR" sz="1600" spc="-50" dirty="0"/>
              <a:t>3%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9%</a:t>
            </a:r>
            <a:r>
              <a:rPr lang="ko-KR" altLang="en-US" sz="1600" spc="-50" dirty="0"/>
              <a:t>로 올리고 연급수급 연령도 </a:t>
            </a:r>
            <a:r>
              <a:rPr lang="en-US" altLang="ko-KR" sz="1600" spc="-50" dirty="0"/>
              <a:t>60</a:t>
            </a:r>
            <a:r>
              <a:rPr lang="ko-KR" altLang="en-US" sz="1600" spc="-50" dirty="0"/>
              <a:t>세에서 </a:t>
            </a:r>
            <a:r>
              <a:rPr lang="en-US" altLang="ko-KR" sz="1600" spc="-50" dirty="0"/>
              <a:t>65</a:t>
            </a:r>
            <a:r>
              <a:rPr lang="ko-KR" altLang="en-US" sz="1600" spc="-50" dirty="0"/>
              <a:t>세로 늦추는 등의 조치를 취하고</a:t>
            </a:r>
            <a:r>
              <a:rPr lang="en-US" altLang="ko-KR" sz="1600" spc="-50" dirty="0"/>
              <a:t>, 5</a:t>
            </a:r>
            <a:r>
              <a:rPr lang="ko-KR" altLang="en-US" sz="1600" spc="-50" dirty="0" err="1"/>
              <a:t>년마다</a:t>
            </a:r>
            <a:r>
              <a:rPr lang="ko-KR" altLang="en-US" sz="1600" spc="-50" dirty="0"/>
              <a:t> 연금 재정의 상황을 점검하여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필요할 때 보험료를 재조정할 수 있도록 길을 열어 놓았다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이러한 조치만으로는 연금재정의 안정적인 운영이 힘들었고</a:t>
            </a:r>
            <a:r>
              <a:rPr lang="en-US" altLang="ko-KR" sz="1600" spc="-50" dirty="0"/>
              <a:t>, 2003</a:t>
            </a:r>
            <a:r>
              <a:rPr lang="ko-KR" altLang="en-US" sz="1600" spc="-50" dirty="0"/>
              <a:t>년 「국민연금법」 을 개정하여 제도 개혁을 시도했다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연금재정 안정을 위해서는 보험료율을 올리는 동시에 소득대체율을 낮추어야 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가입자로서는 둘 중 어느 쪽도 </a:t>
            </a:r>
            <a:r>
              <a:rPr lang="ko-KR" altLang="en-US" sz="1600" spc="-50" dirty="0" err="1"/>
              <a:t>달가울리</a:t>
            </a:r>
            <a:r>
              <a:rPr lang="ko-KR" altLang="en-US" sz="1600" spc="-50" dirty="0"/>
              <a:t> 없었다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이런 부정적 기류로 인해 개혁안을 도출하는 과정에서 많은 정치적 논란이 야기 되었고</a:t>
            </a:r>
            <a:r>
              <a:rPr lang="en-US" altLang="ko-KR" sz="1600" spc="-50" dirty="0"/>
              <a:t>, 2007</a:t>
            </a:r>
            <a:r>
              <a:rPr lang="ko-KR" altLang="en-US" sz="1600" spc="-50" dirty="0"/>
              <a:t>년에 이르러서야 개정법률안이 통과되었다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개혁의 주요 내용은 </a:t>
            </a:r>
            <a:r>
              <a:rPr lang="en-US" altLang="ko-KR" sz="1600" spc="-50" dirty="0"/>
              <a:t>9%</a:t>
            </a:r>
            <a:r>
              <a:rPr lang="ko-KR" altLang="en-US" sz="1600" spc="-50" dirty="0"/>
              <a:t>의 보험료율은 그대로 유지하되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소득대체율을 점진적으로 낮추어 </a:t>
            </a:r>
            <a:r>
              <a:rPr lang="en-US" altLang="ko-KR" sz="1600" spc="-50" dirty="0"/>
              <a:t>2028</a:t>
            </a:r>
            <a:r>
              <a:rPr lang="ko-KR" altLang="en-US" sz="1600" spc="-50" dirty="0"/>
              <a:t>년까지 </a:t>
            </a:r>
            <a:r>
              <a:rPr lang="en-US" altLang="ko-KR" sz="1600" spc="-50" dirty="0"/>
              <a:t>40%</a:t>
            </a:r>
            <a:r>
              <a:rPr lang="ko-KR" altLang="en-US" sz="1600" spc="-50" dirty="0"/>
              <a:t>수준으로 낮아지게 만든다는 것이었다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38784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C186F-2E0E-2D9A-6F5A-BEF15D069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5EA440-441B-8508-16F6-68208F6D0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국민연금제도의 개혁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71B5CA-4805-8BCF-7688-CB81C9CFE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57ADC-6542-A048-EFAD-2CF0232B295B}"/>
              </a:ext>
            </a:extLst>
          </p:cNvPr>
          <p:cNvSpPr txBox="1"/>
          <p:nvPr/>
        </p:nvSpPr>
        <p:spPr>
          <a:xfrm>
            <a:off x="288790" y="958844"/>
            <a:ext cx="11086682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힘들게 연금제도 개혁을 이루었지만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보험료율을 유지하고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소득대체율만 낮추는 것으로는 연금기금의 재정 안정성을 확보하기 힘들었다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당시에도 개혁의 성과가 고작 연금기금의 고갈시기를 </a:t>
            </a:r>
            <a:r>
              <a:rPr lang="en-US" altLang="ko-KR" sz="1600" spc="-50" dirty="0"/>
              <a:t>2047</a:t>
            </a:r>
            <a:r>
              <a:rPr lang="ko-KR" altLang="en-US" sz="1600" spc="-50" dirty="0" err="1"/>
              <a:t>년에서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2060</a:t>
            </a:r>
            <a:r>
              <a:rPr lang="ko-KR" altLang="en-US" sz="1600" spc="-50" dirty="0"/>
              <a:t>년으로 </a:t>
            </a:r>
            <a:r>
              <a:rPr lang="en-US" altLang="ko-KR" sz="1600" spc="-50" dirty="0"/>
              <a:t>13</a:t>
            </a:r>
            <a:r>
              <a:rPr lang="ko-KR" altLang="en-US" sz="1600" spc="-50" dirty="0"/>
              <a:t>년 정도 늦추는데 그쳤다는 박한 평가가 나오기도 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더군다나 최근의 저출산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고령화 추세가 급속한 속도로 진행되고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연금 고갈시점은 더욱 앞당겨질지도 모른다는 위기 의식이 높아지고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국민적 합의를 이루기 </a:t>
            </a:r>
            <a:r>
              <a:rPr lang="ko-KR" altLang="en-US" sz="1600" spc="-50" dirty="0" err="1"/>
              <a:t>어렵긴하지만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2025</a:t>
            </a:r>
            <a:r>
              <a:rPr lang="ko-KR" altLang="en-US" sz="1600" spc="-50" dirty="0"/>
              <a:t>년이 되어 국민연금제도의 개혁이 다시 본격 논의되기 시작했다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결과 보험료율은 </a:t>
            </a:r>
            <a:r>
              <a:rPr lang="en-US" altLang="ko-KR" sz="1600" spc="-50" dirty="0"/>
              <a:t>9%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2023</a:t>
            </a:r>
            <a:r>
              <a:rPr lang="ko-KR" altLang="en-US" sz="1600" spc="-50" dirty="0"/>
              <a:t>년까지 단계적으로 </a:t>
            </a:r>
            <a:r>
              <a:rPr lang="en-US" altLang="ko-KR" sz="1600" spc="-50" dirty="0"/>
              <a:t>13%</a:t>
            </a:r>
            <a:r>
              <a:rPr lang="ko-KR" altLang="en-US" sz="1600" spc="-50" dirty="0"/>
              <a:t>까지 인상하고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소득대체율은 기존의 </a:t>
            </a:r>
            <a:r>
              <a:rPr lang="en-US" altLang="ko-KR" sz="1600" spc="-50" dirty="0"/>
              <a:t>40%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43%</a:t>
            </a:r>
            <a:r>
              <a:rPr lang="ko-KR" altLang="en-US" sz="1600" spc="-50" dirty="0"/>
              <a:t>로 상향조정하기로 합의 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나아가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연금 지급을 국가가 보장하고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매년 물가 상승률을 반영해 연금액을 조정하는 기능이 추가되었다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05738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D4D9A-1A29-B85A-C747-DDB83AE27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BEF84-4DC1-D4D9-5C26-49E3F77DD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국민연금제도의 개혁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08C94E-735C-5386-ED3A-65CD0FB4B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449E6D-EBF7-9581-0F8A-AED151A2BDC7}"/>
              </a:ext>
            </a:extLst>
          </p:cNvPr>
          <p:cNvSpPr txBox="1"/>
          <p:nvPr/>
        </p:nvSpPr>
        <p:spPr>
          <a:xfrm>
            <a:off x="288790" y="958844"/>
            <a:ext cx="11086682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여러 차례에 걸친 개혁 시도에도 불구하고 국민연금제도의 재정안정 문제는 여전히 숙제로 남아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근본적 해결을 위해서는 연금제도 자체를 손보는 것에 추가하여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보다 넓은 시각이 필요가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예컨대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노후의 생계보장이라는 문제를 해결하기 위해서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기업과 개인이 조금 더 적극적인 역할을 하도록 유도하는 방법을 강구해야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노후 생계보장이 전적으로 정부의 책임이라고 말하기는 힘들다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문제의 궁극적인 책임은 개인에게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기업도 그 책임의 일부를 나누어 갖는 것이 바람직하다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유럽과 라틴 아메리카의 여러 나라에서도 개인과 기업이 정부의 부담을 </a:t>
            </a:r>
            <a:r>
              <a:rPr lang="ko-KR" altLang="en-US" sz="1600" spc="-50" dirty="0" err="1"/>
              <a:t>덜어줌으로써</a:t>
            </a:r>
            <a:r>
              <a:rPr lang="ko-KR" altLang="en-US" sz="1600" spc="-50" dirty="0"/>
              <a:t> 연금 재정 위기를 극복하려는 시도가 확산되고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기업 주도의 퇴직연금제도를 활성화시키고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개인의 자발적 저축을 촉진하기 위해 여러가지 유인책을 도입할 필요가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96603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7EF4E-B5E0-3A1D-111F-8C3807B2C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74C330-8ACD-3363-687A-E20C99E8F96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4AB3A2-801B-F0F4-9ABE-28BF0BC7E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9B23D82-89C3-EE4E-1C72-E7278FA1D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6. </a:t>
            </a:r>
            <a:r>
              <a:rPr lang="ko-KR" altLang="en-US" sz="4000" b="1" i="0" spc="150" dirty="0"/>
              <a:t>건강보험제도의 기본성격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7970579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A1CED-BFF9-C681-DF33-EB586B6EA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758427-13CB-03F4-E071-86957EBBE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건강보험제도의 기본성격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74B742-CA62-173D-6BDC-9404328B1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EB0F2E-248A-11BE-A213-4D2A921B1098}"/>
              </a:ext>
            </a:extLst>
          </p:cNvPr>
          <p:cNvSpPr txBox="1"/>
          <p:nvPr/>
        </p:nvSpPr>
        <p:spPr>
          <a:xfrm>
            <a:off x="288790" y="958844"/>
            <a:ext cx="11086682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누구나 살면서 병에 걸리기 마련이고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막대한 비용 역시 큰 문제이다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민간 보험을 통해 이러한 위험에 어느 정도의 대처가 가능하지만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보험료가 부담이 되는 사람들의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당장 먹고 살기 바쁜 가운데 민간보험에 가입할 엄두를 내지 못한다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정부가 개입하지 않을 수 없다는 것이 일반적인 인식이다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세계 거의 모든 국가가 의료보장제도를 통해 갑작스럽게 발생하는 의료비 부담문제의 사회적 해결을 추구하고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이 문제를 어떤 방식으로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어느 정도로 </a:t>
            </a:r>
            <a:r>
              <a:rPr lang="ko-KR" altLang="en-US" sz="1600" spc="-50" dirty="0" err="1"/>
              <a:t>개입하느냐에</a:t>
            </a:r>
            <a:r>
              <a:rPr lang="ko-KR" altLang="en-US" sz="1600" spc="-50" dirty="0"/>
              <a:t> 따라 의료보장제도를 다음의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 유형으로 구분한다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민간보험방식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사회보험방식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국민보건서비스방식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5485443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BC837-5B79-AF22-52B8-6A42DB54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9463E-1C35-A491-8C92-B226D872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건강보험제도의 기본성격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19C4F7-5F35-82A0-4921-5E3198209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51212B-7AE8-3B2D-86D4-5A3852F2497A}"/>
              </a:ext>
            </a:extLst>
          </p:cNvPr>
          <p:cNvSpPr txBox="1"/>
          <p:nvPr/>
        </p:nvSpPr>
        <p:spPr>
          <a:xfrm>
            <a:off x="288790" y="958844"/>
            <a:ext cx="11086682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민간보험 방식</a:t>
            </a: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의료보험에 가입하는 것은 개인의 책임하에 이루어지며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정부의 개입이 최소한으로 제한된다는 특징을 갖고 있다</a:t>
            </a:r>
            <a:r>
              <a:rPr lang="en-US" altLang="ko-KR" sz="1600" spc="-50" dirty="0"/>
              <a:t>. 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대부분 직장에서 고용과 동시에 의료보험이 제공되므로 직장이 있는 사람이면 의료보험에 가입하게 된다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직장을 갖지 못한 사람들 중 빈곤층과 노년층에 대해서는 정부가 별도로 의료보장 혜택을 제공하는 방식을 취한다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민간보험방식의  대표적인 예로 미국이 있으며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Medicaid, Medicare</a:t>
            </a:r>
            <a:r>
              <a:rPr lang="ko-KR" altLang="en-US" sz="1600" spc="-50" dirty="0"/>
              <a:t>라는 프로그램을 운영하고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Medicaid </a:t>
            </a:r>
            <a:r>
              <a:rPr lang="ko-KR" altLang="en-US" sz="1600" spc="-50" dirty="0"/>
              <a:t>프로그램은 빈곤층을 대상으로 제공하는 무료 의료보험제도를 의미한다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Medicare</a:t>
            </a:r>
            <a:r>
              <a:rPr lang="ko-KR" altLang="en-US" sz="1600" spc="-50" dirty="0"/>
              <a:t> 프로그램은 노인과 장애인을 대상으로 제공하는 의료보험제도를 의미한다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 프로그램에도 불구하고 미국에는 상당한 숫자의 가난한 사람들이 의료보험 혜택의 사각지대에 놓여 있었다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이에 대해 전 국민을 대상으로 하는 공적 의료보험이 시급하다는 의견에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진보적인 입장을 취하는 사람들과 보수적인 입장을 취하는 사람들 간에 합의가 쉽게 이루어지지 않았다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2009</a:t>
            </a:r>
            <a:r>
              <a:rPr lang="ko-KR" altLang="en-US" sz="1600" spc="-50" dirty="0"/>
              <a:t>년 오바마 대통령이 공적 의료보험제도의 도입에 성공했으나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반쪽짜리 성공이라는 평가가 있기도 하다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의회 통과과정에서 반대파를 무마하기 위한 많은 양보를 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반대파의 방해공작으로 제도 정착에 큰 어려움이 있었다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60215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274F5-6103-B6AB-439A-3D4402F7B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6E6DF-2B7E-9FB8-46D2-620162FC7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건강보험제도의 기본성격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7DE2EF-3B88-591E-C8DF-5C747513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AB4814-B91E-46EC-4B4A-C7261F5F32FF}"/>
              </a:ext>
            </a:extLst>
          </p:cNvPr>
          <p:cNvSpPr txBox="1"/>
          <p:nvPr/>
        </p:nvSpPr>
        <p:spPr>
          <a:xfrm>
            <a:off x="288790" y="958844"/>
            <a:ext cx="11086682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600" spc="-50" dirty="0"/>
              <a:t>사회보험 방식</a:t>
            </a: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국가가 의료보장에 대한 기본적 책임을 져야 한다는 취지에서 공적 의료보험제도를 도입하고 정부가 그 비용의 일부를 부담하는 특징을 갖는다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국민이 낸 보험료가 공적 의료보험제도의 주요한 재원이 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민간 보험회사들이 제공하던 의료보험을 정부가 통합하여 운영하는 하나의 거대한 보험 프로그램이다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우리나라를 위시해 독일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프랑스 등 대부분의 나라들이 사회보험방식을 채택하고 있다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의료보험을 민간부문에 내맡기지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개입하는 이유는 국민연금제도의 필요성과 맥락을 같이한다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시장실패의 보완이라는 이유를 들 수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시장에만 맡기면 국민 모두가 아무런 제약 없이 가입할 수 있는 의료보험상품이 제공되지 못할 수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민간 보험사들은 역선택 문제를 우려하여 여러 제약을 가하기 때문인데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공적 의료보험제도를 통해 역선택 문제를 효과적으로 해결할 수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소득재분배와 온정적 간섭주의 관점에서 공적 의료보험제도의 의의를 찾을 수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</a:t>
            </a:r>
            <a:r>
              <a:rPr lang="ko-KR" altLang="en-US" sz="1600" spc="-50" dirty="0"/>
              <a:t>절에서 말한 상품평등주의 관점에서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국민 모두가 적절한 의료서비스 혜택을 누릴 수 있어야 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민간 보험사들이 의료보험을 제공하면 가난한 사람들은 보험의 혜택을 누리지 못할 수도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06550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7DB82-EF09-BAE2-3D33-CC1FC5DF9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B07784-9AEB-3303-F09E-16141EA66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건강보험제도의 기본성격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482815-05FE-73D0-1FFC-56414798B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6BC513-E6EC-7E5C-BA2E-94A99296EAFA}"/>
              </a:ext>
            </a:extLst>
          </p:cNvPr>
          <p:cNvSpPr txBox="1"/>
          <p:nvPr/>
        </p:nvSpPr>
        <p:spPr>
          <a:xfrm>
            <a:off x="288790" y="958844"/>
            <a:ext cx="11086682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온정적 간섭주의 관점에서 볼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의료보험에 가입하지 않는 사람들이 생기는 것을 막기 위한 이유도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의료보험에 가입하는 것이 바람직하다는 것을 알고 있음에도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당장의 소비를 줄이기 싫은 소비자들은 가입을 하지 않을 수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이런 소비자들의 근시안적 행동을 막기 위해 모든 국민이 강제적으로 가입할 수 있도록 하는 취지이다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spc="-50" dirty="0"/>
              <a:t>국민보건서비스 방식</a:t>
            </a: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의료보장은 전적으로 국가의 책임이라는 취지에서 모든 국민에게 무상으로 의료서비스를 제공하는 특징을 갖는다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이에 드는 비용은 정부의 일반 세입으로 충당되기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보험 프로그램이라고 말하기 힘들고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의료보장을 제공하는 일반 프로그램의 일종이라고 보아야 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모든 국민에게 포괄적이고 균등한 의료서비스를 제공한다는 측면에서 상품평등주의의 이상을 가장 완벽하게 구현할 수 있다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영국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스웨덴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이탈리아 같은 나라가 이 방식을 채택하고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의료서비스를 직접 통제하기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의료비의 급격한 상승을 막는 데 상당한 성과를 보이고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획일적인 의료서비스라는 한계로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다양한 선호에 부응하지 못한다는 단점이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더 많은 비용을 지불하여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좋은 질의 의료서비스를 받고 싶은 사람이 있을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23543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8FAAE-F208-7323-0B7B-79314966B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1D89AF-D865-CF91-B0A0-E9B2EBC2C6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28E16-A285-ADD2-098D-FFC7DEC11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0C8B4D5-4027-0895-6282-01FB061A2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7. </a:t>
            </a:r>
            <a:r>
              <a:rPr lang="ko-KR" altLang="en-US" sz="4000" b="1" i="0" spc="150" dirty="0"/>
              <a:t>우리나라의 국민건강보험제도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6062996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DF75A-2184-19E8-80EF-F0EA35C1C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242088-39D1-6980-3444-B9E06835A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우리나라의 국민건강보험제도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2815F7-87F4-906D-3E3A-D32F5B1DD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8618C1-751F-7A54-75AC-B9881D7784CB}"/>
              </a:ext>
            </a:extLst>
          </p:cNvPr>
          <p:cNvSpPr txBox="1"/>
          <p:nvPr/>
        </p:nvSpPr>
        <p:spPr>
          <a:xfrm>
            <a:off x="288790" y="958844"/>
            <a:ext cx="11137016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우리나라의 건강보험제도는 </a:t>
            </a:r>
            <a:r>
              <a:rPr lang="en-US" altLang="ko-KR" sz="1600" spc="-50" dirty="0"/>
              <a:t>1977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, 5</a:t>
            </a:r>
            <a:r>
              <a:rPr lang="ko-KR" altLang="en-US" sz="1600" spc="-50" dirty="0"/>
              <a:t>백명 이상의 사업장을 대상으로 의료보험을 제공함으로써 그 첫발을 내디뎠다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1989</a:t>
            </a:r>
            <a:r>
              <a:rPr lang="ko-KR" altLang="en-US" sz="1600" spc="-50" dirty="0"/>
              <a:t>년에는 도시자영업자에게도 지역 의료보험을 확대 실시하여 전 국민 의료보험을 달성했다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1999</a:t>
            </a:r>
            <a:r>
              <a:rPr lang="ko-KR" altLang="en-US" sz="1600" spc="-50" dirty="0"/>
              <a:t>년에는 「국민건강보험법」 제정하여 직장의료보험과 지역의료보험을 통합함으로써 단일보험체계를 구축했다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국민건강보험제도는 앞서 살펴본 국민연금제도보다 대략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년가량 더 긴 역사를 갖고 있는 셈이다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우리나라의 국민건강보험제도는 비교적 짧은 시간에 성숙된 단계로 진입하였음에도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다른 나라들에 비해 그 수준이 상당히 높은 편으로 인정받고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미국의 경우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인당 의료비 지출이 </a:t>
            </a:r>
            <a:r>
              <a:rPr lang="en-US" altLang="ko-KR" sz="1600" spc="-50" dirty="0"/>
              <a:t>OECD </a:t>
            </a:r>
            <a:r>
              <a:rPr lang="ko-KR" altLang="en-US" sz="1600" spc="-50" dirty="0"/>
              <a:t>평균의 두 배 이상 되는 고비용 구조임에도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평균 기대수명이나 유아사망률의 측면에서는 별로 나을 것도 없는 부진한 성과를 보인다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우리나라의 경우 전 국민이 건강보험 아니면 의료급여 혜택을 받고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의료급여란 저소득층을 대상으로 정부가 기본적인 의료서비스를 제공하는 프로그램으로 공공부조정책의 일환이다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2023</a:t>
            </a:r>
            <a:r>
              <a:rPr lang="ko-KR" altLang="en-US" sz="1600" spc="-50" dirty="0"/>
              <a:t>년 건강보험 가입자는 </a:t>
            </a:r>
            <a:r>
              <a:rPr lang="en-US" altLang="ko-KR" sz="1600" spc="-50" dirty="0"/>
              <a:t>5,145</a:t>
            </a:r>
            <a:r>
              <a:rPr lang="ko-KR" altLang="en-US" sz="1600" spc="-50" dirty="0"/>
              <a:t>만명 </a:t>
            </a:r>
            <a:r>
              <a:rPr lang="en-US" altLang="ko-KR" sz="1600" spc="-50" dirty="0"/>
              <a:t>(97.1%), </a:t>
            </a:r>
            <a:r>
              <a:rPr lang="ko-KR" altLang="en-US" sz="1600" spc="-50" dirty="0"/>
              <a:t>의료급여 혜택을 받는 사람은 </a:t>
            </a:r>
            <a:r>
              <a:rPr lang="en-US" altLang="ko-KR" sz="1600" spc="-50" dirty="0"/>
              <a:t>152</a:t>
            </a:r>
            <a:r>
              <a:rPr lang="ko-KR" altLang="en-US" sz="1600" spc="-50" dirty="0"/>
              <a:t>만명</a:t>
            </a:r>
            <a:r>
              <a:rPr lang="en-US" altLang="ko-KR" sz="1600" spc="-50" dirty="0"/>
              <a:t> (2.9%)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15082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D275C-EB7B-BE15-9AC8-DD02BE8C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265E95-75A5-82D2-6722-F23A3CE8A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우리나라의 국민건강보험제도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39DE52-86B2-C6E5-BCB7-34855D380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811CF5-9DCF-E9C0-65FB-9B337B13CE6A}"/>
              </a:ext>
            </a:extLst>
          </p:cNvPr>
          <p:cNvSpPr txBox="1"/>
          <p:nvPr/>
        </p:nvSpPr>
        <p:spPr>
          <a:xfrm>
            <a:off x="288790" y="958844"/>
            <a:ext cx="11137016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건강보험 가입자는 직장가입자와 지역가입자의 두 범주로 구성되어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직장가입자는 사업장의 근로자와 사용자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공무원과 교직원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이들의 피부양자로 이루어져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직장가입자는 </a:t>
            </a:r>
            <a:r>
              <a:rPr lang="en-US" altLang="ko-KR" sz="1600" spc="-50" dirty="0"/>
              <a:t>3,637</a:t>
            </a:r>
            <a:r>
              <a:rPr lang="ko-KR" altLang="en-US" sz="1600" spc="-50" dirty="0"/>
              <a:t>만 명으로 전체 가입자의 </a:t>
            </a:r>
            <a:r>
              <a:rPr lang="en-US" altLang="ko-KR" sz="1600" spc="-50" dirty="0"/>
              <a:t>70.7%</a:t>
            </a:r>
            <a:r>
              <a:rPr lang="ko-KR" altLang="en-US" sz="1600" spc="-50" dirty="0"/>
              <a:t>의 비중을 차지하고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지역가입자는 직장가입자를 제외한 나머지 가입자들을 가리킨다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지역가입자는 </a:t>
            </a:r>
            <a:r>
              <a:rPr lang="en-US" altLang="ko-KR" sz="1600" spc="-50" dirty="0"/>
              <a:t>1,509</a:t>
            </a:r>
            <a:r>
              <a:rPr lang="ko-KR" altLang="en-US" sz="1600" spc="-50" dirty="0"/>
              <a:t>만 명으로</a:t>
            </a:r>
            <a:r>
              <a:rPr lang="en-US" altLang="ko-KR" sz="1600" spc="-50" dirty="0"/>
              <a:t>, 29.3%</a:t>
            </a:r>
            <a:r>
              <a:rPr lang="ko-KR" altLang="en-US" sz="1600" spc="-50" dirty="0"/>
              <a:t>의 비중을 차지하고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직장가입자는 급여에 기초해 계산한 </a:t>
            </a:r>
            <a:r>
              <a:rPr lang="en-US" altLang="ko-KR" sz="1600" spc="-50" dirty="0"/>
              <a:t>‘</a:t>
            </a:r>
            <a:r>
              <a:rPr lang="ko-KR" altLang="en-US" sz="1600" spc="-50" dirty="0" err="1"/>
              <a:t>보수월액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을 기준으로 보험료를 납부한다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급여 이외의 소득이 많으면</a:t>
            </a:r>
            <a:r>
              <a:rPr lang="en-US" altLang="ko-KR" sz="1600" spc="-50" dirty="0"/>
              <a:t>, ‘</a:t>
            </a:r>
            <a:r>
              <a:rPr lang="ko-KR" altLang="en-US" sz="1600" spc="-50" dirty="0" err="1"/>
              <a:t>소득월액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이 보험료 산정의 기준이 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2025</a:t>
            </a:r>
            <a:r>
              <a:rPr lang="ko-KR" altLang="en-US" sz="1600" spc="-50" dirty="0"/>
              <a:t>년 직장가입자의 보험료율은 </a:t>
            </a:r>
            <a:r>
              <a:rPr lang="en-US" altLang="ko-KR" sz="1600" spc="-50" dirty="0"/>
              <a:t>7.09%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가입자 본인과 고용주가 절반씩 </a:t>
            </a:r>
            <a:r>
              <a:rPr lang="en-US" altLang="ko-KR" sz="1600" spc="-50" dirty="0"/>
              <a:t>(3.545%)</a:t>
            </a:r>
            <a:r>
              <a:rPr lang="ko-KR" altLang="en-US" sz="1600" spc="-50" dirty="0"/>
              <a:t> 납부하도록 되어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건강보험료의 경우도 앞서 국민연금 보험료와 비슷하게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보험료 납부금액의 상한과 하한이 </a:t>
            </a:r>
            <a:r>
              <a:rPr lang="ko-KR" altLang="en-US" sz="1600" spc="-50" dirty="0" err="1"/>
              <a:t>정해져있다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보수월액의</a:t>
            </a:r>
            <a:r>
              <a:rPr lang="ko-KR" altLang="en-US" sz="1600" spc="-50" dirty="0"/>
              <a:t> 하한은 </a:t>
            </a:r>
            <a:r>
              <a:rPr lang="en-US" altLang="ko-KR" sz="1600" spc="-50" dirty="0"/>
              <a:t>28</a:t>
            </a:r>
            <a:r>
              <a:rPr lang="ko-KR" altLang="en-US" sz="1600" spc="-50" dirty="0"/>
              <a:t>만원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상한은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억 </a:t>
            </a:r>
            <a:r>
              <a:rPr lang="en-US" altLang="ko-KR" sz="1600" spc="-50" dirty="0"/>
              <a:t>2,706</a:t>
            </a:r>
            <a:r>
              <a:rPr lang="ko-KR" altLang="en-US" sz="1600" spc="-50" dirty="0"/>
              <a:t>만원이다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45118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CA6C-4CFB-17F5-9D22-51E0C9D1D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7AA6EF-62C8-DDB6-46E9-8C2545066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우리나라의 국민건강보험제도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E8C7C4-59D8-171C-433A-565610ED0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ED4EF4-B2F6-7F4A-A7FC-3752791A8A5C}"/>
              </a:ext>
            </a:extLst>
          </p:cNvPr>
          <p:cNvSpPr txBox="1"/>
          <p:nvPr/>
        </p:nvSpPr>
        <p:spPr>
          <a:xfrm>
            <a:off x="288790" y="958844"/>
            <a:ext cx="11137016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건강보험제도를 운영하고 있는 </a:t>
            </a:r>
            <a:r>
              <a:rPr lang="en-US" altLang="ko-KR" sz="1600" spc="-50" dirty="0"/>
              <a:t>OECD</a:t>
            </a:r>
            <a:r>
              <a:rPr lang="ko-KR" altLang="en-US" sz="1600" spc="-50" dirty="0"/>
              <a:t>의 다른 국가들과 비교해보면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우리나라의 보험료율은 상대적으로 낮다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우리나라 건강보험의 </a:t>
            </a:r>
            <a:r>
              <a:rPr lang="ko-KR" altLang="en-US" sz="1600" spc="-50" dirty="0" err="1"/>
              <a:t>보장률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총 진료비 중 건강보험에서 지급하는 비율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은 </a:t>
            </a:r>
            <a:r>
              <a:rPr lang="en-US" altLang="ko-KR" sz="1600" spc="-50" dirty="0"/>
              <a:t>69.4% </a:t>
            </a:r>
            <a:r>
              <a:rPr lang="ko-KR" altLang="en-US" sz="1600" spc="-50" dirty="0"/>
              <a:t>수준이며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 선진국들의 </a:t>
            </a:r>
            <a:r>
              <a:rPr lang="ko-KR" altLang="en-US" sz="1600" spc="-50" dirty="0" err="1"/>
              <a:t>보장률은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70%~80% </a:t>
            </a:r>
            <a:r>
              <a:rPr lang="ko-KR" altLang="en-US" sz="1600" spc="-50" dirty="0"/>
              <a:t>수준에 이른다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우리나라는 기본적으로 </a:t>
            </a:r>
            <a:r>
              <a:rPr lang="en-US" altLang="ko-KR" sz="1600" spc="-50" dirty="0"/>
              <a:t>‘</a:t>
            </a:r>
            <a:r>
              <a:rPr lang="ko-KR" altLang="en-US" sz="1600" spc="-50" dirty="0" err="1"/>
              <a:t>저부담</a:t>
            </a:r>
            <a:r>
              <a:rPr lang="ko-KR" altLang="en-US" sz="1600" spc="-50" dirty="0"/>
              <a:t> 저급여</a:t>
            </a:r>
            <a:r>
              <a:rPr lang="en-US" altLang="ko-KR" sz="1600" spc="-50" dirty="0"/>
              <a:t>‘ </a:t>
            </a:r>
            <a:r>
              <a:rPr lang="ko-KR" altLang="en-US" sz="1600" spc="-50" dirty="0"/>
              <a:t>체제를 선택하고 있는 셈이다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건강보험의 보장 수준을 파악하는 또 다른 지표로는 국민의료비 지출 중 공공의료비가 차지하는 비율을 들 수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2022</a:t>
            </a:r>
            <a:r>
              <a:rPr lang="ko-KR" altLang="en-US" sz="1600" spc="-50" dirty="0"/>
              <a:t>년 기준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비율은 </a:t>
            </a:r>
            <a:r>
              <a:rPr lang="en-US" altLang="ko-KR" sz="1600" spc="-50" dirty="0"/>
              <a:t>OECD </a:t>
            </a:r>
            <a:r>
              <a:rPr lang="ko-KR" altLang="en-US" sz="1600" spc="-50" dirty="0"/>
              <a:t>평균이 </a:t>
            </a:r>
            <a:r>
              <a:rPr lang="en-US" altLang="ko-KR" sz="1600" spc="-50" dirty="0"/>
              <a:t>75.8%, </a:t>
            </a:r>
            <a:r>
              <a:rPr lang="ko-KR" altLang="en-US" sz="1600" spc="-50" dirty="0"/>
              <a:t>독일 </a:t>
            </a:r>
            <a:r>
              <a:rPr lang="en-US" altLang="ko-KR" sz="1600" spc="-50" dirty="0"/>
              <a:t>86.5%, </a:t>
            </a:r>
            <a:r>
              <a:rPr lang="ko-KR" altLang="en-US" sz="1600" spc="-50" dirty="0"/>
              <a:t>일본 </a:t>
            </a:r>
            <a:r>
              <a:rPr lang="en-US" altLang="ko-KR" sz="1600" spc="-50" dirty="0"/>
              <a:t>85.5%,  </a:t>
            </a:r>
            <a:r>
              <a:rPr lang="ko-KR" altLang="en-US" sz="1600" spc="-50" dirty="0"/>
              <a:t>한편 우리나라는 </a:t>
            </a:r>
            <a:r>
              <a:rPr lang="en-US" altLang="ko-KR" sz="1600" spc="-50" dirty="0"/>
              <a:t>62.7%</a:t>
            </a:r>
            <a:r>
              <a:rPr lang="ko-KR" altLang="en-US" sz="1600" spc="-50" dirty="0"/>
              <a:t>에 불과하다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우리나라에서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개인이 부담하는 의료비 비중이 상대적으로 더 크다는 것을 의미한다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국민연금제도와 달리 국민건강보험제도는 부과방식으로 운영하고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보험료를 통해 조성된 기금에서 나온 원리금이 아니라 그때그때 거둔 보험료로 사업 비용을 충당하고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91144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4F9D4-0237-3133-E039-477000569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A2379-C2BC-DD7C-2987-AAF73B58C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우리나라의 국민건강보험제도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9B0373-4115-F228-DA88-097F45588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A80CDC-94EA-9521-9B5C-10328163E689}"/>
              </a:ext>
            </a:extLst>
          </p:cNvPr>
          <p:cNvSpPr txBox="1"/>
          <p:nvPr/>
        </p:nvSpPr>
        <p:spPr>
          <a:xfrm>
            <a:off x="288790" y="958844"/>
            <a:ext cx="11137016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2017</a:t>
            </a:r>
            <a:r>
              <a:rPr lang="ko-KR" altLang="en-US" sz="1600" spc="-50" dirty="0"/>
              <a:t>년 정부는 가계 의료비 부담을 덜어주고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건강보험의 보장성을 강화하기 위해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「건강보험 보장성 강화 </a:t>
            </a:r>
            <a:r>
              <a:rPr lang="ko-KR" altLang="en-US" sz="1600" spc="-50" dirty="0" err="1"/>
              <a:t>대책」을</a:t>
            </a:r>
            <a:r>
              <a:rPr lang="ko-KR" altLang="en-US" sz="1600" spc="-50" dirty="0"/>
              <a:t> 발표한 바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이를 통해 건강보험이 적용되는 의료서비스의 범위가 확대되고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저소득층의 의료비 부담도 일정부분 완화되었다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정부는 신약과 새로운 치료법에 대해 보험 적용을 확대하고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중증</a:t>
            </a:r>
            <a:r>
              <a:rPr lang="en-US" altLang="ko-KR" sz="1600" spc="-50" dirty="0"/>
              <a:t>·</a:t>
            </a:r>
            <a:r>
              <a:rPr lang="ko-KR" altLang="en-US" sz="1600" spc="-50" dirty="0" err="1"/>
              <a:t>희귀성</a:t>
            </a:r>
            <a:r>
              <a:rPr lang="ko-KR" altLang="en-US" sz="1600" spc="-50" dirty="0"/>
              <a:t> 질환자에 대한 의료비 지원을 강화하는 등 건강보험의 보장성을 높이기 위한 정책을 꾸준히 추진하고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하지만 동시에 건강보험 지출은 빠르게 증가하여 재정 부담에 대한 우려도 커지고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인구고령화로 의료서비스에 대한 전반적인 수요가 늘어날 것이 분명하므로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재정 안정성을 유지하기 힘들어진다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가입자는 의료비 중 일부만을 자신이 부담하기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조금만 아파도 병원을 찾는 도덕적 해이가 발생한다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대안으로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전 국민 주치의제도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가 꾸준히 논의 되고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주치의가 </a:t>
            </a:r>
            <a:r>
              <a:rPr lang="en-US" altLang="ko-KR" sz="1600" spc="-50" dirty="0"/>
              <a:t>1</a:t>
            </a:r>
            <a:r>
              <a:rPr lang="ko-KR" altLang="en-US" sz="1600" spc="-50" dirty="0" err="1"/>
              <a:t>차진료</a:t>
            </a:r>
            <a:r>
              <a:rPr lang="ko-KR" altLang="en-US" sz="1600" spc="-50" dirty="0"/>
              <a:t> 과정에서 상급병원을 갈 필요가 있는지 심사함으로써 불필요한 병원 이용을 막자는 취지이다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3574648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273E2-F1C6-D987-DE4D-4076B10F1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우리나라의 국민건강보험제도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477F15-83E4-30E0-D9A7-23984D971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86592B-F4C4-26E0-2007-E86DD2851A13}"/>
              </a:ext>
            </a:extLst>
          </p:cNvPr>
          <p:cNvSpPr txBox="1"/>
          <p:nvPr/>
        </p:nvSpPr>
        <p:spPr>
          <a:xfrm>
            <a:off x="288790" y="958844"/>
            <a:ext cx="11137016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의료서비스 공급 측면에서도 재정압박 요인이 존재한다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의료인이 수가를 올리기 위해 과잉 진료를 한다는 점이다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현재 많은 질병에 대해 </a:t>
            </a:r>
            <a:r>
              <a:rPr lang="en-US" altLang="ko-KR" sz="1600" spc="-50" dirty="0"/>
              <a:t>‘</a:t>
            </a:r>
            <a:r>
              <a:rPr lang="ko-KR" altLang="en-US" sz="1600" spc="-50" dirty="0" err="1"/>
              <a:t>행위별수가제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하에서는 의사가 제공한 진료행위 하나하나에 대해 의료비를 지급한다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이러한 </a:t>
            </a:r>
            <a:r>
              <a:rPr lang="en-US" altLang="ko-KR" sz="1600" spc="-50" dirty="0"/>
              <a:t>‘</a:t>
            </a:r>
            <a:r>
              <a:rPr lang="ko-KR" altLang="en-US" sz="1600" spc="-50" dirty="0" err="1"/>
              <a:t>행위별수가제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하에서는 의사들이 불필요한 수가를 올리는 유인이 존재한다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이에 대한 대책으로 </a:t>
            </a:r>
            <a:r>
              <a:rPr lang="en-US" altLang="ko-KR" sz="1600" spc="-50" dirty="0"/>
              <a:t>2012</a:t>
            </a:r>
            <a:r>
              <a:rPr lang="ko-KR" altLang="en-US" sz="1600" spc="-50" dirty="0"/>
              <a:t>년에는 몇가지 질병에 대해서는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포괄수가제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를 도입하여 질병별로 미리 정해진 금액의 진료비만 받을 수 있도록 하였다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포괄수가제 하에서는 의료서비스의 질이 떨어질 수 있는 문제가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꼭 필요한 처치 임에도 불구하고 비용 절감을 위해 이를 제공하지 않는 과소진료 문제가 발생할 수 있기 때문이다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4176402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7305D-7D31-F2FC-A77C-CA36ADF83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우리나라의 국민건강보험제도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00F54E-03CE-B43C-D317-E3ACF909D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BCDB9-E164-DD1C-64D7-BA892E8C891F}"/>
              </a:ext>
            </a:extLst>
          </p:cNvPr>
          <p:cNvSpPr txBox="1"/>
          <p:nvPr/>
        </p:nvSpPr>
        <p:spPr>
          <a:xfrm>
            <a:off x="288790" y="958844"/>
            <a:ext cx="11137016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 문제와 관련하여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영리병원 도입</a:t>
            </a:r>
            <a:r>
              <a:rPr lang="en-US" altLang="ko-KR" sz="1600" spc="-50" dirty="0"/>
              <a:t>‘ </a:t>
            </a:r>
            <a:r>
              <a:rPr lang="ko-KR" altLang="en-US" sz="1600" spc="-50" dirty="0"/>
              <a:t>문제도 논란이 된 적이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현재는 의료인과 비영리법인만이 의료기관을 설립할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영리법인도 의료기관을 설립할 수 있다는 의미다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영리병원은 이윤 창출의 압력이 있기 때문에 불필요한 진료와 건강보험 지급대상이 아닌 비급여 진료 비중을 증가시킬 유인이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 영리병원은 자본력을 동원해 우수한 의료인력을 흡수하면 서민들이 이용하는 의료기관과의 서비스 차이가 양극화 될 수도 있다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 국민은 비교적 낮은 비용으로 좋은 의료서비스를 받고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최근 의료공백사태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필수의료 인력부족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건강보험의 재정 악화 등 구조적인 문제가 점차 가시화되면서 기존의 의료보장체제의 한계를 지적하는 목소리도 커지고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25685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15276</TotalTime>
  <Words>5490</Words>
  <Application>Microsoft Office PowerPoint</Application>
  <PresentationFormat>와이드스크린</PresentationFormat>
  <Paragraphs>526</Paragraphs>
  <Slides>50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7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재 정 학</vt:lpstr>
      <vt:lpstr>Chapter 10  사회보험제도</vt:lpstr>
      <vt:lpstr>Section 1. 사회보험제도의 의미</vt:lpstr>
      <vt:lpstr>사회보험제도의 의미</vt:lpstr>
      <vt:lpstr>사회보험제도의 의미</vt:lpstr>
      <vt:lpstr>사회보험제도의 의미</vt:lpstr>
      <vt:lpstr>Section 2. 국민연금제도의 기본성격</vt:lpstr>
      <vt:lpstr>중복세대의 모형</vt:lpstr>
      <vt:lpstr>중복세대의 모형</vt:lpstr>
      <vt:lpstr>국민연금제도의 의의</vt:lpstr>
      <vt:lpstr>국민연금제도의 의의</vt:lpstr>
      <vt:lpstr>국민연금제도의 의의</vt:lpstr>
      <vt:lpstr>국민연금제도의 의의</vt:lpstr>
      <vt:lpstr>Section 3. 국민연금제도 관련 중요쟁점</vt:lpstr>
      <vt:lpstr>사회보험제도의 의미</vt:lpstr>
      <vt:lpstr>강제적이고 공적이 해결방식의 필요성</vt:lpstr>
      <vt:lpstr>강제적이고 공적이 해결방식의 필요성</vt:lpstr>
      <vt:lpstr>적립방식과 부과방식</vt:lpstr>
      <vt:lpstr>적립방식과 부과방식</vt:lpstr>
      <vt:lpstr>적립방식과 부과방식</vt:lpstr>
      <vt:lpstr>재분배적 요소</vt:lpstr>
      <vt:lpstr>목적세 부과의 필요성</vt:lpstr>
      <vt:lpstr>합리적인 연금 급여수준의 문제</vt:lpstr>
      <vt:lpstr>Section 4. 국민연금제도의 경제적 효과</vt:lpstr>
      <vt:lpstr>저축행위에 미치는 영향</vt:lpstr>
      <vt:lpstr>저축행위에 미치는 영향</vt:lpstr>
      <vt:lpstr>노동공급에 미치는 영향</vt:lpstr>
      <vt:lpstr>Section 5. 우리나라의 국민연금제도</vt:lpstr>
      <vt:lpstr>적용대상</vt:lpstr>
      <vt:lpstr>보험료</vt:lpstr>
      <vt:lpstr>보험료</vt:lpstr>
      <vt:lpstr>연금의 급여</vt:lpstr>
      <vt:lpstr>연금의 급여</vt:lpstr>
      <vt:lpstr>연금의 급여</vt:lpstr>
      <vt:lpstr>국민연금제도의 개혁</vt:lpstr>
      <vt:lpstr>국민연금제도의 개혁</vt:lpstr>
      <vt:lpstr>국민연금제도의 개혁</vt:lpstr>
      <vt:lpstr>Section 6. 건강보험제도의 기본성격</vt:lpstr>
      <vt:lpstr>건강보험제도의 기본성격</vt:lpstr>
      <vt:lpstr>건강보험제도의 기본성격</vt:lpstr>
      <vt:lpstr>건강보험제도의 기본성격</vt:lpstr>
      <vt:lpstr>건강보험제도의 기본성격</vt:lpstr>
      <vt:lpstr>Section 7. 우리나라의 국민건강보험제도</vt:lpstr>
      <vt:lpstr>우리나라의 국민건강보험제도</vt:lpstr>
      <vt:lpstr>우리나라의 국민건강보험제도</vt:lpstr>
      <vt:lpstr>우리나라의 국민건강보험제도</vt:lpstr>
      <vt:lpstr>우리나라의 국민건강보험제도</vt:lpstr>
      <vt:lpstr>우리나라의 국민건강보험제도</vt:lpstr>
      <vt:lpstr>우리나라의 국민건강보험제도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662</cp:revision>
  <dcterms:created xsi:type="dcterms:W3CDTF">2025-07-05T05:15:23Z</dcterms:created>
  <dcterms:modified xsi:type="dcterms:W3CDTF">2026-06-05T01:55:06Z</dcterms:modified>
</cp:coreProperties>
</file>