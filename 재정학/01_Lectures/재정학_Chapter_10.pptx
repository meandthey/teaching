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2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75" r:id="rId26"/>
    <p:sldId id="776" r:id="rId27"/>
    <p:sldId id="778" r:id="rId28"/>
    <p:sldId id="755" r:id="rId29"/>
    <p:sldId id="779" r:id="rId30"/>
    <p:sldId id="780" r:id="rId31"/>
    <p:sldId id="781" r:id="rId32"/>
    <p:sldId id="782" r:id="rId33"/>
    <p:sldId id="783" r:id="rId34"/>
    <p:sldId id="784" r:id="rId35"/>
    <p:sldId id="785" r:id="rId36"/>
    <p:sldId id="786" r:id="rId37"/>
    <p:sldId id="787" r:id="rId38"/>
    <p:sldId id="756" r:id="rId39"/>
    <p:sldId id="788" r:id="rId40"/>
    <p:sldId id="789" r:id="rId41"/>
    <p:sldId id="790" r:id="rId42"/>
    <p:sldId id="791" r:id="rId43"/>
    <p:sldId id="757" r:id="rId44"/>
    <p:sldId id="792" r:id="rId45"/>
    <p:sldId id="793" r:id="rId46"/>
    <p:sldId id="794" r:id="rId47"/>
    <p:sldId id="795" r:id="rId48"/>
    <p:sldId id="796" r:id="rId49"/>
    <p:sldId id="797" r:id="rId50"/>
    <p:sldId id="36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159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1ECDA-1170-E0DC-18EB-393978A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6AE6AC-0AE5-31E3-E057-50C7BF7BE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CEBE2D-87CC-2D85-0BDE-402B795B2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CCDC17-813B-259A-29C4-D45934AD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19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BA03-DA04-13B3-8550-BA1E2F82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190253-2E7A-09AA-C55A-19C58099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C59E29-782A-A96F-19CA-2C375632E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FE328-F92A-2CA0-15CA-AEDCBE449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434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3C30-8B79-8687-1601-7D961674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DAA1AD-C9F0-68E2-8C85-CE76EEB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E12189-35E2-F46D-9FD0-CEDED7FD9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6AB2BB-FF8A-65E6-6B98-76E4BC45C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279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37CD-3A7D-C5B1-C61B-18504DFC5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A9351B-A39C-CC80-19A1-CDF7C852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527CFA-C136-EF74-5B44-B6B94A358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F97E62-4B9D-FF59-EB42-5DA0A3509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128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231E7-21B9-6B3A-A738-0EF710DA8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CEA2C2-1659-9630-D256-2B60ADF68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D45C12-09ED-A152-3D63-A92508A23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7B4978-CC79-79B1-32C4-B0CCB80C15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6143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A93C-EA83-95A6-F843-9E733E5B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CA7752-7344-70A2-FB6C-DE0BDB34C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F64095-A881-A1A7-6603-DB2A30FC4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95D563-DC09-0144-AE02-BEE2E7311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158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799AA-1D2C-01D0-A841-119F79B7C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7D4377-9F75-9CE5-CF7C-FFB23EC56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956FE8-74EA-D706-0880-4EF7C9599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7DB9C4-A06F-32BE-92D1-E446CD98B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305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CA4A-EB0C-835E-1280-B0572AB2F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E91C22-994C-2075-1880-9892584F7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A5E363-9EEB-7BD0-CA84-C5DA18A79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1AFD0-1959-AD0A-952A-A736D7C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08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B1D3C-1CDC-6CE7-D8CC-51AAFE4A3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BE3877-5A25-3244-B6A4-1BC805119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478745-0E94-A5C9-C82F-F6BDC492D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4866F-58C4-EE2F-9207-83EA372304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929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71998-8FB1-70EB-209E-379B0E93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8DD251-2493-FF02-D711-1F5F9688F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965A5C-3637-59FB-8F34-39714A156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7F86F0-F17A-453E-0C1C-5B803EAE6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574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0E16C-4DA5-3C0B-4198-16655FB11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CB3965-7DD0-D763-8D23-1C3F840FF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58E740-49D6-FC0F-1B26-F97FA9310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8F8CEB-63A8-005C-9C64-643BBB372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0357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4BB9-9E59-395E-48C7-CDF041A6C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05C6EB-FA11-F3B4-A724-053885007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F99926-F3B0-11F0-D16C-0320FCC81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2D0734-42AF-B7E2-9267-C0D647A36F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741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C66C-9BAB-9260-F2CE-F446BA374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98A256-7569-7CC2-8FAC-63AE782F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C1FC5C-7528-1706-5AC7-7B50D05E7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A1F2A-4700-4C4E-8190-F5F653E12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9245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D7F5-3935-DA64-5CA3-F92EC126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A4F86-8BAC-28F2-CCE2-EDB1C0791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DB3068-4B42-6B80-2886-6A2176A281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482D1-D2F2-BA2F-1B09-BEB199BDFA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1435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BECA-931F-5210-24BD-A8A1940C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48B348-274C-453B-8862-67C65088F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89E55-5EC4-36CB-D988-63EAA5E5D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4F199-9911-B3D7-29EB-9E31CBEF8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740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hw.go.kr/board.es?act=view&amp;bid=0027&amp;list_no=1485039&amp;mid=a10503010100&amp;nPage=1&amp;tag=&amp;utm_source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저축하고자 하는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정부처럼 물가가 오를 때 세금을 더 많이 거둘 수 있는 것도 아니므로 실질가치 보장이 어렵다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6369716" y="4048260"/>
            <a:ext cx="5307129" cy="23876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19773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운영 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부과방식하에서</a:t>
                </a:r>
                <a:r>
                  <a:rPr lang="ko-KR" altLang="en-US" sz="1600" spc="-50" dirty="0"/>
                  <a:t> 국민연금재정의 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</a:t>
                </a:r>
                <a:r>
                  <a:rPr lang="en-US" altLang="ko-KR" sz="1600" spc="-50"/>
                  <a:t>,</a:t>
                </a:r>
                <a:r>
                  <a:rPr lang="en-US" altLang="ko-KR" sz="1600"/>
                  <a:t>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3373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337307" cy="276999"/>
              </a:xfrm>
              <a:prstGeom prst="rect">
                <a:avLst/>
              </a:prstGeom>
              <a:blipFill>
                <a:blip r:embed="rId3"/>
                <a:stretch>
                  <a:fillRect l="-261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A671A-FAA7-E5AA-12BD-45342FAB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5EA36-73F9-DA21-47F6-1584F45D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6635AF-EC17-17CF-F3FD-A26A34BF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95FE-E67F-26A3-44A3-0217297114C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 운용규모는 국내총생산의 </a:t>
            </a:r>
            <a:r>
              <a:rPr lang="en-US" altLang="ko-KR" sz="1600" spc="-50" dirty="0"/>
              <a:t>50%</a:t>
            </a:r>
            <a:r>
              <a:rPr lang="ko-KR" altLang="en-US" sz="1600" spc="-50" dirty="0"/>
              <a:t>에 근접할 정도로 크게 성장하였고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민간부문의 여러 가지 경제활동에 영향을 주게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사람들의 저축과 노동공급 행위에 큰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국민연금제도는 다음의 경로를 통해 저축행위에 영향을 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첫째는 재산대체효과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강제저축 프로그램 때문에 자발적인 저축의 필요성이 줄어드는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사람들이 강제저축에 의해 형성된 재산을 개인 재산의 대체물로 인식하고 자발적인 저축을 줄인다고 의미에서 이런 이름이 붙여졌다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앞에서 살펴봤듯이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완전한 적립방식을 채택하고 있다면 민간의 저축 감소가 정부의 저축 증가로 상쇄될 수 있을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올해 거둔 세금으로 올해 연금을 지급하는 부과방식에서는 민간의 저축이 줄어들기만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둘째는 은퇴효과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국민연금제도의 도입이 퇴직상태에 있는 기간의 연장을 가져올 수 있음을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사람들로 하여금 보다 빨리 은퇴하도록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은퇴상태의 기간이 길어지면 더 많은 저축을 필요로 하게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자발적인 저축이 증가하는 것을 은퇴효과라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1285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2171-FD49-659E-30E9-A600D143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CD445-B3E9-22C7-707C-3D003623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E1A8A-B043-6383-521C-72EF6764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CA24-69C9-FE2A-3104-FD5212B87040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셋째는 </a:t>
            </a:r>
            <a:r>
              <a:rPr lang="ko-KR" altLang="en-US" sz="1600" spc="-50" dirty="0" err="1"/>
              <a:t>상속효과인데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자식들의 처분가능소득 감소를 야기한다고 예상하는 부모들은 이를 상쇄하고자 더 많은 재산을 상속해주려고 노력할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많은 재산을 상속해주기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저축을 늘려야 할 것이므로 상속효과는 저축을 증가시키는 방향으로 작용한다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논의를 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자산대체효과만 저축을 줄이는 방향으로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두 가지는 저축을 증가시키는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저축의 절대적인 </a:t>
            </a:r>
            <a:r>
              <a:rPr lang="ko-KR" altLang="en-US" sz="1600" spc="-50" dirty="0" err="1"/>
              <a:t>변화량를</a:t>
            </a:r>
            <a:r>
              <a:rPr lang="ko-KR" altLang="en-US" sz="1600" spc="-50" dirty="0"/>
              <a:t> 기준으로 보면 재산대체효과가 다른 두 효과보다 더 클 가능성도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실증연구에 의해 밝혀져야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펠드스타인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M.Feldstein</a:t>
            </a:r>
            <a:r>
              <a:rPr lang="en-US" altLang="ko-KR" sz="1600" spc="-50" dirty="0"/>
              <a:t>, 1974)</a:t>
            </a:r>
            <a:r>
              <a:rPr lang="ko-KR" altLang="en-US" sz="1600" spc="-50" dirty="0"/>
              <a:t>은 미국의 경우 사회보장제도 도입이 저축을 현저하게 줄이는 결과를 가져왔다는 실증연구 결과를 발표한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1971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사회보장제도의 도입이 개인저축을 반으로 줄어들게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 전체의 총저축을 </a:t>
            </a:r>
            <a:r>
              <a:rPr lang="en-US" altLang="ko-KR" sz="1600" spc="-50" dirty="0"/>
              <a:t>38% </a:t>
            </a:r>
            <a:r>
              <a:rPr lang="ko-KR" altLang="en-US" sz="1600" spc="-50" dirty="0"/>
              <a:t>감소시키는 결과를 가져왔다고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다른 경제학자들이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연구에서 잘못된 부분을 지적하며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논란이 지금까지도 이어지고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현재는 대부분의 경제학자들은 사회보장제도 도입이 저축을 어느정도 감소시키는 하지만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연구처럼 현저한 감소라고 생각하는 사람은 소수에 지나지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6411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C130-69FF-95FD-4A23-6C4D7F04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172AB-8EAA-7D37-3712-BE94FC47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노동공급에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90AF7-2416-2A1D-748C-91C5A64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96A24-7649-C9A2-3798-C090F6CBAB0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노동공급에 미치는 영향은 소득효과와 대체효과의 틀 안에서 분석할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소득효과는 사람들의 생애에 걸친 소득을 증가시키므로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노동시간을 줄이는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사람들이 일할 때 더 큰 조세부담을 지는 대신 은퇴 후에는 보다 더 큰 연금 혜택을 받는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사람들의 순자산 혹은 실질소득 증가를 가져오므로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더 많은 여가소비를 즐기도록 만든다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대체효과는 국민연금 도입으로 인해 여가의 기회비용에 어떤 변화가 </a:t>
            </a:r>
            <a:r>
              <a:rPr lang="ko-KR" altLang="en-US" sz="1600" spc="-50" dirty="0" err="1"/>
              <a:t>생기는지와</a:t>
            </a:r>
            <a:r>
              <a:rPr lang="ko-KR" altLang="en-US" sz="1600" spc="-50" dirty="0"/>
              <a:t>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시간 더 일할 때 얻을 수 있는 순소득이 어떻게 변화하는지를 살펴봐야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 제도의 도입은 노동을 한시간 더 할 때 얻는 순소득에서 새로운 조세부담이 생긴다는 것을 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여가의 기회비용 감소를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노동의 공급량을 줄이는 방향으로 작용하게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사람들이 이 세금은 나중에 은퇴하고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다시 연금으로 되돌려 받는다는 사실을 알고 의사결정을 한다면 대체효과는 다른 방향으로 작용할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여가의 기회비용을 상승시킨 셈으로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노동의 공급량을 증가시키는 방향으로 작용한다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소득효과는 명백히 노동을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대체효과는 그 효과의 방향이 분명하지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명백한 해답은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8459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EE0-7E49-3928-B6D5-90F5F5AD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6116-93D0-0C6F-AB49-7BADF59C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적용대상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4F25C-41BE-AD1F-5EE1-FF33603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4A242-BB4C-59B7-3A6E-B5AABCFED15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 국민연금제도가 처음 도입된 것은 </a:t>
            </a:r>
            <a:r>
              <a:rPr lang="en-US" altLang="ko-KR" sz="1600" spc="-50" dirty="0"/>
              <a:t>1988</a:t>
            </a:r>
            <a:r>
              <a:rPr lang="ko-KR" altLang="en-US" sz="1600" spc="-50" dirty="0"/>
              <a:t>년으로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역사가 길지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국민이 가입할 수 있고</a:t>
            </a:r>
            <a:r>
              <a:rPr lang="en-US" altLang="ko-KR" sz="1600" spc="-50" dirty="0"/>
              <a:t>, 1,200</a:t>
            </a:r>
            <a:r>
              <a:rPr lang="ko-KR" altLang="en-US" sz="1600" spc="-50" dirty="0"/>
              <a:t>조원이 넘는 기금을 확보한 중요한 재정 프로그램으로 정착하였다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국내에 거주하는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세 이상</a:t>
            </a:r>
            <a:r>
              <a:rPr lang="en-US" altLang="ko-KR" sz="1600" spc="-50" dirty="0"/>
              <a:t>, 60</a:t>
            </a:r>
            <a:r>
              <a:rPr lang="ko-KR" altLang="en-US" sz="1600" spc="-50" dirty="0"/>
              <a:t>세 미만의 국민이면 누구나 다 가입할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사업장가입자와 지역가입자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사업장가입자는 직장을 통해 제도에 가입한 사람을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도시자영업자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농어민의 신분으로 국민연금제도에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군인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 교직원은 자체의 연금 프로그램을 갖고 있으므로 제외하고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사업장가입자와 지역가입자는 의무적으로 국민연금제도에 가입한 경우지만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가입해야 할 의무가 없는데도 본인이 원해서 가입자가 되는 경우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임의가입자 혹은 </a:t>
            </a:r>
            <a:r>
              <a:rPr lang="ko-KR" altLang="en-US" sz="1600" spc="-50" dirty="0" err="1"/>
              <a:t>임의계속가입자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임의가입자는 전업주부처럼 근로소득이 없는 사람 중 국민연금 혜택을 받고 싶어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임의계속가입자는</a:t>
            </a:r>
            <a:r>
              <a:rPr lang="ko-KR" altLang="en-US" sz="1600" spc="-50" dirty="0"/>
              <a:t> 나이가 많거나 혹은 늦게 가입하여 최소가입연수를 채우지 못하여 임의로 연장해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임의가입자와 </a:t>
            </a:r>
            <a:r>
              <a:rPr lang="ko-KR" altLang="en-US" sz="1600" spc="-50" dirty="0" err="1"/>
              <a:t>임의계속가입자의</a:t>
            </a:r>
            <a:r>
              <a:rPr lang="ko-KR" altLang="en-US" sz="1600" spc="-50" dirty="0"/>
              <a:t> 비중은 매우 낮은 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505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145-88B0-21C8-D558-DB8693D4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59BA62-3AD2-2CD0-882C-B519705F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20C5C-BE95-C7C4-2F10-26987E12D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8A1C5-7533-92BD-3A81-E61C54ED1A8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국민연금제도를 적립방식으로 운영하고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가입자가 납부한 보험료는 국민연금기금의 조성에 투입되고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기금으로부터 은퇴 후 지급되는 연금이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보험료는 국민연금의 주된 재원이고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가입자들은 보험료를 납부하지 않으면 정부가 강제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압류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징수할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국민연금의 보험료는 가입자의 </a:t>
            </a:r>
            <a:r>
              <a:rPr lang="ko-KR" altLang="en-US" sz="1600" spc="-50" dirty="0" err="1"/>
              <a:t>기준소득월액에</a:t>
            </a:r>
            <a:r>
              <a:rPr lang="ko-KR" altLang="en-US" sz="1600" spc="-50" dirty="0"/>
              <a:t> 보험료율을 곱하여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기준소득월액</a:t>
            </a:r>
            <a:r>
              <a:rPr lang="ko-KR" altLang="en-US" sz="1600" spc="-50" dirty="0"/>
              <a:t> 은 국민연금제도에서 규정하고 있는 가입자의 한 달 소득이다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단순 월 소득이라고 표현하지 않는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일부는 보험료 징수대상에서 제외되기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부과대상이 되는 소득에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만원의 하한과 </a:t>
            </a:r>
            <a:r>
              <a:rPr lang="en-US" altLang="ko-KR" sz="1600" spc="-50" dirty="0"/>
              <a:t>637</a:t>
            </a:r>
            <a:r>
              <a:rPr lang="ko-KR" altLang="en-US" sz="1600" spc="-50" dirty="0"/>
              <a:t>만원의 상한이 설정되어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상한과 하한 사이의 소득만 보험료 징수대상이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부담 분배의 역진성을 발생시킨다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사업장가입자 혹은 지역가입자에게 적용되는 국민연금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 납부방식은 가입자 유형에 따라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가입자와 고용주가 절반씩 부담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가입자의 </a:t>
            </a:r>
            <a:r>
              <a:rPr lang="ko-KR" altLang="en-US" sz="1600" spc="-50" dirty="0" err="1"/>
              <a:t>기준소득월액의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4.5%</a:t>
            </a:r>
            <a:r>
              <a:rPr lang="ko-KR" altLang="en-US" sz="1600" spc="-50" dirty="0"/>
              <a:t>씩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본인이 보험료를 전액 부담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9508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DE6B9-00AB-2F55-33B1-7D357E6FA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157A2-D3CC-CF0A-1B28-BCFF3E45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FCD16D-A0C1-0304-8ABC-07596AD2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7896C-935A-7260-8D1B-98F4C9FDDFAD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 도입 초기에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수준으로 설정했기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제도의 안정적 운영을 위해 보험료율을 인상해야 한다는 주장이 계속 제기되어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1998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상향조정하고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이후에는 별다른 조정이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 수준에 도달하는 단계적 인상 방안을 마련하였다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향후 국민연금 보험료율이 인상되더라도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나라와 비교하면 여전히 낮은 수준일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이탈리아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등의 연금 보험료율은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수준이 넘고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평균은 </a:t>
            </a:r>
            <a:r>
              <a:rPr lang="en-US" altLang="ko-KR" sz="1600" spc="-50" dirty="0"/>
              <a:t>18%</a:t>
            </a:r>
            <a:r>
              <a:rPr lang="ko-KR" altLang="en-US" sz="1600" spc="-50" dirty="0"/>
              <a:t>에 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보험료율의 높고 낮음에 정답은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낮은 보험료율로 인해 우리나라 연금의 재정은 근본적으로 취약성을 가질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611924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C92B-6A23-9B2C-673E-0B2C9E48D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FA525-9A48-4544-62A9-FCCDA4FEE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AFA4E-7996-0549-009E-A15AC1B16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국민연금제도에서 지급하는 급여의 종류에는 노령연금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장애연금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유족연금이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노령연금이 가장 기본적인 연금으로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가입기간이 </a:t>
                </a: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년이 넘고</a:t>
                </a:r>
                <a:r>
                  <a:rPr lang="en-US" altLang="ko-KR" sz="1600" spc="-50" dirty="0"/>
                  <a:t>, 60</a:t>
                </a:r>
                <a:r>
                  <a:rPr lang="ko-KR" altLang="en-US" sz="1600" spc="-50" dirty="0"/>
                  <a:t>세에 도달한 사람이 받게 되는 연금이다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소득이 있는 업무에 종사하지 않는 경우는 </a:t>
                </a:r>
                <a:r>
                  <a:rPr lang="en-US" altLang="ko-KR" sz="1600" spc="-50" dirty="0"/>
                  <a:t>55</a:t>
                </a:r>
                <a:r>
                  <a:rPr lang="ko-KR" altLang="en-US" sz="1600" spc="-50" dirty="0"/>
                  <a:t>세를 기준으로 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가입자가 받게 되는 노령연금의 금액은 아래와 같은 방식으로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가입자가 얼마나 오랜 기간동안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얼마의 보험료를 </a:t>
                </a:r>
                <a:r>
                  <a:rPr lang="ko-KR" altLang="en-US" sz="1600" spc="-50" dirty="0" err="1"/>
                  <a:t>납부했느냐에</a:t>
                </a:r>
                <a:r>
                  <a:rPr lang="ko-KR" altLang="en-US" sz="1600" spc="-50" dirty="0"/>
                  <a:t> 따라 그가 받을 기본연금액이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</a:t>
                </a:r>
                <a:r>
                  <a:rPr lang="ko-KR" altLang="en-US" sz="1600" spc="-50" dirty="0" err="1"/>
                  <a:t>년동안의</a:t>
                </a:r>
                <a:r>
                  <a:rPr lang="ko-KR" altLang="en-US" sz="1600" spc="-50" dirty="0"/>
                  <a:t> 기본연금액을 산정하는 공식은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는 연금수급 직전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년 동안의 전체 가입자의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가입자 개인의 가입기간 중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20</a:t>
                </a:r>
                <a:r>
                  <a:rPr lang="ko-KR" altLang="en-US" sz="1600" spc="-50" dirty="0"/>
                  <a:t>년을 초과하는 가입연수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는 소득대체율과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관련된 상수로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이는 제도의 변화로 인해 가입자가 언제 </a:t>
                </a:r>
                <a:r>
                  <a:rPr lang="ko-KR" altLang="en-US" sz="1600" spc="-50" dirty="0" err="1">
                    <a:latin typeface="Cambria Math" panose="02040503050406030204" pitchFamily="18" charset="0"/>
                  </a:rPr>
                  <a:t>가입했느냐에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 따라 다른 값을 갖는다</a:t>
                </a:r>
                <a:r>
                  <a:rPr lang="en-US" altLang="ko-KR" sz="1600" spc="-50">
                    <a:latin typeface="Cambria Math" panose="02040503050406030204" pitchFamily="18" charset="0"/>
                  </a:rPr>
                  <a:t>.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blipFill>
                <a:blip r:embed="rId3"/>
                <a:stretch>
                  <a:fillRect b="-5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/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5953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D331-C4DC-191B-2AFB-95C7F589F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7AFB0-F537-B88B-9CA8-B12B179AD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5D92C-D69B-C903-EB0E-9B072C108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가입자 개인의 가입기간 중 평균보수인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기본연금액을 결정하는 공식에 포함된 것은 당연하다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평균 보수가 더 클수록 더 많은 보험료를 납부했을 것이기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더 많은 연금을 탈 자격이 생긴다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전체 가입자의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년간 평균보수인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연금액의 결정공식에 들어가는 것은 제도에 어느 정도의 재분배효과를 도입하려는 의도를 반영하고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모든 가입자에게 공통으로 적용되기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가입기간 동안의 평균보수가 낮은 사람일수록 유리하다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또한 이 부분을 통해 인플레이션에 대한 조정이 어느 정도 가능해지는 측면이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식에는 나타나 있지 않지만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추가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크레딧을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통해 가급금이 더해지기도 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저출산 문제에 대한 대응의 성격을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갖는 출산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군복무자에 대한 배려를 뜻하는 군복무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결국 가입자가 실제로 받게 되는 연금은 위 식을 통해 계산한 기본연금액에 연금종별 지급률 및 제한율을 곱해서 얻은 값에다가 부양가족연금액을 더한 것이 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blipFill>
                <a:blip r:embed="rId3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/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3636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EA1C-D0BA-961A-1618-249BA8BA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1BAAE-4BDE-63AB-44B8-3475C3935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14458-D7FD-DCAC-217A-E1487CCA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가입자가 받는 기본연금액은 그 성격상 균등부분과 소득비례부분의 두 부분으로 구분될 수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균등부분은 모든 가입자가 똑같은 수준으로 받게 되는 것을 뜻하는데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소득비례부분은 가입자의 평균보수에 비례하는 것으로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식을 살펴보면 균등부분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과 소득비례부분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이 </a:t>
                </a:r>
                <a:r>
                  <a:rPr lang="en-US" altLang="ko-KR" sz="1600" dirty="0">
                    <a:latin typeface="+mn-ea"/>
                  </a:rPr>
                  <a:t>1:1</a:t>
                </a:r>
                <a:r>
                  <a:rPr lang="ko-KR" altLang="en-US" sz="1600" dirty="0">
                    <a:latin typeface="+mn-ea"/>
                  </a:rPr>
                  <a:t>의 비율을 유지하고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사회적 적합성과 개인 공평성을 적절한 선에서 절충하려는 노력의 결과이다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0.05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 </a:t>
                </a:r>
                <a:r>
                  <a:rPr lang="ko-KR" altLang="en-US" sz="1600" dirty="0">
                    <a:latin typeface="+mn-ea"/>
                  </a:rPr>
                  <a:t>는 가입기간이 긴 사람일수록 더 많은 연금을 탈 수 있게 </a:t>
                </a:r>
                <a:r>
                  <a:rPr lang="ko-KR" altLang="en-US" sz="1600" dirty="0" err="1">
                    <a:latin typeface="+mn-ea"/>
                  </a:rPr>
                  <a:t>만드려는</a:t>
                </a:r>
                <a:r>
                  <a:rPr lang="ko-KR" altLang="en-US" sz="1600" dirty="0">
                    <a:latin typeface="+mn-ea"/>
                  </a:rPr>
                  <a:t> 의도를 반영한다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>
                  <a:latin typeface="+mn-ea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국민연금제도의 연금 급여수준이 얼마나 관대한지의 척도로 소득대체율이라는 개념을 종종 사용한다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 </a:t>
                </a:r>
                <a:r>
                  <a:rPr lang="ko-KR" altLang="en-US" sz="1600" dirty="0" err="1">
                    <a:latin typeface="+mn-ea"/>
                  </a:rPr>
                  <a:t>대체율이란</a:t>
                </a:r>
                <a:r>
                  <a:rPr lang="ko-KR" altLang="en-US" sz="1600" dirty="0">
                    <a:latin typeface="+mn-ea"/>
                  </a:rPr>
                  <a:t> 어떤 사람이 받는 연금을 은퇴하기 전의 평균보수로 나눈 비율을 의미한다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이 비율의 값이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라면 은퇴한 후에도 처분가능소득에는 변화가 없는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따라서 소득대체율이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에 가까울수록 급여수준이 관대한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>
                    <a:latin typeface="+mn-ea"/>
                  </a:rPr>
                  <a:t>제도 도입 당시 소득대체율은 </a:t>
                </a:r>
                <a:r>
                  <a:rPr lang="en-US" altLang="ko-KR" sz="1600" spc="-100" dirty="0">
                    <a:latin typeface="+mn-ea"/>
                  </a:rPr>
                  <a:t>70%</a:t>
                </a:r>
                <a:r>
                  <a:rPr lang="ko-KR" altLang="en-US" sz="1600" spc="-100" dirty="0">
                    <a:latin typeface="+mn-ea"/>
                  </a:rPr>
                  <a:t>였고</a:t>
                </a:r>
                <a:r>
                  <a:rPr lang="en-US" altLang="ko-KR" sz="1600" spc="-100" dirty="0">
                    <a:latin typeface="+mn-ea"/>
                  </a:rPr>
                  <a:t>, </a:t>
                </a:r>
                <a:r>
                  <a:rPr lang="ko-KR" altLang="en-US" sz="1600" spc="-100" dirty="0">
                    <a:latin typeface="+mn-ea"/>
                  </a:rPr>
                  <a:t>하향 조정이 </a:t>
                </a:r>
                <a:r>
                  <a:rPr lang="ko-KR" altLang="en-US" sz="1600" spc="-100" dirty="0" err="1">
                    <a:latin typeface="+mn-ea"/>
                  </a:rPr>
                  <a:t>몇차례</a:t>
                </a:r>
                <a:r>
                  <a:rPr lang="ko-KR" altLang="en-US" sz="1600" spc="-100" dirty="0">
                    <a:latin typeface="+mn-ea"/>
                  </a:rPr>
                  <a:t> 이루어지고 </a:t>
                </a:r>
                <a:r>
                  <a:rPr lang="en-US" altLang="ko-KR" sz="1600" spc="-100" dirty="0">
                    <a:latin typeface="+mn-ea"/>
                  </a:rPr>
                  <a:t>2028</a:t>
                </a:r>
                <a:r>
                  <a:rPr lang="ko-KR" altLang="en-US" sz="1600" spc="-100" dirty="0">
                    <a:latin typeface="+mn-ea"/>
                  </a:rPr>
                  <a:t>년에는 </a:t>
                </a:r>
                <a:r>
                  <a:rPr lang="en-US" altLang="ko-KR" sz="1600" spc="-100" dirty="0">
                    <a:latin typeface="+mn-ea"/>
                  </a:rPr>
                  <a:t>40% </a:t>
                </a:r>
                <a:r>
                  <a:rPr lang="ko-KR" altLang="en-US" sz="1600" spc="-100" dirty="0">
                    <a:latin typeface="+mn-ea"/>
                  </a:rPr>
                  <a:t>수준에 도달할 예정이었다</a:t>
                </a:r>
                <a:r>
                  <a:rPr lang="en-US" altLang="ko-KR" sz="1600" spc="-1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>
                    <a:latin typeface="+mn-ea"/>
                  </a:rPr>
                  <a:t>2025</a:t>
                </a:r>
                <a:r>
                  <a:rPr lang="ko-KR" altLang="en-US" sz="1600" dirty="0">
                    <a:latin typeface="+mn-ea"/>
                  </a:rPr>
                  <a:t>년에 이루어진 연금개혁에서는 노령층의 소득보장을 강화해야 한다는 이유로 소득대체율을 </a:t>
                </a:r>
                <a:r>
                  <a:rPr lang="en-US" altLang="ko-KR" sz="1600" dirty="0">
                    <a:latin typeface="+mn-ea"/>
                  </a:rPr>
                  <a:t>43%</a:t>
                </a:r>
                <a:r>
                  <a:rPr lang="ko-KR" altLang="en-US" sz="1600" dirty="0">
                    <a:latin typeface="+mn-ea"/>
                  </a:rPr>
                  <a:t>로 상향 조정하고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계속 유지하기로 하였다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노령층의 생활 안정이라는 긍정적 측면도 있지만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국민연금의 재정 건정성에 대한 우려가 커진다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561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8E31-EDDF-1AAF-FA6E-DD9CB7BAE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ABA4BC-CD23-D3CA-AAD6-7AD67E8D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50E50-1619-D233-A58E-60DCA3F3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3FFA7-FDE8-64FA-A3FF-8517BB7F6B6C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보험료율과 </a:t>
            </a:r>
            <a:r>
              <a:rPr lang="en-US" altLang="ko-KR" sz="1600" spc="-50" dirty="0"/>
              <a:t>70%</a:t>
            </a:r>
            <a:r>
              <a:rPr lang="ko-KR" altLang="en-US" sz="1600" spc="-50" dirty="0"/>
              <a:t>라는 높은 소득대체율로 출범했기 때문에 연금재정이 근본적인 취약성을 안고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Cambria Math" panose="02040503050406030204" pitchFamily="18" charset="0"/>
              </a:rPr>
              <a:t>이에 따라 보험료와 급여의 수준을 대폭 조정하지 않으면 연금기금이 장래에 고갈될 것이라는 위기의식이 생겼다</a:t>
            </a:r>
            <a:r>
              <a:rPr lang="en-US" altLang="ko-KR" sz="1600" dirty="0">
                <a:latin typeface="Cambria Math" panose="02040503050406030204" pitchFamily="18" charset="0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</a:t>
            </a:r>
            <a:r>
              <a:rPr lang="en-US" altLang="ko-KR" sz="1600" spc="-50" dirty="0"/>
              <a:t>1998</a:t>
            </a:r>
            <a:r>
              <a:rPr lang="ko-KR" altLang="en-US" sz="1600" spc="-50" dirty="0"/>
              <a:t>년 「국민연금법」 개정을 통해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올리고 연급수급 연령도 </a:t>
            </a:r>
            <a:r>
              <a:rPr lang="en-US" altLang="ko-KR" sz="1600" spc="-50" dirty="0"/>
              <a:t>60</a:t>
            </a:r>
            <a:r>
              <a:rPr lang="ko-KR" altLang="en-US" sz="1600" spc="-50" dirty="0"/>
              <a:t>세에서 </a:t>
            </a:r>
            <a:r>
              <a:rPr lang="en-US" altLang="ko-KR" sz="1600" spc="-50" dirty="0"/>
              <a:t>65</a:t>
            </a:r>
            <a:r>
              <a:rPr lang="ko-KR" altLang="en-US" sz="1600" spc="-50" dirty="0"/>
              <a:t>세로 늦추는 등의 조치를 취하고</a:t>
            </a:r>
            <a:r>
              <a:rPr lang="en-US" altLang="ko-KR" sz="1600" spc="-50" dirty="0"/>
              <a:t>, 5</a:t>
            </a:r>
            <a:r>
              <a:rPr lang="ko-KR" altLang="en-US" sz="1600" spc="-50" dirty="0" err="1"/>
              <a:t>년마다</a:t>
            </a:r>
            <a:r>
              <a:rPr lang="ko-KR" altLang="en-US" sz="1600" spc="-50" dirty="0"/>
              <a:t> 연금 재정의 상황을 점검하여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필요할 때 보험료를 재조정할 수 있도록 길을 열어 놓았다</a:t>
            </a:r>
            <a:r>
              <a:rPr lang="en-US" altLang="ko-KR" sz="1600" spc="-50" dirty="0"/>
              <a:t>.    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조치만으로는 연금재정의 안정적인 운영이 힘들었고</a:t>
            </a:r>
            <a:r>
              <a:rPr lang="en-US" altLang="ko-KR" sz="1600" spc="-50" dirty="0"/>
              <a:t>, 2003</a:t>
            </a:r>
            <a:r>
              <a:rPr lang="ko-KR" altLang="en-US" sz="1600" spc="-50" dirty="0"/>
              <a:t>년 「국민연금법」 을 개정하여 제도 개혁을 시도했다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연금재정 안정을 위해서는 보험료율을 올리는 동시에 소득대체율을 낮추어야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가입자로서는 둘 중 어느 쪽도 </a:t>
            </a:r>
            <a:r>
              <a:rPr lang="ko-KR" altLang="en-US" sz="1600" spc="-50" dirty="0" err="1"/>
              <a:t>달가울리</a:t>
            </a:r>
            <a:r>
              <a:rPr lang="ko-KR" altLang="en-US" sz="1600" spc="-50" dirty="0"/>
              <a:t>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부정적 기류로 인해 개혁안을 도출하는 과정에서 많은 정치적 논란이 야기 되었고</a:t>
            </a:r>
            <a:r>
              <a:rPr lang="en-US" altLang="ko-KR" sz="1600" spc="-50" dirty="0"/>
              <a:t>, 2007</a:t>
            </a:r>
            <a:r>
              <a:rPr lang="ko-KR" altLang="en-US" sz="1600" spc="-50" dirty="0"/>
              <a:t>년에 이르러서야 개정법률안이 통과되었다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개혁의 주요 내용은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의 보험료율은 그대로 유지하되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소득대체율을 점진적으로 낮추어 </a:t>
            </a:r>
            <a:r>
              <a:rPr lang="en-US" altLang="ko-KR" sz="1600" spc="-50" dirty="0"/>
              <a:t>2028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수준으로 낮아지게 만든다는 것이었다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3878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C186F-2E0E-2D9A-6F5A-BEF15D06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5EA440-441B-8508-16F6-68208F6D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1B5CA-4805-8BCF-7688-CB81C9C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757ADC-6542-A048-EFAD-2CF0232B295B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힘들게 연금제도 개혁을 이루었지만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보험료율을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소득대체율만 낮추는 것으로는 연금기금의 재정 안정성을 확보하기 힘들었다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당시에도 개혁의 성과가 고작 연금기금의 고갈시기를 </a:t>
            </a:r>
            <a:r>
              <a:rPr lang="en-US" altLang="ko-KR" sz="1600" spc="-50" dirty="0"/>
              <a:t>2047</a:t>
            </a:r>
            <a:r>
              <a:rPr lang="ko-KR" altLang="en-US" sz="1600" spc="-50" dirty="0" err="1"/>
              <a:t>년에서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2060</a:t>
            </a:r>
            <a:r>
              <a:rPr lang="ko-KR" altLang="en-US" sz="1600" spc="-50" dirty="0"/>
              <a:t>년으로 </a:t>
            </a:r>
            <a:r>
              <a:rPr lang="en-US" altLang="ko-KR" sz="1600" spc="-50" dirty="0"/>
              <a:t>13</a:t>
            </a:r>
            <a:r>
              <a:rPr lang="ko-KR" altLang="en-US" sz="1600" spc="-50" dirty="0"/>
              <a:t>년 정도 늦추는데 그쳤다는 박한 평가가 나오기도 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더군다나 최근의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추세가 급속한 속도로 진행되고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고갈시점은 더욱 앞당겨질지도 모른다는 위기 의식이 높아지고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국민적 합의를 이루기 </a:t>
            </a:r>
            <a:r>
              <a:rPr lang="ko-KR" altLang="en-US" sz="1600" spc="-50" dirty="0" err="1"/>
              <a:t>어렵긴하지만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2025</a:t>
            </a:r>
            <a:r>
              <a:rPr lang="ko-KR" altLang="en-US" sz="1600" spc="-50" dirty="0"/>
              <a:t>년이 되어 국민연금제도의 개혁이 다시 본격 논의되기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단계적으로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까지 인상하고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소득대체율은 기존의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43%</a:t>
            </a:r>
            <a:r>
              <a:rPr lang="ko-KR" altLang="en-US" sz="1600" spc="-50" dirty="0"/>
              <a:t>로 상향조정하기로 합의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지급을 국가가 보장하고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물가 상승률을 반영해 연금액을 조정하는 기능이 추가되었다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hlinkClick r:id="rId3"/>
              </a:rPr>
              <a:t>https://www.mohw.go.kr/board.es?act=view&amp;bid=0027&amp;list_no=1485039&amp;mid=a10503010100&amp;nPage=1&amp;tag=&amp;utm_source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 구조개혁 방안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 https://www.kdi.re.kr/research/focusView?pub_no=18231</a:t>
            </a:r>
          </a:p>
        </p:txBody>
      </p:sp>
    </p:spTree>
    <p:extLst>
      <p:ext uri="{BB962C8B-B14F-4D97-AF65-F5344CB8AC3E}">
        <p14:creationId xmlns:p14="http://schemas.microsoft.com/office/powerpoint/2010/main" val="30005738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4D9A-1A29-B85A-C747-DDB83AE27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BEF84-4DC1-D4D9-5C26-49E3F77DD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8C94E-735C-5386-ED3A-65CD0FB4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449E6D-EBF7-9581-0F8A-AED151A2BDC7}"/>
              </a:ext>
            </a:extLst>
          </p:cNvPr>
          <p:cNvSpPr txBox="1"/>
          <p:nvPr/>
        </p:nvSpPr>
        <p:spPr>
          <a:xfrm>
            <a:off x="288790" y="958844"/>
            <a:ext cx="110866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차례에 걸친 개혁 시도에도 불구하고 국민연금제도의 재정안정 문제는 여전히 숙제로 남아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근본적 해결을 위해서는 연금제도 자체를 손보는 것에 추가하여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넓은 시각이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생계보장이라는 문제를 해결하기 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기업과 개인이 조금 더 적극적인 역할을 하도록 유도하는 방법을 강구해야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생계보장이 전적으로 정부의 책임이라고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문제의 궁극적인 책임은 개인에게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기업도 그 책임의 일부를 나누어 갖는 것이 바람직하다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유럽과 라틴 아메리카의 여러 나라에서도 개인과 기업이 정부의 부담을 </a:t>
            </a:r>
            <a:r>
              <a:rPr lang="ko-KR" altLang="en-US" sz="1600" spc="-50" dirty="0" err="1"/>
              <a:t>덜어줌으로써</a:t>
            </a:r>
            <a:r>
              <a:rPr lang="ko-KR" altLang="en-US" sz="1600" spc="-50" dirty="0"/>
              <a:t> 연금 재정 위기를 극복하려는 시도가 확산되고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 주도의 퇴직연금제도를 활성화시키고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자발적 저축을 촉진하기 위해 여러가지 유인책을 도입할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8596603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1CED-BFF9-C681-DF33-EB586B6EA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58427-13CB-03F4-E071-86957EBBE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4B742-CA62-173D-6BDC-9404328B1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EB0F2E-248A-11BE-A213-4D2A921B1098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누구나 살면서 병에 걸리기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막대한 비용 역시 큰 문제이다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보험을 통해 이러한 위험에 어느 정도의 대처가 가능하지만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보험료가 부담이 되는 사람들의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먹고 살기 바쁜 가운데 민간보험에 가입할 엄두를 내지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정부가 개입하지 않을 수 없다는 것이 일반적인 인식이다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세계 거의 모든 국가가 의료보장제도를 통해 갑작스럽게 발생하는 의료비 부담문제의 사회적 해결을 추구하고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이 문제를 어떤 방식으로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어느 정도로 </a:t>
            </a:r>
            <a:r>
              <a:rPr lang="ko-KR" altLang="en-US" sz="1600" spc="-50" dirty="0" err="1"/>
              <a:t>개입하느냐에</a:t>
            </a:r>
            <a:r>
              <a:rPr lang="ko-KR" altLang="en-US" sz="1600" spc="-50" dirty="0"/>
              <a:t> 따라 의료보장제도를 다음의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유형으로 구분한다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사회보험방식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국민보건서비스방식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48544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BC837-5B79-AF22-52B8-6A42DB540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9463E-1C35-A491-8C92-B226D872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19C4F7-5F35-82A0-4921-5E3198209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1212B-7AE8-3B2D-86D4-5A3852F2497A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의료보험에 가입하는 것은 개인의 책임하에 이루어지며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개입이 최소한으로 제한된다는 특징을 갖고 있다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직장에서 고용과 동시에 의료보험이 제공되므로 직장이 있는 사람이면 의료보험에 가입하게 된다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직장을 갖지 못한 사람들 중 빈곤층과 노년층에 대해서는 정부가 별도로 의료보장 혜택을 제공하는 방식을 취한다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민간보험방식의  대표적인 예로 미국이 있으며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민간 보험 혜택을 누리지 못하는 국민들에게는 </a:t>
            </a:r>
            <a:r>
              <a:rPr lang="en-US" altLang="ko-KR" sz="1600" spc="-50" dirty="0"/>
              <a:t>Medicaid, Medicare</a:t>
            </a:r>
            <a:r>
              <a:rPr lang="ko-KR" altLang="en-US" sz="1600" spc="-50" dirty="0"/>
              <a:t>라는 프로그램을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Medicaid </a:t>
            </a:r>
            <a:r>
              <a:rPr lang="ko-KR" altLang="en-US" sz="1600" spc="-50" dirty="0"/>
              <a:t>프로그램은 빈곤층을 대상으로 제공하는 무료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Medicare</a:t>
            </a:r>
            <a:r>
              <a:rPr lang="ko-KR" altLang="en-US" sz="1600" spc="-50" dirty="0"/>
              <a:t> 프로그램은 노인과 장애인을 대상으로 제공하는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프로그램에도 불구하고 미국에는 상당한 숫자의 가난한 사람들이 의료보험 혜택의 사각지대에 놓여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대해 전 국민을 대상으로 하는 공적 의료보험이 시급하다는 의견에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진보적인 입장을 취하는 사람들과 보수적인 입장을 취하는 사람들 간에 합의가 쉽게 이루어지지 않았다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2009</a:t>
            </a:r>
            <a:r>
              <a:rPr lang="ko-KR" altLang="en-US" sz="1600" spc="-50" dirty="0"/>
              <a:t>년 오바마 대통령이 공적 의료보험제도의 도입에 성공했으나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반쪽짜리 성공이라는 평가가 있기도 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의회 통과과정에서 반대파를 무마하기 위한 많은 양보를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반대파의 방해공작으로 제도 정착에 큰 어려움이 있었다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60215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274F5-6103-B6AB-439A-3D4402F7B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6E6DF-2B7E-9FB8-46D2-620162FC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7DE2EF-3B88-591E-C8DF-5C747513E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B4814-B91E-46EC-4B4A-C7261F5F32FF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사회보험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국가가 의료보장에 대한 기본적 책임을 져야 한다는 취지에서 공적 의료보험제도를 도입하고 정부가 그 비용의 일부를 부담하는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낸 보험료가 공적 의료보험제도의 주요한 재원이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보험회사들이 제공하던 의료보험을 정부가 통합하여 운영하는 하나의 거대한 보험 프로그램이다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우리나라를 위시해 독일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 대부분의 나라들이 사회보험방식을 채택하고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의료보험을 민간부문에 내맡기지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개입하는 이유는 국민연금제도의 필요성과 맥락을 같이한다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시장실패의 보완이라는 이유를 들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시장에만 맡기면 국민 모두가 아무런 제약 없이 가입할 수 있는 의료보험상품이 제공되지 못할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보험사들은 역선택 문제를 우려하여 여러 제약을 가하기 때문인데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공적 의료보험제도를 통해 역선택 문제를 효과적으로 해결할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소득재분배와 온정적 간섭주의 관점에서 공적 의료보험제도의 의의를 찾을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절에서 말한 상품평등주의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 모두가 적절한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보험사들이 의료보험을 제공하면 가난한 사람들은 보험의 혜택을 누리지 못할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06550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7DB82-EF09-BAE2-3D33-CC1FC5DF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07784-9AEB-3303-F09E-16141EA6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82815-05FE-73D0-1FFC-56414798B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BC513-E6EC-7E5C-BA2E-94A99296EAFA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온정적 간섭주의 관점에서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의료보험에 가입하지 않는 사람들이 생기는 것을 막기 위한 이유도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의료보험에 가입하는 것이 바람직하다는 것을 알고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당장의 소비를 줄이기 싫은 소비자들은 가입을 하지 않을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소비자들의 근시안적 행동을 막기 위해 모든 국민이 강제적으로 가입할 수 있도록 하는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국민보건서비스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의료보장은 전적으로 국가의 책임이라는 취지에서 모든 국민에게 무상으로 의료서비스를 제공하는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드는 비용은 정부의 일반 세입으로 충당되기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 프로그램이라고 말하기 힘들고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의료보장을 제공하는 일반 프로그램의 일종이라고 보아야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국민에게 포괄적이고 균등한 의료서비스를 제공한다는 측면에서 상품평등주의의 이상을 가장 완벽하게 구현할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이탈리아 같은 나라가 이 방식을 채택하고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의료서비스를 직접 통제하기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의료비의 급격한 상승을 막는 데 상당한 성과를 보이고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획일적인 의료서비스라는 한계로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다양한 선호에 부응하지 못한다는 단점이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많은 비용을 지불하여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질의 의료서비스를 받고 싶은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2354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DF75A-2184-19E8-80EF-F0EA35C1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42088-39D1-6980-3444-B9E06835A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2815F7-87F4-906D-3E3A-D32F5B1DD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8618C1-751F-7A54-75AC-B9881D7784CB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건강보험제도는 </a:t>
            </a:r>
            <a:r>
              <a:rPr lang="en-US" altLang="ko-KR" sz="1600" spc="-50" dirty="0"/>
              <a:t>1977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5</a:t>
            </a:r>
            <a:r>
              <a:rPr lang="ko-KR" altLang="en-US" sz="1600" spc="-50" dirty="0"/>
              <a:t>백명 이상의 사업장을 대상으로 의료보험을 제공함으로써 그 첫발을 내디뎠다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1989</a:t>
            </a:r>
            <a:r>
              <a:rPr lang="ko-KR" altLang="en-US" sz="1600" spc="-50" dirty="0"/>
              <a:t>년에는 도시자영업자에게도 지역 의료보험을 확대 실시하여 전 국민 의료보험을 달성했다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1999</a:t>
            </a:r>
            <a:r>
              <a:rPr lang="ko-KR" altLang="en-US" sz="1600" spc="-50" dirty="0"/>
              <a:t>년에는 「국민건강보험법」 제정하여 직장의료보험과 지역의료보험을 통합함으로써 단일보험체계를 구축했다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국민건강보험제도는 앞서 살펴본 국민연금제도보다 대략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년가량 더 긴 역사를 갖고 있는 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국민건강보험제도는 비교적 짧은 시간에 성숙된 단계로 진입하였음에도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나라들에 비해 그 수준이 상당히 높은 편으로 인정받고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미국의 경우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의료비 지출이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평균의 두 배 이상 되는 고비용 구조임에도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평균 기대수명이나 유아사망률의 측면에서는 별로 나을 것도 없는 부진한 성과를 보인다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전 국민이 건강보험 아니면 의료급여 혜택을 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의료급여란 저소득층을 대상으로 정부가 기본적인 의료서비스를 제공하는 프로그램으로 공공부조정책의 일환이다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건강보험 가입자는 </a:t>
            </a:r>
            <a:r>
              <a:rPr lang="en-US" altLang="ko-KR" sz="1600" spc="-50" dirty="0"/>
              <a:t>5,145</a:t>
            </a:r>
            <a:r>
              <a:rPr lang="ko-KR" altLang="en-US" sz="1600" spc="-50" dirty="0"/>
              <a:t>만명 </a:t>
            </a:r>
            <a:r>
              <a:rPr lang="en-US" altLang="ko-KR" sz="1600" spc="-50" dirty="0"/>
              <a:t>(97.1%), </a:t>
            </a:r>
            <a:r>
              <a:rPr lang="ko-KR" altLang="en-US" sz="1600" spc="-50" dirty="0"/>
              <a:t>의료급여 혜택을 받는 사람은 </a:t>
            </a:r>
            <a:r>
              <a:rPr lang="en-US" altLang="ko-KR" sz="1600" spc="-50" dirty="0"/>
              <a:t>152</a:t>
            </a:r>
            <a:r>
              <a:rPr lang="ko-KR" altLang="en-US" sz="1600" spc="-50" dirty="0"/>
              <a:t>만명</a:t>
            </a:r>
            <a:r>
              <a:rPr lang="en-US" altLang="ko-KR" sz="1600" spc="-50" dirty="0"/>
              <a:t> (2.9%)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1508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D275C-EB7B-BE15-9AC8-DD02BE8C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65E95-75A5-82D2-6722-F23A3CE8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39DE52-86B2-C6E5-BCB7-34855D38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11CF5-9DCF-E9C0-65FB-9B337B13CE6A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 가입자는 직장가입자와 지역가입자의 두 범주로 구성되어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직장가입자는 사업장의 근로자와 사용자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공무원과 교직원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이들의 피부양자로 이루어져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직장가입자는 </a:t>
            </a:r>
            <a:r>
              <a:rPr lang="en-US" altLang="ko-KR" sz="1600" spc="-50" dirty="0"/>
              <a:t>3,637</a:t>
            </a:r>
            <a:r>
              <a:rPr lang="ko-KR" altLang="en-US" sz="1600" spc="-50" dirty="0"/>
              <a:t>만 명으로 전체 가입자의 </a:t>
            </a:r>
            <a:r>
              <a:rPr lang="en-US" altLang="ko-KR" sz="1600" spc="-50" dirty="0"/>
              <a:t>70.7%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지역가입자는 직장가입자를 제외한 나머지 가입자들을 가리킨다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</a:t>
            </a:r>
            <a:r>
              <a:rPr lang="en-US" altLang="ko-KR" sz="1600" spc="-50" dirty="0"/>
              <a:t>1,509</a:t>
            </a:r>
            <a:r>
              <a:rPr lang="ko-KR" altLang="en-US" sz="1600" spc="-50" dirty="0"/>
              <a:t>만 명으로</a:t>
            </a:r>
            <a:r>
              <a:rPr lang="en-US" altLang="ko-KR" sz="1600" spc="-50" dirty="0"/>
              <a:t>, 29.3%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직장가입자는 급여에 기초해 계산한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보수월액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을 기준으로 보험료를 납부한다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급여 이외의 소득이 많으면</a:t>
            </a:r>
            <a:r>
              <a:rPr lang="en-US" altLang="ko-KR" sz="1600" spc="-50" dirty="0"/>
              <a:t>, ‘</a:t>
            </a:r>
            <a:r>
              <a:rPr lang="ko-KR" altLang="en-US" sz="1600" spc="-50" dirty="0" err="1"/>
              <a:t>소득월액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보험료 산정의 기준이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직장가입자의 보험료율은 </a:t>
            </a:r>
            <a:r>
              <a:rPr lang="en-US" altLang="ko-KR" sz="1600" spc="-50" dirty="0"/>
              <a:t>7.09%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 본인과 고용주가 절반씩 </a:t>
            </a:r>
            <a:r>
              <a:rPr lang="en-US" altLang="ko-KR" sz="1600" spc="-50" dirty="0"/>
              <a:t>(3.545%)</a:t>
            </a:r>
            <a:r>
              <a:rPr lang="ko-KR" altLang="en-US" sz="1600" spc="-50" dirty="0"/>
              <a:t> 납부하도록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건강보험료의 경우도 앞서 국민연금 보험료와 비슷하게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납부금액의 상한과 하한이 </a:t>
            </a:r>
            <a:r>
              <a:rPr lang="ko-KR" altLang="en-US" sz="1600" spc="-50" dirty="0" err="1"/>
              <a:t>정해져있다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보수월액의</a:t>
            </a:r>
            <a:r>
              <a:rPr lang="ko-KR" altLang="en-US" sz="1600" spc="-50" dirty="0"/>
              <a:t> 하한은 </a:t>
            </a:r>
            <a:r>
              <a:rPr lang="en-US" altLang="ko-KR" sz="1600" spc="-50" dirty="0"/>
              <a:t>28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상한은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억 </a:t>
            </a:r>
            <a:r>
              <a:rPr lang="en-US" altLang="ko-KR" sz="1600" spc="-50" dirty="0"/>
              <a:t>2,706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5118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CA6C-4CFB-17F5-9D22-51E0C9D1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AA6EF-62C8-DDB6-46E9-8C2545066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8C7C4-59D8-171C-433A-565610ED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ED4EF4-B2F6-7F4A-A7FC-3752791A8A5C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건강보험제도를 운영하고 있는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의 다른 국가들과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보험료율은 상대적으로 낮다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건강보험의 </a:t>
            </a:r>
            <a:r>
              <a:rPr lang="ko-KR" altLang="en-US" sz="1600" spc="-50" dirty="0" err="1"/>
              <a:t>보장률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총 진료비 중 건강보험에서 지급하는 비율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69.4% </a:t>
            </a:r>
            <a:r>
              <a:rPr lang="ko-KR" altLang="en-US" sz="1600" spc="-50" dirty="0"/>
              <a:t>수준이며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선진국들의 </a:t>
            </a:r>
            <a:r>
              <a:rPr lang="ko-KR" altLang="en-US" sz="1600" spc="-50" dirty="0" err="1"/>
              <a:t>보장률은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70%~80% </a:t>
            </a:r>
            <a:r>
              <a:rPr lang="ko-KR" altLang="en-US" sz="1600" spc="-50" dirty="0"/>
              <a:t>수준에 이른다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기본적으로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저부담</a:t>
            </a:r>
            <a:r>
              <a:rPr lang="ko-KR" altLang="en-US" sz="1600" spc="-50" dirty="0"/>
              <a:t> 저급여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체제를 선택하고 있는 셈이다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건강보험의 보장 수준을 파악하는 또 다른 지표로는 국민의료비 지출 중 공공의료비가 차지하는 비율을 들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2022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비율은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평균이 </a:t>
            </a:r>
            <a:r>
              <a:rPr lang="en-US" altLang="ko-KR" sz="1600" spc="-50" dirty="0"/>
              <a:t>75.8%, </a:t>
            </a:r>
            <a:r>
              <a:rPr lang="ko-KR" altLang="en-US" sz="1600" spc="-50" dirty="0"/>
              <a:t>독일 </a:t>
            </a:r>
            <a:r>
              <a:rPr lang="en-US" altLang="ko-KR" sz="1600" spc="-50" dirty="0"/>
              <a:t>86.5%, </a:t>
            </a:r>
            <a:r>
              <a:rPr lang="ko-KR" altLang="en-US" sz="1600" spc="-50" dirty="0"/>
              <a:t>일본 </a:t>
            </a:r>
            <a:r>
              <a:rPr lang="en-US" altLang="ko-KR" sz="1600" spc="-50" dirty="0"/>
              <a:t>85.5%,  </a:t>
            </a:r>
            <a:r>
              <a:rPr lang="ko-KR" altLang="en-US" sz="1600" spc="-50" dirty="0"/>
              <a:t>한편 우리나라는 </a:t>
            </a:r>
            <a:r>
              <a:rPr lang="en-US" altLang="ko-KR" sz="1600" spc="-50" dirty="0"/>
              <a:t>62.7%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개인이 부담하는 의료비 비중이 상대적으로 더 크다는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국민연금제도와 달리 국민건강보험제도는 부과방식으로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보험료를 통해 조성된 기금에서 나온 원리금이 아니라 그때그때 거둔 보험료로 사업 비용을 충당하고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91144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4F9D4-0237-3133-E039-47700056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2379-C2BC-DD7C-2987-AAF73B58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B0373-4115-F228-DA88-097F4558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80CDC-94EA-9521-9B5C-10328163E689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2017</a:t>
            </a:r>
            <a:r>
              <a:rPr lang="ko-KR" altLang="en-US" sz="1600" spc="-50" dirty="0"/>
              <a:t>년 정부는 가계 의료비 부담을 덜어주고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보장성을 강화하기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「건강보험 보장성 강화 </a:t>
            </a:r>
            <a:r>
              <a:rPr lang="ko-KR" altLang="en-US" sz="1600" spc="-50" dirty="0" err="1"/>
              <a:t>대책」을</a:t>
            </a:r>
            <a:r>
              <a:rPr lang="ko-KR" altLang="en-US" sz="1600" spc="-50" dirty="0"/>
              <a:t> 발표한 바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통해 건강보험이 적용되는 의료서비스의 범위가 확대되고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의료비 부담도 일정부분 완화되었다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신약과 새로운 치료법에 대해 보험 적용을 확대하고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중증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희귀성</a:t>
            </a:r>
            <a:r>
              <a:rPr lang="ko-KR" altLang="en-US" sz="1600" spc="-50" dirty="0"/>
              <a:t> 질환자에 대한 의료비 지원을 강화하는 등 건강보험의 보장성을 높이기 위한 정책을 꾸준히 추진하고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동시에 건강보험 지출은 빠르게 증가하여 재정 부담에 대한 우려도 커지고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인구고령화로 의료서비스에 대한 전반적인 수요가 늘어날 것이 분명하므로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 안정성을 유지하기 힘들어진다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의료비 중 일부만을 자신이 부담하기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조금만 아파도 병원을 찾는 도덕적 해이가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대안으로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전 국민 주치의제도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가 꾸준히 논의 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주치의가 </a:t>
            </a:r>
            <a:r>
              <a:rPr lang="en-US" altLang="ko-KR" sz="1600" spc="-50" dirty="0"/>
              <a:t>1</a:t>
            </a:r>
            <a:r>
              <a:rPr lang="ko-KR" altLang="en-US" sz="1600" spc="-50" dirty="0" err="1"/>
              <a:t>차진료</a:t>
            </a:r>
            <a:r>
              <a:rPr lang="ko-KR" altLang="en-US" sz="1600" spc="-50" dirty="0"/>
              <a:t> 과정에서 상급병원을 갈 필요가 있는지 심사함으로써 불필요한 병원 이용을 막자는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74648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273E2-F1C6-D987-DE4D-4076B10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77F15-83E4-30E0-D9A7-23984D971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592B-F4C4-26E0-2007-E86DD2851A13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의료서비스 공급 측면에서도 재정압박 요인이 존재한다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의료인이 수가를 올리기 위해 과잉 진료를 한다는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많은 질병에 대해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하에서는 의사가 제공한 진료행위 하나하나에 대해 의료비를 지급한다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하에서는 의사들이 불필요한 수가를 올리는 유인이 존재한다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대한 대책으로 </a:t>
            </a:r>
            <a:r>
              <a:rPr lang="en-US" altLang="ko-KR" sz="1600" spc="-50" dirty="0"/>
              <a:t>2012</a:t>
            </a:r>
            <a:r>
              <a:rPr lang="ko-KR" altLang="en-US" sz="1600" spc="-50" dirty="0"/>
              <a:t>년에는 몇가지 질병에 대해서는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포괄수가제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도입하여 질병별로 미리 정해진 금액의 진료비만 받을 수 있도록 하였다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포괄수가제 하에서는 의료서비스의 질이 떨어질 수 있는 문제가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꼭 필요한 처치 임에도 불구하고 비용 절감을 위해 이를 제공하지 않는 과소진료 문제가 발생할 수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417640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7305D-7D31-F2FC-A77C-CA36ADF83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0F54E-03CE-B43C-D317-E3ACF909D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BCDB9-E164-DD1C-64D7-BA892E8C891F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문제와 관련하여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영리병원 도입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문제도 논란이 된 적이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현재는 의료인과 비영리법인만이 의료기관을 설립할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영리병원이 도입되면 영리법인도 의료기관을 설립할 수 있다는 의미다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영리병원은 이윤 창출의 압력이 있기 때문에 불필요한 진료와 건강보험 지급대상이 아닌 비급여 진료 비중을 증가시킬 유인이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영리병원은 자본력을 동원해 우수한 의료인력을 흡수하면 서민들이 이용하는 의료기관과의 서비스 차이가 양극화 될 수도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국민은 비교적 낮은 비용으로 좋은 의료서비스를 받고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의료공백사태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필수의료 인력부족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재정 악화 등 구조적인 문제가 점차 가시화되면서 기존의 의료보장체제의 한계를 지적하는 목소리도 커지고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25685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15546</TotalTime>
  <Words>5543</Words>
  <Application>Microsoft Office PowerPoint</Application>
  <PresentationFormat>와이드스크린</PresentationFormat>
  <Paragraphs>529</Paragraphs>
  <Slides>50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저축행위에 미치는 영향</vt:lpstr>
      <vt:lpstr>저축행위에 미치는 영향</vt:lpstr>
      <vt:lpstr>노동공급에 미치는 영향</vt:lpstr>
      <vt:lpstr>Section 5. 우리나라의 국민연금제도</vt:lpstr>
      <vt:lpstr>적용대상</vt:lpstr>
      <vt:lpstr>보험료</vt:lpstr>
      <vt:lpstr>보험료</vt:lpstr>
      <vt:lpstr>연금의 급여</vt:lpstr>
      <vt:lpstr>연금의 급여</vt:lpstr>
      <vt:lpstr>연금의 급여</vt:lpstr>
      <vt:lpstr>국민연금제도의 개혁</vt:lpstr>
      <vt:lpstr>국민연금제도의 개혁</vt:lpstr>
      <vt:lpstr>국민연금제도의 개혁</vt:lpstr>
      <vt:lpstr>Section 6. 건강보험제도의 기본성격</vt:lpstr>
      <vt:lpstr>건강보험제도의 기본성격</vt:lpstr>
      <vt:lpstr>건강보험제도의 기본성격</vt:lpstr>
      <vt:lpstr>건강보험제도의 기본성격</vt:lpstr>
      <vt:lpstr>건강보험제도의 기본성격</vt:lpstr>
      <vt:lpstr>Section 7. 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667</cp:revision>
  <dcterms:created xsi:type="dcterms:W3CDTF">2025-07-05T05:15:23Z</dcterms:created>
  <dcterms:modified xsi:type="dcterms:W3CDTF">2026-06-07T02:13:48Z</dcterms:modified>
</cp:coreProperties>
</file>