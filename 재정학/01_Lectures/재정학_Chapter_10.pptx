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63"/>
  </p:notesMasterIdLst>
  <p:sldIdLst>
    <p:sldId id="375" r:id="rId2"/>
    <p:sldId id="405" r:id="rId3"/>
    <p:sldId id="550" r:id="rId4"/>
    <p:sldId id="552" r:id="rId5"/>
    <p:sldId id="758" r:id="rId6"/>
    <p:sldId id="759" r:id="rId7"/>
    <p:sldId id="752" r:id="rId8"/>
    <p:sldId id="760" r:id="rId9"/>
    <p:sldId id="761" r:id="rId10"/>
    <p:sldId id="762" r:id="rId11"/>
    <p:sldId id="763" r:id="rId12"/>
    <p:sldId id="765" r:id="rId13"/>
    <p:sldId id="764" r:id="rId14"/>
    <p:sldId id="753" r:id="rId15"/>
    <p:sldId id="766" r:id="rId16"/>
    <p:sldId id="767" r:id="rId17"/>
    <p:sldId id="768" r:id="rId18"/>
    <p:sldId id="769" r:id="rId19"/>
    <p:sldId id="770" r:id="rId20"/>
    <p:sldId id="771" r:id="rId21"/>
    <p:sldId id="772" r:id="rId22"/>
    <p:sldId id="773" r:id="rId23"/>
    <p:sldId id="774" r:id="rId24"/>
    <p:sldId id="754" r:id="rId25"/>
    <p:sldId id="775" r:id="rId26"/>
    <p:sldId id="776" r:id="rId27"/>
    <p:sldId id="778" r:id="rId28"/>
    <p:sldId id="755" r:id="rId29"/>
    <p:sldId id="779" r:id="rId30"/>
    <p:sldId id="780" r:id="rId31"/>
    <p:sldId id="781" r:id="rId32"/>
    <p:sldId id="782" r:id="rId33"/>
    <p:sldId id="756" r:id="rId34"/>
    <p:sldId id="757" r:id="rId35"/>
    <p:sldId id="729" r:id="rId36"/>
    <p:sldId id="730" r:id="rId37"/>
    <p:sldId id="731" r:id="rId38"/>
    <p:sldId id="726" r:id="rId39"/>
    <p:sldId id="732" r:id="rId40"/>
    <p:sldId id="733" r:id="rId41"/>
    <p:sldId id="734" r:id="rId42"/>
    <p:sldId id="735" r:id="rId43"/>
    <p:sldId id="736" r:id="rId44"/>
    <p:sldId id="737" r:id="rId45"/>
    <p:sldId id="738" r:id="rId46"/>
    <p:sldId id="739" r:id="rId47"/>
    <p:sldId id="740" r:id="rId48"/>
    <p:sldId id="741" r:id="rId49"/>
    <p:sldId id="742" r:id="rId50"/>
    <p:sldId id="743" r:id="rId51"/>
    <p:sldId id="744" r:id="rId52"/>
    <p:sldId id="745" r:id="rId53"/>
    <p:sldId id="727" r:id="rId54"/>
    <p:sldId id="746" r:id="rId55"/>
    <p:sldId id="747" r:id="rId56"/>
    <p:sldId id="748" r:id="rId57"/>
    <p:sldId id="749" r:id="rId58"/>
    <p:sldId id="750" r:id="rId59"/>
    <p:sldId id="728" r:id="rId60"/>
    <p:sldId id="751" r:id="rId61"/>
    <p:sldId id="364" r:id="rId6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D72BE"/>
    <a:srgbClr val="E15F5F"/>
    <a:srgbClr val="F8F7FC"/>
    <a:srgbClr val="070B12"/>
    <a:srgbClr val="0047A0"/>
    <a:srgbClr val="E3605B"/>
    <a:srgbClr val="FFFFFF"/>
    <a:srgbClr val="FFFDFF"/>
    <a:srgbClr val="00ADD0"/>
    <a:srgbClr val="EEF0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68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11595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F1ECDA-1170-E0DC-18EB-393978A3C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6AE6AC-0AE5-31E3-E057-50C7BF7BE9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2CEBE2D-87CC-2D85-0BDE-402B795B2C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CCDC17-813B-259A-29C4-D45934ADB9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61984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2BA03-DA04-13B3-8550-BA1E2F82EC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B190253-2E7A-09AA-C55A-19C58099F3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C59E29-782A-A96F-19CA-2C375632E5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3FE328-F92A-2CA0-15CA-AEDCBE4490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183C86-FCDD-4CD4-A668-4DF0BEDE3EB5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414345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2026-05-20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0.png"/><Relationship Id="rId4" Type="http://schemas.openxmlformats.org/officeDocument/2006/relationships/image" Target="../media/image14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0.png"/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0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재 정 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Lecture - 10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D0659-CAFD-F53E-5E96-AE42A73FE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C3F3A0-36ED-43FB-2D13-6CAA30B083C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D19C74-D6C9-BA18-D11B-15A0CD9AF9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B58D8A77-45B6-C35A-AFD8-829E4435C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10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사회보험제도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6551236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사회보험제도의 의미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764ACB-B8A0-8B8E-50AE-F6949A866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730496-A872-5CFB-3130-C4429F82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BD72302-C21E-82F3-1317-6A67EB852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31E4DF-D5A4-61E7-1307-371A5A496859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경제생활을 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크고 작은 여러 위험에 노출되어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나이가 많아져 더 이상 일을 할 수 없거나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갑작스럽게 병이 생기거나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직장에서 부상을 당하는 등의 위험이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이런 위험에 대해 정부가 보험을 제공하는 것이 사회보험제도이다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사회보장기본법에는 </a:t>
            </a:r>
            <a:r>
              <a:rPr lang="en-US" altLang="ko-KR" sz="1600" spc="-50" dirty="0"/>
              <a:t>“</a:t>
            </a:r>
            <a:r>
              <a:rPr lang="ko-KR" altLang="en-US" sz="1600" spc="-50" dirty="0"/>
              <a:t>국민에게 발생하는 사회적 위험을 보험의 방식으로 대처함으로써 국민의 건강과 소득을 보장하는 제도</a:t>
            </a:r>
            <a:r>
              <a:rPr lang="en-US" altLang="ko-KR" sz="1600" spc="-50" dirty="0"/>
              <a:t>“ </a:t>
            </a:r>
            <a:r>
              <a:rPr lang="ko-KR" altLang="en-US" sz="1600" spc="-50" dirty="0"/>
              <a:t>라고 정의되어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아래와 같이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여러가지 이유로 민간부문에서의 보험시장이 완벽하지 못하여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개입할 필요가 생긴다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보험시장은 정보의 비대칭성을 전형적으로 갖고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역선택과 도덕적 해이 문제가 필연적으로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완벽한 보험이란 일어날 수 있는 모든 가능성에 대해 완벽한 대비를 할 수 있게끔 만들어주는 것을 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역선택과 도덕적 해이는 완벽한 보험을 제공할 수 없게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다시 말하면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완벽한 보험을 제공하는 보험회사가 있다면 수익성 악화로 문을 닫게 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위험의 종류에 따라 적절한 보험상품을 제공하는 것이 불가능한 경우가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 입장에서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노후의 생계를 위해 </a:t>
            </a:r>
            <a:r>
              <a:rPr lang="ko-KR" altLang="en-US" sz="1600" spc="-50" dirty="0" err="1"/>
              <a:t>저축하고자하는</a:t>
            </a:r>
            <a:r>
              <a:rPr lang="ko-KR" altLang="en-US" sz="1600" spc="-50" dirty="0"/>
              <a:t> 사람에게 실질가치가 보장되는 연금보험 상품을 제공하는 것은 어려운 일이다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물가가 오를 때 세금을 더 많이 거둘 수 있는 것도 아니므로 실질가치 보장이 불가능하다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524344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6177E6-2BE2-8810-F89F-48E53629E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A7A44D-A761-673A-4E43-DE33CE276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2F3803-4273-D729-E62C-66D07D9E6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DCF3A8-8A08-DF37-1A5B-CD577B183587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보험시장이 잘 작동한다 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사람들이 근시안적으로 행동하여 위험에 대한 대비가 소홀해질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사람들은 위험에 직면하게 될 것을 짐작함에도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당장 보험료가 아까워 보험에 가입하지 않을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사소한 경우라면 무방할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생계 자체가 위협을 받게 되는 위험이라면 정부가 개입할 필요가 생긴다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어떤 상품의 경우에는 모든 국민이 고루 누릴 수 있어야 하는 상품 평등주의 관점에서 정부가 개입할 필요가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아픈 사람은 소득과 관계없이 의료서비스 혜택을 누릴 수 있어야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민간부문이 모든 의료보험을 운영하고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돈이 없어서 치료 받지 못하는 사람이 생길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운영하는 사회보험은 민간부문의 보험과 여러 측면에서 차이를 갖는다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사회보험은 강제성을 가진다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일정한 조건을 갖춘 국민이면 반드시 사회보험에 가입하도록 되어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민간보험과는 달리 사회보험은 본인 외에도 고용주와 정부가 비용의 일부를 부담한다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민간보험은 가입자가 낸 보험료와 혜택이 밀접한 관련을 갖는데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사회보험은 소득의 재분배적 성격이 가미되어 사회적 정합성과 개인적 공평성을 고려한다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https://www.4insure.or.kr/pbiz/feii/sinsDefIntroView.do</a:t>
            </a:r>
          </a:p>
        </p:txBody>
      </p:sp>
    </p:spTree>
    <p:extLst>
      <p:ext uri="{BB962C8B-B14F-4D97-AF65-F5344CB8AC3E}">
        <p14:creationId xmlns:p14="http://schemas.microsoft.com/office/powerpoint/2010/main" val="27241086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6B5BBC-2173-0A91-45C7-3F99C44AA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81F982-0296-CCCD-0C64-398986AF27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CE964F4-122E-78EB-A96C-D340D809A4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01E0BF-2701-6A9F-2294-3922ABA0E93C}"/>
              </a:ext>
            </a:extLst>
          </p:cNvPr>
          <p:cNvSpPr txBox="1"/>
          <p:nvPr/>
        </p:nvSpPr>
        <p:spPr>
          <a:xfrm>
            <a:off x="288790" y="958844"/>
            <a:ext cx="112502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</a:t>
            </a:r>
            <a:r>
              <a:rPr lang="en-US" altLang="ko-KR" sz="1600" spc="-50" dirty="0"/>
              <a:t>Ch.9</a:t>
            </a:r>
            <a:r>
              <a:rPr lang="ko-KR" altLang="en-US" sz="1600" spc="-50" dirty="0"/>
              <a:t>에서 사회복지제도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사회보장제도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사회보험제도와 공공부조 프로그램으로 나누어 볼 수 있다고 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아래 그림은 사회보험제도를 포함한 우리나라의 전체적인 사회복지제도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사회보장제도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보여주고 있다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 우리나라는 사회보험제도 중 대표적으로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대 보험이라는 것이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국민연금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고용보험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산재보험이다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사회보장제도에서 사회보험제도와 어깨를 나란히 하고 있는 것은 공공부조 프로그램인데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차이는 아래와 같다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8FB33C6-A189-8615-BF00-081949CE2E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074" t="16241" r="10015" b="16674"/>
          <a:stretch>
            <a:fillRect/>
          </a:stretch>
        </p:blipFill>
        <p:spPr>
          <a:xfrm>
            <a:off x="7075841" y="4365938"/>
            <a:ext cx="4601004" cy="206994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58D2604-068E-9703-EA96-918F4740395F}"/>
              </a:ext>
            </a:extLst>
          </p:cNvPr>
          <p:cNvSpPr txBox="1"/>
          <p:nvPr/>
        </p:nvSpPr>
        <p:spPr>
          <a:xfrm>
            <a:off x="7721177" y="3429000"/>
            <a:ext cx="25432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우리나라의 사회보장제도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1204B4-142B-1F6B-58AA-3FFCB518699F}"/>
              </a:ext>
            </a:extLst>
          </p:cNvPr>
          <p:cNvSpPr txBox="1"/>
          <p:nvPr/>
        </p:nvSpPr>
        <p:spPr>
          <a:xfrm>
            <a:off x="288790" y="2853326"/>
            <a:ext cx="7146613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사회보험제도는 가입자들이 낸 보험료에 의해 운영이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공공부조 프로그램은 정부의 일반 예산에서 재원이 충당된다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사회보험제도는 재분배효과를 적극적으로는 추구하지 못한다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공공부조 프로그램은 명확히 재분배효과를 지향하고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497059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79C92-A271-9EF1-D024-A336BAE36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21CD27C-B206-96C4-A0EB-3390E20F4640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3D716CE-62C5-58A3-4FB7-71D8824C3D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7B6DC08-E49D-5E93-62E8-32DA7183BD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국민연금제도의 기본성격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9237503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AC2F7-3D24-4C16-439D-44B64B00F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B0F1A1-5AB4-7004-7A94-3121DC63E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중복세대의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D541E72-0DCE-06C0-389D-3A17C8C49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0003A55-333F-0B98-577A-4D414D026D5D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2153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일단 국민연금제도는 기본적으로 정부가 강제저축을 통해 국민의 노후 생계를 보장해 주는 보편적 연금 프로그램이다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국민연금제도가 갖는 성격을 간단히 이해하고자 </a:t>
                </a:r>
                <a:r>
                  <a:rPr lang="ko-KR" altLang="en-US" sz="1600" spc="-50" dirty="0" err="1"/>
                  <a:t>새뮤엘슨의</a:t>
                </a:r>
                <a:r>
                  <a:rPr lang="ko-KR" altLang="en-US" sz="1600" spc="-50" dirty="0"/>
                  <a:t> </a:t>
                </a:r>
                <a:r>
                  <a:rPr lang="ko-KR" altLang="en-US" sz="1600" b="1" spc="-50" dirty="0"/>
                  <a:t>중복세대의 모형</a:t>
                </a:r>
                <a:r>
                  <a:rPr lang="ko-KR" altLang="en-US" sz="1600" spc="-50" dirty="0"/>
                  <a:t>을 살펴보자</a:t>
                </a:r>
                <a:r>
                  <a:rPr lang="en-US" altLang="ko-KR" sz="1600" spc="-50" dirty="0"/>
                  <a:t>. (P. Samuelson, 1958)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한 사회에 매 기간마다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명의 사람들이 태어나고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각 사람은 두 기간에 걸쳐 생존한다고 가정한다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따라서 한 시점에서 보면 </a:t>
                </a:r>
                <a14:m>
                  <m:oMath xmlns:m="http://schemas.openxmlformats.org/officeDocument/2006/math">
                    <m:r>
                      <a:rPr lang="en-US" altLang="ko-KR" sz="1600" b="0" i="0" spc="-5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 명의 사람들이 살고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이 중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명은 젊은 세대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나머지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ko-KR" altLang="en-US" sz="1600" spc="-50" dirty="0"/>
                  <a:t>명은 나이 든 세대에 속하는 사람들이다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각 사람은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단위의 소비가능한 자원을 갖고 태어나는데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자원은 그 기간에만 소비할 수 있고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다음 기간으로 넘겨 소비가 불가능하다고 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 단순한 경제에서 자원배분이 어떤 방식으로 이루어질지 생각해보면 우선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첫째로 생각할 수 있는 하나의 균형상태는 각자가 태어날 때 갖고 나온 자원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즉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단위의 </a:t>
                </a:r>
                <a:r>
                  <a:rPr lang="ko-KR" altLang="en-US" sz="1600" spc="-50" dirty="0" err="1"/>
                  <a:t>초기부존자원을</a:t>
                </a:r>
                <a:r>
                  <a:rPr lang="ko-KR" altLang="en-US" sz="1600" spc="-50" dirty="0"/>
                  <a:t> 모두 생애의 제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기에 소비하는 것이다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자원을 소비할 때 느끼는 한계효용이 체감한다는 것을 생각하면</a:t>
                </a:r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비효율적인 소비 방식이다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이제 사회적 계약을 통해 이루어지는 새로운 자원배분의 상태를 고려해보자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현재 젊은 세대의 사람들이 </a:t>
                </a:r>
                <a:r>
                  <a:rPr lang="ko-KR" altLang="en-US" sz="1600" spc="-50" dirty="0" err="1"/>
                  <a:t>초기부존자원</a:t>
                </a:r>
                <a:r>
                  <a:rPr lang="ko-KR" altLang="en-US" sz="1600" spc="-50" dirty="0"/>
                  <a:t> </a:t>
                </a:r>
                <a:r>
                  <a:rPr lang="en-US" altLang="ko-KR" sz="1600" spc="-50" dirty="0"/>
                  <a:t>2</a:t>
                </a:r>
                <a:r>
                  <a:rPr lang="ko-KR" altLang="en-US" sz="1600" spc="-50" dirty="0"/>
                  <a:t>단위 중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단위를 나이 든 세대에 속하는 사람에게 이전하고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 대신 다음 기간에서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그때의 젊은 세대에게 </a:t>
                </a:r>
                <a:r>
                  <a:rPr lang="en-US" altLang="ko-KR" sz="1600" spc="-50" dirty="0"/>
                  <a:t>1</a:t>
                </a:r>
                <a:r>
                  <a:rPr lang="ko-KR" altLang="en-US" sz="1600" spc="-50" dirty="0"/>
                  <a:t>단위의 자원을 이전 받기로 한다는 사회적 계약이다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10003A55-333F-0B98-577A-4D414D026D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215338"/>
              </a:xfrm>
              <a:prstGeom prst="rect">
                <a:avLst/>
              </a:prstGeom>
              <a:blipFill>
                <a:blip r:embed="rId2"/>
                <a:stretch>
                  <a:fillRect b="-4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88890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97080-EE07-77C1-F643-6E40F8CAE0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9D7F58-262E-C38A-025F-1B88AFE8D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중복세대의 모형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D88528-E587-067F-06AB-CDD52AF63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04869A4-C2E1-6E25-F31A-E26E4526BEEB}"/>
              </a:ext>
            </a:extLst>
          </p:cNvPr>
          <p:cNvSpPr txBox="1"/>
          <p:nvPr/>
        </p:nvSpPr>
        <p:spPr>
          <a:xfrm>
            <a:off x="288790" y="958844"/>
            <a:ext cx="11250267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사회적 계약을 통해 모든 사람이 생애의 제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기와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기에 각각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단위씩 자원을 소비할 수 있게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한계효용의 체감을 고려할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계약이 이루어지기 전 보다 명백하게 더 우월한 소비방식임을 알 수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이와 같은 사회적 계약을 통해 모든 사람의 후생이 증진될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바로 국민연금제도가 이 사회적 계약을 구체화시킨 제도라고 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사무엘슨의</a:t>
            </a:r>
            <a:r>
              <a:rPr lang="ko-KR" altLang="en-US" sz="1600" spc="-50" dirty="0"/>
              <a:t> 중복세대 모형은 이 제도의 요체가 세대 사이에서 자원을 이전함으로써 사회후생을 증진시키자는 약속에 있다는 사실을 깨우쳐 준다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62866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3BC0D3-89A5-D086-D1C7-94CDBEF50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3F6DE8-CEED-C9AC-5E5C-68F754E13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463E4F-53A4-5BDB-2980-FB587E5B0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438000-2E87-772C-81D8-5C56B4859A66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일반적으로 정부의 재정 프로그램은 다음과 같은 네 가지 기능 측면에서 정당성을 인정 받을 수 있다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r>
              <a:rPr lang="en-US" altLang="ko-KR" sz="1600" spc="-50" dirty="0"/>
              <a:t>1. </a:t>
            </a:r>
            <a:r>
              <a:rPr lang="ko-KR" altLang="en-US" sz="1600" spc="-50" dirty="0"/>
              <a:t>재정수입 달성</a:t>
            </a:r>
            <a:r>
              <a:rPr lang="en-US" altLang="ko-KR" sz="1600" spc="-50" dirty="0"/>
              <a:t>,     2. </a:t>
            </a:r>
            <a:r>
              <a:rPr lang="ko-KR" altLang="en-US" sz="1600" spc="-50" dirty="0"/>
              <a:t>시장실패의 보완</a:t>
            </a:r>
            <a:r>
              <a:rPr lang="en-US" altLang="ko-KR" sz="1600" spc="-50" dirty="0"/>
              <a:t>,     3. </a:t>
            </a:r>
            <a:r>
              <a:rPr lang="ko-KR" altLang="en-US" sz="1600" spc="-50" dirty="0"/>
              <a:t>소득재분배</a:t>
            </a:r>
            <a:r>
              <a:rPr lang="en-US" altLang="ko-KR" sz="1600" spc="-50" dirty="0"/>
              <a:t>,     4. </a:t>
            </a:r>
            <a:r>
              <a:rPr lang="ko-KR" altLang="en-US" sz="1600" spc="-50" dirty="0"/>
              <a:t>온정적 간섭주의에 의한 개입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국민연금제도가 이 네 가지 기능 측면에서 어떤 의의를 갖는지 평가해보자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재정수입 달성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국민연금제도는 이 기능과 아무런 관련이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 초기단계에서는 수입이 지출보다 클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성숙된 단계이 이르면 연금 지출이 수입보다 많아져서 다른 재원을 끌어와서 써야 할 상황이 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시장실패의 보완</a:t>
            </a:r>
            <a:r>
              <a:rPr lang="en-US" altLang="ko-KR" sz="1600" b="1" spc="-50" dirty="0"/>
              <a:t>: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다음의 형태로 나타날 수 있는 시장실패를 보완해 준다는 점에서 정당성의 근거를 찾을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노후 생계를 위해 저축하려는 사람에게 실질가치 측면에서 안전한 투자기회 혹은 연금상품이 제공되지 못하고 있다는 점에서 시장실패가 일어날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시장실패를 보완하기 위해 반드시 국민연금제도가 유일한 해결책은 아니긴 하다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물가연동공채를 발행하여 어느 정도 해결할 수도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069601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7700F-D851-9191-A36A-2F1DD90FF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17AF53-10F8-4881-B1CC-7EA663748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D66CF7-FF9E-8AC4-23D2-DCDBAA7EC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B03B3D-73CA-5E2A-886C-20E3FB881A90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다른 시장 실패로는 사람마다 현역으로 일할 수 있는 기간이 다른 데 따르는 위험성을 대상으로 하는 보험상품이 없다는 뜻에서의 시장실패이다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다른 사람보다 빨리 은퇴해야 할 사정이 있는 사람은 더 적은 저축으로 더 오랜 은퇴기간을 생활해야 하는 위험이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 보험사는 역선택과 도덕적해이의 문제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이에 대한 적절한 보험을 제공할 수 없는 처지다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역선택의 문제는 다른 사람보다 더 일찍 은퇴하게 될 사람들만 앞다투어 보험에 가입하게 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역선택에 직면하는 보험사가 보험료를 올리면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훨씬 더 빠르게 은퇴할 사람들만 가입하게 되어 문제가 심해진다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도덕적해이의 문제는 보험에 가입한 사람들이 충분히 일을 할 수 있음에도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보험을 믿고 일찍 은퇴해 버리는 데서 발생한다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정보경제이론에서는 역선택의 문제를 해소할 수 있는 방법 중 하나는 사람들을 단체보험에 가입시키는 것이다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모든 국민이 국민연금 제도의 적용을 받으면 일찍 은퇴할 가능성이 높은 사람만 가입하는 역선택 문제는 발생하지 않는다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도덕적 해이의 문제는 국민연금제도를 도입한다 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근본적인 해결이 되지는 않는다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940187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61F1AE-79B4-F98F-D5D0-648D2C582B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EF1CA2-EDCC-5D2D-0602-AF11E96B69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3446ED-CDBD-D899-4F94-214872EEF4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9CC721-B2A8-812D-C8E5-31CB56693F46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/>
              <a:t>소득재분배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국민연금제도는 다음의 경로를 통해 소득 재분배에 기여할 수 있다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첫째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세대 안에서의 소득 재분배효과가 나타날 수 있다</a:t>
            </a:r>
            <a:r>
              <a:rPr lang="en-US" altLang="ko-KR" sz="1600" spc="-50" dirty="0"/>
              <a:t>.</a:t>
            </a:r>
          </a:p>
          <a:p>
            <a:pPr marL="835200" lvl="1" indent="-2844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둘째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세대와 세대 사이의 소득 재분배 효과가 나타날 수 있다</a:t>
            </a:r>
            <a:r>
              <a:rPr lang="en-US" altLang="ko-KR" sz="1600" spc="-50" dirty="0"/>
              <a:t>.</a:t>
            </a:r>
          </a:p>
          <a:p>
            <a:pPr marL="1293750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축적된 기금에서 </a:t>
            </a:r>
            <a:r>
              <a:rPr lang="ko-KR" altLang="en-US" sz="1600" spc="-50" dirty="0" err="1"/>
              <a:t>운여되는</a:t>
            </a:r>
            <a:r>
              <a:rPr lang="ko-KR" altLang="en-US" sz="1600" spc="-50" dirty="0"/>
              <a:t>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현재 일하고 있는 사람들로부터 거두어들인 조세수입으로 운영되는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효과는 더욱 크다</a:t>
            </a:r>
            <a:r>
              <a:rPr lang="en-US" altLang="ko-KR" sz="1600" spc="-50" dirty="0"/>
              <a:t>.</a:t>
            </a:r>
          </a:p>
          <a:p>
            <a:pPr marL="1293750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자신이 기여한 것보다 더 큰 혜택을 받을 수도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반대의 경우가 될 수도 있다</a:t>
            </a:r>
            <a:r>
              <a:rPr lang="en-US" altLang="ko-KR" sz="1600" spc="-50" dirty="0"/>
              <a:t>.</a:t>
            </a:r>
          </a:p>
          <a:p>
            <a:pPr marL="1293750" lvl="2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제도의 수혜자인 노년층이 다른 연령그룹에 비해 빈곤율이 높기 때문에 어느 정도 재분배 효과가 나타난다</a:t>
            </a:r>
            <a:r>
              <a:rPr lang="en-US" altLang="ko-KR" sz="1600" spc="-50" dirty="0"/>
              <a:t>.</a:t>
            </a:r>
          </a:p>
          <a:p>
            <a:pPr marL="8365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국민연금제도를 설계할 때 어느 정도로 재분배효과를 추구할 것인지 선택해야 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적합성과 개인적 공평성이라는 두가지 목표 사이에서 타협을 해야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716564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9C23E-C60C-9588-E9F9-B8C8AF2AF1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FCDE-4BF7-9A17-5820-540520BB4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국민연금제도의 의의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44A3303-2882-AB18-A51C-1864334AD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602D25-3C3A-238D-A84C-4010DCC44374}"/>
              </a:ext>
            </a:extLst>
          </p:cNvPr>
          <p:cNvSpPr txBox="1"/>
          <p:nvPr/>
        </p:nvSpPr>
        <p:spPr>
          <a:xfrm>
            <a:off x="288790" y="958844"/>
            <a:ext cx="11250267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4"/>
            </a:pPr>
            <a:r>
              <a:rPr lang="ko-KR" altLang="en-US" sz="1600" b="1" spc="-50" dirty="0"/>
              <a:t>온정적 간섭주의에 의한 개입</a:t>
            </a:r>
            <a:r>
              <a:rPr lang="en-US" altLang="ko-KR" sz="1600" b="1" spc="-50" dirty="0"/>
              <a:t>: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개인은 알아서 노후 생계를 위한 대책을 마련해야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현실에서는 개인이 언제나 분별력이 있을 수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정보가 부족할 수도 있는 등 여러가지 이유로 스스로의 이익에 부합하는 결정을 내리지 못할 때가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이러한 점을 봤을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개인의 일이라고 해서 정부가 완전히 손을 뗄 수만은 없다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통계청이 발표한 </a:t>
            </a:r>
            <a:r>
              <a:rPr lang="en-US" altLang="ko-KR" sz="1600" spc="-50" dirty="0"/>
              <a:t>‘2023</a:t>
            </a:r>
            <a:r>
              <a:rPr lang="ko-KR" altLang="en-US" sz="1600" spc="-50" dirty="0"/>
              <a:t>년 사회조사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에 따르면 우리나라 사람들의 </a:t>
            </a:r>
            <a:r>
              <a:rPr lang="en-US" altLang="ko-KR" sz="1600" spc="-50" dirty="0"/>
              <a:t>30%</a:t>
            </a:r>
            <a:r>
              <a:rPr lang="ko-KR" altLang="en-US" sz="1600" spc="-50" dirty="0"/>
              <a:t>가 노후를 준비하지 못하고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노후를 준비하는 사람들의 절반 이상이 국민연금에 크게 의존하고 있는 것으로 나타났다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점을 보면 개인의 노후 생계 보장을 위해 정부가 개입할 수 밖에 없다는 논리에 설득력이 생긴다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97559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D52DA-1C35-A7F3-0F0C-94904C150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5D72FC7-2637-7617-AB37-CE9256778D11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86A8251-DD9C-7650-0B0C-DF74ED370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B80A8C0-9D58-68A5-1D3D-BF806CEDF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국민연금제도 관련 중요쟁점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9314539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815E5-9AB9-4EE7-DE28-E40DA3A6C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8542E5-558F-E401-D3B7-3B102FA0B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사회보험제도의 의미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7D6148A-B2C4-2184-088D-F176ADB71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0F4A32-6669-5120-35C8-1374C264532B}"/>
              </a:ext>
            </a:extLst>
          </p:cNvPr>
          <p:cNvSpPr txBox="1"/>
          <p:nvPr/>
        </p:nvSpPr>
        <p:spPr>
          <a:xfrm>
            <a:off x="288790" y="958844"/>
            <a:ext cx="112502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정부주도하의 보편적 연금 프로그램이 존재할 필요가 있는지 의문을 제기하는 사람들도 상당하다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많은 국민들이 지지하는 바람직한 국민연금제도 확립을 위해서는 다음의 쟁점들에 대한 해답 마련이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강제적이며 공적인 해결방식의 필요성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적립방식과 부과방식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재분배적 요소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목적세 부과의 필요성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합리적인 연금 급여수준의 문제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6509419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ED3FE0-3C4A-7983-0F0A-A67DE50C1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265176-FDDD-B2E6-3A8E-53B74F3C4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강제적이고 공적이 해결방식의 필요성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C77BF37-C362-747E-D7D0-6840B5E668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4E1E49-DCAD-C344-B216-83F9A9DB6DB8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노후 생계보장의 중요성을 인정하더라도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과연 이 일이 강제적이고 공적으로 다루어야 하는지 의문이 들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 강제적 해결방식의 필요성을 논의 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의문에 대한 답은 온정적 간섭주의에서 찾을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개인에게 맡기면 노후를 부적절하게 준비하는 사람이 발생한다는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소비자주권을 신봉하는 이들에게는 이 논리는 큰 설득력을 가지지 못한다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전반적으로 국민연금제도에 강제성이 필요하다는 근거는 명확하지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이제 공적 해결방식의 필요성을 논의 해보자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우선 효율성 측면에서 찾을 수 있다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규모의 경제라는 측면에서 민간보험보다 유리하다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보험이라는 것이 위험을 여럿이 나누어 부담하는 것을 의미하는데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참여자가 많을수록 그 이득이 커진다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역선택의 문제를 해소할 수 있다는 면에서 사적 보험보다 효율적이다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살펴본 </a:t>
            </a:r>
            <a:r>
              <a:rPr lang="en-US" altLang="ko-KR" sz="1600" spc="-50" dirty="0"/>
              <a:t>(11</a:t>
            </a:r>
            <a:r>
              <a:rPr lang="ko-KR" altLang="en-US" sz="1600" spc="-50" dirty="0"/>
              <a:t>슬라이드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역선택의 문제가 발생하지 않는다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725679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8FE21A-9627-BC3F-E59F-FF5C24A1E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602FC8-9E27-70D9-763B-4F8B41754D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강제적이고 공적이 해결방식의 필요성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11FF70-C38C-15AC-F1AA-C46EAD7FF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EF36C5-C34B-3396-D5BE-167A839EF118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지급준비금을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많이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보유할 필요가 없으므로 높은 수익을 보장해줄 수 있다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민간 보험회사는 보유자금의 일부를 아무런 수익도 가져다 주지 않는 지급준비금 형태로 보유하고 있어야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 안정적인 보험료의 수입을 기대할 수 있는 공적 프로그램의 경우 비교적 지급준비금이 많지 않아도 된다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점이 높은 수익으로 연결되면 더 좋은 노령연금 혜택을 제공할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행정비용 측면에서 공적 프로그램이 더욱 경제적이라는 주장도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미국 사회보장제도의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행정비용이 관련 예산의 </a:t>
            </a:r>
            <a:r>
              <a:rPr lang="en-US" altLang="ko-KR" sz="1600" spc="-50" dirty="0"/>
              <a:t>2%</a:t>
            </a:r>
            <a:r>
              <a:rPr lang="ko-KR" altLang="en-US" sz="1600" spc="-50" dirty="0"/>
              <a:t>에 불과하다는 연구결과가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이에 반해 민간 보험사가 지출하는 행정비용은 매우 클 것으로 짐작하는데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규모의 경제가 작용한 결과라고 볼 수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인플레이션에 대한 적응이라는 측면에서 공적 프로그램이 한층 더 유리하다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인플레이션 상황에서는 명목임금이 상승하여 보험료와 동시에 사회보장세 수입이 자동적으로 증가하게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한편 민간 보험사는 이러한 적응능력을 갖추지 못하여 보험 혜택의 실질가치가 떨어지는 문제가 생긴다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위와 같이 공적으로 운영하는 것이 많은 장점이 있긴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민간으로 운영할 때의 장점도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보험사는 정부보다 소비자의 요구에 부응하는 다양한 보험상품을 개발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공급할 수 있는 능력이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0366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41B83-0722-3C4D-5ACB-FCB651913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9CB405-E5E8-CCDE-9081-882EEC5FAC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적립방식과 부과방식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BA97F42-F585-7CEB-A86D-3709ED40DE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71E081-D14E-07C1-DB5A-C63524F1F198}"/>
              </a:ext>
            </a:extLst>
          </p:cNvPr>
          <p:cNvSpPr txBox="1"/>
          <p:nvPr/>
        </p:nvSpPr>
        <p:spPr>
          <a:xfrm>
            <a:off x="288790" y="958844"/>
            <a:ext cx="1125026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국민연금제도의 재원을 충당하는 방법에는 적립방식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부과방식 두 가지가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적립방식이란</a:t>
            </a:r>
            <a:r>
              <a:rPr lang="ko-KR" altLang="en-US" sz="1600" spc="-50" dirty="0"/>
              <a:t> 내가 낸 돈을 내가 나중에 받는다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민간 보험사의 운영 방식과 비슷하게 운영되는 결과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부과방식이란</a:t>
            </a:r>
            <a:r>
              <a:rPr lang="ko-KR" altLang="en-US" sz="1600" spc="-50" dirty="0"/>
              <a:t> 지금 세대가 이전 세대를 부양한다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세대 사이의 계약을 통해 부양의무에 관해 합의를 본 것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적립방식은 부과방식에 비해 다음의 측면에서 상대적인 장점을 갖고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예전에 자신이 낸 돈을 돌려받는 것 자체가 장점이 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부과방식의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사회심리학적으로 젊은 세대에게 부담을 주고 있다는 사실에서 거북함을 느끼게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적립방식의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거북함을 느낄 필요가 전혀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적립방식하에서는</a:t>
            </a:r>
            <a:r>
              <a:rPr lang="ko-KR" altLang="en-US" sz="1600" spc="-50" dirty="0"/>
              <a:t> 지불능력에 아무런 문제가 생기지 않는다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부과방식의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외부 변수</a:t>
            </a:r>
            <a:r>
              <a:rPr lang="en-US" altLang="ko-KR" sz="1600" spc="-50" dirty="0"/>
              <a:t> (GDP </a:t>
            </a:r>
            <a:r>
              <a:rPr lang="ko-KR" altLang="en-US" sz="1600" spc="-50" dirty="0"/>
              <a:t>성장률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실업률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출생률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기대수명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의불확실성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불안정성을 동반하게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적립방식의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기금의 한도 안에서만 연금이 지급되기 때문에 지불능력에 문제가 생길 이유가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120211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DA9B00-210D-5DAB-FD6C-D352DDC39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99377EE-F4D0-FCDD-7948-7BE4B39CBB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적립방식과 부과방식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FCCBD0-BDCB-9ED3-7688-FA359D915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8287E9-0F06-6876-32E3-446ABC9C246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우리나라를 포함하여 전 세계적으로 인구 고령화가 나타나고 있는 가운데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적립방식의 상대적 이점이 두드러진다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고령화는 일하는 사람들 대비 은퇴한 사람들이 상대적으로 많다는 것을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적립방식의 경우 축적된 기금이 완충작용을 해줄 수 있는 한편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부과방식의 경우 일하는 사람이 추가적인 부담을 </a:t>
                </a:r>
                <a:r>
                  <a:rPr lang="ko-KR" altLang="en-US" sz="1600" spc="-50" dirty="0" err="1"/>
                  <a:t>떠안야</a:t>
                </a:r>
                <a:r>
                  <a:rPr lang="ko-KR" altLang="en-US" sz="1600" spc="-50" dirty="0"/>
                  <a:t> 하기 때문이다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 err="1"/>
                  <a:t>부과방식하에서</a:t>
                </a:r>
                <a:r>
                  <a:rPr lang="ko-KR" altLang="en-US" sz="1600" spc="-50" dirty="0"/>
                  <a:t> </a:t>
                </a:r>
                <a:r>
                  <a:rPr lang="ko-KR" altLang="en-US" sz="1600" spc="-50" dirty="0" err="1"/>
                  <a:t>국민염금재정의</a:t>
                </a:r>
                <a:r>
                  <a:rPr lang="ko-KR" altLang="en-US" sz="1600" spc="-50" dirty="0"/>
                  <a:t> 수입과 지출은 아래의 공식에 의해 균형을 이루는데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식을 통해 고령화가 국민연금재정에 어떤 문제를 가져오는 알아보자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1600" spc="-50" dirty="0"/>
                  <a:t>는 보험료율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보험료를 내는 사람의 수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는 평균임금을 나타내고</a:t>
                </a:r>
                <a:r>
                  <a:rPr lang="en-US" altLang="ko-KR" sz="1600" spc="-50" dirty="0"/>
                  <a:t>,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연금 혜택을 받는 사람의 수</a:t>
                </a:r>
                <a:r>
                  <a:rPr lang="en-US" altLang="ko-KR" sz="1600" spc="-50" dirty="0"/>
                  <a:t>,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spc="-50" dirty="0"/>
                  <a:t>는 평균 연금 수준을 나타낸다</a:t>
                </a:r>
                <a:r>
                  <a:rPr lang="en-US" altLang="ko-KR" sz="1600" spc="-50" dirty="0"/>
                  <a:t>. 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 식을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1600" spc="-50" dirty="0"/>
                  <a:t>에 대해 풀면 아래의 식으로 만들 수 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아래 식을 통해 보험료 부담이 어떤 요인에 영향을 받는지 알아보자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en-US" altLang="ko-KR" sz="1600" spc="-50" dirty="0"/>
                  <a:t>(</a:t>
                </a:r>
                <a:r>
                  <a:rPr lang="ko-KR" altLang="en-US" sz="1600" spc="-50" dirty="0"/>
                  <a:t>뒷장 계속</a:t>
                </a:r>
                <a:r>
                  <a:rPr lang="en-US" altLang="ko-KR" sz="1600" spc="-50" dirty="0"/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48287E9-0F06-6876-32E3-446ABC9C24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584670"/>
              </a:xfrm>
              <a:prstGeom prst="rect">
                <a:avLst/>
              </a:prstGeom>
              <a:blipFill>
                <a:blip r:embed="rId2"/>
                <a:stretch>
                  <a:fillRect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DA0237-4774-0C44-6313-144F4D5247E7}"/>
                  </a:ext>
                </a:extLst>
              </p:cNvPr>
              <p:cNvSpPr txBox="1"/>
              <p:nvPr/>
            </p:nvSpPr>
            <p:spPr>
              <a:xfrm>
                <a:off x="2472743" y="3363532"/>
                <a:ext cx="228601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×</m:t>
                      </m:r>
                      <m:sSub>
                        <m:sSub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bar>
                        <m:barPr>
                          <m:pos m:val="top"/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e>
                      </m:ba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altLang="ko-K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BDA0237-4774-0C44-6313-144F4D5247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2743" y="3363532"/>
                <a:ext cx="2286010" cy="276999"/>
              </a:xfrm>
              <a:prstGeom prst="rect">
                <a:avLst/>
              </a:prstGeom>
              <a:blipFill>
                <a:blip r:embed="rId3"/>
                <a:stretch>
                  <a:fillRect l="-1333" r="-1067" b="-2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F45E843-6697-1B61-E5BC-98D9B65738B8}"/>
                  </a:ext>
                </a:extLst>
              </p:cNvPr>
              <p:cNvSpPr txBox="1"/>
              <p:nvPr/>
            </p:nvSpPr>
            <p:spPr>
              <a:xfrm>
                <a:off x="2472743" y="5622157"/>
                <a:ext cx="1414169" cy="5652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×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bar>
                            <m:barPr>
                              <m:pos m:val="top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</m:ba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F45E843-6697-1B61-E5BC-98D9B65738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72743" y="5622157"/>
                <a:ext cx="1414169" cy="56521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57992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C6A29-C83F-F0D3-88CA-0904B9351F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3593BC-E2B8-33AE-011C-D15E60FE5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적립방식과 부과방식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873C217-9F2D-42DE-ADD5-F2B87220D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8FB1D3B-DC40-7E46-26F4-18FB18B8CC51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5570564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 식에서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는 연금 수혜자 수를 일하는 사람의 수로 나눈 비율로 </a:t>
                </a:r>
                <a:r>
                  <a:rPr lang="en-US" altLang="ko-KR" sz="1600" spc="-50" dirty="0"/>
                  <a:t>‘</a:t>
                </a:r>
                <a:r>
                  <a:rPr lang="ko-KR" altLang="en-US" sz="1600" spc="-50" dirty="0"/>
                  <a:t>의존비율</a:t>
                </a:r>
                <a:r>
                  <a:rPr lang="en-US" altLang="ko-KR" sz="1600" spc="-50" dirty="0"/>
                  <a:t>’ </a:t>
                </a:r>
                <a:r>
                  <a:rPr lang="ko-KR" altLang="en-US" sz="1600" spc="-50" dirty="0"/>
                  <a:t>이라고 할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고령화가 진행될 수록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값은 자연히 올라가게 되고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따라서 보험료율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의 인상이 불가피해진다는 것을 알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둘째 항인</a:t>
                </a:r>
                <a:r>
                  <a:rPr lang="en-US" altLang="ko-KR" sz="16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bar>
                          <m:barPr>
                            <m:pos m:val="top"/>
                            <m:ctrlP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en-US" altLang="ko-KR" sz="16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e>
                        </m:bar>
                      </m:den>
                    </m:f>
                  </m:oMath>
                </a14:m>
                <a:r>
                  <a:rPr lang="ko-KR" altLang="en-US" sz="1600" spc="-50" dirty="0"/>
                  <a:t> 은 평균적인 소득대체율을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고령화로 의존비율이 올라가는 상황에서 보험료율을 일정하게 유지시키려면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 비율을 떨어뜨려야 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결국 부과방식을 채택하는 경우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일하는 사람의 보험료 부담을 높이거나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아니면 연금 지급액을 줄이는 것 중 하나를 선택해야 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이와 같은 양자택일 상황에서는 사회적 갈등이 매우 심각해질 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그렇다고 어느 조치도 취하지 않으면 연금재정이 파탄지경에 이를 가능성도 있다</a:t>
                </a:r>
                <a:r>
                  <a:rPr lang="en-US" altLang="ko-KR" sz="1600" spc="-50" dirty="0"/>
                  <a:t>. 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부과방식은 </a:t>
                </a:r>
                <a:r>
                  <a:rPr lang="en-US" altLang="ko-KR" sz="1600" spc="-50" dirty="0"/>
                  <a:t>1889</a:t>
                </a:r>
                <a:r>
                  <a:rPr lang="ko-KR" altLang="en-US" sz="1600" spc="-50" dirty="0"/>
                  <a:t>년에 처음 사회보장제도가 출범할 때 채택한 방식으로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당시에는 연금 수혜자 보다 일하는 사람이 압도적으로 많았다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지금은 부과방식을 채택하고 있는 많은 국가들이 연금재정의 위기를 겪고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8FB1D3B-DC40-7E46-26F4-18FB18B8CC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5570564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C0CE51-DAA1-4BD3-43EC-E9DC3B90402D}"/>
                  </a:ext>
                </a:extLst>
              </p:cNvPr>
              <p:cNvSpPr txBox="1"/>
              <p:nvPr/>
            </p:nvSpPr>
            <p:spPr>
              <a:xfrm>
                <a:off x="2047740" y="958844"/>
                <a:ext cx="1414169" cy="5652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= </m:t>
                      </m:r>
                      <m:f>
                        <m:f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den>
                      </m:f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×</m:t>
                      </m:r>
                      <m:f>
                        <m:fPr>
                          <m:ctrlPr>
                            <a:rPr lang="en-US" altLang="ko-K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ko-K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bar>
                            <m:barPr>
                              <m:pos m:val="top"/>
                              <m:ctrlP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barPr>
                            <m:e>
                              <m:r>
                                <a:rPr lang="en-US" altLang="ko-K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</m:bar>
                        </m:den>
                      </m:f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3C0CE51-DAA1-4BD3-43EC-E9DC3B9040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47740" y="958844"/>
                <a:ext cx="1414169" cy="56521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304165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7E220-A81E-59E2-45AD-51567B94EC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91C141A-B86C-76BE-E885-250C9FF9F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재분배적 요소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A78BCF-7E4A-FD22-E1B8-64650EB34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093FD9-F5CE-2DDA-6919-E0E48EF0F8EB}"/>
              </a:ext>
            </a:extLst>
          </p:cNvPr>
          <p:cNvSpPr txBox="1"/>
          <p:nvPr/>
        </p:nvSpPr>
        <p:spPr>
          <a:xfrm>
            <a:off x="288790" y="958844"/>
            <a:ext cx="1125026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</a:t>
            </a:r>
            <a:r>
              <a:rPr lang="ko-KR" altLang="en-US" sz="1600" spc="-50" dirty="0" err="1"/>
              <a:t>설명했다시피</a:t>
            </a:r>
            <a:r>
              <a:rPr lang="ko-KR" altLang="en-US" sz="1600" spc="-50" dirty="0"/>
              <a:t> 국민연금제도를 설계할 때는 사회적 적합성과 개인적 </a:t>
            </a:r>
            <a:r>
              <a:rPr lang="ko-KR" altLang="en-US" sz="1600" spc="-50" dirty="0" err="1"/>
              <a:t>공평성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두 가지 기준을 적절히 타협한 선에서 재분배효과를 가미하게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보험사와 유사한 운영을 강조한다면 개인적 공평성에 더 큰 비중을 두게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국민연금제도가 소득재분배 기능도 일부 맡아야 한다고 생각하면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사회적 적합성에 더 큰 비중을 두게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결국 국민연금제도의 성격을 어떻게 </a:t>
            </a:r>
            <a:r>
              <a:rPr lang="ko-KR" altLang="en-US" sz="1600" spc="-50" dirty="0" err="1"/>
              <a:t>이해하느냐에</a:t>
            </a:r>
            <a:r>
              <a:rPr lang="ko-KR" altLang="en-US" sz="1600" spc="-50" dirty="0"/>
              <a:t> 따라 위의 두 가지 목표의 상대적 중요성을 평가하게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다만 분명한 것은 이 제도의 목표는 노후의 생계안정이지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 세대 안의 소득격차를 줄이는 것이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현실에서는 많은 나라들이 재분배효과를 지향하는 국민연금제도를 운영하고 있지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은퇴 전의 지위를 은퇴 후에도 그대로 유지할 수 있게 만든 기본골격을 채택하는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민간 보험사와 비슷하게 운영해야 한다는 사고방식이 현실의 국민연금제도 운영에 큰 영향을 주고 있음을 알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0954671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E8A6D-D66B-9EE6-55D8-3AD6FF402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BBC5ED-C3D8-716F-B9E9-C0270BA9B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목적세 부과의 필요성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8B7012-7408-96A7-BEDB-140B517079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FB24A2-5B8C-9D20-734E-DD8816AB550F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대부분의 나라가 보험료 혹은 사회보장세라고 부르는 목적세를 부과해 국민연금제도의 재원으로 사용하고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많은 나라들이 목적세를 채택하는 데에는 아래와 같은 이유가 있을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정치적이유로서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국민연금제도를 일반 지출 프로그램과 구별해야 할 필요가 있다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기존의 조세만으로는 국민연금제도 운영에 필요한 자금을 조달하기 어려울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연금 수혜자가 자신이 낸 돈을 돌려 받게 된다는 자부심을 가질 수 있게끔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보험료 혹은 사회보장세가 갖고 있는 역진성을 줄이고자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정부의 일반적인 세원에 의해 재원을 조달하는 방식으로 전환해야 한다는 주장이 있기는 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주장은 정치적으로 매우 민감한 문제이며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정부의 비대화를 우려하는 사람들에게 공격의 대상이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287899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37A0C-3619-BA3D-2878-3962F8A9F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A832AE-6AB0-6847-1F19-D0FA2A968E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합리적인 연금 급여수준의 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CAF8B6E-CFDE-4C10-4CF5-2322E3197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6CB00-4240-29C6-1C94-C2631887712C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끊임 없이 변하는 경제상황 속에서 합리적인 연금의 급여수준을 찾아내는 것은 쉬운 일이 아니다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노년층에게 단지 생존을 위한 수단을 제공하는 선에서 그쳐야 하는지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이처럼 노년층의 실질소득을 유지해주는 선에서 그치면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노년층의 상대적 지위가 악화 될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 국민이 누리고 있는 생활수준 향상의 혜택을 공유할 수 있도록 배려해야 하는지 선택 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이와 같이 관대한 급여수준을 유지하기 위해서는 젊은 세대에 무거운 세금을 부과할 수 밖에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뿐만 아니라 급여수준 조정의 기준이 되는 가격과 소득의 변동을 어느 시기에 기준을 두고 측정해야 할 것인지 문제다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이미 일어난 변화를 기준으로 하여 급여수준을 조정할 것인지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역사적 방식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앞으로 일어날 변화를 예측하여 이를 조정 기준으로 삼아야 하는지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예측 방식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선택해야 하는 문제가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논리적으로는 예측 방식이 설득력이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구체적인 실천에 따르는 문제가 많이 생긴다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98087423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8A7D6A-5714-21DE-75FD-2FF792657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C8406DE-3D30-0569-FF83-40CBDCEE969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04F37A-BEE6-2F0A-9DEC-FEBCB024D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C1A8964E-BF4B-8FDF-E617-A2DA934DC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국민연금제도의 경제적 효과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670705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A671A-FAA7-E5AA-12BD-45342FAB3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55EA36-73F9-DA21-47F6-1584F45D12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저축행위에 미치는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46635AF-EC17-17CF-F3FD-A26A34BFB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E195FE-E67F-26A3-44A3-0217297114CC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 운용규모는 국내총생산의 </a:t>
            </a:r>
            <a:r>
              <a:rPr lang="en-US" altLang="ko-KR" sz="1600" spc="-50" dirty="0"/>
              <a:t>50%</a:t>
            </a:r>
            <a:r>
              <a:rPr lang="ko-KR" altLang="en-US" sz="1600" spc="-50" dirty="0"/>
              <a:t>에 근접할 정도로 크게 성장하였고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따라서 민간부문의 여러 가지 경제활동에 영향을 주게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특히 사람들의 저축과 노동공급 행위에 큰 영향을 미친다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국민연금제도는 다음의 경로를 통해 저축행위에 영향을 줄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첫째는 재산대체효과 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정부의 강제저축 프로그램 때문에 자발적인 저축의 필요성이 줄어드는 것을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사람들이 강제저축에 의해 형성된 재산을 개인 재산의 대체물로 인식하고 자발적인 저축을 줄인다고 의미에서 이런 이름이 붙여졌다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앞에서 살펴봤듯이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완전한 적립방식을 채택하고 있다면 민간의 저축 감소가 정부의 저축 증가로 상쇄될 수 있을 것이다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하지만 올해 거둔 세금으로 올해 연금을 지급하는 부과방식에서는 민간의 저축이 줄어들기만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둘째는 은퇴효과 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국민연금제도의 도입이 퇴직상태에 있는 기간의 연장을 가져올 수 있음을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국민연금제도 도입이 사람들로 하여금 보다 빨리 은퇴하도록 만들고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은퇴상태의 기간이 길어지면 더 많은 저축을 필요로 하게 되어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자발적인 저축이 증가하는 것을 은퇴효과라 부른다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0812851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F2171-FD49-659E-30E9-A600D143D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BCD445-B3E9-22C7-707C-3D003623E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저축행위에 미치는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3E1A8A-B043-6383-521C-72EF676473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1ACA24-69C9-FE2A-3104-FD5212B87040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셋째는 </a:t>
            </a:r>
            <a:r>
              <a:rPr lang="ko-KR" altLang="en-US" sz="1600" spc="-50" dirty="0" err="1"/>
              <a:t>상속효과인데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국민연금제도로 인해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자식들의 처분가능소득 감소를 야기한다고 예상하는 부모들은 이를 상쇄하고자 더 많은 재산을 상속해주려고 노력할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많은 재산을 상속해주기 위해서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저축을 늘려야 할 것이므로 상속효과는 저축을 증가시키는 방향으로 작용한다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논의를 종합해보면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자산대체효과만 저축을 줄이는 방향으로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두 가지는 저축을 증가시키는 방향으로 영향을 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저축의 절대적인 </a:t>
            </a:r>
            <a:r>
              <a:rPr lang="ko-KR" altLang="en-US" sz="1600" spc="-50" dirty="0" err="1"/>
              <a:t>변화량를</a:t>
            </a:r>
            <a:r>
              <a:rPr lang="ko-KR" altLang="en-US" sz="1600" spc="-50" dirty="0"/>
              <a:t> 기준으로 보면 재산대체효과가 다른 두 효과보다 더 클 가능성도 있으므로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실증연구에 의해 밝혀져야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펠드스타인</a:t>
            </a:r>
            <a:r>
              <a:rPr lang="en-US" altLang="ko-KR" sz="1600" spc="-50" dirty="0"/>
              <a:t>(</a:t>
            </a:r>
            <a:r>
              <a:rPr lang="en-US" altLang="ko-KR" sz="1600" spc="-50" dirty="0" err="1"/>
              <a:t>M.Feldstein</a:t>
            </a:r>
            <a:r>
              <a:rPr lang="en-US" altLang="ko-KR" sz="1600" spc="-50" dirty="0"/>
              <a:t>, 1974)</a:t>
            </a:r>
            <a:r>
              <a:rPr lang="ko-KR" altLang="en-US" sz="1600" spc="-50" dirty="0"/>
              <a:t>은 미국의 경우 사회보장제도 도입이 저축을 현저하게 줄이는 결과를 가져왔다는 실증연구 결과를 발표한 바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1971</a:t>
            </a:r>
            <a:r>
              <a:rPr lang="ko-KR" altLang="en-US" sz="1600" spc="-50" dirty="0"/>
              <a:t>년 기준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사회보장제도의 도입이 개인저축을 반으로 줄어들게 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경제 전체의 총저축을 </a:t>
            </a:r>
            <a:r>
              <a:rPr lang="en-US" altLang="ko-KR" sz="1600" spc="-50" dirty="0"/>
              <a:t>38% </a:t>
            </a:r>
            <a:r>
              <a:rPr lang="ko-KR" altLang="en-US" sz="1600" spc="-50" dirty="0"/>
              <a:t>감소시키는 결과를 가져왔다고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이후 다른 경제학자들이 </a:t>
            </a:r>
            <a:r>
              <a:rPr lang="ko-KR" altLang="en-US" sz="1600" spc="-50" dirty="0" err="1"/>
              <a:t>펠드스타인의</a:t>
            </a:r>
            <a:r>
              <a:rPr lang="ko-KR" altLang="en-US" sz="1600" spc="-50" dirty="0"/>
              <a:t> 연구에서 잘못된 부분을 지적하며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논란이 지금까지도 이어지고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현재는 대부분의 경제학자들은 사회보장제도 도입이 저축을 어느정도 감소시키는 하지만 </a:t>
            </a:r>
            <a:r>
              <a:rPr lang="ko-KR" altLang="en-US" sz="1600" spc="-50" dirty="0" err="1"/>
              <a:t>펠드스타인의</a:t>
            </a:r>
            <a:r>
              <a:rPr lang="ko-KR" altLang="en-US" sz="1600" spc="-50" dirty="0"/>
              <a:t> 연구처럼 현저한 감소라고 생각하는 사람은 소수에 지나지 않는다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864117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DC130-69FF-95FD-4A23-6C4D7F0479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21172AB-8EAA-7D37-3712-BE94FC478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노동공급에 미치는 영향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590AF7-2416-2A1D-748C-91C5A6409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3B96A24-7649-C9A2-3798-C090F6CBAB04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국민연금제도가 노동공급에 미치는 영향은 소득효과와 대체효과의 틀 안에서 분석할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소득효과는 사람들의 생애에 걸친 소득을 증가시키므로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보통 노동시간을 줄이는 방향으로 영향을 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사람들이 일할 때 더 큰 조세부담을 지는 대신 은퇴 후에는 보다 더 큰 연금 혜택을 받는 것이 보통이다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사람들의 순자산 혹은 실질소득 증가를 가져오므로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사람들이 더 많은 여가소비를 즐기도록 만든다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대체효과는 국민연금 도입으로 인해 여가의 기회비용에 어떤 변화가 </a:t>
            </a:r>
            <a:r>
              <a:rPr lang="ko-KR" altLang="en-US" sz="1600" spc="-50" dirty="0" err="1"/>
              <a:t>생기는지와</a:t>
            </a:r>
            <a:r>
              <a:rPr lang="ko-KR" altLang="en-US" sz="1600" spc="-50" dirty="0"/>
              <a:t> 관련이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 시간 더 일할 때 얻을 수 있는 순소득이 어떻게 변화하는지를 살펴봐야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국민연금 제도의 도입은 노동을 한시간 더 할 때 얻는 순소득에서 새로운 조세부담이 생긴다는 것을 뜻한다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여가의 기회비용 감소를 의미하고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노동의 공급량을 줄이는 방향으로 작용하게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하지만 사람들이 이 세금은 나중에 은퇴하고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다시 연금으로 되돌려 받는다는 사실을 알고 의사결정을 한다면 대체효과는 다른 방향으로 작용할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국민연금제도 도입이 여가의 기회비용을 상승시킨 셈으로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노동의 공급량을 증가시키는 방향으로 작용한다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소득효과는 명백히 노동을 줄이고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대체효과는 그 효과의 방향이 분명하지 않아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지금까지 명백한 해답은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884596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D4CD8-D4E5-79CF-7C73-EBCD33FF1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CE0E5F8-4925-2624-367B-370EE7DB093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773A13-9ADD-F29A-22B5-8B7F19B12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86B2AB1-97D8-F883-34D3-4CC74466BA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5. </a:t>
            </a:r>
            <a:r>
              <a:rPr lang="ko-KR" altLang="en-US" sz="4000" b="1" i="0" spc="150" dirty="0"/>
              <a:t>우리나라의 국민연금제도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34150398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45EE0-7E49-3928-B6D5-90F5F5ADE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0B6116-93D0-0C6F-AB49-7BADF59C0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적용대상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644F25C-41BE-AD1F-5EE1-FF336034F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7A4A242-BB4C-59B7-3A6E-B5AABCFED15E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우리나라에 국민연금제도가 처음 도입된 것은 </a:t>
            </a:r>
            <a:r>
              <a:rPr lang="en-US" altLang="ko-KR" sz="1600" spc="-50" dirty="0"/>
              <a:t>1988</a:t>
            </a:r>
            <a:r>
              <a:rPr lang="ko-KR" altLang="en-US" sz="1600" spc="-50" dirty="0"/>
              <a:t>년으로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역사가 길지 않다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국민이 가입할 수 있고</a:t>
            </a:r>
            <a:r>
              <a:rPr lang="en-US" altLang="ko-KR" sz="1600" spc="-50" dirty="0"/>
              <a:t>, 1,200</a:t>
            </a:r>
            <a:r>
              <a:rPr lang="ko-KR" altLang="en-US" sz="1600" spc="-50" dirty="0"/>
              <a:t>조원이 넘는 기금을 확보한 중요한 재정 프로그램으로 정착하였다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국민연금제도는 국내에 거주하는 </a:t>
            </a:r>
            <a:r>
              <a:rPr lang="en-US" altLang="ko-KR" sz="1600" spc="-50" dirty="0"/>
              <a:t>18</a:t>
            </a:r>
            <a:r>
              <a:rPr lang="ko-KR" altLang="en-US" sz="1600" spc="-50" dirty="0"/>
              <a:t>세 이상</a:t>
            </a:r>
            <a:r>
              <a:rPr lang="en-US" altLang="ko-KR" sz="1600" spc="-50" dirty="0"/>
              <a:t>, 60</a:t>
            </a:r>
            <a:r>
              <a:rPr lang="ko-KR" altLang="en-US" sz="1600" spc="-50" dirty="0"/>
              <a:t>세 미만의 국민이면 누구나 다 가입할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가입자는 사업장가입자와 지역가입자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범주로 나눌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사업장가입자는 직장을 통해 제도에 가입한 사람을 의미한다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지역가입자는 도시자영업자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농어민의 신분으로 국민연금제도에 가입한 사람을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공무원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군인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사립학교 교직원은 자체의 연금 프로그램을 갖고 있으므로 제외하고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사업장가입자와 지역가입자는 의무적으로 국민연금제도에 가입한 경우지만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가입해야 할 의무가 없는데도 본인이 원해서 가입자가 되는 경우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임의가입자 혹은 </a:t>
            </a:r>
            <a:r>
              <a:rPr lang="ko-KR" altLang="en-US" sz="1600" spc="-50" dirty="0" err="1"/>
              <a:t>임의계속가입자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임의가입자는 전업주부처럼 근로소득이 없는 사람 중 국민연금 혜택을 받고 싶어 가입한 사람을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임의계속가입자는</a:t>
            </a:r>
            <a:r>
              <a:rPr lang="ko-KR" altLang="en-US" sz="1600" spc="-50" dirty="0"/>
              <a:t> 나이가 많거나 혹은 늦게 가입하여 최소가입연수를 채우지 못하여 임의로 연장해 가입한 사람을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임의가입자와 </a:t>
            </a:r>
            <a:r>
              <a:rPr lang="ko-KR" altLang="en-US" sz="1600" spc="-50" dirty="0" err="1"/>
              <a:t>임의계속가입자의</a:t>
            </a:r>
            <a:r>
              <a:rPr lang="ko-KR" altLang="en-US" sz="1600" spc="-50" dirty="0"/>
              <a:t> 비중은 매우 낮은 편이다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650589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78D145-88B0-21C8-D558-DB8693D4C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859BA62-3AD2-2CD0-882C-B519705FA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보험료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520C5C-BE95-C7C4-2F10-26987E12D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88A1C5-7533-92BD-3A81-E61C54ED1A86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국민연금제도를 적립방식으로 운영하고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가입자가 납부한 보험료는 국민연금기금의 조성에 투입되고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기금으로부터 은퇴 후 지급되는 연금이 나온다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보험료는 국민연금의 주된 재원이고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가입자들은 보험료를 납부하지 않으면 정부가 강제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압류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징수할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국민연금의 보험료는 가입자의 </a:t>
            </a:r>
            <a:r>
              <a:rPr lang="ko-KR" altLang="en-US" sz="1600" spc="-50" dirty="0" err="1"/>
              <a:t>기준소득월액에</a:t>
            </a:r>
            <a:r>
              <a:rPr lang="ko-KR" altLang="en-US" sz="1600" spc="-50" dirty="0"/>
              <a:t> 보험료율을 곱하여 산정한다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기준소득월액</a:t>
            </a:r>
            <a:r>
              <a:rPr lang="ko-KR" altLang="en-US" sz="1600" spc="-50" dirty="0"/>
              <a:t> 은 국민연금제도에서 규정하고 있는 가입자의 한 달 소득이다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단순 월 소득이라고 표현하지 않는 이유는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소득의 일부는 보험료 징수대상에서 제외되기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 기준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보험료 부과대상이 되는 소득에 </a:t>
            </a:r>
            <a:r>
              <a:rPr lang="en-US" altLang="ko-KR" sz="1600" spc="-50" dirty="0"/>
              <a:t>40</a:t>
            </a:r>
            <a:r>
              <a:rPr lang="ko-KR" altLang="en-US" sz="1600" spc="-50" dirty="0"/>
              <a:t>만원의 하한과 </a:t>
            </a:r>
            <a:r>
              <a:rPr lang="en-US" altLang="ko-KR" sz="1600" spc="-50" dirty="0"/>
              <a:t>637</a:t>
            </a:r>
            <a:r>
              <a:rPr lang="ko-KR" altLang="en-US" sz="1600" spc="-50" dirty="0"/>
              <a:t>만원의 상한이 설정되어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상한과 하한 사이의 소득만 보험료 징수대상이 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이는 부담 분배의 역진성을 발생시킨다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 사업장가입자 혹은 지역가입자에게 적용되는 국민연금 보험료율은 </a:t>
            </a:r>
            <a:r>
              <a:rPr lang="en-US" altLang="ko-KR" sz="1600" spc="-50" dirty="0"/>
              <a:t>9%</a:t>
            </a:r>
            <a:r>
              <a:rPr lang="ko-KR" altLang="en-US" sz="1600" spc="-50" dirty="0"/>
              <a:t>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실제 납부방식은 가입자 유형에 따라 다르다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사업장가입자의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가입자와 고용주가 절반씩 부담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가입자의 </a:t>
            </a:r>
            <a:r>
              <a:rPr lang="ko-KR" altLang="en-US" sz="1600" spc="-50" dirty="0" err="1"/>
              <a:t>기준소득월액의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4.5%</a:t>
            </a:r>
            <a:r>
              <a:rPr lang="ko-KR" altLang="en-US" sz="1600" spc="-50" dirty="0"/>
              <a:t>씩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지역가입자의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본인이 보험료를 전액 부담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59508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CDE6B9-00AB-2F55-33B1-7D357E6FAA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5157A2-D3CC-CF0A-1B28-BCFF3E45EA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보험료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AFCD16D-A0C1-0304-8ABC-07596AD25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07896C-935A-7260-8D1B-98F4C9FDDFAD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우리나라는 국민연금제도 도입 초기에 보험료율을 </a:t>
            </a:r>
            <a:r>
              <a:rPr lang="en-US" altLang="ko-KR" sz="1600" spc="-50" dirty="0"/>
              <a:t>3%</a:t>
            </a:r>
            <a:r>
              <a:rPr lang="ko-KR" altLang="en-US" sz="1600" spc="-50" dirty="0"/>
              <a:t>라는 낮은 수준으로 설정했기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제도의 안정적 운영을 위해 보험료율을 인상해야 한다는 주장이 계속 제기되어 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1998</a:t>
            </a:r>
            <a:r>
              <a:rPr lang="ko-KR" altLang="en-US" sz="1600" spc="-50" dirty="0"/>
              <a:t>년에 보험료율을 </a:t>
            </a:r>
            <a:r>
              <a:rPr lang="en-US" altLang="ko-KR" sz="1600" spc="-50" dirty="0"/>
              <a:t>9%</a:t>
            </a:r>
            <a:r>
              <a:rPr lang="ko-KR" altLang="en-US" sz="1600" spc="-50" dirty="0"/>
              <a:t>로 상향조정하고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이후에는 별다른 조정이 없었다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년에 보험료율을 </a:t>
            </a:r>
            <a:r>
              <a:rPr lang="en-US" altLang="ko-KR" sz="1600" spc="-50" dirty="0"/>
              <a:t>2033</a:t>
            </a:r>
            <a:r>
              <a:rPr lang="ko-KR" altLang="en-US" sz="1600" spc="-50" dirty="0"/>
              <a:t>년까지 </a:t>
            </a:r>
            <a:r>
              <a:rPr lang="en-US" altLang="ko-KR" sz="1600" spc="-50" dirty="0"/>
              <a:t>13%</a:t>
            </a:r>
            <a:r>
              <a:rPr lang="ko-KR" altLang="en-US" sz="1600" spc="-50" dirty="0"/>
              <a:t> 수준에 도달하는 단계적 인상 방안을 마련하였다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향후 국민연금 보험료율이 인상되더라도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나라와 비교하면 여전히 낮은 수준일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이탈리아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네덜란드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프랑스 등의 연금 보험료율은 </a:t>
            </a:r>
            <a:r>
              <a:rPr lang="en-US" altLang="ko-KR" sz="1600" spc="-50" dirty="0"/>
              <a:t>25% </a:t>
            </a:r>
            <a:r>
              <a:rPr lang="ko-KR" altLang="en-US" sz="1600" spc="-50" dirty="0"/>
              <a:t>수준이 넘고</a:t>
            </a:r>
            <a:r>
              <a:rPr lang="en-US" altLang="ko-KR" sz="1600" spc="-50" dirty="0"/>
              <a:t>, OECD </a:t>
            </a:r>
            <a:r>
              <a:rPr lang="ko-KR" altLang="en-US" sz="1600" spc="-50" dirty="0"/>
              <a:t>평균은 </a:t>
            </a:r>
            <a:r>
              <a:rPr lang="en-US" altLang="ko-KR" sz="1600" spc="-50" dirty="0"/>
              <a:t>18%</a:t>
            </a:r>
            <a:r>
              <a:rPr lang="ko-KR" altLang="en-US" sz="1600" spc="-50" dirty="0"/>
              <a:t>에 달한다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보험료율의 높고 낮음에 정답은 없지만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낮은 보험료율로 인해 우리나라 연금의 재정은 근본적으로 취약성을 가질 수 밖에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0611924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3C92B-6A23-9B2C-673E-0B2C9E48D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0FA525-9A48-4544-62A9-FCCDA4FEE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연금의 급여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8AFA4E-7996-0549-009E-A15AC1B165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32</a:t>
            </a:fld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0851E6-BD04-8186-DBBF-87351589802E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4847609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국민연금제도에서 지급하는 급여의 종류에는 노령연금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장애연금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유족연금이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노령연금이 가장 기본적인 연금으로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가입기간이 </a:t>
                </a:r>
                <a:r>
                  <a:rPr lang="en-US" altLang="ko-KR" sz="1600" spc="-50" dirty="0"/>
                  <a:t>10</a:t>
                </a:r>
                <a:r>
                  <a:rPr lang="ko-KR" altLang="en-US" sz="1600" spc="-50" dirty="0"/>
                  <a:t>년이 넘고</a:t>
                </a:r>
                <a:r>
                  <a:rPr lang="en-US" altLang="ko-KR" sz="1600" spc="-50" dirty="0"/>
                  <a:t>, 60</a:t>
                </a:r>
                <a:r>
                  <a:rPr lang="ko-KR" altLang="en-US" sz="1600" spc="-50" dirty="0"/>
                  <a:t>세에 도달한 사람이 받게 되는 연금이다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소득이 있는 업무에 종사하지 않는 경우는 </a:t>
                </a:r>
                <a:r>
                  <a:rPr lang="en-US" altLang="ko-KR" sz="1600" spc="-50" dirty="0"/>
                  <a:t>55</a:t>
                </a:r>
                <a:r>
                  <a:rPr lang="ko-KR" altLang="en-US" sz="1600" spc="-50" dirty="0"/>
                  <a:t>세를 기준으로 한다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가입자가 받게 되는 노령연금의 금액은 아래와 같은 방식으로 결정된다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각 가입자가 얼마나 오랜 기간동안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얼마의 보험료를 </a:t>
                </a:r>
                <a:r>
                  <a:rPr lang="ko-KR" altLang="en-US" sz="1600" spc="-50" dirty="0" err="1"/>
                  <a:t>납부했느냐에</a:t>
                </a:r>
                <a:r>
                  <a:rPr lang="ko-KR" altLang="en-US" sz="1600" spc="-50" dirty="0"/>
                  <a:t> 따라 그가 받을 기본연금액이 결정된다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en-US" altLang="ko-KR" sz="1600" spc="-50" dirty="0"/>
                  <a:t>1</a:t>
                </a:r>
                <a:r>
                  <a:rPr lang="ko-KR" altLang="en-US" sz="1600" spc="-50" dirty="0" err="1"/>
                  <a:t>년동안의</a:t>
                </a:r>
                <a:r>
                  <a:rPr lang="ko-KR" altLang="en-US" sz="1600" spc="-50" dirty="0"/>
                  <a:t> 기본연금액을 산정하는 공식은 아래와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1600" spc="-50" dirty="0"/>
                  <a:t>는 연금수급 직전 </a:t>
                </a:r>
                <a:r>
                  <a:rPr lang="en-US" altLang="ko-KR" sz="1600" spc="-50" dirty="0"/>
                  <a:t>3</a:t>
                </a:r>
                <a:r>
                  <a:rPr lang="ko-KR" altLang="en-US" sz="1600" spc="-50" dirty="0"/>
                  <a:t>년 동안의 전체 가입자의 월 평균보수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ko-KR" altLang="en-US" sz="1600" spc="-50" dirty="0"/>
                  <a:t>는 가입자 개인의 가입기간 중 월 평균보수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ko-KR" altLang="en-US" sz="1600" spc="-50" dirty="0"/>
                  <a:t>는 </a:t>
                </a:r>
                <a:r>
                  <a:rPr lang="en-US" altLang="ko-KR" sz="1600" spc="-50" dirty="0"/>
                  <a:t>20</a:t>
                </a:r>
                <a:r>
                  <a:rPr lang="ko-KR" altLang="en-US" sz="1600" spc="-50" dirty="0"/>
                  <a:t>년을 초과하는 가입연수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ko-KR" altLang="en-US" sz="16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ko-KR" altLang="en-US" sz="1600" dirty="0">
                    <a:latin typeface="Cambria Math" panose="02040503050406030204" pitchFamily="18" charset="0"/>
                  </a:rPr>
                  <a:t>는 소득대체율과</a:t>
                </a:r>
                <a:r>
                  <a:rPr lang="en-US" altLang="ko-KR" sz="1600" spc="-50" dirty="0">
                    <a:latin typeface="Cambria Math" panose="02040503050406030204" pitchFamily="18" charset="0"/>
                  </a:rPr>
                  <a:t> </a:t>
                </a:r>
                <a:r>
                  <a:rPr lang="ko-KR" altLang="en-US" sz="1600" spc="-50" dirty="0">
                    <a:latin typeface="Cambria Math" panose="02040503050406030204" pitchFamily="18" charset="0"/>
                  </a:rPr>
                  <a:t>관련된 상수로</a:t>
                </a:r>
                <a:r>
                  <a:rPr lang="en-US" altLang="ko-KR" sz="1600" spc="-50" dirty="0">
                    <a:latin typeface="Cambria Math" panose="02040503050406030204" pitchFamily="18" charset="0"/>
                  </a:rPr>
                  <a:t>, </a:t>
                </a:r>
                <a:r>
                  <a:rPr lang="ko-KR" altLang="en-US" sz="1600" spc="-50" dirty="0">
                    <a:latin typeface="Cambria Math" panose="02040503050406030204" pitchFamily="18" charset="0"/>
                  </a:rPr>
                  <a:t>이는 제도의 변화로 인해 가입자가 언제 </a:t>
                </a:r>
                <a:r>
                  <a:rPr lang="ko-KR" altLang="en-US" sz="1600" spc="-50" dirty="0" err="1">
                    <a:latin typeface="Cambria Math" panose="02040503050406030204" pitchFamily="18" charset="0"/>
                  </a:rPr>
                  <a:t>가입했느냐에</a:t>
                </a:r>
                <a:r>
                  <a:rPr lang="ko-KR" altLang="en-US" sz="1600" spc="-50" dirty="0">
                    <a:latin typeface="Cambria Math" panose="02040503050406030204" pitchFamily="18" charset="0"/>
                  </a:rPr>
                  <a:t> 따라 다른 값을 갖는다</a:t>
                </a:r>
                <a:r>
                  <a:rPr lang="en-US" altLang="ko-KR" sz="1600" spc="-50">
                    <a:latin typeface="Cambria Math" panose="02040503050406030204" pitchFamily="18" charset="0"/>
                  </a:rPr>
                  <a:t>.</a:t>
                </a:r>
                <a:endParaRPr lang="en-US" altLang="ko-KR" sz="1600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90851E6-BD04-8186-DBBF-87351589802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4847609"/>
              </a:xfrm>
              <a:prstGeom prst="rect">
                <a:avLst/>
              </a:prstGeom>
              <a:blipFill>
                <a:blip r:embed="rId3"/>
                <a:stretch>
                  <a:fillRect b="-50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B2076AF-AD77-7700-37DB-7D967903178F}"/>
                  </a:ext>
                </a:extLst>
              </p:cNvPr>
              <p:cNvSpPr txBox="1"/>
              <p:nvPr/>
            </p:nvSpPr>
            <p:spPr>
              <a:xfrm>
                <a:off x="1369503" y="3812796"/>
                <a:ext cx="4010713" cy="2821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ko-KR" altLang="en-US" i="1">
                          <a:latin typeface="Cambria Math" panose="02040503050406030204" pitchFamily="18" charset="0"/>
                        </a:rPr>
                        <m:t>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본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연</m:t>
                      </m:r>
                      <m:r>
                        <a:rPr lang="ko-KR" altLang="en-US" i="1" smtClean="0">
                          <a:latin typeface="Cambria Math" panose="02040503050406030204" pitchFamily="18" charset="0"/>
                        </a:rPr>
                        <m:t>금</m:t>
                      </m:r>
                      <m:r>
                        <a:rPr lang="ko-KR" altLang="en-US" i="1">
                          <a:latin typeface="Cambria Math" panose="02040503050406030204" pitchFamily="18" charset="0"/>
                        </a:rPr>
                        <m:t>액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b="0" i="1" smtClean="0">
                          <a:latin typeface="Cambria Math" panose="02040503050406030204" pitchFamily="18" charset="0"/>
                        </a:rPr>
                        <m:t>𝛼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×(1+0.05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B2076AF-AD77-7700-37DB-7D96790317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9503" y="3812796"/>
                <a:ext cx="4010713" cy="282193"/>
              </a:xfrm>
              <a:prstGeom prst="rect">
                <a:avLst/>
              </a:prstGeom>
              <a:blipFill>
                <a:blip r:embed="rId4"/>
                <a:stretch>
                  <a:fillRect t="-6383" b="-3617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359538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A7EF4E-B5E0-3A1D-111F-8C3807B2C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874C330-8ACD-3363-687A-E20C99E8F96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4AB3A2-801B-F0F4-9ABE-28BF0BC7E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9B23D82-89C3-EE4E-1C72-E7278FA1D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6. </a:t>
            </a:r>
            <a:r>
              <a:rPr lang="ko-KR" altLang="en-US" sz="4000" b="1" i="0" spc="150" dirty="0"/>
              <a:t>건강보험제도의 기본성격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9705795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88FAAE-F208-7323-0B7B-79314966B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61D89AF-D865-CF91-B0A0-E9B2EBC2C6F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428E16-A285-ADD2-098D-FFC7DEC11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80C8B4D5-4027-0895-6282-01FB061A2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7. </a:t>
            </a:r>
            <a:r>
              <a:rPr lang="ko-KR" altLang="en-US" sz="4000" b="1" i="0" spc="150" dirty="0"/>
              <a:t>우리나라의 국민건강보험제도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6062996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F4B43-09B4-0ECF-E26D-84F2E26EB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97A1CD-38FF-A245-BBC6-B32488425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041E48-F037-1375-FF0E-BBDBC755A7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9FC4E3-47A9-296B-4B15-F3F3798E39D7}"/>
              </a:ext>
            </a:extLst>
          </p:cNvPr>
          <p:cNvSpPr txBox="1"/>
          <p:nvPr/>
        </p:nvSpPr>
        <p:spPr>
          <a:xfrm>
            <a:off x="288790" y="958844"/>
            <a:ext cx="11250267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b="1" spc="-50" dirty="0"/>
              <a:t>효율성에 대한 부정적 영향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재분배정책이 효율적 자원배분을 저해하는 결과를 가져올 것이라는 점을 들어 반대한다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예컨대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재분배효과를 크게 하기 위해 급격한 누진적 조세제도를 도입하면 사람들은 더 많이 일하는 동기가 감소할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빈곤층에 대한 소득보조 프로그램은 가난한 사람들의 근로 의욕을 감소시킬 수도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</a:t>
            </a:r>
            <a:r>
              <a:rPr lang="ko-KR" altLang="en-US" sz="1600" spc="-50" dirty="0" err="1"/>
              <a:t>아직까지는</a:t>
            </a:r>
            <a:r>
              <a:rPr lang="ko-KR" altLang="en-US" sz="1600" spc="-50" dirty="0"/>
              <a:t> 재분배정책이 효율성 감소에 어느정도 영향을 미치는지 정확히 알고 있지 못하다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/>
              <a:t>정치적 현실의 관점</a:t>
            </a:r>
            <a:r>
              <a:rPr lang="en-US" altLang="ko-KR" sz="1600" b="1" spc="-50" dirty="0"/>
              <a:t>: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정치기구가 과연 재분배작업을 성공적으로 해낼 수 있는지 의문을 가지고 반대한다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재분배작업을 </a:t>
            </a:r>
            <a:r>
              <a:rPr lang="ko-KR" altLang="en-US" sz="1600" spc="-50" dirty="0" err="1"/>
              <a:t>담당해야하는</a:t>
            </a:r>
            <a:r>
              <a:rPr lang="ko-KR" altLang="en-US" sz="1600" spc="-50" dirty="0"/>
              <a:t> 정치기구 역시 여러 집단의 이익이 복잡하게 </a:t>
            </a:r>
            <a:r>
              <a:rPr lang="ko-KR" altLang="en-US" sz="1600" spc="-50" dirty="0" err="1"/>
              <a:t>얽혀있기</a:t>
            </a:r>
            <a:r>
              <a:rPr lang="ko-KR" altLang="en-US" sz="1600" spc="-50" dirty="0"/>
              <a:t>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공평한 재분배를 수행하기 힘든 것이 사실이다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한가지 반대 논리는 재분배정책이 </a:t>
            </a:r>
            <a:r>
              <a:rPr lang="ko-KR" altLang="en-US" sz="1600" spc="-50" dirty="0" err="1"/>
              <a:t>계층간의</a:t>
            </a:r>
            <a:r>
              <a:rPr lang="ko-KR" altLang="en-US" sz="1600" spc="-50" dirty="0"/>
              <a:t> 갈등을 조장함으로써 정치과정에 심각한 긴장을 일으킨다는 것이다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재분배라는 것이 어떤 사람으로부터 경제적 자원을 거두어 다른 사람에게 넘겨주는 것이기 때문에 이러한 주장에 일리가 있긴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재분배가 이루어지지 않을 때 </a:t>
            </a:r>
            <a:r>
              <a:rPr lang="ko-KR" altLang="en-US" sz="1600" spc="-50" dirty="0" err="1"/>
              <a:t>계층간의</a:t>
            </a:r>
            <a:r>
              <a:rPr lang="ko-KR" altLang="en-US" sz="1600" spc="-50" dirty="0"/>
              <a:t> 긴장과 갈등이 더 심해질 수도 있는 것이 사실이다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209528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0D0EF-168D-4D0B-382A-14535921A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A04DD1-B821-23EA-0CFC-B188679FBE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8262B7-878F-30FB-81A2-6AAD48AC2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0ABBB2-5E06-7126-F790-E2C507B57338}"/>
              </a:ext>
            </a:extLst>
          </p:cNvPr>
          <p:cNvSpPr txBox="1"/>
          <p:nvPr/>
        </p:nvSpPr>
        <p:spPr>
          <a:xfrm>
            <a:off x="288790" y="958844"/>
            <a:ext cx="11250267" cy="52615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찬성의 논리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윤리적 관점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평등주의자들은 분배상태가 평등하지 못하면 이를 시정하려는 노력이 따라야 한다고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평등주의 뿐 아니라 공리주의자도 재분배를 위한 개입을 지지한다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공리의 원칙은 단순히 사회적 후생의 총합이 극대화되는 분배상태를 요구할 뿐이지만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공리주의자들이 일반적으로 설정하는 상황에서는 재분배를 통한 평등화가 사회 전체의 후생을 증진시키기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 err="1"/>
              <a:t>공공재로서의</a:t>
            </a:r>
            <a:r>
              <a:rPr lang="ko-KR" altLang="en-US" sz="1600" b="1" spc="-50" dirty="0"/>
              <a:t> 공평한분배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재분배가 </a:t>
            </a:r>
            <a:r>
              <a:rPr lang="ko-KR" altLang="en-US" sz="1600" spc="-50" dirty="0" err="1"/>
              <a:t>가져다주는</a:t>
            </a:r>
            <a:r>
              <a:rPr lang="ko-KR" altLang="en-US" sz="1600" spc="-50" dirty="0"/>
              <a:t> 사회적 이득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범죄 감소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안정성 증대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마치 공공재와 같은 성격을 갖는다고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 혜택을 누구나 누릴 수 있어 </a:t>
            </a:r>
            <a:r>
              <a:rPr lang="ko-KR" altLang="en-US" sz="1600" spc="-50" dirty="0" err="1"/>
              <a:t>배제불가능하며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누군가 혜택을 누린다고 해서 다른 사람이 얻는 혜택이 줄어들지 않는다는 점에서 비경합성도 갖고 있다고 주장한다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재분배로부터의 사회적 이득이 공공재 성격을 갖는다면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재분배를 위해 개입해야 할 필요가 생긴다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4</a:t>
            </a:r>
            <a:r>
              <a:rPr lang="ko-KR" altLang="en-US" sz="1600" spc="-50" dirty="0"/>
              <a:t>장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공공재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에서 배웠듯이 공공재의 경우 무임승차 문제가 발생할 수 있기 때문이다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부유한 사람들이 빈곤한 사람에게 소득을 나누어 주지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부유한 사람들에게 그 일을 떠맡기는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76924508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FB47C-3726-C9E0-C9E7-FFDDE3209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7B97E2-F210-8875-7AB5-10FD09DA15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재분배정책에 대한 찬반의견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F91DFC-EAD3-E4FF-030C-0E96EA359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09C429-DA59-D9FA-5751-536773D5059C}"/>
              </a:ext>
            </a:extLst>
          </p:cNvPr>
          <p:cNvSpPr txBox="1"/>
          <p:nvPr/>
        </p:nvSpPr>
        <p:spPr>
          <a:xfrm>
            <a:off x="288790" y="958844"/>
            <a:ext cx="11250267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 err="1"/>
              <a:t>사회보험으로서의</a:t>
            </a:r>
            <a:r>
              <a:rPr lang="ko-KR" altLang="en-US" sz="1600" b="1" spc="-50" dirty="0"/>
              <a:t> 재분배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재분배정책을 사회보험이라는 관점에서 정당화하고자 하는 시도도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우리는 뜻하지 않은 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빈곤해질 수 있는 가능성을 항상 가지고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경우를 대비하는 차원에서 재분배 정책은 일종의 사회적 안전장치를 마련해 놓는 것이다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b="1" spc="-50" dirty="0"/>
              <a:t>정치적 관점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어떤 사람이 부유하다는 것은 경제적 자원 뿐만 아니라 정치적 권력을 더 많이 갖고 있음을 의미한다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이를 바탕으로 보면 부가 소수에 집중되어 있을 때 정치적 권력도 소수에 집중되는 결과를 낳게 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부당한 권력의 집중을 방지하기 위해서는 재분배정책을 통해 부를 과감하게 분산시켜 정치적 권력도 함께 분산 시키는 것이 필요하다는 주장이다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1827482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9E00A-5187-4C65-52E9-63306C3F8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56AEEF-DA17-2EC9-6260-BC326D47EF02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954DBE-4BA0-6BBA-7BC4-FDCEDCD57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DC7C092-9F83-9AEC-2DE6-4EDC5AF822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재분배정책의 실례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58940896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281FE-0393-7988-CEC4-F037AB200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D0C283-45F1-D7BE-5488-41999EE3F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일반적 조세제도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C94553-870D-29D7-F5BF-01C75520E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B1167B3-202B-2970-DB6A-4115B053DB54}"/>
              </a:ext>
            </a:extLst>
          </p:cNvPr>
          <p:cNvSpPr txBox="1"/>
          <p:nvPr/>
        </p:nvSpPr>
        <p:spPr>
          <a:xfrm>
            <a:off x="288790" y="958844"/>
            <a:ext cx="11250267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다양한 유형의 재분배정책이 있지만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우리는 아래와 같이 기본적인 정책을 살펴보자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일반적 조세제도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사회복지제도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근로장려세제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기본소득제도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조세가 누진성을 갖는다는 것은 납세자의 소득수준이 높을수록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소득의 더 큰 비율을 세금으로 납부하게 된다는 의미다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누진적 조세를 통해 부유층과 빈곤층 사이에 존재하는 처분가능소득의 격차 감소를 기대할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처분가능소득 격차가 줄어들기는 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빈곤층에게 직접적인 도움을 주는 효과는 기대할 수 없다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다만 조세수입이 정부지출로 전환되는 과정에서 빈곤층에 더 많은 혜택이 돌아가는 정책을 시행하여 빈곤층에게 간접적으로 도움이 되도록 만들 수는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조세제도의 특성에 따라 누진성은 달라지는데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누진성이 클수록 더 큰 재분배효과가 나타난다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조세수입에서 간접세의 비중이 크면 누진성을 기대할 수 없어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재분배효과가 제한적이다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간접세는 납세자의 특성을 고려하지 않기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고소득자에게 특정하여 무거운 세금 부담을 지울 길이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누진성을 높이기 위해서는 납세자 개인의 경제적 능력에 따라 과세할 수 있는 직접세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특히 소득세의 비중이 높아져야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09325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90E10-2542-5AE1-D9DE-830619EB7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A4DC9EC-457C-BC16-89BE-73BDE3A83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일반적 조세제도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8F1FB6-A978-6487-18EC-1377D9AF5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733921C-1B1E-4481-1DE9-E6AFF2F286E6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하지만 소득세의 비중이 높아진다고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반드시 조세제도 전반의 누진성이 커진다고 말하기는 힘들다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실제로 우리나라를 포함한 대부분의 나라는 소득세율 구조가 겉으로 보기엔 상당한 누진성을 갖고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실제 소득세 부담은 소득세의 세율 뿐만 아니라 공제제도에 의해서도 영향을 많이 받는다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부유층은 조세를 회피할 수 있는 수단이 많기 때문에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실제로 소득세 부담의 분배는 보통 누진적이지 않다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근로소득자들만 세금을 충실히 납부하며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유형의 소득을 얻는 사람들은 탈세하는 정도가 크다고 알려져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이들 대부분이 부유층이라는 사실을 고려하면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소득세의 누진성은 실질적으로 크지 않다고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뿐만 아니라 전체 세수에서 소득세가 차지하는 비중이 </a:t>
            </a:r>
            <a:r>
              <a:rPr lang="en-US" altLang="ko-KR" sz="1600" spc="-50" dirty="0"/>
              <a:t>35%</a:t>
            </a:r>
            <a:r>
              <a:rPr lang="ko-KR" altLang="en-US" sz="1600" spc="-50" dirty="0"/>
              <a:t>에도 못 미치고 있어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조세제도 전반의 누진성은 그리 크지 못한 실정이다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E8C1D82-B3A8-5F1E-5714-BF87AD4F52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1781" y="1841679"/>
            <a:ext cx="5209849" cy="168942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6DD46B-01CB-9203-93AF-9438509617C5}"/>
              </a:ext>
            </a:extLst>
          </p:cNvPr>
          <p:cNvSpPr txBox="1"/>
          <p:nvPr/>
        </p:nvSpPr>
        <p:spPr>
          <a:xfrm>
            <a:off x="2431781" y="3537692"/>
            <a:ext cx="403001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 dirty="0"/>
              <a:t>출처</a:t>
            </a:r>
            <a:r>
              <a:rPr lang="en-US" altLang="ko-KR" sz="800" dirty="0"/>
              <a:t>: </a:t>
            </a:r>
            <a:r>
              <a:rPr lang="ko-KR" altLang="en-US" sz="800" dirty="0"/>
              <a:t>https://www.nts.go.kr/nts/cm/cntnts/cntntsView.do?mi=2227&amp;cntntsId=7667</a:t>
            </a:r>
          </a:p>
        </p:txBody>
      </p:sp>
    </p:spTree>
    <p:extLst>
      <p:ext uri="{BB962C8B-B14F-4D97-AF65-F5344CB8AC3E}">
        <p14:creationId xmlns:p14="http://schemas.microsoft.com/office/powerpoint/2010/main" val="362951900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8E7BB-1BBD-5ACE-3661-E82C8BF70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9AC5B0-0F92-CE68-DF93-58A6E0A2A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사회복지제도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64095C-61E0-344D-4FD1-7155ECDAF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7588F77-9A82-ABCB-4561-AAD9A5B1AAD8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사회복지제도는 사회보험제도와 공공부조 프로그램의 두 유형으로 구성되어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사회보험제도는 이에 대해 기여한 사람만 혜택을 받을 수 있다는 기여원칙에 기초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공공부조 프로그램은 기여 여부에 관계 없이 가난한 사람이면 혜택을 받을 수 있게끔 되어 있다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b="1" spc="-50" dirty="0"/>
              <a:t>사회보험제도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국민에게 발생하는 사회적 위험을 보험 방식으로 대처함으로써 국민의 건강과 소득을 보장한다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사회보험제도의 예로는 국민연금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고용보험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산재보험 등이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60" dirty="0"/>
              <a:t>저소득층이 사회보험제도의 덕을 볼 수 있다는 근거는 아래와 같다</a:t>
            </a:r>
            <a:r>
              <a:rPr lang="en-US" altLang="ko-KR" sz="1600" spc="-6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60" dirty="0"/>
              <a:t>모든 국민이 자유의사에 따라 노후를 대비하도록 방임해두면</a:t>
            </a:r>
            <a:r>
              <a:rPr lang="en-US" altLang="ko-KR" sz="1600" spc="-60" dirty="0"/>
              <a:t>, </a:t>
            </a:r>
            <a:r>
              <a:rPr lang="ko-KR" altLang="en-US" sz="1600" spc="-60" dirty="0"/>
              <a:t>무방비상태로 노령에 이르게 될 가능성이 가장 큰 계층이 바로 저소득층이라는 점이다</a:t>
            </a:r>
            <a:r>
              <a:rPr lang="en-US" altLang="ko-KR" sz="1600" spc="-6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60" dirty="0"/>
              <a:t>또 이 제도의 수혜자인 노년층이 다른 연령그룹에 비해 상대적으로 더 높은 비율의 빈곤층을 포함하고 있다는 점에서도 재분배효과를 기대할 수 있다</a:t>
            </a:r>
            <a:r>
              <a:rPr lang="en-US" altLang="ko-KR" sz="1600" spc="-60" dirty="0"/>
              <a:t>.</a:t>
            </a: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그럼에도 불구하고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사회보험제도는 민간부문과 달리 강제성이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민간부문의 보험과 흡사한 방식으로 운영이 되는 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재분배효과는 클 수 없다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사회보험제도의 예로는 국민연금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고용보험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산재보험 등이 있다</a:t>
            </a:r>
            <a:r>
              <a:rPr lang="en-US" altLang="ko-KR" sz="1600" spc="-50" dirty="0"/>
              <a:t>.)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이 제도가 역진적 성격을 갖는 세입원에 의존하고 있는 한 명백한 한계가 있을 수 밖에 없다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대부분 나라에서 국민연금제도는 일반적 세입원에 기초하는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목적세에 의해 운영되고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목적세 같은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가난한 사람일수록 상대적으로 부담이 더 무거워지는 역진성을 갖는 것이 보통이다</a:t>
            </a:r>
            <a:r>
              <a:rPr lang="en-US" altLang="ko-KR" sz="1600" spc="-50" dirty="0"/>
              <a:t>.</a:t>
            </a:r>
            <a:endParaRPr lang="en-US" altLang="ko-KR" sz="1600" spc="-60" dirty="0"/>
          </a:p>
        </p:txBody>
      </p:sp>
    </p:spTree>
    <p:extLst>
      <p:ext uri="{BB962C8B-B14F-4D97-AF65-F5344CB8AC3E}">
        <p14:creationId xmlns:p14="http://schemas.microsoft.com/office/powerpoint/2010/main" val="364080604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E30EC-62F1-0B20-BD25-FF7D8F0FF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02163-A538-5818-1432-EE85DE09F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사회복지제도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BD5E8F2-6622-3004-853B-0620AC6F0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53E70B-9248-9D7F-6CBA-CD09F02529F5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434975" indent="-342900">
              <a:lnSpc>
                <a:spcPct val="150000"/>
              </a:lnSpc>
              <a:buFont typeface="+mj-lt"/>
              <a:buAutoNum type="arabicPeriod" startAt="2"/>
            </a:pPr>
            <a:r>
              <a:rPr lang="ko-KR" altLang="en-US" sz="1600" b="1" spc="-50" dirty="0"/>
              <a:t>공공부조 프로그램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저소득층에게 최소생활을 보장하기 위한 선별적 복지제도 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 도움이 절실히 필요한 극빈계층에 초점을 맞추어 재분배효과의 극대화를 지향한다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우리나라의 대표적인 공공부조 프로그램은 </a:t>
            </a:r>
            <a:r>
              <a:rPr lang="ko-KR" altLang="en-US" sz="1600" spc="-50" dirty="0" err="1"/>
              <a:t>국민기초생활보장제도가</a:t>
            </a:r>
            <a:r>
              <a:rPr lang="ko-KR" altLang="en-US" sz="1600" spc="-50" dirty="0"/>
              <a:t> 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설명한 재분배정책인 누진적 조세제도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사회보험제도의 경우 특정한 계층에 대한 배려가 불가능하여 재분배효과가 제한적일 수 밖에 없었는데 반해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공공부조 프로그램은 애초에 극빈계층을 염두에 두고 실시하므로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같은 예산으로 더 큰 재분배효과를 기대할 수 있다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목표 효율성이라고 표현하기도 한다</a:t>
            </a:r>
            <a:r>
              <a:rPr lang="en-US" altLang="ko-KR" sz="1600" spc="-50" dirty="0"/>
              <a:t>.)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공공부조 프로그램은 일반적 공공부조와 범주적 공공부조로 세분화 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일반적 공공부조는 일정수준 이하의 소득을 가진 사람에게 혜택을 돌아가게 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범주적 공공부조는 소득 이외의 추가적 기준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나이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가장 여부 등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적용하여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사람들만 혜택을 준다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대부분 나라는 범주적 공공부조 형태로 운영을 하고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 집행 과정에서 여러 요건에 대한 심사가 필수다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 err="1"/>
              <a:t>그렇다고해서</a:t>
            </a:r>
            <a:r>
              <a:rPr lang="ko-KR" altLang="en-US" sz="1600" spc="-50" dirty="0"/>
              <a:t> 수혜 대상자의 생활 전반을 뒤짐으로써 심한 모욕감을 줄 수 도 있고</a:t>
            </a:r>
            <a:r>
              <a:rPr lang="en-US" altLang="ko-KR" sz="1600" spc="-50" dirty="0"/>
              <a:t>,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한편 심사가 </a:t>
            </a:r>
            <a:r>
              <a:rPr lang="ko-KR" altLang="en-US" sz="1600" spc="-50" dirty="0" err="1"/>
              <a:t>느슨해지면</a:t>
            </a:r>
            <a:r>
              <a:rPr lang="ko-KR" altLang="en-US" sz="1600" spc="-50" dirty="0"/>
              <a:t> 부정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사기가 일어날 수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사회의 도움에만 의존하려는 경향까지 나타날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따라서 공공부조를 운영할 때 어느 정도까지 혜택을 줄지는 빈곤의 증상 완화와 정책에 대한 의존성을 줄이는 것 사이에 적절한 균형이 필요하다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뒷장 계속</a:t>
            </a:r>
            <a:r>
              <a:rPr lang="en-US" altLang="ko-KR" sz="1600" spc="-5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0139487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E0ACAE-FBA7-9390-60F4-B67A245B7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8E74BAE-9DEF-18EA-EC32-E99E43C8B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사회복지제도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99E356-3190-16BE-7F71-F27305A47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561F07-03AE-D3B5-AB75-7B98731E2105}"/>
              </a:ext>
            </a:extLst>
          </p:cNvPr>
          <p:cNvSpPr txBox="1"/>
          <p:nvPr/>
        </p:nvSpPr>
        <p:spPr>
          <a:xfrm>
            <a:off x="288790" y="958844"/>
            <a:ext cx="1125026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보다 근본적인 문제는 공공부조 프로그램이 어느정도 실질적인 도움을 줄 수 있느냐 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단지 빈곤에 대한 대증요법에 그칠 것이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장기적으로 빈곤 그 자체를 치유하는데 역점을 두어야 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대표적 공공부조 프로그램인 </a:t>
            </a:r>
            <a:r>
              <a:rPr lang="ko-KR" altLang="en-US" sz="1600" b="1" spc="-50" dirty="0" err="1"/>
              <a:t>국민기초생활보장제도</a:t>
            </a:r>
            <a:r>
              <a:rPr lang="ko-KR" altLang="en-US" sz="1600" spc="-50" dirty="0" err="1"/>
              <a:t>를</a:t>
            </a:r>
            <a:r>
              <a:rPr lang="ko-KR" altLang="en-US" sz="1600" spc="-50" dirty="0"/>
              <a:t> 살펴보자</a:t>
            </a:r>
            <a:r>
              <a:rPr lang="en-US" altLang="ko-KR" sz="1600" spc="-50" dirty="0"/>
              <a:t>. 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2000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월에 출범한 이 제도는 그 이전에 실시하던 </a:t>
            </a:r>
            <a:r>
              <a:rPr lang="ko-KR" altLang="en-US" sz="1600" b="1" spc="-50" dirty="0"/>
              <a:t>생활보호제도</a:t>
            </a:r>
            <a:r>
              <a:rPr lang="ko-KR" altLang="en-US" sz="1600" spc="-50" dirty="0"/>
              <a:t>와 몇 가지 차이가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현재는 근로능력과 관계없이 어떤 가구의 소득이 최소한의 수준에 미치지 못하면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차액에 해당하는 부분을 정부가 보조해 주는 방식이다</a:t>
            </a:r>
            <a:r>
              <a:rPr lang="en-US" altLang="ko-KR" sz="1600" spc="-50" dirty="0"/>
              <a:t>. (‘</a:t>
            </a:r>
            <a:r>
              <a:rPr lang="ko-KR" altLang="en-US" sz="1600" spc="-50" dirty="0"/>
              <a:t>보충급여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의 원칙</a:t>
            </a:r>
            <a:r>
              <a:rPr lang="en-US" altLang="ko-KR" sz="1600" spc="-50" dirty="0"/>
              <a:t>). </a:t>
            </a: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전에는 근로능력을 가진 사람에게 생계보조를 해주지 않는 것이 원칙이었고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모든 사람에게 최소한의 생계를 보장한다는 목표를 지향하지도 않았다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제도의 이름 변화가 말해 주듯이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저소득층에 대한 접근이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국가의 보호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 에서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국민의 권리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로 바뀐 점이다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이런 관점의 변화가 얼마나 실질적인 변화를 의미하는지는 의문을 표시할 수 있지만 상징적인 의미가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국민기초생활보장제도는</a:t>
            </a:r>
            <a:r>
              <a:rPr lang="ko-KR" altLang="en-US" sz="1600" spc="-50" dirty="0"/>
              <a:t> 생계급여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주거급여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의료급여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 여러 방식으로 이루어진다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중 생계급여 항목이 가장 큰 비중을 차지한다</a:t>
            </a:r>
            <a:r>
              <a:rPr lang="en-US" altLang="ko-KR" sz="1600" spc="-50" dirty="0"/>
              <a:t>. ‘</a:t>
            </a:r>
            <a:r>
              <a:rPr lang="ko-KR" altLang="en-US" sz="1600" spc="-50" dirty="0"/>
              <a:t>기준 중위소득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의 </a:t>
            </a:r>
            <a:r>
              <a:rPr lang="en-US" altLang="ko-KR" sz="1600" spc="-50" dirty="0"/>
              <a:t>32%</a:t>
            </a:r>
            <a:r>
              <a:rPr lang="ko-KR" altLang="en-US" sz="1600" spc="-50" dirty="0"/>
              <a:t>보다 적은 소득을 얻는 가구는 그 기준에서 실제 소득과의 </a:t>
            </a:r>
            <a:r>
              <a:rPr lang="ko-KR" altLang="en-US" sz="1600" spc="-50" dirty="0" err="1"/>
              <a:t>차액만큼을</a:t>
            </a:r>
            <a:r>
              <a:rPr lang="ko-KR" altLang="en-US" sz="1600" spc="-50" dirty="0"/>
              <a:t> 지급받을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국민기초생활보장제도</a:t>
            </a:r>
            <a:r>
              <a:rPr lang="ko-KR" altLang="en-US" sz="1600" spc="-50" dirty="0"/>
              <a:t> 자체는 매우 선진적인 공공부조 프로그램이지만 개선해야 할 점도 분명 존재한다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일을 해서 소득이 기준을 넘지 못하면 실질적 세율이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노력하려는 의욕을 저하시킬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2025</a:t>
            </a:r>
            <a:r>
              <a:rPr lang="ko-KR" altLang="en-US" sz="1600" spc="-50" dirty="0"/>
              <a:t>년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인가구의 생계급여 기준이 월 </a:t>
            </a:r>
            <a:r>
              <a:rPr lang="en-US" altLang="ko-KR" sz="1600" spc="-50" dirty="0"/>
              <a:t>195</a:t>
            </a:r>
            <a:r>
              <a:rPr lang="ko-KR" altLang="en-US" sz="1600" spc="-50" dirty="0"/>
              <a:t>만원인데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금액으로는 최소한의 생활이 보장될 수 없다고 지적한다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7000310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B9DF9-B83F-F2E0-D3FB-E5D5A98F3C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E9DEA-4847-4DED-6143-47A0280B4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2CA21D-0C93-44FC-100C-EBDBC88E82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C5E174E-743C-D340-23E8-B69EB5466F04}"/>
              </a:ext>
            </a:extLst>
          </p:cNvPr>
          <p:cNvSpPr txBox="1"/>
          <p:nvPr/>
        </p:nvSpPr>
        <p:spPr>
          <a:xfrm>
            <a:off x="288790" y="958844"/>
            <a:ext cx="11250267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기본성격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부의 소득세제</a:t>
            </a:r>
            <a:r>
              <a:rPr lang="en-US" altLang="ko-KR" sz="1600" spc="-50" dirty="0"/>
              <a:t> (negative income tax)</a:t>
            </a:r>
            <a:r>
              <a:rPr lang="ko-KR" altLang="en-US" sz="1600" spc="-50" dirty="0"/>
              <a:t>는 개인의 소득이 일정 수준 이하로 떨어질 경우 음</a:t>
            </a:r>
            <a:r>
              <a:rPr lang="en-US" altLang="ko-KR" sz="1600" spc="-50" dirty="0"/>
              <a:t>(-)</a:t>
            </a:r>
            <a:r>
              <a:rPr lang="ko-KR" altLang="en-US" sz="1600" spc="-50" dirty="0"/>
              <a:t>의 세율을 적용하는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일정 수준 이하의 소득자들에게는 세금을 거두는 것이 아니라 오히려 정부가 나눠 주어야 </a:t>
            </a:r>
            <a:r>
              <a:rPr lang="ko-KR" altLang="en-US" sz="1600" spc="-50" dirty="0" err="1"/>
              <a:t>한다는게</a:t>
            </a:r>
            <a:r>
              <a:rPr lang="ko-KR" altLang="en-US" sz="1600" spc="-50" dirty="0"/>
              <a:t> 기본 취지다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점에서 누진적 소득세제의 연장이라고 말할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누진세는 소득수준 상승에 따라 높은 세율이 적용되는 것을 의미하고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반대로 소득수준이 계속 내려가서 아주 낮은 소득에서는 음의 세율까지 도달하는 것을 의미하기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사회복지제도에서는 자신이 사회의 도움이 필요하다는 합당한 이유를 제시해야 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소득세제는 그럴 필요가 없다는 것이 장점이 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사회 도움을 받는 과정에서 수치심을 느끼게 된다면 바람직한 일이 아니기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 행정적으로 단순하고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수혜자에게 현물이 아닌 현금을 주기 때문에 수혜자가 자유로이 처분할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7694917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2846A-A858-FC96-A95F-2FE2F7208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13DC7F-67C7-8690-0A6C-12EB0E032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19B7E4-E648-D013-05AC-E12C81D54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45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1B92C3B-773B-73DD-F717-7C1BFB75B706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3862981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600" u="sng" dirty="0">
                    <a:ln w="3175">
                      <a:noFill/>
                    </a:ln>
                    <a:latin typeface="HY헤드라인M" panose="02030600000101010101" pitchFamily="18" charset="-127"/>
                    <a:ea typeface="HY헤드라인M" panose="02030600000101010101" pitchFamily="18" charset="-127"/>
                  </a:rPr>
                  <a:t>운영방식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우선 모든 사람에게 보장하는 최소한의 소득이라는 의미로 </a:t>
                </a:r>
                <a:r>
                  <a:rPr lang="ko-KR" altLang="en-US" sz="1600" b="1" spc="-50" dirty="0"/>
                  <a:t>기초수당</a:t>
                </a:r>
                <a:r>
                  <a:rPr lang="ko-KR" altLang="en-US" sz="1600" spc="-50" dirty="0"/>
                  <a:t>이 일정한 수준으로 정해져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또 일정한 크기의 </a:t>
                </a:r>
                <a:r>
                  <a:rPr lang="ko-KR" altLang="en-US" sz="1600" b="1" spc="-50" dirty="0"/>
                  <a:t>한계세율</a:t>
                </a:r>
                <a:r>
                  <a:rPr lang="ko-KR" altLang="en-US" sz="1600" spc="-50" dirty="0"/>
                  <a:t>을 선택하여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수혜자 스스로 벌어들인 소득이 일어날 때 그 비율로 지급액이 줄어들도록 만든다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기초수당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altLang="ko-KR" sz="1600" spc="-50" dirty="0"/>
                  <a:t>),</a:t>
                </a:r>
                <a:r>
                  <a:rPr lang="ko-KR" altLang="en-US" sz="1600" spc="-50" dirty="0"/>
                  <a:t> 한계세율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altLang="ko-KR" sz="1600" spc="-50" dirty="0"/>
                  <a:t>), </a:t>
                </a:r>
                <a:r>
                  <a:rPr lang="ko-KR" altLang="en-US" sz="1600" spc="-50" dirty="0"/>
                  <a:t>소득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 이 정해지면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저소득자가 받을 보조금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는 다음 공식에 의해 결정된다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altLang="ko-KR" sz="1600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ko-KR" altLang="en-US" sz="1600" dirty="0"/>
                  <a:t>으로 놓고 이 식을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dirty="0"/>
                  <a:t>에 대해 풀면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소득</a:t>
                </a:r>
                <a:r>
                  <a:rPr lang="en-US" altLang="ko-KR" sz="1600" dirty="0"/>
                  <a:t> (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dirty="0"/>
                  <a:t>)</a:t>
                </a:r>
                <a:r>
                  <a:rPr lang="ko-KR" altLang="en-US" sz="1600" dirty="0"/>
                  <a:t>이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ko-K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en-US" altLang="ko-KR" sz="16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</m:oMath>
                </a14:m>
                <a:r>
                  <a:rPr lang="en-US" altLang="ko-KR" sz="1600" dirty="0"/>
                  <a:t> </a:t>
                </a:r>
                <a:r>
                  <a:rPr lang="ko-KR" altLang="en-US" sz="1600" dirty="0"/>
                  <a:t>에 이르면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이 제도에 의한 혜택이 중단됨을 알 수 있다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부의 소득세제가 여기서 끝나는 것이다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endParaRPr lang="en-US" altLang="ko-KR" sz="160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1B92C3B-773B-73DD-F717-7C1BFB75B7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3862981"/>
              </a:xfrm>
              <a:prstGeom prst="rect">
                <a:avLst/>
              </a:prstGeom>
              <a:blipFill>
                <a:blip r:embed="rId2"/>
                <a:stretch>
                  <a:fillRect l="-271" r="-37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9CE564-73C6-BA1A-52A1-9ED0DB303CD9}"/>
                  </a:ext>
                </a:extLst>
              </p:cNvPr>
              <p:cNvSpPr txBox="1"/>
              <p:nvPr/>
            </p:nvSpPr>
            <p:spPr>
              <a:xfrm>
                <a:off x="2030587" y="2522580"/>
                <a:ext cx="191643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𝑡𝐸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09CE564-73C6-BA1A-52A1-9ED0DB303C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0587" y="2522580"/>
                <a:ext cx="191643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그림 4">
            <a:extLst>
              <a:ext uri="{FF2B5EF4-FFF2-40B4-BE49-F238E27FC236}">
                <a16:creationId xmlns:a16="http://schemas.microsoft.com/office/drawing/2014/main" id="{BFA88F11-11D4-36EB-1B9F-D2CBB398F42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77" t="15545" r="13750" b="8422"/>
          <a:stretch>
            <a:fillRect/>
          </a:stretch>
        </p:blipFill>
        <p:spPr>
          <a:xfrm>
            <a:off x="7778805" y="3889420"/>
            <a:ext cx="4141577" cy="253783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01AF991-7747-668E-D15F-B524686684E0}"/>
              </a:ext>
            </a:extLst>
          </p:cNvPr>
          <p:cNvSpPr txBox="1"/>
          <p:nvPr/>
        </p:nvSpPr>
        <p:spPr>
          <a:xfrm>
            <a:off x="8086300" y="3573807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부의 소득세제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A498B3-024B-33E3-D7CC-E8A3FC770EDA}"/>
                  </a:ext>
                </a:extLst>
              </p:cNvPr>
              <p:cNvSpPr txBox="1"/>
              <p:nvPr/>
            </p:nvSpPr>
            <p:spPr>
              <a:xfrm>
                <a:off x="288790" y="3693049"/>
                <a:ext cx="7490015" cy="299934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dirty="0"/>
                  <a:t>정부가 소득세제를 설계할 때 선택할 수 있는 변수는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ko-KR" altLang="en-US" sz="1600" dirty="0"/>
                  <a:t>과 </a:t>
                </a:r>
                <a14:m>
                  <m:oMath xmlns:m="http://schemas.openxmlformats.org/officeDocument/2006/math">
                    <m:r>
                      <a:rPr lang="en-US" altLang="ko-KR" sz="16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ko-KR" altLang="en-US" sz="1600" dirty="0"/>
                  <a:t>이다</a:t>
                </a:r>
                <a:r>
                  <a:rPr lang="en-US" altLang="ko-KR" sz="160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dirty="0"/>
                  <a:t>정부의 예산이 정해져 있으면 선택변수는 하나가 되는데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즉</a:t>
                </a:r>
                <a:r>
                  <a:rPr lang="en-US" altLang="ko-KR" sz="1600" dirty="0"/>
                  <a:t> </a:t>
                </a:r>
                <a:r>
                  <a:rPr lang="ko-KR" altLang="en-US" sz="1600" dirty="0"/>
                  <a:t>보조금의 총 지급액이 미리 정해져 있으면</a:t>
                </a:r>
                <a:r>
                  <a:rPr lang="en-US" altLang="ko-KR" sz="1600" dirty="0"/>
                  <a:t>, </a:t>
                </a:r>
                <a:r>
                  <a:rPr lang="ko-KR" altLang="en-US" sz="1600" dirty="0"/>
                  <a:t>둘 중 하나만 자유롭게 선택할 수 있다</a:t>
                </a:r>
                <a:r>
                  <a:rPr lang="en-US" altLang="ko-KR" sz="160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부의 소득세제에 의한 혜택까지 포함한 처분가능소득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과 스스로 번 소득 </a:t>
                </a:r>
                <a:r>
                  <a:rPr lang="en-US" altLang="ko-KR" sz="1600" spc="-50" dirty="0"/>
                  <a:t>(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altLang="ko-KR" sz="1600" spc="-50" dirty="0"/>
                  <a:t>) </a:t>
                </a:r>
                <a:r>
                  <a:rPr lang="ko-KR" altLang="en-US" sz="1600" spc="-50" dirty="0"/>
                  <a:t>사이의 관계는 오른쪽 그림과 같다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EA498B3-024B-33E3-D7CC-E8A3FC770E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693049"/>
                <a:ext cx="7490015" cy="2999347"/>
              </a:xfrm>
              <a:prstGeom prst="rect">
                <a:avLst/>
              </a:prstGeom>
              <a:blipFill>
                <a:blip r:embed="rId5"/>
                <a:stretch>
                  <a:fillRect r="-32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3212234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ECB7E6-9CD6-F9E3-6699-39F1F2035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A91C24C-6239-7417-727F-2C265DAC2A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62EA08-97E6-AF78-D5BF-7D3EE5955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2A1A4A2-1625-618C-65F5-F7A5A6693285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기초수당과 한계세율의 선택은 어떤 의미를 갖는지 알아보자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기초수당이 클수록 재분배효과는 더 커진다고 말할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모든 사람에게 최소한으로 보장하는 소득이 더 커지기 때문이다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한계세율의 크기는 이 제도의 효율성 측면과 관계가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한계세율이 </a:t>
            </a:r>
            <a:r>
              <a:rPr lang="en-US" altLang="ko-KR" sz="1600" spc="-50" dirty="0"/>
              <a:t>100%</a:t>
            </a:r>
            <a:r>
              <a:rPr lang="ko-KR" altLang="en-US" sz="1600" spc="-50" dirty="0"/>
              <a:t>라면 내가 벌어들이는 돈이 늘어날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똑같은 금액만큼 정부의 지급액이 줄어든다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돈을 더 </a:t>
            </a:r>
            <a:r>
              <a:rPr lang="ko-KR" altLang="en-US" sz="1600" spc="-50" dirty="0" err="1"/>
              <a:t>벌어보았자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내 주머니 상황은 똑같기 때문에 열심히 일할 의욕을 잃게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기초수당은 높은 수준에서 유지하고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한계세율은 낮게 유지하는 것이 가능하다면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효율성 상실의 문제를 일으키지 않으면서 재분배효과를 크게 만들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그러나 부의 소득세제 운영에 쓸 수 있는 재원이 고정된 상황에서는 기초수당과 한계세율을 동시에 원하는 수준으로 선택할 수 없다는 문제가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기초수당은 정부 입장에서 나가는 금액이고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한계세율은 들어오는 금액이기 때문에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기초수당을 올리면 한계세율도 올려야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재분배효과와 효율성 사이에서의 적절한 타협점은 중요한 고려사항이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26315489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9F64C-A0C9-50CF-7FB3-E8EA8CC50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3ED61E-A205-BA56-25F8-72E7C5197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부의 소득세제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9A3B144-03FB-9E91-0C2C-CA6886DF9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666D38-D222-328E-54F4-58AA0FF4C5AD}"/>
              </a:ext>
            </a:extLst>
          </p:cNvPr>
          <p:cNvSpPr txBox="1"/>
          <p:nvPr/>
        </p:nvSpPr>
        <p:spPr>
          <a:xfrm>
            <a:off x="288790" y="958844"/>
            <a:ext cx="11465328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문제점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부의 소득세제가 이론적으로는 매우 합리적이지만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현실에서 보기 힘든 것은 엄청난 재정부담 때문이다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 하나의 문제점은 부의 소득세가 적용되는 </a:t>
            </a:r>
            <a:r>
              <a:rPr lang="ko-KR" altLang="en-US" sz="1600" spc="-50" dirty="0" err="1"/>
              <a:t>사람들뿐</a:t>
            </a:r>
            <a:r>
              <a:rPr lang="ko-KR" altLang="en-US" sz="1600" spc="-50" dirty="0"/>
              <a:t> 아니라 기준선보다 약간 더 많은 소득을 벌고 있는 사람들의 근로의욕에까지 악영향을 끼칠 수 있다는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 많은 여가를 즐기고자 노동시간을 일부러 줄이고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 혜택을 받으려는 사람이 나타날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재분배정책에서 공통적으로 나타나는 문제점이기는 하나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부의 소득세제 같은 경우에는 제도에 기여한 바와 관계없이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또 경제능력의 평가를 받지 않고 수혜자가 되는 특성이 있기 때문에 다른 재분배정책보다 심각할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가장 근본적인 질문은 이처럼 막대한 예산을 들여 소득을 재분배 한다고 해서 실제 사회가 얼마나 개선이 되느냐 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빈곤한 사람들이 빈곤의 굴레에서 벗어난다는 보장이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빈곤의 증상만을 다스리는 단기적 미봉책에 불과하다는 한계를 갖고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6815419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174711-65AB-680F-5898-BEFA5EF42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5D69B6-99C8-061D-B4C7-CE468525B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5CA5DE-11CD-13AD-55C5-EE7F5FEDF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65D08E-86B9-38C6-8976-71145B8B1D4C}"/>
              </a:ext>
            </a:extLst>
          </p:cNvPr>
          <p:cNvSpPr txBox="1"/>
          <p:nvPr/>
        </p:nvSpPr>
        <p:spPr>
          <a:xfrm>
            <a:off x="288790" y="958844"/>
            <a:ext cx="112502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근로장려세제는 </a:t>
            </a:r>
            <a:r>
              <a:rPr lang="en-US" altLang="ko-KR" sz="1600" spc="-50" dirty="0"/>
              <a:t>2008</a:t>
            </a:r>
            <a:r>
              <a:rPr lang="ko-KR" altLang="en-US" sz="1600" spc="-50" dirty="0"/>
              <a:t>년에 도입한 정책으로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소득이 적어 생활이 어려운 근로자가구에 대해 생계비를 보조해주는 제도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앞서 살펴본 </a:t>
            </a:r>
            <a:r>
              <a:rPr lang="en-US" altLang="ko-KR" sz="1600" spc="-50" dirty="0"/>
              <a:t>‘</a:t>
            </a:r>
            <a:r>
              <a:rPr lang="ko-KR" altLang="en-US" sz="1600" spc="-50" dirty="0"/>
              <a:t>부의 소득세제</a:t>
            </a:r>
            <a:r>
              <a:rPr lang="en-US" altLang="ko-KR" sz="1600" spc="-50" dirty="0"/>
              <a:t>’</a:t>
            </a:r>
            <a:r>
              <a:rPr lang="ko-KR" altLang="en-US" sz="1600" spc="-50" dirty="0"/>
              <a:t>와 매우 비슷한 성격이지만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일을 하고 있으나 빈곤에서 벗어나지 못하는 근로빈곤층을 돕는 다는 것이 특징이다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기초생활보장제도와 사회보험의 혜택에서도 제외되는 경우가 많아 특별한 배려가 필요한 계층이고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이들의 생계안정과 근로유인을 제공하고자 만들어진 제도이다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3" name="그림 2" descr="텍스트, 라인, 도표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71B145-2B8B-3956-FA59-D9AB8D025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53" t="17356" r="6284" b="16664"/>
          <a:stretch>
            <a:fillRect/>
          </a:stretch>
        </p:blipFill>
        <p:spPr>
          <a:xfrm>
            <a:off x="6078871" y="3926672"/>
            <a:ext cx="5790079" cy="241093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702F49F-2A99-ECD5-B234-364A173A9AA9}"/>
              </a:ext>
            </a:extLst>
          </p:cNvPr>
          <p:cNvSpPr txBox="1"/>
          <p:nvPr/>
        </p:nvSpPr>
        <p:spPr>
          <a:xfrm>
            <a:off x="288791" y="2909564"/>
            <a:ext cx="5790080" cy="15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근로장려금 지급 기준과 금액은 다음과 같다 </a:t>
            </a:r>
            <a:r>
              <a:rPr lang="en-US" altLang="ko-KR" sz="1600" spc="-50" dirty="0"/>
              <a:t>(2025 </a:t>
            </a:r>
            <a:r>
              <a:rPr lang="ko-KR" altLang="en-US" sz="1600" spc="-50" dirty="0"/>
              <a:t>기준</a:t>
            </a:r>
            <a:r>
              <a:rPr lang="en-US" altLang="ko-KR" sz="1600" spc="-50" dirty="0"/>
              <a:t>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단독가구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연간 근로소득이 </a:t>
            </a:r>
            <a:r>
              <a:rPr lang="en-US" altLang="ko-KR" sz="1600" spc="-50" dirty="0"/>
              <a:t>2,200</a:t>
            </a:r>
            <a:r>
              <a:rPr lang="ko-KR" altLang="en-US" sz="1600" spc="-50" dirty="0"/>
              <a:t>만원 미만인 경우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홑벌이가구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연간 근로소득이 </a:t>
            </a:r>
            <a:r>
              <a:rPr lang="en-US" altLang="ko-KR" sz="1600" spc="-50" dirty="0"/>
              <a:t>3,200</a:t>
            </a:r>
            <a:r>
              <a:rPr lang="ko-KR" altLang="en-US" sz="1600" spc="-50" dirty="0"/>
              <a:t>만원 미만인 경우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맞벌이가구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연간 근로소득이 </a:t>
            </a:r>
            <a:r>
              <a:rPr lang="en-US" altLang="ko-KR" sz="1600" spc="-50" dirty="0"/>
              <a:t>4,400</a:t>
            </a:r>
            <a:r>
              <a:rPr lang="ko-KR" altLang="en-US" sz="1600" spc="-50" dirty="0"/>
              <a:t>만원 미만인 경우</a:t>
            </a:r>
            <a:endParaRPr lang="en-US" altLang="ko-KR" sz="1600" spc="-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0A4AAF-2C75-1734-4935-BD65F428C63E}"/>
              </a:ext>
            </a:extLst>
          </p:cNvPr>
          <p:cNvSpPr txBox="1"/>
          <p:nvPr/>
        </p:nvSpPr>
        <p:spPr>
          <a:xfrm>
            <a:off x="7183870" y="3649673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근로장려금 지급금액 </a:t>
            </a:r>
            <a:r>
              <a:rPr lang="en-US" altLang="ko-KR" sz="1200" spc="-50" dirty="0"/>
              <a:t>(2025</a:t>
            </a:r>
            <a:r>
              <a:rPr lang="ko-KR" altLang="en-US" sz="1200" spc="-50" dirty="0"/>
              <a:t>기준</a:t>
            </a:r>
            <a:r>
              <a:rPr lang="en-US" altLang="ko-KR" sz="1200" spc="-50" dirty="0"/>
              <a:t>)&gt;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30266739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5A812-5927-40A7-9AC1-9F20A8C1C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76DECE9-30ED-DD55-8B6D-B5FBB6576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5B691AD-E02D-6D61-7C54-C847D5F5C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49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34513A-189C-7733-EAD0-97778466DF02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3586238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그래프를 통해 공공부조 프로그램과 근로장려세제가 근로의욕에 미치는 영향을 살펴보자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우선 아래 그림은 공공부조 프로그램의 효과이다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어떤 사람의 예산제약을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로 나타내고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예산선의 기울기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 그 사람의 시간당 임금을 뜻한다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만약 정부가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만큼의 최저생계비를 보장하는 공공부조 프로그램을 도입한다고 해보자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혜택 받는 사람의 예산제약은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𝐴𝐵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에서 붉은색의 </a:t>
                </a:r>
                <a:r>
                  <a:rPr lang="ko-KR" altLang="en-US" sz="1600" spc="-50" dirty="0" err="1"/>
                  <a:t>꺽어진</a:t>
                </a:r>
                <a:r>
                  <a:rPr lang="ko-KR" altLang="en-US" sz="1600" spc="-50" dirty="0"/>
                  <a:t> 선분으로 변한다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공공부조 프로그램이 도입되기 전에는 선분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p>
                          <m:sSupPr>
                            <m:ctrlPr>
                              <a:rPr lang="en-US" altLang="ko-KR" sz="1600" i="1" spc="-5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길이 만큼 노동을 공급할 의사가 있었는데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프로그램이 도입 된 후에는 전혀 일을 하지 않으려고 한다는 것을 볼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그의 선택점이 </a:t>
                </a:r>
                <a14:m>
                  <m:oMath xmlns:m="http://schemas.openxmlformats.org/officeDocument/2006/math">
                    <m:r>
                      <a:rPr lang="en-US" altLang="ko-KR" sz="1600" b="0" i="1" spc="-50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으로 이동한 것을 보면 알 수 있다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 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334513A-189C-7733-EAD0-97778466D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358623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그림 7" descr="라인, 도표, 그래프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D2F1F6C-A8F3-BCBC-3CC3-2C075458858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079" t="15945" r="21816" b="6582"/>
          <a:stretch>
            <a:fillRect/>
          </a:stretch>
        </p:blipFill>
        <p:spPr>
          <a:xfrm>
            <a:off x="7140844" y="3569501"/>
            <a:ext cx="3580080" cy="303727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C4AEE02-378C-47CF-40A4-8AFBEE451345}"/>
              </a:ext>
            </a:extLst>
          </p:cNvPr>
          <p:cNvSpPr txBox="1"/>
          <p:nvPr/>
        </p:nvSpPr>
        <p:spPr>
          <a:xfrm>
            <a:off x="7549911" y="3664913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공공부조 프로그램의 효과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07487075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50B05-6DA6-FB10-6EEC-569A5C842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22048E7A-E17F-8319-0E28-0FF747AC80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41" t="14353" r="26408" b="8619"/>
          <a:stretch>
            <a:fillRect/>
          </a:stretch>
        </p:blipFill>
        <p:spPr>
          <a:xfrm>
            <a:off x="7884582" y="3498507"/>
            <a:ext cx="3832844" cy="30384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714A10FC-9A50-D98F-C7E4-E16CF5ACD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근로장려세제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D0DE01-7005-B7B7-BA87-EC54A804C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50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4BBCC4-CA37-A392-2EB2-D6AA9DB35B34}"/>
                  </a:ext>
                </a:extLst>
              </p:cNvPr>
              <p:cNvSpPr txBox="1"/>
              <p:nvPr/>
            </p:nvSpPr>
            <p:spPr>
              <a:xfrm>
                <a:off x="288790" y="958844"/>
                <a:ext cx="11250267" cy="2714782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아래 그림은 근로장려세제의 도입 효과이다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맞벌이 가구의 상황을 기초해 그렸으며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예산제약이 공공부조 프로그램과 달리 두 번 </a:t>
                </a:r>
                <a:r>
                  <a:rPr lang="ko-KR" altLang="en-US" sz="1600" spc="-50" dirty="0" err="1"/>
                  <a:t>꺽어진</a:t>
                </a:r>
                <a:r>
                  <a:rPr lang="ko-KR" altLang="en-US" sz="1600" spc="-50" dirty="0"/>
                  <a:t> 선분으로 나타나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세 개 구간의 기울기가 각기 다른 것을 볼 수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𝐻𝐼</m:t>
                        </m:r>
                      </m:e>
                    </m:bar>
                  </m:oMath>
                </a14:m>
                <a:r>
                  <a:rPr lang="ko-KR" altLang="en-US" sz="1600" spc="-50" dirty="0"/>
                  <a:t>의 기울기는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인데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소득이 </a:t>
                </a:r>
                <a:r>
                  <a:rPr lang="en-US" altLang="ko-KR" sz="1600" spc="-50" dirty="0"/>
                  <a:t>800</a:t>
                </a:r>
                <a:r>
                  <a:rPr lang="ko-KR" altLang="en-US" sz="1600" spc="-50" dirty="0"/>
                  <a:t>만원</a:t>
                </a:r>
                <a:r>
                  <a:rPr lang="en-US" altLang="ko-KR" sz="1600" spc="-50" dirty="0"/>
                  <a:t>~1,700</a:t>
                </a:r>
                <a:r>
                  <a:rPr lang="ko-KR" altLang="en-US" sz="1600" spc="-50" dirty="0"/>
                  <a:t>만원 사이에 있는 근로자는 </a:t>
                </a:r>
                <a:r>
                  <a:rPr lang="en-US" altLang="ko-KR" sz="1600" spc="-50" dirty="0"/>
                  <a:t>330</a:t>
                </a:r>
                <a:r>
                  <a:rPr lang="ko-KR" altLang="en-US" sz="1600" spc="-50" dirty="0"/>
                  <a:t>만원의 고정된 근로장려금을 받는 사실을 반영하고 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𝐺𝐻</m:t>
                        </m:r>
                      </m:e>
                    </m:bar>
                  </m:oMath>
                </a14:m>
                <a:r>
                  <a:rPr lang="en-US" altLang="ko-KR" sz="1600" spc="-50" dirty="0">
                    <a:latin typeface="Cambria Math" panose="02040503050406030204" pitchFamily="18" charset="0"/>
                  </a:rPr>
                  <a:t> </a:t>
                </a:r>
                <a:r>
                  <a:rPr lang="ko-KR" altLang="en-US" sz="1600" spc="-50" dirty="0">
                    <a:latin typeface="Cambria Math" panose="02040503050406030204" pitchFamily="18" charset="0"/>
                  </a:rPr>
                  <a:t>구간은</a:t>
                </a:r>
                <a:r>
                  <a:rPr lang="ko-KR" altLang="en-US" sz="1600" i="1" spc="-50" dirty="0">
                    <a:latin typeface="Cambria Math" panose="02040503050406030204" pitchFamily="18" charset="0"/>
                  </a:rPr>
                  <a:t> </a:t>
                </a:r>
                <a:r>
                  <a:rPr lang="en-US" altLang="ko-KR" sz="1600" spc="-50" dirty="0"/>
                  <a:t>18</a:t>
                </a:r>
                <a:r>
                  <a:rPr lang="ko-KR" altLang="en-US" sz="1600" spc="-50" dirty="0"/>
                  <a:t>슬라이드 그림에서 </a:t>
                </a:r>
                <a:r>
                  <a:rPr lang="en-US" altLang="ko-KR" sz="1600" spc="-50" dirty="0"/>
                  <a:t>‘</a:t>
                </a:r>
                <a:r>
                  <a:rPr lang="ko-KR" altLang="en-US" sz="1600" spc="-50" dirty="0"/>
                  <a:t>맞벌이 기준</a:t>
                </a:r>
                <a:r>
                  <a:rPr lang="en-US" altLang="ko-KR" sz="1600" spc="-50" dirty="0"/>
                  <a:t>’ </a:t>
                </a:r>
                <a:r>
                  <a:rPr lang="ko-KR" altLang="en-US" sz="1600" spc="-50" dirty="0"/>
                  <a:t>곡선의 </a:t>
                </a:r>
                <a:r>
                  <a:rPr lang="en-US" altLang="ko-KR" sz="1600" spc="-50" dirty="0"/>
                  <a:t>800</a:t>
                </a:r>
                <a:r>
                  <a:rPr lang="ko-KR" altLang="en-US" sz="1600" spc="-50" dirty="0"/>
                  <a:t>만원 미만인 경우</a:t>
                </a: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F4BBCC4-CA37-A392-2EB2-D6AA9DB35B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958844"/>
                <a:ext cx="11250267" cy="271478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C05CE4E9-8175-73DE-CFD7-B42BA90AC7DD}"/>
              </a:ext>
            </a:extLst>
          </p:cNvPr>
          <p:cNvSpPr txBox="1"/>
          <p:nvPr/>
        </p:nvSpPr>
        <p:spPr>
          <a:xfrm>
            <a:off x="8210311" y="3285014"/>
            <a:ext cx="35800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근로장려세제의 효과</a:t>
            </a:r>
            <a:r>
              <a:rPr lang="en-US" altLang="ko-KR" sz="1200" spc="-50" dirty="0"/>
              <a:t>&gt;</a:t>
            </a:r>
            <a:endParaRPr lang="ko-KR" altLang="en-US" sz="1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4323ED6-911B-5AAA-5451-9E8110132A8F}"/>
                  </a:ext>
                </a:extLst>
              </p:cNvPr>
              <p:cNvSpPr txBox="1"/>
              <p:nvPr/>
            </p:nvSpPr>
            <p:spPr>
              <a:xfrm>
                <a:off x="288790" y="3282992"/>
                <a:ext cx="7522827" cy="2773067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 smtClean="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𝐼𝐵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구간은 </a:t>
                </a:r>
                <a:r>
                  <a:rPr lang="en-US" altLang="ko-KR" sz="1600" spc="-50" dirty="0"/>
                  <a:t>18</a:t>
                </a:r>
                <a:r>
                  <a:rPr lang="ko-KR" altLang="en-US" sz="1600" spc="-50" dirty="0"/>
                  <a:t>슬라이드 그림에서 </a:t>
                </a:r>
                <a:r>
                  <a:rPr lang="en-US" altLang="ko-KR" sz="1600" spc="-50" dirty="0"/>
                  <a:t>‘</a:t>
                </a:r>
                <a:r>
                  <a:rPr lang="ko-KR" altLang="en-US" sz="1600" spc="-50" dirty="0"/>
                  <a:t>맞벌이 기준</a:t>
                </a:r>
                <a:r>
                  <a:rPr lang="en-US" altLang="ko-KR" sz="1600" spc="-50" dirty="0"/>
                  <a:t>’ </a:t>
                </a:r>
                <a:r>
                  <a:rPr lang="ko-KR" altLang="en-US" sz="1600" spc="-50" dirty="0"/>
                  <a:t>곡선의 </a:t>
                </a:r>
                <a:r>
                  <a:rPr lang="en-US" altLang="ko-KR" sz="1600" spc="-50" dirty="0"/>
                  <a:t>1,700</a:t>
                </a:r>
                <a:r>
                  <a:rPr lang="ko-KR" altLang="en-US" sz="1600" spc="-50" dirty="0"/>
                  <a:t>만원 이상인 경우를 보여주고 있다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근로장려세제 도입 후의 노동 공급량은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sSup>
                          <m:sSupPr>
                            <m:ctrlPr>
                              <a:rPr lang="en-US" altLang="ko-KR" sz="1600" i="1" spc="-5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bar>
                      <m:barPr>
                        <m:pos m:val="top"/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barPr>
                      <m:e>
                        <m:acc>
                          <m:accPr>
                            <m:chr m:val="̂"/>
                            <m:ctrlPr>
                              <a:rPr lang="en-US" altLang="ko-KR" sz="1600" i="1" spc="-50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ko-KR" sz="1600" b="0" i="1" spc="-50" smtClean="0">
                                <a:latin typeface="Cambria Math" panose="02040503050406030204" pitchFamily="18" charset="0"/>
                              </a:rPr>
                              <m:t>𝐿</m:t>
                            </m:r>
                          </m:e>
                        </m:acc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</m:ba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로 줄었다</a:t>
                </a:r>
                <a:r>
                  <a:rPr lang="en-US" altLang="ko-KR" sz="1600" spc="-50" dirty="0"/>
                  <a:t>.</a:t>
                </a:r>
              </a:p>
              <a:p>
                <a:pPr marL="1292225" lvl="2" indent="-285750">
                  <a:lnSpc>
                    <a:spcPct val="150000"/>
                  </a:lnSpc>
                  <a:buFont typeface="Wingdings" panose="05000000000000000000" pitchFamily="2" charset="2"/>
                  <a:buChar char="Ø"/>
                </a:pPr>
                <a:r>
                  <a:rPr lang="ko-KR" altLang="en-US" sz="1600" spc="-50" dirty="0"/>
                  <a:t>그의 선택점이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ko-KR" altLang="en-US" sz="1600" spc="-50" dirty="0"/>
                  <a:t>에서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′</m:t>
                        </m:r>
                        <m:r>
                          <a:rPr lang="en-US" altLang="ko-KR" sz="1600" b="0" i="1" spc="-5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ko-KR" altLang="en-US" sz="1600" spc="-50" dirty="0"/>
                  <a:t>으로 이동한 것을 보면 알 수 있다</a:t>
                </a:r>
                <a:r>
                  <a:rPr lang="en-US" altLang="ko-KR" sz="1600" spc="-50" dirty="0"/>
                  <a:t>.</a:t>
                </a:r>
                <a:r>
                  <a:rPr lang="ko-KR" altLang="en-US" sz="1600" spc="-50" dirty="0"/>
                  <a:t>  </a:t>
                </a:r>
                <a:endParaRPr lang="en-US" altLang="ko-KR" sz="1600" spc="-50" dirty="0"/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앞서 공공부조 프로그램과 비교했을 때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노동의 감소폭이 작다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4323ED6-911B-5AAA-5451-9E8110132A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790" y="3282992"/>
                <a:ext cx="7522827" cy="277306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908875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71A1E-9B47-50D7-EEE7-449268E69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9F5F5A-E448-C19B-DD73-26E1A5B6D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기본소득제도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53D890-E99F-579A-6CBF-09CC3971CC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F9C7F3-4B34-D8C7-B1F2-9952E8DA66E6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기본소득제도는 사회에 속한 모든 사람들을 똑같이 지원 대상으로 삼는다는 점에서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빈곤층을 대상으로만 하는 공공부조 프로그램과 차이를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모든 구성원들이 각자의 상황과 관계없이 최소한의 생활수준을 누릴 권리를 갖고 있다는 의미이다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선별적 복지제도와 비교했을 때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기본소득제도가 갖는 장점은 아래와 같다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대상을 선별하지 않으니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그만큼 행정비용이 줄어든다는 장점이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복지의 사각지대가 해소될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선별적 복지제도는 지원 대상을 선별하는 과정에서 지원대상이 될 수 없는 사람들이 지원을 받거나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지원 대상이 되어야 할 사람들이 지원을 못 받는 문제가 끊임없이 발생하고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선별적 복지의 대상인 구성원들은 무능력하거나 게으른 사람이라고 사회적 낙인이 찍힌다는 문제가 발생하는데 반해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기본소득제도하에서는</a:t>
            </a:r>
            <a:r>
              <a:rPr lang="ko-KR" altLang="en-US" sz="1600" spc="-50" dirty="0"/>
              <a:t> 그런 문제가 발생하지 않는다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기본소득제도가 갖는 단점도 존재한다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엄청난 규모의 재원이 필요하다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국민들의 동의를 받아 엄청나게 많은 세금을 거두어야 하는 것은 불가피한 일이다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근로의욕을 떨어뜨려 경제의 생산성 하락을 유발할 수 있다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사회적 낙인을 걱정할 필요 없이 구태여 힘들게 일을 할 필요가 없어지기 때문이다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842942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98A0A-7389-D3DF-CACE-D1A923161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623959-216D-873F-0CEA-DF3660586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기본소득제도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A54FA9-3647-51B8-9737-393348C76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5D7CB8-A0DA-0577-4EA0-5EF7AAE125EA}"/>
              </a:ext>
            </a:extLst>
          </p:cNvPr>
          <p:cNvSpPr txBox="1"/>
          <p:nvPr/>
        </p:nvSpPr>
        <p:spPr>
          <a:xfrm>
            <a:off x="288790" y="958844"/>
            <a:ext cx="11250267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기본소득제도는 비교적 최근에 와서 본격적인 주목을 받기 시작했고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앞으로도 저출산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고령화 문제가 심각해지면서 이에 관한 논의가 점점 활발해질 것으로 보인다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기존의 선별적 복지제도가 갖는 한계점을 인식하고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대안을 모색한다는 점에서 중요한 의미를 갖는다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다만 기본소득제도는 일단 도입이 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다시 되돌리는 것이 쉽지 않다는 점에서 신중할 필요가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기본소득의 수준과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재원마련에 대한 검토가 선행되어야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987062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C57B2-AE5E-36AE-C6C5-CBAF277EC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CDB4492-3DF0-B173-9F25-F94C7AE4276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3CB83F-A488-50C4-ACDB-7E287E164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3369BB03-BFE1-4F1F-5002-B880993848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빈곤선의 결정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93785230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CFC944-53E8-0769-8FEF-02CA6A97F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4AFABA-462E-2668-9892-943A57FD2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빈곤선의 결정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A506A0-6796-BF89-32C1-860CF7B0A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A8D6E92-810C-6274-D426-A759A56674CE}"/>
              </a:ext>
            </a:extLst>
          </p:cNvPr>
          <p:cNvSpPr txBox="1"/>
          <p:nvPr/>
        </p:nvSpPr>
        <p:spPr>
          <a:xfrm>
            <a:off x="288790" y="958844"/>
            <a:ext cx="1125026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선별적 복지정책은 어떤 사람이 복지정책의 대상이 될지 결정하는 과정으로부터 출발한다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보통 어떤 하나의 소득수준을 </a:t>
            </a:r>
            <a:r>
              <a:rPr lang="ko-KR" altLang="en-US" sz="1600" b="1" spc="-50" dirty="0"/>
              <a:t>빈곤선</a:t>
            </a:r>
            <a:r>
              <a:rPr lang="ko-KR" altLang="en-US" sz="1600" spc="-50" dirty="0"/>
              <a:t>으로 책정해놓고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소득 수준에 미치지 못하면 빈곤한 사람으로 간주한다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빈곤한 사람과 그렇지 않은 사람을 가르는 기준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빈곤선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어떻게 설정해야 할지 고민하기 시작하면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과연 빈곤이라는 것이 무엇인가 라는 원초적인 질문을 하게 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이에 대해 우리 사회는 한 가지로 통일된 답을 갖고 있지 않다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의식주를 고려하여 절대적 기준을 정해 놓고 이를 구입하기에 충분하지 못한 소득을 가진 사람을 빈곤한 사람이라고 </a:t>
            </a:r>
            <a:r>
              <a:rPr lang="ko-KR" altLang="en-US" sz="1600" spc="-50" dirty="0" err="1"/>
              <a:t>간주해야한다는</a:t>
            </a:r>
            <a:r>
              <a:rPr lang="ko-KR" altLang="en-US" sz="1600" spc="-50" dirty="0"/>
              <a:t> 의견이 있을 수 있고</a:t>
            </a:r>
            <a:r>
              <a:rPr lang="en-US" altLang="ko-KR" sz="1600" spc="-50" dirty="0"/>
              <a:t>,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모두가 풍요로운 생활을 하고 있는 사회 일지라도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상대적으로 빈곤층이 있을 수 있음을 지적하기도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한편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빈곤을 주관적으로 평가할 수도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최소한의 생활도 유지하지 못하는 소득을 가지고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자신은 빈곤하지 않다고 주장하는 사람이 있을 수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경우 빈곤을 평가하기란 무척 힘들다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4339081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C384B-A2EA-EF8C-A505-DFBCB6FE3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A4B746-BA0F-6479-392D-091BE1CF0D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절대적이며 객관적인 기준에 의한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4A986E-DF44-BDE3-E605-16C01402C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01900F-75AD-9573-DEC2-0E918EEEE2B1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영국의 </a:t>
            </a:r>
            <a:r>
              <a:rPr lang="ko-KR" altLang="en-US" sz="1600" spc="-50" dirty="0" err="1"/>
              <a:t>라운트리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(S. Rowntree) </a:t>
            </a:r>
            <a:r>
              <a:rPr lang="ko-KR" altLang="en-US" sz="1600" spc="-50" dirty="0"/>
              <a:t>학자는 </a:t>
            </a:r>
            <a:r>
              <a:rPr lang="en-US" altLang="ko-KR" sz="1600" spc="-50" dirty="0"/>
              <a:t>1899</a:t>
            </a:r>
            <a:r>
              <a:rPr lang="ko-KR" altLang="en-US" sz="1600" spc="-50" dirty="0"/>
              <a:t>년 요크</a:t>
            </a:r>
            <a:r>
              <a:rPr lang="en-US" altLang="ko-KR" sz="1600" spc="-50" dirty="0"/>
              <a:t>(York) </a:t>
            </a:r>
            <a:r>
              <a:rPr lang="ko-KR" altLang="en-US" sz="1600" spc="-50" dirty="0"/>
              <a:t>지역 주민 대상으로 최소한의 생활에 필요한 소득을 조사하였다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주택임대료 </a:t>
            </a:r>
            <a:r>
              <a:rPr lang="en-US" altLang="ko-KR" sz="1600" spc="-50" dirty="0"/>
              <a:t>(17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8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음식 </a:t>
            </a:r>
            <a:r>
              <a:rPr lang="en-US" altLang="ko-KR" sz="1600" spc="-50" dirty="0"/>
              <a:t>(12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9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옷 </a:t>
            </a:r>
            <a:r>
              <a:rPr lang="en-US" altLang="ko-KR" sz="1600" spc="-50" dirty="0"/>
              <a:t>(2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연료비 </a:t>
            </a:r>
            <a:r>
              <a:rPr lang="en-US" altLang="ko-KR" sz="1600" spc="-50" dirty="0"/>
              <a:t>(1</a:t>
            </a:r>
            <a:r>
              <a:rPr lang="ko-KR" altLang="en-US" sz="1600" spc="-50" dirty="0"/>
              <a:t>실링 </a:t>
            </a:r>
            <a:r>
              <a:rPr lang="en-US" altLang="ko-KR" sz="1600" spc="-50" dirty="0"/>
              <a:t>10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기타 </a:t>
            </a:r>
            <a:r>
              <a:rPr lang="en-US" altLang="ko-KR" sz="1600" spc="-50" dirty="0"/>
              <a:t>(10</a:t>
            </a:r>
            <a:r>
              <a:rPr lang="ko-KR" altLang="en-US" sz="1600" spc="-50" dirty="0"/>
              <a:t>펜스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항목으로 조사하였다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이러한 방식을 우리는 </a:t>
            </a:r>
            <a:r>
              <a:rPr lang="ko-KR" altLang="en-US" sz="1600" b="1" spc="-50" dirty="0" err="1"/>
              <a:t>라운트리</a:t>
            </a:r>
            <a:r>
              <a:rPr lang="ko-KR" altLang="en-US" sz="1600" b="1" spc="-50" dirty="0"/>
              <a:t> 방식</a:t>
            </a:r>
            <a:r>
              <a:rPr lang="ko-KR" altLang="en-US" sz="1600" spc="-50" dirty="0"/>
              <a:t>이라고 부르며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라운트리</a:t>
            </a:r>
            <a:r>
              <a:rPr lang="ko-KR" altLang="en-US" sz="1600" spc="-50" dirty="0"/>
              <a:t> 이후로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최소한의 의식주라는 관점에서 빈곤선을 산출해왔다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절대적이고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객관적인 기준에 의해 빈곤을 보고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 방법이 갖는 문제점은 기본적 필요라는 것이 구체적으로 무엇을 의미하는지 분명하지 않다는 데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인간이 생물적으로 살아남는 데 필요한 자원은 물론이며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사회적 생존을 위해 필요한 자원도 포함되어야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간신히 굶지 않고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얼어 죽지 않을 만큼만 살아가고 있는 사람은 거의 죽은 사람이나 다름이 없다고 봐야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사회적 생존을 위해 필요한 자원을 구체적으로 알아내는 것은 주관적이며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대단히 힘들다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미국의 사회보장청은 다음과 같은 방법으로 이 문제를 피해 가고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미국의 일반적인 저소득층이 전 지출의 </a:t>
            </a:r>
            <a:r>
              <a:rPr lang="en-US" altLang="ko-KR" sz="1600" spc="-50" dirty="0"/>
              <a:t>1/3</a:t>
            </a:r>
            <a:r>
              <a:rPr lang="ko-KR" altLang="en-US" sz="1600" spc="-50" dirty="0"/>
              <a:t>을 식품 구입에 사용하고 있다는 것이 통계적으로 밝혀져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사실을 통해 식품과 관련된 최저생계비를 산출한 후에 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을 곱한 금액을 전체 최저생계비로 잡고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사회적 생존에 필요한 지출을 직접 계산하는 것이 아니고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저소득층의 지출양식을 통해 간접적으로 유추하는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2422827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B8E02-1711-0AC3-75F4-330243F90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C9BA87-D0E3-CF8A-2A20-700F540D0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상대적이며 객관적인 기준에 의한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9C30D31-1353-1854-0BF0-A5E47DB20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73956C0-19BF-CFE5-8313-C8CF28C3DF51}"/>
              </a:ext>
            </a:extLst>
          </p:cNvPr>
          <p:cNvSpPr txBox="1"/>
          <p:nvPr/>
        </p:nvSpPr>
        <p:spPr>
          <a:xfrm>
            <a:off x="288790" y="958844"/>
            <a:ext cx="11250267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빈곤을 절대적인 것이 아니라 상대적인 것으로 파악해야 한다는 입장에서 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사회의 평균적인 생활수준과 관련해 빈곤을 정의할 수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여러 방법이 있겠지만 아래와 같은 방법이 대표적으로 쓰이고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평균소득 혹은 중위소득의 일정비율을 빈곤선으로 잡을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들면 그 사회의 중위소득이 얼마인지 알아내고 그것의 </a:t>
            </a:r>
            <a:r>
              <a:rPr lang="en-US" altLang="ko-KR" sz="1600" spc="-50" dirty="0"/>
              <a:t>50% </a:t>
            </a:r>
            <a:r>
              <a:rPr lang="ko-KR" altLang="en-US" sz="1600" spc="-50" dirty="0"/>
              <a:t>혹은 </a:t>
            </a:r>
            <a:r>
              <a:rPr lang="en-US" altLang="ko-KR" sz="1600" spc="-50" dirty="0"/>
              <a:t>30% </a:t>
            </a:r>
            <a:r>
              <a:rPr lang="ko-KR" altLang="en-US" sz="1600" spc="-50" dirty="0"/>
              <a:t>수준을 빈곤선으로 설정할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 구성원을 소득순으로 나열한 뒤에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소득 수준이 낮은 몇</a:t>
            </a:r>
            <a:r>
              <a:rPr lang="en-US" altLang="ko-KR" sz="1600" spc="-50" dirty="0"/>
              <a:t>%</a:t>
            </a:r>
            <a:r>
              <a:rPr lang="ko-KR" altLang="en-US" sz="1600" spc="-50" dirty="0"/>
              <a:t>의 사람을 빈곤층으로 간주하는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들면 소득이 낮은 </a:t>
            </a:r>
            <a:r>
              <a:rPr lang="en-US" altLang="ko-KR" sz="1600" spc="-50" dirty="0"/>
              <a:t>20%</a:t>
            </a:r>
            <a:r>
              <a:rPr lang="ko-KR" altLang="en-US" sz="1600" spc="-50" dirty="0"/>
              <a:t>의 사람들을 빈곤층이라고 간주하는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1697410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DE100-0D22-B429-B4E0-B7EE94193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5DDA49-AA79-1335-F2DD-E23AE2013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주관적인 기준에 의한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5A065E-F873-545C-EA2E-B64074165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72DA3D3-EA55-E462-DC4C-956DDF6605F6}"/>
              </a:ext>
            </a:extLst>
          </p:cNvPr>
          <p:cNvSpPr txBox="1"/>
          <p:nvPr/>
        </p:nvSpPr>
        <p:spPr>
          <a:xfrm>
            <a:off x="288790" y="958844"/>
            <a:ext cx="11250267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알아본 객관적인 방법과 달리 주관적인 평가를 토대로 빈곤을 정의할 수도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가장 대표적인 방법이 설문조사의 결과에 입각하여 빈곤선을 알아내는 방법이다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첫째 유형으로는 제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자적 소견을 묻는 경우로서</a:t>
            </a:r>
            <a:r>
              <a:rPr lang="en-US" altLang="ko-KR" sz="1600" spc="-50" dirty="0"/>
              <a:t>, “</a:t>
            </a:r>
            <a:r>
              <a:rPr lang="ko-KR" altLang="en-US" sz="1600" spc="-50" dirty="0"/>
              <a:t>당신이 사는 지역에서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인 가족이 근근이 살아가기에 필요한 최소한의 소득은 얼마입니까</a:t>
            </a:r>
            <a:r>
              <a:rPr lang="en-US" altLang="ko-KR" sz="1600" spc="-50" dirty="0"/>
              <a:t>?” </a:t>
            </a:r>
            <a:r>
              <a:rPr lang="ko-KR" altLang="en-US" sz="1600" spc="-50" dirty="0"/>
              <a:t>라는 식으로 제</a:t>
            </a:r>
            <a:r>
              <a:rPr lang="en-US" altLang="ko-KR" sz="1600" spc="-50" dirty="0"/>
              <a:t>3</a:t>
            </a:r>
            <a:r>
              <a:rPr lang="ko-KR" altLang="en-US" sz="1600" spc="-50" dirty="0"/>
              <a:t>자적 소견을 묻는 경우다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둘째 유형으로는 사람들에게 자신의 여건에 입각해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최소한으로 필요한 소득이 얼마인지 묻는 방식이다</a:t>
            </a:r>
            <a:r>
              <a:rPr lang="en-US" altLang="ko-KR" sz="1600" spc="-50" dirty="0"/>
              <a:t>. (</a:t>
            </a:r>
            <a:r>
              <a:rPr lang="ko-KR" altLang="en-US" sz="1600" spc="-50" dirty="0" err="1"/>
              <a:t>라이덴</a:t>
            </a:r>
            <a:r>
              <a:rPr lang="ko-KR" altLang="en-US" sz="1600" spc="-50" dirty="0"/>
              <a:t> 대학교에서 개발하여 </a:t>
            </a:r>
            <a:r>
              <a:rPr lang="ko-KR" altLang="en-US" sz="1600" spc="-50" dirty="0" err="1"/>
              <a:t>라이덴</a:t>
            </a:r>
            <a:r>
              <a:rPr lang="ko-KR" altLang="en-US" sz="1600" spc="-50" dirty="0"/>
              <a:t> 방식이라고 부르기도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56345970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E0678B-2C54-F543-2A64-B6197C364E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CFB745-5DE7-23ED-764A-03F2033A30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정책적인 빈곤선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D00A29-5F89-C886-A807-AC70C3ADF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225294-83CB-18CF-D0BF-3229553C8AA7}"/>
              </a:ext>
            </a:extLst>
          </p:cNvPr>
          <p:cNvSpPr txBox="1"/>
          <p:nvPr/>
        </p:nvSpPr>
        <p:spPr>
          <a:xfrm>
            <a:off x="288790" y="958844"/>
            <a:ext cx="11250267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앞서 순수한 이론적 관점에서 빈곤을 정의하려는 접근법과 달리 정책적 접근법을 활용할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사회의 전반적인 경제적 능력과 그 사회에서 빈곤을 퇴치하려고 하는 의지라는 두 요소에 기초하여 적절한 빈곤선을 선택하는 것이다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우리나라의 경우 앞서 설명한 </a:t>
            </a:r>
            <a:r>
              <a:rPr lang="ko-KR" altLang="en-US" sz="1600" spc="-50" dirty="0" err="1"/>
              <a:t>국민기초생활보장제도를</a:t>
            </a:r>
            <a:r>
              <a:rPr lang="ko-KR" altLang="en-US" sz="1600" spc="-50" dirty="0"/>
              <a:t> 예로 들면</a:t>
            </a:r>
            <a:r>
              <a:rPr lang="en-US" altLang="ko-KR" sz="1600" spc="-50" dirty="0"/>
              <a:t>, 2025</a:t>
            </a:r>
            <a:r>
              <a:rPr lang="ko-KR" altLang="en-US" sz="1600" spc="-50" dirty="0"/>
              <a:t>년 생계급여를 지급 받기 위한 기준소득은 </a:t>
            </a:r>
            <a:r>
              <a:rPr lang="en-US" altLang="ko-KR" sz="1600" spc="-50" dirty="0"/>
              <a:t>4</a:t>
            </a:r>
            <a:r>
              <a:rPr lang="ko-KR" altLang="en-US" sz="1600" spc="-50" dirty="0"/>
              <a:t>인 가구 기준 월 </a:t>
            </a:r>
            <a:r>
              <a:rPr lang="en-US" altLang="ko-KR" sz="1600" spc="-50" dirty="0"/>
              <a:t>195</a:t>
            </a:r>
            <a:r>
              <a:rPr lang="ko-KR" altLang="en-US" sz="1600" spc="-50" dirty="0"/>
              <a:t>만원이다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금액이 합리적인 빈곤선의 기준이라고 볼 수 있는지에 대한 의문의 여지는 많이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 금액으로는 최소한의 생계유지가 불가능하다고 지적하는 것이다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정부도 그런 상황에 대한 지적을 모르는 것이 아니지만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예산상의 제약 때문에 현실적인 수준으로 올리지 못할 수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91225246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FF1F20-BFFD-8B79-CD45-D5E28C018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08CC498-F8E3-F728-A493-580FF322EA3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A8933B-D2B8-04D3-E28B-3F7B94938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59F26F8B-5AC0-5DD7-76B0-9276D2D728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</a:t>
            </a:r>
            <a:r>
              <a:rPr lang="en-US" altLang="ko-KR" sz="4000" b="1" i="0" spc="150"/>
              <a:t>. </a:t>
            </a:r>
            <a:r>
              <a:rPr lang="ko-KR" altLang="en-US" sz="4000" b="1" i="0" spc="150"/>
              <a:t>재분배정책과 효율성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71586101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CE1F9D-D2C2-8892-CF3D-3C5B8C9D0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BC7766-70D3-029D-9D16-4236757284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재분배정책과 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39D1CB-86FE-F78F-0C64-70966FFB7E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60</a:t>
            </a:fld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45AEA97-186D-4C10-C99C-03FFD6B04DC1}"/>
              </a:ext>
            </a:extLst>
          </p:cNvPr>
          <p:cNvSpPr txBox="1"/>
          <p:nvPr/>
        </p:nvSpPr>
        <p:spPr>
          <a:xfrm>
            <a:off x="288790" y="958844"/>
            <a:ext cx="1125026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재분배정책이 갖는 가장 큰 문제는 최소한 단기적으로 경제의 효율성을 감소시킨다는 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단적으로 생각해보면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국가가 모든 사람의 생계를 책임진다면 사람들은 일하려는 동기가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‘</a:t>
            </a:r>
            <a:r>
              <a:rPr lang="ko-KR" altLang="en-US" sz="1600" spc="-50" dirty="0" err="1"/>
              <a:t>복지병</a:t>
            </a:r>
            <a:r>
              <a:rPr lang="en-US" altLang="ko-KR" sz="1600" spc="-50" dirty="0"/>
              <a:t>’ </a:t>
            </a:r>
            <a:r>
              <a:rPr lang="ko-KR" altLang="en-US" sz="1600" spc="-50" dirty="0"/>
              <a:t>이라는 말은 이런 병리현상을 잘 표현하고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공평한 분배를 지향하는 정부의 모든 정책이 효율성 감소를 가져오지는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정책에 따라서 재분배정책이 공평성뿐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효율성 측면에서도 긍정적인 효과를 낼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예를 들어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정부가 그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사회에 만연해 있는 차별을 철폐하여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차별 받고 있는 사람들이 능력을 발휘할 수 있는 일을 가질 수 있게 한다면 공평성과 효율성 모든 측면에서 긍정적인 효과가 나타나는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또한 장기적인 시각에서 보면 공평성과 효율성은 보완적인 관계가 될 가능성이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써로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(L. </a:t>
            </a:r>
            <a:r>
              <a:rPr lang="en-US" altLang="ko-KR" sz="1600" spc="-50" dirty="0" err="1"/>
              <a:t>Thruow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는 주류경제학의 이론이 경제의 장기발전에 필수적인 요소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동기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협동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팀워크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를 간과하고 있다고 지적한다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ko-KR" sz="1600" spc="-50" dirty="0"/>
              <a:t>3</a:t>
            </a:r>
            <a:r>
              <a:rPr lang="ko-KR" altLang="en-US" sz="1600" spc="-50" dirty="0"/>
              <a:t>가지 필수요소가 잘 발휘되기 위해서는 사회구성원들이 공평한 대우를 받고 있다는 느낌을 갖고 있어야 한다고 말한다</a:t>
            </a:r>
            <a:r>
              <a:rPr lang="en-US" altLang="ko-KR" sz="1600" spc="-50"/>
              <a:t>.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08802355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14573</TotalTime>
  <Words>6649</Words>
  <Application>Microsoft Office PowerPoint</Application>
  <PresentationFormat>와이드스크린</PresentationFormat>
  <Paragraphs>600</Paragraphs>
  <Slides>61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61</vt:i4>
      </vt:variant>
    </vt:vector>
  </HeadingPairs>
  <TitlesOfParts>
    <vt:vector size="68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재 정 학</vt:lpstr>
      <vt:lpstr>Chapter 10  사회보험제도</vt:lpstr>
      <vt:lpstr>Section 1. 사회보험제도의 의미</vt:lpstr>
      <vt:lpstr>사회보험제도의 의미</vt:lpstr>
      <vt:lpstr>사회보험제도의 의미</vt:lpstr>
      <vt:lpstr>사회보험제도의 의미</vt:lpstr>
      <vt:lpstr>Section 2. 국민연금제도의 기본성격</vt:lpstr>
      <vt:lpstr>중복세대의 모형</vt:lpstr>
      <vt:lpstr>중복세대의 모형</vt:lpstr>
      <vt:lpstr>국민연금제도의 의의</vt:lpstr>
      <vt:lpstr>국민연금제도의 의의</vt:lpstr>
      <vt:lpstr>국민연금제도의 의의</vt:lpstr>
      <vt:lpstr>국민연금제도의 의의</vt:lpstr>
      <vt:lpstr>Section 3. 국민연금제도 관련 중요쟁점</vt:lpstr>
      <vt:lpstr>사회보험제도의 의미</vt:lpstr>
      <vt:lpstr>강제적이고 공적이 해결방식의 필요성</vt:lpstr>
      <vt:lpstr>강제적이고 공적이 해결방식의 필요성</vt:lpstr>
      <vt:lpstr>적립방식과 부과방식</vt:lpstr>
      <vt:lpstr>적립방식과 부과방식</vt:lpstr>
      <vt:lpstr>적립방식과 부과방식</vt:lpstr>
      <vt:lpstr>재분배적 요소</vt:lpstr>
      <vt:lpstr>목적세 부과의 필요성</vt:lpstr>
      <vt:lpstr>합리적인 연금 급여수준의 문제</vt:lpstr>
      <vt:lpstr>Section 4. 국민연금제도의 경제적 효과</vt:lpstr>
      <vt:lpstr>저축행위에 미치는 영향</vt:lpstr>
      <vt:lpstr>저축행위에 미치는 영향</vt:lpstr>
      <vt:lpstr>노동공급에 미치는 영향</vt:lpstr>
      <vt:lpstr>Section 5. 우리나라의 국민연금제도</vt:lpstr>
      <vt:lpstr>적용대상</vt:lpstr>
      <vt:lpstr>보험료</vt:lpstr>
      <vt:lpstr>보험료</vt:lpstr>
      <vt:lpstr>연금의 급여</vt:lpstr>
      <vt:lpstr>Section 6. 건강보험제도의 기본성격</vt:lpstr>
      <vt:lpstr>Section 7. 우리나라의 국민건강보험제도</vt:lpstr>
      <vt:lpstr>재분배정책에 대한 찬반의견</vt:lpstr>
      <vt:lpstr>재분배정책에 대한 찬반의견</vt:lpstr>
      <vt:lpstr>재분배정책에 대한 찬반의견</vt:lpstr>
      <vt:lpstr>Section 2. 재분배정책의 실례</vt:lpstr>
      <vt:lpstr>일반적 조세제도</vt:lpstr>
      <vt:lpstr>일반적 조세제도</vt:lpstr>
      <vt:lpstr>사회복지제도</vt:lpstr>
      <vt:lpstr>사회복지제도</vt:lpstr>
      <vt:lpstr>사회복지제도</vt:lpstr>
      <vt:lpstr>부의 소득세제</vt:lpstr>
      <vt:lpstr>부의 소득세제</vt:lpstr>
      <vt:lpstr>부의 소득세제</vt:lpstr>
      <vt:lpstr>부의 소득세제</vt:lpstr>
      <vt:lpstr>근로장려세제</vt:lpstr>
      <vt:lpstr>근로장려세제</vt:lpstr>
      <vt:lpstr>근로장려세제</vt:lpstr>
      <vt:lpstr>기본소득제도</vt:lpstr>
      <vt:lpstr>기본소득제도</vt:lpstr>
      <vt:lpstr>Section 3. 빈곤선의 결정</vt:lpstr>
      <vt:lpstr>빈곤선의 결정</vt:lpstr>
      <vt:lpstr>절대적이며 객관적인 기준에 의한 빈곤선</vt:lpstr>
      <vt:lpstr>상대적이며 객관적인 기준에 의한 빈곤선</vt:lpstr>
      <vt:lpstr>주관적인 기준에 의한 빈곤선</vt:lpstr>
      <vt:lpstr>정책적인 빈곤선</vt:lpstr>
      <vt:lpstr>Section 4. 재분배정책과 효율성</vt:lpstr>
      <vt:lpstr>재분배정책과 효율성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634</cp:revision>
  <dcterms:created xsi:type="dcterms:W3CDTF">2025-07-05T05:15:23Z</dcterms:created>
  <dcterms:modified xsi:type="dcterms:W3CDTF">2026-05-20T08:40:51Z</dcterms:modified>
</cp:coreProperties>
</file>