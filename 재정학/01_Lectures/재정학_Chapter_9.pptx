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375" r:id="rId2"/>
    <p:sldId id="405" r:id="rId3"/>
    <p:sldId id="550" r:id="rId4"/>
    <p:sldId id="552" r:id="rId5"/>
    <p:sldId id="729" r:id="rId6"/>
    <p:sldId id="730" r:id="rId7"/>
    <p:sldId id="731" r:id="rId8"/>
    <p:sldId id="726" r:id="rId9"/>
    <p:sldId id="732" r:id="rId10"/>
    <p:sldId id="733" r:id="rId11"/>
    <p:sldId id="734" r:id="rId12"/>
    <p:sldId id="735" r:id="rId13"/>
    <p:sldId id="736" r:id="rId14"/>
    <p:sldId id="737" r:id="rId15"/>
    <p:sldId id="738" r:id="rId16"/>
    <p:sldId id="739" r:id="rId17"/>
    <p:sldId id="740" r:id="rId18"/>
    <p:sldId id="741" r:id="rId19"/>
    <p:sldId id="742" r:id="rId20"/>
    <p:sldId id="743" r:id="rId21"/>
    <p:sldId id="744" r:id="rId22"/>
    <p:sldId id="745" r:id="rId23"/>
    <p:sldId id="727" r:id="rId24"/>
    <p:sldId id="746" r:id="rId25"/>
    <p:sldId id="747" r:id="rId26"/>
    <p:sldId id="748" r:id="rId27"/>
    <p:sldId id="749" r:id="rId28"/>
    <p:sldId id="750" r:id="rId29"/>
    <p:sldId id="728" r:id="rId30"/>
    <p:sldId id="751" r:id="rId31"/>
    <p:sldId id="364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4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- 9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9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재분배정책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재분배정책에 대한 찬반의견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재분배정책에 대한 찬반의견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E4DF-D5A4-61E7-1307-371A5A496859}"/>
              </a:ext>
            </a:extLst>
          </p:cNvPr>
          <p:cNvSpPr txBox="1"/>
          <p:nvPr/>
        </p:nvSpPr>
        <p:spPr>
          <a:xfrm>
            <a:off x="288790" y="958844"/>
            <a:ext cx="11250267" cy="48921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재분배를 위해 개입하는 것이 정당한 일인지 여부에 대해 서로 다른 의견이 팽팽하게 맞서고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재분배를 위한 정부의 개입을 당연시 여기는 경향이 있지만 이에 반대하는 사람도 적지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찬성과 반대 논리 중 어느 한쪽이 절대적으로 우세하다고 단정하기 힘들다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현대의 정부가 여러 재분배정책을 채택하고 있다는 현실이 재분배정책 찬성 논리의 근거로 삼기는 힘들다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논리적 대결의 결론이 아니라 시대적 흐름과 정치적 현실을 반영하는 것이 옳을 것이다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반대의 논리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윤리적 관점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자유론자들은</a:t>
            </a:r>
            <a:r>
              <a:rPr lang="ko-KR" altLang="en-US" sz="1600" spc="-50" dirty="0"/>
              <a:t> 재분배를 위한 정부의 개입이 개인의 정당한 권리를 침해한다는 점에서 반대한다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자유론자들은</a:t>
            </a:r>
            <a:r>
              <a:rPr lang="ko-KR" altLang="en-US" sz="1600" spc="-50" dirty="0"/>
              <a:t> 좋은 결과가 나쁜 수단을 정당화시켜 준다는 것을 허용하지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이들은 옳고 그름을 정당한 절차를 </a:t>
            </a:r>
            <a:r>
              <a:rPr lang="ko-KR" altLang="en-US" sz="1600" spc="-50" dirty="0" err="1"/>
              <a:t>거쳤느냐의</a:t>
            </a:r>
            <a:r>
              <a:rPr lang="ko-KR" altLang="en-US" sz="1600" spc="-50" dirty="0"/>
              <a:t> 여부에 따라 판단한다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프리드먼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M.Friedman</a:t>
            </a:r>
            <a:r>
              <a:rPr lang="en-US" altLang="ko-KR" sz="1600" spc="-50" dirty="0"/>
              <a:t>, 1962)</a:t>
            </a:r>
            <a:r>
              <a:rPr lang="ko-KR" altLang="en-US" sz="1600" spc="-50" dirty="0"/>
              <a:t>은 불균등한 소득분배는 불가피하며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바람직하다고 주장한다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 소득보다 여가를 더욱 선호해서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일을 적게 한 사람이  낮은 소득을 얻는 것은 당연하다고 얘기한다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까다로운 일을 처리한 사람에게는 더욱 많은 소득이 주어져야 마땅하다고 얘기한다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4B43-09B4-0ECF-E26D-84F2E26E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7A1CD-38FF-A245-BBC6-B3248842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재분배정책에 대한 찬반의견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41E48-F037-1375-FF0E-BBDBC755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FC4E3-47A9-296B-4B15-F3F3798E39D7}"/>
              </a:ext>
            </a:extLst>
          </p:cNvPr>
          <p:cNvSpPr txBox="1"/>
          <p:nvPr/>
        </p:nvSpPr>
        <p:spPr>
          <a:xfrm>
            <a:off x="288790" y="958844"/>
            <a:ext cx="1125026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spc="-50" dirty="0"/>
              <a:t>효율성에 대한 부정적 영향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재분배정책이 효율적 자원배분을 저해하는 결과를 가져올 것이라는 점을 들어 반대한다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재분배효과를 크게 하기 위해 급격한 누진적 조세제도를 도입하면 사람들은 더 많이 일하는 동기가 감소할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빈곤층에 대한 소득보조 프로그램은 가난한 사람들의 근로 의욕을 감소시킬 수도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</a:t>
            </a:r>
            <a:r>
              <a:rPr lang="ko-KR" altLang="en-US" sz="1600" spc="-50" dirty="0" err="1"/>
              <a:t>아직까지는</a:t>
            </a:r>
            <a:r>
              <a:rPr lang="ko-KR" altLang="en-US" sz="1600" spc="-50" dirty="0"/>
              <a:t> 재분배정책이 효율성 감소에 어느정도 영향을 미치는지 정확히 알고 있지 못하다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spc="-50" dirty="0"/>
              <a:t>정치적 현실의 관점</a:t>
            </a:r>
            <a:r>
              <a:rPr lang="en-US" altLang="ko-KR" sz="1600" b="1" spc="-50" dirty="0"/>
              <a:t>: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정치기구가 과연 재분배작업을 성공적으로 해낼 수 있는지 의문을 가지고 반대한다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재분배작업을 </a:t>
            </a:r>
            <a:r>
              <a:rPr lang="ko-KR" altLang="en-US" sz="1600" spc="-50" dirty="0" err="1"/>
              <a:t>담당해야하는</a:t>
            </a:r>
            <a:r>
              <a:rPr lang="ko-KR" altLang="en-US" sz="1600" spc="-50" dirty="0"/>
              <a:t> 정치기구 역시 여러 집단의 이익이 복잡하게 </a:t>
            </a:r>
            <a:r>
              <a:rPr lang="ko-KR" altLang="en-US" sz="1600" spc="-50" dirty="0" err="1"/>
              <a:t>얽혀있기</a:t>
            </a:r>
            <a:r>
              <a:rPr lang="ko-KR" altLang="en-US" sz="1600" spc="-50" dirty="0"/>
              <a:t>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공평한 재분배를 수행하기 힘든 것이 사실이다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한가지 반대 논리는 재분배정책이 </a:t>
            </a:r>
            <a:r>
              <a:rPr lang="ko-KR" altLang="en-US" sz="1600" spc="-50" dirty="0" err="1"/>
              <a:t>계층간의</a:t>
            </a:r>
            <a:r>
              <a:rPr lang="ko-KR" altLang="en-US" sz="1600" spc="-50" dirty="0"/>
              <a:t> 갈등을 조장함으로써 정치과정에 심각한 긴장을 일으킨다는 것이다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재분배라는 것이 어떤 사람으로부터 경제적 자원을 거두어 다른 사람에게 넘겨주는 것이기 때문에 이러한 주장에 일리가 있긴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재분배가 이루어지지 않을 때 </a:t>
            </a:r>
            <a:r>
              <a:rPr lang="ko-KR" altLang="en-US" sz="1600" spc="-50" dirty="0" err="1"/>
              <a:t>계층간의</a:t>
            </a:r>
            <a:r>
              <a:rPr lang="ko-KR" altLang="en-US" sz="1600" spc="-50" dirty="0"/>
              <a:t> 긴장과 갈등이 더 심해질 수도 있는 것이 사실이다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095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D0EF-168D-4D0B-382A-14535921A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04DD1-B821-23EA-0CFC-B188679F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재분배정책에 대한 찬반의견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262B7-878F-30FB-81A2-6AAD48AC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ABBB2-5E06-7126-F790-E2C507B57338}"/>
              </a:ext>
            </a:extLst>
          </p:cNvPr>
          <p:cNvSpPr txBox="1"/>
          <p:nvPr/>
        </p:nvSpPr>
        <p:spPr>
          <a:xfrm>
            <a:off x="288790" y="958844"/>
            <a:ext cx="11250267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찬성의 논리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윤리적 관점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평등주의자들은 분배상태가 평등하지 못하면 이를 시정하려는 노력이 따라야 한다고 주장한다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평등주의 뿐 아니라 공리주의자도 재분배를 위한 개입을 지지한다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공리의 원칙은 단순히 사회적 후생의 총합이 극대화되는 분배상태를 요구할 뿐이지만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공리주의자들이 일반적으로 설정하는 상황에서는 재분배를 통한 평등화가 사회 전체의 후생을 증진시키기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 err="1"/>
              <a:t>공공재로서의</a:t>
            </a:r>
            <a:r>
              <a:rPr lang="ko-KR" altLang="en-US" sz="1600" b="1" spc="-50" dirty="0"/>
              <a:t> 공평한분배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재분배가 </a:t>
            </a:r>
            <a:r>
              <a:rPr lang="ko-KR" altLang="en-US" sz="1600" spc="-50" dirty="0" err="1"/>
              <a:t>가져다주는</a:t>
            </a:r>
            <a:r>
              <a:rPr lang="ko-KR" altLang="en-US" sz="1600" spc="-50" dirty="0"/>
              <a:t> 사회적 이득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범죄 감소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안정성 증대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마치 공공재와 같은 성격을 갖는다고 주장한다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혜택을 누구나 누릴 수 있어 </a:t>
            </a:r>
            <a:r>
              <a:rPr lang="ko-KR" altLang="en-US" sz="1600" spc="-50" dirty="0" err="1"/>
              <a:t>배제불가능하며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누군가 혜택을 누린다고 해서 다른 사람이 얻는 혜택이 줄어들지 않는다는 점에서 비경합성도 갖고 있다고 주장한다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재분배로부터의 사회적 이득이 공공재 성격을 갖는다면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재분배를 위해 개입해야 할 필요가 생긴다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4</a:t>
            </a:r>
            <a:r>
              <a:rPr lang="ko-KR" altLang="en-US" sz="1600" spc="-50" dirty="0"/>
              <a:t>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공공재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에서 배웠듯이 공공재의 경우 무임승차 문제가 발생할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부유한 사람들이 빈곤한 사람에게 소득을 나누어 주지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부유한 사람들에게 그 일을 떠맡기는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76924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B47C-3726-C9E0-C9E7-FFDDE320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B97E2-F210-8875-7AB5-10FD09DA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재분배정책에 대한 찬반의견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F91DFC-EAD3-E4FF-030C-0E96EA35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9C429-DA59-D9FA-5751-536773D5059C}"/>
              </a:ext>
            </a:extLst>
          </p:cNvPr>
          <p:cNvSpPr txBox="1"/>
          <p:nvPr/>
        </p:nvSpPr>
        <p:spPr>
          <a:xfrm>
            <a:off x="288790" y="958844"/>
            <a:ext cx="1125026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spc="-50" dirty="0" err="1"/>
              <a:t>사회보험으로서의</a:t>
            </a:r>
            <a:r>
              <a:rPr lang="ko-KR" altLang="en-US" sz="1600" b="1" spc="-50" dirty="0"/>
              <a:t> 재분배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재분배정책을 사회보험이라는 관점에서 정당화하고자 하는 시도도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우리는 뜻하지 않은 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빈곤해질 수 있는 가능성을 항상 가지고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경우를 대비하는 차원에서 재분배 정책은 일종의 사회적 안전장치를 마련해 놓는 것이다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spc="-50" dirty="0"/>
              <a:t>정치적 관점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어떤 사람이 부유하다는 것은 경제적 자원 뿐만 아니라 정치적 권력을 더 많이 갖고 있음을 의미한다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이를 바탕으로 보면 부가 소수에 집중되어 있을 때 정치적 권력도 소수에 집중되는 결과를 낳게 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부당한 권력의 집중을 방지하기 위해서는 재분배정책을 통해 부를 과감하게 분산시켜 정치적 권력도 함께 분산 시키는 것이 필요하다는 주장이다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827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E00A-5187-4C65-52E9-63306C3F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56AEEF-DA17-2EC9-6260-BC326D47EF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954DBE-4BA0-6BBA-7BC4-FDCEDCD5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DC7C092-9F83-9AEC-2DE6-4EDC5AF82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재분배정책의 실례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58940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81FE-0393-7988-CEC4-F037AB20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0C283-45F1-D7BE-5488-41999EE3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일반적 조세제도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94553-870D-29D7-F5BF-01C75520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167B3-202B-2970-DB6A-4115B053DB54}"/>
              </a:ext>
            </a:extLst>
          </p:cNvPr>
          <p:cNvSpPr txBox="1"/>
          <p:nvPr/>
        </p:nvSpPr>
        <p:spPr>
          <a:xfrm>
            <a:off x="288790" y="958844"/>
            <a:ext cx="1125026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다양한 유형의 재분배정책이 있지만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우리는 아래와 같이 기본적인 정책을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 조세제도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사회복지제도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부의 소득세제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근로장려세제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기본소득제도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조세가 누진성을 갖는다는 것은 납세자의 소득수준이 높을수록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소득의 더 큰 비율을 세금으로 납부하게 된다는 의미다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누진적 조세를 통해 부유층과 빈곤층 사이에 존재하는 처분가능소득의 격차 감소를 기대할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처분가능소득 격차가 줄어들기는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빈곤층에게 직접적인 도움을 주는 효과는 기대할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조세수입이 정부지출로 전환되는 과정에서 빈곤층에 더 많은 혜택이 돌아가는 정책을 시행하여 빈곤층에게 간접적으로 도움이 되도록 만들 수는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조세제도의 특성에 따라 누진성은 달라지는데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누진성이 클수록 더 큰 재분배효과가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조세수입에서 간접세의 비중이 크면 누진성을 기대할 수 없어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재분배효과가 제한적이다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간접세는 납세자의 특성을 고려하지 않기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고소득자에게 특정하여 무거운 세금 부담을 지울 길이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누진성을 높이기 위해서는 납세자 개인의 경제적 능력에 따라 과세할 수 있는 직접세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소득세의 비중이 높아져야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093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0E10-2542-5AE1-D9DE-830619EB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DC9EC-457C-BC16-89BE-73BDE3A8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일반적 조세제도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F1FB6-A978-6487-18EC-1377D9AF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3921C-1B1E-4481-1DE9-E6AFF2F286E6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소득세의 비중이 높아진다고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반드시 조세제도 전반의 누진성이 커진다고 말하기는 힘들다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실제로 우리나라를 포함한 대부분의 나라는 소득세율 구조가 겉으로 보기엔 상당한 누진성을 갖고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실제 소득세 부담은 소득세의 세율 뿐만 아니라 공제제도에 의해서도 영향을 많이 받는다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부유층은 조세를 회피할 수 있는 수단이 많기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소득세 부담의 분배는 보통 누진적이지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근로소득자들만 세금을 충실히 납부하며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유형의 소득을 얻는 사람들은 탈세하는 정도가 크다고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이들 대부분이 부유층이라는 사실을 고려하면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소득세의 누진성은 실질적으로 크지 않다고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뿐만 아니라 전체 세수에서 소득세가 차지하는 비중이 </a:t>
            </a:r>
            <a:r>
              <a:rPr lang="en-US" altLang="ko-KR" sz="1600" spc="-50" dirty="0"/>
              <a:t>35%</a:t>
            </a:r>
            <a:r>
              <a:rPr lang="ko-KR" altLang="en-US" sz="1600" spc="-50" dirty="0"/>
              <a:t>에도 못 미치고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조세제도 전반의 누진성은 그리 크지 못한 실정이다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8C1D82-B3A8-5F1E-5714-BF87AD4F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81" y="1841679"/>
            <a:ext cx="5209849" cy="16894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6DD46B-01CB-9203-93AF-9438509617C5}"/>
              </a:ext>
            </a:extLst>
          </p:cNvPr>
          <p:cNvSpPr txBox="1"/>
          <p:nvPr/>
        </p:nvSpPr>
        <p:spPr>
          <a:xfrm>
            <a:off x="2431781" y="3537692"/>
            <a:ext cx="40300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 </a:t>
            </a:r>
            <a:r>
              <a:rPr lang="ko-KR" altLang="en-US" sz="800" dirty="0"/>
              <a:t>https://www.nts.go.kr/nts/cm/cntnts/cntntsView.do?mi=2227&amp;cntntsId=7667</a:t>
            </a:r>
          </a:p>
        </p:txBody>
      </p:sp>
    </p:spTree>
    <p:extLst>
      <p:ext uri="{BB962C8B-B14F-4D97-AF65-F5344CB8AC3E}">
        <p14:creationId xmlns:p14="http://schemas.microsoft.com/office/powerpoint/2010/main" val="3629519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E7BB-1BBD-5ACE-3661-E82C8BF7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AC5B0-0F92-CE68-DF93-58A6E0A2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사회복지제도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64095C-61E0-344D-4FD1-7155ECDA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88F77-9A82-ABCB-4561-AAD9A5B1AAD8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사회복지제도는 사회보험제도와 공공부조 프로그램의 두 유형으로 구성되어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사회보험제도는 이에 대해 기여한 사람만 혜택을 받을 수 있다는 기여원칙에 기초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공공부조 프로그램은 기여 여부에 관계 없이 가난한 사람이면 혜택을 받을 수 있게끔 되어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사회보험제도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국민에게 발생하는 사회적 위험을 보험 방식으로 대처함으로써 국민의 건강과 소득을 보장한다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사회보험제도의 예로는 국민연금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건강보험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고용보험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산재보험 등이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60" dirty="0"/>
              <a:t>저소득층이 사회보험제도의 덕을 볼 수 있다는 근거는 아래와 같다</a:t>
            </a:r>
            <a:r>
              <a:rPr lang="en-US" altLang="ko-KR" sz="1600" spc="-6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60" dirty="0"/>
              <a:t>모든 국민이 자유의사에 따라 노후를 대비하도록 방임해두면</a:t>
            </a:r>
            <a:r>
              <a:rPr lang="en-US" altLang="ko-KR" sz="1600" spc="-60" dirty="0"/>
              <a:t>, </a:t>
            </a:r>
            <a:r>
              <a:rPr lang="ko-KR" altLang="en-US" sz="1600" spc="-60" dirty="0"/>
              <a:t>무방비상태로 노령에 이르게 될 가능성이 가장 큰 계층이 바로 저소득층이라는 점이다</a:t>
            </a:r>
            <a:r>
              <a:rPr lang="en-US" altLang="ko-KR" sz="1600" spc="-6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60" dirty="0"/>
              <a:t>또 이 제도의 수혜자인 노년층이 다른 연령그룹에 비해 상대적으로 더 높은 비율의 빈곤층을 포함하고 있다는 점에서도 재분배효과를 기대할 수 있다</a:t>
            </a:r>
            <a:r>
              <a:rPr lang="en-US" altLang="ko-KR" sz="1600" spc="-60" dirty="0"/>
              <a:t>.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그럼에도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사회보험제도는 민간부문과 달리 강제성이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민간부문의 보험과 흡사한 방식으로 운영이 되는 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재분배효과는 클 수 없다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사회보험제도의 예로는 국민연금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건강보험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고용보험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산재보험 등이 있다</a:t>
            </a:r>
            <a:r>
              <a:rPr lang="en-US" altLang="ko-KR" sz="1600" spc="-50" dirty="0"/>
              <a:t>.)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이 제도가 역진적 성격을 갖는 세입원에 의존하고 있는 한 명백한 한계가 있을 수 밖에 없다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대부분 나라에서 국민연금제도는 일반적 세입원에 기초하는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목적세에 의해 운영되고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목적세 같은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가난한 사람일수록 상대적으로 부담이 더 무거워지는 역진성을 갖는 것이 보통이다</a:t>
            </a:r>
            <a:r>
              <a:rPr lang="en-US" altLang="ko-KR" sz="1600" spc="-50" dirty="0"/>
              <a:t>.</a:t>
            </a:r>
            <a:endParaRPr lang="en-US" altLang="ko-KR" sz="1600" spc="-60" dirty="0"/>
          </a:p>
        </p:txBody>
      </p:sp>
    </p:spTree>
    <p:extLst>
      <p:ext uri="{BB962C8B-B14F-4D97-AF65-F5344CB8AC3E}">
        <p14:creationId xmlns:p14="http://schemas.microsoft.com/office/powerpoint/2010/main" val="3640806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30EC-62F1-0B20-BD25-FF7D8F0F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2163-A538-5818-1432-EE85DE09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사회복지제도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5E8F2-6622-3004-853B-0620AC6F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3E70B-9248-9D7F-6CBA-CD09F02529F5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spc="-50" dirty="0"/>
              <a:t>공공부조 프로그램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저소득층에게 최소생활을 보장하기 위한 선별적 복지제도 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 도움이 절실히 필요한 극빈계층에 초점을 맞추어 재분배효과의 극대화를 지향한다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우리나라의 대표적인 공공부조 프로그램은 </a:t>
            </a:r>
            <a:r>
              <a:rPr lang="ko-KR" altLang="en-US" sz="1600" spc="-50" dirty="0" err="1"/>
              <a:t>국민기초생활보장제도가</a:t>
            </a:r>
            <a:r>
              <a:rPr lang="ko-KR" altLang="en-US" sz="1600" spc="-50" dirty="0"/>
              <a:t>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설명한 재분배정책인 누진적 조세제도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사회보험제도의 경우 특정한 계층에 대한 배려가 불가능하여 재분배효과가 제한적일 수 밖에 없었는데 반해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공공부조 프로그램은 애초에 극빈계층을 염두에 두고 실시하므로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같은 예산으로 더 큰 재분배효과를 기대할 수 있다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목표 효율성이라고 표현하기도 한다</a:t>
            </a:r>
            <a:r>
              <a:rPr lang="en-US" altLang="ko-KR" sz="1600" spc="-50" dirty="0"/>
              <a:t>.)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공공부조 프로그램은 일반적 공공부조와 범주적 공공부조로 세분화 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일반적 공공부조는 일정수준 이하의 소득을 가진 사람에게 혜택을 돌아가게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범주적 공공부조는 소득 이외의 추가적 기준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나이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여부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적용하여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사람들만 혜택을 준다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 나라는 범주적 공공부조 형태로 운영을 하고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 집행 과정에서 여러 요건에 대한 심사가 필수다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그렇다고해서</a:t>
            </a:r>
            <a:r>
              <a:rPr lang="ko-KR" altLang="en-US" sz="1600" spc="-50" dirty="0"/>
              <a:t> 수혜 대상자의 생활 전반을 뒤짐으로써 심한 모욕감을 줄 수 도 있고</a:t>
            </a:r>
            <a:r>
              <a:rPr lang="en-US" altLang="ko-KR" sz="1600" spc="-50" dirty="0"/>
              <a:t>,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한편 심사가 </a:t>
            </a:r>
            <a:r>
              <a:rPr lang="ko-KR" altLang="en-US" sz="1600" spc="-50" dirty="0" err="1"/>
              <a:t>느슨해지면</a:t>
            </a:r>
            <a:r>
              <a:rPr lang="ko-KR" altLang="en-US" sz="1600" spc="-50" dirty="0"/>
              <a:t> 부정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사기가 일어날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사회의 도움에만 의존하려는 경향까지 나타날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공공부조를 운영할 때 어느 정도까지 혜택을 줄지는 빈곤의 증상 완화와 정책에 대한 의존성을 줄이는 것 사이에 적절한 균형이 필요하다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뒷장 계속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1394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ACAE-FBA7-9390-60F4-B67A245B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74BAE-9DEF-18EA-EC32-E99E43C8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사회복지제도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9E356-3190-16BE-7F71-F27305A4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61F07-03AE-D3B5-AB75-7B98731E2105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보다 근본적인 문제는 공공부조 프로그램이 어느정도 실질적인 도움을 줄 수 있느냐 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단지 빈곤에 대한 대증요법에 그칠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장기적으로 빈곤 그 자체를 치유하는데 역점을 두어야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대표적 공공부조 프로그램인 </a:t>
            </a:r>
            <a:r>
              <a:rPr lang="ko-KR" altLang="en-US" sz="1600" b="1" spc="-50" dirty="0" err="1"/>
              <a:t>국민기초생활보장제도</a:t>
            </a:r>
            <a:r>
              <a:rPr lang="ko-KR" altLang="en-US" sz="1600" spc="-50" dirty="0" err="1"/>
              <a:t>를</a:t>
            </a:r>
            <a:r>
              <a:rPr lang="ko-KR" altLang="en-US" sz="1600" spc="-50" dirty="0"/>
              <a:t> 살펴보자</a:t>
            </a:r>
            <a:r>
              <a:rPr lang="en-US" altLang="ko-KR" sz="1600" spc="-50" dirty="0"/>
              <a:t>. 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2000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월에 출범한 이 제도는 그 이전에 실시하던 </a:t>
            </a:r>
            <a:r>
              <a:rPr lang="ko-KR" altLang="en-US" sz="1600" b="1" spc="-50" dirty="0"/>
              <a:t>생활보호제도</a:t>
            </a:r>
            <a:r>
              <a:rPr lang="ko-KR" altLang="en-US" sz="1600" spc="-50" dirty="0"/>
              <a:t>와 몇 가지 차이가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현재는 근로능력과 관계없이 어떤 가구의 소득이 최소한의 수준에 미치지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차액에 해당하는 부분을 정부가 보조해 주는 방식이다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보충급여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의 원칙</a:t>
            </a:r>
            <a:r>
              <a:rPr lang="en-US" altLang="ko-KR" sz="1600" spc="-50" dirty="0"/>
              <a:t>). </a:t>
            </a: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전에는 근로능력을 가진 사람에게 생계보조를 해주지 않는 것이 원칙이었고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사람에게 최소한의 생계를 보장한다는 목표를 지향하지도 않았다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제도의 이름 변화가 말해 주듯이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저소득층에 대한 접근이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국가의 보호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 에서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국민의 권리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로 바뀐 점이다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이런 관점의 변화가 얼마나 실질적인 변화를 의미하는지는 의문을 표시할 수 있지만 상징적인 의미가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국민기초생활보장제도는</a:t>
            </a:r>
            <a:r>
              <a:rPr lang="ko-KR" altLang="en-US" sz="1600" spc="-50" dirty="0"/>
              <a:t> 생계급여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주거급여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의료급여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여러 방식으로 이루어진다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중 생계급여 항목이 가장 큰 비중을 차지한다</a:t>
            </a:r>
            <a:r>
              <a:rPr lang="en-US" altLang="ko-KR" sz="1600" spc="-50" dirty="0"/>
              <a:t>. ‘</a:t>
            </a:r>
            <a:r>
              <a:rPr lang="ko-KR" altLang="en-US" sz="1600" spc="-50" dirty="0"/>
              <a:t>기준 중위소득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의 </a:t>
            </a:r>
            <a:r>
              <a:rPr lang="en-US" altLang="ko-KR" sz="1600" spc="-50" dirty="0"/>
              <a:t>32%</a:t>
            </a:r>
            <a:r>
              <a:rPr lang="ko-KR" altLang="en-US" sz="1600" spc="-50" dirty="0"/>
              <a:t>보다 적은 소득을 얻는 가구는 그 기준에서 실제 소득과의 </a:t>
            </a:r>
            <a:r>
              <a:rPr lang="ko-KR" altLang="en-US" sz="1600" spc="-50" dirty="0" err="1"/>
              <a:t>차액만큼을</a:t>
            </a:r>
            <a:r>
              <a:rPr lang="ko-KR" altLang="en-US" sz="1600" spc="-50" dirty="0"/>
              <a:t> 지급받을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국민기초생활보장제도</a:t>
            </a:r>
            <a:r>
              <a:rPr lang="ko-KR" altLang="en-US" sz="1600" spc="-50" dirty="0"/>
              <a:t> 자체는 매우 선진적인 공공부조 프로그램이지만 개선해야 할 점도 분명 존재한다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일을 해서 소득이 기준을 넘지 못하면 실질적 세율이 </a:t>
            </a:r>
            <a:r>
              <a:rPr lang="en-US" altLang="ko-KR" sz="1600" spc="-50" dirty="0"/>
              <a:t>100%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노력하려는 의욕을 저하시킬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인가구의 생계급여 기준이 월 </a:t>
            </a:r>
            <a:r>
              <a:rPr lang="en-US" altLang="ko-KR" sz="1600" spc="-50" dirty="0"/>
              <a:t>195</a:t>
            </a:r>
            <a:r>
              <a:rPr lang="ko-KR" altLang="en-US" sz="1600" spc="-50" dirty="0"/>
              <a:t>만원인데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금액으로는 최소한의 생활이 보장될 수 없다고 지적한다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0003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B9DF9-B83F-F2E0-D3FB-E5D5A98F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E9DEA-4847-4DED-6143-47A0280B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부의 소득세제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2CA21D-0C93-44FC-100C-EBDBC88E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E174E-743C-D340-23E8-B69EB5466F04}"/>
              </a:ext>
            </a:extLst>
          </p:cNvPr>
          <p:cNvSpPr txBox="1"/>
          <p:nvPr/>
        </p:nvSpPr>
        <p:spPr>
          <a:xfrm>
            <a:off x="288790" y="958844"/>
            <a:ext cx="1125026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기본성격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부의 소득세제</a:t>
            </a:r>
            <a:r>
              <a:rPr lang="en-US" altLang="ko-KR" sz="1600" spc="-50" dirty="0"/>
              <a:t> (negative income tax)</a:t>
            </a:r>
            <a:r>
              <a:rPr lang="ko-KR" altLang="en-US" sz="1600" spc="-50" dirty="0"/>
              <a:t>는 개인의 소득이 일정 수준 이하로 떨어질 경우 음</a:t>
            </a:r>
            <a:r>
              <a:rPr lang="en-US" altLang="ko-KR" sz="1600" spc="-50" dirty="0"/>
              <a:t>(-)</a:t>
            </a:r>
            <a:r>
              <a:rPr lang="ko-KR" altLang="en-US" sz="1600" spc="-50" dirty="0"/>
              <a:t>의 세율을 적용하는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일정 수준 이하의 소득자들에게는 세금을 거두는 것이 아니라 오히려 정부가 나눠 주어야 </a:t>
            </a:r>
            <a:r>
              <a:rPr lang="ko-KR" altLang="en-US" sz="1600" spc="-50" dirty="0" err="1"/>
              <a:t>한다는게</a:t>
            </a:r>
            <a:r>
              <a:rPr lang="ko-KR" altLang="en-US" sz="1600" spc="-50" dirty="0"/>
              <a:t> 기본 취지다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점에서 누진적 소득세제의 연장이라고 말할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누진세는 소득수준 상승에 따라 높은 세율이 적용되는 것을 의미하고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반대로 소득수준이 계속 내려가서 아주 낮은 소득에서는 음의 세율까지 도달하는 것을 의미하기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사회복지제도에서는 자신이 사회의 도움이 필요하다는 합당한 이유를 제시해야 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부의 소득세제는 그럴 필요가 없다는 것이 장점이 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사회 도움을 받는 과정에서 수치심을 느끼게 된다면 바람직한 일이 아니기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행정적으로 단순하고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수혜자에게 현물이 아닌 현금을 주기 때문에 수혜자가 자유로이 처분할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694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2846A-A858-FC96-A95F-2FE2F720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3DC7F-67C7-8690-0A6C-12EB0E03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부의 소득세제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19B7E4-E648-D013-05AC-E12C81D5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92C3B-773B-73DD-F717-7C1BFB75B706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386298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운영방식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우선 모든 사람에게 보장하는 최소한의 소득이라는 의미로 </a:t>
                </a:r>
                <a:r>
                  <a:rPr lang="ko-KR" altLang="en-US" sz="1600" b="1" spc="-50" dirty="0"/>
                  <a:t>기초수당</a:t>
                </a:r>
                <a:r>
                  <a:rPr lang="ko-KR" altLang="en-US" sz="1600" spc="-50" dirty="0"/>
                  <a:t>이 일정한 수준으로 정해져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 일정한 크기의 </a:t>
                </a:r>
                <a:r>
                  <a:rPr lang="ko-KR" altLang="en-US" sz="1600" b="1" spc="-50" dirty="0"/>
                  <a:t>한계세율</a:t>
                </a:r>
                <a:r>
                  <a:rPr lang="ko-KR" altLang="en-US" sz="1600" spc="-50" dirty="0"/>
                  <a:t>을 선택하여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수혜자 스스로 벌어들인 소득이 일어날 때 그 비율로 지급액이 줄어들도록 만든다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기초수당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spc="-50" dirty="0"/>
                  <a:t>),</a:t>
                </a:r>
                <a:r>
                  <a:rPr lang="ko-KR" altLang="en-US" sz="1600" spc="-50" dirty="0"/>
                  <a:t> 한계세율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소득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이 정해지면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저소득자가 받을 보조금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다음 공식에 의해 결정된다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600" dirty="0"/>
                  <a:t>으로 놓고 이 식을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ko-KR" altLang="en-US" sz="1600" dirty="0"/>
                  <a:t>에 대해 풀면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소득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에 이르면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 제도에 의한 혜택이 중단됨을 알 수 있다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부의 소득세제가 여기서 끝나는 것이다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92C3B-773B-73DD-F717-7C1BFB75B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3862981"/>
              </a:xfrm>
              <a:prstGeom prst="rect">
                <a:avLst/>
              </a:prstGeom>
              <a:blipFill>
                <a:blip r:embed="rId2"/>
                <a:stretch>
                  <a:fillRect l="-271" r="-3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9CE564-73C6-BA1A-52A1-9ED0DB303CD9}"/>
                  </a:ext>
                </a:extLst>
              </p:cNvPr>
              <p:cNvSpPr txBox="1"/>
              <p:nvPr/>
            </p:nvSpPr>
            <p:spPr>
              <a:xfrm>
                <a:off x="2030587" y="2522580"/>
                <a:ext cx="19164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𝑡𝐸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9CE564-73C6-BA1A-52A1-9ED0DB303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587" y="2522580"/>
                <a:ext cx="191643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FA88F11-11D4-36EB-1B9F-D2CBB398F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7" t="15545" r="13750" b="8422"/>
          <a:stretch>
            <a:fillRect/>
          </a:stretch>
        </p:blipFill>
        <p:spPr>
          <a:xfrm>
            <a:off x="7778805" y="3889420"/>
            <a:ext cx="4141577" cy="2537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1AF991-7747-668E-D15F-B524686684E0}"/>
              </a:ext>
            </a:extLst>
          </p:cNvPr>
          <p:cNvSpPr txBox="1"/>
          <p:nvPr/>
        </p:nvSpPr>
        <p:spPr>
          <a:xfrm>
            <a:off x="8086300" y="3573807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부의 소득세제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A498B3-024B-33E3-D7CC-E8A3FC770EDA}"/>
                  </a:ext>
                </a:extLst>
              </p:cNvPr>
              <p:cNvSpPr txBox="1"/>
              <p:nvPr/>
            </p:nvSpPr>
            <p:spPr>
              <a:xfrm>
                <a:off x="288790" y="3693049"/>
                <a:ext cx="7490015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정부가 소득세제를 설계할 때 선택할 수 있는 변수는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dirty="0"/>
                  <a:t>과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정부의 예산이 정해져 있으면 선택변수는 하나가 되는데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즉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보조금의 총 지급액이 미리 정해져 있으면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둘 중 하나만 자유롭게 선택할 수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부의 소득세제에 의한 혜택까지 포함한 처분가능소득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스스로 번 소득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사이의 관계는 오른쪽 그림과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A498B3-024B-33E3-D7CC-E8A3FC770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693049"/>
                <a:ext cx="7490015" cy="2999347"/>
              </a:xfrm>
              <a:prstGeom prst="rect">
                <a:avLst/>
              </a:prstGeom>
              <a:blipFill>
                <a:blip r:embed="rId5"/>
                <a:stretch>
                  <a:fillRect r="-3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122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B7E6-9CD6-F9E3-6699-39F1F203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1C24C-6239-7417-727F-2C265DAC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부의 소득세제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2EA08-97E6-AF78-D5BF-7D3EE595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1A4A2-1625-618C-65F5-F7A5A6693285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기초수당과 한계세율의 선택은 어떤 의미를 갖는지 알아보자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기초수당이 클수록 재분배효과는 더 커진다고 말할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모든 사람에게 최소한으로 보장하는 소득이 더 커지기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한계세율의 크기는 이 제도의 효율성 측면과 관계가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한계세율이 </a:t>
            </a:r>
            <a:r>
              <a:rPr lang="en-US" altLang="ko-KR" sz="1600" spc="-50" dirty="0"/>
              <a:t>100%</a:t>
            </a:r>
            <a:r>
              <a:rPr lang="ko-KR" altLang="en-US" sz="1600" spc="-50" dirty="0"/>
              <a:t>라면 내가 벌어들이는 돈이 늘어날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똑같은 금액만큼 정부의 지급액이 줄어든다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돈을 더 </a:t>
            </a:r>
            <a:r>
              <a:rPr lang="ko-KR" altLang="en-US" sz="1600" spc="-50" dirty="0" err="1"/>
              <a:t>벌어보았자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 주머니 상황은 똑같기 때문에 열심히 일할 의욕을 잃게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기초수당은 높은 수준에서 유지하고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한계세율은 낮게 유지하는 것이 가능하다면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효율성 상실의 문제를 일으키지 않으면서 재분배효과를 크게 만들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부의 소득세제 운영에 쓸 수 있는 재원이 고정된 상황에서는 기초수당과 한계세율을 동시에 원하는 수준으로 선택할 수 없다는 문제가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기초수당은 정부 입장에서 나가는 금액이고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한계세율은 들어오는 금액이기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기초수당을 올리면 한계세율도 올려야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재분배효과와 효율성 사이에서의 적절한 타협점은 중요한 고려사항이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263154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F64C-A0C9-50CF-7FB3-E8EA8CC5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ED61E-A205-BA56-25F8-72E7C519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부의 소득세제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3B144-03FB-9E91-0C2C-CA6886DF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66D38-D222-328E-54F4-58AA0FF4C5AD}"/>
              </a:ext>
            </a:extLst>
          </p:cNvPr>
          <p:cNvSpPr txBox="1"/>
          <p:nvPr/>
        </p:nvSpPr>
        <p:spPr>
          <a:xfrm>
            <a:off x="288790" y="958844"/>
            <a:ext cx="1146532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문제점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부의 소득세제가 이론적으로는 매우 합리적이지만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 보기 힘든 것은 엄청난 재정부담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하나의 문제점은 부의 소득세가 적용되는 </a:t>
            </a:r>
            <a:r>
              <a:rPr lang="ko-KR" altLang="en-US" sz="1600" spc="-50" dirty="0" err="1"/>
              <a:t>사람들뿐</a:t>
            </a:r>
            <a:r>
              <a:rPr lang="ko-KR" altLang="en-US" sz="1600" spc="-50" dirty="0"/>
              <a:t> 아니라 기준선보다 약간 더 많은 소득을 벌고 있는 사람들의 근로의욕에까지 악영향을 끼칠 수 있다는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더 많은 여가를 즐기고자 노동시간을 일부러 줄이고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부의 소득세 혜택을 받으려는 사람이 나타날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재분배정책에서 공통적으로 나타나는 문제점이기는 하나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부의 소득세제 같은 경우에는 제도에 기여한 바와 관계없이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경제능력의 평가를 받지 않고 수혜자가 되는 특성이 있기 때문에 다른 재분배정책보다 심각할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가장 근본적인 질문은 이처럼 막대한 예산을 들여 소득을 재분배 한다고 해서 실제 사회가 얼마나 개선이 되느냐 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빈곤한 사람들이 빈곤의 굴레에서 벗어난다는 보장이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빈곤의 증상만을 다스리는 단기적 미봉책에 불과하다는 한계를 갖고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815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4711-65AB-680F-5898-BEFA5EF4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D69B6-99C8-061D-B4C7-CE468525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근로장려세제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5CA5DE-11CD-13AD-55C5-EE7F5FED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5D08E-86B9-38C6-8976-71145B8B1D4C}"/>
              </a:ext>
            </a:extLst>
          </p:cNvPr>
          <p:cNvSpPr txBox="1"/>
          <p:nvPr/>
        </p:nvSpPr>
        <p:spPr>
          <a:xfrm>
            <a:off x="288790" y="958844"/>
            <a:ext cx="1125026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근로장려세제는 </a:t>
            </a:r>
            <a:r>
              <a:rPr lang="en-US" altLang="ko-KR" sz="1600" spc="-50" dirty="0"/>
              <a:t>2008</a:t>
            </a:r>
            <a:r>
              <a:rPr lang="ko-KR" altLang="en-US" sz="1600" spc="-50" dirty="0"/>
              <a:t>년에 도입한 정책으로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소득이 적어 생활이 어려운 근로자가구에 대해 생계비를 보조해주는 제도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부의 소득세제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와 매우 비슷한 성격이지만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일을 하고 있으나 빈곤에서 벗어나지 못하는 근로빈곤층을 돕는 다는 것이 특징이다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기초생활보장제도와 사회보험의 혜택에서도 제외되는 경우가 많아 특별한 배려가 필요한 계층이고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이들의 생계안정과 근로유인을 제공하고자 만들어진 제도이다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71B145-2B8B-3956-FA59-D9AB8D025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3" t="17356" r="6284" b="16664"/>
          <a:stretch>
            <a:fillRect/>
          </a:stretch>
        </p:blipFill>
        <p:spPr>
          <a:xfrm>
            <a:off x="6078871" y="3926672"/>
            <a:ext cx="5790079" cy="24109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02F49F-2A99-ECD5-B234-364A173A9AA9}"/>
              </a:ext>
            </a:extLst>
          </p:cNvPr>
          <p:cNvSpPr txBox="1"/>
          <p:nvPr/>
        </p:nvSpPr>
        <p:spPr>
          <a:xfrm>
            <a:off x="288791" y="2909564"/>
            <a:ext cx="579008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근로장려금 지급 기준과 금액은 다음과 같다 </a:t>
            </a:r>
            <a:r>
              <a:rPr lang="en-US" altLang="ko-KR" sz="1600" spc="-50" dirty="0"/>
              <a:t>(2025 </a:t>
            </a:r>
            <a:r>
              <a:rPr lang="ko-KR" altLang="en-US" sz="1600" spc="-50" dirty="0"/>
              <a:t>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단독가구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연간 근로소득이 </a:t>
            </a:r>
            <a:r>
              <a:rPr lang="en-US" altLang="ko-KR" sz="1600" spc="-50" dirty="0"/>
              <a:t>2,200</a:t>
            </a:r>
            <a:r>
              <a:rPr lang="ko-KR" altLang="en-US" sz="1600" spc="-50" dirty="0"/>
              <a:t>만원 미만인 경우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홑벌이가구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연간 근로소득이 </a:t>
            </a:r>
            <a:r>
              <a:rPr lang="en-US" altLang="ko-KR" sz="1600" spc="-50" dirty="0"/>
              <a:t>3,200</a:t>
            </a:r>
            <a:r>
              <a:rPr lang="ko-KR" altLang="en-US" sz="1600" spc="-50" dirty="0"/>
              <a:t>만원 미만인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맞벌이가구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연간 근로소득이 </a:t>
            </a:r>
            <a:r>
              <a:rPr lang="en-US" altLang="ko-KR" sz="1600" spc="-50" dirty="0"/>
              <a:t>4,400</a:t>
            </a:r>
            <a:r>
              <a:rPr lang="ko-KR" altLang="en-US" sz="1600" spc="-50" dirty="0"/>
              <a:t>만원 미만인 경우</a:t>
            </a: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A4AAF-2C75-1734-4935-BD65F428C63E}"/>
              </a:ext>
            </a:extLst>
          </p:cNvPr>
          <p:cNvSpPr txBox="1"/>
          <p:nvPr/>
        </p:nvSpPr>
        <p:spPr>
          <a:xfrm>
            <a:off x="7183870" y="3649673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근로장려금 지급금액 </a:t>
            </a:r>
            <a:r>
              <a:rPr lang="en-US" altLang="ko-KR" sz="1200" spc="-50" dirty="0"/>
              <a:t>(2025</a:t>
            </a:r>
            <a:r>
              <a:rPr lang="ko-KR" altLang="en-US" sz="1200" spc="-50" dirty="0"/>
              <a:t>기준</a:t>
            </a:r>
            <a:r>
              <a:rPr lang="en-US" altLang="ko-KR" sz="1200" spc="-50" dirty="0"/>
              <a:t>)&gt;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0266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5A812-5927-40A7-9AC1-9F20A8C1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DECE9-30ED-DD55-8B6D-B5FBB657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근로장려세제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691AD-E02D-6D61-7C54-C847D5F5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34513A-189C-7733-EAD0-97778466DF02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35862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그래프를 통해 공공부조 프로그램과 근로장려세제가 근로의욕에 미치는 영향을 살펴보자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우선 아래 그림은 공공부조 프로그램의 효과이다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사람의 예산제약을 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로 나타내고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예산선의 기울기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그 사람의 시간당 임금을 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 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만큼의 최저생계비를 보장하는 공공부조 프로그램을 도입한다고 해보자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혜택 받는 사람의 예산제약은 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에서 붉은색의 </a:t>
                </a:r>
                <a:r>
                  <a:rPr lang="ko-KR" altLang="en-US" sz="1600" spc="-50" dirty="0" err="1"/>
                  <a:t>꺽어진</a:t>
                </a:r>
                <a:r>
                  <a:rPr lang="ko-KR" altLang="en-US" sz="1600" spc="-50" dirty="0"/>
                  <a:t> 선분으로 변한다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공공부조 프로그램이 도입되기 전에는 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길이 만큼 노동을 공급할 의사가 있었는데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프로그램이 도입 된 후에는 전혀 일을 하지 않으려고 한다는 것을 볼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그의 선택점이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으로 이동한 것을 보면 알 수 있다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 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34513A-189C-7733-EAD0-97778466D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3586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2F1F6C-A8F3-BCBC-3CC3-2C0754588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9" t="15945" r="21816" b="6582"/>
          <a:stretch>
            <a:fillRect/>
          </a:stretch>
        </p:blipFill>
        <p:spPr>
          <a:xfrm>
            <a:off x="7140844" y="3569501"/>
            <a:ext cx="3580080" cy="30372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4AEE02-378C-47CF-40A4-8AFBEE451345}"/>
              </a:ext>
            </a:extLst>
          </p:cNvPr>
          <p:cNvSpPr txBox="1"/>
          <p:nvPr/>
        </p:nvSpPr>
        <p:spPr>
          <a:xfrm>
            <a:off x="7549911" y="3664913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공공부조 프로그램의 효과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74870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0B05-6DA6-FB10-6EEC-569A5C84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048E7A-E17F-8319-0E28-0FF747AC8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1" t="14353" r="26408" b="8619"/>
          <a:stretch>
            <a:fillRect/>
          </a:stretch>
        </p:blipFill>
        <p:spPr>
          <a:xfrm>
            <a:off x="7884582" y="3498507"/>
            <a:ext cx="3832844" cy="3038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4A10FC-9A50-D98F-C7E4-E16CF5AC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근로장려세제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0DE01-7005-B7B7-BA87-EC54A804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4BBCC4-CA37-A392-2EB2-D6AA9DB35B34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271478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그림은 근로장려세제의 도입 효과이다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맞벌이 가구의 상황을 기초해 그렸으며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예산제약이 공공부조 프로그램과 달리 두 번 </a:t>
                </a:r>
                <a:r>
                  <a:rPr lang="ko-KR" altLang="en-US" sz="1600" spc="-50" dirty="0" err="1"/>
                  <a:t>꺽어진</a:t>
                </a:r>
                <a:r>
                  <a:rPr lang="ko-KR" altLang="en-US" sz="1600" spc="-50" dirty="0"/>
                  <a:t> 선분으로 나타나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세 개 구간의 기울기가 각기 다른 것을 볼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𝐻𝐼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의 기울기는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인데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소득이 </a:t>
                </a:r>
                <a:r>
                  <a:rPr lang="en-US" altLang="ko-KR" sz="1600" spc="-50" dirty="0"/>
                  <a:t>800</a:t>
                </a:r>
                <a:r>
                  <a:rPr lang="ko-KR" altLang="en-US" sz="1600" spc="-50" dirty="0"/>
                  <a:t>만원</a:t>
                </a:r>
                <a:r>
                  <a:rPr lang="en-US" altLang="ko-KR" sz="1600" spc="-50" dirty="0"/>
                  <a:t>~1,700</a:t>
                </a:r>
                <a:r>
                  <a:rPr lang="ko-KR" altLang="en-US" sz="1600" spc="-50" dirty="0"/>
                  <a:t>만원 사이에 있는 근로자는 </a:t>
                </a:r>
                <a:r>
                  <a:rPr lang="en-US" altLang="ko-KR" sz="1600" spc="-50" dirty="0"/>
                  <a:t>330</a:t>
                </a:r>
                <a:r>
                  <a:rPr lang="ko-KR" altLang="en-US" sz="1600" spc="-50" dirty="0"/>
                  <a:t>만원의 고정된 근로장려금을 받는 사실을 반영하고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𝐺𝐻</m:t>
                        </m:r>
                      </m:e>
                    </m:bar>
                  </m:oMath>
                </a14:m>
                <a:r>
                  <a:rPr lang="en-US" altLang="ko-KR" sz="1600" spc="-5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600" spc="-50" dirty="0">
                    <a:latin typeface="Cambria Math" panose="02040503050406030204" pitchFamily="18" charset="0"/>
                  </a:rPr>
                  <a:t>구간은</a:t>
                </a:r>
                <a:r>
                  <a:rPr lang="ko-KR" altLang="en-US" sz="1600" i="1" spc="-5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600" spc="-50" dirty="0"/>
                  <a:t>18</a:t>
                </a:r>
                <a:r>
                  <a:rPr lang="ko-KR" altLang="en-US" sz="1600" spc="-50" dirty="0"/>
                  <a:t>슬라이드 그림에서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맞벌이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곡선의 </a:t>
                </a:r>
                <a:r>
                  <a:rPr lang="en-US" altLang="ko-KR" sz="1600" spc="-50" dirty="0"/>
                  <a:t>800</a:t>
                </a:r>
                <a:r>
                  <a:rPr lang="ko-KR" altLang="en-US" sz="1600" spc="-50" dirty="0"/>
                  <a:t>만원 미만인 경우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4BBCC4-CA37-A392-2EB2-D6AA9DB35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27147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05CE4E9-8175-73DE-CFD7-B42BA90AC7DD}"/>
              </a:ext>
            </a:extLst>
          </p:cNvPr>
          <p:cNvSpPr txBox="1"/>
          <p:nvPr/>
        </p:nvSpPr>
        <p:spPr>
          <a:xfrm>
            <a:off x="8210311" y="3285014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근로장려세제의 효과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323ED6-911B-5AAA-5451-9E8110132A8F}"/>
                  </a:ext>
                </a:extLst>
              </p:cNvPr>
              <p:cNvSpPr txBox="1"/>
              <p:nvPr/>
            </p:nvSpPr>
            <p:spPr>
              <a:xfrm>
                <a:off x="288790" y="3282992"/>
                <a:ext cx="7522827" cy="277306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𝐼𝐵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구간은 </a:t>
                </a:r>
                <a:r>
                  <a:rPr lang="en-US" altLang="ko-KR" sz="1600" spc="-50" dirty="0"/>
                  <a:t>18</a:t>
                </a:r>
                <a:r>
                  <a:rPr lang="ko-KR" altLang="en-US" sz="1600" spc="-50" dirty="0"/>
                  <a:t>슬라이드 그림에서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맞벌이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곡선의 </a:t>
                </a:r>
                <a:r>
                  <a:rPr lang="en-US" altLang="ko-KR" sz="1600" spc="-50" dirty="0"/>
                  <a:t>1,700</a:t>
                </a:r>
                <a:r>
                  <a:rPr lang="ko-KR" altLang="en-US" sz="1600" spc="-50" dirty="0"/>
                  <a:t>만원 이상인 경우를 보여주고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근로장려세제 도입 후의 노동 공급량은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줄었다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그의 선택점이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으로 이동한 것을 보면 알 수 있다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공공부조 프로그램과 비교했을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노동의 감소폭이 작다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323ED6-911B-5AAA-5451-9E811013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282992"/>
                <a:ext cx="7522827" cy="27730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088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71A1E-9B47-50D7-EEE7-449268E6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F5F5A-E448-C19B-DD73-26E1A5B6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기본소득제도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3D890-E99F-579A-6CBF-09CC3971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9C7F3-4B34-D8C7-B1F2-9952E8DA66E6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기본소득제도는 사회에 속한 모든 사람들을 똑같이 지원 대상으로 삼는다는 점에서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빈곤층을 대상으로만 하는 공공부조 프로그램과 차이를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구성원들이 각자의 상황과 관계없이 최소한의 생활수준을 누릴 권리를 갖고 있다는 의미이다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선별적 복지제도와 비교했을 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기본소득제도가 갖는 장점은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대상을 선별하지 않으니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그만큼 행정비용이 줄어든다는 장점이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복지의 사각지대가 해소될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선별적 복지제도는 지원 대상을 선별하는 과정에서 지원대상이 될 수 없는 사람들이 지원을 받거나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지원 대상이 되어야 할 사람들이 지원을 못 받는 문제가 끊임없이 발생하고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선별적 복지의 대상인 구성원들은 무능력하거나 게으른 사람이라고 사회적 낙인이 찍힌다는 문제가 발생하는데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기본소득제도하에서는</a:t>
            </a:r>
            <a:r>
              <a:rPr lang="ko-KR" altLang="en-US" sz="1600" spc="-50" dirty="0"/>
              <a:t> 그런 문제가 발생하지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기본소득제도가 갖는 단점도 존재한다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엄청난 규모의 재원이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국민들의 동의를 받아 엄청나게 많은 세금을 거두어야 하는 것은 불가피한 일이다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근로의욕을 떨어뜨려 경제의 생산성 하락을 유발할 수 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사회적 낙인을 걱정할 필요 없이 구태여 힘들게 일을 할 필요가 없어지기 때문이다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429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8A0A-7389-D3DF-CACE-D1A92316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23959-216D-873F-0CEA-DF366058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기본소득제도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A54FA9-3647-51B8-9737-393348C7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D7CB8-A0DA-0577-4EA0-5EF7AAE125EA}"/>
              </a:ext>
            </a:extLst>
          </p:cNvPr>
          <p:cNvSpPr txBox="1"/>
          <p:nvPr/>
        </p:nvSpPr>
        <p:spPr>
          <a:xfrm>
            <a:off x="288790" y="958844"/>
            <a:ext cx="1125026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기본소득제도는 비교적 최근에 와서 본격적인 주목을 받기 시작했고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앞으로도 저출산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고령화 문제가 심각해지면서 이에 관한 논의가 점점 활발해질 것으로 보인다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기존의 선별적 복지제도가 갖는 한계점을 인식하고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대안을 모색한다는 점에서 중요한 의미를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 기본소득제도는 일단 도입이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다시 되돌리는 것이 쉽지 않다는 점에서 신중할 필요가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기본소득의 수준과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재원마련에 대한 검토가 선행되어야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870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C57B2-AE5E-36AE-C6C5-CBAF277E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DB4492-3DF0-B173-9F25-F94C7AE427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CB83F-A488-50C4-ACDB-7E287E16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369BB03-BFE1-4F1F-5002-B8809938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빈곤선의 결정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937852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FC944-53E8-0769-8FEF-02CA6A97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AFABA-462E-2668-9892-943A57FD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빈곤선의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A506A0-6796-BF89-32C1-860CF7B0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D6E92-810C-6274-D426-A759A56674CE}"/>
              </a:ext>
            </a:extLst>
          </p:cNvPr>
          <p:cNvSpPr txBox="1"/>
          <p:nvPr/>
        </p:nvSpPr>
        <p:spPr>
          <a:xfrm>
            <a:off x="288790" y="958844"/>
            <a:ext cx="1125026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선별적 복지정책은 어떤 사람이 복지정책의 대상이 될지 결정하는 과정으로부터 출발한다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보통 어떤 하나의 소득수준을 </a:t>
            </a:r>
            <a:r>
              <a:rPr lang="ko-KR" altLang="en-US" sz="1600" b="1" spc="-50" dirty="0"/>
              <a:t>빈곤선</a:t>
            </a:r>
            <a:r>
              <a:rPr lang="ko-KR" altLang="en-US" sz="1600" spc="-50" dirty="0"/>
              <a:t>으로 책정해놓고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소득 수준에 미치지 못하면 빈곤한 사람으로 간주한다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빈곤한 사람과 그렇지 않은 사람을 가르는 기준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빈곤선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어떻게 설정해야 할지 고민하기 시작하면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과연 빈곤이라는 것이 무엇인가 라는 원초적인 질문을 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이에 대해 우리 사회는 한 가지로 통일된 답을 갖고 있지 않다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의식주를 고려하여 절대적 기준을 정해 놓고 이를 구입하기에 충분하지 못한 소득을 가진 사람을 빈곤한 사람이라고 </a:t>
            </a:r>
            <a:r>
              <a:rPr lang="ko-KR" altLang="en-US" sz="1600" spc="-50" dirty="0" err="1"/>
              <a:t>간주해야한다는</a:t>
            </a:r>
            <a:r>
              <a:rPr lang="ko-KR" altLang="en-US" sz="1600" spc="-50" dirty="0"/>
              <a:t> 의견이 있을 수 있고</a:t>
            </a:r>
            <a:r>
              <a:rPr lang="en-US" altLang="ko-KR" sz="1600" spc="-50" dirty="0"/>
              <a:t>,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모두가 풍요로운 생활을 하고 있는 사회 일지라도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상대적으로 빈곤층이 있을 수 있음을 지적하기도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빈곤을 주관적으로 평가할 수도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최소한의 생활도 유지하지 못하는 소득을 가지고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자신은 빈곤하지 않다고 주장하는 사람이 있을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경우 빈곤을 평가하기란 무척 힘들다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3390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C384B-A2EA-EF8C-A505-DFBCB6FE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4B746-BA0F-6479-392D-091BE1CF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절대적이며 객관적인 기준에 의한 빈곤선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A986E-DF44-BDE3-E605-16C01402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1900F-75AD-9573-DEC2-0E918EEEE2B1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영국의 </a:t>
            </a:r>
            <a:r>
              <a:rPr lang="ko-KR" altLang="en-US" sz="1600" spc="-50" dirty="0" err="1"/>
              <a:t>라운트리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(S. Rowntree) </a:t>
            </a:r>
            <a:r>
              <a:rPr lang="ko-KR" altLang="en-US" sz="1600" spc="-50" dirty="0"/>
              <a:t>학자는 </a:t>
            </a:r>
            <a:r>
              <a:rPr lang="en-US" altLang="ko-KR" sz="1600" spc="-50" dirty="0"/>
              <a:t>1899</a:t>
            </a:r>
            <a:r>
              <a:rPr lang="ko-KR" altLang="en-US" sz="1600" spc="-50" dirty="0"/>
              <a:t>년 요크</a:t>
            </a:r>
            <a:r>
              <a:rPr lang="en-US" altLang="ko-KR" sz="1600" spc="-50" dirty="0"/>
              <a:t>(York) </a:t>
            </a:r>
            <a:r>
              <a:rPr lang="ko-KR" altLang="en-US" sz="1600" spc="-50" dirty="0"/>
              <a:t>지역 주민 대상으로 최소한의 생활에 필요한 소득을 조사하였다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주택임대료 </a:t>
            </a:r>
            <a:r>
              <a:rPr lang="en-US" altLang="ko-KR" sz="1600" spc="-50" dirty="0"/>
              <a:t>(17</a:t>
            </a:r>
            <a:r>
              <a:rPr lang="ko-KR" altLang="en-US" sz="1600" spc="-50" dirty="0"/>
              <a:t>실링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펜스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음식 </a:t>
            </a:r>
            <a:r>
              <a:rPr lang="en-US" altLang="ko-KR" sz="1600" spc="-50" dirty="0"/>
              <a:t>(12</a:t>
            </a:r>
            <a:r>
              <a:rPr lang="ko-KR" altLang="en-US" sz="1600" spc="-50" dirty="0"/>
              <a:t>실링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펜스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옷 </a:t>
            </a:r>
            <a:r>
              <a:rPr lang="en-US" altLang="ko-KR" sz="1600" spc="-50" dirty="0"/>
              <a:t>(2</a:t>
            </a:r>
            <a:r>
              <a:rPr lang="ko-KR" altLang="en-US" sz="1600" spc="-50" dirty="0"/>
              <a:t>실링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펜스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연료비 </a:t>
            </a:r>
            <a:r>
              <a:rPr lang="en-US" altLang="ko-KR" sz="1600" spc="-50" dirty="0"/>
              <a:t>(1</a:t>
            </a:r>
            <a:r>
              <a:rPr lang="ko-KR" altLang="en-US" sz="1600" spc="-50" dirty="0"/>
              <a:t>실링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펜스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기타 </a:t>
            </a:r>
            <a:r>
              <a:rPr lang="en-US" altLang="ko-KR" sz="1600" spc="-50" dirty="0"/>
              <a:t>(10</a:t>
            </a:r>
            <a:r>
              <a:rPr lang="ko-KR" altLang="en-US" sz="1600" spc="-50" dirty="0"/>
              <a:t>펜스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항목으로 조사하였다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방식을 우리는 </a:t>
            </a:r>
            <a:r>
              <a:rPr lang="ko-KR" altLang="en-US" sz="1600" b="1" spc="-50" dirty="0" err="1"/>
              <a:t>라운트리</a:t>
            </a:r>
            <a:r>
              <a:rPr lang="ko-KR" altLang="en-US" sz="1600" b="1" spc="-50" dirty="0"/>
              <a:t> 방식</a:t>
            </a:r>
            <a:r>
              <a:rPr lang="ko-KR" altLang="en-US" sz="1600" spc="-50" dirty="0"/>
              <a:t>이라고 부르며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라운트리</a:t>
            </a:r>
            <a:r>
              <a:rPr lang="ko-KR" altLang="en-US" sz="1600" spc="-50" dirty="0"/>
              <a:t> 이후로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최소한의 의식주라는 관점에서 빈곤선을 산출해왔다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절대적이고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객관적인 기준에 의해 빈곤을 보고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방법이 갖는 문제점은 기본적 필요라는 것이 구체적으로 무엇을 의미하는지 분명하지 않다는 데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인간이 생물적으로 살아남는 데 필요한 자원은 물론이며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생존을 위해 필요한 자원도 포함되어야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간신히 굶지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얼어 죽지 않을 만큼만 살아가고 있는 사람은 거의 죽은 사람이나 다름이 없다고 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사회적 생존을 위해 필요한 자원을 구체적으로 알아내는 것은 주관적이며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대단히 힘들다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미국의 사회보장청은 다음과 같은 방법으로 이 문제를 피해 가고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미국의 일반적인 저소득층이 전 지출의 </a:t>
            </a:r>
            <a:r>
              <a:rPr lang="en-US" altLang="ko-KR" sz="1600" spc="-50" dirty="0"/>
              <a:t>1/3</a:t>
            </a:r>
            <a:r>
              <a:rPr lang="ko-KR" altLang="en-US" sz="1600" spc="-50" dirty="0"/>
              <a:t>을 식품 구입에 사용하고 있다는 것이 통계적으로 밝혀져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사실을 통해 식품과 관련된 최저생계비를 산출한 후에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을 곱한 금액을 전체 최저생계비로 잡고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사회적 생존에 필요한 지출을 직접 계산하는 것이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저소득층의 지출양식을 통해 간접적으로 유추하는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4228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B8E02-1711-0AC3-75F4-330243F9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9BA87-D0E3-CF8A-2A20-700F540D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상대적이며 객관적인 기준에 의한 빈곤선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30D31-1353-1854-0BF0-A5E47DB2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956C0-19BF-CFE5-8313-C8CF28C3DF51}"/>
              </a:ext>
            </a:extLst>
          </p:cNvPr>
          <p:cNvSpPr txBox="1"/>
          <p:nvPr/>
        </p:nvSpPr>
        <p:spPr>
          <a:xfrm>
            <a:off x="288790" y="958844"/>
            <a:ext cx="1125026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빈곤을 절대적인 것이 아니라 상대적인 것으로 파악해야 한다는 입장에서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사회의 평균적인 생활수준과 관련해 빈곤을 정의할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여러 방법이 있겠지만 아래와 같은 방법이 대표적으로 쓰이고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평균소득 혹은 중위소득의 일정비율을 빈곤선으로 잡을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 그 사회의 중위소득이 얼마인지 알아내고 그것의 </a:t>
            </a:r>
            <a:r>
              <a:rPr lang="en-US" altLang="ko-KR" sz="1600" spc="-50" dirty="0"/>
              <a:t>50%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30% </a:t>
            </a:r>
            <a:r>
              <a:rPr lang="ko-KR" altLang="en-US" sz="1600" spc="-50" dirty="0"/>
              <a:t>수준을 빈곤선으로 설정할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 구성원을 소득순으로 나열한 뒤에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 수준이 낮은 몇</a:t>
            </a:r>
            <a:r>
              <a:rPr lang="en-US" altLang="ko-KR" sz="1600" spc="-50" dirty="0"/>
              <a:t>%</a:t>
            </a:r>
            <a:r>
              <a:rPr lang="ko-KR" altLang="en-US" sz="1600" spc="-50" dirty="0"/>
              <a:t>의 사람을 빈곤층으로 간주하는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 소득이 낮은 </a:t>
            </a:r>
            <a:r>
              <a:rPr lang="en-US" altLang="ko-KR" sz="1600" spc="-50" dirty="0"/>
              <a:t>20%</a:t>
            </a:r>
            <a:r>
              <a:rPr lang="ko-KR" altLang="en-US" sz="1600" spc="-50" dirty="0"/>
              <a:t>의 사람들을 빈곤층이라고 간주하는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6974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E100-0D22-B429-B4E0-B7EE94193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DDA49-AA79-1335-F2DD-E23AE201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주관적인 기준에 의한 빈곤선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5A065E-F873-545C-EA2E-B6407416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DA3D3-EA55-E462-DC4C-956DDF6605F6}"/>
              </a:ext>
            </a:extLst>
          </p:cNvPr>
          <p:cNvSpPr txBox="1"/>
          <p:nvPr/>
        </p:nvSpPr>
        <p:spPr>
          <a:xfrm>
            <a:off x="288790" y="958844"/>
            <a:ext cx="1125026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알아본 객관적인 방법과 달리 주관적인 평가를 토대로 빈곤을 정의할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가장 대표적인 방법이 설문조사의 결과에 입각하여 빈곤선을 알아내는 방법이다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첫째 유형으로는 제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자적 소견을 묻는 경우로서</a:t>
            </a:r>
            <a:r>
              <a:rPr lang="en-US" altLang="ko-KR" sz="1600" spc="-50" dirty="0"/>
              <a:t>, “</a:t>
            </a:r>
            <a:r>
              <a:rPr lang="ko-KR" altLang="en-US" sz="1600" spc="-50" dirty="0"/>
              <a:t>당신이 사는 지역에서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인 가족이 근근이 살아가기에 필요한 최소한의 소득은 얼마입니까</a:t>
            </a:r>
            <a:r>
              <a:rPr lang="en-US" altLang="ko-KR" sz="1600" spc="-50" dirty="0"/>
              <a:t>?” </a:t>
            </a:r>
            <a:r>
              <a:rPr lang="ko-KR" altLang="en-US" sz="1600" spc="-50" dirty="0"/>
              <a:t>라는 식으로 제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자적 소견을 묻는 경우다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둘째 유형으로는 사람들에게 자신의 여건에 입각해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최소한으로 필요한 소득이 얼마인지 묻는 방식이다</a:t>
            </a:r>
            <a:r>
              <a:rPr lang="en-US" altLang="ko-KR" sz="1600" spc="-50" dirty="0"/>
              <a:t>. (</a:t>
            </a:r>
            <a:r>
              <a:rPr lang="ko-KR" altLang="en-US" sz="1600" spc="-50" dirty="0" err="1"/>
              <a:t>라이덴</a:t>
            </a:r>
            <a:r>
              <a:rPr lang="ko-KR" altLang="en-US" sz="1600" spc="-50" dirty="0"/>
              <a:t> 대학교에서 개발하여 </a:t>
            </a:r>
            <a:r>
              <a:rPr lang="ko-KR" altLang="en-US" sz="1600" spc="-50" dirty="0" err="1"/>
              <a:t>라이덴</a:t>
            </a:r>
            <a:r>
              <a:rPr lang="ko-KR" altLang="en-US" sz="1600" spc="-50" dirty="0"/>
              <a:t> 방식이라고 부르기도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63459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678B-2C54-F543-2A64-B6197C36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FB745-5DE7-23ED-764A-03F2033A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정책적인 빈곤선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D00A29-5F89-C886-A807-AC70C3AD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25294-83CB-18CF-D0BF-3229553C8AA7}"/>
              </a:ext>
            </a:extLst>
          </p:cNvPr>
          <p:cNvSpPr txBox="1"/>
          <p:nvPr/>
        </p:nvSpPr>
        <p:spPr>
          <a:xfrm>
            <a:off x="288790" y="958844"/>
            <a:ext cx="1125026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순수한 이론적 관점에서 빈곤을 정의하려는 접근법과 달리 정책적 접근법을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사회의 전반적인 경제적 능력과 그 사회에서 빈곤을 퇴치하려고 하는 의지라는 두 요소에 기초하여 적절한 빈곤선을 선택하는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경우 앞서 설명한 </a:t>
            </a:r>
            <a:r>
              <a:rPr lang="ko-KR" altLang="en-US" sz="1600" spc="-50" dirty="0" err="1"/>
              <a:t>국민기초생활보장제도를</a:t>
            </a:r>
            <a:r>
              <a:rPr lang="ko-KR" altLang="en-US" sz="1600" spc="-50" dirty="0"/>
              <a:t> 예로 들면</a:t>
            </a:r>
            <a:r>
              <a:rPr lang="en-US" altLang="ko-KR" sz="1600" spc="-50" dirty="0"/>
              <a:t>, 2025</a:t>
            </a:r>
            <a:r>
              <a:rPr lang="ko-KR" altLang="en-US" sz="1600" spc="-50" dirty="0"/>
              <a:t>년 생계급여를 지급 받기 위한 기준소득은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인 가구 기준 월 </a:t>
            </a:r>
            <a:r>
              <a:rPr lang="en-US" altLang="ko-KR" sz="1600" spc="-50" dirty="0"/>
              <a:t>195</a:t>
            </a:r>
            <a:r>
              <a:rPr lang="ko-KR" altLang="en-US" sz="1600" spc="-50" dirty="0"/>
              <a:t>만원이다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금액이 합리적인 빈곤선의 기준이라고 볼 수 있는지에 대한 의문의 여지는 많이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금액으로는 최소한의 생계유지가 불가능하다고 지적하는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정부도 그런 상황에 대한 지적을 모르는 것이 아니지만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예산상의 제약 때문에 현실적인 수준으로 올리지 못할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252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F1F20-BFFD-8B79-CD45-D5E28C01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8CC498-F8E3-F728-A493-580FF322EA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A8933B-D2B8-04D3-E28B-3F7B9493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9F26F8B-5AC0-5DD7-76B0-9276D2D7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</a:t>
            </a:r>
            <a:r>
              <a:rPr lang="en-US" altLang="ko-KR" sz="4000" b="1" i="0" spc="150"/>
              <a:t>. </a:t>
            </a:r>
            <a:r>
              <a:rPr lang="ko-KR" altLang="en-US" sz="4000" b="1" i="0" spc="150"/>
              <a:t>재분배정책과 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15861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1F9D-D2C2-8892-CF3D-3C5B8C9D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C7766-70D3-029D-9D16-423675728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재분배정책과 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9D1CB-86FE-F78F-0C64-70966FFB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AEA97-186D-4C10-C99C-03FFD6B04DC1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재분배정책이 갖는 가장 큰 문제는 최소한 단기적으로 경제의 효율성을 감소시킨다는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단적으로 생각해보면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국가가 모든 사람의 생계를 책임진다면 사람들은 일하려는 동기가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‘</a:t>
            </a:r>
            <a:r>
              <a:rPr lang="ko-KR" altLang="en-US" sz="1600" spc="-50" dirty="0" err="1"/>
              <a:t>복지병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이라는 말은 이런 병리현상을 잘 표현하고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공평한 분배를 지향하는 정부의 모든 정책이 효율성 감소를 가져오지는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정책에 따라서 재분배정책이 공평성뿐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효율성 측면에서도 긍정적인 효과를 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그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사회에 만연해 있는 차별을 철폐하여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차별 받고 있는 사람들이 능력을 발휘할 수 있는 일을 가질 수 있게 한다면 공평성과 효율성 모든 측면에서 긍정적인 효과가 나타나는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장기적인 시각에서 보면 공평성과 효율성은 보완적인 관계가 될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써로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(L. </a:t>
            </a:r>
            <a:r>
              <a:rPr lang="en-US" altLang="ko-KR" sz="1600" spc="-50" dirty="0" err="1"/>
              <a:t>Thruow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주류경제학의 이론이 경제의 장기발전에 필수적인 요소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동기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협동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팀워크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간과하고 있다고 지적한다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가지 필수요소가 잘 발휘되기 위해서는 사회구성원들이 공평한 대우를 받고 있다는 느낌을 갖고 있어야 한다고 말한다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088023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13770</TotalTime>
  <Words>3395</Words>
  <Application>Microsoft Office PowerPoint</Application>
  <PresentationFormat>와이드스크린</PresentationFormat>
  <Paragraphs>289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9  재분배정책</vt:lpstr>
      <vt:lpstr>Section 1. 재분배정책에 대한 찬반의견</vt:lpstr>
      <vt:lpstr>재분배정책에 대한 찬반의견</vt:lpstr>
      <vt:lpstr>재분배정책에 대한 찬반의견</vt:lpstr>
      <vt:lpstr>재분배정책에 대한 찬반의견</vt:lpstr>
      <vt:lpstr>재분배정책에 대한 찬반의견</vt:lpstr>
      <vt:lpstr>Section 2. 재분배정책의 실례</vt:lpstr>
      <vt:lpstr>일반적 조세제도</vt:lpstr>
      <vt:lpstr>일반적 조세제도</vt:lpstr>
      <vt:lpstr>사회복지제도</vt:lpstr>
      <vt:lpstr>사회복지제도</vt:lpstr>
      <vt:lpstr>사회복지제도</vt:lpstr>
      <vt:lpstr>부의 소득세제</vt:lpstr>
      <vt:lpstr>부의 소득세제</vt:lpstr>
      <vt:lpstr>부의 소득세제</vt:lpstr>
      <vt:lpstr>부의 소득세제</vt:lpstr>
      <vt:lpstr>근로장려세제</vt:lpstr>
      <vt:lpstr>근로장려세제</vt:lpstr>
      <vt:lpstr>근로장려세제</vt:lpstr>
      <vt:lpstr>기본소득제도</vt:lpstr>
      <vt:lpstr>기본소득제도</vt:lpstr>
      <vt:lpstr>Section 3. 빈곤선의 결정</vt:lpstr>
      <vt:lpstr>빈곤선의 결정</vt:lpstr>
      <vt:lpstr>절대적이며 객관적인 기준에 의한 빈곤선</vt:lpstr>
      <vt:lpstr>상대적이며 객관적인 기준에 의한 빈곤선</vt:lpstr>
      <vt:lpstr>주관적인 기준에 의한 빈곤선</vt:lpstr>
      <vt:lpstr>정책적인 빈곤선</vt:lpstr>
      <vt:lpstr>Section 4. 재분배정책과 효율성</vt:lpstr>
      <vt:lpstr>재분배정책과 효율성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565</cp:revision>
  <dcterms:created xsi:type="dcterms:W3CDTF">2025-07-05T05:15:23Z</dcterms:created>
  <dcterms:modified xsi:type="dcterms:W3CDTF">2026-04-01T02:17:49Z</dcterms:modified>
</cp:coreProperties>
</file>