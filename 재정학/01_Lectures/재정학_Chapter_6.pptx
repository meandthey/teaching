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4"/>
  </p:notesMasterIdLst>
  <p:sldIdLst>
    <p:sldId id="375" r:id="rId2"/>
    <p:sldId id="405" r:id="rId3"/>
    <p:sldId id="550" r:id="rId4"/>
    <p:sldId id="552" r:id="rId5"/>
    <p:sldId id="663" r:id="rId6"/>
    <p:sldId id="664" r:id="rId7"/>
    <p:sldId id="632" r:id="rId8"/>
    <p:sldId id="666" r:id="rId9"/>
    <p:sldId id="665" r:id="rId10"/>
    <p:sldId id="667" r:id="rId11"/>
    <p:sldId id="668" r:id="rId12"/>
    <p:sldId id="669" r:id="rId13"/>
    <p:sldId id="633" r:id="rId14"/>
    <p:sldId id="670" r:id="rId15"/>
    <p:sldId id="671" r:id="rId16"/>
    <p:sldId id="673" r:id="rId17"/>
    <p:sldId id="672" r:id="rId18"/>
    <p:sldId id="674" r:id="rId19"/>
    <p:sldId id="675" r:id="rId20"/>
    <p:sldId id="676" r:id="rId21"/>
    <p:sldId id="677" r:id="rId22"/>
    <p:sldId id="678" r:id="rId23"/>
    <p:sldId id="679" r:id="rId24"/>
    <p:sldId id="680" r:id="rId25"/>
    <p:sldId id="634" r:id="rId26"/>
    <p:sldId id="681" r:id="rId27"/>
    <p:sldId id="682" r:id="rId28"/>
    <p:sldId id="683" r:id="rId29"/>
    <p:sldId id="684" r:id="rId30"/>
    <p:sldId id="685" r:id="rId31"/>
    <p:sldId id="686" r:id="rId32"/>
    <p:sldId id="364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- 6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6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외부성의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외부성의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외부성이라는 이름은 어떤 경제활동이 시장의 테두리 밖에서 일어난다는 뜻에서 붙여졌다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 err="1"/>
              <a:t>외부성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행위가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자에게 </a:t>
            </a:r>
            <a:r>
              <a:rPr lang="ko-KR" altLang="en-US" sz="1600" b="1" spc="-50" dirty="0"/>
              <a:t>의도하지 않은</a:t>
            </a:r>
            <a:r>
              <a:rPr lang="ko-KR" altLang="en-US" sz="1600" spc="-50" dirty="0"/>
              <a:t> 혜택이나 손해를 </a:t>
            </a:r>
            <a:r>
              <a:rPr lang="ko-KR" altLang="en-US" sz="1600" spc="-50" dirty="0" err="1"/>
              <a:t>가져다주는데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대한 </a:t>
            </a:r>
            <a:r>
              <a:rPr lang="ko-KR" altLang="en-US" sz="1600" b="1" spc="-50" dirty="0"/>
              <a:t>대가를 받지도 지불하지 않을 때</a:t>
            </a:r>
            <a:r>
              <a:rPr lang="ko-KR" altLang="en-US" sz="1600" spc="-50" dirty="0"/>
              <a:t> 외부성이 발생한다고 말한다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외부성의 의도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부모가 자식에게 어떤 일을 해줌으로써 자식의 후생이 증진될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이것을 외부성이라고 말할 수는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부모가 자식에게 도움을 주기 위한 명확한 의도가 있기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외부성의 대가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양봉업자와 과수원 주인간에 발생하는 외부성의 예는 널리 알려져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때 두 업자 간 어떤 계약관계에 의해 요금을 지급하고 있는 상황이라면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양봉업자와 과수원 주인간에는 외부성이 발생하고 있지 않은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계약관계에 의해 외부성이 이미 내부화 되었기 때문이다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0B898-DA94-EDB2-88B3-8DB40065E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8A481F-6D1B-5906-7FE5-737DCE115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065401-0EF0-9B58-62DB-B72E0ABBE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E32C36-2F28-878D-EB79-5CA565EA3AB1}"/>
              </a:ext>
            </a:extLst>
          </p:cNvPr>
          <p:cNvSpPr txBox="1"/>
          <p:nvPr/>
        </p:nvSpPr>
        <p:spPr>
          <a:xfrm>
            <a:off x="288790" y="958844"/>
            <a:ext cx="11179048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외부성은 여러 형태로 나타나기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개념적으로 아래와 같이 몇 가지 기준에 의해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해로운</a:t>
            </a:r>
            <a:r>
              <a:rPr lang="en-US" altLang="ko-KR" sz="1600" spc="-50" dirty="0"/>
              <a:t> </a:t>
            </a:r>
            <a:r>
              <a:rPr lang="ko-KR" altLang="en-US" sz="1600" spc="-50" dirty="0" err="1"/>
              <a:t>외부성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이로운 </a:t>
            </a: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환경오염문제는 대표적인 해로운 외부성인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기초학문 분야의 학자들이 지적 호기심을 충족시키기 위해 연구결과를 발표했는데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상업적으로 크게 활용이 되는 경우는 이로운 외부성이라고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생산과정에서의 </a:t>
            </a:r>
            <a:r>
              <a:rPr lang="ko-KR" altLang="en-US" sz="1600" spc="-50" dirty="0" err="1"/>
              <a:t>외부성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소비과정에서의 </a:t>
            </a: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공장에서 방수하고 있는 유독물질은 생산과정에서의 외부성인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가정에서 </a:t>
            </a:r>
            <a:r>
              <a:rPr lang="ko-KR" altLang="en-US" sz="1600" spc="-50" dirty="0" err="1"/>
              <a:t>흘려보내는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오염수는</a:t>
            </a:r>
            <a:r>
              <a:rPr lang="ko-KR" altLang="en-US" sz="1600" spc="-50" dirty="0"/>
              <a:t> 소비과정에서의 외부성이라고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실질적인 </a:t>
            </a:r>
            <a:r>
              <a:rPr lang="ko-KR" altLang="en-US" sz="1600" spc="-50" dirty="0" err="1"/>
              <a:t>외부성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금전적인 </a:t>
            </a: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외부성으로 인해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자에게 의도하지 않은 이득이나 손해가 생길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사람의 효용이나 생산함수에 영향을 주기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외부효과가 발생한 것이라면 실질적인 외부성이 발생했다고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시장가격을 거치지 않음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어떤 행동이 시장가격 변화를 통해 다른 사람에게 영향을 주는 경우를 의미한다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건설회사가 전국 각지에 대규모 토목공사를 시작해서 건축자재의 가격이 폭등했고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때문에 본인 집을 짓고 있던 한 사람이 경제적으로 타격을 입었다면 금전적인 외부성이 발생했다고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시장가격을 거침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32737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4778B-0656-570C-9DA5-F28E851C1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5F6919-1C51-2FDA-719D-F18C1DB3A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767BF2-66DD-F14E-D45A-7207D0EE8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0CD217-3E96-6161-354B-98BCF6F5C07D}"/>
              </a:ext>
            </a:extLst>
          </p:cNvPr>
          <p:cNvSpPr txBox="1"/>
          <p:nvPr/>
        </p:nvSpPr>
        <p:spPr>
          <a:xfrm>
            <a:off x="288790" y="958844"/>
            <a:ext cx="1132576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공공재적 </a:t>
            </a:r>
            <a:r>
              <a:rPr lang="ko-KR" altLang="en-US" sz="1600" spc="-50" dirty="0" err="1"/>
              <a:t>외부성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vs. </a:t>
            </a:r>
            <a:r>
              <a:rPr lang="ko-KR" altLang="en-US" sz="1600" spc="-50" dirty="0" err="1"/>
              <a:t>사용재적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외부성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외부성에 비경합성이 있으면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공공재적 외부성이라고 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예를 들어 오염물질의 경우 어떤 사람이 그로 인해 피해를 입는다고 해서 다른 사람이 입는 피해가 줄어들지 않는다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반대로 한 사람이 소비하면 다른 사람이 소비할 수 있는 양이 줄어드는 </a:t>
            </a:r>
            <a:r>
              <a:rPr lang="ko-KR" altLang="en-US" sz="1600" spc="-50" dirty="0" err="1"/>
              <a:t>사용재적</a:t>
            </a:r>
            <a:r>
              <a:rPr lang="ko-KR" altLang="en-US" sz="1600" spc="-50" dirty="0"/>
              <a:t> 외부성도 존재한다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예를 들어 기업이 근로자들에게 기술훈련을 시키면 근로자의 생산성이 높아지는데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근로자가 다른 기업으로 이동하면 새로운 기업도 이익을 얻는다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이때 그 숙련된 노동자는 동시에 여러 기업에 고용될 수 없기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경합성이 있다고 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5375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외부성과 자원배분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30996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B4D3B-AF8B-A414-B3C9-0EE34B360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CFEFBA-E7A0-B7BE-8DAD-FF9E9048D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 </a:t>
            </a:r>
            <a:r>
              <a:rPr lang="en-US" altLang="ko-KR" dirty="0"/>
              <a:t>(</a:t>
            </a:r>
            <a:r>
              <a:rPr lang="ko-KR" altLang="en-US" dirty="0"/>
              <a:t>직관적 설명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5F8050-7F91-DE3D-B89E-E5CF30847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3DC5EC-4C65-74D9-89A9-3705E99B1A3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완전경쟁시장에서 어떤 상품의 가격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은 그것의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와 같아지고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또 소비자는 본인의 한계편익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같아지는 수준에서 상품의 구입량을 결정한다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등식관계가 성립한다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그런데 여기서 한계편익과 한계비용은 엄밀히 말해 소비자 개인이 인식하는 사적 한계편익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𝑃𝑀𝐵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사적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𝑃𝑀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소비자와 생산자는 자신과 관련된 편익과 비용에 따라 의사결정을 할 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관점에서 측정된 편익과 비용에 입각하여 의사결정을 하지 않기 때문이다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자원배분의 효율성은 사회적 관점에서 평가해야 하기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사회적 한계편익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과 사회적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𝑆𝑀𝐶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이 같을 때 효율적인 자원배분이 이루어진다고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즉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등식관계가 성립해야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외부성이 존재하지 않는 경우에는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𝑀𝐵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관계의 성립은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𝑆𝑀𝐵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관계 성립을 보장하였다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외부성이 없을 때는 사적 한계편익이 사회적 한계편익과 같고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사적 한계비용이 사회적 한계비용과 같기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외부성이 존재할 때는 사적 한계편익이 사회적 한계편익과 달라질 수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사적 한계비용과 사회적 한계비용도 마찬가지</a:t>
                </a:r>
                <a:r>
                  <a:rPr lang="en-US" altLang="ko-KR" sz="1600" spc="-50" dirty="0"/>
                  <a:t>)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예를 들면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해로운 외부성이 소비과정에서 생기면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𝑆𝑀𝐵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생산과정에서 생기면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따라서 완전경쟁이 이루어진다 해도 외부성이 존재하면 자원이 효율적으로 배분되지 못한다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3DC5EC-4C65-74D9-89A9-3705E99B1A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584670"/>
              </a:xfrm>
              <a:prstGeom prst="rect">
                <a:avLst/>
              </a:prstGeom>
              <a:blipFill>
                <a:blip r:embed="rId2"/>
                <a:stretch>
                  <a:fillRect r="-521"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320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561A3-8318-8C57-AA9C-648906721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4957B1-08DB-0FA4-E88D-60DCA1BB6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 </a:t>
            </a:r>
            <a:r>
              <a:rPr lang="en-US" altLang="ko-KR" dirty="0"/>
              <a:t>(</a:t>
            </a:r>
            <a:r>
              <a:rPr lang="ko-KR" altLang="en-US" dirty="0"/>
              <a:t>그림에 의한 설명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4FB77-84B7-A738-810A-369AC8C8B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47E4843-37B0-C134-9910-391C9098C0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24" t="15924" r="21558" b="8217"/>
          <a:stretch>
            <a:fillRect/>
          </a:stretch>
        </p:blipFill>
        <p:spPr>
          <a:xfrm>
            <a:off x="8061570" y="3459392"/>
            <a:ext cx="3804744" cy="26268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A36F0A-7763-F6E5-AD21-6E99BA8366D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8913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화학공장이 방류하는 오염물질 때문에 해로운 외부효과를 만들고 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오염물질 방출량은 화학약품 생산수준이 높아질수록 더 커진다고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이에 따라 주민들의 피해도 더 커지게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공장이 생산물을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 더 늘릴 때 발생하는 사회적 한계피해액 </a:t>
                </a:r>
                <a:r>
                  <a:rPr lang="en-US" altLang="ko-KR" sz="1600" spc="-50" dirty="0"/>
                  <a:t>(social marginal damage,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𝑀𝐷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은 생산수준이 높아짐에 따라 더 커진다고 가정한다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A36F0A-7763-F6E5-AD21-6E99BA836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891352"/>
              </a:xfrm>
              <a:prstGeom prst="rect">
                <a:avLst/>
              </a:prstGeom>
              <a:blipFill>
                <a:blip r:embed="rId3"/>
                <a:stretch>
                  <a:fillRect r="-104" b="-28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D5BFAA5-DDF9-B34A-CCFA-1608D49B31A7}"/>
                  </a:ext>
                </a:extLst>
              </p:cNvPr>
              <p:cNvSpPr txBox="1"/>
              <p:nvPr/>
            </p:nvSpPr>
            <p:spPr>
              <a:xfrm>
                <a:off x="288789" y="3152892"/>
                <a:ext cx="7970172" cy="300710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434975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spc="-50" dirty="0"/>
                  <a:t>경쟁시장의 균형</a:t>
                </a: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화학공장 생산물에 대한 수요곡선은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 표현된다 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 한계비용은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𝑃𝑀𝐶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오염물질로 인한 사회적 한계피해액은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𝑆𝑀𝐷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우선 경쟁시장에서의 균형은 가격과 한계비용이 일치하는 생산수준에서 시장균형이 이루어지게 된다</a:t>
                </a:r>
                <a:r>
                  <a:rPr lang="en-US" altLang="ko-KR" sz="1600" spc="-50" dirty="0"/>
                  <a:t>. 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𝑃𝑀𝐶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와</m:t>
                    </m:r>
                  </m:oMath>
                </a14:m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 spc="-5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곡선의 교차점인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점이 시장균형</a:t>
                </a:r>
                <a:r>
                  <a:rPr lang="en-US" altLang="ko-KR" sz="1600" spc="-50" dirty="0"/>
                  <a:t>)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화학공장이 사회적 관점에서 보지 않고 이윤극대화만 목표를 삼고 있는 경우 화학약품의 </a:t>
                </a:r>
                <a:r>
                  <a:rPr lang="ko-KR" altLang="en-US" sz="1600" spc="-50" dirty="0" err="1"/>
                  <a:t>균형산출량은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D5BFAA5-DDF9-B34A-CCFA-1608D49B3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152892"/>
                <a:ext cx="7970172" cy="3007105"/>
              </a:xfrm>
              <a:prstGeom prst="rect">
                <a:avLst/>
              </a:prstGeom>
              <a:blipFill>
                <a:blip r:embed="rId4"/>
                <a:stretch>
                  <a:fillRect r="-917" b="-16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12798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B751C-12C7-76ED-4965-670CB7E81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B0EDA0-6A8C-4F56-2B93-EF01B8BAE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 </a:t>
            </a:r>
            <a:r>
              <a:rPr lang="en-US" altLang="ko-KR" dirty="0"/>
              <a:t>(</a:t>
            </a:r>
            <a:r>
              <a:rPr lang="ko-KR" altLang="en-US" dirty="0"/>
              <a:t>그림에 의한 설명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A3B2E0-CF8E-18C7-3276-CE3D19D59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82D562-2933-C0E2-6EC7-3489FC57109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434975" indent="-34290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ko-KR" altLang="en-US" sz="1600" spc="-50" dirty="0"/>
                  <a:t>최적배분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/>
                  <a:t>사회적 관점에서 보았을 때의 </a:t>
                </a:r>
                <a:r>
                  <a:rPr lang="ko-KR" altLang="en-US" sz="1600" spc="-50" dirty="0" err="1"/>
                  <a:t>최적산출량은</a:t>
                </a:r>
                <a:r>
                  <a:rPr lang="ko-KR" altLang="en-US" sz="1600" spc="-50" dirty="0"/>
                  <a:t> 어떻게 될까</a:t>
                </a:r>
                <a:r>
                  <a:rPr lang="en-US" altLang="ko-KR" sz="1600" spc="-50" dirty="0"/>
                  <a:t>?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 관점에서 최적 배분이 달성되기 위해서는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조건이 충족되어야 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 한계비용을 나타내는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𝑃𝑀𝐶</m:t>
                    </m:r>
                  </m:oMath>
                </a14:m>
                <a:r>
                  <a:rPr lang="ko-KR" altLang="en-US" sz="1600" spc="-5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𝑆𝑀𝐷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곡선을 수직방향으로 더해 도출할 수 있다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사회적 한계비용은 사적 한계비용에 오염물질로 인한 사회적 한계피해액을 더한 것과 같기 때문이다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수요곡선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𝑆𝑀𝐶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ko-KR" altLang="en-US" sz="1600" spc="-50" dirty="0"/>
                  <a:t>점에서 위 조건이 충족된다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따라서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가 최적생산수준이 된다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가</m:t>
                    </m:r>
                  </m:oMath>
                </a14:m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보다 큰 것을 알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해로운 외부성이 있다면 시장은 과잉생산의 경향이 있음을 의미한다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882D562-2933-C0E2-6EC7-3489FC571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blipFill>
                <a:blip r:embed="rId2"/>
                <a:stretch>
                  <a:fillRect b="-208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D5B851CB-8EE0-84B3-2CDF-5DA371FA7A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95" t="16790" r="21683" b="8332"/>
          <a:stretch>
            <a:fillRect/>
          </a:stretch>
        </p:blipFill>
        <p:spPr>
          <a:xfrm>
            <a:off x="3926376" y="3771014"/>
            <a:ext cx="4001734" cy="2808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163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9ECF4-B77B-009C-3801-103945D1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A695CA-FB53-73EF-0135-7903220A5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 </a:t>
            </a:r>
            <a:r>
              <a:rPr lang="en-US" altLang="ko-KR" dirty="0"/>
              <a:t>(</a:t>
            </a:r>
            <a:r>
              <a:rPr lang="ko-KR" altLang="en-US" dirty="0"/>
              <a:t>그림에 의한 설명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322F2B-ECFB-5E16-44B7-5054EBEC0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0B6F1B8-576D-FA9F-BB4B-A806081CCBB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26068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외부성에 의한 과잉생산을 사회후생 측면에서 어떻게 평가할 수 있을까</a:t>
                </a:r>
                <a:r>
                  <a:rPr lang="en-US" altLang="ko-KR" sz="1600" spc="-50" dirty="0"/>
                  <a:t>?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줄어들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사회후생이 당연히 증가할 텐데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증가폭이 외부성에 의한 사회후생의 손실을 뜻하는 것으로 해석할 수 있다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생산량이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줄어들면 사회후생에 두 가지 효과가 발생한다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첫번째로는 오염물질 배출량이 줄어들 것이기 때문에 오염물질로 인한 사회적 피해가 줄어든다는 긍정적 효과이다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두번째로는 상품 생산량 감소의 결과 생산자잉여와 소비자잉여가 줄어들어 사회후생이 감소하는 부정적 효과이다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0B6F1B8-576D-FA9F-BB4B-A806081CCB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260683"/>
              </a:xfrm>
              <a:prstGeom prst="rect">
                <a:avLst/>
              </a:prstGeom>
              <a:blipFill>
                <a:blip r:embed="rId2"/>
                <a:stretch>
                  <a:fillRect r="-52"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0F6E68BE-632B-F0CE-57DD-EAE9078071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95" t="16790" r="21683" b="8332"/>
          <a:stretch>
            <a:fillRect/>
          </a:stretch>
        </p:blipFill>
        <p:spPr>
          <a:xfrm>
            <a:off x="7884543" y="3728681"/>
            <a:ext cx="4001734" cy="28082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1A5C39-443E-5EC9-F5C9-8ABE306B21FA}"/>
                  </a:ext>
                </a:extLst>
              </p:cNvPr>
              <p:cNvSpPr txBox="1"/>
              <p:nvPr/>
            </p:nvSpPr>
            <p:spPr>
              <a:xfrm>
                <a:off x="288789" y="3152892"/>
                <a:ext cx="7534411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아래 그림을 통해 두 가지 효과를 비교해보자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오염물질 배출 감소로 인한 피해감소는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변할 때까지의 한계피해액을 모두 더하면 된다</a:t>
                </a:r>
                <a:r>
                  <a:rPr lang="en-US" altLang="ko-KR" sz="1600" spc="-50" dirty="0"/>
                  <a:t>. 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참고로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 면적은 그림 위쪽의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𝐺𝐼𝐹𝐻</m:t>
                    </m:r>
                  </m:oMath>
                </a14:m>
                <a:r>
                  <a:rPr lang="ko-KR" altLang="en-US" sz="1600" spc="-50" dirty="0"/>
                  <a:t>의 면적과 똑같음을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생산량 감소로 인한 후생손실은 연두색 삼각형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𝐺𝐼𝐹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면적과 같다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논의를 종합하면 화학약품 생산수준을 사회적 최적 수준으로 떨어뜨릴 때 생기는 긍정적 효과가 부정적 효과보다 커서 사회후생이 증가하게 되었다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𝐺𝐼𝐹𝐻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𝐺𝐼𝐹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𝐺𝐹𝐻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이므로 </a:t>
                </a:r>
                <a:r>
                  <a:rPr lang="ko-KR" altLang="en-US" sz="1600" spc="-50" dirty="0" err="1"/>
                  <a:t>외부성</a:t>
                </a:r>
                <a:r>
                  <a:rPr lang="ko-KR" altLang="en-US" sz="1600" spc="-50" dirty="0"/>
                  <a:t> 때문에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𝐺𝐹𝐻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 사회후생손실이 발생했다는 말과 같다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1A5C39-443E-5EC9-F5C9-8ABE306B2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152892"/>
                <a:ext cx="7534411" cy="3368679"/>
              </a:xfrm>
              <a:prstGeom prst="rect">
                <a:avLst/>
              </a:prstGeom>
              <a:blipFill>
                <a:blip r:embed="rId4"/>
                <a:stretch>
                  <a:fillRect r="-566" b="-12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61403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9B042-CDB3-DE59-1557-409FDEDE7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6607B3-6E05-742B-52A9-660D3B5BC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외부성의 비효율성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E55C85-4CE3-50FE-92B6-8164BFFB8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2B0DE06-4888-0F65-947C-108059928A9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434975" indent="-342900">
                  <a:lnSpc>
                    <a:spcPct val="150000"/>
                  </a:lnSpc>
                  <a:buFont typeface="+mj-lt"/>
                  <a:buAutoNum type="arabicPeriod" startAt="3"/>
                </a:pPr>
                <a:r>
                  <a:rPr lang="ko-KR" altLang="en-US" sz="1600" spc="-50" dirty="0"/>
                  <a:t>환경보존정책상의 함의</a:t>
                </a:r>
                <a:endParaRPr lang="en-US" altLang="ko-KR" sz="1600" spc="-50" dirty="0"/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지금까지 논리에서 중요한 의미를 갖는 것은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앞서 살펴본 모형에서 찾아낸 가장 바람직한 오염물질 배출수준은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아니라는 점이다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오염물질 배출 수준을 아주 낮은 수준으로 억제하면 직접피해는 많이 줄겠지만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생산수준을 낮추는 데서 오는 사회적 순편익의 감소라는 부정적인 효과가 발생한다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현상은 지금까지 살펴본 그림에서 생산수준이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이하로 떨어질 경우 나타나기 시작한다</a:t>
                </a:r>
                <a:r>
                  <a:rPr lang="en-US" altLang="ko-KR" sz="1600" spc="-50" dirty="0"/>
                  <a:t>. 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따라서 오염물질 배출량을 너무 낮추는 것은 바람직한 일이 될 수 없다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2B0DE06-4888-0F65-947C-108059928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67696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문제 해결의 여러 방법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8726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D3114-CEA2-8BAC-6D99-8E15E856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938B05-E622-9E5E-41ED-560887A78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문제의 해결 방법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11C7AC-FDFC-5995-45A8-8BA14979D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76CDF0-457B-F031-7411-0931876F8B70}"/>
              </a:ext>
            </a:extLst>
          </p:cNvPr>
          <p:cNvSpPr txBox="1"/>
          <p:nvPr/>
        </p:nvSpPr>
        <p:spPr>
          <a:xfrm>
            <a:off x="288790" y="958844"/>
            <a:ext cx="1117904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 지구적으로 환경오염 문제의 심각성이 더해 가고 있는 것은 외부성이 개재되어 있어 시장이 자율적으로 이 문제를 해결할 수 없기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그러므로 정책적 개입을 통해 외부성을 극복할 수 있는 방안을 마련해야 비로소 환경이 적절하게 보존될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외부성이 존재하는 상황에서 정부가 어떤 역할을 해야 한다는 사실에는 대부분 동의를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구체적으로 어떤 역할을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방식으로 개입을 하는 것이 </a:t>
            </a:r>
            <a:r>
              <a:rPr lang="ko-KR" altLang="en-US" sz="1600" spc="-50" dirty="0" err="1"/>
              <a:t>바람직한가에</a:t>
            </a:r>
            <a:r>
              <a:rPr lang="ko-KR" altLang="en-US" sz="1600" spc="-50" dirty="0"/>
              <a:t> 대해서는 의견이 쉽게 일치되지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환경정책은 기본적으로 아래의 두가지 방식으로 나누어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시장을 활용하는 방식 </a:t>
            </a:r>
            <a:r>
              <a:rPr lang="en-US" altLang="ko-KR" sz="1600" spc="-50" dirty="0"/>
              <a:t>(market-based approach)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직접통제 방식 </a:t>
            </a:r>
            <a:r>
              <a:rPr lang="en-US" altLang="ko-KR" sz="1600" spc="-50" dirty="0"/>
              <a:t>(command-and-control)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02532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C6BC5-DF21-5B17-5F8D-E6ED8AC85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BC766A-E1C6-59E6-3EFF-A6F958294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EF2066-C89D-1E7C-934D-4E926BCD3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7DCB8F-747F-1E89-3F49-8E115C35C94F}"/>
              </a:ext>
            </a:extLst>
          </p:cNvPr>
          <p:cNvSpPr txBox="1"/>
          <p:nvPr/>
        </p:nvSpPr>
        <p:spPr>
          <a:xfrm>
            <a:off x="288790" y="958844"/>
            <a:ext cx="11179048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시장을 활용하는 방식은 오염물질 배출자를 직접 통제하는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적절한 유인을 제공하여 스스로 배출을 억제하도록 유도한다는 특징을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유인을 제공하고 나머지는 시장이 알아서 처리하는 방식이므로 정책이 유연하게 운영될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효율적으로 환경목표를 달성할 수 있는 장점이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직접통제방식의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많은 양의 정보를 알고 있어야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방식은 상대적으로 적은 정보를 필요로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장기적인 관점에서도 효율적이고 경제적인 정화기술의 개발을 촉진시킨다는 점도 큰 장점이다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시장을 활용하는 방식의 대표적인 예로는 </a:t>
            </a:r>
            <a:r>
              <a:rPr lang="en-US" altLang="ko-KR" sz="1600" spc="-50" dirty="0"/>
              <a:t>1) </a:t>
            </a:r>
            <a:r>
              <a:rPr lang="ko-KR" altLang="en-US" sz="1600" spc="-50" dirty="0"/>
              <a:t>환경세 부과</a:t>
            </a:r>
            <a:r>
              <a:rPr lang="en-US" altLang="ko-KR" sz="1600" spc="-50" dirty="0"/>
              <a:t>,  2)</a:t>
            </a:r>
            <a:r>
              <a:rPr lang="ko-KR" altLang="en-US" sz="1600" spc="-50" dirty="0"/>
              <a:t>오염물질 배출권 거래제가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55965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A034A-6960-5979-598E-3D2499B3F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CFE015-75F4-2B9F-895E-B4CCEF1DA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환경세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FE2A75-1ABF-2BE5-5D31-180029314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40892C-62A5-5E81-156B-50FC85CFE49B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환경세 부과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 절에서는 오염물질 방출 기업이 오염물질에 대한 대가를 지불하지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개인적인 관점에서 인식하는 생산비용이 사회적 생산비용보다 낮아졌고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 과잉생산이 나타났다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그러므로 기업들이 사회적 생산수준을 선택하도록 유도하기 위해서는 오염물질 배출 행위에 대해 조세를 부과하여 개인적 생산비용을 사회적 생산비용의 수준으로 끌어올려야 할 필요가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바로 이 생각에서 나온 것이 환경세이다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혹은 피구</a:t>
            </a:r>
            <a:r>
              <a:rPr lang="en-US" altLang="ko-KR" sz="1600" spc="-50" dirty="0"/>
              <a:t>(A. Pigou)</a:t>
            </a:r>
            <a:r>
              <a:rPr lang="ko-KR" altLang="en-US" sz="1600" spc="-50" dirty="0"/>
              <a:t>가 처음 아이디어를 제시하여 피구세라고 부르기도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환경세의 세율을 어떤 수준으로 설정해야 오염물질 배출을 적정수준으로 유도할 수 있는지 알아봐야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결론부터 얘기하면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환경세 세율은 최적배분상태에서 오염물질이 초래하는 한계피해액과 일치되어야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화학약품의 최적생산수준이 연간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만 단위인데</a:t>
            </a:r>
            <a:r>
              <a:rPr lang="en-US" altLang="ko-KR" sz="1600" spc="-50" dirty="0"/>
              <a:t>, 3</a:t>
            </a:r>
            <a:r>
              <a:rPr lang="ko-KR" altLang="en-US" sz="1600" spc="-50" dirty="0"/>
              <a:t>만 단위 째의 화공약품을 생산할 때 배출되는 오염물질이 </a:t>
            </a:r>
            <a:r>
              <a:rPr lang="ko-KR" altLang="en-US" sz="1600" spc="-50" dirty="0" err="1"/>
              <a:t>가져다주는</a:t>
            </a:r>
            <a:r>
              <a:rPr lang="ko-KR" altLang="en-US" sz="1600" spc="-50" dirty="0"/>
              <a:t> 한계피해액이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백원이라고 하자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경우에는 화학약품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단위당 </a:t>
            </a:r>
            <a:r>
              <a:rPr lang="en-US" altLang="ko-KR" sz="1600" spc="-50" dirty="0"/>
              <a:t>2</a:t>
            </a:r>
            <a:r>
              <a:rPr lang="ko-KR" altLang="en-US" sz="1600" spc="-50" dirty="0" err="1"/>
              <a:t>백원의</a:t>
            </a:r>
            <a:r>
              <a:rPr lang="ko-KR" altLang="en-US" sz="1600" spc="-50" dirty="0"/>
              <a:t> 환경세를 부과함으로써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최적생산수준인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만 단위의 생산수준을 달성할 수 있다</a:t>
            </a:r>
            <a:r>
              <a:rPr lang="en-US" altLang="ko-KR" sz="1600" spc="-50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699487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C26B-B254-5F6B-8DEF-85CACA6FD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B243-188A-F757-8C03-FE11B3371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환경세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72918-89E3-9FB7-21D0-C456101A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580E66-5826-520E-6038-D5E3007FC7A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0000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92175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내용을 그림으로 살펴보면 아래와 같다</a:t>
                </a:r>
                <a:r>
                  <a:rPr lang="en-US" altLang="ko-KR" sz="1600" spc="-50" dirty="0"/>
                  <a:t>. 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 최적생산수준이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사회적 최적생산수준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오염물질이 초래하는 한계피해액은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𝑆𝑀𝐷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곡선의 높이인 선분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길이가 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논리에 따르면 단위당 환경세율은 선분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길이만큼 되어야 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화학약품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단위를 생산하는 데 사적 한계비용은 선분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길이만큼 더 커지게 된다</a:t>
                </a:r>
                <a:r>
                  <a:rPr lang="en-US" altLang="ko-KR" sz="1600" spc="-50" dirty="0"/>
                  <a:t>.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환경세가 포함된 새로운 사적 한계비용은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𝑃𝑀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곡선이 된다</a:t>
                </a:r>
                <a:r>
                  <a:rPr lang="en-US" altLang="ko-KR" sz="1600" spc="-50" dirty="0"/>
                  <a:t>. 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𝑃𝑀𝐶</m:t>
                    </m:r>
                  </m:oMath>
                </a14:m>
                <a:r>
                  <a:rPr lang="ko-KR" altLang="en-US" sz="1600" spc="-50" dirty="0"/>
                  <a:t>곡선을 선분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𝐽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길이만큼 들어올림</a:t>
                </a:r>
                <a:r>
                  <a:rPr lang="en-US" altLang="ko-KR" sz="1600" spc="-50" dirty="0"/>
                  <a:t>)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이제 경쟁적 시장에서의 균형이 한계비용곡선과 수요곡선의 교차점에서 이루어진다는 점을 생각하면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환경세가 부과된 후에는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ko-KR" altLang="en-US" sz="1600" spc="-50" dirty="0"/>
                  <a:t>점에서 균형이 이루어진다는 것을 알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580E66-5826-520E-6038-D5E3007FC7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000052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F070B211-95CF-8057-440D-29EEA74B37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11" t="15869" r="23826" b="8032"/>
          <a:stretch>
            <a:fillRect/>
          </a:stretch>
        </p:blipFill>
        <p:spPr>
          <a:xfrm>
            <a:off x="7920567" y="3805766"/>
            <a:ext cx="3885433" cy="27311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437C4EE-507E-8E28-26D4-196D1A46B517}"/>
                  </a:ext>
                </a:extLst>
              </p:cNvPr>
              <p:cNvSpPr txBox="1"/>
              <p:nvPr/>
            </p:nvSpPr>
            <p:spPr>
              <a:xfrm>
                <a:off x="288789" y="3899652"/>
                <a:ext cx="7534411" cy="115268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종합해보면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최적생산수준에서의 한계피해액을 세율로 하는 환경세를 부과하면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이윤극대화를 추구하는 생산자들은 자발적으로 최적생산수준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선택하게 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437C4EE-507E-8E28-26D4-196D1A46B5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899652"/>
                <a:ext cx="7534411" cy="1152688"/>
              </a:xfrm>
              <a:prstGeom prst="rect">
                <a:avLst/>
              </a:prstGeom>
              <a:blipFill>
                <a:blip r:embed="rId4"/>
                <a:stretch>
                  <a:fillRect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4305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FE651-F3C9-7C5F-4F85-D636B3084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EB871-0501-2432-227C-FF20A23E4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환경세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6EDB95-74C4-48F5-ECDF-5E41A6630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CB50B-1B33-1DEE-B6D1-FFCC07AB9541}"/>
              </a:ext>
            </a:extLst>
          </p:cNvPr>
          <p:cNvSpPr txBox="1"/>
          <p:nvPr/>
        </p:nvSpPr>
        <p:spPr>
          <a:xfrm>
            <a:off x="288790" y="958844"/>
            <a:ext cx="1117904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현실 상황에서 최적세율을 찾아내는 것은 힘든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최적세율을 알아내기 위해서 이론적으로 최적배분상태가 무엇인지 알아야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현실에서 관찰되는 배분상태는 최적배분상태가 아니기 때문에 실제로 측정된 한계피해액에 의거해 결정한 세율은 최적세율이 될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가상적 배분상태에서 초래되는 한계피해액을 계산하는 과정을 거쳐야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 존재하지도 않는 최적배분상태에서의 한계피해액을 미리 알아내 세율을 결정하는 것은 더욱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경쟁이 불완전한 상황에서는 앞에서 본 논리에 따라 정확한 최적세율을 찾아 환경세를 부과한다 해도 최적자원배분이 실현된다는 보장이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환경세를 누구에게 어떤 방식으로 부과해야 하는지도 문제가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마지막으로 오염물질 배출자의 행동에 대한 적절한 감시가 가능한지 의문이다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현실적인 어려움에도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 경제학자들은 환경세 제도가 시장기구에 의해 문제해결을 시도한다는 점에서 호의적인 평가를 내리고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스웨덴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노르웨이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덴마크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칠레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여러 국가에서 탄소세를 시행하고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010506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B6214-29ED-166A-F12D-0AE762653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1F15B7-7B6A-A69C-C7E8-150B14FA3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6B06AE-6E8F-6C96-C327-337F30342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EF6D26-6F3C-0535-596E-74808C4F400D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spc="-50" dirty="0"/>
              <a:t>배출권 거래제도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배출권 거래제도는 일정한 양의 오염물질 배출권을 보유하고 있는 경제주체만 오염물질을 배출할 수 있게 허용하는 방식이다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관점에서 적절하다고 판단하는 오염물질 배출량을 파악하고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배출량이 이 수준 이내에 머물 수 있도록 배출권 </a:t>
            </a:r>
            <a:r>
              <a:rPr lang="ko-KR" altLang="en-US" sz="1600" spc="-50" dirty="0" err="1"/>
              <a:t>발행량을</a:t>
            </a:r>
            <a:r>
              <a:rPr lang="ko-KR" altLang="en-US" sz="1600" spc="-50" dirty="0"/>
              <a:t> 통제한다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배출권은 시장에서 자유로이 교환될 수 있도록 만들어지는데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통해 시장의 힘을 빌려 환경오염의 문제를 해결할 수 있는 길이 열린다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아래와 같이 여러 장점들이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장점</a:t>
            </a:r>
            <a:r>
              <a:rPr lang="en-US" altLang="ko-KR" sz="1600" spc="-50" dirty="0"/>
              <a:t>1) </a:t>
            </a:r>
            <a:r>
              <a:rPr lang="ko-KR" altLang="en-US" sz="1600" spc="-50" dirty="0"/>
              <a:t>배출권 제도는 환경보존과 관련된 비용을 절약할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두 기업이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각 기업이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단위씩 오염물질을 배출하고 있다고 하자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기업은 자체정화를 통해 오염물질 배출을 억제할 수 있는데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단위당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백만원의 비용이 들고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백만원의 비용이 든다고 해보자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상황에서 정부가 배출권 거래제를 실시한다면 어떤 일이 일어날지 살펴보자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61330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720F0-7801-47CE-AACD-3F2B2DEE4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E9CB7-2225-B795-1BC6-89B1AB5E6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E322E0-61BA-2E3F-62E2-8E00FBCEC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02CA5F-3685-A1FE-A8F2-C63BA720FE94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시행 초기에 각 기업에게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단위씩 배출권을 발급하고 이를 자유롭게 교환할 수 있도록 허용했다고 하자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이때 각 기업은 자체정화에 드는 단위비용과 배출권의 가격을 비교해서 배출권을 추가로 구입할 것인지 아니면 갖고 있는 것을 팔 것인지 결정하게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단위당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백만원의 정화비용을 지출해야 하는 기업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배출권의 단위당 가격이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백만원 미만이면 이를 사려고 할 것이다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반면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배출권의 단위당 가격이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백만원을 넘으면 이를 팔려고 내놓을 것이다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결국에 단위당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백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십만원의 가격으로 기업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기업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로부터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단위를 배출할 수 있는 권리를 구입했다고 하자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간단히 계산을 해보면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기업 모두 각각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천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백만원씩의 이득을 얻게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는 배출권 판매를 통해 </a:t>
            </a:r>
            <a:r>
              <a:rPr lang="en-US" altLang="ko-KR" sz="1600" spc="-50" dirty="0"/>
              <a:t>10,500 (350x30)</a:t>
            </a:r>
            <a:r>
              <a:rPr lang="ko-KR" altLang="en-US" sz="1600" spc="-50" dirty="0"/>
              <a:t>만큼 수익을 얻고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대신 정화비용으로 </a:t>
            </a:r>
            <a:r>
              <a:rPr lang="en-US" altLang="ko-KR" sz="1600" spc="-50" dirty="0"/>
              <a:t>6,000 (200*30)</a:t>
            </a:r>
            <a:r>
              <a:rPr lang="ko-KR" altLang="en-US" sz="1600" spc="-50" dirty="0"/>
              <a:t>을 지불했다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는 배출권 구입을 위해 </a:t>
            </a:r>
            <a:r>
              <a:rPr lang="en-US" altLang="ko-KR" sz="1600" spc="-50" dirty="0"/>
              <a:t>10,500 (350x30)</a:t>
            </a:r>
            <a:r>
              <a:rPr lang="ko-KR" altLang="en-US" sz="1600" spc="-50" dirty="0"/>
              <a:t>만큼 지불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대신 정화비용을 </a:t>
            </a:r>
            <a:r>
              <a:rPr lang="en-US" altLang="ko-KR" sz="1600" spc="-50" dirty="0"/>
              <a:t>15,000 (500x30)</a:t>
            </a:r>
            <a:r>
              <a:rPr lang="ko-KR" altLang="en-US" sz="1600" spc="-50" dirty="0"/>
              <a:t>을 아낄 수 있었다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이렇게 배출권 교환을 통해 두 기업이 모두 이득을 얻을 수 있기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이들은 흔쾌히 교환을 할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위의 교환이 환경보존과 관련된 비용을 절약시켜주는 효과를 냈다는 사실이다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배출권 거래제도가 실시된 이후에도 오염물질 배출량은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단위로 머물지만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기업이 지출하는 자체정화비용의 총합은 종전보다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천만원이 줄어들게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효율적인 정화시설을 갖고 있는 기업이 조금 더 정화를 많이 하게 된 덕분이다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810024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57693-019B-2BAA-6838-D382C1881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0C312B-AA76-4FF4-9859-F1DC68645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FC7F50-1EE7-F276-2635-1C994A65C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48A4D-DFDF-0996-ACF9-4F310C2F8D06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장점</a:t>
            </a:r>
            <a:r>
              <a:rPr lang="en-US" altLang="ko-KR" sz="1600" spc="-50" dirty="0"/>
              <a:t>2) </a:t>
            </a:r>
            <a:r>
              <a:rPr lang="ko-KR" altLang="en-US" sz="1600" spc="-50" dirty="0"/>
              <a:t>배출권 거래제도는 환경세에 비해 오염물질 배출량을 비교적 쉽게 통제할 수 있다는 점이다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환경세의 경우 유인구조를 만들고 나머지는 시장에 맡겨두기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뜻하지 않은 변수들이 개입하여 원하는 오염물질 배출량을 달성하지 못할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배출권 거래제는 쉽게 오염물질 배출량을 통제할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장점</a:t>
            </a:r>
            <a:r>
              <a:rPr lang="en-US" altLang="ko-KR" sz="1600" spc="-50" dirty="0"/>
              <a:t>3) </a:t>
            </a:r>
            <a:r>
              <a:rPr lang="ko-KR" altLang="en-US" sz="1600" spc="-50" dirty="0"/>
              <a:t>배출권 거래제도는 경제상황에 쉽게 적응할 수 있는 신축성이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환경세의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인플레이션이 발생하면 새로운 세율을 정하는 등 </a:t>
            </a:r>
            <a:r>
              <a:rPr lang="ko-KR" altLang="en-US" sz="1600" spc="-50" dirty="0" err="1"/>
              <a:t>정챙</a:t>
            </a:r>
            <a:r>
              <a:rPr lang="ko-KR" altLang="en-US" sz="1600" spc="-50" dirty="0"/>
              <a:t> 당국이 상황 적응에 많은 노력을 투입해야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배출권 거래제도는 여러가지 문제가 있기도 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단점</a:t>
            </a:r>
            <a:r>
              <a:rPr lang="en-US" altLang="ko-KR" sz="1600" spc="-50" dirty="0"/>
              <a:t>1) </a:t>
            </a:r>
            <a:r>
              <a:rPr lang="ko-KR" altLang="en-US" sz="1600" spc="-50" dirty="0"/>
              <a:t>제도 시행 초기단계에서 어떤 기준으로 배출권을 분배해야 하느냐는 것이다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시장에서 거래될 수 있는 배출권은 일종의 이권과 같은 것이기 때문에 공평한 기준이 필요하다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단점</a:t>
            </a:r>
            <a:r>
              <a:rPr lang="en-US" altLang="ko-KR" sz="1600" spc="-50" dirty="0"/>
              <a:t>2) </a:t>
            </a:r>
            <a:r>
              <a:rPr lang="ko-KR" altLang="en-US" sz="1600" spc="-50" dirty="0"/>
              <a:t>산업의 경쟁질서를 해치는 결과를 초래할 수도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기업이 배출권을 모두 사버리면 다른 기업들의 진입을 원천적으로 봉쇄할 가능성이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산업에 새롭게 진입하는 기업은 기술이 아직 성숙하지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배출권이 필요할 수도 있기 때문이다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4311660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1B504-AA07-92E5-3AA4-71964EF64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57AA20-A650-015C-F1EC-4BAAC643B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43D559-A929-1B40-076C-79A925618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0CC257-6956-8D88-C8BC-17E4E5C3563C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단점</a:t>
            </a:r>
            <a:r>
              <a:rPr lang="en-US" altLang="ko-KR" sz="1600" spc="-50" dirty="0"/>
              <a:t>3) </a:t>
            </a:r>
            <a:r>
              <a:rPr lang="ko-KR" altLang="en-US" sz="1600" spc="-50" dirty="0"/>
              <a:t>배출권 거래시장에 참여하는 경제주체의 수가 매우 적다는 사실도 문제가 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시장이 제대로 기능하기 위해서는 많은 수의 수요자와 공급자가 필요한데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소수만 참여하는 경우 배분이 효율적이지 못할 가능성이 높다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단점</a:t>
            </a:r>
            <a:r>
              <a:rPr lang="en-US" altLang="ko-KR" sz="1600" spc="-50" dirty="0"/>
              <a:t>4) </a:t>
            </a:r>
            <a:r>
              <a:rPr lang="ko-KR" altLang="en-US" sz="1600" spc="-50" dirty="0"/>
              <a:t>배출권이 유효한 지역의 범위와 오염물질이 영향을 미치는 지역의 범위가 서로 다를 때 문제가 발생한다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벤젠</a:t>
            </a:r>
            <a:r>
              <a:rPr lang="en-US" altLang="ko-KR" sz="1600" spc="-50" dirty="0"/>
              <a:t>(benzene) </a:t>
            </a:r>
            <a:r>
              <a:rPr lang="ko-KR" altLang="en-US" sz="1600" spc="-50" dirty="0"/>
              <a:t>같은 유독물질은 공기 중에 잘 섞이지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배출이 일어난 지점 주변의 오염도가 특히 높아지는 현상이 발생한다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그런데 배출권이 유효한 지역이 광범위해서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아주 먼 곳에 떨어져 있는 기업</a:t>
            </a:r>
            <a:r>
              <a:rPr lang="en-US" altLang="ko-KR" sz="1600" spc="-50" dirty="0"/>
              <a:t>D</a:t>
            </a:r>
            <a:r>
              <a:rPr lang="ko-KR" altLang="en-US" sz="1600" spc="-50" dirty="0"/>
              <a:t>로부터 배출권을 구입해 왔다고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그렇게 되면 기업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위치한 지역의 벤젠 오염도는 기준치 이상으로 솟아오르는 결과가 나타날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벤젠이 아닌 온실가스의 경우 대기 중에 골고루 퍼지기 때문에 별 문제는 없다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985036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4478F-185E-F220-151A-A18E91436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11EBDA-CC2F-3EB2-6115-E95BF6720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 </a:t>
            </a:r>
            <a:r>
              <a:rPr lang="en-US" altLang="ko-KR" dirty="0"/>
              <a:t>(</a:t>
            </a:r>
            <a:r>
              <a:rPr lang="ko-KR" altLang="en-US" dirty="0"/>
              <a:t>배출권 거래제도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B5D7CF-712D-19A5-88C0-5478A576C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0E7E01-EA04-9911-D65A-6202A301EB4C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배출권 거래제도가 크게 성공한 사례는 미국에서는 </a:t>
            </a:r>
            <a:r>
              <a:rPr lang="en-US" altLang="ko-KR" sz="1600" dirty="0"/>
              <a:t>1995</a:t>
            </a:r>
            <a:r>
              <a:rPr lang="ko-KR" altLang="en-US" sz="1600" dirty="0"/>
              <a:t>년에 산성비 문제를 해결하기 위해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이산화황에 대해 </a:t>
            </a:r>
            <a:r>
              <a:rPr lang="ko-KR" altLang="en-US" sz="1600" dirty="0" err="1"/>
              <a:t>배출권시장을</a:t>
            </a:r>
            <a:r>
              <a:rPr lang="ko-KR" altLang="en-US" sz="1600" dirty="0"/>
              <a:t> 만든 바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석탄을 많이 사용한 전력회사들이 이 배출권 시장의 주요 거래자였는데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배출권 시장이 산성비 문제 해결에 상당한 도움을 준 것으로 </a:t>
            </a:r>
            <a:r>
              <a:rPr lang="ko-KR" altLang="en-US" sz="1600" dirty="0" err="1"/>
              <a:t>알려져있다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최근에는 기후변화 대응을 위해 이산화탄소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매우 활발하게 작동하고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지구온난화와 관련해 온실가스 감축을 위한 전 세계적인 공조체제가 필요하다는 인식 하에 교토의정서</a:t>
            </a:r>
            <a:r>
              <a:rPr lang="en-US" altLang="ko-KR" sz="1600" dirty="0"/>
              <a:t>(Kyoto Protocol)</a:t>
            </a:r>
            <a:r>
              <a:rPr lang="ko-KR" altLang="en-US" sz="1600" dirty="0"/>
              <a:t>에 합의하게 되었는데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이것이 국제적 차원의 이산화탄소 </a:t>
            </a:r>
            <a:r>
              <a:rPr lang="ko-KR" altLang="en-US" sz="1600" dirty="0" err="1"/>
              <a:t>배출권시장의</a:t>
            </a:r>
            <a:r>
              <a:rPr lang="ko-KR" altLang="en-US" sz="1600" dirty="0"/>
              <a:t> 형성을 가져온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교토의정서 체제하에서는 각 나라는 온실가스 배출량을 일정 정도로 감축할 의무를 갖는데</a:t>
            </a:r>
            <a:r>
              <a:rPr lang="en-US" altLang="ko-KR" sz="1600" dirty="0"/>
              <a:t>, </a:t>
            </a:r>
            <a:r>
              <a:rPr lang="ko-KR" altLang="en-US" sz="1600" dirty="0"/>
              <a:t>신축성을 더하여 나라들 간에 배출권을 사고 팔아 감축 목표 달성에 사용할 수 있게 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이산화탄소 배출권 시장은 </a:t>
            </a:r>
            <a:r>
              <a:rPr lang="en-US" altLang="ko-KR" sz="1600" dirty="0"/>
              <a:t>2005</a:t>
            </a:r>
            <a:r>
              <a:rPr lang="ko-KR" altLang="en-US" sz="1600" dirty="0"/>
              <a:t>년 유럽연합</a:t>
            </a:r>
            <a:r>
              <a:rPr lang="en-US" altLang="ko-KR" sz="1600" dirty="0"/>
              <a:t>(EU)</a:t>
            </a:r>
            <a:r>
              <a:rPr lang="ko-KR" altLang="en-US" sz="1600" dirty="0"/>
              <a:t>에 의해 처음 도입이 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배출이 줄어드는 효과가 나타났다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이에 미국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 여러 나라가 배출권 거래제도를 도입하였고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우리나라도 </a:t>
            </a:r>
            <a:r>
              <a:rPr lang="en-US" altLang="ko-KR" sz="1600" dirty="0"/>
              <a:t>2015</a:t>
            </a:r>
            <a:r>
              <a:rPr lang="ko-KR" altLang="en-US" sz="1600" dirty="0"/>
              <a:t>년부터 배출권 거래제도를 적극적으로 시행하고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870943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27A0E-4C8D-95F5-0DE8-DC6847291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A554C7-F36C-4DD6-C789-956C16789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18FC-4263-8DED-BE89-E4C7D00FF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E49FF6-924B-B5A6-E29B-F5DE3AC74446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직접통제는 여러가지 형태로 행해질 수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오염물질 배출량의 허용기준을 정해 모든 배출자로 하여금 이 기준을 준수하도록 만드는 것이 대표적인 예가 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뿐만 아니라 오염물질 발생 억제를 위해 특정한 공정의 채택이나 정화시설의 설치를 의무화하는 것도 직접통제의 범주 안에 포함될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직접통제가 제대로 효과를 발휘한다면</a:t>
            </a:r>
            <a:r>
              <a:rPr lang="en-US" altLang="ko-KR" sz="1600" dirty="0"/>
              <a:t>, </a:t>
            </a:r>
            <a:r>
              <a:rPr lang="ko-KR" altLang="en-US" sz="1600" dirty="0"/>
              <a:t>우리가 원하는 환경기준을 빠른 기간 안에 정확히 달성할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이 통제방식은 경직성을 가질 수 밖에 없어서 실제로 정책이 수행되는 과정에서 예기치 못한 어려움에 직면할 가능성이 크다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오염물질의 </a:t>
            </a:r>
            <a:r>
              <a:rPr lang="ko-KR" altLang="en-US" sz="1600" dirty="0" err="1"/>
              <a:t>방출자</a:t>
            </a:r>
            <a:r>
              <a:rPr lang="ko-KR" altLang="en-US" sz="1600" dirty="0"/>
              <a:t> 수가 매우 많으면</a:t>
            </a:r>
            <a:r>
              <a:rPr lang="en-US" altLang="ko-KR" sz="1600" dirty="0"/>
              <a:t>, </a:t>
            </a:r>
            <a:r>
              <a:rPr lang="ko-KR" altLang="en-US" sz="1600" dirty="0"/>
              <a:t>합리적인 통제 기준이 있다해도</a:t>
            </a:r>
            <a:r>
              <a:rPr lang="en-US" altLang="ko-KR" sz="1600" dirty="0"/>
              <a:t>, </a:t>
            </a:r>
            <a:r>
              <a:rPr lang="ko-KR" altLang="en-US" sz="1600" dirty="0"/>
              <a:t>그들의 모든 행동을 감시하기 힘들다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오우츠</a:t>
            </a:r>
            <a:r>
              <a:rPr lang="en-US" altLang="ko-KR" sz="1600" dirty="0"/>
              <a:t>(</a:t>
            </a:r>
            <a:r>
              <a:rPr lang="en-US" altLang="ko-KR" sz="1600" dirty="0" err="1"/>
              <a:t>W.Oates</a:t>
            </a:r>
            <a:r>
              <a:rPr lang="en-US" altLang="ko-KR" sz="1600" dirty="0"/>
              <a:t>, 1985)</a:t>
            </a:r>
            <a:r>
              <a:rPr lang="ko-KR" altLang="en-US" sz="1600" dirty="0"/>
              <a:t>의 실증연구에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직접통제방식을 활용하는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시장을 활용하는 경우보다 거의 </a:t>
            </a:r>
            <a:r>
              <a:rPr lang="en-US" altLang="ko-KR" sz="1600" dirty="0"/>
              <a:t>10</a:t>
            </a:r>
            <a:r>
              <a:rPr lang="ko-KR" altLang="en-US" sz="1600" dirty="0"/>
              <a:t>배나 더 많은 경제적 비용이 소요된다고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시장기능의 도움을 받지 않고</a:t>
            </a:r>
            <a:r>
              <a:rPr lang="en-US" altLang="ko-KR" sz="1600" dirty="0"/>
              <a:t> </a:t>
            </a:r>
            <a:r>
              <a:rPr lang="ko-KR" altLang="en-US" sz="1600" dirty="0"/>
              <a:t>문제 해결을 시도하는 직접통제방식이 상당히 비효율적이라는 것을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현실에서는 주로 직접통제방식에 의존하는 것을 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796985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소유권 확립을 통한 문제의 해결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998665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0FD87-EC7E-4D83-04AE-A558E3C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C2033-64BD-424C-F8BB-C5747F847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소유권 확립을 통한 문제의 해결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88E4E-575A-6808-6C06-9C9EBC764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732904-7E2B-FE2C-637B-11EEA7A8EBBF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소유권을 명확히 정의해 주거나 </a:t>
            </a:r>
            <a:r>
              <a:rPr lang="ko-KR" altLang="en-US" sz="1600" dirty="0" err="1"/>
              <a:t>재배분하는</a:t>
            </a:r>
            <a:r>
              <a:rPr lang="ko-KR" altLang="en-US" sz="1600" dirty="0"/>
              <a:t> 것을 통해 </a:t>
            </a:r>
            <a:r>
              <a:rPr lang="ko-KR" altLang="en-US" sz="1600" dirty="0" err="1"/>
              <a:t>외부성</a:t>
            </a:r>
            <a:r>
              <a:rPr lang="ko-KR" altLang="en-US" sz="1600" dirty="0"/>
              <a:t> 문제의 해결을 시도할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외부성이 자원배분상의 문제를 일으키는 배경을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소유권이 모호하게 정의되어 있거나</a:t>
            </a:r>
            <a:r>
              <a:rPr lang="en-US" altLang="ko-KR" sz="1600" dirty="0"/>
              <a:t> </a:t>
            </a:r>
            <a:r>
              <a:rPr lang="ko-KR" altLang="en-US" sz="1600" dirty="0"/>
              <a:t>바람직하지 않은 방식으로 귀속되어 있기 때문에 문제가 생기는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본 두 가지 접근법</a:t>
            </a:r>
            <a:r>
              <a:rPr lang="en-US" altLang="ko-KR" sz="1600" dirty="0"/>
              <a:t>(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직접통제방식</a:t>
            </a:r>
            <a:r>
              <a:rPr lang="en-US" altLang="ko-KR" sz="1600" dirty="0"/>
              <a:t>)</a:t>
            </a:r>
            <a:r>
              <a:rPr lang="ko-KR" altLang="en-US" sz="1600" dirty="0"/>
              <a:t>은 어떤 </a:t>
            </a:r>
            <a:r>
              <a:rPr lang="ko-KR" altLang="en-US" sz="1600" dirty="0" err="1"/>
              <a:t>방식으로든</a:t>
            </a:r>
            <a:r>
              <a:rPr lang="ko-KR" altLang="en-US" sz="1600" dirty="0"/>
              <a:t> 정부가 환경문제에 관해 직접적으로 개입하는 것을 뜻하고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소유권 확립을 통한 접근법은 민간부문이 스스로 해결책을 찾도록 도와주는데 그친다는 특징이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061571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59846-4153-BC25-B2CC-E4518B676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BCC604-F080-E5ED-5E62-20C5C77A5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공유지의 비극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9B50FD-0FF8-93F6-4868-470E17AD1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C88754-0182-67FE-C83D-F48DF486C3DC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바다나 들판 같은 자연은 모든 사람의 공동재산이라고 할 수 있는데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소유권이 분명하지 않기 때문에 이를 아껴 쓸 유인을 갖지 못하게 된다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이러한 현상이 발생하여 아까운 자원이 낭비되고 마는 현상을 공유지의 비극이라고 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예를 들어 한 마을에 사람들이 돈을 모아서 목초지를 공동으로 구입했다고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마을 사람 누구나 송아지를 사서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년 동안 </a:t>
                </a:r>
                <a:r>
                  <a:rPr lang="ko-KR" altLang="en-US" sz="1600" dirty="0" err="1"/>
                  <a:t>공동목초지에</a:t>
                </a:r>
                <a:r>
                  <a:rPr lang="ko-KR" altLang="en-US" sz="1600" dirty="0"/>
                  <a:t> 놓아 먹일 수 있는데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송아지 한 마리를 구입하는데 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/>
                  <a:t>원의 비용이 든다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 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한정된 땅에 많은 수의 송아지가 방목되면 성장이 </a:t>
                </a:r>
                <a:r>
                  <a:rPr lang="ko-KR" altLang="en-US" sz="1600" dirty="0" err="1"/>
                  <a:t>느려질테고</a:t>
                </a:r>
                <a:r>
                  <a:rPr lang="en-US" altLang="ko-KR" sz="1600" dirty="0"/>
                  <a:t>, 1</a:t>
                </a:r>
                <a:r>
                  <a:rPr lang="ko-KR" altLang="en-US" sz="1600" dirty="0"/>
                  <a:t>년 후에 받을 수 있는 송아지의 가격이 그만큼 떨어지게 된다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1C88754-0182-67FE-C83D-F48DF486C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9F2D023B-7979-D952-1236-73285D88E5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99" t="17144" r="15097" b="7267"/>
          <a:stretch>
            <a:fillRect/>
          </a:stretch>
        </p:blipFill>
        <p:spPr>
          <a:xfrm>
            <a:off x="7231339" y="3808212"/>
            <a:ext cx="4539022" cy="27388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725B52C-8FD2-AE6A-D894-77CED7E3C254}"/>
                  </a:ext>
                </a:extLst>
              </p:cNvPr>
              <p:cNvSpPr txBox="1"/>
              <p:nvPr/>
            </p:nvSpPr>
            <p:spPr>
              <a:xfrm>
                <a:off x="288789" y="3605012"/>
                <a:ext cx="7102611" cy="226138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이는 방목된 송아지의 수가 많아질수록 마리당 평균생산이 하락한다는 뜻이다</a:t>
                </a:r>
                <a:r>
                  <a:rPr lang="en-US" altLang="ko-KR" sz="1600" dirty="0"/>
                  <a:t>. (</a:t>
                </a:r>
                <a:r>
                  <a:rPr lang="ko-KR" altLang="en-US" sz="1600" dirty="0"/>
                  <a:t>오른쪽 그림의 평균생산곡선</a:t>
                </a:r>
                <a:r>
                  <a:rPr lang="en-US" altLang="ko-KR" sz="1600" dirty="0"/>
                  <a:t>;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𝐴𝑃</m:t>
                    </m:r>
                  </m:oMath>
                </a14:m>
                <a:r>
                  <a:rPr lang="en-US" altLang="ko-KR" sz="160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그 곡선으로부터 한계생산곡선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가 도출될 수 있는데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평균생산곡선의 아래쪽에 위치하게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송아지를 사는데 드는 비용은 언제나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/>
                  <a:t>원이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들기 때문에 한계비용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은 수평선으로 표현되어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725B52C-8FD2-AE6A-D894-77CED7E3C2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605012"/>
                <a:ext cx="7102611" cy="2261388"/>
              </a:xfrm>
              <a:prstGeom prst="rect">
                <a:avLst/>
              </a:prstGeom>
              <a:blipFill>
                <a:blip r:embed="rId4"/>
                <a:stretch>
                  <a:fillRect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직사각형 8">
            <a:extLst>
              <a:ext uri="{FF2B5EF4-FFF2-40B4-BE49-F238E27FC236}">
                <a16:creationId xmlns:a16="http://schemas.microsoft.com/office/drawing/2014/main" id="{8CE37CC8-B7E1-F43E-0573-8D4E58BCCA72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30781C-A5BB-BA1B-5C25-8434E9E20D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0" t="16564" r="61897" b="79344"/>
          <a:stretch>
            <a:fillRect/>
          </a:stretch>
        </p:blipFill>
        <p:spPr>
          <a:xfrm>
            <a:off x="8008579" y="3767400"/>
            <a:ext cx="1572301" cy="14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055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BF453-6D73-ED31-C3EB-1A2EDD24B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639B54-AB88-1319-6CA9-2F995894D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공유지의 비극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5F865-4FE7-9E21-3C26-93A671956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B30B0E-A6B5-C110-6A69-CC104B24434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마을 전체로 보면 총생산에서 총비용을 뺀 잉여가 가장 크게 되는 수준에서 송아지를 방목하는 것이 바람직하다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한계생산곡선이 한계비용곡선과 교차하는 수준에서 잉여가 가장 큰데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아래 그림에서는 송아지 수가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dirty="0"/>
                  <a:t>일 때로 나타난다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때 주민 전체가 얻을 수 있는 잉여는 그림에서 주황색 사각형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𝐴𝐵𝐶𝐷</m:t>
                    </m:r>
                  </m:oMath>
                </a14:m>
                <a:r>
                  <a:rPr lang="ko-KR" altLang="en-US" sz="1600" dirty="0"/>
                  <a:t>의 면적과 같다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그런데 주민 각자 관점에서 송아지 수를 선택하면 이 수준보다 더 많은 송아지를 방목하는 결과가 나타난다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개인 입장에서 보면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년을 키운 송아지 한 마리의 가격이 그것의 구입비용을 초과할 경우 한 마리를 더 구입해 방목함으로써 이득을 얻을 수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B30B0E-A6B5-C110-6A69-CC104B2443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직사각형 8">
            <a:extLst>
              <a:ext uri="{FF2B5EF4-FFF2-40B4-BE49-F238E27FC236}">
                <a16:creationId xmlns:a16="http://schemas.microsoft.com/office/drawing/2014/main" id="{B59A5E53-287B-F2BE-833E-D9F63106A063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96827-C70B-8013-23E0-99360B1F2B15}"/>
                  </a:ext>
                </a:extLst>
              </p:cNvPr>
              <p:cNvSpPr txBox="1"/>
              <p:nvPr/>
            </p:nvSpPr>
            <p:spPr>
              <a:xfrm>
                <a:off x="288789" y="3564372"/>
                <a:ext cx="7102611" cy="152202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각자가 개인적 관점에서 선택하여 방목한 송아지의 총수는 평균생산곡선이 한계비용곡선과 교차하는 수준인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dirty="0"/>
                  <a:t>가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때 마을 전체가 얻을 수 있는 잉여는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수준으로 떨어져 명백하게 비효율적인 결과가 발생한다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7796827-C70B-8013-23E0-99360B1F2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564372"/>
                <a:ext cx="7102611" cy="1522020"/>
              </a:xfrm>
              <a:prstGeom prst="rect">
                <a:avLst/>
              </a:prstGeom>
              <a:blipFill>
                <a:blip r:embed="rId4"/>
                <a:stretch>
                  <a:fillRect b="-44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57DD978A-5A3C-4DC2-07BA-A89A168751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99" t="17144" r="15097" b="7267"/>
          <a:stretch>
            <a:fillRect/>
          </a:stretch>
        </p:blipFill>
        <p:spPr>
          <a:xfrm>
            <a:off x="7231339" y="3808212"/>
            <a:ext cx="4539022" cy="2738855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D67FCFE3-5CDD-5317-E22B-C32CDD93C95A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4B89F09-0441-30CA-0043-6657CB34F3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0" t="16564" r="61897" b="79344"/>
          <a:stretch>
            <a:fillRect/>
          </a:stretch>
        </p:blipFill>
        <p:spPr>
          <a:xfrm>
            <a:off x="8008579" y="3767400"/>
            <a:ext cx="1572301" cy="14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9504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203F1-C325-0674-5C3A-7DAA5CB8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7C1A03-F5CB-D330-C9EF-AFA24C02F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공유지의 비극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E58454-1A26-B904-5F6D-F0BAE62D8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F606DA-DB5D-B8AA-1327-93AEC3B72C6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공유지의 비극이 발생하는 배경을 살펴보면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개인이 송아지 한 마리를 더 구입해서 방목하기로 결정한 행위가 다른 주민들에게 외부성을 일으키고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의도하지 않았지만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자신의 행위가 다른 사람들의 송아지들이 먹을 풀의 양을 줄이게 된 것이다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결국 목초지의 소유권이 분명히 정의되지 못했기 때문에 이런 문제가 발생하는 것이다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만약 그 목초지에 주인이 있어 요금을 내야 송아지를 놓아 </a:t>
                </a:r>
                <a:r>
                  <a:rPr lang="ko-KR" altLang="en-US" sz="1600" dirty="0" err="1"/>
                  <a:t>먹일수</a:t>
                </a:r>
                <a:r>
                  <a:rPr lang="ko-KR" altLang="en-US" sz="1600" dirty="0"/>
                  <a:t> 있다면 공유지의 비극은 일어나지 않을 것이다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예컨대 송아지 </a:t>
                </a:r>
                <a:r>
                  <a:rPr lang="ko-KR" altLang="en-US" sz="1600" dirty="0" err="1"/>
                  <a:t>한마리당</a:t>
                </a:r>
                <a:r>
                  <a:rPr lang="ko-KR" altLang="en-US" sz="1600" dirty="0"/>
                  <a:t> 그림에서 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dirty="0"/>
                  <a:t>의 길이만큼 요금을 내야 한다면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요금을 포함한 송아지 사육의 한계비용은 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dirty="0"/>
                  <a:t>가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F606DA-DB5D-B8AA-1327-93AEC3B72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999347"/>
              </a:xfrm>
              <a:prstGeom prst="rect">
                <a:avLst/>
              </a:prstGeom>
              <a:blipFill>
                <a:blip r:embed="rId2"/>
                <a:stretch>
                  <a:fillRect r="-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직사각형 2">
            <a:extLst>
              <a:ext uri="{FF2B5EF4-FFF2-40B4-BE49-F238E27FC236}">
                <a16:creationId xmlns:a16="http://schemas.microsoft.com/office/drawing/2014/main" id="{AD1A53A2-DD7A-1D98-9717-6CCA6668E56F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E43902A-57F9-8A56-70E1-A24E96AE6B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99" t="17144" r="15097" b="7267"/>
          <a:stretch>
            <a:fillRect/>
          </a:stretch>
        </p:blipFill>
        <p:spPr>
          <a:xfrm>
            <a:off x="7231339" y="3808212"/>
            <a:ext cx="4539022" cy="2738855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7BA20DAA-1DA4-E98A-7471-E684FF81E2AF}"/>
              </a:ext>
            </a:extLst>
          </p:cNvPr>
          <p:cNvSpPr/>
          <p:nvPr/>
        </p:nvSpPr>
        <p:spPr>
          <a:xfrm>
            <a:off x="7261818" y="3736179"/>
            <a:ext cx="1536741" cy="2211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E8FD3-23E7-2DBD-0A5C-C71AF273DE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0" t="16564" r="61897" b="79344"/>
          <a:stretch>
            <a:fillRect/>
          </a:stretch>
        </p:blipFill>
        <p:spPr>
          <a:xfrm>
            <a:off x="8008579" y="3767400"/>
            <a:ext cx="1572301" cy="14822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A279A20-D109-7E88-9AC3-33E83090B5B1}"/>
                  </a:ext>
                </a:extLst>
              </p:cNvPr>
              <p:cNvSpPr txBox="1"/>
              <p:nvPr/>
            </p:nvSpPr>
            <p:spPr>
              <a:xfrm>
                <a:off x="288789" y="3564372"/>
                <a:ext cx="7102611" cy="18913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경우의 한계비용곡선은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dirty="0"/>
                  <a:t>이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사람들은 이 곡선과 평균생산곡선</a:t>
                </a:r>
                <a:r>
                  <a:rPr lang="en-US" altLang="ko-KR" sz="1600" dirty="0"/>
                  <a:t>(AP)</a:t>
                </a:r>
                <a:r>
                  <a:rPr lang="ko-KR" altLang="en-US" sz="1600" dirty="0"/>
                  <a:t>이 교차하는 수준에서 방목하는 송아지의 수를 선택할 것이다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이는 결국 효율적인 송아지의 수 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와 일치해 사람들이 효율적인 선택을 한다는 것을 알 수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A279A20-D109-7E88-9AC3-33E83090B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89" y="3564372"/>
                <a:ext cx="7102611" cy="1891352"/>
              </a:xfrm>
              <a:prstGeom prst="rect">
                <a:avLst/>
              </a:prstGeom>
              <a:blipFill>
                <a:blip r:embed="rId4"/>
                <a:stretch>
                  <a:fillRect r="-86" b="-3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83220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D8208-BE40-1506-FEA6-31159D71E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EE0AF6-A5FF-8524-C401-86BAB9D94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소유권 확립의 효과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1EE971-AF95-603E-B157-5A93A13E9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A49A83-63AD-6B7E-802D-DFC282979A7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살펴보았듯이</a:t>
            </a:r>
            <a:r>
              <a:rPr lang="en-US" altLang="ko-KR" sz="1600" dirty="0"/>
              <a:t>, </a:t>
            </a:r>
            <a:r>
              <a:rPr lang="ko-KR" altLang="en-US" sz="1600" dirty="0"/>
              <a:t>소유권이 모호하게 규정되어 있기 때문에 공유지의 비극과 같은 현상이 생겼고</a:t>
            </a:r>
            <a:r>
              <a:rPr lang="en-US" altLang="ko-KR" sz="1600" dirty="0"/>
              <a:t>, </a:t>
            </a:r>
            <a:r>
              <a:rPr lang="ko-KR" altLang="en-US" sz="1600" dirty="0"/>
              <a:t>그렇다면 소유권의 확립을 통해서 환경오염의 문제를 해결할 수 있는 방도를 찾을 수 있다는 말이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예를 들어 강의 상류에 화학공장이 있고</a:t>
            </a:r>
            <a:r>
              <a:rPr lang="en-US" altLang="ko-KR" sz="1600" dirty="0"/>
              <a:t>, </a:t>
            </a:r>
            <a:r>
              <a:rPr lang="ko-KR" altLang="en-US" sz="1600" dirty="0"/>
              <a:t>하류에는 그 강에서 잡히는 물고기를 요리하는 음식점이 있다고 하자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여기서 문제는 공장에서 배출하는 폐수 때문에 물고기들이 줄어들어 음식점 영업에 지장이 생기는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만약 한 사람이 공장과 음식점을 모두 소유하고 있다면 폐수를 마음대로 배출하는 일이 벌어지지 않을 것이다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폐수 방류로 인해 물고기가 줄어들면 음식점의 이윤이 떨어지게 될 것이기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결국 그는 폐수처리 비용과 수질 향상으로 인한 음식점의 이윤 증가를 비교하여 적절한 수준에서 강의 수질을 유지하려고 할 것이다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소유권이 통합된 상태에서는 오염물질 배출이 자신에게 손해를 가져오게 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자발적으로 배출을 억제하게 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이를 통해 소유권의 재배분은 </a:t>
            </a:r>
            <a:r>
              <a:rPr lang="ko-KR" altLang="en-US" sz="1600" b="1" dirty="0"/>
              <a:t>외부성의 내부화</a:t>
            </a:r>
            <a:r>
              <a:rPr lang="ko-KR" altLang="en-US" sz="1600" dirty="0"/>
              <a:t>를 가져올 수 있다는 사실을 알 수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현실에서는 이와 같은 해결책을 기대하기는 힘든데</a:t>
            </a:r>
            <a:r>
              <a:rPr lang="en-US" altLang="ko-KR" sz="1600" dirty="0"/>
              <a:t>, </a:t>
            </a:r>
            <a:r>
              <a:rPr lang="ko-KR" altLang="en-US" sz="1600" dirty="0"/>
              <a:t>예를 들어 폐수 방류가 피해를 주는 것이 음식점 뿐 아니라 수많은 주민들의 식수에도 영향을 미친다면 문제는 훨씬 </a:t>
            </a:r>
            <a:r>
              <a:rPr lang="ko-KR" altLang="en-US" sz="1600" dirty="0" err="1"/>
              <a:t>복잡해진다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그러므로 소유권의 재배분보다는 </a:t>
            </a:r>
            <a:r>
              <a:rPr lang="ko-KR" altLang="en-US" sz="1600" b="1" dirty="0"/>
              <a:t>소유권</a:t>
            </a:r>
            <a:r>
              <a:rPr lang="ko-KR" altLang="en-US" sz="1600" dirty="0"/>
              <a:t>을 명백하게 정의해 주는 방식으로 문제 해결을 시도하는 것이 실현가능성이 클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예에서는 비현실적이기는 하지만 강물의 소유주가 분명하면 강물의 수질은 자연스럽게 유지 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84876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BC2B0-B90D-F680-155C-D01D90804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992848-BCC4-5D53-E009-319D1DD7C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코우즈</a:t>
            </a:r>
            <a:r>
              <a:rPr lang="ko-KR" altLang="en-US" dirty="0"/>
              <a:t>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70785C-D84C-3729-4328-03F2EECBD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E8170-BAF1-334D-B73C-5B9F1E17735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코우즈</a:t>
            </a:r>
            <a:r>
              <a:rPr lang="ko-KR" altLang="en-US" sz="1600" dirty="0"/>
              <a:t> 정리는 소유권이 분명하다면 외부성의 문제가 당사자들의 자발적 협상에 의해 해결될 수 있음을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코우즈는</a:t>
            </a:r>
            <a:r>
              <a:rPr lang="ko-KR" altLang="en-US" sz="1600" dirty="0"/>
              <a:t> 외부성의 본질적 성격이 상호성에 있음을 지적하고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부과처럼 정부가 당사자들 중 한쪽에게만 책임을 지게 만드는 방식으로는 효율적 자원배분을 이룰 수 없다고 주장한다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정부는 직접적 개입을 삼가고</a:t>
            </a:r>
            <a:r>
              <a:rPr lang="en-US" altLang="ko-KR" sz="1600" dirty="0"/>
              <a:t>, </a:t>
            </a:r>
            <a:r>
              <a:rPr lang="ko-KR" altLang="en-US" sz="1600" dirty="0"/>
              <a:t>그 대신 당사자들 사이의 협상이 원활하게 진행될 수 있도록 제도적</a:t>
            </a:r>
            <a:r>
              <a:rPr lang="en-US" altLang="ko-KR" sz="1600" dirty="0"/>
              <a:t>, </a:t>
            </a:r>
            <a:r>
              <a:rPr lang="ko-KR" altLang="en-US" sz="1600" dirty="0"/>
              <a:t>행정적 뒷받침을 하는데 그 역할을 한정시켜야 한다고 말한다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정부의 직접적 개입이 없어도 당사자들 간의 협상에 의해 효율적 자원배분이 이루어질 수 있다는 주장은 매력적으로 보인지만</a:t>
            </a:r>
            <a:r>
              <a:rPr lang="en-US" altLang="ko-KR" sz="1600" spc="-100" dirty="0"/>
              <a:t>,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코우즈</a:t>
            </a:r>
            <a:r>
              <a:rPr lang="ko-KR" altLang="en-US" sz="1600" dirty="0"/>
              <a:t> 정리를 현실에 적용하기에는 적지 않은 문제점이 발생할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현실에서는 이해당사자가 누구인지 판별하기조차 힘든 상황이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산성비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현상처럼 전 지구적 차원 문제의 경우 누가 그 문제를 만드는지 정확히 알 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자발적인 협상이 효율적인 결과를 내기 위해서는 협상과정에서 거래비용이 적게 들어야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이해당사자들 간의 공정한 해결책을 찾을 수 있는지 의문이 남는다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대부분의 경우 환경문제의 피해자는 서민들인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가해자는 자금력을 갖춘 기업인 경우가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코우즈가</a:t>
            </a:r>
            <a:r>
              <a:rPr lang="ko-KR" altLang="en-US" sz="1600" dirty="0"/>
              <a:t> 말한 상호성이라는 개념은 오염물질 배출자와 피해자가 환경에 대해 같은 권리를 갖는다는 것을 의미하는데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오염물질을 마음대로 버릴 권리가 있다는 다소 엉뚱한 결론이 나올 수 있다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6391367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11533</TotalTime>
  <Words>3564</Words>
  <Application>Microsoft Office PowerPoint</Application>
  <PresentationFormat>와이드스크린</PresentationFormat>
  <Paragraphs>263</Paragraphs>
  <Slides>32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9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6  외부성의 문제</vt:lpstr>
      <vt:lpstr>Section 1. 외부성의 의미</vt:lpstr>
      <vt:lpstr>외부성의 정의</vt:lpstr>
      <vt:lpstr>외부성의 유형</vt:lpstr>
      <vt:lpstr>외부성의 유형</vt:lpstr>
      <vt:lpstr>Section 2. 외부성과 자원배분</vt:lpstr>
      <vt:lpstr>외부성의 비효율성 (직관적 설명)</vt:lpstr>
      <vt:lpstr>외부성의 비효율성 (그림에 의한 설명)</vt:lpstr>
      <vt:lpstr>외부성의 비효율성 (그림에 의한 설명)</vt:lpstr>
      <vt:lpstr>외부성의 비효율성 (그림에 의한 설명)</vt:lpstr>
      <vt:lpstr>외부성의 비효율성</vt:lpstr>
      <vt:lpstr>Section 3. 문제 해결의 여러 방법</vt:lpstr>
      <vt:lpstr>문제의 해결 방법</vt:lpstr>
      <vt:lpstr>시장을 활용하는 방식</vt:lpstr>
      <vt:lpstr>시장을 활용하는 방식 (환경세)</vt:lpstr>
      <vt:lpstr>시장을 활용하는 방식 (환경세)</vt:lpstr>
      <vt:lpstr>시장을 활용하는 방식 (환경세)</vt:lpstr>
      <vt:lpstr>시장을 활용하는 방식 (배출권 거래제도)</vt:lpstr>
      <vt:lpstr>시장을 활용하는 방식 (배출권 거래제도)</vt:lpstr>
      <vt:lpstr>시장을 활용하는 방식 (배출권 거래제도)</vt:lpstr>
      <vt:lpstr>시장을 활용하는 방식 (배출권 거래제도)</vt:lpstr>
      <vt:lpstr>시장을 활용하는 방식 (배출권 거래제도)</vt:lpstr>
      <vt:lpstr>직접통제방식</vt:lpstr>
      <vt:lpstr>Section 4. 소유권 확립을 통한 문제의 해결</vt:lpstr>
      <vt:lpstr>소유권 확립을 통한 문제의 해결</vt:lpstr>
      <vt:lpstr>공유지의 비극</vt:lpstr>
      <vt:lpstr>공유지의 비극</vt:lpstr>
      <vt:lpstr>공유지의 비극</vt:lpstr>
      <vt:lpstr>소유권 확립의 효과</vt:lpstr>
      <vt:lpstr>코우즈 정리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378</cp:revision>
  <dcterms:created xsi:type="dcterms:W3CDTF">2025-07-05T05:15:23Z</dcterms:created>
  <dcterms:modified xsi:type="dcterms:W3CDTF">2026-04-22T08:40:13Z</dcterms:modified>
</cp:coreProperties>
</file>