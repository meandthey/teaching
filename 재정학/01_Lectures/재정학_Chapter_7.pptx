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4"/>
  </p:notesMasterIdLst>
  <p:sldIdLst>
    <p:sldId id="375" r:id="rId2"/>
    <p:sldId id="405" r:id="rId3"/>
    <p:sldId id="550" r:id="rId4"/>
    <p:sldId id="552" r:id="rId5"/>
    <p:sldId id="688" r:id="rId6"/>
    <p:sldId id="689" r:id="rId7"/>
    <p:sldId id="690" r:id="rId8"/>
    <p:sldId id="691" r:id="rId9"/>
    <p:sldId id="692" r:id="rId10"/>
    <p:sldId id="693" r:id="rId11"/>
    <p:sldId id="694" r:id="rId12"/>
    <p:sldId id="695" r:id="rId13"/>
    <p:sldId id="696" r:id="rId14"/>
    <p:sldId id="632" r:id="rId15"/>
    <p:sldId id="697" r:id="rId16"/>
    <p:sldId id="698" r:id="rId17"/>
    <p:sldId id="699" r:id="rId18"/>
    <p:sldId id="700" r:id="rId19"/>
    <p:sldId id="701" r:id="rId20"/>
    <p:sldId id="633" r:id="rId21"/>
    <p:sldId id="702" r:id="rId22"/>
    <p:sldId id="703" r:id="rId23"/>
    <p:sldId id="704" r:id="rId24"/>
    <p:sldId id="705" r:id="rId25"/>
    <p:sldId id="634" r:id="rId26"/>
    <p:sldId id="706" r:id="rId27"/>
    <p:sldId id="687" r:id="rId28"/>
    <p:sldId id="663" r:id="rId29"/>
    <p:sldId id="664" r:id="rId30"/>
    <p:sldId id="666" r:id="rId31"/>
    <p:sldId id="665" r:id="rId32"/>
    <p:sldId id="667" r:id="rId33"/>
    <p:sldId id="668" r:id="rId34"/>
    <p:sldId id="669" r:id="rId35"/>
    <p:sldId id="670" r:id="rId36"/>
    <p:sldId id="671" r:id="rId37"/>
    <p:sldId id="673" r:id="rId38"/>
    <p:sldId id="672" r:id="rId39"/>
    <p:sldId id="674" r:id="rId40"/>
    <p:sldId id="675" r:id="rId41"/>
    <p:sldId id="676" r:id="rId42"/>
    <p:sldId id="677" r:id="rId43"/>
    <p:sldId id="678" r:id="rId44"/>
    <p:sldId id="679" r:id="rId45"/>
    <p:sldId id="680" r:id="rId46"/>
    <p:sldId id="681" r:id="rId47"/>
    <p:sldId id="682" r:id="rId48"/>
    <p:sldId id="683" r:id="rId49"/>
    <p:sldId id="684" r:id="rId50"/>
    <p:sldId id="685" r:id="rId51"/>
    <p:sldId id="686" r:id="rId52"/>
    <p:sldId id="364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환경정책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환경정책의 편익과 비용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편익과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250267" cy="45228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환경보존이 중요한 일이기는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무조건적으로 환경을 보존해야 한다고 주장하기는 어렵다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환경보존을 목표로 하는 정책도 비용보다 더 큰 편익을 주는 경우에만 그 정당성을 인정받게 되기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합리적인 환경정책 수행을 위해서는 편익과 비용이 얼마나 되는지 정확하게 파악하는 작업이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편익측정의 여러 방법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환경정책의 편익은 본질상 정확한 평가가 매우 어렵다는 특징이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맑은 공기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숲의 가치는 시장가격이 존재하지 않아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그것들이 얼만큼의 가치를 갖는지 알기 힘들다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시장이 아닌 우회적 방법에 의해 환경정책의 편익을 평가할 수 밖에 없으며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대체 방법이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지불의사 접근법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회피행위 접근법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헤도닉가격</a:t>
            </a:r>
            <a:r>
              <a:rPr lang="ko-KR" altLang="en-US" sz="1600" spc="-50" dirty="0"/>
              <a:t> 접근법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조건부 </a:t>
            </a:r>
            <a:r>
              <a:rPr lang="ko-KR" altLang="en-US" sz="1600" spc="-50" dirty="0" err="1"/>
              <a:t>평가법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5AFB6-F91D-FAAC-0DAE-0FDAC0D1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5A6D8-0071-FAF6-75E9-1D22CCEA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편익측정의 </a:t>
            </a:r>
            <a:r>
              <a:rPr lang="ko-KR" altLang="en-US" dirty="0" err="1"/>
              <a:t>여러방법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3CFFB-4F86-60E5-1D05-2492A9AD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27846-D13E-4563-77D9-8CBCF6FFF648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3438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지불의사 접근법</a:t>
                </a:r>
                <a:endParaRPr lang="en-US" altLang="ko-KR" sz="4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환경의 질 악화로 인해 손해를 본다고 느끼는 사람들은 이를 개선하기 위해 일정한 금액을 지불할 용의를 갖는다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사람이 지불할 용의가 있는 금액은 환경의 질 악화로 인해 효용이 어느 정도로 </a:t>
                </a:r>
                <a:r>
                  <a:rPr lang="ko-KR" altLang="en-US" sz="1600" spc="-50" dirty="0" err="1"/>
                  <a:t>감소하느냐에</a:t>
                </a:r>
                <a:r>
                  <a:rPr lang="ko-KR" altLang="en-US" sz="1600" spc="-50" dirty="0"/>
                  <a:t> 의해 결정될 것이라고 짐작할 수 있으며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바로 이 지불의사를 알아내어 그것이 환경정책에서 나오는 편익이라고 보는 것이 지불의사 접근법이다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0" dirty="0">
                    <a:latin typeface="Cambria Math" panose="02040503050406030204" pitchFamily="18" charset="0"/>
                  </a:rPr>
                  <a:t>상품들의 가격이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b="0" dirty="0">
                    <a:latin typeface="Cambria Math" panose="02040503050406030204" pitchFamily="18" charset="0"/>
                  </a:rPr>
                  <a:t>로 주어져 있고</a:t>
                </a:r>
                <a:r>
                  <a:rPr lang="en-US" altLang="ko-KR" sz="1600" b="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 환경의 질은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b="0" dirty="0">
                    <a:latin typeface="Cambria Math" panose="02040503050406030204" pitchFamily="18" charset="0"/>
                  </a:rPr>
                  <a:t>라는 지표로 나타나 있다고 할 때</a:t>
                </a:r>
                <a:r>
                  <a:rPr lang="en-US" altLang="ko-KR" sz="1600" b="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효용수준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</m:oMath>
                </a14:m>
                <a:r>
                  <a:rPr lang="ko-KR" altLang="en-US" sz="1600" b="0" dirty="0">
                    <a:latin typeface="Cambria Math" panose="02040503050406030204" pitchFamily="18" charset="0"/>
                  </a:rPr>
                  <a:t>를 달성하는 데 필요한 최소한의 지출은 다음의 지출함수로 나타낼 수 있다</a:t>
                </a:r>
                <a:r>
                  <a:rPr lang="en-US" altLang="ko-KR" sz="1600" b="0" dirty="0">
                    <a:latin typeface="Cambria Math" panose="02040503050406030204" pitchFamily="18" charset="0"/>
                  </a:rPr>
                  <a:t>. 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i="1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만약 환경정책으로 환경의 질이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수준으로 개선되었다고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주어진 효용수준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를 달성하는 데 드는 최소한의 지출은 종전보다 더 작아진다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환경의 질 개선이 효용을 증가시키는 역할을 했기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 구입에 더 적음 금액을 지출해도 그 수준의 효용을 달성할 수 있기 때문이다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그 지출의 감소폭을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600" spc="-50" dirty="0"/>
                  <a:t>라고 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이것이 바로 환경의 질 개선에 대해 최대한으로 지불할 용의가 있는 금액이라고 생각할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27846-D13E-4563-77D9-8CBCF6FFF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343835"/>
              </a:xfrm>
              <a:prstGeom prst="rect">
                <a:avLst/>
              </a:prstGeom>
              <a:blipFill>
                <a:blip r:embed="rId2"/>
                <a:stretch>
                  <a:fillRect l="-217" b="-4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551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D9B7-A99F-62AF-2A60-CB1F93C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57264-669C-92DE-1EAC-82E147DA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편익측정의 여러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1FCCC-8C8F-2B56-1839-C5C4F212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6B2FE4-5ED7-486E-03B4-2401A388A4F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6378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정리하면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환경의 질이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때의 지출함수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때의 값보다 더 작을 텐데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바로 이 둘 사이의 차이가 환경의 질 개선에 대해 지불할 용의가 있는 금액이다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수식으로 표현하면 아래와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ko-KR" altLang="en-US" sz="1600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6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</m:e>
                    </m:d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충분한 통계자료를 수집하여 소비자의 지출함수를 추정할 수 있으면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이와 같은 방법으로 환경정책에서 나오는 편익을 바로 계산해 낼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다만 실제로 이 접근법을 통해 편익을 측정할 수 있을 만큼 충분한 통계자료를 확보하기는 힘들다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ko-KR" altLang="en-US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회피행위 접근법</a:t>
                </a:r>
                <a:endParaRPr lang="en-US" altLang="ko-KR" sz="4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사람들이 환경오염이나 위험으로 인한 피해를 피하기 위해 지출하는 비용을 통해 그 피해의 경제적 가치를 추정하는 방법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소비자가 대기오염으로 인한 호흡기 질환의 고통을 회피하고자 일정 금액을 지불하고 의료서비스나 약을 구입했다고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그런데 환경정책이 시행되면 호흡기 질환에서 해방이 된다고 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의료서비스나 약 구입을 위해 지출했을 금액만큼의 편익을 얻게 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 외에도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화재 위험을 회피하고자 화재경보기를 설치하는 경우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교통사고를 대비하여 각종 안전장치를 옵션으로 구매하는 경우 등이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그러나 회피행위 접근법을 활용하여 환경정책의 편익을 계산하면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실제의 편익을 과소평가할 가능성이 있다는 단점이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6B2FE4-5ED7-486E-03B4-2401A388A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637890"/>
              </a:xfrm>
              <a:prstGeom prst="rect">
                <a:avLst/>
              </a:prstGeom>
              <a:blipFill>
                <a:blip r:embed="rId2"/>
                <a:stretch>
                  <a:fillRect l="-217" r="-596" b="-4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64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0180-BB48-B1DA-58AB-557AB95B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28133-1078-B802-52B4-CF423AE5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편익과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2FAB25-6089-BA86-E328-8C9A491D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FC67C-3A0F-AB80-E8FA-5CABC6673327}"/>
              </a:ext>
            </a:extLst>
          </p:cNvPr>
          <p:cNvSpPr txBox="1"/>
          <p:nvPr/>
        </p:nvSpPr>
        <p:spPr>
          <a:xfrm>
            <a:off x="288790" y="958844"/>
            <a:ext cx="11250267" cy="45228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헤도닉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가격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접근법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재화나 서비스의 가격을 그것이 갖는 여러 가지 특성의 가치들로 분해할 수 있다는 것이 헤도닉 가격의 개념이다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주택이 있다고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주택의 교통편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학군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주변 환경의 </a:t>
            </a:r>
            <a:r>
              <a:rPr lang="ko-KR" altLang="en-US" sz="1600" spc="-50" dirty="0" err="1"/>
              <a:t>쾌적성</a:t>
            </a:r>
            <a:r>
              <a:rPr lang="ko-KR" altLang="en-US" sz="1600" spc="-50" dirty="0"/>
              <a:t> 등 여러 특성에 의해 그것의 가격이 결정된다고 본다는 의미다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주택 가격이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억원이라고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교통편이 좋은 점이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천만원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학군 좋은 점이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천만원 등 이런 식으로 특성에 부여된 가치의 합으로서 주택가격이 결정된다고 보는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접근을 통해 주택이 갖는 여러 특성과 주택 가격을 연결시키는 함수를 만들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그것을 </a:t>
            </a:r>
            <a:r>
              <a:rPr lang="ko-KR" altLang="en-US" sz="1600" spc="-50" dirty="0" err="1"/>
              <a:t>헤도닉가격함수</a:t>
            </a:r>
            <a:r>
              <a:rPr lang="ko-KR" altLang="en-US" sz="1600" spc="-50" dirty="0"/>
              <a:t> 라고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헤도닉 가격함수에는 여러 변수들이 독립변수로 포함되어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환경의 질이 개선되면 주택가격이 얼마나 상승하는지 알아낼 수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헤도닉 접근법에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 가격 상승폭을 환경정책에서 나오는 편익으로 간주할 수 있다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1007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B0D1-356A-F018-BD28-6C5DAE0E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4F18F-46DA-7C41-4010-78CEDBE1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편익과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744BB2-C230-5350-717E-81796D30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0B2A1-4081-3242-C1BD-608C90D0DE14}"/>
              </a:ext>
            </a:extLst>
          </p:cNvPr>
          <p:cNvSpPr txBox="1"/>
          <p:nvPr/>
        </p:nvSpPr>
        <p:spPr>
          <a:xfrm>
            <a:off x="288790" y="958844"/>
            <a:ext cx="11250267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조건부평가법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조건부평가법은 가상적인 환경 개선의 가능성을 제시하고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사람들로 하여금 이에 대한 평가를 하게 만든다는 데서 나왔다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수영을 할 수 있을 만큼 금강의 수질을 개선시킨다면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얼마의 추가적인 세금을 부담할 용의가 있는지를 묻는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설명한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방법은 이론적 틀에 기초하여 환경의 질 개선에 대해 사람들이 지불할 용의가 있는 금액을 알아내려 한다는 공통적인 특징을 갖고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이에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조건부평가법은 설문조사를 통해 이 금액에 대한 정보를 얻으려 한다는 특징이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사람들에게 환경정책의 수행을 통해 기대할 수 있는 가상의 환경개선 효과를 제시하고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대해 얼만큼 지불할 용의가 있는지 묻는 방법을 통해 환경정책의 편익을 알아내는 접근방식을 채택하고 있는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환경이 갖는 가치 중 존재가치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비사용가치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라고 불리는 부분이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여기서 존재가치는 어떤 것이 존재한다는 사실만으로도 가치를 갖는다는 것을 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금강 주변 숲에 천연기념물 새가 서식하고 있다고 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우리가 경제적 혜택을 얻을 수는 없지만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새의 존재 자치만으로 가치를 가진다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나머지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방법에 비해 존재가치를 측정한다는 점에서 보면 조건평가법이 낫다는 평가가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38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DC0D6-9108-5A0F-56DA-B063E3C7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4D2E2-73FF-2A5A-6BD0-2BA0733E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조건부평가법을 둘러싼 논쟁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3FDC27-4B6E-53AE-0445-33DFE60F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1BA4A-3281-F765-20D8-4A6AA33D5E1F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가끔 뉴스에서 보면 환경오염과 관련된 분쟁이 종종 일어나는데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이때 오염을 일으킨 측이 얼만큼의 배상을 하도록 해야 하는지가 어려운 문제로 등장한다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2007</a:t>
            </a:r>
            <a:r>
              <a:rPr lang="ko-KR" altLang="en-US" sz="1600" spc="-50" dirty="0"/>
              <a:t>년 태안 앞바다 기름유출 사고는 태안해안국립공원을 온통 </a:t>
            </a:r>
            <a:r>
              <a:rPr lang="ko-KR" altLang="en-US" sz="1600" spc="-50" dirty="0" err="1"/>
              <a:t>기름밭으로</a:t>
            </a:r>
            <a:r>
              <a:rPr lang="ko-KR" altLang="en-US" sz="1600" spc="-50" dirty="0"/>
              <a:t> 만들어 버렸는데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사건의 성격상 배상액의 결정이 더욱 힘들다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직접적 피해를 받은 어민 뿐만 아니라 해안 생태계와 경관에 미친 전반적인 악영향에 대해 배상을 하도록 만들어야 마땅하나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피해의 화폐가치를 정확하게 알아내기 힘들기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이런 문제의 핵심은 서해안 바다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생태계의 존재가치가 얼마인지 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그렇기 때문에 존재가치의 평가에 적합한 방법이라고 알려진 조건부평가법이 자주 그 해법으로 거론된다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실제로도 환경오염 관련 분쟁에서 조건부평가법에 기초하여 배상액을 결정하는 사례가 늘고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보통 배상의 주체는 기업들이 많으며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조건부평가법에 불만을 표시하는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경제학자들 중에서도 실제로 조건부평가법에 근본적인 문제가 있다고 지적하곤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일반적으로 경제학자들은 어떤 재화나 서비스의 가치를 평가할 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사람들이 실제로 드러낸 행위에 기초하여 결론을 도출하는 방법을 선호한다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즉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현시된</a:t>
            </a:r>
            <a:r>
              <a:rPr lang="ko-KR" altLang="en-US" sz="1600" spc="-50" dirty="0"/>
              <a:t> 선호</a:t>
            </a:r>
            <a:r>
              <a:rPr lang="en-US" altLang="ko-KR" sz="1600" spc="-50" dirty="0"/>
              <a:t>‘ (revealed preference)</a:t>
            </a:r>
            <a:r>
              <a:rPr lang="ko-KR" altLang="en-US" sz="1600" spc="-50" dirty="0"/>
              <a:t>에 입각하여 가치를 평가하는 접근방식을 선호한다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실제로 사람들이 시장에서 어떤 상품을 구매한 행동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관찰 </a:t>
            </a:r>
            <a:r>
              <a:rPr lang="ko-KR" altLang="en-US" sz="1600" spc="-50" dirty="0" err="1"/>
              <a:t>결과을</a:t>
            </a:r>
            <a:r>
              <a:rPr lang="ko-KR" altLang="en-US" sz="1600" spc="-50" dirty="0"/>
              <a:t> 통해 상품에 부여한 가치를 알아낼 수 있다는 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11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D309-5C30-3682-A75C-15FFDC4D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307B9-58C9-E774-BD6C-96DE0C48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조건부평가법을 둘러싼 논쟁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24700-0FC2-2BAD-C9AF-60BCA8F7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32D4A-EF5C-49EE-57D5-DDE814D0C5B5}"/>
              </a:ext>
            </a:extLst>
          </p:cNvPr>
          <p:cNvSpPr txBox="1"/>
          <p:nvPr/>
        </p:nvSpPr>
        <p:spPr>
          <a:xfrm>
            <a:off x="288790" y="958844"/>
            <a:ext cx="1125026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현시선호를 중요하게 생각하는 경제학자들은 조건부평가법에 대해 부정적 평가를 내린다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조건부평가 방법은 설문조사를 통해 어떤 것의 가치를 알아낼 수 있다는 생각에 기초하는데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현시선호를 중시하는 사람의 시각에서 보면 별로 신빙성이 없는 접근일 수 </a:t>
            </a:r>
            <a:r>
              <a:rPr lang="ko-KR" altLang="en-US" sz="1600" spc="-50"/>
              <a:t>밖에 </a:t>
            </a:r>
            <a:r>
              <a:rPr lang="ko-KR" altLang="en-US" sz="1600" spc="-50" dirty="0"/>
              <a:t>없</a:t>
            </a:r>
            <a:r>
              <a:rPr lang="ko-KR" altLang="en-US" sz="1600" spc="-50"/>
              <a:t>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현시선호를 중요시 하는 경제학자는 시장에서 실제 관찰 가능한 소비자들의 선택행위 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조건부평가에서는 단순히 설문조사를 통해 어떤 것의 가치가 높다는 대답을 듣는 것이 전부이기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대조적으로 조건부평가법에 대해 호의적인 태도를 갖는 경제학자도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헤인먼</a:t>
            </a:r>
            <a:r>
              <a:rPr lang="en-US" altLang="ko-KR" sz="1600" spc="-50" dirty="0"/>
              <a:t>(W. Hanemann, 1994)</a:t>
            </a:r>
            <a:r>
              <a:rPr lang="ko-KR" altLang="en-US" sz="1600" spc="-50" dirty="0"/>
              <a:t>은 현시선호에 대한 과도한 집착을 버려야 한다고 주장하기도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환경정책에서 나오는 편익은 공공재의 성격을 갖고 있기 때문에 현시선호에 의한 평가가 힘들다고 주장한다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사람들의 선택행위를 이해하는 것이 어려울 때는 가능한 모든 방법을 활용할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점에서 설문조사 방법도 유용하다는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824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5B29-611F-999C-1E55-354A8BEF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4F974-FAB6-D464-06A6-F925D212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조건부평가법을 둘러싼 논쟁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BE421-0D30-5FDC-93EE-E737A51C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BDAE9-01AB-96C8-99F2-1DA74C052C6C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조건부평가법이 설문조사 방법이 갖는 일반적인 문제에서 자유롭지 못한 것도 사실이다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설문조사의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질문의 표현과 순서를 조금만 바꾸어도 응답의 내용이 크게 달라지는 일이 발생하는데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응답효과라고 부르며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설문조사 결과의 신빙성을 떨어뜨리는 역할을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평소 환경에 대해 별 생각이 없던 사람에게 환경의 가치를 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대답한 것이 믿을 만한지에 대해서도 의문이다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설문조사가 갖는 문제점 뿐만 아니라 경제이론의 관점에서도 조건부평가법이 부적절하다고 평가를 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다이아몬드</a:t>
            </a:r>
            <a:r>
              <a:rPr lang="en-US" altLang="ko-KR" sz="1600" dirty="0"/>
              <a:t>-</a:t>
            </a:r>
            <a:r>
              <a:rPr lang="ko-KR" altLang="en-US" sz="1600" dirty="0" err="1"/>
              <a:t>하우즈먼은</a:t>
            </a:r>
            <a:r>
              <a:rPr lang="ko-KR" altLang="en-US" sz="1600" dirty="0"/>
              <a:t> 조건부평가법이 환경의 가치를 과대평가하는 결과를 가져올 수 있다고 얘기한다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설문 응답자들은 자기 자신뿐 아니라 남들이 얻을 환경 혜택까지 감안하여 대답할 가능성이 있다는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행태경제학자들은 어떤 물건을 보유하고 </a:t>
            </a:r>
            <a:r>
              <a:rPr lang="ko-KR" altLang="en-US" sz="1600" dirty="0" err="1"/>
              <a:t>있는지의</a:t>
            </a:r>
            <a:r>
              <a:rPr lang="ko-KR" altLang="en-US" sz="1600" dirty="0"/>
              <a:t> 여부가 그것의 가치 평가에 영향을 준다고 주장한다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어떤 재화의 소유자가 남에게 넘기려면 최소한으로 받을 수 있는 금액이 </a:t>
            </a:r>
            <a:r>
              <a:rPr lang="en-US" altLang="ko-KR" sz="1600" dirty="0"/>
              <a:t>‘</a:t>
            </a:r>
            <a:r>
              <a:rPr lang="ko-KR" altLang="en-US" sz="1600" dirty="0"/>
              <a:t>수용의사가 있는 금액</a:t>
            </a:r>
            <a:r>
              <a:rPr lang="en-US" altLang="ko-KR" sz="1600" dirty="0"/>
              <a:t>’ (Willingness To Accept, WTA)</a:t>
            </a:r>
            <a:r>
              <a:rPr lang="ko-KR" altLang="en-US" sz="1600" dirty="0"/>
              <a:t>이고</a:t>
            </a:r>
            <a:r>
              <a:rPr lang="en-US" altLang="ko-KR" sz="1600" dirty="0"/>
              <a:t>, </a:t>
            </a:r>
            <a:r>
              <a:rPr lang="ko-KR" altLang="en-US" sz="1600" dirty="0"/>
              <a:t>또 다른 어떤 사람이 그것을 얻기 위해 지불할 금액을 </a:t>
            </a:r>
            <a:r>
              <a:rPr lang="en-US" altLang="ko-KR" sz="1600" dirty="0"/>
              <a:t>‘</a:t>
            </a:r>
            <a:r>
              <a:rPr lang="ko-KR" altLang="en-US" sz="1600" dirty="0"/>
              <a:t>지불의사가 있는 금액</a:t>
            </a:r>
            <a:r>
              <a:rPr lang="en-US" altLang="ko-KR" sz="1600" dirty="0"/>
              <a:t>’ (Willingness To Pay, WTP)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일반적으로 </a:t>
            </a:r>
            <a:r>
              <a:rPr lang="en-US" altLang="ko-KR" sz="1600" dirty="0"/>
              <a:t>‘</a:t>
            </a:r>
            <a:r>
              <a:rPr lang="ko-KR" altLang="en-US" sz="1600" dirty="0"/>
              <a:t>수용의사 금액</a:t>
            </a:r>
            <a:r>
              <a:rPr lang="en-US" altLang="ko-KR" sz="1600" dirty="0"/>
              <a:t>(WTA)’</a:t>
            </a:r>
            <a:r>
              <a:rPr lang="ko-KR" altLang="en-US" sz="1600" dirty="0"/>
              <a:t> </a:t>
            </a:r>
            <a:r>
              <a:rPr lang="en-US" altLang="ko-KR" sz="1600" dirty="0"/>
              <a:t>&gt;</a:t>
            </a:r>
            <a:r>
              <a:rPr lang="ko-KR" altLang="en-US" sz="1600" dirty="0"/>
              <a:t> </a:t>
            </a:r>
            <a:r>
              <a:rPr lang="en-US" altLang="ko-KR" sz="1600" dirty="0"/>
              <a:t>‘</a:t>
            </a:r>
            <a:r>
              <a:rPr lang="ko-KR" altLang="en-US" sz="1600" dirty="0"/>
              <a:t>지불의사 금액</a:t>
            </a:r>
            <a:r>
              <a:rPr lang="en-US" altLang="ko-KR" sz="1600" dirty="0"/>
              <a:t>(WTP)‘ </a:t>
            </a:r>
            <a:r>
              <a:rPr lang="ko-KR" altLang="en-US" sz="1600" dirty="0"/>
              <a:t>관계가 나타나는데</a:t>
            </a:r>
            <a:r>
              <a:rPr lang="en-US" altLang="ko-KR" sz="1600" dirty="0"/>
              <a:t>, </a:t>
            </a:r>
            <a:r>
              <a:rPr lang="ko-KR" altLang="en-US" sz="1600" dirty="0"/>
              <a:t>행태경제학자에 따르면 부존효과 때문이 이런 결과가 나타난다고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이런 부존효과는 사람들에게 </a:t>
            </a:r>
            <a:r>
              <a:rPr lang="en-US" altLang="ko-KR" sz="1600" dirty="0"/>
              <a:t>WTA</a:t>
            </a:r>
            <a:r>
              <a:rPr lang="ko-KR" altLang="en-US" sz="1600" dirty="0"/>
              <a:t>와 </a:t>
            </a:r>
            <a:r>
              <a:rPr lang="en-US" altLang="ko-KR" sz="1600" dirty="0"/>
              <a:t>WTP </a:t>
            </a:r>
            <a:r>
              <a:rPr lang="ko-KR" altLang="en-US" sz="1600" dirty="0"/>
              <a:t>둘 중 어떤 방식으로 설문을 </a:t>
            </a:r>
            <a:r>
              <a:rPr lang="ko-KR" altLang="en-US" sz="1600" dirty="0" err="1"/>
              <a:t>하느냐에</a:t>
            </a:r>
            <a:r>
              <a:rPr lang="ko-KR" altLang="en-US" sz="1600" dirty="0"/>
              <a:t> 따라 큰 차이를 나게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958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8229-7118-059F-3FC1-00924FE9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E85C6-CC43-4CEA-592F-B1122B48F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조건부평가법을 둘러싼 논쟁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C78975-2A9C-F548-874D-1A9107C1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1BEC4-8C8F-C1D4-A9A6-A77E585187ED}"/>
              </a:ext>
            </a:extLst>
          </p:cNvPr>
          <p:cNvSpPr txBox="1"/>
          <p:nvPr/>
        </p:nvSpPr>
        <p:spPr>
          <a:xfrm>
            <a:off x="288790" y="958844"/>
            <a:ext cx="1125026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같은 많은 논란에도 불구하고 현실의 환경 분쟁에서 조건부평가법을 많이 활용하고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미국 정부는 </a:t>
            </a:r>
            <a:r>
              <a:rPr lang="ko-KR" altLang="en-US" sz="1600" spc="-50" dirty="0" err="1"/>
              <a:t>애로우</a:t>
            </a:r>
            <a:r>
              <a:rPr lang="en-US" altLang="ko-KR" sz="1600" spc="-50" dirty="0"/>
              <a:t>(K. Arrow), </a:t>
            </a:r>
            <a:r>
              <a:rPr lang="ko-KR" altLang="en-US" sz="1600" spc="-50" dirty="0" err="1"/>
              <a:t>솔로우</a:t>
            </a:r>
            <a:r>
              <a:rPr lang="en-US" altLang="ko-KR" sz="1600" spc="-50" dirty="0"/>
              <a:t>(R.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Solow) </a:t>
            </a:r>
            <a:r>
              <a:rPr lang="ko-KR" altLang="en-US" sz="1600" spc="-50" dirty="0"/>
              <a:t>같은 저명한 경제학자에게 이 문제에 대해 권위 있는 해석을 요청하였다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이들을 포함한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명의 조건부평가위원회는 </a:t>
            </a:r>
            <a:r>
              <a:rPr lang="en-US" altLang="ko-KR" sz="1600" spc="-50" dirty="0"/>
              <a:t>1993</a:t>
            </a:r>
            <a:r>
              <a:rPr lang="ko-KR" altLang="en-US" sz="1600" spc="-50" dirty="0"/>
              <a:t>년에 조건부평가법이 여러 가지 문제점이 있음을 인정했지만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방법이 쓸모 없다는 극단적 주장에는 동의하지 않는다는 기본적인 입장을 밝혔다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제기된 문제들에 대해 적절한 보완조치를 취한다면 유용한 정보를 제공할 수 있다는 결론이었다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현실적인 관점에서 볼 때</a:t>
            </a:r>
            <a:r>
              <a:rPr lang="en-US" altLang="ko-KR" sz="1600" dirty="0"/>
              <a:t>, </a:t>
            </a:r>
            <a:r>
              <a:rPr lang="ko-KR" altLang="en-US" sz="1600" dirty="0"/>
              <a:t>아직까지 존재가치와 관련된 평가에서 조건부평가법보다 더 나은 다른 대안을 찾기 힘든 것이 사실이다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784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17F1-BC59-E0C7-8041-C6E5D1A1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7E4BF-2033-C9AB-27E7-8614A30C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환경정책과 관련된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E504C7-75E4-D60E-C8EF-4FCB033C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6FF94-DB74-5A5D-9215-BC99EF9530A6}"/>
              </a:ext>
            </a:extLst>
          </p:cNvPr>
          <p:cNvSpPr txBox="1"/>
          <p:nvPr/>
        </p:nvSpPr>
        <p:spPr>
          <a:xfrm>
            <a:off x="288790" y="958844"/>
            <a:ext cx="112502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환경정책을 수행과 관련된 비용 항목은 정부의 예산이 지출되는 </a:t>
            </a:r>
            <a:r>
              <a:rPr lang="ko-KR" altLang="en-US" sz="1600" b="1" spc="-50" dirty="0"/>
              <a:t>행정비용</a:t>
            </a:r>
            <a:r>
              <a:rPr lang="ko-KR" altLang="en-US" sz="1600" spc="-50" dirty="0"/>
              <a:t>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민간부문의 기업과 개인들은 환경규제를 준수하기 위해 지출하는 </a:t>
            </a:r>
            <a:r>
              <a:rPr lang="ko-KR" altLang="en-US" sz="1600" b="1" spc="-50" dirty="0"/>
              <a:t>준수비용</a:t>
            </a:r>
            <a:r>
              <a:rPr lang="ko-KR" altLang="en-US" sz="1600" spc="-50" dirty="0"/>
              <a:t>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행정비용은 환경기준 설정을 위한 연구비용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공무원 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측정비용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단속 비용 등을 포함한다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준수비용은 기업이 오염물질 배출을 억제하기 위한 시설 설치비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인건비 등을 포함한다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두가지 직접 비용 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환경정책은 기업의 투자를 위축시키는 결과를 가져오기도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기업이 어느 지역에서 새로 사업을 하려고 했으나</a:t>
            </a:r>
            <a:r>
              <a:rPr lang="en-US" altLang="ko-KR" sz="1600" dirty="0"/>
              <a:t>, </a:t>
            </a:r>
            <a:r>
              <a:rPr lang="ko-KR" altLang="en-US" sz="1600" dirty="0"/>
              <a:t>환경보존 지역으로 지정됨에 따라 그 지역의 개발을 </a:t>
            </a:r>
            <a:r>
              <a:rPr lang="ko-KR" altLang="en-US" sz="1600" dirty="0" err="1"/>
              <a:t>포기해야하는</a:t>
            </a:r>
            <a:r>
              <a:rPr lang="ko-KR" altLang="en-US" sz="1600" dirty="0"/>
              <a:t> 사례가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투자 위축은 기술 혁신 활동의 위축을 가져오기도 하여</a:t>
            </a:r>
            <a:r>
              <a:rPr lang="en-US" altLang="ko-KR" sz="1600" dirty="0"/>
              <a:t>, </a:t>
            </a:r>
            <a:r>
              <a:rPr lang="ko-KR" altLang="en-US" sz="1600" dirty="0"/>
              <a:t>규제가 초래하는 사회적 비용 규모가 더 커진다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환경정책으로 개인이 지불하는 비용은 실질소득 감소</a:t>
            </a:r>
            <a:r>
              <a:rPr lang="en-US" altLang="ko-KR" sz="1600" dirty="0"/>
              <a:t>, </a:t>
            </a:r>
            <a:r>
              <a:rPr lang="ko-KR" altLang="en-US" sz="1600" dirty="0"/>
              <a:t>고용기회 축소의 형태로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환경규제는 원가 상승 압력을 가중시키고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제품 가격 상승으로 이어져</a:t>
            </a:r>
            <a:r>
              <a:rPr lang="en-US" altLang="ko-KR" sz="1600" dirty="0"/>
              <a:t>, </a:t>
            </a:r>
            <a:r>
              <a:rPr lang="ko-KR" altLang="en-US" sz="1600" dirty="0"/>
              <a:t>소비자들의 실질 소득 감소로 이어지기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동시에 제품 가격 상승은 상품 수요를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산업에서 필요로 하는 일자리가 줄어드는 결과로 이어질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818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DA9B-D2D1-9671-70FB-C9E93101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567049-7C94-FA36-9ADE-24196A1189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A678B-148E-C418-9F8D-A1B91276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8E65DD-9DB8-F499-6199-B4649E1D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환경정책의 기본방향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01446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208C-B095-C4E7-67A3-FBD34453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354B7-04AA-9E4B-4FC8-365B5261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방식과 직접통제방식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D6D18-58F5-7570-3CDE-4890C284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685B9-BB56-9F6E-49A7-EC74B312F6FB}"/>
              </a:ext>
            </a:extLst>
          </p:cNvPr>
          <p:cNvSpPr txBox="1"/>
          <p:nvPr/>
        </p:nvSpPr>
        <p:spPr>
          <a:xfrm>
            <a:off x="288790" y="958844"/>
            <a:ext cx="11250267" cy="48921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환경정책은 시장을 활용하는 방식과 직접통제 방식 두 가지로 나누어 본 바 있다</a:t>
            </a:r>
            <a:r>
              <a:rPr lang="en-US" altLang="ko-KR" sz="1600" dirty="0"/>
              <a:t>. (Ch6. Section 3) </a:t>
            </a:r>
            <a:r>
              <a:rPr lang="ko-KR" altLang="en-US" sz="1600" dirty="0"/>
              <a:t>두 가지 방식의 장단점에 대해 논의 해보자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시장을 활용하는 방식과 직접통제방식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시장을 활용하는 방식은 유연하게 운영될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환경목표를 효율적으로 달성할 수 있다는 점에서 더 낫다고 배웠다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 외에도 정책 수행에 얼마나 많은 정보가 필요한지 측면에서 볼 때도 시장을 활용하는 방식이 더 낫다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직접통제방식은 많은 양의 정보를 요구하기 때문에 정책을 실행에 옮기는 과정에서 어려움을 겪을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또한 장기적인 관점에서 볼 때 효율적이고 경제적인 정화기술 개발을 촉진한다는 측면에서도 장점이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직접통제방식 하에서 기업들은 배출기준을 간신히 충족시키는 것 이상의 노력을 기울일 필요가 없으므로 적극적으로 더 좋은 기술을 개발할 유인이 부족하다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위처럼 시장을 활용하는 방식이 상대적으로 우월하지만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현실에서 정치가</a:t>
            </a:r>
            <a:r>
              <a:rPr lang="en-US" altLang="ko-KR" sz="1600" dirty="0"/>
              <a:t>, </a:t>
            </a:r>
            <a:r>
              <a:rPr lang="ko-KR" altLang="en-US" sz="1600" dirty="0"/>
              <a:t>관료</a:t>
            </a:r>
            <a:r>
              <a:rPr lang="en-US" altLang="ko-KR" sz="1600" dirty="0"/>
              <a:t>, </a:t>
            </a:r>
            <a:r>
              <a:rPr lang="ko-KR" altLang="en-US" sz="1600" dirty="0"/>
              <a:t>환경단체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기업들은 직접통제방식을 더 선호하는 경향이 있는데</a:t>
            </a:r>
            <a:r>
              <a:rPr lang="en-US" altLang="ko-KR" sz="1600" dirty="0"/>
              <a:t>, </a:t>
            </a:r>
            <a:r>
              <a:rPr lang="ko-KR" altLang="en-US" sz="1600" dirty="0"/>
              <a:t>여러가지 이유가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719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DE6C-EA2A-B3EE-5145-43930CF8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BF53A-AC67-EBD8-A4AB-CBE14B12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방식과 직접통제방식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0A47C-4123-6E3A-6756-B8CDEE2A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96823-607B-EAFF-276C-670F0E4B8D6E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기업들은 직접 통제방식이 </a:t>
            </a:r>
            <a:r>
              <a:rPr lang="ko-KR" altLang="en-US" sz="1600" dirty="0" err="1"/>
              <a:t>환경세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제도에 비해 더 적은 준수비용을 요구한다는 점을 선호한다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사실 기업들의 이러한 인식은 사실과는 다른데</a:t>
            </a:r>
            <a:r>
              <a:rPr lang="en-US" altLang="ko-KR" sz="1600" dirty="0"/>
              <a:t>, </a:t>
            </a:r>
            <a:r>
              <a:rPr lang="ko-KR" altLang="en-US" sz="1600" dirty="0"/>
              <a:t>눈에 직접 보이는 </a:t>
            </a:r>
            <a:r>
              <a:rPr lang="ko-KR" altLang="en-US" sz="1600" dirty="0" err="1"/>
              <a:t>환경세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구입 비용이 필요가 없을 뿐이지</a:t>
            </a:r>
            <a:r>
              <a:rPr lang="en-US" altLang="ko-KR" sz="1600" dirty="0"/>
              <a:t>, </a:t>
            </a:r>
            <a:r>
              <a:rPr lang="ko-KR" altLang="en-US" sz="1600" dirty="0"/>
              <a:t>상당한 비용을 부담해야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현실에서는 이와 같은 심리적 효과가 미치는 영향이 결코 작지 않다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환경단체 역시 시장을 활용하는 방식에 대해 그리 호의적이지 않다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환경보호론자들이</a:t>
            </a:r>
            <a:r>
              <a:rPr lang="ko-KR" altLang="en-US" sz="1600" dirty="0"/>
              <a:t> 이 방식에 대해 반감을 갖는 중요한 이유는 철학적</a:t>
            </a:r>
            <a:r>
              <a:rPr lang="en-US" altLang="ko-KR" sz="1600" dirty="0"/>
              <a:t>, </a:t>
            </a:r>
            <a:r>
              <a:rPr lang="ko-KR" altLang="en-US" sz="1600" dirty="0"/>
              <a:t>도덕적 측면에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오염물질 배출은 도덕적으로 비난을 받아야 마땅한 행위 임에도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환경세를 납부하거나 배출권을 구입했다는 사실이 이들에게 면죄부를 제공하는 결과를 빚는 데 대해 반감을 갖는 것이다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환경규제를 실시하는 정치가나 관료 또한 직접통제방식을 선호하는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 이유 중 하나는 환경규제와 관련되어 발생하는 비용을 숨기기 쉽다는 점이다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환경세나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거래제도를 채택하면 비용이 명백히 드러나는데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정치가 입장에서는 부담스러울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비용이 많이 드는 것처럼 보이면 환경규제에 대한 반대 여론이 거세질 수 있기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시장을 활용하는 방식 대비 상대적으로 확실한 효과가 신속히 나타날 수 있기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관료들은 직무 특성상 직접통제방식이 친숙하고</a:t>
            </a:r>
            <a:r>
              <a:rPr lang="en-US" altLang="ko-KR" sz="1600" dirty="0"/>
              <a:t>, </a:t>
            </a:r>
            <a:r>
              <a:rPr lang="ko-KR" altLang="en-US" sz="1600" dirty="0"/>
              <a:t>새롭고 번거로운 일</a:t>
            </a:r>
            <a:r>
              <a:rPr lang="en-US" altLang="ko-KR" sz="1600" dirty="0"/>
              <a:t>(</a:t>
            </a:r>
            <a:r>
              <a:rPr lang="ko-KR" altLang="en-US" sz="1600" dirty="0"/>
              <a:t>시장을 활용하는 방식</a:t>
            </a:r>
            <a:r>
              <a:rPr lang="en-US" altLang="ko-KR" sz="1600" dirty="0"/>
              <a:t>)</a:t>
            </a:r>
            <a:r>
              <a:rPr lang="ko-KR" altLang="en-US" sz="1600" dirty="0"/>
              <a:t>을 반길 이유는 없다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종합하면 시장을 활용하는 방식은 오직 </a:t>
            </a:r>
            <a:r>
              <a:rPr lang="ko-KR" altLang="en-US" sz="1600" dirty="0" err="1"/>
              <a:t>경제학자뿐인데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시장을 활용하려는 움직임이 점차 활발해지고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2122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C7BBC-95C9-947B-CBF1-946ED66D9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BB949-C7E0-42E0-7450-E4CE10E9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환경세</a:t>
            </a:r>
            <a:r>
              <a:rPr lang="ko-KR" altLang="en-US" dirty="0"/>
              <a:t> 부과와 </a:t>
            </a:r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813CB8-D0D8-CA9F-0C86-D3101D68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38067-0273-FC0D-032A-5D16FC2583CA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시장을 활용하는 방식 중에서도 환경세와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거래제도의 장단점을 살펴보자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환경세가 갖는 첫번째 장점은 재정수입을 올릴 수 있다는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환경세를 통한 추가적 재정수입을 다른 프로그램의 재원으로 사용할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조세부과는 사람들의 경제적 선택에 교란을 일으켜 효율성을 낮추는 결과를 가져온다</a:t>
            </a:r>
            <a:r>
              <a:rPr lang="en-US" altLang="ko-KR" sz="1600" dirty="0"/>
              <a:t>. </a:t>
            </a:r>
            <a:r>
              <a:rPr lang="ko-KR" altLang="en-US" sz="1600" dirty="0"/>
              <a:t>이를 조세의 초과부담 이라고 부른다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하지만 환경세를 거두어 다른 조세 징수액을 줄여주면</a:t>
            </a:r>
            <a:r>
              <a:rPr lang="en-US" altLang="ko-KR" sz="1600" dirty="0"/>
              <a:t>,</a:t>
            </a:r>
            <a:r>
              <a:rPr lang="ko-KR" altLang="en-US" sz="1600" dirty="0"/>
              <a:t> 오염물질 배출을 억제하는 효과를 내는 동시에 다른 조세의 부과로 인한 초과부담을 줄여 효율성을 높여주는 효과까지 가져온다</a:t>
            </a:r>
            <a:r>
              <a:rPr lang="en-US" altLang="ko-KR" sz="1600" dirty="0"/>
              <a:t>. </a:t>
            </a:r>
            <a:r>
              <a:rPr lang="ko-KR" altLang="en-US" sz="1600" dirty="0"/>
              <a:t>이를 이중배당금 이라고 부른다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두번째 장점은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 대비 시장이 형성되어야 하는 조건이 필요가 없다는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시장이 형성되어야 하는 조건이 필요하다면</a:t>
            </a:r>
            <a:r>
              <a:rPr lang="en-US" altLang="ko-KR" sz="1600" dirty="0"/>
              <a:t>, </a:t>
            </a:r>
            <a:r>
              <a:rPr lang="ko-KR" altLang="en-US" sz="1600" dirty="0"/>
              <a:t>시장에 참여하는 기업들의 전략적 행위에 드는 비용이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환경세는 이런 불확실한 문제에서 자유롭다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세번째 장점은 오염물질 배출자가 지불하는 비용의 변동성이 안정된 수준에 머물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거래제도하에서는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가격의 변동이 기업들에게 상당한 부담으로 작용한다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네번째 장점은 </a:t>
            </a:r>
            <a:r>
              <a:rPr lang="ko-KR" altLang="en-US" sz="1600" dirty="0" err="1"/>
              <a:t>공평성</a:t>
            </a:r>
            <a:r>
              <a:rPr lang="ko-KR" altLang="en-US" sz="1600" dirty="0"/>
              <a:t> 관점에서 볼 때 오염물질 배출자가 대가를 지불한다는 측면에서 바람직하다</a:t>
            </a:r>
            <a:r>
              <a:rPr lang="en-US" altLang="ko-KR" sz="1600" dirty="0"/>
              <a:t>. (</a:t>
            </a:r>
            <a:r>
              <a:rPr lang="ko-KR" altLang="en-US" sz="1600" dirty="0"/>
              <a:t>오염자지불원칙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거래제도하에서는</a:t>
            </a:r>
            <a:r>
              <a:rPr lang="ko-KR" altLang="en-US" sz="1600" dirty="0"/>
              <a:t> 기업들에게 배출권을 무료로 분배하는 사례가 많은데</a:t>
            </a:r>
            <a:r>
              <a:rPr lang="en-US" altLang="ko-KR" sz="1600" dirty="0"/>
              <a:t>, </a:t>
            </a:r>
            <a:r>
              <a:rPr lang="ko-KR" altLang="en-US" sz="1600" dirty="0"/>
              <a:t>공평성의 관점에서 문제가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794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6946-E636-B70B-31A8-1531C5A4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7A0DA-C84A-DA3D-6265-AD3CA5F2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환경세</a:t>
            </a:r>
            <a:r>
              <a:rPr lang="ko-KR" altLang="en-US" dirty="0"/>
              <a:t> 부과와 </a:t>
            </a:r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C8993-820B-DF38-790E-016830E8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7F5C6-FE14-9B88-7019-451134B423D9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반대로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거래제도의 장점도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배출권</a:t>
            </a:r>
            <a:r>
              <a:rPr lang="ko-KR" altLang="en-US" sz="1600" dirty="0"/>
              <a:t> 거래제도의 첫번째 장점은 오염물질 배출량에 대한 직접적인 통제가 가능하다는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환경세의 경우 배출량이 간접적으로 통제되기 때문에 바람직한 배출수준에 도달할 때 까지 세율을 </a:t>
            </a:r>
            <a:r>
              <a:rPr lang="ko-KR" altLang="en-US" sz="1600" dirty="0" err="1"/>
              <a:t>변경해야하는</a:t>
            </a:r>
            <a:r>
              <a:rPr lang="ko-KR" altLang="en-US" sz="1600" dirty="0"/>
              <a:t> 번거로움이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두번째 장점은 경제가 성장하고 물가도 상승하는 상황에서는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거래제도가 상대적으로 유리하다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환경세의 경우 물가를 고려하여 세율을 계속 </a:t>
            </a:r>
            <a:r>
              <a:rPr lang="ko-KR" altLang="en-US" sz="1600" dirty="0" err="1"/>
              <a:t>조정해야하는</a:t>
            </a:r>
            <a:r>
              <a:rPr lang="ko-KR" altLang="en-US" sz="1600" dirty="0"/>
              <a:t> 한편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거래제도하에서는</a:t>
            </a:r>
            <a:r>
              <a:rPr lang="ko-KR" altLang="en-US" sz="1600" dirty="0"/>
              <a:t> 자동으로 조정이 이루어질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지금까지의 논의를 보면 </a:t>
            </a:r>
            <a:r>
              <a:rPr lang="ko-KR" altLang="en-US" sz="1600" dirty="0" err="1"/>
              <a:t>환경세</a:t>
            </a:r>
            <a:r>
              <a:rPr lang="ko-KR" altLang="en-US" sz="1600" dirty="0"/>
              <a:t> 부과의 장점이 좀 더 두드러진다고 말할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현실에서는 환경정책과 관련된 거의 모든 집단이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거래제도를 더욱 선호하는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경향은 앞서 설명한 </a:t>
            </a:r>
            <a:r>
              <a:rPr lang="en-US" altLang="ko-KR" sz="1600" dirty="0"/>
              <a:t>‘</a:t>
            </a:r>
            <a:r>
              <a:rPr lang="ko-KR" altLang="en-US" sz="1600" dirty="0"/>
              <a:t>시장을 활용하는 방식</a:t>
            </a:r>
            <a:r>
              <a:rPr lang="en-US" altLang="ko-KR" sz="1600" dirty="0"/>
              <a:t>‘ </a:t>
            </a:r>
            <a:r>
              <a:rPr lang="ko-KR" altLang="en-US" sz="1600" dirty="0"/>
              <a:t>보다</a:t>
            </a:r>
            <a:r>
              <a:rPr lang="en-US" altLang="ko-KR" sz="1600" dirty="0"/>
              <a:t> ‘</a:t>
            </a:r>
            <a:r>
              <a:rPr lang="ko-KR" altLang="en-US" sz="1600" dirty="0"/>
              <a:t>직접 통제방식</a:t>
            </a:r>
            <a:r>
              <a:rPr lang="en-US" altLang="ko-KR" sz="1600" dirty="0"/>
              <a:t>‘</a:t>
            </a:r>
            <a:r>
              <a:rPr lang="ko-KR" altLang="en-US" sz="1600" dirty="0"/>
              <a:t>을 더 선호하는 이유와 비슷하다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첫째 이유로는 </a:t>
            </a:r>
            <a:r>
              <a:rPr lang="ko-KR" altLang="en-US" sz="1600" dirty="0" err="1"/>
              <a:t>배출권거래제도하에서는</a:t>
            </a:r>
            <a:r>
              <a:rPr lang="ko-KR" altLang="en-US" sz="1600" dirty="0"/>
              <a:t> 환경규제와 관련된 비용이 명백하게 드러나지 않기 때문에 이를 더욱 선호한다는 것이다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둘째로는 또 </a:t>
            </a:r>
            <a:r>
              <a:rPr lang="ko-KR" altLang="en-US" sz="1600" dirty="0" err="1"/>
              <a:t>환경세</a:t>
            </a:r>
            <a:r>
              <a:rPr lang="ko-KR" altLang="en-US" sz="1600" dirty="0"/>
              <a:t> 부과의 효과가 간접적으로 나타나는데 반해</a:t>
            </a:r>
            <a:r>
              <a:rPr lang="en-US" altLang="ko-KR" sz="1600" dirty="0"/>
              <a:t>, </a:t>
            </a:r>
            <a:r>
              <a:rPr lang="ko-KR" altLang="en-US" sz="1600" dirty="0"/>
              <a:t>배출권의 효과는 직접적으로 나타나기 때문이다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발행량을</a:t>
            </a:r>
            <a:r>
              <a:rPr lang="ko-KR" altLang="en-US" sz="1600" dirty="0"/>
              <a:t> 통제하여 오염물질 배출을 일정 수준에 </a:t>
            </a:r>
            <a:r>
              <a:rPr lang="ko-KR" altLang="en-US" sz="1600" dirty="0" err="1"/>
              <a:t>묶어둘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820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1567-016E-E566-3FE6-120A901A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932EB-32D7-18A7-124F-551649B7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환경세</a:t>
            </a:r>
            <a:r>
              <a:rPr lang="ko-KR" altLang="en-US" dirty="0"/>
              <a:t> 부과와 </a:t>
            </a:r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6A2066-46E4-B1BD-2FDC-124A7194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0EF65-0EA6-2237-A8E7-0362765BC146}"/>
              </a:ext>
            </a:extLst>
          </p:cNvPr>
          <p:cNvSpPr txBox="1"/>
          <p:nvPr/>
        </p:nvSpPr>
        <p:spPr>
          <a:xfrm>
            <a:off x="288790" y="958844"/>
            <a:ext cx="112502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셋째 이유로는 기업들은 보통 초기에 배출권을 무료로 분배 받기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비용이 적게 든다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마지막으로는 이미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거래를 하고 있는 기업들은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자체가 잠재적인 신규경쟁 기업들의 진입을 가로막는 장벽 역할을 해주기 때문이다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결론적으로는 환경세와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 중 어느 쪽이 더 나은지 분명히 말할 수는 없다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다만 한 연구에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두 제도를 적절히 혼합한 제도를 활용하면 더 나은 효과를 얻을 수 있다고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Section 5</a:t>
            </a:r>
            <a:r>
              <a:rPr lang="ko-KR" altLang="en-US" sz="1600" dirty="0"/>
              <a:t>에서 설명하겠지만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세계적으로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거래가 확산되고 있는 추세다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현재는 온실가스에 한해서만 </a:t>
            </a:r>
            <a:r>
              <a:rPr lang="ko-KR" altLang="en-US" sz="1600" dirty="0" err="1"/>
              <a:t>배출권시장이</a:t>
            </a:r>
            <a:r>
              <a:rPr lang="ko-KR" altLang="en-US" sz="1600" dirty="0"/>
              <a:t> 형성되어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앞으로는 다른 오염물질과 관련된 </a:t>
            </a:r>
            <a:r>
              <a:rPr lang="ko-KR" altLang="en-US" sz="1600" dirty="0" err="1"/>
              <a:t>배출권시장이</a:t>
            </a:r>
            <a:r>
              <a:rPr lang="ko-KR" altLang="en-US" sz="1600" dirty="0"/>
              <a:t> 등장할 것으로 예상한다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8189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BA77-8654-2BFF-949E-ADB15A2B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01CFC-E4B8-236E-DABF-45EE63BD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D2E60-4AAF-ACCC-00E1-73A783EB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E10C56-498B-7E5A-5F8A-5445515D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환경정책의 분배적 측면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07377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38C8-5B24-23EC-C9CE-F39E162D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12CC1-D43E-F239-23AC-214BA28E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분배적 측면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CA523-1F41-E665-6346-21C0E799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2EE3F-CC40-0011-0B3E-5E61362F986F}"/>
              </a:ext>
            </a:extLst>
          </p:cNvPr>
          <p:cNvSpPr txBox="1"/>
          <p:nvPr/>
        </p:nvSpPr>
        <p:spPr>
          <a:xfrm>
            <a:off x="288790" y="958844"/>
            <a:ext cx="1125026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기본적으로 환경정책은 외부성에 의한 자원배분의 비효율성을 극복하기 위한 정책이기 때문에 이에 대한 평가는 주로 효율성의 관점에서 내려져야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환경정책 또한 부수적이나마 분배효과를 갖는 것은 불가피하므로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대한 적절한 평가도 동시에 이루어져야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보통 사람이 기본적으로 의식주 문제가 해결된 이후에 환경에 대한 관심이 생겨날 수 있다는 점을 근거로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환경정책은 중</a:t>
            </a:r>
            <a:r>
              <a:rPr lang="en-US" altLang="ko-KR" sz="1600" dirty="0"/>
              <a:t>·</a:t>
            </a:r>
            <a:r>
              <a:rPr lang="ko-KR" altLang="en-US" sz="1600" dirty="0"/>
              <a:t>상류층의 이익에 도움이 되는 성격을 갖는다고 생각하는 사람들이 많다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환경정책이 빈곤층의 이익에 반하는 성격을 갖는다고 단정 짓는 것은 성급한 결론이다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상식적인 견해를 뛰어넘어 환경정책과 관련된 혜택과 비용이 여러 소득계층 사이에서 어떻게 분배되고 있는지 조심스럽게 관찰할 필요가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39490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A97D-9721-51B0-6AF9-7A338BDA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70B65-1E75-D0FA-E34B-8748C2DA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혜택의 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6DC47-40C5-8DC0-5D68-DD6EF8FEB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23614-8F05-045A-385B-680DF607B286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대기오염이나 수질오염의 피해는 전 국민에게 돌아갈 수 밖에 없지만</a:t>
            </a:r>
            <a:r>
              <a:rPr lang="en-US" altLang="ko-KR" sz="1600" dirty="0"/>
              <a:t>, </a:t>
            </a:r>
            <a:r>
              <a:rPr lang="ko-KR" altLang="en-US" sz="1600" dirty="0"/>
              <a:t>특히 저소득층이 큰 피해를 입게 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대기나 수질과 관련한 환경보존 프로그램의 혜택은 주로 저소득층에게 돌아가게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생활에 여유가 있다면</a:t>
            </a:r>
            <a:r>
              <a:rPr lang="en-US" altLang="ko-KR" sz="1600" dirty="0"/>
              <a:t>,</a:t>
            </a:r>
            <a:r>
              <a:rPr lang="ko-KR" altLang="en-US" sz="1600" dirty="0"/>
              <a:t> 환경이 쾌적한 지역을 찾아서 살고</a:t>
            </a:r>
            <a:r>
              <a:rPr lang="en-US" altLang="ko-KR" sz="1600" dirty="0"/>
              <a:t>, </a:t>
            </a:r>
            <a:r>
              <a:rPr lang="ko-KR" altLang="en-US" sz="1600" dirty="0"/>
              <a:t>또 수돗물 대신 생수를 구매할 수 있기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저소득층은 주거를 마음대로 선택할 수 없는 경우가 많다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 국립공원 같은 휴식공간의 확보를 목표로 하는 환경정책은</a:t>
            </a:r>
            <a:r>
              <a:rPr lang="en-US" altLang="ko-KR" sz="1600" dirty="0"/>
              <a:t>, </a:t>
            </a:r>
            <a:r>
              <a:rPr lang="ko-KR" altLang="en-US" sz="1600" dirty="0"/>
              <a:t>주로 중</a:t>
            </a:r>
            <a:r>
              <a:rPr lang="en-US" altLang="ko-KR" sz="1600" dirty="0"/>
              <a:t>·</a:t>
            </a:r>
            <a:r>
              <a:rPr lang="ko-KR" altLang="en-US" sz="1600" dirty="0"/>
              <a:t>상류층이 수혜를 많이 보게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아무래도 저소득층보다는 경제적 여유가 있는 중</a:t>
            </a:r>
            <a:r>
              <a:rPr lang="en-US" altLang="ko-KR" sz="1600" dirty="0"/>
              <a:t>·</a:t>
            </a:r>
            <a:r>
              <a:rPr lang="ko-KR" altLang="en-US" sz="1600" dirty="0"/>
              <a:t>상류층이 더 자주 사용하게 되기 때문이다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수혜계층이 비교적 분명한 위의 두 사례와는 달리</a:t>
            </a:r>
            <a:r>
              <a:rPr lang="en-US" altLang="ko-KR" sz="1600" dirty="0"/>
              <a:t>, </a:t>
            </a:r>
            <a:r>
              <a:rPr lang="ko-KR" altLang="en-US" sz="1600" dirty="0"/>
              <a:t>수혜계층이 불분명한 경우도 많다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특정 지역에 서식하고 있는 생물보호 프로그램은 어느 계층에 더 혜택이 돌아갈지 분명하지 않다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어떤 사람이 환경의 질 개선을 통해 얻는 혜택은 이를 위해 지불할 용의가 있는 금액으로도 평가할 수 있는데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이와 같은 평가에 기초하여 혜택의 분배를 평가하면 앞에서 와는 다른 결론에 도달한다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/>
              <a:t>대기오염의 직접적인 피해는 주로 저소득층에게 발생할지 몰라도</a:t>
            </a:r>
            <a:r>
              <a:rPr lang="en-US" altLang="ko-KR" sz="1600" dirty="0"/>
              <a:t>, </a:t>
            </a:r>
            <a:r>
              <a:rPr lang="ko-KR" altLang="en-US" sz="1600" dirty="0"/>
              <a:t>대기 질 개선에 대한 지불용의가 있는 금액은 고소득층이 훨씬 더 클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그렇다면 대기오염 완화를 목적으로 수행하는 프로그램의 혜택은 부유층에게 더 많이 돌아가고 있는 셈이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1307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4C97-3EA2-CED3-F904-F29C9820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37C6F-5091-8932-B54E-057CA9C7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비용의 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2EE6A-55B9-25C9-5A0B-2B52E49C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90867-062C-35AC-52DD-FEACA1458B46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환경정책과 관련된 비용은 정부의 예산</a:t>
            </a:r>
            <a:r>
              <a:rPr lang="en-US" altLang="ko-KR" sz="1600" dirty="0"/>
              <a:t>, </a:t>
            </a:r>
            <a:r>
              <a:rPr lang="ko-KR" altLang="en-US" sz="1600" dirty="0"/>
              <a:t>혹은 국민의 세금에만 국한되지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환경정책에 의해 영향을 받는 다양한 사람들이 부담해야 하는 비용도 환경정책 관련 비용에 포함이 되어야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이런 비용들이 현실에서는 소득계층별로 어떻게 분배되고 있는지 알아내는 것은 대단히 어렵다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우선 환경정책 수행에 필요한 예산을 충당하기 위한 조세부담이 소득계층별로 어떻게 나뉘는지를 평가 해야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이 또한 쉬운 일이 아니다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환경정책 수행을 위한 특별회계가 따로 마련되어 있는 경우는 아주 드물고 대부분 일반회계가 재원이 되는 경우가 대부분이기 때문이다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관련 세금 부담의 귀착 양상을 파악하는 일은 비교적 어렵지 않은 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세금 부담의 귀착이란 각 소득계층이 얼만큼의 실질적 세금 부담을 지는가를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미국의 연구 결과를 보면 환경세의 성격을 갖는 휘발유세의 부담 귀착 양상이 상당히 </a:t>
            </a:r>
            <a:r>
              <a:rPr lang="ko-KR" altLang="en-US" sz="1600" dirty="0" err="1"/>
              <a:t>역진적인것으로</a:t>
            </a:r>
            <a:r>
              <a:rPr lang="ko-KR" altLang="en-US" sz="1600" dirty="0"/>
              <a:t> 나타난다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저소득층일수록 휘발유세에 대한 부담이 크다는 뜻이다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휘발유에 대한 수요의 소득 탄력성이 </a:t>
            </a:r>
            <a:r>
              <a:rPr lang="en-US" altLang="ko-KR" sz="1600" dirty="0"/>
              <a:t>1</a:t>
            </a:r>
            <a:r>
              <a:rPr lang="ko-KR" altLang="en-US" sz="1600" dirty="0"/>
              <a:t>보다 더 작아 저소득층일수록 휘발유에 대한 지출이 소득에서 차지하는 비중이 상대적으로 큰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가난한 사람의 경우 자동차를 소유하고 있지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또 대중교통수단을 이용하여 휘발유세를 회피하기도 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점들은 휘발유세의 역진성을 완화시키는 요인들이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1599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F461-E3AB-5ADD-EAD3-207DAFAB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90A33-B93E-1B1B-A4C5-102FE196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비용의 분배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79717-E229-2CF4-ABA1-644811F2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A59A-52A0-9524-F1BA-25E12C1BCCFC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5</a:t>
            </a:r>
            <a:r>
              <a:rPr lang="ko-KR" altLang="en-US" sz="1600" dirty="0"/>
              <a:t>절에서 살펴보겠지만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대응을 위해 탄소세나 </a:t>
            </a:r>
            <a:r>
              <a:rPr lang="ko-KR" altLang="en-US" sz="1600" dirty="0" err="1"/>
              <a:t>배출권</a:t>
            </a:r>
            <a:r>
              <a:rPr lang="ko-KR" altLang="en-US" sz="1600" dirty="0"/>
              <a:t> 거래제도를 도입하는 나라가 많은데</a:t>
            </a:r>
            <a:r>
              <a:rPr lang="en-US" altLang="ko-KR" sz="1600" dirty="0"/>
              <a:t>, </a:t>
            </a:r>
            <a:r>
              <a:rPr lang="ko-KR" altLang="en-US" sz="1600" dirty="0"/>
              <a:t>이와 관련한 비용 부담의 귀착도 역진적 성격을 갖는다는 점이 많이 지적되고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소득이 낮은 가정일수록 생계비 중에서 에너지에 지출하는 비용의 비중이 높기 때문에 이런 결과가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</a:t>
            </a:r>
            <a:r>
              <a:rPr lang="ko-KR" altLang="en-US" sz="1600" dirty="0" err="1"/>
              <a:t>탄소세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배출권거래제도를</a:t>
            </a:r>
            <a:r>
              <a:rPr lang="ko-KR" altLang="en-US" sz="1600" dirty="0"/>
              <a:t> 통해 얻은 수입을 어떻게 </a:t>
            </a:r>
            <a:r>
              <a:rPr lang="ko-KR" altLang="en-US" sz="1600" dirty="0" err="1"/>
              <a:t>쓰느냐에</a:t>
            </a:r>
            <a:r>
              <a:rPr lang="ko-KR" altLang="en-US" sz="1600" dirty="0"/>
              <a:t> 따라 역진성은 완화될 여지는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환경정책의 시행이 어떤 산업의 위축을 가져오고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 특정 계층의 사람들에게 비용을 발생시킬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환경기준을 충족시키기 어려운 기업들은 환경규제가 엄격하지 않은 해외로 옮기거나</a:t>
            </a:r>
            <a:r>
              <a:rPr lang="en-US" altLang="ko-KR" sz="1600" dirty="0"/>
              <a:t>, </a:t>
            </a:r>
            <a:r>
              <a:rPr lang="ko-KR" altLang="en-US" sz="1600" dirty="0"/>
              <a:t>업종 전환을 시도하여 일자리가 사라질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굴뚝산업</a:t>
            </a:r>
            <a:r>
              <a:rPr lang="en-US" altLang="ko-KR" sz="1600" dirty="0"/>
              <a:t>(</a:t>
            </a:r>
            <a:r>
              <a:rPr lang="ko-KR" altLang="en-US" sz="1600" dirty="0"/>
              <a:t>제철</a:t>
            </a:r>
            <a:r>
              <a:rPr lang="en-US" altLang="ko-KR" sz="1600" dirty="0"/>
              <a:t>, </a:t>
            </a:r>
            <a:r>
              <a:rPr lang="ko-KR" altLang="en-US" sz="1600" dirty="0"/>
              <a:t>정유업</a:t>
            </a:r>
            <a:r>
              <a:rPr lang="en-US" altLang="ko-KR" sz="1600" dirty="0"/>
              <a:t>)</a:t>
            </a:r>
            <a:r>
              <a:rPr lang="ko-KR" altLang="en-US" sz="1600" dirty="0"/>
              <a:t>같은 경우 미숙련노동자가 많다는 점을 감안하면</a:t>
            </a:r>
            <a:r>
              <a:rPr lang="en-US" altLang="ko-KR" sz="1600" dirty="0"/>
              <a:t>, </a:t>
            </a:r>
            <a:r>
              <a:rPr lang="ko-KR" altLang="en-US" sz="1600" dirty="0"/>
              <a:t>이런 유형의 환경정책 비용은 저소득층이 부담하게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 환경규제는 원가 상승 압력을 가중시키고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제품 가격의 상승으로 이어지는데</a:t>
            </a:r>
            <a:r>
              <a:rPr lang="en-US" altLang="ko-KR" sz="1600" dirty="0"/>
              <a:t>, </a:t>
            </a:r>
            <a:r>
              <a:rPr lang="ko-KR" altLang="en-US" sz="1600" dirty="0"/>
              <a:t>결국 오염유발 산업에서 생산된 상품을 주로 소비하는 계층은 실질소득 감소라는 형태로 비용을 부담하게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로빈슨 </a:t>
            </a:r>
            <a:r>
              <a:rPr lang="en-US" altLang="ko-KR" sz="1600" dirty="0"/>
              <a:t>(S. Robinson, 1985)</a:t>
            </a:r>
            <a:r>
              <a:rPr lang="ko-KR" altLang="en-US" sz="1600" dirty="0"/>
              <a:t>의 연구에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환경정책에 의해 실질소득이 감소하는 비율은 고소득층으로 갈수록 더 낮다고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결국 환경정책을 수행하는 과정에서 최대한 저소득층의 부담을 경감시키려고 노력하는 것이 바람직하다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</a:t>
            </a:r>
            <a:r>
              <a:rPr lang="ko-KR" altLang="en-US" sz="1600" dirty="0" err="1"/>
              <a:t>공평성</a:t>
            </a:r>
            <a:r>
              <a:rPr lang="ko-KR" altLang="en-US" sz="1600" dirty="0"/>
              <a:t> 자체를 위해서일 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환경정책에 대한 많은 지지를 확보하기 위해서도 필요한 것이다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396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3DD8-0D14-2472-DBD1-4DF3207D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D1381-5802-4B7C-C10F-F2F72FE7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F63AEF-81DC-67C5-59B8-1BD8AD90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E5D6525-1842-2279-6B45-1229A58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경제성장과 국제무역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46903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65A5-95F8-3D4B-83DC-13C82C90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5FA51-D0C8-1F90-0F5D-6D7688EC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경제성장과 국제무역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6743F-5BE9-744B-D9E3-A221BD7C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D1289-2EFB-0B2F-9388-403FBCBAF2F2}"/>
              </a:ext>
            </a:extLst>
          </p:cNvPr>
          <p:cNvSpPr txBox="1"/>
          <p:nvPr/>
        </p:nvSpPr>
        <p:spPr>
          <a:xfrm>
            <a:off x="288790" y="958844"/>
            <a:ext cx="11250267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03C8A-566B-C171-27DE-7651CED97A46}"/>
              </a:ext>
            </a:extLst>
          </p:cNvPr>
          <p:cNvSpPr txBox="1"/>
          <p:nvPr/>
        </p:nvSpPr>
        <p:spPr>
          <a:xfrm>
            <a:off x="288790" y="958844"/>
            <a:ext cx="1125026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환경규제가 경제성장을 </a:t>
            </a:r>
            <a:r>
              <a:rPr lang="ko-KR" altLang="en-US" sz="1600" dirty="0" err="1"/>
              <a:t>둔화시킬</a:t>
            </a:r>
            <a:r>
              <a:rPr lang="ko-KR" altLang="en-US" sz="1600" dirty="0"/>
              <a:t> 수도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국내 기업들의 국제경쟁력을 약화시키는 부작용을 만든다는 주장도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실제로 그런 부작용이 발생하는지에 관해서는 명백한 결론이 나지는 않은 상태다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환경정책과 경제성장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시장을 활용하는 방식은 유연하게 운영될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환경목표를 효율적으로 달성할 수 있다는 점에서 더 낫다고 배웠다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158568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F101-599B-8858-73A2-814B24C6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D98593-BD52-EB05-1B71-74722F1DFC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EA2B9D-F558-2C08-2C90-4CD11384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F6B92E8-8E91-893F-77CF-42B96442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국제적 차원의 환경정책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65009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B898-DA94-EDB2-88B3-8DB40065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A481F-6D1B-5906-7FE5-737DCE11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65401-0EF0-9B58-62DB-B72E0ABB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32C36-2F28-878D-EB79-5CA565EA3AB1}"/>
              </a:ext>
            </a:extLst>
          </p:cNvPr>
          <p:cNvSpPr txBox="1"/>
          <p:nvPr/>
        </p:nvSpPr>
        <p:spPr>
          <a:xfrm>
            <a:off x="288790" y="958844"/>
            <a:ext cx="11179048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외부성은 여러 형태로 나타나기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개념적으로 아래와 같이 몇 가지 기준에 의해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해로운</a:t>
            </a:r>
            <a:r>
              <a:rPr lang="en-US" altLang="ko-KR" sz="1600" spc="-50" dirty="0"/>
              <a:t> </a:t>
            </a:r>
            <a:r>
              <a:rPr lang="ko-KR" altLang="en-US" sz="1600" spc="-50" dirty="0" err="1"/>
              <a:t>외부성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이로운 </a:t>
            </a:r>
            <a:r>
              <a:rPr lang="ko-KR" altLang="en-US" sz="1600" spc="-50" dirty="0" err="1"/>
              <a:t>외부성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환경오염문제는 대표적인 해로운 외부성인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기초학문 분야의 학자들이 지적 호기심을 충족시키기 위해 연구결과를 발표했는데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상업적으로 크게 활용이 되는 경우는 이로운 외부성이라고 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생산과정에서의 </a:t>
            </a:r>
            <a:r>
              <a:rPr lang="ko-KR" altLang="en-US" sz="1600" spc="-50" dirty="0" err="1"/>
              <a:t>외부성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소비과정에서의 </a:t>
            </a:r>
            <a:r>
              <a:rPr lang="ko-KR" altLang="en-US" sz="1600" spc="-50" dirty="0" err="1"/>
              <a:t>외부성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공장에서 방수하고 있는 유독물질은 생산과정에서의 외부성인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가정에서 </a:t>
            </a:r>
            <a:r>
              <a:rPr lang="ko-KR" altLang="en-US" sz="1600" spc="-50" dirty="0" err="1"/>
              <a:t>흘려보내는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오염수는</a:t>
            </a:r>
            <a:r>
              <a:rPr lang="ko-KR" altLang="en-US" sz="1600" spc="-50" dirty="0"/>
              <a:t> 소비과정에서의 외부성이라고 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실질적인 </a:t>
            </a:r>
            <a:r>
              <a:rPr lang="ko-KR" altLang="en-US" sz="1600" spc="-50" dirty="0" err="1"/>
              <a:t>외부성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금전적인 </a:t>
            </a:r>
            <a:r>
              <a:rPr lang="ko-KR" altLang="en-US" sz="1600" spc="-50" dirty="0" err="1"/>
              <a:t>외부성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외부성으로 인해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자에게 의도하지 않은 이득이나 손해가 생길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사람의 효용이나 생산함수에 영향을 주기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외부효과가 발생한 것이라면 실질적인 외부성이 발생했다고 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시장가격을 거치지 않음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어떤 행동이 시장가격 변화를 통해 다른 사람에게 영향을 주는 경우를 의미한다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건설회사가 전국 각지에 대규모 토목공사를 시작해서 건축자재의 가격이 폭등했고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때문에 본인 집을 짓고 있던 한 사람이 경제적으로 타격을 입었다면 금전적인 외부성이 발생했다고 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시장가격을 거침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2737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778B-0656-570C-9DA5-F28E851C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F6919-1C51-2FDA-719D-F18C1DB3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767BF2-66DD-F14E-D45A-7207D0EE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CD217-3E96-6161-354B-98BCF6F5C07D}"/>
              </a:ext>
            </a:extLst>
          </p:cNvPr>
          <p:cNvSpPr txBox="1"/>
          <p:nvPr/>
        </p:nvSpPr>
        <p:spPr>
          <a:xfrm>
            <a:off x="288790" y="958844"/>
            <a:ext cx="11325768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사용재적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외부성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공공재적 </a:t>
            </a:r>
            <a:r>
              <a:rPr lang="ko-KR" altLang="en-US" sz="1600" spc="-50" dirty="0" err="1"/>
              <a:t>외부성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외부성에 비경합성이 있으면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공공재적 외부성이라고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예를 들어 오염물질의 경우 어떤 사람이 그로 인해 피해를 입는다고 해서 다른 사람이 입는 피해가 줄어들지 않는다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한 사람이 소비하면 다른 사람이 소비할 수 있는 양이 줄어드는 </a:t>
            </a:r>
            <a:r>
              <a:rPr lang="ko-KR" altLang="en-US" sz="1600" spc="-50" dirty="0" err="1"/>
              <a:t>사용재적</a:t>
            </a:r>
            <a:r>
              <a:rPr lang="ko-KR" altLang="en-US" sz="1600" spc="-50" dirty="0"/>
              <a:t> 외부성도 존재한다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예를 들어 기업이 근로자들에게 기술훈련을 시키면 근로자의 생산성이 높아지는데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근로자가 다른 기업으로 이동하면 새로운 기업도 이익을 얻는다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이때 그 숙련된 노동자는 동시에 여러 기업에 고용될 수 없기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경합성이 있다고 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5375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4D3B-AF8B-A414-B3C9-0EE34B360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FEFBA-E7A0-B7BE-8DAD-FF9E9048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비효율성 </a:t>
            </a:r>
            <a:r>
              <a:rPr lang="en-US" altLang="ko-KR" dirty="0"/>
              <a:t>(</a:t>
            </a:r>
            <a:r>
              <a:rPr lang="ko-KR" altLang="en-US" dirty="0"/>
              <a:t>직관적 설명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F8050-7F91-DE3D-B89E-E5CF3084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3DC5EC-4C65-74D9-89A9-3705E99B1A34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완전경쟁시장에서 어떤 상품의 가격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그것의 한계비용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와 같아지고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소비자는 본인의 한계편익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같아지는 수준에서 상품의 구입량을 결정한다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등식관계가 성립한다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그런데 여기서 한계편익과 한계비용은 엄밀히 말해 소비자 개인이 인식하는 사적 한계편익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𝑃𝑀𝐵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사적 한계비용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소비자와 생산자는 자신과 관련된 편익과 비용에 따라 의사결정을 할 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관점에서 측정된 편익과 비용에 입각하여 의사결정을 하지 않기 때문이다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자원배분의 효율성은 사회적 관점에서 평가해야 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한계편익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과 사회적 한계비용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𝑆𝑀𝐶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같을 때 효율적인 자원배분이 이루어진다고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등식관계가 성립해야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외부성이 존재하지 않는 경우에는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관계의 성립은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𝑆𝑀𝐵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관계 성립을 보장하였다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외부성이 없을 때는 사적 한계편익이 사회적 한계편익과 같고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사적 한계비용이 사회적 한계비용과 같기 때문이다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외부성이 존재할 때는 사적 한계편익이 사회적 한계편익과 달라질 수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사적 한계비용과 사회적 한계비용도 마찬가지</a:t>
                </a:r>
                <a:r>
                  <a:rPr lang="en-US" altLang="ko-KR" sz="1600" spc="-50" dirty="0"/>
                  <a:t>)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해로운 외부성이 소비과정에서 생기면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𝑆𝑀𝐵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생산과정에서 생기면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완전경쟁이 이루어진다 해도 외부성이 존재하면 자원이 효율적으로 배분되지 못한다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3DC5EC-4C65-74D9-89A9-3705E99B1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584670"/>
              </a:xfrm>
              <a:prstGeom prst="rect">
                <a:avLst/>
              </a:prstGeom>
              <a:blipFill>
                <a:blip r:embed="rId2"/>
                <a:stretch>
                  <a:fillRect r="-521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20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61A3-8318-8C57-AA9C-64890672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957B1-08DB-0FA4-E88D-60DCA1BB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비효율성 </a:t>
            </a:r>
            <a:r>
              <a:rPr lang="en-US" altLang="ko-KR" dirty="0"/>
              <a:t>(</a:t>
            </a:r>
            <a:r>
              <a:rPr lang="ko-KR" altLang="en-US" dirty="0"/>
              <a:t>그림에 의한 설명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4FB77-84B7-A738-810A-369AC8C8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7E4843-37B0-C134-9910-391C9098C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24" t="15924" r="21558" b="8217"/>
          <a:stretch>
            <a:fillRect/>
          </a:stretch>
        </p:blipFill>
        <p:spPr>
          <a:xfrm>
            <a:off x="8061570" y="3459392"/>
            <a:ext cx="3804744" cy="26268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A36F0A-7763-F6E5-AD21-6E99BA8366DB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18913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화학공장이 방류하는 오염물질 때문에 해로운 외부효과를 만들고 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방출량은 화학약품 생산수준이 높아질수록 더 커진다고 가정한다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이에 따라 주민들의 피해도 더 커지게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공장이 생산물을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 더 늘릴 때 발생하는 사회적 한계피해액 </a:t>
                </a:r>
                <a:r>
                  <a:rPr lang="en-US" altLang="ko-KR" sz="1600" spc="-50" dirty="0"/>
                  <a:t>(social marginal damage,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생산수준이 높아짐에 따라 더 커진다고 가정한다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A36F0A-7763-F6E5-AD21-6E99BA836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1891352"/>
              </a:xfrm>
              <a:prstGeom prst="rect">
                <a:avLst/>
              </a:prstGeom>
              <a:blipFill>
                <a:blip r:embed="rId3"/>
                <a:stretch>
                  <a:fillRect r="-104" b="-2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5BFAA5-DDF9-B34A-CCFA-1608D49B31A7}"/>
                  </a:ext>
                </a:extLst>
              </p:cNvPr>
              <p:cNvSpPr txBox="1"/>
              <p:nvPr/>
            </p:nvSpPr>
            <p:spPr>
              <a:xfrm>
                <a:off x="288789" y="3152892"/>
                <a:ext cx="7970172" cy="30071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434975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600" spc="-50" dirty="0"/>
                  <a:t>경쟁시장의 균형</a:t>
                </a: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화학공장 생산물에 대한 수요곡선은 </a:t>
                </a:r>
                <a:r>
                  <a:rPr lang="ko-KR" altLang="en-US" sz="1600" spc="-50" dirty="0" err="1"/>
                  <a:t>우하향하는</a:t>
                </a:r>
                <a:r>
                  <a:rPr lang="ko-KR" altLang="en-US" sz="1600" spc="-50" dirty="0"/>
                  <a:t> 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으로 표현된다 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사적 한계비용은 </a:t>
                </a:r>
                <a:r>
                  <a:rPr lang="ko-KR" altLang="en-US" sz="1600" spc="-50" dirty="0" err="1"/>
                  <a:t>우상향하는</a:t>
                </a:r>
                <a:r>
                  <a:rPr lang="ko-KR" altLang="en-US" sz="1600" spc="-50" dirty="0"/>
                  <a:t> 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으로 나타나 있다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오염물질로 인한 사회적 한계피해액은 </a:t>
                </a:r>
                <a:r>
                  <a:rPr lang="ko-KR" altLang="en-US" sz="1600" spc="-50" dirty="0" err="1"/>
                  <a:t>우상향하는</a:t>
                </a:r>
                <a:r>
                  <a:rPr lang="ko-KR" altLang="en-US" sz="1600" spc="-50" dirty="0"/>
                  <a:t> 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𝑆𝑀𝐷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으로 나타나 있다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우선 경쟁시장에서의 균형은 가격과 한계비용이 일치하는 생산수준에서 시장균형이 이루어지게 된다</a:t>
                </a:r>
                <a:r>
                  <a:rPr lang="en-US" altLang="ko-KR" sz="1600" spc="-50" dirty="0"/>
                  <a:t>. 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𝑃𝑀𝐶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곡선의 교차점인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ko-KR" altLang="en-US" sz="1600" spc="-50" dirty="0"/>
                  <a:t>점이 시장균형</a:t>
                </a:r>
                <a:r>
                  <a:rPr lang="en-US" altLang="ko-KR" sz="1600" spc="-50" dirty="0"/>
                  <a:t>)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화학공장이 사회적 관점에서 보지 않고 이윤극대화만 목표를 삼고 있는 경우 화학약품의 </a:t>
                </a:r>
                <a:r>
                  <a:rPr lang="ko-KR" altLang="en-US" sz="1600" spc="-50" dirty="0" err="1"/>
                  <a:t>균형산출량은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5BFAA5-DDF9-B34A-CCFA-1608D49B3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3152892"/>
                <a:ext cx="7970172" cy="3007105"/>
              </a:xfrm>
              <a:prstGeom prst="rect">
                <a:avLst/>
              </a:prstGeom>
              <a:blipFill>
                <a:blip r:embed="rId4"/>
                <a:stretch>
                  <a:fillRect r="-917" b="-1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279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751C-12C7-76ED-4965-670CB7E8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0EDA0-6A8C-4F56-2B93-EF01B8BA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비효율성 </a:t>
            </a:r>
            <a:r>
              <a:rPr lang="en-US" altLang="ko-KR" dirty="0"/>
              <a:t>(</a:t>
            </a:r>
            <a:r>
              <a:rPr lang="ko-KR" altLang="en-US" dirty="0"/>
              <a:t>그림에 의한 설명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3B2E0-CF8E-18C7-3276-CE3D19D5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82D562-2933-C0E2-6EC7-3489FC571097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434975" indent="-3429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ko-KR" altLang="en-US" sz="1600" spc="-50" dirty="0"/>
                  <a:t>최적배분</a:t>
                </a:r>
                <a:r>
                  <a:rPr lang="en-US" altLang="ko-KR" sz="1600" spc="-50" dirty="0"/>
                  <a:t>: </a:t>
                </a:r>
                <a:r>
                  <a:rPr lang="ko-KR" altLang="en-US" sz="1600" spc="-50" dirty="0"/>
                  <a:t>사회적 관점에서 보았을 때의 </a:t>
                </a:r>
                <a:r>
                  <a:rPr lang="ko-KR" altLang="en-US" sz="1600" spc="-50" dirty="0" err="1"/>
                  <a:t>최적산출량은</a:t>
                </a:r>
                <a:r>
                  <a:rPr lang="ko-KR" altLang="en-US" sz="1600" spc="-50" dirty="0"/>
                  <a:t>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관점에서 최적 배분이 달성되기 위해서는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조건이 충족되어야 한다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한계비용을 나타내는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𝑆𝑀𝐷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곡선을 수직방향으로 더해 도출할 수 있다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사회적 한계비용은 사적 한계비용에 오염물질로 인한 사회적 한계피해액을 더한 것과 같기 때문이다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수요곡선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𝑆𝑀𝐶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곡선이 교차하는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ko-KR" altLang="en-US" sz="1600" spc="-50" dirty="0"/>
                  <a:t>점에서 위 조건이 충족된다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최적생산수준이 된다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큰 것을 알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이는 해로운 외부성이 있다면 시장은 과잉생산의 경향이 있음을 의미한다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82D562-2933-C0E2-6EC7-3489FC571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630015"/>
              </a:xfrm>
              <a:prstGeom prst="rect">
                <a:avLst/>
              </a:prstGeom>
              <a:blipFill>
                <a:blip r:embed="rId2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D5B851CB-8EE0-84B3-2CDF-5DA371FA7A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6790" r="21683" b="8332"/>
          <a:stretch>
            <a:fillRect/>
          </a:stretch>
        </p:blipFill>
        <p:spPr>
          <a:xfrm>
            <a:off x="3926376" y="3771014"/>
            <a:ext cx="4001734" cy="28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63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ECF4-B77B-009C-3801-103945D1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695CA-FB53-73EF-0135-7903220A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비효율성 </a:t>
            </a:r>
            <a:r>
              <a:rPr lang="en-US" altLang="ko-KR" dirty="0"/>
              <a:t>(</a:t>
            </a:r>
            <a:r>
              <a:rPr lang="ko-KR" altLang="en-US" dirty="0"/>
              <a:t>그림에 의한 설명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322F2B-ECFB-5E16-44B7-5054EBEC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6F1B8-576D-FA9F-BB4B-A806081CCBBF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260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외부성에 의한 과잉생산을 사회후생 측면에서 어떻게 평가할 수 있을까</a:t>
                </a:r>
                <a:r>
                  <a:rPr lang="en-US" altLang="ko-KR" sz="1600" spc="-50" dirty="0"/>
                  <a:t>?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줄어들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사회후생이 당연히 증가할 텐데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증가폭이 외부성에 의한 사회후생의 손실을 뜻하는 것으로 해석할 수 있다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줄어들면 사회후생에 두 가지 효과가 발생한다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첫번째로는 오염물질 배출량이 줄어들 것이기 때문에 오염물질로 인한 사회적 피해가 줄어든다는 긍정적 효과이다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두번째로는 상품 생산량 감소의 결과 생산자잉여와 소비자잉여가 줄어들어 사회후생이 감소하는 부정적 효과이다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6F1B8-576D-FA9F-BB4B-A806081CC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260683"/>
              </a:xfrm>
              <a:prstGeom prst="rect">
                <a:avLst/>
              </a:prstGeom>
              <a:blipFill>
                <a:blip r:embed="rId2"/>
                <a:stretch>
                  <a:fillRect r="-52"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0F6E68BE-632B-F0CE-57DD-EAE9078071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6790" r="21683" b="8332"/>
          <a:stretch>
            <a:fillRect/>
          </a:stretch>
        </p:blipFill>
        <p:spPr>
          <a:xfrm>
            <a:off x="7884543" y="3728681"/>
            <a:ext cx="4001734" cy="28082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1A5C39-443E-5EC9-F5C9-8ABE306B21FA}"/>
                  </a:ext>
                </a:extLst>
              </p:cNvPr>
              <p:cNvSpPr txBox="1"/>
              <p:nvPr/>
            </p:nvSpPr>
            <p:spPr>
              <a:xfrm>
                <a:off x="288789" y="3152892"/>
                <a:ext cx="7534411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아래 그림을 통해 두 가지 효과를 비교해보자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오염물질 배출 감소로 인한 피해감소는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변할 때까지의 한계피해액을 모두 더하면 된다</a:t>
                </a:r>
                <a:r>
                  <a:rPr lang="en-US" altLang="ko-KR" sz="1600" spc="-50" dirty="0"/>
                  <a:t>. 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𝐽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참고로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 면적은 그림 위쪽의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𝐺𝐼𝐹𝐻</m:t>
                    </m:r>
                  </m:oMath>
                </a14:m>
                <a:r>
                  <a:rPr lang="ko-KR" altLang="en-US" sz="1600" spc="-50" dirty="0"/>
                  <a:t>의 면적과 똑같음을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생산량 감소로 인한 후생손실은 연두색 삼각형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𝐺𝐼𝐹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면적과 같다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논의를 종합하면 화학약품 생산수준을 사회적 최적 수준으로 떨어뜨릴 때 생기는 긍정적 효과가 부정적 효과보다 커서 사회후생이 증가하게 되었다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𝐺𝐼𝐹𝐻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𝐺𝐼𝐹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𝐺𝐹𝐻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이므로 </a:t>
                </a:r>
                <a:r>
                  <a:rPr lang="ko-KR" altLang="en-US" sz="1600" spc="-50" dirty="0" err="1"/>
                  <a:t>외부성</a:t>
                </a:r>
                <a:r>
                  <a:rPr lang="ko-KR" altLang="en-US" sz="1600" spc="-50" dirty="0"/>
                  <a:t> 때문에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𝐺𝐹𝐻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사회후생손실이 발생했다는 말과 같다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1A5C39-443E-5EC9-F5C9-8ABE306B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3152892"/>
                <a:ext cx="7534411" cy="3368679"/>
              </a:xfrm>
              <a:prstGeom prst="rect">
                <a:avLst/>
              </a:prstGeom>
              <a:blipFill>
                <a:blip r:embed="rId4"/>
                <a:stretch>
                  <a:fillRect r="-566" b="-1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140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B042-CDB3-DE59-1557-409FDEDE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607B3-6E05-742B-52A9-660D3B5B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55C85-4CE3-50FE-92B6-8164BFFB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B0DE06-4888-0F65-947C-108059928A9B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434975" indent="-342900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ko-KR" altLang="en-US" sz="1600" spc="-50" dirty="0"/>
                  <a:t>환경보존정책상의 함의</a:t>
                </a: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지금까지 논리에서 중요한 의미를 갖는 것은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앞서 살펴본 모형에서 찾아낸 가장 바람직한 오염물질 배출수준은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아니라는 점이다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수준을 아주 낮은 수준으로 억제하면 직접피해는 많이 줄겠지만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생산수준을 낮추는 데서 오는 사회적 순편익의 감소라는 부정적인 효과가 발생한다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현상은 지금까지 살펴본 그림에서 생산수준이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떨어질 경우 나타나기 시작한다</a:t>
                </a:r>
                <a:r>
                  <a:rPr lang="en-US" altLang="ko-KR" sz="1600" spc="-50" dirty="0"/>
                  <a:t>. 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오염물질 배출량을 너무 낮추는 것은 바람직한 일이 될 수 없다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B0DE06-4888-0F65-947C-108059928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3686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769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D3114-CEA2-8BAC-6D99-8E15E856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38B05-E622-9E5E-41ED-560887A78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문제의 해결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1C7AC-FDFC-5995-45A8-8BA14979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6CDF0-457B-F031-7411-0931876F8B70}"/>
              </a:ext>
            </a:extLst>
          </p:cNvPr>
          <p:cNvSpPr txBox="1"/>
          <p:nvPr/>
        </p:nvSpPr>
        <p:spPr>
          <a:xfrm>
            <a:off x="288790" y="958844"/>
            <a:ext cx="1117904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 지구적으로 환경오염 문제의 심각성이 더해 가고 있는 것은 외부성이 개재되어 있어 시장이 자율적으로 이 문제를 해결할 수 없기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그러므로 정책적 개입을 통해 외부성을 극복할 수 있는 방안을 마련해야 비로소 환경이 적절하게 보존될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외부성이 존재하는 상황에서 정부가 어떤 역할을 해야 한다는 사실에는 대부분 동의를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구체적으로 어떤 역할을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방식으로 개입을 하는 것이 </a:t>
            </a:r>
            <a:r>
              <a:rPr lang="ko-KR" altLang="en-US" sz="1600" spc="-50" dirty="0" err="1"/>
              <a:t>바람직한가에</a:t>
            </a:r>
            <a:r>
              <a:rPr lang="ko-KR" altLang="en-US" sz="1600" spc="-50" dirty="0"/>
              <a:t> 대해서는 의견이 쉽게 일치되지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환경정책은 기본적으로 아래의 두가지 방식으로 나누어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시장을 활용하는 방식 </a:t>
            </a:r>
            <a:r>
              <a:rPr lang="en-US" altLang="ko-KR" sz="1600" spc="-50" dirty="0"/>
              <a:t>(market-based approach)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직접통제 방식 </a:t>
            </a:r>
            <a:r>
              <a:rPr lang="en-US" altLang="ko-KR" sz="1600" spc="-50" dirty="0"/>
              <a:t>(command-and-control)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0253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6BC5-DF21-5B17-5F8D-E6ED8AC8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C766A-E1C6-59E6-3EFF-A6F95829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F2066-C89D-1E7C-934D-4E926BCD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DCB8F-747F-1E89-3F49-8E115C35C94F}"/>
              </a:ext>
            </a:extLst>
          </p:cNvPr>
          <p:cNvSpPr txBox="1"/>
          <p:nvPr/>
        </p:nvSpPr>
        <p:spPr>
          <a:xfrm>
            <a:off x="288790" y="958844"/>
            <a:ext cx="11179048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시장을 활용하는 방식은 오염물질 배출자를 직접 통제하는 것이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적절한 유인을 제공하여 스스로 배출을 억제하도록 유도한다는 특징을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유인을 제공하고 나머지는 시장이 알아서 처리하는 방식이므로 정책이 유연하게 운영될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효율적으로 환경목표를 달성할 수 있는 장점이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직접통제방식의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많은 양의 정보를 알고 있어야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방식은 상대적으로 적은 정보를 필요로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장기적인 관점에서도 효율적이고 경제적인 정화기술의 개발을 촉진시킨다는 점도 큰 장점이다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시장을 활용하는 방식의 대표적인 예로는 </a:t>
            </a:r>
            <a:r>
              <a:rPr lang="en-US" altLang="ko-KR" sz="1600" spc="-50" dirty="0"/>
              <a:t>1) </a:t>
            </a:r>
            <a:r>
              <a:rPr lang="ko-KR" altLang="en-US" sz="1600" spc="-50" dirty="0"/>
              <a:t>환경세 부과</a:t>
            </a:r>
            <a:r>
              <a:rPr lang="en-US" altLang="ko-KR" sz="1600" spc="-50" dirty="0"/>
              <a:t>,  2)</a:t>
            </a:r>
            <a:r>
              <a:rPr lang="ko-KR" altLang="en-US" sz="1600" spc="-50" dirty="0"/>
              <a:t>오염물질 배출권 거래제가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5965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A034A-6960-5979-598E-3D2499B3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FE015-75F4-2B9F-895E-B4CCEF1D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환경세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FE2A75-1ABF-2BE5-5D31-18002931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0892C-62A5-5E81-156B-50FC85CFE49B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환경세 부과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 절에서는 오염물질 방출 기업이 오염물질에 대한 대가를 지불하지 않기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개인적인 관점에서 인식하는 생산비용이 사회적 생산비용보다 낮아졌고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 과잉생산이 나타났다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그러므로 기업들이 사회적 생산수준을 선택하도록 유도하기 위해서는 오염물질 배출 행위에 대해 조세를 부과하여 개인적 생산비용을 사회적 생산비용의 수준으로 끌어올려야 할 필요가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바로 이 생각에서 나온 것이 환경세이다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혹은 피구</a:t>
            </a:r>
            <a:r>
              <a:rPr lang="en-US" altLang="ko-KR" sz="1600" spc="-50" dirty="0"/>
              <a:t>(A. Pigou)</a:t>
            </a:r>
            <a:r>
              <a:rPr lang="ko-KR" altLang="en-US" sz="1600" spc="-50" dirty="0"/>
              <a:t>가 처음 아이디어를 제시하여 피구세라고 부르기도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그렇다면 환경세의 세율을 어떤 수준으로 설정해야 오염물질 배출을 적정수준으로 유도할 수 있는지 알아봐야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결론부터 얘기하면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환경세 세율은 최적배분상태에서 오염물질이 초래하는 한계피해액과 일치되어야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화학약품의 최적생산수준이 연간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만 단위인데</a:t>
            </a:r>
            <a:r>
              <a:rPr lang="en-US" altLang="ko-KR" sz="1600" spc="-50" dirty="0"/>
              <a:t>, 3</a:t>
            </a:r>
            <a:r>
              <a:rPr lang="ko-KR" altLang="en-US" sz="1600" spc="-50" dirty="0"/>
              <a:t>만 단위 째의 화공약품을 생산할 때 배출되는 오염물질이 </a:t>
            </a:r>
            <a:r>
              <a:rPr lang="ko-KR" altLang="en-US" sz="1600" spc="-50" dirty="0" err="1"/>
              <a:t>가져다주는</a:t>
            </a:r>
            <a:r>
              <a:rPr lang="ko-KR" altLang="en-US" sz="1600" spc="-50" dirty="0"/>
              <a:t> 한계피해액이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백원이라고 하자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경우에는 화학약품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단위당 </a:t>
            </a:r>
            <a:r>
              <a:rPr lang="en-US" altLang="ko-KR" sz="1600" spc="-50" dirty="0"/>
              <a:t>2</a:t>
            </a:r>
            <a:r>
              <a:rPr lang="ko-KR" altLang="en-US" sz="1600" spc="-50" dirty="0" err="1"/>
              <a:t>백원의</a:t>
            </a:r>
            <a:r>
              <a:rPr lang="ko-KR" altLang="en-US" sz="1600" spc="-50" dirty="0"/>
              <a:t> 환경세를 부과함으로써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최적생산수준인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만 단위의 생산수준을 달성할 수 있다</a:t>
            </a:r>
            <a:r>
              <a:rPr lang="en-US" altLang="ko-KR" sz="1600" spc="-5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699487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C26B-B254-5F6B-8DEF-85CACA6F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7B243-188A-F757-8C03-FE11B337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환경세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72918-89E3-9FB7-21D0-C456101A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580E66-5826-520E-6038-D5E3007FC7AE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0000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92175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내용을 그림으로 살펴보면 아래와 같다</a:t>
                </a:r>
                <a:r>
                  <a:rPr lang="en-US" altLang="ko-KR" sz="1600" spc="-50" dirty="0"/>
                  <a:t>. 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최적생산수준이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나타나 있다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최적생산수준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에서 오염물질이 초래하는 한계피해액은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𝑆𝑀𝐷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곡선의 높이인 선분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𝐽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길이가 된다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논리에 따르면 단위당 환경세율은 선분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𝐽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길이만큼 되어야 한다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화학약품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단위를 생산하는 데 사적 한계비용은 선분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𝐽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길이만큼 더 커지게 된다</a:t>
                </a:r>
                <a:r>
                  <a:rPr lang="en-US" altLang="ko-KR" sz="1600" spc="-50" dirty="0"/>
                  <a:t>.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환경세가 포함된 새로운 사적 한계비용은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𝑃𝑀𝑇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곡선이 된다</a:t>
                </a:r>
                <a:r>
                  <a:rPr lang="en-US" altLang="ko-KR" sz="1600" spc="-50" dirty="0"/>
                  <a:t>. 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r>
                  <a:rPr lang="ko-KR" altLang="en-US" sz="1600" spc="-50" dirty="0"/>
                  <a:t>곡선을 선분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𝐽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길이만큼 들어올림</a:t>
                </a:r>
                <a:r>
                  <a:rPr lang="en-US" altLang="ko-KR" sz="1600" spc="-50" dirty="0"/>
                  <a:t>)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이제 경쟁적 시장에서의 균형이 한계비용곡선과 수요곡선의 교차점에서 이루어진다는 점을 생각하면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환경세가 부과된 후에는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ko-KR" altLang="en-US" sz="1600" spc="-50" dirty="0"/>
                  <a:t>점에서 균형이 이루어진다는 것을 알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580E66-5826-520E-6038-D5E3007FC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000052"/>
              </a:xfrm>
              <a:prstGeom prst="rect">
                <a:avLst/>
              </a:prstGeo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F070B211-95CF-8057-440D-29EEA74B3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1" t="15869" r="23826" b="8032"/>
          <a:stretch>
            <a:fillRect/>
          </a:stretch>
        </p:blipFill>
        <p:spPr>
          <a:xfrm>
            <a:off x="7920567" y="3805766"/>
            <a:ext cx="3885433" cy="27311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37C4EE-507E-8E28-26D4-196D1A46B517}"/>
                  </a:ext>
                </a:extLst>
              </p:cNvPr>
              <p:cNvSpPr txBox="1"/>
              <p:nvPr/>
            </p:nvSpPr>
            <p:spPr>
              <a:xfrm>
                <a:off x="288789" y="3899652"/>
                <a:ext cx="7534411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종합해보면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최적생산수준에서의 한계피해액을 세율로 하는 환경세를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이윤극대화를 추구하는 생산자들은 자발적으로 최적생산수준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선택하게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37C4EE-507E-8E28-26D4-196D1A46B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3899652"/>
                <a:ext cx="7534411" cy="1152688"/>
              </a:xfrm>
              <a:prstGeom prst="rect">
                <a:avLst/>
              </a:prstGeom>
              <a:blipFill>
                <a:blip r:embed="rId4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305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E651-F3C9-7C5F-4F85-D636B308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EB871-0501-2432-227C-FF20A23E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환경세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6EDB95-74C4-48F5-ECDF-5E41A663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CB50B-1B33-1DEE-B6D1-FFCC07AB9541}"/>
              </a:ext>
            </a:extLst>
          </p:cNvPr>
          <p:cNvSpPr txBox="1"/>
          <p:nvPr/>
        </p:nvSpPr>
        <p:spPr>
          <a:xfrm>
            <a:off x="288790" y="958844"/>
            <a:ext cx="1117904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현실 상황에서 최적세율을 찾아내는 것은 힘든 일이다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최적세율을 알아내기 위해서 이론적으로 최적배분상태가 무엇인지 알아야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현실에서 관찰되는 배분상태는 최적배분상태가 아니기 때문에 실제로 측정된 한계피해액에 의거해 결정한 세율은 최적세율이 될 수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가상적 배분상태에서 초래되는 한계피해액을 계산하는 과정을 거쳐야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현실에 존재하지도 않는 최적배분상태에서의 한계피해액을 미리 알아내 세율을 결정하는 것은 더욱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경쟁이 불완전한 상황에서는 앞에서 본 논리에 따라 정확한 최적세율을 찾아 환경세를 부과한다 해도 최적자원배분이 실현된다는 보장이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환경세를 누구에게 어떤 방식으로 부과해야 하는지도 문제가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마지막으로 오염물질 배출자의 행동에 대한 적절한 감시가 가능한지 의문이다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현실적인 어려움에도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대부분 경제학자들은 환경세 제도가 시장기구에 의해 문제해결을 시도한다는 점에서 호의적인 평가를 내리고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스웨덴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노르웨이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덴마크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칠레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여러 국가에서 탄소세를 시행하고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10506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B6214-29ED-166A-F12D-0AE762653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F15B7-7B6A-A69C-C7E8-150B14FA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배출권 거래제도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6B06AE-6E8F-6C96-C327-337F3034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F6D26-6F3C-0535-596E-74808C4F400D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spc="-50" dirty="0"/>
              <a:t>배출권 거래제도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배출권 거래제도는 일정한 양의 오염물질 배출권을 보유하고 있는 경제주체만 오염물질을 배출할 수 있게 허용하는 방식이다</a:t>
            </a:r>
            <a:r>
              <a:rPr lang="en-US" altLang="ko-KR" sz="1600" spc="-50" dirty="0"/>
              <a:t>. 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사회적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관점에서 적절하다고 판단하는 오염물질 배출량을 파악하고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배출량이 이 수준 이내에 머물 수 있도록 배출권 </a:t>
            </a:r>
            <a:r>
              <a:rPr lang="ko-KR" altLang="en-US" sz="1600" spc="-50" dirty="0" err="1"/>
              <a:t>발행량을</a:t>
            </a:r>
            <a:r>
              <a:rPr lang="ko-KR" altLang="en-US" sz="1600" spc="-50" dirty="0"/>
              <a:t> 통제한다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배출권은 시장에서 자유로이 교환될 수 있도록 만들어지는데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통해 시장의 힘을 빌려 환경오염의 문제를 해결할 수 있는 길이 열린다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아래와 같이 여러 장점들이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장점</a:t>
            </a:r>
            <a:r>
              <a:rPr lang="en-US" altLang="ko-KR" sz="1600" spc="-50" dirty="0"/>
              <a:t>1) </a:t>
            </a:r>
            <a:r>
              <a:rPr lang="ko-KR" altLang="en-US" sz="1600" spc="-50" dirty="0"/>
              <a:t>배출권 제도는 환경보존과 관련된 비용을 절약할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두 기업이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각 기업이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단위씩 오염물질을 배출하고 있다고 하자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기업은 자체정화를 통해 오염물질 배출을 억제할 수 있는데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단위당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백만원의 비용이 들고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백만원의 비용이 든다고 해보자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상황에서 정부가 배출권 거래제를 실시한다면 어떤 일이 일어날지 살펴보자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133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720F0-7801-47CE-AACD-3F2B2DEE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E9CB7-2225-B795-1BC6-89B1AB5E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배출권 거래제도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322E0-61BA-2E3F-62E2-8E00FBCE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2CA5F-3685-A1FE-A8F2-C63BA720FE94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시행 초기에 각 기업에게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단위씩 배출권을 발급하고 이를 자유롭게 교환할 수 있도록 허용했다고 하자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 각 기업은 자체정화에 드는 단위비용과 배출권의 가격을 비교해서 배출권을 추가로 구입할 것인지 아니면 갖고 있는 것을 팔 것인지 결정하게 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 단위당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백만원의 정화비용을 지출해야 하는 기업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배출권의 단위당 가격이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백만원 미만이면 이를 사려고 할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반면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배출권의 단위당 가격이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백만원을 넘으면 이를 팔려고 내놓을 것이다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결국에 단위당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백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십만원의 가격으로 기업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기업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로부터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단위를 배출할 수 있는 권리를 구입했다고 하자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간단히 계산을 해보면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기업 모두 각각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천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백만원씩의 이득을 얻게 된다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는 배출권 판매를 통해 </a:t>
            </a:r>
            <a:r>
              <a:rPr lang="en-US" altLang="ko-KR" sz="1600" spc="-50" dirty="0"/>
              <a:t>10,500 (350x30)</a:t>
            </a:r>
            <a:r>
              <a:rPr lang="ko-KR" altLang="en-US" sz="1600" spc="-50" dirty="0"/>
              <a:t>만큼 수익을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대신 정화비용으로 </a:t>
            </a:r>
            <a:r>
              <a:rPr lang="en-US" altLang="ko-KR" sz="1600" spc="-50" dirty="0"/>
              <a:t>6,000 (200*30)</a:t>
            </a:r>
            <a:r>
              <a:rPr lang="ko-KR" altLang="en-US" sz="1600" spc="-50" dirty="0"/>
              <a:t>을 지불했다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는 배출권 구입을 위해 </a:t>
            </a:r>
            <a:r>
              <a:rPr lang="en-US" altLang="ko-KR" sz="1600" spc="-50" dirty="0"/>
              <a:t>10,500 (350x30)</a:t>
            </a:r>
            <a:r>
              <a:rPr lang="ko-KR" altLang="en-US" sz="1600" spc="-50" dirty="0"/>
              <a:t>만큼 지불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대신 정화비용을 </a:t>
            </a:r>
            <a:r>
              <a:rPr lang="en-US" altLang="ko-KR" sz="1600" spc="-50" dirty="0"/>
              <a:t>15,000 (500x30)</a:t>
            </a:r>
            <a:r>
              <a:rPr lang="ko-KR" altLang="en-US" sz="1600" spc="-50" dirty="0"/>
              <a:t>을 아낄 수 있었다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이렇게 배출권 교환을 통해 두 기업이 모두 이득을 얻을 수 있기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이들은 흔쾌히 교환을 할 것이다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위의 교환이 환경보존과 관련된 비용을 절약시켜주는 효과를 냈다는 사실이다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 거래제도가 실시된 이후에도 오염물질 배출량은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단위로 머물지만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기업이 지출하는 자체정화비용의 총합은 종전보다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천만원이 줄어들게 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효율적인 정화시설을 갖고 있는 기업이 조금 더 정화를 많이 하게 된 덕분이다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1002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57693-019B-2BAA-6838-D382C188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C312B-AA76-4FF4-9859-F1DC6864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배출권 거래제도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C7F50-1EE7-F276-2635-1C994A65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48A4D-DFDF-0996-ACF9-4F310C2F8D06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장점</a:t>
            </a:r>
            <a:r>
              <a:rPr lang="en-US" altLang="ko-KR" sz="1600" spc="-50" dirty="0"/>
              <a:t>2) </a:t>
            </a:r>
            <a:r>
              <a:rPr lang="ko-KR" altLang="en-US" sz="1600" spc="-50" dirty="0"/>
              <a:t>배출권 거래제도는 환경세에 비해 오염물질 배출량을 비교적 쉽게 통제할 수 있다는 점이다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환경세의 경우 유인구조를 만들고 나머지는 시장에 맡겨두기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뜻하지 않은 변수들이 개입하여 원하는 오염물질 배출량을 달성하지 못할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 거래제는 쉽게 오염물질 배출량을 통제할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장점</a:t>
            </a:r>
            <a:r>
              <a:rPr lang="en-US" altLang="ko-KR" sz="1600" spc="-50" dirty="0"/>
              <a:t>3) </a:t>
            </a:r>
            <a:r>
              <a:rPr lang="ko-KR" altLang="en-US" sz="1600" spc="-50" dirty="0"/>
              <a:t>배출권 거래제도는 경제상황에 쉽게 적응할 수 있는 신축성이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 환경세의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인플레이션이 발생하면 새로운 세율을 정하는 등 </a:t>
            </a:r>
            <a:r>
              <a:rPr lang="ko-KR" altLang="en-US" sz="1600" spc="-50" dirty="0" err="1"/>
              <a:t>정챙</a:t>
            </a:r>
            <a:r>
              <a:rPr lang="ko-KR" altLang="en-US" sz="1600" spc="-50" dirty="0"/>
              <a:t> 당국이 상황 적응에 많은 노력을 투입해야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배출권 거래제도는 여러가지 문제가 있기도 하다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단점</a:t>
            </a:r>
            <a:r>
              <a:rPr lang="en-US" altLang="ko-KR" sz="1600" spc="-50" dirty="0"/>
              <a:t>1) </a:t>
            </a:r>
            <a:r>
              <a:rPr lang="ko-KR" altLang="en-US" sz="1600" spc="-50" dirty="0"/>
              <a:t>제도 시행 초기단계에서 어떤 기준으로 배출권을 분배해야 하느냐는 것이다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시장에서 거래될 수 있는 배출권은 일종의 이권과 같은 것이기 때문에 공평한 기준이 필요하다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단점</a:t>
            </a:r>
            <a:r>
              <a:rPr lang="en-US" altLang="ko-KR" sz="1600" spc="-50" dirty="0"/>
              <a:t>2) </a:t>
            </a:r>
            <a:r>
              <a:rPr lang="ko-KR" altLang="en-US" sz="1600" spc="-50" dirty="0"/>
              <a:t>산업의 경쟁질서를 해치는 결과를 초래할 수도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기업이 배출권을 모두 사버리면 다른 기업들의 진입을 원천적으로 봉쇄할 가능성이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산업에 새롭게 진입하는 기업은 기술이 아직 성숙하지 않아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배출권이 필요할 수도 있기 때문이다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4311660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B504-AA07-92E5-3AA4-71964EF6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7AA20-A650-015C-F1EC-4BAAC643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배출권 거래제도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3D559-A929-1B40-076C-79A92561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CC257-6956-8D88-C8BC-17E4E5C3563C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단점</a:t>
            </a:r>
            <a:r>
              <a:rPr lang="en-US" altLang="ko-KR" sz="1600" spc="-50" dirty="0"/>
              <a:t>3) </a:t>
            </a:r>
            <a:r>
              <a:rPr lang="ko-KR" altLang="en-US" sz="1600" spc="-50" dirty="0"/>
              <a:t>배출권 거래시장에 참여하는 경제주체의 수가 매우 적다는 사실도 문제가 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시장이 제대로 기능하기 위해서는 많은 수의 수요자와 공급자가 필요한데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소수만 참여하는 경우 배분이 효율적이지 못할 가능성이 높다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단점</a:t>
            </a:r>
            <a:r>
              <a:rPr lang="en-US" altLang="ko-KR" sz="1600" spc="-50" dirty="0"/>
              <a:t>4) </a:t>
            </a:r>
            <a:r>
              <a:rPr lang="ko-KR" altLang="en-US" sz="1600" spc="-50" dirty="0"/>
              <a:t>배출권이 유효한 지역의 범위와 오염물질이 영향을 미치는 지역의 범위가 서로 다를 때 문제가 발생한다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벤젠</a:t>
            </a:r>
            <a:r>
              <a:rPr lang="en-US" altLang="ko-KR" sz="1600" spc="-50" dirty="0"/>
              <a:t>(benzene) </a:t>
            </a:r>
            <a:r>
              <a:rPr lang="ko-KR" altLang="en-US" sz="1600" spc="-50" dirty="0"/>
              <a:t>같은 유독물질은 공기 중에 잘 섞이지 않아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배출이 일어난 지점 주변의 오염도가 특히 높아지는 현상이 발생한다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그런데 배출권이 유효한 지역이 광범위해서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아주 먼 곳에 떨어져 있는 기업</a:t>
            </a:r>
            <a:r>
              <a:rPr lang="en-US" altLang="ko-KR" sz="1600" spc="-50" dirty="0"/>
              <a:t>D</a:t>
            </a:r>
            <a:r>
              <a:rPr lang="ko-KR" altLang="en-US" sz="1600" spc="-50" dirty="0"/>
              <a:t>로부터 배출권을 구입해 왔다고 하자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그렇게 되면 기업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위치한 지역의 벤젠 오염도는 기준치 이상으로 솟아오르는 결과가 나타날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벤젠이 아닌 온실가스의 경우 대기 중에 골고루 퍼지기 때문에 별 문제는 없다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985036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4478F-185E-F220-151A-A18E9143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1EBDA-CC2F-3EB2-6115-E95BF672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시장을 활용하는 방식 </a:t>
            </a:r>
            <a:r>
              <a:rPr lang="en-US" altLang="ko-KR" dirty="0"/>
              <a:t>(</a:t>
            </a:r>
            <a:r>
              <a:rPr lang="ko-KR" altLang="en-US" dirty="0"/>
              <a:t>배출권 거래제도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B5D7CF-712D-19A5-88C0-5478A576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E7E01-EA04-9911-D65A-6202A301EB4C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배출권 거래제도가 크게 성공한 사례는 미국에서는 </a:t>
            </a:r>
            <a:r>
              <a:rPr lang="en-US" altLang="ko-KR" sz="1600" dirty="0"/>
              <a:t>1995</a:t>
            </a:r>
            <a:r>
              <a:rPr lang="ko-KR" altLang="en-US" sz="1600" dirty="0"/>
              <a:t>년에 산성비 문제를 해결하기 위해</a:t>
            </a:r>
            <a:r>
              <a:rPr lang="en-US" altLang="ko-KR" sz="1600" dirty="0"/>
              <a:t>, </a:t>
            </a:r>
            <a:r>
              <a:rPr lang="ko-KR" altLang="en-US" sz="1600" dirty="0"/>
              <a:t>이산화황에 대해 </a:t>
            </a:r>
            <a:r>
              <a:rPr lang="ko-KR" altLang="en-US" sz="1600" dirty="0" err="1"/>
              <a:t>배출권시장을</a:t>
            </a:r>
            <a:r>
              <a:rPr lang="ko-KR" altLang="en-US" sz="1600" dirty="0"/>
              <a:t> 만든 바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석탄을 많이 사용한 전력회사들이 이 배출권 시장의 주요 거래자였는데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배출권 시장이 산성비 문제 해결에 상당한 도움을 준 것으로 </a:t>
            </a:r>
            <a:r>
              <a:rPr lang="ko-KR" altLang="en-US" sz="1600" dirty="0" err="1"/>
              <a:t>알려져있다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최근에는 기후변화 대응을 위해 이산화탄소 </a:t>
            </a:r>
            <a:r>
              <a:rPr lang="ko-KR" altLang="en-US" sz="1600" dirty="0" err="1"/>
              <a:t>배출권시장이</a:t>
            </a:r>
            <a:r>
              <a:rPr lang="ko-KR" altLang="en-US" sz="1600" dirty="0"/>
              <a:t> 매우 활발하게 작동하고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지구온난화와 관련해 온실가스 감축을 위한 전 세계적인 공조체제가 필요하다는 인식 하에 교토의정서</a:t>
            </a:r>
            <a:r>
              <a:rPr lang="en-US" altLang="ko-KR" sz="1600" dirty="0"/>
              <a:t>(Kyoto Protocol)</a:t>
            </a:r>
            <a:r>
              <a:rPr lang="ko-KR" altLang="en-US" sz="1600" dirty="0"/>
              <a:t>에 합의하게 되었는데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이것이 국제적 차원의 이산화탄소 </a:t>
            </a:r>
            <a:r>
              <a:rPr lang="ko-KR" altLang="en-US" sz="1600" dirty="0" err="1"/>
              <a:t>배출권시장의</a:t>
            </a:r>
            <a:r>
              <a:rPr lang="ko-KR" altLang="en-US" sz="1600" dirty="0"/>
              <a:t> 형성을 가져온 계기가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교토의정서 체제하에서는 각 나라는 온실가스 배출량을 일정 정도로 감축할 의무를 갖는데</a:t>
            </a:r>
            <a:r>
              <a:rPr lang="en-US" altLang="ko-KR" sz="1600" dirty="0"/>
              <a:t>, </a:t>
            </a:r>
            <a:r>
              <a:rPr lang="ko-KR" altLang="en-US" sz="1600" dirty="0"/>
              <a:t>신축성을 더하여 나라들 간에 배출권을 사고 팔아 감축 목표 달성에 사용할 수 있게 하였다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이산화탄소 배출권 시장은 </a:t>
            </a:r>
            <a:r>
              <a:rPr lang="en-US" altLang="ko-KR" sz="1600" dirty="0"/>
              <a:t>2005</a:t>
            </a:r>
            <a:r>
              <a:rPr lang="ko-KR" altLang="en-US" sz="1600" dirty="0"/>
              <a:t>년 유럽연합</a:t>
            </a:r>
            <a:r>
              <a:rPr lang="en-US" altLang="ko-KR" sz="1600" dirty="0"/>
              <a:t>(EU)</a:t>
            </a:r>
            <a:r>
              <a:rPr lang="ko-KR" altLang="en-US" sz="1600" dirty="0"/>
              <a:t>에 의해 처음 도입이 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배출이 줄어드는 효과가 나타났다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이에 미국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 여러 나라가 배출권 거래제도를 도입하였고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우리나라도 </a:t>
            </a:r>
            <a:r>
              <a:rPr lang="en-US" altLang="ko-KR" sz="1600" dirty="0"/>
              <a:t>2015</a:t>
            </a:r>
            <a:r>
              <a:rPr lang="ko-KR" altLang="en-US" sz="1600" dirty="0"/>
              <a:t>년부터 배출권 거래제도를 적극적으로 시행하고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70943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7A0E-4C8D-95F5-0DE8-DC684729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554C7-F36C-4DD6-C789-956C1678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직접통제방식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E18FC-4263-8DED-BE89-E4C7D00F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49FF6-924B-B5A6-E29B-F5DE3AC74446}"/>
              </a:ext>
            </a:extLst>
          </p:cNvPr>
          <p:cNvSpPr txBox="1"/>
          <p:nvPr/>
        </p:nvSpPr>
        <p:spPr>
          <a:xfrm>
            <a:off x="288790" y="958844"/>
            <a:ext cx="112502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직접통제는 여러가지 형태로 행해질 수 있는데</a:t>
            </a:r>
            <a:r>
              <a:rPr lang="en-US" altLang="ko-KR" sz="1600" dirty="0"/>
              <a:t>, </a:t>
            </a:r>
            <a:r>
              <a:rPr lang="ko-KR" altLang="en-US" sz="1600" dirty="0"/>
              <a:t>오염물질 배출량의 허용기준을 정해 모든 배출자로 하여금 이 기준을 준수하도록 만드는 것이 대표적인 예가 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뿐만 아니라 오염물질 발생 억제를 위해 특정한 공정의 채택이나 정화시설의 설치를 의무화하는 것도 직접통제의 범주 안에 포함될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직접통제가 제대로 효과를 발휘한다면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우리가 원하는 환경기준을 빠른 기간 안에 정확히 달성할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 통제방식은 경직성을 가질 수 밖에 없어서 실제로 정책이 수행되는 과정에서 예기치 못한 어려움에 직면할 가능성이 크다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오염물질의 </a:t>
            </a:r>
            <a:r>
              <a:rPr lang="ko-KR" altLang="en-US" sz="1600" dirty="0" err="1"/>
              <a:t>방출자</a:t>
            </a:r>
            <a:r>
              <a:rPr lang="ko-KR" altLang="en-US" sz="1600" dirty="0"/>
              <a:t> 수가 매우 많으면</a:t>
            </a:r>
            <a:r>
              <a:rPr lang="en-US" altLang="ko-KR" sz="1600" dirty="0"/>
              <a:t>, </a:t>
            </a:r>
            <a:r>
              <a:rPr lang="ko-KR" altLang="en-US" sz="1600" dirty="0"/>
              <a:t>합리적인 통제 기준이 있다해도</a:t>
            </a:r>
            <a:r>
              <a:rPr lang="en-US" altLang="ko-KR" sz="1600" dirty="0"/>
              <a:t>, </a:t>
            </a:r>
            <a:r>
              <a:rPr lang="ko-KR" altLang="en-US" sz="1600" dirty="0"/>
              <a:t>그들의 모든 행동을 감시하기 힘들다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오우츠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W.Oates</a:t>
            </a:r>
            <a:r>
              <a:rPr lang="en-US" altLang="ko-KR" sz="1600" dirty="0"/>
              <a:t>, 1985)</a:t>
            </a:r>
            <a:r>
              <a:rPr lang="ko-KR" altLang="en-US" sz="1600" dirty="0"/>
              <a:t>의 실증연구에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직접통제방식을 활용하는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시장을 활용하는 경우보다 거의 </a:t>
            </a:r>
            <a:r>
              <a:rPr lang="en-US" altLang="ko-KR" sz="1600" dirty="0"/>
              <a:t>10</a:t>
            </a:r>
            <a:r>
              <a:rPr lang="ko-KR" altLang="en-US" sz="1600" dirty="0"/>
              <a:t>배나 더 많은 경제적 비용이 소요된다고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시장기능의 도움을 받지 않고</a:t>
            </a:r>
            <a:r>
              <a:rPr lang="en-US" altLang="ko-KR" sz="1600" dirty="0"/>
              <a:t> </a:t>
            </a:r>
            <a:r>
              <a:rPr lang="ko-KR" altLang="en-US" sz="1600" dirty="0"/>
              <a:t>문제 해결을 시도하는 직접통제방식이 상당히 비효율적이라는 것을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그럼에도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현실에서는 주로 직접통제방식에 의존하는 것을 볼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698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FD87-EC7E-4D83-04AE-A558E3CA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C2033-64BD-424C-F8BB-C5747F84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소유권 확립을 통한 문제의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88E4E-575A-6808-6C06-9C9EBC76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32904-7E2B-FE2C-637B-11EEA7A8EBBF}"/>
              </a:ext>
            </a:extLst>
          </p:cNvPr>
          <p:cNvSpPr txBox="1"/>
          <p:nvPr/>
        </p:nvSpPr>
        <p:spPr>
          <a:xfrm>
            <a:off x="288790" y="958844"/>
            <a:ext cx="1125026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소유권을 명확히 정의해 주거나 </a:t>
            </a:r>
            <a:r>
              <a:rPr lang="ko-KR" altLang="en-US" sz="1600" dirty="0" err="1"/>
              <a:t>재배분하는</a:t>
            </a:r>
            <a:r>
              <a:rPr lang="ko-KR" altLang="en-US" sz="1600" dirty="0"/>
              <a:t> 것을 통해 </a:t>
            </a:r>
            <a:r>
              <a:rPr lang="ko-KR" altLang="en-US" sz="1600" dirty="0" err="1"/>
              <a:t>외부성</a:t>
            </a:r>
            <a:r>
              <a:rPr lang="ko-KR" altLang="en-US" sz="1600" dirty="0"/>
              <a:t> 문제의 해결을 시도할 수도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외부성이 자원배분상의 문제를 일으키는 배경을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소유권이 모호하게 정의되어 있거나</a:t>
            </a:r>
            <a:r>
              <a:rPr lang="en-US" altLang="ko-KR" sz="1600" dirty="0"/>
              <a:t> </a:t>
            </a:r>
            <a:r>
              <a:rPr lang="ko-KR" altLang="en-US" sz="1600" dirty="0"/>
              <a:t>바람직하지 않은 방식으로 귀속되어 있기 때문에 문제가 생기는 경우가 많다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본 두 가지 접근법</a:t>
            </a:r>
            <a:r>
              <a:rPr lang="en-US" altLang="ko-KR" sz="1600" dirty="0"/>
              <a:t>(</a:t>
            </a:r>
            <a:r>
              <a:rPr lang="ko-KR" altLang="en-US" sz="1600" dirty="0"/>
              <a:t>시장을 활용하는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직접통제방식</a:t>
            </a:r>
            <a:r>
              <a:rPr lang="en-US" altLang="ko-KR" sz="1600" dirty="0"/>
              <a:t>)</a:t>
            </a:r>
            <a:r>
              <a:rPr lang="ko-KR" altLang="en-US" sz="1600" dirty="0"/>
              <a:t>은 어떤 </a:t>
            </a:r>
            <a:r>
              <a:rPr lang="ko-KR" altLang="en-US" sz="1600" dirty="0" err="1"/>
              <a:t>방식으로든</a:t>
            </a:r>
            <a:r>
              <a:rPr lang="ko-KR" altLang="en-US" sz="1600" dirty="0"/>
              <a:t> 정부가 환경문제에 관해 직접적으로 개입하는 것을 뜻하고</a:t>
            </a:r>
            <a:r>
              <a:rPr lang="en-US" altLang="ko-KR" sz="1600" dirty="0"/>
              <a:t>, </a:t>
            </a:r>
            <a:r>
              <a:rPr lang="ko-KR" altLang="en-US" sz="1600" dirty="0"/>
              <a:t>소유권 확립을 통한 접근법은 민간부문이 스스로 해결책을 찾도록 도와주는데 그친다는 특징이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1571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9846-4153-BC25-B2CC-E4518B67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CC604-F080-E5ED-5E62-20C5C77A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공유지의 비극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9B50FD-0FF8-93F6-4868-470E17AD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C88754-0182-67FE-C83D-F48DF486C3DC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바다나 들판 같은 자연은 모든 사람의 공동재산이라고 할 수 있는데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소유권이 분명하지 않기 때문에 이를 아껴 쓸 유인을 갖지 못하게 된다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이러한 현상이 발생하여 아까운 자원이 낭비되고 마는 현상을 공유지의 비극이라고 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예를 들어 한 마을에 사람들이 돈을 모아서 목초지를 공동으로 구입했다고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마을 사람 누구나 송아지를 사서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년 동안 </a:t>
                </a:r>
                <a:r>
                  <a:rPr lang="ko-KR" altLang="en-US" sz="1600" dirty="0" err="1"/>
                  <a:t>공동목초지에</a:t>
                </a:r>
                <a:r>
                  <a:rPr lang="ko-KR" altLang="en-US" sz="1600" dirty="0"/>
                  <a:t> 놓아 먹일 수 있는데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송아지 한 마리를 구입하는데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/>
                  <a:t>원의 비용이 든다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이 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한정된 땅에 많은 수의 송아지가 방목되면 성장이 </a:t>
                </a:r>
                <a:r>
                  <a:rPr lang="ko-KR" altLang="en-US" sz="1600" dirty="0" err="1"/>
                  <a:t>느려질테고</a:t>
                </a:r>
                <a:r>
                  <a:rPr lang="en-US" altLang="ko-KR" sz="1600" dirty="0"/>
                  <a:t>, 1</a:t>
                </a:r>
                <a:r>
                  <a:rPr lang="ko-KR" altLang="en-US" sz="1600" dirty="0"/>
                  <a:t>년 후에 받을 수 있는 송아지의 가격이 그만큼 떨어지게 된다</a:t>
                </a:r>
                <a:r>
                  <a:rPr lang="en-US" altLang="ko-KR" sz="1600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C88754-0182-67FE-C83D-F48DF486C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630015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9F2D023B-7979-D952-1236-73285D88E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9" t="17144" r="15097" b="7267"/>
          <a:stretch>
            <a:fillRect/>
          </a:stretch>
        </p:blipFill>
        <p:spPr>
          <a:xfrm>
            <a:off x="7231339" y="3808212"/>
            <a:ext cx="4539022" cy="2738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25B52C-8FD2-AE6A-D894-77CED7E3C254}"/>
                  </a:ext>
                </a:extLst>
              </p:cNvPr>
              <p:cNvSpPr txBox="1"/>
              <p:nvPr/>
            </p:nvSpPr>
            <p:spPr>
              <a:xfrm>
                <a:off x="288789" y="3605012"/>
                <a:ext cx="7102611" cy="22613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이는 방목된 송아지의 수가 많아질수록 마리당 평균생산이 하락한다는 뜻이다</a:t>
                </a:r>
                <a:r>
                  <a:rPr lang="en-US" altLang="ko-KR" sz="1600" dirty="0"/>
                  <a:t>. (</a:t>
                </a:r>
                <a:r>
                  <a:rPr lang="ko-KR" altLang="en-US" sz="1600" dirty="0"/>
                  <a:t>오른쪽 그림의 평균생산곡선</a:t>
                </a:r>
                <a:r>
                  <a:rPr lang="en-US" altLang="ko-KR" sz="1600" dirty="0"/>
                  <a:t>;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그 곡선으로부터 한계생산곡선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가 도출될 수 있는데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평균생산곡선의 아래쪽에 위치하게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송아지를 사는데 드는 비용은 언제나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/>
                  <a:t>원이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들기 때문에 한계비용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은 수평선으로 표현되어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25B52C-8FD2-AE6A-D894-77CED7E3C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3605012"/>
                <a:ext cx="7102611" cy="2261388"/>
              </a:xfrm>
              <a:prstGeom prst="rect">
                <a:avLst/>
              </a:prstGeom>
              <a:blipFill>
                <a:blip r:embed="rId4"/>
                <a:stretch>
                  <a:fillRect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8CE37CC8-B7E1-F43E-0573-8D4E58BCCA72}"/>
              </a:ext>
            </a:extLst>
          </p:cNvPr>
          <p:cNvSpPr/>
          <p:nvPr/>
        </p:nvSpPr>
        <p:spPr>
          <a:xfrm>
            <a:off x="7261818" y="3736179"/>
            <a:ext cx="1536741" cy="221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30781C-A5BB-BA1B-5C25-8434E9E20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0" t="16564" r="61897" b="79344"/>
          <a:stretch>
            <a:fillRect/>
          </a:stretch>
        </p:blipFill>
        <p:spPr>
          <a:xfrm>
            <a:off x="8008579" y="3767400"/>
            <a:ext cx="1572301" cy="1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5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F453-6D73-ED31-C3EB-1A2EDD24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39B54-AB88-1319-6CA9-2F995894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공유지의 비극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5F865-4FE7-9E21-3C26-93A67195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B30B0E-A6B5-C110-6A69-CC104B24434F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마을 전체로 보면 총생산에서 총비용을 뺀 잉여가 가장 크게 되는 수준에서 송아지를 방목하는 것이 바람직하다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한계생산곡선이 한계비용곡선과 교차하는 수준에서 잉여가 가장 큰데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아래 그림에서는 송아지 수가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dirty="0"/>
                  <a:t>일 때로 나타난다</a:t>
                </a:r>
                <a:r>
                  <a:rPr lang="en-US" altLang="ko-KR" sz="16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때 주민 전체가 얻을 수 있는 잉여는 그림에서 주황색 사각형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r>
                  <a:rPr lang="ko-KR" altLang="en-US" sz="1600" dirty="0"/>
                  <a:t>의 면적과 같다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그런데 주민 각자 관점에서 송아지 수를 선택하면 이 수준보다 더 많은 송아지를 방목하는 결과가 나타난다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개인 입장에서 보면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년을 키운 송아지 한 마리의 가격이 그것의 구입비용을 초과할 경우 한 마리를 더 구입해 방목함으로써 이득을 얻을 수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B30B0E-A6B5-C110-6A69-CC104B244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630015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B59A5E53-287B-F2BE-833E-D9F63106A063}"/>
              </a:ext>
            </a:extLst>
          </p:cNvPr>
          <p:cNvSpPr/>
          <p:nvPr/>
        </p:nvSpPr>
        <p:spPr>
          <a:xfrm>
            <a:off x="7261818" y="3736179"/>
            <a:ext cx="1536741" cy="221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96827-C70B-8013-23E0-99360B1F2B15}"/>
                  </a:ext>
                </a:extLst>
              </p:cNvPr>
              <p:cNvSpPr txBox="1"/>
              <p:nvPr/>
            </p:nvSpPr>
            <p:spPr>
              <a:xfrm>
                <a:off x="288789" y="3564372"/>
                <a:ext cx="7102611" cy="15220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각자가 개인적 관점에서 선택하여 방목한 송아지의 총수는 평균생산곡선이 한계비용곡선과 교차하는 수준인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dirty="0"/>
                  <a:t>가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때 마을 전체가 얻을 수 있는 잉여는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의 수준으로 떨어져 명백하게 비효율적인 결과가 발생한다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96827-C70B-8013-23E0-99360B1F2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3564372"/>
                <a:ext cx="7102611" cy="1522020"/>
              </a:xfrm>
              <a:prstGeom prst="rect">
                <a:avLst/>
              </a:prstGeom>
              <a:blipFill>
                <a:blip r:embed="rId4"/>
                <a:stretch>
                  <a:fillRect b="-4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57DD978A-5A3C-4DC2-07BA-A89A168751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9" t="17144" r="15097" b="7267"/>
          <a:stretch>
            <a:fillRect/>
          </a:stretch>
        </p:blipFill>
        <p:spPr>
          <a:xfrm>
            <a:off x="7231339" y="3808212"/>
            <a:ext cx="4539022" cy="273885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7FCFE3-5CDD-5317-E22B-C32CDD93C95A}"/>
              </a:ext>
            </a:extLst>
          </p:cNvPr>
          <p:cNvSpPr/>
          <p:nvPr/>
        </p:nvSpPr>
        <p:spPr>
          <a:xfrm>
            <a:off x="7261818" y="3736179"/>
            <a:ext cx="1536741" cy="221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4B89F09-0441-30CA-0043-6657CB34F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0" t="16564" r="61897" b="79344"/>
          <a:stretch>
            <a:fillRect/>
          </a:stretch>
        </p:blipFill>
        <p:spPr>
          <a:xfrm>
            <a:off x="8008579" y="3767400"/>
            <a:ext cx="1572301" cy="1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0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203F1-C325-0674-5C3A-7DAA5CB8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C1A03-F5CB-D330-C9EF-AFA24C02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공유지의 비극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58454-1A26-B904-5F6D-F0BAE62D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F606DA-DB5D-B8AA-1327-93AEC3B72C6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공유지의 비극이 발생하는 배경을 살펴보면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개인이 송아지 한 마리를 더 구입해서 방목하기로 결정한 행위가 다른 주민들에게 외부성을 일으키고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의도하지 않았지만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자신의 행위가 다른 사람들의 송아지들이 먹을 풀의 양을 줄이게 된 것이다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결국 목초지의 소유권이 분명히 정의되지 못했기 때문에 이런 문제가 발생하는 것이다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만약 그 목초지에 주인이 있어 요금을 내야 송아지를 놓아 </a:t>
                </a:r>
                <a:r>
                  <a:rPr lang="ko-KR" altLang="en-US" sz="1600" dirty="0" err="1"/>
                  <a:t>먹일수</a:t>
                </a:r>
                <a:r>
                  <a:rPr lang="ko-KR" altLang="en-US" sz="1600" dirty="0"/>
                  <a:t> 있다면 공유지의 비극은 일어나지 않을 것이다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예컨대 송아지 </a:t>
                </a:r>
                <a:r>
                  <a:rPr lang="ko-KR" altLang="en-US" sz="1600" dirty="0" err="1"/>
                  <a:t>한마리당</a:t>
                </a:r>
                <a:r>
                  <a:rPr lang="ko-KR" altLang="en-US" sz="1600" dirty="0"/>
                  <a:t> 그림에서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dirty="0"/>
                  <a:t>의 길이만큼 요금을 내야 한다면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 요금을 포함한 송아지 사육의 한계비용은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dirty="0"/>
                  <a:t>가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F606DA-DB5D-B8AA-1327-93AEC3B72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999347"/>
              </a:xfrm>
              <a:prstGeom prst="rect">
                <a:avLst/>
              </a:prstGeom>
              <a:blipFill>
                <a:blip r:embed="rId2"/>
                <a:stretch>
                  <a:fillRect r="-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AD1A53A2-DD7A-1D98-9717-6CCA6668E56F}"/>
              </a:ext>
            </a:extLst>
          </p:cNvPr>
          <p:cNvSpPr/>
          <p:nvPr/>
        </p:nvSpPr>
        <p:spPr>
          <a:xfrm>
            <a:off x="7261818" y="3736179"/>
            <a:ext cx="1536741" cy="221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43902A-57F9-8A56-70E1-A24E96AE6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9" t="17144" r="15097" b="7267"/>
          <a:stretch>
            <a:fillRect/>
          </a:stretch>
        </p:blipFill>
        <p:spPr>
          <a:xfrm>
            <a:off x="7231339" y="3808212"/>
            <a:ext cx="4539022" cy="273885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BA20DAA-1DA4-E98A-7471-E684FF81E2AF}"/>
              </a:ext>
            </a:extLst>
          </p:cNvPr>
          <p:cNvSpPr/>
          <p:nvPr/>
        </p:nvSpPr>
        <p:spPr>
          <a:xfrm>
            <a:off x="7261818" y="3736179"/>
            <a:ext cx="1536741" cy="221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4E8FD3-23E7-2DBD-0A5C-C71AF273D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0" t="16564" r="61897" b="79344"/>
          <a:stretch>
            <a:fillRect/>
          </a:stretch>
        </p:blipFill>
        <p:spPr>
          <a:xfrm>
            <a:off x="8008579" y="3767400"/>
            <a:ext cx="1572301" cy="148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279A20-D109-7E88-9AC3-33E83090B5B1}"/>
                  </a:ext>
                </a:extLst>
              </p:cNvPr>
              <p:cNvSpPr txBox="1"/>
              <p:nvPr/>
            </p:nvSpPr>
            <p:spPr>
              <a:xfrm>
                <a:off x="288789" y="3564372"/>
                <a:ext cx="7102611" cy="18913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경우의 한계비용곡선은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dirty="0"/>
                  <a:t>이 되는데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사람들은 이 곡선과 평균생산곡선</a:t>
                </a:r>
                <a:r>
                  <a:rPr lang="en-US" altLang="ko-KR" sz="1600" dirty="0"/>
                  <a:t>(AP)</a:t>
                </a:r>
                <a:r>
                  <a:rPr lang="ko-KR" altLang="en-US" sz="1600" dirty="0"/>
                  <a:t>이 교차하는 수준에서 방목하는 송아지의 수를 선택할 것이다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이는 결국 효율적인 송아지의 수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와 일치해 사람들이 효율적인 선택을 한다는 것을 알 수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279A20-D109-7E88-9AC3-33E83090B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3564372"/>
                <a:ext cx="7102611" cy="1891352"/>
              </a:xfrm>
              <a:prstGeom prst="rect">
                <a:avLst/>
              </a:prstGeom>
              <a:blipFill>
                <a:blip r:embed="rId4"/>
                <a:stretch>
                  <a:fillRect r="-86"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322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8208-BE40-1506-FEA6-31159D71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E0AF6-A5FF-8524-C401-86BAB9D9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소유권 확립의 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EE971-AF95-603E-B157-5A93A13E9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49A83-63AD-6B7E-802D-DFC282979A76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살펴보았듯이</a:t>
            </a:r>
            <a:r>
              <a:rPr lang="en-US" altLang="ko-KR" sz="1600" dirty="0"/>
              <a:t>, </a:t>
            </a:r>
            <a:r>
              <a:rPr lang="ko-KR" altLang="en-US" sz="1600" dirty="0"/>
              <a:t>소유권이 모호하게 규정되어 있기 때문에 공유지의 비극과 같은 현상이 생겼고</a:t>
            </a:r>
            <a:r>
              <a:rPr lang="en-US" altLang="ko-KR" sz="1600" dirty="0"/>
              <a:t>, </a:t>
            </a:r>
            <a:r>
              <a:rPr lang="ko-KR" altLang="en-US" sz="1600" dirty="0"/>
              <a:t>그렇다면 소유권의 확립을 통해서 환경오염의 문제를 해결할 수 있는 방도를 찾을 수 있다는 말이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 강의 상류에 화학공장이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하류에는 그 강에서 잡히는 물고기를 요리하는 음식점이 있다고 하자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여기서 문제는 공장에서 배출하는 폐수 때문에 물고기들이 줄어들어 음식점 영업에 지장이 생기는 것이다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만약 한 사람이 공장과 음식점을 모두 소유하고 있다면 폐수를 마음대로 배출하는 일이 벌어지지 않을 것이다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폐수 방류로 인해 물고기가 줄어들면 음식점의 이윤이 떨어지게 될 것이기 때문이다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결국 그는 폐수처리 비용과 수질 향상으로 인한 음식점의 이윤 증가를 비교하여 적절한 수준에서 강의 수질을 유지하려고 할 것이다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소유권이 통합된 상태에서는 오염물질 배출이 자신에게 손해를 가져오게 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자발적으로 배출을 억제하게 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소유권의 재배분은 </a:t>
            </a:r>
            <a:r>
              <a:rPr lang="ko-KR" altLang="en-US" sz="1600" b="1" dirty="0"/>
              <a:t>외부성의 내부화</a:t>
            </a:r>
            <a:r>
              <a:rPr lang="ko-KR" altLang="en-US" sz="1600" dirty="0"/>
              <a:t>를 가져올 수 있다는 사실을 알 수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현실에서는 이와 같은 해결책을 기대하기는 힘든데</a:t>
            </a:r>
            <a:r>
              <a:rPr lang="en-US" altLang="ko-KR" sz="1600" dirty="0"/>
              <a:t>, </a:t>
            </a:r>
            <a:r>
              <a:rPr lang="ko-KR" altLang="en-US" sz="1600" dirty="0"/>
              <a:t>예를 들어 폐수 방류가 피해를 주는 것이 음식점 뿐 아니라 수많은 주민들의 식수에도 영향을 미친다면 문제는 훨씬 </a:t>
            </a:r>
            <a:r>
              <a:rPr lang="ko-KR" altLang="en-US" sz="1600" dirty="0" err="1"/>
              <a:t>복잡해진다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그러므로 소유권의 재배분보다는 </a:t>
            </a:r>
            <a:r>
              <a:rPr lang="ko-KR" altLang="en-US" sz="1600" b="1" dirty="0"/>
              <a:t>소유권</a:t>
            </a:r>
            <a:r>
              <a:rPr lang="ko-KR" altLang="en-US" sz="1600" dirty="0"/>
              <a:t>을 명백하게 정의해 주는 방식으로 문제 해결을 시도하는 것이 실현가능성이 클 수도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예에서는 비현실적이기는 하지만 강물의 소유주가 분명하면 강물의 수질은 자연스럽게 유지 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87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C2B0-B90D-F680-155C-D01D9080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92848-BCC4-5D53-E009-319D1DD7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코우즈</a:t>
            </a:r>
            <a:r>
              <a:rPr lang="ko-KR" altLang="en-US" dirty="0"/>
              <a:t>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0785C-D84C-3729-4328-03F2EECBD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E8170-BAF1-334D-B73C-5B9F1E177357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코우즈</a:t>
            </a:r>
            <a:r>
              <a:rPr lang="ko-KR" altLang="en-US" sz="1600" dirty="0"/>
              <a:t> 정리는 소유권이 분명하다면 외부성의 문제가 당사자들의 자발적 협상에 의해 해결될 수 있음을 보였다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코우즈는</a:t>
            </a:r>
            <a:r>
              <a:rPr lang="ko-KR" altLang="en-US" sz="1600" dirty="0"/>
              <a:t> 외부성의 본질적 성격이 상호성에 있음을 지적하고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환경세</a:t>
            </a:r>
            <a:r>
              <a:rPr lang="ko-KR" altLang="en-US" sz="1600" dirty="0"/>
              <a:t> 부과처럼 정부가 당사자들 중 한쪽에게만 책임을 지게 만드는 방식으로는 효율적 자원배분을 이룰 수 없다고 주장한다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정부는 직접적 개입을 삼가고</a:t>
            </a:r>
            <a:r>
              <a:rPr lang="en-US" altLang="ko-KR" sz="1600" dirty="0"/>
              <a:t>, </a:t>
            </a:r>
            <a:r>
              <a:rPr lang="ko-KR" altLang="en-US" sz="1600" dirty="0"/>
              <a:t>그 대신 당사자들 사이의 협상이 원활하게 진행될 수 있도록 제도적</a:t>
            </a:r>
            <a:r>
              <a:rPr lang="en-US" altLang="ko-KR" sz="1600" dirty="0"/>
              <a:t>, </a:t>
            </a:r>
            <a:r>
              <a:rPr lang="ko-KR" altLang="en-US" sz="1600" dirty="0"/>
              <a:t>행정적 뒷받침을 하는데 그 역할을 한정시켜야 한다고 말한다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정부의 직접적 개입이 없어도 당사자들 간의 협상에 의해 효율적 자원배분이 이루어질 수 있다는 주장은 매력적으로 보인지만</a:t>
            </a:r>
            <a:r>
              <a:rPr lang="en-US" altLang="ko-KR" sz="1600" spc="-100" dirty="0"/>
              <a:t>,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코우즈</a:t>
            </a:r>
            <a:r>
              <a:rPr lang="ko-KR" altLang="en-US" sz="1600" dirty="0"/>
              <a:t> 정리를 현실에 적용하기에는 적지 않은 문제점이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현실에서는 이해당사자가 누구인지 판별하기조차 힘든 상황이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산성비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현상처럼 전 지구적 차원 문제의 경우 누가 그 문제를 만드는지 정확히 알 수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자발적인 협상이 효율적인 결과를 내기 위해서는 협상과정에서 거래비용이 적게 들어야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이해당사자들 간의 공정한 해결책을 찾을 수 있는지 의문이 남는다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대부분의 경우 환경문제의 피해자는 서민들인 반면</a:t>
            </a:r>
            <a:r>
              <a:rPr lang="en-US" altLang="ko-KR" sz="1600" dirty="0"/>
              <a:t>, </a:t>
            </a:r>
            <a:r>
              <a:rPr lang="ko-KR" altLang="en-US" sz="1600" dirty="0"/>
              <a:t>가해자는 자금력을 갖춘 기업인 경우가 많다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코우즈가</a:t>
            </a:r>
            <a:r>
              <a:rPr lang="ko-KR" altLang="en-US" sz="1600" dirty="0"/>
              <a:t> 말한 상호성이라는 개념은 오염물질 배출자와 피해자가 환경에 대해 같은 권리를 갖는다는 것을 의미하는데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오염물질을 마음대로 버릴 권리가 있다는 다소 엉뚱한 결론이 나올 수 있다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391367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11969</TotalTime>
  <Words>6478</Words>
  <Application>Microsoft Office PowerPoint</Application>
  <PresentationFormat>와이드스크린</PresentationFormat>
  <Paragraphs>476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0" baseType="lpstr">
      <vt:lpstr>HY헤드라인M</vt:lpstr>
      <vt:lpstr>KoPub돋움체 Light</vt:lpstr>
      <vt:lpstr>나눔고딕</vt:lpstr>
      <vt:lpstr>맑은 고딕</vt:lpstr>
      <vt:lpstr>Arial</vt:lpstr>
      <vt:lpstr>Cambria Math</vt:lpstr>
      <vt:lpstr>Wingdings</vt:lpstr>
      <vt:lpstr>Office 테마</vt:lpstr>
      <vt:lpstr>재 정 학</vt:lpstr>
      <vt:lpstr>Chapter 7  환경정책</vt:lpstr>
      <vt:lpstr>Section 1. 환경정책의 편익과 비용</vt:lpstr>
      <vt:lpstr>환경정책의 편익과 비용</vt:lpstr>
      <vt:lpstr>편익측정의 여러방법</vt:lpstr>
      <vt:lpstr>편익측정의 여러 방법</vt:lpstr>
      <vt:lpstr>환경정책의 편익과 비용</vt:lpstr>
      <vt:lpstr>환경정책의 편익과 비용</vt:lpstr>
      <vt:lpstr>조건부평가법을 둘러싼 논쟁</vt:lpstr>
      <vt:lpstr>조건부평가법을 둘러싼 논쟁</vt:lpstr>
      <vt:lpstr>조건부평가법을 둘러싼 논쟁</vt:lpstr>
      <vt:lpstr>조건부평가법을 둘러싼 논쟁</vt:lpstr>
      <vt:lpstr>환경정책과 관련된 비용</vt:lpstr>
      <vt:lpstr>Section 2. 환경정책의 기본방향</vt:lpstr>
      <vt:lpstr>시장을 활용하는 방식과 직접통제방식</vt:lpstr>
      <vt:lpstr>시장을 활용하는 방식과 직접통제방식</vt:lpstr>
      <vt:lpstr>환경세 부과와 배출권 거래제도</vt:lpstr>
      <vt:lpstr>환경세 부과와 배출권 거래제도</vt:lpstr>
      <vt:lpstr>환경세 부과와 배출권 거래제도</vt:lpstr>
      <vt:lpstr>Section 3. 환경정책의 분배적 측면</vt:lpstr>
      <vt:lpstr>환경정책의 분배적 측면</vt:lpstr>
      <vt:lpstr>혜택의 분배</vt:lpstr>
      <vt:lpstr>비용의 분배</vt:lpstr>
      <vt:lpstr>비용의 분배</vt:lpstr>
      <vt:lpstr>Section 4. 경제성장과 국제무역</vt:lpstr>
      <vt:lpstr>경제성장과 국제무역</vt:lpstr>
      <vt:lpstr>Section 5. 국제적 차원의 환경정책</vt:lpstr>
      <vt:lpstr>외부성의 유형</vt:lpstr>
      <vt:lpstr>외부성의 유형</vt:lpstr>
      <vt:lpstr>외부성의 비효율성 (직관적 설명)</vt:lpstr>
      <vt:lpstr>외부성의 비효율성 (그림에 의한 설명)</vt:lpstr>
      <vt:lpstr>외부성의 비효율성 (그림에 의한 설명)</vt:lpstr>
      <vt:lpstr>외부성의 비효율성 (그림에 의한 설명)</vt:lpstr>
      <vt:lpstr>외부성의 비효율성</vt:lpstr>
      <vt:lpstr>문제의 해결 방법</vt:lpstr>
      <vt:lpstr>시장을 활용하는 방식</vt:lpstr>
      <vt:lpstr>시장을 활용하는 방식 (환경세)</vt:lpstr>
      <vt:lpstr>시장을 활용하는 방식 (환경세)</vt:lpstr>
      <vt:lpstr>시장을 활용하는 방식 (환경세)</vt:lpstr>
      <vt:lpstr>시장을 활용하는 방식 (배출권 거래제도)</vt:lpstr>
      <vt:lpstr>시장을 활용하는 방식 (배출권 거래제도)</vt:lpstr>
      <vt:lpstr>시장을 활용하는 방식 (배출권 거래제도)</vt:lpstr>
      <vt:lpstr>시장을 활용하는 방식 (배출권 거래제도)</vt:lpstr>
      <vt:lpstr>시장을 활용하는 방식 (배출권 거래제도)</vt:lpstr>
      <vt:lpstr>직접통제방식</vt:lpstr>
      <vt:lpstr>소유권 확립을 통한 문제의 해결</vt:lpstr>
      <vt:lpstr>공유지의 비극</vt:lpstr>
      <vt:lpstr>공유지의 비극</vt:lpstr>
      <vt:lpstr>공유지의 비극</vt:lpstr>
      <vt:lpstr>소유권 확립의 효과</vt:lpstr>
      <vt:lpstr>코우즈 정리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417</cp:revision>
  <dcterms:created xsi:type="dcterms:W3CDTF">2025-07-05T05:15:23Z</dcterms:created>
  <dcterms:modified xsi:type="dcterms:W3CDTF">2026-03-10T08:31:37Z</dcterms:modified>
</cp:coreProperties>
</file>