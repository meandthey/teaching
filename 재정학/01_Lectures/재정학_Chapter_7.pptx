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2"/>
  </p:notesMasterIdLst>
  <p:sldIdLst>
    <p:sldId id="375" r:id="rId2"/>
    <p:sldId id="405" r:id="rId3"/>
    <p:sldId id="550" r:id="rId4"/>
    <p:sldId id="552" r:id="rId5"/>
    <p:sldId id="688" r:id="rId6"/>
    <p:sldId id="689" r:id="rId7"/>
    <p:sldId id="690" r:id="rId8"/>
    <p:sldId id="691" r:id="rId9"/>
    <p:sldId id="692" r:id="rId10"/>
    <p:sldId id="694" r:id="rId11"/>
    <p:sldId id="693" r:id="rId12"/>
    <p:sldId id="695" r:id="rId13"/>
    <p:sldId id="696" r:id="rId14"/>
    <p:sldId id="632" r:id="rId15"/>
    <p:sldId id="697" r:id="rId16"/>
    <p:sldId id="698" r:id="rId17"/>
    <p:sldId id="699" r:id="rId18"/>
    <p:sldId id="700" r:id="rId19"/>
    <p:sldId id="701" r:id="rId20"/>
    <p:sldId id="633" r:id="rId21"/>
    <p:sldId id="702" r:id="rId22"/>
    <p:sldId id="703" r:id="rId23"/>
    <p:sldId id="704" r:id="rId24"/>
    <p:sldId id="705" r:id="rId25"/>
    <p:sldId id="634" r:id="rId26"/>
    <p:sldId id="706" r:id="rId27"/>
    <p:sldId id="707" r:id="rId28"/>
    <p:sldId id="708" r:id="rId29"/>
    <p:sldId id="709" r:id="rId30"/>
    <p:sldId id="710" r:id="rId31"/>
    <p:sldId id="711" r:id="rId32"/>
    <p:sldId id="687" r:id="rId33"/>
    <p:sldId id="712" r:id="rId34"/>
    <p:sldId id="713" r:id="rId35"/>
    <p:sldId id="714" r:id="rId36"/>
    <p:sldId id="715" r:id="rId37"/>
    <p:sldId id="716" r:id="rId38"/>
    <p:sldId id="717" r:id="rId39"/>
    <p:sldId id="718" r:id="rId40"/>
    <p:sldId id="364" r:id="rId4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- 7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7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환경정책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환경정책의 편익과 비용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편익과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250267" cy="45228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환경보존이 중요한 일이기는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무조건적으로 환경을 보존해야 한다고 주장하기는 어렵다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환경보존을 목표로 하는 정책도 비용보다 더 큰 편익을 주는 경우에만 그 정당성을 인정받게 되기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합리적인 환경정책 수행을 위해서는 편익과 비용이 얼마나 되는지 정확하게 파악하는 작업이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편익측정의 여러 방법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환경정책의 편익은 본질상 정확한 평가가 매우 어렵다는 특징이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맑은 공기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숲의 가치는 시장가격이 존재하지 않아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그것들이 얼만큼의 가치를 갖는지 알기 힘들다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시장이 아닌 우회적 방법에 의해 환경정책의 편익을 평가할 수 밖에 없으며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대체 방법이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지불의사 접근법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회피행위 접근법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헤도닉가격</a:t>
            </a:r>
            <a:r>
              <a:rPr lang="ko-KR" altLang="en-US" sz="1600" spc="-50" dirty="0"/>
              <a:t> 접근법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조건부 </a:t>
            </a:r>
            <a:r>
              <a:rPr lang="ko-KR" altLang="en-US" sz="1600" spc="-50" dirty="0" err="1"/>
              <a:t>평가법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5AFB6-F91D-FAAC-0DAE-0FDAC0D1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65A6D8-0071-FAF6-75E9-1D22CCEA4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편익측정의 </a:t>
            </a:r>
            <a:r>
              <a:rPr lang="ko-KR" altLang="en-US" dirty="0" err="1"/>
              <a:t>여러방법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53CFFB-4F86-60E5-1D05-2492A9AD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F27846-D13E-4563-77D9-8CBCF6FFF648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34383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지불의사 접근법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환경의 질 악화로 인해 손해를 본다고 느끼는 사람들은 이를 개선하기 위해 일정한 금액을 지불할 용의를 갖는다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사람이 지불할 용의가 있는 금액은 환경의 질 악화로 인해 효용이 어느 정도로 </a:t>
                </a:r>
                <a:r>
                  <a:rPr lang="ko-KR" altLang="en-US" sz="1600" spc="-50" dirty="0" err="1"/>
                  <a:t>감소하느냐에</a:t>
                </a:r>
                <a:r>
                  <a:rPr lang="ko-KR" altLang="en-US" sz="1600" spc="-50" dirty="0"/>
                  <a:t> 의해 결정될 것이라고 짐작할 수 있으며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바로 이 지불의사를 알아내어 그것이 환경정책에서 나오는 편익이라고 보는 것이 지불의사 접근법이다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b="0" dirty="0">
                    <a:latin typeface="Cambria Math" panose="02040503050406030204" pitchFamily="18" charset="0"/>
                  </a:rPr>
                  <a:t>상품들의 가격이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ko-KR" altLang="en-US" sz="1600" b="0" dirty="0">
                    <a:latin typeface="Cambria Math" panose="02040503050406030204" pitchFamily="18" charset="0"/>
                  </a:rPr>
                  <a:t>로 주어져 있고</a:t>
                </a:r>
                <a:r>
                  <a:rPr lang="en-US" altLang="ko-KR" sz="1600" b="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b="0" dirty="0">
                    <a:latin typeface="Cambria Math" panose="02040503050406030204" pitchFamily="18" charset="0"/>
                  </a:rPr>
                  <a:t> 환경의 질은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sz="1600" b="0" dirty="0">
                    <a:latin typeface="Cambria Math" panose="02040503050406030204" pitchFamily="18" charset="0"/>
                  </a:rPr>
                  <a:t>라는 지표로 나타나 있다고 할 때</a:t>
                </a:r>
                <a:r>
                  <a:rPr lang="en-US" altLang="ko-KR" sz="1600" b="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b="0" dirty="0">
                    <a:latin typeface="Cambria Math" panose="02040503050406030204" pitchFamily="18" charset="0"/>
                  </a:rPr>
                  <a:t>효용수준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</m:oMath>
                </a14:m>
                <a:r>
                  <a:rPr lang="ko-KR" altLang="en-US" sz="1600" b="0" dirty="0">
                    <a:latin typeface="Cambria Math" panose="02040503050406030204" pitchFamily="18" charset="0"/>
                  </a:rPr>
                  <a:t>를 달성하는 데 필요한 최소한의 지출은 다음의 지출함수로 나타낼 수 있다</a:t>
                </a:r>
                <a:r>
                  <a:rPr lang="en-US" altLang="ko-KR" sz="1600" b="0" dirty="0">
                    <a:latin typeface="Cambria Math" panose="02040503050406030204" pitchFamily="18" charset="0"/>
                  </a:rPr>
                  <a:t>. 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̅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i="1" spc="-50" dirty="0"/>
                  <a:t> 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만약 환경정책으로 환경의 질이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수준으로 개선되었다고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이때 주어진 효용수준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를 달성하는 데 드는 최소한의 지출은 종전보다 더 작아진다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환경의 질 개선이 효용을 증가시키는 역할을 했기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상품 구입에 더 적음 금액을 지출해도 그 수준의 효용을 달성할 수 있기 때문이다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이때 그 지출의 감소폭을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ko-KR" altLang="en-US" sz="1600" spc="-50" dirty="0"/>
                  <a:t>라고 하며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이것이 바로 환경의 질 개선에 대해 최대한으로 지불할 용의가 있는 금액이라고 생각할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F27846-D13E-4563-77D9-8CBCF6FFF6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343835"/>
              </a:xfrm>
              <a:prstGeom prst="rect">
                <a:avLst/>
              </a:prstGeom>
              <a:blipFill>
                <a:blip r:embed="rId2"/>
                <a:stretch>
                  <a:fillRect l="-217" b="-4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4551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D9B7-A99F-62AF-2A60-CB1F93C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B57264-669C-92DE-1EAC-82E147DA4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편익측정의 여러 방법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51FCCC-8C8F-2B56-1839-C5C4F2129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6B2FE4-5ED7-486E-03B4-2401A388A4F3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63789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정리하면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환경의 질이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일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때의 지출함수 값은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일 때의 값보다 더 작을 텐데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바로 이 둘 사이의 차이가 환경의 질 개선에 대해 지불할 용의가 있는 금액이다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수식으로 표현하면 아래와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sz="1600" b="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, </m:t>
                        </m:r>
                        <m:acc>
                          <m:accPr>
                            <m:chr m:val="̅"/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acc>
                      </m:e>
                    </m:d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̅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sz="1600" dirty="0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충분한 통계자료를 수집하여 소비자의 지출함수를 추정할 수 있으면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이와 같은 방법으로 환경정책에서 나오는 편익을 바로 계산해 낼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다만 실제로 이 접근법을 통해 편익을 측정할 수 있을 만큼 충분한 통계자료를 확보하기는 힘들다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 startAt="2"/>
                </a:pPr>
                <a:r>
                  <a:rPr lang="ko-KR" altLang="en-US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회피행위 접근법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사람들이 환경오염이나 위험으로 인한 피해를 피하기 위해 지출하는 비용을 통해 그 피해의 경제적 가치를 추정하는 방법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소비자가 대기오염으로 인한 호흡기 질환의 고통을 회피하고자 일정 금액을 지불하고 의료서비스나 약을 구입했다고 하자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그런데 환경정책이 시행되면 호흡기 질환에서 해방이 된다고 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의료서비스나 약 구입을 위해 지출했을 금액만큼의 편익을 얻게 된다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 외에도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화재 위험을 회피하고자 화재경보기를 설치하는 경우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교통사고를 대비하여 각종 안전장치를 옵션으로 구매하는 경우 등이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그러나 회피행위 접근법을 활용하여 환경정책의 편익을 계산하면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실제의 편익을 과소평가할 가능성이 있다는 단점이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6B2FE4-5ED7-486E-03B4-2401A388A4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637890"/>
              </a:xfrm>
              <a:prstGeom prst="rect">
                <a:avLst/>
              </a:prstGeom>
              <a:blipFill>
                <a:blip r:embed="rId2"/>
                <a:stretch>
                  <a:fillRect l="-217" r="-596" b="-4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6646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40180-BB48-B1DA-58AB-557AB95BB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828133-1078-B802-52B4-CF423AE5B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편익과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2FAB25-6089-BA86-E328-8C9A491DC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3FC67C-3A0F-AB80-E8FA-5CABC6673327}"/>
              </a:ext>
            </a:extLst>
          </p:cNvPr>
          <p:cNvSpPr txBox="1"/>
          <p:nvPr/>
        </p:nvSpPr>
        <p:spPr>
          <a:xfrm>
            <a:off x="288790" y="958844"/>
            <a:ext cx="11250267" cy="45228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헤도닉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가격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접근법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어떤 재화나 서비스의 가격을 그것이 갖는 여러 가지 특성의 가치들로 분해할 수 있다는 것이 헤도닉 가격의 개념이다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주택이 있다고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주택의 교통편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학군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주변 환경의 </a:t>
            </a:r>
            <a:r>
              <a:rPr lang="ko-KR" altLang="en-US" sz="1600" spc="-50" dirty="0" err="1"/>
              <a:t>쾌적성</a:t>
            </a:r>
            <a:r>
              <a:rPr lang="ko-KR" altLang="en-US" sz="1600" spc="-50" dirty="0"/>
              <a:t> 등 여러 특성에 의해 그것의 가격이 결정된다고 본다는 의미다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주택 가격이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억원이라고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교통편이 좋은 점이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천만원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학군 좋은 점이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천만원 등 이런 식으로 특성에 부여된 가치의 합으로서 주택가격이 결정된다고 보는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접근을 통해 주택이 갖는 여러 특성과 주택 가격을 연결시키는 함수를 만들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그것을 </a:t>
            </a:r>
            <a:r>
              <a:rPr lang="ko-KR" altLang="en-US" sz="1600" spc="-50" dirty="0" err="1"/>
              <a:t>헤도닉가격함수</a:t>
            </a:r>
            <a:r>
              <a:rPr lang="ko-KR" altLang="en-US" sz="1600" spc="-50" dirty="0"/>
              <a:t> 라고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헤도닉 가격함수에는 여러 변수들이 독립변수로 포함되어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환경의 질이 개선되면 주택가격이 얼마나 상승하는지 알아낼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헤도닉 접근법에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주택 가격 상승폭을 환경정책에서 나오는 편익으로 간주할 수 있다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10071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8B0D1-356A-F018-BD28-6C5DAE0E9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A4F18F-46DA-7C41-4010-78CEDBE10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편익과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744BB2-C230-5350-717E-81796D303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A0B2A1-4081-3242-C1BD-608C90D0DE14}"/>
              </a:ext>
            </a:extLst>
          </p:cNvPr>
          <p:cNvSpPr txBox="1"/>
          <p:nvPr/>
        </p:nvSpPr>
        <p:spPr>
          <a:xfrm>
            <a:off x="288790" y="958844"/>
            <a:ext cx="11250267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조건부평가법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조건부평가법은 가상적인 환경 개선의 가능성을 제시하고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사람들로 하여금 이에 대한 평가를 하게 만든다는 데서 나왔다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수영을 할 수 있을 만큼 금강의 수질을 개선시킨다면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얼마의 추가적인 세금을 부담할 용의가 있는지를 묻는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설명한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방법은 이론적 틀에 기초하여 환경의 질 개선에 대해 사람들이 지불할 용의가 있는 금액을 알아내려 한다는 공통적인 특징을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이에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조건부평가법은 설문조사를 통해 이 금액에 대한 정보를 얻으려 한다는 특징이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사람들에게 환경정책의 수행을 통해 기대할 수 있는 가상의 환경개선 효과를 제시하고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대해 얼만큼 지불할 용의가 있는지 묻는 방법을 통해 환경정책의 편익을 알아내는 접근방식을 채택하고 있는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환경이 갖는 가치 중 존재가치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비사용가치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라고 불리는 부분이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여기서 존재가치는 어떤 것이 존재한다는 사실만으로도 가치를 갖는다는 것을 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금강 주변 숲에 천연기념물 새가 서식하고 있다고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우리가 경제적 혜택을 얻을 수는 없지만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새의 존재 자치만으로 가치를 가진다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나머지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방법에 비해 존재가치를 측정한다는 점에서 보면 조건평가법이 낫다는 평가가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8938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DC0D6-9108-5A0F-56DA-B063E3C7A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34D2E2-73FF-2A5A-6BD0-2BA0733E3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3FDC27-4B6E-53AE-0445-33DFE60F8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01BA4A-3281-F765-20D8-4A6AA33D5E1F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가끔 뉴스에서 보면 환경오염과 관련된 분쟁이 종종 일어나는데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이때 오염을 일으킨 측이 얼만큼의 배상을 하도록 해야 하는지가 어려운 문제로 등장한다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2007</a:t>
            </a:r>
            <a:r>
              <a:rPr lang="ko-KR" altLang="en-US" sz="1600" spc="-50" dirty="0"/>
              <a:t>년 태안 앞바다 기름유출 사고는 태안해안국립공원을 온통 </a:t>
            </a:r>
            <a:r>
              <a:rPr lang="ko-KR" altLang="en-US" sz="1600" spc="-50" dirty="0" err="1"/>
              <a:t>기름밭으로</a:t>
            </a:r>
            <a:r>
              <a:rPr lang="ko-KR" altLang="en-US" sz="1600" spc="-50" dirty="0"/>
              <a:t> 만들어 버렸는데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사건의 성격상 배상액의 결정이 더욱 힘들다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직접적 피해를 받은 어민 뿐만 아니라 해안 생태계와 경관에 미친 전반적인 악영향에 대해 배상을 하도록 만들어야 마땅하나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피해의 화폐가치를 정확하게 알아내기 힘들기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이런 문제의 핵심은 서해안 바다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생태계의 존재가치가 얼마인지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그렇기 때문에 존재가치의 평가에 적합한 방법이라고 알려진 조건부평가법이 자주 그 해법으로 거론된다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실제로도 환경오염 관련 분쟁에서 조건부평가법에 기초하여 배상액을 결정하는 사례가 늘고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보통 배상의 주체는 기업들이 많으며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조건부평가법에 불만을 표시하는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경제학자들 중에서도 실제로 조건부평가법에 근본적인 문제가 있다고 지적하곤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일반적으로 경제학자들은 어떤 재화나 서비스의 가치를 평가할 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사람들이 실제로 드러낸 행위에 기초하여 결론을 도출하는 방법을 선호한다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즉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현시된</a:t>
            </a:r>
            <a:r>
              <a:rPr lang="ko-KR" altLang="en-US" sz="1600" spc="-50" dirty="0"/>
              <a:t> 선호</a:t>
            </a:r>
            <a:r>
              <a:rPr lang="en-US" altLang="ko-KR" sz="1600" spc="-50" dirty="0"/>
              <a:t>‘ (revealed preference)</a:t>
            </a:r>
            <a:r>
              <a:rPr lang="ko-KR" altLang="en-US" sz="1600" spc="-50" dirty="0"/>
              <a:t>에 입각하여 가치를 평가하는 접근방식을 선호한다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 사람들이 시장에서 어떤 상품을 구매한 행동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</a:t>
            </a:r>
            <a:r>
              <a:rPr lang="ko-KR" altLang="en-US" sz="1600" spc="-50"/>
              <a:t>관찰 결과를 </a:t>
            </a:r>
            <a:r>
              <a:rPr lang="ko-KR" altLang="en-US" sz="1600" spc="-50" dirty="0"/>
              <a:t>통해 상품에 부여한 가치를 알아낼 수 있다는 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9118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25B29-611F-999C-1E55-354A8BEFE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E4F974-FAB6-D464-06A6-F925D2123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9BE421-0D30-5FDC-93EE-E737A51CB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DBDAE9-01AB-96C8-99F2-1DA74C052C6C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조건부평가법이 설문조사 방법이 갖는 일반적인 문제에서 자유롭지 못하다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설문조사의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질문의 표현과 순서를 조금만 바꾸어도 응답의 내용이 크게 달라지는 일이 발생하는데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응답효과라고 부르며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설문조사 결과의 신빙성을 떨어뜨리는 역할을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평소 환경에 대해 별 생각이 없던 사람에게 환경의 가치를 묻고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대답한 것이 믿을 만한지에 대해서도 의문이다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설문조사가 갖는 문제점 뿐만 아니라 경제이론의 관점에서도 조건부평가법이 부적절하다고 평가를 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다이아몬드</a:t>
            </a:r>
            <a:r>
              <a:rPr lang="en-US" altLang="ko-KR" sz="1600" dirty="0"/>
              <a:t>-</a:t>
            </a:r>
            <a:r>
              <a:rPr lang="ko-KR" altLang="en-US" sz="1600" dirty="0" err="1"/>
              <a:t>하우즈먼은</a:t>
            </a:r>
            <a:r>
              <a:rPr lang="ko-KR" altLang="en-US" sz="1600" dirty="0"/>
              <a:t> 조건부평가법이 환경의 가치를 과대평가하는 결과를 가져올 수 있다고 얘기한다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설문 응답자들은 자기 자신뿐 아니라 남들이 얻을 환경 혜택까지 감안하여 대답할 가능성이 있다는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행태경제학자들은 어떤 물건을 보유하고 </a:t>
            </a:r>
            <a:r>
              <a:rPr lang="ko-KR" altLang="en-US" sz="1600" dirty="0" err="1"/>
              <a:t>있는지의</a:t>
            </a:r>
            <a:r>
              <a:rPr lang="ko-KR" altLang="en-US" sz="1600" dirty="0"/>
              <a:t> 여부가 그것의 가치 평가에 영향을 준다고 주장한다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어떤 재화의 소유자가 남에게 넘기려면 최소한으로 받을 수 있는 금액이 </a:t>
            </a:r>
            <a:r>
              <a:rPr lang="en-US" altLang="ko-KR" sz="1600" dirty="0"/>
              <a:t>‘</a:t>
            </a:r>
            <a:r>
              <a:rPr lang="ko-KR" altLang="en-US" sz="1600" dirty="0"/>
              <a:t>수용의사가 있는 금액</a:t>
            </a:r>
            <a:r>
              <a:rPr lang="en-US" altLang="ko-KR" sz="1600" dirty="0"/>
              <a:t>’ (Willingness To Accept, WTA)</a:t>
            </a:r>
            <a:r>
              <a:rPr lang="ko-KR" altLang="en-US" sz="1600" dirty="0"/>
              <a:t>이고</a:t>
            </a:r>
            <a:r>
              <a:rPr lang="en-US" altLang="ko-KR" sz="1600" dirty="0"/>
              <a:t>, </a:t>
            </a:r>
            <a:r>
              <a:rPr lang="ko-KR" altLang="en-US" sz="1600" dirty="0"/>
              <a:t>또 다른 어떤 사람이 그것을 얻기 위해 지불할 금액을 </a:t>
            </a:r>
            <a:r>
              <a:rPr lang="en-US" altLang="ko-KR" sz="1600" dirty="0"/>
              <a:t>‘</a:t>
            </a:r>
            <a:r>
              <a:rPr lang="ko-KR" altLang="en-US" sz="1600" dirty="0"/>
              <a:t>지불의사가 있는 금액</a:t>
            </a:r>
            <a:r>
              <a:rPr lang="en-US" altLang="ko-KR" sz="1600" dirty="0"/>
              <a:t>’ (Willingness To Pay, WTP)</a:t>
            </a:r>
            <a:r>
              <a:rPr lang="ko-KR" altLang="en-US" sz="1600" dirty="0"/>
              <a:t>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일반적으로 </a:t>
            </a:r>
            <a:r>
              <a:rPr lang="en-US" altLang="ko-KR" sz="1600" dirty="0"/>
              <a:t>‘</a:t>
            </a:r>
            <a:r>
              <a:rPr lang="ko-KR" altLang="en-US" sz="1600" dirty="0"/>
              <a:t>수용의사 금액</a:t>
            </a:r>
            <a:r>
              <a:rPr lang="en-US" altLang="ko-KR" sz="1600" dirty="0"/>
              <a:t>(WTA)’</a:t>
            </a:r>
            <a:r>
              <a:rPr lang="ko-KR" altLang="en-US" sz="1600" dirty="0"/>
              <a:t> </a:t>
            </a:r>
            <a:r>
              <a:rPr lang="en-US" altLang="ko-KR" sz="1600" dirty="0"/>
              <a:t>&gt;</a:t>
            </a:r>
            <a:r>
              <a:rPr lang="ko-KR" altLang="en-US" sz="1600" dirty="0"/>
              <a:t> </a:t>
            </a:r>
            <a:r>
              <a:rPr lang="en-US" altLang="ko-KR" sz="1600" dirty="0"/>
              <a:t>‘</a:t>
            </a:r>
            <a:r>
              <a:rPr lang="ko-KR" altLang="en-US" sz="1600" dirty="0"/>
              <a:t>지불의사 금액</a:t>
            </a:r>
            <a:r>
              <a:rPr lang="en-US" altLang="ko-KR" sz="1600" dirty="0"/>
              <a:t>(WTP)‘ </a:t>
            </a:r>
            <a:r>
              <a:rPr lang="ko-KR" altLang="en-US" sz="1600" dirty="0"/>
              <a:t>관계가 나타나는데</a:t>
            </a:r>
            <a:r>
              <a:rPr lang="en-US" altLang="ko-KR" sz="1600" dirty="0"/>
              <a:t>, </a:t>
            </a:r>
            <a:r>
              <a:rPr lang="ko-KR" altLang="en-US" sz="1600" dirty="0"/>
              <a:t>행태경제학자에 따르면 부존효과 때문이 이런 결과가 나타난다고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이런 부존효과는 사람들에게 </a:t>
            </a:r>
            <a:r>
              <a:rPr lang="en-US" altLang="ko-KR" sz="1600" dirty="0"/>
              <a:t>WTA</a:t>
            </a:r>
            <a:r>
              <a:rPr lang="ko-KR" altLang="en-US" sz="1600" dirty="0"/>
              <a:t>와 </a:t>
            </a:r>
            <a:r>
              <a:rPr lang="en-US" altLang="ko-KR" sz="1600" dirty="0"/>
              <a:t>WTP </a:t>
            </a:r>
            <a:r>
              <a:rPr lang="ko-KR" altLang="en-US" sz="1600" dirty="0"/>
              <a:t>둘 중 어떤 방식으로 설문을 </a:t>
            </a:r>
            <a:r>
              <a:rPr lang="ko-KR" altLang="en-US" sz="1600" dirty="0" err="1"/>
              <a:t>하느냐에</a:t>
            </a:r>
            <a:r>
              <a:rPr lang="ko-KR" altLang="en-US" sz="1600" dirty="0"/>
              <a:t> 따라 큰 차이를 나게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99583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AD309-5C30-3682-A75C-15FFDC4D2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6307B9-58C9-E774-BD6C-96DE0C484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324700-0FC2-2BAD-C9AF-60BCA8F73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932D4A-EF5C-49EE-57D5-DDE814D0C5B5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현시선호를 중요하게 생각하는 경제학자들은 조건부평가법에 대해 부정적 평가를 내린다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조건부평가 방법은 설문조사를 통해 어떤 것의 가치를 알아낼 수 있다는 생각에 기초하는데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현시선호를 중시하는 사람의 시각에서 보면 별로 신빙성이 없는 접근일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현시선호를 중요시 하는 경제학자는 시장에서 실제 관찰 가능한 소비자들의 선택행위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조건부평가에서는 단순히 설문조사를 통해 어떤 것의 가치가 높다는 대답을 듣는 것이 전부이기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대조적으로 조건부평가법에 대해 호의적인 태도를 갖는 경제학자도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헤인먼</a:t>
            </a:r>
            <a:r>
              <a:rPr lang="en-US" altLang="ko-KR" sz="1600" spc="-50" dirty="0"/>
              <a:t>(W. Hanemann, 1994)</a:t>
            </a:r>
            <a:r>
              <a:rPr lang="ko-KR" altLang="en-US" sz="1600" spc="-50" dirty="0"/>
              <a:t>은 현시선호에 대한 과도한 집착을 버려야 한다고 주장하기도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환경정책에서 나오는 편익은 공공재의 성격을 갖고 있기 때문에 현시선호에 의한 평가가 힘들다고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사람들의 선택행위를 이해하는 것이 어려울 때는 가능한 모든 방법을 활용할 필요가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점에서 설문조사 방법도 유용하다는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78241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18229-7118-059F-3FC1-00924FE99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DE85C6-CC43-4CEA-592F-B1122B48F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C78975-2A9C-F548-874D-1A9107C1A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11BEC4-8C8F-C1D4-A9A6-A77E585187ED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많은 논란에도 불구하고 현실의 환경 분쟁에서 조건부평가법을 많이 활용하고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 정부는 </a:t>
            </a:r>
            <a:r>
              <a:rPr lang="ko-KR" altLang="en-US" sz="1600" spc="-50" dirty="0" err="1"/>
              <a:t>애로우</a:t>
            </a:r>
            <a:r>
              <a:rPr lang="en-US" altLang="ko-KR" sz="1600" spc="-50" dirty="0"/>
              <a:t>(K. Arrow), </a:t>
            </a:r>
            <a:r>
              <a:rPr lang="ko-KR" altLang="en-US" sz="1600" spc="-50" dirty="0" err="1"/>
              <a:t>솔로우</a:t>
            </a:r>
            <a:r>
              <a:rPr lang="en-US" altLang="ko-KR" sz="1600" spc="-50" dirty="0"/>
              <a:t>(R.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Solow) </a:t>
            </a:r>
            <a:r>
              <a:rPr lang="ko-KR" altLang="en-US" sz="1600" spc="-50" dirty="0"/>
              <a:t>같은 저명한 경제학자에게 이 문제에 대해 권위 있는 해석을 요청하였다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이들을 포함한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명의 조건부평가위원회는 </a:t>
            </a:r>
            <a:r>
              <a:rPr lang="en-US" altLang="ko-KR" sz="1600" spc="-50" dirty="0"/>
              <a:t>1993</a:t>
            </a:r>
            <a:r>
              <a:rPr lang="ko-KR" altLang="en-US" sz="1600" spc="-50" dirty="0"/>
              <a:t>년에 조건부평가법이 여러 가지 문제점이 있음을 인정했지만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방법이 쓸모 없다는 극단적 주장에는 동의하지 않는다는 기본적인 입장을 밝혔다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제기된 문제들에 대해 적절한 보완조치를 취한다면 유용한 정보를 제공할 수 있다는 결론이었다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현실적인 관점에서 볼 때</a:t>
            </a:r>
            <a:r>
              <a:rPr lang="en-US" altLang="ko-KR" sz="1600" dirty="0"/>
              <a:t>, </a:t>
            </a:r>
            <a:r>
              <a:rPr lang="ko-KR" altLang="en-US" sz="1600" dirty="0"/>
              <a:t>아직까지 존재가치와 관련된 평가에서 조건부평가법보다 더 나은 다른 대안을 찾기 힘든 것이 사실이다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997842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A17F1-BC59-E0C7-8041-C6E5D1A15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F7E4BF-2033-C9AB-27E7-8614A30C2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관련된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E504C7-75E4-D60E-C8EF-4FCB033C1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46FF94-DB74-5A5D-9215-BC99EF9530A6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환경정책을 수행과 관련된 비용 항목은 정부의 예산이 지출되는 </a:t>
            </a:r>
            <a:r>
              <a:rPr lang="ko-KR" altLang="en-US" sz="1600" b="1" spc="-50" dirty="0"/>
              <a:t>행정비용</a:t>
            </a:r>
            <a:r>
              <a:rPr lang="ko-KR" altLang="en-US" sz="1600" spc="-50" dirty="0"/>
              <a:t>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민간부문의 기업과 개인들은 환경규제를 준수하기 위해 지출하는 </a:t>
            </a:r>
            <a:r>
              <a:rPr lang="ko-KR" altLang="en-US" sz="1600" b="1" spc="-50" dirty="0"/>
              <a:t>준수비용</a:t>
            </a:r>
            <a:r>
              <a:rPr lang="ko-KR" altLang="en-US" sz="1600" spc="-50" dirty="0"/>
              <a:t>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행정비용은 환경기준 설정을 위한 연구비용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공무원 인건비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측정비용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감시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단속 비용 등을 포함한다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준수비용은 기업이 오염물질 배출을 억제하기 위한 시설 설치비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운영비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인건비 등을 포함한다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두가지 직접 비용 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환경정책은 기업의 투자를 위축시키는 결과를 가져오기도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기업이 어느 지역에서 새로 사업을 하려고 했으나</a:t>
            </a:r>
            <a:r>
              <a:rPr lang="en-US" altLang="ko-KR" sz="1600" dirty="0"/>
              <a:t>, </a:t>
            </a:r>
            <a:r>
              <a:rPr lang="ko-KR" altLang="en-US" sz="1600" dirty="0"/>
              <a:t>환경보존 지역으로 지정됨에 따라 그 지역의 개발을 </a:t>
            </a:r>
            <a:r>
              <a:rPr lang="ko-KR" altLang="en-US" sz="1600" dirty="0" err="1"/>
              <a:t>포기해야하는</a:t>
            </a:r>
            <a:r>
              <a:rPr lang="ko-KR" altLang="en-US" sz="1600" dirty="0"/>
              <a:t> 사례가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투자 위축은 기술 혁신 활동의 위축을 가져오기도 하여</a:t>
            </a:r>
            <a:r>
              <a:rPr lang="en-US" altLang="ko-KR" sz="1600" dirty="0"/>
              <a:t>, </a:t>
            </a:r>
            <a:r>
              <a:rPr lang="ko-KR" altLang="en-US" sz="1600" dirty="0"/>
              <a:t>규제가 초래하는 사회적 비용 규모가 더 커진다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환경정책으로 개인이 지불하는 비용은 실질소득 감소</a:t>
            </a:r>
            <a:r>
              <a:rPr lang="en-US" altLang="ko-KR" sz="1600" dirty="0"/>
              <a:t>, </a:t>
            </a:r>
            <a:r>
              <a:rPr lang="ko-KR" altLang="en-US" sz="1600" dirty="0"/>
              <a:t>고용기회 축소의 형태로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환경규제는 원가 상승 압력을 가중시키고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제품 가격 상승으로 이어져</a:t>
            </a:r>
            <a:r>
              <a:rPr lang="en-US" altLang="ko-KR" sz="1600" dirty="0"/>
              <a:t>, </a:t>
            </a:r>
            <a:r>
              <a:rPr lang="ko-KR" altLang="en-US" sz="1600" dirty="0"/>
              <a:t>소비자들의 실질 소득 감소로 이어지기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동시에 제품 가격 상승은 상품 수요를 줄이고</a:t>
            </a:r>
            <a:r>
              <a:rPr lang="en-US" altLang="ko-KR" sz="1600" dirty="0"/>
              <a:t>, </a:t>
            </a:r>
            <a:r>
              <a:rPr lang="ko-KR" altLang="en-US" sz="1600" dirty="0"/>
              <a:t>산업에서 필요로 하는 일자리가 줄어드는 결과로 이어질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1818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FDA9B-D2D1-9671-70FB-C9E93101E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567049-7C94-FA36-9ADE-24196A1189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A678B-148E-C418-9F8D-A1B912767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8E65DD-9DB8-F499-6199-B4649E1DF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환경정책의 기본방향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014461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A208C-B095-C4E7-67A3-FBD344535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C354B7-04AA-9E4B-4FC8-365B5261C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방식과 직접통제방식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1D6D18-58F5-7570-3CDE-4890C2847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685B9-BB56-9F6E-49A7-EC74B312F6FB}"/>
              </a:ext>
            </a:extLst>
          </p:cNvPr>
          <p:cNvSpPr txBox="1"/>
          <p:nvPr/>
        </p:nvSpPr>
        <p:spPr>
          <a:xfrm>
            <a:off x="288790" y="958844"/>
            <a:ext cx="11250267" cy="489217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환경정책은 시장을 활용하는 방식과 직접통제 방식 두 가지로 나누어 본 바 있다</a:t>
            </a:r>
            <a:r>
              <a:rPr lang="en-US" altLang="ko-KR" sz="1600" dirty="0"/>
              <a:t>. (Ch6. Section 3) </a:t>
            </a:r>
            <a:r>
              <a:rPr lang="ko-KR" altLang="en-US" sz="1600" dirty="0"/>
              <a:t>두 가지 방식의 장단점에 대해 논의 해보자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시장을 활용하는 방식과 직접통제방식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시장을 활용하는 방식은 유연하게 운영될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환경목표를 효율적으로 달성할 수 있다는 점에서 더 낫다고 배웠다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외에도 정책 수행에 얼마나 많은 정보가 필요한지 측면에서 볼 때도 시장을 활용하는 방식이 더 낫다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직접통제방식은 많은 양의 정보를 요구하기 때문에 정책을 실행에 옮기는 과정에서 어려움을 겪을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또한 장기적인 관점에서 볼 때 효율적이고 경제적인 정화기술 개발을 촉진한다는 측면에서도 장점이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직접통제방식 하에서 기업들은 배출기준을 간신히 충족시키는 것 이상의 노력을 기울일 필요가 없으므로 적극적으로 더 좋은 기술을 개발할 유인이 부족하다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위처럼 시장을 활용하는 방식이 상대적으로 우월하지만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현실에서 정치가</a:t>
            </a:r>
            <a:r>
              <a:rPr lang="en-US" altLang="ko-KR" sz="1600" dirty="0"/>
              <a:t>, </a:t>
            </a:r>
            <a:r>
              <a:rPr lang="ko-KR" altLang="en-US" sz="1600" dirty="0"/>
              <a:t>관료</a:t>
            </a:r>
            <a:r>
              <a:rPr lang="en-US" altLang="ko-KR" sz="1600" dirty="0"/>
              <a:t>, </a:t>
            </a:r>
            <a:r>
              <a:rPr lang="ko-KR" altLang="en-US" sz="1600" dirty="0"/>
              <a:t>환경단체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기업들은 직접통제방식을 더 선호하는 경향이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여러가지 이유가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171969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DDE6C-EA2A-B3EE-5145-43930CF81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DBF53A-AC67-EBD8-A4AB-CBE14B12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방식과 직접통제방식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40A47C-4123-6E3A-6756-B8CDEE2AB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C96823-607B-EAFF-276C-670F0E4B8D6E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기업들은 직접 통제방식이 </a:t>
            </a:r>
            <a:r>
              <a:rPr lang="ko-KR" altLang="en-US" sz="1600" dirty="0" err="1"/>
              <a:t>환경세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제도에 비해 더 적은 준수비용을 요구한다는 점을 선호한다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사실 기업들의 이러한 인식은 사실과는 다른데</a:t>
            </a:r>
            <a:r>
              <a:rPr lang="en-US" altLang="ko-KR" sz="1600" dirty="0"/>
              <a:t>, </a:t>
            </a:r>
            <a:r>
              <a:rPr lang="ko-KR" altLang="en-US" sz="1600" dirty="0"/>
              <a:t>눈에 직접 보이는 </a:t>
            </a:r>
            <a:r>
              <a:rPr lang="ko-KR" altLang="en-US" sz="1600" dirty="0" err="1"/>
              <a:t>환경세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구입 비용이 필요가 없을 뿐이지</a:t>
            </a:r>
            <a:r>
              <a:rPr lang="en-US" altLang="ko-KR" sz="1600" dirty="0"/>
              <a:t>, </a:t>
            </a:r>
            <a:r>
              <a:rPr lang="ko-KR" altLang="en-US" sz="1600" dirty="0"/>
              <a:t>상당한 비용을 부담해야 한다</a:t>
            </a:r>
            <a:r>
              <a:rPr lang="en-US" altLang="ko-KR" sz="1600" dirty="0"/>
              <a:t>. </a:t>
            </a:r>
            <a:r>
              <a:rPr lang="ko-KR" altLang="en-US" sz="1600" dirty="0"/>
              <a:t>현실에서는 이와 같은 심리적 효과가 미치는 영향이 결코 작지 않다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환경단체 역시 시장을 활용하는 방식에 대해 그리 호의적이지 않다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환경보호론자들이</a:t>
            </a:r>
            <a:r>
              <a:rPr lang="ko-KR" altLang="en-US" sz="1600" dirty="0"/>
              <a:t> 이 방식에 대해 반감을 갖는 중요한 이유는 철학적</a:t>
            </a:r>
            <a:r>
              <a:rPr lang="en-US" altLang="ko-KR" sz="1600" dirty="0"/>
              <a:t>, </a:t>
            </a:r>
            <a:r>
              <a:rPr lang="ko-KR" altLang="en-US" sz="1600" dirty="0"/>
              <a:t>도덕적 측면에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오염물질 배출은 도덕적으로 비난을 받아야 마땅한 행위 임에도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환경세를 납부하거나 배출권을 구입했다는 사실이 이들에게 면죄부를 제공하는 결과를 빚는 데 대해 반감을 갖는 것이다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환경규제를 실시하는 정치가나 관료 또한 직접통제방식을 선호하는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이유 중 하나는 환경규제와 관련되어 발생하는 비용을 숨기기 쉽다는 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환경세나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채택하면 비용이 명백히 드러나는데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정치가 입장에서는 부담스러울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비용이 많이 드는 것처럼 보이면 환경규제에 대한 반대 여론이 거세질 수 있기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시장을 활용하는 방식 대비 상대적으로 확실한 효과가 신속히 나타날 수 있기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관료들은 직무 특성상 직접통제방식이 친숙하고</a:t>
            </a:r>
            <a:r>
              <a:rPr lang="en-US" altLang="ko-KR" sz="1600" dirty="0"/>
              <a:t>, </a:t>
            </a:r>
            <a:r>
              <a:rPr lang="ko-KR" altLang="en-US" sz="1600" dirty="0"/>
              <a:t>새롭고 번거로운 일</a:t>
            </a:r>
            <a:r>
              <a:rPr lang="en-US" altLang="ko-KR" sz="1600" dirty="0"/>
              <a:t>(</a:t>
            </a:r>
            <a:r>
              <a:rPr lang="ko-KR" altLang="en-US" sz="1600" dirty="0"/>
              <a:t>시장을 활용하는 방식</a:t>
            </a:r>
            <a:r>
              <a:rPr lang="en-US" altLang="ko-KR" sz="1600" dirty="0"/>
              <a:t>)</a:t>
            </a:r>
            <a:r>
              <a:rPr lang="ko-KR" altLang="en-US" sz="1600" dirty="0"/>
              <a:t>을 반길 이유는 없다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종합하면 시장을 활용하는 방식은 오직 </a:t>
            </a:r>
            <a:r>
              <a:rPr lang="ko-KR" altLang="en-US" sz="1600" dirty="0" err="1"/>
              <a:t>경제학자뿐인데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시장을 활용하려는 움직임이 점차 활발해지고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62122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C7BBC-95C9-947B-CBF1-946ED66D9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3BB949-C7E0-42E0-7450-E4CE10E96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환경세</a:t>
            </a:r>
            <a:r>
              <a:rPr lang="ko-KR" altLang="en-US" dirty="0"/>
              <a:t> 부과와 </a:t>
            </a:r>
            <a:r>
              <a:rPr lang="ko-KR" altLang="en-US" dirty="0" err="1"/>
              <a:t>배출권</a:t>
            </a:r>
            <a:r>
              <a:rPr lang="ko-KR" altLang="en-US" dirty="0"/>
              <a:t> 거래제도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813CB8-D0D8-CA9F-0C86-D3101D682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8067-0273-FC0D-032A-5D16FC2583CA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시장을 활용하는 방식 중에서도 환경세와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장단점을 살펴보자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환경세가 갖는 첫번째 장점은 재정수입을 올릴 수 있다는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환경세를 통한 추가적 재정수입을 다른 프로그램의 재원으로 사용할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조세부과는 사람들의 경제적 선택에 교란을 일으켜 효율성을 낮추는 결과를 가져온다</a:t>
            </a:r>
            <a:r>
              <a:rPr lang="en-US" altLang="ko-KR" sz="1600" dirty="0"/>
              <a:t>. </a:t>
            </a:r>
            <a:r>
              <a:rPr lang="ko-KR" altLang="en-US" sz="1600" dirty="0"/>
              <a:t>이를 조세의 초과부담 이라고 부른다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환경세를 거두어 다른 조세 징수액을 줄여주면</a:t>
            </a:r>
            <a:r>
              <a:rPr lang="en-US" altLang="ko-KR" sz="1600" dirty="0"/>
              <a:t>,</a:t>
            </a:r>
            <a:r>
              <a:rPr lang="ko-KR" altLang="en-US" sz="1600" dirty="0"/>
              <a:t> 오염물질 배출을 억제하는 효과를 내는 동시에 다른 조세의 부과로 인한 초과부담을 줄여 효율성을 높여주는 효과까지 가져온다</a:t>
            </a:r>
            <a:r>
              <a:rPr lang="en-US" altLang="ko-KR" sz="1600" dirty="0"/>
              <a:t>. </a:t>
            </a:r>
            <a:r>
              <a:rPr lang="ko-KR" altLang="en-US" sz="1600" dirty="0"/>
              <a:t>이를 이중배당금 이라고 부른다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두번째 장점은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 대비 시장이 형성되어야 하는 조건이 필요가 없다는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시장이 형성되어야 하는 조건이 필요하다면</a:t>
            </a:r>
            <a:r>
              <a:rPr lang="en-US" altLang="ko-KR" sz="1600" dirty="0"/>
              <a:t>, </a:t>
            </a:r>
            <a:r>
              <a:rPr lang="ko-KR" altLang="en-US" sz="1600" dirty="0"/>
              <a:t>시장에 참여하는 기업들의 전략적 행위에 드는 비용이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환경세는 이런 불확실한 문제에서 자유롭다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세번째 장점은 오염물질 배출자가 지불하는 비용의 변동성이 안정된 수준에 머물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거래제도하에서는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가격의 변동이 기업들에게 상당한 부담으로 작용한다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네번째 장점은 </a:t>
            </a:r>
            <a:r>
              <a:rPr lang="ko-KR" altLang="en-US" sz="1600" dirty="0" err="1"/>
              <a:t>공평성</a:t>
            </a:r>
            <a:r>
              <a:rPr lang="ko-KR" altLang="en-US" sz="1600" dirty="0"/>
              <a:t> 관점에서 볼 때 오염물질 배출자가 대가를 지불한다는 측면에서 바람직하다</a:t>
            </a:r>
            <a:r>
              <a:rPr lang="en-US" altLang="ko-KR" sz="1600" dirty="0"/>
              <a:t>. (</a:t>
            </a:r>
            <a:r>
              <a:rPr lang="ko-KR" altLang="en-US" sz="1600" dirty="0"/>
              <a:t>오염자지불원칙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거래제도하에서는</a:t>
            </a:r>
            <a:r>
              <a:rPr lang="ko-KR" altLang="en-US" sz="1600" dirty="0"/>
              <a:t> 기업들에게 배출권을 무료로 분배하는 사례가 많은데</a:t>
            </a:r>
            <a:r>
              <a:rPr lang="en-US" altLang="ko-KR" sz="1600" dirty="0"/>
              <a:t>, </a:t>
            </a:r>
            <a:r>
              <a:rPr lang="ko-KR" altLang="en-US" sz="1600" dirty="0"/>
              <a:t>공평성의 관점에서 문제가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2794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76946-E636-B70B-31A8-1531C5A47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B7A0DA-C84A-DA3D-6265-AD3CA5F27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환경세</a:t>
            </a:r>
            <a:r>
              <a:rPr lang="ko-KR" altLang="en-US" dirty="0"/>
              <a:t> 부과와 </a:t>
            </a:r>
            <a:r>
              <a:rPr lang="ko-KR" altLang="en-US" dirty="0" err="1"/>
              <a:t>배출권</a:t>
            </a:r>
            <a:r>
              <a:rPr lang="ko-KR" altLang="en-US" dirty="0"/>
              <a:t> 거래제도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FC8993-820B-DF38-790E-016830E85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7F5C6-FE14-9B88-7019-451134B423D9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반대로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장점도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첫번째 장점은 오염물질 배출량에 대한 직접적인 통제가 가능하다는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환경세의 경우 배출량이 간접적으로 통제되기 때문에 바람직한 배출수준에 도달할 때 까지 세율을 </a:t>
            </a:r>
            <a:r>
              <a:rPr lang="ko-KR" altLang="en-US" sz="1600" dirty="0" err="1"/>
              <a:t>변경해야하는</a:t>
            </a:r>
            <a:r>
              <a:rPr lang="ko-KR" altLang="en-US" sz="1600" dirty="0"/>
              <a:t> 번거로움이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두번째 장점은 경제가 성장하고 물가도 상승하는 상황에서는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거래제도가 상대적으로 유리하다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환경세의 경우 물가를 고려하여 세율을 계속 </a:t>
            </a:r>
            <a:r>
              <a:rPr lang="ko-KR" altLang="en-US" sz="1600" dirty="0" err="1"/>
              <a:t>조정해야하는</a:t>
            </a:r>
            <a:r>
              <a:rPr lang="ko-KR" altLang="en-US" sz="1600" dirty="0"/>
              <a:t> 한편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거래제도하에서는</a:t>
            </a:r>
            <a:r>
              <a:rPr lang="ko-KR" altLang="en-US" sz="1600" dirty="0"/>
              <a:t> 자동으로 조정이 이루어질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지금까지의 논의를 보면 </a:t>
            </a:r>
            <a:r>
              <a:rPr lang="ko-KR" altLang="en-US" sz="1600" dirty="0" err="1"/>
              <a:t>환경세</a:t>
            </a:r>
            <a:r>
              <a:rPr lang="ko-KR" altLang="en-US" sz="1600" dirty="0"/>
              <a:t> 부과의 장점이 좀 더 두드러진다고 말할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현실에서는 환경정책과 관련된 거의 모든 집단이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더욱 선호하는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경향은 앞서 설명한 </a:t>
            </a:r>
            <a:r>
              <a:rPr lang="en-US" altLang="ko-KR" sz="1600" dirty="0"/>
              <a:t>‘</a:t>
            </a:r>
            <a:r>
              <a:rPr lang="ko-KR" altLang="en-US" sz="1600" dirty="0"/>
              <a:t>시장을 활용하는 방식</a:t>
            </a:r>
            <a:r>
              <a:rPr lang="en-US" altLang="ko-KR" sz="1600" dirty="0"/>
              <a:t>‘ </a:t>
            </a:r>
            <a:r>
              <a:rPr lang="ko-KR" altLang="en-US" sz="1600" dirty="0"/>
              <a:t>보다</a:t>
            </a:r>
            <a:r>
              <a:rPr lang="en-US" altLang="ko-KR" sz="1600" dirty="0"/>
              <a:t> ‘</a:t>
            </a:r>
            <a:r>
              <a:rPr lang="ko-KR" altLang="en-US" sz="1600" dirty="0"/>
              <a:t>직접 통제방식</a:t>
            </a:r>
            <a:r>
              <a:rPr lang="en-US" altLang="ko-KR" sz="1600" dirty="0"/>
              <a:t>‘</a:t>
            </a:r>
            <a:r>
              <a:rPr lang="ko-KR" altLang="en-US" sz="1600" dirty="0"/>
              <a:t>을 더 선호하는 이유와 비슷하다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첫째 이유로는 </a:t>
            </a:r>
            <a:r>
              <a:rPr lang="ko-KR" altLang="en-US" sz="1600" dirty="0" err="1"/>
              <a:t>배출권거래제도하에서는</a:t>
            </a:r>
            <a:r>
              <a:rPr lang="ko-KR" altLang="en-US" sz="1600" dirty="0"/>
              <a:t> 환경규제와 관련된 비용이 명백하게 드러나지 않기 때문에 이를 더욱 선호한다는 것이다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둘째로는 또 </a:t>
            </a:r>
            <a:r>
              <a:rPr lang="ko-KR" altLang="en-US" sz="1600" dirty="0" err="1"/>
              <a:t>환경세</a:t>
            </a:r>
            <a:r>
              <a:rPr lang="ko-KR" altLang="en-US" sz="1600" dirty="0"/>
              <a:t> 부과의 효과가 간접적으로 나타나는데 반해</a:t>
            </a:r>
            <a:r>
              <a:rPr lang="en-US" altLang="ko-KR" sz="1600" dirty="0"/>
              <a:t>, </a:t>
            </a:r>
            <a:r>
              <a:rPr lang="ko-KR" altLang="en-US" sz="1600" dirty="0"/>
              <a:t>배출권의 효과는 직접적으로 나타나기 때문이다</a:t>
            </a:r>
            <a:r>
              <a:rPr lang="en-US" altLang="ko-KR" sz="1600" dirty="0"/>
              <a:t>.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발행량을</a:t>
            </a:r>
            <a:r>
              <a:rPr lang="ko-KR" altLang="en-US" sz="1600" dirty="0"/>
              <a:t> 통제하여 오염물질 배출을 일정 수준에 </a:t>
            </a:r>
            <a:r>
              <a:rPr lang="ko-KR" altLang="en-US" sz="1600" dirty="0" err="1"/>
              <a:t>묶어둘</a:t>
            </a:r>
            <a:r>
              <a:rPr lang="ko-KR" altLang="en-US" sz="1600" dirty="0"/>
              <a:t>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48205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61567-016E-E566-3FE6-120A901AF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7932EB-32D7-18A7-124F-551649B71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환경세</a:t>
            </a:r>
            <a:r>
              <a:rPr lang="ko-KR" altLang="en-US" dirty="0"/>
              <a:t> 부과와 </a:t>
            </a:r>
            <a:r>
              <a:rPr lang="ko-KR" altLang="en-US" dirty="0" err="1"/>
              <a:t>배출권</a:t>
            </a:r>
            <a:r>
              <a:rPr lang="ko-KR" altLang="en-US" dirty="0"/>
              <a:t> 거래제도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6A2066-46E4-B1BD-2FDC-124A71949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0EF65-0EA6-2237-A8E7-0362765BC146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셋째 이유로는 기업들은 보통 초기에 배출권을 무료로 분배 받기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비용이 적게 든다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마지막으로는 이미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거래를 하고 있는 기업들은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자체가 잠재적인 신규경쟁 기업들의 진입을 가로막는 장벽 역할을 해주기 때문이다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결론적으로는 환경세와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 중 어느 쪽이 더 나은지 분명히 말할 수는 없다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다만 한 연구에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두 제도를 적절히 혼합한 제도를 활용하면 더 나은 효과를 얻을 수 있다고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Section 5</a:t>
            </a:r>
            <a:r>
              <a:rPr lang="ko-KR" altLang="en-US" sz="1600" dirty="0"/>
              <a:t>에서 설명하겠지만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세계적으로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거래가 확산되고 있는 추세다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현재는 온실가스에 한해서만 </a:t>
            </a:r>
            <a:r>
              <a:rPr lang="ko-KR" altLang="en-US" sz="1600" dirty="0" err="1"/>
              <a:t>배출권시장이</a:t>
            </a:r>
            <a:r>
              <a:rPr lang="ko-KR" altLang="en-US" sz="1600" dirty="0"/>
              <a:t> 형성되어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앞으로는 다른 오염물질과 관련된 </a:t>
            </a:r>
            <a:r>
              <a:rPr lang="ko-KR" altLang="en-US" sz="1600" dirty="0" err="1"/>
              <a:t>배출권시장이</a:t>
            </a:r>
            <a:r>
              <a:rPr lang="ko-KR" altLang="en-US" sz="1600" dirty="0"/>
              <a:t> 등장할 것으로 예상한다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81892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FBA77-8654-2BFF-949E-ADB15A2B1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301CFC-E4B8-236E-DABF-45EE63BDAF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AD2E60-4AAF-ACCC-00E1-73A783EB4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E10C56-498B-7E5A-5F8A-5445515D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환경정책의 분배적 측면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7073777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438C8-5B24-23EC-C9CE-F39E162DB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112CC1-D43E-F239-23AC-214BA28ED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분배적 측면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CCA523-1F41-E665-6346-21C0E7990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02EE3F-CC40-0011-0B3E-5E61362F986F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기본적으로 환경정책은 외부성에 의한 자원배분의 비효율성을 극복하기 위한 정책이기 때문에 이에 대한 평가는 주로 효율성의 관점에서 내려져야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환경정책 또한 부수적이나마 분배효과를 갖는 것은 불가피하므로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대한 적절한 평가도 동시에 이루어져야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보통 사람이 기본적으로 의식주 문제가 해결된 이후에 환경에 대한 관심이 생겨날 수 있다는 점을 근거로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환경정책은 중</a:t>
            </a:r>
            <a:r>
              <a:rPr lang="en-US" altLang="ko-KR" sz="1600" dirty="0"/>
              <a:t>·</a:t>
            </a:r>
            <a:r>
              <a:rPr lang="ko-KR" altLang="en-US" sz="1600" dirty="0"/>
              <a:t>상류층의 이익에 도움이 되는 성격을 갖는다고 생각하는 사람들이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환경정책이 빈곤층의 이익에 반하는 성격을 갖는다고 단정 짓는 것은 성급한 결론이다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상식적인 견해를 뛰어넘어 환경정책과 관련된 혜택과 비용이 여러 소득계층 사이에서 어떻게 분배되고 있는지 조심스럽게 관찰할 필요가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0394909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1A97D-9721-51B0-6AF9-7A338BDA8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070B65-1E75-D0FA-E34B-8748C2DAF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혜택의 분배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D6DC47-40C5-8DC0-5D68-DD6EF8FEB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A23614-8F05-045A-385B-680DF607B286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대기오염이나 수질오염의 피해는 전 국민에게 돌아갈 수 밖에 없지만</a:t>
            </a:r>
            <a:r>
              <a:rPr lang="en-US" altLang="ko-KR" sz="1600" dirty="0"/>
              <a:t>, </a:t>
            </a:r>
            <a:r>
              <a:rPr lang="ko-KR" altLang="en-US" sz="1600" dirty="0"/>
              <a:t>특히 저소득층이 큰 피해를 입게 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대기나 수질과 관련한 환경보존 프로그램의 혜택은 주로 저소득층에게 돌아가게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생활에 여유가 있다면</a:t>
            </a:r>
            <a:r>
              <a:rPr lang="en-US" altLang="ko-KR" sz="1600" dirty="0"/>
              <a:t>,</a:t>
            </a:r>
            <a:r>
              <a:rPr lang="ko-KR" altLang="en-US" sz="1600" dirty="0"/>
              <a:t> 환경이 쾌적한 지역을 찾아서 살고</a:t>
            </a:r>
            <a:r>
              <a:rPr lang="en-US" altLang="ko-KR" sz="1600" dirty="0"/>
              <a:t>, </a:t>
            </a:r>
            <a:r>
              <a:rPr lang="ko-KR" altLang="en-US" sz="1600" dirty="0"/>
              <a:t>또 수돗물 대신 생수를 구매할 수 있기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저소득층은 주거를 마음대로 선택할 수 없는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국립공원 같은 휴식공간의 확보를 목표로 하는 환경정책은</a:t>
            </a:r>
            <a:r>
              <a:rPr lang="en-US" altLang="ko-KR" sz="1600" dirty="0"/>
              <a:t>, </a:t>
            </a:r>
            <a:r>
              <a:rPr lang="ko-KR" altLang="en-US" sz="1600" dirty="0"/>
              <a:t>주로 중</a:t>
            </a:r>
            <a:r>
              <a:rPr lang="en-US" altLang="ko-KR" sz="1600" dirty="0"/>
              <a:t>·</a:t>
            </a:r>
            <a:r>
              <a:rPr lang="ko-KR" altLang="en-US" sz="1600" dirty="0"/>
              <a:t>상류층이 수혜를 많이 보게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아무래도 저소득층보다는 경제적 여유가 있는 중</a:t>
            </a:r>
            <a:r>
              <a:rPr lang="en-US" altLang="ko-KR" sz="1600" dirty="0"/>
              <a:t>·</a:t>
            </a:r>
            <a:r>
              <a:rPr lang="ko-KR" altLang="en-US" sz="1600" dirty="0"/>
              <a:t>상류층이 더 자주 사용하게 되기 때문이다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수혜계층이 비교적 분명한 위의 두 사례와는 달리</a:t>
            </a:r>
            <a:r>
              <a:rPr lang="en-US" altLang="ko-KR" sz="1600" dirty="0"/>
              <a:t>, </a:t>
            </a:r>
            <a:r>
              <a:rPr lang="ko-KR" altLang="en-US" sz="1600" dirty="0"/>
              <a:t>수혜계층이 불분명한 경우도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특정 지역에 서식하고 있는 생물보호 프로그램은 어느 계층에 더 혜택이 돌아갈지 분명하지 않다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어떤 사람이 환경의 질 개선을 통해 얻는 혜택은 이를 위해 지불할 용의가 있는 금액으로도 평가할 수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이와 같은 평가에 기초하여 혜택의 분배를 평가하면 앞에서 와는 다른 결론에 도달한다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/>
              <a:t>대기오염의 직접적인 피해는 주로 저소득층에게 발생할지 몰라도</a:t>
            </a:r>
            <a:r>
              <a:rPr lang="en-US" altLang="ko-KR" sz="1600" dirty="0"/>
              <a:t>, </a:t>
            </a:r>
            <a:r>
              <a:rPr lang="ko-KR" altLang="en-US" sz="1600" dirty="0"/>
              <a:t>대기 질 개선에 대한 지불용의가 있는 금액은 고소득층이 훨씬 더 클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그렇다면 대기오염 완화를 목적으로 수행하는 프로그램의 혜택은 부유층에게 더 많이 돌아가고 있는 셈이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913070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64C97-3EA2-CED3-F904-F29C98203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537C6F-5091-8932-B54E-057CA9C77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비용의 분배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42EE6A-55B9-25C9-5A0B-2B52E49CD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E90867-062C-35AC-52DD-FEACA1458B4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환경정책과 관련된 전체 비용은 정부의 예산</a:t>
            </a:r>
            <a:r>
              <a:rPr lang="en-US" altLang="ko-KR" sz="1600" dirty="0"/>
              <a:t>, </a:t>
            </a:r>
            <a:r>
              <a:rPr lang="ko-KR" altLang="en-US" sz="1600" dirty="0"/>
              <a:t>혹은 국민의 세금에만 국한되지 않고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환경정책에 의해 영향을 받는 다양한 사람들이 부담해야 하는 비용도 환경정책 관련 비용에 포함이 되어야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이렇게 파악된 전체 비용이 현실에서는 소득계층별로 어떻게 분배되고 있는지 알아내는 것은 대단히 어렵다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우선 환경정책 수행에 필요한 예산을 충당하기 위한 조세부담이 소득계층별로 어떻게 나뉘는지를 평가 해야 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이 또한 쉬운 일이 아니다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환경정책 수행을 위한 특별회계가 따로 마련되어 있는 경우는 아주 드물고 대부분 일반회계가 재원이 되는 경우가 대부분이기 때문이다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관련 세금 부담의 귀착 양상을 파악하는 일은 비교적 어렵지 않은 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세금 부담의 귀착이란 각 소득계층이 얼만큼의 실질적 세금 부담을 지는가를 뜻한다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미국의 연구 결과를 보면 환경세의 성격을 갖는 휘발유세의 부담 귀착 양상이 상당히 </a:t>
            </a:r>
            <a:r>
              <a:rPr lang="ko-KR" altLang="en-US" sz="1600" dirty="0" err="1"/>
              <a:t>역진적인것으로</a:t>
            </a:r>
            <a:r>
              <a:rPr lang="ko-KR" altLang="en-US" sz="1600" dirty="0"/>
              <a:t> 나타난다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저소득층일수록 휘발유세에 대한 부담이 크다는 뜻이다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휘발유에 대한 수요의 소득 탄력성이 </a:t>
            </a:r>
            <a:r>
              <a:rPr lang="en-US" altLang="ko-KR" sz="1600" dirty="0"/>
              <a:t>1</a:t>
            </a:r>
            <a:r>
              <a:rPr lang="ko-KR" altLang="en-US" sz="1600" dirty="0"/>
              <a:t>보다 더 작아 저소득층일수록 휘발유에 대한 지출이 소득에서 차지하는 비중이 상대적으로 큰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가난한 사람의 경우 자동차를 소유하고 있지 않고</a:t>
            </a:r>
            <a:r>
              <a:rPr lang="en-US" altLang="ko-KR" sz="1600" dirty="0"/>
              <a:t>, </a:t>
            </a:r>
            <a:r>
              <a:rPr lang="ko-KR" altLang="en-US" sz="1600" dirty="0"/>
              <a:t>또 대중교통수단을 이용하여 휘발유세를 회피하기도 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점들은 휘발유세의 역진성을 완화시키는 요인들이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215991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CF461-E3AB-5ADD-EAD3-207DAFABE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390A33-B93E-1B1B-A4C5-102FE1969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비용의 분배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479717-E229-2CF4-ABA1-644811F2C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FCA59A-52A0-9524-F1BA-25E12C1BCCFC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5</a:t>
            </a:r>
            <a:r>
              <a:rPr lang="ko-KR" altLang="en-US" sz="1600" dirty="0"/>
              <a:t>절에서 살펴보겠지만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대응을 위해 탄소세나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도입하는 나라가 많은데</a:t>
            </a:r>
            <a:r>
              <a:rPr lang="en-US" altLang="ko-KR" sz="1600" dirty="0"/>
              <a:t>, </a:t>
            </a:r>
            <a:r>
              <a:rPr lang="ko-KR" altLang="en-US" sz="1600" dirty="0"/>
              <a:t>이와 관련한 비용 부담의 귀착도 역진적 성격을 갖는다는 점이 많이 지적되고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소득이 낮은 가정일수록 생계비 중에서 에너지에 지출하는 비용의 비중이 높기 때문에 이런 결과가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</a:t>
            </a:r>
            <a:r>
              <a:rPr lang="ko-KR" altLang="en-US" sz="1600" dirty="0" err="1"/>
              <a:t>탄소세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배출권거래제도를</a:t>
            </a:r>
            <a:r>
              <a:rPr lang="ko-KR" altLang="en-US" sz="1600" dirty="0"/>
              <a:t> 통해 얻은 수입을 어떻게 </a:t>
            </a:r>
            <a:r>
              <a:rPr lang="ko-KR" altLang="en-US" sz="1600" dirty="0" err="1"/>
              <a:t>쓰느냐에</a:t>
            </a:r>
            <a:r>
              <a:rPr lang="ko-KR" altLang="en-US" sz="1600" dirty="0"/>
              <a:t> 따라 역진성은 완화될 여지는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환경정책의 시행이 어떤 산업의 위축을 가져오고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특정 계층의 사람들에게 비용을 발생시킬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환경기준을 충족시키기 어려운 기업들은 환경규제가 엄격하지 않은 해외로 옮기거나</a:t>
            </a:r>
            <a:r>
              <a:rPr lang="en-US" altLang="ko-KR" sz="1600" dirty="0"/>
              <a:t>, </a:t>
            </a:r>
            <a:r>
              <a:rPr lang="ko-KR" altLang="en-US" sz="1600" dirty="0"/>
              <a:t>업종 전환을 시도하여 일자리가 사라질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굴뚝산업</a:t>
            </a:r>
            <a:r>
              <a:rPr lang="en-US" altLang="ko-KR" sz="1600" dirty="0"/>
              <a:t>(</a:t>
            </a:r>
            <a:r>
              <a:rPr lang="ko-KR" altLang="en-US" sz="1600" dirty="0"/>
              <a:t>제철</a:t>
            </a:r>
            <a:r>
              <a:rPr lang="en-US" altLang="ko-KR" sz="1600" dirty="0"/>
              <a:t>, </a:t>
            </a:r>
            <a:r>
              <a:rPr lang="ko-KR" altLang="en-US" sz="1600" dirty="0"/>
              <a:t>정유업</a:t>
            </a:r>
            <a:r>
              <a:rPr lang="en-US" altLang="ko-KR" sz="1600" dirty="0"/>
              <a:t>)</a:t>
            </a:r>
            <a:r>
              <a:rPr lang="ko-KR" altLang="en-US" sz="1600" dirty="0"/>
              <a:t>같은 경우 미숙련노동자가 많다는 점을 감안하면</a:t>
            </a:r>
            <a:r>
              <a:rPr lang="en-US" altLang="ko-KR" sz="1600" dirty="0"/>
              <a:t>, </a:t>
            </a:r>
            <a:r>
              <a:rPr lang="ko-KR" altLang="en-US" sz="1600" dirty="0"/>
              <a:t>이런 유형의 환경정책 비용은 저소득층이 부담하게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 환경규제는 원가 상승 압력을 가중시키고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제품 가격의 상승으로 이어지는데</a:t>
            </a:r>
            <a:r>
              <a:rPr lang="en-US" altLang="ko-KR" sz="1600" dirty="0"/>
              <a:t>, </a:t>
            </a:r>
            <a:r>
              <a:rPr lang="ko-KR" altLang="en-US" sz="1600" dirty="0"/>
              <a:t>결국 오염유발 산업에서 생산된 상품을 주로 소비하는 계층은 실질소득 감소라는 형태로 비용을 부담하게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로빈슨 </a:t>
            </a:r>
            <a:r>
              <a:rPr lang="en-US" altLang="ko-KR" sz="1600" dirty="0"/>
              <a:t>(S. Robinson, 1985)</a:t>
            </a:r>
            <a:r>
              <a:rPr lang="ko-KR" altLang="en-US" sz="1600" dirty="0"/>
              <a:t>의 연구에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환경정책에 의해 실질소득이 감소하는 비율은 고소득층으로 갈수록 더 낮다고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결국 환경정책을 수행하는 과정에서 최대한 저소득층의 부담을 경감시키려고 노력하는 것이 바람직하다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</a:t>
            </a:r>
            <a:r>
              <a:rPr lang="ko-KR" altLang="en-US" sz="1600" dirty="0" err="1"/>
              <a:t>공평성</a:t>
            </a:r>
            <a:r>
              <a:rPr lang="ko-KR" altLang="en-US" sz="1600" dirty="0"/>
              <a:t> 자체를 위해서일 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환경정책에 대한 많은 지지를 확보하기 위해서도 필요한 것이다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03964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23DD8-0D14-2472-DBD1-4DF3207D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ED1381-5802-4B7C-C10F-F2F72FE701C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F63AEF-81DC-67C5-59B8-1BD8AD90B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5D6525-1842-2279-6B45-1229A5858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경제성장과 국제무역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469036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E65A5-95F8-3D4B-83DC-13C82C90C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F5FA51-D0C8-1F90-0F5D-6D7688ECC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경제성장과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E6743F-5BE9-744B-D9E3-A221BD7C9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ED1289-2EFB-0B2F-9388-403FBCBAF2F2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03C8A-566B-C171-27DE-7651CED97A4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환경규제가 경제성장을 </a:t>
            </a:r>
            <a:r>
              <a:rPr lang="ko-KR" altLang="en-US" sz="1600" dirty="0" err="1"/>
              <a:t>둔화시킬</a:t>
            </a:r>
            <a:r>
              <a:rPr lang="ko-KR" altLang="en-US" sz="1600" dirty="0"/>
              <a:t> 수도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국내 기업들의 국제경쟁력을 약화시키는 부작용을 만든다는 주장도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실제로 그런 부작용이 발생하는지에 관해서는 명백한 결론이 나지는 않은 상태다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환경정책과 경제성장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환경규제가 경제성장을 </a:t>
            </a:r>
            <a:r>
              <a:rPr lang="ko-KR" altLang="en-US" sz="1600" spc="-50" dirty="0" err="1"/>
              <a:t>둔화시키는</a:t>
            </a:r>
            <a:r>
              <a:rPr lang="ko-KR" altLang="en-US" sz="1600" spc="-50" dirty="0"/>
              <a:t> 결과를 가져온다면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이유는 어떤 것일지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첫째로는 기업이 사용하는 투입요소의 일부를 오염물질 정화에 사용해야 하기 때문에 생산성이 떨어질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 등의 일부가 생산활동이 아닌 환경규제준수에 활용될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둘째로는 환경규제 때문에 생산공정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경영방식에 변화가 생기는데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이때 생산성이 떨어질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환경규제 때문에 기업은 자유롭게 생산방식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경영방식을 선택할 수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셋째로는 기업의 투자에 영향을 줌으로써 생산성 저하를 가져올 수도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장기적 생산능력을 고취시키는 투자활동 대신 환경규제 준수를 위한 투자활동을 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넷째로는 기업의 투자 의욕을 저하시킬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 환경규제는 기존 생산시설을 제외한 새로운 생산시설에 대해서만 엄격한 통제를 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‘</a:t>
            </a:r>
            <a:r>
              <a:rPr lang="ko-KR" altLang="en-US" sz="1600" spc="-50" dirty="0"/>
              <a:t>신규원천편의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부르는데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새롭고 혁신적인 생산시설에 투자하려는 의욕을 위축시킨다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i="1" dirty="0"/>
          </a:p>
        </p:txBody>
      </p:sp>
    </p:spTree>
    <p:extLst>
      <p:ext uri="{BB962C8B-B14F-4D97-AF65-F5344CB8AC3E}">
        <p14:creationId xmlns:p14="http://schemas.microsoft.com/office/powerpoint/2010/main" val="21585682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2CFF3-B88F-1940-9D60-6F290A2D1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68EF7A-7E1D-8F0B-C48F-9C240F7EC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경제성장과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9F63F6-705C-99ED-C207-61BBF61C0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05DB94-B599-8EF4-531B-1652A47C15D2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A93E66-B84D-4158-DA80-06AA7A6EFF42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실증분석을 통해 환경규제가 경제성장에 미치는 영향을 밝히려는 시도가 다양하게 이루어져왔다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특히 </a:t>
            </a:r>
            <a:r>
              <a:rPr lang="en-US" altLang="ko-KR" sz="1600" dirty="0"/>
              <a:t>1980</a:t>
            </a:r>
            <a:r>
              <a:rPr lang="ko-KR" altLang="en-US" sz="1600" dirty="0"/>
              <a:t>년대 미국에서 환경규제가 강화가 제조업의 생산성 정체에 영향을 미쳤다는 결과들이 많이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그런데 흥미로운 점은 환경규제가 제조업 생산성 정체에 영향을 미치기는 했지만 그 정도가 다른 요인들에 비해 그다지 크지 않았다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오히려 환경규제가 생산성을 정체 시키는 주요 원인이 아니라는 말이 되기도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반면 환경규제가 경제성장에 큰 영향이 없거나 오히려 긍정적이라는 연구결과도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실증분석 결과를 보면 환경규제가 구체적으로 어떤 방식에 의해 수행되는지가 중요하게 작용한다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들어 시장을 활용하는 방식으로 환경규제를 실시하면</a:t>
            </a:r>
            <a:r>
              <a:rPr lang="en-US" altLang="ko-KR" sz="1600" dirty="0"/>
              <a:t> </a:t>
            </a:r>
            <a:r>
              <a:rPr lang="ko-KR" altLang="en-US" sz="1600" dirty="0"/>
              <a:t>생산성에 부정적 영향을 미칠 가능성이 더 작아지는 것으로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환경규제가 단기적으로는 경제성장에 부정적인 영향이 있을 수 있어도</a:t>
            </a:r>
            <a:r>
              <a:rPr lang="en-US" altLang="ko-KR" sz="1600" dirty="0"/>
              <a:t>, </a:t>
            </a:r>
            <a:r>
              <a:rPr lang="ko-KR" altLang="en-US" sz="1600" dirty="0"/>
              <a:t>장기에서는 경제성장에 도움이 될 것이라는 연구결과도 제시된 바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705613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8EED7-D19D-7559-14A1-231E9EBF0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9C2E64-4D5D-CD1C-6296-C7F998D87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경제성장과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20764F-4CD4-8C8E-2C26-C4FEAFEED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4351BD-AE90-A304-B422-A15DCD3FC25B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E4572-0FC5-BE4E-790C-31418DB794C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포터</a:t>
            </a:r>
            <a:r>
              <a:rPr lang="en-US" altLang="ko-KR" sz="1600" dirty="0"/>
              <a:t>(M. Porter)</a:t>
            </a:r>
            <a:r>
              <a:rPr lang="ko-KR" altLang="en-US" sz="1600" dirty="0"/>
              <a:t>의 주장대로</a:t>
            </a:r>
            <a:r>
              <a:rPr lang="en-US" altLang="ko-KR" sz="1600" dirty="0"/>
              <a:t>, </a:t>
            </a:r>
            <a:r>
              <a:rPr lang="ko-KR" altLang="en-US" sz="1600" dirty="0"/>
              <a:t>적절한 방식으로 수행된 환경규제는 기업들의 국제경쟁력을 높이고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경제성장을 촉진하는 역할을 한다는 주장은 점차 힘을 얻고 있다</a:t>
            </a:r>
            <a:r>
              <a:rPr lang="en-US" altLang="ko-KR" sz="1600" dirty="0"/>
              <a:t>. </a:t>
            </a:r>
            <a:r>
              <a:rPr lang="ko-KR" altLang="en-US" sz="1600" dirty="0"/>
              <a:t>그 근거는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기업의 생산성에 나쁜 영향을 미칠 것이라는 예상은 생산기술이나 소비자의 욕구 등이 일정한 상태로 주어져 있는 정적인 </a:t>
            </a:r>
            <a:r>
              <a:rPr lang="en-US" altLang="ko-KR" sz="1600" dirty="0"/>
              <a:t>(static)</a:t>
            </a:r>
            <a:r>
              <a:rPr lang="ko-KR" altLang="en-US" sz="1600" dirty="0"/>
              <a:t>세계를 전제로 하고 있음을 지적한다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기업이 비용 최소화 방식으로 생산활동을 하는 정적인 세계에서 환경규제는 생산비용의 상승을 야기한다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그러나 기술혁신이 이루어지는 동적인 세계에서는 환경규제가 반드시 생산성 저하로 연결되지는 않는다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잘 짜인 환경규제는 기술혁신을 촉진시켜 생산성 향상에 기여할 수 있다고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기술혁신에 의한 비용절감 효과가 규제를 준수하기 위해 드는 비용을 상쇄하고도 남는 다는 것이다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들면 독일 기업은 수질오염 방지기술이 비교우위를 갖고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독일이 엄격한 수질관련 규제를 하고 있기 때문이라는 설명이다</a:t>
            </a:r>
            <a:r>
              <a:rPr lang="en-US" altLang="ko-KR" sz="1600" dirty="0"/>
              <a:t>. (</a:t>
            </a:r>
            <a:r>
              <a:rPr lang="ko-KR" altLang="en-US" sz="1600" dirty="0"/>
              <a:t>미국도 위험폐기물 관련 기술에 비교우위가 있다</a:t>
            </a:r>
            <a:r>
              <a:rPr lang="en-US" altLang="ko-KR" sz="160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환경규제는 환경관련 산업의 성장을 촉진할 수 있다고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일반적으로 기업은 환경규제에 순응하기 위해 환경 전문업체의 도움을 받는다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과정에서 일자리와 소득 창출에 기여한다고 설명한다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마지막으로 환경규제는 기업을 자극하여</a:t>
            </a:r>
            <a:r>
              <a:rPr lang="en-US" altLang="ko-KR" sz="1600" dirty="0"/>
              <a:t>, </a:t>
            </a:r>
            <a:r>
              <a:rPr lang="ko-KR" altLang="en-US" sz="1600" dirty="0"/>
              <a:t>적응능력과 효율이 좋은 기업이 살아남을 수 있게 하여 경제 전반의 생산성을 높인다는 설명이다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491893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D7AD7-7BCD-AC74-5CDA-6127B94CF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F9155D-64D8-77BA-CAC9-B24401D9B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EF33B8-0EC4-74B6-A381-3174F575D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2CEBE5-CDA3-EDB3-8A92-00658A70B663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F7B456-1001-85F1-7BED-700A3C6EBBE8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환경규제가 국제무역에는 어떤 영향을 줄지 알아보자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 견해에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환경규제는 국내 기업에게 추가적 비용 부담을 안겨주는 동시에 생산성 향상을 </a:t>
            </a:r>
            <a:r>
              <a:rPr lang="ko-KR" altLang="en-US" sz="1600" dirty="0" err="1"/>
              <a:t>둔화시킴으로써</a:t>
            </a:r>
            <a:r>
              <a:rPr lang="ko-KR" altLang="en-US" sz="1600" dirty="0"/>
              <a:t> 국제경쟁력을 약화시키는 결과를 가져온다고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기업들은 환경규제를 피해 생산시설을 해외로 옮기고</a:t>
            </a:r>
            <a:r>
              <a:rPr lang="en-US" altLang="ko-KR" sz="1600" dirty="0"/>
              <a:t>, </a:t>
            </a:r>
            <a:r>
              <a:rPr lang="ko-KR" altLang="en-US" sz="1600" dirty="0"/>
              <a:t>신규 투자도 해외에서 수행하므로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수출은 감소하고 수입은 증가하는 효과가 나타나기도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환경규제는 생산비용 절감을 가져오는 효과를 보이기도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 개선이 근로자들의 건강에 도움이 되어</a:t>
            </a:r>
            <a:r>
              <a:rPr lang="en-US" altLang="ko-KR" sz="1600" dirty="0"/>
              <a:t>, </a:t>
            </a:r>
            <a:r>
              <a:rPr lang="ko-KR" altLang="en-US" sz="1600" dirty="0"/>
              <a:t>노동 생산성이 향상될 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 개선이 원료의 품질을 개선시켜 더 좋은 상품을 생산할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환경정책과 </a:t>
            </a:r>
            <a:r>
              <a:rPr lang="ko-KR" altLang="en-US" sz="1600" dirty="0" err="1"/>
              <a:t>경제성장간의</a:t>
            </a:r>
            <a:r>
              <a:rPr lang="ko-KR" altLang="en-US" sz="1600" dirty="0"/>
              <a:t> 관계와 마찬가지로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환경정책과 </a:t>
            </a:r>
            <a:r>
              <a:rPr lang="ko-KR" altLang="en-US" sz="1600" dirty="0" err="1"/>
              <a:t>국제무역간의</a:t>
            </a:r>
            <a:r>
              <a:rPr lang="ko-KR" altLang="en-US" sz="1600" dirty="0"/>
              <a:t> 관계 역시 일률적으로 말하기는 힘들고</a:t>
            </a:r>
            <a:r>
              <a:rPr lang="en-US" altLang="ko-KR" sz="1600" dirty="0"/>
              <a:t>, </a:t>
            </a:r>
            <a:r>
              <a:rPr lang="ko-KR" altLang="en-US" sz="1600" dirty="0"/>
              <a:t>상황에 따라 달라진다는 결론을 내리고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환경규제의 강도와 형태에 따라 달라진다고 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강도가 높을수록</a:t>
            </a:r>
            <a:r>
              <a:rPr lang="en-US" altLang="ko-KR" sz="1600" dirty="0"/>
              <a:t>, </a:t>
            </a:r>
            <a:r>
              <a:rPr lang="ko-KR" altLang="en-US" sz="1600" dirty="0"/>
              <a:t>유연성이 작을수록 국제경쟁력에 나쁜 영향을 미칠 가능성이 크다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규제당국과 피규제자 간의 관계에 따라 달라진다고 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미국처럼 적대적인 관계인 경우 환경규제는 국제경쟁력에 나쁜 영향을</a:t>
            </a:r>
            <a:r>
              <a:rPr lang="en-US" altLang="ko-KR" sz="1600" dirty="0"/>
              <a:t>, </a:t>
            </a:r>
            <a:r>
              <a:rPr lang="ko-KR" altLang="en-US" sz="1600" dirty="0"/>
              <a:t>영국처럼 덜 적대적인 관계인 경우 덜 나쁜 영향을 미치는 것으로 나타난다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21814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30707-14A9-B8C8-B474-3A80A44E8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57C947-2A5A-2A6A-C25B-44C5B3BC0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8E86C1-D429-CFB2-0296-DEF4D04F4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7F5839-60A9-AFCF-200A-98DD865FF1BB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672C96-4DFE-5001-4B6B-36862BCA391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환경규제가 기업의 국제경쟁력에 미치는 영향은 실증분석을 통해 알아낼 수밖에 없는데</a:t>
            </a:r>
            <a:r>
              <a:rPr lang="en-US" altLang="ko-KR" sz="1600" dirty="0"/>
              <a:t>, </a:t>
            </a:r>
            <a:r>
              <a:rPr lang="ko-KR" altLang="en-US" sz="1600" dirty="0"/>
              <a:t>실증분석은 어떤 방식으로 진행되는지 알아보자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우선 실질임금과 환율이 일정한 수준에서 변하지 않는다고 가정한 상태에서 환경규제가 상품의 </a:t>
            </a:r>
            <a:r>
              <a:rPr lang="ko-KR" altLang="en-US" sz="1600" dirty="0" err="1"/>
              <a:t>순수출</a:t>
            </a:r>
            <a:r>
              <a:rPr lang="en-US" altLang="ko-KR" sz="1600" dirty="0"/>
              <a:t>(</a:t>
            </a:r>
            <a:r>
              <a:rPr lang="ko-KR" altLang="en-US" sz="1600" dirty="0"/>
              <a:t>수출액</a:t>
            </a:r>
            <a:r>
              <a:rPr lang="en-US" altLang="ko-KR" sz="1600" dirty="0"/>
              <a:t>-</a:t>
            </a:r>
            <a:r>
              <a:rPr lang="ko-KR" altLang="en-US" sz="1600" dirty="0"/>
              <a:t>수입액</a:t>
            </a:r>
            <a:r>
              <a:rPr lang="en-US" altLang="ko-KR" sz="1600" dirty="0"/>
              <a:t>)</a:t>
            </a:r>
            <a:r>
              <a:rPr lang="ko-KR" altLang="en-US" sz="1600" dirty="0"/>
              <a:t>에 미치는 영향을 살펴보는 방법이다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분석적인 관점에서 보면 타당하지만</a:t>
            </a:r>
            <a:r>
              <a:rPr lang="en-US" altLang="ko-KR" sz="1600" dirty="0"/>
              <a:t>,</a:t>
            </a:r>
            <a:r>
              <a:rPr lang="ko-KR" altLang="en-US" sz="1600" dirty="0"/>
              <a:t> 이러한 가상의 상황을 만들기는 힘들다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위의 접근을 우회하는 방법 중에는 환경규제가 적용되는 산업과 그렇지 않은 산업 사이의 순수출을 비교하는 방법이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환경규제로 인해 실질임금이나 환율이 변하는 것을 허용한 상태에서</a:t>
            </a:r>
            <a:r>
              <a:rPr lang="en-US" altLang="ko-KR" sz="1600" dirty="0"/>
              <a:t>, </a:t>
            </a:r>
            <a:r>
              <a:rPr lang="ko-KR" altLang="en-US" sz="1600" dirty="0"/>
              <a:t>그와 같은 비교를 한다는 점에서 위의 접근 방법과는 차이를 갖는다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하나의 대안은 오염유발 산업이 환경규제가 엄격한 나라로부터 상대적으로 느슨한 나라로 옮겨가는 양상을 관찰하는 방법이다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이동이 자주 관찰되면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환경규제가 엄격히 적용되는 산업의 국내 생산이 큰 폭으로 줄어드는 것을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환경규제가 기존의 생산시설뿐 아니라 신규 투자에 어떤 영향을 미치는지 관찰해볼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환경규제가 엄격히 적용되는 산업에서 신규투자가 해외로 빠져나가는지 여부를 살펴보는 것이다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124906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3C4C6-8252-8AEB-7718-28533BBDC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8AEB51-144F-8018-783E-6E4AD558E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4E5AA0-0478-0A92-CCEE-BCBA5AD51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26A5A-0EDA-055B-5365-BE0ADE6E5BAA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6C729A-3278-924C-E3EB-D3E321CA1468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재피</a:t>
            </a:r>
            <a:r>
              <a:rPr lang="ko-KR" altLang="en-US" sz="1600" dirty="0"/>
              <a:t> </a:t>
            </a:r>
            <a:r>
              <a:rPr lang="en-US" altLang="ko-KR" sz="1600" dirty="0"/>
              <a:t>(A. Jaffe </a:t>
            </a:r>
            <a:r>
              <a:rPr lang="en-US" altLang="ko-KR" sz="1600" i="1" dirty="0"/>
              <a:t>et al.</a:t>
            </a:r>
            <a:r>
              <a:rPr lang="en-US" altLang="ko-KR" sz="1600" dirty="0"/>
              <a:t>, 1995)</a:t>
            </a:r>
            <a:r>
              <a:rPr lang="ko-KR" altLang="en-US" sz="1600" dirty="0"/>
              <a:t>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이 문제에 관한 실증연구 결과에서 뚜렷한 결론을 찾기는 힘들다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엄격히 적용되는 산업일수록 순수출이 작아지는 추세가 발견되지는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고려 대상을 제조업으로 한정했을 때는 환경규제가 순수출을 작게 만드는 추세를 발견했다고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나라별로 환경규제의 강도가 다르다는 점을 통해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그 강도의 차이가 순수출에 어떤 영향을 미치는지를 분석해 본 사람도 있었다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접근방식에서는 환경규제가 엄격한 나라에서 순수출에 주는 영향이 더 크다는 것을 발견하지 못했다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환경규제가 오염유발 산업의 해외 이전을 부추기는 결과를 </a:t>
            </a:r>
            <a:r>
              <a:rPr lang="ko-KR" altLang="en-US" sz="1600" dirty="0" err="1"/>
              <a:t>가져왔는지의</a:t>
            </a:r>
            <a:r>
              <a:rPr lang="ko-KR" altLang="en-US" sz="1600" dirty="0"/>
              <a:t> 여부에 관한 실증연구에서는 실제로 그런 일이 어느정도 일어나고 있음을 밝혀냈다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오염유발 산업이 선진국을 떠나 환경규제가 비교적 느슨한 개발도상국으로 이전한 것과</a:t>
            </a:r>
            <a:r>
              <a:rPr lang="en-US" altLang="ko-KR" sz="1600" dirty="0"/>
              <a:t>, </a:t>
            </a:r>
            <a:r>
              <a:rPr lang="ko-KR" altLang="en-US" sz="1600" dirty="0"/>
              <a:t>개발도상국들이 이런 산업에서 생산되는 상품의 수출을 점차 늘려온 것이 사실임을 확인했던 것이다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그러나 이 현상은 순전히 환경규제 때문이 아니라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값싼 임금 등의 다른 이유가 작용했을 수 있다는 추측이 가능하다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마지막으로 환경규제가 신규투자에 미치는 영향에 관한 실증연구에서는 신규투자가 규제가 느슨한 개발도상국으로 빠져나갔다는 증거를 찾기 힘들다는 결론을 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 내에서도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환경규제의 지역간 차이가 투자 결정에 별로 큰 영향을 미치지 않은 것으로 나타났다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지금까지의 실증연구 결과를 종합해보면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환경규제가 기업의 국제경쟁력을 약화시킨다는 주장을 입증할만한 증거는 없다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743134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9F101-599B-8858-73A2-814B24C6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D98593-BD52-EB05-1B71-74722F1DFC6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EA2B9D-F558-2C08-2C90-4CD113847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F6B92E8-8E91-893F-77CF-42B96442A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국제적 차원의 환경정책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650090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20ACA-5448-953F-212F-6066BD8BD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2D9481-6CCE-8991-559E-DBD282442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국제적 차원의 환경정책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86D0EB-681D-260A-F526-F3B62BD41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5CCE87-35A2-5287-BA94-4A7BE05F9391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C80097-02F3-210C-4383-39C692501107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온실가스로 인해 기후변화가 발생하여 인류를 위협하고 있는 사실은 잘 알려져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온실가스는 여러 종류가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그 중에서도 이산화탄소</a:t>
            </a:r>
            <a:r>
              <a:rPr lang="en-US" altLang="ko-KR" sz="1600" dirty="0"/>
              <a:t>(CO</a:t>
            </a:r>
            <a:r>
              <a:rPr lang="en-US" altLang="ko-KR" sz="1600" baseline="-25000" dirty="0"/>
              <a:t>2</a:t>
            </a:r>
            <a:r>
              <a:rPr lang="en-US" altLang="ko-KR" sz="1600" dirty="0"/>
              <a:t>)</a:t>
            </a:r>
            <a:r>
              <a:rPr lang="ko-KR" altLang="en-US" sz="1600" dirty="0"/>
              <a:t>의</a:t>
            </a:r>
            <a:r>
              <a:rPr lang="en-US" altLang="ko-KR" sz="1600" dirty="0"/>
              <a:t> </a:t>
            </a:r>
            <a:r>
              <a:rPr lang="ko-KR" altLang="en-US" sz="1600" dirty="0"/>
              <a:t>비중이 압도적으로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국제적 차원의 기후변화 대책도 이산화탄소 배출량 억제에 중점을 두고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국제사회는 기후변화 문제를 해결하기 위해 다양한 방식으로 협상을 진행해왔는데</a:t>
            </a:r>
            <a:r>
              <a:rPr lang="en-US" altLang="ko-KR" sz="1600" dirty="0"/>
              <a:t>, </a:t>
            </a:r>
            <a:r>
              <a:rPr lang="ko-KR" altLang="en-US" sz="1600" dirty="0"/>
              <a:t>그 과정에서 </a:t>
            </a:r>
            <a:r>
              <a:rPr lang="ko-KR" altLang="en-US" sz="1600" b="1" dirty="0"/>
              <a:t>교토의정서</a:t>
            </a:r>
            <a:r>
              <a:rPr lang="ko-KR" altLang="en-US" sz="1600" dirty="0"/>
              <a:t>와 </a:t>
            </a:r>
            <a:r>
              <a:rPr lang="ko-KR" altLang="en-US" sz="1600" b="1" dirty="0"/>
              <a:t>파리협정</a:t>
            </a:r>
            <a:r>
              <a:rPr lang="ko-KR" altLang="en-US" sz="1600" dirty="0"/>
              <a:t> 두 가지가 중요한 의미를 갖고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교토의정서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1992</a:t>
            </a:r>
            <a:r>
              <a:rPr lang="ko-KR" altLang="en-US" sz="1600" spc="-50" dirty="0"/>
              <a:t>년 브라질 리우데자네이루에서 열린 </a:t>
            </a:r>
            <a:r>
              <a:rPr lang="ko-KR" altLang="en-US" sz="1600" spc="-50" dirty="0" err="1"/>
              <a:t>리우환경회의에서는</a:t>
            </a:r>
            <a:r>
              <a:rPr lang="ko-KR" altLang="en-US" sz="1600" spc="-50" dirty="0"/>
              <a:t> 기후변화 문제에 대한 국제 공조체제의 구축을 위해 유엔기후변화협약</a:t>
            </a:r>
            <a:r>
              <a:rPr lang="en-US" altLang="ko-KR" sz="1600" spc="-50" dirty="0"/>
              <a:t>(United Nations Framework Convention on Climate Change; UNFCCC)</a:t>
            </a:r>
            <a:r>
              <a:rPr lang="ko-KR" altLang="en-US" sz="1600" spc="-50" dirty="0"/>
              <a:t>를 채택했다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협약은 모든 당사국이 </a:t>
            </a:r>
            <a:r>
              <a:rPr lang="ko-KR" altLang="en-US" sz="1600" dirty="0" err="1"/>
              <a:t>이행해야하는</a:t>
            </a:r>
            <a:r>
              <a:rPr lang="ko-KR" altLang="en-US" sz="1600" dirty="0"/>
              <a:t> 공통의무사항과 일부 회원국들만 이행해야 하는 특정의무사항을 규정하고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공통의무사항은 온실가스 감축을 위한 국가전략 수립</a:t>
            </a:r>
            <a:r>
              <a:rPr lang="en-US" altLang="ko-KR" sz="1600" dirty="0"/>
              <a:t>·</a:t>
            </a:r>
            <a:r>
              <a:rPr lang="ko-KR" altLang="en-US" sz="1600" dirty="0"/>
              <a:t>시행하고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관련 통계자료와</a:t>
            </a:r>
            <a:r>
              <a:rPr lang="en-US" altLang="ko-KR" sz="1600" dirty="0"/>
              <a:t> </a:t>
            </a:r>
            <a:r>
              <a:rPr lang="ko-KR" altLang="en-US" sz="1600" dirty="0"/>
              <a:t>정책이행 관련 국가보고서를 </a:t>
            </a:r>
            <a:r>
              <a:rPr lang="ko-KR" altLang="en-US" sz="1600" dirty="0" err="1"/>
              <a:t>제출해야하는</a:t>
            </a:r>
            <a:r>
              <a:rPr lang="ko-KR" altLang="en-US" sz="1600" dirty="0"/>
              <a:t> 일반적 성격의 의무로 구성된다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특정의무사항은 협약 당사국들을 </a:t>
            </a:r>
            <a:r>
              <a:rPr lang="en-US" altLang="ko-KR" sz="1600" dirty="0"/>
              <a:t>3</a:t>
            </a:r>
            <a:r>
              <a:rPr lang="ko-KR" altLang="en-US" sz="1600" dirty="0"/>
              <a:t>개의 범주로 나누고</a:t>
            </a:r>
            <a:r>
              <a:rPr lang="en-US" altLang="ko-KR" sz="1600" dirty="0"/>
              <a:t>, </a:t>
            </a:r>
            <a:r>
              <a:rPr lang="ko-KR" altLang="en-US" sz="1600" dirty="0"/>
              <a:t>각 범주별로 다른 의무를 부과하고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98141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9D705-7256-203B-C0B8-7B0C8AAF1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BB9950-2681-034C-4C21-29BF77965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교토의정서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163AC0-D215-01D9-3D42-EFBF53ED1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AB510C-C0E4-E3F2-C5F3-AAE851D5AEDF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959F72-A007-591F-6175-602BD823EA0A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당사국들을 분류한 </a:t>
            </a:r>
            <a:r>
              <a:rPr lang="en-US" altLang="ko-KR" sz="1600" dirty="0"/>
              <a:t>3</a:t>
            </a:r>
            <a:r>
              <a:rPr lang="ko-KR" altLang="en-US" sz="1600" dirty="0"/>
              <a:t>개의 범주 중에 부속서</a:t>
            </a:r>
            <a:r>
              <a:rPr lang="en-US" altLang="ko-KR" sz="1600" dirty="0"/>
              <a:t>Ⅰ(</a:t>
            </a:r>
            <a:r>
              <a:rPr lang="en-US" altLang="ko-KR" sz="1600" dirty="0" err="1"/>
              <a:t>AnnexⅠ</a:t>
            </a:r>
            <a:r>
              <a:rPr lang="en-US" altLang="ko-KR" sz="1600" dirty="0"/>
              <a:t>) </a:t>
            </a:r>
            <a:r>
              <a:rPr lang="ko-KR" altLang="en-US" sz="1600" dirty="0"/>
              <a:t>국가들은 온실가스 배출량을 특정한 수준으로 감축해야 할 의무가 부과되었다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1992</a:t>
            </a:r>
            <a:r>
              <a:rPr lang="ko-KR" altLang="en-US" sz="1600" dirty="0"/>
              <a:t>년 당시 </a:t>
            </a:r>
            <a:r>
              <a:rPr lang="en-US" altLang="ko-KR" sz="1600" dirty="0"/>
              <a:t>OECD</a:t>
            </a:r>
            <a:r>
              <a:rPr lang="ko-KR" altLang="en-US" sz="1600" dirty="0"/>
              <a:t>의 회원국과 동유럽 이행기 경제권에 속해 있는 </a:t>
            </a:r>
            <a:r>
              <a:rPr lang="en-US" altLang="ko-KR" sz="1600" dirty="0"/>
              <a:t>41</a:t>
            </a:r>
            <a:r>
              <a:rPr lang="ko-KR" altLang="en-US" sz="1600" dirty="0"/>
              <a:t>개 국가</a:t>
            </a:r>
            <a:r>
              <a:rPr lang="en-US" altLang="ko-KR" sz="1600" dirty="0"/>
              <a:t>(EU</a:t>
            </a:r>
            <a:r>
              <a:rPr lang="ko-KR" altLang="en-US" sz="1600" dirty="0"/>
              <a:t>포함</a:t>
            </a:r>
            <a:r>
              <a:rPr lang="en-US" altLang="ko-KR" sz="1600" dirty="0"/>
              <a:t>)</a:t>
            </a:r>
            <a:r>
              <a:rPr lang="ko-KR" altLang="en-US" sz="1600" dirty="0"/>
              <a:t>가 이에 속해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이들에게 온실가스 감축의 선도적 역할을 맡긴다는 의미를 갖고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이 </a:t>
            </a:r>
            <a:r>
              <a:rPr lang="en-US" altLang="ko-KR" sz="1600" dirty="0"/>
              <a:t>UNFCCC </a:t>
            </a:r>
            <a:r>
              <a:rPr lang="ko-KR" altLang="en-US" sz="1600" dirty="0"/>
              <a:t>협약만으로는 국제 공조체제의 가동이 어렵다는 인식 하에</a:t>
            </a:r>
            <a:r>
              <a:rPr lang="en-US" altLang="ko-KR" sz="1600" dirty="0"/>
              <a:t>, </a:t>
            </a:r>
            <a:r>
              <a:rPr lang="ko-KR" altLang="en-US" sz="1600" dirty="0"/>
              <a:t>구체적인 실천 지침을 마련하기 위해 만들어 낸 것이 교토의정서 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1997</a:t>
            </a:r>
            <a:r>
              <a:rPr lang="ko-KR" altLang="en-US" sz="1600" dirty="0"/>
              <a:t>년 합의하고</a:t>
            </a:r>
            <a:r>
              <a:rPr lang="en-US" altLang="ko-KR" sz="1600" dirty="0"/>
              <a:t>, 2005</a:t>
            </a:r>
            <a:r>
              <a:rPr lang="ko-KR" altLang="en-US" sz="1600" dirty="0"/>
              <a:t>년에 발효한 교토의정서는 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국가들에 대해 이 의정서의 효력이 끝나는 </a:t>
            </a:r>
            <a:r>
              <a:rPr lang="en-US" altLang="ko-KR" sz="1600" dirty="0"/>
              <a:t>2012</a:t>
            </a:r>
            <a:r>
              <a:rPr lang="ko-KR" altLang="en-US" sz="1600" dirty="0"/>
              <a:t>년까지 온실가스 배출량을 </a:t>
            </a:r>
            <a:r>
              <a:rPr lang="en-US" altLang="ko-KR" sz="1600" dirty="0"/>
              <a:t>1990</a:t>
            </a:r>
            <a:r>
              <a:rPr lang="ko-KR" altLang="en-US" sz="1600" dirty="0"/>
              <a:t>년의 배출량에서 </a:t>
            </a:r>
            <a:r>
              <a:rPr lang="en-US" altLang="ko-KR" sz="1600" dirty="0"/>
              <a:t>5.2% (</a:t>
            </a:r>
            <a:r>
              <a:rPr lang="ko-KR" altLang="en-US" sz="1600" dirty="0"/>
              <a:t>국가별 평균 감축수준</a:t>
            </a:r>
            <a:r>
              <a:rPr lang="en-US" altLang="ko-KR" sz="1600" dirty="0"/>
              <a:t>)</a:t>
            </a:r>
            <a:r>
              <a:rPr lang="ko-KR" altLang="en-US" sz="1600" dirty="0"/>
              <a:t>줄어든 수준으로 감축할 의무를 부과했다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그때까지 온실가스 배출량을 현재 수준에서 거의 </a:t>
            </a:r>
            <a:r>
              <a:rPr lang="en-US" altLang="ko-KR" sz="1600" dirty="0"/>
              <a:t>20%</a:t>
            </a:r>
            <a:r>
              <a:rPr lang="ko-KR" altLang="en-US" sz="1600" dirty="0"/>
              <a:t>에 가까운 폭으로 줄여야 한다는 뜻으로</a:t>
            </a:r>
            <a:r>
              <a:rPr lang="en-US" altLang="ko-KR" sz="1600" dirty="0"/>
              <a:t>, </a:t>
            </a:r>
            <a:r>
              <a:rPr lang="ko-KR" altLang="en-US" sz="1600" dirty="0"/>
              <a:t>매우 무거운 감축의무에 해당했다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이런 부담스러운 감축의무에 미국 부시 </a:t>
            </a:r>
            <a:r>
              <a:rPr lang="en-US" altLang="ko-KR" sz="1600" dirty="0"/>
              <a:t>(G. Bush) </a:t>
            </a:r>
            <a:r>
              <a:rPr lang="ko-KR" altLang="en-US" sz="1600" dirty="0"/>
              <a:t>행정부는 교토의정서 비준을 거부하여 세계를 놀라게 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 이유는 의무 이행 과정에서 자국의 경제적 타격과</a:t>
            </a:r>
            <a:r>
              <a:rPr lang="en-US" altLang="ko-KR" sz="1600" dirty="0"/>
              <a:t>, </a:t>
            </a:r>
            <a:r>
              <a:rPr lang="ko-KR" altLang="en-US" sz="1600" dirty="0"/>
              <a:t>일자리 손실이었다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1990</a:t>
            </a:r>
            <a:r>
              <a:rPr lang="ko-KR" altLang="en-US" sz="1600" dirty="0"/>
              <a:t>년 기준 전 세계 총 배출량의 </a:t>
            </a:r>
            <a:r>
              <a:rPr lang="en-US" altLang="ko-KR" sz="1600" dirty="0"/>
              <a:t>23.7%</a:t>
            </a:r>
            <a:r>
              <a:rPr lang="ko-KR" altLang="en-US" sz="1600" dirty="0"/>
              <a:t>를 차지하고 있는 미국의 불참은 교토의정서의 효과를 심각하게 제약하는 요인으로 작용하였다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119785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A72B0-A5A6-ADC7-BD14-729650376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D02FA7-B4A6-03F7-2B9D-558ADB1B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교토의정서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7EC0D-4A26-02D2-754F-32C7F4D97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9918D6-23BF-8EF9-FDED-D8D45EF29D93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CFDBAF-217B-5AE1-4390-26E41BCC87C5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교토의정서에 참여했던 여러 나라들은 </a:t>
            </a:r>
            <a:r>
              <a:rPr lang="en-US" altLang="ko-KR" sz="1600" dirty="0"/>
              <a:t>2012</a:t>
            </a:r>
            <a:r>
              <a:rPr lang="ko-KR" altLang="en-US" sz="1600" dirty="0"/>
              <a:t>년 카타르의 도하에서 개최된 회의에서 교토의정서의 효력을 </a:t>
            </a:r>
            <a:r>
              <a:rPr lang="en-US" altLang="ko-KR" sz="1600" dirty="0"/>
              <a:t>2020</a:t>
            </a:r>
            <a:r>
              <a:rPr lang="ko-KR" altLang="en-US" sz="1600" dirty="0"/>
              <a:t>년까지 연장해 기후변화체제를 지속해 나가기로 합의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선진국과 개발도상국이 모두 참여하는 새로운 감축체제 협상을 시작하기로 함으로써 기존의 기후변화체제보다 적극적인 조처들을 기대할 수 있게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 등 온실가스 배출량이 많은 국가들이 교토의정서 효력 연장에 참여하지 않음으로써 온실가스 감축을 실질적으로 얼마나 줄일 수 있을지 큰 기대를 걸기 힘들었다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우리나라는 </a:t>
            </a:r>
            <a:r>
              <a:rPr lang="en-US" altLang="ko-KR" sz="1600" dirty="0"/>
              <a:t>UNFCCC</a:t>
            </a:r>
            <a:r>
              <a:rPr lang="ko-KR" altLang="en-US" sz="1600" dirty="0"/>
              <a:t> 출범 당시 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국가에 포함되지 않아 감축의무 대상은 아니었다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그러나 우리나라는 </a:t>
            </a:r>
            <a:r>
              <a:rPr lang="ko-KR" altLang="en-US" sz="1600" dirty="0" err="1"/>
              <a:t>에너지다소비</a:t>
            </a:r>
            <a:r>
              <a:rPr lang="ko-KR" altLang="en-US" sz="1600" dirty="0"/>
              <a:t> 산업구조를 갖고 있기 때문에 이산화탄소 배출량이 세계 </a:t>
            </a:r>
            <a:r>
              <a:rPr lang="en-US" altLang="ko-KR" sz="1600" dirty="0"/>
              <a:t>10</a:t>
            </a:r>
            <a:r>
              <a:rPr lang="ko-KR" altLang="en-US" sz="1600" dirty="0"/>
              <a:t>위 안에 들어갈 정도이다</a:t>
            </a:r>
            <a:r>
              <a:rPr lang="en-US" altLang="ko-KR" sz="1600" dirty="0"/>
              <a:t>. 1</a:t>
            </a:r>
            <a:r>
              <a:rPr lang="ko-KR" altLang="en-US" sz="1600" dirty="0"/>
              <a:t>인당 배출량으로 따지면 경제규모에 비해 특히 배출량이 많은 국가 중 하나이다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상황에 걸맞은 책임을 요구하는 국제사회의 여론에 부응하기 위해 </a:t>
            </a:r>
            <a:r>
              <a:rPr lang="en-US" altLang="ko-KR" sz="1600" dirty="0"/>
              <a:t>2020</a:t>
            </a:r>
            <a:r>
              <a:rPr lang="ko-KR" altLang="en-US" sz="1600" dirty="0"/>
              <a:t>년까지의 전망치보다 </a:t>
            </a:r>
            <a:r>
              <a:rPr lang="en-US" altLang="ko-KR" sz="1600" dirty="0"/>
              <a:t>30%</a:t>
            </a:r>
            <a:r>
              <a:rPr lang="ko-KR" altLang="en-US" sz="1600" dirty="0"/>
              <a:t>정도 낮은 수준으로 온실가스 감축을 하겠다고 결정한 바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697652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CC9F2-4C81-911F-514F-7B1785BA6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8EEB64-76D5-5B07-5196-D7C9D69F2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교토의정서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896B31-9983-8301-803E-711A98338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3451FE-BAE8-22D3-5667-020988215961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D3DBDC-4000-5479-67F8-573815408A69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앞선 설명과 같이 </a:t>
            </a:r>
            <a:r>
              <a:rPr lang="ko-KR" altLang="en-US" sz="1600" dirty="0" err="1"/>
              <a:t>교토의정서하에서</a:t>
            </a:r>
            <a:r>
              <a:rPr lang="ko-KR" altLang="en-US" sz="1600" dirty="0"/>
              <a:t> 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국가들은 온실가스 감축의무를 갖게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의무에 따라 각 나라는 </a:t>
            </a:r>
            <a:r>
              <a:rPr lang="en-US" altLang="ko-KR" sz="1600" dirty="0"/>
              <a:t>2008</a:t>
            </a:r>
            <a:r>
              <a:rPr lang="ko-KR" altLang="en-US" sz="1600" dirty="0"/>
              <a:t>년</a:t>
            </a:r>
            <a:r>
              <a:rPr lang="en-US" altLang="ko-KR" sz="1600" dirty="0"/>
              <a:t>~2012</a:t>
            </a:r>
            <a:r>
              <a:rPr lang="ko-KR" altLang="en-US" sz="1600" dirty="0"/>
              <a:t>년까지의 기간 동안 배출할 수 있는 온실가스의 양을 배정받았다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이렇게 각 나라에 배정된 배출량을 </a:t>
            </a:r>
            <a:r>
              <a:rPr lang="en-US" altLang="ko-KR" sz="1600" dirty="0"/>
              <a:t>AAU (assigned amount unit)</a:t>
            </a:r>
            <a:r>
              <a:rPr lang="ko-KR" altLang="en-US" sz="1600" dirty="0"/>
              <a:t>으로 나타내는데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한 단위는 이산화탄소 </a:t>
            </a:r>
            <a:r>
              <a:rPr lang="en-US" altLang="ko-KR" sz="1600" dirty="0"/>
              <a:t>1</a:t>
            </a:r>
            <a:r>
              <a:rPr lang="ko-KR" altLang="en-US" sz="1600" dirty="0"/>
              <a:t>톤에 해당하는 온실가스를 배출할 권리를 뜻한다</a:t>
            </a:r>
            <a:r>
              <a:rPr lang="en-US" altLang="ko-KR" sz="1600" dirty="0"/>
              <a:t>. </a:t>
            </a:r>
            <a:r>
              <a:rPr lang="ko-KR" altLang="en-US" sz="1600" dirty="0"/>
              <a:t>만약 어떤 나라가 자신에게 배정된 배출량을 초과하여 배출하려면 다른 나라로부터 그 초과량에 해당하는 </a:t>
            </a:r>
            <a:r>
              <a:rPr lang="en-US" altLang="ko-KR" sz="1600" dirty="0"/>
              <a:t>AAU</a:t>
            </a:r>
            <a:r>
              <a:rPr lang="ko-KR" altLang="en-US" sz="1600" dirty="0"/>
              <a:t>를 사와야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다시 말하면</a:t>
            </a:r>
            <a:r>
              <a:rPr lang="en-US" altLang="ko-KR" sz="1600" dirty="0"/>
              <a:t>, </a:t>
            </a:r>
            <a:r>
              <a:rPr lang="ko-KR" altLang="en-US" sz="1600" dirty="0"/>
              <a:t>앞서 배운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개념인데</a:t>
            </a:r>
            <a:r>
              <a:rPr lang="en-US" altLang="ko-KR" sz="1600" dirty="0"/>
              <a:t>, </a:t>
            </a:r>
            <a:r>
              <a:rPr lang="ko-KR" altLang="en-US" sz="1600" dirty="0"/>
              <a:t>실제 배출량이 배정된 배출량보다 많으면</a:t>
            </a:r>
            <a:r>
              <a:rPr lang="en-US" altLang="ko-KR" sz="1600" dirty="0"/>
              <a:t>, </a:t>
            </a:r>
            <a:r>
              <a:rPr lang="ko-KR" altLang="en-US" sz="1600" dirty="0"/>
              <a:t>다른 나라로부터 배출권을 사온다는 의미다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실제로 배출권을 사고파는 주체는 국가가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대부분 기업이다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각 나라는 자국에 배정된 배출량을 토대로 자국 기업들의 배출량 상한선을 결정한다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국가들의 기업들은 이 상한선 안에서만 온실가스 배출이 허용된다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 출범 이래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거래에 가장 앞장을 </a:t>
            </a:r>
            <a:r>
              <a:rPr lang="ko-KR" altLang="en-US" sz="1600" dirty="0" err="1"/>
              <a:t>서온</a:t>
            </a:r>
            <a:r>
              <a:rPr lang="ko-KR" altLang="en-US" sz="1600" dirty="0"/>
              <a:t> 나라들은 유럽연합</a:t>
            </a:r>
            <a:r>
              <a:rPr lang="en-US" altLang="ko-KR" sz="1600" dirty="0"/>
              <a:t>(EU) </a:t>
            </a:r>
            <a:r>
              <a:rPr lang="ko-KR" altLang="en-US" sz="1600" dirty="0"/>
              <a:t>회원국들이다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2005</a:t>
            </a:r>
            <a:r>
              <a:rPr lang="ko-KR" altLang="en-US" sz="1600" dirty="0"/>
              <a:t>년 유럽연합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도입하여 이산화탄소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거래를 본격적으로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배출권</a:t>
            </a:r>
            <a:r>
              <a:rPr lang="ko-KR" altLang="en-US" sz="1600" dirty="0"/>
              <a:t> 거래제 도입 직후 배출권의 공급과잉으로 인해 잠시 어려움을 겪기도 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제도가 안정적으로 </a:t>
            </a:r>
            <a:r>
              <a:rPr lang="ko-KR" altLang="en-US" sz="1600" dirty="0" err="1"/>
              <a:t>정착되어감에</a:t>
            </a:r>
            <a:r>
              <a:rPr lang="ko-KR" altLang="en-US" sz="1600" dirty="0"/>
              <a:t> 따라 온실가스 감축에 대한 기여가 커지고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 등도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거래제를 운영하고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우리나라도 </a:t>
            </a:r>
            <a:r>
              <a:rPr lang="en-US" altLang="ko-KR" sz="1600" dirty="0"/>
              <a:t>2015</a:t>
            </a:r>
            <a:r>
              <a:rPr lang="ko-KR" altLang="en-US" sz="1600" dirty="0"/>
              <a:t>년부터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거래를 운영하고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41607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E72C8-231C-8808-68B6-08BB41DC3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E0084E-7469-4897-E4E2-2848BC3A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파리협정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18ED3F-BD03-9EB6-69BE-761C1651E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45062A-E3D1-3319-A217-D2587F82531A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9F98A5-B24A-8495-C8E3-787F785CC653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교토의정서는 </a:t>
            </a:r>
            <a:r>
              <a:rPr lang="en-US" altLang="ko-KR" sz="1600" dirty="0"/>
              <a:t>2005</a:t>
            </a:r>
            <a:r>
              <a:rPr lang="ko-KR" altLang="en-US" sz="1600" dirty="0"/>
              <a:t>년부터 기후변화대응을 위해 국제적 규범의 역할을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감축에 크게 기여했다는 평가를 받지만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여러 측면에서 한계를 드러냈다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온실가스를 가장 많이 배출하는 미국이 교토의정서 채택 당시부터 참여하지 않았고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이후 교토의정서 연장할 때에도 많은 국가들이 동참하지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</a:t>
            </a:r>
            <a:r>
              <a:rPr lang="en-US" altLang="ko-KR" sz="1600" dirty="0"/>
              <a:t>, </a:t>
            </a:r>
            <a:r>
              <a:rPr lang="ko-KR" altLang="en-US" sz="1600" dirty="0"/>
              <a:t>중국과 인도는 온실가스를 많이 배출하고 있음에도 불구하고 개발도상국이라는 이유로 감축의무에서 자유로웠다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결과 온실가스 감축의무가 있는 국가들의 온실가스 배출량은 전 세계 배출량의 </a:t>
            </a:r>
            <a:r>
              <a:rPr lang="en-US" altLang="ko-KR" sz="1600" dirty="0"/>
              <a:t>22%</a:t>
            </a:r>
            <a:r>
              <a:rPr lang="ko-KR" altLang="en-US" sz="1600" dirty="0"/>
              <a:t>에 불과하였다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위와 같은 상황에서 기후변화 대응을 제대로 하기 위해서는 새로운 체제가 필요하다는 인식이 대두되었다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결과</a:t>
            </a:r>
            <a:r>
              <a:rPr lang="en-US" altLang="ko-KR" sz="1600" dirty="0"/>
              <a:t>, 2015</a:t>
            </a:r>
            <a:r>
              <a:rPr lang="ko-KR" altLang="en-US" sz="1600" dirty="0"/>
              <a:t>년 </a:t>
            </a:r>
            <a:r>
              <a:rPr lang="en-US" altLang="ko-KR" sz="1600" dirty="0"/>
              <a:t>12</a:t>
            </a:r>
            <a:r>
              <a:rPr lang="ko-KR" altLang="en-US" sz="1600" dirty="0"/>
              <a:t>월에 파리협정</a:t>
            </a:r>
            <a:r>
              <a:rPr lang="en-US" altLang="ko-KR" sz="1600" dirty="0"/>
              <a:t>(Paris Agreement)</a:t>
            </a:r>
            <a:r>
              <a:rPr lang="ko-KR" altLang="en-US" sz="1600" dirty="0"/>
              <a:t>이 체결되었다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파리협정은 기존의 교토의정서와는 다른 성격을 갖고 있기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파리협정이 발효된 이후의 새로운 체제를 </a:t>
            </a:r>
            <a:r>
              <a:rPr lang="en-US" altLang="ko-KR" sz="1600" dirty="0"/>
              <a:t>‘</a:t>
            </a:r>
            <a:r>
              <a:rPr lang="ko-KR" altLang="en-US" sz="1600" dirty="0"/>
              <a:t>신기후체제</a:t>
            </a:r>
            <a:r>
              <a:rPr lang="en-US" altLang="ko-KR" sz="1600" dirty="0"/>
              <a:t>’ </a:t>
            </a:r>
            <a:r>
              <a:rPr lang="ko-KR" altLang="en-US" sz="1600" dirty="0"/>
              <a:t>라고 부르기도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551584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D6723-3039-6D14-7B8C-D29D74311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822CE0-1F92-8AF6-CE9D-701669CD1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파리협정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52C874-FAC5-DB17-196F-F7A01031A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821FB-5353-2B47-83DF-650E56873D9D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53CFD3-F17A-0EAB-3103-B329425FB52F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파리협정 이후</a:t>
            </a:r>
            <a:r>
              <a:rPr lang="en-US" altLang="ko-KR" sz="1600" dirty="0"/>
              <a:t>, </a:t>
            </a:r>
            <a:r>
              <a:rPr lang="ko-KR" altLang="en-US" sz="1600" dirty="0"/>
              <a:t>신 기후체제는 다음과 같은 점에서 기존의 체제와 차이를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파리협정에서는 </a:t>
            </a:r>
            <a:r>
              <a:rPr lang="en-US" altLang="ko-KR" sz="1600" dirty="0"/>
              <a:t>21</a:t>
            </a:r>
            <a:r>
              <a:rPr lang="ko-KR" altLang="en-US" sz="1600" dirty="0"/>
              <a:t>세기 말까지 산업화 이전 대비 지구 평균온도의 상승폭을 </a:t>
            </a:r>
            <a:r>
              <a:rPr lang="en-US" altLang="ko-KR" sz="1600" dirty="0"/>
              <a:t>2℃</a:t>
            </a:r>
            <a:r>
              <a:rPr lang="ko-KR" altLang="en-US" sz="1600" dirty="0"/>
              <a:t>선으로 제한하고</a:t>
            </a:r>
            <a:r>
              <a:rPr lang="en-US" altLang="ko-KR" sz="1600" dirty="0"/>
              <a:t>, </a:t>
            </a:r>
            <a:r>
              <a:rPr lang="ko-KR" altLang="en-US" sz="1600" dirty="0"/>
              <a:t>나아가 </a:t>
            </a:r>
            <a:r>
              <a:rPr lang="en-US" altLang="ko-KR" sz="1600" dirty="0"/>
              <a:t>1.5℃</a:t>
            </a:r>
            <a:r>
              <a:rPr lang="ko-KR" altLang="en-US" sz="1600" dirty="0"/>
              <a:t>선까지 낮추기 위해 노력한다는 점을 분명히 </a:t>
            </a:r>
            <a:r>
              <a:rPr lang="ko-KR" altLang="en-US" sz="1600" dirty="0" err="1"/>
              <a:t>해두었다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지구 평균온도의 상승을 제한해야 한다는 목표는 이전부터 있었지만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구체적으로 어느 정도까지 낮추어야 하는가에 대해서는 합의된 바가 없었다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파리협정은 많은 나라들의 참여를 유도하고 기후변화에 신속하게 대응하기 위해</a:t>
            </a:r>
            <a:r>
              <a:rPr lang="en-US" altLang="ko-KR" sz="1600" dirty="0"/>
              <a:t>, </a:t>
            </a:r>
            <a:r>
              <a:rPr lang="ko-KR" altLang="en-US" sz="1600" dirty="0"/>
              <a:t>각 나라가 자신의 상황에 맞는 온실가스 감축목표를 스스로 설정하는 것을 허용했다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교토의정서에서는 일부 국가들에게 일정 수준 이상의 감축의무를 부과한 것과 달리</a:t>
            </a:r>
            <a:r>
              <a:rPr lang="en-US" altLang="ko-KR" sz="1600" dirty="0"/>
              <a:t>, </a:t>
            </a:r>
            <a:r>
              <a:rPr lang="ko-KR" altLang="en-US" sz="1600" dirty="0"/>
              <a:t>파리협정에서는 </a:t>
            </a:r>
            <a:r>
              <a:rPr lang="en-US" altLang="ko-KR" sz="1600" dirty="0"/>
              <a:t>6</a:t>
            </a:r>
            <a:r>
              <a:rPr lang="ko-KR" altLang="en-US" sz="1600" dirty="0"/>
              <a:t>개 주요분야에 걸쳐 국가들이 스스로 목표를 설정하게 하였다</a:t>
            </a:r>
            <a:r>
              <a:rPr lang="en-US" altLang="ko-KR" sz="1600" dirty="0"/>
              <a:t>. </a:t>
            </a:r>
            <a:r>
              <a:rPr lang="ko-KR" altLang="en-US" sz="1600" dirty="0"/>
              <a:t>이를 </a:t>
            </a:r>
            <a:r>
              <a:rPr lang="en-US" altLang="ko-KR" sz="1600" dirty="0"/>
              <a:t>‘</a:t>
            </a:r>
            <a:r>
              <a:rPr lang="ko-KR" altLang="en-US" sz="1600" dirty="0"/>
              <a:t>국가결정기여</a:t>
            </a:r>
            <a:r>
              <a:rPr lang="en-US" altLang="ko-KR" sz="1600" dirty="0"/>
              <a:t>’ (National Determined Contribution; NDC)</a:t>
            </a:r>
            <a:r>
              <a:rPr lang="ko-KR" altLang="en-US" sz="1600" dirty="0"/>
              <a:t>라고 부른다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파리협정에 참여 국가들은 </a:t>
            </a:r>
            <a:r>
              <a:rPr lang="en-US" altLang="ko-KR" sz="1600" dirty="0"/>
              <a:t>NDC</a:t>
            </a:r>
            <a:r>
              <a:rPr lang="ko-KR" altLang="en-US" sz="1600" dirty="0"/>
              <a:t>를 설정하고 제출할 의무를 부과했지만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그것의 구체적 내용에 대해서는 특별한 구속력을 부여하지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이처럼 모든 나라들에게 자율적으로 국가결정기여를 제출하도록 함으로써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기후변화대응에 참여하는 나라가 늘어나는 성과를 거두었다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2026</a:t>
            </a:r>
            <a:r>
              <a:rPr lang="ko-KR" altLang="en-US" sz="1600" dirty="0"/>
              <a:t>년 현재 </a:t>
            </a:r>
            <a:r>
              <a:rPr lang="en-US" altLang="ko-KR" sz="1600" dirty="0"/>
              <a:t>197</a:t>
            </a:r>
            <a:r>
              <a:rPr lang="ko-KR" altLang="en-US" sz="1600" dirty="0"/>
              <a:t>개국이 국가결정기여를 제출하였다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42908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C2F88-8748-CC28-7467-2312C301D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35EF83-EE71-0A26-0DBB-4A8816F0F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파리협정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F11329-98D3-CD94-A32D-790829368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418802-182E-5236-6D36-15D7B16F146D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344692-0F9B-CD82-3FDA-1012B600746B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교토의정서의 한계를 극복하고 기후변화에 지속적으로 대응하려고 하는 노력의 산물로 탄생한 파리협정은 미국과 중국을 포함한 여러 나라들의 비준을 거쳐 순조로운 출발을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협정 체결 후 </a:t>
            </a:r>
            <a:r>
              <a:rPr lang="en-US" altLang="ko-KR" sz="1600" dirty="0"/>
              <a:t>1</a:t>
            </a:r>
            <a:r>
              <a:rPr lang="ko-KR" altLang="en-US" sz="1600" dirty="0"/>
              <a:t>년도 안된 시점인 </a:t>
            </a:r>
            <a:r>
              <a:rPr lang="en-US" altLang="ko-KR" sz="1600" dirty="0"/>
              <a:t>2016</a:t>
            </a:r>
            <a:r>
              <a:rPr lang="ko-KR" altLang="en-US" sz="1600" dirty="0"/>
              <a:t>년 </a:t>
            </a:r>
            <a:r>
              <a:rPr lang="en-US" altLang="ko-KR" sz="1600" dirty="0"/>
              <a:t>11</a:t>
            </a:r>
            <a:r>
              <a:rPr lang="ko-KR" altLang="en-US" sz="1600" dirty="0"/>
              <a:t>월에 기후관련 협정으로서는 최초로 포괄적인 구속력이 적용되는 </a:t>
            </a:r>
            <a:r>
              <a:rPr lang="ko-KR" altLang="en-US" sz="1600" dirty="0" err="1"/>
              <a:t>국제법으로서의</a:t>
            </a:r>
            <a:r>
              <a:rPr lang="ko-KR" altLang="en-US" sz="1600" dirty="0"/>
              <a:t> 효력이 발휘되기 시작했다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 사회는 신 기후체제 확립을 위한 기초를 마련했다는 점에서 파리협정의 출범을 크게 환영했다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파리협정을 통한 신 기후체제가 성공적으로 정착할 수 있을지에 대한 우려의 목소리도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각 국가가 스스로 설정한 온실가스 감축목표를 제대로 이행하도록 강제할 수 있는 수단을 마련해 놓지 못한 상황이다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기후변화로 인해 피를 입은 국가들이 있다는 사실을 인정하는 선에서만 그치고</a:t>
            </a:r>
            <a:r>
              <a:rPr lang="en-US" altLang="ko-KR" sz="1600" dirty="0"/>
              <a:t>, </a:t>
            </a:r>
            <a:r>
              <a:rPr lang="ko-KR" altLang="en-US" sz="1600" dirty="0"/>
              <a:t>피해 국가들에 대한 보상이 구체적으로 어떻게 이루어져야 할 것인지에 대해서는 아무런 방침이 없는 상태이다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2019</a:t>
            </a:r>
            <a:r>
              <a:rPr lang="ko-KR" altLang="en-US" sz="1600" dirty="0"/>
              <a:t>년 미국의 트럼프 행정부</a:t>
            </a:r>
            <a:r>
              <a:rPr lang="en-US" altLang="ko-KR" sz="1600" dirty="0"/>
              <a:t>(1</a:t>
            </a:r>
            <a:r>
              <a:rPr lang="ko-KR" altLang="en-US" sz="1600" dirty="0"/>
              <a:t>기</a:t>
            </a:r>
            <a:r>
              <a:rPr lang="en-US" altLang="ko-KR" sz="1600" dirty="0"/>
              <a:t>)</a:t>
            </a:r>
            <a:r>
              <a:rPr lang="ko-KR" altLang="en-US" sz="1600" dirty="0"/>
              <a:t>는 경제부담을 이유로 파리협정에서 탈퇴하고</a:t>
            </a:r>
            <a:r>
              <a:rPr lang="en-US" altLang="ko-KR" sz="1600" dirty="0"/>
              <a:t>, </a:t>
            </a:r>
            <a:r>
              <a:rPr lang="ko-KR" altLang="en-US" sz="1600" dirty="0"/>
              <a:t>바이든 행정부</a:t>
            </a:r>
            <a:r>
              <a:rPr lang="en-US" altLang="ko-KR" sz="1600" dirty="0"/>
              <a:t>(2021~2025)</a:t>
            </a:r>
            <a:r>
              <a:rPr lang="ko-KR" altLang="en-US" sz="1600" dirty="0"/>
              <a:t>는 재가입을 하였다가</a:t>
            </a:r>
            <a:r>
              <a:rPr lang="en-US" altLang="ko-KR" sz="1600" dirty="0"/>
              <a:t>, 2025</a:t>
            </a:r>
            <a:r>
              <a:rPr lang="ko-KR" altLang="en-US" sz="1600" dirty="0"/>
              <a:t>년 트럼프 행정부</a:t>
            </a:r>
            <a:r>
              <a:rPr lang="en-US" altLang="ko-KR" sz="1600" dirty="0"/>
              <a:t>(2</a:t>
            </a:r>
            <a:r>
              <a:rPr lang="ko-KR" altLang="en-US" sz="1600" dirty="0"/>
              <a:t>기</a:t>
            </a:r>
            <a:r>
              <a:rPr lang="en-US" altLang="ko-KR" sz="1600" dirty="0"/>
              <a:t>)</a:t>
            </a:r>
            <a:r>
              <a:rPr lang="ko-KR" altLang="en-US" sz="1600" dirty="0"/>
              <a:t>에서 또 다시 탈퇴를 선언하였다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같은 미국의 조치는 기후변화 대응을 위한 국제사회의 노력에 찬물을 끼얹는 행위로</a:t>
            </a:r>
            <a:r>
              <a:rPr lang="en-US" altLang="ko-KR" sz="1600" dirty="0"/>
              <a:t>, </a:t>
            </a:r>
            <a:r>
              <a:rPr lang="ko-KR" altLang="en-US" sz="1600" dirty="0"/>
              <a:t>국제적 협조가 결코 쉽지 않음을 잘 보여주는 사례이다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33734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13390</TotalTime>
  <Words>5113</Words>
  <Application>Microsoft Office PowerPoint</Application>
  <PresentationFormat>와이드스크린</PresentationFormat>
  <Paragraphs>394</Paragraphs>
  <Slides>40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8" baseType="lpstr">
      <vt:lpstr>HY헤드라인M</vt:lpstr>
      <vt:lpstr>KoPub돋움체 Light</vt:lpstr>
      <vt:lpstr>나눔고딕</vt:lpstr>
      <vt:lpstr>맑은 고딕</vt:lpstr>
      <vt:lpstr>Arial</vt:lpstr>
      <vt:lpstr>Cambria Math</vt:lpstr>
      <vt:lpstr>Wingdings</vt:lpstr>
      <vt:lpstr>Office 테마</vt:lpstr>
      <vt:lpstr>재 정 학</vt:lpstr>
      <vt:lpstr>Chapter 7  환경정책</vt:lpstr>
      <vt:lpstr>Section 1. 환경정책의 편익과 비용</vt:lpstr>
      <vt:lpstr>환경정책의 편익과 비용</vt:lpstr>
      <vt:lpstr>편익측정의 여러방법</vt:lpstr>
      <vt:lpstr>편익측정의 여러 방법</vt:lpstr>
      <vt:lpstr>환경정책의 편익과 비용</vt:lpstr>
      <vt:lpstr>환경정책의 편익과 비용</vt:lpstr>
      <vt:lpstr>조건부평가법을 둘러싼 논쟁</vt:lpstr>
      <vt:lpstr>조건부평가법을 둘러싼 논쟁</vt:lpstr>
      <vt:lpstr>조건부평가법을 둘러싼 논쟁</vt:lpstr>
      <vt:lpstr>조건부평가법을 둘러싼 논쟁</vt:lpstr>
      <vt:lpstr>환경정책과 관련된 비용</vt:lpstr>
      <vt:lpstr>Section 2. 환경정책의 기본방향</vt:lpstr>
      <vt:lpstr>시장을 활용하는 방식과 직접통제방식</vt:lpstr>
      <vt:lpstr>시장을 활용하는 방식과 직접통제방식</vt:lpstr>
      <vt:lpstr>환경세 부과와 배출권 거래제도</vt:lpstr>
      <vt:lpstr>환경세 부과와 배출권 거래제도</vt:lpstr>
      <vt:lpstr>환경세 부과와 배출권 거래제도</vt:lpstr>
      <vt:lpstr>Section 3. 환경정책의 분배적 측면</vt:lpstr>
      <vt:lpstr>환경정책의 분배적 측면</vt:lpstr>
      <vt:lpstr>혜택의 분배</vt:lpstr>
      <vt:lpstr>비용의 분배</vt:lpstr>
      <vt:lpstr>비용의 분배</vt:lpstr>
      <vt:lpstr>Section 4. 경제성장과 국제무역</vt:lpstr>
      <vt:lpstr>경제성장과 국제무역</vt:lpstr>
      <vt:lpstr>경제성장과 국제무역</vt:lpstr>
      <vt:lpstr>경제성장과 국제무역</vt:lpstr>
      <vt:lpstr>환경정책과 국제무역</vt:lpstr>
      <vt:lpstr>환경정책과 국제무역</vt:lpstr>
      <vt:lpstr>환경정책과 국제무역</vt:lpstr>
      <vt:lpstr>Section 5. 국제적 차원의 환경정책</vt:lpstr>
      <vt:lpstr>국제적 차원의 환경정책</vt:lpstr>
      <vt:lpstr>교토의정서</vt:lpstr>
      <vt:lpstr>교토의정서</vt:lpstr>
      <vt:lpstr>교토의정서</vt:lpstr>
      <vt:lpstr>파리협정</vt:lpstr>
      <vt:lpstr>파리협정</vt:lpstr>
      <vt:lpstr>파리협정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441</cp:revision>
  <dcterms:created xsi:type="dcterms:W3CDTF">2025-07-05T05:15:23Z</dcterms:created>
  <dcterms:modified xsi:type="dcterms:W3CDTF">2026-05-08T04:15:16Z</dcterms:modified>
</cp:coreProperties>
</file>