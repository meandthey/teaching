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"/>
  </p:notesMasterIdLst>
  <p:sldIdLst>
    <p:sldId id="733" r:id="rId2"/>
    <p:sldId id="734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72BE"/>
    <a:srgbClr val="E15F5F"/>
    <a:srgbClr val="F8F7FC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A6D79-DA12-AD01-644B-B2CF67C7D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C53A6-FF5E-185B-2001-0B7F5D11B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앳킨슨</a:t>
            </a:r>
            <a:r>
              <a:rPr lang="ko-KR" altLang="en-US" dirty="0"/>
              <a:t> 지수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1177FA-D460-B652-89C8-677C69C77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2E5C67-F822-E779-DA23-CD2BD99926D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454784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앳킨슨</a:t>
                </a:r>
                <a:r>
                  <a:rPr lang="en-US" altLang="ko-KR" sz="1600" spc="-50" dirty="0"/>
                  <a:t>(A. Atkinson, 1970)</a:t>
                </a:r>
                <a:r>
                  <a:rPr lang="ko-KR" altLang="en-US" sz="1600" spc="-50" dirty="0"/>
                  <a:t>은 기존의 불평등지수는 특정한 가치판단 혹은 사회후생함수를 내포하고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사회후생함수의 성격에 문제가 있는 경우가 대부분이라고 지적한다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점을 고려하여 사회후생함수가 명확히 드러날 수 있는 성격을 가진 새로운 </a:t>
                </a:r>
                <a:r>
                  <a:rPr lang="ko-KR" altLang="en-US" sz="1600" spc="-50" dirty="0" err="1"/>
                  <a:t>불평등도지수를</a:t>
                </a:r>
                <a:r>
                  <a:rPr lang="ko-KR" altLang="en-US" sz="1600" spc="-50" dirty="0"/>
                  <a:t> 개발했다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그는 우선 </a:t>
                </a:r>
                <a:r>
                  <a:rPr lang="ko-KR" altLang="en-US" sz="1600" spc="-50" dirty="0" err="1"/>
                  <a:t>균등분배대등소득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(equally distributed equivalent income)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다음과 같이 정의하고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b="1" spc="-50" dirty="0" err="1"/>
                  <a:t>균등분배대등소득</a:t>
                </a:r>
                <a:r>
                  <a:rPr lang="en-US" altLang="ko-KR" sz="1600" b="1" spc="-50" dirty="0"/>
                  <a:t>:</a:t>
                </a:r>
                <a:r>
                  <a:rPr lang="en-US" altLang="ko-KR" sz="1600" spc="-50" dirty="0"/>
                  <a:t> 1</a:t>
                </a:r>
                <a:r>
                  <a:rPr lang="ko-KR" altLang="en-US" sz="1600" spc="-50" dirty="0"/>
                  <a:t>인당 평균소득이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로 주어진 사회에서 소득이 어떤 특정한 상태로 사람들 사이에 분배된 결과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i="1" spc="-5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</m:oMath>
                </a14:m>
                <a:r>
                  <a:rPr lang="ko-KR" altLang="en-US" sz="1600" spc="-50" dirty="0"/>
                  <a:t>의 사회후생수준이 달성되었다고 하자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그런데 모든 사람에게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씩의 소득을 균등하게 분배해 줄 때 그 경우와 똑같이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i="1" spc="-5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</m:oMath>
                </a14:m>
                <a:r>
                  <a:rPr lang="ko-KR" altLang="en-US" sz="1600" spc="-50" dirty="0"/>
                  <a:t>의 사회후생수준이 달성될 수 있다면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우리는 바로 이 소득수준을 </a:t>
                </a:r>
                <a:r>
                  <a:rPr lang="ko-KR" altLang="en-US" sz="1600" spc="-50" dirty="0" err="1"/>
                  <a:t>균등분배대등소득</a:t>
                </a:r>
                <a:r>
                  <a:rPr lang="ko-KR" altLang="en-US" sz="1600" spc="-50" dirty="0"/>
                  <a:t> 이라고 정의한다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예를 들면 우리나라의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인당 평균소득이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만달러 인데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소득이 현재 상태로 분배되어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i="1" spc="-5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</m:oMath>
                </a14:m>
                <a:r>
                  <a:rPr lang="ko-KR" altLang="en-US" sz="1600" spc="-50" dirty="0"/>
                  <a:t>의 사회후생수준을 달성했다고 하자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 때 만약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인당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만 </a:t>
                </a:r>
                <a:r>
                  <a:rPr lang="en-US" altLang="ko-KR" sz="1600" spc="-50" dirty="0"/>
                  <a:t>5</a:t>
                </a:r>
                <a:r>
                  <a:rPr lang="ko-KR" altLang="en-US" sz="1600" spc="-50" dirty="0"/>
                  <a:t>천달러씩 균등하게 분배함으로써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i="1" spc="-5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acc>
                  </m:oMath>
                </a14:m>
                <a:r>
                  <a:rPr lang="ko-KR" altLang="en-US" sz="1600" spc="-50" dirty="0"/>
                  <a:t>의 사회후생을 달성할 수 있다면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바로 이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만 </a:t>
                </a:r>
                <a:r>
                  <a:rPr lang="en-US" altLang="ko-KR" sz="1600" spc="-50" dirty="0"/>
                  <a:t>5</a:t>
                </a:r>
                <a:r>
                  <a:rPr lang="ko-KR" altLang="en-US" sz="1600" spc="-50" dirty="0"/>
                  <a:t>천 달러가 </a:t>
                </a:r>
                <a:r>
                  <a:rPr lang="ko-KR" altLang="en-US" sz="1600" spc="-50" dirty="0" err="1"/>
                  <a:t>균등분배대등소득이</a:t>
                </a:r>
                <a:r>
                  <a:rPr lang="ko-KR" altLang="en-US" sz="1600" spc="-50" dirty="0"/>
                  <a:t> 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 err="1"/>
                  <a:t>균등분배대등소득은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인당 평균소득보다 더 작은 값을 갖는데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이는 불균등한 분배가 사회후생을 떨어뜨리기 때문이다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2E5C67-F822-E779-DA23-CD2BD9992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4547848"/>
              </a:xfrm>
              <a:prstGeom prst="rect">
                <a:avLst/>
              </a:prstGeom>
              <a:blipFill>
                <a:blip r:embed="rId2"/>
                <a:stretch>
                  <a:fillRect b="-8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0969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59759-B7AA-01F8-4E91-95B7F183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D6A1B8-BCBB-9E4E-2B81-5C3FD87C6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앳킨슨</a:t>
            </a:r>
            <a:r>
              <a:rPr lang="ko-KR" altLang="en-US" dirty="0"/>
              <a:t> 지수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82AAF2-1245-774B-93DD-7D6E504B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35292A-862D-590E-A579-61ED220DBBD8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250267" cy="562654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앳킨슨은 이 균등분배소득에 기초해 다음과 같이 불평등도를 평가할 수 있는 </a:t>
                </a:r>
                <a:r>
                  <a:rPr lang="ko-KR" altLang="en-US" sz="1600" spc="-50" dirty="0" err="1"/>
                  <a:t>앳킨슨</a:t>
                </a:r>
                <a:r>
                  <a:rPr lang="ko-KR" altLang="en-US" sz="1600" spc="-50" dirty="0"/>
                  <a:t> 지수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산출할 수 있다고 말한다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만약 소득분배가 완전히 균등하면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성립할 것이고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</a:t>
                </a:r>
                <a:r>
                  <a:rPr lang="ko-KR" altLang="en-US" sz="1600" spc="-50" dirty="0" err="1"/>
                  <a:t>앳킨슨지수는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의 값을 갖는다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 반대의 극단이어서 거의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원에 가까운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인당 소득이라도 균등하게 분배되기만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지금의 사회후생을 달성할 수 있을 때 </a:t>
                </a:r>
                <a:r>
                  <a:rPr lang="ko-KR" altLang="en-US" sz="1600" spc="-50" dirty="0" err="1"/>
                  <a:t>앳킨슨지수는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에 가까운 값을 갖게 된다</a:t>
                </a:r>
                <a:r>
                  <a:rPr lang="en-US" altLang="ko-KR" sz="1600" spc="-50" dirty="0"/>
                  <a:t>. 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앳킨슨지수는</a:t>
                </a:r>
                <a:r>
                  <a:rPr lang="ko-KR" altLang="en-US" sz="1600" spc="-50" dirty="0"/>
                  <a:t> 아래의 식을 통해 도출이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92075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ko-KR" altLang="en-US" sz="1600" spc="-50" dirty="0"/>
                  <a:t>번째 소득계층에 속하는 사람들의 소득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이 소득계층에 속하는 사람들이 전체 인구에서 차지하는 비율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식에서 </a:t>
                </a:r>
                <a:r>
                  <a:rPr lang="ko-KR" altLang="en-US" sz="1600" spc="-50" dirty="0" err="1"/>
                  <a:t>분배매개변수</a:t>
                </a:r>
                <a:r>
                  <a:rPr lang="en-US" altLang="ko-KR" sz="1600" spc="-50" dirty="0"/>
                  <a:t>(distributive parameter) 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ko-KR" altLang="en-US" sz="1600" spc="-50" dirty="0"/>
                  <a:t>이 중요한 역할을 수행한다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같은 분배상태여도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ko-KR" altLang="en-US" sz="1600" spc="-50" dirty="0"/>
                  <a:t>값이 달라지면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 err="1"/>
                  <a:t>앳킨슨지수가</a:t>
                </a:r>
                <a:r>
                  <a:rPr lang="ko-KR" altLang="en-US" sz="1600" spc="-50" dirty="0"/>
                  <a:t> 값이 다르기 때문이다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에부터 무한대까지 값을 가질 수 있으며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값이 커질수록 저소득층의 소득에 부여하는 가중치 값이 커진다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즉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평등을 선호하는 사람일수록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더 높은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값을 마음에 두고 있게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35292A-862D-590E-A579-61ED220DB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250267" cy="5626540"/>
              </a:xfrm>
              <a:prstGeom prst="rect">
                <a:avLst/>
              </a:prstGeom>
              <a:blipFill>
                <a:blip r:embed="rId2"/>
                <a:stretch>
                  <a:fillRect r="-650" b="-4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95C47-E49C-BA73-8925-8C53544D0DB0}"/>
                  </a:ext>
                </a:extLst>
              </p:cNvPr>
              <p:cNvSpPr txBox="1"/>
              <p:nvPr/>
            </p:nvSpPr>
            <p:spPr>
              <a:xfrm>
                <a:off x="2207353" y="1449016"/>
                <a:ext cx="1706110" cy="648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spc="-5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altLang="ko-KR" i="1" spc="-5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bar>
                            <m:barPr>
                              <m:pos m:val="top"/>
                              <m:ctrlPr>
                                <a:rPr lang="en-US" altLang="ko-KR" i="1" spc="-5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i="1" spc="-5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bar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A95C47-E49C-BA73-8925-8C53544D0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353" y="1449016"/>
                <a:ext cx="1706110" cy="6482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5798CA-981D-3A56-EBBE-537522F4FF4C}"/>
                  </a:ext>
                </a:extLst>
              </p:cNvPr>
              <p:cNvSpPr txBox="1"/>
              <p:nvPr/>
            </p:nvSpPr>
            <p:spPr>
              <a:xfrm>
                <a:off x="2207353" y="3609666"/>
                <a:ext cx="3320992" cy="10261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b="0" i="1" spc="-50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en-US" altLang="ko-KR" b="0" i="1" spc="-5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pc="-5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ko-KR" i="1" spc="-5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ko-KR" i="1" spc="-5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i="1" spc="-5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ko-KR" i="1" spc="-5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 spc="-5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f>
                                        <m:fPr>
                                          <m:ctrlPr>
                                            <a:rPr lang="en-US" altLang="ko-KR" i="1" spc="-5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ko-KR" i="1" spc="-5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ko-KR" i="1" spc="-50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i="1" spc="-5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bar>
                                            <m:barPr>
                                              <m:pos m:val="top"/>
                                              <m:ctrlPr>
                                                <a:rPr lang="en-US" altLang="ko-KR" i="1" spc="-5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barPr>
                                            <m:e>
                                              <m:r>
                                                <a:rPr lang="en-US" altLang="ko-KR" i="1" spc="-50">
                                                  <a:latin typeface="Cambria Math" panose="02040503050406030204" pitchFamily="18" charset="0"/>
                                                </a:rPr>
                                                <m:t>𝑌</m:t>
                                              </m:r>
                                            </m:e>
                                          </m:bar>
                                        </m:den>
                                      </m:f>
                                    </m:e>
                                    <m:sup>
                                      <m:r>
                                        <a:rPr lang="en-US" altLang="ko-KR" i="1" spc="-5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ko-KR" altLang="en-US" i="1" spc="-50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sup>
                                  </m:sSup>
                                </m:e>
                              </m:nary>
                              <m:sSub>
                                <m:sSubPr>
                                  <m:ctrlPr>
                                    <a:rPr lang="en-US" altLang="ko-KR" i="1" spc="-5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 spc="-5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i="1" spc="-5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ko-KR" b="0" i="1" spc="-5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pc="-5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b="0" i="1" spc="-5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b="0" i="1" spc="-50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55798CA-981D-3A56-EBBE-537522F4F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353" y="3609666"/>
                <a:ext cx="3320992" cy="10261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61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12950</TotalTime>
  <Words>336</Words>
  <Application>Microsoft Office PowerPoint</Application>
  <PresentationFormat>와이드스크린</PresentationFormat>
  <Paragraphs>26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HY헤드라인M</vt:lpstr>
      <vt:lpstr>맑은 고딕</vt:lpstr>
      <vt:lpstr>Arial</vt:lpstr>
      <vt:lpstr>Cambria Math</vt:lpstr>
      <vt:lpstr>Wingdings</vt:lpstr>
      <vt:lpstr>Office 테마</vt:lpstr>
      <vt:lpstr>앳킨슨 지수</vt:lpstr>
      <vt:lpstr>앳킨슨 지수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464</cp:revision>
  <dcterms:created xsi:type="dcterms:W3CDTF">2025-07-05T05:15:23Z</dcterms:created>
  <dcterms:modified xsi:type="dcterms:W3CDTF">2026-05-18T00:26:42Z</dcterms:modified>
</cp:coreProperties>
</file>