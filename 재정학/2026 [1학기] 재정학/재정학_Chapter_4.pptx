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2"/>
  </p:notesMasterIdLst>
  <p:sldIdLst>
    <p:sldId id="375" r:id="rId2"/>
    <p:sldId id="405" r:id="rId3"/>
    <p:sldId id="550" r:id="rId4"/>
    <p:sldId id="552" r:id="rId5"/>
    <p:sldId id="599" r:id="rId6"/>
    <p:sldId id="600" r:id="rId7"/>
    <p:sldId id="595" r:id="rId8"/>
    <p:sldId id="596" r:id="rId9"/>
    <p:sldId id="597" r:id="rId10"/>
    <p:sldId id="598" r:id="rId11"/>
    <p:sldId id="376" r:id="rId12"/>
    <p:sldId id="570" r:id="rId13"/>
    <p:sldId id="571" r:id="rId14"/>
    <p:sldId id="572" r:id="rId15"/>
    <p:sldId id="573" r:id="rId16"/>
    <p:sldId id="574" r:id="rId17"/>
    <p:sldId id="575" r:id="rId18"/>
    <p:sldId id="576" r:id="rId19"/>
    <p:sldId id="551" r:id="rId20"/>
    <p:sldId id="577" r:id="rId21"/>
    <p:sldId id="578" r:id="rId22"/>
    <p:sldId id="579" r:id="rId23"/>
    <p:sldId id="557" r:id="rId24"/>
    <p:sldId id="580" r:id="rId25"/>
    <p:sldId id="581" r:id="rId26"/>
    <p:sldId id="582" r:id="rId27"/>
    <p:sldId id="583" r:id="rId28"/>
    <p:sldId id="584" r:id="rId29"/>
    <p:sldId id="585" r:id="rId30"/>
    <p:sldId id="586" r:id="rId31"/>
    <p:sldId id="562" r:id="rId32"/>
    <p:sldId id="587" r:id="rId33"/>
    <p:sldId id="588" r:id="rId34"/>
    <p:sldId id="589" r:id="rId35"/>
    <p:sldId id="590" r:id="rId36"/>
    <p:sldId id="591" r:id="rId37"/>
    <p:sldId id="592" r:id="rId38"/>
    <p:sldId id="593" r:id="rId39"/>
    <p:sldId id="594" r:id="rId40"/>
    <p:sldId id="364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96" y="6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59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4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공공재의 문제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공공재의 의미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공공재의 의미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 </a:t>
            </a:r>
            <a:r>
              <a:rPr lang="en-US" altLang="ko-KR" sz="1600" spc="-50" dirty="0"/>
              <a:t>(public goods)</a:t>
            </a:r>
            <a:r>
              <a:rPr lang="ko-KR" altLang="en-US" sz="1600" spc="-50" dirty="0"/>
              <a:t>는 보통 생각하는 재화나 서비스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사적재화 혹은 </a:t>
            </a:r>
            <a:r>
              <a:rPr lang="en-US" altLang="ko-KR" sz="1600" spc="-50" dirty="0"/>
              <a:t>private goods)</a:t>
            </a:r>
            <a:r>
              <a:rPr lang="ko-KR" altLang="en-US" sz="1600" spc="-50" dirty="0"/>
              <a:t>와 달리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여러 사람이 공동으로 그 소비에 참여한다는 특징을 갖는다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옷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펜 등의 것은 개인적인 차원에서 소비가 이루어지지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공동으로 소비하지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공원 등의 것은 여러 사람의 공동 소비를 위해 만들어졌다는 점에서 앞서 말한 것과 큰 차이가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 책에서는 공공재를 다음과 같이 정의하고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 집단의 어떤 사람을 위해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어떤 사람에 의해 생산되는 즉시 그 집단의 모든 구성원이 함께 소비할 수 있는 재화나 서비스를 공공재라고 부른다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생산하여 공급하는 재화나 서비스 중 공공재의 성격을 갖는 것들이 많이 있는 것이 사실이다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하지만 공공재라는 것이 정부 혹은 공공기관에 의해 생산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공급되는 재화나 서비스를 뜻하는 것으로 잘못 알고 있는 경우가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정부는 의료서비스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주택서비스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수돗물 등과 같이 사적재화의 성격을 갖는 것들을 공급하는 경우도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반대로 민간단체가 공원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박물관 등 공공재의 성격을 갖는 것들을 공급하는 경우도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즉 공공재는 그 자체의 성격에 의해 규정되며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공급 주체가 </a:t>
            </a:r>
            <a:r>
              <a:rPr lang="ko-KR" altLang="en-US" sz="1600" spc="-50" dirty="0" err="1"/>
              <a:t>누구냐에</a:t>
            </a:r>
            <a:r>
              <a:rPr lang="ko-KR" altLang="en-US" sz="1600" spc="-50" dirty="0"/>
              <a:t> 따라 규정되는 것이 아니다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8475F-B926-38D0-0D3E-462108032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공공재의 의미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AAFAF0-B341-8AB7-D11A-8BB6911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75C5D-E72D-0490-F175-D1A6720F9830}"/>
              </a:ext>
            </a:extLst>
          </p:cNvPr>
          <p:cNvSpPr txBox="1"/>
          <p:nvPr/>
        </p:nvSpPr>
        <p:spPr>
          <a:xfrm>
            <a:off x="288790" y="958844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공공재 뿐 아니라 사적재화의 성격을 갖는 것도 공급하는 이유는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그것이 </a:t>
            </a:r>
            <a:r>
              <a:rPr lang="ko-KR" altLang="en-US" sz="1600" spc="-50" dirty="0" err="1"/>
              <a:t>가치재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(merit goods)</a:t>
            </a:r>
            <a:r>
              <a:rPr lang="ko-KR" altLang="en-US" sz="1600" spc="-50" dirty="0"/>
              <a:t>의 성격을 갖기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가치재는 개인의 선택에 맡길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일정수준 이상의 바람직한 상태까지 소비가 되지 않는 재화나 서비스를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정부는 모든 국민에게 최소한 일정 수준 이상의 혜택이 보장되어야 하는 재화에 대해서는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직접 공급하기로 결정하게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대표적인 예로는 의무교육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무료급식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예방접종 등이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공공재에 대한 가치평가는 사람마다 다르므로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사람이 같은 양의 공공재를 소비한다고 해서 같은 편익을 얻는 것은 아니다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 토지에 대해 공원 조성을 원하는 사람이 있을 것이고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반대로 도로 건설을 원하는 사람이 있을 수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09780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85C48-76D8-4572-0B1F-F54797594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6CE04E-FE76-764A-E96C-9EA16AE79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공공재의 기본성격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835386-5E8A-24AD-EAEB-95044030E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C5EBD-30CC-62A0-808E-AC74F2ABF097}"/>
              </a:ext>
            </a:extLst>
          </p:cNvPr>
          <p:cNvSpPr txBox="1"/>
          <p:nvPr/>
        </p:nvSpPr>
        <p:spPr>
          <a:xfrm>
            <a:off x="288790" y="958844"/>
            <a:ext cx="116936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공공재는 다음과 같은 두 가지 기본성격을 갖기 때문에 사적재화와 명백하게 구분될 수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어떤 재화나 서비스가 아래의 두 가지 성격을 갖고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공공재라고 이해해도 무방하다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비경합성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어떤 사람이 이것을 소비한다고 해서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다른 사람의 소비 가능성이 줄어들지 않는다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10</a:t>
            </a:r>
            <a:r>
              <a:rPr lang="ko-KR" altLang="en-US" sz="1600" spc="-50" dirty="0"/>
              <a:t>개의 사탕이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내가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개를 먹으면 다른 사람이 먹을 수 있는 사탕은 그만큼 줄어들게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사탕은 경합성이 있는 재화이다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국방서비스는 내가 그 혜택을 누린다고 해서 다른 개인이 누릴 수 있는 안보 수준이 감소하지 않는다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국방서비스는 경합성이 없는 서비스이다</a:t>
            </a:r>
            <a:r>
              <a:rPr lang="en-US" altLang="ko-KR" sz="1600" spc="-50" dirty="0"/>
              <a:t>.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6011DA2E-5E07-ADFF-8275-D89FE562BEF7}"/>
              </a:ext>
            </a:extLst>
          </p:cNvPr>
          <p:cNvCxnSpPr/>
          <p:nvPr/>
        </p:nvCxnSpPr>
        <p:spPr>
          <a:xfrm>
            <a:off x="10387924" y="5667913"/>
            <a:ext cx="21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69ABDB20-55A3-3509-82CC-EA030E73A6B8}"/>
              </a:ext>
            </a:extLst>
          </p:cNvPr>
          <p:cNvCxnSpPr>
            <a:cxnSpLocks/>
          </p:cNvCxnSpPr>
          <p:nvPr/>
        </p:nvCxnSpPr>
        <p:spPr>
          <a:xfrm rot="16200000">
            <a:off x="9316180" y="4596169"/>
            <a:ext cx="21600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24F10AB-08E0-382A-FE61-48FF5E720F66}"/>
              </a:ext>
            </a:extLst>
          </p:cNvPr>
          <p:cNvCxnSpPr>
            <a:cxnSpLocks/>
          </p:cNvCxnSpPr>
          <p:nvPr/>
        </p:nvCxnSpPr>
        <p:spPr>
          <a:xfrm rot="16200000">
            <a:off x="11017057" y="3831108"/>
            <a:ext cx="0" cy="1224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41D9318B-1F99-E39E-1E6F-E3D1DB59BD40}"/>
              </a:ext>
            </a:extLst>
          </p:cNvPr>
          <p:cNvCxnSpPr>
            <a:cxnSpLocks/>
          </p:cNvCxnSpPr>
          <p:nvPr/>
        </p:nvCxnSpPr>
        <p:spPr>
          <a:xfrm>
            <a:off x="11619491" y="4434701"/>
            <a:ext cx="0" cy="1224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1962589D-F6EF-BFE8-59C9-50509C1A8685}"/>
              </a:ext>
            </a:extLst>
          </p:cNvPr>
          <p:cNvCxnSpPr>
            <a:cxnSpLocks/>
          </p:cNvCxnSpPr>
          <p:nvPr/>
        </p:nvCxnSpPr>
        <p:spPr>
          <a:xfrm>
            <a:off x="10396180" y="4443107"/>
            <a:ext cx="1213746" cy="1224806"/>
          </a:xfrm>
          <a:prstGeom prst="line">
            <a:avLst/>
          </a:prstGeom>
          <a:ln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F2DBEC5D-FF98-7E32-9249-38C506B73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897" y="3642360"/>
            <a:ext cx="2738220" cy="273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67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6B78-4AE9-D95D-8B4C-5008A3D44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FF820A-FC3D-2E75-D8F0-A416453AF0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1E20EC-46C2-1D74-84A1-E73EF374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C22F06C-7DB9-D880-90E9-4FE9B7D92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공공재의 최적수준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456189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F2E4-B34C-D052-660C-AD345A09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488433-46E5-A692-F572-5EBF2E42B2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4EC3C0-C9C3-C5A6-5485-2716859D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07A75DC-2631-BA75-A7C0-A85087AB0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 err="1"/>
              <a:t>린달의</a:t>
            </a:r>
            <a:r>
              <a:rPr lang="ko-KR" altLang="en-US" sz="4000" b="1" i="0" spc="150" dirty="0"/>
              <a:t> 자발적 교환 모형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843797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D5750-0F81-1CDD-AA50-3526AE44A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3EEEE3-7E4A-12C0-24D1-A4B48751D0F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AB74A-9E5E-C26B-5D66-3159D49E9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A33A8E5E-851A-66E1-3C61-8C2C9DD6B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무임승차자의 문제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351301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518F1-9645-A89F-CD45-A5B130DD8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8541DC-CFC2-EBF7-4672-51532A0C48D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584AFE-4C54-8894-6AE5-8CF66134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2B90735-2026-6F47-A63D-208175BDD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공공재의 다른 측면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352031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재정의 기본골격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국민경제는 민간부문과 공공부문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정부부문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두 부문으로 구분이 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여기서 정부는 앞 장에서 설명한 넓은 의미로서의 정부를 뜻하며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아래의 표처럼 다시 공공기관과 좁은 의미에서의 정부로 구분이 가능하다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F00245-C3E1-9EFA-6E34-B6D6D3C3BB6A}"/>
              </a:ext>
            </a:extLst>
          </p:cNvPr>
          <p:cNvSpPr txBox="1"/>
          <p:nvPr/>
        </p:nvSpPr>
        <p:spPr>
          <a:xfrm>
            <a:off x="565795" y="408423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민간부문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25D519-D8E7-0DB7-DCDA-EB370D250EB8}"/>
              </a:ext>
            </a:extLst>
          </p:cNvPr>
          <p:cNvSpPr txBox="1"/>
          <p:nvPr/>
        </p:nvSpPr>
        <p:spPr>
          <a:xfrm>
            <a:off x="565795" y="5264672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공공부문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52BFFE-1904-A432-EB17-AC32F12C00CA}"/>
              </a:ext>
            </a:extLst>
          </p:cNvPr>
          <p:cNvSpPr txBox="1"/>
          <p:nvPr/>
        </p:nvSpPr>
        <p:spPr>
          <a:xfrm>
            <a:off x="2576358" y="468754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정 부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6BD709-08A8-1208-4986-37B6225493AD}"/>
              </a:ext>
            </a:extLst>
          </p:cNvPr>
          <p:cNvSpPr txBox="1"/>
          <p:nvPr/>
        </p:nvSpPr>
        <p:spPr>
          <a:xfrm>
            <a:off x="2576358" y="592111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공공기관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95038-3174-B7BD-5285-61B7A3936406}"/>
              </a:ext>
            </a:extLst>
          </p:cNvPr>
          <p:cNvSpPr txBox="1"/>
          <p:nvPr/>
        </p:nvSpPr>
        <p:spPr>
          <a:xfrm>
            <a:off x="4497849" y="376781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중앙정부 재정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5E7D3D-1751-50DC-C931-016CF0008448}"/>
              </a:ext>
            </a:extLst>
          </p:cNvPr>
          <p:cNvSpPr txBox="1"/>
          <p:nvPr/>
        </p:nvSpPr>
        <p:spPr>
          <a:xfrm>
            <a:off x="4497849" y="5279948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지방정부 재정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935949-BEBC-5FC0-B9EB-EA7DC20047D0}"/>
              </a:ext>
            </a:extLst>
          </p:cNvPr>
          <p:cNvSpPr txBox="1"/>
          <p:nvPr/>
        </p:nvSpPr>
        <p:spPr>
          <a:xfrm>
            <a:off x="6395158" y="3449348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예 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08BEF4-C7F8-439D-08D7-CB57B9E7CF3D}"/>
              </a:ext>
            </a:extLst>
          </p:cNvPr>
          <p:cNvSpPr txBox="1"/>
          <p:nvPr/>
        </p:nvSpPr>
        <p:spPr>
          <a:xfrm>
            <a:off x="6395158" y="4049475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기 금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3F69BC-35BA-52A7-7478-3D57A44B2111}"/>
              </a:ext>
            </a:extLst>
          </p:cNvPr>
          <p:cNvSpPr txBox="1"/>
          <p:nvPr/>
        </p:nvSpPr>
        <p:spPr>
          <a:xfrm>
            <a:off x="8291809" y="3087864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일반회계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AD4FE0-3739-DA8D-F037-2B0BA42E94D2}"/>
              </a:ext>
            </a:extLst>
          </p:cNvPr>
          <p:cNvSpPr txBox="1"/>
          <p:nvPr/>
        </p:nvSpPr>
        <p:spPr>
          <a:xfrm>
            <a:off x="8291809" y="373570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특별회계</a:t>
            </a:r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B1389F24-0CCA-304E-2F04-B18F0F0CF8A2}"/>
              </a:ext>
            </a:extLst>
          </p:cNvPr>
          <p:cNvSpPr/>
          <p:nvPr/>
        </p:nvSpPr>
        <p:spPr>
          <a:xfrm>
            <a:off x="2278734" y="4931833"/>
            <a:ext cx="297623" cy="1152688"/>
          </a:xfrm>
          <a:prstGeom prst="leftBrace">
            <a:avLst>
              <a:gd name="adj1" fmla="val 0"/>
              <a:gd name="adj2" fmla="val 43589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7932B6B5-4353-AB20-DAFE-A774054F6E89}"/>
              </a:ext>
            </a:extLst>
          </p:cNvPr>
          <p:cNvSpPr/>
          <p:nvPr/>
        </p:nvSpPr>
        <p:spPr>
          <a:xfrm>
            <a:off x="4289297" y="4168639"/>
            <a:ext cx="208551" cy="1280586"/>
          </a:xfrm>
          <a:prstGeom prst="leftBrace">
            <a:avLst>
              <a:gd name="adj1" fmla="val 0"/>
              <a:gd name="adj2" fmla="val 54055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왼쪽 중괄호 52">
            <a:extLst>
              <a:ext uri="{FF2B5EF4-FFF2-40B4-BE49-F238E27FC236}">
                <a16:creationId xmlns:a16="http://schemas.microsoft.com/office/drawing/2014/main" id="{E4013B28-D2A6-0590-FBB0-A34F4BE1E62B}"/>
              </a:ext>
            </a:extLst>
          </p:cNvPr>
          <p:cNvSpPr/>
          <p:nvPr/>
        </p:nvSpPr>
        <p:spPr>
          <a:xfrm>
            <a:off x="6211447" y="3577167"/>
            <a:ext cx="183711" cy="655638"/>
          </a:xfrm>
          <a:prstGeom prst="leftBrace">
            <a:avLst>
              <a:gd name="adj1" fmla="val 0"/>
              <a:gd name="adj2" fmla="val 5368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A89932B1-74AC-BD77-A89B-37A694A9E996}"/>
              </a:ext>
            </a:extLst>
          </p:cNvPr>
          <p:cNvSpPr/>
          <p:nvPr/>
        </p:nvSpPr>
        <p:spPr>
          <a:xfrm>
            <a:off x="8108098" y="3257141"/>
            <a:ext cx="183711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38448622-02BB-EDC1-0F0A-3ADB774DB0AF}"/>
              </a:ext>
            </a:extLst>
          </p:cNvPr>
          <p:cNvSpPr/>
          <p:nvPr/>
        </p:nvSpPr>
        <p:spPr>
          <a:xfrm>
            <a:off x="6211447" y="5106130"/>
            <a:ext cx="183711" cy="655638"/>
          </a:xfrm>
          <a:prstGeom prst="leftBrace">
            <a:avLst>
              <a:gd name="adj1" fmla="val 0"/>
              <a:gd name="adj2" fmla="val 5368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36C5921-C585-6EA1-45D1-BF10B3DBC105}"/>
              </a:ext>
            </a:extLst>
          </p:cNvPr>
          <p:cNvSpPr txBox="1"/>
          <p:nvPr/>
        </p:nvSpPr>
        <p:spPr>
          <a:xfrm>
            <a:off x="6395158" y="492533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일반재정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FE3AFF-841A-A46E-BBA8-D8B01E034306}"/>
              </a:ext>
            </a:extLst>
          </p:cNvPr>
          <p:cNvSpPr txBox="1"/>
          <p:nvPr/>
        </p:nvSpPr>
        <p:spPr>
          <a:xfrm>
            <a:off x="6395158" y="5577694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교육재정</a:t>
            </a:r>
          </a:p>
        </p:txBody>
      </p:sp>
      <p:sp>
        <p:nvSpPr>
          <p:cNvPr id="58" name="왼쪽 중괄호 57">
            <a:extLst>
              <a:ext uri="{FF2B5EF4-FFF2-40B4-BE49-F238E27FC236}">
                <a16:creationId xmlns:a16="http://schemas.microsoft.com/office/drawing/2014/main" id="{24FBB0A1-E097-46E6-9052-8AF98C386B3C}"/>
              </a:ext>
            </a:extLst>
          </p:cNvPr>
          <p:cNvSpPr/>
          <p:nvPr/>
        </p:nvSpPr>
        <p:spPr>
          <a:xfrm>
            <a:off x="8108099" y="4720281"/>
            <a:ext cx="183710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6A59A45-3322-6AB6-DE80-2264CC686547}"/>
              </a:ext>
            </a:extLst>
          </p:cNvPr>
          <p:cNvSpPr txBox="1"/>
          <p:nvPr/>
        </p:nvSpPr>
        <p:spPr>
          <a:xfrm>
            <a:off x="8291809" y="4568612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예 산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62A840E-5A43-0E91-4F63-F6BB98AC1A19}"/>
              </a:ext>
            </a:extLst>
          </p:cNvPr>
          <p:cNvSpPr txBox="1"/>
          <p:nvPr/>
        </p:nvSpPr>
        <p:spPr>
          <a:xfrm>
            <a:off x="8291809" y="521645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lang="ko-KR" altLang="en-US" sz="1600" dirty="0">
                <a:solidFill>
                  <a:prstClr val="black"/>
                </a:solidFill>
                <a:latin typeface="+mn-ea"/>
              </a:rPr>
              <a:t>기 금</a:t>
            </a:r>
          </a:p>
        </p:txBody>
      </p: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F5BDB20F-43D1-A263-3D41-A29A3F48B94C}"/>
              </a:ext>
            </a:extLst>
          </p:cNvPr>
          <p:cNvSpPr/>
          <p:nvPr/>
        </p:nvSpPr>
        <p:spPr>
          <a:xfrm>
            <a:off x="10004749" y="4377952"/>
            <a:ext cx="183710" cy="655638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B80EF2-AB5E-6AF6-2235-32B45F7EDC27}"/>
              </a:ext>
            </a:extLst>
          </p:cNvPr>
          <p:cNvSpPr txBox="1"/>
          <p:nvPr/>
        </p:nvSpPr>
        <p:spPr>
          <a:xfrm>
            <a:off x="10190933" y="4216899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일반회계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38B090-4ABB-0329-A531-C7EECAD40AF6}"/>
              </a:ext>
            </a:extLst>
          </p:cNvPr>
          <p:cNvSpPr txBox="1"/>
          <p:nvPr/>
        </p:nvSpPr>
        <p:spPr>
          <a:xfrm>
            <a:off x="10190933" y="4862567"/>
            <a:ext cx="1712940" cy="338554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특별회계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3FB948-AD36-2891-6DB7-C142F0A00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중앙정부의 재정규모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0F73B5-63BF-B5EB-866B-64C43991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A3329A-F486-5A53-6765-2BB1251C2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83"/>
              </p:ext>
            </p:extLst>
          </p:nvPr>
        </p:nvGraphicFramePr>
        <p:xfrm>
          <a:off x="701293" y="3305932"/>
          <a:ext cx="9537045" cy="332308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243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1380406718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4283011541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1089948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36243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360135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GDP)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재정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(GDP)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대비 재정규모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35477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기금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세입세출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2354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일반회계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특별회계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690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437.0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16.4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651.6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62.3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129.3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19.8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957.4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188.0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19.6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1,322.6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156.2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254.2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19.2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1,658.0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339.4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20.5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1,740.8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216.9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42.2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354.4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20.4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1,835.7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105.8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379.8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20.7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1,898.2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246.4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41.7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112.4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407.1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21.4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1,919.0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23.8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49E7DC-F89D-9E7E-9BF1-73EB25B16528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표는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년부터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년까지 예산과 기금으로 구성된 중앙정부의 재정규모가 어떻게 변화했는지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년에는 중앙정부의 재정규모가 </a:t>
            </a:r>
            <a:r>
              <a:rPr lang="en-US" altLang="ko-KR" sz="1600" spc="-50" dirty="0"/>
              <a:t>GDP</a:t>
            </a:r>
            <a:r>
              <a:rPr lang="ko-KR" altLang="en-US" sz="1600" spc="-50" dirty="0"/>
              <a:t>의 </a:t>
            </a:r>
            <a:r>
              <a:rPr lang="en-US" altLang="ko-KR" sz="1600" spc="-50" dirty="0"/>
              <a:t>17%, </a:t>
            </a:r>
            <a:r>
              <a:rPr lang="ko-KR" altLang="en-US" sz="1600" spc="-50" dirty="0"/>
              <a:t>이후 그 비중이 증가하여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23.8%</a:t>
            </a:r>
            <a:r>
              <a:rPr lang="ko-KR" altLang="en-US" sz="1600" spc="-50" dirty="0"/>
              <a:t>에 이르렀다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예산과 기금 간의 비중을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기금의 비중은 점차 증가했지만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여전히 예산이 훨씬 더 큰 비중을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2019</a:t>
            </a:r>
            <a:r>
              <a:rPr lang="ko-KR" altLang="en-US" sz="1600" spc="-50" dirty="0"/>
              <a:t>년 중앙정부의 재정에서 예산의 비중은 </a:t>
            </a:r>
            <a:r>
              <a:rPr lang="en-US" altLang="ko-KR" sz="1600" spc="-50" dirty="0"/>
              <a:t>71.0%, </a:t>
            </a:r>
            <a:r>
              <a:rPr lang="ko-KR" altLang="en-US" sz="1600" spc="-50" dirty="0"/>
              <a:t>기금의 비중은 </a:t>
            </a:r>
            <a:r>
              <a:rPr lang="en-US" altLang="ko-KR" sz="1600" spc="-50" dirty="0"/>
              <a:t>26.5% </a:t>
            </a:r>
            <a:r>
              <a:rPr lang="ko-KR" altLang="en-US" sz="1600" spc="-50" dirty="0"/>
              <a:t>수준에 머물고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 내에서 일반회계와 특별회계 간의 비중을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일반회계의 규모가 훨씬 더 큰 추세가 계속되어 왔다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5AC43-1AED-6E5B-F7EB-C610CFA82971}"/>
              </a:ext>
            </a:extLst>
          </p:cNvPr>
          <p:cNvSpPr txBox="1"/>
          <p:nvPr/>
        </p:nvSpPr>
        <p:spPr>
          <a:xfrm>
            <a:off x="4142665" y="3000100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중앙정부의 재정규모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76251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36DF-6AD5-9427-6DC5-81DB5261B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D88E6D-15DC-8587-9B8B-B2F0E0116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A801AB-87C5-8A42-44DD-A58746D2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D0AD3F6-B31F-102F-C382-2EAAC9AFE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3668606"/>
              </p:ext>
            </p:extLst>
          </p:nvPr>
        </p:nvGraphicFramePr>
        <p:xfrm>
          <a:off x="7372350" y="1080010"/>
          <a:ext cx="4408152" cy="545128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34692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283011541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2514739121"/>
                    </a:ext>
                  </a:extLst>
                </a:gridCol>
                <a:gridCol w="734692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29504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국세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일반회계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세외수입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295048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내국세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총계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24.1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(76.9)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(86.5)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4.6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50.4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(95.3)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(4.7)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76.2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(82.3)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(6.3)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82.0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(88.5)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10.6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(11.5)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92.6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116.1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6.3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(4.6)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122.4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(89.7)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14.1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160.2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(78.1)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10.7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(5.2)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170.9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(83.3)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34.3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(16.7)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205.2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202.3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(77.2)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8.5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(3.2)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210.8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(80.5)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51.1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(19.5)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261.9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227.7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(80.8)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8.0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235.7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(83.7)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(16.3)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281.7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250.0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(85.3)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8.5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(2.9)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258.5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(88.3)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34.4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(11.7)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292.9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227.7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(87.6)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8.8</a:t>
                      </a:r>
                    </a:p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(2.8)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285.9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(90.4)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30.3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(9.6)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316.2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278.1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(83.7)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7.9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(2.4)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286.0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(86.1)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46.2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(13.9)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332.2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(100.0)</a:t>
                      </a:r>
                      <a:endParaRPr lang="en-US" altLang="ko-KR" sz="1300" b="0" kern="0" spc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E5860BE-337A-C3B1-98ED-CECFF864FCCC}"/>
              </a:ext>
            </a:extLst>
          </p:cNvPr>
          <p:cNvSpPr txBox="1"/>
          <p:nvPr/>
        </p:nvSpPr>
        <p:spPr>
          <a:xfrm>
            <a:off x="8295565" y="759017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일반회계 세입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0B2249-F511-CCAD-4D05-EC223BD416E1}"/>
              </a:ext>
            </a:extLst>
          </p:cNvPr>
          <p:cNvSpPr txBox="1"/>
          <p:nvPr/>
        </p:nvSpPr>
        <p:spPr>
          <a:xfrm>
            <a:off x="288790" y="958844"/>
            <a:ext cx="6962910" cy="461517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(1)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세입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일반회계의 세입은 중앙정부의 각종 내국세와 관세 등을 통해 얻는 조세수입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재산수입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경상이전수입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판매수입 등이 포함되어 있는 세외수입의 두 부분으로 구성된다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내국세는 </a:t>
            </a:r>
            <a:r>
              <a:rPr lang="ko-KR" altLang="en-US" sz="1600" spc="-50" dirty="0" err="1"/>
              <a:t>세입원</a:t>
            </a:r>
            <a:r>
              <a:rPr lang="ko-KR" altLang="en-US" sz="1600" spc="-50" dirty="0"/>
              <a:t> 중에서도 압도적인 중요성을 가지며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 등 관세를 제외한 모든 세금이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오른쪽 표에서 볼 수 있듯이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 일반회계 세입의 </a:t>
            </a:r>
            <a:r>
              <a:rPr lang="en-US" altLang="ko-KR" sz="1600" spc="-50" dirty="0"/>
              <a:t>86.1%</a:t>
            </a:r>
            <a:r>
              <a:rPr lang="ko-KR" altLang="en-US" sz="1600" spc="-50" dirty="0"/>
              <a:t>에 해당하는 </a:t>
            </a:r>
            <a:r>
              <a:rPr lang="en-US" altLang="ko-KR" sz="1600" spc="-50" dirty="0"/>
              <a:t>286</a:t>
            </a:r>
            <a:r>
              <a:rPr lang="ko-KR" altLang="en-US" sz="1600" spc="-50" dirty="0"/>
              <a:t>조원이 조세수입으로 충당되고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중 내국세 수입은 </a:t>
            </a:r>
            <a:r>
              <a:rPr lang="en-US" altLang="ko-KR" sz="1600" spc="-50" dirty="0"/>
              <a:t>278</a:t>
            </a:r>
            <a:r>
              <a:rPr lang="ko-KR" altLang="en-US" sz="1600" spc="-50" dirty="0"/>
              <a:t>조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천억원으로 일반회계 세입의 </a:t>
            </a:r>
            <a:r>
              <a:rPr lang="en-US" altLang="ko-KR" sz="1600" spc="-50" dirty="0"/>
              <a:t>83.7%</a:t>
            </a:r>
            <a:r>
              <a:rPr lang="ko-KR" altLang="en-US" sz="1600" spc="-50" dirty="0"/>
              <a:t>를 차지하였다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표에는 나타나 있지 않지만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내국세 중에서도 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부가가치세의 세 가지 조세로부터의 수입은 </a:t>
            </a:r>
            <a:r>
              <a:rPr lang="en-US" altLang="ko-KR" sz="1600" spc="-50" dirty="0"/>
              <a:t>226</a:t>
            </a:r>
            <a:r>
              <a:rPr lang="ko-KR" altLang="en-US" sz="1600" spc="-50" dirty="0"/>
              <a:t>조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천억원으로 전체 조세수입의 </a:t>
            </a:r>
            <a:r>
              <a:rPr lang="en-US" altLang="ko-KR" sz="1600" spc="-50" dirty="0"/>
              <a:t>79.2%</a:t>
            </a:r>
            <a:r>
              <a:rPr lang="ko-KR" altLang="en-US" sz="1600" spc="-50" dirty="0"/>
              <a:t>를 차지할 만큼 큰 비중을 차지한다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9530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4144E-46F8-9B14-1181-8703CF39B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BDCCA4-3C2B-5B33-322A-C3D926CE1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8498EE-CB3A-80D0-2E9D-2B704707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E95856-9596-86E7-0F26-2A6111102B84}"/>
              </a:ext>
            </a:extLst>
          </p:cNvPr>
          <p:cNvSpPr txBox="1"/>
          <p:nvPr/>
        </p:nvSpPr>
        <p:spPr>
          <a:xfrm>
            <a:off x="8997133" y="919156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소득세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135E70-49C9-38CD-5BA8-09F9D66CD8BE}"/>
              </a:ext>
            </a:extLst>
          </p:cNvPr>
          <p:cNvSpPr txBox="1"/>
          <p:nvPr/>
        </p:nvSpPr>
        <p:spPr>
          <a:xfrm>
            <a:off x="8997133" y="1304474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법인세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63BE68-5F37-ACBD-2CF7-4223394C3961}"/>
              </a:ext>
            </a:extLst>
          </p:cNvPr>
          <p:cNvSpPr txBox="1"/>
          <p:nvPr/>
        </p:nvSpPr>
        <p:spPr>
          <a:xfrm>
            <a:off x="8997133" y="1692286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부가가치세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C0349D-11FC-AFF0-26D8-68A050CFC2C2}"/>
              </a:ext>
            </a:extLst>
          </p:cNvPr>
          <p:cNvSpPr txBox="1"/>
          <p:nvPr/>
        </p:nvSpPr>
        <p:spPr>
          <a:xfrm>
            <a:off x="8997133" y="2077604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개별소비세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2632C85-8AAF-0F73-3300-B30200F9AA4B}"/>
              </a:ext>
            </a:extLst>
          </p:cNvPr>
          <p:cNvSpPr txBox="1"/>
          <p:nvPr/>
        </p:nvSpPr>
        <p:spPr>
          <a:xfrm>
            <a:off x="8997133" y="246292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상속세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129BA-2EBB-BE30-E3A5-44FE054C5A1D}"/>
              </a:ext>
            </a:extLst>
          </p:cNvPr>
          <p:cNvSpPr txBox="1"/>
          <p:nvPr/>
        </p:nvSpPr>
        <p:spPr>
          <a:xfrm>
            <a:off x="8997133" y="284824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증여세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DF9C6E-8707-109E-42CF-16A9C5B4D4F2}"/>
              </a:ext>
            </a:extLst>
          </p:cNvPr>
          <p:cNvSpPr txBox="1"/>
          <p:nvPr/>
        </p:nvSpPr>
        <p:spPr>
          <a:xfrm>
            <a:off x="8997133" y="323605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증권거래세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DEDA87-40F8-72B0-6B0A-767D91004723}"/>
              </a:ext>
            </a:extLst>
          </p:cNvPr>
          <p:cNvSpPr txBox="1"/>
          <p:nvPr/>
        </p:nvSpPr>
        <p:spPr>
          <a:xfrm>
            <a:off x="8997133" y="362137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인지세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F45D5B-C0A0-EF88-9DA8-C467F7A959B2}"/>
              </a:ext>
            </a:extLst>
          </p:cNvPr>
          <p:cNvSpPr txBox="1"/>
          <p:nvPr/>
        </p:nvSpPr>
        <p:spPr>
          <a:xfrm>
            <a:off x="8997133" y="409644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종합부동산세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70AB43-49B2-58D3-FCC9-FF8B9AFCD78F}"/>
              </a:ext>
            </a:extLst>
          </p:cNvPr>
          <p:cNvSpPr txBox="1"/>
          <p:nvPr/>
        </p:nvSpPr>
        <p:spPr>
          <a:xfrm>
            <a:off x="8997133" y="457701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농어촌특별세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9C4F338-8891-95B6-AB92-D08A39916BAE}"/>
              </a:ext>
            </a:extLst>
          </p:cNvPr>
          <p:cNvSpPr txBox="1"/>
          <p:nvPr/>
        </p:nvSpPr>
        <p:spPr>
          <a:xfrm>
            <a:off x="8997133" y="4964822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교육세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A2D81D-1E06-BE90-DC4F-EB6D71A787B6}"/>
              </a:ext>
            </a:extLst>
          </p:cNvPr>
          <p:cNvSpPr txBox="1"/>
          <p:nvPr/>
        </p:nvSpPr>
        <p:spPr>
          <a:xfrm>
            <a:off x="8997133" y="5350140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kumimoji="0" lang="ko-KR" altLang="en-US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교통</a:t>
            </a:r>
            <a:r>
              <a:rPr kumimoji="0" lang="en-US" altLang="ko-KR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0" lang="ko-KR" altLang="en-US" sz="1400" b="0" i="0" u="none" strike="noStrike" kern="1200" cap="none" spc="-10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에너지</a:t>
            </a:r>
            <a:r>
              <a:rPr lang="en-US" altLang="ko-KR" sz="14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kumimoji="0" lang="ko-KR" altLang="en-US" sz="1400" b="0" i="0" u="none" strike="noStrike" kern="1200" cap="none" spc="-10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환경세</a:t>
            </a:r>
            <a:endParaRPr kumimoji="0" lang="ko-KR" altLang="en-US" sz="1400" b="0" i="0" u="none" strike="noStrike" kern="1200" cap="none" spc="-10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E6F6718-55CB-1010-DF33-DDB95CD8FEA1}"/>
              </a:ext>
            </a:extLst>
          </p:cNvPr>
          <p:cNvSpPr txBox="1"/>
          <p:nvPr/>
        </p:nvSpPr>
        <p:spPr>
          <a:xfrm>
            <a:off x="8997133" y="5820973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30FBE5-2292-E707-5894-3E501D8EB3CB}"/>
              </a:ext>
            </a:extLst>
          </p:cNvPr>
          <p:cNvSpPr txBox="1"/>
          <p:nvPr/>
        </p:nvSpPr>
        <p:spPr>
          <a:xfrm>
            <a:off x="8997133" y="6244391"/>
            <a:ext cx="1712940" cy="307777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관세</a:t>
            </a:r>
          </a:p>
        </p:txBody>
      </p:sp>
      <p:sp>
        <p:nvSpPr>
          <p:cNvPr id="45" name="오른쪽 중괄호 44">
            <a:extLst>
              <a:ext uri="{FF2B5EF4-FFF2-40B4-BE49-F238E27FC236}">
                <a16:creationId xmlns:a16="http://schemas.microsoft.com/office/drawing/2014/main" id="{D3359BEB-8FE7-3B37-01E2-FFE31669923D}"/>
              </a:ext>
            </a:extLst>
          </p:cNvPr>
          <p:cNvSpPr/>
          <p:nvPr/>
        </p:nvSpPr>
        <p:spPr>
          <a:xfrm>
            <a:off x="10779125" y="1006419"/>
            <a:ext cx="152400" cy="509922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오른쪽 중괄호 45">
            <a:extLst>
              <a:ext uri="{FF2B5EF4-FFF2-40B4-BE49-F238E27FC236}">
                <a16:creationId xmlns:a16="http://schemas.microsoft.com/office/drawing/2014/main" id="{74EF7990-7CFA-8218-F863-95695961ECBE}"/>
              </a:ext>
            </a:extLst>
          </p:cNvPr>
          <p:cNvSpPr/>
          <p:nvPr/>
        </p:nvSpPr>
        <p:spPr>
          <a:xfrm>
            <a:off x="10779125" y="1786940"/>
            <a:ext cx="152400" cy="509922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오른쪽 중괄호 47">
            <a:extLst>
              <a:ext uri="{FF2B5EF4-FFF2-40B4-BE49-F238E27FC236}">
                <a16:creationId xmlns:a16="http://schemas.microsoft.com/office/drawing/2014/main" id="{C612A5A5-1795-D49B-EC66-1B1D65257DE3}"/>
              </a:ext>
            </a:extLst>
          </p:cNvPr>
          <p:cNvSpPr/>
          <p:nvPr/>
        </p:nvSpPr>
        <p:spPr>
          <a:xfrm>
            <a:off x="10779125" y="2567460"/>
            <a:ext cx="152400" cy="1682869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오른쪽 중괄호 48">
            <a:extLst>
              <a:ext uri="{FF2B5EF4-FFF2-40B4-BE49-F238E27FC236}">
                <a16:creationId xmlns:a16="http://schemas.microsoft.com/office/drawing/2014/main" id="{2B91C317-5D35-413F-7D7E-7020242BD832}"/>
              </a:ext>
            </a:extLst>
          </p:cNvPr>
          <p:cNvSpPr/>
          <p:nvPr/>
        </p:nvSpPr>
        <p:spPr>
          <a:xfrm>
            <a:off x="10779125" y="5489311"/>
            <a:ext cx="152400" cy="911490"/>
          </a:xfrm>
          <a:prstGeom prst="rightBrace">
            <a:avLst>
              <a:gd name="adj1" fmla="val 147059"/>
              <a:gd name="adj2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5AF6E3-B437-B492-6ED2-65D76458A989}"/>
              </a:ext>
            </a:extLst>
          </p:cNvPr>
          <p:cNvSpPr txBox="1"/>
          <p:nvPr/>
        </p:nvSpPr>
        <p:spPr>
          <a:xfrm>
            <a:off x="10710073" y="1086503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소득과세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4981550-1A93-6525-51EF-E5A678C84ACF}"/>
              </a:ext>
            </a:extLst>
          </p:cNvPr>
          <p:cNvSpPr txBox="1"/>
          <p:nvPr/>
        </p:nvSpPr>
        <p:spPr>
          <a:xfrm>
            <a:off x="10710073" y="1865895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소비과세</a:t>
            </a:r>
            <a:endParaRPr lang="ko-KR" altLang="en-US" sz="14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32DF57-36D6-5086-079F-9D237D442655}"/>
              </a:ext>
            </a:extLst>
          </p:cNvPr>
          <p:cNvSpPr txBox="1"/>
          <p:nvPr/>
        </p:nvSpPr>
        <p:spPr>
          <a:xfrm>
            <a:off x="10710073" y="3032214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재산과세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BE4DA5A-6147-EB92-8A48-A3477396F54A}"/>
              </a:ext>
            </a:extLst>
          </p:cNvPr>
          <p:cNvSpPr txBox="1"/>
          <p:nvPr/>
        </p:nvSpPr>
        <p:spPr>
          <a:xfrm>
            <a:off x="10710073" y="5788361"/>
            <a:ext cx="13509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소비과세</a:t>
            </a:r>
            <a:endParaRPr lang="ko-KR" altLang="en-US" sz="1400" dirty="0"/>
          </a:p>
        </p:txBody>
      </p:sp>
      <p:sp>
        <p:nvSpPr>
          <p:cNvPr id="55" name="왼쪽 중괄호 54">
            <a:extLst>
              <a:ext uri="{FF2B5EF4-FFF2-40B4-BE49-F238E27FC236}">
                <a16:creationId xmlns:a16="http://schemas.microsoft.com/office/drawing/2014/main" id="{E4AF541B-68DC-2BC4-67AC-D360DEFBCBD6}"/>
              </a:ext>
            </a:extLst>
          </p:cNvPr>
          <p:cNvSpPr/>
          <p:nvPr/>
        </p:nvSpPr>
        <p:spPr>
          <a:xfrm>
            <a:off x="8475133" y="1081827"/>
            <a:ext cx="507301" cy="2728171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D7FBB2-0D73-CC3A-8B31-45DC841F76ED}"/>
              </a:ext>
            </a:extLst>
          </p:cNvPr>
          <p:cNvSpPr txBox="1"/>
          <p:nvPr/>
        </p:nvSpPr>
        <p:spPr>
          <a:xfrm>
            <a:off x="7564119" y="2331841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내국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(8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38BA25A-B97D-DC80-AFEB-E611A56374D4}"/>
              </a:ext>
            </a:extLst>
          </p:cNvPr>
          <p:cNvSpPr txBox="1"/>
          <p:nvPr/>
        </p:nvSpPr>
        <p:spPr>
          <a:xfrm>
            <a:off x="7564119" y="4857101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(3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왼쪽 중괄호 58">
            <a:extLst>
              <a:ext uri="{FF2B5EF4-FFF2-40B4-BE49-F238E27FC236}">
                <a16:creationId xmlns:a16="http://schemas.microsoft.com/office/drawing/2014/main" id="{B2C7ACAD-B6ED-E709-5419-915D9E19E244}"/>
              </a:ext>
            </a:extLst>
          </p:cNvPr>
          <p:cNvSpPr/>
          <p:nvPr/>
        </p:nvSpPr>
        <p:spPr>
          <a:xfrm>
            <a:off x="8475133" y="4732052"/>
            <a:ext cx="507301" cy="757259"/>
          </a:xfrm>
          <a:prstGeom prst="leftBrace">
            <a:avLst>
              <a:gd name="adj1" fmla="val 0"/>
              <a:gd name="adj2" fmla="val 5538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895E942-44AB-4B75-8070-86CA049C86C0}"/>
              </a:ext>
            </a:extLst>
          </p:cNvPr>
          <p:cNvSpPr txBox="1"/>
          <p:nvPr/>
        </p:nvSpPr>
        <p:spPr>
          <a:xfrm>
            <a:off x="6136900" y="3429000"/>
            <a:ext cx="913081" cy="52322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국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세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(14</a:t>
            </a:r>
            <a:r>
              <a:rPr lang="ko-KR" altLang="en-US" sz="14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14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1" name="왼쪽 중괄호 60">
            <a:extLst>
              <a:ext uri="{FF2B5EF4-FFF2-40B4-BE49-F238E27FC236}">
                <a16:creationId xmlns:a16="http://schemas.microsoft.com/office/drawing/2014/main" id="{C0B7AAFF-3C4F-BE5F-C7EA-D9A970AD913B}"/>
              </a:ext>
            </a:extLst>
          </p:cNvPr>
          <p:cNvSpPr/>
          <p:nvPr/>
        </p:nvSpPr>
        <p:spPr>
          <a:xfrm>
            <a:off x="7051571" y="2593451"/>
            <a:ext cx="507301" cy="2562749"/>
          </a:xfrm>
          <a:prstGeom prst="leftBrace">
            <a:avLst>
              <a:gd name="adj1" fmla="val 0"/>
              <a:gd name="adj2" fmla="val 43489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283855E3-2040-3A1C-291D-154A2775B625}"/>
              </a:ext>
            </a:extLst>
          </p:cNvPr>
          <p:cNvCxnSpPr>
            <a:cxnSpLocks/>
          </p:cNvCxnSpPr>
          <p:nvPr/>
        </p:nvCxnSpPr>
        <p:spPr>
          <a:xfrm>
            <a:off x="7305221" y="2593450"/>
            <a:ext cx="0" cy="3816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956F552-1A70-F29C-9B39-80DAFB0213B4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3404330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B8E3B3A4-D193-D333-BCF7-D11E66718F18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5128861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5618A7B3-C016-85FB-75D2-99A5E7682322}"/>
              </a:ext>
            </a:extLst>
          </p:cNvPr>
          <p:cNvCxnSpPr>
            <a:cxnSpLocks/>
          </p:cNvCxnSpPr>
          <p:nvPr/>
        </p:nvCxnSpPr>
        <p:spPr>
          <a:xfrm rot="16200000">
            <a:off x="8152877" y="5561619"/>
            <a:ext cx="0" cy="1692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D96D7B5-85C1-68E6-21DA-168E4B004A04}"/>
              </a:ext>
            </a:extLst>
          </p:cNvPr>
          <p:cNvSpPr txBox="1"/>
          <p:nvPr/>
        </p:nvSpPr>
        <p:spPr>
          <a:xfrm>
            <a:off x="6145362" y="130334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현행 국세체계 </a:t>
            </a:r>
            <a:r>
              <a:rPr lang="en-US" altLang="ko-KR" sz="1400" spc="-50" dirty="0"/>
              <a:t>(2020</a:t>
            </a:r>
            <a:r>
              <a:rPr lang="ko-KR" altLang="en-US" sz="1400" spc="-50" dirty="0"/>
              <a:t>년</a:t>
            </a:r>
            <a:r>
              <a:rPr lang="en-US" altLang="ko-KR" sz="1400" spc="-50" dirty="0"/>
              <a:t>)&gt;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D1AE427-C1D7-870B-C690-94A91AF6DE49}"/>
              </a:ext>
            </a:extLst>
          </p:cNvPr>
          <p:cNvSpPr txBox="1"/>
          <p:nvPr/>
        </p:nvSpPr>
        <p:spPr>
          <a:xfrm>
            <a:off x="288789" y="958844"/>
            <a:ext cx="5800581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우리나라의 국세체계는 </a:t>
            </a:r>
            <a:r>
              <a:rPr lang="en-US" altLang="ko-KR" sz="1600" spc="-50" dirty="0"/>
              <a:t>14</a:t>
            </a:r>
            <a:r>
              <a:rPr lang="ko-KR" altLang="en-US" sz="1600" spc="-50" dirty="0"/>
              <a:t>가지의 국세로 구성된다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국세 중 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 등의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가지 조세는 이로부터 거둔 수입 중 일부를 지방정부에 나눠주는 재원으로 사용할 수 있는 성격의 내국세로 분류된다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농어촌특별세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교육세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교통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에너지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환경세는 이로부터 거둬들인 수입을 특정한 용도에 사용하도록 되어있는 목적세의 성격을 갖는다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과세대상에 따라 조세를 세 가지 범주로 구분할 수 있다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개인과 법인의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소득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이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소득세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법인세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재산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이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상속세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증여세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소비행위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가 과세대상인 경우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부가가치세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, 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개별소비세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세금 부과 방식에 따라 조세를 두 가지로 분류하기도 한다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조세부담 주체에게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직접 부과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하는 직접세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소득세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상품 등에 부과해 </a:t>
            </a:r>
            <a:r>
              <a:rPr lang="ko-KR" altLang="en-US" sz="1600" b="1" spc="-100" dirty="0">
                <a:solidFill>
                  <a:prstClr val="black"/>
                </a:solidFill>
                <a:latin typeface="+mn-ea"/>
              </a:rPr>
              <a:t>간접적으로 부과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하는 간접세 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(</a:t>
            </a:r>
            <a:r>
              <a:rPr lang="ko-KR" altLang="en-US" sz="1600" spc="-100" dirty="0">
                <a:solidFill>
                  <a:prstClr val="black"/>
                </a:solidFill>
                <a:latin typeface="+mn-ea"/>
              </a:rPr>
              <a:t>부가가치세 등</a:t>
            </a:r>
            <a:r>
              <a:rPr lang="en-US" altLang="ko-KR" sz="1600" spc="-100" dirty="0">
                <a:solidFill>
                  <a:prstClr val="black"/>
                </a:solidFill>
                <a:latin typeface="+mn-ea"/>
              </a:rPr>
              <a:t>)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7263588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CE79A3-DD30-3239-EBFE-8356435B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9B4C24-BE6B-BD3E-F79C-8048F168E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F0B59-32DB-8294-F72B-55C4AD1ECB58}"/>
              </a:ext>
            </a:extLst>
          </p:cNvPr>
          <p:cNvSpPr txBox="1"/>
          <p:nvPr/>
        </p:nvSpPr>
        <p:spPr>
          <a:xfrm>
            <a:off x="288790" y="958844"/>
            <a:ext cx="11693660" cy="41535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(2) 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세출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일반회계 세출의 각 항목은 세 가지 기준에 의해 구분하고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첫번째 기준은 세출예산이 배정되는 기관을 기준으로 하는 </a:t>
            </a:r>
            <a:r>
              <a:rPr lang="ko-KR" altLang="en-US" sz="1600" b="1" spc="-50" dirty="0"/>
              <a:t>소관별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기준 </a:t>
            </a:r>
            <a:r>
              <a:rPr lang="en-US" altLang="ko-KR" sz="1600" spc="-50" dirty="0"/>
              <a:t>55</a:t>
            </a:r>
            <a:r>
              <a:rPr lang="ko-KR" altLang="en-US" sz="1600" spc="-50" dirty="0"/>
              <a:t>개의 소관으로 분류하고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세출예산의 대표적 분류방식으로 꼽힌다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두번째 기준은 예산사업이 수행하는 기능에 따라 분류하는 </a:t>
            </a:r>
            <a:r>
              <a:rPr lang="ko-KR" altLang="en-US" sz="1600" b="1" spc="-50" dirty="0"/>
              <a:t>기능별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설명한 소관별 분류방식은 정부 지출을 통해 어떤 기능을 하는지 파악하기 힘들다는 단점을 갖고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보완할 수 있는 분류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지방행정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및 물류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사회복지 등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가지로 나누어 분류한다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세번째 기준은 세출예산의 지출대상이 어떤 성격을 </a:t>
            </a:r>
            <a:r>
              <a:rPr lang="ko-KR" altLang="en-US" sz="1600" spc="-50" dirty="0" err="1"/>
              <a:t>갖느냐에</a:t>
            </a:r>
            <a:r>
              <a:rPr lang="ko-KR" altLang="en-US" sz="1600" spc="-50" dirty="0"/>
              <a:t> 따라 분류하는 </a:t>
            </a:r>
            <a:r>
              <a:rPr lang="ko-KR" altLang="en-US" sz="1600" b="1" spc="-50" dirty="0"/>
              <a:t>성질별 분류</a:t>
            </a:r>
            <a:r>
              <a:rPr lang="ko-KR" altLang="en-US" sz="1600" spc="-50" dirty="0"/>
              <a:t>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앞서 설명한 기능별 분류방식과 달리 지출의 목적과 관계없이 어떤 성격을 갖는지 초점을 맞추어 분류하는 방식이다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인건비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물건비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이전지출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자산취득 등 </a:t>
            </a:r>
            <a:r>
              <a:rPr lang="en-US" altLang="ko-KR" sz="1600" spc="-50" dirty="0"/>
              <a:t>7</a:t>
            </a:r>
            <a:r>
              <a:rPr lang="ko-KR" altLang="en-US" sz="1600" spc="-50" dirty="0"/>
              <a:t>가지 범주로 나누어 분류한다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1687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7860-E011-DD32-6F15-7C8BDB81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E9BFB-04A1-D925-5D24-234EF5B4F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일반회계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5FF82B-626E-0A72-31CA-D65A24A90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CA9F4-75F5-9848-5A30-9E931A6FAFBE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 세출예산을 기능별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성질별로 </a:t>
            </a:r>
            <a:r>
              <a:rPr lang="ko-KR" altLang="en-US" sz="1600" spc="-50" dirty="0" err="1"/>
              <a:t>분류해놓았다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기능별 기준에서 볼 때</a:t>
            </a:r>
            <a:r>
              <a:rPr lang="en-US" altLang="ko-KR" sz="1600" spc="-50" dirty="0"/>
              <a:t>, ‘</a:t>
            </a:r>
            <a:r>
              <a:rPr lang="ko-KR" altLang="en-US" sz="1600" spc="-50" dirty="0"/>
              <a:t>일반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지방행정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이 총 세출의 </a:t>
            </a:r>
            <a:r>
              <a:rPr lang="en-US" altLang="ko-KR" sz="1600" spc="-50" dirty="0"/>
              <a:t>20.7%</a:t>
            </a:r>
            <a:r>
              <a:rPr lang="ko-KR" altLang="en-US" sz="1600" spc="-50" dirty="0"/>
              <a:t>를 차지해 가장 큰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 큰 비중을 차지하고 있는 것은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교육</a:t>
            </a:r>
            <a:r>
              <a:rPr lang="en-US" altLang="ko-KR" sz="1600" spc="-50" dirty="0"/>
              <a:t>’,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사회복지</a:t>
            </a:r>
            <a:r>
              <a:rPr lang="en-US" altLang="ko-KR" sz="1600" spc="-50" dirty="0"/>
              <a:t>’, ‘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 으로 각각 </a:t>
            </a:r>
            <a:r>
              <a:rPr lang="en-US" altLang="ko-KR" sz="1600" spc="-50" dirty="0"/>
              <a:t>20.3%,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17.5%, 14.1%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성질별 기준에서 볼 때</a:t>
            </a:r>
            <a:r>
              <a:rPr lang="en-US" altLang="ko-KR" sz="1600" spc="-50" dirty="0"/>
              <a:t>, ‘</a:t>
            </a:r>
            <a:r>
              <a:rPr lang="ko-KR" altLang="en-US" sz="1600" spc="-50" dirty="0"/>
              <a:t>이전지출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의 성격을 갖는 지출이 총 세출의 </a:t>
            </a:r>
            <a:r>
              <a:rPr lang="en-US" altLang="ko-KR" sz="1600" spc="-50" dirty="0"/>
              <a:t>58.8%</a:t>
            </a:r>
            <a:r>
              <a:rPr lang="ko-KR" altLang="en-US" sz="1600" spc="-50" dirty="0"/>
              <a:t>를 차지해 압도적으로 큰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 큰 비중을 차지하고 있는 것은 </a:t>
            </a:r>
            <a:r>
              <a:rPr lang="en-US" altLang="ko-KR" sz="1600" spc="-50" dirty="0"/>
              <a:t>‘</a:t>
            </a:r>
            <a:r>
              <a:rPr lang="ko-KR" altLang="en-US" sz="1600" spc="-50" dirty="0" err="1"/>
              <a:t>전출금</a:t>
            </a:r>
            <a:r>
              <a:rPr lang="ko-KR" altLang="en-US" sz="1600" spc="-50" dirty="0"/>
              <a:t> 등</a:t>
            </a:r>
            <a:r>
              <a:rPr lang="en-US" altLang="ko-KR" sz="1600" spc="-50" dirty="0"/>
              <a:t>’,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인건비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로 각각 </a:t>
            </a:r>
            <a:r>
              <a:rPr lang="en-US" altLang="ko-KR" sz="1600" spc="-50" dirty="0"/>
              <a:t>14.3%, 10.7%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기능별 분류의 경우보다 직관적인 설명력이 다소 떨어진다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예산안에는 일반회계 세출예산을 소관별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기능별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성질별의 세 가지로 분류한 것을 동시에 제시하고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정부지출의 성격으로 여러 측면에서 살펴보기 위한 의도이다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F70D39-8F34-45DB-DDD7-3CACA7B7C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5" y="4825744"/>
            <a:ext cx="4584589" cy="14326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D5BDF4-A021-9B98-40D9-C82BC1F8B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625" y="4825744"/>
            <a:ext cx="4584589" cy="14326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C982C1-C491-AAC3-F036-0E18E78EF7FA}"/>
              </a:ext>
            </a:extLst>
          </p:cNvPr>
          <p:cNvSpPr txBox="1"/>
          <p:nvPr/>
        </p:nvSpPr>
        <p:spPr>
          <a:xfrm>
            <a:off x="1278834" y="5855270"/>
            <a:ext cx="8852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일반</a:t>
            </a:r>
            <a:r>
              <a:rPr lang="en-US" altLang="ko-KR" sz="900" spc="-50" dirty="0"/>
              <a:t>·</a:t>
            </a:r>
            <a:r>
              <a:rPr lang="ko-KR" altLang="en-US" sz="900" spc="-50" dirty="0"/>
              <a:t>지방행정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D6FE31-4FDD-655C-E2B9-3236FFEB9865}"/>
              </a:ext>
            </a:extLst>
          </p:cNvPr>
          <p:cNvSpPr txBox="1"/>
          <p:nvPr/>
        </p:nvSpPr>
        <p:spPr>
          <a:xfrm>
            <a:off x="1659834" y="4871332"/>
            <a:ext cx="106304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/>
              <a:t>공공질서</a:t>
            </a:r>
            <a:endParaRPr lang="en-US" altLang="ko-KR" sz="900" dirty="0"/>
          </a:p>
          <a:p>
            <a:pPr algn="ctr"/>
            <a:r>
              <a:rPr lang="ko-KR" altLang="en-US" sz="900" dirty="0"/>
              <a:t>및</a:t>
            </a:r>
            <a:endParaRPr lang="en-US" altLang="ko-KR" sz="900" dirty="0"/>
          </a:p>
          <a:p>
            <a:pPr algn="ctr"/>
            <a:r>
              <a:rPr lang="ko-KR" altLang="en-US" sz="900" dirty="0"/>
              <a:t>안전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C5AEC-F88D-B914-3991-6CB1CA564CE0}"/>
              </a:ext>
            </a:extLst>
          </p:cNvPr>
          <p:cNvSpPr txBox="1"/>
          <p:nvPr/>
        </p:nvSpPr>
        <p:spPr>
          <a:xfrm>
            <a:off x="2294834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국방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CBF484-C457-85C4-DAF6-E7D611FFF94F}"/>
              </a:ext>
            </a:extLst>
          </p:cNvPr>
          <p:cNvSpPr txBox="1"/>
          <p:nvPr/>
        </p:nvSpPr>
        <p:spPr>
          <a:xfrm>
            <a:off x="2928068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교육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77435E-E56D-4DFD-9103-46B980AB694C}"/>
              </a:ext>
            </a:extLst>
          </p:cNvPr>
          <p:cNvSpPr txBox="1"/>
          <p:nvPr/>
        </p:nvSpPr>
        <p:spPr>
          <a:xfrm>
            <a:off x="3591835" y="5855270"/>
            <a:ext cx="438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사회복지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E37CF4-4773-D886-6057-A66372CEE4DE}"/>
              </a:ext>
            </a:extLst>
          </p:cNvPr>
          <p:cNvSpPr txBox="1"/>
          <p:nvPr/>
        </p:nvSpPr>
        <p:spPr>
          <a:xfrm>
            <a:off x="3966154" y="4871332"/>
            <a:ext cx="463606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dirty="0"/>
              <a:t>교통</a:t>
            </a:r>
            <a:endParaRPr lang="en-US" altLang="ko-KR" sz="900" dirty="0"/>
          </a:p>
          <a:p>
            <a:pPr algn="ctr"/>
            <a:r>
              <a:rPr lang="ko-KR" altLang="en-US" sz="900" dirty="0"/>
              <a:t>및</a:t>
            </a:r>
            <a:endParaRPr lang="en-US" altLang="ko-KR" sz="900" dirty="0"/>
          </a:p>
          <a:p>
            <a:pPr algn="ctr"/>
            <a:r>
              <a:rPr lang="ko-KR" altLang="en-US" sz="900" dirty="0"/>
              <a:t>물류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895CE-E0B3-AA36-3BFC-1A710ACF14BC}"/>
              </a:ext>
            </a:extLst>
          </p:cNvPr>
          <p:cNvSpPr txBox="1"/>
          <p:nvPr/>
        </p:nvSpPr>
        <p:spPr>
          <a:xfrm>
            <a:off x="4377164" y="5855270"/>
            <a:ext cx="4382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기타</a:t>
            </a:r>
            <a:endParaRPr lang="ko-KR" altLang="en-US" sz="9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97CC42-F9E6-C95A-8F2D-6929CCA2EC96}"/>
              </a:ext>
            </a:extLst>
          </p:cNvPr>
          <p:cNvSpPr txBox="1"/>
          <p:nvPr/>
        </p:nvSpPr>
        <p:spPr>
          <a:xfrm>
            <a:off x="3449428" y="4395225"/>
            <a:ext cx="3580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&lt;2020</a:t>
            </a:r>
            <a:r>
              <a:rPr lang="ko-KR" altLang="en-US" sz="1400" spc="-50" dirty="0"/>
              <a:t>년도 일반회계 세출예산 내역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CA29D0-D6E1-4AF3-6852-C14B30E8DCD9}"/>
              </a:ext>
            </a:extLst>
          </p:cNvPr>
          <p:cNvSpPr txBox="1"/>
          <p:nvPr/>
        </p:nvSpPr>
        <p:spPr>
          <a:xfrm>
            <a:off x="6341166" y="5855270"/>
            <a:ext cx="3949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인건비</a:t>
            </a:r>
            <a:endParaRPr lang="ko-KR" alt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7C9CBF-B384-8B02-245F-225428B57E8F}"/>
              </a:ext>
            </a:extLst>
          </p:cNvPr>
          <p:cNvSpPr txBox="1"/>
          <p:nvPr/>
        </p:nvSpPr>
        <p:spPr>
          <a:xfrm>
            <a:off x="6649057" y="5855270"/>
            <a:ext cx="39491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물건비</a:t>
            </a:r>
            <a:endParaRPr lang="ko-KR" alt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B27C6F-C567-0C14-B997-0328FF228790}"/>
              </a:ext>
            </a:extLst>
          </p:cNvPr>
          <p:cNvSpPr txBox="1"/>
          <p:nvPr/>
        </p:nvSpPr>
        <p:spPr>
          <a:xfrm>
            <a:off x="7537394" y="5855270"/>
            <a:ext cx="88524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이전지출</a:t>
            </a:r>
            <a:endParaRPr lang="ko-KR" altLang="en-US" sz="9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E5DED9-D13D-359E-956A-E9CFA8907E11}"/>
              </a:ext>
            </a:extLst>
          </p:cNvPr>
          <p:cNvSpPr txBox="1"/>
          <p:nvPr/>
        </p:nvSpPr>
        <p:spPr>
          <a:xfrm>
            <a:off x="8926223" y="5855270"/>
            <a:ext cx="3949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자산취득</a:t>
            </a:r>
            <a:endParaRPr lang="ko-KR" altLang="en-US" sz="9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C0A309-3581-54CE-AB71-34568B2AD423}"/>
              </a:ext>
            </a:extLst>
          </p:cNvPr>
          <p:cNvSpPr txBox="1"/>
          <p:nvPr/>
        </p:nvSpPr>
        <p:spPr>
          <a:xfrm>
            <a:off x="9049577" y="5855270"/>
            <a:ext cx="88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 err="1"/>
              <a:t>전출금</a:t>
            </a:r>
            <a:r>
              <a:rPr lang="ko-KR" altLang="en-US" sz="900" spc="-50" dirty="0"/>
              <a:t> 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등</a:t>
            </a:r>
            <a:endParaRPr lang="ko-KR" alt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DDF100-F10A-0C7A-CA89-1D976707B036}"/>
              </a:ext>
            </a:extLst>
          </p:cNvPr>
          <p:cNvSpPr txBox="1"/>
          <p:nvPr/>
        </p:nvSpPr>
        <p:spPr>
          <a:xfrm>
            <a:off x="9382097" y="5855270"/>
            <a:ext cx="885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타</a:t>
            </a:r>
            <a:endParaRPr lang="en-US" altLang="ko-KR" sz="900" spc="-50" dirty="0"/>
          </a:p>
        </p:txBody>
      </p:sp>
    </p:spTree>
    <p:extLst>
      <p:ext uri="{BB962C8B-B14F-4D97-AF65-F5344CB8AC3E}">
        <p14:creationId xmlns:p14="http://schemas.microsoft.com/office/powerpoint/2010/main" val="3084715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B7BEF-C226-D189-642D-662ABE3EB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22787-6FCB-7528-CE48-5B11C5E89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특별회계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451EC9-0BE1-0B9B-5C96-305739ED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3F906F-E76D-362B-BA3E-07D726B71981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수행하고 있는 예산사업의 성격상 일반회계와 별도로 특별한 회계를 만들어 관리하는 것이 바람직한 경우가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예를 들어 어떤 사업의 성격이 독특해 별도의 관리를 </a:t>
            </a:r>
            <a:r>
              <a:rPr lang="ko-KR" altLang="en-US" sz="1600" spc="-50" dirty="0" err="1"/>
              <a:t>요구한다든지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아니면 세입과 세출을 한꺼번에 묶어 다로 관리할 필요가 있는 등의 이유로 특별회계를 만들어 운영하게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설립목적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운영 주체 등 </a:t>
            </a:r>
            <a:r>
              <a:rPr lang="ko-KR" altLang="en-US" sz="1600" spc="-50" dirty="0" err="1"/>
              <a:t>여러사항들을</a:t>
            </a:r>
            <a:r>
              <a:rPr lang="ko-KR" altLang="en-US" sz="1600" spc="-50" dirty="0"/>
              <a:t> 규정한 개별 법률이 특별회계를 뒷받침하고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일반예산과 마찬가지로 행정부가 편성하고 국회의 심의를 받아 의결되는 과정을 거쳐야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우리나라에는 기업특별회계와 기타특별회계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두 범주로 나누어 운영하고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기업특별회계는 공기업과 관련된 특별회계의 범주를 의미한다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양곡관리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우편사업 등 </a:t>
            </a:r>
            <a:r>
              <a:rPr lang="en-US" altLang="ko-KR" sz="1600" spc="-50" dirty="0"/>
              <a:t>5</a:t>
            </a:r>
            <a:r>
              <a:rPr lang="ko-KR" altLang="en-US" sz="1600" spc="-50" dirty="0"/>
              <a:t>가지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기타특별회계에서는 교통시설특별회계가 특별회계 총 예산에서 가장 큰 비중</a:t>
            </a:r>
            <a:r>
              <a:rPr lang="en-US" altLang="ko-KR" sz="1600" spc="-50" dirty="0"/>
              <a:t>(22.6%)</a:t>
            </a:r>
            <a:r>
              <a:rPr lang="ko-KR" altLang="en-US" sz="1600" spc="-50" dirty="0"/>
              <a:t>을 차지하고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그 밖에 환경개선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농어촌구조개선 등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가지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특별회계의 바람직한 규모는 명확히 정할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예산통일의 원칙 관점에서는 일반회계의 예외 경우인 특별회계의 수는 적을수록 바람직하다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너무 많은 특별회계를 운영하면 국회와 국민이 그 예산을 감시하고 통제하는 일이 어려워진다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특별회계의 설치는 행정기관에 자유재량의 여지를 넓혀 줌으로 인해 행정능률과 경영능률 향상에 기여하는 측면이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35625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9BA4A-1962-A081-5985-4994B8526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F06C1-62E1-9E5F-EAC0-6168E4784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869A00-DE85-CDA6-CA3C-8B3DDDF2C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C2F832-4628-8F54-108D-BDD4D293C282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기금은 특별한 목적을 수행하기 위해 특정한 자금을 예산과는 독립적으로 운영할 필요가 있을 때 설치된다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설명한 일반회계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특별회계의 경우에는 국회의 심의와 의결을 거쳐야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까다로운 규정들이 적용되기 때문에 경직성을 가질 수 밖에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까다로운 규정은 행정부의 자의적 행동을 규제한다는 긍정적 측면을 갖고 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경제상황의 변화에 유연한 대처가 어렵다는 단점이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이런 문제를 해결 하고자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특정한 자금을 예산의 틀 밖에서 기금을 탄력적으로 운영하고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기금은 특정한 수입을 특정한 지출에 사용할 수 있도록 하기 위해 설립되는 것이기 때문에 유용하게 활용할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예산의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특정한 세입을 특정한 세출목적과 결부시키는 것을 금지하는 목적구속금지의 원칙에 기초하고 있기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세입과 세출의 측면을 유기적으로 연관시켜 사업을 효율적으로 추진하기 힘들다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목적구속금지 원칙의 예외로 목적세가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현실적인 제약으로 인해 너무 많은 목적세를 운영할 수는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각 부처가 경쟁적으로 수많은 기금들을 설립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운영해왔다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현재 무려 </a:t>
            </a:r>
            <a:r>
              <a:rPr lang="en-US" altLang="ko-KR" sz="1600" spc="-50" dirty="0"/>
              <a:t>67</a:t>
            </a:r>
            <a:r>
              <a:rPr lang="ko-KR" altLang="en-US" sz="1600" spc="-50" dirty="0"/>
              <a:t>개의 기금이 존재하고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총 운용규모는 일반회계 예산규모의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배에 가까운 </a:t>
            </a:r>
            <a:r>
              <a:rPr lang="en-US" altLang="ko-KR" sz="1600" spc="-50" dirty="0"/>
              <a:t>724.8</a:t>
            </a:r>
            <a:r>
              <a:rPr lang="ko-KR" altLang="en-US" sz="1600" spc="-50" dirty="0"/>
              <a:t>조원이다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5699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AFC8-4A57-91D3-26A9-DFD7539B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8C70F-1F6D-D72B-53B1-B97995F0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30A23-7035-123F-C4C4-AABFA58A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9987B19-3EC7-FC76-E623-3268B9EE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정부지출의 수준과 구성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62029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BBE2F-5E20-744C-9432-8FCF8D19F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F7115-CAED-6AB9-0435-998FA0B3A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17B6A6-631E-CF99-0A4F-8B916A8C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014B1-403E-7BFA-D5DB-8CE5492D9064}"/>
              </a:ext>
            </a:extLst>
          </p:cNvPr>
          <p:cNvSpPr txBox="1"/>
          <p:nvPr/>
        </p:nvSpPr>
        <p:spPr>
          <a:xfrm>
            <a:off x="288790" y="958844"/>
            <a:ext cx="116936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번 슬라이드의 표에는 중앙정부의 재정규모가 국내총생산</a:t>
            </a:r>
            <a:r>
              <a:rPr lang="en-US" altLang="ko-KR" sz="1600" spc="-50" dirty="0"/>
              <a:t>(GDP)</a:t>
            </a:r>
            <a:r>
              <a:rPr lang="ko-KR" altLang="en-US" sz="1600" spc="-50" dirty="0"/>
              <a:t>과 대비되어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보면 중앙정부 재정의 규모가 국내총생산보다 상대적으로 더 빠른 속도로 커져온 추세를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중앙정부의 재정규모를 국내총생산으로 나눈 비율이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17.0%</a:t>
            </a:r>
            <a:r>
              <a:rPr lang="ko-KR" altLang="en-US" sz="1600" spc="-50" dirty="0"/>
              <a:t>였지만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23.8% </a:t>
            </a:r>
            <a:r>
              <a:rPr lang="ko-KR" altLang="en-US" sz="1600" spc="-50" dirty="0"/>
              <a:t>수준까지 증가하였다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</a:t>
            </a:r>
            <a:r>
              <a:rPr lang="ko-KR" altLang="en-US" sz="1600" spc="-50" dirty="0" err="1"/>
              <a:t>설명했다시피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국내총생산 대비 재정규모 비중의 적정한 수준이라는 것은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우리나라의 재정규모를 다른 나라와 비교를 해보면 아래의 그림과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국제통화기금</a:t>
            </a:r>
            <a:r>
              <a:rPr lang="en-US" altLang="ko-KR" sz="1600" spc="-50" dirty="0"/>
              <a:t>(IMF)</a:t>
            </a:r>
            <a:r>
              <a:rPr lang="ko-KR" altLang="en-US" sz="1600" spc="-50" dirty="0"/>
              <a:t>에서 정리한 자료로서 우리나라를 포함한 </a:t>
            </a:r>
            <a:r>
              <a:rPr lang="en-US" altLang="ko-KR" sz="1600" spc="-50" dirty="0"/>
              <a:t>9</a:t>
            </a:r>
            <a:r>
              <a:rPr lang="ko-KR" altLang="en-US" sz="1600" spc="-50" dirty="0"/>
              <a:t>개국의 국내총생산</a:t>
            </a:r>
            <a:r>
              <a:rPr lang="en-US" altLang="ko-KR" sz="1600" spc="-50" dirty="0"/>
              <a:t>(GDP)</a:t>
            </a:r>
            <a:r>
              <a:rPr lang="ko-KR" altLang="en-US" sz="1600" spc="-50" dirty="0"/>
              <a:t>에서 중앙정부의 지출이 차지하는 비중을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현재 우리나라의 재정규모는 선진국은 물론 우리와 비슷한 소득수준의 다른 나라들에 비해 작은 편에 속한다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이러한 사실을 토대로 우리나라 재정규모가 더 커지는 것이 </a:t>
            </a:r>
            <a:r>
              <a:rPr lang="ko-KR" altLang="en-US" sz="1600" spc="-50" dirty="0" err="1"/>
              <a:t>바람직</a:t>
            </a:r>
            <a:endParaRPr lang="en-US" altLang="ko-KR" sz="1600" spc="-50" dirty="0"/>
          </a:p>
          <a:p>
            <a:pPr marL="549275" lvl="1">
              <a:lnSpc>
                <a:spcPct val="150000"/>
              </a:lnSpc>
            </a:pPr>
            <a:r>
              <a:rPr lang="ko-KR" altLang="en-US" sz="1600" spc="-50" dirty="0"/>
              <a:t>     하다는 규범적인 주장까지 이르면 문제가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나라마다 여건이 다르므로 반드시 선례를 따를 이유는 없기 때문이다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43C4891-2E8B-D060-BF69-2DC554C56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0680" y="4350863"/>
            <a:ext cx="3782238" cy="2239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98E4DD-2FD6-1F2A-1559-15F0CAE69303}"/>
              </a:ext>
            </a:extLst>
          </p:cNvPr>
          <p:cNvSpPr txBox="1"/>
          <p:nvPr/>
        </p:nvSpPr>
        <p:spPr>
          <a:xfrm>
            <a:off x="8081759" y="4073566"/>
            <a:ext cx="358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중앙정부 지출이 </a:t>
            </a:r>
            <a:r>
              <a:rPr lang="en-US" altLang="ko-KR" sz="1200" spc="-50" dirty="0"/>
              <a:t>GDP</a:t>
            </a:r>
            <a:r>
              <a:rPr lang="ko-KR" altLang="en-US" sz="1200" spc="-50" dirty="0"/>
              <a:t>에서 차지하는 비중 </a:t>
            </a:r>
            <a:r>
              <a:rPr lang="en-US" altLang="ko-KR" sz="1200" spc="-50" dirty="0"/>
              <a:t>(2018)&gt;</a:t>
            </a:r>
            <a:endParaRPr lang="ko-KR" alt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F0DF43-2152-49C6-FC05-5CEDCC8D6E3D}"/>
              </a:ext>
            </a:extLst>
          </p:cNvPr>
          <p:cNvSpPr txBox="1"/>
          <p:nvPr/>
        </p:nvSpPr>
        <p:spPr>
          <a:xfrm>
            <a:off x="10901159" y="6259908"/>
            <a:ext cx="686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50" dirty="0"/>
              <a:t>단위</a:t>
            </a:r>
            <a:r>
              <a:rPr lang="en-US" altLang="ko-KR" sz="1200" spc="-50" dirty="0"/>
              <a:t>: %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821279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3C622-CBE5-AFFA-6202-009FA890A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BDAA2D-1A0A-BA9E-036C-2D652B1D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B70C85-8A88-3D62-8E68-86852C71FC03}"/>
              </a:ext>
            </a:extLst>
          </p:cNvPr>
          <p:cNvSpPr txBox="1"/>
          <p:nvPr/>
        </p:nvSpPr>
        <p:spPr>
          <a:xfrm>
            <a:off x="288790" y="958844"/>
            <a:ext cx="1169366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현재의 재정규모가 적정한 것인지 평가 하려면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하는 일을 자세히 살펴보아야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낭비를 삼가고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꼭 필요한 활동만 효율적으로 하면 작은 정부라면 문제가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한편 정부가 당연히 해야 할 일도 하지 못하는 작은 정부라면 문제가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아래의 표를 보면 우리나라의 국내총생산 대비 공공부문 사회적 지출 비중이 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국가들 중 최하위인 것을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선진국들은 국내총생산의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내외를 사회적 지출로 사용하지만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우리나라는 </a:t>
            </a:r>
            <a:r>
              <a:rPr lang="en-US" altLang="ko-KR" sz="1600" spc="-50" dirty="0"/>
              <a:t>10%</a:t>
            </a:r>
            <a:r>
              <a:rPr lang="ko-KR" altLang="en-US" sz="1600" spc="-50" dirty="0"/>
              <a:t>대에 머물고 있다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333A60E-5062-F52A-B60E-6DB915EAA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984225"/>
              </p:ext>
            </p:extLst>
          </p:nvPr>
        </p:nvGraphicFramePr>
        <p:xfrm>
          <a:off x="701293" y="3427852"/>
          <a:ext cx="10413750" cy="29713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1990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2000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2010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2015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2018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오스트레일리아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캐나다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덴마크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노르웨이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스웨덴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0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EBF603-E318-D48E-639D-893C9CC291FE}"/>
              </a:ext>
            </a:extLst>
          </p:cNvPr>
          <p:cNvSpPr txBox="1"/>
          <p:nvPr/>
        </p:nvSpPr>
        <p:spPr>
          <a:xfrm>
            <a:off x="2801470" y="3122020"/>
            <a:ext cx="5336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&lt;OECD </a:t>
            </a:r>
            <a:r>
              <a:rPr lang="ko-KR" altLang="en-US" sz="1400" spc="-50" dirty="0"/>
              <a:t>국가들의 국내총생산 대비 공공부문 사회적 지출의 비율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885300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0F98-1AB4-900F-C3D7-72007327F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508D5E-778D-8BCA-A514-0192E7917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지출의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2BCB87-B27B-FC9A-83F3-F5996A19A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139C8-8E95-9150-3056-2BF0CF453D31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표는 정부 지출의 기능별 배분 추이를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년부터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년까지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사회복지 부문의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8.9%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17.1%</a:t>
            </a:r>
            <a:r>
              <a:rPr lang="ko-KR" altLang="en-US" sz="1600" spc="-50" dirty="0"/>
              <a:t>에 이르는 수준으로 크게 높아졌다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국민의 삶의 질 향상을 위해 지속적으로 노력한 결과라고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국방비의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25%</a:t>
            </a:r>
            <a:r>
              <a:rPr lang="ko-KR" altLang="en-US" sz="1600" spc="-50" dirty="0"/>
              <a:t>에서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14.1%</a:t>
            </a:r>
            <a:r>
              <a:rPr lang="ko-KR" altLang="en-US" sz="1600" spc="-50" dirty="0"/>
              <a:t>의 수준으로 그 비중이 계속 줄어들었다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다른 나라에 비하면 여전히 우리나라의 국방비 지출 비중은 상대적으로 높은 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교육분야의 경우 꾸준히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내외 수준을 유지하고 있어 중요한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경제분야의 경우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년대에는 </a:t>
            </a:r>
            <a:r>
              <a:rPr lang="en-US" altLang="ko-KR" sz="1600" spc="-50" dirty="0"/>
              <a:t>20% </a:t>
            </a:r>
            <a:r>
              <a:rPr lang="ko-KR" altLang="en-US" sz="1600" spc="-50" dirty="0"/>
              <a:t>수준이었으나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14.5%</a:t>
            </a:r>
            <a:r>
              <a:rPr lang="ko-KR" altLang="en-US" sz="1600" spc="-50" dirty="0"/>
              <a:t>까지 줄어들었다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경제발전 초기에는 정부가 경제에 깊숙이 개입했지만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현재는 개입의 범위를 줄여가고 있다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4C7F84E-379F-A9A9-B6D6-CB8F23EF0D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982798"/>
              </p:ext>
            </p:extLst>
          </p:nvPr>
        </p:nvGraphicFramePr>
        <p:xfrm>
          <a:off x="701293" y="4317068"/>
          <a:ext cx="10413753" cy="227041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767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338277554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1783205468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사회복지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국방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경제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255B126-01FB-50EE-F291-9D2B7A1CBFCA}"/>
              </a:ext>
            </a:extLst>
          </p:cNvPr>
          <p:cNvSpPr txBox="1"/>
          <p:nvPr/>
        </p:nvSpPr>
        <p:spPr>
          <a:xfrm>
            <a:off x="2801470" y="4011236"/>
            <a:ext cx="53366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일반회계의 기능별 세출비중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41030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09412-C19A-4290-3307-F76585F2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88FA50-5A64-CB2C-A9CC-AC1B6182F7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FBBE6E-76A7-CC95-FDC2-5AFB7A5D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298C76-ECF9-2277-6763-6ECCF0FA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조세제도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80565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86259-671B-F062-8351-75E300F38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BB8EBF-4393-A8DD-8CF1-E9B724A2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조세부담률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98386-B654-43BA-2A03-B2E4BAFB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8D68F-139D-CBA8-A14E-41372BE66B81}"/>
              </a:ext>
            </a:extLst>
          </p:cNvPr>
          <p:cNvSpPr txBox="1"/>
          <p:nvPr/>
        </p:nvSpPr>
        <p:spPr>
          <a:xfrm>
            <a:off x="288790" y="958844"/>
            <a:ext cx="11693660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에서 보았듯이 우리나라의 재정규모는 경제성장 속도보다 더 빠른 속도로 팽창해왔다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아래 왼쪽 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표에서 </a:t>
            </a:r>
            <a:r>
              <a:rPr lang="ko-KR" altLang="en-US" sz="1600" spc="-50" dirty="0" err="1"/>
              <a:t>조세부담률</a:t>
            </a:r>
            <a:r>
              <a:rPr lang="ko-KR" altLang="en-US" sz="1600" spc="-50" dirty="0"/>
              <a:t> 추이를 보면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16.6% </a:t>
            </a:r>
            <a:r>
              <a:rPr lang="ko-KR" altLang="en-US" sz="1600" spc="-50" dirty="0"/>
              <a:t>수준이었던 것이 꾸준히 상승하여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년에는 </a:t>
            </a:r>
            <a:r>
              <a:rPr lang="en-US" altLang="ko-KR" sz="1600" spc="-50" dirty="0"/>
              <a:t>19.8%</a:t>
            </a:r>
            <a:r>
              <a:rPr lang="ko-KR" altLang="en-US" sz="1600" spc="-50" dirty="0"/>
              <a:t>까지 높아졌다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외국과 비교해보면 우리나라의 </a:t>
            </a:r>
            <a:r>
              <a:rPr lang="ko-KR" altLang="en-US" sz="1600" spc="-50" dirty="0" err="1"/>
              <a:t>조세부담률은</a:t>
            </a:r>
            <a:r>
              <a:rPr lang="ko-KR" altLang="en-US" sz="1600" spc="-50" dirty="0"/>
              <a:t> 상대적으로 낮은 수준이다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아래 오른쪽 표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선진국들의 </a:t>
            </a:r>
            <a:r>
              <a:rPr lang="ko-KR" altLang="en-US" sz="1600" spc="-50" dirty="0" err="1"/>
              <a:t>조세부담률이</a:t>
            </a:r>
            <a:r>
              <a:rPr lang="ko-KR" altLang="en-US" sz="1600" spc="-50" dirty="0"/>
              <a:t> 높은 것은 정부가 사회복지 측면에서 적극적인 활동을 벌이고 있기 때문이다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880D263-E644-2D6C-2D79-6935DD9AD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860779"/>
              </p:ext>
            </p:extLst>
          </p:nvPr>
        </p:nvGraphicFramePr>
        <p:xfrm>
          <a:off x="396137" y="3157765"/>
          <a:ext cx="8366862" cy="330721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94477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394477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360135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국내총생산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명목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GDP)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국민조세부담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조세부담률</a:t>
                      </a:r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(%)</a:t>
                      </a: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470954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지방세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292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1995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437.0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72.10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651.6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113.50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127.5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163.50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2010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1,322.6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226.90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1,658.0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217.9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288.90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1,740.8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242.6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318.10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265.4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80.4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345.80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2018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1,898.2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377.90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2019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1,919.0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293.5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379.04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B3480EA-11E9-68E9-83E5-0606E65C5675}"/>
              </a:ext>
            </a:extLst>
          </p:cNvPr>
          <p:cNvSpPr txBox="1"/>
          <p:nvPr/>
        </p:nvSpPr>
        <p:spPr>
          <a:xfrm>
            <a:off x="2948509" y="283558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조세부담률의</a:t>
            </a:r>
            <a:r>
              <a:rPr lang="ko-KR" altLang="en-US" sz="1400" spc="-50" dirty="0"/>
              <a:t> 변화 추이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CDBD6CB-3D32-8E54-4162-057E2F9AD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715283"/>
              </p:ext>
            </p:extLst>
          </p:nvPr>
        </p:nvGraphicFramePr>
        <p:xfrm>
          <a:off x="8932334" y="3157765"/>
          <a:ext cx="2975358" cy="330722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7679">
                  <a:extLst>
                    <a:ext uri="{9D8B030D-6E8A-4147-A177-3AD203B41FA5}">
                      <a16:colId xmlns:a16="http://schemas.microsoft.com/office/drawing/2014/main" val="2325053829"/>
                    </a:ext>
                  </a:extLst>
                </a:gridCol>
                <a:gridCol w="1487679">
                  <a:extLst>
                    <a:ext uri="{9D8B030D-6E8A-4147-A177-3AD203B41FA5}">
                      <a16:colId xmlns:a16="http://schemas.microsoft.com/office/drawing/2014/main" val="1849595612"/>
                    </a:ext>
                  </a:extLst>
                </a:gridCol>
              </a:tblGrid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국가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조세부담률</a:t>
                      </a:r>
                      <a:endParaRPr lang="en-US" altLang="ko-KR" sz="105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654906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05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839663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486497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423549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영국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046706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프랑스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8820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336293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덴마크</a:t>
                      </a:r>
                      <a:endParaRPr lang="en-US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704078"/>
                  </a:ext>
                </a:extLst>
              </a:tr>
              <a:tr h="3674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 </a:t>
                      </a:r>
                      <a:r>
                        <a:rPr lang="ko-KR" alt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altLang="ko-KR" sz="105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9989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5F8CDE6-9CBB-6D08-0B29-C34011522AD7}"/>
              </a:ext>
            </a:extLst>
          </p:cNvPr>
          <p:cNvSpPr txBox="1"/>
          <p:nvPr/>
        </p:nvSpPr>
        <p:spPr>
          <a:xfrm>
            <a:off x="9092863" y="2835586"/>
            <a:ext cx="26543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 err="1"/>
              <a:t>조세부담률의</a:t>
            </a:r>
            <a:r>
              <a:rPr lang="ko-KR" altLang="en-US" sz="1400" spc="-50" dirty="0"/>
              <a:t> 국제비교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67056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61B86-662E-5586-CCE7-462308174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B12154-34D1-9A9C-04FE-D23C7D47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소득과세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243109-A14D-3C51-5731-77D81EB9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E9470-75AB-024D-4B37-29607FCC6B5F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8</a:t>
            </a:r>
            <a:r>
              <a:rPr lang="ko-KR" altLang="en-US" sz="1600" spc="-50" dirty="0"/>
              <a:t>에서 보았듯이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우리나라 국세는 과세대상이 무엇인가에 따라 소득과세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소비과세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재산과세로 분류한다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소득세와 법인세로 구성된 소득과세가 전체 국세수입의 </a:t>
            </a:r>
            <a:r>
              <a:rPr lang="en-US" altLang="ko-KR" sz="1600" spc="-50" dirty="0"/>
              <a:t>53.1%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 모두 경제주체에게 직접적으로 세금을 부과하는 직접세의 성격을 갖는다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직접세는 납세자의 조세부담 능력에 따라 세금의 크기를 결정하는 것이므로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통해 </a:t>
            </a:r>
            <a:r>
              <a:rPr lang="ko-KR" altLang="en-US" sz="1600" spc="-50" dirty="0" err="1"/>
              <a:t>어느정도의</a:t>
            </a:r>
            <a:r>
              <a:rPr lang="ko-KR" altLang="en-US" sz="1600" spc="-50" dirty="0"/>
              <a:t> 소득 재분배 효과를 얻을 수 있다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소비과세 중심의 간접세는 상품이나 경제활동을 대상으로 부과하므로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누가 그 세금을 부담하게 될지 알 수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간접세의 경우 납세자의 조세부담 능력에 맞춰 세금의 크기를 결정하기 어렵다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이러한 측면에서 직접세의 비중이 클 수록 </a:t>
            </a:r>
            <a:r>
              <a:rPr lang="ko-KR" altLang="en-US" sz="1600" spc="-50" dirty="0" err="1"/>
              <a:t>공평성</a:t>
            </a:r>
            <a:r>
              <a:rPr lang="ko-KR" altLang="en-US" sz="1600" spc="-50" dirty="0"/>
              <a:t> 측면에서 바람직하다고 여기는 경향이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직접세와 간접세 간의 비중만을 두고 모든 것을 판단할 수 없다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 descr="텍스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3621AE-0A91-A814-745A-B6755106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622" y="4635500"/>
            <a:ext cx="1885374" cy="184573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C74370-63C0-454B-6B74-3D86AA1A5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099" y="4546765"/>
            <a:ext cx="2035813" cy="2065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593426A-B47D-7F3E-2CE4-B4353507D63D}"/>
              </a:ext>
            </a:extLst>
          </p:cNvPr>
          <p:cNvSpPr txBox="1"/>
          <p:nvPr/>
        </p:nvSpPr>
        <p:spPr>
          <a:xfrm>
            <a:off x="2230967" y="4387646"/>
            <a:ext cx="33249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/>
              <a:t>중앙정부의 조세수입 내역 </a:t>
            </a:r>
            <a:r>
              <a:rPr lang="en-US" altLang="ko-KR" sz="1050" spc="-50" dirty="0"/>
              <a:t>(2019</a:t>
            </a:r>
            <a:r>
              <a:rPr lang="ko-KR" altLang="en-US" sz="1050" spc="-50" dirty="0"/>
              <a:t>년도</a:t>
            </a:r>
            <a:r>
              <a:rPr lang="en-US" altLang="ko-KR" sz="1050" spc="-50" dirty="0"/>
              <a:t>)&gt;</a:t>
            </a:r>
            <a:endParaRPr lang="ko-KR" altLang="en-US" sz="10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4F0993-12F7-6AE6-2169-C13653F22D72}"/>
              </a:ext>
            </a:extLst>
          </p:cNvPr>
          <p:cNvSpPr txBox="1"/>
          <p:nvPr/>
        </p:nvSpPr>
        <p:spPr>
          <a:xfrm>
            <a:off x="5617633" y="4235839"/>
            <a:ext cx="33249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050" spc="-50" dirty="0"/>
              <a:t>&lt;</a:t>
            </a:r>
            <a:r>
              <a:rPr lang="ko-KR" altLang="en-US" sz="1050" spc="-50" dirty="0"/>
              <a:t>현행 국세체계 </a:t>
            </a:r>
            <a:r>
              <a:rPr lang="en-US" altLang="ko-KR" sz="1050" spc="-50" dirty="0"/>
              <a:t>(2020</a:t>
            </a:r>
            <a:r>
              <a:rPr lang="ko-KR" altLang="en-US" sz="1050" spc="-50" dirty="0"/>
              <a:t>년도</a:t>
            </a:r>
            <a:r>
              <a:rPr lang="en-US" altLang="ko-KR" sz="1050" spc="-50" dirty="0"/>
              <a:t>)&gt;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24049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2D1B66-8063-CE95-696C-4A21AC30F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소득과세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2DF105-A148-7096-4ADF-D126DF7C2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1D0E20-B15F-780F-0CE9-F5F80446BD4A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실제로 조세부담이 공평하게 분배되고 있는지는 어떤 종류의 조세가 어떤 방식으로 부과되고 있는지 직접 관찰하는 방법을 통해서만 알아볼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납세자의 경제적 능력을 감안해 과세한다는 점에서 소득세가 가장 바람직하다고 볼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실제로 소득세가 어떻게 운영되고 있는지에 따라 부담이 분배되는 양상이 크게 달라질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하위 소득계층의 주요 수입원인 근로소득에 대한 과세를 강화한다면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외형상의 수치가 시사하는 바와는 정반대의 실질적 결과가 나타날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우리나라에서 공평한 조세부담의 분배가 이루어지지 못하고 있는 것은 다음과 같은 측면에서 문제점을 갖고 있기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매우 큰 규모의 탈세가 행해지고 있는 지하경제가 만연하고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근로소득은 빠짐없이 과세대상에 포함이 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사업소득의 경우 과세대상에서 빠져 나가는 부분이 크다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의사나 변호사 같은 전문직 종사자들의 납세액은 실제 소득에 비해 굉장히 적다는 사실은 널리 알려져 있다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증여세를 제대로 부과하지 못하면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아무런 세금 부담 없이 다음 세대로 부를 </a:t>
            </a:r>
            <a:r>
              <a:rPr lang="ko-KR" altLang="en-US" sz="1600" spc="-50" dirty="0" err="1"/>
              <a:t>세습시킬</a:t>
            </a:r>
            <a:r>
              <a:rPr lang="ko-KR" altLang="en-US" sz="1600" spc="-50" dirty="0"/>
              <a:t> 수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우리나라의 경우 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증여세는 납세자들이 내려는 의도가 있을 때만 거둘 수 있다는 느낌을 받는다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위에서 언급한 소득세와 상속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증여세의 문제점을 개선하면 직접세의 비중은 자연히 커질 것이고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공평한 조세체계를 달성할 수 있을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72945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C352-A9D3-46F3-351F-2399FCA6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161A15-39D2-2449-6F3D-C6DB2200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소비과세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FD821A-7952-090A-A5B7-A79F9B1C8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EA7051-15F0-FDF4-28A1-334455FBFB01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소비과세에는 부가가치세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개별소비세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 err="1"/>
              <a:t>환경세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주세 등이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세금은 보통 재화나 서비스를 판매하는 사람이 세금을 납부하도록 되어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실제 조세부담은 소비자들이 진다는 의미에서 간접세로 분류된다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슬라이드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를 보면</a:t>
            </a:r>
            <a:r>
              <a:rPr lang="en-US" altLang="ko-KR" sz="1600" spc="-50" dirty="0"/>
              <a:t>, 2019</a:t>
            </a:r>
            <a:r>
              <a:rPr lang="ko-KR" altLang="en-US" sz="1600" spc="-50" dirty="0"/>
              <a:t>년 중앙정부의 조세수입 중 소비과세로부터의 수입이 </a:t>
            </a:r>
            <a:r>
              <a:rPr lang="en-US" altLang="ko-KR" sz="1600" spc="-50" dirty="0"/>
              <a:t>36.3%</a:t>
            </a:r>
            <a:r>
              <a:rPr lang="ko-KR" altLang="en-US" sz="1600" spc="-50" dirty="0"/>
              <a:t>의 비중을 차지 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중에서도 부가가치세가 </a:t>
            </a:r>
            <a:r>
              <a:rPr lang="en-US" altLang="ko-KR" sz="1600" spc="-50" dirty="0"/>
              <a:t>66.5%</a:t>
            </a:r>
            <a:r>
              <a:rPr lang="ko-KR" altLang="en-US" sz="1600" spc="-50" dirty="0"/>
              <a:t>로 가장 큰 비중을 차지하고 있었다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부가가치세 수입은 전체 조세수입 중 </a:t>
            </a:r>
            <a:r>
              <a:rPr lang="en-US" altLang="ko-KR" sz="1600" spc="-50" dirty="0"/>
              <a:t>24.1%</a:t>
            </a:r>
            <a:r>
              <a:rPr lang="ko-KR" altLang="en-US" sz="1600" spc="-50" dirty="0"/>
              <a:t>를 차지하여 법인세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소득세에 이어 세번째로 높은 비중을 차지한다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부가가치세는 </a:t>
            </a:r>
            <a:r>
              <a:rPr lang="en-US" altLang="ko-KR" sz="1600" spc="-50" dirty="0"/>
              <a:t>10%</a:t>
            </a:r>
            <a:r>
              <a:rPr lang="ko-KR" altLang="en-US" sz="1600" spc="-50" dirty="0"/>
              <a:t>의 단일세율을 적용하고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거의 모든 상품을 부과대상으로 하므로 단 </a:t>
            </a:r>
            <a:r>
              <a:rPr lang="en-US" altLang="ko-KR" sz="1600" spc="-50" dirty="0"/>
              <a:t>1%</a:t>
            </a:r>
            <a:r>
              <a:rPr lang="ko-KR" altLang="en-US" sz="1600" spc="-50" dirty="0"/>
              <a:t>포인트만 올려도 조세수입이 큰 폭으로 늘어난다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부가가치세는 </a:t>
            </a:r>
            <a:r>
              <a:rPr lang="ko-KR" altLang="en-US" sz="1600" spc="-50" dirty="0" err="1"/>
              <a:t>단일세율이므로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소득수준이 높을수록 소득에서 부가가치세가 차지하는 비중이 낮아지는 경향이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개별소비세는 이와 같은 부가가치세의 역진성을 상쇄시키는 역할을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개별소비세는 귀금속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고급 운동기구 등 사치재의 성격을 갖는 상품에 선별적으로 부과하는 경우가 많다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상품은 주로 중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고소득계층이 많이 소비하기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정도의 누진성을 갖게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9733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BDD3-DFE5-E83E-E7C1-0B30CCF13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6AAEA2-B924-3EE0-C3AA-663D5B446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소비과세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212A78-6CBF-EC1C-54F3-FD13F030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0B9FEB-257C-0B0F-82D5-ED31EFFEEDCB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하지만 개별소비세에 대해서는 다음과 같은 문제점이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제한된 품목에만 선별적으로 적용하기 때문에 소비자 선택에 교란을 일으킨다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 어떤 상품에 개별소비세가 부과될 예정이라는 것이 알려지면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해당 상품의 수요가 급등하게 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시간이 지남에 따라 더 이상 사치재로 볼 수 없어졌음에도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계속해서 개별소비세가 부과되는 경우이다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조세당국이 여건 변화에 적응하는 데 시차가 있을 수 밖에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업계의 이해관계가 얽혀 있어 문제가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환경세는 소비세의 일종이지만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대기오염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교통혼잡 등을 감소시키는 목적으로 부과되고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선택에 변화를 가져와 사회적으로 바람직한 결과를 이끌어낸다는 의미에서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앞서 개별소비세의 단점으로 지적한 소비자 선택의 교란과는 좋은 대조를 이룬다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교통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에너지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환경세는 우리나라 조세수입의 </a:t>
            </a:r>
            <a:r>
              <a:rPr lang="en-US" altLang="ko-KR" sz="1600" spc="-50" dirty="0"/>
              <a:t>5%</a:t>
            </a:r>
            <a:r>
              <a:rPr lang="ko-KR" altLang="en-US" sz="1600" spc="-50" dirty="0"/>
              <a:t>의 비중을 차지하고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부가가치세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법인세에 이어 정부의 중요한 재원조달 수단으로 활용되고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969883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A5C6F-952C-587C-E2DA-CEFD7FFFB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ECD242-AD5E-82FC-5605-25FD4E533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재산과세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6FA944-F78B-3E0B-B809-C46AF320C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18860-0159-C3D0-3F82-BFF6D7A12E68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재산과세는 부동산이나 주식과 같은 재산에 대해 부과하는 세금이다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재산을 거래할 때 부과되는 세금과 보유단계에 부과되는 세금으로 구분할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국세 중에서는 상속세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증여세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증권거래세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인지세는 거래단계에서 부과되는 재산세이고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종합부동산세는 보유단계에서 부과되는 재산세이다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지방세 중에서는 취득세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재산세 등이 재산과세로 분류된다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19</a:t>
            </a:r>
            <a:r>
              <a:rPr lang="ko-KR" altLang="en-US" sz="1600" spc="-50" dirty="0"/>
              <a:t>를 보면 </a:t>
            </a:r>
            <a:r>
              <a:rPr lang="en-US" altLang="ko-KR" sz="1600" spc="-50" dirty="0"/>
              <a:t>2019</a:t>
            </a:r>
            <a:r>
              <a:rPr lang="ko-KR" altLang="en-US" sz="1600" spc="-50" dirty="0"/>
              <a:t>년 중앙정부의 조세수입 중 </a:t>
            </a:r>
            <a:r>
              <a:rPr lang="en-US" altLang="ko-KR" sz="1600" spc="-50" dirty="0"/>
              <a:t>5.5% </a:t>
            </a:r>
            <a:r>
              <a:rPr lang="ko-KR" altLang="en-US" sz="1600" spc="-50" dirty="0"/>
              <a:t>정도만이 재산과세에 해당한다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소비과세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소득과세에 비해 자산과세의 비중은 매우 작다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재산과세 중 절반 가까운 비중을 상속세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증여세가 차지하고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뒤를 증권거래세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종합부동산세가 잇고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지방정부의 조세수입에서 재산과세가 차지하는 비중은 중앙정부보다 훨씬 더 높게 나타난다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뒤에서 배우겠지만 우리나라 지방세 수입에서 취득세와 재산세 같은 재산과세가 차지하는 비중은 상당히 높다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사실은 다른 </a:t>
            </a:r>
            <a:r>
              <a:rPr lang="ko-KR" altLang="en-US" sz="1600" spc="-50" dirty="0" err="1"/>
              <a:t>나라들에서도</a:t>
            </a:r>
            <a:r>
              <a:rPr lang="ko-KR" altLang="en-US" sz="1600" spc="-50" dirty="0"/>
              <a:t> 공통적으로 나타난다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2018</a:t>
            </a:r>
            <a:r>
              <a:rPr lang="ko-KR" altLang="en-US" sz="1600" spc="-50" dirty="0"/>
              <a:t>년 </a:t>
            </a:r>
            <a:r>
              <a:rPr lang="en-US" altLang="ko-KR" sz="1600" spc="-50" dirty="0"/>
              <a:t>OECD </a:t>
            </a:r>
            <a:r>
              <a:rPr lang="ko-KR" altLang="en-US" sz="1600" spc="-50" dirty="0"/>
              <a:t>국가 통계를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재산과세가 중앙정부의 조세수입에서 차지하는 비중은 평균 </a:t>
            </a:r>
            <a:r>
              <a:rPr lang="en-US" altLang="ko-KR" sz="1600" spc="-50" dirty="0"/>
              <a:t>3.3% </a:t>
            </a:r>
            <a:r>
              <a:rPr lang="ko-KR" altLang="en-US" sz="1600" spc="-50" dirty="0"/>
              <a:t>였으나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지방정부의 조세수입에서는 </a:t>
            </a:r>
            <a:r>
              <a:rPr lang="en-US" altLang="ko-KR" sz="1600" spc="-50" dirty="0"/>
              <a:t>47.1%</a:t>
            </a:r>
            <a:r>
              <a:rPr lang="ko-KR" altLang="en-US" sz="1600" spc="-50" dirty="0"/>
              <a:t>에 이르는 높은 비중을 차지하고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4357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8860D-2BCA-D94F-E924-91A412DD9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재산과세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97E1FC-E91E-264A-2BFF-AA787A449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E1FA4C-BB35-FE53-CB20-B282BBD3BE43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이처럼 지방정부의 조세수입에서 재산과세가 높은 비중을 차지하고 있는 이유는 다음과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편익성의 원칙에 비추어 볼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재산과세가 적합한 조세징수 수단이 될 수 있기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편익성의 원칙은 지역주민들이 지방정부가 제공하는 공공서비스로부터 얻은 편익에 대한 대가로 세금을 납부한다는 개념이다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예컨대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지역의 부동산 가격이 높은 것은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해당 지역정부가 교통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교육 등의 측면에서 좋은 여건을 제공한 덕분이라고 볼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이 지역의 부동산을 보유한 사람들은 재산과세를 통해 이에 대한 대가를 지불하는 것이 적합하다고 보는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둘째로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안정성의 원칙을 들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안정성의 원칙은 지방정부가 지속적 운영을 하려면 안정적인 조세수입을 확보하고 있어야 한다는 원칙이다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사람들은 세금부담을 피하고자 다른 지역으로 쉽게 이동할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토지나 건물 같은 부동산은 세금부담을 피하고자 다른 지역으로 이동해 가는 것이 불가능하다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따라서 사람들의 소득에 세금을 부과하는 것보다 지역 내 부동산에 대해 세금을 부과하는 것이 지방정부의 안정적인 조세수입 확보 측면에서 더 낫다고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재산세를 지방세의 중심축으로 삼는 것은 지역간 재정불균형을 </a:t>
            </a:r>
            <a:r>
              <a:rPr lang="ko-KR" altLang="en-US" sz="1600" spc="-50" dirty="0" err="1"/>
              <a:t>심화시키는</a:t>
            </a:r>
            <a:r>
              <a:rPr lang="ko-KR" altLang="en-US" sz="1600" spc="-50" dirty="0"/>
              <a:t> 문제를 야기할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서울과 지방의 주택 가격은 현저한 차이가 있으므로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이로부터 거둬들이는 세금의 규모도 큰 차이가 날 수 밖에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 지역간 재정불균형이 심하게 나타나는 것은 재산과세의 형태로 거두는 지방세 수입 차이에 기인하는 바가 크다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16125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C8CA-C4F9-74A9-2D8E-EB13DDC9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954D35-4A38-FBE2-F0C5-35FE818504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42638-489F-762B-19A2-A0904024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BA2A62-6583-91F7-FA37-1A59F7B3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지방재정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677401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17FE1-B59E-E933-8902-AC710633F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F7794-0B7B-BAD8-6E7C-372E802D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8545B2-678A-65D2-E325-73C481D6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D4ABA5-AB69-7519-AE6D-8070BF07DD7A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중앙정부가 모든 일을 도맡아서 하는 체제하에서는 재정운영도 획일적으로 이루어질 수 밖에 없으므로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지역의 특수한 사정과 지역주민들의 선호가 반영될 수 있도록 중앙정부와 지방정부 사이의 적절한 역할 분담이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우리나라는 오랫동안 중앙집권 체제를 유지해왔기 때문에 지방재정의 역할은 제한되어 있는 것이 사실이다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의 표를 참고하면 지방재정의 구성에 대한 윤곽을 확인할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넓은 의미에서 지방정부의 재정은 일반적인 지방정부가 관리하는 재정과 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도 교육청이 관리하는 교육재정으로 구성된다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그러나 교육재정은 지방재정과 별개로 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지방재정이라고 하면 교육재정을 제외한 지방정부의 재정을 의미하는 것이 보통이다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10DD79-4AE4-7606-A894-292A8ECE3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715" y="3782551"/>
            <a:ext cx="9264569" cy="266835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292C710-7F3C-6323-C4B3-5B5F81EB0A2A}"/>
              </a:ext>
            </a:extLst>
          </p:cNvPr>
          <p:cNvSpPr/>
          <p:nvPr/>
        </p:nvSpPr>
        <p:spPr>
          <a:xfrm>
            <a:off x="1463715" y="3581486"/>
            <a:ext cx="7741246" cy="1330147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F153D0E-3599-3DE8-181F-7F07EC1BC9E3}"/>
              </a:ext>
            </a:extLst>
          </p:cNvPr>
          <p:cNvSpPr/>
          <p:nvPr/>
        </p:nvSpPr>
        <p:spPr>
          <a:xfrm>
            <a:off x="1463714" y="4820194"/>
            <a:ext cx="3164892" cy="1600234"/>
          </a:xfrm>
          <a:prstGeom prst="rect">
            <a:avLst/>
          </a:prstGeom>
          <a:solidFill>
            <a:schemeClr val="bg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780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F6C48-17CB-08B7-ADF4-26B639E90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4A1B44-8978-E390-8646-957FA982F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B72F1B-32CC-F03E-EDB5-C4098A06E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A4035F-DDCA-1778-281A-B6C0852D74E3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중앙정부의 재정과 마찬가지로 지방정부의 재정도 예산과 기금으로 구성되며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예산은 일반회계와 특별회계로 구분된다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아래의 그림은 우리나라 지방재정의 구성을 보여주고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예산이 지방정부의 대부분을 차지하고 있으며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예산 중에서도 일반회계가 매우 큰 비중을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지방정부의 재정수입은 지방정부가 자체적으로 조달하는 자체재원과 중앙정부나 상위 지방정부로부터 지원받는 의존재원으로 구분할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자체재원은 지방정부가 거둬들이는 지방세 수입과 각종 사용료나 수수료 등의 세외수입이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의존재원에는 지방교부세와 보조금이 포함된다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지방교부세와 보조금은 중앙정부 또는 상위 지방정부가 자신의 재원 중 일부를 지방정부에게 지원해주는 것을 뜻한다</a:t>
            </a:r>
            <a:r>
              <a:rPr lang="en-US" altLang="ko-KR" sz="1600" spc="-1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지방교부세는 지방정부의 일반적인 행정운영에 사용할 수 있는 반면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보조금은 특정 목적을 위해서만 사용할 수 있도록 되어 있다는 점에서 차이가 있다</a:t>
            </a:r>
            <a:r>
              <a:rPr lang="en-US" altLang="ko-KR" sz="1600" spc="-1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100" dirty="0"/>
              <a:t>또한 지방정부는 필요에 따라 지방채 발행을 통해 재원을 마련할 수도 있다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442DBDF-B080-5823-0E4C-5ACAC11CC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331" y="5453674"/>
            <a:ext cx="3344087" cy="10444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1AE4A8-C53C-1BF6-6128-EB39E4BD246C}"/>
              </a:ext>
            </a:extLst>
          </p:cNvPr>
          <p:cNvSpPr txBox="1"/>
          <p:nvPr/>
        </p:nvSpPr>
        <p:spPr>
          <a:xfrm>
            <a:off x="3818279" y="5174790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지방재정의 구성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B8EEA7-630A-289B-00F4-767928AAAADA}"/>
              </a:ext>
            </a:extLst>
          </p:cNvPr>
          <p:cNvSpPr txBox="1"/>
          <p:nvPr/>
        </p:nvSpPr>
        <p:spPr>
          <a:xfrm>
            <a:off x="5076796" y="5452724"/>
            <a:ext cx="106304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일반회계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645FF-7430-3500-3129-273086A29360}"/>
              </a:ext>
            </a:extLst>
          </p:cNvPr>
          <p:cNvSpPr txBox="1"/>
          <p:nvPr/>
        </p:nvSpPr>
        <p:spPr>
          <a:xfrm>
            <a:off x="4963586" y="5959735"/>
            <a:ext cx="106304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일반회계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059EB-3EBB-D457-4006-A421B810C14A}"/>
              </a:ext>
            </a:extLst>
          </p:cNvPr>
          <p:cNvSpPr txBox="1"/>
          <p:nvPr/>
        </p:nvSpPr>
        <p:spPr>
          <a:xfrm>
            <a:off x="6712881" y="5345002"/>
            <a:ext cx="435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특별</a:t>
            </a:r>
            <a:endParaRPr lang="en-US" altLang="ko-KR" sz="700" dirty="0"/>
          </a:p>
          <a:p>
            <a:pPr algn="ctr"/>
            <a:r>
              <a:rPr lang="ko-KR" altLang="en-US" sz="700" dirty="0"/>
              <a:t>회계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544C09-D14F-B6AC-9D89-B43C60C7F45D}"/>
              </a:ext>
            </a:extLst>
          </p:cNvPr>
          <p:cNvSpPr txBox="1"/>
          <p:nvPr/>
        </p:nvSpPr>
        <p:spPr>
          <a:xfrm>
            <a:off x="6574968" y="5887834"/>
            <a:ext cx="43543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 dirty="0"/>
              <a:t>특별</a:t>
            </a:r>
            <a:endParaRPr lang="en-US" altLang="ko-KR" sz="700" dirty="0"/>
          </a:p>
          <a:p>
            <a:pPr algn="ctr"/>
            <a:r>
              <a:rPr lang="ko-KR" altLang="en-US" sz="700" dirty="0"/>
              <a:t>회계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CA471C-410D-0C94-BAAE-2917BD1B4B2F}"/>
              </a:ext>
            </a:extLst>
          </p:cNvPr>
          <p:cNvSpPr txBox="1"/>
          <p:nvPr/>
        </p:nvSpPr>
        <p:spPr>
          <a:xfrm>
            <a:off x="6894693" y="5959734"/>
            <a:ext cx="4354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/>
              <a:t>기금</a:t>
            </a:r>
            <a:endParaRPr lang="ko-KR" altLang="en-US" sz="7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D2F349-C61C-68DA-B017-14FBC986F2B7}"/>
              </a:ext>
            </a:extLst>
          </p:cNvPr>
          <p:cNvSpPr txBox="1"/>
          <p:nvPr/>
        </p:nvSpPr>
        <p:spPr>
          <a:xfrm>
            <a:off x="6930596" y="5442158"/>
            <a:ext cx="43543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700"/>
              <a:t>기금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026134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DA346A-23C0-E3DD-4A0A-B9AF589FD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F4BD86-3CC4-7A0A-61E3-F3025ADB7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6" name="그림 5" descr="텍스트, 원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EBED4D-98DC-3897-3F9F-8342DEB03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6091" y="4177245"/>
            <a:ext cx="2508995" cy="2434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A1EEA5-57FC-3BEA-2F81-F770598B1DC7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지방정부의 재원구성을 보여주고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조세수입은 정부 재원의 중요한 구성요소이지만 우리나라 지방재정의 재원에서 지방세로부터의 수입이 차지하는 비중은 </a:t>
            </a:r>
            <a:r>
              <a:rPr lang="en-US" altLang="ko-KR" sz="1600" spc="-50" dirty="0"/>
              <a:t>31.4%</a:t>
            </a:r>
            <a:r>
              <a:rPr lang="ko-KR" altLang="en-US" sz="1600" spc="-50" dirty="0"/>
              <a:t>에 불과하고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자체수입에 의한 재원조달 비중도 </a:t>
            </a:r>
            <a:r>
              <a:rPr lang="en-US" altLang="ko-KR" sz="1600" spc="-50" dirty="0"/>
              <a:t>41.0%</a:t>
            </a:r>
            <a:r>
              <a:rPr lang="ko-KR" altLang="en-US" sz="1600" spc="-50" dirty="0"/>
              <a:t>에 불과하다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지방정부는 재정운영에 필요한 재원의 </a:t>
            </a:r>
            <a:r>
              <a:rPr lang="en-US" altLang="ko-KR" sz="1600" spc="-50" dirty="0"/>
              <a:t>43.0%</a:t>
            </a:r>
            <a:r>
              <a:rPr lang="ko-KR" altLang="en-US" sz="1600" spc="-50" dirty="0"/>
              <a:t>를 중앙정부나 상위 지방정부가 지방교부세나 보조금의 형태로 제공하는 지원에 의존하고 있는 실정이다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이처럼 지방정부가 재정적으로 지방정부에 의존하는 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독자적인 사업을 운영하는데 제약을 받을 수 밖에 없다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지방교부세의 형태로 재정보조를 해줄 때는 아무런 조건을 달지 않고 지원을 해주는 것이 원칙이나 실제로는 중앙정부의 입김이 어떤 형태로든 작용하는 경우가 많다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5137FF-3351-7231-616F-8EC8E10BBD3C}"/>
              </a:ext>
            </a:extLst>
          </p:cNvPr>
          <p:cNvSpPr txBox="1"/>
          <p:nvPr/>
        </p:nvSpPr>
        <p:spPr>
          <a:xfrm>
            <a:off x="4009868" y="3862273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지방재정의 재원구성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0080689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D9B21-16B6-A643-7C51-DA3C56D07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393EF5-9151-A28E-9470-1B06C02E5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C5BBDB-BCE5-56D0-1EC2-D68EBBC1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609" y="3787373"/>
            <a:ext cx="4596782" cy="27495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563F7F-80BB-AE35-D09E-5A888F216528}"/>
              </a:ext>
            </a:extLst>
          </p:cNvPr>
          <p:cNvSpPr txBox="1"/>
          <p:nvPr/>
        </p:nvSpPr>
        <p:spPr>
          <a:xfrm>
            <a:off x="4305960" y="3525763"/>
            <a:ext cx="35800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지방정부의 분야별 지출 비중 </a:t>
            </a:r>
            <a:r>
              <a:rPr lang="en-US" altLang="ko-KR" sz="1100" spc="-50" dirty="0"/>
              <a:t>(2019</a:t>
            </a:r>
            <a:r>
              <a:rPr lang="ko-KR" altLang="en-US" sz="1100" spc="-50" dirty="0"/>
              <a:t>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D1426B-9502-390D-71EE-AA71B4B2F27C}"/>
              </a:ext>
            </a:extLst>
          </p:cNvPr>
          <p:cNvSpPr txBox="1"/>
          <p:nvPr/>
        </p:nvSpPr>
        <p:spPr>
          <a:xfrm>
            <a:off x="288790" y="958844"/>
            <a:ext cx="116936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우리나라 지방정부가 분야별로 재원을 어떻게 사용했는지 보여준다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지방정부의 재정지출에서 가장 비중이 큰 것은 사회복지 관련 지출로 전체의 </a:t>
            </a:r>
            <a:r>
              <a:rPr lang="en-US" altLang="ko-KR" sz="1600" spc="-50" dirty="0"/>
              <a:t>29.8%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사회적 수요가 커짐에 따라 사회복지와 관련한 지방정부의 재정지출은 지속적으로 증가하는 추세를 보이고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적절한 재원이 마련되지 않은 채 복지를 위한 재정지출만 증가하면 재정적으로 부담이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사회복지 관련 지출에 이어 큰 비중을 차지하는 항목은 인력운영비와 환경보호 관련 지출로 각각 </a:t>
            </a:r>
            <a:r>
              <a:rPr lang="en-US" altLang="ko-KR" sz="1600" spc="-50" dirty="0"/>
              <a:t>12.5%, 10.1%</a:t>
            </a:r>
            <a:r>
              <a:rPr lang="ko-KR" altLang="en-US" sz="1600" spc="-50" dirty="0"/>
              <a:t> 의 비중을 차지하고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416181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A4883-9B9A-588B-EAE2-A625EB2D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A2E316-59FE-3C1F-77B2-2F9377A4A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AED3D6F-AD4E-80EA-1AC5-1E385C77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424" y="4634914"/>
            <a:ext cx="3180688" cy="191689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927BB8E-84A1-9016-B039-C337F6FD7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37" y="4635842"/>
            <a:ext cx="3193410" cy="19211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70FB96-002B-F016-978B-00F56E65DB63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지방자치제도가 정착되어 나가면서 지방정부의 역할이 커지고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재정에서 중앙정부가 차지하는 비중은 지방정부에 비해 상당히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그림을 보면 </a:t>
            </a:r>
            <a:r>
              <a:rPr lang="en-US" altLang="ko-KR" sz="1600" spc="-50" dirty="0"/>
              <a:t>1990</a:t>
            </a:r>
            <a:r>
              <a:rPr lang="ko-KR" altLang="en-US" sz="1600" spc="-50" dirty="0"/>
              <a:t>년 이래로 중앙정부의 예산이 지방정부의 예산보다 줄곧 더 큰 규모로 유지되어 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2019</a:t>
            </a:r>
            <a:r>
              <a:rPr lang="ko-KR" altLang="en-US" sz="1600" spc="-50" dirty="0"/>
              <a:t>년 전체에서 중앙정부가 차지하는 비중은 </a:t>
            </a:r>
            <a:r>
              <a:rPr lang="en-US" altLang="ko-KR" sz="1600" spc="-50" dirty="0"/>
              <a:t>59% </a:t>
            </a:r>
            <a:r>
              <a:rPr lang="ko-KR" altLang="en-US" sz="1600" spc="-50" dirty="0"/>
              <a:t>인 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지방정부는 </a:t>
            </a:r>
            <a:r>
              <a:rPr lang="en-US" altLang="ko-KR" sz="1600" spc="-50" dirty="0"/>
              <a:t>41%</a:t>
            </a:r>
            <a:r>
              <a:rPr lang="ko-KR" altLang="en-US" sz="1600" spc="-50" dirty="0"/>
              <a:t>에 불과하였다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조세수입 측면에서 보면 불균형은 한층 더 심하다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1990</a:t>
            </a:r>
            <a:r>
              <a:rPr lang="ko-KR" altLang="en-US" sz="1600" spc="-50" dirty="0"/>
              <a:t>년 이래 전체에서 지방정부가 거둬들이는 지방세 수입 비중이 </a:t>
            </a:r>
            <a:r>
              <a:rPr lang="en-US" altLang="ko-KR" sz="1600" spc="-50" dirty="0"/>
              <a:t>20%</a:t>
            </a:r>
            <a:r>
              <a:rPr lang="ko-KR" altLang="en-US" sz="1600" spc="-50" dirty="0"/>
              <a:t>수준을 크게 벗어나지 못하고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진정한 지방자치시대로 나아가기 위해서는 지방정부의 재정자립도를 높이기 위한 근본 대책이 마련되어야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충분한 지방세 수입을 확보해야 하는데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그러기 위해서는 지방세 세율을 높이거나 새로운 지방세 도입이 필요하다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지역 간 경제력에 매우 큰 차이기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지역간 빈익빈 부익부 현상이 심화될 가능성이 있다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E252DF-71D5-E136-E05C-F80B968E8534}"/>
              </a:ext>
            </a:extLst>
          </p:cNvPr>
          <p:cNvSpPr txBox="1"/>
          <p:nvPr/>
        </p:nvSpPr>
        <p:spPr>
          <a:xfrm>
            <a:off x="3207385" y="4372238"/>
            <a:ext cx="13394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일반회계</a:t>
            </a:r>
            <a:r>
              <a:rPr lang="en-US" altLang="ko-KR" sz="1100" spc="-50" dirty="0"/>
              <a:t>(</a:t>
            </a:r>
            <a:r>
              <a:rPr lang="ko-KR" altLang="en-US" sz="1100" spc="-50" dirty="0" err="1"/>
              <a:t>순계</a:t>
            </a:r>
            <a:r>
              <a:rPr lang="en-US" altLang="ko-KR" sz="1100" spc="-50" dirty="0"/>
              <a:t>)&gt;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C87CED-2DAD-44D6-949E-70799C22B4CC}"/>
              </a:ext>
            </a:extLst>
          </p:cNvPr>
          <p:cNvSpPr txBox="1"/>
          <p:nvPr/>
        </p:nvSpPr>
        <p:spPr>
          <a:xfrm>
            <a:off x="7791983" y="4372238"/>
            <a:ext cx="13394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spc="-50" dirty="0"/>
              <a:t>&lt;</a:t>
            </a:r>
            <a:r>
              <a:rPr lang="ko-KR" altLang="en-US" sz="1100" spc="-50" dirty="0"/>
              <a:t>조세수입</a:t>
            </a:r>
            <a:r>
              <a:rPr lang="en-US" altLang="ko-KR" sz="1100" spc="-50" dirty="0"/>
              <a:t>&gt;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499979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0820D-FE08-14C8-9238-2CF4F172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지방재정의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9B5081-BE46-9929-DFD9-00740527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B918C39-07D3-EA56-9065-D7FEC3890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7021442"/>
              </p:ext>
            </p:extLst>
          </p:nvPr>
        </p:nvGraphicFramePr>
        <p:xfrm>
          <a:off x="2258493" y="3922669"/>
          <a:ext cx="3550884" cy="247196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772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4047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특별시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광역시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특별자치시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자치구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서울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대구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37.2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인천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광주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대전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46.0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울산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세종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13D90CF-D40C-378B-8258-1129C7076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7546285"/>
              </p:ext>
            </p:extLst>
          </p:nvPr>
        </p:nvGraphicFramePr>
        <p:xfrm>
          <a:off x="6352320" y="3922669"/>
          <a:ext cx="3550884" cy="2471035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8772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3365092879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206849505"/>
                    </a:ext>
                  </a:extLst>
                </a:gridCol>
                <a:gridCol w="887721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48957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특별자치도</a:t>
                      </a:r>
                      <a:endParaRPr lang="en-US" altLang="ko-KR" sz="1000" b="1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군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경기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강원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20.2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충남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19.6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26.5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경북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23.9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14.8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경남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35.7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31.3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제주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40.1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평균</a:t>
                      </a:r>
                      <a:endParaRPr lang="en-US" sz="10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39.4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33.5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17.3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943D3C7-33C1-F6A1-6EF1-D58EF8B08CE5}"/>
              </a:ext>
            </a:extLst>
          </p:cNvPr>
          <p:cNvSpPr txBox="1"/>
          <p:nvPr/>
        </p:nvSpPr>
        <p:spPr>
          <a:xfrm>
            <a:off x="6750797" y="3577666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시도별 재정자립도 현황 </a:t>
            </a:r>
            <a:r>
              <a:rPr lang="en-US" altLang="ko-KR" sz="1200" spc="-50" dirty="0"/>
              <a:t>(2019&gt;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6325B6-F397-E631-5D64-04A4BD477F08}"/>
              </a:ext>
            </a:extLst>
          </p:cNvPr>
          <p:cNvSpPr txBox="1"/>
          <p:nvPr/>
        </p:nvSpPr>
        <p:spPr>
          <a:xfrm>
            <a:off x="2732470" y="3577666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시도별 재정자립도 현황 </a:t>
            </a:r>
            <a:r>
              <a:rPr lang="en-US" altLang="ko-KR" sz="1200" spc="-50" dirty="0"/>
              <a:t>(2019&gt;</a:t>
            </a:r>
            <a:endParaRPr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ADB0B3-4E34-962C-EFFD-8FA7DF066296}"/>
              </a:ext>
            </a:extLst>
          </p:cNvPr>
          <p:cNvSpPr txBox="1"/>
          <p:nvPr/>
        </p:nvSpPr>
        <p:spPr>
          <a:xfrm>
            <a:off x="288790" y="958844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지역간 재정불균형의 정도는 지방정부의 전체 예산에서 자체재원이 얼마나 되는지를 측정한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재정자립도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라는 지표를 통해 측정할 수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아래 표는 우리나라의 지역별 재정자립도 현황을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특별시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광역시의 재정자립도가 평균적으로 도보다 높다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서울의 재정자립도는 </a:t>
            </a:r>
            <a:r>
              <a:rPr lang="en-US" altLang="ko-KR" sz="1600" spc="-50" dirty="0"/>
              <a:t>79.4%</a:t>
            </a:r>
            <a:r>
              <a:rPr lang="ko-KR" altLang="en-US" sz="1600" spc="-50" dirty="0"/>
              <a:t>인데 반해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전남의 재정자립도는 </a:t>
            </a:r>
            <a:r>
              <a:rPr lang="en-US" altLang="ko-KR" sz="1600" spc="-50" dirty="0"/>
              <a:t>26.5%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상위 지방자치단체에서 하위로 갈수록 재정자립도가 더 낮아진다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특별시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광역시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특별자치시의 재정자립도 평균은 </a:t>
            </a:r>
            <a:r>
              <a:rPr lang="en-US" altLang="ko-KR" sz="1600" spc="-50" dirty="0"/>
              <a:t>60.9%</a:t>
            </a:r>
            <a:r>
              <a:rPr lang="ko-KR" altLang="en-US" sz="1600" spc="-50" dirty="0"/>
              <a:t>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이들 자치구들의 평균은 </a:t>
            </a:r>
            <a:r>
              <a:rPr lang="en-US" altLang="ko-KR" sz="1600" spc="-50" dirty="0"/>
              <a:t>29%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5805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B68AC-2CD6-B732-C2FE-FDBD6E8C4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지방세 체계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F513F8-E1DB-9C35-4AE1-F0180AE15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F90497-7C99-416C-2A40-8FD2AF4E5806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2020</a:t>
            </a:r>
            <a:r>
              <a:rPr lang="ko-KR" altLang="en-US" sz="1600" spc="-50" dirty="0"/>
              <a:t>년 지방세 체계는 아래의 표와 같이 </a:t>
            </a:r>
            <a:r>
              <a:rPr lang="en-US" altLang="ko-KR" sz="1600" spc="-50" dirty="0"/>
              <a:t>11</a:t>
            </a:r>
            <a:r>
              <a:rPr lang="ko-KR" altLang="en-US" sz="1600" spc="-50" dirty="0"/>
              <a:t>가지의 지방세로 구성되어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지방세 징수 주체에 따라 도세와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시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군세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또 광역시세와 자치구세로 구분할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더 나아가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세수가 일반적인 세입인지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아니면 특정 용도로만 사용되는지에 따라 보통세와 목적세로 구분한다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0A4A95-EAA7-B4B6-05D7-9B87C6F1427F}"/>
              </a:ext>
            </a:extLst>
          </p:cNvPr>
          <p:cNvSpPr txBox="1"/>
          <p:nvPr/>
        </p:nvSpPr>
        <p:spPr>
          <a:xfrm>
            <a:off x="3009304" y="326069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취득세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7196BD5-A50D-CAE3-32C5-06AE18CA3D33}"/>
              </a:ext>
            </a:extLst>
          </p:cNvPr>
          <p:cNvSpPr txBox="1"/>
          <p:nvPr/>
        </p:nvSpPr>
        <p:spPr>
          <a:xfrm>
            <a:off x="3009304" y="351117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등록면허세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AAA6C9-96BE-CDE0-19DF-747CE4CAE825}"/>
              </a:ext>
            </a:extLst>
          </p:cNvPr>
          <p:cNvSpPr txBox="1"/>
          <p:nvPr/>
        </p:nvSpPr>
        <p:spPr>
          <a:xfrm>
            <a:off x="3009304" y="376164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레저세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1AB9BC3-7F33-84DA-38EF-138442B65355}"/>
              </a:ext>
            </a:extLst>
          </p:cNvPr>
          <p:cNvSpPr txBox="1"/>
          <p:nvPr/>
        </p:nvSpPr>
        <p:spPr>
          <a:xfrm>
            <a:off x="3009304" y="401212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지방소비세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7A3054-05FA-544A-8323-DA62DCDCA049}"/>
              </a:ext>
            </a:extLst>
          </p:cNvPr>
          <p:cNvSpPr txBox="1"/>
          <p:nvPr/>
        </p:nvSpPr>
        <p:spPr>
          <a:xfrm>
            <a:off x="3009304" y="4262594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지역자원시설세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9909F9-10C6-6E1F-0887-86EA1142EBA3}"/>
              </a:ext>
            </a:extLst>
          </p:cNvPr>
          <p:cNvSpPr txBox="1"/>
          <p:nvPr/>
        </p:nvSpPr>
        <p:spPr>
          <a:xfrm>
            <a:off x="3009304" y="451306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지방교육세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A91D563-5862-A70E-98D5-93C027999337}"/>
              </a:ext>
            </a:extLst>
          </p:cNvPr>
          <p:cNvSpPr txBox="1"/>
          <p:nvPr/>
        </p:nvSpPr>
        <p:spPr>
          <a:xfrm>
            <a:off x="3009304" y="476354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주민세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BAF0C36-61F0-D7E0-8D46-BC5BA1EA501F}"/>
              </a:ext>
            </a:extLst>
          </p:cNvPr>
          <p:cNvSpPr txBox="1"/>
          <p:nvPr/>
        </p:nvSpPr>
        <p:spPr>
          <a:xfrm>
            <a:off x="3009304" y="501401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재산세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3AEDB5-FF5C-9E28-E7D1-489DCD46EE8C}"/>
              </a:ext>
            </a:extLst>
          </p:cNvPr>
          <p:cNvSpPr txBox="1"/>
          <p:nvPr/>
        </p:nvSpPr>
        <p:spPr>
          <a:xfrm>
            <a:off x="3009304" y="526449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자동차세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50A9B0D-65D7-0D15-D0C7-E83BB088B467}"/>
              </a:ext>
            </a:extLst>
          </p:cNvPr>
          <p:cNvSpPr txBox="1"/>
          <p:nvPr/>
        </p:nvSpPr>
        <p:spPr>
          <a:xfrm>
            <a:off x="3009304" y="5514967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담배소비세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7355C8-05D6-5EA2-D543-9A7DA11F278B}"/>
              </a:ext>
            </a:extLst>
          </p:cNvPr>
          <p:cNvSpPr txBox="1"/>
          <p:nvPr/>
        </p:nvSpPr>
        <p:spPr>
          <a:xfrm>
            <a:off x="3009304" y="5765441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지방소득세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E8A242-A8AC-9524-6885-F530B4620490}"/>
              </a:ext>
            </a:extLst>
          </p:cNvPr>
          <p:cNvSpPr txBox="1"/>
          <p:nvPr/>
        </p:nvSpPr>
        <p:spPr>
          <a:xfrm>
            <a:off x="2098885" y="3454705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52" name="왼쪽 중괄호 51">
            <a:extLst>
              <a:ext uri="{FF2B5EF4-FFF2-40B4-BE49-F238E27FC236}">
                <a16:creationId xmlns:a16="http://schemas.microsoft.com/office/drawing/2014/main" id="{21168BD2-9B99-1A7A-9123-185FC1D2B4FA}"/>
              </a:ext>
            </a:extLst>
          </p:cNvPr>
          <p:cNvSpPr/>
          <p:nvPr/>
        </p:nvSpPr>
        <p:spPr>
          <a:xfrm>
            <a:off x="2802900" y="3376110"/>
            <a:ext cx="206404" cy="802905"/>
          </a:xfrm>
          <a:prstGeom prst="leftBrace">
            <a:avLst>
              <a:gd name="adj1" fmla="val 0"/>
              <a:gd name="adj2" fmla="val 2414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406A0DA-177E-90D2-1221-9323666F076C}"/>
              </a:ext>
            </a:extLst>
          </p:cNvPr>
          <p:cNvSpPr txBox="1"/>
          <p:nvPr/>
        </p:nvSpPr>
        <p:spPr>
          <a:xfrm>
            <a:off x="2098885" y="4378010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0D20EB-AB72-39E2-B5AB-EAB714CB5555}"/>
              </a:ext>
            </a:extLst>
          </p:cNvPr>
          <p:cNvSpPr txBox="1"/>
          <p:nvPr/>
        </p:nvSpPr>
        <p:spPr>
          <a:xfrm>
            <a:off x="2098885" y="5264493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C16A74-346E-7DE3-A10E-FD3BFAFEDC7E}"/>
              </a:ext>
            </a:extLst>
          </p:cNvPr>
          <p:cNvSpPr txBox="1"/>
          <p:nvPr/>
        </p:nvSpPr>
        <p:spPr>
          <a:xfrm>
            <a:off x="1195316" y="381080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도세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(6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85AEE2-D724-64A7-1A4B-C1BDE3CC6BE0}"/>
              </a:ext>
            </a:extLst>
          </p:cNvPr>
          <p:cNvSpPr txBox="1"/>
          <p:nvPr/>
        </p:nvSpPr>
        <p:spPr>
          <a:xfrm>
            <a:off x="283218" y="4462186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(11</a:t>
            </a:r>
            <a:r>
              <a:rPr lang="ko-KR" altLang="en-US" sz="9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0" name="왼쪽 중괄호 59">
            <a:extLst>
              <a:ext uri="{FF2B5EF4-FFF2-40B4-BE49-F238E27FC236}">
                <a16:creationId xmlns:a16="http://schemas.microsoft.com/office/drawing/2014/main" id="{49331248-C34B-4BE0-DDE5-8C97F7095DA8}"/>
              </a:ext>
            </a:extLst>
          </p:cNvPr>
          <p:cNvSpPr/>
          <p:nvPr/>
        </p:nvSpPr>
        <p:spPr>
          <a:xfrm>
            <a:off x="2802900" y="4362091"/>
            <a:ext cx="206404" cy="286038"/>
          </a:xfrm>
          <a:prstGeom prst="leftBrace">
            <a:avLst>
              <a:gd name="adj1" fmla="val 0"/>
              <a:gd name="adj2" fmla="val 43567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왼쪽 중괄호 60">
            <a:extLst>
              <a:ext uri="{FF2B5EF4-FFF2-40B4-BE49-F238E27FC236}">
                <a16:creationId xmlns:a16="http://schemas.microsoft.com/office/drawing/2014/main" id="{9A7B4811-C9DF-F73D-8DAC-088A351770C2}"/>
              </a:ext>
            </a:extLst>
          </p:cNvPr>
          <p:cNvSpPr/>
          <p:nvPr/>
        </p:nvSpPr>
        <p:spPr>
          <a:xfrm>
            <a:off x="2802900" y="4863040"/>
            <a:ext cx="206404" cy="1021505"/>
          </a:xfrm>
          <a:prstGeom prst="leftBrace">
            <a:avLst>
              <a:gd name="adj1" fmla="val 0"/>
              <a:gd name="adj2" fmla="val 5025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왼쪽 중괄호 61">
            <a:extLst>
              <a:ext uri="{FF2B5EF4-FFF2-40B4-BE49-F238E27FC236}">
                <a16:creationId xmlns:a16="http://schemas.microsoft.com/office/drawing/2014/main" id="{A870EF76-2432-BC2D-AE4B-FBA323F9F99B}"/>
              </a:ext>
            </a:extLst>
          </p:cNvPr>
          <p:cNvSpPr/>
          <p:nvPr/>
        </p:nvSpPr>
        <p:spPr>
          <a:xfrm>
            <a:off x="1892481" y="3546961"/>
            <a:ext cx="206404" cy="966107"/>
          </a:xfrm>
          <a:prstGeom prst="leftBrace">
            <a:avLst>
              <a:gd name="adj1" fmla="val 0"/>
              <a:gd name="adj2" fmla="val 46818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9235CB-53B2-C7BB-7E9C-C86A9CC15900}"/>
              </a:ext>
            </a:extLst>
          </p:cNvPr>
          <p:cNvSpPr txBox="1"/>
          <p:nvPr/>
        </p:nvSpPr>
        <p:spPr>
          <a:xfrm>
            <a:off x="1195316" y="5195478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·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군세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(5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06C884C-CB14-2CC6-AD6F-173130802DBD}"/>
              </a:ext>
            </a:extLst>
          </p:cNvPr>
          <p:cNvCxnSpPr>
            <a:cxnSpLocks/>
            <a:stCxn id="63" idx="3"/>
            <a:endCxn id="54" idx="1"/>
          </p:cNvCxnSpPr>
          <p:nvPr/>
        </p:nvCxnSpPr>
        <p:spPr>
          <a:xfrm flipV="1">
            <a:off x="1897455" y="5379909"/>
            <a:ext cx="201430" cy="2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왼쪽 중괄호 67">
            <a:extLst>
              <a:ext uri="{FF2B5EF4-FFF2-40B4-BE49-F238E27FC236}">
                <a16:creationId xmlns:a16="http://schemas.microsoft.com/office/drawing/2014/main" id="{63748D88-C801-F583-E0F6-72D53A576E69}"/>
              </a:ext>
            </a:extLst>
          </p:cNvPr>
          <p:cNvSpPr/>
          <p:nvPr/>
        </p:nvSpPr>
        <p:spPr>
          <a:xfrm>
            <a:off x="986295" y="3999799"/>
            <a:ext cx="206404" cy="1380110"/>
          </a:xfrm>
          <a:prstGeom prst="leftBrace">
            <a:avLst>
              <a:gd name="adj1" fmla="val 0"/>
              <a:gd name="adj2" fmla="val 46818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07F978-D918-A7E2-26C4-2C8BDFEC50B3}"/>
              </a:ext>
            </a:extLst>
          </p:cNvPr>
          <p:cNvSpPr txBox="1"/>
          <p:nvPr/>
        </p:nvSpPr>
        <p:spPr>
          <a:xfrm>
            <a:off x="8725548" y="326069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취득세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C7BFABB-A51F-3C9A-5645-F60E75571C01}"/>
              </a:ext>
            </a:extLst>
          </p:cNvPr>
          <p:cNvSpPr txBox="1"/>
          <p:nvPr/>
        </p:nvSpPr>
        <p:spPr>
          <a:xfrm>
            <a:off x="8725548" y="351117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레저세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C369BE-CEF9-236D-C5EC-A15EB6239917}"/>
              </a:ext>
            </a:extLst>
          </p:cNvPr>
          <p:cNvSpPr txBox="1"/>
          <p:nvPr/>
        </p:nvSpPr>
        <p:spPr>
          <a:xfrm>
            <a:off x="8725548" y="3761645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담배소비세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937109F-27C7-F4F3-940A-99EDE964EEB1}"/>
              </a:ext>
            </a:extLst>
          </p:cNvPr>
          <p:cNvSpPr txBox="1"/>
          <p:nvPr/>
        </p:nvSpPr>
        <p:spPr>
          <a:xfrm>
            <a:off x="8725548" y="4012120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지방소비세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2508E75-4C75-4346-7533-F7D3E2DC687F}"/>
              </a:ext>
            </a:extLst>
          </p:cNvPr>
          <p:cNvSpPr txBox="1"/>
          <p:nvPr/>
        </p:nvSpPr>
        <p:spPr>
          <a:xfrm>
            <a:off x="8725548" y="4262594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주민세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798F867-A261-FCFA-4B7A-25264121B49F}"/>
              </a:ext>
            </a:extLst>
          </p:cNvPr>
          <p:cNvSpPr txBox="1"/>
          <p:nvPr/>
        </p:nvSpPr>
        <p:spPr>
          <a:xfrm>
            <a:off x="8725548" y="451306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지방소득세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57B5C89-55DE-66F0-ADA0-373F4F570BC4}"/>
              </a:ext>
            </a:extLst>
          </p:cNvPr>
          <p:cNvSpPr txBox="1"/>
          <p:nvPr/>
        </p:nvSpPr>
        <p:spPr>
          <a:xfrm>
            <a:off x="8725548" y="476354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자동차세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88838F-D8E0-C502-7F22-21895B722889}"/>
              </a:ext>
            </a:extLst>
          </p:cNvPr>
          <p:cNvSpPr txBox="1"/>
          <p:nvPr/>
        </p:nvSpPr>
        <p:spPr>
          <a:xfrm>
            <a:off x="8725548" y="5014018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지역자원시설세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A3EE7E-1331-2465-9E77-FCC65E1CBD9D}"/>
              </a:ext>
            </a:extLst>
          </p:cNvPr>
          <p:cNvSpPr txBox="1"/>
          <p:nvPr/>
        </p:nvSpPr>
        <p:spPr>
          <a:xfrm>
            <a:off x="8725548" y="5264493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지방교육세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D2C2E8-E078-C375-5AE9-9F230EDC6D6D}"/>
              </a:ext>
            </a:extLst>
          </p:cNvPr>
          <p:cNvSpPr txBox="1"/>
          <p:nvPr/>
        </p:nvSpPr>
        <p:spPr>
          <a:xfrm>
            <a:off x="8725548" y="5514967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등록면허세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924395A-655A-CA29-0675-25E42C9C1978}"/>
              </a:ext>
            </a:extLst>
          </p:cNvPr>
          <p:cNvSpPr txBox="1"/>
          <p:nvPr/>
        </p:nvSpPr>
        <p:spPr>
          <a:xfrm>
            <a:off x="8725548" y="5765441"/>
            <a:ext cx="1173553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재산세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BD39BA7-1FE8-6B91-802D-897F3B1B9F99}"/>
              </a:ext>
            </a:extLst>
          </p:cNvPr>
          <p:cNvSpPr txBox="1"/>
          <p:nvPr/>
        </p:nvSpPr>
        <p:spPr>
          <a:xfrm>
            <a:off x="7815129" y="3454705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82" name="왼쪽 중괄호 81">
            <a:extLst>
              <a:ext uri="{FF2B5EF4-FFF2-40B4-BE49-F238E27FC236}">
                <a16:creationId xmlns:a16="http://schemas.microsoft.com/office/drawing/2014/main" id="{3D32521D-BCFB-71DA-B987-FFCFA5F95A20}"/>
              </a:ext>
            </a:extLst>
          </p:cNvPr>
          <p:cNvSpPr/>
          <p:nvPr/>
        </p:nvSpPr>
        <p:spPr>
          <a:xfrm>
            <a:off x="8519144" y="3376110"/>
            <a:ext cx="206404" cy="1499384"/>
          </a:xfrm>
          <a:prstGeom prst="leftBrace">
            <a:avLst>
              <a:gd name="adj1" fmla="val 0"/>
              <a:gd name="adj2" fmla="val 1299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A4AEB4B-C82F-19BB-ACA6-35FCB62AEDA8}"/>
              </a:ext>
            </a:extLst>
          </p:cNvPr>
          <p:cNvSpPr txBox="1"/>
          <p:nvPr/>
        </p:nvSpPr>
        <p:spPr>
          <a:xfrm>
            <a:off x="7815129" y="5146360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목적세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FCCDEB3-3FCF-92EE-68F0-5D05BCEB2D57}"/>
              </a:ext>
            </a:extLst>
          </p:cNvPr>
          <p:cNvSpPr txBox="1"/>
          <p:nvPr/>
        </p:nvSpPr>
        <p:spPr>
          <a:xfrm>
            <a:off x="7815129" y="5643376"/>
            <a:ext cx="702139" cy="2308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보통세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9E7A9A8-D64C-76DC-C1E2-12A9FBFC2F91}"/>
              </a:ext>
            </a:extLst>
          </p:cNvPr>
          <p:cNvSpPr txBox="1"/>
          <p:nvPr/>
        </p:nvSpPr>
        <p:spPr>
          <a:xfrm>
            <a:off x="6909443" y="381080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광역시세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(9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7" name="왼쪽 중괄호 86">
            <a:extLst>
              <a:ext uri="{FF2B5EF4-FFF2-40B4-BE49-F238E27FC236}">
                <a16:creationId xmlns:a16="http://schemas.microsoft.com/office/drawing/2014/main" id="{6359183B-426A-3459-2E38-267FA01EDD78}"/>
              </a:ext>
            </a:extLst>
          </p:cNvPr>
          <p:cNvSpPr/>
          <p:nvPr/>
        </p:nvSpPr>
        <p:spPr>
          <a:xfrm>
            <a:off x="8519144" y="5130441"/>
            <a:ext cx="206404" cy="268811"/>
          </a:xfrm>
          <a:prstGeom prst="leftBrace">
            <a:avLst>
              <a:gd name="adj1" fmla="val 0"/>
              <a:gd name="adj2" fmla="val 50654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왼쪽 중괄호 88">
            <a:extLst>
              <a:ext uri="{FF2B5EF4-FFF2-40B4-BE49-F238E27FC236}">
                <a16:creationId xmlns:a16="http://schemas.microsoft.com/office/drawing/2014/main" id="{91DE40EB-DA21-C8D9-2DEA-D3587618E7B1}"/>
              </a:ext>
            </a:extLst>
          </p:cNvPr>
          <p:cNvSpPr/>
          <p:nvPr/>
        </p:nvSpPr>
        <p:spPr>
          <a:xfrm>
            <a:off x="7608725" y="3563897"/>
            <a:ext cx="206404" cy="1699594"/>
          </a:xfrm>
          <a:prstGeom prst="leftBrace">
            <a:avLst>
              <a:gd name="adj1" fmla="val 0"/>
              <a:gd name="adj2" fmla="val 25522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AFC98A4-314D-2A91-308E-9214FC4E2DDF}"/>
              </a:ext>
            </a:extLst>
          </p:cNvPr>
          <p:cNvSpPr txBox="1"/>
          <p:nvPr/>
        </p:nvSpPr>
        <p:spPr>
          <a:xfrm>
            <a:off x="6909443" y="5574361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자치구세 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(2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개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50696374-FD04-A479-ABFE-EF64BEA5CDB7}"/>
              </a:ext>
            </a:extLst>
          </p:cNvPr>
          <p:cNvCxnSpPr>
            <a:cxnSpLocks/>
            <a:stCxn id="90" idx="3"/>
            <a:endCxn id="84" idx="1"/>
          </p:cNvCxnSpPr>
          <p:nvPr/>
        </p:nvCxnSpPr>
        <p:spPr>
          <a:xfrm flipV="1">
            <a:off x="7611582" y="5758792"/>
            <a:ext cx="203547" cy="235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왼쪽 중괄호 91">
            <a:extLst>
              <a:ext uri="{FF2B5EF4-FFF2-40B4-BE49-F238E27FC236}">
                <a16:creationId xmlns:a16="http://schemas.microsoft.com/office/drawing/2014/main" id="{081074D2-3CD9-D319-B019-29561300D12B}"/>
              </a:ext>
            </a:extLst>
          </p:cNvPr>
          <p:cNvSpPr/>
          <p:nvPr/>
        </p:nvSpPr>
        <p:spPr>
          <a:xfrm>
            <a:off x="6702539" y="3999798"/>
            <a:ext cx="206404" cy="1758993"/>
          </a:xfrm>
          <a:prstGeom prst="leftBrace">
            <a:avLst>
              <a:gd name="adj1" fmla="val 0"/>
              <a:gd name="adj2" fmla="val 3642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왼쪽 중괄호 92">
            <a:extLst>
              <a:ext uri="{FF2B5EF4-FFF2-40B4-BE49-F238E27FC236}">
                <a16:creationId xmlns:a16="http://schemas.microsoft.com/office/drawing/2014/main" id="{E9737CBA-9454-9DC1-1607-BA1D72784711}"/>
              </a:ext>
            </a:extLst>
          </p:cNvPr>
          <p:cNvSpPr/>
          <p:nvPr/>
        </p:nvSpPr>
        <p:spPr>
          <a:xfrm>
            <a:off x="8519144" y="5630383"/>
            <a:ext cx="206404" cy="250175"/>
          </a:xfrm>
          <a:prstGeom prst="leftBrace">
            <a:avLst>
              <a:gd name="adj1" fmla="val 0"/>
              <a:gd name="adj2" fmla="val 50251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698BD8-93EA-74C9-C03F-359EFAA5B414}"/>
              </a:ext>
            </a:extLst>
          </p:cNvPr>
          <p:cNvSpPr txBox="1"/>
          <p:nvPr/>
        </p:nvSpPr>
        <p:spPr>
          <a:xfrm>
            <a:off x="4051811" y="2732695"/>
            <a:ext cx="27539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현행 지방세 체계 </a:t>
            </a:r>
            <a:r>
              <a:rPr lang="en-US" altLang="ko-KR" sz="1200" spc="-50" dirty="0"/>
              <a:t>(2020</a:t>
            </a:r>
            <a:r>
              <a:rPr lang="ko-KR" altLang="en-US" sz="1200" spc="-50" dirty="0"/>
              <a:t>년</a:t>
            </a:r>
            <a:r>
              <a:rPr lang="en-US" altLang="ko-KR" sz="1200" spc="-50" dirty="0"/>
              <a:t>)&gt;</a:t>
            </a:r>
            <a:endParaRPr lang="ko-KR" altLang="en-US" sz="12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10D30F4-F54B-6987-E5A9-44D8678A60ED}"/>
              </a:ext>
            </a:extLst>
          </p:cNvPr>
          <p:cNvSpPr txBox="1"/>
          <p:nvPr/>
        </p:nvSpPr>
        <p:spPr>
          <a:xfrm>
            <a:off x="6001247" y="4462186"/>
            <a:ext cx="702139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rPr>
              <a:t>지방세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(11</a:t>
            </a:r>
            <a:r>
              <a:rPr lang="ko-KR" altLang="en-US" sz="900" dirty="0">
                <a:solidFill>
                  <a:prstClr val="black"/>
                </a:solidFill>
                <a:latin typeface="+mn-ea"/>
              </a:rPr>
              <a:t>개</a:t>
            </a:r>
            <a:r>
              <a:rPr lang="en-US" altLang="ko-KR" sz="900" dirty="0">
                <a:solidFill>
                  <a:prstClr val="black"/>
                </a:solidFill>
                <a:latin typeface="+mn-ea"/>
              </a:rPr>
              <a:t>)</a:t>
            </a:r>
            <a:endParaRPr kumimoji="0" lang="ko-KR" alt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90555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0D6765-AD75-D0AA-7E89-9AF17DAD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7D615A-0676-29EC-3183-87E8A101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04746-9001-0706-654B-67BEBED7DE4A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 그림은 </a:t>
            </a:r>
            <a:r>
              <a:rPr lang="en-US" altLang="ko-KR" sz="1600" spc="-50" dirty="0"/>
              <a:t>2020</a:t>
            </a:r>
            <a:r>
              <a:rPr lang="ko-KR" altLang="en-US" sz="1600" spc="-50" dirty="0"/>
              <a:t>년도 우리나라 지방세 수입의 구성비율을 보여주고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지방세 중 가장 많은 수입을 올리고 있는 것은 부동산이나 자동차 등의 자산을 </a:t>
            </a:r>
            <a:r>
              <a:rPr lang="ko-KR" altLang="en-US" sz="1600" spc="-50" dirty="0" err="1"/>
              <a:t>취득할때</a:t>
            </a:r>
            <a:r>
              <a:rPr lang="ko-KR" altLang="en-US" sz="1600" spc="-50" dirty="0"/>
              <a:t> 부과하는 취득세로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지방세 수입의 </a:t>
            </a:r>
            <a:r>
              <a:rPr lang="en-US" altLang="ko-KR" sz="1600" spc="-50" dirty="0"/>
              <a:t>24.5%</a:t>
            </a:r>
            <a:r>
              <a:rPr lang="ko-KR" altLang="en-US" sz="1600" spc="-50" dirty="0"/>
              <a:t>에 이르는 비중을 차지하였다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다음으로는 </a:t>
            </a:r>
            <a:r>
              <a:rPr lang="ko-KR" altLang="en-US" sz="1600" spc="-50" dirty="0" err="1"/>
              <a:t>지방소비세인데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전체 지방세수 중 </a:t>
            </a:r>
            <a:r>
              <a:rPr lang="en-US" altLang="ko-KR" sz="1600" spc="-50" dirty="0"/>
              <a:t>17.7%</a:t>
            </a:r>
            <a:r>
              <a:rPr lang="ko-KR" altLang="en-US" sz="1600" spc="-50" dirty="0"/>
              <a:t>를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그리고 국세인 소득세나 법인세와 별개로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개인이나 법인의 소득에 부과되는 지방소득세가 </a:t>
            </a:r>
            <a:r>
              <a:rPr lang="en-US" altLang="ko-KR" sz="1600" spc="-50" dirty="0"/>
              <a:t>16.6%</a:t>
            </a:r>
            <a:r>
              <a:rPr lang="ko-KR" altLang="en-US" sz="1600" spc="-50" dirty="0"/>
              <a:t>의 비중을 차지하고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선박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항공기 등의 자산에 대해 부과되는 재산세는 </a:t>
            </a:r>
            <a:r>
              <a:rPr lang="en-US" altLang="ko-KR" sz="1600" spc="-50" dirty="0"/>
              <a:t>14.1%</a:t>
            </a:r>
            <a:r>
              <a:rPr lang="ko-KR" altLang="en-US" sz="1600" spc="-50" dirty="0"/>
              <a:t>의 비중을 차지하고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 지방세 구조를 </a:t>
            </a:r>
            <a:r>
              <a:rPr lang="ko-KR" altLang="en-US" sz="1600" spc="-50" dirty="0" err="1"/>
              <a:t>다른나라들과</a:t>
            </a:r>
            <a:r>
              <a:rPr lang="ko-KR" altLang="en-US" sz="1600" spc="-50" dirty="0"/>
              <a:t> 비교해보면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재산과세의 비중이 높다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80" dirty="0"/>
              <a:t>우리나라처럼 지역간 경제 격차가 클 때</a:t>
            </a:r>
            <a:r>
              <a:rPr lang="en-US" altLang="ko-KR" sz="1600" spc="-80" dirty="0"/>
              <a:t>,</a:t>
            </a:r>
            <a:r>
              <a:rPr lang="ko-KR" altLang="en-US" sz="1600" spc="-80" dirty="0"/>
              <a:t> 재산과세의 비중이 높은 것은 지역간 재정불균형을 </a:t>
            </a:r>
            <a:r>
              <a:rPr lang="ko-KR" altLang="en-US" sz="1600" spc="-80" dirty="0" err="1"/>
              <a:t>심화시키는</a:t>
            </a:r>
            <a:r>
              <a:rPr lang="ko-KR" altLang="en-US" sz="1600" spc="-80" dirty="0"/>
              <a:t> 요인으로 작용한다</a:t>
            </a:r>
            <a:r>
              <a:rPr lang="en-US" altLang="ko-KR" sz="1600" spc="-8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30" dirty="0"/>
              <a:t>재산과세 중에서도 취득세 같은 거래단계에서의 과세가 재산세 같은 보유단계에서의 과세보다 더 큰 비중을 차지한다는 특징이 있다</a:t>
            </a:r>
            <a:r>
              <a:rPr lang="en-US" altLang="ko-KR" sz="1600" spc="-13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보유단계보다 거래단계에서의 과세 비중이 높은 것은 경제상황에 따라 큰 폭의 변화를 동반하여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조세수입의 안정성 측면에서 문제가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D7E299-911F-4119-9FA2-CFEEEC4580EA}"/>
              </a:ext>
            </a:extLst>
          </p:cNvPr>
          <p:cNvSpPr txBox="1"/>
          <p:nvPr/>
        </p:nvSpPr>
        <p:spPr>
          <a:xfrm>
            <a:off x="2217740" y="5640553"/>
            <a:ext cx="129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지방세 수입 구성비율</a:t>
            </a:r>
            <a:endParaRPr lang="en-US" altLang="ko-KR" sz="900" spc="-50" dirty="0"/>
          </a:p>
          <a:p>
            <a:pPr algn="ctr"/>
            <a:r>
              <a:rPr lang="en-US" altLang="ko-KR" sz="900" spc="-50" dirty="0"/>
              <a:t>(2020</a:t>
            </a:r>
            <a:r>
              <a:rPr lang="ko-KR" altLang="en-US" sz="900" spc="-50" dirty="0"/>
              <a:t>년도 예산</a:t>
            </a:r>
            <a:r>
              <a:rPr lang="en-US" altLang="ko-KR" sz="900" spc="-50" dirty="0"/>
              <a:t>)</a:t>
            </a:r>
            <a:endParaRPr lang="ko-KR" altLang="en-US" sz="9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5EFE439-F2EA-0E9E-873E-BE8B71B032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1" t="35360" r="453" b="26545"/>
          <a:stretch>
            <a:fillRect/>
          </a:stretch>
        </p:blipFill>
        <p:spPr>
          <a:xfrm>
            <a:off x="3598863" y="5516000"/>
            <a:ext cx="4994275" cy="5891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98B3C7-36F7-2348-213C-ACD0C7532FB7}"/>
              </a:ext>
            </a:extLst>
          </p:cNvPr>
          <p:cNvSpPr txBox="1"/>
          <p:nvPr/>
        </p:nvSpPr>
        <p:spPr>
          <a:xfrm>
            <a:off x="3908743" y="5342341"/>
            <a:ext cx="56705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취득세</a:t>
            </a:r>
            <a:endParaRPr lang="ko-KR" alt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F30C2-5837-BE0D-CD40-19467DE299E5}"/>
              </a:ext>
            </a:extLst>
          </p:cNvPr>
          <p:cNvSpPr txBox="1"/>
          <p:nvPr/>
        </p:nvSpPr>
        <p:spPr>
          <a:xfrm>
            <a:off x="4883787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지방소비세</a:t>
            </a:r>
            <a:endParaRPr lang="ko-KR" alt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EFA42F-2641-58D5-7E98-3B1517464755}"/>
              </a:ext>
            </a:extLst>
          </p:cNvPr>
          <p:cNvSpPr txBox="1"/>
          <p:nvPr/>
        </p:nvSpPr>
        <p:spPr>
          <a:xfrm>
            <a:off x="5721669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지방소득세</a:t>
            </a:r>
            <a:endParaRPr lang="ko-KR" alt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AD2AF5-06EA-29B2-0B3A-CEA3AC2B8F77}"/>
              </a:ext>
            </a:extLst>
          </p:cNvPr>
          <p:cNvSpPr txBox="1"/>
          <p:nvPr/>
        </p:nvSpPr>
        <p:spPr>
          <a:xfrm>
            <a:off x="6470331" y="5342341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/>
              <a:t>재산세</a:t>
            </a:r>
            <a:endParaRPr lang="ko-KR" alt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AC3DE3-39F8-06EC-E8FB-34A4C474A969}"/>
              </a:ext>
            </a:extLst>
          </p:cNvPr>
          <p:cNvSpPr txBox="1"/>
          <p:nvPr/>
        </p:nvSpPr>
        <p:spPr>
          <a:xfrm>
            <a:off x="7071044" y="5205181"/>
            <a:ext cx="74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자동차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세</a:t>
            </a:r>
            <a:endParaRPr lang="ko-KR" altLang="en-US" sz="9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CB07CD-E4DE-9E7B-BA10-EA8D8CA11BC0}"/>
              </a:ext>
            </a:extLst>
          </p:cNvPr>
          <p:cNvSpPr txBox="1"/>
          <p:nvPr/>
        </p:nvSpPr>
        <p:spPr>
          <a:xfrm>
            <a:off x="7440321" y="5210261"/>
            <a:ext cx="748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지방</a:t>
            </a:r>
            <a:endParaRPr lang="en-US" altLang="ko-KR" sz="900" spc="-50" dirty="0"/>
          </a:p>
          <a:p>
            <a:pPr algn="ctr"/>
            <a:r>
              <a:rPr lang="ko-KR" altLang="en-US" sz="900" spc="-50" dirty="0"/>
              <a:t>교육세</a:t>
            </a:r>
            <a:endParaRPr lang="ko-KR" altLang="en-US" sz="9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750A51-1E95-C958-E255-6C5A5EBE8810}"/>
              </a:ext>
            </a:extLst>
          </p:cNvPr>
          <p:cNvSpPr txBox="1"/>
          <p:nvPr/>
        </p:nvSpPr>
        <p:spPr>
          <a:xfrm>
            <a:off x="7719723" y="4987013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담배소비세</a:t>
            </a:r>
            <a:endParaRPr lang="ko-KR" altLang="en-US" sz="9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41A2D3-1961-E852-CE9E-D8F64FFFA9D4}"/>
              </a:ext>
            </a:extLst>
          </p:cNvPr>
          <p:cNvSpPr txBox="1"/>
          <p:nvPr/>
        </p:nvSpPr>
        <p:spPr>
          <a:xfrm>
            <a:off x="7865136" y="6118919"/>
            <a:ext cx="7486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주민세</a:t>
            </a:r>
            <a:endParaRPr lang="ko-KR" altLang="en-US" sz="9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4D2000-801F-FA08-C530-FC0A726831F0}"/>
              </a:ext>
            </a:extLst>
          </p:cNvPr>
          <p:cNvSpPr txBox="1"/>
          <p:nvPr/>
        </p:nvSpPr>
        <p:spPr>
          <a:xfrm>
            <a:off x="8216269" y="5281513"/>
            <a:ext cx="43369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900" spc="-50" dirty="0"/>
              <a:t>기타</a:t>
            </a:r>
            <a:endParaRPr lang="ko-KR" altLang="en-US" sz="900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A76FE13-ABE1-AD7B-7365-D35C87233CEF}"/>
              </a:ext>
            </a:extLst>
          </p:cNvPr>
          <p:cNvCxnSpPr>
            <a:cxnSpLocks/>
          </p:cNvCxnSpPr>
          <p:nvPr/>
        </p:nvCxnSpPr>
        <p:spPr>
          <a:xfrm>
            <a:off x="8095004" y="5205181"/>
            <a:ext cx="0" cy="338368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3185FF3-0C39-C4C5-067D-C7F40FDA1C0F}"/>
              </a:ext>
            </a:extLst>
          </p:cNvPr>
          <p:cNvCxnSpPr>
            <a:cxnSpLocks/>
          </p:cNvCxnSpPr>
          <p:nvPr/>
        </p:nvCxnSpPr>
        <p:spPr>
          <a:xfrm>
            <a:off x="8239467" y="6095951"/>
            <a:ext cx="0" cy="72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44FFB28-13F2-47B8-CCE5-9F46865513DD}"/>
              </a:ext>
            </a:extLst>
          </p:cNvPr>
          <p:cNvCxnSpPr>
            <a:cxnSpLocks/>
          </p:cNvCxnSpPr>
          <p:nvPr/>
        </p:nvCxnSpPr>
        <p:spPr>
          <a:xfrm>
            <a:off x="8439469" y="5469441"/>
            <a:ext cx="0" cy="72000"/>
          </a:xfrm>
          <a:prstGeom prst="line">
            <a:avLst/>
          </a:prstGeom>
          <a:ln w="317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05392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6705</TotalTime>
  <Words>4546</Words>
  <Application>Microsoft Office PowerPoint</Application>
  <PresentationFormat>와이드스크린</PresentationFormat>
  <Paragraphs>965</Paragraphs>
  <Slides>40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재 정 학</vt:lpstr>
      <vt:lpstr>Chapter 4  공공재의 문제</vt:lpstr>
      <vt:lpstr>Section 1. 공공재의 의미</vt:lpstr>
      <vt:lpstr>공공재의 의미</vt:lpstr>
      <vt:lpstr>공공재의 의미</vt:lpstr>
      <vt:lpstr>공공재의 기본성격</vt:lpstr>
      <vt:lpstr>Section 2. 공공재의 최적수준</vt:lpstr>
      <vt:lpstr>Section 3. 린달의 자발적 교환 모형</vt:lpstr>
      <vt:lpstr>Section 4. 무임승차자의 문제</vt:lpstr>
      <vt:lpstr>Section 5. 공공재의 다른 측면</vt:lpstr>
      <vt:lpstr>재정의 기본골격</vt:lpstr>
      <vt:lpstr>중앙정부의 재정규모</vt:lpstr>
      <vt:lpstr>일반회계</vt:lpstr>
      <vt:lpstr>일반회계</vt:lpstr>
      <vt:lpstr>일반회계</vt:lpstr>
      <vt:lpstr>일반회계</vt:lpstr>
      <vt:lpstr>특별회계</vt:lpstr>
      <vt:lpstr>기금</vt:lpstr>
      <vt:lpstr>Section 2. 정부지출의 수준과 구성</vt:lpstr>
      <vt:lpstr>지출수준</vt:lpstr>
      <vt:lpstr>지출수준</vt:lpstr>
      <vt:lpstr>지출의 구성</vt:lpstr>
      <vt:lpstr>Section 3. 조세제도</vt:lpstr>
      <vt:lpstr>조세부담률</vt:lpstr>
      <vt:lpstr>소득과세</vt:lpstr>
      <vt:lpstr>소득과세</vt:lpstr>
      <vt:lpstr>소비과세</vt:lpstr>
      <vt:lpstr>소비과세</vt:lpstr>
      <vt:lpstr>재산과세</vt:lpstr>
      <vt:lpstr>재산과세</vt:lpstr>
      <vt:lpstr>Section 4. 지방재정</vt:lpstr>
      <vt:lpstr>재방재정의 구성</vt:lpstr>
      <vt:lpstr>재방재정의 구성</vt:lpstr>
      <vt:lpstr>재방재정의 구성</vt:lpstr>
      <vt:lpstr>지방재정의 구성</vt:lpstr>
      <vt:lpstr>지방재정의 구성</vt:lpstr>
      <vt:lpstr>지방재정의 구성</vt:lpstr>
      <vt:lpstr>지방세 체계</vt:lpstr>
      <vt:lpstr>PowerPoint 프레젠테이션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186</cp:revision>
  <dcterms:created xsi:type="dcterms:W3CDTF">2025-07-05T05:15:23Z</dcterms:created>
  <dcterms:modified xsi:type="dcterms:W3CDTF">2026-01-02T08:15:13Z</dcterms:modified>
</cp:coreProperties>
</file>