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6" r:id="rId1"/>
  </p:sldMasterIdLst>
  <p:notesMasterIdLst>
    <p:notesMasterId r:id="rId35"/>
  </p:notesMasterIdLst>
  <p:handoutMasterIdLst>
    <p:handoutMasterId r:id="rId36"/>
  </p:handoutMasterIdLst>
  <p:sldIdLst>
    <p:sldId id="296" r:id="rId2"/>
    <p:sldId id="258" r:id="rId3"/>
    <p:sldId id="261" r:id="rId4"/>
    <p:sldId id="345" r:id="rId5"/>
    <p:sldId id="295" r:id="rId6"/>
    <p:sldId id="355" r:id="rId7"/>
    <p:sldId id="354" r:id="rId8"/>
    <p:sldId id="35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68" r:id="rId20"/>
    <p:sldId id="308" r:id="rId21"/>
    <p:sldId id="310" r:id="rId22"/>
    <p:sldId id="311" r:id="rId23"/>
    <p:sldId id="312" r:id="rId24"/>
    <p:sldId id="357" r:id="rId25"/>
    <p:sldId id="314" r:id="rId26"/>
    <p:sldId id="358" r:id="rId27"/>
    <p:sldId id="315" r:id="rId28"/>
    <p:sldId id="360" r:id="rId29"/>
    <p:sldId id="361" r:id="rId30"/>
    <p:sldId id="362" r:id="rId31"/>
    <p:sldId id="363" r:id="rId32"/>
    <p:sldId id="365" r:id="rId33"/>
    <p:sldId id="367" r:id="rId3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A12F"/>
    <a:srgbClr val="6D9AC3"/>
    <a:srgbClr val="6D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3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57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pPr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pPr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753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23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89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940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79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우리나라의 재정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수준과 구성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지방재정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2.1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/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finance)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공공욕구를 충족시키기 위해 수행하는 모든 경제적 활동</a:t>
            </a:r>
            <a:endParaRPr lang="en-US" altLang="ko-KR" dirty="0"/>
          </a:p>
          <a:p>
            <a:pPr lvl="1" indent="-230400" latinLnBrk="0"/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중앙정부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(central government)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지방정부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(local government)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buNone/>
            </a:pP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39A4489-2489-4FD9-83F1-E5B8C93150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56" y="3254532"/>
            <a:ext cx="7330664" cy="276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재정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lnSpc>
                <a:spcPct val="130000"/>
              </a:lnSpc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재정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예산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(budget)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기금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(fund)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구성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매년 계획을 세워 국회의 심의를 받아 의결 후 집행 가능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기금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예산처럼 까다로운 과정을 거치지 않아도 됨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예산은 다시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일반회계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특별회계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구성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 대부분을 포함하며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기본적인 정부 활동과 관련되는 주요한 재정사업 모두 포괄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특별회계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목적을 위한 사업과 관련해 일반회계로부터 따로 떼어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설치・운영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148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83A0D130-3268-4B1C-BD69-07EEDF945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재정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65E13E09-89B9-4FBB-8A30-0812A2EE9B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753" y="1523948"/>
            <a:ext cx="6613901" cy="483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7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일반회계의 세입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세외수입으로 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내국세와 관세 등을 통해 얻어지는 수입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세외수입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재산수입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경상이전수입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판매수입 등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세수의 사용처에 따른 조세의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보통세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세수 중 일부를 지방정부에 나눠주는 재원으로 사용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목적세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(earmarked tax)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: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세수를 특정한 용도에 사용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-230400" latinLnBrk="0"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농어촌특별세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24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과세대상에 따른 조세의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소득과세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재산과세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상속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증여세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종합부동산세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소비과세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개별소비세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주세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따른 조세의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(direct tax)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주체에게 직접적으로 세금 부과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상속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증여세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종합부동산세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간접세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(indirect tax)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등에 부과해 간접적으로 세금 부과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개별소비세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증권거래세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546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57A32546-9661-48ED-891B-A6D1A4A730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58" y="1421176"/>
            <a:ext cx="5654483" cy="499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5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379A1F-0C4D-4FD7-A951-DB7D336248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27" y="1520586"/>
            <a:ext cx="6548033" cy="48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0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세출의 구분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/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소관별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세출예산이 배정되는 기관을 기준으로 분류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기능별 분류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예산사업이 수행하는 기능에 따라 분류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/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성질별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세출예산의 지출대상이 갖는 성격에 따라 분류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0" indent="-23040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CFBEA93-0999-479B-B509-E7FDB5303A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469" y="3735091"/>
            <a:ext cx="6793061" cy="24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51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특별회계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특별회계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기업특별회계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기타특별회계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기업특별회계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국가의 기업 활동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공기업이라고 부르는 것들의 활동과 관련된 특별회계의 범주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양곡관리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우편사업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우체국예금 등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특별회계가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기타특별회계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교통시설특별회계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환경개선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농어촌구조개선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국가균형발전 등 각종 사업을 관리하는 여러 가지 특별회계가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현재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개별 특별회계가 설치되어 운영 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641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특별한 목적을 수행하기 위해 특정한 자금을 예산과는 독립적으로 운용할 필요가 있을 때 설치됨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예산의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목적구속금지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(non-affection)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원칙의 제약을 보완하여 특정한 자금을 예산의 틀 밖에서 탄력적으로 운용하려는 목적으로 만들어짐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기금은 정부가 특정한 수입을 특정한 지출에 사용할 수 있도록 하기 위해 만들어짐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현재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기금이 운용되고 있으며 기금의 운용규모는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724.8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조원에 달함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925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2.2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수준과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 재정의 규모는 국내총생산보다 상대적으로 더 빠른 속도로 커져 왔다는 장기적 추세를 발견할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5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94CB8D-D004-478E-A24B-8BE684956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55" y="2696763"/>
            <a:ext cx="6812475" cy="367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6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수준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 중앙정부 지출이 국내총생산에서 차지하는 비중은 선진국들의 평균적 수준에 비해 더 낮음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나라마다 여건이 다르기 때문에 재정규모를 선진국의 수준에 근접하도록 높이는 것이 바람직하다는 주장은 문제가 될 수 있음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현재의 재정규모가 적정한 것인지 평가를 내리기 위해서는 정부가 하는 일의 내용을 자세히 들여다봐야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가용자원을 민간부문과 정부부문이 어떤 비율로 나누어 쓰는 것이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측면에서 바람직한 것인지에 대한 답을 찾아내야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6018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수준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공공부문 사회적 지출은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OECD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 중 최하위권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CB1627F9-EDE4-4CEA-8E3D-EBC2F2CD9C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55" y="2101612"/>
            <a:ext cx="7069289" cy="425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82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일반회계의 기능별 분류방식이 경제적으로 가장 큰 의미를 가짐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61E1BA43-EA30-4038-910D-F84786E59B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39" y="2113347"/>
            <a:ext cx="6003921" cy="424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37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2.3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조세부담률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조세부담이 국내총생산에서 차지하는 비중으로 계산되며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국민의 조세부담이 어떠한지를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나타내주는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lnSpc>
                <a:spcPct val="130000"/>
              </a:lnSpc>
              <a:spcBef>
                <a:spcPts val="2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17625B1F-C9C8-4C57-AA0D-57E04F28A1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77" y="2533475"/>
            <a:ext cx="5329045" cy="382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38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3950" lvl="1" indent="0" algn="ctr" latinLnBrk="0">
              <a:lnSpc>
                <a:spcPct val="130000"/>
              </a:lnSpc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F3AD5CDD-2580-4F07-BBE3-E649497D60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21" y="2414444"/>
            <a:ext cx="7809858" cy="288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69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 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-230400" latinLnBrk="0">
              <a:spcBef>
                <a:spcPts val="3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-230400" latinLnBrk="0">
              <a:spcBef>
                <a:spcPts val="3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672130-7901-44F8-918B-7A0FE3D5CE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912" y="1570815"/>
            <a:ext cx="5870661" cy="469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82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 전체 국세수입의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53.1%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 국세수입에서 소득세가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28.5%,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24.6%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3148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lnSpc>
                <a:spcPct val="125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소득과세인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소득세와 법인세는 직접세의 성격을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5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조세부담 능력에 따라 세금의 크기를 결정하는 것이 가능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통해 어느 정도의 재분배 효과를 얻을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5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간접세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조세부담 능력에 맞춰 세금의 크기가 결정되도록 하는 것이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25000"/>
              </a:lnSpc>
              <a:spcBef>
                <a:spcPts val="1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전체 조세수입 중 직접세가 차지하는 비중이 클수록 형평성 측면에서 바람직하다고 여기는 경향이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5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소득세 비중이 올라갔다고 해서 공평한 부담의 분배에 더 가까워졌다고 성급한 결론을 내려서는 안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5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중〮 하위 소득계층의 주요 수입원인 근로소득에 대한 과세 강화는 외형상의 수치가 시사하는 바와 정반대의 결과를 낳을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051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개별소비세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 조세부담을 소비자가 진다는 의미에서 간접세로 분류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 중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소비과세로부터의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수입은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36.3%</a:t>
            </a: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수입은 전체 조세수입에서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24.1%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단일세율구조를 가지며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소비재만을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과세대상에 포함시켜 약간의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역진성을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거의 모든 상품을 부과대상으로 하기 때문에 세율을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1%P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 올려도 조세수입이 큰 폭으로 늘어남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납세자가 세금을 낸다는 사실을 거의 모르는 상태에서 거두는 세금이므로 조세수입을 늘리려 할 때 편리한 수단으로 사용됨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6556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개별소비세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역진성을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부분적으로 보완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사치재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성격의 상품에 선별적으로 부과하여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약간의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제한된 품목에 선별적 적용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소비자의 선택에 교란을 일으킴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종전에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사치재였던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상품이 점차 필수품화하는 현상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개별소비세 부과대상 조정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휘발유나 경유 등의 유류에 부과되는 소비세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자동차 운행을 줄여 대기오염이나 교통 혼잡 등의 사회적 피해를 감소시키려는 의도로 부과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소비자의 선택에 변화를 가져와 사회적으로 바람직한 결과 유도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1152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부동산이나 주식과 같은 재산에 대해 부과하는 세금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거래단계에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상속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증여세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증권거래세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인지세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보유단계에 부과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종합부동산세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지방세 중에는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취득세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재산세 등이 재산과세에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소비과세나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차지하는 비중은 매우 작음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 중 재산과세의 비중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5.5%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1689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지방정부의 조세수입에서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비중은          중앙정부보다 훨씬 높음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 조세수입에서 재산과세 비중이 높은 이유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12800" lvl="1" indent="-230400" latinLnBrk="0"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편익성의 원칙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제공하는 공공서비스의 편익에 대한 대가로 세금을 납부한다는 개념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12800" lvl="1" indent="-230400" latinLnBrk="0"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안정성의 원칙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재산과세가 지방정부로 하여금 조세수입을 안정적으로 확보할 수 있게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재산세를 지방세의 중심축으로 삼는 것은 지역 간 재정불균형을 심화시키는 문제를 일으킬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89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2.4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넓은 의미의 지방정부 재정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시〮 도 교육청이 관리하는 교육재정과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지방정부가 관리하는 재정으로 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의미의 지방재정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교육재정을 제외한 지방정부의 재정 의미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지방재정의 대부분은 예산이 차지하고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그중에서도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일반회계가 특히 큰 비중을 차지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B897E6-CF19-4D96-A815-630F2699E1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92" y="3020429"/>
            <a:ext cx="7024457" cy="241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05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재원의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20400" cy="4754563"/>
          </a:xfrm>
        </p:spPr>
        <p:txBody>
          <a:bodyPr>
            <a:normAutofit/>
          </a:bodyPr>
          <a:lstStyle/>
          <a:p>
            <a:pPr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재원구성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자체재원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자체적으로 조달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지방세 수입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수수료 등의 세외수입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의존재원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중앙정부나 상위 지방정부로부터의 지원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보조금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필요에 따라 지방채 발행을 통해 재정운용에 필요한 재원을 마련할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216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재원의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재원의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43.0%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중앙정부나 상위 지방정부의 재정지원에 의존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10000"/>
              </a:lnSpc>
              <a:spcBef>
                <a:spcPts val="150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재정보조를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통해 지방정부의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활동영역이 넓어질 수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있다는 점은 긍정적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10000"/>
              </a:lnSpc>
              <a:spcBef>
                <a:spcPts val="150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지방정부의 독자적 사업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운영에 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무형의 제약이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된다는 점에서 부정적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10000"/>
              </a:lnSpc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텍스트, 명함, 스크린샷, 벡터그래픽이(가) 표시된 사진&#10;&#10;자동 생성된 설명">
            <a:extLst>
              <a:ext uri="{FF2B5EF4-FFF2-40B4-BE49-F238E27FC236}">
                <a16:creationId xmlns:a16="http://schemas.microsoft.com/office/drawing/2014/main" id="{775694B5-DCC6-4AC4-A550-C009AB9D28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161" y="2608886"/>
            <a:ext cx="4740189" cy="344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46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분야별 지출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CCFA1F-5C71-4608-9195-D14C25F004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41" y="1665994"/>
            <a:ext cx="7497410" cy="465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22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비교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spcBef>
                <a:spcPts val="1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 재정에서 중앙정부가 차지하는 비중은 지방정부에 비해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지방자치를 위해 지방정부의 재정자립도를 높일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필요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E5C55721-6227-4E94-A215-A2874FD67C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855" y="2047882"/>
            <a:ext cx="5274290" cy="353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42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재정자립도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1500"/>
              </a:spcBef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재정자립도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지방정부의 전체 예산에서 지방세나 세외수입과 같은 자체 재원이 얼마나 되는가를 측정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242ED40A-4FA9-444A-A355-2B6FB6124E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672" y="2334846"/>
            <a:ext cx="5766656" cy="393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40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재정자립도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70733" cy="4754563"/>
          </a:xfrm>
        </p:spPr>
        <p:txBody>
          <a:bodyPr>
            <a:normAutofit/>
          </a:bodyPr>
          <a:lstStyle/>
          <a:p>
            <a:pPr indent="-230400" latinLnBrk="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상위의 지방자치단체에서 하위로 갈수록 재정자립도가 더 낮아지는 추세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평균적으로 특별시나 광역시의 재정자립도가 도보다 더 높음</a:t>
            </a:r>
          </a:p>
          <a:p>
            <a:pPr indent="-230400" latinLnBrk="0">
              <a:lnSpc>
                <a:spcPct val="14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지역간 재정불균형의 문제가 매우 심각한 상황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자치구나 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군 단위에서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재정자립도가 최대인 지역과 최소인 지역 사이에 두 배 이상의 격차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1180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지방세 체계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838B71-AD47-47B5-B6AA-C5F4D89C4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78" y="1515792"/>
            <a:ext cx="7942972" cy="466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89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지방세 체계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lnSpc>
                <a:spcPct val="12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2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20000"/>
              </a:lnSpc>
              <a:spcBef>
                <a:spcPts val="0"/>
              </a:spcBef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2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2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lnSpc>
                <a:spcPct val="120000"/>
              </a:lnSpc>
              <a:spcBef>
                <a:spcPts val="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20000"/>
              </a:lnSpc>
              <a:spcBef>
                <a:spcPts val="700"/>
              </a:spcBef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취득세가 전체 지방세 수입의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24.5%,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지방소비세가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17.7%,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지방소득세가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16.6%,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재산세가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14.4%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비중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20000"/>
              </a:lnSpc>
              <a:spcBef>
                <a:spcPts val="700"/>
              </a:spcBef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재산과세의 비중 높음 ⇒ 지역간 재정불균형을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심화시키는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요인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20000"/>
              </a:lnSpc>
              <a:spcBef>
                <a:spcPts val="700"/>
              </a:spcBef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 중 거래단계의 과세가 보유단계의 과세보다 더 큰 비중</a:t>
            </a:r>
            <a:b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지방정부의 조세수입이 경제상황에 크게 영향을 받아 안정성 측면에서 문제를 일으킬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8D4005-BC02-49A3-BA40-B91C1F59D4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09" y="1264145"/>
            <a:ext cx="6867982" cy="265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00477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2225</TotalTime>
  <Words>1446</Words>
  <Application>Microsoft Office PowerPoint</Application>
  <PresentationFormat>화면 슬라이드 쇼(4:3)</PresentationFormat>
  <Paragraphs>337</Paragraphs>
  <Slides>33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나눔고딕</vt:lpstr>
      <vt:lpstr>나눔고딕 ExtraBold</vt:lpstr>
      <vt:lpstr>맑은 고딕</vt:lpstr>
      <vt:lpstr>Arial</vt:lpstr>
      <vt:lpstr>Calibri</vt:lpstr>
      <vt:lpstr>Wingdings</vt:lpstr>
      <vt:lpstr>1_Office 테마</vt:lpstr>
      <vt:lpstr>제2장   우리나라의 재정</vt:lpstr>
      <vt:lpstr>2.1  재정의 기본골격</vt:lpstr>
      <vt:lpstr>재정의 기본골격 : 중앙정부의 재정</vt:lpstr>
      <vt:lpstr>재정의 기본골격 : 중앙정부의 재정</vt:lpstr>
      <vt:lpstr>재정의 기본골격 : 일반회계 - 세입</vt:lpstr>
      <vt:lpstr>재정의 기본골격 : 일반회계 - 세입</vt:lpstr>
      <vt:lpstr>재정의 기본골격 : 일반회계 - 세입</vt:lpstr>
      <vt:lpstr>재정의 기본골격 : 일반회계 - 세입</vt:lpstr>
      <vt:lpstr>재정의 기본골격 : 일반회계 - 세출</vt:lpstr>
      <vt:lpstr>재정의 기본골격 : 특별회계</vt:lpstr>
      <vt:lpstr>재정의 기본골격 : 기금</vt:lpstr>
      <vt:lpstr>2.2  정부지출의 수준과 구성</vt:lpstr>
      <vt:lpstr>정부지출의 수준</vt:lpstr>
      <vt:lpstr>정부지출의 수준</vt:lpstr>
      <vt:lpstr>정부지출의 구성</vt:lpstr>
      <vt:lpstr>2.3  조세제도</vt:lpstr>
      <vt:lpstr>조세제도 : 조세부담률</vt:lpstr>
      <vt:lpstr>중앙정부의 조세수입 내역</vt:lpstr>
      <vt:lpstr>조세제도 : 소득과세</vt:lpstr>
      <vt:lpstr>조세제도 : 소득과세</vt:lpstr>
      <vt:lpstr>조세제도 : 소비과세</vt:lpstr>
      <vt:lpstr>조세제도 : 소비과세</vt:lpstr>
      <vt:lpstr>조세제도 : 재산과세</vt:lpstr>
      <vt:lpstr>조세제도 : 재산과세</vt:lpstr>
      <vt:lpstr>2.4  지방재정</vt:lpstr>
      <vt:lpstr>지방재정 : 재원의 구성</vt:lpstr>
      <vt:lpstr>지방재정 : 재원의 구성</vt:lpstr>
      <vt:lpstr>지방재정 : 분야별 지출</vt:lpstr>
      <vt:lpstr>지방재정 : 중앙정부와 비교</vt:lpstr>
      <vt:lpstr>지방재정 : 재정자립도</vt:lpstr>
      <vt:lpstr>지방재정 : 재정자립도</vt:lpstr>
      <vt:lpstr>지방재정 : 지방세 체계</vt:lpstr>
      <vt:lpstr>지방재정 : 지방세 체계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626</cp:revision>
  <dcterms:created xsi:type="dcterms:W3CDTF">2015-08-04T05:38:00Z</dcterms:created>
  <dcterms:modified xsi:type="dcterms:W3CDTF">2021-02-21T15:09:52Z</dcterms:modified>
</cp:coreProperties>
</file>