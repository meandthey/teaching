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38"/>
  </p:notesMasterIdLst>
  <p:handoutMasterIdLst>
    <p:handoutMasterId r:id="rId39"/>
  </p:handoutMasterIdLst>
  <p:sldIdLst>
    <p:sldId id="337" r:id="rId2"/>
    <p:sldId id="297" r:id="rId3"/>
    <p:sldId id="298" r:id="rId4"/>
    <p:sldId id="301" r:id="rId5"/>
    <p:sldId id="302" r:id="rId6"/>
    <p:sldId id="303" r:id="rId7"/>
    <p:sldId id="304" r:id="rId8"/>
    <p:sldId id="306" r:id="rId9"/>
    <p:sldId id="307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5" r:id="rId26"/>
    <p:sldId id="326" r:id="rId27"/>
    <p:sldId id="327" r:id="rId28"/>
    <p:sldId id="328" r:id="rId29"/>
    <p:sldId id="329" r:id="rId30"/>
    <p:sldId id="331" r:id="rId31"/>
    <p:sldId id="330" r:id="rId32"/>
    <p:sldId id="332" r:id="rId33"/>
    <p:sldId id="333" r:id="rId34"/>
    <p:sldId id="334" r:id="rId35"/>
    <p:sldId id="335" r:id="rId36"/>
    <p:sldId id="336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  <a:srgbClr val="A6C9E8"/>
    <a:srgbClr val="FEFBF0"/>
    <a:srgbClr val="FDF4D1"/>
    <a:srgbClr val="FD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7" autoAdjust="0"/>
    <p:restoredTop sz="96429" autoAdjust="0"/>
  </p:normalViewPr>
  <p:slideViewPr>
    <p:cSldViewPr snapToGrid="0">
      <p:cViewPr varScale="1">
        <p:scale>
          <a:sx n="87" d="100"/>
          <a:sy n="87" d="100"/>
        </p:scale>
        <p:origin x="119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73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67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02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4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8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4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6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2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후생경제학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 평가의 기준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3.7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0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 평가의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정책이 바람직한지의 여부는 그것으로 인한 변화가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welfare)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어떤 영향을 미치는가에 의해 평가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평가의 기준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(efficiency)</a:t>
            </a: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(equity)</a:t>
            </a: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보조적 기준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자유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 freedom)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66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05396" cy="4754563"/>
          </a:xfrm>
        </p:spPr>
        <p:txBody>
          <a:bodyPr>
            <a:no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efficiency)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상태가 있다고 할 때 어느 누구에게도 손해가 가지 않으면서 어떤 사람에게는 이득이 되도록 하는 것이 불가능한 상태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파레토개선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improvement)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자원배분 상태를 다른 상태로 변화시킬 때 손해를 보는 사람은 아무도 없으면서 이득을 얻는 사람이 생기게 만드는 변화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파레토효율성은 파레토개선이 일어날 수 없는 상태라고 말할 수도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74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효용가능경계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(utility possibility frontier)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자원으로 사람들이 최대한으로 얻을 수 있는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조합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F7D4EF-C89A-4464-869D-9D0666DBDB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495" y="1599073"/>
            <a:ext cx="6097009" cy="347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완전경쟁과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22981" cy="4754563"/>
          </a:xfrm>
        </p:spPr>
        <p:txBody>
          <a:bodyPr>
            <a:noAutofit/>
          </a:bodyPr>
          <a:lstStyle/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소비자의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선호체계가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강단조성을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갖고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존재하지 않는다면 일반경쟁균형의 배분은 파레토효율적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소비자의 선호체계가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볼록성을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가지면 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배분은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초기부존자원의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적절한 재배분을 통해 일반경쟁균형으로 달성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자원배분이 분권적인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의해 달성될 수 있다는 점에서 중요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068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3.3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failure) </a:t>
            </a:r>
          </a:p>
          <a:p>
            <a:pPr marL="0" indent="0" latinLnBrk="0"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 의한 자원배분이라 할지라도 비효율적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불완전경쟁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</a:t>
            </a: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</a:t>
            </a: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(uncertainty)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완비되지 못한 시장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정보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830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불완전경쟁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자원배분이 효율적이라는 것은 완전경쟁이 전제되고 있는 상황에서만 타당성을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완전경쟁의 전제가 성립하지 않는다면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자원배분이 효율적이라는 명제 역시 타당성을 잃게 되므로 불완전경쟁이 존재하고 있을 때 시장의 실패가 일어남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독과점은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보편적으로 존재하는 현상 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17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공원이나 도로같이 여러 사람의 공동 소비를 위해 생산된 재화나 서비스</a:t>
            </a:r>
          </a:p>
          <a:p>
            <a:pPr latinLnBrk="0">
              <a:spcBef>
                <a:spcPts val="1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특성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(non-rivalry)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추가적으로 한 사람이 공공재를 더 소비한다 하더라도 다른 사람의 소비가능성이 줄어들지  않음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(non-excludability)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않은 사람들을 소비에서 배제할 수 없음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1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특성 때문에 양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가격을 매기는 것이 불가능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시장기구가 공공재를 적절한 수준에서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생산∙공급할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164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행동이 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자에게 의도하지 않은 이득이나 손해를 가져다 주는데도 이에 대한 대가를 지불하지도 않을 때 발생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받지 못하기 때문에 일반적으로 사회적 최적수준보다 더 적게 생산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않기 때문에 일반적으로 사회적 최적수준보다 더 많이 생산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57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(uncertainty)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개입하게 되면 일반경쟁균형이 파레토효율성을 가져다 준다는 정리는 성립하지 않을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1,2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정리는 모든 것이 확실하다는 가정을 전제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애로우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불확실성이 존재해도 모든 가능한 상황을 전부 포괄하는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완벽한 조건부거래시장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(perfect contingency market)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존재하면 시장의 실패가 일어나지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(adverse selection)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(moral hazard)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때문에 완벽한 조건부거래시장 존재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38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완비되지 못한 시장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보험시장이나 자본시장 그 자체가 완전하게 갖춰져 있지 못해 비효율성 발생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천재지변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빈곤에 대한 보험 제공 어려움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개인들이 이와 관련된 위험에 노출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학자금 융자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중소기업 융자 등을 전담하는 자본시장 미비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보완적 시장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(complementary market)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부재로 인해 시장의 실패가 발생할 수도 있음 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DVD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플레이어와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DVD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733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정보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개살구시장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for lemon)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모형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중고차시장에서 실제로 거래되는 차들은 겉보기만 그럴듯한 것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개살구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들만 거래됨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 양 당사자 중 한쪽이 정보를 갖지 못하는 비대칭 정보의 상황 때문에 이와 같은 시장의 실패 발생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보험시장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불완전성으로 인해 도덕적 해이와 역선택의 문제가 발생할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행동으로 인해 나타나는 문제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특성으로 인해 나타나는 문제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746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시장실패와 정부 개입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실패가 일어날 경우 정부가 개입하여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부족한 점을 보완할 수 있음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나름대로 문제를 일으키기 때문에 신중하게 고려할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민간부문의 자유로운 의사결정을 교란시키는 결과를 가져오므로 효율성에 나쁜 영향을 미침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초과부담 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정부의 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(government failure)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개입이 기대했던 효과를 내지 못하고 실패로 돌아가는 경우 자주 발생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945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정부실패의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지식과 정보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정보가 제한되어 있는 상황에서는 정책의 영향에 대한 예측이 어렵고 정책의 효과도 떨어질 수밖에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Bef>
                <a:spcPts val="350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반응의 통제 불가능성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기대했던 바와 다른 반응이 나타나면 그 정책은 의도한 효과를 거둘 수 없게 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64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정부실패의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과정에서의 제약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타협을 모색하는 과정에서 변질된 정책이 채택될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spcBef>
                <a:spcPts val="350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관료조직에 대한 불완전한 통제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공익보다 자신의 이익을 앞세우는 도덕적 해이 보일 가능성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3356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공평성이란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여러 가지 요소를 포괄하는 복합적인 개념이며 주관적인 가치판단과 밀접한 관련을 맺고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균등한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(equal)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분배가 공평한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(equitable)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분배라고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말하기는 힘들며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분배가 되기 위해서는 단지 똑같은 몫으로 나눠지는 것 이상의 요건이 충족되어야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균등한 분배가 공평하다는 것을 인정한다 해도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완전히 균등한 분배가 정말로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공평한지에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의문을 제기할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6392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분배의 요건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평등성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(equality)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 소득이 사람들에게 고르게 나누어져야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(rights)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구성원 모두의 정당한 권리가 보장되어 있어야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(fairness)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일이 정해진 규칙에 따라 공정하게 이루어져야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받을 만한 자격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(deserts)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각자의 자격에 상응하도록 결정되어야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위의 요건들 서로 충돌하여 어떤 것을 부득이 포기해야 하는 경우가 발생할 수도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982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자원배분의 효율성을 높이는 동시에 분배의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공평성까지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개선시킬 수 있는 정책의 예를 찾는 것은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경우에 효율성과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서로 충돌하는 것은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 관점에서 볼 때는 공평성과 효율성이 상호보완적 관계에 있음을 발견할 가능성이 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4825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3.5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상태가 변화했을 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변화가 개선인지의 여부를 평가하는 기준을 찾아내는 것은 후생경제학의 중요한 과제 중 하나</a:t>
            </a:r>
          </a:p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위해서는 개인간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효용비교가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이루어져야만 하지만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사이의 효용을 객관적으로 비교할 방법을 찾는 것이 거의 불가능함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(compensation principle)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직접적으로 개인간 효용을 비교하지 않고서도 어떤 변화가 개선인지의 여부를 평가할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0841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3500"/>
              </a:spcBef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새로운 상태에서 어떤 사람의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예전보다 더 낮아지지 않았고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 한 사람 이상의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예전보다 더 높아졌을 때 이를 개선이라고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파레토기준을 적용할 때 분명하게 개선이라고 판단할 수 있는 경우가 거의 없음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053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파레토기준에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의한 개선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파레토기준에 의해 개선인지 아닌지 판별할 수 없음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D6B140-04BC-4234-A903-A48BBDA596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442" y="1516782"/>
            <a:ext cx="6215116" cy="353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9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60000"/>
              </a:lnSpc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변화를 통해 이득을 얻는 사람에 의해 평가된 이득의 화폐가치가 손해를 보는 사람에 의해 평가된 손해의 화폐 가치보다 더 클 때 그 변화를 개선이라고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824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변화는 다음을 만족한다면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칼도기준에서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개선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변화할 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효용 증가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효용 불변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′′→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 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변화할 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화폐적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보상을 통해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손해가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이득으로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완전히 상쇄됨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개선이 이루어진 것으로 판단 가능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CB63C8-FC19-4AE5-91FF-32C92200D6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846" y="2235648"/>
            <a:ext cx="5158684" cy="332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14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과정에서 효용가능경계가 변화한다면 어떤 변화가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개선이면서 그 반대 방향으로도 개선인 경우가 발생할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Scitovsky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변화에 대해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그것이 개선이고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반대방향으로의 변화는 개선이 아니라는 것이 확인되었을 때에 한해 그 변화를 개선이라고 판단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397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효용가능경계가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자원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재배분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후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자원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재배분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전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후의 상황 아래 두 사람 사이에 보상을 통해 달성 가능한 효용 조합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기준으로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변화는 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칼도기준으로 개선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기준으로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변화도 역시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칼도기준으로 개선 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41851D-5FF4-425E-A4C9-CA1ACE741D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881" y="3279956"/>
            <a:ext cx="5172510" cy="29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8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원칙에 대한 비판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3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원칙은 객관적으로 비교 가능한 화폐단위에 의해 개선 여부를 평가하고 있음을 표방하고 있지만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실제로는 감춰진 방법으로 개인간 효용비교를 하고 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버그슨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Bergson) 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기수적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사회후생함수를 설정하고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기초해 변화의 개선여부를 판단하자고 제안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371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3.6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(social welfare function)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주어졌을 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수준을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𝒇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함수 값으로 표현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사회무차별곡선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(social indifference curve)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사회후생함수로부터 똑같은 수준의 사회후생을 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ko-KR" altLang="en-US" sz="2000" b="1">
                        <a:latin typeface="Cambria Math" panose="02040503050406030204" pitchFamily="18" charset="0"/>
                        <a:ea typeface="+mn-ea"/>
                      </a:rPr>
                      <m:t>와</m:t>
                    </m:r>
                    <m:r>
                      <a:rPr lang="en-US" altLang="ko-KR" sz="2000" b="1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조합들을 도출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사람마다 다른 가치판단을 갖고 있어 모든 사람이 흔쾌히 동의할 수 있는 사회후생함수를 찾기 어려움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4535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사회무차별곡선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F4D6CA-D0AF-49B9-A99B-9CABFBBF9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30" y="1953944"/>
            <a:ext cx="8139140" cy="37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91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가치판단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-230400"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공리주의적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(utilitarian)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</a:p>
              <a:p>
                <a:pPr marL="0" indent="-230400" latinLnBrk="0">
                  <a:lnSpc>
                    <a:spcPct val="160000"/>
                  </a:lnSpc>
                  <a:spcBef>
                    <a:spcPts val="25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𝑺𝑾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𝑼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𝑨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+ 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𝑼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3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사회후생은 두 사람 사이에 효용이 어떻게 분배되는지에 관계없이 개인의 효용의 합에 의해서만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효용수준에 대해 동일한 가중치 적용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013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가치판단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93319" cy="4754563"/>
          </a:xfrm>
        </p:spPr>
        <p:txBody>
          <a:bodyPr>
            <a:noAutofit/>
          </a:bodyPr>
          <a:lstStyle/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(egalitarian)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가치판단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효용 수준이 높을수록 더 작은 가중치를 적용해 사회후생을 계산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가치판단은 재분배 정책의 유력한 근거 제시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성향이 강할수록 사회무차별곡선은 원점에 대해 더욱 볼록한 모양을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2542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롤즈적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가치판단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Rawls)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사회에서 가장 못사는 사람의 생활 수준을 가능한 가장 크게 개선시키는 것이 최우선 과제가 되어야 한다고 주장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최소극대화의 원칙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maximin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principle)</a:t>
                </a: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롤즈적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사회후생함수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0">
                        <a:latin typeface="Cambria Math" panose="02040503050406030204" pitchFamily="18" charset="0"/>
                        <a:ea typeface="+mn-ea"/>
                      </a:rPr>
                      <m:t>𝐦𝐢𝐧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⁡(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못사는 사람의 효용수준에 의해 그 사회의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후생수준이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극단적인 평등주의적 가치판단을 반영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7260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배분의 도출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효용가능경계 위에서 사회후생함수를 극대화하는 배분이 가장 바람직한 배분임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사회적으로 가장 바람직한 배분은 공평성에 대해 어떤 가치판단을 가지고 있는가에 따라 달라짐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latinLnBrk="0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사회후생함수의 모양은 공평성에 대해 어떤 가치판단을 가지고 있는가에 따라 달라지기 때문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6700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배분의 도출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344286-0EFE-458C-97A8-366E75DBD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7" y="1588412"/>
            <a:ext cx="8001986" cy="458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0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불가능성 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애로우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보편성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완비성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이행성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파레토원칙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비독재성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선택가능성으로부터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독립이라는 공리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(axiom)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모두 만족하는 사회후생함수는 존재하지 않음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불가능성정리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(impossibility theorem)</a:t>
            </a:r>
          </a:p>
          <a:p>
            <a:pPr latinLnBrk="0">
              <a:spcAft>
                <a:spcPts val="0"/>
              </a:spcAft>
            </a:pPr>
            <a:endParaRPr lang="en-US" altLang="ko-KR" sz="5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한 공리를 포기하면 나머지 공리들을 만족시키는 사회후생함수가 존재할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센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Sen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수의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선택가능성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사이에 합리적이고 민주적인 사회적 선호체계를 찾는 일은 가능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0476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3.7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058150" cy="4754563"/>
              </a:xfrm>
            </p:spPr>
            <p:txBody>
              <a:bodyPr>
                <a:noAutofit/>
              </a:bodyPr>
              <a:lstStyle/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경제에서 최선의 효율적인 자원배분을 위해 만족되어야 하는 조건이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𝒌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 존재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개의 조건이 충족될 수 없는 상황에서 나머지</a:t>
                </a:r>
                <a:r>
                  <a:rPr lang="ko-KR" altLang="en-US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𝒌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조건이 충족되는 것이 차선의 결과인가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립시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랭카스터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(R. </a:t>
                </a:r>
                <a:r>
                  <a:rPr lang="en-US" altLang="ko-KR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Lipsey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K. Lancaster)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하나 이상의 효율성 조건이 이미 파괴되어 있는 상태에서는 만족되는 효율성 조건의 수가 많아진다고 해서 사회적 후생이 더욱 커진다는 보장이 없음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차선의 이론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(theory of the second best)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058150" cy="4754563"/>
              </a:xfrm>
              <a:blipFill>
                <a:blip r:embed="rId2"/>
                <a:stretch>
                  <a:fillRect l="-6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0597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의사결정 과정은 본질적으로 차선의 결과를 추구할 수밖에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파레토최적배분을 가로막는 제약 때문에 최선의 배분이 실현될 수 없다면 차선의 결과라도 가져올 수 있도록 노력하는 것이 쉽지 않음을 말해 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이론은 정부가 점진적 접근법에 의해 경제개혁 조치들을 추진할 때 개혁의 중간과정에서 예기치 않은 부정적 결과를 가져오게 될지도 모른다는 점을 경고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5747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2017</TotalTime>
  <Words>2011</Words>
  <Application>Microsoft Office PowerPoint</Application>
  <PresentationFormat>화면 슬라이드 쇼(4:3)</PresentationFormat>
  <Paragraphs>288</Paragraphs>
  <Slides>36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제3장   후생경제학</vt:lpstr>
      <vt:lpstr>3.1  후생 평가의 기준</vt:lpstr>
      <vt:lpstr>3.2  자원배분의 효율성</vt:lpstr>
      <vt:lpstr>자원배분의 효율성</vt:lpstr>
      <vt:lpstr>완전경쟁과 효율성</vt:lpstr>
      <vt:lpstr>3.3  시장의 실패</vt:lpstr>
      <vt:lpstr>시장실패의 원인 : 불완전경쟁</vt:lpstr>
      <vt:lpstr>시장실패의 원인 : 공공재</vt:lpstr>
      <vt:lpstr>시장실패의 원인 : 외부성</vt:lpstr>
      <vt:lpstr>시장실패의 원인 : 불확실성</vt:lpstr>
      <vt:lpstr>시장실패의 원인 : 완비되지 못한 시장</vt:lpstr>
      <vt:lpstr>시장실패의 원인 : 불완전한 정보</vt:lpstr>
      <vt:lpstr>시장실패와 정부 개입</vt:lpstr>
      <vt:lpstr>정부실패의 원인</vt:lpstr>
      <vt:lpstr>정부실패의 원인</vt:lpstr>
      <vt:lpstr>3.4  분배의 공평성</vt:lpstr>
      <vt:lpstr>분배의 공평성 : 공평한 분배의 요건</vt:lpstr>
      <vt:lpstr>공평성과 효율성</vt:lpstr>
      <vt:lpstr>3.5  보상의 원칙</vt:lpstr>
      <vt:lpstr>보상의 원칙 : 파레토기준</vt:lpstr>
      <vt:lpstr>보상의 원칙 : 파레토기준</vt:lpstr>
      <vt:lpstr>보상의 원칙 : 칼도기준</vt:lpstr>
      <vt:lpstr>보상의 원칙 : 칼도기준</vt:lpstr>
      <vt:lpstr>보상의 원칙 : 스키토브스키기준</vt:lpstr>
      <vt:lpstr>보상의 원칙 : 스키토브스키기준</vt:lpstr>
      <vt:lpstr>보상의 원칙에 대한 비판</vt:lpstr>
      <vt:lpstr>3.6  사회후생함수</vt:lpstr>
      <vt:lpstr>사회무차별곡선</vt:lpstr>
      <vt:lpstr>공리주의적 가치판단</vt:lpstr>
      <vt:lpstr>평등주의적 가치판단</vt:lpstr>
      <vt:lpstr>롤즈적 가치판단</vt:lpstr>
      <vt:lpstr>바람직한 배분의 도출</vt:lpstr>
      <vt:lpstr>바람직한 배분의 도출</vt:lpstr>
      <vt:lpstr>불가능성 정리</vt:lpstr>
      <vt:lpstr>3.7  차선의 이론</vt:lpstr>
      <vt:lpstr>차선의 이론의 의의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644</cp:revision>
  <dcterms:created xsi:type="dcterms:W3CDTF">2015-08-04T05:38:00Z</dcterms:created>
  <dcterms:modified xsi:type="dcterms:W3CDTF">2021-02-21T15:20:53Z</dcterms:modified>
</cp:coreProperties>
</file>