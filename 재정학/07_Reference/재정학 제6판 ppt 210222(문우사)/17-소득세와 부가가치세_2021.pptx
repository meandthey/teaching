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41"/>
  </p:notesMasterIdLst>
  <p:handoutMasterIdLst>
    <p:handoutMasterId r:id="rId42"/>
  </p:handoutMasterIdLst>
  <p:sldIdLst>
    <p:sldId id="337" r:id="rId2"/>
    <p:sldId id="259" r:id="rId3"/>
    <p:sldId id="312" r:id="rId4"/>
    <p:sldId id="261" r:id="rId5"/>
    <p:sldId id="262" r:id="rId6"/>
    <p:sldId id="313" r:id="rId7"/>
    <p:sldId id="314" r:id="rId8"/>
    <p:sldId id="333" r:id="rId9"/>
    <p:sldId id="315" r:id="rId10"/>
    <p:sldId id="270" r:id="rId11"/>
    <p:sldId id="316" r:id="rId12"/>
    <p:sldId id="317" r:id="rId13"/>
    <p:sldId id="272" r:id="rId14"/>
    <p:sldId id="274" r:id="rId15"/>
    <p:sldId id="318" r:id="rId16"/>
    <p:sldId id="319" r:id="rId17"/>
    <p:sldId id="322" r:id="rId18"/>
    <p:sldId id="321" r:id="rId19"/>
    <p:sldId id="282" r:id="rId20"/>
    <p:sldId id="283" r:id="rId21"/>
    <p:sldId id="284" r:id="rId22"/>
    <p:sldId id="285" r:id="rId23"/>
    <p:sldId id="323" r:id="rId24"/>
    <p:sldId id="286" r:id="rId25"/>
    <p:sldId id="325" r:id="rId26"/>
    <p:sldId id="334" r:id="rId27"/>
    <p:sldId id="326" r:id="rId28"/>
    <p:sldId id="327" r:id="rId29"/>
    <p:sldId id="328" r:id="rId30"/>
    <p:sldId id="329" r:id="rId31"/>
    <p:sldId id="331" r:id="rId32"/>
    <p:sldId id="332" r:id="rId33"/>
    <p:sldId id="335" r:id="rId34"/>
    <p:sldId id="295" r:id="rId35"/>
    <p:sldId id="296" r:id="rId36"/>
    <p:sldId id="297" r:id="rId37"/>
    <p:sldId id="298" r:id="rId38"/>
    <p:sldId id="336" r:id="rId39"/>
    <p:sldId id="300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91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0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553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19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29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80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23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39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소득세와 부가가치세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과세대상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세율구조와 과세단위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17.4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세율구조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과세대상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각 납세자가 자신의 경제적 능력에 비례하는 조세부담을 지도록 만든다는 능력원칙에 근거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경제적 능력을 직접 측정하는 데 어려움이 있어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소득을 대리변수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(proxy variable)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삼아 이를 과세의 기초로 삼음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능력에 대한 대리변수로서 소득을 정의할 때 우리가 보통 소득이라고 생각하는 것만을 그 속에 포함시키는 것으로는 불충분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미실현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자본이득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(unrealized capital gains)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등도 소득의 일부로 포함시켜야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Haig and H. Simons)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소득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spcAft>
                <a:spcPts val="1000"/>
              </a:spcAft>
              <a:buNone/>
              <a:tabLst>
                <a:tab pos="804863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시점 사이에 발생한 경제적 능력 순증가의 화폐가치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=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+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(net worth)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변화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경제적 능력을 증가시키는 것은 모두 소득으로 보고 그것의 실현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여부는 중요하지 않다는 입장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능력원칙의 더욱 충실한 구현이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세원의 계속적 잠식이라는 문제를 해결하는 데도 도움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 측면에서도 장점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종류의 소득이 동등한 대우를 받아 교란을 피할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880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정의를 반영한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포괄적 소득세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(comprehensive income tax)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실행의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계속 변화하는 상황에서 각 납세자의 경제적 능력 순증가를 정확히 파악한다는 것은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자본이득을 과세대상에 포함시키는 것은 이중과세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(double taxation)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위험성을 안고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소비능력에 비례한 과세에 목적을 두는 한 자본이득에 대한 과세는 문제를 일으키지 않는다는 반론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우리가 보통 소득으로 간주하지 않는 여러 가지를 소득에 포함시켜 과세하는 것은 매우 어려움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 안에서 생산되는 재화와 서비스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289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소득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사이즈먼의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(accretion concept)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원칙에 기초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소득세제는 대부분 실현된 소득만을 과세대상에 포함시키는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실현주의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(realization concept)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(factor earnings)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매우 전형적인 소득이므로 이들을 소득세의 과세대상에 포함시키는 데 아무 문제가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(ex.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소득의 일종이지만 과세대상에서 제외되고 있는 것 </a:t>
            </a:r>
            <a:r>
              <a:rPr lang="ko-KR" altLang="en-US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현물보수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귀속임대료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09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이상적으로는 어떤 사람이 번 소득에서 이를 얻기 위해 소요된 비용을 차감한 나머지를 그 사람의 납세능력으로 간주하고 이에 대해 소득세를 부과해야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소득 취득에 소요된 비용을 정확하게 계산해 낸다는 것은 현실적으로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어쩔 수 없이 지출할 수밖에 없는 비용이기 때문에 납세능력을 그만큼 감소시키는 결과가 나타난다는 이유에서 공제를 허용해 주는 사례도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4395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4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소득공제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(deduction)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공제항목들은 과세 대상이 되는 소득에서 공제액만큼을 빼 주는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높은 한계세율의 적용을 받는 납세자일수록 같은 크기의 소득공제에서 받는 실질적 혜택이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근로소득공제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127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4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세액공제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credit)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세금을 직접 깎아 주는 형식으로  공제를 해주는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한계세율과 관계없이 세액공제액 그 자체가 바로 세금 절감폭이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세액공제의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한계세율이 낮은 사람에게 상대적으로 더욱 유리하게 작용할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저축세액공제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23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항목에 대해 어느 수준의 공제를 허용해야 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소득공제와 세액공제 중 어떤 형태를 취해야 할 것이냐에 대한 객관적인 답을 찾기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많은 항목에 대해 공제를 허용하게 되면 조세제도가 복잡해지는 문제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최저한의 생활에 필요한 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최저생계비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고려해 각종 공제의 크기를 적절하게 결정해야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공제의 크기 결정시 조세수입을 고려할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소수의 사람만이 소득세를 납부하게 되는 것도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58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17.2  </a:t>
            </a:r>
            <a:r>
              <a:rPr lang="ko-KR" altLang="en-US" sz="3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세율구조와 과세단위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대개 낮은 소득의 구간에는 낮은 세율이 적용되다가 높은 소득의 구간으로 옮겨가면서 점차 높은 세율이 적용되는 계단식 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소득세율구조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66700" indent="-266700" fontAlgn="base"/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017113EB-4ACD-45A1-8089-4C9414DEA7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735" y="3151622"/>
            <a:ext cx="6292529" cy="320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6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0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tax rate)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평균세율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(average tax rate)</a:t>
            </a:r>
          </a:p>
          <a:p>
            <a:pPr marL="444500" lvl="1" fontAlgn="base">
              <a:lnSpc>
                <a:spcPct val="10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 증가했을 때 세액의 증가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평균세율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세액을 소득으로 나눈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소득구간 내에서 한계세율은 일정해도 평균세율은 변화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4EBEEB-423B-4D04-BB1D-9B402FD2B1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28" y="3230552"/>
            <a:ext cx="5496543" cy="31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0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세율구조에 관한 선택은 소득구간과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소득구간의 세율에 관한 선택을 의미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(progressivity) </a:t>
            </a:r>
          </a:p>
          <a:p>
            <a:pPr marL="271463" indent="-271463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 논의한 세율은 납세자의 소득에서 각종 공제를 차감한 과세표준을 기초로 하여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과세표준에 따른 세율만으로 소득세제의 누진성을 평가하면 현실을 정확하게 파악하지 못하게 될 가능성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부유층에게 많은 공제가 허용되는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소득계층의 실질적 조세부담을 알기 위해서는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실효세율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(effective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파악해야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1338" lvl="2" indent="-271463" fontAlgn="base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실효세율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소득세액을 공제 전의 총소득으로 나눈 비율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3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세율구조의 선택과정에서 몇 개의 소득구간으로 나눠야 할 것인지도 중요한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소득구간을 좁게 잡아 많은 수의 소득구간으로 세분하게 되면 조세제도가 복잡해지는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소득구간을 크게 잡으면 한 소득구간에서 바로 위 소득 구간으로 옮겨갈 때 한계세율이 급격하게 상승하기 때문에 경제주체의 선택행위에 상대적으로 큰 교란을 가져온다는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78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단일세율소득세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(flat rate income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아이디어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소득에 대해 단 한 가지의 세율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기본공제나 소득 취득과 관련된 비용에 대한 공제를 제외하고는 어떤 공제도 허용하지 말 것을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단일세율소득세 제도의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 의사결정에 대한 교란과 행정비용 줄일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공제제도를 이용한 합법적 조세회피 행위 억제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단일세율소득세 제도의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누진세율 소득세에 비해 고소득층에게 유리한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36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개인별로 소득세를 과세해야 하는지 가족을 단위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소득의 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과세를 해야 하는지의 선택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과세단위의 선택은 부담의 공평성에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결혼과 관련된 결정에 대한 교란을 일으키는 원인이 될 수도 있음</a:t>
            </a: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거의 모든 나라는 소득수준이 높아질수록 더 높은 한계세율이 적용되는 세율구조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과세단위의 선택문제가 복잡한 양상을 띠게 되는 것은 바로 이와 같은 세율구조에 기인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21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과세단위를 선택하는 과정에서 고려해야 할 기본원칙</a:t>
            </a:r>
          </a:p>
          <a:p>
            <a:pPr marL="612000" lvl="1" indent="-424800" fontAlgn="base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수평적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(horizontal equity)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똑같은 소득을 갖는 가정이 다른 조건까지 동일하다면 똑같은 세부담을 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424800" fontAlgn="base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결혼중립성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(marriage neutrality)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두 사람이 결혼을 한다고 해서 그들의 세 부담이 달라져서는 안 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 indent="-1778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이것은 효율성의 관점이나 공평성의 측면과도 관련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과세단위의 선택문제가 어려운 이유는 어떤 것을 선택하더라도 이 두 원칙을 동시에 충족시킬 수 없다는 데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812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부인에 비해 남편의 소득이 훨씬 더 큰 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한 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부부가 같은 소득을 얻는 두 가족의 예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개인을 관세단위로 삼은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가족이 내는 세금의 총액은 그들이 결혼을 했다고 해서 달라지지 않으므로 결혼중립성의 원칙 충족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수평적 공평성의 원칙이 충족되지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가족을 과세단위로 삼은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가족이 같은 세금을 내게 되므로 수평적 공평성의 원칙 충족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결혼중립성의 원칙이 충족되지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583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가족을 과세단위로 삼을 경우 결혼한 사람이 불리해지는 것을 막기 위해 부부의 소득분할을 허용해 주는 경우가 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 역시 결혼중립성의 원칙 위배</a:t>
            </a: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가족을 과세단위로 삼을 경우 효율성의 측면에서 주부들의 근로의욕에 나쁜 영향을 미칠 수 있다는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라러미아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LaLumia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 과세단위를 개인에서 가족으로 바꿈에 따라 고학력 부인의 노동 공급량이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2%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포인트 줄어들었음</a:t>
            </a: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과세단위를 어떻게 선택하느냐는 문제는 사회가 앞에서 설명한 여러 고려사항 중에서 어느 것을 더 중요하게 생각하느냐에 의해서 해결될 성질의 것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53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(value-added tax)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소비과세의 한 형태로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추가되는 부가가치를 과세대상으로 삼음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spcAft>
                <a:spcPts val="15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프랑스에서 공업부문만을 대상으로 하는 부분적인 과세제도로 처음 등장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spcAft>
                <a:spcPts val="15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말과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초에 들어서면서 유럽의 각 나라들이 순차적으로 이 제도를 채택하여 현재는 미국을 제외한 거의 모든 주요국가에서 이 제도를 시행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562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도입의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실시 이전 유럽의 간접세는 다단계거래세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(multi-stage turnover tax)</a:t>
            </a: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세제하에서는 각 생산단계에서의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총판매액에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부과된 거래세가 계속 누적되어 다음 단계로 넘어가는 현상 생김       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누적효과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(accumulative effect)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다단계거래세의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누적효과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때문에 생산과정의 최종단계에 가까워질수록 조세부담이 무거워지는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 사이의 수직적 통합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(vertical integration)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거래단계에서 납부한 거래세를 정확히 파악할 수 없어 수출시의 소비세 환급과 관련해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4582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도입의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부가가치세는 다단계거래세의 문제점을 극복하기 위한 방편으로 고안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추가된 부가가치에만 조세가 부과되어 불필요한 수직적 통합을 촉진하는 효과를 갖지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상품별로 납부한 세금이 명백하게 드러날 수 있어 수출품에 대한 소비세의 환급과 관련해서도 장점 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단일세율구조의 부가가치세제를 통해 소비자 선택행위의 교란을 줄일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886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도입의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부가가치세는 세제 운영 과정에서 탈세를 어느 정도 방지할 수 있는 효과가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기존의 거래세는 각 기업의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총판매액에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세금이 부과되기 때문에 생산과정의 앞 ∙ 뒤 단계에 있는 기업과 대조할 필요가 없었음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부가가치세는 환급을 위해 앞 ∙ 뒤 단계의 기업과 대조하는 과정이 요구되기 때문에 이들의 협조가 없이는 탈세를 할 수 없게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99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주요국 부가가치세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1600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우리나라의 부가가치세율은 다른 나라에 비해 상대적으로 낮은 편임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54977208-5C36-4AC3-BAEE-BD4FC51EBA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017" y="1450520"/>
            <a:ext cx="6541142" cy="415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97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과세 근거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(value-added)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생산된 상품의 가치로부터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중간투입물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(intermediate inputs)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사용된 상품의 가치를 뺀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  <a:tabLst>
                <a:tab pos="355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창출된 부가가치는 결국 여러 생산요소에 대한 보수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이윤 등의 형태로 국민에게 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  <a:tabLst>
                <a:tab pos="355600" algn="l"/>
              </a:tabLst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생산요소에 대한 보수를 모두 더한 것을 국내총생산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(GDP)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부를 수 있는데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그렇다면 부가가치를 모두 더한 것도 국내총생산이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55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운영 상에 있어 자본재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(capital goods)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소비재와 어떻게 다르게 처리할 것인지에 따라 부가가치세의 유형 구분 가능</a:t>
            </a:r>
          </a:p>
          <a:p>
            <a:pPr marL="507600" indent="-432000" fontAlgn="base">
              <a:lnSpc>
                <a:spcPct val="110000"/>
              </a:lnSpc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(consumption-type)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자본재를 과세대상에서 제외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구입에 든 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중간투입에 사용되는 상품의 구입비용과 마찬가지로 간주하여 과세대상 산정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실질적으로 한 경제에서 생산된 소비재의 가치에 대해서만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소비재에만 부과되는 일반적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판매세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(sales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거의 비슷한 속성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496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507600" indent="-432000" fontAlgn="base"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순소득형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(net income-type)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그해에 사용된 자본재는 감가상각이 된 부분에 국한되기 때문에 이것만을 과세대상에서 제외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국내순생산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(NDP)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과세로 간주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소비형 부가가치세와 순소득형 부가가치세 사이에 존재하는 차이는 과세대상에 순투자가 포함되어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있느냐의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8177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507600" indent="-432000" fontAlgn="base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총소득형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(gross income-type)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자본재도 소비재와 전혀 다를 바 없다는 입장에서 이의 구입비용이나 감가상각에 대한 공제를 허용하지 않는 특징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생산단계에서의 과세대상에는 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이윤 등의 각종 소득뿐 아니라 감가상각도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포괄적인 것으로서 실질적으로 국내총생산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(GDP)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과세대상으로 함 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GDP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 부가가치세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순소득형 부가가치세와의 사이에 존재하는 차이는 감가상각이 과세대상에 포함되느냐의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부가가치세와의 사이에 존재하는 차이는 총투자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(gross investment)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과세대상에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포함되느냐의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7443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BD8B8C-0A09-4D66-8B22-C74DE9F9E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71" y="2321085"/>
            <a:ext cx="7699290" cy="3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17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형태의 부가가치세제를 선택하느냐에 따라 경제행위에 미치는 영향이나 부담의 귀착패턴이 조금씩 달라짐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투자행위에 대해 어떤 대우를 해 줄 것인가에 관한 정책적 판단에 따라 적절히 선택해 사용할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비롯한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EU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여러 나라에서는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부가가치세제가 가장 많이 채택되고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277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  </a:t>
            </a:r>
            <a:r>
              <a:rPr lang="ko-KR" altLang="en-US" sz="2000" dirty="0"/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목재회사  </a:t>
            </a:r>
            <a:r>
              <a:rPr lang="ko-KR" altLang="en-US" sz="2000" dirty="0"/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가구회사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목재회사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8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가구회사 매출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10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목재회사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3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가구회사 부가가치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기업의 부가가치에 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(10%)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곱하기만 하면 그 기업이 부담해야 할 세금의 크기 계산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천만원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목재회사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3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천만원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가구회사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천만원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각 기업이 창출한 부가가치와 그 기업이 부담해야 할 세액을 산출하는 과정은 앞의 예에서 본 것처럼 단순하지 않음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7983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2000"/>
              </a:spcAft>
              <a:tabLst>
                <a:tab pos="812800" algn="l"/>
                <a:tab pos="901700" algn="l"/>
                <a:tab pos="10795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합산방식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(addition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부가가치가 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이윤 등의 요소소득으로 구성된다는 점에 착안해 각 기업이 지급한 요소소득을 모두 더해 부가가치를 계산하는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2000"/>
              </a:spcAft>
              <a:tabLst>
                <a:tab pos="812800" algn="l"/>
                <a:tab pos="901700" algn="l"/>
                <a:tab pos="10795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공제방식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(subtraction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 기간 동안의 총판매액에서 중간투입에 사용된 상품의 총구입액을 빼서 부가가치를 계산하는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8226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400" indent="-266400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공제방식은 구체적으로 이를 어떻게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적용하느냐에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따라 직접공제방식과 간접공제방식의 두 유형으로 구분 가능</a:t>
            </a:r>
          </a:p>
          <a:p>
            <a:pPr marL="540000" indent="-39600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직접공제방식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기업의 총판매액에서 앞 생산 단계로부터의 총구입액을 빼 그 기업의 부가가치를 구한 다음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여기에 세율을 곱해서 세액을 결정하는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거래액공제방식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(account method)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이라고도 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0438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540000" indent="-39600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간접공제방식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기업의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총판매액에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부가가치세율을 곱해 산출한 세액에서 앞 생산단계의 기업들이 이미 납부한 부가가치세를 뺀 나머지를 그 기업이 부담해야 할 세액으로 결정하는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매입세액공제방식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(invoice method)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이라고도 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기업이 자신의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총판매액에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부가가치세 납부 의무를 갖되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 생산단계에서 납부된 부가가치세를 세액공제로 환급 받을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 절차가 단순하고 거래당사자간의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상호견제를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탈세를 막을 수 있는 장점도 있어 거의 모든 나라가 이 방식 사용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063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세율구조의 일반적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 소비재에 대해 기본적으로 단일세율을 적용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 선택에 교란을 일으키지 않는다는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저소득층의 조세부담이 상대적으로 커진다는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저소득층의 조세부담을 가볍게 하기 위해 생활필수품에 대해 예외적으로 낮은 세율을 적용해 주는 것이 일반적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적용을 하기가 어렵다고 판단되는 영세사업자에게 과세특례자의 지위를 인정해 주고 있는 것도 일반적인 추세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000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면세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exemption)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대상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규모가 매우 영세해서 기장의 능력도 없고 행정적인 부담만 될 것으로 판단되는 기업들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필수품의 성격을 갖고 있어 저소득층이 많이 구입하는 품목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식료품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의약품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교육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문화사업 등의 공익성이 높은 재화나 서비스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은행이나 보험 같은 금융서비스처럼 행정적인 측면에서 부가가치세제의 적용이 힘든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상품이 부가가치세 면제의 대상으로 선정되면 그 상품의 최종소비 단계에서만 부가가치세가 부과되지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중간단계에서 납부한 부가가치세는 환급을 해주지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950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상품이 아닌 사업자가 면세조치의 대상이 되는 경우에는 그 사업자가 생산단계의 어느 곳에 위치해 있는지에 따라 정부의 부가가치세 수입에 차이가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사업자가 최종소비단계에 위치해 있는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사업자에 대한 면세조치가 정부의 부가가치세 수입을 줄이는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면세조치의 적용을 받는 사업자가 다른 기업이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중간투입물로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쓰는 상품을 생산하는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면세조치로 인해 정부의 부가가치세 수입이 오히려 더 커지게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383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영세율제도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(zero rating)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국제적 차원에서 이중과세를 방지하고 수출을 촉진하거나 특정산업을 육성하려고 하는 취지로 운영되는 경우가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적용을 받게 되면 그 이전 단계에서 낸 부가가치세까지 모두 면제되어 이의 환급을 요구할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 대상이 되는 상품의 생산과 유통의 전 과정에 대해 모든 부가가치세 납부의무가 면제되는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완벽한 면세장치의 역할을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9941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포함한 대부분의 나라는 수출되는 상품에 대해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적용해 주고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수입품에 대해서는 수입가액 전체에 대해 부가가치세를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목적지원칙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(destination principle)</a:t>
            </a: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 주민의 소비행위에 대해서만 과세하고 외국에 사는 사람들의 소비행위에 대해서는 과세하지 않겠다는 의지의 표현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053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역진성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나라의 부가가치세는 기본적으로 단일세율구조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고소득층으로 갈수록 소득에서 소비가 차지하는 비중이 작아지므로 부가가치세는 소득수준을 기준으로 볼 때 역진적 성격을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생활필수품에 대한 면세조치는 부가가치세의 역진성을 부분적으로 완화시켜 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면세조치가 이와 같은 부가가치세의 역진성을 부분적으로 완화시켜 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실증연구들은 면세제도가 역진성을 완화하는 데 큰 역할을 하고 있어 부가가치세의 전반적인 역진성은 그다지 크지 않다고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면세제도의 도입이 효율성의 측면에서 좋지 않은 영향을 미칠 수도 있음을 고려할 필요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 선택에 교란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1463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2535</Words>
  <Application>Microsoft Office PowerPoint</Application>
  <PresentationFormat>화면 슬라이드 쇼(4:3)</PresentationFormat>
  <Paragraphs>345</Paragraphs>
  <Slides>39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나눔고딕</vt:lpstr>
      <vt:lpstr>나눔고딕 ExtraBold</vt:lpstr>
      <vt:lpstr>맑은 고딕</vt:lpstr>
      <vt:lpstr>Arial</vt:lpstr>
      <vt:lpstr>Calibri</vt:lpstr>
      <vt:lpstr>Wingdings</vt:lpstr>
      <vt:lpstr>1_Office 테마</vt:lpstr>
      <vt:lpstr>제17장   소득세와 부가가치세</vt:lpstr>
      <vt:lpstr>17.1  소득세의 과세대상</vt:lpstr>
      <vt:lpstr>헤이그-사이먼즈의 소득 정의</vt:lpstr>
      <vt:lpstr>헤이그-사이먼즈의 소득 정의</vt:lpstr>
      <vt:lpstr>현실의 소득 정의</vt:lpstr>
      <vt:lpstr>각종 공제제도</vt:lpstr>
      <vt:lpstr>각종 공제제도</vt:lpstr>
      <vt:lpstr>각종 공제제도</vt:lpstr>
      <vt:lpstr>각종 공제제도</vt:lpstr>
      <vt:lpstr>17.2  소득세의 세율구조와 과세단위</vt:lpstr>
      <vt:lpstr>소득세의 세율구조</vt:lpstr>
      <vt:lpstr>소득세의 세율구조</vt:lpstr>
      <vt:lpstr>소득세의 세율구조</vt:lpstr>
      <vt:lpstr>소득세의 세율구조</vt:lpstr>
      <vt:lpstr>소득세 과세단위의 선택</vt:lpstr>
      <vt:lpstr>소득세 과세단위의 선택</vt:lpstr>
      <vt:lpstr>소득세 과세단위의 선택</vt:lpstr>
      <vt:lpstr>소득세 과세단위의 선택</vt:lpstr>
      <vt:lpstr>17.3  부가가치세의 성격</vt:lpstr>
      <vt:lpstr>부가가치세 도입의 배경</vt:lpstr>
      <vt:lpstr>부가가치세 도입의 배경</vt:lpstr>
      <vt:lpstr>부가가치세 도입의 배경</vt:lpstr>
      <vt:lpstr>주요국 부가가치세 현황</vt:lpstr>
      <vt:lpstr>부가가치세의 과세 근거</vt:lpstr>
      <vt:lpstr>부가가치세의 유형</vt:lpstr>
      <vt:lpstr>부가가치세의 유형</vt:lpstr>
      <vt:lpstr>부가가치세의 유형</vt:lpstr>
      <vt:lpstr>부가가치세의 유형</vt:lpstr>
      <vt:lpstr>부가가치세의 유형</vt:lpstr>
      <vt:lpstr>부가가치의 산정방식</vt:lpstr>
      <vt:lpstr>부가가치의 산정방식</vt:lpstr>
      <vt:lpstr>부가가치의 산정방식</vt:lpstr>
      <vt:lpstr>부가가치의 산정방식</vt:lpstr>
      <vt:lpstr>17.4  부가가치세의 세율구조</vt:lpstr>
      <vt:lpstr>면세</vt:lpstr>
      <vt:lpstr>면세</vt:lpstr>
      <vt:lpstr>영세율</vt:lpstr>
      <vt:lpstr>영세율</vt:lpstr>
      <vt:lpstr>부가가치세의 역진성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1176</cp:revision>
  <dcterms:created xsi:type="dcterms:W3CDTF">2015-08-04T05:38:00Z</dcterms:created>
  <dcterms:modified xsi:type="dcterms:W3CDTF">2021-02-21T14:13:45Z</dcterms:modified>
</cp:coreProperties>
</file>