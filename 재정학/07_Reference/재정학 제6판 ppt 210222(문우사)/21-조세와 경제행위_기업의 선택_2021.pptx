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7" r:id="rId1"/>
  </p:sldMasterIdLst>
  <p:notesMasterIdLst>
    <p:notesMasterId r:id="rId48"/>
  </p:notesMasterIdLst>
  <p:handoutMasterIdLst>
    <p:handoutMasterId r:id="rId49"/>
  </p:handoutMasterIdLst>
  <p:sldIdLst>
    <p:sldId id="341" r:id="rId2"/>
    <p:sldId id="259" r:id="rId3"/>
    <p:sldId id="262" r:id="rId4"/>
    <p:sldId id="264" r:id="rId5"/>
    <p:sldId id="261" r:id="rId6"/>
    <p:sldId id="327" r:id="rId7"/>
    <p:sldId id="266" r:id="rId8"/>
    <p:sldId id="268" r:id="rId9"/>
    <p:sldId id="269" r:id="rId10"/>
    <p:sldId id="329" r:id="rId11"/>
    <p:sldId id="331" r:id="rId12"/>
    <p:sldId id="274" r:id="rId13"/>
    <p:sldId id="332" r:id="rId14"/>
    <p:sldId id="277" r:id="rId15"/>
    <p:sldId id="278" r:id="rId16"/>
    <p:sldId id="280" r:id="rId17"/>
    <p:sldId id="339" r:id="rId18"/>
    <p:sldId id="282" r:id="rId19"/>
    <p:sldId id="283" r:id="rId20"/>
    <p:sldId id="285" r:id="rId21"/>
    <p:sldId id="333" r:id="rId22"/>
    <p:sldId id="334" r:id="rId23"/>
    <p:sldId id="288" r:id="rId24"/>
    <p:sldId id="289" r:id="rId25"/>
    <p:sldId id="335" r:id="rId26"/>
    <p:sldId id="291" r:id="rId27"/>
    <p:sldId id="292" r:id="rId28"/>
    <p:sldId id="337" r:id="rId29"/>
    <p:sldId id="293" r:id="rId30"/>
    <p:sldId id="294" r:id="rId31"/>
    <p:sldId id="295" r:id="rId32"/>
    <p:sldId id="296" r:id="rId33"/>
    <p:sldId id="297" r:id="rId34"/>
    <p:sldId id="299" r:id="rId35"/>
    <p:sldId id="300" r:id="rId36"/>
    <p:sldId id="301" r:id="rId37"/>
    <p:sldId id="302" r:id="rId38"/>
    <p:sldId id="304" r:id="rId39"/>
    <p:sldId id="305" r:id="rId40"/>
    <p:sldId id="307" r:id="rId41"/>
    <p:sldId id="338" r:id="rId42"/>
    <p:sldId id="309" r:id="rId43"/>
    <p:sldId id="310" r:id="rId44"/>
    <p:sldId id="312" r:id="rId45"/>
    <p:sldId id="340" r:id="rId46"/>
    <p:sldId id="314" r:id="rId4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73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77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t>2021-02-20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t>2021-02-20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42946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1036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2"/>
            <a:ext cx="7772400" cy="1330099"/>
          </a:xfrm>
        </p:spPr>
        <p:txBody>
          <a:bodyPr anchor="ctr">
            <a:normAutofit/>
          </a:bodyPr>
          <a:lstStyle>
            <a:lvl1pPr algn="ctr">
              <a:defRPr sz="3800" b="1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 dirty="0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072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BD14322B-89EF-4DE6-82DD-B4948B5F2EEE}"/>
              </a:ext>
            </a:extLst>
          </p:cNvPr>
          <p:cNvSpPr/>
          <p:nvPr userDrawn="1"/>
        </p:nvSpPr>
        <p:spPr>
          <a:xfrm>
            <a:off x="0" y="0"/>
            <a:ext cx="9144000" cy="133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5237" cy="1332000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재정학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967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3557"/>
            <a:ext cx="9144000" cy="711200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/>
                </a:solidFill>
                <a:effectLst/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0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8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>
              <a:lnSpc>
                <a:spcPct val="130000"/>
              </a:lnSpc>
              <a:spcAft>
                <a:spcPts val="400"/>
              </a:spcAft>
              <a:buClr>
                <a:schemeClr val="accent1"/>
              </a:buClr>
              <a:defRPr sz="1700" b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 재정학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C9FBE22-6673-4F8B-81FC-4C6C25369B23}"/>
              </a:ext>
            </a:extLst>
          </p:cNvPr>
          <p:cNvCxnSpPr/>
          <p:nvPr userDrawn="1"/>
        </p:nvCxnSpPr>
        <p:spPr>
          <a:xfrm>
            <a:off x="628650" y="1259382"/>
            <a:ext cx="7886700" cy="0"/>
          </a:xfrm>
          <a:prstGeom prst="line">
            <a:avLst/>
          </a:prstGeom>
          <a:ln w="57150">
            <a:solidFill>
              <a:srgbClr val="A6C9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95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1311928"/>
            <a:ext cx="9144000" cy="5546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38622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0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1</a:t>
            </a:r>
            <a:r>
              <a:rPr lang="ko-KR" altLang="en-US"/>
              <a:t>장 재정학 </a:t>
            </a:r>
            <a:r>
              <a:rPr lang="en-US" altLang="ko-KR"/>
              <a:t>: </a:t>
            </a:r>
            <a:r>
              <a:rPr lang="ko-KR" altLang="en-US"/>
              <a:t>의의와 성격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bg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782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</p:sldLayoutIdLst>
  <p:hf hdr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spcAft>
          <a:spcPts val="4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ctrTitle"/>
          </p:nvPr>
        </p:nvSpPr>
        <p:spPr>
          <a:xfrm>
            <a:off x="4572000" y="815184"/>
            <a:ext cx="5392923" cy="2500603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21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 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조세와 경제행위 </a:t>
            </a:r>
            <a:b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en-US" altLang="ko-KR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</a:t>
            </a:r>
            <a:r>
              <a:rPr lang="ko-KR" altLang="en-US" sz="3000" dirty="0">
                <a:solidFill>
                  <a:srgbClr val="6D9AC3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기업의 선택</a:t>
            </a: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4572000" y="3429000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21.1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조세와 투자 </a:t>
            </a: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21.2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투자이론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21.3  </a:t>
            </a:r>
            <a:r>
              <a:rPr lang="ko-KR" alt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접근법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21.4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투자촉진을 위한 조세정책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21.5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조세와 기업의 자본구조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21.6  </a:t>
            </a:r>
            <a:r>
              <a:rPr lang="ko-KR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조세와 배당정책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99"/>
            <a:ext cx="4319957" cy="64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0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21.1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투자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투자를 하는 주체는 기업이므로 여러 가지 조세 중에서 특히 법인세가 투자 행위와 밀접한 관계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자본의 배분에 영향을 주는 경로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법인부문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기업들이 자본축적을 하는 과정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투자에 영향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 안에 축적된 자본이 법인부문과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비법인부문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사이에 배분되는 과정에 영향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투자에 대해서 미치는 영향을 분석하기 위해서는 투자 행위 그 자체를 설명하는 모형이 필요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fontAlgn="base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투자에 미치는 영향을 분석하는 데 사용되는 접근방법의 차이는 결국 배경이 되고 있는 투자 모형의 차이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07375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투자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투자모형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조겐슨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(D. Jorgenson)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중심이 되어 개발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자본의 사용자비용이라는 개념을 중심으로 투자행위 분석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자본의 사용자비용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(user cost of capital)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자본재를 사용하는 것과 관련된 암묵적 임대가격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(implicit rental price)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79450" lvl="2" indent="-285750">
              <a:lnSpc>
                <a:spcPct val="110000"/>
              </a:lnSpc>
              <a:buFont typeface="나눔고딕" panose="020D0604000000000000" pitchFamily="50" charset="-127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기업이 자본재를 보유하고 사용하는 데 소요되는 기회비용이라는 의미로도 해석 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자본의 사용자비용이 낮아지면 투자가 늘어나고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높아지면 투자가 줄어든다고 설명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결과 사용자비용이 올라가는 것으로 드러나면 조세가 투자를 위축시키는 방향으로 영향을 미친다고 평가할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사용자비용의 상승폭이 클수록 투자를 위축시키는 효과가 더 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842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투자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배경설명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(marginal effective rate)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접근법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존재로 인해 투자계획에 소요되는 자금을 공급한 투자자가 얻는 수익률이 어떤 영향을 받는지에 관심의 초점을 맞춤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부과되는 경우 투자자가 얻는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세후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순수익률은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투자계획의 수익률과 달라질 것인데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실효세율은 이 둘 사이의 격차를 투자계획의 수익률로 나눈 비율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2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한계실효세율이 높을수록 조세부과가 투자를 위축시키는 효과가 더 크다고 평가할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7458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21.2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투자이론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자본의 사용자비용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자본재를 보유하고 있는 기업은 그것을 스스로 사용할 수도 있고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다른 기업에 임대료를 받고 빌려 줄 수도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임대시장에서 자본재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단위를 한 기간 동안 빌려 쓸 때 지불하는 임대료가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원이라면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이것이 자본재의 사용과 관련된 기회비용이라고 말할 수 있음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자본의 사용자비용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6787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248BCE-8E58-41D1-82FF-913DF80DB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투자이론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자본의 사용자비용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자본재의 임대를 전문으로 하는 산업이 완전경쟁체제에 있다고 한다면 모든 기업이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이윤을 얻고 있을 것임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spcAft>
                    <a:spcPts val="2000"/>
                  </a:spcAft>
                </a:pPr>
                <a:r>
                  <a:rPr lang="ko-KR" altLang="en-US" dirty="0"/>
                  <a:t>한 단위의 자본재가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ko-KR" altLang="en-US" dirty="0"/>
                  <a:t>기에 걸친 내용기간 동안 벌어들일 수 있는 임대료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en-US" altLang="ko-KR" dirty="0"/>
                  <a:t>) </a:t>
                </a:r>
                <a:r>
                  <a:rPr lang="ko-KR" altLang="en-US" dirty="0"/>
                  <a:t>수입 흐름의 현재가치가 그 자본재의 구입비용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과 일치한다는 것 의미</a:t>
                </a:r>
                <a:endParaRPr lang="en-US" altLang="ko-KR" dirty="0"/>
              </a:p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자본재의 기간당 감가상각률이 </a:t>
                </a:r>
                <a14:m>
                  <m:oMath xmlns:m="http://schemas.openxmlformats.org/officeDocument/2006/math"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라고 할 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1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단위의 자본재는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기가 지난 다음 실질적인 의미에서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𝜹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단위로 줄어듦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/>
                  <a:t>이는 원래 구입할 때 </a:t>
                </a:r>
                <a:r>
                  <a:rPr lang="en-US" altLang="ko-KR" dirty="0"/>
                  <a:t>1</a:t>
                </a:r>
                <a:r>
                  <a:rPr lang="ko-KR" altLang="en-US" dirty="0"/>
                  <a:t>단위였던 자본재가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ko-KR" altLang="en-US" dirty="0"/>
                  <a:t>기 뒤에 벌 수 있는 임대료 수입이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𝒄</m:t>
                        </m:r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ko-KR" altLang="en-US" b="1" i="1">
                                <a:latin typeface="Cambria Math" panose="02040503050406030204" pitchFamily="18" charset="0"/>
                              </a:rPr>
                              <m:t>𝜹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</m:den>
                    </m:f>
                  </m:oMath>
                </a14:m>
                <a:r>
                  <a:rPr lang="ko-KR" altLang="en-US" dirty="0"/>
                  <a:t>임을 의미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2809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자본의 사용자비용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기간당 이자율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할인율로 사용해 이 임대료 수입 흐름의 현재가치를 구한 다음 이를 자본재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단위의 구입비용과 일치시키면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𝒄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𝜹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ko-KR" sz="21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266700" indent="-266700">
                  <a:lnSpc>
                    <a:spcPct val="100000"/>
                  </a:lnSpc>
                  <a:buNone/>
                </a:pP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</a:p>
              <a:p>
                <a:pPr marL="266700" indent="-2667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충분히 클 경우 다음의 근사식을 얻음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ko-KR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≃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</m:t>
                          </m:r>
                        </m:num>
                        <m:den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ko-KR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𝜹</m:t>
                          </m:r>
                        </m:den>
                      </m:f>
                    </m:oMath>
                  </m:oMathPara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 algn="ctr">
                  <a:lnSpc>
                    <a:spcPct val="100000"/>
                  </a:lnSpc>
                  <a:buNone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사용자비용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𝒒</m:t>
                    </m:r>
                    <m:d>
                      <m:d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𝜹</m:t>
                        </m:r>
                      </m:e>
                    </m:d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</a:t>
                </a:r>
              </a:p>
              <a:p>
                <a:pPr marL="444500" lvl="1" indent="-177800">
                  <a:lnSpc>
                    <a:spcPct val="100000"/>
                  </a:lnSpc>
                </a:pPr>
                <a:r>
                  <a:rPr lang="ko-KR" altLang="en-US" dirty="0"/>
                  <a:t>자본의 사용자비용은 자본재 가격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altLang="ko-KR" dirty="0"/>
                  <a:t>), </a:t>
                </a:r>
                <a:r>
                  <a:rPr lang="ko-KR" altLang="en-US" dirty="0"/>
                  <a:t>이자율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altLang="ko-KR" dirty="0"/>
                  <a:t>), </a:t>
                </a:r>
                <a:r>
                  <a:rPr lang="ko-KR" altLang="en-US" dirty="0"/>
                  <a:t>감가상각률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에  의해 결정</a:t>
                </a: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0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신고전파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투자이론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만약 어떤 이유로 자본의 사용자비용이 떨어지면 투자가 증가하며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반대로 올라가면 투자가 감소한다고 예측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386" b="-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1590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자본의 사용자비용에 생기는 변화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ko-KR" sz="500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조세부과 대상으로 삼는 기업의 소득은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상품을 팔아서 얻는 총수입에서 임금이나 재료비 같은 경상비용을 빼고 이에서 다시 자본지출에 해당되는 부분을 뺀 것과 같음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endParaRPr lang="en-US" altLang="ko-KR" sz="2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자본지출에는 자본재의 감가상각분과 지급된 이자가 포함되는 것이 보통이므로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자본재를 보유하고 있으면 감가상각과 지급이자에 대한 비용공제를 허용 받을 수 있어 법인세의 부담이 가벼워질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9485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spcAft>
                    <a:spcPts val="1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원어치에 대하여 내용기간 동안에 허용 받을 수 있는 감가상각공제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혜택의 현재가치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m:rPr>
                        <m:nor/>
                      </m:rPr>
                      <a:rPr lang="ko-KR" altLang="en-US" sz="2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원</m:t>
                    </m:r>
                  </m:oMath>
                </a14:m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원어치를 보유함으로써 허용 받을 수 있는 지급이자공제 혜택의 현재가치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m:rPr>
                        <m:nor/>
                      </m:rPr>
                      <a:rPr lang="ko-KR" altLang="en-US" sz="2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원</m:t>
                    </m:r>
                  </m:oMath>
                </a14:m>
                <a:endParaRPr lang="en-US" altLang="ko-KR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자본재를 보유하고 있으면 이와 같은 법인세상의 혜택을 받을 수 있다는 점을 감안해 앞의 조건을 다시 써보면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  <a:spcAft>
                    <a:spcPts val="1000"/>
                  </a:spcAft>
                  <a:buNone/>
                </a:pP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20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ko-KR" sz="20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</m:d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𝒄</m:t>
                        </m:r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𝜹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sup>
                        </m:sSup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𝒒𝒙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𝒒𝒚</m:t>
                        </m:r>
                      </m:e>
                    </m:nary>
                  </m:oMath>
                </a14:m>
                <a:br>
                  <a:rPr lang="en-US" altLang="ko-KR" sz="2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i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		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≃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𝝉</m:t>
                            </m:r>
                          </m:e>
                        </m:d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𝒄</m:t>
                        </m:r>
                      </m:num>
                      <m:den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𝜹</m:t>
                        </m:r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𝒒𝒙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𝝉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𝒒𝒚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</a:t>
                </a: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이를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𝒄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대해 정리하면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법인세 부과 후 자본의 사용자비용 산식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b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br>
                  <a:rPr lang="en-US" altLang="ko-KR" sz="5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𝒚</m:t>
                        </m:r>
                      </m:num>
                      <m:den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sz="2000" b="1" i="1">
                            <a:latin typeface="Cambria Math" panose="02040503050406030204" pitchFamily="18" charset="0"/>
                          </a:rPr>
                          <m:t>𝝉</m:t>
                        </m:r>
                      </m:den>
                    </m:f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 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1667" r="-309" b="-2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98977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B751DA-C2E1-4A67-A501-673A2FEF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투자이론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 fontAlgn="base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조세가 투자에 미치는 영향은 오른쪽에 나타난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𝒚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</m:den>
                    </m:f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어떤 관계를 갖고 있는가에 의해 결정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fontAlgn="base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분수의 값이 정확하게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이라면 법인세 부과가 자본의 사용자비용에 변화를 가져오지 않아 투자행위에 대해 중립적</a:t>
                </a:r>
                <a:b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법인세는 순수한 경제적 이윤에 대한 과세에 해당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fontAlgn="base">
                  <a:lnSpc>
                    <a:spcPct val="130000"/>
                  </a:lnSpc>
                  <a:spcAft>
                    <a:spcPts val="15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분수의 값이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크면 조세의 부과가 투자를 위축시킬 것이지만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작다면 투자를 촉진하는 결과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2499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5BC73-8311-4EC4-B2F6-4596AA17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투자이론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 fontAlgn="base">
                  <a:spcAft>
                    <a:spcPts val="300"/>
                  </a:spcAft>
                </a:pP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이라는 조건이 성립하면 조세는 투자행위에 중립적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endParaRPr lang="ko-KR" altLang="en-US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fontAlgn="base">
                  <a:spcAft>
                    <a:spcPts val="3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자본재의 구입비용에 대해 즉각적 경비처리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(immediate write-off)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를 허용해 주되 지급이자에 대한 비용공제는 허용하지 않는 경우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endParaRPr lang="ko-KR" altLang="en-US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fontAlgn="base">
                  <a:spcAft>
                    <a:spcPts val="3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진정한 경제적 감가상각에 해당되는 만큼 감가상각공제를 허용하고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완벽한 이자공제를 허용하는 경우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679450" lvl="2" indent="-285750" fontAlgn="base">
                  <a:spcAft>
                    <a:spcPts val="300"/>
                  </a:spcAft>
                  <a:buFont typeface="나눔고딕" panose="020D0604000000000000" pitchFamily="50" charset="-127"/>
                  <a:buChar char="•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자신의 자금으로 자본재를 구입한 부분에 대한 귀속이자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(imputed interest)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까지도 공제 허용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9491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8C9EF-78B7-47B2-B385-0D55E045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투자이론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조세부과의 효과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spc="-8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투자에 대해 완전히 중립적인 조세제도를 만들기는 매우 어려움</a:t>
            </a:r>
            <a:endParaRPr lang="en-US" altLang="ko-KR" sz="2000" spc="-8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 구입비용 전액을 즉각적으로 경비처리를 해준다는 것은 거의 실현 불가능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법인세상에서 경제적 감가상각의 공제를 허용하려 해도 이를 막상 실행에 옮기는 것은 무척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79450" lvl="2" indent="-285750">
              <a:lnSpc>
                <a:spcPct val="130000"/>
              </a:lnSpc>
              <a:buFont typeface="나눔고딕" panose="020D0604000000000000" pitchFamily="50" charset="-127"/>
              <a:buChar char="•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감가상각의 과정은 매우 복잡하고 인플레이션이 진행되는 과정에서 진정한 의미에서 경제적 감가상각의 크기를 파악하는 것은 거의 불가능하기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자기자본에 대한 귀속이자까지 공제를 허용하기에는 현실적인 제약이 너무 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5736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 촉진의 방법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때로는 투자를 촉진하기 위해 일부러 중립적이지 않은 조세제도 채택하는 경우도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</a:pPr>
            <a:r>
              <a:rPr lang="ko-KR" altLang="en-US" b="1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가속상각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(accelerated depreciation)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실제보다 더 빠른 속도로 감가상각을 허용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  <a:spcAft>
                <a:spcPts val="1500"/>
              </a:spcAft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투자세액공제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(investment tax credit)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자본재를 구입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 금액의 일정 부분을 법인이 내야 할 세금에서 빼주는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투자를 촉진하기 위해 법인세제상에 마련한 또 다른 장치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특정기간조세감면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(tax holidays)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제도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일정한 기간 동안 특정산업에 속한 기업에게 조세감면의 혜택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준비금제도를 통해 납세의 시기를 늦춰 줌으로써 기업의 실질적인 조세부담을 가볍게 해주기도 함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3530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조겐슨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Hall and D. Jorgenson) </a:t>
            </a:r>
          </a:p>
          <a:p>
            <a:pPr marL="444500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1931~1963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이르는 기간 동안의 자료에 입각해 미국 제조업부문에서 나타난 투자의 변화추이 분석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1954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가속상각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허용으로 인해 현저한 투자의 증가가 일어났다는 결과 제시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1964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법인세율이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52%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48%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낮아진 것은 자본의 사용자비용을 약간 상승시켜 투자를 어느 정도 감소시키는 결과를 가져옴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경우 조세정책이 투자의 양과 시기에 현저한 영향을 미쳐 왔다고 결론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2561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조세제도상 투자유인을 제공해 자본의 사용자비용이 낮아진다 해서 이것이 실제로 투자의 현저한 증가로 이어진다는 보장은 없음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lnSpc>
                <a:spcPct val="110000"/>
              </a:lnSpc>
              <a:spcAft>
                <a:spcPts val="1500"/>
              </a:spcAft>
            </a:pPr>
            <a:r>
              <a:rPr lang="ko-KR" altLang="en-US" b="1" spc="-4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자본스톡의 사용자비용탄력성</a:t>
            </a:r>
            <a:r>
              <a:rPr lang="en-US" altLang="ko-KR" spc="-4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(user cost elasticity of the capital stock)</a:t>
            </a:r>
            <a:r>
              <a:rPr lang="ko-KR" altLang="en-US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 따라 투자수요가 사용자비용의 변화에 별 반응을 보이지 않을 수도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연구들은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콥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더글라스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생산함수를 고려하여 자본스톡의 사용자비용탄력성이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이라는 가정 채택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자본스톡의 사용자비용탄력성의 실제 크기가 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같다는 보장이 없으며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 결과를 보면 </a:t>
            </a:r>
            <a:r>
              <a:rPr lang="en-US" altLang="ko-KR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보다 아주 작은 값을 갖는 경우가 많은 것으로 나타남</a:t>
            </a:r>
            <a:endParaRPr lang="en-US" altLang="ko-KR" sz="2000" spc="-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426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치린코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Chirinko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사용자비용탄력성은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0.06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0.56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사이에 이르는 구간의 한 값을 가짐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굴즈비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Goolsbee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자본스톡의 사용자비용탄력성에 관한 실증연구 결과를 종합해 보면 도출되어 나온 값이 대략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에서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0.4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사이에 이르는 구간의 한 값을 가짐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0661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신고전파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투자이론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사용자비용탄력성이 낮은 값을 갖는 이유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요소 사이의 대체탄력성이 작아 자본의 사용자비용이 작아지더라도 자본으로의 대체가 쉽지 않음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 공급곡선은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우상향하는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기울기를 가져 투자에 대한 수요 증가는 자본재 가격의 상승을 가져옴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 공급곡선이 가파른 기울기를 갖는다면 투자유인 제공에 따른 투자수요의 증가가 자본재 가격만 올리고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투자량에는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별 영향을 주지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8771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21.3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 접근법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/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킹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풀러톤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(M. King and D. Fullerton) :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한계실효세율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접근법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28650" lvl="2" indent="-285750">
                  <a:buFont typeface="Arial" panose="020B0604020202020204" pitchFamily="34" charset="0"/>
                  <a:buChar char="•"/>
                </a:pP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조세의 부과가 </a:t>
                </a:r>
                <a:r>
                  <a:rPr lang="ko-KR" altLang="en-US" sz="18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세후</a:t>
                </a:r>
                <a:r>
                  <a:rPr lang="ko-KR" altLang="en-US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투자소득을 어느 비율로 감소시키고 있는지에 관심의 초점을 맞춤</a:t>
                </a:r>
                <a:endParaRPr lang="en-US" altLang="ko-KR" sz="1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buFont typeface="Wingdings" panose="05000000000000000000" pitchFamily="2" charset="2"/>
                  <a:buChar char="§"/>
                </a:pPr>
                <a:endParaRPr lang="en-US" altLang="ko-KR" sz="5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투자로부터 나오는 수익에 적용되는 세율이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이라면 어떤 투자계획의 수익률과 재원을 제공한 저축자에게 지급되는 수익률은 서로 같게 됨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630000" lvl="1" indent="-284400"/>
                <a14:m>
                  <m:oMath xmlns:m="http://schemas.openxmlformats.org/officeDocument/2006/math">
                    <m:r>
                      <a:rPr lang="en-US" altLang="ko-KR" b="1" i="1" spc="-4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ko-KR" b="1" i="1" spc="-4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ko-KR" altLang="en-US" spc="-40" dirty="0"/>
                  <a:t>한계적인 투자계획으로부터 나오는 </a:t>
                </a:r>
                <a:r>
                  <a:rPr lang="ko-KR" altLang="en-US" spc="-40" dirty="0" err="1"/>
                  <a:t>세전</a:t>
                </a:r>
                <a:r>
                  <a:rPr lang="ko-KR" altLang="en-US" spc="-40" dirty="0"/>
                  <a:t> 실질수익률</a:t>
                </a:r>
                <a:br>
                  <a:rPr lang="en-US" altLang="ko-KR" spc="-40" dirty="0"/>
                </a:br>
                <a14:m>
                  <m:oMath xmlns:m="http://schemas.openxmlformats.org/officeDocument/2006/math">
                    <m:r>
                      <a:rPr lang="en-US" altLang="ko-KR" b="1" i="1" spc="-4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ko-KR" b="1" i="1" spc="-4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pc="-40" dirty="0"/>
                  <a:t> </a:t>
                </a:r>
                <a:r>
                  <a:rPr lang="ko-KR" altLang="en-US" spc="-40" dirty="0"/>
                  <a:t>투자계획 재원을 제공한 </a:t>
                </a:r>
                <a:r>
                  <a:rPr lang="ko-KR" altLang="en-US" spc="-40" dirty="0" err="1"/>
                  <a:t>저축자에게</a:t>
                </a:r>
                <a:r>
                  <a:rPr lang="ko-KR" altLang="en-US" spc="-40" dirty="0"/>
                  <a:t> 지급되는 </a:t>
                </a:r>
                <a:r>
                  <a:rPr lang="ko-KR" altLang="en-US" spc="-40" dirty="0" err="1"/>
                  <a:t>세후</a:t>
                </a:r>
                <a:r>
                  <a:rPr lang="ko-KR" altLang="en-US" spc="-40" dirty="0"/>
                  <a:t> 실질수익률</a:t>
                </a:r>
                <a:br>
                  <a:rPr lang="en-US" altLang="ko-KR" spc="-40" dirty="0"/>
                </a:br>
                <a14:m>
                  <m:oMath xmlns:m="http://schemas.openxmlformats.org/officeDocument/2006/math">
                    <m:r>
                      <a:rPr lang="en-US" altLang="ko-KR" b="1" i="0" spc="-4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pc="-4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altLang="ko-KR" b="1" i="1" spc="-4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pc="-40" dirty="0"/>
                  <a:t> </a:t>
                </a:r>
                <a:r>
                  <a:rPr lang="ko-KR" altLang="en-US" spc="-40" dirty="0"/>
                  <a:t>실질이자율</a:t>
                </a:r>
                <a:endParaRPr lang="en-US" altLang="ko-KR" spc="-40" dirty="0"/>
              </a:p>
              <a:p>
                <a:pPr marL="630000" lvl="1" indent="-284400"/>
                <a:r>
                  <a:rPr lang="ko-KR" altLang="en-US" spc="-40" dirty="0"/>
                  <a:t>아무런 조세가 부과되지 않는다면 다음이 성립</a:t>
                </a:r>
                <a:r>
                  <a:rPr lang="en-US" altLang="ko-KR" spc="-40" dirty="0"/>
                  <a:t>:</a:t>
                </a:r>
              </a:p>
              <a:p>
                <a:pPr marL="345600" lvl="1" indent="0">
                  <a:buNone/>
                </a:pPr>
                <a:r>
                  <a:rPr lang="en-US" altLang="ko-KR" b="1" spc="-40" dirty="0"/>
                  <a:t>		   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endParaRPr lang="en-US" altLang="ko-KR" dirty="0"/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7608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 접근법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2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투자수익에 대해 조세가 부과된다면 저축자가 받는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세후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수익률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 smtClean="0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과 투자계획으로부터 나오는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세전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수익률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사이에 격차가 생김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⇒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조세쐐기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(tax wedge 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𝒘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투자수익에 대한 과세의 실효세율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(effective tax rate :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𝒕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조세쐐기를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세전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수익률로 나눈 것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altLang="ko-KR" sz="2000" b="1" i="1" dirty="0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𝒘</m:t>
                        </m:r>
                      </m:num>
                      <m:den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den>
                    </m:f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𝒔</m:t>
                        </m:r>
                      </m:num>
                      <m:den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𝒑</m:t>
                        </m:r>
                      </m:den>
                    </m:f>
                  </m:oMath>
                </a14:m>
                <a:r>
                  <a:rPr lang="en-US" altLang="ko-KR" sz="18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 </a:t>
                </a:r>
              </a:p>
              <a:p>
                <a:pPr marL="266700" indent="-266700">
                  <a:lnSpc>
                    <a:spcPct val="12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이렇게 구한 실효세율이 높을수록 조세가 그 투자계획에 불리하게 작용한다고 말할 수 있음</a:t>
                </a:r>
                <a:endParaRPr lang="en-US" altLang="ko-KR" sz="3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20000"/>
                  </a:lnSpc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한계실효세율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(marginal effective tax rate)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이라고 부르는 것은 이 세율이 한계적인 투자계획에 대해 구해지기 때문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385" r="-696" b="-26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18146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0E16B-AB95-4B49-A742-9EF95F77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접근법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 fontAlgn="base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실효세율이 높을수록 조세가 그 투자계획에 불리하게 작용한다고 말할 수 있음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44500" lvl="1" indent="-190500" fontAlgn="base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만약 실효세율이 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값을 가지면 정부가 투자수익에 덤을 얹어 준다는 의미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lvl="1" fontAlgn="base"/>
                <a:endParaRPr lang="ko-KR" altLang="en-US" sz="1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 fontAlgn="base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한계실효세율 접근법의 장점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fontAlgn="base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조세가 투자 일반에 대해 어떤 영향을 주는지를 일반적으로 분석할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fontAlgn="base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여러 다른 유형의 투자에 대해 각각 어떤 영향을 주는지를 구체적으로 분석할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18849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 접근법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킹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풀러톤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(M. King and D. Fullerton)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분석 결과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57200" lvl="1" indent="-230400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영국은 전반적으로 가장 낮은 실효세율을 보여 조세제도가 투자를 위축시키는 측면에서 가장 작은 교란만을 일으키고 있다는 평가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57200" lvl="1" indent="-230400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그러나 영국은 실효세율이 매우 불규칙한 양상이 나타나 상당한 정도의 왜곡 발생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57200" lvl="1" indent="-230400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연구가 행해진 시기의 영국은 기계류에 대한 투자에 대해 즉각적인 경비처리를 해주는 등 투자에 대해 상당히 관대한 조세제도 운영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</a:p>
              <a:p>
                <a:pPr marL="457200" lvl="1" indent="-230400" fontAlgn="base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기계류에 대한 투자의 경우에는 실효세율이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-36.8%,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부채를 통해 자금을 조달한 경우에는 실효세율이 무려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-100.8%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달했음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57200" lvl="1" indent="-230400" fontAlgn="base">
                  <a:lnSpc>
                    <a:spcPct val="100000"/>
                  </a:lnSpc>
                  <a:spcAft>
                    <a:spcPts val="2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영국뿐 아니라 스웨덴을 제외한 모든 나라에서 부채를 통한 투자의 경우 실효세율이 음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값을 갖는데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이는 현행 조세제도가 부채의존도를 높이는 효과를 갖는다는 의미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5726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한계실효세율 접근법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101600"/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1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9" name="그림 8" descr="테이블이(가) 표시된 사진&#10;&#10;자동 생성된 설명">
            <a:extLst>
              <a:ext uri="{FF2B5EF4-FFF2-40B4-BE49-F238E27FC236}">
                <a16:creationId xmlns:a16="http://schemas.microsoft.com/office/drawing/2014/main" id="{41B27248-7B4B-4F5E-99D5-C0525B1CCF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412" y="1502350"/>
            <a:ext cx="6795605" cy="485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10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21.4 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투자촉진을 위한 조세정책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/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1980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미국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레이건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Reagan)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행정부에 의해 두 차례 수행된 조세개혁은 조세정책이 투자행위에 어떤 영향을 미치는지를 분석할 수 있는 좋은 실험적 상황을 제공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조세개혁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과감한 투자유인 제공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0"/>
              </a:spcAft>
            </a:pP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1986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조세개혁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투자유인의 상당 부분을 철회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조세개혁이 실천에 옮겨진 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1983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년과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1984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걸쳐 투자가 전례 없이 빠른 속도로 증가하는 현상이 나타남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1980~1982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년의 기간 동안 극심한 불황에 시달리던 미국경제는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말에 들어서면서 회복국면에 들어서기 시작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이때 일어난 투자의 급격한 증가는 경기 회복세와 맞물려 있을 가능성이 높음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371209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투자촉진을 위한 조세정책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코커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Corker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: 1980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년대 초의 급격한 투자 증가는 회복국면에서 생산의 빠른 증가가 일어난 것에 기인하며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조세정책이 투자 행위에 영향을 준 것을 주요한 원인으로 보기는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보즈워스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(B. Bosworth) 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조세제도상의 투자유인이 그때 일어난 투자 증가의 결정적 원인이었다는 견해에 의문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자본재 가격이나 자금조달비용 같은 조세 이외의 다른 요인들이 더 중요한 역할을 했다고 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7449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투자촉진을 위한 조세정책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 fontAlgn="base">
              <a:lnSpc>
                <a:spcPct val="110000"/>
              </a:lnSpc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기업들의 투자 행위에 영향을 미치는 결정적인 변수가 아니라는 사실은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1986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이루어진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레이건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행정부의 두 번째 조세개혁의 경험에서 더욱 뚜렷하게 나타남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 조세개혁은 소득세 수입을 줄이는 대신 법인세 수입을 늘려 세수중립성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(revenue neutrality)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유지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9263" lvl="1" indent="-174625" fontAlgn="base">
              <a:lnSpc>
                <a:spcPct val="110000"/>
              </a:lnSpc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투자가 크게 위축되리라는 예상이 지배적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 fontAlgn="base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조세개혁이 이루어진 후 투자가 크게 줄어들지도 않았고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투자의 내용도 이론적 예상과 상반되는 사례가 많이 발견됨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444500" lvl="1" fontAlgn="base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조세제도상의 투자유인이 기업들의 투자 행위에 미치는 영향은 극히 제한적이었다는 의미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49208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투자촉진을 위한 조세정책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보즈워스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버틀리스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(B. Bosworth and G.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Burtless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조세제도상의 투자유인책이 기대한 효과를 내려면 투자에 영향을 주는 다른 중요한 정책수단과의 적절한 조율이 필수적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실질이자율의 투자위축 효과가 조세제도상의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투자유인책이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발휘한 효과보다 더 컸을 가능성이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조세제도상의 투자유인이 투자에 어느 정도의 영향을 미치는 것은 사실이지만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 영향의 범위는 상당히 제한적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조세 이외의 많은 요인들이 기업의 투자행위에 영향을 미침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조세제도가 자본의 사용자비용 혹은 한계실효세율을 어떤 방향으로 변화시키는지 만을 보고 투자에 대한 영향을 예측하기는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31442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투자촉진을 위한 조세정책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투자유인의 제공과 관련해 막대한 규모의 조세수입 감소가 일어난다는 사실도 중요한 고려사항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</a:pPr>
            <a:r>
              <a:rPr lang="ko-KR" altLang="en-US" spc="-1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굴즈비</a:t>
            </a:r>
            <a:r>
              <a:rPr lang="en-US" altLang="ko-KR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spc="-1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Goolsbee</a:t>
            </a:r>
            <a:r>
              <a:rPr lang="en-US" altLang="ko-KR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</a:t>
            </a:r>
            <a:r>
              <a:rPr lang="ko-KR" altLang="en-US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전반적으로 조세제도상의 투자유인이 투자촉진 효과를 별로 내지 못하면서 상당한 비용을 초래하고 있다고 평가</a:t>
            </a:r>
            <a:endParaRPr lang="en-US" altLang="ko-KR" spc="-1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30000"/>
              </a:lnSpc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 감소가 재정적자로 이어지고 그것이 다시 실질이자율 상승으로 이어진다면 오히려 투자를 위축시키는 결과까지 초래할 수 있음</a:t>
            </a:r>
            <a:r>
              <a:rPr lang="en-US" altLang="ko-KR" spc="-1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66700" indent="-2667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투자를 위시한 경제활동의 여러 측면에 어느 정도 영향을 미치는 것은 사실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</a:pPr>
            <a:r>
              <a:rPr lang="ko-KR" altLang="en-US" sz="17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경제를 활성화시키는 수단으로서 조세에 너무 큰 기대를 거는 것은 무리</a:t>
            </a:r>
            <a:endParaRPr lang="en-US" altLang="ko-KR" sz="17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120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21.5  </a:t>
            </a:r>
            <a:r>
              <a:rPr lang="ko-KR" altLang="en-US" spc="-1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기업의 자본구조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조세는 기업의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재무관리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(corporate finance)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영향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재무관리정책은 적절한 자본구조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(capital structure)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배당률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(dividend payout ratio)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선택하고자 하는 노력이 주된 내용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00000"/>
              </a:lnSpc>
              <a:spcAft>
                <a:spcPts val="3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기업의 자본구조 선택에 미치는 영향에 대한 논의는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밀러</a:t>
            </a:r>
            <a:r>
              <a:rPr lang="it-IT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(F. Modigliani and M. Miller)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로부터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출발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1886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밀러의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밀러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(F. Modigliani and M. Miller)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어떤 기업의 가치가 자본구조와 아무 관련이 없음을 입증함으로써 기존의 이론에 정면으로 반기를 듦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기업이 어떤 부채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자본비율을 선택하던 간에 투자가들은 아무 관심을 갖지 않는다는 것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기업이 부채를 일정액만큼 늘이거나 줄이기로 결정하면 주주의 차원에서의 부채 변화로 이를 상쇄할 수 있기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2772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밀러의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밀러의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정리 기본 가정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(1)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투자정책은 이미 정해져 있고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투자가들도 이를 알고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(2)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수익에 아무런 조세도 부과되지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(3)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주식을 아무런 거래비용도 들이지 않고 자유로이 사고 팔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(4)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완전한 자본시장이 존재해 누구나 똑같은 이자율로 돈을 마음대로 빌려주고 빌릴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(5)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모든 투자가들은 똑같은 정보를 갖고 있으며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경영자와도 같은 정보를 나눠 갖고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(6)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경영자는 언제나 주주의 재산을 극대화하려고 노력하기 때문에 본인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대리인의 문제가 발생하지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12000" lvl="1" indent="-396000">
              <a:lnSpc>
                <a:spcPct val="110000"/>
              </a:lnSpc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(7)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파산과 관련해 아무런 비용이 발생하지 않음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07077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법인세만 고려하는 경우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밀러의 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명제가 기초하고 있는 가정 중 가장 심각한 문제가 되는 가정은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수익에 아무런 조세도 부과되는 않는다는 가정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spcAft>
                <a:spcPts val="1000"/>
              </a:spcAft>
            </a:pP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밀러도 이 점을 인정하고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1963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기업의 수익에 법인세가 부과된다는 가정을 도입한 새로운 모형 제시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보는 법인세는 타인자본 의존도가 높아질수록 법인세 부담이 가벼워지는 결과가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빚어짐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법인세상에서 부채에 대해 지급한 이자는 비용으로 공제가 허용되는 반면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자기자본에 대한 귀속이자의는 공제가 허용되지 않기 때문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74590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감세효과</a:t>
                </a:r>
                <a:r>
                  <a:rPr lang="en-US" altLang="ko-KR" sz="2000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(tax shield)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부채를 가짐에 따라 법인세 부담이 줄어드는 것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기업의 부채 총액이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m:rPr>
                        <m:nor/>
                      </m:rPr>
                      <a:rPr lang="ko-KR" altLang="en-US" sz="20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rPr>
                      <m:t>원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기간당 이자율은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법인세율은 </a:t>
                </a:r>
                <a14:m>
                  <m:oMath xmlns:m="http://schemas.openxmlformats.org/officeDocument/2006/math"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로 주어져 있다고 가정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  <a:tabLst>
                    <a:tab pos="533400" algn="l"/>
                  </a:tabLst>
                </a:pPr>
                <a:r>
                  <a:rPr lang="ko-KR" altLang="en-US" dirty="0"/>
                  <a:t>각 기간당 이자지급액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𝒓𝑩</m:t>
                    </m:r>
                  </m:oMath>
                </a14:m>
                <a:r>
                  <a:rPr lang="ko-KR" altLang="en-US" dirty="0"/>
                  <a:t>원이 경비로 처리되어 과세대상에서 빠져 나가므로 그 기업의 법인세 부담은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𝒓𝑩</m:t>
                    </m:r>
                    <m:r>
                      <m:rPr>
                        <m:nor/>
                      </m:rPr>
                      <a:rPr lang="ko-KR" altLang="en-US" dirty="0"/>
                      <m:t>원</m:t>
                    </m:r>
                  </m:oMath>
                </a14:m>
                <a:r>
                  <a:rPr lang="ko-KR" altLang="en-US" dirty="0"/>
                  <a:t>만큼 줄어듦</a:t>
                </a:r>
                <a:endParaRPr lang="en-US" altLang="ko-KR" dirty="0"/>
              </a:p>
              <a:p>
                <a:pPr marL="444500" lvl="1">
                  <a:lnSpc>
                    <a:spcPct val="110000"/>
                  </a:lnSpc>
                  <a:spcAft>
                    <a:spcPts val="500"/>
                  </a:spcAft>
                  <a:tabLst>
                    <a:tab pos="533400" algn="l"/>
                  </a:tabLst>
                </a:pPr>
                <a:r>
                  <a:rPr lang="ko-KR" altLang="en-US" dirty="0"/>
                  <a:t>법인세 부담 감소액의 현재가치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altLang="ko-KR" dirty="0"/>
                  <a:t>) :</a:t>
                </a:r>
              </a:p>
              <a:p>
                <a:pPr marL="273050" lvl="1" indent="0">
                  <a:lnSpc>
                    <a:spcPct val="110000"/>
                  </a:lnSpc>
                  <a:spcAft>
                    <a:spcPts val="500"/>
                  </a:spcAft>
                  <a:buNone/>
                  <a:tabLst>
                    <a:tab pos="533400" algn="l"/>
                  </a:tabLst>
                </a:pPr>
                <a:br>
                  <a:rPr lang="en-US" altLang="ko-KR" dirty="0"/>
                </a:br>
                <a:r>
                  <a:rPr lang="en-US" altLang="ko-KR" dirty="0"/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𝒓𝑩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𝒓𝑩</m:t>
                        </m:r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𝒓𝑩</m:t>
                        </m:r>
                      </m:num>
                      <m:den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b="1" i="1">
                            <a:latin typeface="Cambria Math" panose="02040503050406030204" pitchFamily="18" charset="0"/>
                          </a:rPr>
                          <m:t>𝝉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𝒓𝑩</m:t>
                        </m:r>
                      </m:num>
                      <m:den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𝒓</m:t>
                        </m:r>
                      </m:den>
                    </m:f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altLang="ko-KR" dirty="0"/>
              </a:p>
              <a:p>
                <a:pPr marL="273050" lvl="1" indent="0">
                  <a:lnSpc>
                    <a:spcPct val="110000"/>
                  </a:lnSpc>
                  <a:spcAft>
                    <a:spcPts val="500"/>
                  </a:spcAft>
                  <a:buNone/>
                  <a:tabLst>
                    <a:tab pos="533400" algn="l"/>
                  </a:tabLst>
                </a:pPr>
                <a:endParaRPr lang="en-US" altLang="ko-KR" dirty="0"/>
              </a:p>
              <a:p>
                <a:pPr marL="444500" lvl="1">
                  <a:lnSpc>
                    <a:spcPct val="110000"/>
                  </a:lnSpc>
                  <a:tabLst>
                    <a:tab pos="533400" algn="l"/>
                  </a:tabLst>
                </a:pPr>
                <a:r>
                  <a:rPr lang="ko-KR" altLang="en-US" dirty="0"/>
                  <a:t>법인세율이 높을수록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기업이 갖고 있는 부채가 클수록 한층 더 큰 감세효과를 기대할 수 있음</a:t>
                </a:r>
                <a:endParaRPr lang="en-US" altLang="ko-KR" dirty="0"/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6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7562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10000"/>
                  </a:lnSpc>
                  <a:spcAft>
                    <a:spcPts val="1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부채가 있는 기업의 가치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부채가 전혀 없는 기업의 가치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보다 바로 감세효과의 현재가치만큼 더 크게 됨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ko-KR" altLang="en-US" sz="2000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         </a:t>
                </a:r>
              </a:p>
              <a:p>
                <a:pPr marL="266700" indent="-266700">
                  <a:lnSpc>
                    <a:spcPct val="110000"/>
                  </a:lnSpc>
                  <a:spcAft>
                    <a:spcPts val="1000"/>
                  </a:spcAft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 부과는 주주의 재산 극대화를 추구하는 기업들로 하여금 타인자본 의존도를 높이게 만드는 유인을 줌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⇒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비효율성 발생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1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타인자본을 더 많이 사용할수록 법인세 감세효과가 더 커진다 해서 현실의 기업들이 무한정 타인자본 의존도를 높이지는 않음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자본비율이 높아지면 감세효과가 커지는 반면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재무적 곤경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(financial distress)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에 빠질 가능성도 더 커지기 때문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1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재무적 곤경이 극심해져 파산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(bankruptcy)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상태에 이를 경우 매우 큰 비용 발생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13261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소득세까지 고려하는 경우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lnSpc>
                <a:spcPct val="130000"/>
              </a:lnSpc>
              <a:buNone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법인세와 더불어 개인에게 부과되는 소득세도 기업의 자본구조 선택에 상당한 영향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905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기업부문에서 나오는 수익과 관련해 부과되는 소득세는 채권의 보유자가 얻는 이자소득과 주주가 얻는 배당금과 자본이득을 과세대상으로 삼음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lnSpc>
                <a:spcPct val="130000"/>
              </a:lnSpc>
              <a:buFont typeface="Wingdings" panose="05000000000000000000" pitchFamily="2" charset="2"/>
              <a:buChar char="§"/>
            </a:pPr>
            <a:endParaRPr lang="en-US" altLang="ko-KR" sz="5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3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법인세뿐 아니라 소득세도 부과되는 경우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기업은 법인세와 소득세를 합친 총 조세부담을 최소화하려고 노력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5432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이자소득에 적용되는 소득세율이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주주에게 지급되는 소득에 적용되는 소득세율이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으로 주어졌다고 가정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주주에게 지급되는 소득에 적용되는 세율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은 그것이 배당금과 사내유보를 통한 자본이득 중 어떤 형태를 취하느냐에 따라 크기 달라짐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endParaRPr lang="en-US" altLang="ko-KR" sz="2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/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1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원의 수익이 누구에게 지급되는가에 따라 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세후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순소득 다름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채권 보유자에게 이자로 지급될 때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:r>
                  <a:rPr lang="ko-KR" altLang="en-US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세후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순소득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</m:d>
                  </m:oMath>
                </a14:m>
                <a:endParaRPr lang="en-US" altLang="ko-KR" i="1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주주에게 지급될 때의 순소득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/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투자자의 관점에서 주식보다 채권이 상대적으로 더 유리한 정도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</a:p>
              <a:p>
                <a:pPr marL="266700" lvl="1" indent="0">
                  <a:buNone/>
                </a:pPr>
                <a:r>
                  <a:rPr lang="en-US" altLang="ko-KR" b="1" dirty="0"/>
                  <a:t>	</a:t>
                </a:r>
                <a:r>
                  <a:rPr lang="en-US" altLang="ko-KR" dirty="0"/>
                  <a:t>  		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</m:d>
                    <m:r>
                      <a:rPr lang="en-US" altLang="ko-KR" b="1" i="1">
                        <a:latin typeface="Cambria Math" panose="02040503050406030204" pitchFamily="18" charset="0"/>
                      </a:rPr>
                      <m:t>−(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</a:t>
                </a: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18883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lvl="1" indent="-266700">
                  <a:spcBef>
                    <a:spcPts val="750"/>
                  </a:spcBef>
                  <a:spcAft>
                    <a:spcPts val="300"/>
                  </a:spcAft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𝒍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i="1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</m:d>
                  </m:oMath>
                </a14:m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300"/>
                  </a:spcAft>
                </a:pP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변의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첫 번째 항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법인세와 관련해 발생하는 채권의 감세효과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300"/>
                  </a:spcAft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우변의 두 번째 항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채권 보유자에게 적용되는 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‘</a:t>
                </a:r>
                <a:r>
                  <a:rPr lang="ko-KR" altLang="en-US" spc="-113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소득세벌칙</a:t>
                </a:r>
                <a:r>
                  <a:rPr lang="en-US" altLang="ko-KR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’ (income tax penalty)</a:t>
                </a:r>
                <a:r>
                  <a:rPr lang="ko-KR" altLang="en-US" spc="-113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이라고 해석 가능</a:t>
                </a:r>
                <a:endParaRPr lang="en-US" altLang="ko-KR" spc="-113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300"/>
                  </a:spcAft>
                </a:pPr>
                <a:r>
                  <a:rPr lang="ko-KR" altLang="en-US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주식보다 채권이 유리한 정도는 채권의 감세효과로부터 소득세벌칙을 빼준 것으로 계산할 수 있음</a:t>
                </a:r>
                <a:endParaRPr lang="en-US" altLang="ko-KR" spc="-2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spcAft>
                    <a:spcPts val="300"/>
                  </a:spcAft>
                </a:pPr>
                <a:r>
                  <a:rPr lang="ko-KR" altLang="en-US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소득세벌칙이 양</a:t>
                </a:r>
                <a:r>
                  <a:rPr lang="en-US" altLang="ko-KR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(+)</a:t>
                </a:r>
                <a:r>
                  <a:rPr lang="ko-KR" altLang="en-US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값을 가진다 하더라도 </a:t>
                </a:r>
                <a14:m>
                  <m:oMath xmlns:m="http://schemas.openxmlformats.org/officeDocument/2006/math">
                    <m:r>
                      <a:rPr lang="ko-KR" altLang="en-US" b="1" i="1" spc="-2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r>
                  <a:rPr lang="ko-KR" altLang="en-US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는 여전히 양</a:t>
                </a:r>
                <a:r>
                  <a:rPr lang="en-US" altLang="ko-KR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(+)</a:t>
                </a:r>
                <a:r>
                  <a:rPr lang="ko-KR" altLang="en-US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의 값을 가질 가능성 크며</a:t>
                </a:r>
                <a:r>
                  <a:rPr lang="en-US" altLang="ko-KR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pc="-2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이는 투자자가 주식보다 채권을 더 선호한다는 것을 의미</a:t>
                </a:r>
                <a:endParaRPr lang="en-US" altLang="ko-KR" spc="-2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4" r="-3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6266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기업의 부채 총액이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원이며 이자율이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이라고 할 때 주식이 아닌 채권으로 자본을 조달함으로써 투자자에게 돌아가는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순이득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</m:d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ko-KR" altLang="en-US" sz="2000" b="1" i="1">
                                <a:latin typeface="Cambria Math" panose="02040503050406030204" pitchFamily="18" charset="0"/>
                              </a:rPr>
                              <m:t>𝝉</m:t>
                            </m:r>
                          </m:e>
                        </m:d>
                        <m:d>
                          <m:d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sz="2000" b="1" i="1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d>
                      </m:e>
                    </m:d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𝒓𝑩</m:t>
                    </m:r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     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</a:t>
                </a:r>
              </a:p>
              <a:p>
                <a:pPr marL="266700" indent="-266700"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매 기간에 발생하는 </a:t>
                </a:r>
                <a:r>
                  <a:rPr lang="ko-KR" altLang="en-US" sz="2000" dirty="0" err="1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순이득을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현재가치로 환산하여 이를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라 하면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부채가 있는 기업의 가치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와 부채가 전혀 없는 기업의 가치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)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사이에는 다음과 같은 관계가 성립</a:t>
                </a:r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altLang="ko-KR" sz="20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𝑷𝑽</m:t>
                        </m:r>
                      </m:e>
                      <m:sub>
                        <m:r>
                          <a:rPr lang="en-US" altLang="ko-KR" sz="2000" b="1" i="1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</m:oMath>
                </a14:m>
                <a:b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</a:b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    </a:t>
                </a:r>
              </a:p>
              <a:p>
                <a:pPr marL="266700" indent="-266700">
                  <a:lnSpc>
                    <a:spcPct val="120000"/>
                  </a:lnSpc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채권이 주식에 비해 갖는 상대적 유리함의 정도는 법인세와 소득세 모두를 고려해야 계산될 수 있음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30499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조세의 도입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법인세와 소득세가 모두 존재하지 않는 경우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모두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  ⇒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𝑷𝑽</m:t>
                        </m:r>
                      </m:e>
                      <m:sub>
                        <m:r>
                          <a:rPr lang="en-US" altLang="ko-KR" b="1" i="1">
                            <a:latin typeface="Cambria Math" panose="02040503050406030204" pitchFamily="18" charset="0"/>
                          </a:rPr>
                          <m:t>𝑨</m:t>
                        </m:r>
                      </m:sub>
                    </m:sSub>
                    <m:r>
                      <a:rPr lang="en-US" altLang="ko-KR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 indent="-177800">
                  <a:lnSpc>
                    <a:spcPct val="13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부채가 있든 없든 기업의 가치에 아무 변화 없음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lvl="1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endPara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현실에서는 </a:t>
                </a:r>
                <a14:m>
                  <m:oMath xmlns:m="http://schemas.openxmlformats.org/officeDocument/2006/math">
                    <m:r>
                      <a:rPr lang="ko-KR" altLang="en-US" b="1" i="1">
                        <a:latin typeface="Cambria Math" panose="02040503050406030204" pitchFamily="18" charset="0"/>
                      </a:rPr>
                      <m:t>𝝉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1" i="1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ko-KR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1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중 어느 하나도 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0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아니며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따라서 투자자의 입장에서 채권과 주식이 똑같을 수 없음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endParaRPr lang="en-US" altLang="ko-KR" sz="8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이론적 관점에서 보면 조세는 일반적으로 기업의 부채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-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자본비율을 높이는 방향으로 영향을 줄 것으로 예상할 수 있음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57024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기업의 자본구조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0000"/>
              </a:lnSpc>
              <a:spcAft>
                <a:spcPts val="500"/>
              </a:spcAft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지볼리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(D.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Givoly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: 1986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년에 이루어진 미국의 조세제도 개혁을 하나의 실험적 상황으로 보고 조세가 기업의 자본구조 선택에 상당히 큰 영향을 미친다는 것을 보여줌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  <a:spcAft>
                <a:spcPts val="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Gordon and Y. Lee)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 기업들의 자본구조가 법인세율의 변화에 민감한 반응을 보이는 양상 발견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그래험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Graham)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미국의 법인세제에서 지급이자 공제를 허용해 주는 데 따른 감세효과의 실제 크기 계산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소득세제상에서 채권 보유자가 지는 소득세 부담이 주주에 비해 상대적으로 더 무겁다는 것 보임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기업들이 부채의 감세효과가 극대화되는 것보다 더 낮은 수준의 부채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자본비율을 선택 ⇒ 조세가 기업의 자본구조에 미치는 영향이 생각만큼 크지 않음을 시사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88806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기업의 자본구조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고든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Gordon)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기업들이 감세효과를 포기하면서 부채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자본비율을 낮은 수준으로 유지하는 경향을 보이는 주요한 이유로 정보의 비대칭성 제시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4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기업에게 돈을 빌려주는 투자자는 좋은 기업과 나쁜 기업을 구별하지 못하므로 두 유형의 기업에게 똑같은 이자율을 요구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4000"/>
              </a:lnSpc>
              <a:spcAft>
                <a:spcPts val="7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나쁜 기업은 이 이자율에서 기꺼이 돈을 빌리려 할 테지만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좋은 기업은 비싼 이자를 내가면서 돈을 빌리려 하지 않을 것임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14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그래험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하비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(J. Graham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amd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C. Harvey) 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미국 기업의 최고재무책임자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(CFO)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들을 대상으로 한 설문조사를 통해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자본구조 선택 시 재무적 유연성이나 신용평가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등이 중요한 고려사항임을 확인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14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현실의 기업은 자본구조를 선택할 때 다른 요소들을 더욱 중요하게 고려하고 있을 가능성이 큼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421254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21.6  </a:t>
            </a:r>
            <a:r>
              <a:rPr lang="ko-KR" altLang="en-US" spc="-1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배당정책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배당정책이 기업의 가치에 어떤 영향을 가져오느냐는 재무관리 이론에서 많은 논의의 대상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 배당금 지급을 늘림에 따라 기업의 가치가 증가한다는 주장과 기업의 가치가 감소한다는 주장이 혼재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40000"/>
              </a:lnSpc>
              <a:spcBef>
                <a:spcPts val="500"/>
              </a:spcBef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배당정책이 기업의 가치와 무관하다는 이론까지 존재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밀러의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배당무의미성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(dividend irrelevance)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이론</a:t>
            </a:r>
            <a:endParaRPr lang="en-US" altLang="ko-KR" b="1" dirty="0">
              <a:solidFill>
                <a:schemeClr val="accent1">
                  <a:lumMod val="7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00156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밀러의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배당무의미성이론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Autofit/>
              </a:bodyPr>
              <a:lstStyle/>
              <a:p>
                <a:pPr marL="266700" indent="-266700">
                  <a:lnSpc>
                    <a:spcPct val="130000"/>
                  </a:lnSpc>
                  <a:spcAft>
                    <a:spcPts val="1000"/>
                  </a:spcAft>
                  <a:buFont typeface="Wingdings" panose="05000000000000000000" pitchFamily="2" charset="2"/>
                  <a:buChar char="§"/>
                </a:pPr>
                <a:r>
                  <a:rPr lang="ko-KR" altLang="en-US" sz="2000" b="1" dirty="0">
                    <a:solidFill>
                      <a:schemeClr val="accent1">
                        <a:lumMod val="75000"/>
                      </a:schemeClr>
                    </a:solidFill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배당무의미성이론</a:t>
                </a:r>
                <a:r>
                  <a:rPr lang="ko-KR" altLang="en-US" sz="2000" b="1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: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완전한 자본시장의 가정하에서는 배당정책이 기업의 가치에 아무 영향을 주지 않아 기본적으로 무의미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66700" indent="-266700">
                  <a:lnSpc>
                    <a:spcPct val="13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어떤 기업의 투자정책이 이미 결정되어 있고</a:t>
                </a:r>
                <a:r>
                  <a:rPr lang="en-US" altLang="ko-KR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, </a:t>
                </a:r>
                <a:r>
                  <a:rPr lang="ko-KR" altLang="en-US" sz="20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얼마만큼의 부채를 얻어 쓸지도 역시 결정되어 있다고 가정</a:t>
                </a:r>
                <a:endParaRPr lang="en-US" altLang="ko-KR" sz="20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3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상황에서 기업이 주주들에게 배당금을 추가로 지급하기로 결정했다면 신주발행을 통해 필요한 자금을 마련해야 함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4500" lvl="1">
                  <a:lnSpc>
                    <a:spcPct val="130000"/>
                  </a:lnSpc>
                </a:pP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이 과정에서 기존 주주들의 재산상태에 어떤 변화도 일어나지 않음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273050" lvl="1" indent="0">
                  <a:lnSpc>
                    <a:spcPct val="130000"/>
                  </a:lnSpc>
                  <a:buNone/>
                </a:pP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 	 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기존 주주 지분의 가치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=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기업의 가치</a:t>
                </a:r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  <a:ea typeface="나눔고딕" panose="020D0604000000000000" pitchFamily="50" charset="-127"/>
                      </a:rPr>
                      <m:t>−</m:t>
                    </m:r>
                  </m:oMath>
                </a14:m>
                <a:r>
                  <a:rPr lang="en-US" altLang="ko-KR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 </a:t>
                </a:r>
                <a:r>
                  <a:rPr lang="ko-KR" altLang="en-US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신주발행액</a:t>
                </a:r>
                <a:endParaRPr lang="en-US" altLang="ko-KR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  <a:p>
                <a:pPr marL="446400" lvl="1" indent="-172800">
                  <a:lnSpc>
                    <a:spcPct val="130000"/>
                  </a:lnSpc>
                </a:pPr>
                <a:r>
                  <a:rPr lang="ko-KR" altLang="en-US" sz="1700" dirty="0">
                    <a:latin typeface="나눔고딕" panose="020D0604000000000000" pitchFamily="50" charset="-127"/>
                    <a:ea typeface="나눔고딕" panose="020D0604000000000000" pitchFamily="50" charset="-127"/>
                  </a:rPr>
                  <a:t>따라서 추가적인 배당금 지급 결정은 아무런 의미도 갖지 않음</a:t>
                </a:r>
                <a:endParaRPr lang="en-US" altLang="ko-KR" sz="1700" dirty="0">
                  <a:latin typeface="나눔고딕" panose="020D0604000000000000" pitchFamily="50" charset="-127"/>
                  <a:ea typeface="나눔고딕" panose="020D0604000000000000" pitchFamily="50" charset="-127"/>
                </a:endParaRPr>
              </a:p>
            </p:txBody>
          </p:sp>
        </mc:Choice>
        <mc:Fallback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r="-5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03067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밀러의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배당무의미성이론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명제의 경우와 마찬가지로 배당무의미성이론 또한 비현실적인 가정을 기초로 하여 얻은 결론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현실에서 완전한 자본시장의 조건은 충족되기 어려움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  <a:spcAft>
                <a:spcPts val="1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조세가 부과되지 않고 거래비용이 들지 않는다는 가정도 비현실적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700" indent="-266700">
              <a:lnSpc>
                <a:spcPct val="12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대부분의 나라가 소득세상에서 배당금과 자본이득을 다르게 취급하고 있으므로 주주에게 기업의 배당정책은 매우 중요한 문제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많은 나라에서 배당금에 대해서는 보통의 소득세율을 적용하면서 자본이득에 대해서는 이보다 훨씬 낮은 세율을 적용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>
              <a:lnSpc>
                <a:spcPct val="120000"/>
              </a:lnSpc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이는 조세당국이 배당금을 지급하는 행위에 대해 일종의 </a:t>
            </a:r>
            <a:r>
              <a:rPr lang="ko-KR" altLang="en-US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배당금벌칙</a:t>
            </a:r>
            <a:r>
              <a:rPr lang="en-US" altLang="ko-KR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(dividend penalty)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가하고 있는 셈이 되므로 주주들은 배당보다 조세부담이 상대적으로 가벼운 사내유보 쪽을 더 선호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21707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9ADF84-A60B-4201-9493-213203E35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모딜리아니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밀러의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배당무의미성이론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배당금벌칙이 존재하는 상황에서도 많은 기업들이 상당히 높은 배당률을 선택해 이론적 예상과 어긋나는 행태를 보이고 있음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배당금의 수수께끼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(dividend puzzle)</a:t>
            </a:r>
          </a:p>
          <a:p>
            <a:pPr marL="266700" indent="-26670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배당금의 수수께끼를 풀려는 수많은 연구가 있었으나 만족스러운 해답을 얻지 못하고 있음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09600" lvl="1" indent="-266700">
              <a:spcAft>
                <a:spcPts val="15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베이커 등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(H. Baker </a:t>
            </a:r>
            <a:r>
              <a:rPr lang="en-US" altLang="ko-KR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</a:t>
            </a:r>
          </a:p>
          <a:p>
            <a:pPr marL="266700" indent="-266700">
              <a:spcAft>
                <a:spcPts val="300"/>
              </a:spcAft>
            </a:pPr>
            <a:r>
              <a:rPr lang="ko-KR" altLang="en-US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최근의 이론적 관심은 조세가 기업들의 배당금 정책에 어느 정도의 영향을 미치고 있는지</a:t>
            </a:r>
            <a:r>
              <a:rPr lang="en-US" altLang="ko-KR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spc="-4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배당금 정책에 영향을 주는 다른 요인들과 비교했을 때 상대적으로 얼마나 큰 중요성을 갖는지를 알아내는 데 초점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051034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배당정책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indent="-266700"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채티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사에즈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(R.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Chattey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and E. </a:t>
            </a:r>
            <a:r>
              <a:rPr lang="en-US" altLang="ko-KR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Saez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: 2003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미국의 배당소득세 인하조치로 인해 기업들의 배당금 규모가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20%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가까이 증가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>
              <a:spcAft>
                <a:spcPts val="2000"/>
              </a:spcAf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비과세되는 기관의 지분율이 많은 기업일수록 배당정책에 변화가 미미하였으며 세부담이 크게 달라지는 영향력이 큰 주주가 있는 기업의 배당정책은 배당소득세의 인하에 민감하게 반응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66400" indent="-26640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제이콥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제이콥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(M. Jacob and M. Jacob) : 1990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~2008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동안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개국의 기업을 대상으로 조세가 기업의 배당정책에 미치는 영향 분석</a:t>
            </a:r>
          </a:p>
          <a:p>
            <a:pPr lvl="1"/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25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개국 중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개국에서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배당금벌칙이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존재하는 것으로 드러남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배당금벌칙이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클수록 배당률이 더 낮아지는 경향을 관찰하였으며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이는 조세가 기업의 배당정책에 영향을 미친다는 증거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87145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조세와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배당정책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실증연구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ctr">
            <a:noAutofit/>
          </a:bodyPr>
          <a:lstStyle/>
          <a:p>
            <a:pPr marL="266700" lvl="1" indent="-266700">
              <a:spcBef>
                <a:spcPts val="75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ko-KR" altLang="en-US" sz="2000" spc="-2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브래브</a:t>
            </a:r>
            <a:r>
              <a:rPr lang="ko-KR" altLang="en-US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등</a:t>
            </a:r>
            <a:r>
              <a:rPr lang="en-US" altLang="ko-KR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(A. </a:t>
            </a:r>
            <a:r>
              <a:rPr lang="en-US" altLang="ko-KR" sz="2000" spc="-2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Brav</a:t>
            </a:r>
            <a:r>
              <a:rPr lang="en-US" altLang="ko-KR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i="1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et al</a:t>
            </a:r>
            <a:r>
              <a:rPr lang="en-US" altLang="ko-KR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.) : 2003</a:t>
            </a:r>
            <a:r>
              <a:rPr lang="ko-KR" altLang="en-US" sz="2000" spc="-2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미국 부시 행정부의 조세개혁을 하나의 자연적 실험상황으로 보고 조세가 배당정책에 어떤 영향을 미치는지 분석</a:t>
            </a:r>
            <a:endParaRPr lang="en-US" altLang="ko-KR" sz="2000" spc="-2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Aft>
                <a:spcPts val="200"/>
              </a:spcAft>
              <a:tabLst>
                <a:tab pos="25146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배당정책에서 세금 부담에 대한 고려는 잘해 보아야 부차적인 중요성밖에 갖지 못함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Aft>
                <a:spcPts val="200"/>
              </a:spcAft>
              <a:tabLst>
                <a:tab pos="25146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배당금벌칙이 사라진 직후 기업의 배당금 지급이 늘어나기는 했지만 그 추세가 오래 지속된 것은 아님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444500" lvl="1" indent="-177800">
              <a:spcAft>
                <a:spcPts val="200"/>
              </a:spcAft>
              <a:tabLst>
                <a:tab pos="2514600" algn="l"/>
              </a:tabLst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조세개혁 직후 배당금을 늘려서 지급한 기업들의 최고재무책임자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(CFO)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들에 대한 설문조사를 통해 조세가 기업의 배당정책에 그리 큰 영향을 주지 않음을 확인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조세와 경제행위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기업의 선택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46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942710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3947</Words>
  <Application>Microsoft Office PowerPoint</Application>
  <PresentationFormat>화면 슬라이드 쇼(4:3)</PresentationFormat>
  <Paragraphs>424</Paragraphs>
  <Slides>46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4" baseType="lpstr">
      <vt:lpstr>나눔고딕</vt:lpstr>
      <vt:lpstr>나눔고딕 ExtraBold</vt:lpstr>
      <vt:lpstr>맑은 고딕</vt:lpstr>
      <vt:lpstr>Arial</vt:lpstr>
      <vt:lpstr>Calibri</vt:lpstr>
      <vt:lpstr>Cambria Math</vt:lpstr>
      <vt:lpstr>Wingdings</vt:lpstr>
      <vt:lpstr>1_Office 테마</vt:lpstr>
      <vt:lpstr>제21장   조세와 경제행위  : 기업의 선택</vt:lpstr>
      <vt:lpstr>21.1  조세와 투자 : 배경설명</vt:lpstr>
      <vt:lpstr>조세와 투자 : 배경설명</vt:lpstr>
      <vt:lpstr>조세와 투자 : 배경설명</vt:lpstr>
      <vt:lpstr>21.2  신고전파 투자이론 : 자본의 사용자비용</vt:lpstr>
      <vt:lpstr>신고전파 투자이론 : 자본의 사용자비용</vt:lpstr>
      <vt:lpstr>신고전파 투자이론 : 자본의 사용자비용</vt:lpstr>
      <vt:lpstr>신고전파 투자이론 : 조세부과의 효과</vt:lpstr>
      <vt:lpstr>신고전파 투자이론 : 조세부과의 효과</vt:lpstr>
      <vt:lpstr>신고전파 투자이론 : 조세부과의 효과</vt:lpstr>
      <vt:lpstr>신고전파 투자이론 : 조세부과의 효과</vt:lpstr>
      <vt:lpstr>신고전파 투자이론 : 조세부과의 효과</vt:lpstr>
      <vt:lpstr>신고전파 투자이론 : 투자 촉진의 방법</vt:lpstr>
      <vt:lpstr>신고전파 투자이론 : 실증연구</vt:lpstr>
      <vt:lpstr>신고전파 투자이론 : 실증연구</vt:lpstr>
      <vt:lpstr>신고전파 투자이론 : 실증연구</vt:lpstr>
      <vt:lpstr>신고전파 투자이론 : 실증연구</vt:lpstr>
      <vt:lpstr>21.3  한계실효세율 접근법</vt:lpstr>
      <vt:lpstr>한계실효세율 접근법 : 한계실효세율</vt:lpstr>
      <vt:lpstr>한계실효세율 접근법 : 한계실효세율</vt:lpstr>
      <vt:lpstr>한계실효세율 접근법 : 실증연구</vt:lpstr>
      <vt:lpstr>한계실효세율 접근법 : 실증연구</vt:lpstr>
      <vt:lpstr>21.4  투자촉진을 위한 조세정책</vt:lpstr>
      <vt:lpstr>투자촉진을 위한 조세정책</vt:lpstr>
      <vt:lpstr>투자촉진을 위한 조세정책</vt:lpstr>
      <vt:lpstr>투자촉진을 위한 조세정책</vt:lpstr>
      <vt:lpstr>투자촉진을 위한 조세정책</vt:lpstr>
      <vt:lpstr>21.5  조세와 기업의 자본구조</vt:lpstr>
      <vt:lpstr>모딜리아니-밀러의 제1정리</vt:lpstr>
      <vt:lpstr>모딜리아니-밀러의 제1정리</vt:lpstr>
      <vt:lpstr>조세의 도입</vt:lpstr>
      <vt:lpstr>조세의 도입</vt:lpstr>
      <vt:lpstr>조세의 도입</vt:lpstr>
      <vt:lpstr>조세의 도입</vt:lpstr>
      <vt:lpstr>조세의 도입</vt:lpstr>
      <vt:lpstr>조세의 도입</vt:lpstr>
      <vt:lpstr>조세의 도입</vt:lpstr>
      <vt:lpstr>조세의 도입</vt:lpstr>
      <vt:lpstr>조세와 기업의 자본구조 : 실증연구</vt:lpstr>
      <vt:lpstr>조세와 기업의 자본구조 : 실증연구</vt:lpstr>
      <vt:lpstr>21.6  조세와 배당정책</vt:lpstr>
      <vt:lpstr>모딜리아니-밀러의 배당무의미성이론</vt:lpstr>
      <vt:lpstr>모딜리아니-밀러의 배당무의미성이론</vt:lpstr>
      <vt:lpstr>모딜리아니-밀러의 배당무의미성이론</vt:lpstr>
      <vt:lpstr>조세와 배당정책 : 실증연구</vt:lpstr>
      <vt:lpstr>조세와 배당정책 : 실증연구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김소정</cp:lastModifiedBy>
  <cp:revision>1449</cp:revision>
  <dcterms:created xsi:type="dcterms:W3CDTF">2015-08-04T05:38:00Z</dcterms:created>
  <dcterms:modified xsi:type="dcterms:W3CDTF">2021-02-20T15:29:06Z</dcterms:modified>
</cp:coreProperties>
</file>