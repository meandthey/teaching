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23"/>
  </p:notesMasterIdLst>
  <p:handoutMasterIdLst>
    <p:handoutMasterId r:id="rId24"/>
  </p:handoutMasterIdLst>
  <p:sldIdLst>
    <p:sldId id="296" r:id="rId2"/>
    <p:sldId id="302" r:id="rId3"/>
    <p:sldId id="309" r:id="rId4"/>
    <p:sldId id="304" r:id="rId5"/>
    <p:sldId id="263" r:id="rId6"/>
    <p:sldId id="305" r:id="rId7"/>
    <p:sldId id="265" r:id="rId8"/>
    <p:sldId id="267" r:id="rId9"/>
    <p:sldId id="268" r:id="rId10"/>
    <p:sldId id="295" r:id="rId11"/>
    <p:sldId id="271" r:id="rId12"/>
    <p:sldId id="306" r:id="rId13"/>
    <p:sldId id="307" r:id="rId14"/>
    <p:sldId id="275" r:id="rId15"/>
    <p:sldId id="277" r:id="rId16"/>
    <p:sldId id="279" r:id="rId17"/>
    <p:sldId id="308" r:id="rId18"/>
    <p:sldId id="284" r:id="rId19"/>
    <p:sldId id="285" r:id="rId20"/>
    <p:sldId id="287" r:id="rId21"/>
    <p:sldId id="289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3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63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12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00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4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23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공공요금의 이론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적정 공공요금의 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 방식의 문제점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23.4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램지가격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결정의 현실적 고려사항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공공부문이 생산해서 공급하는 재화와 서비스의 경우에도 가격의 신호기능을 활용하면 한층 더 효율적인 배분을 달성 가능</a:t>
            </a:r>
          </a:p>
          <a:p>
            <a:pPr marL="612900" lvl="1" indent="-2700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가격부과를 통해 공공부문이 생산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재화나 서비스의 한계편익이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어떠한지에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정보 전달 가능</a:t>
            </a:r>
          </a:p>
          <a:p>
            <a:pPr marL="270000" indent="-2700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공공요금은 생산과정에서의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효율성뿐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아니라 소비하는 과정에서의 효율성을 높일 수 있음</a:t>
            </a:r>
          </a:p>
          <a:p>
            <a:pPr marL="612900" lvl="1" indent="-270000" fontAlgn="base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재화나 서비스가 무료로 제공되는 경우 엄청난 낭비가 일어날 것임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942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측면에 비할 때 공평성의 측면이나 다음에 설명할 재정수입 획득의 측면은 잘해야 부차적인 중요성밖에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공공요금을 부과하는 주목적이 소득재분배에 있지는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900" lvl="1" indent="-2700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소득 격차를 줄이는 목적이라면 공공요금을 부과하는 것보다 더 효과적인 방법 많음</a:t>
            </a: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 성격을 갖는 재화나 서비스의 경우 이를 소비하는 사람들이 생산에 소요되는 비용부담의 일차적 책임을 져야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마땅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105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부과의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재정수입의 획득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드문 경우이기는 하나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공공요금의 부과가 재정수입의 획득 측면에서 정당화될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너무 많은 재정수입을 올리는 것은 공공부문의 기본취지와 어긋나므로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재정수입 획득은 부차적 목표에 불과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공공부문은 이윤을 극대화하는 데 목표를 두지 않기 때문에 자칫하면 방만한 운영을 하게 될 소지가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비효율성을 막기 위해 적절한 수준에서 채산성을 추구하기를 요구해야 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점에서 볼 때 공공요금의 부과가 필요성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7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23.2 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 공공요금의 이론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spcAft>
                <a:spcPts val="1000"/>
              </a:spcAft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cost pricing)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한계비용과 같을 때 효율적인 자원배분이 이루어진다는 아이디어 응용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가격설정을 위해서는 다음의 조건이 충족되어 있어야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614363" lvl="1" indent="-271463" fontAlgn="base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 소비의 과정에서 외부성이 존재하지 않아야 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현재의 소득분배상태에 아무 문제가 없어야 함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spcBef>
                <a:spcPts val="750"/>
              </a:spcBef>
              <a:spcAft>
                <a:spcPts val="1000"/>
              </a:spcAft>
            </a:pPr>
            <a:r>
              <a:rPr lang="ko-KR" altLang="en-US" sz="18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부문에서 가격과 한계비용 사이에 괴리가 존재하지 않아야 함 </a:t>
            </a:r>
            <a:endParaRPr lang="en-US" altLang="ko-KR" sz="18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브래드포드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Baumol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D. Bradford) 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공공서비스의 가격을 설정할 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부문에서 조세부과 등의 이유로 가격과 한계비용 사이에 괴리가 생겨 있다면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공공서비스의 가격을 일부러 한계비용과 다르게 만들어야 할 필요가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13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 공공요금의 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이 방법을 그대로 적용하는 것이 어려울 때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 정부나 공공기업이 생산하여 공급하고 있는 서비스가 도로나 문화예술공간의 경우와 같이 그 시설용량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(capacity)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정해져 있는 것에서 나오고 있을 경우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단기적으로는 기존 시설의 효율적인 이용을 보장할 수 있는 가격설정이 필요해지며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장기적으로는 적절한 시설용량을 선택하는 문제와 결부해 가격을 고려해야 되기 때문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한계비용에 경제적 지대를 더해 가격을 설정하는 방식으로 한계비용 가격설정의 원칙을 조정하는 것이 필요할 때도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87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기존시설의 효율적 이용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일정한 크기의 수영장을 보유하고 있는데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가장 효율적으로 활용한다는 관점에서 공공요금을 결정해야 하는 상황</a:t>
                </a: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이용자수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acc>
                    <m:r>
                      <m:rPr>
                        <m:nor/>
                      </m:rPr>
                      <a:rPr lang="ko-KR" altLang="en-US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명</m:t>
                    </m:r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초과수요</a:t>
                </a: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 부과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이용자수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유휴시설 존재</a:t>
                </a: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효율적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가격설정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방식과 차이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경제적 지대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𝑩𝑨</m:t>
                    </m:r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641" b="-21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3EB719-8CD7-4C27-9599-AA5AD2EFD9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999" y="2678209"/>
            <a:ext cx="5600102" cy="317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시설규모의 선택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장기적인 시각에서 시설규모가 선택의 대상이 된다고 했을 때 시설규모와 가격을 결정해야 하는지의 문제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규모수익불변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(CRS)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𝑺𝑨𝑪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특정 시설규모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아래의 단기평균비용곡선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5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특정 시설규모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아래의 단기한계비용곡선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CE31BF-DEF9-4C16-BBE5-67D96D6A02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189" y="2782195"/>
            <a:ext cx="5115289" cy="290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5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시설규모의 선택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기에서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시설규모가 주어진 경우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수요곡선과 단기한계비용이 교차하는 점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단기에서 최적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  <a:spcAft>
                    <a:spcPts val="10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장기에서는 가격이 장기한계비용을 초과하고 있기 때문에 자원배분의 비효율성 발생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장기적인 관점에서는 수요곡선과 장기한계비용곡선이 교차하는 점에서 생산과 소비가 이루어지는 것이 가장 효율적임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수준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acc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서비스를 가장 낮은 평균비용에 생산할 수 있게 만드는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ko-KR" altLang="en-US" sz="1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의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시설규모가 최적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최적시설규모를 찾은 다음에는 가격을 장기한계비용에 맞춰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책정함으로써 효율적인 배분 달성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9165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 가격설정 방식의 문제점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lvl="1" indent="-271463">
                  <a:lnSpc>
                    <a:spcPct val="130000"/>
                  </a:lnSpc>
                  <a:spcBef>
                    <a:spcPts val="75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규모의 경제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(economies of scale)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뚜렷한 경우 한계비용 가격설정 방식을 적용하면 결손이 발생하는 문제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가격설정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가격으로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생산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노란 부분만큼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결손 발생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30000"/>
                  </a:lnSpc>
                  <a:spcAft>
                    <a:spcPts val="5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770768-AB2B-4195-9A90-1139413CE8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12" y="2663771"/>
            <a:ext cx="5735076" cy="32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7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일반재원에 의한 충당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5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일반재원에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의한 충당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손쉬운 해결 방안 중 하나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문제점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손쉽게 결손을 메울 수 있게 되면 이 사업에 관계하는 사람들이 최대한의 열의를 갖고 일하려 하지 않음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결손의 규모가 매우 크면 정부가 수행하고 있는 다른 부분에서의 사업과 가용자금을 놓고 다투는 양상이 나타날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일반재원을 조달하는 과정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조세징수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사회후생의 상실이 수반된다는 문제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96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평균비용 가격설정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spcAft>
                    <a:spcPts val="1500"/>
                  </a:spcAft>
                  <a:buNone/>
                </a:pP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평균비용 가격설정 방식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0000" indent="-270000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대신 평균비용에 맞춰 공공요금을 결정함으로써 결손이 생기는 문제 해결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0000" indent="-270000"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앞의 그림에서 수요곡선과 평균비용곡선이 교차하는 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가격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공공요금으로 책정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900" lvl="1" indent="-270000">
                  <a:spcAft>
                    <a:spcPts val="10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경우 손실은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줄지만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대신 어느 정도의 후생손실을 감수할 수밖에 없음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0000" indent="-270000"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문제점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비용이 얼마나 많이 들든 이에 맞춰 공공요금을 결정하는 체제에서는 구태여 비용절감을 위해 노력할 이유가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r="-53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01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가격차별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가격차별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사용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 가격차별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(second-degree price discrimination)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낮은 사용량 구간에서는 비교적 높은 요금을 적용하다가 점차 내려가 가장 높은 사용량 구간에서는 한계비용에 일치하는 요금 부과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양을 사용하는 사람은 요금이 한계비용까지 낮아진 구간에서 추가적 사용여부를 결정하므로 한계비용 가격설정 방식과 유사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양의 수돗물을 사용하는 사람에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대해서는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사용량에 대한 결정을 교란시키지 않으면서 결손도 보지 않게 만드는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적은 양만을 사용하는 사람의 경우에는 한계비용보다 높은 요금의 구간에서 사용량을 결정하게 되므로 교란이 발생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이들이 주로 가난한 사람들이어서 분배적인 측면에서도 문제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790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대처방안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이부가격제도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이부가격제도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(two-part tariff)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채택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270000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소비자로 하여금 가입비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(entry fee)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지불하고 특정 상품을 사용할 권리를 사게 한 다음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그것을 사는 양에 비례해 사용료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(usage fee)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지불하게 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사용료를 한계비용에 일치시켜 자원배분의 효율성을 달성하고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과정에서 생기는 결손은 가입비를 통해 해결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900" lvl="1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전화나 수도의 기본요금이 바로 가입비에 해당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공공서비스를 소비하기로 마음먹은 사람의 사용량에 관한 결정은 효율적으로 이루어짐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가입비가 너무 비싸다고 생각하여 아예 소비를 포기하는 사람의 경우에는 효율적인 의사결정을 방해하는 문제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510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23.4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 fontAlgn="base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공공부문이 여러 가지 재화나 서비스를 생산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공급하고 받는 대가를 통해 일정한 재정수입을 달성해야 한다는 조건이 붙어 있는 경우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램지가격설정원칙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(Ramsey pricing rule)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수돗물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지하철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서비스를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가격에 공급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두 서비스를 국민에게 판매함으로써 일정한 재정수입을 올려야 한다는 제약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서비스를 생산하는 데 드는 비용의 함수가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주어져 있을 때 </a:t>
                </a: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제약식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  <a:r>
                  <a:rPr lang="en-US" altLang="ko-KR" sz="18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buNone/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서비스에 대한 수요는 서로 독립적인 관계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교차탄력성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0)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가정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2145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설정원칙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3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</a:t>
                </a:r>
                <a:br>
                  <a:rPr lang="en-US" altLang="ko-KR" sz="2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수요의 가격탄력성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수요의 가격탄력성이 작을수록 가격과 한계비용 사이의 격차가 상대적으로 더 커져야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2" indent="-177800">
                  <a:lnSpc>
                    <a:spcPct val="11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램지의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아이디어는 최적조세이론에도 그대로 적용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1463" indent="-271463">
                  <a:lnSpc>
                    <a:spcPct val="11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설정원칙의 문제점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효율성의 측면만을 고려해 도출한 것이기 때문에 분배적인 측면에서 문제를 일으킬 소지가 있음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하나의 공공서비스만을 놓고 이것의 적정가격이 무엇인가를 고려하는 경우라면 이 원칙을 적용할 수 없음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92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결정의 현실적 고려사항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적정한 공공요금을 산출하기 위한 첫 단계 작업은 고려 대상이 되는 재화나 서비스에 대한 수요와 비용을 파악하는 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단계에서는 어떤 원칙에 의해 공공요금을 결정할 것이라는 데 대한 결정을 내려야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재정수입 획득 사이에서 어떤 상대적 비중을 두어야 하는가는 어려운 문제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관점에서 보았을 때 적정한 공공요금이 공평성의 측면에서 문제를 내포하는 경우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그 반대의 경우도 생길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공공요금의 목적이 소득의 재분배에 있는 것은 아니나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가능한 빈곤층의 부담을 가볍게 해준다는 원칙하에서 공공요금을 부과해야 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공공요금을 통해 많은 재정수입을 올린다는 것이 적절하지 않지만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정상적인 수익마저 회수하지 못할 정도라면 자원을 비효율적으로 배분하는 결과를 빚기 쉬움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5003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결정의 현실적 고려사항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 결정에서 추가적으로 고려해야 할 사항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4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행정적인 측면에서의 단순성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공공요금의 구조가 너무 복잡하면 소비자에게 혼란을 가져다 줄뿐 아니라 행정 처리에도 많은 비용이 들어감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4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다른 부문과의 관련성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공공요금이 어떻게 결정되느냐가 물가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국제수지 등에 영향을 주기 때문에 이 점을 신중히 고려할 필요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40000"/>
              </a:lnSpc>
              <a:spcAft>
                <a:spcPts val="700"/>
              </a:spcAft>
            </a:pPr>
            <a:r>
              <a:rPr lang="ko-KR" altLang="en-US" sz="18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경제여건 변화에 대한 신축성 </a:t>
            </a:r>
            <a:r>
              <a:rPr lang="en-US" altLang="ko-KR" sz="18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경직적인 공공요금 구조로 인해 주변 여건의 변화에 적절히 대처해 나갈 수 없다면 이는 바람직한 일이 아님</a:t>
            </a:r>
            <a:endParaRPr lang="en-US" altLang="ko-KR" sz="18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9801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공공부문이 생산하는 재화와 서비스의 벡터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사람들은 이를 소비하는 데서 편익을 얻음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 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이로부터 사회 전체가 누리는 편익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생산하는 데 드는 비용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42938" lvl="1"/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재화와 서비스를 판매한 수입이 비용을 충당해야 한다는 제약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재화 혹은 서비스의 가격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 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재화와 서비스의 가격 벡터 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658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램지가격설정의 원칙은 이 재정수입의 조건을 충족시키면서 사회후생을 극대화할 수 있는 가격구조를 찾는 데 그 목적이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재정수입의 제약하에서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𝑵𝑩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극대화하는 문제를 풀면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7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𝑵𝑩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𝑷𝑿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𝑷𝑿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효용극대화 조건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한계수입과 한계비용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𝑷𝑿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𝑴𝑹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282" r="-1777" b="-1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9187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수학적 도출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spcBef>
                    <a:spcPts val="500"/>
                  </a:spcBef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성립하면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𝑴𝑹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𝑷𝑿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sz="3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  <a:p>
                <a:pPr marL="271463" indent="-271463">
                  <a:lnSpc>
                    <a:spcPct val="110000"/>
                  </a:lnSpc>
                  <a:spcBef>
                    <a:spcPts val="5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𝑷𝑿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br>
                  <a:rPr lang="en-US" altLang="ko-KR" sz="1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𝑴𝑹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b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den>
                    </m:f>
                    <m:r>
                      <a:rPr lang="en-US" altLang="ko-KR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⇒ 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램지가격설정의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원칙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조  공공요금의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462511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1712</Words>
  <Application>Microsoft Office PowerPoint</Application>
  <PresentationFormat>화면 슬라이드 쇼(4:3)</PresentationFormat>
  <Paragraphs>198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2_Office 테마</vt:lpstr>
      <vt:lpstr>제23장   공공요금의 이론</vt:lpstr>
      <vt:lpstr>23.1  공공요금 부과의 목적</vt:lpstr>
      <vt:lpstr>공공요금 부과의 목적</vt:lpstr>
      <vt:lpstr>공공요금 부과의 목적</vt:lpstr>
      <vt:lpstr>23.2  적정 공공요금의 이론 : 한계비용 가격설정</vt:lpstr>
      <vt:lpstr>적정 공공요금의 이론 : 한계비용 가격설정</vt:lpstr>
      <vt:lpstr>기존시설의 효율적 이용</vt:lpstr>
      <vt:lpstr>최적 시설규모의 선택</vt:lpstr>
      <vt:lpstr>최적 시설규모의 선택</vt:lpstr>
      <vt:lpstr>23.3  한계비용 가격설정 방식의 문제점</vt:lpstr>
      <vt:lpstr>대처방안 : 일반재원에 의한 충당</vt:lpstr>
      <vt:lpstr>대처방안 : 평균비용 가격설정</vt:lpstr>
      <vt:lpstr>대처방안 : 가격차별</vt:lpstr>
      <vt:lpstr>대처방안 : 이부가격제도</vt:lpstr>
      <vt:lpstr>23.4  램지가격</vt:lpstr>
      <vt:lpstr>램지가격</vt:lpstr>
      <vt:lpstr>23.5  공공요금 결정의 현실적 고려사항</vt:lpstr>
      <vt:lpstr>공공요금 결정의 현실적 고려사항</vt:lpstr>
      <vt:lpstr>부록 : 램지가격의 수학적 도출</vt:lpstr>
      <vt:lpstr>부록 : 램지가격의 수학적 도출</vt:lpstr>
      <vt:lpstr>부록 : 램지가격의 수학적 도출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1279</cp:revision>
  <dcterms:created xsi:type="dcterms:W3CDTF">2015-08-04T05:38:00Z</dcterms:created>
  <dcterms:modified xsi:type="dcterms:W3CDTF">2021-02-20T15:06:21Z</dcterms:modified>
</cp:coreProperties>
</file>