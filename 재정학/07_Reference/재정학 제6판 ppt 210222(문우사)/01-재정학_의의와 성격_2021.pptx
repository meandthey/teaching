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1"/>
  </p:sldMasterIdLst>
  <p:notesMasterIdLst>
    <p:notesMasterId r:id="rId28"/>
  </p:notesMasterIdLst>
  <p:handoutMasterIdLst>
    <p:handoutMasterId r:id="rId29"/>
  </p:handoutMasterIdLst>
  <p:sldIdLst>
    <p:sldId id="296" r:id="rId2"/>
    <p:sldId id="325" r:id="rId3"/>
    <p:sldId id="326" r:id="rId4"/>
    <p:sldId id="299" r:id="rId5"/>
    <p:sldId id="301" r:id="rId6"/>
    <p:sldId id="329" r:id="rId7"/>
    <p:sldId id="328" r:id="rId8"/>
    <p:sldId id="330" r:id="rId9"/>
    <p:sldId id="331" r:id="rId10"/>
    <p:sldId id="305" r:id="rId11"/>
    <p:sldId id="332" r:id="rId12"/>
    <p:sldId id="307" r:id="rId13"/>
    <p:sldId id="309" r:id="rId14"/>
    <p:sldId id="310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20" r:id="rId23"/>
    <p:sldId id="319" r:id="rId24"/>
    <p:sldId id="321" r:id="rId25"/>
    <p:sldId id="323" r:id="rId26"/>
    <p:sldId id="322" r:id="rId27"/>
  </p:sldIdLst>
  <p:sldSz cx="9144000" cy="6858000" type="screen4x3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omhmh@office.uos.ac.kr" initials="c" lastIdx="1" clrIdx="0">
    <p:extLst>
      <p:ext uri="{19B8F6BF-5375-455C-9EA6-DF929625EA0E}">
        <p15:presenceInfo xmlns:p15="http://schemas.microsoft.com/office/powerpoint/2012/main" userId="chomhmh@office.uos.ac.k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C9E8"/>
    <a:srgbClr val="6D9AC3"/>
    <a:srgbClr val="4A82B4"/>
    <a:srgbClr val="FEFBF0"/>
    <a:srgbClr val="FDF4D1"/>
    <a:srgbClr val="FD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96" autoAdjust="0"/>
    <p:restoredTop sz="96391" autoAdjust="0"/>
  </p:normalViewPr>
  <p:slideViewPr>
    <p:cSldViewPr snapToGrid="0">
      <p:cViewPr varScale="1">
        <p:scale>
          <a:sx n="91" d="100"/>
          <a:sy n="91" d="100"/>
        </p:scale>
        <p:origin x="107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pPr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pPr/>
              <a:t>2021-02-22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230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87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61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8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87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2" r:id="rId4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lang="ko-KR" altLang="en-US" sz="300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재정학 </a:t>
            </a:r>
            <a:r>
              <a:rPr lang="en-US" altLang="ko-KR" sz="300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300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의의와 성격</a:t>
            </a:r>
            <a:endParaRPr lang="ko-KR" altLang="en-US" sz="3000" dirty="0">
              <a:solidFill>
                <a:srgbClr val="6D9AC3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1.1  </a:t>
            </a:r>
            <a:r>
              <a:rPr lang="ko-KR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내용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1.2  </a:t>
            </a:r>
            <a:r>
              <a:rPr lang="ko-KR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정부란 무엇인가</a:t>
            </a:r>
            <a:r>
              <a:rPr lang="en-US" altLang="ko-KR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1.3  </a:t>
            </a:r>
            <a:r>
              <a:rPr lang="ko-KR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혼합경제와 정부의 역할</a:t>
            </a:r>
            <a:endParaRPr lang="en-US" altLang="ko-KR" sz="1600" b="1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1.4  </a:t>
            </a:r>
            <a:r>
              <a:rPr lang="ko-KR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정부의 미래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1.5  </a:t>
            </a:r>
            <a:r>
              <a:rPr lang="ko-KR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8C50A-37A9-4D89-92CB-E8330699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1.1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내용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2115BD-C1D9-4F49-A3C2-8E399876E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30400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재정학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finance)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국가재정 이외에도 정부 혹은 공공부문의 활동과 관련된 다양한 주제들에 대한 연구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과거에는 예산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같은 제도의 특성을 분석하는 데 관심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최근에는 조세나 정부지출이 경제에 미치는 영향을 이론적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실증적으로 밝히는 데 분석의 초점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응용미시경제학의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한 분야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미시경제학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가계와 기업의 선택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경제행위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A08FF-CEEF-4842-BE69-5D1A1C924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946876-51D6-43F1-AED0-CC65E527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9E09B0-0E4E-4C29-B1ED-85A19864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879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1BBD51-DF56-4ECC-8982-879D35DB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주요 관심 대상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F44CB2-B389-42F7-B73F-EA3CEB633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관심 대상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(1)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행동과 이에 대한 의사결정 과정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(2)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행동이 경제에 미치는 영향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(3)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가지 정책대안들에 대한 평가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실증적 분석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규범적 분석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실증적 분석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있는 그대로의 사실에 관한 이해 추구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규범적 분석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정책이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여부에 대한 판단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505D5-0444-4320-AEFA-CFD9E9CC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1F3465-8B63-462B-A467-8E94C48E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2723AA-9C81-4166-9345-8C7C9EF6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243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1.2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정부란 무엇인가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4000"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(government)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범위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40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세금 징수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소집영장 발부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범죄자 검거 및 징벌의 주체가 정부라는 것은 의심의 여지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40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서울메트로나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한국방송공사의 경우는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indent="-234000" latinLnBrk="0">
              <a:spcBef>
                <a:spcPts val="4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의미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40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좁은 의미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입법부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40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넓은 의미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공공기관까지 포함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80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정부부문의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국민이 직접 선출한 사람이나 이들이 임명한 사람들이 운영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국민에 대한 강제력 보유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소득의 일부를 세금으로 납부하도록 강제할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주로 비시장적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(non-market)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방법을 통해 배분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국방서비스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경찰서비스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교육서비스 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정부를 어떻게 정의하는가에 따라 정부는 위의 특징 중 일부만 가질 수도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635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95028D-9A4D-4399-9E78-641119D6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정부를 보는 견해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유기체적 견해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FD8D57-FC1C-4165-94C1-67096B514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0"/>
            <a:ext cx="7970066" cy="4754563"/>
          </a:xfrm>
        </p:spPr>
        <p:txBody>
          <a:bodyPr/>
          <a:lstStyle/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유기체적 견해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(organic view)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사회가 하나의 자연적 유기체라고 봄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개인이 유기체의 한 부분을 구성하며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그 유기체의 심장부에 해당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개인은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사회의 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부분으로서만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의미가 있으며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전체의 이익에 봉사하는 것을 개인의 미덕으로 여김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정부를 개인 위에 존재하는 우월한 존재로 인식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자유나 권리를 보장하기 위해 정부가 존재한다는 사고방식 배격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9D7BFB-86A2-4C2D-94D2-4AA8ECFC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64B7B9-43ED-4149-A80A-0E4A19E88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9C83AC-F37F-4F0D-A073-340F14A0A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708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7005E-34CC-4811-8A1E-A645A695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정부를 보는 견해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기계론적 견해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347B52-3107-4076-9F85-25E5CE781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기계론적 견해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(mechanic view)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개인 목표 달성의 편의에 의해 고안된 존재라고 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구체적으로 어떤 것이 개인에게 좋은 것이며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어떤 방법으로 이를 촉진시켜야 하는지에 대해서 이견 존재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역할은 외부의 침략을 막고 폭력으로부터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개인을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보호하는 데 그쳐야 한다는 것에  동의 </a:t>
            </a:r>
            <a:r>
              <a:rPr lang="en-US" altLang="ko-KR" sz="2000" b="1" dirty="0"/>
              <a:t>⇒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최소한의 정부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(minimal government)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이상의 역할에 대해서는 견해차 존재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(libertarian)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소극적 의미의 자유 보장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사회민주주의자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democrat)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적극적 의미의 자유 보장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C77F11-68A4-4BB4-A4CD-E51BD6174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9BE91D-BB7C-4A5A-8E63-A978F3DC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737966-3499-49A5-83DC-38ED5CAB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63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785A9-B269-4483-8DD2-F69A00AE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유기체적 견해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기계론적 견해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57630B-16D6-4A98-B2A8-95BA85435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사회에서 궁극적인 중요성을 갖는 것은 국가가 아니라 개인이라는 기본원칙에 합의</a:t>
            </a: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아무리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개인주의적인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사회라 해도 예외적인 경우에는 국가를 위해 개인이 희생될 수도 있음을 인정</a:t>
            </a: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개인과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 사이의 긴장은 필연적인 것이며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경우에 정부가 해야 할 일과 해서는 안 될 일 사이의 구분이 애매</a:t>
            </a: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결국 이 문제에 대한 해답은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경제논리뿐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아니라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정치적∙철학적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판단을 포함한 포괄적인 관점에서 찾아야 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249777-2213-48CF-8294-C20A37FE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A51FA-A4E2-420B-96F9-8E2CD20E2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77C02C-B1E2-4562-99BD-84B3744B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0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2F43D-15B8-4E78-9869-BF8720E1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1.3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혼합경제와 정부의 역할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B6DD5F-D1F0-41DC-855E-4760804F3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혼합경제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(mixed economy)</a:t>
            </a: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정부부문이 경제의 재화와 서비스 중 상당 부분을 생산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∙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민간의 경제활동에 여러 방식으로 간섭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혼합경제는 순수시장경제와 통제경제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사이에 위치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순수시장경제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(pure market economy) 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시장이 자원배분의 중심적 역할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통제경제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(command economy) 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자원배분의 중심적 역할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6A3A39-7502-45E7-86AA-94350624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C6E8FE-4E4E-45A2-8407-6660FA5D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FEB019-625F-4209-81C8-BD5B4367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342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시장기구의 한계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시장기구가 소득과 재산을 공평하게 분배해 준다는 보장이 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시장기구를 통해 경제의 안정적 성장을 이루는 데도 한계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 의한 자원배분이 효율적이지 않을 수도 있음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시장실패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(market failure)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7347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4E59E-AEFB-4DF5-B8EF-3A04EEA2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운동경기에 비유한 정부의 역할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BBF386-5306-45B7-A41D-F77CAF16F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시장경제는 가계와 기업들이 각자의 목표를 추구하는 과정에서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상호접촉한다는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측면에서 운동경기와 흡사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운동경기의 구성요소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경기자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(player),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규칙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(rule),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심판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(umpire)</a:t>
            </a:r>
          </a:p>
          <a:p>
            <a:pPr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시장에서 규칙을 정하고 이를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해석∙집행하는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심판의 역할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정부는 시장경제에 직접 참여하는 경기자의 역할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국방∙경찰서비스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교육서비스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도로 등의 사회간접자본을 직접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생산∙공급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저소득자 생계보조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 운영 등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32623-13C9-4DE4-B56D-45FE58CC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20DCA1-8B25-4495-BC84-F935A8D3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F1FCF-7857-453D-8BDF-112C565E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731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주요기능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latinLnBrk="0">
              <a:spcBef>
                <a:spcPts val="3500"/>
              </a:spcBef>
              <a:spcAft>
                <a:spcPts val="0"/>
              </a:spcAft>
              <a:buAutoNum type="arabicParenBoth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(allocation)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어떤 재화나 서비스를 직접 생산 ∙ 공급하는 일을 담당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indent="-457200" latinLnBrk="0">
              <a:spcBef>
                <a:spcPts val="3500"/>
              </a:spcBef>
              <a:spcAft>
                <a:spcPts val="0"/>
              </a:spcAft>
              <a:buAutoNum type="arabicParenBoth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(distribution)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소득분배의 실현을 위해 노력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indent="-457200" latinLnBrk="0">
              <a:spcBef>
                <a:spcPts val="3500"/>
              </a:spcBef>
              <a:spcAft>
                <a:spcPts val="0"/>
              </a:spcAft>
              <a:buAutoNum type="arabicParenBoth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(stabilization)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 자원의 완전한 고용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물가의 안정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국제수지의 균형을 달성하기 위해 여러 가지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재정∙통화정책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동원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6328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큰 정부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vs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작은 정부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혼합경제체제하에서 정부의 활동 범위는 계속 확장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사회복지와 관련 비중 급격하게 증가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정부부문의 과도한 팽창은 결코 반길 만한 일이 아님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자유와 창의 보장이라는 측면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</a:t>
            </a:r>
          </a:p>
          <a:p>
            <a:pPr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무조건 작다고 해서 좋은 정부라고 말할 수 있는 것은 아님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작은 정부에 과도하게 집착하여 반드시 수행해야 할 기능까지 포기하게 만드는 것은 바람직하지 않음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5885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큰 정부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vs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작은 정부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적절한 크기가 무엇인지에 대한 논쟁은 앞으로도 끝없이 계속될 것이 분명</a:t>
            </a: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논의의 초점이 단순히 큰 정부를 지향해야 하느냐 아니면 작은 정부를 지향해야 하느냐에 맞춰지는 것은 그리 생산적이지 않음</a:t>
            </a: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해야 할 일과 하지 말아야 할 일이 명확하게 구분되면 정부의 적절한 크기가 무엇인지에 대한 답은 저절로 나오게 될 것임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1018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규모의 측정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기준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국내총생산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(GDP)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대비 정부예산의 비율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경제의 가용자원 중 정부가 사용하는 비중을 의미</a:t>
            </a: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국내총생산 대비 정부예산의 비율만으로 정부의 규모를 평가하는 것은 적절하지 않을 수도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예산뿐만 아니라 규제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(regulation)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다양한 경로를 통해서 국민경제에 영향을 미칠 수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우리나라는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1997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말의 외환위기 이후 규제완화와 민영화를 통해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날씬한 정부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만들어야 한다는 요구 증가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1479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1.4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미래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세계화의 진전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세계화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(globalization)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진전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노동과 자본의 이동성이 급격하게 커져 국경이 실질적 의미를 갖지 못함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조세경쟁 발생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나라가 자원의 이탈을 막으려고 경쟁적으로 세율을 인하할 유인 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나라보다 더 높은 세금을 부과하는 나라는 노동과 자본이 빠져 나가는 문제에 직면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다국적기업들은 이전가격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(transfer price)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조절을 통해 세금 부담을 줄일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6008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미래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인터넷의 확산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인터넷의 확산도 조세징수를 어렵게 만드는 요인으로 작용 </a:t>
            </a: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인터넷 상거래의 경우 소매상과 같은 종래의 과세협력자를 찾기 어려움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중간단계 상인들의 존재 그 자체가 사라지는 경향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인터넷 상거래가 국경을 넘어갈 경우 어느 나라 정부가 이 거래에 대해 과세의 권리를 갖는지 불분명</a:t>
            </a: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인터넷 상거래의 대상이 되는 상품 중에는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가상상품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(virtual goods)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많이 포함되어 있어 과세가 어려울 수도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765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미래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활동영역 축소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세계화와 인터넷의 확산으로 조세징수가 점차 어려워짐에 따라 각 나라 정부는 심각한 재정 압박에 직면하게 될 가능성</a:t>
            </a: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조세수입의 급격한 감소가 정부의 활동영역 축소를 불가피하게 만든다면 우선적 감축대상은 소득재분배정책이 될 가능성 높음</a:t>
            </a: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규모의 축소를 주장하는 사람들의 주요 공격 대상이 소득재분배정책인 경우 많음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강력한 소득재분배정책은 부유한 사람들로 하여금 노동과 자본을 해외로 이동시키게 만드는 요인으로 작용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9181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1.5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근대적 의미에서 공공재정은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이탈리아의 도시국가와 독일의 자유시에서 찾아볼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본격적 의미에서의 공공재정은 그 후의 민족국가 단계에서 드러남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민족국가 등장 이전 공공행위는 군주 개인의 일로 간주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군주는 자신의 소유토지로부터 인지세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통행세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관세 등을 통해 필요한 자금 충당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귀족 및 관료조직 운영을 위한 비용 증가와 영주와의 갈등 확대과정에서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유통세 등 간접세에 대한 의존 증가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3463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공공재정에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원초적 형태의 논의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스콜라학파의 저술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17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중상주의자들의 저술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페티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Petty),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로크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Locke),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흄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(D. Hume) </a:t>
            </a: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근대적 의미에서의 재정학이라는 분야가 처음 정립된 것은 스미스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Smith)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시대에 이르러서라고 말할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공공재정의 문제가 경제학자들의 주요 과제 중 하나로 정착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리카도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(D. Ricardo),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S. Mill),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Marshall)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2706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스미스 시대 이래로 바람직한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 많은 관심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조세제도의 요건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조세부담이 납세자들 사이에서 공평하게 분배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조세부담이란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⇒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혜택에 비례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능력에 비례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스미스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적은 행정비용을 요구하는 것이 효율적 제도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뒤피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Dupuit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Marshall):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초과부담에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논의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1004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후반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재정학은 후생경제학이라고 불리는 분야와 밀접한 연관을 맺으면서 발전	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후생경제학의 이론들은 정부의 경제적 역할을 논의할 때 유용하게 활용될 수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피구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Pigou) 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후생경제학의 발전에 지대한 영향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291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(V. Pareto)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대표되는 이탈리아학파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지출 측면에 관심의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초점</a:t>
            </a:r>
          </a:p>
          <a:p>
            <a:pPr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빅셀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Wicksell)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대표되는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북유럽학파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공공선택이라는 재정학의 주요 분야 개척</a:t>
            </a:r>
          </a:p>
          <a:p>
            <a:pPr latinLnBrk="0">
              <a:lnSpc>
                <a:spcPct val="120000"/>
              </a:lnSpc>
              <a:spcBef>
                <a:spcPts val="3000"/>
              </a:spcBef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1930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케인즈혁명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(Keynesian revolution)</a:t>
            </a: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관심을 후생경제학적 문제에서 경제안정과 관련된 재정의 기능으로 돌리는 계기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재정학에서 거시경제적 시각이 지배하는 추세가 한동안 지속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6747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전통적인 미시적 자원배분의 문제에 대한 연구가 다시 주류를 이루게 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애로우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드브루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Arrow and J. Debreu)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일반균형이론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후생경제학에 새로운 바람 일으키며 재정학에 커다란 영향 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1954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새무엘슨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(P. Samuelson)</a:t>
            </a:r>
          </a:p>
          <a:p>
            <a:pPr lvl="1" latinLnBrk="0">
              <a:spcAft>
                <a:spcPts val="0"/>
              </a:spcAft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『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공공지출의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순수이론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』(The Pure Theory of Public Expenditure)</a:t>
            </a: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공공재라는 개념이 엄밀한 이론적 논의의 대상이 되었고 이를 계기로 현대적 재정학의 윤곽이 잡히기 시작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2752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lnSpc>
                <a:spcPct val="140000"/>
              </a:lnSpc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공공선택이론의 폭이 넓어짐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40000"/>
              </a:lnSpc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부캐넌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털록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 and G. </a:t>
            </a:r>
            <a:r>
              <a:rPr lang="en-US" altLang="ko-KR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Tullock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 문제에 관심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40000"/>
              </a:lnSpc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스티글러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(G. Stigler) :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규제포획이론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(regulatory capture theory)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40000"/>
              </a:lnSpc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</a:t>
            </a:r>
            <a:r>
              <a:rPr lang="en-US" altLang="ko-KR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Niskanen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관료제모형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(bureaucracy model)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8648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주요 연구대상이 공공재나 그 밖의 미시적 자원배분 문제로 옮겨지고 나서야 비로소 현대 재정학이 고유한 영역을 확보할 수 있는 계기 마련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주요 연구대상이 경제안정을 위한 재정수단의 탐색에 머무른다면 거시경제학과 구분 어려움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또 다른 이름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공공경제학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(public economics)</a:t>
            </a: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주요 관심분야가 정부 혹은 공공부문의 경제적 행위를 분석하는 데 있다는 사실을 명백하게 드러내 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302367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2225</TotalTime>
  <Words>1741</Words>
  <Application>Microsoft Office PowerPoint</Application>
  <PresentationFormat>화면 슬라이드 쇼(4:3)</PresentationFormat>
  <Paragraphs>235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나눔고딕</vt:lpstr>
      <vt:lpstr>나눔고딕 ExtraBold</vt:lpstr>
      <vt:lpstr>맑은 고딕</vt:lpstr>
      <vt:lpstr>Arial</vt:lpstr>
      <vt:lpstr>Calibri</vt:lpstr>
      <vt:lpstr>Wingdings</vt:lpstr>
      <vt:lpstr>1_Office 테마</vt:lpstr>
      <vt:lpstr>제1장   재정학 : 의의와 성격</vt:lpstr>
      <vt:lpstr>1.1  재정학 연구의 내용</vt:lpstr>
      <vt:lpstr>재정학의 주요 관심 대상</vt:lpstr>
      <vt:lpstr>1.2  정부란 무엇인가?</vt:lpstr>
      <vt:lpstr>정부부문의 특징</vt:lpstr>
      <vt:lpstr>정부를 보는 견해 : 유기체적 견해</vt:lpstr>
      <vt:lpstr>정부를 보는 견해 : 기계론적 견해</vt:lpstr>
      <vt:lpstr>유기체적 견해 vs 기계론적 견해</vt:lpstr>
      <vt:lpstr>1.3  혼합경제와 정부의 역할</vt:lpstr>
      <vt:lpstr>시장기구의 한계</vt:lpstr>
      <vt:lpstr>운동경기에 비유한 정부의 역할</vt:lpstr>
      <vt:lpstr>정부의 3대 주요기능</vt:lpstr>
      <vt:lpstr>큰 정부 vs 작은 정부</vt:lpstr>
      <vt:lpstr>큰 정부 vs 작은 정부</vt:lpstr>
      <vt:lpstr>정부 규모의 측정</vt:lpstr>
      <vt:lpstr>1.4  정부의 미래 : 세계화의 진전</vt:lpstr>
      <vt:lpstr>정부의 미래 : 인터넷의 확산</vt:lpstr>
      <vt:lpstr>정부의 미래 : 정부의 활동영역 축소</vt:lpstr>
      <vt:lpstr>1.5  재정학 연구의 역사</vt:lpstr>
      <vt:lpstr>재정학 연구의 역사</vt:lpstr>
      <vt:lpstr>재정학 연구의 역사</vt:lpstr>
      <vt:lpstr>재정학 연구의 역사</vt:lpstr>
      <vt:lpstr>재정학 연구의 역사</vt:lpstr>
      <vt:lpstr>재정학 연구의 역사</vt:lpstr>
      <vt:lpstr>재정학 연구의 역사</vt:lpstr>
      <vt:lpstr>재정학 연구의 역사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626</cp:revision>
  <cp:lastPrinted>2020-10-06T06:59:05Z</cp:lastPrinted>
  <dcterms:created xsi:type="dcterms:W3CDTF">2015-08-04T05:38:00Z</dcterms:created>
  <dcterms:modified xsi:type="dcterms:W3CDTF">2021-02-21T15:07:34Z</dcterms:modified>
</cp:coreProperties>
</file>