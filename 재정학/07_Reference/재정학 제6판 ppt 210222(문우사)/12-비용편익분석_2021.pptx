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>
  <p:sldMasterIdLst>
    <p:sldMasterId id="2147483713" r:id="rId1"/>
  </p:sldMasterIdLst>
  <p:notesMasterIdLst>
    <p:notesMasterId r:id="rId40"/>
  </p:notesMasterIdLst>
  <p:handoutMasterIdLst>
    <p:handoutMasterId r:id="rId41"/>
  </p:handoutMasterIdLst>
  <p:sldIdLst>
    <p:sldId id="296" r:id="rId2"/>
    <p:sldId id="258" r:id="rId3"/>
    <p:sldId id="259" r:id="rId4"/>
    <p:sldId id="261" r:id="rId5"/>
    <p:sldId id="263" r:id="rId6"/>
    <p:sldId id="264" r:id="rId7"/>
    <p:sldId id="265" r:id="rId8"/>
    <p:sldId id="308" r:id="rId9"/>
    <p:sldId id="267" r:id="rId10"/>
    <p:sldId id="268" r:id="rId11"/>
    <p:sldId id="269" r:id="rId12"/>
    <p:sldId id="309" r:id="rId13"/>
    <p:sldId id="271" r:id="rId14"/>
    <p:sldId id="311" r:id="rId15"/>
    <p:sldId id="272" r:id="rId16"/>
    <p:sldId id="274" r:id="rId17"/>
    <p:sldId id="275" r:id="rId18"/>
    <p:sldId id="276" r:id="rId19"/>
    <p:sldId id="277" r:id="rId20"/>
    <p:sldId id="313" r:id="rId21"/>
    <p:sldId id="279" r:id="rId22"/>
    <p:sldId id="280" r:id="rId23"/>
    <p:sldId id="281" r:id="rId24"/>
    <p:sldId id="283" r:id="rId25"/>
    <p:sldId id="284" r:id="rId26"/>
    <p:sldId id="314" r:id="rId27"/>
    <p:sldId id="285" r:id="rId28"/>
    <p:sldId id="287" r:id="rId29"/>
    <p:sldId id="290" r:id="rId30"/>
    <p:sldId id="292" r:id="rId31"/>
    <p:sldId id="294" r:id="rId32"/>
    <p:sldId id="295" r:id="rId33"/>
    <p:sldId id="298" r:id="rId34"/>
    <p:sldId id="299" r:id="rId35"/>
    <p:sldId id="300" r:id="rId36"/>
    <p:sldId id="301" r:id="rId37"/>
    <p:sldId id="302" r:id="rId38"/>
    <p:sldId id="316" r:id="rId39"/>
  </p:sldIdLst>
  <p:sldSz cx="9144000" cy="6858000" type="screen4x3"/>
  <p:notesSz cx="6858000" cy="9144000"/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288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6D9AC3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2673" autoAdjust="0"/>
    <p:restoredTop sz="94660"/>
  </p:normalViewPr>
  <p:slideViewPr>
    <p:cSldViewPr snapToGrid="0">
      <p:cViewPr varScale="1">
        <p:scale>
          <a:sx n="91" d="100"/>
          <a:sy n="91" d="100"/>
        </p:scale>
        <p:origin x="1181" y="62"/>
      </p:cViewPr>
      <p:guideLst>
        <p:guide orient="horz" pos="2160"/>
        <p:guide pos="2880"/>
      </p:guideLst>
    </p:cSldViewPr>
  </p:slideViewPr>
  <p:notesTextViewPr>
    <p:cViewPr>
      <p:scale>
        <a:sx n="3" d="2"/>
        <a:sy n="3" d="2"/>
      </p:scale>
      <p:origin x="0" y="0"/>
    </p:cViewPr>
  </p:notesTextViewPr>
  <p:sorterViewPr>
    <p:cViewPr>
      <p:scale>
        <a:sx n="200" d="100"/>
        <a:sy n="200" d="100"/>
      </p:scale>
      <p:origin x="0" y="-10184"/>
    </p:cViewPr>
  </p:sorter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presProps" Target="pres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41" Type="http://schemas.openxmlformats.org/officeDocument/2006/relationships/handoutMaster" Target="handoutMasters/handoutMaster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notesMaster" Target="notesMasters/notesMaster1.xml"/><Relationship Id="rId45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4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viewProps" Target="viewProps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ko-KR" altLang="en-US" dirty="0"/>
          </a:p>
        </p:txBody>
      </p:sp>
      <p:sp>
        <p:nvSpPr>
          <p:cNvPr id="3" name="날짜 개체 틀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6974EB9A-155E-47CB-BDE7-4AA3BFCC0E51}" type="datetimeFigureOut">
              <a:rPr lang="ko-KR" altLang="en-US" smtClean="0"/>
              <a:t>2021-02-21</a:t>
            </a:fld>
            <a:endParaRPr lang="ko-KR" altLang="en-US" dirty="0"/>
          </a:p>
        </p:txBody>
      </p:sp>
      <p:sp>
        <p:nvSpPr>
          <p:cNvPr id="4" name="바닥글 개체 틀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ko-KR" altLang="en-US" dirty="0"/>
          </a:p>
        </p:txBody>
      </p:sp>
      <p:sp>
        <p:nvSpPr>
          <p:cNvPr id="5" name="슬라이드 번호 개체 틀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076EE28E-5237-48A9-A4BC-4C0FE4044BF6}" type="slidenum">
              <a:rPr lang="ko-KR" altLang="en-US" smtClean="0"/>
              <a:t>‹#›</a:t>
            </a:fld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721442645"/>
      </p:ext>
    </p:extLst>
  </p:cSld>
  <p:clrMap bg1="lt1" tx1="dk1" bg2="lt2" tx2="dk2" accent1="accent1" accent2="accent2" accent3="accent3" accent4="accent4" accent5="accent5" accent6="accent6" hlink="hlink" folHlink="folHlink"/>
  <p:hf hdr="0" ftr="0" dt="0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ko-KR" altLang="en-US" dirty="0"/>
          </a:p>
        </p:txBody>
      </p:sp>
      <p:sp>
        <p:nvSpPr>
          <p:cNvPr id="3" name="날짜 개체 틀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3B9B8873-BC00-4E98-82A0-FC8387D5BC2D}" type="datetimeFigureOut">
              <a:rPr lang="ko-KR" altLang="en-US" smtClean="0"/>
              <a:t>2021-02-21</a:t>
            </a:fld>
            <a:endParaRPr lang="ko-KR" altLang="en-US" dirty="0"/>
          </a:p>
        </p:txBody>
      </p:sp>
      <p:sp>
        <p:nvSpPr>
          <p:cNvPr id="4" name="슬라이드 이미지 개체 틀 3"/>
          <p:cNvSpPr>
            <a:spLocks noGrp="1" noRot="1" noChangeAspect="1"/>
          </p:cNvSpPr>
          <p:nvPr>
            <p:ph type="sldImg" idx="2"/>
          </p:nvPr>
        </p:nvSpPr>
        <p:spPr>
          <a:xfrm>
            <a:off x="1371600" y="1143000"/>
            <a:ext cx="41148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ko-KR" altLang="en-US" dirty="0"/>
          </a:p>
        </p:txBody>
      </p:sp>
      <p:sp>
        <p:nvSpPr>
          <p:cNvPr id="5" name="슬라이드 노트 개체 틀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ko-KR" altLang="en-US" dirty="0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E0295A58-9429-4B5D-BCB7-763BD5DD4617}" type="slidenum">
              <a:rPr lang="ko-KR" altLang="en-US" smtClean="0"/>
              <a:t>‹#›</a:t>
            </a:fld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2928618819"/>
      </p:ext>
    </p:extLst>
  </p:cSld>
  <p:clrMap bg1="lt1" tx1="dk1" bg2="lt2" tx2="dk2" accent1="accent1" accent2="accent2" accent3="accent3" accent4="accent4" accent5="accent5" accent6="accent6" hlink="hlink" folHlink="folHlink"/>
  <p:hf hdr="0" ftr="0" dt="0"/>
  <p:notesStyle>
    <a:lvl1pPr marL="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E0295A58-9429-4B5D-BCB7-763BD5DD4617}" type="slidenum">
              <a:rPr lang="ko-KR" altLang="en-US" smtClean="0"/>
              <a:pPr/>
              <a:t>1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934294627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E0295A58-9429-4B5D-BCB7-763BD5DD4617}" type="slidenum">
              <a:rPr lang="ko-KR" altLang="en-US" smtClean="0"/>
              <a:t>2</a:t>
            </a:fld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3926493880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573902"/>
            <a:ext cx="7772400" cy="1330099"/>
          </a:xfrm>
        </p:spPr>
        <p:txBody>
          <a:bodyPr anchor="ctr">
            <a:normAutofit/>
          </a:bodyPr>
          <a:lstStyle>
            <a:lvl1pPr algn="ctr">
              <a:defRPr sz="3800" b="1">
                <a:solidFill>
                  <a:schemeClr val="accent5">
                    <a:lumMod val="50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나눔고딕 ExtraBold" panose="020D0904000000000000" pitchFamily="50" charset="-127"/>
                <a:ea typeface="나눔고딕 ExtraBold" panose="020D0904000000000000" pitchFamily="50" charset="-127"/>
              </a:defRPr>
            </a:lvl1pPr>
          </a:lstStyle>
          <a:p>
            <a:r>
              <a:rPr lang="ko-KR" altLang="en-US" dirty="0"/>
              <a:t>마스터 제목 스타일 편집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 b="1">
                <a:solidFill>
                  <a:schemeClr val="bg2">
                    <a:lumMod val="75000"/>
                  </a:schemeClr>
                </a:solidFill>
              </a:defRPr>
            </a:lvl1pPr>
          </a:lstStyle>
          <a:p>
            <a:r>
              <a:rPr lang="en-US" altLang="ko-KR"/>
              <a:t>PUBLIC FINANCE</a:t>
            </a:r>
            <a:endParaRPr lang="ko-KR" alt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 b="1">
                <a:solidFill>
                  <a:schemeClr val="bg2">
                    <a:lumMod val="75000"/>
                  </a:schemeClr>
                </a:solidFill>
              </a:defRPr>
            </a:lvl1pPr>
          </a:lstStyle>
          <a:p>
            <a:r>
              <a:rPr lang="ko-KR" altLang="en-US"/>
              <a:t>제</a:t>
            </a:r>
            <a:r>
              <a:rPr lang="en-US" altLang="ko-KR"/>
              <a:t>1</a:t>
            </a:r>
            <a:r>
              <a:rPr lang="ko-KR" altLang="en-US"/>
              <a:t>장  재정학</a:t>
            </a:r>
            <a:r>
              <a:rPr lang="en-US" altLang="ko-KR"/>
              <a:t>: </a:t>
            </a:r>
            <a:r>
              <a:rPr lang="ko-KR" altLang="en-US"/>
              <a:t>의의와 성격</a:t>
            </a:r>
            <a:endParaRPr lang="ko-KR" alt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 b="1">
                <a:solidFill>
                  <a:schemeClr val="bg2">
                    <a:lumMod val="75000"/>
                  </a:schemeClr>
                </a:solidFill>
              </a:defRPr>
            </a:lvl1pPr>
          </a:lstStyle>
          <a:p>
            <a:fld id="{06CA9FF6-BF29-4679-8C21-AEBAF2895125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97295411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1_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직사각형 2">
            <a:extLst>
              <a:ext uri="{FF2B5EF4-FFF2-40B4-BE49-F238E27FC236}">
                <a16:creationId xmlns:a16="http://schemas.microsoft.com/office/drawing/2014/main" id="{BD14322B-89EF-4DE6-82DD-B4948B5F2EEE}"/>
              </a:ext>
            </a:extLst>
          </p:cNvPr>
          <p:cNvSpPr/>
          <p:nvPr userDrawn="1"/>
        </p:nvSpPr>
        <p:spPr>
          <a:xfrm>
            <a:off x="0" y="0"/>
            <a:ext cx="9144000" cy="13301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258618" y="194400"/>
            <a:ext cx="8645237" cy="1332000"/>
          </a:xfrm>
          <a:solidFill>
            <a:srgbClr val="6D9AC3"/>
          </a:solidFill>
        </p:spPr>
        <p:txBody>
          <a:bodyPr anchor="ctr">
            <a:normAutofit/>
          </a:bodyPr>
          <a:lstStyle>
            <a:lvl1pPr algn="ctr">
              <a:defRPr sz="3800" b="1" baseline="0">
                <a:solidFill>
                  <a:schemeClr val="tx1"/>
                </a:solidFill>
                <a:effectLst/>
                <a:latin typeface="나눔고딕 ExtraBold" panose="020D0904000000000000" pitchFamily="50" charset="-127"/>
                <a:ea typeface="나눔고딕 ExtraBold" panose="020D0904000000000000" pitchFamily="50" charset="-127"/>
              </a:defRPr>
            </a:lvl1pPr>
          </a:lstStyle>
          <a:p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 b="1">
                <a:solidFill>
                  <a:schemeClr val="bg2">
                    <a:lumMod val="75000"/>
                  </a:schemeClr>
                </a:solidFill>
              </a:defRPr>
            </a:lvl1pPr>
          </a:lstStyle>
          <a:p>
            <a:r>
              <a:rPr lang="ko-KR" altLang="en-US"/>
              <a:t>재정학</a:t>
            </a: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 b="1">
                <a:solidFill>
                  <a:schemeClr val="bg2">
                    <a:lumMod val="75000"/>
                  </a:schemeClr>
                </a:solidFill>
              </a:defRPr>
            </a:lvl1pPr>
          </a:lstStyle>
          <a:p>
            <a:r>
              <a:rPr lang="ko-KR" altLang="en-US"/>
              <a:t>제</a:t>
            </a:r>
            <a:r>
              <a:rPr lang="en-US" altLang="ko-KR"/>
              <a:t>2</a:t>
            </a:r>
            <a:r>
              <a:rPr lang="ko-KR" altLang="en-US"/>
              <a:t>장  우리나라의 재정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 b="1">
                <a:solidFill>
                  <a:schemeClr val="bg2">
                    <a:lumMod val="75000"/>
                  </a:schemeClr>
                </a:solidFill>
              </a:defRPr>
            </a:lvl1pPr>
          </a:lstStyle>
          <a:p>
            <a:fld id="{06CA9FF6-BF29-4679-8C21-AEBAF2895125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39940213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373557"/>
            <a:ext cx="9144000" cy="711200"/>
          </a:xfrm>
        </p:spPr>
        <p:txBody>
          <a:bodyPr>
            <a:normAutofit/>
          </a:bodyPr>
          <a:lstStyle>
            <a:lvl1pPr>
              <a:defRPr sz="3200" b="1">
                <a:solidFill>
                  <a:schemeClr val="tx1"/>
                </a:solidFill>
                <a:effectLst/>
                <a:latin typeface="나눔고딕 ExtraBold" panose="020D0904000000000000" pitchFamily="50" charset="-127"/>
                <a:ea typeface="나눔고딕 ExtraBold" panose="020D0904000000000000" pitchFamily="50" charset="-127"/>
              </a:defRPr>
            </a:lvl1pPr>
          </a:lstStyle>
          <a:p>
            <a:r>
              <a:rPr lang="ko-KR" altLang="en-US" dirty="0"/>
              <a:t>마스터 제목 스타일 편집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 hasCustomPrompt="1"/>
          </p:nvPr>
        </p:nvSpPr>
        <p:spPr>
          <a:xfrm>
            <a:off x="628650" y="1422400"/>
            <a:ext cx="7886700" cy="4754563"/>
          </a:xfrm>
        </p:spPr>
        <p:txBody>
          <a:bodyPr anchor="ctr">
            <a:normAutofit/>
          </a:bodyPr>
          <a:lstStyle>
            <a:lvl1pPr>
              <a:lnSpc>
                <a:spcPct val="130000"/>
              </a:lnSpc>
              <a:spcAft>
                <a:spcPts val="400"/>
              </a:spcAft>
              <a:buClr>
                <a:schemeClr val="accent1"/>
              </a:buClr>
              <a:defRPr sz="2000" b="1">
                <a:solidFill>
                  <a:schemeClr val="tx1"/>
                </a:solidFill>
                <a:latin typeface="나눔고딕" panose="020D0604000000000000" pitchFamily="50" charset="-127"/>
                <a:ea typeface="나눔고딕" panose="020D0604000000000000" pitchFamily="50" charset="-127"/>
              </a:defRPr>
            </a:lvl1pPr>
            <a:lvl2pPr>
              <a:lnSpc>
                <a:spcPct val="130000"/>
              </a:lnSpc>
              <a:spcAft>
                <a:spcPts val="400"/>
              </a:spcAft>
              <a:buClr>
                <a:schemeClr val="accent1"/>
              </a:buClr>
              <a:defRPr sz="1800" b="1">
                <a:solidFill>
                  <a:schemeClr val="tx1"/>
                </a:solidFill>
                <a:latin typeface="나눔고딕" panose="020D0604000000000000" pitchFamily="50" charset="-127"/>
                <a:ea typeface="나눔고딕" panose="020D0604000000000000" pitchFamily="50" charset="-127"/>
              </a:defRPr>
            </a:lvl2pPr>
            <a:lvl3pPr>
              <a:lnSpc>
                <a:spcPct val="130000"/>
              </a:lnSpc>
              <a:spcAft>
                <a:spcPts val="400"/>
              </a:spcAft>
              <a:buClr>
                <a:schemeClr val="accent1"/>
              </a:buClr>
              <a:defRPr sz="1800" b="1">
                <a:solidFill>
                  <a:schemeClr val="tx1"/>
                </a:solidFill>
                <a:latin typeface="나눔고딕" panose="020D0604000000000000" pitchFamily="50" charset="-127"/>
                <a:ea typeface="나눔고딕" panose="020D0604000000000000" pitchFamily="50" charset="-127"/>
              </a:defRPr>
            </a:lvl3pPr>
            <a:lvl4pPr>
              <a:lnSpc>
                <a:spcPct val="130000"/>
              </a:lnSpc>
              <a:spcAft>
                <a:spcPts val="400"/>
              </a:spcAft>
              <a:buClr>
                <a:schemeClr val="accent1"/>
              </a:buClr>
              <a:defRPr sz="1800" b="1">
                <a:solidFill>
                  <a:schemeClr val="tx1"/>
                </a:solidFill>
                <a:latin typeface="나눔고딕" panose="020D0604000000000000" pitchFamily="50" charset="-127"/>
                <a:ea typeface="나눔고딕" panose="020D0604000000000000" pitchFamily="50" charset="-127"/>
              </a:defRPr>
            </a:lvl4pPr>
            <a:lvl5pPr>
              <a:lnSpc>
                <a:spcPct val="130000"/>
              </a:lnSpc>
              <a:spcAft>
                <a:spcPts val="400"/>
              </a:spcAft>
              <a:buClr>
                <a:schemeClr val="accent1"/>
              </a:buClr>
              <a:defRPr sz="1800" b="1">
                <a:solidFill>
                  <a:schemeClr val="tx1"/>
                </a:solidFill>
                <a:latin typeface="나눔고딕" panose="020D0604000000000000" pitchFamily="50" charset="-127"/>
                <a:ea typeface="나눔고딕" panose="020D0604000000000000" pitchFamily="50" charset="-127"/>
              </a:defRPr>
            </a:lvl5pPr>
          </a:lstStyle>
          <a:p>
            <a:pPr lvl="0"/>
            <a:r>
              <a:rPr lang="ko-KR" altLang="en-US" dirty="0"/>
              <a:t>마스터 텍스트 스타일을 편집합니다</a:t>
            </a:r>
          </a:p>
          <a:p>
            <a:pPr lvl="1"/>
            <a:r>
              <a:rPr lang="ko-KR" altLang="en-US" dirty="0"/>
              <a:t>둘째 수준</a:t>
            </a:r>
          </a:p>
          <a:p>
            <a:pPr lvl="2"/>
            <a:r>
              <a:rPr lang="ko-KR" altLang="en-US" dirty="0"/>
              <a:t>셋째 수준</a:t>
            </a:r>
          </a:p>
          <a:p>
            <a:pPr lvl="3"/>
            <a:r>
              <a:rPr lang="ko-KR" altLang="en-US" dirty="0"/>
              <a:t>넷째 수준</a:t>
            </a:r>
          </a:p>
          <a:p>
            <a:pPr lvl="4"/>
            <a:r>
              <a:rPr lang="ko-KR" altLang="en-US" dirty="0"/>
              <a:t>다섯째 수준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 b="1">
                <a:solidFill>
                  <a:schemeClr val="bg1">
                    <a:lumMod val="7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r>
              <a:rPr lang="en-US" altLang="ko-KR"/>
              <a:t>PUBLIC FINANCE</a:t>
            </a:r>
            <a:endParaRPr lang="ko-KR" alt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 b="1">
                <a:solidFill>
                  <a:schemeClr val="bg1">
                    <a:lumMod val="7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r>
              <a:rPr lang="ko-KR" altLang="en-US"/>
              <a:t>제</a:t>
            </a:r>
            <a:r>
              <a:rPr lang="en-US" altLang="ko-KR"/>
              <a:t>1</a:t>
            </a:r>
            <a:r>
              <a:rPr lang="ko-KR" altLang="en-US"/>
              <a:t>장  재정학</a:t>
            </a:r>
            <a:r>
              <a:rPr lang="en-US" altLang="ko-KR"/>
              <a:t>: </a:t>
            </a:r>
            <a:r>
              <a:rPr lang="ko-KR" altLang="en-US"/>
              <a:t>의의와 성격</a:t>
            </a:r>
            <a:endParaRPr lang="ko-KR" alt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 b="1">
                <a:solidFill>
                  <a:schemeClr val="bg1">
                    <a:lumMod val="7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fld id="{06CA9FF6-BF29-4679-8C21-AEBAF2895125}" type="slidenum">
              <a:rPr lang="ko-KR" altLang="en-US" smtClean="0"/>
              <a:pPr/>
              <a:t>‹#›</a:t>
            </a:fld>
            <a:endParaRPr lang="ko-KR" altLang="en-US"/>
          </a:p>
        </p:txBody>
      </p:sp>
      <p:cxnSp>
        <p:nvCxnSpPr>
          <p:cNvPr id="8" name="직선 연결선 7">
            <a:extLst>
              <a:ext uri="{FF2B5EF4-FFF2-40B4-BE49-F238E27FC236}">
                <a16:creationId xmlns:a16="http://schemas.microsoft.com/office/drawing/2014/main" id="{AC9FBE22-6673-4F8B-81FC-4C6C25369B23}"/>
              </a:ext>
            </a:extLst>
          </p:cNvPr>
          <p:cNvCxnSpPr/>
          <p:nvPr userDrawn="1"/>
        </p:nvCxnSpPr>
        <p:spPr>
          <a:xfrm>
            <a:off x="628650" y="1259382"/>
            <a:ext cx="7886700" cy="0"/>
          </a:xfrm>
          <a:prstGeom prst="line">
            <a:avLst/>
          </a:prstGeom>
          <a:ln w="57150">
            <a:solidFill>
              <a:srgbClr val="A6C9E8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48589352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직사각형 8"/>
          <p:cNvSpPr/>
          <p:nvPr userDrawn="1"/>
        </p:nvSpPr>
        <p:spPr>
          <a:xfrm>
            <a:off x="0" y="1311928"/>
            <a:ext cx="9144000" cy="5546072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0" y="338622"/>
            <a:ext cx="9144000" cy="7112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 dirty="0"/>
              <a:t>마스터 제목 스타일 편집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8650" y="1422400"/>
            <a:ext cx="7886700" cy="4754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 lvl="0"/>
            <a:r>
              <a:rPr lang="ko-KR" altLang="en-US" dirty="0"/>
              <a:t>마스터 텍스트 스타일을 편집합니다</a:t>
            </a:r>
          </a:p>
          <a:p>
            <a:pPr lvl="1"/>
            <a:r>
              <a:rPr lang="ko-KR" altLang="en-US" dirty="0"/>
              <a:t>둘째 수준</a:t>
            </a:r>
          </a:p>
          <a:p>
            <a:pPr lvl="2"/>
            <a:r>
              <a:rPr lang="ko-KR" altLang="en-US" dirty="0"/>
              <a:t>셋째 수준</a:t>
            </a:r>
          </a:p>
          <a:p>
            <a:pPr lvl="3"/>
            <a:r>
              <a:rPr lang="ko-KR" altLang="en-US" dirty="0"/>
              <a:t>넷째 수준</a:t>
            </a:r>
          </a:p>
          <a:p>
            <a:pPr lvl="4"/>
            <a:r>
              <a:rPr lang="ko-KR" altLang="en-US" dirty="0"/>
              <a:t>다섯째 수준</a:t>
            </a:r>
            <a:endParaRPr lang="en-US" altLang="ko-KR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28650" y="6356351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 b="1">
                <a:solidFill>
                  <a:schemeClr val="bg1">
                    <a:lumMod val="7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r>
              <a:rPr lang="en-US" altLang="ko-KR"/>
              <a:t>PUBLIC FINANCE</a:t>
            </a:r>
            <a:endParaRPr lang="ko-KR" alt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028950" y="6356351"/>
            <a:ext cx="30861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 b="1">
                <a:solidFill>
                  <a:schemeClr val="bg1">
                    <a:lumMod val="7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r>
              <a:rPr lang="ko-KR" altLang="en-US" dirty="0"/>
              <a:t>제</a:t>
            </a:r>
            <a:r>
              <a:rPr lang="en-US" altLang="ko-KR" dirty="0"/>
              <a:t>1</a:t>
            </a:r>
            <a:r>
              <a:rPr lang="ko-KR" altLang="en-US" dirty="0"/>
              <a:t>장 재정학 </a:t>
            </a:r>
            <a:r>
              <a:rPr lang="en-US" altLang="ko-KR" dirty="0"/>
              <a:t>: </a:t>
            </a:r>
            <a:r>
              <a:rPr lang="ko-KR" altLang="en-US" dirty="0"/>
              <a:t>의의와 성격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457950" y="6356351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 b="1">
                <a:solidFill>
                  <a:schemeClr val="bg1">
                    <a:lumMod val="7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fld id="{06CA9FF6-BF29-4679-8C21-AEBAF2895125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14448827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14" r:id="rId1"/>
    <p:sldLayoutId id="2147483715" r:id="rId2"/>
    <p:sldLayoutId id="2147483716" r:id="rId3"/>
  </p:sldLayoutIdLst>
  <p:hf hdr="0"/>
  <p:txStyles>
    <p:titleStyle>
      <a:lvl1pPr algn="ctr" defTabSz="914400" rtl="0" eaLnBrk="1" latinLnBrk="1" hangingPunct="1">
        <a:lnSpc>
          <a:spcPct val="90000"/>
        </a:lnSpc>
        <a:spcBef>
          <a:spcPct val="0"/>
        </a:spcBef>
        <a:buNone/>
        <a:defRPr sz="3200" b="1" kern="1200">
          <a:solidFill>
            <a:schemeClr val="tx1"/>
          </a:solidFill>
          <a:effectLst/>
          <a:latin typeface="나눔고딕 ExtraBold" panose="020D0904000000000000" pitchFamily="50" charset="-127"/>
          <a:ea typeface="나눔고딕 ExtraBold" panose="020D0904000000000000" pitchFamily="50" charset="-127"/>
          <a:cs typeface="+mj-cs"/>
        </a:defRPr>
      </a:lvl1pPr>
    </p:titleStyle>
    <p:bodyStyle>
      <a:lvl1pPr marL="228600" indent="-228600" algn="l" defTabSz="914400" rtl="0" eaLnBrk="1" latinLnBrk="1" hangingPunct="1">
        <a:lnSpc>
          <a:spcPct val="130000"/>
        </a:lnSpc>
        <a:spcBef>
          <a:spcPts val="1000"/>
        </a:spcBef>
        <a:spcAft>
          <a:spcPts val="400"/>
        </a:spcAft>
        <a:buFont typeface="Wingdings" panose="05000000000000000000" pitchFamily="2" charset="2"/>
        <a:buChar char="§"/>
        <a:defRPr sz="2000" kern="1200">
          <a:solidFill>
            <a:schemeClr val="tx1"/>
          </a:solidFill>
          <a:latin typeface="나눔고딕" panose="020D0604000000000000" pitchFamily="50" charset="-127"/>
          <a:ea typeface="나눔고딕" panose="020D0604000000000000" pitchFamily="50" charset="-127"/>
          <a:cs typeface="+mn-cs"/>
        </a:defRPr>
      </a:lvl1pPr>
      <a:lvl2pPr marL="685800" indent="-228600" algn="l" defTabSz="914400" rtl="0" eaLnBrk="1" latinLnBrk="1" hangingPunct="1">
        <a:lnSpc>
          <a:spcPct val="130000"/>
        </a:lnSpc>
        <a:spcBef>
          <a:spcPts val="500"/>
        </a:spcBef>
        <a:spcAft>
          <a:spcPts val="400"/>
        </a:spcAft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나눔고딕" panose="020D0604000000000000" pitchFamily="50" charset="-127"/>
          <a:ea typeface="나눔고딕" panose="020D0604000000000000" pitchFamily="50" charset="-127"/>
          <a:cs typeface="+mn-cs"/>
        </a:defRPr>
      </a:lvl2pPr>
      <a:lvl3pPr marL="1143000" indent="-228600" algn="l" defTabSz="914400" rtl="0" eaLnBrk="1" latinLnBrk="1" hangingPunct="1">
        <a:lnSpc>
          <a:spcPct val="130000"/>
        </a:lnSpc>
        <a:spcBef>
          <a:spcPts val="500"/>
        </a:spcBef>
        <a:spcAft>
          <a:spcPts val="400"/>
        </a:spcAft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나눔고딕" panose="020D0604000000000000" pitchFamily="50" charset="-127"/>
          <a:ea typeface="나눔고딕" panose="020D0604000000000000" pitchFamily="50" charset="-127"/>
          <a:cs typeface="+mn-cs"/>
        </a:defRPr>
      </a:lvl3pPr>
      <a:lvl4pPr marL="1600200" indent="-228600" algn="l" defTabSz="914400" rtl="0" eaLnBrk="1" latinLnBrk="1" hangingPunct="1">
        <a:lnSpc>
          <a:spcPct val="130000"/>
        </a:lnSpc>
        <a:spcBef>
          <a:spcPts val="500"/>
        </a:spcBef>
        <a:spcAft>
          <a:spcPts val="400"/>
        </a:spcAft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나눔고딕" panose="020D0604000000000000" pitchFamily="50" charset="-127"/>
          <a:ea typeface="나눔고딕" panose="020D0604000000000000" pitchFamily="50" charset="-127"/>
          <a:cs typeface="+mn-cs"/>
        </a:defRPr>
      </a:lvl4pPr>
      <a:lvl5pPr marL="2057400" indent="-228600" algn="l" defTabSz="914400" rtl="0" eaLnBrk="1" latinLnBrk="1" hangingPunct="1">
        <a:lnSpc>
          <a:spcPct val="130000"/>
        </a:lnSpc>
        <a:spcBef>
          <a:spcPts val="500"/>
        </a:spcBef>
        <a:spcAft>
          <a:spcPts val="400"/>
        </a:spcAft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나눔고딕" panose="020D0604000000000000" pitchFamily="50" charset="-127"/>
          <a:ea typeface="나눔고딕" panose="020D0604000000000000" pitchFamily="50" charset="-127"/>
          <a:cs typeface="+mn-cs"/>
        </a:defRPr>
      </a:lvl5pPr>
      <a:lvl6pPr marL="25146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3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3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3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3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3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3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3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3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3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제목 4"/>
          <p:cNvSpPr>
            <a:spLocks noGrp="1"/>
          </p:cNvSpPr>
          <p:nvPr>
            <p:ph type="ctrTitle"/>
          </p:nvPr>
        </p:nvSpPr>
        <p:spPr>
          <a:xfrm>
            <a:off x="4572000" y="815184"/>
            <a:ext cx="5392923" cy="2500603"/>
          </a:xfrm>
          <a:noFill/>
        </p:spPr>
        <p:txBody>
          <a:bodyPr>
            <a:normAutofit/>
          </a:bodyPr>
          <a:lstStyle/>
          <a:p>
            <a:pPr algn="l">
              <a:lnSpc>
                <a:spcPct val="150000"/>
              </a:lnSpc>
            </a:pPr>
            <a:r>
              <a:rPr lang="ko-KR" altLang="en-US" sz="3000" dirty="0">
                <a:solidFill>
                  <a:srgbClr val="6D9AC3"/>
                </a:solidFill>
                <a:latin typeface="나눔고딕 ExtraBold" panose="020D0904000000000000" pitchFamily="50" charset="-127"/>
                <a:ea typeface="나눔고딕 ExtraBold" panose="020D0904000000000000" pitchFamily="50" charset="-127"/>
              </a:rPr>
              <a:t>제</a:t>
            </a:r>
            <a:r>
              <a:rPr lang="en-US" altLang="ko-KR" sz="3000" dirty="0">
                <a:solidFill>
                  <a:srgbClr val="6D9AC3"/>
                </a:solidFill>
                <a:latin typeface="나눔고딕 ExtraBold" panose="020D0904000000000000" pitchFamily="50" charset="-127"/>
                <a:ea typeface="나눔고딕 ExtraBold" panose="020D0904000000000000" pitchFamily="50" charset="-127"/>
              </a:rPr>
              <a:t>12</a:t>
            </a:r>
            <a:r>
              <a:rPr lang="ko-KR" altLang="en-US" sz="3000" dirty="0">
                <a:solidFill>
                  <a:srgbClr val="6D9AC3"/>
                </a:solidFill>
                <a:latin typeface="나눔고딕 ExtraBold" panose="020D0904000000000000" pitchFamily="50" charset="-127"/>
                <a:ea typeface="나눔고딕 ExtraBold" panose="020D0904000000000000" pitchFamily="50" charset="-127"/>
              </a:rPr>
              <a:t>장  </a:t>
            </a:r>
            <a:br>
              <a:rPr lang="en-US" altLang="ko-KR" sz="3000" dirty="0">
                <a:solidFill>
                  <a:srgbClr val="6D9AC3"/>
                </a:solidFill>
                <a:latin typeface="나눔고딕 ExtraBold" panose="020D0904000000000000" pitchFamily="50" charset="-127"/>
                <a:ea typeface="나눔고딕 ExtraBold" panose="020D0904000000000000" pitchFamily="50" charset="-127"/>
              </a:rPr>
            </a:br>
            <a:r>
              <a:rPr lang="ko-KR" altLang="en-US" sz="3000" dirty="0">
                <a:solidFill>
                  <a:srgbClr val="6D9AC3"/>
                </a:solidFill>
                <a:latin typeface="나눔고딕 ExtraBold" panose="020D0904000000000000" pitchFamily="50" charset="-127"/>
                <a:ea typeface="나눔고딕 ExtraBold" panose="020D0904000000000000" pitchFamily="50" charset="-127"/>
              </a:rPr>
              <a:t>비용편익분석</a:t>
            </a:r>
          </a:p>
        </p:txBody>
      </p:sp>
      <p:sp>
        <p:nvSpPr>
          <p:cNvPr id="6" name="내용 개체 틀 2"/>
          <p:cNvSpPr txBox="1">
            <a:spLocks/>
          </p:cNvSpPr>
          <p:nvPr/>
        </p:nvSpPr>
        <p:spPr>
          <a:xfrm>
            <a:off x="4572000" y="3429000"/>
            <a:ext cx="4572000" cy="2500604"/>
          </a:xfrm>
          <a:prstGeom prst="rect">
            <a:avLst/>
          </a:prstGeom>
        </p:spPr>
        <p:txBody>
          <a:bodyPr/>
          <a:lstStyle>
            <a:lvl1pPr marL="228600" indent="-228600" algn="l" defTabSz="914400" rtl="0" eaLnBrk="1" latinLnBrk="1" hangingPunct="1">
              <a:lnSpc>
                <a:spcPct val="130000"/>
              </a:lnSpc>
              <a:spcBef>
                <a:spcPts val="1000"/>
              </a:spcBef>
              <a:spcAft>
                <a:spcPts val="400"/>
              </a:spcAft>
              <a:buFont typeface="Wingdings" panose="05000000000000000000" pitchFamily="2" charset="2"/>
              <a:buChar char="§"/>
              <a:defRPr sz="2200" kern="12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defRPr>
            </a:lvl1pPr>
            <a:lvl2pPr marL="685800" indent="-228600" algn="l" defTabSz="914400" rtl="0" eaLnBrk="1" latinLnBrk="1" hangingPunct="1">
              <a:lnSpc>
                <a:spcPct val="130000"/>
              </a:lnSpc>
              <a:spcBef>
                <a:spcPts val="500"/>
              </a:spcBef>
              <a:spcAft>
                <a:spcPts val="400"/>
              </a:spcAft>
              <a:buFont typeface="Arial" panose="020B0604020202020204" pitchFamily="34" charset="0"/>
              <a:buChar char="•"/>
              <a:defRPr sz="2200" kern="12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defRPr>
            </a:lvl2pPr>
            <a:lvl3pPr marL="1143000" indent="-228600" algn="l" defTabSz="914400" rtl="0" eaLnBrk="1" latinLnBrk="1" hangingPunct="1">
              <a:lnSpc>
                <a:spcPct val="130000"/>
              </a:lnSpc>
              <a:spcBef>
                <a:spcPts val="500"/>
              </a:spcBef>
              <a:spcAft>
                <a:spcPts val="400"/>
              </a:spcAft>
              <a:buFont typeface="Arial" panose="020B0604020202020204" pitchFamily="34" charset="0"/>
              <a:buChar char="•"/>
              <a:defRPr sz="2200" kern="12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defRPr>
            </a:lvl3pPr>
            <a:lvl4pPr marL="1600200" indent="-228600" algn="l" defTabSz="914400" rtl="0" eaLnBrk="1" latinLnBrk="1" hangingPunct="1">
              <a:lnSpc>
                <a:spcPct val="130000"/>
              </a:lnSpc>
              <a:spcBef>
                <a:spcPts val="500"/>
              </a:spcBef>
              <a:spcAft>
                <a:spcPts val="400"/>
              </a:spcAft>
              <a:buFont typeface="Arial" panose="020B0604020202020204" pitchFamily="34" charset="0"/>
              <a:buChar char="•"/>
              <a:defRPr sz="2200" kern="12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defRPr>
            </a:lvl4pPr>
            <a:lvl5pPr marL="2057400" indent="-228600" algn="l" defTabSz="914400" rtl="0" eaLnBrk="1" latinLnBrk="1" hangingPunct="1">
              <a:lnSpc>
                <a:spcPct val="130000"/>
              </a:lnSpc>
              <a:spcBef>
                <a:spcPts val="500"/>
              </a:spcBef>
              <a:spcAft>
                <a:spcPts val="400"/>
              </a:spcAft>
              <a:buFont typeface="Arial" panose="020B0604020202020204" pitchFamily="34" charset="0"/>
              <a:buChar char="•"/>
              <a:defRPr sz="2200" kern="12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defRPr>
            </a:lvl5pPr>
            <a:lvl6pPr marL="25146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ct val="100000"/>
              </a:lnSpc>
              <a:buNone/>
            </a:pPr>
            <a:r>
              <a:rPr lang="en-US" altLang="ko-KR" sz="16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12.1  </a:t>
            </a:r>
            <a:r>
              <a:rPr lang="ko-KR" altLang="en-US" sz="16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민간부문의 비용편익분석</a:t>
            </a:r>
          </a:p>
          <a:p>
            <a:pPr marL="0" indent="0">
              <a:lnSpc>
                <a:spcPct val="100000"/>
              </a:lnSpc>
              <a:buNone/>
            </a:pPr>
            <a:r>
              <a:rPr lang="en-US" altLang="ko-KR" sz="16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12.2  </a:t>
            </a:r>
            <a:r>
              <a:rPr lang="ko-KR" altLang="en-US" sz="16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공공부문의 비용편익분석</a:t>
            </a:r>
          </a:p>
          <a:p>
            <a:pPr marL="0" indent="0">
              <a:lnSpc>
                <a:spcPct val="100000"/>
              </a:lnSpc>
              <a:buNone/>
            </a:pPr>
            <a:r>
              <a:rPr lang="en-US" altLang="ko-KR" sz="16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12.3  </a:t>
            </a:r>
            <a:r>
              <a:rPr lang="ko-KR" altLang="en-US" sz="16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편익과 비용의 평가기준</a:t>
            </a:r>
          </a:p>
          <a:p>
            <a:pPr marL="0" indent="0">
              <a:lnSpc>
                <a:spcPct val="100000"/>
              </a:lnSpc>
              <a:buNone/>
            </a:pPr>
            <a:r>
              <a:rPr lang="en-US" altLang="ko-KR" sz="16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12.4  </a:t>
            </a:r>
            <a:r>
              <a:rPr lang="ko-KR" altLang="en-US" sz="16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특수한 상황에서의 편익과 비용의 평가</a:t>
            </a:r>
          </a:p>
          <a:p>
            <a:pPr marL="0" indent="0">
              <a:lnSpc>
                <a:spcPct val="100000"/>
              </a:lnSpc>
              <a:buNone/>
            </a:pPr>
            <a:r>
              <a:rPr lang="en-US" altLang="ko-KR" sz="16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12.5  </a:t>
            </a:r>
            <a:r>
              <a:rPr lang="ko-KR" altLang="en-US" sz="16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사회적 할인율</a:t>
            </a:r>
          </a:p>
          <a:p>
            <a:pPr marL="0" indent="0">
              <a:lnSpc>
                <a:spcPct val="100000"/>
              </a:lnSpc>
              <a:buNone/>
            </a:pPr>
            <a:r>
              <a:rPr lang="en-US" altLang="ko-KR" sz="16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12.6  </a:t>
            </a:r>
            <a:r>
              <a:rPr lang="ko-KR" altLang="en-US" sz="16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위험성의 문제</a:t>
            </a:r>
          </a:p>
          <a:p>
            <a:pPr marL="0" indent="0">
              <a:lnSpc>
                <a:spcPct val="100000"/>
              </a:lnSpc>
              <a:buNone/>
            </a:pPr>
            <a:r>
              <a:rPr lang="en-US" altLang="ko-KR" sz="16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12.7  </a:t>
            </a:r>
            <a:r>
              <a:rPr lang="ko-KR" altLang="en-US" sz="16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현실의 비용편익분석</a:t>
            </a:r>
          </a:p>
        </p:txBody>
      </p:sp>
      <p:pic>
        <p:nvPicPr>
          <p:cNvPr id="4" name="그림 3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220299"/>
            <a:ext cx="4319957" cy="641740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1691058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altLang="ko-KR" dirty="0">
                <a:latin typeface="나눔고딕" panose="020D0604000000000000" pitchFamily="50" charset="-127"/>
                <a:ea typeface="나눔고딕" panose="020D0604000000000000" pitchFamily="50" charset="-127"/>
              </a:rPr>
              <a:t>12.1  </a:t>
            </a:r>
            <a:r>
              <a:rPr lang="ko-KR" altLang="en-US" dirty="0">
                <a:latin typeface="나눔고딕" panose="020D0604000000000000" pitchFamily="50" charset="-127"/>
                <a:ea typeface="나눔고딕" panose="020D0604000000000000" pitchFamily="50" charset="-127"/>
              </a:rPr>
              <a:t>민간부문의 비용편익분석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 anchor="ctr">
            <a:noAutofit/>
          </a:bodyPr>
          <a:lstStyle/>
          <a:p>
            <a:pPr marL="266700" indent="-266700">
              <a:buFont typeface="Wingdings" panose="05000000000000000000" pitchFamily="2" charset="2"/>
              <a:buChar char="§"/>
            </a:pPr>
            <a:r>
              <a:rPr lang="ko-KR" altLang="en-US" sz="2000" b="1" dirty="0">
                <a:solidFill>
                  <a:schemeClr val="accent1">
                    <a:lumMod val="7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비용편익분석</a:t>
            </a:r>
            <a:r>
              <a:rPr lang="en-US" altLang="ko-KR" sz="2000" dirty="0">
                <a:solidFill>
                  <a:schemeClr val="accent1">
                    <a:lumMod val="7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(cost benefit analysis)</a:t>
            </a:r>
            <a:r>
              <a:rPr lang="ko-KR" altLang="en-US" sz="20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은 공공부문뿐 아니라 민간부문에서 투자계획의 타당성을 평가하는 경우에도 널리 활용</a:t>
            </a:r>
            <a:endParaRPr lang="en-US" altLang="ko-KR" sz="2000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  <a:p>
            <a:pPr marL="266700" indent="-266700">
              <a:buFont typeface="Wingdings" panose="05000000000000000000" pitchFamily="2" charset="2"/>
              <a:buChar char="§"/>
            </a:pPr>
            <a:endParaRPr lang="en-US" altLang="ko-KR" sz="2000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  <a:p>
            <a:pPr marL="266700" indent="-266700">
              <a:buFont typeface="Wingdings" panose="05000000000000000000" pitchFamily="2" charset="2"/>
              <a:buChar char="§"/>
            </a:pPr>
            <a:r>
              <a:rPr lang="ko-KR" altLang="en-US" sz="2000" spc="-40" dirty="0">
                <a:latin typeface="나눔고딕" panose="020D0604000000000000" pitchFamily="50" charset="-127"/>
                <a:ea typeface="나눔고딕" panose="020D0604000000000000" pitchFamily="50" charset="-127"/>
              </a:rPr>
              <a:t>민간부문에서 특정한 투자계획을 실천에 옮길 때 다음의 과정을 거침</a:t>
            </a:r>
            <a:endParaRPr lang="en-US" altLang="ko-KR" sz="2000" spc="-40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  <a:p>
            <a:pPr marL="615600" lvl="1" indent="-424800">
              <a:buNone/>
            </a:pPr>
            <a:r>
              <a:rPr lang="en-US" altLang="ko-KR" sz="20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(1) </a:t>
            </a:r>
            <a:r>
              <a:rPr lang="ko-KR" altLang="en-US" sz="20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주어진 목표의 달성을 가능케 하는 여러 투자계획의 대안을 찾아냄</a:t>
            </a:r>
            <a:endParaRPr lang="en-US" altLang="ko-KR" sz="2000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  <a:p>
            <a:pPr marL="615600" lvl="1" indent="-424800">
              <a:buNone/>
            </a:pPr>
            <a:r>
              <a:rPr lang="en-US" altLang="ko-KR" sz="20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(2) </a:t>
            </a:r>
            <a:r>
              <a:rPr lang="ko-KR" altLang="en-US" sz="20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각 대안이 실행되었을 때 결과로서 나타날 모든 것을 예측</a:t>
            </a:r>
            <a:endParaRPr lang="en-US" altLang="ko-KR" sz="2000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  <a:p>
            <a:pPr marL="615600" lvl="1" indent="-424800">
              <a:buNone/>
            </a:pPr>
            <a:r>
              <a:rPr lang="en-US" altLang="ko-KR" sz="20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(3) </a:t>
            </a:r>
            <a:r>
              <a:rPr lang="ko-KR" altLang="en-US" sz="20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비용과 편익을 추정해 사업계획의 종합적인 타당성</a:t>
            </a:r>
            <a:r>
              <a:rPr lang="en-US" altLang="ko-KR" sz="20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, </a:t>
            </a:r>
            <a:r>
              <a:rPr lang="ko-KR" altLang="en-US" sz="20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즉 이윤창출  가능성을 평가</a:t>
            </a:r>
            <a:endParaRPr lang="en-US" altLang="ko-KR" sz="2000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altLang="ko-KR">
                <a:latin typeface="나눔고딕" panose="020D0604000000000000" pitchFamily="50" charset="-127"/>
                <a:ea typeface="나눔고딕" panose="020D0604000000000000" pitchFamily="50" charset="-127"/>
              </a:rPr>
              <a:t>PUBLIC FINANCE</a:t>
            </a:r>
            <a:endParaRPr lang="ko-KR" altLang="en-US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ko-KR" altLang="en-US" dirty="0">
                <a:latin typeface="나눔고딕" panose="020D0604000000000000" pitchFamily="50" charset="-127"/>
                <a:ea typeface="나눔고딕" panose="020D0604000000000000" pitchFamily="50" charset="-127"/>
              </a:rPr>
              <a:t>제</a:t>
            </a:r>
            <a:r>
              <a:rPr lang="en-US" altLang="ko-KR" dirty="0">
                <a:latin typeface="나눔고딕" panose="020D0604000000000000" pitchFamily="50" charset="-127"/>
                <a:ea typeface="나눔고딕" panose="020D0604000000000000" pitchFamily="50" charset="-127"/>
              </a:rPr>
              <a:t>12</a:t>
            </a:r>
            <a:r>
              <a:rPr lang="ko-KR" altLang="en-US" dirty="0">
                <a:latin typeface="나눔고딕" panose="020D0604000000000000" pitchFamily="50" charset="-127"/>
                <a:ea typeface="나눔고딕" panose="020D0604000000000000" pitchFamily="50" charset="-127"/>
              </a:rPr>
              <a:t>장  비용편익분석</a:t>
            </a:r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6CA9FF6-BF29-4679-8C21-AEBAF2895125}" type="slidenum">
              <a:rPr lang="ko-KR" altLang="en-US" smtClean="0">
                <a:latin typeface="나눔고딕" panose="020D0604000000000000" pitchFamily="50" charset="-127"/>
                <a:ea typeface="나눔고딕" panose="020D0604000000000000" pitchFamily="50" charset="-127"/>
              </a:rPr>
              <a:t>2</a:t>
            </a:fld>
            <a:endParaRPr lang="ko-KR" altLang="en-US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213167800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ko-KR" altLang="en-US" dirty="0" err="1">
                <a:latin typeface="나눔고딕" panose="020D0604000000000000" pitchFamily="50" charset="-127"/>
                <a:ea typeface="나눔고딕" panose="020D0604000000000000" pitchFamily="50" charset="-127"/>
              </a:rPr>
              <a:t>현재가치법</a:t>
            </a:r>
            <a:endParaRPr lang="ko-KR" altLang="en-US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내용 개체 틀 2"/>
              <p:cNvSpPr>
                <a:spLocks noGrp="1"/>
              </p:cNvSpPr>
              <p:nvPr>
                <p:ph idx="1"/>
              </p:nvPr>
            </p:nvSpPr>
            <p:spPr/>
            <p:txBody>
              <a:bodyPr anchor="ctr">
                <a:noAutofit/>
              </a:bodyPr>
              <a:lstStyle/>
              <a:p>
                <a:pPr marL="266700" indent="-266700">
                  <a:lnSpc>
                    <a:spcPct val="110000"/>
                  </a:lnSpc>
                  <a:buFont typeface="Wingdings" panose="05000000000000000000" pitchFamily="2" charset="2"/>
                  <a:buChar char="§"/>
                </a:pPr>
                <a:r>
                  <a:rPr lang="ko-KR" altLang="en-US" dirty="0">
                    <a:latin typeface="나눔고딕" panose="020D0604000000000000" pitchFamily="50" charset="-127"/>
                    <a:ea typeface="나눔고딕" panose="020D0604000000000000" pitchFamily="50" charset="-127"/>
                  </a:rPr>
                  <a:t>지금부터 </a:t>
                </a:r>
                <a14:m>
                  <m:oMath xmlns:m="http://schemas.openxmlformats.org/officeDocument/2006/math">
                    <m:r>
                      <a:rPr lang="en-US" altLang="ko-KR" b="1" i="1">
                        <a:latin typeface="Cambria Math" panose="02040503050406030204" pitchFamily="18" charset="0"/>
                      </a:rPr>
                      <m:t>𝒏</m:t>
                    </m:r>
                  </m:oMath>
                </a14:m>
                <a:r>
                  <a:rPr lang="ko-KR" altLang="en-US" dirty="0">
                    <a:latin typeface="나눔고딕" panose="020D0604000000000000" pitchFamily="50" charset="-127"/>
                    <a:ea typeface="나눔고딕" panose="020D0604000000000000" pitchFamily="50" charset="-127"/>
                  </a:rPr>
                  <a:t>기 후까지 그 효과가 나타나는 투자계획</a:t>
                </a:r>
                <a:endParaRPr lang="en-US" altLang="ko-KR" dirty="0">
                  <a:latin typeface="나눔고딕" panose="020D0604000000000000" pitchFamily="50" charset="-127"/>
                  <a:ea typeface="나눔고딕" panose="020D0604000000000000" pitchFamily="50" charset="-127"/>
                </a:endParaRPr>
              </a:p>
              <a:p>
                <a:pPr marL="444500" lvl="1">
                  <a:lnSpc>
                    <a:spcPct val="110000"/>
                  </a:lnSpc>
                </a:pPr>
                <a:r>
                  <a:rPr lang="ko-KR" altLang="en-US" dirty="0">
                    <a:latin typeface="나눔고딕" panose="020D0604000000000000" pitchFamily="50" charset="-127"/>
                    <a:ea typeface="나눔고딕" panose="020D0604000000000000" pitchFamily="50" charset="-127"/>
                  </a:rPr>
                  <a:t>각 기의 비용의 흐름 </a:t>
                </a:r>
                <a:r>
                  <a:rPr lang="en-US" altLang="ko-KR" dirty="0">
                    <a:latin typeface="나눔고딕" panose="020D0604000000000000" pitchFamily="50" charset="-127"/>
                    <a:ea typeface="나눔고딕" panose="020D0604000000000000" pitchFamily="50" charset="-127"/>
                  </a:rPr>
                  <a:t>: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ko-KR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ko-KR" b="1" i="1">
                            <a:latin typeface="Cambria Math" panose="02040503050406030204" pitchFamily="18" charset="0"/>
                          </a:rPr>
                          <m:t>𝑪</m:t>
                        </m:r>
                      </m:e>
                      <m:sub>
                        <m:r>
                          <a:rPr lang="en-US" altLang="ko-KR" b="1" i="1">
                            <a:latin typeface="Cambria Math" panose="02040503050406030204" pitchFamily="18" charset="0"/>
                          </a:rPr>
                          <m:t>𝟎</m:t>
                        </m:r>
                      </m:sub>
                    </m:sSub>
                    <m:r>
                      <a:rPr lang="en-US" altLang="ko-KR" b="1" i="1">
                        <a:latin typeface="Cambria Math" panose="02040503050406030204" pitchFamily="18" charset="0"/>
                      </a:rPr>
                      <m:t>, </m:t>
                    </m:r>
                    <m:sSub>
                      <m:sSubPr>
                        <m:ctrlPr>
                          <a:rPr lang="en-US" altLang="ko-KR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ko-KR" b="1" i="1">
                            <a:latin typeface="Cambria Math" panose="02040503050406030204" pitchFamily="18" charset="0"/>
                          </a:rPr>
                          <m:t>𝑪</m:t>
                        </m:r>
                      </m:e>
                      <m:sub>
                        <m:r>
                          <a:rPr lang="en-US" altLang="ko-KR" b="1" i="1">
                            <a:latin typeface="Cambria Math" panose="02040503050406030204" pitchFamily="18" charset="0"/>
                          </a:rPr>
                          <m:t>𝟏</m:t>
                        </m:r>
                      </m:sub>
                    </m:sSub>
                    <m:r>
                      <a:rPr lang="en-US" altLang="ko-KR" b="1" i="1">
                        <a:latin typeface="Cambria Math" panose="02040503050406030204" pitchFamily="18" charset="0"/>
                      </a:rPr>
                      <m:t>, …, </m:t>
                    </m:r>
                    <m:sSub>
                      <m:sSubPr>
                        <m:ctrlPr>
                          <a:rPr lang="en-US" altLang="ko-KR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ko-KR" b="1" i="1">
                            <a:latin typeface="Cambria Math" panose="02040503050406030204" pitchFamily="18" charset="0"/>
                          </a:rPr>
                          <m:t>𝑪</m:t>
                        </m:r>
                      </m:e>
                      <m:sub>
                        <m:r>
                          <a:rPr lang="en-US" altLang="ko-KR" b="1" i="1">
                            <a:latin typeface="Cambria Math" panose="02040503050406030204" pitchFamily="18" charset="0"/>
                          </a:rPr>
                          <m:t>𝒏</m:t>
                        </m:r>
                        <m:r>
                          <a:rPr lang="en-US" altLang="ko-KR" b="1" i="1"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US" altLang="ko-KR" b="1" i="1">
                            <a:latin typeface="Cambria Math" panose="02040503050406030204" pitchFamily="18" charset="0"/>
                          </a:rPr>
                          <m:t>𝟏</m:t>
                        </m:r>
                      </m:sub>
                    </m:sSub>
                    <m:r>
                      <a:rPr lang="en-US" altLang="ko-KR" b="1" i="1">
                        <a:latin typeface="Cambria Math" panose="02040503050406030204" pitchFamily="18" charset="0"/>
                      </a:rPr>
                      <m:t>, </m:t>
                    </m:r>
                    <m:sSub>
                      <m:sSubPr>
                        <m:ctrlPr>
                          <a:rPr lang="en-US" altLang="ko-KR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ko-KR" b="1" i="1">
                            <a:latin typeface="Cambria Math" panose="02040503050406030204" pitchFamily="18" charset="0"/>
                          </a:rPr>
                          <m:t>𝑪</m:t>
                        </m:r>
                      </m:e>
                      <m:sub>
                        <m:r>
                          <a:rPr lang="en-US" altLang="ko-KR" b="1" i="1">
                            <a:latin typeface="Cambria Math" panose="02040503050406030204" pitchFamily="18" charset="0"/>
                          </a:rPr>
                          <m:t>𝒏</m:t>
                        </m:r>
                      </m:sub>
                    </m:sSub>
                  </m:oMath>
                </a14:m>
                <a:endParaRPr lang="en-US" altLang="ko-KR" dirty="0">
                  <a:latin typeface="나눔고딕" panose="020D0604000000000000" pitchFamily="50" charset="-127"/>
                  <a:ea typeface="나눔고딕" panose="020D0604000000000000" pitchFamily="50" charset="-127"/>
                </a:endParaRPr>
              </a:p>
              <a:p>
                <a:pPr marL="444500" lvl="1">
                  <a:lnSpc>
                    <a:spcPct val="110000"/>
                  </a:lnSpc>
                </a:pPr>
                <a:r>
                  <a:rPr lang="ko-KR" altLang="en-US" dirty="0">
                    <a:latin typeface="나눔고딕" panose="020D0604000000000000" pitchFamily="50" charset="-127"/>
                    <a:ea typeface="나눔고딕" panose="020D0604000000000000" pitchFamily="50" charset="-127"/>
                  </a:rPr>
                  <a:t>각 기의 편익의 흐름 </a:t>
                </a:r>
                <a:r>
                  <a:rPr lang="en-US" altLang="ko-KR" dirty="0">
                    <a:latin typeface="나눔고딕" panose="020D0604000000000000" pitchFamily="50" charset="-127"/>
                    <a:ea typeface="나눔고딕" panose="020D0604000000000000" pitchFamily="50" charset="-127"/>
                  </a:rPr>
                  <a:t>: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ko-KR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ko-KR" b="1" i="1">
                            <a:latin typeface="Cambria Math" panose="02040503050406030204" pitchFamily="18" charset="0"/>
                          </a:rPr>
                          <m:t>𝑩</m:t>
                        </m:r>
                      </m:e>
                      <m:sub>
                        <m:r>
                          <a:rPr lang="en-US" altLang="ko-KR" b="1" i="1">
                            <a:latin typeface="Cambria Math" panose="02040503050406030204" pitchFamily="18" charset="0"/>
                          </a:rPr>
                          <m:t>𝟎</m:t>
                        </m:r>
                      </m:sub>
                    </m:sSub>
                    <m:r>
                      <a:rPr lang="en-US" altLang="ko-KR" b="1" i="1">
                        <a:latin typeface="Cambria Math" panose="02040503050406030204" pitchFamily="18" charset="0"/>
                      </a:rPr>
                      <m:t>, </m:t>
                    </m:r>
                    <m:sSub>
                      <m:sSubPr>
                        <m:ctrlPr>
                          <a:rPr lang="en-US" altLang="ko-KR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ko-KR" b="1" i="1">
                            <a:latin typeface="Cambria Math" panose="02040503050406030204" pitchFamily="18" charset="0"/>
                          </a:rPr>
                          <m:t>𝑩</m:t>
                        </m:r>
                      </m:e>
                      <m:sub>
                        <m:r>
                          <a:rPr lang="en-US" altLang="ko-KR" b="1" i="1">
                            <a:latin typeface="Cambria Math" panose="02040503050406030204" pitchFamily="18" charset="0"/>
                          </a:rPr>
                          <m:t>𝟏</m:t>
                        </m:r>
                      </m:sub>
                    </m:sSub>
                    <m:r>
                      <a:rPr lang="en-US" altLang="ko-KR" b="1" i="1">
                        <a:latin typeface="Cambria Math" panose="02040503050406030204" pitchFamily="18" charset="0"/>
                      </a:rPr>
                      <m:t>, …, </m:t>
                    </m:r>
                    <m:sSub>
                      <m:sSubPr>
                        <m:ctrlPr>
                          <a:rPr lang="en-US" altLang="ko-KR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ko-KR" b="1" i="1">
                            <a:latin typeface="Cambria Math" panose="02040503050406030204" pitchFamily="18" charset="0"/>
                          </a:rPr>
                          <m:t>𝑩</m:t>
                        </m:r>
                      </m:e>
                      <m:sub>
                        <m:r>
                          <a:rPr lang="en-US" altLang="ko-KR" b="1" i="1">
                            <a:latin typeface="Cambria Math" panose="02040503050406030204" pitchFamily="18" charset="0"/>
                          </a:rPr>
                          <m:t>𝒏</m:t>
                        </m:r>
                        <m:r>
                          <a:rPr lang="en-US" altLang="ko-KR" b="1" i="1"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US" altLang="ko-KR" b="1" i="1">
                            <a:latin typeface="Cambria Math" panose="02040503050406030204" pitchFamily="18" charset="0"/>
                          </a:rPr>
                          <m:t>𝟏</m:t>
                        </m:r>
                      </m:sub>
                    </m:sSub>
                    <m:r>
                      <a:rPr lang="en-US" altLang="ko-KR" b="1" i="1">
                        <a:latin typeface="Cambria Math" panose="02040503050406030204" pitchFamily="18" charset="0"/>
                      </a:rPr>
                      <m:t>, </m:t>
                    </m:r>
                    <m:sSub>
                      <m:sSubPr>
                        <m:ctrlPr>
                          <a:rPr lang="en-US" altLang="ko-KR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ko-KR" b="1" i="1">
                            <a:latin typeface="Cambria Math" panose="02040503050406030204" pitchFamily="18" charset="0"/>
                          </a:rPr>
                          <m:t>𝑩</m:t>
                        </m:r>
                      </m:e>
                      <m:sub>
                        <m:r>
                          <a:rPr lang="en-US" altLang="ko-KR" b="1" i="1">
                            <a:latin typeface="Cambria Math" panose="02040503050406030204" pitchFamily="18" charset="0"/>
                          </a:rPr>
                          <m:t>𝒏</m:t>
                        </m:r>
                      </m:sub>
                    </m:sSub>
                  </m:oMath>
                </a14:m>
                <a:r>
                  <a:rPr lang="en-US" altLang="ko-KR" dirty="0">
                    <a:latin typeface="나눔고딕" panose="020D0604000000000000" pitchFamily="50" charset="-127"/>
                    <a:ea typeface="나눔고딕" panose="020D0604000000000000" pitchFamily="50" charset="-127"/>
                  </a:rPr>
                  <a:t> </a:t>
                </a:r>
              </a:p>
              <a:p>
                <a:pPr>
                  <a:lnSpc>
                    <a:spcPct val="110000"/>
                  </a:lnSpc>
                </a:pPr>
                <a:endParaRPr lang="en-US" altLang="ko-KR" sz="500" dirty="0">
                  <a:latin typeface="나눔고딕" panose="020D0604000000000000" pitchFamily="50" charset="-127"/>
                  <a:ea typeface="나눔고딕" panose="020D0604000000000000" pitchFamily="50" charset="-127"/>
                </a:endParaRPr>
              </a:p>
              <a:p>
                <a:pPr marL="266700" indent="-266700">
                  <a:lnSpc>
                    <a:spcPct val="110000"/>
                  </a:lnSpc>
                </a:pPr>
                <a:r>
                  <a:rPr lang="ko-KR" altLang="en-US" dirty="0">
                    <a:latin typeface="나눔고딕" panose="020D0604000000000000" pitchFamily="50" charset="-127"/>
                    <a:ea typeface="나눔고딕" panose="020D0604000000000000" pitchFamily="50" charset="-127"/>
                  </a:rPr>
                  <a:t>미래에 예상되는 비용과 편익은 적절한 비율로 할인되어 </a:t>
                </a:r>
                <a:r>
                  <a:rPr lang="ko-KR" altLang="en-US" dirty="0">
                    <a:solidFill>
                      <a:schemeClr val="accent1">
                        <a:lumMod val="75000"/>
                      </a:schemeClr>
                    </a:solidFill>
                    <a:latin typeface="나눔고딕" panose="020D0604000000000000" pitchFamily="50" charset="-127"/>
                    <a:ea typeface="나눔고딕" panose="020D0604000000000000" pitchFamily="50" charset="-127"/>
                  </a:rPr>
                  <a:t>현재가치</a:t>
                </a:r>
                <a:r>
                  <a:rPr lang="en-US" altLang="ko-KR" dirty="0">
                    <a:solidFill>
                      <a:schemeClr val="accent1">
                        <a:lumMod val="75000"/>
                      </a:schemeClr>
                    </a:solidFill>
                    <a:latin typeface="나눔고딕" panose="020D0604000000000000" pitchFamily="50" charset="-127"/>
                    <a:ea typeface="나눔고딕" panose="020D0604000000000000" pitchFamily="50" charset="-127"/>
                  </a:rPr>
                  <a:t>(present value)</a:t>
                </a:r>
                <a:r>
                  <a:rPr lang="ko-KR" altLang="en-US" dirty="0">
                    <a:latin typeface="나눔고딕" panose="020D0604000000000000" pitchFamily="50" charset="-127"/>
                    <a:ea typeface="나눔고딕" panose="020D0604000000000000" pitchFamily="50" charset="-127"/>
                  </a:rPr>
                  <a:t>로 바뀌어야 일관성 있는 평가가 가능</a:t>
                </a:r>
                <a:endParaRPr lang="en-US" altLang="ko-KR" dirty="0">
                  <a:latin typeface="나눔고딕" panose="020D0604000000000000" pitchFamily="50" charset="-127"/>
                  <a:ea typeface="나눔고딕" panose="020D0604000000000000" pitchFamily="50" charset="-127"/>
                </a:endParaRPr>
              </a:p>
              <a:p>
                <a:pPr marL="444500" lvl="1">
                  <a:lnSpc>
                    <a:spcPct val="110000"/>
                  </a:lnSpc>
                </a:pPr>
                <a:r>
                  <a:rPr lang="ko-KR" altLang="en-US" dirty="0">
                    <a:latin typeface="나눔고딕" panose="020D0604000000000000" pitchFamily="50" charset="-127"/>
                    <a:ea typeface="나눔고딕" panose="020D0604000000000000" pitchFamily="50" charset="-127"/>
                  </a:rPr>
                  <a:t>할인율</a:t>
                </a:r>
                <a:r>
                  <a:rPr lang="en-US" altLang="ko-KR" dirty="0">
                    <a:latin typeface="나눔고딕" panose="020D0604000000000000" pitchFamily="50" charset="-127"/>
                    <a:ea typeface="나눔고딕" panose="020D0604000000000000" pitchFamily="50" charset="-127"/>
                  </a:rPr>
                  <a:t>(discount rate ; </a:t>
                </a:r>
                <a14:m>
                  <m:oMath xmlns:m="http://schemas.openxmlformats.org/officeDocument/2006/math">
                    <m:r>
                      <a:rPr lang="en-US" altLang="ko-KR" b="1" i="1" smtClean="0">
                        <a:latin typeface="Cambria Math" panose="02040503050406030204" pitchFamily="18" charset="0"/>
                      </a:rPr>
                      <m:t>𝒓</m:t>
                    </m:r>
                  </m:oMath>
                </a14:m>
                <a:r>
                  <a:rPr lang="en-US" altLang="ko-KR" dirty="0">
                    <a:latin typeface="나눔고딕" panose="020D0604000000000000" pitchFamily="50" charset="-127"/>
                    <a:ea typeface="나눔고딕" panose="020D0604000000000000" pitchFamily="50" charset="-127"/>
                  </a:rPr>
                  <a:t>) : </a:t>
                </a:r>
                <a:r>
                  <a:rPr lang="ko-KR" altLang="en-US" dirty="0">
                    <a:latin typeface="나눔고딕" panose="020D0604000000000000" pitchFamily="50" charset="-127"/>
                    <a:ea typeface="나눔고딕" panose="020D0604000000000000" pitchFamily="50" charset="-127"/>
                  </a:rPr>
                  <a:t>할인 과정에 적용되는 비율로 투자계획에 사용되는 자금의 기간당 기회비용과 일치하도록 선택</a:t>
                </a:r>
                <a:endParaRPr lang="en-US" altLang="ko-KR" dirty="0">
                  <a:latin typeface="나눔고딕" panose="020D0604000000000000" pitchFamily="50" charset="-127"/>
                  <a:ea typeface="나눔고딕" panose="020D0604000000000000" pitchFamily="50" charset="-127"/>
                </a:endParaRPr>
              </a:p>
              <a:p>
                <a:pPr>
                  <a:lnSpc>
                    <a:spcPct val="110000"/>
                  </a:lnSpc>
                </a:pPr>
                <a:endParaRPr lang="en-US" altLang="ko-KR" sz="500" dirty="0">
                  <a:latin typeface="나눔고딕" panose="020D0604000000000000" pitchFamily="50" charset="-127"/>
                  <a:ea typeface="나눔고딕" panose="020D0604000000000000" pitchFamily="50" charset="-127"/>
                </a:endParaRPr>
              </a:p>
              <a:p>
                <a:pPr marL="266700" indent="-266700">
                  <a:lnSpc>
                    <a:spcPct val="110000"/>
                  </a:lnSpc>
                </a:pPr>
                <a:r>
                  <a:rPr lang="ko-KR" altLang="en-US" dirty="0">
                    <a:latin typeface="나눔고딕" panose="020D0604000000000000" pitchFamily="50" charset="-127"/>
                    <a:ea typeface="나눔고딕" panose="020D0604000000000000" pitchFamily="50" charset="-127"/>
                  </a:rPr>
                  <a:t>어떤 투자계획의 </a:t>
                </a:r>
                <a:r>
                  <a:rPr lang="ko-KR" altLang="en-US" dirty="0" err="1">
                    <a:latin typeface="나눔고딕" panose="020D0604000000000000" pitchFamily="50" charset="-127"/>
                    <a:ea typeface="나눔고딕" panose="020D0604000000000000" pitchFamily="50" charset="-127"/>
                  </a:rPr>
                  <a:t>순편익의</a:t>
                </a:r>
                <a:r>
                  <a:rPr lang="ko-KR" altLang="en-US" dirty="0">
                    <a:latin typeface="나눔고딕" panose="020D0604000000000000" pitchFamily="50" charset="-127"/>
                    <a:ea typeface="나눔고딕" panose="020D0604000000000000" pitchFamily="50" charset="-127"/>
                  </a:rPr>
                  <a:t> 현재가치</a:t>
                </a:r>
                <a:r>
                  <a:rPr lang="en-US" altLang="ko-KR" dirty="0">
                    <a:latin typeface="나눔고딕" panose="020D0604000000000000" pitchFamily="50" charset="-127"/>
                    <a:ea typeface="나눔고딕" panose="020D0604000000000000" pitchFamily="50" charset="-127"/>
                  </a:rPr>
                  <a:t>(</a:t>
                </a:r>
                <a14:m>
                  <m:oMath xmlns:m="http://schemas.openxmlformats.org/officeDocument/2006/math">
                    <m:r>
                      <a:rPr lang="en-US" altLang="ko-KR" b="1" i="1" smtClean="0">
                        <a:latin typeface="Cambria Math" panose="02040503050406030204" pitchFamily="18" charset="0"/>
                      </a:rPr>
                      <m:t>𝑷𝑽</m:t>
                    </m:r>
                  </m:oMath>
                </a14:m>
                <a:r>
                  <a:rPr lang="en-US" altLang="ko-KR" dirty="0">
                    <a:latin typeface="나눔고딕" panose="020D0604000000000000" pitchFamily="50" charset="-127"/>
                    <a:ea typeface="나눔고딕" panose="020D0604000000000000" pitchFamily="50" charset="-127"/>
                  </a:rPr>
                  <a:t>) :</a:t>
                </a:r>
                <a:br>
                  <a:rPr lang="en-US" altLang="ko-KR" i="1" dirty="0">
                    <a:latin typeface="나눔고딕" panose="020D0604000000000000" pitchFamily="50" charset="-127"/>
                    <a:ea typeface="나눔고딕" panose="020D0604000000000000" pitchFamily="50" charset="-127"/>
                  </a:rPr>
                </a:br>
                <a14:m>
                  <m:oMath xmlns:m="http://schemas.openxmlformats.org/officeDocument/2006/math">
                    <m:r>
                      <a:rPr lang="en-US" altLang="ko-KR" b="1" i="1" smtClean="0">
                        <a:latin typeface="Cambria Math" panose="02040503050406030204" pitchFamily="18" charset="0"/>
                      </a:rPr>
                      <m:t>𝑷𝑽</m:t>
                    </m:r>
                    <m:r>
                      <a:rPr lang="en-US" altLang="ko-KR" b="1" i="1">
                        <a:latin typeface="Cambria Math" panose="02040503050406030204" pitchFamily="18" charset="0"/>
                      </a:rPr>
                      <m:t>=</m:t>
                    </m:r>
                    <m:sSub>
                      <m:sSubPr>
                        <m:ctrlPr>
                          <a:rPr lang="en-US" altLang="ko-KR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ko-KR" b="1" i="1">
                            <a:latin typeface="Cambria Math" panose="02040503050406030204" pitchFamily="18" charset="0"/>
                          </a:rPr>
                          <m:t>𝑩</m:t>
                        </m:r>
                      </m:e>
                      <m:sub>
                        <m:r>
                          <a:rPr lang="en-US" altLang="ko-KR" b="1" i="1">
                            <a:latin typeface="Cambria Math" panose="02040503050406030204" pitchFamily="18" charset="0"/>
                          </a:rPr>
                          <m:t>𝟎</m:t>
                        </m:r>
                      </m:sub>
                    </m:sSub>
                    <m:r>
                      <a:rPr lang="en-US" altLang="ko-KR" b="1" i="1">
                        <a:latin typeface="Cambria Math" panose="02040503050406030204" pitchFamily="18" charset="0"/>
                      </a:rPr>
                      <m:t>−</m:t>
                    </m:r>
                    <m:sSub>
                      <m:sSubPr>
                        <m:ctrlPr>
                          <a:rPr lang="en-US" altLang="ko-KR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ko-KR" b="1" i="1">
                            <a:latin typeface="Cambria Math" panose="02040503050406030204" pitchFamily="18" charset="0"/>
                          </a:rPr>
                          <m:t>𝑪</m:t>
                        </m:r>
                      </m:e>
                      <m:sub>
                        <m:r>
                          <a:rPr lang="en-US" altLang="ko-KR" b="1" i="1">
                            <a:latin typeface="Cambria Math" panose="02040503050406030204" pitchFamily="18" charset="0"/>
                          </a:rPr>
                          <m:t>𝟎</m:t>
                        </m:r>
                      </m:sub>
                    </m:sSub>
                    <m:r>
                      <a:rPr lang="en-US" altLang="ko-KR" b="1" i="1">
                        <a:latin typeface="Cambria Math" panose="02040503050406030204" pitchFamily="18" charset="0"/>
                      </a:rPr>
                      <m:t>+</m:t>
                    </m:r>
                    <m:f>
                      <m:fPr>
                        <m:ctrlPr>
                          <a:rPr lang="en-US" altLang="ko-KR" i="1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sSub>
                          <m:sSubPr>
                            <m:ctrlPr>
                              <a:rPr lang="en-US" altLang="ko-KR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ko-KR" b="1" i="1">
                                <a:latin typeface="Cambria Math" panose="02040503050406030204" pitchFamily="18" charset="0"/>
                              </a:rPr>
                              <m:t>𝑩</m:t>
                            </m:r>
                          </m:e>
                          <m:sub>
                            <m:r>
                              <a:rPr lang="en-US" altLang="ko-KR" b="1" i="1">
                                <a:latin typeface="Cambria Math" panose="02040503050406030204" pitchFamily="18" charset="0"/>
                              </a:rPr>
                              <m:t>𝟏</m:t>
                            </m:r>
                          </m:sub>
                        </m:sSub>
                        <m:r>
                          <a:rPr lang="en-US" altLang="ko-KR" b="1" i="1">
                            <a:latin typeface="Cambria Math" panose="02040503050406030204" pitchFamily="18" charset="0"/>
                          </a:rPr>
                          <m:t>−</m:t>
                        </m:r>
                        <m:sSub>
                          <m:sSubPr>
                            <m:ctrlPr>
                              <a:rPr lang="en-US" altLang="ko-KR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ko-KR" b="1" i="1">
                                <a:latin typeface="Cambria Math" panose="02040503050406030204" pitchFamily="18" charset="0"/>
                              </a:rPr>
                              <m:t>𝑪</m:t>
                            </m:r>
                          </m:e>
                          <m:sub>
                            <m:r>
                              <a:rPr lang="en-US" altLang="ko-KR" b="1" i="1">
                                <a:latin typeface="Cambria Math" panose="02040503050406030204" pitchFamily="18" charset="0"/>
                              </a:rPr>
                              <m:t>𝟏</m:t>
                            </m:r>
                          </m:sub>
                        </m:sSub>
                      </m:num>
                      <m:den>
                        <m:r>
                          <a:rPr lang="en-US" altLang="ko-KR" b="1" i="1">
                            <a:latin typeface="Cambria Math" panose="02040503050406030204" pitchFamily="18" charset="0"/>
                          </a:rPr>
                          <m:t>𝟏</m:t>
                        </m:r>
                        <m:r>
                          <a:rPr lang="en-US" altLang="ko-KR" b="1" i="1"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US" altLang="ko-KR" b="1" i="1">
                            <a:latin typeface="Cambria Math" panose="02040503050406030204" pitchFamily="18" charset="0"/>
                          </a:rPr>
                          <m:t>𝒓</m:t>
                        </m:r>
                      </m:den>
                    </m:f>
                    <m:r>
                      <a:rPr lang="en-US" altLang="ko-KR" b="1" i="1">
                        <a:latin typeface="Cambria Math" panose="02040503050406030204" pitchFamily="18" charset="0"/>
                      </a:rPr>
                      <m:t>+…+</m:t>
                    </m:r>
                    <m:f>
                      <m:fPr>
                        <m:ctrlPr>
                          <a:rPr lang="en-US" altLang="ko-KR" i="1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sSub>
                          <m:sSubPr>
                            <m:ctrlPr>
                              <a:rPr lang="en-US" altLang="ko-KR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ko-KR" b="1" i="1">
                                <a:latin typeface="Cambria Math" panose="02040503050406030204" pitchFamily="18" charset="0"/>
                              </a:rPr>
                              <m:t>𝑩</m:t>
                            </m:r>
                          </m:e>
                          <m:sub>
                            <m:r>
                              <a:rPr lang="en-US" altLang="ko-KR" b="1" i="1">
                                <a:latin typeface="Cambria Math" panose="02040503050406030204" pitchFamily="18" charset="0"/>
                              </a:rPr>
                              <m:t>𝒏</m:t>
                            </m:r>
                            <m:r>
                              <a:rPr lang="en-US" altLang="ko-KR" b="1" i="1">
                                <a:latin typeface="Cambria Math" panose="02040503050406030204" pitchFamily="18" charset="0"/>
                              </a:rPr>
                              <m:t>−</m:t>
                            </m:r>
                            <m:r>
                              <a:rPr lang="en-US" altLang="ko-KR" b="1" i="1">
                                <a:latin typeface="Cambria Math" panose="02040503050406030204" pitchFamily="18" charset="0"/>
                              </a:rPr>
                              <m:t>𝟏</m:t>
                            </m:r>
                          </m:sub>
                        </m:sSub>
                        <m:r>
                          <a:rPr lang="en-US" altLang="ko-KR" b="1" i="1">
                            <a:latin typeface="Cambria Math" panose="02040503050406030204" pitchFamily="18" charset="0"/>
                          </a:rPr>
                          <m:t>−</m:t>
                        </m:r>
                        <m:sSub>
                          <m:sSubPr>
                            <m:ctrlPr>
                              <a:rPr lang="en-US" altLang="ko-KR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ko-KR" b="1" i="1">
                                <a:latin typeface="Cambria Math" panose="02040503050406030204" pitchFamily="18" charset="0"/>
                              </a:rPr>
                              <m:t>𝑪</m:t>
                            </m:r>
                          </m:e>
                          <m:sub>
                            <m:r>
                              <a:rPr lang="en-US" altLang="ko-KR" b="1" i="1">
                                <a:latin typeface="Cambria Math" panose="02040503050406030204" pitchFamily="18" charset="0"/>
                              </a:rPr>
                              <m:t>𝒏</m:t>
                            </m:r>
                            <m:r>
                              <a:rPr lang="en-US" altLang="ko-KR" b="1" i="1">
                                <a:latin typeface="Cambria Math" panose="02040503050406030204" pitchFamily="18" charset="0"/>
                              </a:rPr>
                              <m:t>−</m:t>
                            </m:r>
                            <m:r>
                              <a:rPr lang="en-US" altLang="ko-KR" b="1" i="1">
                                <a:latin typeface="Cambria Math" panose="02040503050406030204" pitchFamily="18" charset="0"/>
                              </a:rPr>
                              <m:t>𝟏</m:t>
                            </m:r>
                          </m:sub>
                        </m:sSub>
                      </m:num>
                      <m:den>
                        <m:sSup>
                          <m:sSupPr>
                            <m:ctrlPr>
                              <a:rPr lang="en-US" altLang="ko-KR" i="1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d>
                              <m:dPr>
                                <m:ctrlPr>
                                  <a:rPr lang="en-US" altLang="ko-KR" i="1"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r>
                                  <a:rPr lang="en-US" altLang="ko-KR" b="1" i="1">
                                    <a:latin typeface="Cambria Math" panose="02040503050406030204" pitchFamily="18" charset="0"/>
                                  </a:rPr>
                                  <m:t>𝟏</m:t>
                                </m:r>
                                <m:r>
                                  <a:rPr lang="en-US" altLang="ko-KR" b="1" i="1">
                                    <a:latin typeface="Cambria Math" panose="02040503050406030204" pitchFamily="18" charset="0"/>
                                  </a:rPr>
                                  <m:t>+</m:t>
                                </m:r>
                                <m:r>
                                  <a:rPr lang="en-US" altLang="ko-KR" b="1" i="1">
                                    <a:latin typeface="Cambria Math" panose="02040503050406030204" pitchFamily="18" charset="0"/>
                                  </a:rPr>
                                  <m:t>𝒓</m:t>
                                </m:r>
                              </m:e>
                            </m:d>
                          </m:e>
                          <m:sup>
                            <m:r>
                              <a:rPr lang="en-US" altLang="ko-KR" b="1" i="1">
                                <a:latin typeface="Cambria Math" panose="02040503050406030204" pitchFamily="18" charset="0"/>
                              </a:rPr>
                              <m:t>𝒏</m:t>
                            </m:r>
                            <m:r>
                              <a:rPr lang="en-US" altLang="ko-KR" b="1" i="1">
                                <a:latin typeface="Cambria Math" panose="02040503050406030204" pitchFamily="18" charset="0"/>
                              </a:rPr>
                              <m:t>−</m:t>
                            </m:r>
                            <m:r>
                              <a:rPr lang="en-US" altLang="ko-KR" b="1" i="1">
                                <a:latin typeface="Cambria Math" panose="02040503050406030204" pitchFamily="18" charset="0"/>
                              </a:rPr>
                              <m:t>𝟏</m:t>
                            </m:r>
                          </m:sup>
                        </m:sSup>
                      </m:den>
                    </m:f>
                    <m:r>
                      <a:rPr lang="en-US" altLang="ko-KR" b="1" i="1">
                        <a:latin typeface="Cambria Math" panose="02040503050406030204" pitchFamily="18" charset="0"/>
                      </a:rPr>
                      <m:t>+</m:t>
                    </m:r>
                    <m:f>
                      <m:fPr>
                        <m:ctrlPr>
                          <a:rPr lang="en-US" altLang="ko-KR" i="1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sSub>
                          <m:sSubPr>
                            <m:ctrlPr>
                              <a:rPr lang="en-US" altLang="ko-KR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ko-KR" b="1" i="1">
                                <a:latin typeface="Cambria Math" panose="02040503050406030204" pitchFamily="18" charset="0"/>
                              </a:rPr>
                              <m:t>𝑩</m:t>
                            </m:r>
                          </m:e>
                          <m:sub>
                            <m:r>
                              <a:rPr lang="en-US" altLang="ko-KR" b="1" i="1">
                                <a:latin typeface="Cambria Math" panose="02040503050406030204" pitchFamily="18" charset="0"/>
                              </a:rPr>
                              <m:t>𝒏</m:t>
                            </m:r>
                          </m:sub>
                        </m:sSub>
                        <m:r>
                          <a:rPr lang="en-US" altLang="ko-KR" b="1" i="1">
                            <a:latin typeface="Cambria Math" panose="02040503050406030204" pitchFamily="18" charset="0"/>
                          </a:rPr>
                          <m:t>−</m:t>
                        </m:r>
                        <m:sSub>
                          <m:sSubPr>
                            <m:ctrlPr>
                              <a:rPr lang="en-US" altLang="ko-KR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ko-KR" b="1" i="1">
                                <a:latin typeface="Cambria Math" panose="02040503050406030204" pitchFamily="18" charset="0"/>
                              </a:rPr>
                              <m:t>𝑪</m:t>
                            </m:r>
                          </m:e>
                          <m:sub>
                            <m:r>
                              <a:rPr lang="en-US" altLang="ko-KR" b="1" i="1">
                                <a:latin typeface="Cambria Math" panose="02040503050406030204" pitchFamily="18" charset="0"/>
                              </a:rPr>
                              <m:t>𝒏</m:t>
                            </m:r>
                          </m:sub>
                        </m:sSub>
                      </m:num>
                      <m:den>
                        <m:sSup>
                          <m:sSupPr>
                            <m:ctrlPr>
                              <a:rPr lang="en-US" altLang="ko-KR" i="1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d>
                              <m:dPr>
                                <m:ctrlPr>
                                  <a:rPr lang="en-US" altLang="ko-KR" i="1"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r>
                                  <a:rPr lang="en-US" altLang="ko-KR" b="1" i="1">
                                    <a:latin typeface="Cambria Math" panose="02040503050406030204" pitchFamily="18" charset="0"/>
                                  </a:rPr>
                                  <m:t>𝟏</m:t>
                                </m:r>
                                <m:r>
                                  <a:rPr lang="en-US" altLang="ko-KR" b="1" i="1">
                                    <a:latin typeface="Cambria Math" panose="02040503050406030204" pitchFamily="18" charset="0"/>
                                  </a:rPr>
                                  <m:t>+</m:t>
                                </m:r>
                                <m:r>
                                  <a:rPr lang="en-US" altLang="ko-KR" b="1" i="1">
                                    <a:latin typeface="Cambria Math" panose="02040503050406030204" pitchFamily="18" charset="0"/>
                                  </a:rPr>
                                  <m:t>𝒓</m:t>
                                </m:r>
                              </m:e>
                            </m:d>
                          </m:e>
                          <m:sup>
                            <m:r>
                              <a:rPr lang="en-US" altLang="ko-KR" b="1" i="1">
                                <a:latin typeface="Cambria Math" panose="02040503050406030204" pitchFamily="18" charset="0"/>
                              </a:rPr>
                              <m:t>𝒏</m:t>
                            </m:r>
                          </m:sup>
                        </m:sSup>
                      </m:den>
                    </m:f>
                  </m:oMath>
                </a14:m>
                <a:endParaRPr lang="en-US" altLang="ko-KR" dirty="0">
                  <a:latin typeface="나눔고딕" panose="020D0604000000000000" pitchFamily="50" charset="-127"/>
                  <a:ea typeface="나눔고딕" panose="020D0604000000000000" pitchFamily="50" charset="-127"/>
                </a:endParaRPr>
              </a:p>
            </p:txBody>
          </p:sp>
        </mc:Choice>
        <mc:Fallback>
          <p:sp>
            <p:nvSpPr>
              <p:cNvPr id="3" name="내용 개체 틀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696"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altLang="ko-KR">
                <a:latin typeface="나눔고딕" panose="020D0604000000000000" pitchFamily="50" charset="-127"/>
                <a:ea typeface="나눔고딕" panose="020D0604000000000000" pitchFamily="50" charset="-127"/>
              </a:rPr>
              <a:t>PUBLIC FINANCE</a:t>
            </a:r>
            <a:endParaRPr lang="ko-KR" altLang="en-US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ko-KR" altLang="en-US">
                <a:latin typeface="나눔고딕" panose="020D0604000000000000" pitchFamily="50" charset="-127"/>
                <a:ea typeface="나눔고딕" panose="020D0604000000000000" pitchFamily="50" charset="-127"/>
              </a:rPr>
              <a:t>제</a:t>
            </a:r>
            <a:r>
              <a:rPr lang="en-US" altLang="ko-KR">
                <a:latin typeface="나눔고딕" panose="020D0604000000000000" pitchFamily="50" charset="-127"/>
                <a:ea typeface="나눔고딕" panose="020D0604000000000000" pitchFamily="50" charset="-127"/>
              </a:rPr>
              <a:t>12</a:t>
            </a:r>
            <a:r>
              <a:rPr lang="ko-KR" altLang="en-US">
                <a:latin typeface="나눔고딕" panose="020D0604000000000000" pitchFamily="50" charset="-127"/>
                <a:ea typeface="나눔고딕" panose="020D0604000000000000" pitchFamily="50" charset="-127"/>
              </a:rPr>
              <a:t>장  비용편익분석</a:t>
            </a:r>
            <a:endParaRPr lang="ko-KR" altLang="en-US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6CA9FF6-BF29-4679-8C21-AEBAF2895125}" type="slidenum">
              <a:rPr lang="ko-KR" altLang="en-US" smtClean="0">
                <a:latin typeface="나눔고딕" panose="020D0604000000000000" pitchFamily="50" charset="-127"/>
                <a:ea typeface="나눔고딕" panose="020D0604000000000000" pitchFamily="50" charset="-127"/>
              </a:rPr>
              <a:t>3</a:t>
            </a:fld>
            <a:endParaRPr lang="ko-KR" altLang="en-US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190737529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ko-KR" altLang="en-US" dirty="0" err="1">
                <a:latin typeface="나눔고딕" panose="020D0604000000000000" pitchFamily="50" charset="-127"/>
                <a:ea typeface="나눔고딕" panose="020D0604000000000000" pitchFamily="50" charset="-127"/>
              </a:rPr>
              <a:t>현재가치법</a:t>
            </a:r>
            <a:endParaRPr lang="ko-KR" altLang="en-US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 anchor="ctr">
            <a:noAutofit/>
          </a:bodyPr>
          <a:lstStyle/>
          <a:p>
            <a:pPr marL="266700" indent="-266700">
              <a:lnSpc>
                <a:spcPct val="120000"/>
              </a:lnSpc>
              <a:buFont typeface="Wingdings" panose="05000000000000000000" pitchFamily="2" charset="2"/>
              <a:buChar char="§"/>
            </a:pPr>
            <a:r>
              <a:rPr lang="ko-KR" altLang="en-US" sz="2000" dirty="0" err="1">
                <a:solidFill>
                  <a:schemeClr val="accent1">
                    <a:lumMod val="7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현재가치법</a:t>
            </a:r>
            <a:r>
              <a:rPr lang="ko-KR" altLang="en-US" sz="20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 </a:t>
            </a:r>
            <a:r>
              <a:rPr lang="en-US" altLang="ko-KR" sz="20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:</a:t>
            </a:r>
            <a:r>
              <a:rPr lang="ko-KR" altLang="en-US" sz="20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 어떤 투자계획의 타당성을 현재가치로 환산된 순편익에 기초해 평가하는 방법</a:t>
            </a:r>
            <a:endParaRPr lang="en-US" altLang="ko-KR" sz="2000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  <a:p>
            <a:pPr marL="266700" indent="-266700">
              <a:lnSpc>
                <a:spcPct val="120000"/>
              </a:lnSpc>
              <a:buFont typeface="Wingdings" panose="05000000000000000000" pitchFamily="2" charset="2"/>
              <a:buChar char="§"/>
            </a:pPr>
            <a:endParaRPr lang="en-US" altLang="ko-KR" sz="500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  <a:p>
            <a:pPr marL="266700" indent="-266700">
              <a:lnSpc>
                <a:spcPct val="120000"/>
              </a:lnSpc>
              <a:buFont typeface="Wingdings" panose="05000000000000000000" pitchFamily="2" charset="2"/>
              <a:buChar char="§"/>
            </a:pPr>
            <a:r>
              <a:rPr lang="ko-KR" altLang="en-US" sz="20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투자계획의 타당성을 평가하는 두 가지 관점</a:t>
            </a:r>
            <a:endParaRPr lang="en-US" altLang="ko-KR" sz="2000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  <a:p>
            <a:pPr marL="615600" lvl="1" indent="-396000">
              <a:lnSpc>
                <a:spcPct val="120000"/>
              </a:lnSpc>
              <a:buNone/>
            </a:pPr>
            <a:r>
              <a:rPr lang="en-US" altLang="ko-KR" sz="20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(1) </a:t>
            </a:r>
            <a:r>
              <a:rPr lang="ko-KR" altLang="en-US" sz="20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채택가능성</a:t>
            </a:r>
            <a:r>
              <a:rPr lang="en-US" altLang="ko-KR" sz="20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(admissibility) : </a:t>
            </a:r>
            <a:r>
              <a:rPr lang="ko-KR" altLang="en-US" sz="20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어떤 투자계획이 과연 실행에 옮길   가치가 있는 것인지를 평가</a:t>
            </a:r>
            <a:endParaRPr lang="en-US" altLang="ko-KR" sz="2000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  <a:p>
            <a:pPr marL="793750" lvl="2" indent="-342900">
              <a:lnSpc>
                <a:spcPct val="120000"/>
              </a:lnSpc>
              <a:buFont typeface="Arial" panose="020B0604020202020204" pitchFamily="34" charset="0"/>
              <a:buChar char="•"/>
            </a:pPr>
            <a:r>
              <a:rPr lang="ko-KR" altLang="en-US" dirty="0">
                <a:latin typeface="나눔고딕" panose="020D0604000000000000" pitchFamily="50" charset="-127"/>
                <a:ea typeface="나눔고딕" panose="020D0604000000000000" pitchFamily="50" charset="-127"/>
              </a:rPr>
              <a:t>투자계획의 순편익의 현재가치가 </a:t>
            </a:r>
            <a:r>
              <a:rPr lang="en-US" altLang="ko-KR" dirty="0">
                <a:latin typeface="나눔고딕" panose="020D0604000000000000" pitchFamily="50" charset="-127"/>
                <a:ea typeface="나눔고딕" panose="020D0604000000000000" pitchFamily="50" charset="-127"/>
              </a:rPr>
              <a:t>0</a:t>
            </a:r>
            <a:r>
              <a:rPr lang="ko-KR" altLang="en-US" dirty="0">
                <a:latin typeface="나눔고딕" panose="020D0604000000000000" pitchFamily="50" charset="-127"/>
                <a:ea typeface="나눔고딕" panose="020D0604000000000000" pitchFamily="50" charset="-127"/>
              </a:rPr>
              <a:t>보다 큰가의 여부에 의해 판가름</a:t>
            </a:r>
            <a:endParaRPr lang="en-US" altLang="ko-KR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  <a:p>
            <a:pPr marL="615600" lvl="1" indent="-396000">
              <a:lnSpc>
                <a:spcPct val="120000"/>
              </a:lnSpc>
              <a:buNone/>
            </a:pPr>
            <a:r>
              <a:rPr lang="en-US" altLang="ko-KR" sz="20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(2) </a:t>
            </a:r>
            <a:r>
              <a:rPr lang="ko-KR" altLang="en-US" sz="20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우선순위</a:t>
            </a:r>
            <a:r>
              <a:rPr lang="en-US" altLang="ko-KR" sz="20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(</a:t>
            </a:r>
            <a:r>
              <a:rPr lang="en-US" altLang="ko-KR" sz="2000" dirty="0" err="1">
                <a:latin typeface="나눔고딕" panose="020D0604000000000000" pitchFamily="50" charset="-127"/>
                <a:ea typeface="나눔고딕" panose="020D0604000000000000" pitchFamily="50" charset="-127"/>
              </a:rPr>
              <a:t>preferability</a:t>
            </a:r>
            <a:r>
              <a:rPr lang="en-US" altLang="ko-KR" sz="20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) : </a:t>
            </a:r>
            <a:r>
              <a:rPr lang="ko-KR" altLang="en-US" sz="20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대안이 되는 여러 투자계획들을 놓고    우선순위 부여</a:t>
            </a:r>
            <a:endParaRPr lang="en-US" altLang="ko-KR" sz="2000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  <a:p>
            <a:pPr marL="793750" lvl="2" indent="-342900">
              <a:lnSpc>
                <a:spcPct val="120000"/>
              </a:lnSpc>
              <a:buFont typeface="Arial" panose="020B0604020202020204" pitchFamily="34" charset="0"/>
              <a:buChar char="•"/>
            </a:pPr>
            <a:r>
              <a:rPr lang="ko-KR" altLang="en-US" dirty="0">
                <a:latin typeface="나눔고딕" panose="020D0604000000000000" pitchFamily="50" charset="-127"/>
                <a:ea typeface="나눔고딕" panose="020D0604000000000000" pitchFamily="50" charset="-127"/>
              </a:rPr>
              <a:t>여러 대안들이 비교될 경우 현재가치가 높은 순서로 채택</a:t>
            </a:r>
            <a:endParaRPr lang="en-US" altLang="ko-KR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altLang="ko-KR">
                <a:latin typeface="나눔고딕" panose="020D0604000000000000" pitchFamily="50" charset="-127"/>
                <a:ea typeface="나눔고딕" panose="020D0604000000000000" pitchFamily="50" charset="-127"/>
              </a:rPr>
              <a:t>PUBLIC FINANCE</a:t>
            </a:r>
            <a:endParaRPr lang="ko-KR" altLang="en-US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ko-KR" altLang="en-US">
                <a:latin typeface="나눔고딕" panose="020D0604000000000000" pitchFamily="50" charset="-127"/>
                <a:ea typeface="나눔고딕" panose="020D0604000000000000" pitchFamily="50" charset="-127"/>
              </a:rPr>
              <a:t>제</a:t>
            </a:r>
            <a:r>
              <a:rPr lang="en-US" altLang="ko-KR">
                <a:latin typeface="나눔고딕" panose="020D0604000000000000" pitchFamily="50" charset="-127"/>
                <a:ea typeface="나눔고딕" panose="020D0604000000000000" pitchFamily="50" charset="-127"/>
              </a:rPr>
              <a:t>12</a:t>
            </a:r>
            <a:r>
              <a:rPr lang="ko-KR" altLang="en-US">
                <a:latin typeface="나눔고딕" panose="020D0604000000000000" pitchFamily="50" charset="-127"/>
                <a:ea typeface="나눔고딕" panose="020D0604000000000000" pitchFamily="50" charset="-127"/>
              </a:rPr>
              <a:t>장  비용편익분석</a:t>
            </a:r>
            <a:endParaRPr lang="ko-KR" altLang="en-US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6CA9FF6-BF29-4679-8C21-AEBAF2895125}" type="slidenum">
              <a:rPr lang="ko-KR" altLang="en-US" smtClean="0">
                <a:latin typeface="나눔고딕" panose="020D0604000000000000" pitchFamily="50" charset="-127"/>
                <a:ea typeface="나눔고딕" panose="020D0604000000000000" pitchFamily="50" charset="-127"/>
              </a:rPr>
              <a:t>4</a:t>
            </a:fld>
            <a:endParaRPr lang="ko-KR" altLang="en-US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240811475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ko-KR" altLang="en-US" dirty="0" err="1">
                <a:latin typeface="나눔고딕" panose="020D0604000000000000" pitchFamily="50" charset="-127"/>
                <a:ea typeface="나눔고딕" panose="020D0604000000000000" pitchFamily="50" charset="-127"/>
              </a:rPr>
              <a:t>내부수익률법</a:t>
            </a:r>
            <a:endParaRPr lang="ko-KR" altLang="en-US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내용 개체 틀 2"/>
              <p:cNvSpPr>
                <a:spLocks noGrp="1"/>
              </p:cNvSpPr>
              <p:nvPr>
                <p:ph idx="1"/>
              </p:nvPr>
            </p:nvSpPr>
            <p:spPr/>
            <p:txBody>
              <a:bodyPr anchor="ctr">
                <a:noAutofit/>
              </a:bodyPr>
              <a:lstStyle/>
              <a:p>
                <a:pPr marL="266700" indent="-266700"/>
                <a:r>
                  <a:rPr lang="ko-KR" altLang="en-US" sz="2000" b="1" dirty="0">
                    <a:solidFill>
                      <a:schemeClr val="tx1"/>
                    </a:solidFill>
                    <a:latin typeface="나눔고딕" panose="020D0604000000000000" pitchFamily="50" charset="-127"/>
                    <a:ea typeface="나눔고딕" panose="020D0604000000000000" pitchFamily="50" charset="-127"/>
                  </a:rPr>
                  <a:t>내부수익률</a:t>
                </a:r>
                <a:r>
                  <a:rPr lang="en-US" altLang="ko-KR" sz="2000" dirty="0">
                    <a:solidFill>
                      <a:schemeClr val="tx1"/>
                    </a:solidFill>
                    <a:latin typeface="나눔고딕" panose="020D0604000000000000" pitchFamily="50" charset="-127"/>
                    <a:ea typeface="나눔고딕" panose="020D0604000000000000" pitchFamily="50" charset="-127"/>
                  </a:rPr>
                  <a:t>(internal rate of return ;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altLang="ko-KR" sz="20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ko-KR" altLang="en-US" sz="2000" b="1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𝝆</m:t>
                        </m:r>
                      </m:e>
                      <m:sup>
                        <m:r>
                          <a:rPr lang="en-US" altLang="ko-KR" sz="2000" b="1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∗</m:t>
                        </m:r>
                      </m:sup>
                    </m:sSup>
                  </m:oMath>
                </a14:m>
                <a:r>
                  <a:rPr lang="en-US" altLang="ko-KR" sz="2000" dirty="0">
                    <a:solidFill>
                      <a:schemeClr val="tx1"/>
                    </a:solidFill>
                    <a:latin typeface="나눔고딕" panose="020D0604000000000000" pitchFamily="50" charset="-127"/>
                    <a:ea typeface="나눔고딕" panose="020D0604000000000000" pitchFamily="50" charset="-127"/>
                  </a:rPr>
                  <a:t>)</a:t>
                </a:r>
                <a:r>
                  <a:rPr lang="ko-KR" altLang="en-US" sz="2000" dirty="0">
                    <a:solidFill>
                      <a:schemeClr val="tx1"/>
                    </a:solidFill>
                    <a:latin typeface="나눔고딕" panose="020D0604000000000000" pitchFamily="50" charset="-127"/>
                    <a:ea typeface="나눔고딕" panose="020D0604000000000000" pitchFamily="50" charset="-127"/>
                  </a:rPr>
                  <a:t>은</a:t>
                </a:r>
                <a:r>
                  <a:rPr lang="en-US" altLang="ko-KR" sz="2000" dirty="0">
                    <a:solidFill>
                      <a:schemeClr val="tx1"/>
                    </a:solidFill>
                    <a:latin typeface="나눔고딕" panose="020D0604000000000000" pitchFamily="50" charset="-127"/>
                    <a:ea typeface="나눔고딕" panose="020D0604000000000000" pitchFamily="50" charset="-127"/>
                  </a:rPr>
                  <a:t> </a:t>
                </a:r>
                <a:r>
                  <a:rPr lang="ko-KR" altLang="en-US" sz="2000" dirty="0">
                    <a:solidFill>
                      <a:schemeClr val="tx1"/>
                    </a:solidFill>
                    <a:latin typeface="나눔고딕" panose="020D0604000000000000" pitchFamily="50" charset="-127"/>
                    <a:ea typeface="나눔고딕" panose="020D0604000000000000" pitchFamily="50" charset="-127"/>
                  </a:rPr>
                  <a:t>다음과 </a:t>
                </a:r>
                <a:r>
                  <a:rPr lang="ko-KR" altLang="en-US" sz="2000" dirty="0">
                    <a:latin typeface="나눔고딕" panose="020D0604000000000000" pitchFamily="50" charset="-127"/>
                    <a:ea typeface="나눔고딕" panose="020D0604000000000000" pitchFamily="50" charset="-127"/>
                  </a:rPr>
                  <a:t>같은 방정식의 해</a:t>
                </a:r>
                <a:br>
                  <a:rPr lang="en-US" altLang="ko-KR" sz="2000" i="1" dirty="0">
                    <a:latin typeface="나눔고딕" panose="020D0604000000000000" pitchFamily="50" charset="-127"/>
                    <a:ea typeface="나눔고딕" panose="020D0604000000000000" pitchFamily="50" charset="-127"/>
                  </a:rPr>
                </a:br>
                <a14:m>
                  <m:oMath xmlns:m="http://schemas.openxmlformats.org/officeDocument/2006/math">
                    <m:sSub>
                      <m:sSubPr>
                        <m:ctrlPr>
                          <a:rPr lang="en-US" altLang="ko-KR" sz="20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ko-KR" sz="2000" b="1" i="1">
                            <a:latin typeface="Cambria Math" panose="02040503050406030204" pitchFamily="18" charset="0"/>
                          </a:rPr>
                          <m:t>𝑩</m:t>
                        </m:r>
                      </m:e>
                      <m:sub>
                        <m:r>
                          <a:rPr lang="en-US" altLang="ko-KR" sz="2000" b="1" i="1">
                            <a:latin typeface="Cambria Math" panose="02040503050406030204" pitchFamily="18" charset="0"/>
                          </a:rPr>
                          <m:t>𝟎</m:t>
                        </m:r>
                      </m:sub>
                    </m:sSub>
                    <m:r>
                      <a:rPr lang="en-US" altLang="ko-KR" sz="2000" b="1" i="1">
                        <a:latin typeface="Cambria Math" panose="02040503050406030204" pitchFamily="18" charset="0"/>
                      </a:rPr>
                      <m:t>−</m:t>
                    </m:r>
                    <m:sSub>
                      <m:sSubPr>
                        <m:ctrlPr>
                          <a:rPr lang="en-US" altLang="ko-KR" sz="20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ko-KR" sz="2000" b="1" i="1">
                            <a:latin typeface="Cambria Math" panose="02040503050406030204" pitchFamily="18" charset="0"/>
                          </a:rPr>
                          <m:t>𝑪</m:t>
                        </m:r>
                      </m:e>
                      <m:sub>
                        <m:r>
                          <a:rPr lang="en-US" altLang="ko-KR" sz="2000" b="1" i="1">
                            <a:latin typeface="Cambria Math" panose="02040503050406030204" pitchFamily="18" charset="0"/>
                          </a:rPr>
                          <m:t>𝟎</m:t>
                        </m:r>
                      </m:sub>
                    </m:sSub>
                    <m:r>
                      <a:rPr lang="en-US" altLang="ko-KR" sz="2000" b="1" i="1">
                        <a:latin typeface="Cambria Math" panose="02040503050406030204" pitchFamily="18" charset="0"/>
                      </a:rPr>
                      <m:t>+</m:t>
                    </m:r>
                    <m:f>
                      <m:fPr>
                        <m:ctrlPr>
                          <a:rPr lang="en-US" altLang="ko-KR" sz="2000" i="1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sSub>
                          <m:sSubPr>
                            <m:ctrlPr>
                              <a:rPr lang="en-US" altLang="ko-KR" sz="2000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ko-KR" sz="2000" b="1" i="1">
                                <a:latin typeface="Cambria Math" panose="02040503050406030204" pitchFamily="18" charset="0"/>
                              </a:rPr>
                              <m:t>𝑩</m:t>
                            </m:r>
                          </m:e>
                          <m:sub>
                            <m:r>
                              <a:rPr lang="en-US" altLang="ko-KR" sz="2000" b="1" i="1">
                                <a:latin typeface="Cambria Math" panose="02040503050406030204" pitchFamily="18" charset="0"/>
                              </a:rPr>
                              <m:t>𝟏</m:t>
                            </m:r>
                          </m:sub>
                        </m:sSub>
                        <m:r>
                          <a:rPr lang="en-US" altLang="ko-KR" sz="2000" b="1" i="1">
                            <a:latin typeface="Cambria Math" panose="02040503050406030204" pitchFamily="18" charset="0"/>
                          </a:rPr>
                          <m:t>−</m:t>
                        </m:r>
                        <m:sSub>
                          <m:sSubPr>
                            <m:ctrlPr>
                              <a:rPr lang="en-US" altLang="ko-KR" sz="2000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ko-KR" sz="2000" b="1" i="1">
                                <a:latin typeface="Cambria Math" panose="02040503050406030204" pitchFamily="18" charset="0"/>
                              </a:rPr>
                              <m:t>𝑪</m:t>
                            </m:r>
                          </m:e>
                          <m:sub>
                            <m:r>
                              <a:rPr lang="en-US" altLang="ko-KR" sz="2000" b="1" i="1">
                                <a:latin typeface="Cambria Math" panose="02040503050406030204" pitchFamily="18" charset="0"/>
                              </a:rPr>
                              <m:t>𝟏</m:t>
                            </m:r>
                          </m:sub>
                        </m:sSub>
                      </m:num>
                      <m:den>
                        <m:r>
                          <a:rPr lang="en-US" altLang="ko-KR" sz="2000" b="1" i="1">
                            <a:latin typeface="Cambria Math" panose="02040503050406030204" pitchFamily="18" charset="0"/>
                          </a:rPr>
                          <m:t>𝟏</m:t>
                        </m:r>
                        <m:r>
                          <a:rPr lang="en-US" altLang="ko-KR" sz="2000" b="1" i="1"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ko-KR" altLang="en-US" sz="2000" b="1" i="1">
                            <a:latin typeface="Cambria Math" panose="02040503050406030204" pitchFamily="18" charset="0"/>
                          </a:rPr>
                          <m:t>𝝆</m:t>
                        </m:r>
                      </m:den>
                    </m:f>
                    <m:r>
                      <a:rPr lang="en-US" altLang="ko-KR" sz="2000" b="1" i="1">
                        <a:latin typeface="Cambria Math" panose="02040503050406030204" pitchFamily="18" charset="0"/>
                      </a:rPr>
                      <m:t>+…+</m:t>
                    </m:r>
                    <m:f>
                      <m:fPr>
                        <m:ctrlPr>
                          <a:rPr lang="en-US" altLang="ko-KR" sz="2000" i="1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sSub>
                          <m:sSubPr>
                            <m:ctrlPr>
                              <a:rPr lang="en-US" altLang="ko-KR" sz="2000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ko-KR" sz="2000" b="1" i="1">
                                <a:latin typeface="Cambria Math" panose="02040503050406030204" pitchFamily="18" charset="0"/>
                              </a:rPr>
                              <m:t>𝑩</m:t>
                            </m:r>
                          </m:e>
                          <m:sub>
                            <m:r>
                              <a:rPr lang="en-US" altLang="ko-KR" sz="2000" b="1" i="1">
                                <a:latin typeface="Cambria Math" panose="02040503050406030204" pitchFamily="18" charset="0"/>
                              </a:rPr>
                              <m:t>𝒏</m:t>
                            </m:r>
                            <m:r>
                              <a:rPr lang="en-US" altLang="ko-KR" sz="2000" b="1" i="1">
                                <a:latin typeface="Cambria Math" panose="02040503050406030204" pitchFamily="18" charset="0"/>
                              </a:rPr>
                              <m:t>−</m:t>
                            </m:r>
                            <m:r>
                              <a:rPr lang="en-US" altLang="ko-KR" sz="2000" b="1" i="1">
                                <a:latin typeface="Cambria Math" panose="02040503050406030204" pitchFamily="18" charset="0"/>
                              </a:rPr>
                              <m:t>𝟏</m:t>
                            </m:r>
                          </m:sub>
                        </m:sSub>
                        <m:r>
                          <a:rPr lang="en-US" altLang="ko-KR" sz="2000" b="1" i="1">
                            <a:latin typeface="Cambria Math" panose="02040503050406030204" pitchFamily="18" charset="0"/>
                          </a:rPr>
                          <m:t>−</m:t>
                        </m:r>
                        <m:sSub>
                          <m:sSubPr>
                            <m:ctrlPr>
                              <a:rPr lang="en-US" altLang="ko-KR" sz="2000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ko-KR" sz="2000" b="1" i="1">
                                <a:latin typeface="Cambria Math" panose="02040503050406030204" pitchFamily="18" charset="0"/>
                              </a:rPr>
                              <m:t>𝑪</m:t>
                            </m:r>
                          </m:e>
                          <m:sub>
                            <m:r>
                              <a:rPr lang="en-US" altLang="ko-KR" sz="2000" b="1" i="1">
                                <a:latin typeface="Cambria Math" panose="02040503050406030204" pitchFamily="18" charset="0"/>
                              </a:rPr>
                              <m:t>𝒏</m:t>
                            </m:r>
                            <m:r>
                              <a:rPr lang="en-US" altLang="ko-KR" sz="2000" b="1" i="1">
                                <a:latin typeface="Cambria Math" panose="02040503050406030204" pitchFamily="18" charset="0"/>
                              </a:rPr>
                              <m:t>−</m:t>
                            </m:r>
                            <m:r>
                              <a:rPr lang="en-US" altLang="ko-KR" sz="2000" b="1" i="1">
                                <a:latin typeface="Cambria Math" panose="02040503050406030204" pitchFamily="18" charset="0"/>
                              </a:rPr>
                              <m:t>𝟏</m:t>
                            </m:r>
                          </m:sub>
                        </m:sSub>
                      </m:num>
                      <m:den>
                        <m:sSup>
                          <m:sSupPr>
                            <m:ctrlPr>
                              <a:rPr lang="en-US" altLang="ko-KR" sz="2000" i="1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d>
                              <m:dPr>
                                <m:ctrlPr>
                                  <a:rPr lang="en-US" altLang="ko-KR" sz="2000" i="1"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r>
                                  <a:rPr lang="en-US" altLang="ko-KR" sz="2000" b="1" i="1">
                                    <a:latin typeface="Cambria Math" panose="02040503050406030204" pitchFamily="18" charset="0"/>
                                  </a:rPr>
                                  <m:t>𝟏</m:t>
                                </m:r>
                                <m:r>
                                  <a:rPr lang="en-US" altLang="ko-KR" sz="2000" b="1" i="1">
                                    <a:latin typeface="Cambria Math" panose="02040503050406030204" pitchFamily="18" charset="0"/>
                                  </a:rPr>
                                  <m:t>+</m:t>
                                </m:r>
                                <m:r>
                                  <a:rPr lang="ko-KR" altLang="en-US" sz="2000" b="1" i="1">
                                    <a:latin typeface="Cambria Math" panose="02040503050406030204" pitchFamily="18" charset="0"/>
                                  </a:rPr>
                                  <m:t>𝝆</m:t>
                                </m:r>
                              </m:e>
                            </m:d>
                          </m:e>
                          <m:sup>
                            <m:r>
                              <a:rPr lang="en-US" altLang="ko-KR" sz="2000" b="1" i="1">
                                <a:latin typeface="Cambria Math" panose="02040503050406030204" pitchFamily="18" charset="0"/>
                              </a:rPr>
                              <m:t>𝒏</m:t>
                            </m:r>
                            <m:r>
                              <a:rPr lang="en-US" altLang="ko-KR" sz="2000" b="1" i="1">
                                <a:latin typeface="Cambria Math" panose="02040503050406030204" pitchFamily="18" charset="0"/>
                              </a:rPr>
                              <m:t>−</m:t>
                            </m:r>
                            <m:r>
                              <a:rPr lang="en-US" altLang="ko-KR" sz="2000" b="1" i="1">
                                <a:latin typeface="Cambria Math" panose="02040503050406030204" pitchFamily="18" charset="0"/>
                              </a:rPr>
                              <m:t>𝟏</m:t>
                            </m:r>
                          </m:sup>
                        </m:sSup>
                      </m:den>
                    </m:f>
                    <m:r>
                      <a:rPr lang="en-US" altLang="ko-KR" sz="2000" b="1" i="1">
                        <a:latin typeface="Cambria Math" panose="02040503050406030204" pitchFamily="18" charset="0"/>
                      </a:rPr>
                      <m:t>+</m:t>
                    </m:r>
                    <m:f>
                      <m:fPr>
                        <m:ctrlPr>
                          <a:rPr lang="en-US" altLang="ko-KR" sz="2000" i="1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sSub>
                          <m:sSubPr>
                            <m:ctrlPr>
                              <a:rPr lang="en-US" altLang="ko-KR" sz="2000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ko-KR" sz="2000" b="1" i="1">
                                <a:latin typeface="Cambria Math" panose="02040503050406030204" pitchFamily="18" charset="0"/>
                              </a:rPr>
                              <m:t>𝑩</m:t>
                            </m:r>
                          </m:e>
                          <m:sub>
                            <m:r>
                              <a:rPr lang="en-US" altLang="ko-KR" sz="2000" b="1" i="1">
                                <a:latin typeface="Cambria Math" panose="02040503050406030204" pitchFamily="18" charset="0"/>
                              </a:rPr>
                              <m:t>𝒏</m:t>
                            </m:r>
                          </m:sub>
                        </m:sSub>
                        <m:r>
                          <a:rPr lang="en-US" altLang="ko-KR" sz="2000" b="1" i="1">
                            <a:latin typeface="Cambria Math" panose="02040503050406030204" pitchFamily="18" charset="0"/>
                          </a:rPr>
                          <m:t>−</m:t>
                        </m:r>
                        <m:sSub>
                          <m:sSubPr>
                            <m:ctrlPr>
                              <a:rPr lang="en-US" altLang="ko-KR" sz="2000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ko-KR" sz="2000" b="1" i="1">
                                <a:latin typeface="Cambria Math" panose="02040503050406030204" pitchFamily="18" charset="0"/>
                              </a:rPr>
                              <m:t>𝑪</m:t>
                            </m:r>
                          </m:e>
                          <m:sub>
                            <m:r>
                              <a:rPr lang="en-US" altLang="ko-KR" sz="2000" b="1" i="1">
                                <a:latin typeface="Cambria Math" panose="02040503050406030204" pitchFamily="18" charset="0"/>
                              </a:rPr>
                              <m:t>𝒏</m:t>
                            </m:r>
                          </m:sub>
                        </m:sSub>
                      </m:num>
                      <m:den>
                        <m:sSup>
                          <m:sSupPr>
                            <m:ctrlPr>
                              <a:rPr lang="en-US" altLang="ko-KR" sz="2000" i="1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d>
                              <m:dPr>
                                <m:ctrlPr>
                                  <a:rPr lang="en-US" altLang="ko-KR" sz="2000" i="1"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r>
                                  <a:rPr lang="en-US" altLang="ko-KR" sz="2000" b="1" i="1">
                                    <a:latin typeface="Cambria Math" panose="02040503050406030204" pitchFamily="18" charset="0"/>
                                  </a:rPr>
                                  <m:t>𝟏</m:t>
                                </m:r>
                                <m:r>
                                  <a:rPr lang="en-US" altLang="ko-KR" sz="2000" b="1" i="1">
                                    <a:latin typeface="Cambria Math" panose="02040503050406030204" pitchFamily="18" charset="0"/>
                                  </a:rPr>
                                  <m:t>+</m:t>
                                </m:r>
                                <m:r>
                                  <a:rPr lang="ko-KR" altLang="en-US" sz="2000" b="1" i="1">
                                    <a:latin typeface="Cambria Math" panose="02040503050406030204" pitchFamily="18" charset="0"/>
                                  </a:rPr>
                                  <m:t>𝝆</m:t>
                                </m:r>
                              </m:e>
                            </m:d>
                          </m:e>
                          <m:sup>
                            <m:r>
                              <a:rPr lang="en-US" altLang="ko-KR" sz="2000" b="1" i="1">
                                <a:latin typeface="Cambria Math" panose="02040503050406030204" pitchFamily="18" charset="0"/>
                              </a:rPr>
                              <m:t>𝒏</m:t>
                            </m:r>
                          </m:sup>
                        </m:sSup>
                      </m:den>
                    </m:f>
                    <m:r>
                      <a:rPr lang="en-US" altLang="ko-KR" sz="2000" b="1" i="1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altLang="ko-KR" sz="2000" b="1" i="1">
                        <a:latin typeface="Cambria Math" panose="02040503050406030204" pitchFamily="18" charset="0"/>
                      </a:rPr>
                      <m:t>𝟎</m:t>
                    </m:r>
                  </m:oMath>
                </a14:m>
                <a:endParaRPr lang="en-US" altLang="ko-KR" dirty="0"/>
              </a:p>
              <a:p>
                <a:pPr marL="266700" indent="-266700"/>
                <a:endParaRPr lang="en-US" altLang="ko-KR" sz="300" dirty="0">
                  <a:latin typeface="나눔고딕" panose="020D0604000000000000" pitchFamily="50" charset="-127"/>
                  <a:ea typeface="나눔고딕" panose="020D0604000000000000" pitchFamily="50" charset="-127"/>
                </a:endParaRPr>
              </a:p>
              <a:p>
                <a:pPr marL="266700" indent="-266700">
                  <a:buFont typeface="Wingdings" panose="05000000000000000000" pitchFamily="2" charset="2"/>
                  <a:buChar char="§"/>
                </a:pPr>
                <a:r>
                  <a:rPr lang="ko-KR" altLang="en-US" sz="2000" dirty="0">
                    <a:latin typeface="나눔고딕" panose="020D0604000000000000" pitchFamily="50" charset="-127"/>
                    <a:ea typeface="나눔고딕" panose="020D0604000000000000" pitchFamily="50" charset="-127"/>
                  </a:rPr>
                  <a:t>현재가치의 식은 편익 및 비용의 흐름을 할인율 </a:t>
                </a:r>
                <a14:m>
                  <m:oMath xmlns:m="http://schemas.openxmlformats.org/officeDocument/2006/math">
                    <m:r>
                      <a:rPr lang="en-US" altLang="ko-KR" sz="2000" b="1" i="1">
                        <a:latin typeface="Cambria Math" panose="02040503050406030204" pitchFamily="18" charset="0"/>
                      </a:rPr>
                      <m:t>𝒓</m:t>
                    </m:r>
                  </m:oMath>
                </a14:m>
                <a:r>
                  <a:rPr lang="ko-KR" altLang="en-US" sz="2000" dirty="0">
                    <a:latin typeface="나눔고딕" panose="020D0604000000000000" pitchFamily="50" charset="-127"/>
                    <a:ea typeface="나눔고딕" panose="020D0604000000000000" pitchFamily="50" charset="-127"/>
                  </a:rPr>
                  <a:t>을 통해 현재가치로  환산한 것을 뜻하지만</a:t>
                </a:r>
                <a:r>
                  <a:rPr lang="en-US" altLang="ko-KR" sz="2000" dirty="0">
                    <a:latin typeface="나눔고딕" panose="020D0604000000000000" pitchFamily="50" charset="-127"/>
                    <a:ea typeface="나눔고딕" panose="020D0604000000000000" pitchFamily="50" charset="-127"/>
                  </a:rPr>
                  <a:t>, </a:t>
                </a:r>
                <a:r>
                  <a:rPr lang="ko-KR" altLang="en-US" sz="2000" dirty="0">
                    <a:latin typeface="나눔고딕" panose="020D0604000000000000" pitchFamily="50" charset="-127"/>
                    <a:ea typeface="나눔고딕" panose="020D0604000000000000" pitchFamily="50" charset="-127"/>
                  </a:rPr>
                  <a:t>내부수익률을 구하는 식에서는 할인율 </a:t>
                </a:r>
                <a14:m>
                  <m:oMath xmlns:m="http://schemas.openxmlformats.org/officeDocument/2006/math">
                    <m:r>
                      <a:rPr lang="ko-KR" altLang="en-US" sz="2000" b="1" i="1">
                        <a:latin typeface="Cambria Math" panose="02040503050406030204" pitchFamily="18" charset="0"/>
                      </a:rPr>
                      <m:t>𝝆</m:t>
                    </m:r>
                  </m:oMath>
                </a14:m>
                <a:r>
                  <a:rPr lang="ko-KR" altLang="en-US" sz="2000" dirty="0">
                    <a:latin typeface="나눔고딕" panose="020D0604000000000000" pitchFamily="50" charset="-127"/>
                    <a:ea typeface="나눔고딕" panose="020D0604000000000000" pitchFamily="50" charset="-127"/>
                  </a:rPr>
                  <a:t>가 미지수로 되어 있는 차이가 있음</a:t>
                </a:r>
                <a:endParaRPr lang="en-US" altLang="ko-KR" sz="2000" dirty="0">
                  <a:latin typeface="나눔고딕" panose="020D0604000000000000" pitchFamily="50" charset="-127"/>
                  <a:ea typeface="나눔고딕" panose="020D0604000000000000" pitchFamily="50" charset="-127"/>
                </a:endParaRPr>
              </a:p>
              <a:p>
                <a:pPr marL="266700" indent="-266700">
                  <a:buFont typeface="Wingdings" panose="05000000000000000000" pitchFamily="2" charset="2"/>
                  <a:buChar char="§"/>
                </a:pPr>
                <a:endParaRPr lang="en-US" altLang="ko-KR" sz="500" dirty="0">
                  <a:latin typeface="나눔고딕" panose="020D0604000000000000" pitchFamily="50" charset="-127"/>
                  <a:ea typeface="나눔고딕" panose="020D0604000000000000" pitchFamily="50" charset="-127"/>
                </a:endParaRPr>
              </a:p>
              <a:p>
                <a:pPr marL="266700" indent="-266700"/>
                <a:r>
                  <a:rPr lang="ko-KR" altLang="en-US" sz="2000" dirty="0">
                    <a:solidFill>
                      <a:schemeClr val="accent1">
                        <a:lumMod val="75000"/>
                      </a:schemeClr>
                    </a:solidFill>
                    <a:latin typeface="나눔고딕" panose="020D0604000000000000" pitchFamily="50" charset="-127"/>
                    <a:ea typeface="나눔고딕" panose="020D0604000000000000" pitchFamily="50" charset="-127"/>
                  </a:rPr>
                  <a:t>내부수익률법</a:t>
                </a:r>
                <a:r>
                  <a:rPr lang="ko-KR" altLang="en-US" sz="2000" dirty="0">
                    <a:latin typeface="나눔고딕" panose="020D0604000000000000" pitchFamily="50" charset="-127"/>
                    <a:ea typeface="나눔고딕" panose="020D0604000000000000" pitchFamily="50" charset="-127"/>
                  </a:rPr>
                  <a:t> </a:t>
                </a:r>
                <a:r>
                  <a:rPr lang="en-US" altLang="ko-KR" sz="2000" dirty="0">
                    <a:latin typeface="나눔고딕" panose="020D0604000000000000" pitchFamily="50" charset="-127"/>
                    <a:ea typeface="나눔고딕" panose="020D0604000000000000" pitchFamily="50" charset="-127"/>
                  </a:rPr>
                  <a:t>: </a:t>
                </a:r>
                <a:r>
                  <a:rPr lang="ko-KR" altLang="en-US" sz="2000" dirty="0">
                    <a:latin typeface="나눔고딕" panose="020D0604000000000000" pitchFamily="50" charset="-127"/>
                    <a:ea typeface="나눔고딕" panose="020D0604000000000000" pitchFamily="50" charset="-127"/>
                  </a:rPr>
                  <a:t>내부수익률에 기초해 투자계획의 타당성을 평가하는 방법</a:t>
                </a:r>
                <a:endParaRPr lang="en-US" altLang="ko-KR" sz="2000" dirty="0">
                  <a:latin typeface="나눔고딕" panose="020D0604000000000000" pitchFamily="50" charset="-127"/>
                  <a:ea typeface="나눔고딕" panose="020D0604000000000000" pitchFamily="50" charset="-127"/>
                </a:endParaRPr>
              </a:p>
            </p:txBody>
          </p:sp>
        </mc:Choice>
        <mc:Fallback>
          <p:sp>
            <p:nvSpPr>
              <p:cNvPr id="3" name="내용 개체 틀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696"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altLang="ko-KR">
                <a:latin typeface="나눔고딕" panose="020D0604000000000000" pitchFamily="50" charset="-127"/>
                <a:ea typeface="나눔고딕" panose="020D0604000000000000" pitchFamily="50" charset="-127"/>
              </a:rPr>
              <a:t>PUBLIC FINANCE</a:t>
            </a:r>
            <a:endParaRPr lang="ko-KR" altLang="en-US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ko-KR" altLang="en-US">
                <a:latin typeface="나눔고딕" panose="020D0604000000000000" pitchFamily="50" charset="-127"/>
                <a:ea typeface="나눔고딕" panose="020D0604000000000000" pitchFamily="50" charset="-127"/>
              </a:rPr>
              <a:t>제</a:t>
            </a:r>
            <a:r>
              <a:rPr lang="en-US" altLang="ko-KR">
                <a:latin typeface="나눔고딕" panose="020D0604000000000000" pitchFamily="50" charset="-127"/>
                <a:ea typeface="나눔고딕" panose="020D0604000000000000" pitchFamily="50" charset="-127"/>
              </a:rPr>
              <a:t>12</a:t>
            </a:r>
            <a:r>
              <a:rPr lang="ko-KR" altLang="en-US">
                <a:latin typeface="나눔고딕" panose="020D0604000000000000" pitchFamily="50" charset="-127"/>
                <a:ea typeface="나눔고딕" panose="020D0604000000000000" pitchFamily="50" charset="-127"/>
              </a:rPr>
              <a:t>장  비용편익분석</a:t>
            </a:r>
            <a:endParaRPr lang="ko-KR" altLang="en-US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6CA9FF6-BF29-4679-8C21-AEBAF2895125}" type="slidenum">
              <a:rPr lang="ko-KR" altLang="en-US" smtClean="0">
                <a:latin typeface="나눔고딕" panose="020D0604000000000000" pitchFamily="50" charset="-127"/>
                <a:ea typeface="나눔고딕" panose="020D0604000000000000" pitchFamily="50" charset="-127"/>
              </a:rPr>
              <a:t>5</a:t>
            </a:fld>
            <a:endParaRPr lang="ko-KR" altLang="en-US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64422243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ko-KR" altLang="en-US" dirty="0" err="1">
                <a:latin typeface="나눔고딕" panose="020D0604000000000000" pitchFamily="50" charset="-127"/>
                <a:ea typeface="나눔고딕" panose="020D0604000000000000" pitchFamily="50" charset="-127"/>
              </a:rPr>
              <a:t>내부수익률법</a:t>
            </a:r>
            <a:endParaRPr lang="ko-KR" altLang="en-US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내용 개체 틀 2"/>
              <p:cNvSpPr>
                <a:spLocks noGrp="1"/>
              </p:cNvSpPr>
              <p:nvPr>
                <p:ph idx="1"/>
              </p:nvPr>
            </p:nvSpPr>
            <p:spPr/>
            <p:txBody>
              <a:bodyPr anchor="ctr">
                <a:noAutofit/>
              </a:bodyPr>
              <a:lstStyle/>
              <a:p>
                <a:pPr marL="266700" indent="-266700">
                  <a:buFont typeface="Wingdings" panose="05000000000000000000" pitchFamily="2" charset="2"/>
                  <a:buChar char="§"/>
                </a:pPr>
                <a:r>
                  <a:rPr lang="ko-KR" altLang="en-US" sz="2000" dirty="0">
                    <a:latin typeface="나눔고딕" panose="020D0604000000000000" pitchFamily="50" charset="-127"/>
                    <a:ea typeface="나눔고딕" panose="020D0604000000000000" pitchFamily="50" charset="-127"/>
                  </a:rPr>
                  <a:t>내부수익률법에 의한 평가기준</a:t>
                </a:r>
                <a:endParaRPr lang="en-US" altLang="ko-KR" sz="2000" dirty="0">
                  <a:latin typeface="나눔고딕" panose="020D0604000000000000" pitchFamily="50" charset="-127"/>
                  <a:ea typeface="나눔고딕" panose="020D0604000000000000" pitchFamily="50" charset="-127"/>
                </a:endParaRPr>
              </a:p>
              <a:p>
                <a:pPr marL="444500" lvl="1"/>
                <a:r>
                  <a:rPr lang="ko-KR" altLang="en-US" dirty="0"/>
                  <a:t>내부수익률</a:t>
                </a:r>
                <a:r>
                  <a:rPr lang="en-US" altLang="ko-KR" dirty="0"/>
                  <a:t>(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altLang="ko-KR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ko-KR" altLang="en-US" b="1" i="1">
                            <a:latin typeface="Cambria Math" panose="02040503050406030204" pitchFamily="18" charset="0"/>
                          </a:rPr>
                          <m:t>𝝆</m:t>
                        </m:r>
                      </m:e>
                      <m:sup>
                        <m:r>
                          <a:rPr lang="en-US" altLang="ko-KR" b="1" i="1">
                            <a:latin typeface="Cambria Math" panose="02040503050406030204" pitchFamily="18" charset="0"/>
                          </a:rPr>
                          <m:t>∗</m:t>
                        </m:r>
                      </m:sup>
                    </m:sSup>
                  </m:oMath>
                </a14:m>
                <a:r>
                  <a:rPr lang="en-US" altLang="ko-KR" dirty="0"/>
                  <a:t>)</a:t>
                </a:r>
                <a:r>
                  <a:rPr lang="ko-KR" altLang="en-US" dirty="0"/>
                  <a:t>이 투자계획에 소요되는 자금의 기회비용인 할인율</a:t>
                </a:r>
                <a:r>
                  <a:rPr lang="en-US" altLang="ko-KR" dirty="0"/>
                  <a:t>(</a:t>
                </a:r>
                <a14:m>
                  <m:oMath xmlns:m="http://schemas.openxmlformats.org/officeDocument/2006/math">
                    <m:r>
                      <a:rPr lang="en-US" altLang="ko-KR" b="1" i="1">
                        <a:latin typeface="Cambria Math" panose="02040503050406030204" pitchFamily="18" charset="0"/>
                      </a:rPr>
                      <m:t>𝒓</m:t>
                    </m:r>
                  </m:oMath>
                </a14:m>
                <a:r>
                  <a:rPr lang="en-US" altLang="ko-KR" dirty="0"/>
                  <a:t>)</a:t>
                </a:r>
                <a:r>
                  <a:rPr lang="ko-KR" altLang="en-US" dirty="0"/>
                  <a:t>보다 크면 채택</a:t>
                </a:r>
                <a:r>
                  <a:rPr lang="en-US" altLang="ko-KR" dirty="0"/>
                  <a:t>, </a:t>
                </a:r>
                <a:r>
                  <a:rPr lang="ko-KR" altLang="en-US" dirty="0"/>
                  <a:t>그렇지 않으면 기각</a:t>
                </a:r>
                <a:endParaRPr lang="en-US" altLang="ko-KR" dirty="0"/>
              </a:p>
              <a:p>
                <a:pPr marL="444500" lvl="1"/>
                <a:r>
                  <a:rPr lang="ko-KR" altLang="en-US" dirty="0"/>
                  <a:t>여러 투자계획을 비교할 경우에는 내부수익률이 높은 순으로 우선 순위 부여</a:t>
                </a:r>
                <a:endParaRPr lang="en-US" altLang="ko-KR" dirty="0"/>
              </a:p>
              <a:p>
                <a:pPr marL="444500" lvl="1"/>
                <a:endParaRPr lang="en-US" altLang="ko-KR" sz="2000" dirty="0">
                  <a:latin typeface="나눔고딕" panose="020D0604000000000000" pitchFamily="50" charset="-127"/>
                  <a:ea typeface="나눔고딕" panose="020D0604000000000000" pitchFamily="50" charset="-127"/>
                </a:endParaRPr>
              </a:p>
              <a:p>
                <a:pPr marL="266700" indent="-266700">
                  <a:buFont typeface="Wingdings" panose="05000000000000000000" pitchFamily="2" charset="2"/>
                  <a:buChar char="§"/>
                </a:pPr>
                <a:r>
                  <a:rPr lang="ko-KR" altLang="en-US" sz="2000" dirty="0">
                    <a:latin typeface="나눔고딕" panose="020D0604000000000000" pitchFamily="50" charset="-127"/>
                    <a:ea typeface="나눔고딕" panose="020D0604000000000000" pitchFamily="50" charset="-127"/>
                  </a:rPr>
                  <a:t>내부수익률법의 문제점</a:t>
                </a:r>
                <a:endParaRPr lang="en-US" altLang="ko-KR" sz="2000" dirty="0">
                  <a:latin typeface="나눔고딕" panose="020D0604000000000000" pitchFamily="50" charset="-127"/>
                  <a:ea typeface="나눔고딕" panose="020D0604000000000000" pitchFamily="50" charset="-127"/>
                </a:endParaRPr>
              </a:p>
              <a:p>
                <a:pPr marL="444500" lvl="1"/>
                <a:r>
                  <a:rPr lang="ko-KR" altLang="en-US" dirty="0">
                    <a:latin typeface="나눔고딕" panose="020D0604000000000000" pitchFamily="50" charset="-127"/>
                    <a:ea typeface="나눔고딕" panose="020D0604000000000000" pitchFamily="50" charset="-127"/>
                  </a:rPr>
                  <a:t>투자계획의 크기가 서로 다른 상황에서 이 방법에 의해 우선순위를 정할 때 문제가 발생하기 쉬움</a:t>
                </a:r>
                <a:endParaRPr lang="en-US" altLang="ko-KR" dirty="0">
                  <a:latin typeface="나눔고딕" panose="020D0604000000000000" pitchFamily="50" charset="-127"/>
                  <a:ea typeface="나눔고딕" panose="020D0604000000000000" pitchFamily="50" charset="-127"/>
                </a:endParaRPr>
              </a:p>
              <a:p>
                <a:pPr marL="444500" lvl="1"/>
                <a:r>
                  <a:rPr lang="ko-KR" altLang="en-US" dirty="0">
                    <a:latin typeface="나눔고딕" panose="020D0604000000000000" pitchFamily="50" charset="-127"/>
                    <a:ea typeface="나눔고딕" panose="020D0604000000000000" pitchFamily="50" charset="-127"/>
                  </a:rPr>
                  <a:t>미지수 </a:t>
                </a:r>
                <a14:m>
                  <m:oMath xmlns:m="http://schemas.openxmlformats.org/officeDocument/2006/math">
                    <m:r>
                      <a:rPr lang="ko-KR" altLang="en-US" b="1" i="1">
                        <a:latin typeface="Cambria Math" panose="02040503050406030204" pitchFamily="18" charset="0"/>
                      </a:rPr>
                      <m:t>𝝆</m:t>
                    </m:r>
                  </m:oMath>
                </a14:m>
                <a:r>
                  <a:rPr lang="ko-KR" altLang="en-US" dirty="0">
                    <a:latin typeface="나눔고딕" panose="020D0604000000000000" pitchFamily="50" charset="-127"/>
                    <a:ea typeface="나눔고딕" panose="020D0604000000000000" pitchFamily="50" charset="-127"/>
                  </a:rPr>
                  <a:t>의 해가 여러 개가 나올 수 있어 어떤 것을 내부수익률로 선택해야 할지가 분명하지 않음</a:t>
                </a:r>
                <a:endParaRPr lang="en-US" altLang="ko-KR" dirty="0">
                  <a:latin typeface="나눔고딕" panose="020D0604000000000000" pitchFamily="50" charset="-127"/>
                  <a:ea typeface="나눔고딕" panose="020D0604000000000000" pitchFamily="50" charset="-127"/>
                </a:endParaRPr>
              </a:p>
            </p:txBody>
          </p:sp>
        </mc:Choice>
        <mc:Fallback>
          <p:sp>
            <p:nvSpPr>
              <p:cNvPr id="3" name="내용 개체 틀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696" r="-232"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altLang="ko-KR">
                <a:latin typeface="나눔고딕" panose="020D0604000000000000" pitchFamily="50" charset="-127"/>
                <a:ea typeface="나눔고딕" panose="020D0604000000000000" pitchFamily="50" charset="-127"/>
              </a:rPr>
              <a:t>PUBLIC FINANCE</a:t>
            </a:r>
            <a:endParaRPr lang="ko-KR" altLang="en-US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ko-KR" altLang="en-US">
                <a:latin typeface="나눔고딕" panose="020D0604000000000000" pitchFamily="50" charset="-127"/>
                <a:ea typeface="나눔고딕" panose="020D0604000000000000" pitchFamily="50" charset="-127"/>
              </a:rPr>
              <a:t>제</a:t>
            </a:r>
            <a:r>
              <a:rPr lang="en-US" altLang="ko-KR">
                <a:latin typeface="나눔고딕" panose="020D0604000000000000" pitchFamily="50" charset="-127"/>
                <a:ea typeface="나눔고딕" panose="020D0604000000000000" pitchFamily="50" charset="-127"/>
              </a:rPr>
              <a:t>12</a:t>
            </a:r>
            <a:r>
              <a:rPr lang="ko-KR" altLang="en-US">
                <a:latin typeface="나눔고딕" panose="020D0604000000000000" pitchFamily="50" charset="-127"/>
                <a:ea typeface="나눔고딕" panose="020D0604000000000000" pitchFamily="50" charset="-127"/>
              </a:rPr>
              <a:t>장  비용편익분석</a:t>
            </a:r>
            <a:endParaRPr lang="ko-KR" altLang="en-US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6CA9FF6-BF29-4679-8C21-AEBAF2895125}" type="slidenum">
              <a:rPr lang="ko-KR" altLang="en-US" smtClean="0">
                <a:latin typeface="나눔고딕" panose="020D0604000000000000" pitchFamily="50" charset="-127"/>
                <a:ea typeface="나눔고딕" panose="020D0604000000000000" pitchFamily="50" charset="-127"/>
              </a:rPr>
              <a:t>6</a:t>
            </a:fld>
            <a:endParaRPr lang="ko-KR" altLang="en-US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2774467319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ko-KR" altLang="en-US" dirty="0">
                <a:latin typeface="나눔고딕" panose="020D0604000000000000" pitchFamily="50" charset="-127"/>
                <a:ea typeface="나눔고딕" panose="020D0604000000000000" pitchFamily="50" charset="-127"/>
              </a:rPr>
              <a:t>편익</a:t>
            </a:r>
            <a:r>
              <a:rPr lang="en-US" altLang="ko-KR" dirty="0">
                <a:latin typeface="나눔고딕" panose="020D0604000000000000" pitchFamily="50" charset="-127"/>
                <a:ea typeface="나눔고딕" panose="020D0604000000000000" pitchFamily="50" charset="-127"/>
              </a:rPr>
              <a:t>-</a:t>
            </a:r>
            <a:r>
              <a:rPr lang="ko-KR" altLang="en-US" dirty="0" err="1">
                <a:latin typeface="나눔고딕" panose="020D0604000000000000" pitchFamily="50" charset="-127"/>
                <a:ea typeface="나눔고딕" panose="020D0604000000000000" pitchFamily="50" charset="-127"/>
              </a:rPr>
              <a:t>비용비율법</a:t>
            </a:r>
            <a:endParaRPr lang="ko-KR" altLang="en-US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내용 개체 틀 2"/>
              <p:cNvSpPr>
                <a:spLocks noGrp="1"/>
              </p:cNvSpPr>
              <p:nvPr>
                <p:ph idx="1"/>
              </p:nvPr>
            </p:nvSpPr>
            <p:spPr>
              <a:xfrm>
                <a:off x="628649" y="1422400"/>
                <a:ext cx="8188180" cy="4754563"/>
              </a:xfrm>
            </p:spPr>
            <p:txBody>
              <a:bodyPr anchor="ctr">
                <a:noAutofit/>
              </a:bodyPr>
              <a:lstStyle/>
              <a:p>
                <a:pPr marL="266700" indent="-266700">
                  <a:buFont typeface="Wingdings" panose="05000000000000000000" pitchFamily="2" charset="2"/>
                  <a:buChar char="§"/>
                </a:pPr>
                <a:r>
                  <a:rPr lang="ko-KR" altLang="en-US" b="1" dirty="0">
                    <a:latin typeface="나눔고딕" panose="020D0604000000000000" pitchFamily="50" charset="-127"/>
                    <a:ea typeface="나눔고딕" panose="020D0604000000000000" pitchFamily="50" charset="-127"/>
                  </a:rPr>
                  <a:t>편익</a:t>
                </a:r>
                <a:r>
                  <a:rPr lang="en-US" altLang="ko-KR" b="1" dirty="0">
                    <a:latin typeface="나눔고딕" panose="020D0604000000000000" pitchFamily="50" charset="-127"/>
                    <a:ea typeface="나눔고딕" panose="020D0604000000000000" pitchFamily="50" charset="-127"/>
                  </a:rPr>
                  <a:t>-</a:t>
                </a:r>
                <a:r>
                  <a:rPr lang="ko-KR" altLang="en-US" b="1" dirty="0">
                    <a:latin typeface="나눔고딕" panose="020D0604000000000000" pitchFamily="50" charset="-127"/>
                    <a:ea typeface="나눔고딕" panose="020D0604000000000000" pitchFamily="50" charset="-127"/>
                  </a:rPr>
                  <a:t>비용비율</a:t>
                </a:r>
                <a:r>
                  <a:rPr lang="en-US" altLang="ko-KR" dirty="0">
                    <a:latin typeface="나눔고딕" panose="020D0604000000000000" pitchFamily="50" charset="-127"/>
                    <a:ea typeface="나눔고딕" panose="020D0604000000000000" pitchFamily="50" charset="-127"/>
                  </a:rPr>
                  <a:t>(benefit-cost ratio : </a:t>
                </a:r>
                <a14:m>
                  <m:oMath xmlns:m="http://schemas.openxmlformats.org/officeDocument/2006/math">
                    <m:r>
                      <a:rPr lang="en-US" altLang="ko-KR" i="1" smtClean="0">
                        <a:latin typeface="Cambria Math" panose="02040503050406030204" pitchFamily="18" charset="0"/>
                      </a:rPr>
                      <m:t>𝑩𝑪</m:t>
                    </m:r>
                  </m:oMath>
                </a14:m>
                <a:r>
                  <a:rPr lang="en-US" altLang="ko-KR" dirty="0">
                    <a:latin typeface="나눔고딕" panose="020D0604000000000000" pitchFamily="50" charset="-127"/>
                    <a:ea typeface="나눔고딕" panose="020D0604000000000000" pitchFamily="50" charset="-127"/>
                  </a:rPr>
                  <a:t> ratio)</a:t>
                </a:r>
              </a:p>
              <a:p>
                <a:pPr marL="266700" indent="-26670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ko-KR" i="1">
                          <a:latin typeface="Cambria Math" panose="02040503050406030204" pitchFamily="18" charset="0"/>
                        </a:rPr>
                        <m:t>𝑩𝑪</m:t>
                      </m:r>
                      <m:r>
                        <m:rPr>
                          <m:nor/>
                        </m:rPr>
                        <a:rPr lang="en-US" altLang="ko-KR" b="1" i="0" smtClean="0">
                          <a:latin typeface="Cambria Math" panose="02040503050406030204" pitchFamily="18" charset="0"/>
                        </a:rPr>
                        <m:t> </m:t>
                      </m:r>
                      <m:r>
                        <m:rPr>
                          <m:nor/>
                        </m:rPr>
                        <a:rPr lang="en-US" altLang="ko-KR" b="1" i="0"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m:t>ratio</m:t>
                      </m:r>
                      <m:r>
                        <a:rPr lang="en-US" altLang="ko-KR" b="1" i="1">
                          <a:latin typeface="Cambria Math" panose="02040503050406030204" pitchFamily="18" charset="0"/>
                        </a:rPr>
                        <m:t>= </m:t>
                      </m:r>
                      <m:f>
                        <m:fPr>
                          <m:ctrlPr>
                            <a:rPr lang="en-US" altLang="ko-KR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sSub>
                            <m:sSubPr>
                              <m:ctrlPr>
                                <a:rPr lang="en-US" altLang="ko-KR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ko-KR" b="1" i="1">
                                  <a:latin typeface="Cambria Math" panose="02040503050406030204" pitchFamily="18" charset="0"/>
                                </a:rPr>
                                <m:t>𝑷𝑽</m:t>
                              </m:r>
                            </m:e>
                            <m:sub>
                              <m:r>
                                <a:rPr lang="en-US" altLang="ko-KR" b="1" i="1">
                                  <a:latin typeface="Cambria Math" panose="02040503050406030204" pitchFamily="18" charset="0"/>
                                </a:rPr>
                                <m:t>𝑩</m:t>
                              </m:r>
                            </m:sub>
                          </m:sSub>
                        </m:num>
                        <m:den>
                          <m:sSub>
                            <m:sSubPr>
                              <m:ctrlPr>
                                <a:rPr lang="en-US" altLang="ko-KR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ko-KR" b="1" i="1">
                                  <a:latin typeface="Cambria Math" panose="02040503050406030204" pitchFamily="18" charset="0"/>
                                </a:rPr>
                                <m:t>𝑷𝑽</m:t>
                              </m:r>
                            </m:e>
                            <m:sub>
                              <m:r>
                                <a:rPr lang="en-US" altLang="ko-KR" b="1" i="1">
                                  <a:latin typeface="Cambria Math" panose="02040503050406030204" pitchFamily="18" charset="0"/>
                                </a:rPr>
                                <m:t>𝑪</m:t>
                              </m:r>
                            </m:sub>
                          </m:sSub>
                        </m:den>
                      </m:f>
                    </m:oMath>
                  </m:oMathPara>
                </a14:m>
                <a:endParaRPr lang="en-US" altLang="ko-KR" dirty="0">
                  <a:latin typeface="나눔고딕" panose="020D0604000000000000" pitchFamily="50" charset="-127"/>
                  <a:ea typeface="나눔고딕" panose="020D0604000000000000" pitchFamily="50" charset="-127"/>
                </a:endParaRPr>
              </a:p>
              <a:p>
                <a:pPr marL="266700" indent="-266700">
                  <a:buNone/>
                </a:pPr>
                <a:r>
                  <a:rPr lang="en-US" altLang="ko-KR" dirty="0">
                    <a:latin typeface="나눔고딕" panose="020D0604000000000000" pitchFamily="50" charset="-127"/>
                    <a:ea typeface="나눔고딕" panose="020D0604000000000000" pitchFamily="50" charset="-127"/>
                  </a:rPr>
                  <a:t>	   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ko-KR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ko-KR" b="1" i="1">
                            <a:latin typeface="Cambria Math" panose="02040503050406030204" pitchFamily="18" charset="0"/>
                          </a:rPr>
                          <m:t>𝑷𝑽</m:t>
                        </m:r>
                      </m:e>
                      <m:sub>
                        <m:r>
                          <a:rPr lang="en-US" altLang="ko-KR" b="1" i="1">
                            <a:latin typeface="Cambria Math" panose="02040503050406030204" pitchFamily="18" charset="0"/>
                          </a:rPr>
                          <m:t>𝑩</m:t>
                        </m:r>
                      </m:sub>
                    </m:sSub>
                  </m:oMath>
                </a14:m>
                <a:r>
                  <a:rPr lang="en-US" altLang="ko-KR" dirty="0">
                    <a:latin typeface="나눔고딕" panose="020D0604000000000000" pitchFamily="50" charset="-127"/>
                    <a:ea typeface="나눔고딕" panose="020D0604000000000000" pitchFamily="50" charset="-127"/>
                  </a:rPr>
                  <a:t> : </a:t>
                </a:r>
                <a:r>
                  <a:rPr lang="ko-KR" altLang="en-US" dirty="0">
                    <a:latin typeface="나눔고딕" panose="020D0604000000000000" pitchFamily="50" charset="-127"/>
                    <a:ea typeface="나눔고딕" panose="020D0604000000000000" pitchFamily="50" charset="-127"/>
                  </a:rPr>
                  <a:t>편익의 현재가치</a:t>
                </a:r>
                <a:r>
                  <a:rPr lang="en-US" altLang="ko-KR" dirty="0">
                    <a:latin typeface="나눔고딕" panose="020D0604000000000000" pitchFamily="50" charset="-127"/>
                    <a:ea typeface="나눔고딕" panose="020D0604000000000000" pitchFamily="50" charset="-127"/>
                  </a:rPr>
                  <a:t>	  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ko-KR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ko-KR" i="1">
                            <a:latin typeface="Cambria Math" panose="02040503050406030204" pitchFamily="18" charset="0"/>
                          </a:rPr>
                          <m:t>𝑷𝑽</m:t>
                        </m:r>
                      </m:e>
                      <m:sub>
                        <m:r>
                          <a:rPr lang="en-US" altLang="ko-KR" i="1">
                            <a:latin typeface="Cambria Math" panose="02040503050406030204" pitchFamily="18" charset="0"/>
                          </a:rPr>
                          <m:t>𝑪</m:t>
                        </m:r>
                      </m:sub>
                    </m:sSub>
                    <m:r>
                      <a:rPr lang="en-US" altLang="ko-KR" i="1"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en-US" altLang="ko-KR" dirty="0">
                    <a:latin typeface="나눔고딕" panose="020D0604000000000000" pitchFamily="50" charset="-127"/>
                    <a:ea typeface="나눔고딕" panose="020D0604000000000000" pitchFamily="50" charset="-127"/>
                  </a:rPr>
                  <a:t> : </a:t>
                </a:r>
                <a:r>
                  <a:rPr lang="ko-KR" altLang="en-US" dirty="0">
                    <a:latin typeface="나눔고딕" panose="020D0604000000000000" pitchFamily="50" charset="-127"/>
                    <a:ea typeface="나눔고딕" panose="020D0604000000000000" pitchFamily="50" charset="-127"/>
                  </a:rPr>
                  <a:t>비용의 현재가치</a:t>
                </a:r>
                <a:r>
                  <a:rPr lang="en-US" altLang="ko-KR" dirty="0">
                    <a:latin typeface="나눔고딕" panose="020D0604000000000000" pitchFamily="50" charset="-127"/>
                    <a:ea typeface="나눔고딕" panose="020D0604000000000000" pitchFamily="50" charset="-127"/>
                  </a:rPr>
                  <a:t>	</a:t>
                </a:r>
              </a:p>
              <a:p>
                <a:pPr marL="266700" indent="-266700">
                  <a:buNone/>
                </a:pPr>
                <a:endParaRPr lang="en-US" altLang="ko-KR" sz="1000" dirty="0">
                  <a:latin typeface="나눔고딕" panose="020D0604000000000000" pitchFamily="50" charset="-127"/>
                  <a:ea typeface="나눔고딕" panose="020D0604000000000000" pitchFamily="50" charset="-127"/>
                </a:endParaRPr>
              </a:p>
              <a:p>
                <a:pPr marL="266700" indent="-266700"/>
                <a:r>
                  <a:rPr lang="ko-KR" altLang="en-US" dirty="0">
                    <a:solidFill>
                      <a:schemeClr val="accent1">
                        <a:lumMod val="75000"/>
                      </a:schemeClr>
                    </a:solidFill>
                    <a:latin typeface="나눔고딕" panose="020D0604000000000000" pitchFamily="50" charset="-127"/>
                    <a:ea typeface="나눔고딕" panose="020D0604000000000000" pitchFamily="50" charset="-127"/>
                  </a:rPr>
                  <a:t>편익</a:t>
                </a:r>
                <a:r>
                  <a:rPr lang="en-US" altLang="ko-KR" dirty="0">
                    <a:solidFill>
                      <a:schemeClr val="accent1">
                        <a:lumMod val="75000"/>
                      </a:schemeClr>
                    </a:solidFill>
                    <a:latin typeface="나눔고딕" panose="020D0604000000000000" pitchFamily="50" charset="-127"/>
                    <a:ea typeface="나눔고딕" panose="020D0604000000000000" pitchFamily="50" charset="-127"/>
                  </a:rPr>
                  <a:t>-</a:t>
                </a:r>
                <a:r>
                  <a:rPr lang="ko-KR" altLang="en-US" dirty="0" err="1">
                    <a:solidFill>
                      <a:schemeClr val="accent1">
                        <a:lumMod val="75000"/>
                      </a:schemeClr>
                    </a:solidFill>
                    <a:latin typeface="나눔고딕" panose="020D0604000000000000" pitchFamily="50" charset="-127"/>
                    <a:ea typeface="나눔고딕" panose="020D0604000000000000" pitchFamily="50" charset="-127"/>
                  </a:rPr>
                  <a:t>비용비율법</a:t>
                </a:r>
                <a:r>
                  <a:rPr lang="ko-KR" altLang="en-US" dirty="0">
                    <a:solidFill>
                      <a:schemeClr val="accent1">
                        <a:lumMod val="75000"/>
                      </a:schemeClr>
                    </a:solidFill>
                    <a:latin typeface="나눔고딕" panose="020D0604000000000000" pitchFamily="50" charset="-127"/>
                    <a:ea typeface="나눔고딕" panose="020D0604000000000000" pitchFamily="50" charset="-127"/>
                  </a:rPr>
                  <a:t> </a:t>
                </a:r>
                <a:r>
                  <a:rPr lang="en-US" altLang="ko-KR" dirty="0">
                    <a:latin typeface="나눔고딕" panose="020D0604000000000000" pitchFamily="50" charset="-127"/>
                    <a:ea typeface="나눔고딕" panose="020D0604000000000000" pitchFamily="50" charset="-127"/>
                  </a:rPr>
                  <a:t>: </a:t>
                </a:r>
                <a:r>
                  <a:rPr lang="ko-KR" altLang="en-US" dirty="0">
                    <a:latin typeface="나눔고딕" panose="020D0604000000000000" pitchFamily="50" charset="-127"/>
                    <a:ea typeface="나눔고딕" panose="020D0604000000000000" pitchFamily="50" charset="-127"/>
                  </a:rPr>
                  <a:t>편익과 비용의 현재가치를 각각 구하고 이 둘의 비율을 구해 판단의 근거로 삼는 방법</a:t>
                </a:r>
                <a:endParaRPr lang="en-US" altLang="ko-KR" dirty="0">
                  <a:latin typeface="나눔고딕" panose="020D0604000000000000" pitchFamily="50" charset="-127"/>
                  <a:ea typeface="나눔고딕" panose="020D0604000000000000" pitchFamily="50" charset="-127"/>
                </a:endParaRPr>
              </a:p>
              <a:p>
                <a:pPr marL="266700" indent="-266700">
                  <a:buNone/>
                </a:pPr>
                <a:endParaRPr lang="en-US" altLang="ko-KR" sz="1000" dirty="0">
                  <a:latin typeface="나눔고딕" panose="020D0604000000000000" pitchFamily="50" charset="-127"/>
                  <a:ea typeface="나눔고딕" panose="020D0604000000000000" pitchFamily="50" charset="-127"/>
                </a:endParaRPr>
              </a:p>
              <a:p>
                <a:pPr marL="266700" indent="-266700"/>
                <a:r>
                  <a:rPr lang="ko-KR" altLang="en-US" dirty="0">
                    <a:latin typeface="나눔고딕" panose="020D0604000000000000" pitchFamily="50" charset="-127"/>
                    <a:ea typeface="나눔고딕" panose="020D0604000000000000" pitchFamily="50" charset="-127"/>
                  </a:rPr>
                  <a:t>편익</a:t>
                </a:r>
                <a:r>
                  <a:rPr lang="en-US" altLang="ko-KR" dirty="0">
                    <a:latin typeface="나눔고딕" panose="020D0604000000000000" pitchFamily="50" charset="-127"/>
                    <a:ea typeface="나눔고딕" panose="020D0604000000000000" pitchFamily="50" charset="-127"/>
                  </a:rPr>
                  <a:t>-</a:t>
                </a:r>
                <a:r>
                  <a:rPr lang="ko-KR" altLang="en-US" dirty="0">
                    <a:latin typeface="나눔고딕" panose="020D0604000000000000" pitchFamily="50" charset="-127"/>
                    <a:ea typeface="나눔고딕" panose="020D0604000000000000" pitchFamily="50" charset="-127"/>
                  </a:rPr>
                  <a:t>비용비율에 의거한 평가는 어떤 투자계획의 </a:t>
                </a:r>
                <a14:m>
                  <m:oMath xmlns:m="http://schemas.openxmlformats.org/officeDocument/2006/math">
                    <m:r>
                      <a:rPr lang="en-US" altLang="ko-KR" i="1">
                        <a:latin typeface="Cambria Math" panose="02040503050406030204" pitchFamily="18" charset="0"/>
                      </a:rPr>
                      <m:t>𝑩𝑪</m:t>
                    </m:r>
                    <m:r>
                      <a:rPr lang="en-US" altLang="ko-KR" i="1">
                        <a:latin typeface="Cambria Math" panose="02040503050406030204" pitchFamily="18" charset="0"/>
                      </a:rPr>
                      <m:t> </m:t>
                    </m:r>
                    <m:r>
                      <m:rPr>
                        <m:nor/>
                      </m:rPr>
                      <a:rPr lang="en-US" altLang="ko-KR">
                        <a:latin typeface="나눔고딕" panose="020D0604000000000000" pitchFamily="50" charset="-127"/>
                        <a:ea typeface="나눔고딕" panose="020D0604000000000000" pitchFamily="50" charset="-127"/>
                      </a:rPr>
                      <m:t>ratio</m:t>
                    </m:r>
                  </m:oMath>
                </a14:m>
                <a:r>
                  <a:rPr lang="ko-KR" altLang="en-US" dirty="0">
                    <a:latin typeface="나눔고딕" panose="020D0604000000000000" pitchFamily="50" charset="-127"/>
                    <a:ea typeface="나눔고딕" panose="020D0604000000000000" pitchFamily="50" charset="-127"/>
                  </a:rPr>
                  <a:t>가 </a:t>
                </a:r>
                <a:r>
                  <a:rPr lang="en-US" altLang="ko-KR" dirty="0">
                    <a:latin typeface="나눔고딕" panose="020D0604000000000000" pitchFamily="50" charset="-127"/>
                    <a:ea typeface="나눔고딕" panose="020D0604000000000000" pitchFamily="50" charset="-127"/>
                  </a:rPr>
                  <a:t>1</a:t>
                </a:r>
                <a:r>
                  <a:rPr lang="ko-KR" altLang="en-US" dirty="0">
                    <a:latin typeface="나눔고딕" panose="020D0604000000000000" pitchFamily="50" charset="-127"/>
                    <a:ea typeface="나눔고딕" panose="020D0604000000000000" pitchFamily="50" charset="-127"/>
                  </a:rPr>
                  <a:t>보다 크면 채택하고 그렇지 않으면 기각함</a:t>
                </a:r>
                <a:endParaRPr lang="en-US" altLang="ko-KR" dirty="0">
                  <a:latin typeface="나눔고딕" panose="020D0604000000000000" pitchFamily="50" charset="-127"/>
                  <a:ea typeface="나눔고딕" panose="020D0604000000000000" pitchFamily="50" charset="-127"/>
                </a:endParaRPr>
              </a:p>
            </p:txBody>
          </p:sp>
        </mc:Choice>
        <mc:Fallback>
          <p:sp>
            <p:nvSpPr>
              <p:cNvPr id="3" name="내용 개체 틀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628649" y="1422400"/>
                <a:ext cx="8188180" cy="4754563"/>
              </a:xfrm>
              <a:blipFill>
                <a:blip r:embed="rId2"/>
                <a:stretch>
                  <a:fillRect l="-670" r="-596" b="-513"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altLang="ko-KR">
                <a:latin typeface="나눔고딕" panose="020D0604000000000000" pitchFamily="50" charset="-127"/>
                <a:ea typeface="나눔고딕" panose="020D0604000000000000" pitchFamily="50" charset="-127"/>
              </a:rPr>
              <a:t>PUBLIC FINANCE</a:t>
            </a:r>
            <a:endParaRPr lang="ko-KR" altLang="en-US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ko-KR" altLang="en-US">
                <a:latin typeface="나눔고딕" panose="020D0604000000000000" pitchFamily="50" charset="-127"/>
                <a:ea typeface="나눔고딕" panose="020D0604000000000000" pitchFamily="50" charset="-127"/>
              </a:rPr>
              <a:t>제</a:t>
            </a:r>
            <a:r>
              <a:rPr lang="en-US" altLang="ko-KR">
                <a:latin typeface="나눔고딕" panose="020D0604000000000000" pitchFamily="50" charset="-127"/>
                <a:ea typeface="나눔고딕" panose="020D0604000000000000" pitchFamily="50" charset="-127"/>
              </a:rPr>
              <a:t>12</a:t>
            </a:r>
            <a:r>
              <a:rPr lang="ko-KR" altLang="en-US">
                <a:latin typeface="나눔고딕" panose="020D0604000000000000" pitchFamily="50" charset="-127"/>
                <a:ea typeface="나눔고딕" panose="020D0604000000000000" pitchFamily="50" charset="-127"/>
              </a:rPr>
              <a:t>장  비용편익분석</a:t>
            </a:r>
            <a:endParaRPr lang="ko-KR" altLang="en-US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6CA9FF6-BF29-4679-8C21-AEBAF2895125}" type="slidenum">
              <a:rPr lang="ko-KR" altLang="en-US" smtClean="0">
                <a:latin typeface="나눔고딕" panose="020D0604000000000000" pitchFamily="50" charset="-127"/>
                <a:ea typeface="나눔고딕" panose="020D0604000000000000" pitchFamily="50" charset="-127"/>
              </a:rPr>
              <a:t>7</a:t>
            </a:fld>
            <a:endParaRPr lang="ko-KR" altLang="en-US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1639443417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ko-KR" altLang="en-US" dirty="0">
                <a:latin typeface="나눔고딕" panose="020D0604000000000000" pitchFamily="50" charset="-127"/>
                <a:ea typeface="나눔고딕" panose="020D0604000000000000" pitchFamily="50" charset="-127"/>
              </a:rPr>
              <a:t>편익</a:t>
            </a:r>
            <a:r>
              <a:rPr lang="en-US" altLang="ko-KR" dirty="0">
                <a:latin typeface="나눔고딕" panose="020D0604000000000000" pitchFamily="50" charset="-127"/>
                <a:ea typeface="나눔고딕" panose="020D0604000000000000" pitchFamily="50" charset="-127"/>
              </a:rPr>
              <a:t>-</a:t>
            </a:r>
            <a:r>
              <a:rPr lang="ko-KR" altLang="en-US" dirty="0" err="1">
                <a:latin typeface="나눔고딕" panose="020D0604000000000000" pitchFamily="50" charset="-127"/>
                <a:ea typeface="나눔고딕" panose="020D0604000000000000" pitchFamily="50" charset="-127"/>
              </a:rPr>
              <a:t>비용비율법</a:t>
            </a:r>
            <a:endParaRPr lang="ko-KR" altLang="en-US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내용 개체 틀 2"/>
              <p:cNvSpPr>
                <a:spLocks noGrp="1"/>
              </p:cNvSpPr>
              <p:nvPr>
                <p:ph idx="1"/>
              </p:nvPr>
            </p:nvSpPr>
            <p:spPr/>
            <p:txBody>
              <a:bodyPr anchor="ctr">
                <a:noAutofit/>
              </a:bodyPr>
              <a:lstStyle/>
              <a:p>
                <a:pPr marL="266700" indent="-266700">
                  <a:buFont typeface="Wingdings" panose="05000000000000000000" pitchFamily="2" charset="2"/>
                  <a:buChar char="§"/>
                </a:pPr>
                <a:r>
                  <a:rPr lang="ko-KR" altLang="en-US" dirty="0">
                    <a:latin typeface="나눔고딕" panose="020D0604000000000000" pitchFamily="50" charset="-127"/>
                    <a:ea typeface="나눔고딕" panose="020D0604000000000000" pitchFamily="50" charset="-127"/>
                  </a:rPr>
                  <a:t>현재가치법과의 비교</a:t>
                </a:r>
                <a:endParaRPr lang="en-US" altLang="ko-KR" dirty="0">
                  <a:latin typeface="나눔고딕" panose="020D0604000000000000" pitchFamily="50" charset="-127"/>
                  <a:ea typeface="나눔고딕" panose="020D0604000000000000" pitchFamily="50" charset="-127"/>
                </a:endParaRPr>
              </a:p>
              <a:p>
                <a:pPr marL="444500" lvl="1"/>
                <a:r>
                  <a:rPr lang="ko-KR" altLang="en-US" dirty="0">
                    <a:latin typeface="나눔고딕" panose="020D0604000000000000" pitchFamily="50" charset="-127"/>
                    <a:ea typeface="나눔고딕" panose="020D0604000000000000" pitchFamily="50" charset="-127"/>
                  </a:rPr>
                  <a:t>편익</a:t>
                </a:r>
                <a:r>
                  <a:rPr lang="en-US" altLang="ko-KR" dirty="0">
                    <a:latin typeface="나눔고딕" panose="020D0604000000000000" pitchFamily="50" charset="-127"/>
                    <a:ea typeface="나눔고딕" panose="020D0604000000000000" pitchFamily="50" charset="-127"/>
                  </a:rPr>
                  <a:t>-</a:t>
                </a:r>
                <a:r>
                  <a:rPr lang="ko-KR" altLang="en-US" dirty="0" err="1">
                    <a:latin typeface="나눔고딕" panose="020D0604000000000000" pitchFamily="50" charset="-127"/>
                    <a:ea typeface="나눔고딕" panose="020D0604000000000000" pitchFamily="50" charset="-127"/>
                  </a:rPr>
                  <a:t>비용비율법은</a:t>
                </a:r>
                <a:r>
                  <a:rPr lang="ko-KR" altLang="en-US" dirty="0">
                    <a:latin typeface="나눔고딕" panose="020D0604000000000000" pitchFamily="50" charset="-127"/>
                    <a:ea typeface="나눔고딕" panose="020D0604000000000000" pitchFamily="50" charset="-127"/>
                  </a:rPr>
                  <a:t> 어떤 투자를 할 것인가 말 것인가를 정하는 데 있어서는 현재가치법과 차이가 없음</a:t>
                </a:r>
                <a:endParaRPr lang="en-US" altLang="ko-KR" i="1" dirty="0">
                  <a:latin typeface="나눔고딕" panose="020D0604000000000000" pitchFamily="50" charset="-127"/>
                  <a:ea typeface="나눔고딕" panose="020D0604000000000000" pitchFamily="50" charset="-127"/>
                </a:endParaRPr>
              </a:p>
              <a:p>
                <a:pPr marL="342900" lvl="1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ko-KR" b="1" i="1" smtClean="0">
                          <a:latin typeface="Cambria Math" panose="02040503050406030204" pitchFamily="18" charset="0"/>
                        </a:rPr>
                        <m:t>𝑷𝑽</m:t>
                      </m:r>
                      <m:r>
                        <a:rPr lang="en-US" altLang="ko-KR" b="1" i="1" smtClean="0">
                          <a:latin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 lang="en-US" altLang="ko-KR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ko-KR" b="1" i="1" smtClean="0">
                              <a:latin typeface="Cambria Math" panose="02040503050406030204" pitchFamily="18" charset="0"/>
                            </a:rPr>
                            <m:t>𝑷𝑽</m:t>
                          </m:r>
                        </m:e>
                        <m:sub>
                          <m:r>
                            <a:rPr lang="en-US" altLang="ko-KR" b="1" i="1" smtClean="0">
                              <a:latin typeface="Cambria Math" panose="02040503050406030204" pitchFamily="18" charset="0"/>
                            </a:rPr>
                            <m:t>𝑩</m:t>
                          </m:r>
                        </m:sub>
                      </m:sSub>
                      <m:r>
                        <a:rPr lang="en-US" altLang="ko-KR" b="1" i="1" smtClean="0">
                          <a:latin typeface="Cambria Math" panose="02040503050406030204" pitchFamily="18" charset="0"/>
                        </a:rPr>
                        <m:t>−</m:t>
                      </m:r>
                      <m:sSub>
                        <m:sSubPr>
                          <m:ctrlPr>
                            <a:rPr lang="en-US" altLang="ko-KR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ko-KR" b="1" i="1" smtClean="0">
                              <a:latin typeface="Cambria Math" panose="02040503050406030204" pitchFamily="18" charset="0"/>
                            </a:rPr>
                            <m:t>𝑷𝑽</m:t>
                          </m:r>
                        </m:e>
                        <m:sub>
                          <m:r>
                            <a:rPr lang="en-US" altLang="ko-KR" b="1" i="1" smtClean="0">
                              <a:latin typeface="Cambria Math" panose="02040503050406030204" pitchFamily="18" charset="0"/>
                            </a:rPr>
                            <m:t>𝑪</m:t>
                          </m:r>
                        </m:sub>
                      </m:sSub>
                      <m:r>
                        <a:rPr lang="en-US" altLang="ko-KR" b="1" i="1" smtClean="0">
                          <a:latin typeface="Cambria Math" panose="02040503050406030204" pitchFamily="18" charset="0"/>
                        </a:rPr>
                        <m:t>&gt;</m:t>
                      </m:r>
                      <m:r>
                        <a:rPr lang="en-US" altLang="ko-KR" b="1" i="1" smtClean="0">
                          <a:latin typeface="Cambria Math" panose="02040503050406030204" pitchFamily="18" charset="0"/>
                        </a:rPr>
                        <m:t>𝟎</m:t>
                      </m:r>
                      <m:r>
                        <a:rPr lang="en-US" altLang="ko-KR" b="1" i="1" smtClean="0">
                          <a:latin typeface="Cambria Math" panose="02040503050406030204" pitchFamily="18" charset="0"/>
                        </a:rPr>
                        <m:t>      ⟺     </m:t>
                      </m:r>
                      <m:f>
                        <m:fPr>
                          <m:ctrlPr>
                            <a:rPr lang="en-US" altLang="ko-KR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fPr>
                        <m:num>
                          <m:sSub>
                            <m:sSubPr>
                              <m:ctrlPr>
                                <a:rPr lang="en-US" altLang="ko-KR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ko-KR" b="1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𝑷𝑽</m:t>
                              </m:r>
                            </m:e>
                            <m:sub>
                              <m:r>
                                <a:rPr lang="en-US" altLang="ko-KR" b="1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𝑩</m:t>
                              </m:r>
                            </m:sub>
                          </m:sSub>
                        </m:num>
                        <m:den>
                          <m:sSub>
                            <m:sSubPr>
                              <m:ctrlPr>
                                <a:rPr lang="en-US" altLang="ko-KR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ko-KR" b="1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𝑷𝑽</m:t>
                              </m:r>
                            </m:e>
                            <m:sub>
                              <m:r>
                                <a:rPr lang="en-US" altLang="ko-KR" b="1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𝑪</m:t>
                              </m:r>
                            </m:sub>
                          </m:sSub>
                        </m:den>
                      </m:f>
                      <m:r>
                        <a:rPr lang="en-US" altLang="ko-KR" b="1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&gt;</m:t>
                      </m:r>
                      <m:r>
                        <a:rPr lang="en-US" altLang="ko-KR" b="1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𝟏</m:t>
                      </m:r>
                    </m:oMath>
                  </m:oMathPara>
                </a14:m>
                <a:endParaRPr lang="en-US" altLang="ko-KR" dirty="0">
                  <a:latin typeface="나눔고딕" panose="020D0604000000000000" pitchFamily="50" charset="-127"/>
                  <a:ea typeface="나눔고딕" panose="020D0604000000000000" pitchFamily="50" charset="-127"/>
                </a:endParaRPr>
              </a:p>
              <a:p>
                <a:pPr marL="342900" lvl="1" indent="0">
                  <a:buNone/>
                </a:pPr>
                <a:endParaRPr lang="en-US" altLang="ko-KR" sz="300" dirty="0">
                  <a:latin typeface="나눔고딕" panose="020D0604000000000000" pitchFamily="50" charset="-127"/>
                  <a:ea typeface="나눔고딕" panose="020D0604000000000000" pitchFamily="50" charset="-127"/>
                </a:endParaRPr>
              </a:p>
              <a:p>
                <a:pPr marL="444500" lvl="1"/>
                <a:r>
                  <a:rPr lang="ko-KR" altLang="en-US" dirty="0">
                    <a:latin typeface="나눔고딕" panose="020D0604000000000000" pitchFamily="50" charset="-127"/>
                    <a:ea typeface="나눔고딕" panose="020D0604000000000000" pitchFamily="50" charset="-127"/>
                  </a:rPr>
                  <a:t>그러나 여러 투자계획의 우선순위를 평가할 경우는 현재가치법과 일치하지 않을 수 있음</a:t>
                </a:r>
                <a:endParaRPr lang="en-US" altLang="ko-KR" i="1" dirty="0">
                  <a:latin typeface="나눔고딕" panose="020D0604000000000000" pitchFamily="50" charset="-127"/>
                  <a:ea typeface="나눔고딕" panose="020D0604000000000000" pitchFamily="50" charset="-127"/>
                </a:endParaRPr>
              </a:p>
              <a:p>
                <a:pPr marL="723900" lvl="1" indent="0">
                  <a:buNone/>
                </a:pPr>
                <a:endParaRPr lang="en-US" altLang="ko-KR" sz="100" dirty="0">
                  <a:latin typeface="나눔고딕" panose="020D0604000000000000" pitchFamily="50" charset="-127"/>
                  <a:ea typeface="나눔고딕" panose="020D0604000000000000" pitchFamily="50" charset="-127"/>
                </a:endParaRPr>
              </a:p>
              <a:p>
                <a:pPr marL="444500" lvl="1"/>
                <a:endParaRPr lang="en-US" altLang="ko-KR" sz="100" dirty="0">
                  <a:latin typeface="나눔고딕" panose="020D0604000000000000" pitchFamily="50" charset="-127"/>
                  <a:ea typeface="나눔고딕" panose="020D0604000000000000" pitchFamily="50" charset="-127"/>
                </a:endParaRPr>
              </a:p>
              <a:p>
                <a:pPr marL="273050" lvl="1" indent="0">
                  <a:buNone/>
                </a:pPr>
                <a:endParaRPr lang="en-US" altLang="ko-KR" sz="300" dirty="0">
                  <a:latin typeface="나눔고딕" panose="020D0604000000000000" pitchFamily="50" charset="-127"/>
                  <a:ea typeface="나눔고딕" panose="020D0604000000000000" pitchFamily="50" charset="-127"/>
                </a:endParaRPr>
              </a:p>
              <a:p>
                <a:pPr marL="444500" lvl="1"/>
                <a:r>
                  <a:rPr lang="ko-KR" altLang="en-US" dirty="0">
                    <a:latin typeface="나눔고딕" panose="020D0604000000000000" pitchFamily="50" charset="-127"/>
                    <a:ea typeface="나눔고딕" panose="020D0604000000000000" pitchFamily="50" charset="-127"/>
                  </a:rPr>
                  <a:t>부수적인 피해가 발생할 경우</a:t>
                </a:r>
                <a:r>
                  <a:rPr lang="en-US" altLang="ko-KR" dirty="0">
                    <a:latin typeface="나눔고딕" panose="020D0604000000000000" pitchFamily="50" charset="-127"/>
                    <a:ea typeface="나눔고딕" panose="020D0604000000000000" pitchFamily="50" charset="-127"/>
                  </a:rPr>
                  <a:t>, </a:t>
                </a:r>
                <a:r>
                  <a:rPr lang="ko-KR" altLang="en-US" dirty="0">
                    <a:latin typeface="나눔고딕" panose="020D0604000000000000" pitchFamily="50" charset="-127"/>
                    <a:ea typeface="나눔고딕" panose="020D0604000000000000" pitchFamily="50" charset="-127"/>
                  </a:rPr>
                  <a:t>이를 그 투자계획에서 나오는 편익의 감소로 간주하느냐</a:t>
                </a:r>
                <a:r>
                  <a:rPr lang="en-US" altLang="ko-KR" dirty="0">
                    <a:latin typeface="나눔고딕" panose="020D0604000000000000" pitchFamily="50" charset="-127"/>
                    <a:ea typeface="나눔고딕" panose="020D0604000000000000" pitchFamily="50" charset="-127"/>
                  </a:rPr>
                  <a:t>, </a:t>
                </a:r>
                <a:r>
                  <a:rPr lang="ko-KR" altLang="en-US" dirty="0">
                    <a:latin typeface="나눔고딕" panose="020D0604000000000000" pitchFamily="50" charset="-127"/>
                    <a:ea typeface="나눔고딕" panose="020D0604000000000000" pitchFamily="50" charset="-127"/>
                  </a:rPr>
                  <a:t>비용의 증가로 간주하느냐에 따라 평가가 뒤바뀐다는 문제 발생</a:t>
                </a:r>
                <a:endParaRPr lang="en-US" altLang="ko-KR" dirty="0">
                  <a:latin typeface="나눔고딕" panose="020D0604000000000000" pitchFamily="50" charset="-127"/>
                  <a:ea typeface="나눔고딕" panose="020D0604000000000000" pitchFamily="50" charset="-127"/>
                </a:endParaRPr>
              </a:p>
            </p:txBody>
          </p:sp>
        </mc:Choice>
        <mc:Fallback>
          <p:sp>
            <p:nvSpPr>
              <p:cNvPr id="3" name="내용 개체 틀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696" r="-309"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altLang="ko-KR">
                <a:latin typeface="나눔고딕" panose="020D0604000000000000" pitchFamily="50" charset="-127"/>
                <a:ea typeface="나눔고딕" panose="020D0604000000000000" pitchFamily="50" charset="-127"/>
              </a:rPr>
              <a:t>PUBLIC FINANCE</a:t>
            </a:r>
            <a:endParaRPr lang="ko-KR" altLang="en-US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ko-KR" altLang="en-US">
                <a:latin typeface="나눔고딕" panose="020D0604000000000000" pitchFamily="50" charset="-127"/>
                <a:ea typeface="나눔고딕" panose="020D0604000000000000" pitchFamily="50" charset="-127"/>
              </a:rPr>
              <a:t>제</a:t>
            </a:r>
            <a:r>
              <a:rPr lang="en-US" altLang="ko-KR">
                <a:latin typeface="나눔고딕" panose="020D0604000000000000" pitchFamily="50" charset="-127"/>
                <a:ea typeface="나눔고딕" panose="020D0604000000000000" pitchFamily="50" charset="-127"/>
              </a:rPr>
              <a:t>12</a:t>
            </a:r>
            <a:r>
              <a:rPr lang="ko-KR" altLang="en-US">
                <a:latin typeface="나눔고딕" panose="020D0604000000000000" pitchFamily="50" charset="-127"/>
                <a:ea typeface="나눔고딕" panose="020D0604000000000000" pitchFamily="50" charset="-127"/>
              </a:rPr>
              <a:t>장  비용편익분석</a:t>
            </a:r>
            <a:endParaRPr lang="ko-KR" altLang="en-US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6CA9FF6-BF29-4679-8C21-AEBAF2895125}" type="slidenum">
              <a:rPr lang="ko-KR" altLang="en-US" smtClean="0">
                <a:latin typeface="나눔고딕" panose="020D0604000000000000" pitchFamily="50" charset="-127"/>
                <a:ea typeface="나눔고딕" panose="020D0604000000000000" pitchFamily="50" charset="-127"/>
              </a:rPr>
              <a:t>8</a:t>
            </a:fld>
            <a:endParaRPr lang="ko-KR" altLang="en-US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945362910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altLang="ko-KR" dirty="0">
                <a:latin typeface="나눔고딕" panose="020D0604000000000000" pitchFamily="50" charset="-127"/>
                <a:ea typeface="나눔고딕" panose="020D0604000000000000" pitchFamily="50" charset="-127"/>
              </a:rPr>
              <a:t>12.2  </a:t>
            </a:r>
            <a:r>
              <a:rPr lang="ko-KR" altLang="en-US" dirty="0">
                <a:latin typeface="나눔고딕" panose="020D0604000000000000" pitchFamily="50" charset="-127"/>
                <a:ea typeface="나눔고딕" panose="020D0604000000000000" pitchFamily="50" charset="-127"/>
              </a:rPr>
              <a:t>공공부문의 비용편익분석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>
          <a:xfrm>
            <a:off x="628650" y="1422400"/>
            <a:ext cx="7953288" cy="4754563"/>
          </a:xfrm>
        </p:spPr>
        <p:txBody>
          <a:bodyPr anchor="ctr">
            <a:noAutofit/>
          </a:bodyPr>
          <a:lstStyle/>
          <a:p>
            <a:pPr marL="266700" indent="-266700">
              <a:spcAft>
                <a:spcPts val="500"/>
              </a:spcAft>
              <a:buFont typeface="Wingdings" panose="05000000000000000000" pitchFamily="2" charset="2"/>
              <a:buChar char="§"/>
            </a:pPr>
            <a:r>
              <a:rPr lang="ko-KR" altLang="en-US" sz="20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공공사업의 평가는 민간기업의 투자계획을 평가하는 것과 뚜렷이      차이가 있기 때문에 다른 평가방법을 요구</a:t>
            </a:r>
            <a:endParaRPr lang="en-US" altLang="ko-KR" sz="2000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  <a:p>
            <a:pPr marL="444500" lvl="1">
              <a:spcAft>
                <a:spcPts val="500"/>
              </a:spcAft>
            </a:pPr>
            <a:r>
              <a:rPr lang="ko-KR" altLang="en-US" dirty="0">
                <a:latin typeface="나눔고딕" panose="020D0604000000000000" pitchFamily="50" charset="-127"/>
                <a:ea typeface="나눔고딕" panose="020D0604000000000000" pitchFamily="50" charset="-127"/>
              </a:rPr>
              <a:t>민간부문의 기업은 이윤을 유일한 관심의 대상으로 삼고 있으나</a:t>
            </a:r>
            <a:r>
              <a:rPr lang="en-US" altLang="ko-KR" dirty="0">
                <a:latin typeface="나눔고딕" panose="020D0604000000000000" pitchFamily="50" charset="-127"/>
                <a:ea typeface="나눔고딕" panose="020D0604000000000000" pitchFamily="50" charset="-127"/>
              </a:rPr>
              <a:t>, </a:t>
            </a:r>
            <a:br>
              <a:rPr lang="en-US" altLang="ko-KR" dirty="0">
                <a:latin typeface="나눔고딕" panose="020D0604000000000000" pitchFamily="50" charset="-127"/>
                <a:ea typeface="나눔고딕" panose="020D0604000000000000" pitchFamily="50" charset="-127"/>
              </a:rPr>
            </a:br>
            <a:r>
              <a:rPr lang="ko-KR" altLang="en-US" dirty="0">
                <a:latin typeface="나눔고딕" panose="020D0604000000000000" pitchFamily="50" charset="-127"/>
                <a:ea typeface="나눔고딕" panose="020D0604000000000000" pitchFamily="50" charset="-127"/>
              </a:rPr>
              <a:t>공공부문은 여러 가지 복합적인 목표를 추구한다는 점에서 차이</a:t>
            </a:r>
            <a:endParaRPr lang="en-US" altLang="ko-KR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  <a:p>
            <a:pPr marL="444500" lvl="1">
              <a:spcAft>
                <a:spcPts val="500"/>
              </a:spcAft>
            </a:pPr>
            <a:r>
              <a:rPr lang="ko-KR" altLang="en-US" dirty="0">
                <a:latin typeface="나눔고딕" panose="020D0604000000000000" pitchFamily="50" charset="-127"/>
                <a:ea typeface="나눔고딕" panose="020D0604000000000000" pitchFamily="50" charset="-127"/>
              </a:rPr>
              <a:t>공공사업이 유발하는 효과를 여러 각도에서 파악해 포괄적인 평가를 내려야 함</a:t>
            </a:r>
            <a:endParaRPr lang="en-US" altLang="ko-KR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  <a:p>
            <a:pPr marL="444500" lvl="1">
              <a:spcAft>
                <a:spcPts val="500"/>
              </a:spcAft>
            </a:pPr>
            <a:r>
              <a:rPr lang="ko-KR" altLang="en-US" dirty="0">
                <a:latin typeface="나눔고딕" panose="020D0604000000000000" pitchFamily="50" charset="-127"/>
                <a:ea typeface="나눔고딕" panose="020D0604000000000000" pitchFamily="50" charset="-127"/>
              </a:rPr>
              <a:t>기업의 경우에는 비용과 편익을 평가할 때 시장가격을 그대로 사용하면 되는 데 비해</a:t>
            </a:r>
            <a:r>
              <a:rPr lang="en-US" altLang="ko-KR" dirty="0">
                <a:latin typeface="나눔고딕" panose="020D0604000000000000" pitchFamily="50" charset="-127"/>
                <a:ea typeface="나눔고딕" panose="020D0604000000000000" pitchFamily="50" charset="-127"/>
              </a:rPr>
              <a:t>, </a:t>
            </a:r>
            <a:r>
              <a:rPr lang="ko-KR" altLang="en-US" dirty="0">
                <a:latin typeface="나눔고딕" panose="020D0604000000000000" pitchFamily="50" charset="-127"/>
                <a:ea typeface="나눔고딕" panose="020D0604000000000000" pitchFamily="50" charset="-127"/>
              </a:rPr>
              <a:t>공공부문의 경우는 시장가격의 사용이 바람직하지 않은 상황이 자주 발생</a:t>
            </a:r>
            <a:endParaRPr lang="en-US" altLang="ko-KR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altLang="ko-KR">
                <a:latin typeface="나눔고딕" panose="020D0604000000000000" pitchFamily="50" charset="-127"/>
                <a:ea typeface="나눔고딕" panose="020D0604000000000000" pitchFamily="50" charset="-127"/>
              </a:rPr>
              <a:t>PUBLIC FINANCE</a:t>
            </a:r>
            <a:endParaRPr lang="ko-KR" altLang="en-US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ko-KR" altLang="en-US">
                <a:latin typeface="나눔고딕" panose="020D0604000000000000" pitchFamily="50" charset="-127"/>
                <a:ea typeface="나눔고딕" panose="020D0604000000000000" pitchFamily="50" charset="-127"/>
              </a:rPr>
              <a:t>제</a:t>
            </a:r>
            <a:r>
              <a:rPr lang="en-US" altLang="ko-KR">
                <a:latin typeface="나눔고딕" panose="020D0604000000000000" pitchFamily="50" charset="-127"/>
                <a:ea typeface="나눔고딕" panose="020D0604000000000000" pitchFamily="50" charset="-127"/>
              </a:rPr>
              <a:t>12</a:t>
            </a:r>
            <a:r>
              <a:rPr lang="ko-KR" altLang="en-US">
                <a:latin typeface="나눔고딕" panose="020D0604000000000000" pitchFamily="50" charset="-127"/>
                <a:ea typeface="나눔고딕" panose="020D0604000000000000" pitchFamily="50" charset="-127"/>
              </a:rPr>
              <a:t>장  비용편익분석</a:t>
            </a:r>
            <a:endParaRPr lang="ko-KR" altLang="en-US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6CA9FF6-BF29-4679-8C21-AEBAF2895125}" type="slidenum">
              <a:rPr lang="ko-KR" altLang="en-US" smtClean="0">
                <a:latin typeface="나눔고딕" panose="020D0604000000000000" pitchFamily="50" charset="-127"/>
                <a:ea typeface="나눔고딕" panose="020D0604000000000000" pitchFamily="50" charset="-127"/>
              </a:rPr>
              <a:t>9</a:t>
            </a:fld>
            <a:endParaRPr lang="ko-KR" altLang="en-US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2587781896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ko-KR" altLang="en-US" dirty="0">
                <a:latin typeface="나눔고딕" panose="020D0604000000000000" pitchFamily="50" charset="-127"/>
                <a:ea typeface="나눔고딕" panose="020D0604000000000000" pitchFamily="50" charset="-127"/>
              </a:rPr>
              <a:t>공공사업의 여러 가지 목표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 anchor="ctr">
            <a:noAutofit/>
          </a:bodyPr>
          <a:lstStyle/>
          <a:p>
            <a:pPr marL="266700" indent="-266700">
              <a:lnSpc>
                <a:spcPct val="100000"/>
              </a:lnSpc>
              <a:buFont typeface="Wingdings" panose="05000000000000000000" pitchFamily="2" charset="2"/>
              <a:buChar char="§"/>
            </a:pPr>
            <a:r>
              <a:rPr lang="ko-KR" altLang="en-US" dirty="0">
                <a:latin typeface="나눔고딕" panose="020D0604000000000000" pitchFamily="50" charset="-127"/>
                <a:ea typeface="나눔고딕" panose="020D0604000000000000" pitchFamily="50" charset="-127"/>
              </a:rPr>
              <a:t>공공사업의 다양한 목표</a:t>
            </a:r>
            <a:endParaRPr lang="en-US" altLang="ko-KR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  <a:p>
            <a:pPr marL="444500" lvl="1">
              <a:lnSpc>
                <a:spcPct val="100000"/>
              </a:lnSpc>
            </a:pPr>
            <a:r>
              <a:rPr lang="ko-KR" altLang="en-US" dirty="0">
                <a:latin typeface="나눔고딕" panose="020D0604000000000000" pitchFamily="50" charset="-127"/>
                <a:ea typeface="나눔고딕" panose="020D0604000000000000" pitchFamily="50" charset="-127"/>
              </a:rPr>
              <a:t>총 소비</a:t>
            </a:r>
            <a:r>
              <a:rPr lang="en-US" altLang="ko-KR" dirty="0">
                <a:latin typeface="나눔고딕" panose="020D0604000000000000" pitchFamily="50" charset="-127"/>
                <a:ea typeface="나눔고딕" panose="020D0604000000000000" pitchFamily="50" charset="-127"/>
              </a:rPr>
              <a:t> </a:t>
            </a:r>
            <a:r>
              <a:rPr lang="ko-KR" altLang="en-US" dirty="0">
                <a:latin typeface="나눔고딕" panose="020D0604000000000000" pitchFamily="50" charset="-127"/>
                <a:ea typeface="나눔고딕" panose="020D0604000000000000" pitchFamily="50" charset="-127"/>
              </a:rPr>
              <a:t>증대를 통한 후생 증진</a:t>
            </a:r>
            <a:endParaRPr lang="en-US" altLang="ko-KR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  <a:p>
            <a:pPr marL="444500" lvl="1">
              <a:lnSpc>
                <a:spcPct val="100000"/>
              </a:lnSpc>
            </a:pPr>
            <a:r>
              <a:rPr lang="ko-KR" altLang="en-US" dirty="0">
                <a:latin typeface="나눔고딕" panose="020D0604000000000000" pitchFamily="50" charset="-127"/>
                <a:ea typeface="나눔고딕" panose="020D0604000000000000" pitchFamily="50" charset="-127"/>
              </a:rPr>
              <a:t>소득재분배</a:t>
            </a:r>
            <a:endParaRPr lang="en-US" altLang="ko-KR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  <a:p>
            <a:pPr marL="444500" lvl="1">
              <a:lnSpc>
                <a:spcPct val="100000"/>
              </a:lnSpc>
            </a:pPr>
            <a:r>
              <a:rPr lang="ko-KR" altLang="en-US" dirty="0">
                <a:latin typeface="나눔고딕" panose="020D0604000000000000" pitchFamily="50" charset="-127"/>
                <a:ea typeface="나눔고딕" panose="020D0604000000000000" pitchFamily="50" charset="-127"/>
              </a:rPr>
              <a:t>산업 발전의 기반 제공</a:t>
            </a:r>
            <a:endParaRPr lang="en-US" altLang="ko-KR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  <a:p>
            <a:pPr marL="444500" lvl="1">
              <a:lnSpc>
                <a:spcPct val="100000"/>
              </a:lnSpc>
            </a:pPr>
            <a:r>
              <a:rPr lang="ko-KR" altLang="en-US" dirty="0">
                <a:latin typeface="나눔고딕" panose="020D0604000000000000" pitchFamily="50" charset="-127"/>
                <a:ea typeface="나눔고딕" panose="020D0604000000000000" pitchFamily="50" charset="-127"/>
              </a:rPr>
              <a:t>고용수준의 제고</a:t>
            </a:r>
            <a:endParaRPr lang="en-US" altLang="ko-KR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  <a:p>
            <a:pPr marL="444500" lvl="1">
              <a:lnSpc>
                <a:spcPct val="100000"/>
              </a:lnSpc>
            </a:pPr>
            <a:r>
              <a:rPr lang="ko-KR" altLang="en-US" dirty="0">
                <a:latin typeface="나눔고딕" panose="020D0604000000000000" pitchFamily="50" charset="-127"/>
                <a:ea typeface="나눔고딕" panose="020D0604000000000000" pitchFamily="50" charset="-127"/>
              </a:rPr>
              <a:t>경제자립도의 제고</a:t>
            </a:r>
            <a:endParaRPr lang="en-US" altLang="ko-KR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  <a:p>
            <a:pPr marL="444500" lvl="1">
              <a:lnSpc>
                <a:spcPct val="100000"/>
              </a:lnSpc>
            </a:pPr>
            <a:r>
              <a:rPr lang="ko-KR" altLang="en-US" dirty="0">
                <a:latin typeface="나눔고딕" panose="020D0604000000000000" pitchFamily="50" charset="-127"/>
                <a:ea typeface="나눔고딕" panose="020D0604000000000000" pitchFamily="50" charset="-127"/>
              </a:rPr>
              <a:t>가치욕구</a:t>
            </a:r>
            <a:r>
              <a:rPr lang="en-US" altLang="ko-KR" dirty="0">
                <a:latin typeface="나눔고딕" panose="020D0604000000000000" pitchFamily="50" charset="-127"/>
                <a:ea typeface="나눔고딕" panose="020D0604000000000000" pitchFamily="50" charset="-127"/>
              </a:rPr>
              <a:t>(merit wants)</a:t>
            </a:r>
            <a:r>
              <a:rPr lang="ko-KR" altLang="en-US" dirty="0">
                <a:latin typeface="나눔고딕" panose="020D0604000000000000" pitchFamily="50" charset="-127"/>
                <a:ea typeface="나눔고딕" panose="020D0604000000000000" pitchFamily="50" charset="-127"/>
              </a:rPr>
              <a:t>의 충족</a:t>
            </a:r>
            <a:endParaRPr lang="en-US" altLang="ko-KR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  <a:p>
            <a:pPr>
              <a:lnSpc>
                <a:spcPct val="100000"/>
              </a:lnSpc>
            </a:pPr>
            <a:endParaRPr lang="en-US" altLang="ko-KR" sz="500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  <a:p>
            <a:pPr marL="266700" indent="-266700">
              <a:lnSpc>
                <a:spcPct val="100000"/>
              </a:lnSpc>
              <a:buFont typeface="Wingdings" panose="05000000000000000000" pitchFamily="2" charset="2"/>
              <a:buChar char="§"/>
            </a:pPr>
            <a:r>
              <a:rPr lang="ko-KR" altLang="en-US" dirty="0">
                <a:latin typeface="나눔고딕" panose="020D0604000000000000" pitchFamily="50" charset="-127"/>
                <a:ea typeface="나눔고딕" panose="020D0604000000000000" pitchFamily="50" charset="-127"/>
              </a:rPr>
              <a:t>편익은 다양한 성격을 갖고 있어 이를 체계화해 이해해야 할 필요성이 있음</a:t>
            </a:r>
            <a:endParaRPr lang="en-US" altLang="ko-KR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  <a:p>
            <a:pPr marL="444500" lvl="1">
              <a:lnSpc>
                <a:spcPct val="100000"/>
              </a:lnSpc>
            </a:pPr>
            <a:r>
              <a:rPr lang="ko-KR" altLang="en-US" dirty="0">
                <a:latin typeface="나눔고딕" panose="020D0604000000000000" pitchFamily="50" charset="-127"/>
                <a:ea typeface="나눔고딕" panose="020D0604000000000000" pitchFamily="50" charset="-127"/>
              </a:rPr>
              <a:t>공공사업의 효율적인 수행을 위해서는 이를 통해 기대할 수 있는 편익의     정확한 크기를 파악하는 것이 중요</a:t>
            </a:r>
            <a:endParaRPr lang="en-US" altLang="ko-KR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altLang="ko-KR">
                <a:latin typeface="나눔고딕" panose="020D0604000000000000" pitchFamily="50" charset="-127"/>
                <a:ea typeface="나눔고딕" panose="020D0604000000000000" pitchFamily="50" charset="-127"/>
              </a:rPr>
              <a:t>PUBLIC FINANCE</a:t>
            </a:r>
            <a:endParaRPr lang="ko-KR" altLang="en-US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ko-KR" altLang="en-US">
                <a:latin typeface="나눔고딕" panose="020D0604000000000000" pitchFamily="50" charset="-127"/>
                <a:ea typeface="나눔고딕" panose="020D0604000000000000" pitchFamily="50" charset="-127"/>
              </a:rPr>
              <a:t>제</a:t>
            </a:r>
            <a:r>
              <a:rPr lang="en-US" altLang="ko-KR">
                <a:latin typeface="나눔고딕" panose="020D0604000000000000" pitchFamily="50" charset="-127"/>
                <a:ea typeface="나눔고딕" panose="020D0604000000000000" pitchFamily="50" charset="-127"/>
              </a:rPr>
              <a:t>12</a:t>
            </a:r>
            <a:r>
              <a:rPr lang="ko-KR" altLang="en-US">
                <a:latin typeface="나눔고딕" panose="020D0604000000000000" pitchFamily="50" charset="-127"/>
                <a:ea typeface="나눔고딕" panose="020D0604000000000000" pitchFamily="50" charset="-127"/>
              </a:rPr>
              <a:t>장  비용편익분석</a:t>
            </a:r>
            <a:endParaRPr lang="ko-KR" altLang="en-US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6CA9FF6-BF29-4679-8C21-AEBAF2895125}" type="slidenum">
              <a:rPr lang="ko-KR" altLang="en-US" smtClean="0">
                <a:latin typeface="나눔고딕" panose="020D0604000000000000" pitchFamily="50" charset="-127"/>
                <a:ea typeface="나눔고딕" panose="020D0604000000000000" pitchFamily="50" charset="-127"/>
              </a:rPr>
              <a:t>10</a:t>
            </a:fld>
            <a:endParaRPr lang="ko-KR" altLang="en-US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3183098256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r>
              <a:rPr lang="ko-KR" altLang="en-US" dirty="0">
                <a:latin typeface="나눔고딕" panose="020D0604000000000000" pitchFamily="50" charset="-127"/>
                <a:ea typeface="나눔고딕" panose="020D0604000000000000" pitchFamily="50" charset="-127"/>
              </a:rPr>
              <a:t>공공사업의 여러 가지 목표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 anchor="ctr">
            <a:noAutofit/>
          </a:bodyPr>
          <a:lstStyle/>
          <a:p>
            <a:pPr marL="266700" indent="-266700">
              <a:lnSpc>
                <a:spcPct val="110000"/>
              </a:lnSpc>
              <a:buFont typeface="Wingdings" panose="05000000000000000000" pitchFamily="2" charset="2"/>
              <a:buChar char="§"/>
            </a:pPr>
            <a:r>
              <a:rPr lang="ko-KR" altLang="en-US" dirty="0">
                <a:latin typeface="나눔고딕" panose="020D0604000000000000" pitchFamily="50" charset="-127"/>
                <a:ea typeface="나눔고딕" panose="020D0604000000000000" pitchFamily="50" charset="-127"/>
              </a:rPr>
              <a:t>공공사업의 편익</a:t>
            </a:r>
            <a:endParaRPr lang="en-US" altLang="ko-KR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  <a:p>
            <a:pPr marL="444500" lvl="1">
              <a:lnSpc>
                <a:spcPct val="110000"/>
              </a:lnSpc>
              <a:tabLst>
                <a:tab pos="901700" algn="l"/>
              </a:tabLst>
            </a:pPr>
            <a:r>
              <a:rPr lang="ko-KR" altLang="en-US" b="1" dirty="0">
                <a:solidFill>
                  <a:schemeClr val="accent1">
                    <a:lumMod val="7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실질적 편익</a:t>
            </a:r>
            <a:r>
              <a:rPr lang="en-US" altLang="ko-KR" dirty="0">
                <a:solidFill>
                  <a:schemeClr val="accent1">
                    <a:lumMod val="7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(real benefit) </a:t>
            </a:r>
            <a:r>
              <a:rPr lang="en-US" altLang="ko-KR" dirty="0">
                <a:latin typeface="나눔고딕" panose="020D0604000000000000" pitchFamily="50" charset="-127"/>
                <a:ea typeface="나눔고딕" panose="020D0604000000000000" pitchFamily="50" charset="-127"/>
              </a:rPr>
              <a:t>: </a:t>
            </a:r>
            <a:r>
              <a:rPr lang="ko-KR" altLang="en-US" dirty="0">
                <a:latin typeface="나눔고딕" panose="020D0604000000000000" pitchFamily="50" charset="-127"/>
                <a:ea typeface="나눔고딕" panose="020D0604000000000000" pitchFamily="50" charset="-127"/>
              </a:rPr>
              <a:t>공공사업의 수혜자가 얻는 실질적 혜택</a:t>
            </a:r>
            <a:endParaRPr lang="en-US" altLang="ko-KR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  <a:p>
            <a:pPr marL="444500" lvl="1">
              <a:lnSpc>
                <a:spcPct val="110000"/>
              </a:lnSpc>
              <a:spcAft>
                <a:spcPts val="1000"/>
              </a:spcAft>
              <a:tabLst>
                <a:tab pos="901700" algn="l"/>
              </a:tabLst>
            </a:pPr>
            <a:r>
              <a:rPr lang="ko-KR" altLang="en-US" b="1" dirty="0">
                <a:solidFill>
                  <a:schemeClr val="accent1">
                    <a:lumMod val="7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금전적 편익</a:t>
            </a:r>
            <a:r>
              <a:rPr lang="en-US" altLang="ko-KR" dirty="0">
                <a:solidFill>
                  <a:schemeClr val="accent1">
                    <a:lumMod val="7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(pecuniary benefit) </a:t>
            </a:r>
            <a:r>
              <a:rPr lang="en-US" altLang="ko-KR" dirty="0">
                <a:latin typeface="나눔고딕" panose="020D0604000000000000" pitchFamily="50" charset="-127"/>
                <a:ea typeface="나눔고딕" panose="020D0604000000000000" pitchFamily="50" charset="-127"/>
              </a:rPr>
              <a:t>: </a:t>
            </a:r>
            <a:r>
              <a:rPr lang="ko-KR" altLang="en-US" dirty="0">
                <a:latin typeface="나눔고딕" panose="020D0604000000000000" pitchFamily="50" charset="-127"/>
                <a:ea typeface="나눔고딕" panose="020D0604000000000000" pitchFamily="50" charset="-127"/>
              </a:rPr>
              <a:t>공공사업으로 인한 상대가격구조의 변화에 의해 어떤 사람에게 금전상의 이득이 생긴 것 의미</a:t>
            </a:r>
            <a:endParaRPr lang="en-US" altLang="ko-KR" sz="1000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  <a:p>
            <a:pPr marL="266700" indent="-266700">
              <a:lnSpc>
                <a:spcPct val="110000"/>
              </a:lnSpc>
              <a:spcAft>
                <a:spcPts val="1000"/>
              </a:spcAft>
            </a:pPr>
            <a:r>
              <a:rPr lang="ko-KR" altLang="en-US" dirty="0">
                <a:latin typeface="나눔고딕" panose="020D0604000000000000" pitchFamily="50" charset="-127"/>
                <a:ea typeface="나눔고딕" panose="020D0604000000000000" pitchFamily="50" charset="-127"/>
              </a:rPr>
              <a:t>특수한 경우를 제외하면</a:t>
            </a:r>
            <a:r>
              <a:rPr lang="en-US" altLang="ko-KR" dirty="0">
                <a:latin typeface="나눔고딕" panose="020D0604000000000000" pitchFamily="50" charset="-127"/>
                <a:ea typeface="나눔고딕" panose="020D0604000000000000" pitchFamily="50" charset="-127"/>
              </a:rPr>
              <a:t> </a:t>
            </a:r>
            <a:r>
              <a:rPr lang="ko-KR" altLang="en-US" dirty="0">
                <a:latin typeface="나눔고딕" panose="020D0604000000000000" pitchFamily="50" charset="-127"/>
                <a:ea typeface="나눔고딕" panose="020D0604000000000000" pitchFamily="50" charset="-127"/>
              </a:rPr>
              <a:t>공공사업의 실질적인 편익에만 관심을 갖는 것이 일반적임</a:t>
            </a:r>
            <a:endParaRPr lang="en-US" altLang="ko-KR" sz="1000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  <a:p>
            <a:pPr marL="266700" indent="-266700">
              <a:lnSpc>
                <a:spcPct val="110000"/>
              </a:lnSpc>
              <a:buFont typeface="Wingdings" panose="05000000000000000000" pitchFamily="2" charset="2"/>
              <a:buChar char="§"/>
            </a:pPr>
            <a:r>
              <a:rPr lang="ko-KR" altLang="en-US" dirty="0">
                <a:latin typeface="나눔고딕" panose="020D0604000000000000" pitchFamily="50" charset="-127"/>
                <a:ea typeface="나눔고딕" panose="020D0604000000000000" pitchFamily="50" charset="-127"/>
              </a:rPr>
              <a:t>실질적 편익의 구분</a:t>
            </a:r>
            <a:endParaRPr lang="en-US" altLang="ko-KR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  <a:p>
            <a:pPr marL="444500" lvl="1">
              <a:lnSpc>
                <a:spcPct val="110000"/>
              </a:lnSpc>
              <a:tabLst>
                <a:tab pos="901700" algn="l"/>
              </a:tabLst>
            </a:pPr>
            <a:r>
              <a:rPr lang="ko-KR" altLang="en-US" dirty="0">
                <a:latin typeface="나눔고딕" panose="020D0604000000000000" pitchFamily="50" charset="-127"/>
                <a:ea typeface="나눔고딕" panose="020D0604000000000000" pitchFamily="50" charset="-127"/>
              </a:rPr>
              <a:t>직접적 편익</a:t>
            </a:r>
            <a:r>
              <a:rPr lang="en-US" altLang="ko-KR" dirty="0">
                <a:latin typeface="나눔고딕" panose="020D0604000000000000" pitchFamily="50" charset="-127"/>
                <a:ea typeface="나눔고딕" panose="020D0604000000000000" pitchFamily="50" charset="-127"/>
              </a:rPr>
              <a:t>(direct benefit) vs</a:t>
            </a:r>
            <a:r>
              <a:rPr lang="ko-KR" altLang="en-US" dirty="0">
                <a:latin typeface="나눔고딕" panose="020D0604000000000000" pitchFamily="50" charset="-127"/>
                <a:ea typeface="나눔고딕" panose="020D0604000000000000" pitchFamily="50" charset="-127"/>
              </a:rPr>
              <a:t> 간접적 편익</a:t>
            </a:r>
            <a:r>
              <a:rPr lang="en-US" altLang="ko-KR" dirty="0">
                <a:latin typeface="나눔고딕" panose="020D0604000000000000" pitchFamily="50" charset="-127"/>
                <a:ea typeface="나눔고딕" panose="020D0604000000000000" pitchFamily="50" charset="-127"/>
              </a:rPr>
              <a:t>(indirect benefit)</a:t>
            </a:r>
          </a:p>
          <a:p>
            <a:pPr marL="444500" lvl="1">
              <a:lnSpc>
                <a:spcPct val="110000"/>
              </a:lnSpc>
              <a:tabLst>
                <a:tab pos="901700" algn="l"/>
              </a:tabLst>
            </a:pPr>
            <a:r>
              <a:rPr lang="ko-KR" altLang="en-US" dirty="0">
                <a:latin typeface="나눔고딕" panose="020D0604000000000000" pitchFamily="50" charset="-127"/>
                <a:ea typeface="나눔고딕" panose="020D0604000000000000" pitchFamily="50" charset="-127"/>
              </a:rPr>
              <a:t>유형적 편익</a:t>
            </a:r>
            <a:r>
              <a:rPr lang="en-US" altLang="ko-KR" dirty="0">
                <a:latin typeface="나눔고딕" panose="020D0604000000000000" pitchFamily="50" charset="-127"/>
                <a:ea typeface="나눔고딕" panose="020D0604000000000000" pitchFamily="50" charset="-127"/>
              </a:rPr>
              <a:t>(tangible benefit) vs</a:t>
            </a:r>
            <a:r>
              <a:rPr lang="ko-KR" altLang="en-US" dirty="0">
                <a:latin typeface="나눔고딕" panose="020D0604000000000000" pitchFamily="50" charset="-127"/>
                <a:ea typeface="나눔고딕" panose="020D0604000000000000" pitchFamily="50" charset="-127"/>
              </a:rPr>
              <a:t> 무형적 편익</a:t>
            </a:r>
            <a:r>
              <a:rPr lang="en-US" altLang="ko-KR" dirty="0">
                <a:latin typeface="나눔고딕" panose="020D0604000000000000" pitchFamily="50" charset="-127"/>
                <a:ea typeface="나눔고딕" panose="020D0604000000000000" pitchFamily="50" charset="-127"/>
              </a:rPr>
              <a:t>(intangible benefit)</a:t>
            </a:r>
          </a:p>
          <a:p>
            <a:pPr marL="444500" lvl="1">
              <a:lnSpc>
                <a:spcPct val="110000"/>
              </a:lnSpc>
              <a:tabLst>
                <a:tab pos="901700" algn="l"/>
              </a:tabLst>
            </a:pPr>
            <a:r>
              <a:rPr lang="ko-KR" altLang="en-US" dirty="0">
                <a:latin typeface="나눔고딕" panose="020D0604000000000000" pitchFamily="50" charset="-127"/>
                <a:ea typeface="나눔고딕" panose="020D0604000000000000" pitchFamily="50" charset="-127"/>
              </a:rPr>
              <a:t>중간적 편익</a:t>
            </a:r>
            <a:r>
              <a:rPr lang="en-US" altLang="ko-KR" dirty="0">
                <a:latin typeface="나눔고딕" panose="020D0604000000000000" pitchFamily="50" charset="-127"/>
                <a:ea typeface="나눔고딕" panose="020D0604000000000000" pitchFamily="50" charset="-127"/>
              </a:rPr>
              <a:t>(intermediate benefit) vs</a:t>
            </a:r>
            <a:r>
              <a:rPr lang="ko-KR" altLang="en-US" dirty="0">
                <a:latin typeface="나눔고딕" panose="020D0604000000000000" pitchFamily="50" charset="-127"/>
                <a:ea typeface="나눔고딕" panose="020D0604000000000000" pitchFamily="50" charset="-127"/>
              </a:rPr>
              <a:t> 최종적 편익</a:t>
            </a:r>
            <a:r>
              <a:rPr lang="en-US" altLang="ko-KR" dirty="0">
                <a:latin typeface="나눔고딕" panose="020D0604000000000000" pitchFamily="50" charset="-127"/>
                <a:ea typeface="나눔고딕" panose="020D0604000000000000" pitchFamily="50" charset="-127"/>
              </a:rPr>
              <a:t>(final benefit)</a:t>
            </a:r>
          </a:p>
          <a:p>
            <a:pPr marL="444500" lvl="1">
              <a:lnSpc>
                <a:spcPct val="110000"/>
              </a:lnSpc>
              <a:tabLst>
                <a:tab pos="901700" algn="l"/>
              </a:tabLst>
            </a:pPr>
            <a:r>
              <a:rPr lang="ko-KR" altLang="en-US" dirty="0">
                <a:latin typeface="나눔고딕" panose="020D0604000000000000" pitchFamily="50" charset="-127"/>
                <a:ea typeface="나눔고딕" panose="020D0604000000000000" pitchFamily="50" charset="-127"/>
              </a:rPr>
              <a:t>내부적 편익</a:t>
            </a:r>
            <a:r>
              <a:rPr lang="en-US" altLang="ko-KR" dirty="0">
                <a:latin typeface="나눔고딕" panose="020D0604000000000000" pitchFamily="50" charset="-127"/>
                <a:ea typeface="나눔고딕" panose="020D0604000000000000" pitchFamily="50" charset="-127"/>
              </a:rPr>
              <a:t>(inside benefit) vs</a:t>
            </a:r>
            <a:r>
              <a:rPr lang="ko-KR" altLang="en-US" dirty="0">
                <a:latin typeface="나눔고딕" panose="020D0604000000000000" pitchFamily="50" charset="-127"/>
                <a:ea typeface="나눔고딕" panose="020D0604000000000000" pitchFamily="50" charset="-127"/>
              </a:rPr>
              <a:t> 외부적 편익</a:t>
            </a:r>
            <a:r>
              <a:rPr lang="en-US" altLang="ko-KR" dirty="0">
                <a:latin typeface="나눔고딕" panose="020D0604000000000000" pitchFamily="50" charset="-127"/>
                <a:ea typeface="나눔고딕" panose="020D0604000000000000" pitchFamily="50" charset="-127"/>
              </a:rPr>
              <a:t>(outside benefit)</a:t>
            </a: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altLang="ko-KR">
                <a:latin typeface="나눔고딕" panose="020D0604000000000000" pitchFamily="50" charset="-127"/>
                <a:ea typeface="나눔고딕" panose="020D0604000000000000" pitchFamily="50" charset="-127"/>
              </a:rPr>
              <a:t>PUBLIC FINANCE</a:t>
            </a:r>
            <a:endParaRPr lang="ko-KR" altLang="en-US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ko-KR" altLang="en-US">
                <a:latin typeface="나눔고딕" panose="020D0604000000000000" pitchFamily="50" charset="-127"/>
                <a:ea typeface="나눔고딕" panose="020D0604000000000000" pitchFamily="50" charset="-127"/>
              </a:rPr>
              <a:t>제</a:t>
            </a:r>
            <a:r>
              <a:rPr lang="en-US" altLang="ko-KR">
                <a:latin typeface="나눔고딕" panose="020D0604000000000000" pitchFamily="50" charset="-127"/>
                <a:ea typeface="나눔고딕" panose="020D0604000000000000" pitchFamily="50" charset="-127"/>
              </a:rPr>
              <a:t>12</a:t>
            </a:r>
            <a:r>
              <a:rPr lang="ko-KR" altLang="en-US">
                <a:latin typeface="나눔고딕" panose="020D0604000000000000" pitchFamily="50" charset="-127"/>
                <a:ea typeface="나눔고딕" panose="020D0604000000000000" pitchFamily="50" charset="-127"/>
              </a:rPr>
              <a:t>장  비용편익분석</a:t>
            </a:r>
            <a:endParaRPr lang="ko-KR" altLang="en-US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6CA9FF6-BF29-4679-8C21-AEBAF2895125}" type="slidenum">
              <a:rPr lang="ko-KR" altLang="en-US" smtClean="0">
                <a:latin typeface="나눔고딕" panose="020D0604000000000000" pitchFamily="50" charset="-127"/>
                <a:ea typeface="나눔고딕" panose="020D0604000000000000" pitchFamily="50" charset="-127"/>
              </a:rPr>
              <a:t>11</a:t>
            </a:fld>
            <a:endParaRPr lang="ko-KR" altLang="en-US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2857800867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altLang="ko-KR" dirty="0">
                <a:latin typeface="나눔고딕" panose="020D0604000000000000" pitchFamily="50" charset="-127"/>
                <a:ea typeface="나눔고딕" panose="020D0604000000000000" pitchFamily="50" charset="-127"/>
              </a:rPr>
              <a:t>12.3  </a:t>
            </a:r>
            <a:r>
              <a:rPr lang="ko-KR" altLang="en-US" dirty="0">
                <a:latin typeface="나눔고딕" panose="020D0604000000000000" pitchFamily="50" charset="-127"/>
                <a:ea typeface="나눔고딕" panose="020D0604000000000000" pitchFamily="50" charset="-127"/>
              </a:rPr>
              <a:t>편익과 비용의 평가기준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266700" indent="-266700">
              <a:lnSpc>
                <a:spcPct val="150000"/>
              </a:lnSpc>
            </a:pPr>
            <a:r>
              <a:rPr lang="ko-KR" altLang="en-US" dirty="0">
                <a:latin typeface="나눔고딕" panose="020D0604000000000000" pitchFamily="50" charset="-127"/>
                <a:ea typeface="나눔고딕" panose="020D0604000000000000" pitchFamily="50" charset="-127"/>
              </a:rPr>
              <a:t>민간기업의 경우 시장가격에 입각해 투자사업과 관련된 편익과 비용을 측정하기만 하면 아무 문제가 생기지 않음</a:t>
            </a:r>
            <a:endParaRPr lang="en-US" altLang="ko-KR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  <a:p>
            <a:pPr marL="266700" indent="-266700">
              <a:lnSpc>
                <a:spcPct val="150000"/>
              </a:lnSpc>
            </a:pPr>
            <a:endParaRPr lang="en-US" altLang="ko-KR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  <a:p>
            <a:pPr marL="266700" indent="-266700">
              <a:lnSpc>
                <a:spcPct val="150000"/>
              </a:lnSpc>
            </a:pPr>
            <a:r>
              <a:rPr lang="ko-KR" altLang="en-US" dirty="0">
                <a:latin typeface="나눔고딕" panose="020D0604000000000000" pitchFamily="50" charset="-127"/>
                <a:ea typeface="나눔고딕" panose="020D0604000000000000" pitchFamily="50" charset="-127"/>
              </a:rPr>
              <a:t>공공사업의 경우 시장의 불완전성이나 정부개입 등으로 인해            시장가격이 자원의 정확한 기회비용을 반영하지 못할 때가 있어</a:t>
            </a:r>
            <a:r>
              <a:rPr lang="en-US" altLang="ko-KR" dirty="0">
                <a:latin typeface="나눔고딕" panose="020D0604000000000000" pitchFamily="50" charset="-127"/>
                <a:ea typeface="나눔고딕" panose="020D0604000000000000" pitchFamily="50" charset="-127"/>
              </a:rPr>
              <a:t>        </a:t>
            </a:r>
            <a:r>
              <a:rPr lang="ko-KR" altLang="en-US" dirty="0">
                <a:latin typeface="나눔고딕" panose="020D0604000000000000" pitchFamily="50" charset="-127"/>
                <a:ea typeface="나눔고딕" panose="020D0604000000000000" pitchFamily="50" charset="-127"/>
              </a:rPr>
              <a:t>시장가격이 적절한 평가기준이 되지는 못하는 경우가 많음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altLang="ko-KR">
                <a:latin typeface="나눔고딕" panose="020D0604000000000000" pitchFamily="50" charset="-127"/>
                <a:ea typeface="나눔고딕" panose="020D0604000000000000" pitchFamily="50" charset="-127"/>
              </a:rPr>
              <a:t>PUBLIC FINANCE</a:t>
            </a:r>
            <a:endParaRPr lang="ko-KR" altLang="en-US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ko-KR" altLang="en-US">
                <a:latin typeface="나눔고딕" panose="020D0604000000000000" pitchFamily="50" charset="-127"/>
                <a:ea typeface="나눔고딕" panose="020D0604000000000000" pitchFamily="50" charset="-127"/>
              </a:rPr>
              <a:t>제</a:t>
            </a:r>
            <a:r>
              <a:rPr lang="en-US" altLang="ko-KR">
                <a:latin typeface="나눔고딕" panose="020D0604000000000000" pitchFamily="50" charset="-127"/>
                <a:ea typeface="나눔고딕" panose="020D0604000000000000" pitchFamily="50" charset="-127"/>
              </a:rPr>
              <a:t>12</a:t>
            </a:r>
            <a:r>
              <a:rPr lang="ko-KR" altLang="en-US">
                <a:latin typeface="나눔고딕" panose="020D0604000000000000" pitchFamily="50" charset="-127"/>
                <a:ea typeface="나눔고딕" panose="020D0604000000000000" pitchFamily="50" charset="-127"/>
              </a:rPr>
              <a:t>장  비용편익분석</a:t>
            </a:r>
            <a:endParaRPr lang="ko-KR" altLang="en-US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6CA9FF6-BF29-4679-8C21-AEBAF2895125}" type="slidenum">
              <a:rPr lang="ko-KR" altLang="en-US" smtClean="0">
                <a:latin typeface="나눔고딕" panose="020D0604000000000000" pitchFamily="50" charset="-127"/>
                <a:ea typeface="나눔고딕" panose="020D0604000000000000" pitchFamily="50" charset="-127"/>
              </a:rPr>
              <a:t>12</a:t>
            </a:fld>
            <a:endParaRPr lang="ko-KR" altLang="en-US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3598490064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ko-KR" altLang="en-US" dirty="0">
                <a:latin typeface="나눔고딕" panose="020D0604000000000000" pitchFamily="50" charset="-127"/>
                <a:ea typeface="나눔고딕" panose="020D0604000000000000" pitchFamily="50" charset="-127"/>
              </a:rPr>
              <a:t>편익과 비용의 평가기준 </a:t>
            </a:r>
            <a:r>
              <a:rPr lang="en-US" altLang="ko-KR" dirty="0">
                <a:latin typeface="나눔고딕" panose="020D0604000000000000" pitchFamily="50" charset="-127"/>
                <a:ea typeface="나눔고딕" panose="020D0604000000000000" pitchFamily="50" charset="-127"/>
              </a:rPr>
              <a:t>: </a:t>
            </a:r>
            <a:r>
              <a:rPr lang="ko-KR" altLang="en-US" dirty="0">
                <a:latin typeface="나눔고딕" panose="020D0604000000000000" pitchFamily="50" charset="-127"/>
                <a:ea typeface="나눔고딕" panose="020D0604000000000000" pitchFamily="50" charset="-127"/>
              </a:rPr>
              <a:t>시장가격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>
          <a:xfrm>
            <a:off x="628650" y="1422400"/>
            <a:ext cx="8053956" cy="4754563"/>
          </a:xfrm>
        </p:spPr>
        <p:txBody>
          <a:bodyPr anchor="ctr">
            <a:noAutofit/>
          </a:bodyPr>
          <a:lstStyle/>
          <a:p>
            <a:pPr marL="0" indent="0">
              <a:lnSpc>
                <a:spcPct val="150000"/>
              </a:lnSpc>
              <a:spcAft>
                <a:spcPts val="800"/>
              </a:spcAft>
              <a:buNone/>
            </a:pPr>
            <a:r>
              <a:rPr lang="en-US" altLang="ko-KR" dirty="0">
                <a:latin typeface="나눔고딕" panose="020D0604000000000000" pitchFamily="50" charset="-127"/>
                <a:ea typeface="나눔고딕" panose="020D0604000000000000" pitchFamily="50" charset="-127"/>
              </a:rPr>
              <a:t>(1) </a:t>
            </a:r>
            <a:r>
              <a:rPr lang="ko-KR" altLang="en-US" dirty="0">
                <a:latin typeface="나눔고딕" panose="020D0604000000000000" pitchFamily="50" charset="-127"/>
                <a:ea typeface="나눔고딕" panose="020D0604000000000000" pitchFamily="50" charset="-127"/>
              </a:rPr>
              <a:t>시장가격</a:t>
            </a:r>
            <a:r>
              <a:rPr lang="en-US" altLang="ko-KR" dirty="0">
                <a:latin typeface="나눔고딕" panose="020D0604000000000000" pitchFamily="50" charset="-127"/>
                <a:ea typeface="나눔고딕" panose="020D0604000000000000" pitchFamily="50" charset="-127"/>
              </a:rPr>
              <a:t>(market price)</a:t>
            </a:r>
            <a:r>
              <a:rPr lang="ko-KR" altLang="en-US" dirty="0">
                <a:latin typeface="나눔고딕" panose="020D0604000000000000" pitchFamily="50" charset="-127"/>
                <a:ea typeface="나눔고딕" panose="020D0604000000000000" pitchFamily="50" charset="-127"/>
              </a:rPr>
              <a:t>에 기초한 평가</a:t>
            </a:r>
            <a:endParaRPr lang="en-US" altLang="ko-KR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  <a:p>
            <a:pPr marL="266400" indent="-266400">
              <a:lnSpc>
                <a:spcPct val="150000"/>
              </a:lnSpc>
              <a:spcAft>
                <a:spcPts val="800"/>
              </a:spcAft>
            </a:pPr>
            <a:r>
              <a:rPr lang="ko-KR" altLang="en-US" dirty="0">
                <a:latin typeface="나눔고딕" panose="020D0604000000000000" pitchFamily="50" charset="-127"/>
                <a:ea typeface="나눔고딕" panose="020D0604000000000000" pitchFamily="50" charset="-127"/>
              </a:rPr>
              <a:t>생산에 소요되는 사회적 한계비용이나 소비자들에게 돌아가는 사회적 한계편익을 제대로 반영하지 못하는 사례가 많음</a:t>
            </a:r>
            <a:endParaRPr lang="en-US" altLang="ko-KR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  <a:p>
            <a:pPr marL="266400" indent="-266400">
              <a:lnSpc>
                <a:spcPct val="150000"/>
              </a:lnSpc>
              <a:spcAft>
                <a:spcPts val="800"/>
              </a:spcAft>
            </a:pPr>
            <a:r>
              <a:rPr lang="ko-KR" altLang="en-US" dirty="0">
                <a:latin typeface="나눔고딕" panose="020D0604000000000000" pitchFamily="50" charset="-127"/>
                <a:ea typeface="나눔고딕" panose="020D0604000000000000" pitchFamily="50" charset="-127"/>
              </a:rPr>
              <a:t>그러나 다른 대안들에 비하면 시장가격은 싼 비용으로 가장 많은 정보를 전달해 줄 수 있는 매체일 수 있음</a:t>
            </a:r>
            <a:endParaRPr lang="en-US" altLang="ko-KR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altLang="ko-KR">
                <a:latin typeface="나눔고딕" panose="020D0604000000000000" pitchFamily="50" charset="-127"/>
                <a:ea typeface="나눔고딕" panose="020D0604000000000000" pitchFamily="50" charset="-127"/>
              </a:rPr>
              <a:t>PUBLIC FINANCE</a:t>
            </a:r>
            <a:endParaRPr lang="ko-KR" altLang="en-US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ko-KR" altLang="en-US">
                <a:latin typeface="나눔고딕" panose="020D0604000000000000" pitchFamily="50" charset="-127"/>
                <a:ea typeface="나눔고딕" panose="020D0604000000000000" pitchFamily="50" charset="-127"/>
              </a:rPr>
              <a:t>제</a:t>
            </a:r>
            <a:r>
              <a:rPr lang="en-US" altLang="ko-KR">
                <a:latin typeface="나눔고딕" panose="020D0604000000000000" pitchFamily="50" charset="-127"/>
                <a:ea typeface="나눔고딕" panose="020D0604000000000000" pitchFamily="50" charset="-127"/>
              </a:rPr>
              <a:t>12</a:t>
            </a:r>
            <a:r>
              <a:rPr lang="ko-KR" altLang="en-US">
                <a:latin typeface="나눔고딕" panose="020D0604000000000000" pitchFamily="50" charset="-127"/>
                <a:ea typeface="나눔고딕" panose="020D0604000000000000" pitchFamily="50" charset="-127"/>
              </a:rPr>
              <a:t>장  비용편익분석</a:t>
            </a:r>
            <a:endParaRPr lang="ko-KR" altLang="en-US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6CA9FF6-BF29-4679-8C21-AEBAF2895125}" type="slidenum">
              <a:rPr lang="ko-KR" altLang="en-US" smtClean="0">
                <a:latin typeface="나눔고딕" panose="020D0604000000000000" pitchFamily="50" charset="-127"/>
                <a:ea typeface="나눔고딕" panose="020D0604000000000000" pitchFamily="50" charset="-127"/>
              </a:rPr>
              <a:t>13</a:t>
            </a:fld>
            <a:endParaRPr lang="ko-KR" altLang="en-US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3389378562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ko-KR" altLang="en-US" dirty="0">
                <a:latin typeface="나눔고딕" panose="020D0604000000000000" pitchFamily="50" charset="-127"/>
                <a:ea typeface="나눔고딕" panose="020D0604000000000000" pitchFamily="50" charset="-127"/>
              </a:rPr>
              <a:t>편익과 비용의 평가기준 </a:t>
            </a:r>
            <a:r>
              <a:rPr lang="en-US" altLang="ko-KR" dirty="0">
                <a:latin typeface="나눔고딕" panose="020D0604000000000000" pitchFamily="50" charset="-127"/>
                <a:ea typeface="나눔고딕" panose="020D0604000000000000" pitchFamily="50" charset="-127"/>
              </a:rPr>
              <a:t>: </a:t>
            </a:r>
            <a:r>
              <a:rPr lang="ko-KR" altLang="en-US" dirty="0">
                <a:latin typeface="나눔고딕" panose="020D0604000000000000" pitchFamily="50" charset="-127"/>
                <a:ea typeface="나눔고딕" panose="020D0604000000000000" pitchFamily="50" charset="-127"/>
              </a:rPr>
              <a:t>잠재가격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 anchor="ctr">
            <a:noAutofit/>
          </a:bodyPr>
          <a:lstStyle/>
          <a:p>
            <a:pPr marL="0" indent="0">
              <a:lnSpc>
                <a:spcPct val="150000"/>
              </a:lnSpc>
              <a:spcAft>
                <a:spcPts val="800"/>
              </a:spcAft>
              <a:buNone/>
            </a:pPr>
            <a:r>
              <a:rPr lang="en-US" altLang="ko-KR" dirty="0">
                <a:latin typeface="나눔고딕" panose="020D0604000000000000" pitchFamily="50" charset="-127"/>
                <a:ea typeface="나눔고딕" panose="020D0604000000000000" pitchFamily="50" charset="-127"/>
              </a:rPr>
              <a:t>(2) </a:t>
            </a:r>
            <a:r>
              <a:rPr lang="ko-KR" altLang="en-US" dirty="0">
                <a:latin typeface="나눔고딕" panose="020D0604000000000000" pitchFamily="50" charset="-127"/>
                <a:ea typeface="나눔고딕" panose="020D0604000000000000" pitchFamily="50" charset="-127"/>
              </a:rPr>
              <a:t>잠재가격</a:t>
            </a:r>
            <a:r>
              <a:rPr lang="en-US" altLang="ko-KR" dirty="0">
                <a:latin typeface="나눔고딕" panose="020D0604000000000000" pitchFamily="50" charset="-127"/>
                <a:ea typeface="나눔고딕" panose="020D0604000000000000" pitchFamily="50" charset="-127"/>
              </a:rPr>
              <a:t>(shadow price)</a:t>
            </a:r>
            <a:r>
              <a:rPr lang="ko-KR" altLang="en-US" dirty="0">
                <a:latin typeface="나눔고딕" panose="020D0604000000000000" pitchFamily="50" charset="-127"/>
                <a:ea typeface="나눔고딕" panose="020D0604000000000000" pitchFamily="50" charset="-127"/>
              </a:rPr>
              <a:t>에 기초한 평가</a:t>
            </a:r>
            <a:endParaRPr lang="en-US" altLang="ko-KR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  <a:p>
            <a:pPr marL="266700" indent="-266700">
              <a:lnSpc>
                <a:spcPct val="150000"/>
              </a:lnSpc>
              <a:spcAft>
                <a:spcPts val="800"/>
              </a:spcAft>
            </a:pPr>
            <a:r>
              <a:rPr lang="ko-KR" altLang="en-US" dirty="0">
                <a:latin typeface="나눔고딕" panose="020D0604000000000000" pitchFamily="50" charset="-127"/>
                <a:ea typeface="나눔고딕" panose="020D0604000000000000" pitchFamily="50" charset="-127"/>
              </a:rPr>
              <a:t>시장의 불완전성이 아주 심각하다고 판단되는 경우에는 자원의 사회적 기회비용을 계산하고 이를 </a:t>
            </a:r>
            <a:r>
              <a:rPr lang="ko-KR" altLang="en-US" b="1" dirty="0">
                <a:solidFill>
                  <a:schemeClr val="accent1">
                    <a:lumMod val="7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잠재가격</a:t>
            </a:r>
            <a:r>
              <a:rPr lang="ko-KR" altLang="en-US" dirty="0">
                <a:latin typeface="나눔고딕" panose="020D0604000000000000" pitchFamily="50" charset="-127"/>
                <a:ea typeface="나눔고딕" panose="020D0604000000000000" pitchFamily="50" charset="-127"/>
              </a:rPr>
              <a:t>으로 간주해 편익과 비용의 평가기준으로 삼을 수 있음</a:t>
            </a:r>
            <a:endParaRPr lang="en-US" altLang="ko-KR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  <a:p>
            <a:pPr marL="266700" indent="-266700">
              <a:lnSpc>
                <a:spcPct val="150000"/>
              </a:lnSpc>
              <a:spcAft>
                <a:spcPts val="800"/>
              </a:spcAft>
            </a:pPr>
            <a:r>
              <a:rPr lang="ko-KR" altLang="en-US" dirty="0">
                <a:latin typeface="나눔고딕" panose="020D0604000000000000" pitchFamily="50" charset="-127"/>
                <a:ea typeface="나눔고딕" panose="020D0604000000000000" pitchFamily="50" charset="-127"/>
              </a:rPr>
              <a:t>잠재가격 산출의 기초가 되는 모형이 이론적 결함을 갖고 있거나 현실성을 결여하고 있다면 이를 통해 도출된 가격은 사회적 기회비용을   정확하게 반영하지 못함</a:t>
            </a:r>
            <a:endParaRPr lang="en-US" altLang="ko-KR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altLang="ko-KR">
                <a:latin typeface="나눔고딕" panose="020D0604000000000000" pitchFamily="50" charset="-127"/>
                <a:ea typeface="나눔고딕" panose="020D0604000000000000" pitchFamily="50" charset="-127"/>
              </a:rPr>
              <a:t>PUBLIC FINANCE</a:t>
            </a:r>
            <a:endParaRPr lang="ko-KR" altLang="en-US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ko-KR" altLang="en-US">
                <a:latin typeface="나눔고딕" panose="020D0604000000000000" pitchFamily="50" charset="-127"/>
                <a:ea typeface="나눔고딕" panose="020D0604000000000000" pitchFamily="50" charset="-127"/>
              </a:rPr>
              <a:t>제</a:t>
            </a:r>
            <a:r>
              <a:rPr lang="en-US" altLang="ko-KR">
                <a:latin typeface="나눔고딕" panose="020D0604000000000000" pitchFamily="50" charset="-127"/>
                <a:ea typeface="나눔고딕" panose="020D0604000000000000" pitchFamily="50" charset="-127"/>
              </a:rPr>
              <a:t>12</a:t>
            </a:r>
            <a:r>
              <a:rPr lang="ko-KR" altLang="en-US">
                <a:latin typeface="나눔고딕" panose="020D0604000000000000" pitchFamily="50" charset="-127"/>
                <a:ea typeface="나눔고딕" panose="020D0604000000000000" pitchFamily="50" charset="-127"/>
              </a:rPr>
              <a:t>장  비용편익분석</a:t>
            </a:r>
            <a:endParaRPr lang="ko-KR" altLang="en-US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6CA9FF6-BF29-4679-8C21-AEBAF2895125}" type="slidenum">
              <a:rPr lang="ko-KR" altLang="en-US" smtClean="0">
                <a:latin typeface="나눔고딕" panose="020D0604000000000000" pitchFamily="50" charset="-127"/>
                <a:ea typeface="나눔고딕" panose="020D0604000000000000" pitchFamily="50" charset="-127"/>
              </a:rPr>
              <a:t>14</a:t>
            </a:fld>
            <a:endParaRPr lang="ko-KR" altLang="en-US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1892262164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r>
              <a:rPr lang="ko-KR" altLang="en-US" spc="-150" dirty="0">
                <a:latin typeface="나눔고딕" panose="020D0604000000000000" pitchFamily="50" charset="-127"/>
                <a:ea typeface="나눔고딕" panose="020D0604000000000000" pitchFamily="50" charset="-127"/>
              </a:rPr>
              <a:t>편익과 비용의 평가기준 </a:t>
            </a:r>
            <a:r>
              <a:rPr lang="en-US" altLang="ko-KR" spc="-150" dirty="0">
                <a:latin typeface="나눔고딕" panose="020D0604000000000000" pitchFamily="50" charset="-127"/>
                <a:ea typeface="나눔고딕" panose="020D0604000000000000" pitchFamily="50" charset="-127"/>
              </a:rPr>
              <a:t>: </a:t>
            </a:r>
            <a:r>
              <a:rPr lang="ko-KR" altLang="en-US" spc="-150" dirty="0">
                <a:latin typeface="나눔고딕" panose="020D0604000000000000" pitchFamily="50" charset="-127"/>
                <a:ea typeface="나눔고딕" panose="020D0604000000000000" pitchFamily="50" charset="-127"/>
              </a:rPr>
              <a:t>조정된 시장가격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 anchor="ctr">
            <a:noAutofit/>
          </a:bodyPr>
          <a:lstStyle/>
          <a:p>
            <a:pPr marL="0" indent="0">
              <a:lnSpc>
                <a:spcPct val="130000"/>
              </a:lnSpc>
              <a:spcAft>
                <a:spcPts val="1000"/>
              </a:spcAft>
              <a:buNone/>
            </a:pPr>
            <a:r>
              <a:rPr lang="en-US" altLang="ko-KR" dirty="0">
                <a:latin typeface="나눔고딕" panose="020D0604000000000000" pitchFamily="50" charset="-127"/>
                <a:ea typeface="나눔고딕" panose="020D0604000000000000" pitchFamily="50" charset="-127"/>
              </a:rPr>
              <a:t>(3) </a:t>
            </a:r>
            <a:r>
              <a:rPr lang="ko-KR" altLang="en-US" dirty="0">
                <a:latin typeface="나눔고딕" panose="020D0604000000000000" pitchFamily="50" charset="-127"/>
                <a:ea typeface="나눔고딕" panose="020D0604000000000000" pitchFamily="50" charset="-127"/>
              </a:rPr>
              <a:t>조정된</a:t>
            </a:r>
            <a:r>
              <a:rPr lang="en-US" altLang="ko-KR" dirty="0">
                <a:latin typeface="나눔고딕" panose="020D0604000000000000" pitchFamily="50" charset="-127"/>
                <a:ea typeface="나눔고딕" panose="020D0604000000000000" pitchFamily="50" charset="-127"/>
              </a:rPr>
              <a:t> </a:t>
            </a:r>
            <a:r>
              <a:rPr lang="ko-KR" altLang="en-US" dirty="0">
                <a:latin typeface="나눔고딕" panose="020D0604000000000000" pitchFamily="50" charset="-127"/>
                <a:ea typeface="나눔고딕" panose="020D0604000000000000" pitchFamily="50" charset="-127"/>
              </a:rPr>
              <a:t>시장가격</a:t>
            </a:r>
            <a:r>
              <a:rPr lang="en-US" altLang="ko-KR" dirty="0">
                <a:latin typeface="나눔고딕" panose="020D0604000000000000" pitchFamily="50" charset="-127"/>
                <a:ea typeface="나눔고딕" panose="020D0604000000000000" pitchFamily="50" charset="-127"/>
              </a:rPr>
              <a:t>(adjusted market price)</a:t>
            </a:r>
            <a:r>
              <a:rPr lang="ko-KR" altLang="en-US" dirty="0">
                <a:latin typeface="나눔고딕" panose="020D0604000000000000" pitchFamily="50" charset="-127"/>
                <a:ea typeface="나눔고딕" panose="020D0604000000000000" pitchFamily="50" charset="-127"/>
              </a:rPr>
              <a:t>에 기초한 평가</a:t>
            </a:r>
            <a:endParaRPr lang="en-US" altLang="ko-KR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  <a:p>
            <a:pPr marL="266700" indent="-266700">
              <a:lnSpc>
                <a:spcPct val="130000"/>
              </a:lnSpc>
              <a:spcAft>
                <a:spcPts val="1000"/>
              </a:spcAft>
              <a:buFont typeface="Wingdings" panose="05000000000000000000" pitchFamily="2" charset="2"/>
              <a:buChar char="§"/>
            </a:pPr>
            <a:r>
              <a:rPr lang="ko-KR" altLang="en-US" dirty="0">
                <a:latin typeface="나눔고딕" panose="020D0604000000000000" pitchFamily="50" charset="-127"/>
                <a:ea typeface="나눔고딕" panose="020D0604000000000000" pitchFamily="50" charset="-127"/>
              </a:rPr>
              <a:t>잠재가격을 정확하게 계산하기 어렵고 시장가격을 사용하는 것도     바람직하지 않다고 판단되는 경우</a:t>
            </a:r>
            <a:r>
              <a:rPr lang="en-US" altLang="ko-KR" dirty="0">
                <a:latin typeface="나눔고딕" panose="020D0604000000000000" pitchFamily="50" charset="-127"/>
                <a:ea typeface="나눔고딕" panose="020D0604000000000000" pitchFamily="50" charset="-127"/>
              </a:rPr>
              <a:t>, </a:t>
            </a:r>
            <a:r>
              <a:rPr lang="ko-KR" altLang="en-US" b="1" dirty="0">
                <a:solidFill>
                  <a:schemeClr val="accent1">
                    <a:lumMod val="7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조정된 시장가격</a:t>
            </a:r>
            <a:r>
              <a:rPr lang="ko-KR" altLang="en-US" dirty="0">
                <a:latin typeface="나눔고딕" panose="020D0604000000000000" pitchFamily="50" charset="-127"/>
                <a:ea typeface="나눔고딕" panose="020D0604000000000000" pitchFamily="50" charset="-127"/>
              </a:rPr>
              <a:t>을 사용할 수 있음</a:t>
            </a:r>
            <a:endParaRPr lang="en-US" altLang="ko-KR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  <a:p>
            <a:pPr marL="266700" indent="-266700">
              <a:lnSpc>
                <a:spcPct val="130000"/>
              </a:lnSpc>
              <a:spcAft>
                <a:spcPts val="1000"/>
              </a:spcAft>
            </a:pPr>
            <a:r>
              <a:rPr lang="ko-KR" altLang="en-US" dirty="0">
                <a:latin typeface="나눔고딕" panose="020D0604000000000000" pitchFamily="50" charset="-127"/>
                <a:ea typeface="나눔고딕" panose="020D0604000000000000" pitchFamily="50" charset="-127"/>
              </a:rPr>
              <a:t>조정된 시장가격 </a:t>
            </a:r>
            <a:r>
              <a:rPr lang="en-US" altLang="ko-KR" dirty="0">
                <a:latin typeface="나눔고딕" panose="020D0604000000000000" pitchFamily="50" charset="-127"/>
                <a:ea typeface="나눔고딕" panose="020D0604000000000000" pitchFamily="50" charset="-127"/>
              </a:rPr>
              <a:t>: </a:t>
            </a:r>
            <a:r>
              <a:rPr lang="ko-KR" altLang="en-US" dirty="0">
                <a:latin typeface="나눔고딕" panose="020D0604000000000000" pitchFamily="50" charset="-127"/>
                <a:ea typeface="나눔고딕" panose="020D0604000000000000" pitchFamily="50" charset="-127"/>
              </a:rPr>
              <a:t>시장의 불완전성의 원인에 따라 시장가격에 적절한 조정을 가한 가격</a:t>
            </a:r>
            <a:endParaRPr lang="en-US" altLang="ko-KR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  <a:p>
            <a:pPr marL="266700" indent="-266700">
              <a:lnSpc>
                <a:spcPct val="130000"/>
              </a:lnSpc>
              <a:spcAft>
                <a:spcPts val="1000"/>
              </a:spcAft>
              <a:buFont typeface="Wingdings" panose="05000000000000000000" pitchFamily="2" charset="2"/>
              <a:buChar char="§"/>
            </a:pPr>
            <a:r>
              <a:rPr lang="ko-KR" altLang="en-US" dirty="0">
                <a:latin typeface="나눔고딕" panose="020D0604000000000000" pitchFamily="50" charset="-127"/>
                <a:ea typeface="나눔고딕" panose="020D0604000000000000" pitchFamily="50" charset="-127"/>
              </a:rPr>
              <a:t>이 방법은 비교적 적은 비용만을 들이고도 잠재가격에 근접한 가격을 얻을 수 있다는 장점을 갖고 있음</a:t>
            </a:r>
            <a:endParaRPr lang="en-US" altLang="ko-KR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altLang="ko-KR">
                <a:latin typeface="나눔고딕" panose="020D0604000000000000" pitchFamily="50" charset="-127"/>
                <a:ea typeface="나눔고딕" panose="020D0604000000000000" pitchFamily="50" charset="-127"/>
              </a:rPr>
              <a:t>PUBLIC FINANCE</a:t>
            </a:r>
            <a:endParaRPr lang="ko-KR" altLang="en-US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ko-KR" altLang="en-US">
                <a:latin typeface="나눔고딕" panose="020D0604000000000000" pitchFamily="50" charset="-127"/>
                <a:ea typeface="나눔고딕" panose="020D0604000000000000" pitchFamily="50" charset="-127"/>
              </a:rPr>
              <a:t>제</a:t>
            </a:r>
            <a:r>
              <a:rPr lang="en-US" altLang="ko-KR">
                <a:latin typeface="나눔고딕" panose="020D0604000000000000" pitchFamily="50" charset="-127"/>
                <a:ea typeface="나눔고딕" panose="020D0604000000000000" pitchFamily="50" charset="-127"/>
              </a:rPr>
              <a:t>12</a:t>
            </a:r>
            <a:r>
              <a:rPr lang="ko-KR" altLang="en-US">
                <a:latin typeface="나눔고딕" panose="020D0604000000000000" pitchFamily="50" charset="-127"/>
                <a:ea typeface="나눔고딕" panose="020D0604000000000000" pitchFamily="50" charset="-127"/>
              </a:rPr>
              <a:t>장  비용편익분석</a:t>
            </a:r>
            <a:endParaRPr lang="ko-KR" altLang="en-US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6CA9FF6-BF29-4679-8C21-AEBAF2895125}" type="slidenum">
              <a:rPr lang="ko-KR" altLang="en-US" smtClean="0">
                <a:latin typeface="나눔고딕" panose="020D0604000000000000" pitchFamily="50" charset="-127"/>
                <a:ea typeface="나눔고딕" panose="020D0604000000000000" pitchFamily="50" charset="-127"/>
              </a:rPr>
              <a:t>15</a:t>
            </a:fld>
            <a:endParaRPr lang="ko-KR" altLang="en-US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759769181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96CB0563-D461-4191-B333-7CA82847115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ko-KR" altLang="en-US" spc="-150" dirty="0">
                <a:latin typeface="나눔고딕" panose="020D0604000000000000" pitchFamily="50" charset="-127"/>
                <a:ea typeface="나눔고딕" panose="020D0604000000000000" pitchFamily="50" charset="-127"/>
              </a:rPr>
              <a:t>편익과 비용의 평가기준 </a:t>
            </a:r>
            <a:r>
              <a:rPr lang="en-US" altLang="ko-KR" spc="-150" dirty="0">
                <a:latin typeface="나눔고딕" panose="020D0604000000000000" pitchFamily="50" charset="-127"/>
                <a:ea typeface="나눔고딕" panose="020D0604000000000000" pitchFamily="50" charset="-127"/>
              </a:rPr>
              <a:t>: </a:t>
            </a:r>
            <a:r>
              <a:rPr lang="ko-KR" altLang="en-US" spc="-150" dirty="0">
                <a:latin typeface="나눔고딕" panose="020D0604000000000000" pitchFamily="50" charset="-127"/>
                <a:ea typeface="나눔고딕" panose="020D0604000000000000" pitchFamily="50" charset="-127"/>
              </a:rPr>
              <a:t>조정된 시장가격</a:t>
            </a:r>
            <a:endParaRPr lang="ko-KR" altLang="en-US" dirty="0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>
          <a:xfrm>
            <a:off x="628650" y="1422400"/>
            <a:ext cx="8062344" cy="4754563"/>
          </a:xfrm>
        </p:spPr>
        <p:txBody>
          <a:bodyPr anchor="ctr">
            <a:noAutofit/>
          </a:bodyPr>
          <a:lstStyle/>
          <a:p>
            <a:pPr marL="0" indent="0">
              <a:lnSpc>
                <a:spcPct val="120000"/>
              </a:lnSpc>
              <a:buNone/>
            </a:pPr>
            <a:r>
              <a:rPr lang="ko-KR" altLang="en-US" b="1" dirty="0">
                <a:solidFill>
                  <a:schemeClr val="accent1">
                    <a:lumMod val="7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독점의 경우</a:t>
            </a:r>
            <a:endParaRPr lang="en-US" altLang="ko-KR" b="1" dirty="0">
              <a:solidFill>
                <a:schemeClr val="accent1">
                  <a:lumMod val="75000"/>
                </a:schemeClr>
              </a:solidFill>
              <a:latin typeface="나눔고딕" panose="020D0604000000000000" pitchFamily="50" charset="-127"/>
              <a:ea typeface="나눔고딕" panose="020D0604000000000000" pitchFamily="50" charset="-127"/>
            </a:endParaRPr>
          </a:p>
          <a:p>
            <a:pPr marL="0" indent="0">
              <a:lnSpc>
                <a:spcPct val="120000"/>
              </a:lnSpc>
              <a:buNone/>
            </a:pPr>
            <a:endParaRPr lang="en-US" altLang="ko-KR" sz="200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  <a:p>
            <a:pPr marL="266700" indent="-266700">
              <a:lnSpc>
                <a:spcPct val="120000"/>
              </a:lnSpc>
            </a:pPr>
            <a:r>
              <a:rPr lang="ko-KR" altLang="en-US" sz="18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독점 생산된 상품의 경우에는 가격이 그것을 생산하는 데 드는 한계비용보다 더 큰 현상이 나타남</a:t>
            </a:r>
            <a:endParaRPr lang="en-US" altLang="ko-KR" sz="1800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  <a:p>
            <a:pPr marL="266700" indent="-266700">
              <a:lnSpc>
                <a:spcPct val="120000"/>
              </a:lnSpc>
            </a:pPr>
            <a:r>
              <a:rPr lang="ko-KR" altLang="en-US" sz="18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상품의 생산량이 공공사업에서 사용한 양만큼 증가한다면</a:t>
            </a:r>
            <a:r>
              <a:rPr lang="en-US" altLang="ko-KR" sz="18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, </a:t>
            </a:r>
            <a:r>
              <a:rPr lang="ko-KR" altLang="en-US" sz="18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그 상품의 사회적   기회비용은 추가적 생산을 위해 소요된 자원비용이라고 말할 수 있음</a:t>
            </a:r>
            <a:r>
              <a:rPr lang="en-US" altLang="ko-KR" sz="18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                   ⇒ </a:t>
            </a:r>
            <a:r>
              <a:rPr lang="ko-KR" altLang="en-US" sz="18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한계비용을 평가기준으로 사용</a:t>
            </a:r>
            <a:endParaRPr lang="en-US" altLang="ko-KR" sz="100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  <a:p>
            <a:pPr marL="266700" indent="-266700">
              <a:lnSpc>
                <a:spcPct val="120000"/>
              </a:lnSpc>
            </a:pPr>
            <a:r>
              <a:rPr lang="ko-KR" altLang="en-US" sz="18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공공사업 수행을 위해 그 상품을 구입했는데도 생산량은 예전의 수준에 그대로 머물러 있다면</a:t>
            </a:r>
            <a:r>
              <a:rPr lang="en-US" altLang="ko-KR" sz="18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, </a:t>
            </a:r>
            <a:r>
              <a:rPr lang="ko-KR" altLang="en-US" sz="18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소비자에게 갈 상품이 공공사업에 쓰인 것이라고 간주할 수 있음</a:t>
            </a:r>
            <a:r>
              <a:rPr lang="en-US" altLang="ko-KR" sz="18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 ⇒ </a:t>
            </a:r>
            <a:r>
              <a:rPr lang="ko-KR" altLang="en-US" sz="18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가격이 사회적 기회비용의 적절한 기준</a:t>
            </a:r>
            <a:r>
              <a:rPr lang="en-US" altLang="ko-KR" sz="18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 </a:t>
            </a:r>
            <a:endParaRPr lang="en-US" altLang="ko-KR" sz="100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  <a:p>
            <a:pPr marL="266700" indent="-266700">
              <a:lnSpc>
                <a:spcPct val="120000"/>
              </a:lnSpc>
            </a:pPr>
            <a:r>
              <a:rPr lang="ko-KR" altLang="en-US" sz="18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생산량이 증가하기는 했는데 공공사업에서 사용한 것보다 적게 증가하는 경우 </a:t>
            </a:r>
            <a:r>
              <a:rPr lang="en-US" altLang="ko-KR" sz="18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⇒</a:t>
            </a:r>
            <a:r>
              <a:rPr lang="ko-KR" altLang="en-US" sz="18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 가격과 한계비용의 가중평균을 사회적 기회비용으로 간주</a:t>
            </a:r>
            <a:endParaRPr lang="en-US" altLang="ko-KR" sz="1800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altLang="ko-KR">
                <a:latin typeface="나눔고딕" panose="020D0604000000000000" pitchFamily="50" charset="-127"/>
                <a:ea typeface="나눔고딕" panose="020D0604000000000000" pitchFamily="50" charset="-127"/>
              </a:rPr>
              <a:t>PUBLIC FINANCE</a:t>
            </a:r>
            <a:endParaRPr lang="ko-KR" altLang="en-US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ko-KR" altLang="en-US">
                <a:latin typeface="나눔고딕" panose="020D0604000000000000" pitchFamily="50" charset="-127"/>
                <a:ea typeface="나눔고딕" panose="020D0604000000000000" pitchFamily="50" charset="-127"/>
              </a:rPr>
              <a:t>제</a:t>
            </a:r>
            <a:r>
              <a:rPr lang="en-US" altLang="ko-KR">
                <a:latin typeface="나눔고딕" panose="020D0604000000000000" pitchFamily="50" charset="-127"/>
                <a:ea typeface="나눔고딕" panose="020D0604000000000000" pitchFamily="50" charset="-127"/>
              </a:rPr>
              <a:t>12</a:t>
            </a:r>
            <a:r>
              <a:rPr lang="ko-KR" altLang="en-US">
                <a:latin typeface="나눔고딕" panose="020D0604000000000000" pitchFamily="50" charset="-127"/>
                <a:ea typeface="나눔고딕" panose="020D0604000000000000" pitchFamily="50" charset="-127"/>
              </a:rPr>
              <a:t>장  비용편익분석</a:t>
            </a:r>
            <a:endParaRPr lang="ko-KR" altLang="en-US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6CA9FF6-BF29-4679-8C21-AEBAF2895125}" type="slidenum">
              <a:rPr lang="ko-KR" altLang="en-US" smtClean="0">
                <a:latin typeface="나눔고딕" panose="020D0604000000000000" pitchFamily="50" charset="-127"/>
                <a:ea typeface="나눔고딕" panose="020D0604000000000000" pitchFamily="50" charset="-127"/>
              </a:rPr>
              <a:t>16</a:t>
            </a:fld>
            <a:endParaRPr lang="ko-KR" altLang="en-US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918149289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5DEA4184-1715-4E12-A5C2-2E071BA45A0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ko-KR" altLang="en-US" spc="-150" dirty="0">
                <a:latin typeface="나눔고딕" panose="020D0604000000000000" pitchFamily="50" charset="-127"/>
                <a:ea typeface="나눔고딕" panose="020D0604000000000000" pitchFamily="50" charset="-127"/>
              </a:rPr>
              <a:t>편익과 비용의 평가기준 </a:t>
            </a:r>
            <a:r>
              <a:rPr lang="en-US" altLang="ko-KR" spc="-150" dirty="0">
                <a:latin typeface="나눔고딕" panose="020D0604000000000000" pitchFamily="50" charset="-127"/>
                <a:ea typeface="나눔고딕" panose="020D0604000000000000" pitchFamily="50" charset="-127"/>
              </a:rPr>
              <a:t>: </a:t>
            </a:r>
            <a:r>
              <a:rPr lang="ko-KR" altLang="en-US" spc="-150" dirty="0">
                <a:latin typeface="나눔고딕" panose="020D0604000000000000" pitchFamily="50" charset="-127"/>
                <a:ea typeface="나눔고딕" panose="020D0604000000000000" pitchFamily="50" charset="-127"/>
              </a:rPr>
              <a:t>조정된 시장가격</a:t>
            </a:r>
            <a:endParaRPr lang="ko-KR" altLang="en-US" dirty="0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>
          <a:xfrm>
            <a:off x="628649" y="1422400"/>
            <a:ext cx="8121067" cy="4754563"/>
          </a:xfrm>
        </p:spPr>
        <p:txBody>
          <a:bodyPr anchor="ctr">
            <a:noAutofit/>
          </a:bodyPr>
          <a:lstStyle/>
          <a:p>
            <a:pPr marL="0" indent="0">
              <a:buNone/>
            </a:pPr>
            <a:r>
              <a:rPr lang="ko-KR" altLang="en-US" b="1" dirty="0">
                <a:solidFill>
                  <a:schemeClr val="accent1">
                    <a:lumMod val="7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조세의 존재</a:t>
            </a:r>
            <a:endParaRPr lang="en-US" altLang="ko-KR" b="1" dirty="0">
              <a:solidFill>
                <a:schemeClr val="accent1">
                  <a:lumMod val="75000"/>
                </a:schemeClr>
              </a:solidFill>
              <a:latin typeface="나눔고딕" panose="020D0604000000000000" pitchFamily="50" charset="-127"/>
              <a:ea typeface="나눔고딕" panose="020D0604000000000000" pitchFamily="50" charset="-127"/>
            </a:endParaRPr>
          </a:p>
          <a:p>
            <a:pPr marL="0" indent="0">
              <a:buNone/>
            </a:pPr>
            <a:endParaRPr lang="en-US" altLang="ko-KR" sz="300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  <a:p>
            <a:pPr marL="266700" indent="-266700"/>
            <a:r>
              <a:rPr lang="ko-KR" altLang="en-US" dirty="0" err="1">
                <a:latin typeface="나눔고딕" panose="020D0604000000000000" pitchFamily="50" charset="-127"/>
                <a:ea typeface="나눔고딕" panose="020D0604000000000000" pitchFamily="50" charset="-127"/>
              </a:rPr>
              <a:t>물품세가</a:t>
            </a:r>
            <a:r>
              <a:rPr lang="ko-KR" altLang="en-US" dirty="0">
                <a:latin typeface="나눔고딕" panose="020D0604000000000000" pitchFamily="50" charset="-127"/>
                <a:ea typeface="나눔고딕" panose="020D0604000000000000" pitchFamily="50" charset="-127"/>
              </a:rPr>
              <a:t> 부과된 상품이 공공사업에 투입되는 경우</a:t>
            </a:r>
            <a:r>
              <a:rPr lang="en-US" altLang="ko-KR" dirty="0">
                <a:latin typeface="나눔고딕" panose="020D0604000000000000" pitchFamily="50" charset="-127"/>
                <a:ea typeface="나눔고딕" panose="020D0604000000000000" pitchFamily="50" charset="-127"/>
              </a:rPr>
              <a:t>, </a:t>
            </a:r>
            <a:r>
              <a:rPr lang="ko-KR" altLang="en-US" dirty="0">
                <a:latin typeface="나눔고딕" panose="020D0604000000000000" pitchFamily="50" charset="-127"/>
                <a:ea typeface="나눔고딕" panose="020D0604000000000000" pitchFamily="50" charset="-127"/>
              </a:rPr>
              <a:t>생산자가격과      </a:t>
            </a:r>
            <a:r>
              <a:rPr lang="en-US" altLang="ko-KR" dirty="0">
                <a:latin typeface="나눔고딕" panose="020D0604000000000000" pitchFamily="50" charset="-127"/>
                <a:ea typeface="나눔고딕" panose="020D0604000000000000" pitchFamily="50" charset="-127"/>
              </a:rPr>
              <a:t>(</a:t>
            </a:r>
            <a:r>
              <a:rPr lang="ko-KR" altLang="en-US" dirty="0">
                <a:latin typeface="나눔고딕" panose="020D0604000000000000" pitchFamily="50" charset="-127"/>
                <a:ea typeface="나눔고딕" panose="020D0604000000000000" pitchFamily="50" charset="-127"/>
              </a:rPr>
              <a:t>조세를 포함한</a:t>
            </a:r>
            <a:r>
              <a:rPr lang="en-US" altLang="ko-KR" dirty="0">
                <a:latin typeface="나눔고딕" panose="020D0604000000000000" pitchFamily="50" charset="-127"/>
                <a:ea typeface="나눔고딕" panose="020D0604000000000000" pitchFamily="50" charset="-127"/>
              </a:rPr>
              <a:t>) </a:t>
            </a:r>
            <a:r>
              <a:rPr lang="ko-KR" altLang="en-US" dirty="0">
                <a:latin typeface="나눔고딕" panose="020D0604000000000000" pitchFamily="50" charset="-127"/>
                <a:ea typeface="나눔고딕" panose="020D0604000000000000" pitchFamily="50" charset="-127"/>
              </a:rPr>
              <a:t>소비자가격 중 어느 쪽을 평가기준으로 삼아야 하는지가 문제될 수 있음</a:t>
            </a:r>
            <a:endParaRPr lang="en-US" altLang="ko-KR" sz="300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  <a:p>
            <a:pPr marL="266700" indent="-266700"/>
            <a:r>
              <a:rPr lang="ko-KR" altLang="en-US" dirty="0">
                <a:latin typeface="나눔고딕" panose="020D0604000000000000" pitchFamily="50" charset="-127"/>
                <a:ea typeface="나눔고딕" panose="020D0604000000000000" pitchFamily="50" charset="-127"/>
              </a:rPr>
              <a:t>물품세가 부과된 상품이 공공사업에 투입될 때 그 투입량만큼 생산량이 증가할 경우 </a:t>
            </a:r>
            <a:r>
              <a:rPr lang="en-US" altLang="ko-KR" dirty="0">
                <a:latin typeface="나눔고딕" panose="020D0604000000000000" pitchFamily="50" charset="-127"/>
                <a:ea typeface="나눔고딕" panose="020D0604000000000000" pitchFamily="50" charset="-127"/>
              </a:rPr>
              <a:t>⇒</a:t>
            </a:r>
            <a:r>
              <a:rPr lang="ko-KR" altLang="en-US" dirty="0">
                <a:latin typeface="나눔고딕" panose="020D0604000000000000" pitchFamily="50" charset="-127"/>
                <a:ea typeface="나눔고딕" panose="020D0604000000000000" pitchFamily="50" charset="-127"/>
              </a:rPr>
              <a:t> 추가적 생산에 소요되는 자원비용을 뜻하는 생산자가격이 평가기준으로 사용</a:t>
            </a:r>
            <a:endParaRPr lang="en-US" altLang="ko-KR" sz="300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  <a:p>
            <a:pPr marL="266700" indent="-266700"/>
            <a:r>
              <a:rPr lang="ko-KR" altLang="en-US" dirty="0">
                <a:latin typeface="나눔고딕" panose="020D0604000000000000" pitchFamily="50" charset="-127"/>
                <a:ea typeface="나눔고딕" panose="020D0604000000000000" pitchFamily="50" charset="-127"/>
              </a:rPr>
              <a:t>생산량이 전혀 변화하지 않고 예전의 수준에 머물러 있는 경우 </a:t>
            </a:r>
            <a:br>
              <a:rPr lang="en-US" altLang="ko-KR" dirty="0">
                <a:latin typeface="나눔고딕" panose="020D0604000000000000" pitchFamily="50" charset="-127"/>
                <a:ea typeface="나눔고딕" panose="020D0604000000000000" pitchFamily="50" charset="-127"/>
              </a:rPr>
            </a:br>
            <a:r>
              <a:rPr lang="en-US" altLang="ko-KR" dirty="0">
                <a:latin typeface="나눔고딕" panose="020D0604000000000000" pitchFamily="50" charset="-127"/>
                <a:ea typeface="나눔고딕" panose="020D0604000000000000" pitchFamily="50" charset="-127"/>
              </a:rPr>
              <a:t>⇒ </a:t>
            </a:r>
            <a:r>
              <a:rPr lang="ko-KR" altLang="en-US" dirty="0">
                <a:latin typeface="나눔고딕" panose="020D0604000000000000" pitchFamily="50" charset="-127"/>
                <a:ea typeface="나눔고딕" panose="020D0604000000000000" pitchFamily="50" charset="-127"/>
              </a:rPr>
              <a:t>소비자에게 갈 것이 공공사업에 투자되었으므로 소비자가격이 적절한 평가기준</a:t>
            </a:r>
            <a:endParaRPr lang="en-US" altLang="ko-KR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altLang="ko-KR">
                <a:latin typeface="나눔고딕" panose="020D0604000000000000" pitchFamily="50" charset="-127"/>
                <a:ea typeface="나눔고딕" panose="020D0604000000000000" pitchFamily="50" charset="-127"/>
              </a:rPr>
              <a:t>PUBLIC FINANCE</a:t>
            </a:r>
            <a:endParaRPr lang="ko-KR" altLang="en-US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ko-KR" altLang="en-US">
                <a:latin typeface="나눔고딕" panose="020D0604000000000000" pitchFamily="50" charset="-127"/>
                <a:ea typeface="나눔고딕" panose="020D0604000000000000" pitchFamily="50" charset="-127"/>
              </a:rPr>
              <a:t>제</a:t>
            </a:r>
            <a:r>
              <a:rPr lang="en-US" altLang="ko-KR">
                <a:latin typeface="나눔고딕" panose="020D0604000000000000" pitchFamily="50" charset="-127"/>
                <a:ea typeface="나눔고딕" panose="020D0604000000000000" pitchFamily="50" charset="-127"/>
              </a:rPr>
              <a:t>12</a:t>
            </a:r>
            <a:r>
              <a:rPr lang="ko-KR" altLang="en-US">
                <a:latin typeface="나눔고딕" panose="020D0604000000000000" pitchFamily="50" charset="-127"/>
                <a:ea typeface="나눔고딕" panose="020D0604000000000000" pitchFamily="50" charset="-127"/>
              </a:rPr>
              <a:t>장  비용편익분석</a:t>
            </a:r>
            <a:endParaRPr lang="ko-KR" altLang="en-US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6CA9FF6-BF29-4679-8C21-AEBAF2895125}" type="slidenum">
              <a:rPr lang="ko-KR" altLang="en-US" smtClean="0">
                <a:latin typeface="나눔고딕" panose="020D0604000000000000" pitchFamily="50" charset="-127"/>
                <a:ea typeface="나눔고딕" panose="020D0604000000000000" pitchFamily="50" charset="-127"/>
              </a:rPr>
              <a:t>17</a:t>
            </a:fld>
            <a:endParaRPr lang="ko-KR" altLang="en-US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244420374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9917723D-EA4D-482E-83A0-2D504572BB8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ko-KR" altLang="en-US" spc="-150" dirty="0">
                <a:latin typeface="나눔고딕" panose="020D0604000000000000" pitchFamily="50" charset="-127"/>
                <a:ea typeface="나눔고딕" panose="020D0604000000000000" pitchFamily="50" charset="-127"/>
              </a:rPr>
              <a:t>편익과 비용의 평가기준 </a:t>
            </a:r>
            <a:r>
              <a:rPr lang="en-US" altLang="ko-KR" spc="-150" dirty="0">
                <a:latin typeface="나눔고딕" panose="020D0604000000000000" pitchFamily="50" charset="-127"/>
                <a:ea typeface="나눔고딕" panose="020D0604000000000000" pitchFamily="50" charset="-127"/>
              </a:rPr>
              <a:t>: </a:t>
            </a:r>
            <a:r>
              <a:rPr lang="ko-KR" altLang="en-US" spc="-150" dirty="0">
                <a:latin typeface="나눔고딕" panose="020D0604000000000000" pitchFamily="50" charset="-127"/>
                <a:ea typeface="나눔고딕" panose="020D0604000000000000" pitchFamily="50" charset="-127"/>
              </a:rPr>
              <a:t>조정된 시장가격</a:t>
            </a:r>
            <a:endParaRPr lang="ko-KR" altLang="en-US" dirty="0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 anchor="ctr">
            <a:noAutofit/>
          </a:bodyPr>
          <a:lstStyle/>
          <a:p>
            <a:pPr marL="0" indent="0">
              <a:buNone/>
            </a:pPr>
            <a:r>
              <a:rPr lang="ko-KR" altLang="en-US" b="1" dirty="0">
                <a:solidFill>
                  <a:schemeClr val="accent1">
                    <a:lumMod val="7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실업의 존재</a:t>
            </a:r>
            <a:endParaRPr lang="en-US" altLang="ko-KR" b="1" dirty="0">
              <a:solidFill>
                <a:schemeClr val="accent1">
                  <a:lumMod val="75000"/>
                </a:schemeClr>
              </a:solidFill>
              <a:latin typeface="나눔고딕" panose="020D0604000000000000" pitchFamily="50" charset="-127"/>
              <a:ea typeface="나눔고딕" panose="020D0604000000000000" pitchFamily="50" charset="-127"/>
            </a:endParaRPr>
          </a:p>
          <a:p>
            <a:pPr marL="0" indent="0">
              <a:buNone/>
            </a:pPr>
            <a:endParaRPr lang="en-US" altLang="ko-KR" sz="500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  <a:p>
            <a:pPr marL="266700" indent="-266700"/>
            <a:r>
              <a:rPr lang="ko-KR" altLang="en-US" dirty="0">
                <a:latin typeface="나눔고딕" panose="020D0604000000000000" pitchFamily="50" charset="-127"/>
                <a:ea typeface="나눔고딕" panose="020D0604000000000000" pitchFamily="50" charset="-127"/>
              </a:rPr>
              <a:t>경제 내부에 상당한 정도의 비자발적 실업이 존재하고 있다면   이에 대해 적절한 고려를 할 필요가 있음</a:t>
            </a:r>
            <a:endParaRPr lang="en-US" altLang="ko-KR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  <a:p>
            <a:pPr marL="266700" indent="-266700"/>
            <a:r>
              <a:rPr lang="ko-KR" altLang="en-US" dirty="0">
                <a:latin typeface="나눔고딕" panose="020D0604000000000000" pitchFamily="50" charset="-127"/>
                <a:ea typeface="나눔고딕" panose="020D0604000000000000" pitchFamily="50" charset="-127"/>
              </a:rPr>
              <a:t>공공사업에서 비자발적 실업상태에 있는 근로자를 고용할 때 여타 부문의 생산에는 아무런 영향을 주지 않음</a:t>
            </a:r>
            <a:endParaRPr lang="en-US" altLang="ko-KR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  <a:p>
            <a:pPr marL="444500" lvl="1"/>
            <a:r>
              <a:rPr lang="ko-KR" altLang="en-US" dirty="0">
                <a:latin typeface="나눔고딕" panose="020D0604000000000000" pitchFamily="50" charset="-127"/>
                <a:ea typeface="나눔고딕" panose="020D0604000000000000" pitchFamily="50" charset="-127"/>
              </a:rPr>
              <a:t>이 경우</a:t>
            </a:r>
            <a:r>
              <a:rPr lang="en-US" altLang="ko-KR" dirty="0">
                <a:latin typeface="나눔고딕" panose="020D0604000000000000" pitchFamily="50" charset="-127"/>
                <a:ea typeface="나눔고딕" panose="020D0604000000000000" pitchFamily="50" charset="-127"/>
              </a:rPr>
              <a:t> </a:t>
            </a:r>
            <a:r>
              <a:rPr lang="ko-KR" altLang="en-US" dirty="0">
                <a:latin typeface="나눔고딕" panose="020D0604000000000000" pitchFamily="50" charset="-127"/>
                <a:ea typeface="나눔고딕" panose="020D0604000000000000" pitchFamily="50" charset="-127"/>
              </a:rPr>
              <a:t>근로자들에게 지불되는 임금이 그들을 고용하는 것과 관련된 기회비용을 의미하지는 않음</a:t>
            </a:r>
            <a:endParaRPr lang="en-US" altLang="ko-KR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altLang="ko-KR">
                <a:latin typeface="나눔고딕" panose="020D0604000000000000" pitchFamily="50" charset="-127"/>
                <a:ea typeface="나눔고딕" panose="020D0604000000000000" pitchFamily="50" charset="-127"/>
              </a:rPr>
              <a:t>PUBLIC FINANCE</a:t>
            </a:r>
            <a:endParaRPr lang="ko-KR" altLang="en-US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ko-KR" altLang="en-US">
                <a:latin typeface="나눔고딕" panose="020D0604000000000000" pitchFamily="50" charset="-127"/>
                <a:ea typeface="나눔고딕" panose="020D0604000000000000" pitchFamily="50" charset="-127"/>
              </a:rPr>
              <a:t>제</a:t>
            </a:r>
            <a:r>
              <a:rPr lang="en-US" altLang="ko-KR">
                <a:latin typeface="나눔고딕" panose="020D0604000000000000" pitchFamily="50" charset="-127"/>
                <a:ea typeface="나눔고딕" panose="020D0604000000000000" pitchFamily="50" charset="-127"/>
              </a:rPr>
              <a:t>12</a:t>
            </a:r>
            <a:r>
              <a:rPr lang="ko-KR" altLang="en-US">
                <a:latin typeface="나눔고딕" panose="020D0604000000000000" pitchFamily="50" charset="-127"/>
                <a:ea typeface="나눔고딕" panose="020D0604000000000000" pitchFamily="50" charset="-127"/>
              </a:rPr>
              <a:t>장  비용편익분석</a:t>
            </a:r>
            <a:endParaRPr lang="ko-KR" altLang="en-US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6CA9FF6-BF29-4679-8C21-AEBAF2895125}" type="slidenum">
              <a:rPr lang="ko-KR" altLang="en-US" smtClean="0">
                <a:latin typeface="나눔고딕" panose="020D0604000000000000" pitchFamily="50" charset="-127"/>
                <a:ea typeface="나눔고딕" panose="020D0604000000000000" pitchFamily="50" charset="-127"/>
              </a:rPr>
              <a:t>18</a:t>
            </a:fld>
            <a:endParaRPr lang="ko-KR" altLang="en-US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629214016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r>
              <a:rPr lang="en-US" altLang="ko-KR" spc="-150" dirty="0">
                <a:latin typeface="나눔고딕" panose="020D0604000000000000" pitchFamily="50" charset="-127"/>
                <a:ea typeface="나눔고딕" panose="020D0604000000000000" pitchFamily="50" charset="-127"/>
              </a:rPr>
              <a:t>12.4  </a:t>
            </a:r>
            <a:r>
              <a:rPr lang="ko-KR" altLang="en-US" spc="-150" dirty="0">
                <a:latin typeface="나눔고딕" panose="020D0604000000000000" pitchFamily="50" charset="-127"/>
                <a:ea typeface="나눔고딕" panose="020D0604000000000000" pitchFamily="50" charset="-127"/>
              </a:rPr>
              <a:t>특수한 상황에서의 편익과 비용의 평가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>
          <a:xfrm>
            <a:off x="628649" y="1422400"/>
            <a:ext cx="8087511" cy="4754563"/>
          </a:xfrm>
        </p:spPr>
        <p:txBody>
          <a:bodyPr anchor="ctr">
            <a:noAutofit/>
          </a:bodyPr>
          <a:lstStyle/>
          <a:p>
            <a:pPr marL="266700" indent="-266700">
              <a:buFont typeface="Wingdings" panose="05000000000000000000" pitchFamily="2" charset="2"/>
              <a:buChar char="§"/>
            </a:pPr>
            <a:r>
              <a:rPr lang="ko-KR" altLang="en-US" dirty="0">
                <a:latin typeface="나눔고딕" panose="020D0604000000000000" pitchFamily="50" charset="-127"/>
                <a:ea typeface="나눔고딕" panose="020D0604000000000000" pitchFamily="50" charset="-127"/>
              </a:rPr>
              <a:t>어떤 공공사업을 수행한 결과 몇 가지 상품이 일정한 양만큼 추가적으로 생산되어 이를 화폐가치로 환산해 편익의 일부로 간주해야 하는 상황</a:t>
            </a:r>
            <a:endParaRPr lang="en-US" altLang="ko-KR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  <a:p>
            <a:pPr marL="266700" indent="-266700">
              <a:buFont typeface="Wingdings" panose="05000000000000000000" pitchFamily="2" charset="2"/>
              <a:buChar char="§"/>
            </a:pPr>
            <a:endParaRPr lang="en-US" altLang="ko-KR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  <a:p>
            <a:pPr marL="266700" indent="-266700">
              <a:buFont typeface="Wingdings" panose="05000000000000000000" pitchFamily="2" charset="2"/>
              <a:buChar char="§"/>
            </a:pPr>
            <a:r>
              <a:rPr lang="ko-KR" altLang="en-US" dirty="0">
                <a:latin typeface="나눔고딕" panose="020D0604000000000000" pitchFamily="50" charset="-127"/>
                <a:ea typeface="나눔고딕" panose="020D0604000000000000" pitchFamily="50" charset="-127"/>
              </a:rPr>
              <a:t>공공사업은 규모가 크기 때문에 이로부터 나온 상품이 시장에 유입되면서 가격에 변화가 일어날 가능성이 크고</a:t>
            </a:r>
            <a:r>
              <a:rPr lang="en-US" altLang="ko-KR" dirty="0">
                <a:latin typeface="나눔고딕" panose="020D0604000000000000" pitchFamily="50" charset="-127"/>
                <a:ea typeface="나눔고딕" panose="020D0604000000000000" pitchFamily="50" charset="-127"/>
              </a:rPr>
              <a:t>, </a:t>
            </a:r>
            <a:r>
              <a:rPr lang="ko-KR" altLang="en-US" dirty="0">
                <a:latin typeface="나눔고딕" panose="020D0604000000000000" pitchFamily="50" charset="-127"/>
                <a:ea typeface="나눔고딕" panose="020D0604000000000000" pitchFamily="50" charset="-127"/>
              </a:rPr>
              <a:t>이 경우 어떤 가격에 기초해   평가해야 할 것인지를 선택해야 하는 문제 발생</a:t>
            </a:r>
            <a:endParaRPr lang="en-US" altLang="ko-KR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altLang="ko-KR">
                <a:latin typeface="나눔고딕" panose="020D0604000000000000" pitchFamily="50" charset="-127"/>
                <a:ea typeface="나눔고딕" panose="020D0604000000000000" pitchFamily="50" charset="-127"/>
              </a:rPr>
              <a:t>PUBLIC FINANCE</a:t>
            </a:r>
            <a:endParaRPr lang="ko-KR" altLang="en-US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ko-KR" altLang="en-US">
                <a:latin typeface="나눔고딕" panose="020D0604000000000000" pitchFamily="50" charset="-127"/>
                <a:ea typeface="나눔고딕" panose="020D0604000000000000" pitchFamily="50" charset="-127"/>
              </a:rPr>
              <a:t>제</a:t>
            </a:r>
            <a:r>
              <a:rPr lang="en-US" altLang="ko-KR">
                <a:latin typeface="나눔고딕" panose="020D0604000000000000" pitchFamily="50" charset="-127"/>
                <a:ea typeface="나눔고딕" panose="020D0604000000000000" pitchFamily="50" charset="-127"/>
              </a:rPr>
              <a:t>12</a:t>
            </a:r>
            <a:r>
              <a:rPr lang="ko-KR" altLang="en-US">
                <a:latin typeface="나눔고딕" panose="020D0604000000000000" pitchFamily="50" charset="-127"/>
                <a:ea typeface="나눔고딕" panose="020D0604000000000000" pitchFamily="50" charset="-127"/>
              </a:rPr>
              <a:t>장  비용편익분석</a:t>
            </a:r>
            <a:endParaRPr lang="ko-KR" altLang="en-US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6CA9FF6-BF29-4679-8C21-AEBAF2895125}" type="slidenum">
              <a:rPr lang="ko-KR" altLang="en-US" smtClean="0">
                <a:latin typeface="나눔고딕" panose="020D0604000000000000" pitchFamily="50" charset="-127"/>
                <a:ea typeface="나눔고딕" panose="020D0604000000000000" pitchFamily="50" charset="-127"/>
              </a:rPr>
              <a:t>19</a:t>
            </a:fld>
            <a:endParaRPr lang="ko-KR" altLang="en-US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3329735022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r>
              <a:rPr lang="ko-KR" altLang="en-US" dirty="0">
                <a:latin typeface="나눔고딕" panose="020D0604000000000000" pitchFamily="50" charset="-127"/>
                <a:ea typeface="나눔고딕" panose="020D0604000000000000" pitchFamily="50" charset="-127"/>
              </a:rPr>
              <a:t>시장가격이 변화하는 경우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내용 개체 틀 2"/>
              <p:cNvSpPr>
                <a:spLocks noGrp="1"/>
              </p:cNvSpPr>
              <p:nvPr>
                <p:ph idx="1"/>
              </p:nvPr>
            </p:nvSpPr>
            <p:spPr/>
            <p:txBody>
              <a:bodyPr anchor="ctr">
                <a:noAutofit/>
              </a:bodyPr>
              <a:lstStyle/>
              <a:p>
                <a:pPr marL="266700" indent="-266700"/>
                <a:r>
                  <a:rPr lang="ko-KR" altLang="en-US" dirty="0">
                    <a:latin typeface="나눔고딕" panose="020D0604000000000000" pitchFamily="50" charset="-127"/>
                    <a:ea typeface="나눔고딕" panose="020D0604000000000000" pitchFamily="50" charset="-127"/>
                  </a:rPr>
                  <a:t>관개사업을 통해 쌀 생산의 한계비용 하락</a:t>
                </a:r>
                <a:endParaRPr lang="en-US" altLang="ko-KR" dirty="0">
                  <a:latin typeface="나눔고딕" panose="020D0604000000000000" pitchFamily="50" charset="-127"/>
                  <a:ea typeface="나눔고딕" panose="020D0604000000000000" pitchFamily="50" charset="-127"/>
                </a:endParaRPr>
              </a:p>
              <a:p>
                <a:pPr marL="266700" indent="-266700"/>
                <a:r>
                  <a:rPr lang="ko-KR" altLang="en-US" dirty="0">
                    <a:latin typeface="나눔고딕" panose="020D0604000000000000" pitchFamily="50" charset="-127"/>
                    <a:ea typeface="나눔고딕" panose="020D0604000000000000" pitchFamily="50" charset="-127"/>
                  </a:rPr>
                  <a:t>쌀 생산량 증가 </a:t>
                </a:r>
                <a:r>
                  <a:rPr lang="en-US" altLang="ko-KR" dirty="0">
                    <a:latin typeface="나눔고딕" panose="020D0604000000000000" pitchFamily="50" charset="-127"/>
                    <a:ea typeface="나눔고딕" panose="020D0604000000000000" pitchFamily="50" charset="-127"/>
                  </a:rPr>
                  <a:t>: </a:t>
                </a:r>
                <a14:m>
                  <m:oMath xmlns:m="http://schemas.openxmlformats.org/officeDocument/2006/math">
                    <m:r>
                      <a:rPr lang="en-US" altLang="ko-KR" b="1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∆</m:t>
                    </m:r>
                    <m:r>
                      <a:rPr lang="en-US" altLang="ko-KR" b="1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𝑸</m:t>
                    </m:r>
                    <m:r>
                      <a:rPr lang="en-US" altLang="ko-KR" b="1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en-US" altLang="ko-KR" dirty="0">
                    <a:latin typeface="나눔고딕" panose="020D0604000000000000" pitchFamily="50" charset="-127"/>
                    <a:ea typeface="나눔고딕" panose="020D0604000000000000" pitchFamily="50" charset="-127"/>
                  </a:rPr>
                  <a:t>(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ko-KR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ko-KR" b="1" i="1">
                            <a:latin typeface="Cambria Math" panose="02040503050406030204" pitchFamily="18" charset="0"/>
                          </a:rPr>
                          <m:t>𝑸</m:t>
                        </m:r>
                      </m:e>
                      <m:sub>
                        <m:r>
                          <a:rPr lang="en-US" altLang="ko-KR" b="1" i="1">
                            <a:latin typeface="Cambria Math" panose="02040503050406030204" pitchFamily="18" charset="0"/>
                          </a:rPr>
                          <m:t>𝟎</m:t>
                        </m:r>
                      </m:sub>
                    </m:sSub>
                  </m:oMath>
                </a14:m>
                <a:r>
                  <a:rPr lang="en-US" altLang="ko-KR" dirty="0">
                    <a:latin typeface="나눔고딕" panose="020D0604000000000000" pitchFamily="50" charset="-127"/>
                    <a:ea typeface="나눔고딕" panose="020D0604000000000000" pitchFamily="50" charset="-127"/>
                  </a:rPr>
                  <a:t> →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ko-KR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ko-KR" b="1" i="1">
                            <a:latin typeface="Cambria Math" panose="02040503050406030204" pitchFamily="18" charset="0"/>
                          </a:rPr>
                          <m:t>𝑸</m:t>
                        </m:r>
                      </m:e>
                      <m:sub>
                        <m:r>
                          <a:rPr lang="en-US" altLang="ko-KR" b="1" i="1">
                            <a:latin typeface="Cambria Math" panose="02040503050406030204" pitchFamily="18" charset="0"/>
                          </a:rPr>
                          <m:t>𝟏</m:t>
                        </m:r>
                      </m:sub>
                    </m:sSub>
                  </m:oMath>
                </a14:m>
                <a:r>
                  <a:rPr lang="en-US" altLang="ko-KR" dirty="0">
                    <a:latin typeface="나눔고딕" panose="020D0604000000000000" pitchFamily="50" charset="-127"/>
                    <a:ea typeface="나눔고딕" panose="020D0604000000000000" pitchFamily="50" charset="-127"/>
                  </a:rPr>
                  <a:t>)     </a:t>
                </a:r>
                <a:r>
                  <a:rPr lang="ko-KR" altLang="en-US" dirty="0">
                    <a:latin typeface="나눔고딕" panose="020D0604000000000000" pitchFamily="50" charset="-127"/>
                    <a:ea typeface="나눔고딕" panose="020D0604000000000000" pitchFamily="50" charset="-127"/>
                  </a:rPr>
                  <a:t>쌀</a:t>
                </a:r>
                <a:r>
                  <a:rPr lang="en-US" altLang="ko-KR" dirty="0">
                    <a:latin typeface="나눔고딕" panose="020D0604000000000000" pitchFamily="50" charset="-127"/>
                    <a:ea typeface="나눔고딕" panose="020D0604000000000000" pitchFamily="50" charset="-127"/>
                  </a:rPr>
                  <a:t> </a:t>
                </a:r>
                <a:r>
                  <a:rPr lang="ko-KR" altLang="en-US" dirty="0">
                    <a:latin typeface="나눔고딕" panose="020D0604000000000000" pitchFamily="50" charset="-127"/>
                    <a:ea typeface="나눔고딕" panose="020D0604000000000000" pitchFamily="50" charset="-127"/>
                  </a:rPr>
                  <a:t>가격 하락 </a:t>
                </a:r>
                <a:r>
                  <a:rPr lang="en-US" altLang="ko-KR" dirty="0">
                    <a:latin typeface="나눔고딕" panose="020D0604000000000000" pitchFamily="50" charset="-127"/>
                    <a:ea typeface="나눔고딕" panose="020D0604000000000000" pitchFamily="50" charset="-127"/>
                  </a:rPr>
                  <a:t>: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ko-KR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ko-KR" b="1" i="1">
                            <a:latin typeface="Cambria Math" panose="02040503050406030204" pitchFamily="18" charset="0"/>
                          </a:rPr>
                          <m:t>𝑷</m:t>
                        </m:r>
                      </m:e>
                      <m:sub>
                        <m:r>
                          <a:rPr lang="en-US" altLang="ko-KR" b="1" i="1">
                            <a:latin typeface="Cambria Math" panose="02040503050406030204" pitchFamily="18" charset="0"/>
                          </a:rPr>
                          <m:t>𝟎</m:t>
                        </m:r>
                      </m:sub>
                    </m:sSub>
                  </m:oMath>
                </a14:m>
                <a:r>
                  <a:rPr lang="en-US" altLang="ko-KR" dirty="0">
                    <a:latin typeface="나눔고딕" panose="020D0604000000000000" pitchFamily="50" charset="-127"/>
                    <a:ea typeface="나눔고딕" panose="020D0604000000000000" pitchFamily="50" charset="-127"/>
                  </a:rPr>
                  <a:t> →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ko-KR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ko-KR" b="1" i="1">
                            <a:latin typeface="Cambria Math" panose="02040503050406030204" pitchFamily="18" charset="0"/>
                          </a:rPr>
                          <m:t>𝑷</m:t>
                        </m:r>
                      </m:e>
                      <m:sub>
                        <m:r>
                          <a:rPr lang="en-US" altLang="ko-KR" b="1" i="1">
                            <a:latin typeface="Cambria Math" panose="02040503050406030204" pitchFamily="18" charset="0"/>
                          </a:rPr>
                          <m:t>𝟏</m:t>
                        </m:r>
                      </m:sub>
                    </m:sSub>
                  </m:oMath>
                </a14:m>
                <a:endParaRPr lang="en-US" altLang="ko-KR" sz="1800" spc="-100" dirty="0">
                  <a:latin typeface="나눔고딕" panose="020D0604000000000000" pitchFamily="50" charset="-127"/>
                  <a:ea typeface="나눔고딕" panose="020D0604000000000000" pitchFamily="50" charset="-127"/>
                </a:endParaRPr>
              </a:p>
              <a:p>
                <a:pPr marL="266700" indent="-266700"/>
                <a:r>
                  <a:rPr lang="ko-KR" altLang="en-US" spc="-100" dirty="0">
                    <a:latin typeface="나눔고딕" panose="020D0604000000000000" pitchFamily="50" charset="-127"/>
                    <a:ea typeface="나눔고딕" panose="020D0604000000000000" pitchFamily="50" charset="-127"/>
                  </a:rPr>
                  <a:t>관개사업으로 인한 </a:t>
                </a:r>
                <a:br>
                  <a:rPr lang="en-US" altLang="ko-KR" spc="-100" dirty="0">
                    <a:latin typeface="나눔고딕" panose="020D0604000000000000" pitchFamily="50" charset="-127"/>
                    <a:ea typeface="나눔고딕" panose="020D0604000000000000" pitchFamily="50" charset="-127"/>
                  </a:rPr>
                </a:br>
                <a:r>
                  <a:rPr lang="ko-KR" altLang="en-US" spc="-100" dirty="0">
                    <a:latin typeface="나눔고딕" panose="020D0604000000000000" pitchFamily="50" charset="-127"/>
                    <a:ea typeface="나눔고딕" panose="020D0604000000000000" pitchFamily="50" charset="-127"/>
                  </a:rPr>
                  <a:t>소비자 편익 측정 시  </a:t>
                </a:r>
                <a:br>
                  <a:rPr lang="en-US" altLang="ko-KR" spc="-100" dirty="0">
                    <a:latin typeface="나눔고딕" panose="020D0604000000000000" pitchFamily="50" charset="-127"/>
                    <a:ea typeface="나눔고딕" panose="020D0604000000000000" pitchFamily="50" charset="-127"/>
                  </a:rPr>
                </a:br>
                <a:r>
                  <a:rPr lang="ko-KR" altLang="en-US" spc="-100" dirty="0">
                    <a:latin typeface="나눔고딕" panose="020D0604000000000000" pitchFamily="50" charset="-127"/>
                    <a:ea typeface="나눔고딕" panose="020D0604000000000000" pitchFamily="50" charset="-127"/>
                  </a:rPr>
                  <a:t>기준가격으로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ko-KR" i="1" spc="-10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ko-KR" b="1" i="1" spc="-100">
                            <a:latin typeface="Cambria Math" panose="02040503050406030204" pitchFamily="18" charset="0"/>
                          </a:rPr>
                          <m:t>𝑷</m:t>
                        </m:r>
                      </m:e>
                      <m:sub>
                        <m:r>
                          <a:rPr lang="en-US" altLang="ko-KR" b="1" i="1" spc="-100">
                            <a:latin typeface="Cambria Math" panose="02040503050406030204" pitchFamily="18" charset="0"/>
                          </a:rPr>
                          <m:t>𝟎</m:t>
                        </m:r>
                      </m:sub>
                    </m:sSub>
                  </m:oMath>
                </a14:m>
                <a:r>
                  <a:rPr lang="ko-KR" altLang="en-US" spc="-100" dirty="0">
                    <a:latin typeface="나눔고딕" panose="020D0604000000000000" pitchFamily="50" charset="-127"/>
                    <a:ea typeface="나눔고딕" panose="020D0604000000000000" pitchFamily="50" charset="-127"/>
                  </a:rPr>
                  <a:t>과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ko-KR" i="1" spc="-10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ko-KR" b="1" i="1" spc="-100">
                            <a:latin typeface="Cambria Math" panose="02040503050406030204" pitchFamily="18" charset="0"/>
                          </a:rPr>
                          <m:t>𝑷</m:t>
                        </m:r>
                      </m:e>
                      <m:sub>
                        <m:r>
                          <a:rPr lang="en-US" altLang="ko-KR" b="1" i="1" spc="-100">
                            <a:latin typeface="Cambria Math" panose="02040503050406030204" pitchFamily="18" charset="0"/>
                          </a:rPr>
                          <m:t>𝟏</m:t>
                        </m:r>
                      </m:sub>
                    </m:sSub>
                  </m:oMath>
                </a14:m>
                <a:r>
                  <a:rPr lang="ko-KR" altLang="en-US" spc="-100" dirty="0">
                    <a:latin typeface="나눔고딕" panose="020D0604000000000000" pitchFamily="50" charset="-127"/>
                    <a:ea typeface="나눔고딕" panose="020D0604000000000000" pitchFamily="50" charset="-127"/>
                  </a:rPr>
                  <a:t> </a:t>
                </a:r>
                <a:br>
                  <a:rPr lang="en-US" altLang="ko-KR" spc="-100" dirty="0">
                    <a:latin typeface="나눔고딕" panose="020D0604000000000000" pitchFamily="50" charset="-127"/>
                    <a:ea typeface="나눔고딕" panose="020D0604000000000000" pitchFamily="50" charset="-127"/>
                  </a:rPr>
                </a:br>
                <a:r>
                  <a:rPr lang="ko-KR" altLang="en-US" spc="-100" dirty="0">
                    <a:latin typeface="나눔고딕" panose="020D0604000000000000" pitchFamily="50" charset="-127"/>
                    <a:ea typeface="나눔고딕" panose="020D0604000000000000" pitchFamily="50" charset="-127"/>
                  </a:rPr>
                  <a:t>모두 적절하지 않음</a:t>
                </a:r>
                <a:endParaRPr lang="en-US" altLang="ko-KR" sz="200" spc="-100" dirty="0">
                  <a:latin typeface="나눔고딕" panose="020D0604000000000000" pitchFamily="50" charset="-127"/>
                  <a:ea typeface="나눔고딕" panose="020D0604000000000000" pitchFamily="50" charset="-127"/>
                </a:endParaRPr>
              </a:p>
              <a:p>
                <a:pPr marL="266700" indent="-266700"/>
                <a:r>
                  <a:rPr lang="ko-KR" altLang="en-US" spc="-100" dirty="0">
                    <a:latin typeface="나눔고딕" panose="020D0604000000000000" pitchFamily="50" charset="-127"/>
                    <a:ea typeface="나눔고딕" panose="020D0604000000000000" pitchFamily="50" charset="-127"/>
                  </a:rPr>
                  <a:t>소비자 편익의 증가는 </a:t>
                </a:r>
                <a:br>
                  <a:rPr lang="en-US" altLang="ko-KR" spc="-100" dirty="0">
                    <a:latin typeface="나눔고딕" panose="020D0604000000000000" pitchFamily="50" charset="-127"/>
                    <a:ea typeface="나눔고딕" panose="020D0604000000000000" pitchFamily="50" charset="-127"/>
                  </a:rPr>
                </a:br>
                <a:r>
                  <a:rPr lang="ko-KR" altLang="en-US" spc="-100" dirty="0">
                    <a:latin typeface="나눔고딕" panose="020D0604000000000000" pitchFamily="50" charset="-127"/>
                    <a:ea typeface="나눔고딕" panose="020D0604000000000000" pitchFamily="50" charset="-127"/>
                  </a:rPr>
                  <a:t>늘어난 소비자잉여</a:t>
                </a:r>
                <a:br>
                  <a:rPr lang="en-US" altLang="ko-KR" spc="-100" dirty="0">
                    <a:latin typeface="나눔고딕" panose="020D0604000000000000" pitchFamily="50" charset="-127"/>
                    <a:ea typeface="나눔고딕" panose="020D0604000000000000" pitchFamily="50" charset="-127"/>
                  </a:rPr>
                </a:br>
                <a:r>
                  <a:rPr lang="en-US" altLang="ko-KR" spc="-100" dirty="0">
                    <a:latin typeface="나눔고딕" panose="020D0604000000000000" pitchFamily="50" charset="-127"/>
                    <a:ea typeface="나눔고딕" panose="020D0604000000000000" pitchFamily="50" charset="-127"/>
                  </a:rPr>
                  <a:t>(□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ko-KR" i="1" spc="-10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ko-KR" b="1" i="1" spc="-100">
                            <a:latin typeface="Cambria Math" panose="02040503050406030204" pitchFamily="18" charset="0"/>
                          </a:rPr>
                          <m:t>𝑷</m:t>
                        </m:r>
                      </m:e>
                      <m:sub>
                        <m:r>
                          <a:rPr lang="en-US" altLang="ko-KR" b="1" i="1" spc="-100">
                            <a:latin typeface="Cambria Math" panose="02040503050406030204" pitchFamily="18" charset="0"/>
                          </a:rPr>
                          <m:t>𝟎</m:t>
                        </m:r>
                      </m:sub>
                    </m:sSub>
                    <m:sSub>
                      <m:sSubPr>
                        <m:ctrlPr>
                          <a:rPr lang="en-US" altLang="ko-KR" i="1" spc="-10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ko-KR" b="1" i="1" spc="-100">
                            <a:latin typeface="Cambria Math" panose="02040503050406030204" pitchFamily="18" charset="0"/>
                          </a:rPr>
                          <m:t>𝑷</m:t>
                        </m:r>
                      </m:e>
                      <m:sub>
                        <m:r>
                          <a:rPr lang="en-US" altLang="ko-KR" b="1" i="1" spc="-100">
                            <a:latin typeface="Cambria Math" panose="02040503050406030204" pitchFamily="18" charset="0"/>
                          </a:rPr>
                          <m:t>𝟏</m:t>
                        </m:r>
                      </m:sub>
                    </m:sSub>
                    <m:r>
                      <a:rPr lang="en-US" altLang="ko-KR" b="1" i="1" spc="-100">
                        <a:latin typeface="Cambria Math" panose="02040503050406030204" pitchFamily="18" charset="0"/>
                      </a:rPr>
                      <m:t>𝑨𝑩</m:t>
                    </m:r>
                  </m:oMath>
                </a14:m>
                <a:r>
                  <a:rPr lang="en-US" altLang="ko-KR" spc="-100" dirty="0">
                    <a:latin typeface="나눔고딕" panose="020D0604000000000000" pitchFamily="50" charset="-127"/>
                    <a:ea typeface="나눔고딕" panose="020D0604000000000000" pitchFamily="50" charset="-127"/>
                  </a:rPr>
                  <a:t>)</a:t>
                </a:r>
                <a:r>
                  <a:rPr lang="ko-KR" altLang="en-US" spc="-100" dirty="0">
                    <a:latin typeface="나눔고딕" panose="020D0604000000000000" pitchFamily="50" charset="-127"/>
                    <a:ea typeface="나눔고딕" panose="020D0604000000000000" pitchFamily="50" charset="-127"/>
                  </a:rPr>
                  <a:t>의 크기로 </a:t>
                </a:r>
                <a:br>
                  <a:rPr lang="en-US" altLang="ko-KR" spc="-100" dirty="0">
                    <a:latin typeface="나눔고딕" panose="020D0604000000000000" pitchFamily="50" charset="-127"/>
                    <a:ea typeface="나눔고딕" panose="020D0604000000000000" pitchFamily="50" charset="-127"/>
                  </a:rPr>
                </a:br>
                <a:r>
                  <a:rPr lang="ko-KR" altLang="en-US" spc="-100" dirty="0">
                    <a:latin typeface="나눔고딕" panose="020D0604000000000000" pitchFamily="50" charset="-127"/>
                    <a:ea typeface="나눔고딕" panose="020D0604000000000000" pitchFamily="50" charset="-127"/>
                  </a:rPr>
                  <a:t>측정하는 것이 적절</a:t>
                </a:r>
                <a:endParaRPr lang="en-US" altLang="ko-KR" spc="-100" dirty="0">
                  <a:latin typeface="나눔고딕" panose="020D0604000000000000" pitchFamily="50" charset="-127"/>
                  <a:ea typeface="나눔고딕" panose="020D0604000000000000" pitchFamily="50" charset="-127"/>
                </a:endParaRPr>
              </a:p>
            </p:txBody>
          </p:sp>
        </mc:Choice>
        <mc:Fallback>
          <p:sp>
            <p:nvSpPr>
              <p:cNvPr id="3" name="내용 개체 틀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696" b="-128"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altLang="ko-KR">
                <a:latin typeface="나눔고딕" panose="020D0604000000000000" pitchFamily="50" charset="-127"/>
                <a:ea typeface="나눔고딕" panose="020D0604000000000000" pitchFamily="50" charset="-127"/>
              </a:rPr>
              <a:t>PUBLIC FINANCE</a:t>
            </a:r>
            <a:endParaRPr lang="ko-KR" altLang="en-US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ko-KR" altLang="en-US">
                <a:latin typeface="나눔고딕" panose="020D0604000000000000" pitchFamily="50" charset="-127"/>
                <a:ea typeface="나눔고딕" panose="020D0604000000000000" pitchFamily="50" charset="-127"/>
              </a:rPr>
              <a:t>제</a:t>
            </a:r>
            <a:r>
              <a:rPr lang="en-US" altLang="ko-KR">
                <a:latin typeface="나눔고딕" panose="020D0604000000000000" pitchFamily="50" charset="-127"/>
                <a:ea typeface="나눔고딕" panose="020D0604000000000000" pitchFamily="50" charset="-127"/>
              </a:rPr>
              <a:t>12</a:t>
            </a:r>
            <a:r>
              <a:rPr lang="ko-KR" altLang="en-US">
                <a:latin typeface="나눔고딕" panose="020D0604000000000000" pitchFamily="50" charset="-127"/>
                <a:ea typeface="나눔고딕" panose="020D0604000000000000" pitchFamily="50" charset="-127"/>
              </a:rPr>
              <a:t>장  비용편익분석</a:t>
            </a:r>
            <a:endParaRPr lang="ko-KR" altLang="en-US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6CA9FF6-BF29-4679-8C21-AEBAF2895125}" type="slidenum">
              <a:rPr lang="ko-KR" altLang="en-US" smtClean="0">
                <a:latin typeface="나눔고딕" panose="020D0604000000000000" pitchFamily="50" charset="-127"/>
                <a:ea typeface="나눔고딕" panose="020D0604000000000000" pitchFamily="50" charset="-127"/>
              </a:rPr>
              <a:t>20</a:t>
            </a:fld>
            <a:endParaRPr lang="ko-KR" altLang="en-US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pic>
        <p:nvPicPr>
          <p:cNvPr id="9" name="그림 8">
            <a:extLst>
              <a:ext uri="{FF2B5EF4-FFF2-40B4-BE49-F238E27FC236}">
                <a16:creationId xmlns:a16="http://schemas.microsoft.com/office/drawing/2014/main" id="{61436FA7-7173-48FE-8AB2-DD602A145706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548543" y="2925315"/>
            <a:ext cx="4966807" cy="282165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16750746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ko-KR" altLang="en-US" dirty="0">
                <a:latin typeface="나눔고딕" panose="020D0604000000000000" pitchFamily="50" charset="-127"/>
                <a:ea typeface="나눔고딕" panose="020D0604000000000000" pitchFamily="50" charset="-127"/>
              </a:rPr>
              <a:t>시장에서 거래되지 않는 것의 평가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 anchor="ctr">
            <a:noAutofit/>
          </a:bodyPr>
          <a:lstStyle/>
          <a:p>
            <a:pPr marL="0" indent="0">
              <a:lnSpc>
                <a:spcPct val="110000"/>
              </a:lnSpc>
              <a:buNone/>
            </a:pPr>
            <a:r>
              <a:rPr lang="ko-KR" altLang="en-US" b="1" dirty="0">
                <a:solidFill>
                  <a:schemeClr val="accent1">
                    <a:lumMod val="7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시간의 가치</a:t>
            </a:r>
            <a:endParaRPr lang="en-US" altLang="ko-KR" b="1" dirty="0">
              <a:solidFill>
                <a:schemeClr val="accent1">
                  <a:lumMod val="75000"/>
                </a:schemeClr>
              </a:solidFill>
              <a:latin typeface="나눔고딕" panose="020D0604000000000000" pitchFamily="50" charset="-127"/>
              <a:ea typeface="나눔고딕" panose="020D0604000000000000" pitchFamily="50" charset="-127"/>
            </a:endParaRPr>
          </a:p>
          <a:p>
            <a:pPr marL="0" indent="0">
              <a:lnSpc>
                <a:spcPct val="110000"/>
              </a:lnSpc>
              <a:buNone/>
            </a:pPr>
            <a:endParaRPr lang="en-US" altLang="ko-KR" sz="500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  <a:p>
            <a:pPr marL="266700" indent="-266700">
              <a:lnSpc>
                <a:spcPct val="110000"/>
              </a:lnSpc>
            </a:pPr>
            <a:r>
              <a:rPr lang="ko-KR" altLang="en-US" dirty="0">
                <a:latin typeface="나눔고딕" panose="020D0604000000000000" pitchFamily="50" charset="-127"/>
                <a:ea typeface="나눔고딕" panose="020D0604000000000000" pitchFamily="50" charset="-127"/>
              </a:rPr>
              <a:t>고속철도 사업 </a:t>
            </a:r>
            <a:r>
              <a:rPr lang="en-US" altLang="ko-KR" dirty="0">
                <a:latin typeface="나눔고딕" panose="020D0604000000000000" pitchFamily="50" charset="-127"/>
                <a:ea typeface="나눔고딕" panose="020D0604000000000000" pitchFamily="50" charset="-127"/>
              </a:rPr>
              <a:t>: </a:t>
            </a:r>
            <a:r>
              <a:rPr lang="ko-KR" altLang="en-US" dirty="0">
                <a:latin typeface="나눔고딕" panose="020D0604000000000000" pitchFamily="50" charset="-127"/>
                <a:ea typeface="나눔고딕" panose="020D0604000000000000" pitchFamily="50" charset="-127"/>
              </a:rPr>
              <a:t>여행에 소요되는 시간의 단축이 편익의 거의 전부</a:t>
            </a:r>
            <a:endParaRPr lang="en-US" altLang="ko-KR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  <a:p>
            <a:pPr marL="444500" lvl="1">
              <a:lnSpc>
                <a:spcPct val="110000"/>
              </a:lnSpc>
            </a:pPr>
            <a:r>
              <a:rPr lang="ko-KR" altLang="en-US" dirty="0">
                <a:latin typeface="나눔고딕" panose="020D0604000000000000" pitchFamily="50" charset="-127"/>
                <a:ea typeface="나눔고딕" panose="020D0604000000000000" pitchFamily="50" charset="-127"/>
              </a:rPr>
              <a:t>시간의 가치가 얼마인지 알아야 이 사업에서 예상되는 편익을 제대로 계산해 낼 수 있음</a:t>
            </a:r>
            <a:endParaRPr lang="en-US" altLang="ko-KR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  <a:p>
            <a:pPr lvl="1">
              <a:lnSpc>
                <a:spcPct val="110000"/>
              </a:lnSpc>
            </a:pPr>
            <a:endParaRPr lang="en-US" altLang="ko-KR" sz="500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  <a:p>
            <a:pPr marL="266700" indent="-266700">
              <a:lnSpc>
                <a:spcPct val="110000"/>
              </a:lnSpc>
            </a:pPr>
            <a:r>
              <a:rPr lang="ko-KR" altLang="en-US" dirty="0">
                <a:latin typeface="나눔고딕" panose="020D0604000000000000" pitchFamily="50" charset="-127"/>
                <a:ea typeface="나눔고딕" panose="020D0604000000000000" pitchFamily="50" charset="-127"/>
              </a:rPr>
              <a:t>단순한 소비자선택모형에 따르면 사람들은 여가의 주관적 가치가 추가로 일했을 때 벌어들이는 소득과 같아질 때까지 일할 것임</a:t>
            </a:r>
            <a:endParaRPr lang="en-US" altLang="ko-KR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  <a:p>
            <a:pPr marL="444500" lvl="1">
              <a:lnSpc>
                <a:spcPct val="110000"/>
              </a:lnSpc>
            </a:pPr>
            <a:r>
              <a:rPr lang="ko-KR" altLang="en-US" dirty="0">
                <a:latin typeface="나눔고딕" panose="020D0604000000000000" pitchFamily="50" charset="-127"/>
                <a:ea typeface="나눔고딕" panose="020D0604000000000000" pitchFamily="50" charset="-127"/>
              </a:rPr>
              <a:t>이로부터 어떤 사람이 얻을 수 있는 </a:t>
            </a:r>
            <a:r>
              <a:rPr lang="en-US" altLang="ko-KR" dirty="0">
                <a:latin typeface="나눔고딕" panose="020D0604000000000000" pitchFamily="50" charset="-127"/>
                <a:ea typeface="나눔고딕" panose="020D0604000000000000" pitchFamily="50" charset="-127"/>
              </a:rPr>
              <a:t>(</a:t>
            </a:r>
            <a:r>
              <a:rPr lang="ko-KR" altLang="en-US" dirty="0" err="1">
                <a:latin typeface="나눔고딕" panose="020D0604000000000000" pitchFamily="50" charset="-127"/>
                <a:ea typeface="나눔고딕" panose="020D0604000000000000" pitchFamily="50" charset="-127"/>
              </a:rPr>
              <a:t>세후</a:t>
            </a:r>
            <a:r>
              <a:rPr lang="en-US" altLang="ko-KR" dirty="0">
                <a:latin typeface="나눔고딕" panose="020D0604000000000000" pitchFamily="50" charset="-127"/>
                <a:ea typeface="나눔고딕" panose="020D0604000000000000" pitchFamily="50" charset="-127"/>
              </a:rPr>
              <a:t>) </a:t>
            </a:r>
            <a:r>
              <a:rPr lang="ko-KR" altLang="en-US" dirty="0">
                <a:latin typeface="나눔고딕" panose="020D0604000000000000" pitchFamily="50" charset="-127"/>
                <a:ea typeface="나눔고딕" panose="020D0604000000000000" pitchFamily="50" charset="-127"/>
              </a:rPr>
              <a:t>임금률이 그에게는 단위시간의   가치가 됨</a:t>
            </a:r>
            <a:endParaRPr lang="en-US" altLang="ko-KR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  <a:p>
            <a:pPr marL="444500" lvl="1">
              <a:lnSpc>
                <a:spcPct val="110000"/>
              </a:lnSpc>
            </a:pPr>
            <a:r>
              <a:rPr lang="ko-KR" altLang="en-US" dirty="0">
                <a:latin typeface="나눔고딕" panose="020D0604000000000000" pitchFamily="50" charset="-127"/>
                <a:ea typeface="나눔고딕" panose="020D0604000000000000" pitchFamily="50" charset="-127"/>
              </a:rPr>
              <a:t>따라서 시간당 임금률에 절약된 시간의 크기를 곱하면 공공사업으로 인한   편익 계산 가능</a:t>
            </a:r>
            <a:endParaRPr lang="en-US" altLang="ko-KR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altLang="ko-KR">
                <a:latin typeface="나눔고딕" panose="020D0604000000000000" pitchFamily="50" charset="-127"/>
                <a:ea typeface="나눔고딕" panose="020D0604000000000000" pitchFamily="50" charset="-127"/>
              </a:rPr>
              <a:t>PUBLIC FINANCE</a:t>
            </a:r>
            <a:endParaRPr lang="ko-KR" altLang="en-US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ko-KR" altLang="en-US">
                <a:latin typeface="나눔고딕" panose="020D0604000000000000" pitchFamily="50" charset="-127"/>
                <a:ea typeface="나눔고딕" panose="020D0604000000000000" pitchFamily="50" charset="-127"/>
              </a:rPr>
              <a:t>제</a:t>
            </a:r>
            <a:r>
              <a:rPr lang="en-US" altLang="ko-KR">
                <a:latin typeface="나눔고딕" panose="020D0604000000000000" pitchFamily="50" charset="-127"/>
                <a:ea typeface="나눔고딕" panose="020D0604000000000000" pitchFamily="50" charset="-127"/>
              </a:rPr>
              <a:t>12</a:t>
            </a:r>
            <a:r>
              <a:rPr lang="ko-KR" altLang="en-US">
                <a:latin typeface="나눔고딕" panose="020D0604000000000000" pitchFamily="50" charset="-127"/>
                <a:ea typeface="나눔고딕" panose="020D0604000000000000" pitchFamily="50" charset="-127"/>
              </a:rPr>
              <a:t>장  비용편익분석</a:t>
            </a:r>
            <a:endParaRPr lang="ko-KR" altLang="en-US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6CA9FF6-BF29-4679-8C21-AEBAF2895125}" type="slidenum">
              <a:rPr lang="ko-KR" altLang="en-US" smtClean="0">
                <a:latin typeface="나눔고딕" panose="020D0604000000000000" pitchFamily="50" charset="-127"/>
                <a:ea typeface="나눔고딕" panose="020D0604000000000000" pitchFamily="50" charset="-127"/>
              </a:rPr>
              <a:t>21</a:t>
            </a:fld>
            <a:endParaRPr lang="ko-KR" altLang="en-US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272400283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ko-KR" altLang="en-US" dirty="0">
                <a:latin typeface="나눔고딕" panose="020D0604000000000000" pitchFamily="50" charset="-127"/>
                <a:ea typeface="나눔고딕" panose="020D0604000000000000" pitchFamily="50" charset="-127"/>
              </a:rPr>
              <a:t>시장에서 거래되지 않는 것의 평가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 anchor="ctr">
            <a:noAutofit/>
          </a:bodyPr>
          <a:lstStyle/>
          <a:p>
            <a:pPr marL="266700" indent="-266700">
              <a:lnSpc>
                <a:spcPct val="130000"/>
              </a:lnSpc>
              <a:buFont typeface="Wingdings" panose="05000000000000000000" pitchFamily="2" charset="2"/>
              <a:buChar char="§"/>
            </a:pPr>
            <a:r>
              <a:rPr lang="en-US" altLang="ko-KR" dirty="0">
                <a:latin typeface="나눔고딕" panose="020D0604000000000000" pitchFamily="50" charset="-127"/>
                <a:ea typeface="나눔고딕" panose="020D0604000000000000" pitchFamily="50" charset="-127"/>
              </a:rPr>
              <a:t>(</a:t>
            </a:r>
            <a:r>
              <a:rPr lang="ko-KR" altLang="en-US" dirty="0" err="1">
                <a:latin typeface="나눔고딕" panose="020D0604000000000000" pitchFamily="50" charset="-127"/>
                <a:ea typeface="나눔고딕" panose="020D0604000000000000" pitchFamily="50" charset="-127"/>
              </a:rPr>
              <a:t>세후</a:t>
            </a:r>
            <a:r>
              <a:rPr lang="en-US" altLang="ko-KR" dirty="0">
                <a:latin typeface="나눔고딕" panose="020D0604000000000000" pitchFamily="50" charset="-127"/>
                <a:ea typeface="나눔고딕" panose="020D0604000000000000" pitchFamily="50" charset="-127"/>
              </a:rPr>
              <a:t>) </a:t>
            </a:r>
            <a:r>
              <a:rPr lang="ko-KR" altLang="en-US" dirty="0">
                <a:latin typeface="나눔고딕" panose="020D0604000000000000" pitchFamily="50" charset="-127"/>
                <a:ea typeface="나눔고딕" panose="020D0604000000000000" pitchFamily="50" charset="-127"/>
              </a:rPr>
              <a:t>임금률로 시간의 가치를 측정하려 할 때 주의점</a:t>
            </a:r>
            <a:endParaRPr lang="en-US" altLang="ko-KR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  <a:p>
            <a:pPr marL="444500" lvl="1">
              <a:lnSpc>
                <a:spcPct val="130000"/>
              </a:lnSpc>
            </a:pPr>
            <a:r>
              <a:rPr lang="ko-KR" altLang="en-US" dirty="0">
                <a:latin typeface="나눔고딕" panose="020D0604000000000000" pitchFamily="50" charset="-127"/>
                <a:ea typeface="나눔고딕" panose="020D0604000000000000" pitchFamily="50" charset="-127"/>
              </a:rPr>
              <a:t>소비자선택모형은 노동시간의 선택이 자유로운 상황을 가정하고 있지만</a:t>
            </a:r>
            <a:r>
              <a:rPr lang="en-US" altLang="ko-KR" dirty="0">
                <a:latin typeface="나눔고딕" panose="020D0604000000000000" pitchFamily="50" charset="-127"/>
                <a:ea typeface="나눔고딕" panose="020D0604000000000000" pitchFamily="50" charset="-127"/>
              </a:rPr>
              <a:t>,   </a:t>
            </a:r>
            <a:r>
              <a:rPr lang="ko-KR" altLang="en-US" dirty="0">
                <a:latin typeface="나눔고딕" panose="020D0604000000000000" pitchFamily="50" charset="-127"/>
                <a:ea typeface="나눔고딕" panose="020D0604000000000000" pitchFamily="50" charset="-127"/>
              </a:rPr>
              <a:t>사람에 따라서 노동시간의 선택이 자유롭지 않은 경우도 있음</a:t>
            </a:r>
            <a:endParaRPr lang="en-US" altLang="ko-KR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  <a:p>
            <a:pPr marL="444500" lvl="1">
              <a:lnSpc>
                <a:spcPct val="130000"/>
              </a:lnSpc>
            </a:pPr>
            <a:r>
              <a:rPr lang="ko-KR" altLang="en-US" dirty="0">
                <a:latin typeface="나눔고딕" panose="020D0604000000000000" pitchFamily="50" charset="-127"/>
                <a:ea typeface="나눔고딕" panose="020D0604000000000000" pitchFamily="50" charset="-127"/>
              </a:rPr>
              <a:t>특정한 일에 따르는 비금전적</a:t>
            </a:r>
            <a:r>
              <a:rPr lang="en-US" altLang="ko-KR" dirty="0">
                <a:latin typeface="나눔고딕" panose="020D0604000000000000" pitchFamily="50" charset="-127"/>
                <a:ea typeface="나눔고딕" panose="020D0604000000000000" pitchFamily="50" charset="-127"/>
              </a:rPr>
              <a:t>(non-monetary) </a:t>
            </a:r>
            <a:r>
              <a:rPr lang="ko-KR" altLang="en-US" dirty="0">
                <a:latin typeface="나눔고딕" panose="020D0604000000000000" pitchFamily="50" charset="-127"/>
                <a:ea typeface="나눔고딕" panose="020D0604000000000000" pitchFamily="50" charset="-127"/>
              </a:rPr>
              <a:t>이득 때문에 임금률이 시간의 진정한 </a:t>
            </a:r>
            <a:r>
              <a:rPr lang="ko-KR" altLang="en-US" dirty="0" err="1">
                <a:latin typeface="나눔고딕" panose="020D0604000000000000" pitchFamily="50" charset="-127"/>
                <a:ea typeface="나눔고딕" panose="020D0604000000000000" pitchFamily="50" charset="-127"/>
              </a:rPr>
              <a:t>평가액과</a:t>
            </a:r>
            <a:r>
              <a:rPr lang="ko-KR" altLang="en-US" dirty="0">
                <a:latin typeface="나눔고딕" panose="020D0604000000000000" pitchFamily="50" charset="-127"/>
                <a:ea typeface="나눔고딕" panose="020D0604000000000000" pitchFamily="50" charset="-127"/>
              </a:rPr>
              <a:t> 다를 수 있음</a:t>
            </a:r>
            <a:endParaRPr lang="en-US" altLang="ko-KR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  <a:p>
            <a:pPr lvl="1">
              <a:lnSpc>
                <a:spcPct val="130000"/>
              </a:lnSpc>
              <a:buFont typeface="Wingdings" panose="05000000000000000000" pitchFamily="2" charset="2"/>
              <a:buChar char="§"/>
            </a:pPr>
            <a:endParaRPr lang="en-US" altLang="ko-KR" sz="500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  <a:p>
            <a:pPr marL="266700" indent="-266700">
              <a:lnSpc>
                <a:spcPct val="130000"/>
              </a:lnSpc>
              <a:buFont typeface="Wingdings" panose="05000000000000000000" pitchFamily="2" charset="2"/>
              <a:buChar char="§"/>
            </a:pPr>
            <a:r>
              <a:rPr lang="ko-KR" altLang="en-US" dirty="0">
                <a:latin typeface="나눔고딕" panose="020D0604000000000000" pitchFamily="50" charset="-127"/>
                <a:ea typeface="나눔고딕" panose="020D0604000000000000" pitchFamily="50" charset="-127"/>
              </a:rPr>
              <a:t>시간의 가치를 평가할 수 있는 다른 방법</a:t>
            </a:r>
            <a:endParaRPr lang="en-US" altLang="ko-KR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  <a:p>
            <a:pPr marL="444500" lvl="1">
              <a:lnSpc>
                <a:spcPct val="130000"/>
              </a:lnSpc>
            </a:pPr>
            <a:r>
              <a:rPr lang="ko-KR" altLang="en-US" dirty="0">
                <a:latin typeface="나눔고딕" panose="020D0604000000000000" pitchFamily="50" charset="-127"/>
                <a:ea typeface="나눔고딕" panose="020D0604000000000000" pitchFamily="50" charset="-127"/>
              </a:rPr>
              <a:t>서로 다른 시간이 소요되는 여러 교통수단 사이에서 사람들이 어떤 선택을 하고 있는지 관찰하고 이를 통해 시간의 가치를 추정</a:t>
            </a:r>
            <a:endParaRPr lang="en-US" altLang="ko-KR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altLang="ko-KR">
                <a:latin typeface="나눔고딕" panose="020D0604000000000000" pitchFamily="50" charset="-127"/>
                <a:ea typeface="나눔고딕" panose="020D0604000000000000" pitchFamily="50" charset="-127"/>
              </a:rPr>
              <a:t>PUBLIC FINANCE</a:t>
            </a:r>
            <a:endParaRPr lang="ko-KR" altLang="en-US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ko-KR" altLang="en-US">
                <a:latin typeface="나눔고딕" panose="020D0604000000000000" pitchFamily="50" charset="-127"/>
                <a:ea typeface="나눔고딕" panose="020D0604000000000000" pitchFamily="50" charset="-127"/>
              </a:rPr>
              <a:t>제</a:t>
            </a:r>
            <a:r>
              <a:rPr lang="en-US" altLang="ko-KR">
                <a:latin typeface="나눔고딕" panose="020D0604000000000000" pitchFamily="50" charset="-127"/>
                <a:ea typeface="나눔고딕" panose="020D0604000000000000" pitchFamily="50" charset="-127"/>
              </a:rPr>
              <a:t>12</a:t>
            </a:r>
            <a:r>
              <a:rPr lang="ko-KR" altLang="en-US">
                <a:latin typeface="나눔고딕" panose="020D0604000000000000" pitchFamily="50" charset="-127"/>
                <a:ea typeface="나눔고딕" panose="020D0604000000000000" pitchFamily="50" charset="-127"/>
              </a:rPr>
              <a:t>장  비용편익분석</a:t>
            </a:r>
            <a:endParaRPr lang="ko-KR" altLang="en-US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6CA9FF6-BF29-4679-8C21-AEBAF2895125}" type="slidenum">
              <a:rPr lang="ko-KR" altLang="en-US" smtClean="0">
                <a:latin typeface="나눔고딕" panose="020D0604000000000000" pitchFamily="50" charset="-127"/>
                <a:ea typeface="나눔고딕" panose="020D0604000000000000" pitchFamily="50" charset="-127"/>
              </a:rPr>
              <a:t>22</a:t>
            </a:fld>
            <a:endParaRPr lang="ko-KR" altLang="en-US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48237890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ko-KR" altLang="en-US" dirty="0">
                <a:latin typeface="나눔고딕" panose="020D0604000000000000" pitchFamily="50" charset="-127"/>
                <a:ea typeface="나눔고딕" panose="020D0604000000000000" pitchFamily="50" charset="-127"/>
              </a:rPr>
              <a:t>시장에서 거래되지 않는 것의 평가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 anchor="ctr">
            <a:noAutofit/>
          </a:bodyPr>
          <a:lstStyle/>
          <a:p>
            <a:pPr marL="0" indent="0">
              <a:lnSpc>
                <a:spcPct val="110000"/>
              </a:lnSpc>
              <a:buNone/>
            </a:pPr>
            <a:r>
              <a:rPr lang="ko-KR" altLang="en-US" b="1" dirty="0">
                <a:solidFill>
                  <a:schemeClr val="accent1">
                    <a:lumMod val="7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생명의 가치</a:t>
            </a:r>
            <a:endParaRPr lang="en-US" altLang="ko-KR" b="1" dirty="0">
              <a:solidFill>
                <a:schemeClr val="accent1">
                  <a:lumMod val="75000"/>
                </a:schemeClr>
              </a:solidFill>
              <a:latin typeface="나눔고딕" panose="020D0604000000000000" pitchFamily="50" charset="-127"/>
              <a:ea typeface="나눔고딕" panose="020D0604000000000000" pitchFamily="50" charset="-127"/>
            </a:endParaRPr>
          </a:p>
          <a:p>
            <a:pPr marL="0" indent="0">
              <a:lnSpc>
                <a:spcPct val="110000"/>
              </a:lnSpc>
              <a:buNone/>
            </a:pPr>
            <a:endParaRPr lang="en-US" altLang="ko-KR" sz="200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  <a:p>
            <a:pPr marL="266700" indent="-266700">
              <a:lnSpc>
                <a:spcPct val="110000"/>
              </a:lnSpc>
            </a:pPr>
            <a:r>
              <a:rPr lang="ko-KR" altLang="en-US" dirty="0">
                <a:latin typeface="나눔고딕" panose="020D0604000000000000" pitchFamily="50" charset="-127"/>
                <a:ea typeface="나눔고딕" panose="020D0604000000000000" pitchFamily="50" charset="-127"/>
              </a:rPr>
              <a:t>공공사업의 결과 생명을 구해낼 수 있다면</a:t>
            </a:r>
            <a:r>
              <a:rPr lang="en-US" altLang="ko-KR" dirty="0">
                <a:latin typeface="나눔고딕" panose="020D0604000000000000" pitchFamily="50" charset="-127"/>
                <a:ea typeface="나눔고딕" panose="020D0604000000000000" pitchFamily="50" charset="-127"/>
              </a:rPr>
              <a:t>, </a:t>
            </a:r>
            <a:r>
              <a:rPr lang="ko-KR" altLang="en-US" dirty="0">
                <a:latin typeface="나눔고딕" panose="020D0604000000000000" pitchFamily="50" charset="-127"/>
                <a:ea typeface="나눔고딕" panose="020D0604000000000000" pitchFamily="50" charset="-127"/>
              </a:rPr>
              <a:t>생명의 가치가 얼마인지   알아야 그 사업의 편익을 평가할 수 있음</a:t>
            </a:r>
            <a:endParaRPr lang="en-US" altLang="ko-KR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  <a:p>
            <a:pPr marL="444500" lvl="1">
              <a:lnSpc>
                <a:spcPct val="110000"/>
              </a:lnSpc>
            </a:pPr>
            <a:r>
              <a:rPr lang="ko-KR" altLang="en-US" dirty="0">
                <a:latin typeface="나눔고딕" panose="020D0604000000000000" pitchFamily="50" charset="-127"/>
                <a:ea typeface="나눔고딕" panose="020D0604000000000000" pitchFamily="50" charset="-127"/>
              </a:rPr>
              <a:t>윤리적인 관점에서 보면 사람의 생명이 무한한 가치를 갖지만</a:t>
            </a:r>
            <a:r>
              <a:rPr lang="en-US" altLang="ko-KR" dirty="0">
                <a:latin typeface="나눔고딕" panose="020D0604000000000000" pitchFamily="50" charset="-127"/>
                <a:ea typeface="나눔고딕" panose="020D0604000000000000" pitchFamily="50" charset="-127"/>
              </a:rPr>
              <a:t> </a:t>
            </a:r>
            <a:r>
              <a:rPr lang="ko-KR" altLang="en-US" dirty="0">
                <a:latin typeface="나눔고딕" panose="020D0604000000000000" pitchFamily="50" charset="-127"/>
                <a:ea typeface="나눔고딕" panose="020D0604000000000000" pitchFamily="50" charset="-127"/>
              </a:rPr>
              <a:t>경제학적 관점에서 보면 특정한 가치를 가질 수밖에 없음</a:t>
            </a:r>
            <a:endParaRPr lang="en-US" altLang="ko-KR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  <a:p>
            <a:pPr marL="444500" lvl="1">
              <a:lnSpc>
                <a:spcPct val="110000"/>
              </a:lnSpc>
            </a:pPr>
            <a:r>
              <a:rPr lang="ko-KR" altLang="en-US" dirty="0">
                <a:latin typeface="나눔고딕" panose="020D0604000000000000" pitchFamily="50" charset="-127"/>
                <a:ea typeface="나눔고딕" panose="020D0604000000000000" pitchFamily="50" charset="-127"/>
              </a:rPr>
              <a:t>경제학자의 관점에서 볼 때 생명의 가치를 측정하는 문제는 매우 중요한     의미를 가짐</a:t>
            </a:r>
            <a:endParaRPr lang="ko-KR" altLang="en-US" sz="200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  <a:p>
            <a:pPr marL="266700" indent="-266700">
              <a:lnSpc>
                <a:spcPct val="110000"/>
              </a:lnSpc>
            </a:pPr>
            <a:r>
              <a:rPr lang="ko-KR" altLang="en-US" dirty="0">
                <a:latin typeface="나눔고딕" panose="020D0604000000000000" pitchFamily="50" charset="-127"/>
                <a:ea typeface="나눔고딕" panose="020D0604000000000000" pitchFamily="50" charset="-127"/>
              </a:rPr>
              <a:t>때로는 생명과는 별도로 건강이 개선되거나 악화되는 것의 가치를     평가해야  하는 경우도 있음</a:t>
            </a:r>
            <a:endParaRPr lang="en-US" altLang="ko-KR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  <a:p>
            <a:pPr marL="444500" lvl="1">
              <a:lnSpc>
                <a:spcPct val="110000"/>
              </a:lnSpc>
            </a:pPr>
            <a:r>
              <a:rPr lang="ko-KR" altLang="en-US" dirty="0">
                <a:latin typeface="나눔고딕" panose="020D0604000000000000" pitchFamily="50" charset="-127"/>
                <a:ea typeface="나눔고딕" panose="020D0604000000000000" pitchFamily="50" charset="-127"/>
              </a:rPr>
              <a:t>환경의 질을 개선하는 공공사업의 편익은 사람들의 건강이 개선되는 형태로 주로 나타나며</a:t>
            </a:r>
            <a:r>
              <a:rPr lang="en-US" altLang="ko-KR" dirty="0">
                <a:latin typeface="나눔고딕" panose="020D0604000000000000" pitchFamily="50" charset="-127"/>
                <a:ea typeface="나눔고딕" panose="020D0604000000000000" pitchFamily="50" charset="-127"/>
              </a:rPr>
              <a:t>, </a:t>
            </a:r>
            <a:r>
              <a:rPr lang="ko-KR" altLang="en-US" dirty="0">
                <a:latin typeface="나눔고딕" panose="020D0604000000000000" pitchFamily="50" charset="-127"/>
                <a:ea typeface="나눔고딕" panose="020D0604000000000000" pitchFamily="50" charset="-127"/>
              </a:rPr>
              <a:t>건강 개선의 화폐적 가치를 알아야만 이 공공사업의 편익을 평가할 수 있음</a:t>
            </a:r>
            <a:endParaRPr lang="en-US" altLang="ko-KR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altLang="ko-KR">
                <a:latin typeface="나눔고딕" panose="020D0604000000000000" pitchFamily="50" charset="-127"/>
                <a:ea typeface="나눔고딕" panose="020D0604000000000000" pitchFamily="50" charset="-127"/>
              </a:rPr>
              <a:t>PUBLIC FINANCE</a:t>
            </a:r>
            <a:endParaRPr lang="ko-KR" altLang="en-US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ko-KR" altLang="en-US">
                <a:latin typeface="나눔고딕" panose="020D0604000000000000" pitchFamily="50" charset="-127"/>
                <a:ea typeface="나눔고딕" panose="020D0604000000000000" pitchFamily="50" charset="-127"/>
              </a:rPr>
              <a:t>제</a:t>
            </a:r>
            <a:r>
              <a:rPr lang="en-US" altLang="ko-KR">
                <a:latin typeface="나눔고딕" panose="020D0604000000000000" pitchFamily="50" charset="-127"/>
                <a:ea typeface="나눔고딕" panose="020D0604000000000000" pitchFamily="50" charset="-127"/>
              </a:rPr>
              <a:t>12</a:t>
            </a:r>
            <a:r>
              <a:rPr lang="ko-KR" altLang="en-US">
                <a:latin typeface="나눔고딕" panose="020D0604000000000000" pitchFamily="50" charset="-127"/>
                <a:ea typeface="나눔고딕" panose="020D0604000000000000" pitchFamily="50" charset="-127"/>
              </a:rPr>
              <a:t>장  비용편익분석</a:t>
            </a:r>
            <a:endParaRPr lang="ko-KR" altLang="en-US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6CA9FF6-BF29-4679-8C21-AEBAF2895125}" type="slidenum">
              <a:rPr lang="ko-KR" altLang="en-US" smtClean="0">
                <a:latin typeface="나눔고딕" panose="020D0604000000000000" pitchFamily="50" charset="-127"/>
                <a:ea typeface="나눔고딕" panose="020D0604000000000000" pitchFamily="50" charset="-127"/>
              </a:rPr>
              <a:t>23</a:t>
            </a:fld>
            <a:endParaRPr lang="ko-KR" altLang="en-US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3761022356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ko-KR" altLang="en-US" dirty="0">
                <a:latin typeface="나눔고딕" panose="020D0604000000000000" pitchFamily="50" charset="-127"/>
                <a:ea typeface="나눔고딕" panose="020D0604000000000000" pitchFamily="50" charset="-127"/>
              </a:rPr>
              <a:t>시장에서 거래되지 않는 것의 평가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 anchor="ctr">
            <a:noAutofit/>
          </a:bodyPr>
          <a:lstStyle/>
          <a:p>
            <a:pPr marL="0" indent="0">
              <a:buNone/>
            </a:pPr>
            <a:r>
              <a:rPr lang="ko-KR" altLang="en-US" sz="2000" b="1" dirty="0">
                <a:solidFill>
                  <a:schemeClr val="accent1">
                    <a:lumMod val="7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그 밖의 무형적 편익</a:t>
            </a:r>
            <a:endParaRPr lang="en-US" altLang="ko-KR" sz="2000" b="1" dirty="0">
              <a:solidFill>
                <a:schemeClr val="accent1">
                  <a:lumMod val="75000"/>
                </a:schemeClr>
              </a:solidFill>
              <a:latin typeface="나눔고딕" panose="020D0604000000000000" pitchFamily="50" charset="-127"/>
              <a:ea typeface="나눔고딕" panose="020D0604000000000000" pitchFamily="50" charset="-127"/>
            </a:endParaRPr>
          </a:p>
          <a:p>
            <a:pPr marL="0" indent="0">
              <a:buNone/>
            </a:pPr>
            <a:endParaRPr lang="en-US" altLang="ko-KR" sz="1000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  <a:p>
            <a:pPr marL="266700" indent="-266700"/>
            <a:r>
              <a:rPr lang="ko-KR" altLang="en-US" sz="2000" dirty="0" err="1">
                <a:latin typeface="나눔고딕" panose="020D0604000000000000" pitchFamily="50" charset="-127"/>
                <a:ea typeface="나눔고딕" panose="020D0604000000000000" pitchFamily="50" charset="-127"/>
              </a:rPr>
              <a:t>우주탐험</a:t>
            </a:r>
            <a:r>
              <a:rPr lang="ko-KR" altLang="en-US" sz="20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 프로그램으로 인한 국위 선양</a:t>
            </a:r>
            <a:r>
              <a:rPr lang="en-US" altLang="ko-KR" sz="20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, </a:t>
            </a:r>
            <a:r>
              <a:rPr lang="ko-KR" altLang="en-US" sz="2000" dirty="0" err="1">
                <a:latin typeface="나눔고딕" panose="020D0604000000000000" pitchFamily="50" charset="-127"/>
                <a:ea typeface="나눔고딕" panose="020D0604000000000000" pitchFamily="50" charset="-127"/>
              </a:rPr>
              <a:t>군장비</a:t>
            </a:r>
            <a:r>
              <a:rPr lang="ko-KR" altLang="en-US" sz="20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 현대화사업에 의한 방위력 증대 같은 무형적 편익은 어떤 방법을 쓰더라도 다수의 공감을 얻을 수 있는 평가를 내리기 어려움</a:t>
            </a:r>
            <a:endParaRPr lang="en-US" altLang="ko-KR" sz="2000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  <a:p>
            <a:pPr marL="444500" lvl="1"/>
            <a:r>
              <a:rPr lang="ko-KR" altLang="en-US" dirty="0">
                <a:latin typeface="나눔고딕" panose="020D0604000000000000" pitchFamily="50" charset="-127"/>
                <a:ea typeface="나눔고딕" panose="020D0604000000000000" pitchFamily="50" charset="-127"/>
              </a:rPr>
              <a:t>편익의 평가가 어려운 상황이라면 비용편익분석을 포기하고</a:t>
            </a:r>
            <a:r>
              <a:rPr lang="en-US" altLang="ko-KR" dirty="0">
                <a:latin typeface="나눔고딕" panose="020D0604000000000000" pitchFamily="50" charset="-127"/>
                <a:ea typeface="나눔고딕" panose="020D0604000000000000" pitchFamily="50" charset="-127"/>
              </a:rPr>
              <a:t> </a:t>
            </a:r>
            <a:r>
              <a:rPr lang="ko-KR" altLang="en-US" dirty="0">
                <a:latin typeface="나눔고딕" panose="020D0604000000000000" pitchFamily="50" charset="-127"/>
                <a:ea typeface="나눔고딕" panose="020D0604000000000000" pitchFamily="50" charset="-127"/>
              </a:rPr>
              <a:t>우회적인 방법을 사용할 수도 있음</a:t>
            </a:r>
            <a:endParaRPr lang="en-US" altLang="ko-KR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  <a:p>
            <a:pPr marL="266700" indent="-266700"/>
            <a:r>
              <a:rPr lang="ko-KR" altLang="en-US" sz="2000" dirty="0">
                <a:solidFill>
                  <a:schemeClr val="accent1">
                    <a:lumMod val="7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비용효율성분석</a:t>
            </a:r>
            <a:r>
              <a:rPr lang="en-US" altLang="ko-KR" sz="2000" dirty="0">
                <a:solidFill>
                  <a:schemeClr val="accent1">
                    <a:lumMod val="7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(cost effectiveness analysis) </a:t>
            </a:r>
            <a:r>
              <a:rPr lang="en-US" altLang="ko-KR" sz="20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: </a:t>
            </a:r>
            <a:r>
              <a:rPr lang="ko-KR" altLang="en-US" sz="20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공공사업의 목표를  주어진 것으로 간주하고 이를 달성할 수 있는 여러 대안 중 가장 적은 비용으로 달성할 수 있는 것을 찾아내는 접근방법</a:t>
            </a:r>
            <a:endParaRPr lang="en-US" altLang="ko-KR" sz="2000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altLang="ko-KR">
                <a:latin typeface="나눔고딕" panose="020D0604000000000000" pitchFamily="50" charset="-127"/>
                <a:ea typeface="나눔고딕" panose="020D0604000000000000" pitchFamily="50" charset="-127"/>
              </a:rPr>
              <a:t>PUBLIC FINANCE</a:t>
            </a:r>
            <a:endParaRPr lang="ko-KR" altLang="en-US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ko-KR" altLang="en-US">
                <a:latin typeface="나눔고딕" panose="020D0604000000000000" pitchFamily="50" charset="-127"/>
                <a:ea typeface="나눔고딕" panose="020D0604000000000000" pitchFamily="50" charset="-127"/>
              </a:rPr>
              <a:t>제</a:t>
            </a:r>
            <a:r>
              <a:rPr lang="en-US" altLang="ko-KR">
                <a:latin typeface="나눔고딕" panose="020D0604000000000000" pitchFamily="50" charset="-127"/>
                <a:ea typeface="나눔고딕" panose="020D0604000000000000" pitchFamily="50" charset="-127"/>
              </a:rPr>
              <a:t>12</a:t>
            </a:r>
            <a:r>
              <a:rPr lang="ko-KR" altLang="en-US">
                <a:latin typeface="나눔고딕" panose="020D0604000000000000" pitchFamily="50" charset="-127"/>
                <a:ea typeface="나눔고딕" panose="020D0604000000000000" pitchFamily="50" charset="-127"/>
              </a:rPr>
              <a:t>장  비용편익분석</a:t>
            </a:r>
            <a:endParaRPr lang="ko-KR" altLang="en-US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6CA9FF6-BF29-4679-8C21-AEBAF2895125}" type="slidenum">
              <a:rPr lang="ko-KR" altLang="en-US" smtClean="0">
                <a:latin typeface="나눔고딕" panose="020D0604000000000000" pitchFamily="50" charset="-127"/>
                <a:ea typeface="나눔고딕" panose="020D0604000000000000" pitchFamily="50" charset="-127"/>
              </a:rPr>
              <a:t>24</a:t>
            </a:fld>
            <a:endParaRPr lang="ko-KR" altLang="en-US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2445647149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ko-KR" altLang="en-US" spc="-113" dirty="0">
                <a:latin typeface="나눔고딕" panose="020D0604000000000000" pitchFamily="50" charset="-127"/>
                <a:ea typeface="나눔고딕" panose="020D0604000000000000" pitchFamily="50" charset="-127"/>
              </a:rPr>
              <a:t>통계적 생명의 가치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>
          <a:xfrm>
            <a:off x="628650" y="1422400"/>
            <a:ext cx="7970066" cy="4754563"/>
          </a:xfrm>
        </p:spPr>
        <p:txBody>
          <a:bodyPr anchor="ctr">
            <a:noAutofit/>
          </a:bodyPr>
          <a:lstStyle/>
          <a:p>
            <a:pPr marL="266700" indent="-266700">
              <a:lnSpc>
                <a:spcPct val="100000"/>
              </a:lnSpc>
              <a:buFont typeface="Wingdings" panose="05000000000000000000" pitchFamily="2" charset="2"/>
              <a:buChar char="§"/>
            </a:pPr>
            <a:r>
              <a:rPr lang="ko-KR" altLang="en-US" dirty="0">
                <a:latin typeface="나눔고딕" panose="020D0604000000000000" pitchFamily="50" charset="-127"/>
                <a:ea typeface="나눔고딕" panose="020D0604000000000000" pitchFamily="50" charset="-127"/>
              </a:rPr>
              <a:t>사람들의 사망확률을 줄이기 위해 일정한 금액을 지불할 용의를 가짐</a:t>
            </a:r>
            <a:endParaRPr lang="en-US" altLang="ko-KR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  <a:p>
            <a:pPr marL="444500" lvl="1">
              <a:lnSpc>
                <a:spcPct val="110000"/>
              </a:lnSpc>
            </a:pPr>
            <a:r>
              <a:rPr lang="ko-KR" altLang="en-US" dirty="0">
                <a:latin typeface="나눔고딕" panose="020D0604000000000000" pitchFamily="50" charset="-127"/>
                <a:ea typeface="나눔고딕" panose="020D0604000000000000" pitchFamily="50" charset="-127"/>
              </a:rPr>
              <a:t>일정한 금액의 돈과 사망 확률의 감소가 맞바꿔질 수 있다는 사실에서 생명의 가치가 측정될 수 있는 단서가 제공</a:t>
            </a:r>
            <a:br>
              <a:rPr lang="en-US" altLang="ko-KR" dirty="0">
                <a:latin typeface="나눔고딕" panose="020D0604000000000000" pitchFamily="50" charset="-127"/>
                <a:ea typeface="나눔고딕" panose="020D0604000000000000" pitchFamily="50" charset="-127"/>
              </a:rPr>
            </a:br>
            <a:r>
              <a:rPr lang="en-US" altLang="ko-KR" dirty="0">
                <a:latin typeface="나눔고딕" panose="020D0604000000000000" pitchFamily="50" charset="-127"/>
                <a:ea typeface="나눔고딕" panose="020D0604000000000000" pitchFamily="50" charset="-127"/>
              </a:rPr>
              <a:t>⇒ </a:t>
            </a:r>
            <a:r>
              <a:rPr lang="ko-KR" altLang="en-US" b="1" dirty="0">
                <a:solidFill>
                  <a:schemeClr val="accent1">
                    <a:lumMod val="7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통계적 생명의 가치</a:t>
            </a:r>
            <a:r>
              <a:rPr lang="en-US" altLang="ko-KR" dirty="0">
                <a:solidFill>
                  <a:schemeClr val="accent1">
                    <a:lumMod val="7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(value of a statistical life : VSL)</a:t>
            </a:r>
          </a:p>
          <a:p>
            <a:pPr marL="685800" lvl="2" indent="0">
              <a:lnSpc>
                <a:spcPct val="110000"/>
              </a:lnSpc>
              <a:buNone/>
            </a:pPr>
            <a:endParaRPr lang="en-US" altLang="ko-KR" sz="500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  <a:p>
            <a:pPr marL="266700" indent="-266700">
              <a:lnSpc>
                <a:spcPct val="100000"/>
              </a:lnSpc>
              <a:buFont typeface="Wingdings" panose="05000000000000000000" pitchFamily="2" charset="2"/>
              <a:buChar char="§"/>
            </a:pPr>
            <a:r>
              <a:rPr lang="ko-KR" altLang="en-US" dirty="0">
                <a:latin typeface="나눔고딕" panose="020D0604000000000000" pitchFamily="50" charset="-127"/>
                <a:ea typeface="나눔고딕" panose="020D0604000000000000" pitchFamily="50" charset="-127"/>
              </a:rPr>
              <a:t>통계적 생명의 가치 측정방식 </a:t>
            </a:r>
            <a:r>
              <a:rPr lang="en-US" altLang="ko-KR" dirty="0">
                <a:latin typeface="나눔고딕" panose="020D0604000000000000" pitchFamily="50" charset="-127"/>
                <a:ea typeface="나눔고딕" panose="020D0604000000000000" pitchFamily="50" charset="-127"/>
              </a:rPr>
              <a:t> </a:t>
            </a:r>
          </a:p>
          <a:p>
            <a:pPr marL="444500" lvl="1">
              <a:lnSpc>
                <a:spcPct val="100000"/>
              </a:lnSpc>
            </a:pPr>
            <a:r>
              <a:rPr lang="ko-KR" altLang="en-US" dirty="0">
                <a:latin typeface="나눔고딕" panose="020D0604000000000000" pitchFamily="50" charset="-127"/>
                <a:ea typeface="나눔고딕" panose="020D0604000000000000" pitchFamily="50" charset="-127"/>
              </a:rPr>
              <a:t>인적자본 접근법</a:t>
            </a:r>
            <a:r>
              <a:rPr lang="en-US" altLang="ko-KR" dirty="0">
                <a:latin typeface="나눔고딕" panose="020D0604000000000000" pitchFamily="50" charset="-127"/>
                <a:ea typeface="나눔고딕" panose="020D0604000000000000" pitchFamily="50" charset="-127"/>
              </a:rPr>
              <a:t> </a:t>
            </a:r>
          </a:p>
          <a:p>
            <a:pPr marL="444500" lvl="1">
              <a:lnSpc>
                <a:spcPct val="100000"/>
              </a:lnSpc>
            </a:pPr>
            <a:r>
              <a:rPr lang="ko-KR" altLang="en-US" dirty="0">
                <a:latin typeface="나눔고딕" panose="020D0604000000000000" pitchFamily="50" charset="-127"/>
                <a:ea typeface="나눔고딕" panose="020D0604000000000000" pitchFamily="50" charset="-127"/>
              </a:rPr>
              <a:t>지불의사 접근법</a:t>
            </a:r>
            <a:endParaRPr lang="en-US" altLang="ko-KR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  <a:p>
            <a:pPr marL="266700" indent="-260350">
              <a:lnSpc>
                <a:spcPct val="100000"/>
              </a:lnSpc>
            </a:pPr>
            <a:endParaRPr lang="en-US" altLang="ko-KR" sz="500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  <a:p>
            <a:pPr marL="266700" indent="-260350">
              <a:lnSpc>
                <a:spcPct val="100000"/>
              </a:lnSpc>
            </a:pPr>
            <a:r>
              <a:rPr lang="ko-KR" altLang="en-US" b="1" dirty="0" err="1">
                <a:solidFill>
                  <a:schemeClr val="accent1">
                    <a:lumMod val="7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인적자본</a:t>
            </a:r>
            <a:r>
              <a:rPr lang="en-US" altLang="ko-KR" dirty="0">
                <a:solidFill>
                  <a:schemeClr val="accent1">
                    <a:lumMod val="7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(human capital) </a:t>
            </a:r>
            <a:r>
              <a:rPr lang="ko-KR" altLang="en-US" b="1" dirty="0">
                <a:solidFill>
                  <a:schemeClr val="accent1">
                    <a:lumMod val="7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접근법</a:t>
            </a:r>
            <a:endParaRPr lang="en-US" altLang="ko-KR" dirty="0">
              <a:solidFill>
                <a:schemeClr val="accent1">
                  <a:lumMod val="75000"/>
                </a:schemeClr>
              </a:solidFill>
              <a:latin typeface="나눔고딕" panose="020D0604000000000000" pitchFamily="50" charset="-127"/>
              <a:ea typeface="나눔고딕" panose="020D0604000000000000" pitchFamily="50" charset="-127"/>
            </a:endParaRPr>
          </a:p>
          <a:p>
            <a:pPr marL="444500" lvl="1">
              <a:lnSpc>
                <a:spcPct val="100000"/>
              </a:lnSpc>
            </a:pPr>
            <a:r>
              <a:rPr lang="ko-KR" altLang="en-US" dirty="0">
                <a:latin typeface="나눔고딕" panose="020D0604000000000000" pitchFamily="50" charset="-127"/>
                <a:ea typeface="나눔고딕" panose="020D0604000000000000" pitchFamily="50" charset="-127"/>
              </a:rPr>
              <a:t>어떤 사람의 죽음으로 인해 상실된 소득으로 평가하는 방법 </a:t>
            </a:r>
            <a:endParaRPr lang="en-US" altLang="ko-KR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  <a:p>
            <a:pPr marL="444500" lvl="1">
              <a:lnSpc>
                <a:spcPct val="100000"/>
              </a:lnSpc>
            </a:pPr>
            <a:r>
              <a:rPr lang="ko-KR" altLang="en-US" dirty="0">
                <a:latin typeface="나눔고딕" panose="020D0604000000000000" pitchFamily="50" charset="-127"/>
                <a:ea typeface="나눔고딕" panose="020D0604000000000000" pitchFamily="50" charset="-127"/>
              </a:rPr>
              <a:t>진정한 생명의 가치를 과소평가할 가능성</a:t>
            </a:r>
            <a:endParaRPr lang="en-US" altLang="ko-KR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  <a:p>
            <a:pPr marL="444500" lvl="1">
              <a:lnSpc>
                <a:spcPct val="100000"/>
              </a:lnSpc>
            </a:pPr>
            <a:r>
              <a:rPr lang="ko-KR" altLang="en-US" dirty="0">
                <a:latin typeface="나눔고딕" panose="020D0604000000000000" pitchFamily="50" charset="-127"/>
                <a:ea typeface="나눔고딕" panose="020D0604000000000000" pitchFamily="50" charset="-127"/>
              </a:rPr>
              <a:t>노동시장에 참여하지 않는 사람들의 생명의 가치를 측정할 때 문제</a:t>
            </a:r>
            <a:endParaRPr lang="en-US" altLang="ko-KR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altLang="ko-KR">
                <a:latin typeface="나눔고딕" panose="020D0604000000000000" pitchFamily="50" charset="-127"/>
                <a:ea typeface="나눔고딕" panose="020D0604000000000000" pitchFamily="50" charset="-127"/>
              </a:rPr>
              <a:t>PUBLIC FINANCE</a:t>
            </a:r>
            <a:endParaRPr lang="ko-KR" altLang="en-US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ko-KR" altLang="en-US">
                <a:latin typeface="나눔고딕" panose="020D0604000000000000" pitchFamily="50" charset="-127"/>
                <a:ea typeface="나눔고딕" panose="020D0604000000000000" pitchFamily="50" charset="-127"/>
              </a:rPr>
              <a:t>제</a:t>
            </a:r>
            <a:r>
              <a:rPr lang="en-US" altLang="ko-KR">
                <a:latin typeface="나눔고딕" panose="020D0604000000000000" pitchFamily="50" charset="-127"/>
                <a:ea typeface="나눔고딕" panose="020D0604000000000000" pitchFamily="50" charset="-127"/>
              </a:rPr>
              <a:t>12</a:t>
            </a:r>
            <a:r>
              <a:rPr lang="ko-KR" altLang="en-US">
                <a:latin typeface="나눔고딕" panose="020D0604000000000000" pitchFamily="50" charset="-127"/>
                <a:ea typeface="나눔고딕" panose="020D0604000000000000" pitchFamily="50" charset="-127"/>
              </a:rPr>
              <a:t>장  비용편익분석</a:t>
            </a:r>
            <a:endParaRPr lang="ko-KR" altLang="en-US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6CA9FF6-BF29-4679-8C21-AEBAF2895125}" type="slidenum">
              <a:rPr lang="ko-KR" altLang="en-US" smtClean="0">
                <a:latin typeface="나눔고딕" panose="020D0604000000000000" pitchFamily="50" charset="-127"/>
                <a:ea typeface="나눔고딕" panose="020D0604000000000000" pitchFamily="50" charset="-127"/>
              </a:rPr>
              <a:t>25</a:t>
            </a:fld>
            <a:endParaRPr lang="ko-KR" altLang="en-US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704058480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ko-KR" altLang="en-US" spc="-113" dirty="0">
                <a:latin typeface="나눔고딕" panose="020D0604000000000000" pitchFamily="50" charset="-127"/>
                <a:ea typeface="나눔고딕" panose="020D0604000000000000" pitchFamily="50" charset="-127"/>
              </a:rPr>
              <a:t>통계적 생명의 가치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>
          <a:xfrm>
            <a:off x="628649" y="1422400"/>
            <a:ext cx="7978455" cy="4754563"/>
          </a:xfrm>
        </p:spPr>
        <p:txBody>
          <a:bodyPr anchor="ctr">
            <a:noAutofit/>
          </a:bodyPr>
          <a:lstStyle/>
          <a:p>
            <a:pPr marL="266700" indent="-266700"/>
            <a:r>
              <a:rPr lang="ko-KR" altLang="en-US" b="1" dirty="0">
                <a:solidFill>
                  <a:schemeClr val="accent1">
                    <a:lumMod val="7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지불의사</a:t>
            </a:r>
            <a:r>
              <a:rPr lang="en-US" altLang="ko-KR" dirty="0">
                <a:solidFill>
                  <a:schemeClr val="accent1">
                    <a:lumMod val="7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(willingness-to-pay)</a:t>
            </a:r>
            <a:r>
              <a:rPr lang="ko-KR" altLang="en-US" b="1" dirty="0">
                <a:solidFill>
                  <a:schemeClr val="accent1">
                    <a:lumMod val="7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접근법</a:t>
            </a:r>
            <a:endParaRPr lang="en-US" altLang="ko-KR" b="1" dirty="0">
              <a:solidFill>
                <a:schemeClr val="accent1">
                  <a:lumMod val="75000"/>
                </a:schemeClr>
              </a:solidFill>
              <a:latin typeface="나눔고딕" panose="020D0604000000000000" pitchFamily="50" charset="-127"/>
              <a:ea typeface="나눔고딕" panose="020D0604000000000000" pitchFamily="50" charset="-127"/>
            </a:endParaRPr>
          </a:p>
          <a:p>
            <a:pPr marL="444500" lvl="1">
              <a:spcAft>
                <a:spcPts val="200"/>
              </a:spcAft>
            </a:pPr>
            <a:r>
              <a:rPr lang="ko-KR" altLang="en-US" dirty="0">
                <a:latin typeface="나눔고딕" panose="020D0604000000000000" pitchFamily="50" charset="-127"/>
                <a:ea typeface="나눔고딕" panose="020D0604000000000000" pitchFamily="50" charset="-127"/>
              </a:rPr>
              <a:t>사람들이 안정성의 증대를 위해 지불할 용의가 있는 금액을 측정해 생명의   가치를 평가하는 방법 </a:t>
            </a:r>
            <a:endParaRPr lang="en-US" altLang="ko-KR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  <a:p>
            <a:pPr marL="444500" lvl="1">
              <a:spcAft>
                <a:spcPts val="200"/>
              </a:spcAft>
            </a:pPr>
            <a:r>
              <a:rPr lang="ko-KR" altLang="en-US" dirty="0">
                <a:latin typeface="나눔고딕" panose="020D0604000000000000" pitchFamily="50" charset="-127"/>
                <a:ea typeface="나눔고딕" panose="020D0604000000000000" pitchFamily="50" charset="-127"/>
              </a:rPr>
              <a:t>설문조사를 통해 사람들의 지불의사를 직접적으로 묻는 방법은 사람들의      대답이 왜곡될 수 있다는 문제</a:t>
            </a:r>
            <a:endParaRPr lang="en-US" altLang="ko-KR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  <a:p>
            <a:pPr marL="444500" lvl="1"/>
            <a:r>
              <a:rPr lang="ko-KR" altLang="en-US" dirty="0">
                <a:latin typeface="나눔고딕" panose="020D0604000000000000" pitchFamily="50" charset="-127"/>
                <a:ea typeface="나눔고딕" panose="020D0604000000000000" pitchFamily="50" charset="-127"/>
              </a:rPr>
              <a:t>사람들의 현시된 선호</a:t>
            </a:r>
            <a:r>
              <a:rPr lang="en-US" altLang="ko-KR" dirty="0">
                <a:latin typeface="나눔고딕" panose="020D0604000000000000" pitchFamily="50" charset="-127"/>
                <a:ea typeface="나눔고딕" panose="020D0604000000000000" pitchFamily="50" charset="-127"/>
              </a:rPr>
              <a:t>(revealed preference)</a:t>
            </a:r>
            <a:r>
              <a:rPr lang="ko-KR" altLang="en-US" dirty="0">
                <a:latin typeface="나눔고딕" panose="020D0604000000000000" pitchFamily="50" charset="-127"/>
                <a:ea typeface="나눔고딕" panose="020D0604000000000000" pitchFamily="50" charset="-127"/>
              </a:rPr>
              <a:t>에 기초해 통계적 생명의 가치를 측정하는 방법이 많이 사용됨</a:t>
            </a:r>
            <a:endParaRPr lang="en-US" altLang="ko-KR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  <a:p>
            <a:pPr marL="736600" lvl="2" indent="-342900">
              <a:buFont typeface="나눔고딕" panose="020D0604000000000000" pitchFamily="50" charset="-127"/>
              <a:buChar char="·"/>
            </a:pPr>
            <a:r>
              <a:rPr lang="ko-KR" altLang="en-US" sz="17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화재경보기 구입</a:t>
            </a:r>
            <a:r>
              <a:rPr lang="en-US" altLang="ko-KR" sz="17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, </a:t>
            </a:r>
            <a:r>
              <a:rPr lang="ko-KR" altLang="en-US" sz="17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비싸지만 안전한 차량 구입</a:t>
            </a:r>
            <a:r>
              <a:rPr lang="en-US" altLang="ko-KR" sz="17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, </a:t>
            </a:r>
            <a:r>
              <a:rPr lang="ko-KR" altLang="en-US" sz="17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광부나 스턴트맨 등 위험성이   높은 직종의 사람들이 받는 보수 등을 통해 사람들이 사망확률을 변화시키기 위해 지불할 용의가 있는 금액을 추정 가능</a:t>
            </a:r>
            <a:endParaRPr lang="en-US" altLang="ko-KR" sz="1700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altLang="ko-KR">
                <a:latin typeface="나눔고딕" panose="020D0604000000000000" pitchFamily="50" charset="-127"/>
                <a:ea typeface="나눔고딕" panose="020D0604000000000000" pitchFamily="50" charset="-127"/>
              </a:rPr>
              <a:t>PUBLIC FINANCE</a:t>
            </a:r>
            <a:endParaRPr lang="ko-KR" altLang="en-US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ko-KR" altLang="en-US">
                <a:latin typeface="나눔고딕" panose="020D0604000000000000" pitchFamily="50" charset="-127"/>
                <a:ea typeface="나눔고딕" panose="020D0604000000000000" pitchFamily="50" charset="-127"/>
              </a:rPr>
              <a:t>제</a:t>
            </a:r>
            <a:r>
              <a:rPr lang="en-US" altLang="ko-KR">
                <a:latin typeface="나눔고딕" panose="020D0604000000000000" pitchFamily="50" charset="-127"/>
                <a:ea typeface="나눔고딕" panose="020D0604000000000000" pitchFamily="50" charset="-127"/>
              </a:rPr>
              <a:t>12</a:t>
            </a:r>
            <a:r>
              <a:rPr lang="ko-KR" altLang="en-US">
                <a:latin typeface="나눔고딕" panose="020D0604000000000000" pitchFamily="50" charset="-127"/>
                <a:ea typeface="나눔고딕" panose="020D0604000000000000" pitchFamily="50" charset="-127"/>
              </a:rPr>
              <a:t>장  비용편익분석</a:t>
            </a:r>
            <a:endParaRPr lang="ko-KR" altLang="en-US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6CA9FF6-BF29-4679-8C21-AEBAF2895125}" type="slidenum">
              <a:rPr lang="ko-KR" altLang="en-US" smtClean="0">
                <a:latin typeface="나눔고딕" panose="020D0604000000000000" pitchFamily="50" charset="-127"/>
                <a:ea typeface="나눔고딕" panose="020D0604000000000000" pitchFamily="50" charset="-127"/>
              </a:rPr>
              <a:t>26</a:t>
            </a:fld>
            <a:endParaRPr lang="ko-KR" altLang="en-US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72412847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ko-KR" altLang="en-US" spc="-113" dirty="0">
                <a:latin typeface="나눔고딕" panose="020D0604000000000000" pitchFamily="50" charset="-127"/>
                <a:ea typeface="나눔고딕" panose="020D0604000000000000" pitchFamily="50" charset="-127"/>
              </a:rPr>
              <a:t>통계적 생명의 가치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내용 개체 틀 2"/>
              <p:cNvSpPr>
                <a:spLocks noGrp="1"/>
              </p:cNvSpPr>
              <p:nvPr>
                <p:ph idx="1"/>
              </p:nvPr>
            </p:nvSpPr>
            <p:spPr>
              <a:xfrm>
                <a:off x="628650" y="1422400"/>
                <a:ext cx="8104289" cy="4754563"/>
              </a:xfrm>
            </p:spPr>
            <p:txBody>
              <a:bodyPr anchor="ctr">
                <a:noAutofit/>
              </a:bodyPr>
              <a:lstStyle/>
              <a:p>
                <a:pPr marL="266700" indent="-266700">
                  <a:lnSpc>
                    <a:spcPct val="120000"/>
                  </a:lnSpc>
                  <a:spcAft>
                    <a:spcPts val="400"/>
                  </a:spcAft>
                  <a:buFont typeface="Wingdings" panose="05000000000000000000" pitchFamily="2" charset="2"/>
                  <a:buChar char="§"/>
                </a:pPr>
                <a:r>
                  <a:rPr lang="ko-KR" altLang="en-US" dirty="0">
                    <a:latin typeface="나눔고딕" panose="020D0604000000000000" pitchFamily="50" charset="-127"/>
                    <a:ea typeface="나눔고딕" panose="020D0604000000000000" pitchFamily="50" charset="-127"/>
                  </a:rPr>
                  <a:t>현실에서는 보상임금격차를 통해 통계적 생명의 가치를 측정하는 방법이 가장 많이 사용됨</a:t>
                </a:r>
                <a:endParaRPr lang="en-US" altLang="ko-KR" dirty="0">
                  <a:latin typeface="나눔고딕" panose="020D0604000000000000" pitchFamily="50" charset="-127"/>
                  <a:ea typeface="나눔고딕" panose="020D0604000000000000" pitchFamily="50" charset="-127"/>
                </a:endParaRPr>
              </a:p>
              <a:p>
                <a:pPr marL="444500" lvl="1">
                  <a:lnSpc>
                    <a:spcPct val="120000"/>
                  </a:lnSpc>
                  <a:spcAft>
                    <a:spcPts val="400"/>
                  </a:spcAft>
                </a:pPr>
                <a:r>
                  <a:rPr lang="ko-KR" altLang="en-US" dirty="0">
                    <a:latin typeface="나눔고딕" panose="020D0604000000000000" pitchFamily="50" charset="-127"/>
                    <a:ea typeface="나눔고딕" panose="020D0604000000000000" pitchFamily="50" charset="-127"/>
                  </a:rPr>
                  <a:t>사망의 확률이 높은 직종에 더 많은 임금을 지급하는 것이 보통인데</a:t>
                </a:r>
                <a:r>
                  <a:rPr lang="en-US" altLang="ko-KR" dirty="0">
                    <a:latin typeface="나눔고딕" panose="020D0604000000000000" pitchFamily="50" charset="-127"/>
                    <a:ea typeface="나눔고딕" panose="020D0604000000000000" pitchFamily="50" charset="-127"/>
                  </a:rPr>
                  <a:t>, </a:t>
                </a:r>
                <a:r>
                  <a:rPr lang="ko-KR" altLang="en-US" dirty="0">
                    <a:latin typeface="나눔고딕" panose="020D0604000000000000" pitchFamily="50" charset="-127"/>
                    <a:ea typeface="나눔고딕" panose="020D0604000000000000" pitchFamily="50" charset="-127"/>
                  </a:rPr>
                  <a:t>그 추가적 임금이 </a:t>
                </a:r>
                <a:r>
                  <a:rPr lang="ko-KR" altLang="en-US" b="1" dirty="0">
                    <a:solidFill>
                      <a:schemeClr val="accent1">
                        <a:lumMod val="75000"/>
                      </a:schemeClr>
                    </a:solidFill>
                    <a:latin typeface="나눔고딕" panose="020D0604000000000000" pitchFamily="50" charset="-127"/>
                    <a:ea typeface="나눔고딕" panose="020D0604000000000000" pitchFamily="50" charset="-127"/>
                  </a:rPr>
                  <a:t>보상임금격차</a:t>
                </a:r>
                <a:r>
                  <a:rPr lang="en-US" altLang="ko-KR" dirty="0">
                    <a:solidFill>
                      <a:schemeClr val="accent1">
                        <a:lumMod val="75000"/>
                      </a:schemeClr>
                    </a:solidFill>
                    <a:latin typeface="나눔고딕" panose="020D0604000000000000" pitchFamily="50" charset="-127"/>
                    <a:ea typeface="나눔고딕" panose="020D0604000000000000" pitchFamily="50" charset="-127"/>
                  </a:rPr>
                  <a:t>(compensating wage differential)</a:t>
                </a:r>
                <a:endParaRPr lang="en-US" altLang="ko-KR" dirty="0">
                  <a:latin typeface="나눔고딕" panose="020D0604000000000000" pitchFamily="50" charset="-127"/>
                  <a:ea typeface="나눔고딕" panose="020D0604000000000000" pitchFamily="50" charset="-127"/>
                </a:endParaRPr>
              </a:p>
              <a:p>
                <a:pPr marL="444500" lvl="1">
                  <a:lnSpc>
                    <a:spcPct val="120000"/>
                  </a:lnSpc>
                  <a:spcAft>
                    <a:spcPts val="400"/>
                  </a:spcAft>
                  <a:tabLst>
                    <a:tab pos="1887538" algn="l"/>
                  </a:tabLst>
                </a:pPr>
                <a:r>
                  <a:rPr lang="ko-KR" altLang="en-US" dirty="0">
                    <a:latin typeface="나눔고딕" panose="020D0604000000000000" pitchFamily="50" charset="-127"/>
                    <a:ea typeface="나눔고딕" panose="020D0604000000000000" pitchFamily="50" charset="-127"/>
                  </a:rPr>
                  <a:t>임금 추정식 </a:t>
                </a:r>
                <a:r>
                  <a:rPr lang="en-US" altLang="ko-KR" dirty="0">
                    <a:latin typeface="나눔고딕" panose="020D0604000000000000" pitchFamily="50" charset="-127"/>
                    <a:ea typeface="나눔고딕" panose="020D0604000000000000" pitchFamily="50" charset="-127"/>
                  </a:rPr>
                  <a:t>:  </a:t>
                </a:r>
                <a14:m>
                  <m:oMath xmlns:m="http://schemas.openxmlformats.org/officeDocument/2006/math">
                    <m:r>
                      <a:rPr lang="en-US" altLang="ko-KR" b="1" i="1">
                        <a:latin typeface="Cambria Math" panose="02040503050406030204" pitchFamily="18" charset="0"/>
                      </a:rPr>
                      <m:t>𝒘</m:t>
                    </m:r>
                    <m:r>
                      <a:rPr lang="en-US" altLang="ko-KR" b="1" i="1">
                        <a:latin typeface="Cambria Math" panose="02040503050406030204" pitchFamily="18" charset="0"/>
                      </a:rPr>
                      <m:t>=</m:t>
                    </m:r>
                    <m:r>
                      <a:rPr lang="ko-KR" altLang="en-US" b="1" i="1">
                        <a:latin typeface="Cambria Math" panose="02040503050406030204" pitchFamily="18" charset="0"/>
                      </a:rPr>
                      <m:t>𝜶</m:t>
                    </m:r>
                    <m:r>
                      <a:rPr lang="en-US" altLang="ko-KR" b="1" i="1">
                        <a:latin typeface="Cambria Math" panose="02040503050406030204" pitchFamily="18" charset="0"/>
                      </a:rPr>
                      <m:t>+</m:t>
                    </m:r>
                    <m:r>
                      <a:rPr lang="ko-KR" altLang="en-US" b="1" i="1">
                        <a:latin typeface="Cambria Math" panose="02040503050406030204" pitchFamily="18" charset="0"/>
                      </a:rPr>
                      <m:t>𝜷</m:t>
                    </m:r>
                    <m:r>
                      <a:rPr lang="en-US" altLang="ko-KR" b="1" i="1">
                        <a:latin typeface="Cambria Math" panose="02040503050406030204" pitchFamily="18" charset="0"/>
                      </a:rPr>
                      <m:t>𝒌</m:t>
                    </m:r>
                    <m:r>
                      <a:rPr lang="en-US" altLang="ko-KR" b="1" i="1">
                        <a:latin typeface="Cambria Math" panose="02040503050406030204" pitchFamily="18" charset="0"/>
                      </a:rPr>
                      <m:t>+</m:t>
                    </m:r>
                    <m:nary>
                      <m:naryPr>
                        <m:chr m:val="∑"/>
                        <m:ctrlPr>
                          <a:rPr lang="en-US" altLang="ko-KR" i="1"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>
                          <m:rPr>
                            <m:brk m:alnAt="23"/>
                          </m:rPr>
                          <a:rPr lang="en-US" altLang="ko-KR" b="1" i="1">
                            <a:latin typeface="Cambria Math" panose="02040503050406030204" pitchFamily="18" charset="0"/>
                          </a:rPr>
                          <m:t>𝒊</m:t>
                        </m:r>
                        <m:r>
                          <a:rPr lang="en-US" altLang="ko-KR" b="1" i="1">
                            <a:latin typeface="Cambria Math" panose="02040503050406030204" pitchFamily="18" charset="0"/>
                          </a:rPr>
                          <m:t>=</m:t>
                        </m:r>
                        <m:r>
                          <a:rPr lang="en-US" altLang="ko-KR" b="1" i="1">
                            <a:latin typeface="Cambria Math" panose="02040503050406030204" pitchFamily="18" charset="0"/>
                          </a:rPr>
                          <m:t>𝟏</m:t>
                        </m:r>
                      </m:sub>
                      <m:sup>
                        <m:r>
                          <a:rPr lang="en-US" altLang="ko-KR" b="1" i="1">
                            <a:latin typeface="Cambria Math" panose="02040503050406030204" pitchFamily="18" charset="0"/>
                          </a:rPr>
                          <m:t>𝒏</m:t>
                        </m:r>
                      </m:sup>
                      <m:e>
                        <m:sSub>
                          <m:sSubPr>
                            <m:ctrlPr>
                              <a:rPr lang="en-US" altLang="ko-KR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ko-KR" altLang="en-US" b="1" i="1">
                                <a:latin typeface="Cambria Math" panose="02040503050406030204" pitchFamily="18" charset="0"/>
                              </a:rPr>
                              <m:t>𝝀</m:t>
                            </m:r>
                          </m:e>
                          <m:sub>
                            <m:r>
                              <a:rPr lang="en-US" altLang="ko-KR" b="1" i="1">
                                <a:latin typeface="Cambria Math" panose="02040503050406030204" pitchFamily="18" charset="0"/>
                              </a:rPr>
                              <m:t>𝒊</m:t>
                            </m:r>
                          </m:sub>
                        </m:sSub>
                        <m:sSub>
                          <m:sSubPr>
                            <m:ctrlPr>
                              <a:rPr lang="en-US" altLang="ko-KR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ko-KR" b="1" i="1">
                                <a:latin typeface="Cambria Math" panose="02040503050406030204" pitchFamily="18" charset="0"/>
                              </a:rPr>
                              <m:t>𝑿</m:t>
                            </m:r>
                          </m:e>
                          <m:sub>
                            <m:r>
                              <a:rPr lang="en-US" altLang="ko-KR" b="1" i="1">
                                <a:latin typeface="Cambria Math" panose="02040503050406030204" pitchFamily="18" charset="0"/>
                              </a:rPr>
                              <m:t>𝒊</m:t>
                            </m:r>
                          </m:sub>
                        </m:sSub>
                      </m:e>
                    </m:nary>
                    <m:r>
                      <a:rPr lang="en-US" altLang="ko-KR" b="1" i="1">
                        <a:latin typeface="Cambria Math" panose="02040503050406030204" pitchFamily="18" charset="0"/>
                      </a:rPr>
                      <m:t>+</m:t>
                    </m:r>
                    <m:r>
                      <a:rPr lang="ko-KR" altLang="en-US" b="1" i="1">
                        <a:latin typeface="Cambria Math" panose="02040503050406030204" pitchFamily="18" charset="0"/>
                      </a:rPr>
                      <m:t>𝝐</m:t>
                    </m:r>
                  </m:oMath>
                </a14:m>
                <a:br>
                  <a:rPr lang="en-US" altLang="ko-KR" sz="1800" dirty="0">
                    <a:latin typeface="나눔고딕" panose="020D0604000000000000" pitchFamily="50" charset="-127"/>
                    <a:ea typeface="나눔고딕" panose="020D0604000000000000" pitchFamily="50" charset="-127"/>
                  </a:rPr>
                </a:br>
                <a:r>
                  <a:rPr lang="en-US" altLang="ko-KR" sz="1000" dirty="0">
                    <a:latin typeface="나눔고딕" panose="020D0604000000000000" pitchFamily="50" charset="-127"/>
                    <a:ea typeface="나눔고딕" panose="020D0604000000000000" pitchFamily="50" charset="-127"/>
                  </a:rPr>
                  <a:t> </a:t>
                </a:r>
                <a:br>
                  <a:rPr lang="en-US" altLang="ko-KR" sz="1800" dirty="0">
                    <a:latin typeface="나눔고딕" panose="020D0604000000000000" pitchFamily="50" charset="-127"/>
                    <a:ea typeface="나눔고딕" panose="020D0604000000000000" pitchFamily="50" charset="-127"/>
                  </a:rPr>
                </a:br>
                <a:r>
                  <a:rPr lang="en-US" altLang="ko-KR" sz="1800" dirty="0">
                    <a:latin typeface="나눔고딕" panose="020D0604000000000000" pitchFamily="50" charset="-127"/>
                    <a:ea typeface="나눔고딕" panose="020D0604000000000000" pitchFamily="50" charset="-127"/>
                  </a:rPr>
                  <a:t>     </a:t>
                </a:r>
                <a14:m>
                  <m:oMath xmlns:m="http://schemas.openxmlformats.org/officeDocument/2006/math">
                    <m:r>
                      <a:rPr lang="en-US" altLang="ko-KR" sz="1800" b="1" i="1" smtClean="0">
                        <a:latin typeface="Cambria Math" panose="02040503050406030204" pitchFamily="18" charset="0"/>
                      </a:rPr>
                      <m:t> </m:t>
                    </m:r>
                    <m:r>
                      <a:rPr lang="en-US" altLang="ko-KR" b="1" i="1">
                        <a:latin typeface="Cambria Math" panose="02040503050406030204" pitchFamily="18" charset="0"/>
                      </a:rPr>
                      <m:t>𝒘</m:t>
                    </m:r>
                    <m:r>
                      <a:rPr lang="en-US" altLang="ko-KR" b="1" i="1" smtClean="0"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en-US" altLang="ko-KR" dirty="0">
                    <a:latin typeface="나눔고딕" panose="020D0604000000000000" pitchFamily="50" charset="-127"/>
                    <a:ea typeface="나눔고딕" panose="020D0604000000000000" pitchFamily="50" charset="-127"/>
                  </a:rPr>
                  <a:t> : </a:t>
                </a:r>
                <a:r>
                  <a:rPr lang="ko-KR" altLang="en-US" dirty="0">
                    <a:latin typeface="나눔고딕" panose="020D0604000000000000" pitchFamily="50" charset="-127"/>
                    <a:ea typeface="나눔고딕" panose="020D0604000000000000" pitchFamily="50" charset="-127"/>
                  </a:rPr>
                  <a:t>임금률</a:t>
                </a:r>
                <a:r>
                  <a:rPr lang="en-US" altLang="ko-KR" dirty="0">
                    <a:latin typeface="나눔고딕" panose="020D0604000000000000" pitchFamily="50" charset="-127"/>
                    <a:ea typeface="나눔고딕" panose="020D0604000000000000" pitchFamily="50" charset="-127"/>
                  </a:rPr>
                  <a:t>,          </a:t>
                </a:r>
                <a14:m>
                  <m:oMath xmlns:m="http://schemas.openxmlformats.org/officeDocument/2006/math">
                    <m:r>
                      <a:rPr lang="en-US" altLang="ko-KR" b="1" i="1">
                        <a:latin typeface="Cambria Math" panose="02040503050406030204" pitchFamily="18" charset="0"/>
                      </a:rPr>
                      <m:t>𝒌</m:t>
                    </m:r>
                    <m:r>
                      <a:rPr lang="en-US" altLang="ko-KR" b="1" i="1" smtClean="0"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en-US" altLang="ko-KR" dirty="0">
                    <a:latin typeface="나눔고딕" panose="020D0604000000000000" pitchFamily="50" charset="-127"/>
                    <a:ea typeface="나눔고딕" panose="020D0604000000000000" pitchFamily="50" charset="-127"/>
                  </a:rPr>
                  <a:t>: </a:t>
                </a:r>
                <a:r>
                  <a:rPr lang="ko-KR" altLang="en-US" dirty="0">
                    <a:latin typeface="나눔고딕" panose="020D0604000000000000" pitchFamily="50" charset="-127"/>
                    <a:ea typeface="나눔고딕" panose="020D0604000000000000" pitchFamily="50" charset="-127"/>
                  </a:rPr>
                  <a:t>직종과 관련된 사망 위험</a:t>
                </a:r>
                <a:br>
                  <a:rPr lang="en-US" altLang="ko-KR" dirty="0">
                    <a:latin typeface="나눔고딕" panose="020D0604000000000000" pitchFamily="50" charset="-127"/>
                    <a:ea typeface="나눔고딕" panose="020D0604000000000000" pitchFamily="50" charset="-127"/>
                  </a:rPr>
                </a:br>
                <a:r>
                  <a:rPr lang="en-US" altLang="ko-KR" dirty="0">
                    <a:latin typeface="나눔고딕" panose="020D0604000000000000" pitchFamily="50" charset="-127"/>
                    <a:ea typeface="나눔고딕" panose="020D0604000000000000" pitchFamily="50" charset="-127"/>
                  </a:rPr>
                  <a:t>    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ko-KR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ko-KR" b="1" i="1">
                            <a:latin typeface="Cambria Math" panose="02040503050406030204" pitchFamily="18" charset="0"/>
                          </a:rPr>
                          <m:t>𝑿</m:t>
                        </m:r>
                      </m:e>
                      <m:sub>
                        <m:r>
                          <a:rPr lang="en-US" altLang="ko-KR" b="1" i="1">
                            <a:latin typeface="Cambria Math" panose="02040503050406030204" pitchFamily="18" charset="0"/>
                          </a:rPr>
                          <m:t>𝒊</m:t>
                        </m:r>
                      </m:sub>
                    </m:sSub>
                  </m:oMath>
                </a14:m>
                <a:r>
                  <a:rPr lang="en-US" altLang="ko-KR" dirty="0">
                    <a:latin typeface="나눔고딕" panose="020D0604000000000000" pitchFamily="50" charset="-127"/>
                    <a:ea typeface="나눔고딕" panose="020D0604000000000000" pitchFamily="50" charset="-127"/>
                  </a:rPr>
                  <a:t> : </a:t>
                </a:r>
                <a:r>
                  <a:rPr lang="ko-KR" altLang="en-US" dirty="0">
                    <a:latin typeface="나눔고딕" panose="020D0604000000000000" pitchFamily="50" charset="-127"/>
                    <a:ea typeface="나눔고딕" panose="020D0604000000000000" pitchFamily="50" charset="-127"/>
                  </a:rPr>
                  <a:t>임금에 영향을 주는 위험 이외의 다른 요소</a:t>
                </a:r>
                <a:endParaRPr lang="en-US" altLang="ko-KR" dirty="0">
                  <a:latin typeface="나눔고딕" panose="020D0604000000000000" pitchFamily="50" charset="-127"/>
                  <a:ea typeface="나눔고딕" panose="020D0604000000000000" pitchFamily="50" charset="-127"/>
                </a:endParaRPr>
              </a:p>
              <a:p>
                <a:pPr marL="444500" lvl="1">
                  <a:lnSpc>
                    <a:spcPct val="120000"/>
                  </a:lnSpc>
                  <a:spcAft>
                    <a:spcPts val="400"/>
                  </a:spcAft>
                </a:pPr>
                <a:endParaRPr lang="en-US" altLang="ko-KR" sz="100" dirty="0">
                  <a:latin typeface="나눔고딕" panose="020D0604000000000000" pitchFamily="50" charset="-127"/>
                  <a:ea typeface="나눔고딕" panose="020D0604000000000000" pitchFamily="50" charset="-127"/>
                </a:endParaRPr>
              </a:p>
              <a:p>
                <a:pPr marL="444500" lvl="1">
                  <a:lnSpc>
                    <a:spcPct val="120000"/>
                  </a:lnSpc>
                  <a:spcAft>
                    <a:spcPts val="400"/>
                  </a:spcAft>
                </a:pPr>
                <a:r>
                  <a:rPr lang="ko-KR" altLang="en-US" dirty="0">
                    <a:latin typeface="나눔고딕" panose="020D0604000000000000" pitchFamily="50" charset="-127"/>
                    <a:ea typeface="나눔고딕" panose="020D0604000000000000" pitchFamily="50" charset="-127"/>
                  </a:rPr>
                  <a:t>임금 </a:t>
                </a:r>
                <a:r>
                  <a:rPr lang="ko-KR" altLang="en-US" dirty="0" err="1">
                    <a:latin typeface="나눔고딕" panose="020D0604000000000000" pitchFamily="50" charset="-127"/>
                    <a:ea typeface="나눔고딕" panose="020D0604000000000000" pitchFamily="50" charset="-127"/>
                  </a:rPr>
                  <a:t>추정식의</a:t>
                </a:r>
                <a:r>
                  <a:rPr lang="ko-KR" altLang="en-US" dirty="0">
                    <a:latin typeface="나눔고딕" panose="020D0604000000000000" pitchFamily="50" charset="-127"/>
                    <a:ea typeface="나눔고딕" panose="020D0604000000000000" pitchFamily="50" charset="-127"/>
                  </a:rPr>
                  <a:t> 계수 </a:t>
                </a:r>
                <a14:m>
                  <m:oMath xmlns:m="http://schemas.openxmlformats.org/officeDocument/2006/math">
                    <m:r>
                      <a:rPr lang="ko-KR" altLang="en-US" b="1" i="1">
                        <a:latin typeface="Cambria Math" panose="02040503050406030204" pitchFamily="18" charset="0"/>
                      </a:rPr>
                      <m:t>𝜷</m:t>
                    </m:r>
                  </m:oMath>
                </a14:m>
                <a:r>
                  <a:rPr lang="ko-KR" altLang="en-US" dirty="0">
                    <a:latin typeface="나눔고딕" panose="020D0604000000000000" pitchFamily="50" charset="-127"/>
                    <a:ea typeface="나눔고딕" panose="020D0604000000000000" pitchFamily="50" charset="-127"/>
                  </a:rPr>
                  <a:t>의 값이 보상임금격차와 밀접한 관련을 갖고 있으며</a:t>
                </a:r>
                <a:r>
                  <a:rPr lang="en-US" altLang="ko-KR" dirty="0">
                    <a:latin typeface="나눔고딕" panose="020D0604000000000000" pitchFamily="50" charset="-127"/>
                    <a:ea typeface="나눔고딕" panose="020D0604000000000000" pitchFamily="50" charset="-127"/>
                  </a:rPr>
                  <a:t> </a:t>
                </a:r>
                <a:r>
                  <a:rPr lang="ko-KR" altLang="en-US" dirty="0">
                    <a:latin typeface="나눔고딕" panose="020D0604000000000000" pitchFamily="50" charset="-127"/>
                    <a:ea typeface="나눔고딕" panose="020D0604000000000000" pitchFamily="50" charset="-127"/>
                  </a:rPr>
                  <a:t>이를 통해 통계적 생명의 가치를 측정할 수 있음</a:t>
                </a:r>
                <a:endParaRPr lang="en-US" altLang="ko-KR" dirty="0">
                  <a:latin typeface="나눔고딕" panose="020D0604000000000000" pitchFamily="50" charset="-127"/>
                  <a:ea typeface="나눔고딕" panose="020D0604000000000000" pitchFamily="50" charset="-127"/>
                </a:endParaRPr>
              </a:p>
              <a:p>
                <a:pPr marL="444500" lvl="1">
                  <a:lnSpc>
                    <a:spcPct val="120000"/>
                  </a:lnSpc>
                  <a:spcAft>
                    <a:spcPts val="400"/>
                  </a:spcAft>
                </a:pPr>
                <a:r>
                  <a:rPr lang="ko-KR" altLang="en-US" dirty="0">
                    <a:latin typeface="나눔고딕" panose="020D0604000000000000" pitchFamily="50" charset="-127"/>
                    <a:ea typeface="나눔고딕" panose="020D0604000000000000" pitchFamily="50" charset="-127"/>
                  </a:rPr>
                  <a:t>사람들이 직업을 선택할 때 위험에 대해 잘 모르거나 이를 무시하려는 경향이 있기 때문에 생명의 가치를 과소평가할 가능성 있음</a:t>
                </a:r>
                <a:endParaRPr lang="en-US" altLang="ko-KR" dirty="0">
                  <a:latin typeface="나눔고딕" panose="020D0604000000000000" pitchFamily="50" charset="-127"/>
                  <a:ea typeface="나눔고딕" panose="020D0604000000000000" pitchFamily="50" charset="-127"/>
                </a:endParaRPr>
              </a:p>
            </p:txBody>
          </p:sp>
        </mc:Choice>
        <mc:Fallback>
          <p:sp>
            <p:nvSpPr>
              <p:cNvPr id="3" name="내용 개체 틀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628650" y="1422400"/>
                <a:ext cx="8104289" cy="4754563"/>
              </a:xfrm>
              <a:blipFill>
                <a:blip r:embed="rId2"/>
                <a:stretch>
                  <a:fillRect l="-677" r="-677"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altLang="ko-KR">
                <a:latin typeface="나눔고딕" panose="020D0604000000000000" pitchFamily="50" charset="-127"/>
                <a:ea typeface="나눔고딕" panose="020D0604000000000000" pitchFamily="50" charset="-127"/>
              </a:rPr>
              <a:t>PUBLIC FINANCE</a:t>
            </a:r>
            <a:endParaRPr lang="ko-KR" altLang="en-US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ko-KR" altLang="en-US">
                <a:latin typeface="나눔고딕" panose="020D0604000000000000" pitchFamily="50" charset="-127"/>
                <a:ea typeface="나눔고딕" panose="020D0604000000000000" pitchFamily="50" charset="-127"/>
              </a:rPr>
              <a:t>제</a:t>
            </a:r>
            <a:r>
              <a:rPr lang="en-US" altLang="ko-KR">
                <a:latin typeface="나눔고딕" panose="020D0604000000000000" pitchFamily="50" charset="-127"/>
                <a:ea typeface="나눔고딕" panose="020D0604000000000000" pitchFamily="50" charset="-127"/>
              </a:rPr>
              <a:t>12</a:t>
            </a:r>
            <a:r>
              <a:rPr lang="ko-KR" altLang="en-US">
                <a:latin typeface="나눔고딕" panose="020D0604000000000000" pitchFamily="50" charset="-127"/>
                <a:ea typeface="나눔고딕" panose="020D0604000000000000" pitchFamily="50" charset="-127"/>
              </a:rPr>
              <a:t>장  비용편익분석</a:t>
            </a:r>
            <a:endParaRPr lang="ko-KR" altLang="en-US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6CA9FF6-BF29-4679-8C21-AEBAF2895125}" type="slidenum">
              <a:rPr lang="ko-KR" altLang="en-US" smtClean="0">
                <a:latin typeface="나눔고딕" panose="020D0604000000000000" pitchFamily="50" charset="-127"/>
                <a:ea typeface="나눔고딕" panose="020D0604000000000000" pitchFamily="50" charset="-127"/>
              </a:rPr>
              <a:t>27</a:t>
            </a:fld>
            <a:endParaRPr lang="ko-KR" altLang="en-US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2588608872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ko-KR" altLang="en-US" spc="-113" dirty="0">
                <a:latin typeface="나눔고딕" panose="020D0604000000000000" pitchFamily="50" charset="-127"/>
                <a:ea typeface="나눔고딕" panose="020D0604000000000000" pitchFamily="50" charset="-127"/>
              </a:rPr>
              <a:t>통계적 생명의 가치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 anchor="ctr">
            <a:noAutofit/>
          </a:bodyPr>
          <a:lstStyle/>
          <a:p>
            <a:pPr marL="266700" indent="-266700">
              <a:lnSpc>
                <a:spcPct val="100000"/>
              </a:lnSpc>
              <a:buFont typeface="Wingdings" panose="05000000000000000000" pitchFamily="2" charset="2"/>
              <a:buChar char="§"/>
            </a:pPr>
            <a:r>
              <a:rPr lang="ko-KR" altLang="en-US" dirty="0">
                <a:latin typeface="나눔고딕" panose="020D0604000000000000" pitchFamily="50" charset="-127"/>
                <a:ea typeface="나눔고딕" panose="020D0604000000000000" pitchFamily="50" charset="-127"/>
              </a:rPr>
              <a:t>측정 방법에 따라 통계적 생명의 가치가 달라지며</a:t>
            </a:r>
            <a:r>
              <a:rPr lang="en-US" altLang="ko-KR" dirty="0">
                <a:latin typeface="나눔고딕" panose="020D0604000000000000" pitchFamily="50" charset="-127"/>
                <a:ea typeface="나눔고딕" panose="020D0604000000000000" pitchFamily="50" charset="-127"/>
              </a:rPr>
              <a:t>, </a:t>
            </a:r>
            <a:r>
              <a:rPr lang="ko-KR" altLang="en-US" dirty="0">
                <a:latin typeface="나눔고딕" panose="020D0604000000000000" pitchFamily="50" charset="-127"/>
                <a:ea typeface="나눔고딕" panose="020D0604000000000000" pitchFamily="50" charset="-127"/>
              </a:rPr>
              <a:t>인적자본 접근법보다 지불의사 접근법에 의해 평가된 통계적 생명의 가치가 더 높은 경향</a:t>
            </a:r>
            <a:endParaRPr lang="en-US" altLang="ko-KR" sz="1800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  <a:p>
            <a:pPr marL="0" indent="0">
              <a:lnSpc>
                <a:spcPct val="100000"/>
              </a:lnSpc>
              <a:buNone/>
            </a:pPr>
            <a:endParaRPr lang="en-US" altLang="ko-KR" sz="1800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  <a:p>
            <a:pPr marL="0" indent="0">
              <a:lnSpc>
                <a:spcPct val="100000"/>
              </a:lnSpc>
              <a:buNone/>
            </a:pPr>
            <a:endParaRPr lang="en-US" altLang="ko-KR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  <a:p>
            <a:pPr marL="0" indent="0">
              <a:lnSpc>
                <a:spcPct val="100000"/>
              </a:lnSpc>
              <a:buNone/>
            </a:pPr>
            <a:endParaRPr lang="en-US" altLang="ko-KR" sz="1800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  <a:p>
            <a:pPr marL="0" indent="0">
              <a:lnSpc>
                <a:spcPct val="100000"/>
              </a:lnSpc>
              <a:buNone/>
            </a:pPr>
            <a:endParaRPr lang="en-US" altLang="ko-KR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  <a:p>
            <a:pPr marL="0" indent="0">
              <a:lnSpc>
                <a:spcPct val="100000"/>
              </a:lnSpc>
              <a:buNone/>
            </a:pPr>
            <a:endParaRPr lang="en-US" altLang="ko-KR" sz="1800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  <a:p>
            <a:pPr marL="0" indent="0">
              <a:lnSpc>
                <a:spcPct val="100000"/>
              </a:lnSpc>
              <a:buNone/>
            </a:pPr>
            <a:endParaRPr lang="en-US" altLang="ko-KR" sz="1800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  <a:p>
            <a:pPr>
              <a:lnSpc>
                <a:spcPct val="100000"/>
              </a:lnSpc>
              <a:buFont typeface="Wingdings" panose="05000000000000000000" pitchFamily="2" charset="2"/>
              <a:buChar char="§"/>
            </a:pPr>
            <a:endParaRPr lang="en-US" altLang="ko-KR" sz="1800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  <a:p>
            <a:pPr>
              <a:lnSpc>
                <a:spcPct val="100000"/>
              </a:lnSpc>
              <a:buFont typeface="Wingdings" panose="05000000000000000000" pitchFamily="2" charset="2"/>
              <a:buChar char="§"/>
            </a:pPr>
            <a:endParaRPr lang="en-US" altLang="ko-KR" sz="1800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altLang="ko-KR">
                <a:latin typeface="나눔고딕" panose="020D0604000000000000" pitchFamily="50" charset="-127"/>
                <a:ea typeface="나눔고딕" panose="020D0604000000000000" pitchFamily="50" charset="-127"/>
              </a:rPr>
              <a:t>PUBLIC FINANCE</a:t>
            </a:r>
            <a:endParaRPr lang="ko-KR" altLang="en-US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ko-KR" altLang="en-US">
                <a:latin typeface="나눔고딕" panose="020D0604000000000000" pitchFamily="50" charset="-127"/>
                <a:ea typeface="나눔고딕" panose="020D0604000000000000" pitchFamily="50" charset="-127"/>
              </a:rPr>
              <a:t>제</a:t>
            </a:r>
            <a:r>
              <a:rPr lang="en-US" altLang="ko-KR">
                <a:latin typeface="나눔고딕" panose="020D0604000000000000" pitchFamily="50" charset="-127"/>
                <a:ea typeface="나눔고딕" panose="020D0604000000000000" pitchFamily="50" charset="-127"/>
              </a:rPr>
              <a:t>12</a:t>
            </a:r>
            <a:r>
              <a:rPr lang="ko-KR" altLang="en-US">
                <a:latin typeface="나눔고딕" panose="020D0604000000000000" pitchFamily="50" charset="-127"/>
                <a:ea typeface="나눔고딕" panose="020D0604000000000000" pitchFamily="50" charset="-127"/>
              </a:rPr>
              <a:t>장  비용편익분석</a:t>
            </a:r>
            <a:endParaRPr lang="ko-KR" altLang="en-US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6CA9FF6-BF29-4679-8C21-AEBAF2895125}" type="slidenum">
              <a:rPr lang="ko-KR" altLang="en-US" smtClean="0">
                <a:latin typeface="나눔고딕" panose="020D0604000000000000" pitchFamily="50" charset="-127"/>
                <a:ea typeface="나눔고딕" panose="020D0604000000000000" pitchFamily="50" charset="-127"/>
              </a:rPr>
              <a:t>28</a:t>
            </a:fld>
            <a:endParaRPr lang="ko-KR" altLang="en-US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pic>
        <p:nvPicPr>
          <p:cNvPr id="8" name="그림 7" descr="테이블이(가) 표시된 사진&#10;&#10;자동 생성된 설명">
            <a:extLst>
              <a:ext uri="{FF2B5EF4-FFF2-40B4-BE49-F238E27FC236}">
                <a16:creationId xmlns:a16="http://schemas.microsoft.com/office/drawing/2014/main" id="{D4BE0BF1-8A3B-4B94-9EA0-34B49434B17D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323437" y="2428135"/>
            <a:ext cx="6497125" cy="383852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91994806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ko-KR" altLang="en-US" spc="-113" dirty="0">
                <a:latin typeface="나눔고딕" panose="020D0604000000000000" pitchFamily="50" charset="-127"/>
                <a:ea typeface="나눔고딕" panose="020D0604000000000000" pitchFamily="50" charset="-127"/>
              </a:rPr>
              <a:t>의도적 왜곡평가의 문제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 anchor="ctr">
            <a:noAutofit/>
          </a:bodyPr>
          <a:lstStyle/>
          <a:p>
            <a:pPr marL="266700" indent="-266700">
              <a:lnSpc>
                <a:spcPct val="110000"/>
              </a:lnSpc>
              <a:buFont typeface="Wingdings" panose="05000000000000000000" pitchFamily="2" charset="2"/>
              <a:buChar char="§"/>
            </a:pPr>
            <a:r>
              <a:rPr lang="ko-KR" altLang="en-US" dirty="0">
                <a:latin typeface="나눔고딕" panose="020D0604000000000000" pitchFamily="50" charset="-127"/>
                <a:ea typeface="나눔고딕" panose="020D0604000000000000" pitchFamily="50" charset="-127"/>
              </a:rPr>
              <a:t>어떤 공공사업을 추진하고 있는 사람들은 이로 인한 부차적 편익을   강조해 더욱 바람직한 프로그램으로 보이게 만들려는 경향을 가짐</a:t>
            </a:r>
            <a:endParaRPr lang="en-US" altLang="ko-KR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  <a:p>
            <a:pPr marL="615950" lvl="1" indent="-342900">
              <a:lnSpc>
                <a:spcPct val="110000"/>
              </a:lnSpc>
            </a:pPr>
            <a:r>
              <a:rPr lang="ko-KR" altLang="en-US" dirty="0">
                <a:latin typeface="나눔고딕" panose="020D0604000000000000" pitchFamily="50" charset="-127"/>
                <a:ea typeface="나눔고딕" panose="020D0604000000000000" pitchFamily="50" charset="-127"/>
              </a:rPr>
              <a:t>예 </a:t>
            </a:r>
            <a:r>
              <a:rPr lang="en-US" altLang="ko-KR" dirty="0">
                <a:latin typeface="나눔고딕" panose="020D0604000000000000" pitchFamily="50" charset="-127"/>
                <a:ea typeface="나눔고딕" panose="020D0604000000000000" pitchFamily="50" charset="-127"/>
              </a:rPr>
              <a:t>: </a:t>
            </a:r>
            <a:r>
              <a:rPr lang="ko-KR" altLang="en-US" dirty="0">
                <a:latin typeface="나눔고딕" panose="020D0604000000000000" pitchFamily="50" charset="-127"/>
                <a:ea typeface="나눔고딕" panose="020D0604000000000000" pitchFamily="50" charset="-127"/>
              </a:rPr>
              <a:t>고속도로 건설을 추진하는 측은 여행시간의 단축이라는 직접적 편익 외에도 여행객 증가로 인한 지역주민의 소득 증대라는 부차적 편익까지   내세워 사업의 타당성을 부풀려 보이려고 시도할 수 있음</a:t>
            </a:r>
            <a:endParaRPr lang="en-US" altLang="ko-KR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  <a:p>
            <a:pPr>
              <a:lnSpc>
                <a:spcPct val="110000"/>
              </a:lnSpc>
            </a:pPr>
            <a:endParaRPr lang="en-US" altLang="ko-KR" sz="300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  <a:p>
            <a:pPr marL="266700" indent="-266700">
              <a:lnSpc>
                <a:spcPct val="110000"/>
              </a:lnSpc>
            </a:pPr>
            <a:r>
              <a:rPr lang="ko-KR" altLang="en-US" dirty="0">
                <a:latin typeface="나눔고딕" panose="020D0604000000000000" pitchFamily="50" charset="-127"/>
                <a:ea typeface="나눔고딕" panose="020D0604000000000000" pitchFamily="50" charset="-127"/>
              </a:rPr>
              <a:t>공공사업에서 나오는 편익의 이중계산을 통해 사업추진의 타당성을   부풀리는 경우도 종종 발견할 수 있음</a:t>
            </a:r>
            <a:endParaRPr lang="en-US" altLang="ko-KR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  <a:p>
            <a:pPr lvl="1">
              <a:lnSpc>
                <a:spcPct val="110000"/>
              </a:lnSpc>
            </a:pPr>
            <a:r>
              <a:rPr lang="ko-KR" altLang="en-US" dirty="0">
                <a:latin typeface="나눔고딕" panose="020D0604000000000000" pitchFamily="50" charset="-127"/>
                <a:ea typeface="나눔고딕" panose="020D0604000000000000" pitchFamily="50" charset="-127"/>
              </a:rPr>
              <a:t>예 </a:t>
            </a:r>
            <a:r>
              <a:rPr lang="en-US" altLang="ko-KR" dirty="0">
                <a:latin typeface="나눔고딕" panose="020D0604000000000000" pitchFamily="50" charset="-127"/>
                <a:ea typeface="나눔고딕" panose="020D0604000000000000" pitchFamily="50" charset="-127"/>
              </a:rPr>
              <a:t>: </a:t>
            </a:r>
            <a:r>
              <a:rPr lang="ko-KR" altLang="en-US" dirty="0">
                <a:latin typeface="나눔고딕" panose="020D0604000000000000" pitchFamily="50" charset="-127"/>
                <a:ea typeface="나눔고딕" panose="020D0604000000000000" pitchFamily="50" charset="-127"/>
              </a:rPr>
              <a:t>간척사업을 평가할 때</a:t>
            </a:r>
            <a:r>
              <a:rPr lang="en-US" altLang="ko-KR" dirty="0">
                <a:latin typeface="나눔고딕" panose="020D0604000000000000" pitchFamily="50" charset="-127"/>
                <a:ea typeface="나눔고딕" panose="020D0604000000000000" pitchFamily="50" charset="-127"/>
              </a:rPr>
              <a:t>, </a:t>
            </a:r>
            <a:r>
              <a:rPr lang="ko-KR" altLang="en-US" dirty="0">
                <a:latin typeface="나눔고딕" panose="020D0604000000000000" pitchFamily="50" charset="-127"/>
                <a:ea typeface="나눔고딕" panose="020D0604000000000000" pitchFamily="50" charset="-127"/>
              </a:rPr>
              <a:t>이로 인한 농산물 생산의 증가를 편익으로    계산한 다음 조성된 농업용 토지의 가격을 또 다른 편익으로 계산</a:t>
            </a:r>
            <a:endParaRPr lang="en-US" altLang="ko-KR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  <a:p>
            <a:pPr>
              <a:lnSpc>
                <a:spcPct val="110000"/>
              </a:lnSpc>
            </a:pPr>
            <a:endParaRPr lang="en-US" altLang="ko-KR" sz="300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  <a:p>
            <a:pPr marL="266700" indent="-266700">
              <a:lnSpc>
                <a:spcPct val="110000"/>
              </a:lnSpc>
            </a:pPr>
            <a:r>
              <a:rPr lang="ko-KR" altLang="en-US" dirty="0">
                <a:latin typeface="나눔고딕" panose="020D0604000000000000" pitchFamily="50" charset="-127"/>
                <a:ea typeface="나눔고딕" panose="020D0604000000000000" pitchFamily="50" charset="-127"/>
              </a:rPr>
              <a:t>의도적인 </a:t>
            </a:r>
            <a:r>
              <a:rPr lang="ko-KR" altLang="en-US" dirty="0" err="1">
                <a:latin typeface="나눔고딕" panose="020D0604000000000000" pitchFamily="50" charset="-127"/>
                <a:ea typeface="나눔고딕" panose="020D0604000000000000" pitchFamily="50" charset="-127"/>
              </a:rPr>
              <a:t>왜곡평가</a:t>
            </a:r>
            <a:r>
              <a:rPr lang="ko-KR" altLang="en-US" dirty="0">
                <a:latin typeface="나눔고딕" panose="020D0604000000000000" pitchFamily="50" charset="-127"/>
                <a:ea typeface="나눔고딕" panose="020D0604000000000000" pitchFamily="50" charset="-127"/>
              </a:rPr>
              <a:t> </a:t>
            </a:r>
            <a:r>
              <a:rPr lang="en-US" altLang="ko-KR" dirty="0">
                <a:latin typeface="나눔고딕" panose="020D0604000000000000" pitchFamily="50" charset="-127"/>
                <a:ea typeface="나눔고딕" panose="020D0604000000000000" pitchFamily="50" charset="-127"/>
              </a:rPr>
              <a:t>: </a:t>
            </a:r>
            <a:r>
              <a:rPr lang="ko-KR" altLang="en-US" dirty="0">
                <a:latin typeface="나눔고딕" panose="020D0604000000000000" pitchFamily="50" charset="-127"/>
                <a:ea typeface="나눔고딕" panose="020D0604000000000000" pitchFamily="50" charset="-127"/>
              </a:rPr>
              <a:t>비용편익분석이 제대로 되었는지를 검증할 때   가장 신경을 써야 할 부분</a:t>
            </a:r>
            <a:endParaRPr lang="en-US" altLang="ko-KR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altLang="ko-KR">
                <a:latin typeface="나눔고딕" panose="020D0604000000000000" pitchFamily="50" charset="-127"/>
                <a:ea typeface="나눔고딕" panose="020D0604000000000000" pitchFamily="50" charset="-127"/>
              </a:rPr>
              <a:t>PUBLIC FINANCE</a:t>
            </a:r>
            <a:endParaRPr lang="ko-KR" altLang="en-US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ko-KR" altLang="en-US">
                <a:latin typeface="나눔고딕" panose="020D0604000000000000" pitchFamily="50" charset="-127"/>
                <a:ea typeface="나눔고딕" panose="020D0604000000000000" pitchFamily="50" charset="-127"/>
              </a:rPr>
              <a:t>제</a:t>
            </a:r>
            <a:r>
              <a:rPr lang="en-US" altLang="ko-KR">
                <a:latin typeface="나눔고딕" panose="020D0604000000000000" pitchFamily="50" charset="-127"/>
                <a:ea typeface="나눔고딕" panose="020D0604000000000000" pitchFamily="50" charset="-127"/>
              </a:rPr>
              <a:t>12</a:t>
            </a:r>
            <a:r>
              <a:rPr lang="ko-KR" altLang="en-US">
                <a:latin typeface="나눔고딕" panose="020D0604000000000000" pitchFamily="50" charset="-127"/>
                <a:ea typeface="나눔고딕" panose="020D0604000000000000" pitchFamily="50" charset="-127"/>
              </a:rPr>
              <a:t>장  비용편익분석</a:t>
            </a:r>
            <a:endParaRPr lang="ko-KR" altLang="en-US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6CA9FF6-BF29-4679-8C21-AEBAF2895125}" type="slidenum">
              <a:rPr lang="ko-KR" altLang="en-US" smtClean="0">
                <a:latin typeface="나눔고딕" panose="020D0604000000000000" pitchFamily="50" charset="-127"/>
                <a:ea typeface="나눔고딕" panose="020D0604000000000000" pitchFamily="50" charset="-127"/>
              </a:rPr>
              <a:t>29</a:t>
            </a:fld>
            <a:endParaRPr lang="ko-KR" altLang="en-US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746322276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ko-KR" altLang="en-US" spc="-113" dirty="0">
                <a:latin typeface="나눔고딕" panose="020D0604000000000000" pitchFamily="50" charset="-127"/>
                <a:ea typeface="나눔고딕" panose="020D0604000000000000" pitchFamily="50" charset="-127"/>
              </a:rPr>
              <a:t>분배측면의 고려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>
          <a:xfrm>
            <a:off x="628649" y="1422400"/>
            <a:ext cx="8104289" cy="4754563"/>
          </a:xfrm>
        </p:spPr>
        <p:txBody>
          <a:bodyPr anchor="ctr">
            <a:noAutofit/>
          </a:bodyPr>
          <a:lstStyle/>
          <a:p>
            <a:pPr marL="266700" indent="-266700">
              <a:lnSpc>
                <a:spcPct val="120000"/>
              </a:lnSpc>
              <a:buFont typeface="Wingdings" panose="05000000000000000000" pitchFamily="2" charset="2"/>
              <a:buChar char="§"/>
            </a:pPr>
            <a:r>
              <a:rPr lang="ko-KR" altLang="en-US" dirty="0">
                <a:latin typeface="나눔고딕" panose="020D0604000000000000" pitchFamily="50" charset="-127"/>
                <a:ea typeface="나눔고딕" panose="020D0604000000000000" pitchFamily="50" charset="-127"/>
              </a:rPr>
              <a:t>소득재분배를 명백히 지향하고 수행되는 공공사업의 경우에는 이로 인해 발생하는 분배상의 변화가 중요한 관심사</a:t>
            </a:r>
            <a:endParaRPr lang="en-US" altLang="ko-KR" sz="200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  <a:p>
            <a:pPr marL="266700" indent="-266700">
              <a:lnSpc>
                <a:spcPct val="120000"/>
              </a:lnSpc>
              <a:buFont typeface="Wingdings" panose="05000000000000000000" pitchFamily="2" charset="2"/>
              <a:buChar char="§"/>
            </a:pPr>
            <a:r>
              <a:rPr lang="ko-KR" altLang="en-US" dirty="0">
                <a:latin typeface="나눔고딕" panose="020D0604000000000000" pitchFamily="50" charset="-127"/>
                <a:ea typeface="나눔고딕" panose="020D0604000000000000" pitchFamily="50" charset="-127"/>
              </a:rPr>
              <a:t>공공사업의 분배적 효과를 고려하여 타당성 평가한다면</a:t>
            </a:r>
            <a:r>
              <a:rPr lang="en-US" altLang="ko-KR" dirty="0">
                <a:latin typeface="나눔고딕" panose="020D0604000000000000" pitchFamily="50" charset="-127"/>
                <a:ea typeface="나눔고딕" panose="020D0604000000000000" pitchFamily="50" charset="-127"/>
              </a:rPr>
              <a:t>,</a:t>
            </a:r>
            <a:r>
              <a:rPr lang="ko-KR" altLang="en-US" dirty="0">
                <a:latin typeface="나눔고딕" panose="020D0604000000000000" pitchFamily="50" charset="-127"/>
                <a:ea typeface="나눔고딕" panose="020D0604000000000000" pitchFamily="50" charset="-127"/>
              </a:rPr>
              <a:t> 소득계층별로 다른 분배가중치를 적용해 계층별 </a:t>
            </a:r>
            <a:r>
              <a:rPr lang="ko-KR" altLang="en-US" dirty="0" err="1">
                <a:latin typeface="나눔고딕" panose="020D0604000000000000" pitchFamily="50" charset="-127"/>
                <a:ea typeface="나눔고딕" panose="020D0604000000000000" pitchFamily="50" charset="-127"/>
              </a:rPr>
              <a:t>순편익</a:t>
            </a:r>
            <a:r>
              <a:rPr lang="ko-KR" altLang="en-US" dirty="0">
                <a:latin typeface="나눔고딕" panose="020D0604000000000000" pitchFamily="50" charset="-127"/>
                <a:ea typeface="나눔고딕" panose="020D0604000000000000" pitchFamily="50" charset="-127"/>
              </a:rPr>
              <a:t> 조정 가능</a:t>
            </a:r>
            <a:r>
              <a:rPr lang="en-US" altLang="ko-KR" dirty="0">
                <a:latin typeface="나눔고딕" panose="020D0604000000000000" pitchFamily="50" charset="-127"/>
                <a:ea typeface="나눔고딕" panose="020D0604000000000000" pitchFamily="50" charset="-127"/>
              </a:rPr>
              <a:t> </a:t>
            </a:r>
            <a:endParaRPr lang="en-US" altLang="ko-KR" sz="200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  <a:p>
            <a:pPr marL="266700" indent="-266700">
              <a:lnSpc>
                <a:spcPct val="120000"/>
              </a:lnSpc>
            </a:pPr>
            <a:r>
              <a:rPr lang="ko-KR" altLang="en-US" dirty="0">
                <a:latin typeface="나눔고딕" panose="020D0604000000000000" pitchFamily="50" charset="-127"/>
                <a:ea typeface="나눔고딕" panose="020D0604000000000000" pitchFamily="50" charset="-127"/>
              </a:rPr>
              <a:t>분배가중치 사용의 문제점</a:t>
            </a:r>
            <a:endParaRPr lang="en-US" altLang="ko-KR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  <a:p>
            <a:pPr marL="444500" lvl="1">
              <a:lnSpc>
                <a:spcPct val="120000"/>
              </a:lnSpc>
            </a:pPr>
            <a:r>
              <a:rPr lang="ko-KR" altLang="en-US" dirty="0">
                <a:latin typeface="나눔고딕" panose="020D0604000000000000" pitchFamily="50" charset="-127"/>
                <a:ea typeface="나눔고딕" panose="020D0604000000000000" pitchFamily="50" charset="-127"/>
              </a:rPr>
              <a:t>상이한 계층의 가중치를 어느 정도로 다르게 만들어야 하는지에 대해서 의견의 일치를 보기 어려움</a:t>
            </a:r>
            <a:endParaRPr lang="en-US" altLang="ko-KR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  <a:p>
            <a:pPr marL="444500" lvl="1">
              <a:lnSpc>
                <a:spcPct val="120000"/>
              </a:lnSpc>
            </a:pPr>
            <a:r>
              <a:rPr lang="ko-KR" altLang="en-US" dirty="0">
                <a:latin typeface="나눔고딕" panose="020D0604000000000000" pitchFamily="50" charset="-127"/>
                <a:ea typeface="나눔고딕" panose="020D0604000000000000" pitchFamily="50" charset="-127"/>
              </a:rPr>
              <a:t>분배상의 고려를 반영하는 가중치 선정의 객관적 근거가 없음</a:t>
            </a:r>
            <a:endParaRPr lang="en-US" altLang="ko-KR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  <a:p>
            <a:pPr marL="444500" lvl="1">
              <a:lnSpc>
                <a:spcPct val="120000"/>
              </a:lnSpc>
            </a:pPr>
            <a:r>
              <a:rPr lang="ko-KR" altLang="en-US" dirty="0">
                <a:latin typeface="나눔고딕" panose="020D0604000000000000" pitchFamily="50" charset="-127"/>
                <a:ea typeface="나눔고딕" panose="020D0604000000000000" pitchFamily="50" charset="-127"/>
              </a:rPr>
              <a:t>분배적 측면을 평가에 포함시키면 필요한 정보의 양이 매우 </a:t>
            </a:r>
            <a:r>
              <a:rPr lang="ko-KR" altLang="en-US" dirty="0" err="1">
                <a:latin typeface="나눔고딕" panose="020D0604000000000000" pitchFamily="50" charset="-127"/>
                <a:ea typeface="나눔고딕" panose="020D0604000000000000" pitchFamily="50" charset="-127"/>
              </a:rPr>
              <a:t>많아짐</a:t>
            </a:r>
            <a:endParaRPr lang="en-US" altLang="ko-KR" sz="200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  <a:p>
            <a:pPr marL="266700" indent="-266700">
              <a:lnSpc>
                <a:spcPct val="120000"/>
              </a:lnSpc>
            </a:pPr>
            <a:r>
              <a:rPr lang="ko-KR" altLang="en-US" dirty="0">
                <a:latin typeface="나눔고딕" panose="020D0604000000000000" pitchFamily="50" charset="-127"/>
                <a:ea typeface="나눔고딕" panose="020D0604000000000000" pitchFamily="50" charset="-127"/>
              </a:rPr>
              <a:t>공공사업의 평가과정에서 분배적인 고려를 하지 않을 수는 없지만 분배가중치를 적용하는 방법으로 이를 수행하는 것은 신중을 요함</a:t>
            </a:r>
            <a:endParaRPr lang="en-US" altLang="ko-KR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altLang="ko-KR">
                <a:latin typeface="나눔고딕" panose="020D0604000000000000" pitchFamily="50" charset="-127"/>
                <a:ea typeface="나눔고딕" panose="020D0604000000000000" pitchFamily="50" charset="-127"/>
              </a:rPr>
              <a:t>PUBLIC FINANCE</a:t>
            </a:r>
            <a:endParaRPr lang="ko-KR" altLang="en-US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ko-KR" altLang="en-US">
                <a:latin typeface="나눔고딕" panose="020D0604000000000000" pitchFamily="50" charset="-127"/>
                <a:ea typeface="나눔고딕" panose="020D0604000000000000" pitchFamily="50" charset="-127"/>
              </a:rPr>
              <a:t>제</a:t>
            </a:r>
            <a:r>
              <a:rPr lang="en-US" altLang="ko-KR">
                <a:latin typeface="나눔고딕" panose="020D0604000000000000" pitchFamily="50" charset="-127"/>
                <a:ea typeface="나눔고딕" panose="020D0604000000000000" pitchFamily="50" charset="-127"/>
              </a:rPr>
              <a:t>12</a:t>
            </a:r>
            <a:r>
              <a:rPr lang="ko-KR" altLang="en-US">
                <a:latin typeface="나눔고딕" panose="020D0604000000000000" pitchFamily="50" charset="-127"/>
                <a:ea typeface="나눔고딕" panose="020D0604000000000000" pitchFamily="50" charset="-127"/>
              </a:rPr>
              <a:t>장  비용편익분석</a:t>
            </a:r>
            <a:endParaRPr lang="ko-KR" altLang="en-US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6CA9FF6-BF29-4679-8C21-AEBAF2895125}" type="slidenum">
              <a:rPr lang="ko-KR" altLang="en-US" smtClean="0">
                <a:latin typeface="나눔고딕" panose="020D0604000000000000" pitchFamily="50" charset="-127"/>
                <a:ea typeface="나눔고딕" panose="020D0604000000000000" pitchFamily="50" charset="-127"/>
              </a:rPr>
              <a:t>30</a:t>
            </a:fld>
            <a:endParaRPr lang="ko-KR" altLang="en-US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3915807118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altLang="ko-KR" spc="-113" dirty="0">
                <a:latin typeface="나눔고딕" panose="020D0604000000000000" pitchFamily="50" charset="-127"/>
                <a:ea typeface="나눔고딕" panose="020D0604000000000000" pitchFamily="50" charset="-127"/>
              </a:rPr>
              <a:t>12.5  </a:t>
            </a:r>
            <a:r>
              <a:rPr lang="ko-KR" altLang="en-US" spc="-113" dirty="0">
                <a:latin typeface="나눔고딕" panose="020D0604000000000000" pitchFamily="50" charset="-127"/>
                <a:ea typeface="나눔고딕" panose="020D0604000000000000" pitchFamily="50" charset="-127"/>
              </a:rPr>
              <a:t>사회적 할인율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 anchor="ctr">
            <a:noAutofit/>
          </a:bodyPr>
          <a:lstStyle/>
          <a:p>
            <a:pPr marL="266700" indent="-266700"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ko-KR" altLang="en-US" sz="20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공공사업의 올바른 평가를 위해서는 </a:t>
            </a:r>
            <a:r>
              <a:rPr lang="ko-KR" altLang="en-US" sz="2000" b="1" dirty="0">
                <a:solidFill>
                  <a:schemeClr val="accent1">
                    <a:lumMod val="7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사회적 할인율</a:t>
            </a:r>
            <a:r>
              <a:rPr lang="en-US" altLang="ko-KR" sz="2000" dirty="0">
                <a:solidFill>
                  <a:schemeClr val="accent1">
                    <a:lumMod val="7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(social discount rate)</a:t>
            </a:r>
            <a:r>
              <a:rPr lang="ko-KR" altLang="en-US" sz="20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의 적절한 선택이 매우 중요한 과제</a:t>
            </a:r>
            <a:endParaRPr lang="en-US" altLang="ko-KR" sz="2000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  <a:p>
            <a:pPr marL="266700" indent="-266700">
              <a:lnSpc>
                <a:spcPct val="150000"/>
              </a:lnSpc>
            </a:pPr>
            <a:endParaRPr lang="en-US" altLang="ko-KR" sz="1000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  <a:p>
            <a:pPr marL="266700" indent="-266700">
              <a:lnSpc>
                <a:spcPct val="150000"/>
              </a:lnSpc>
            </a:pPr>
            <a:r>
              <a:rPr lang="ko-KR" altLang="en-US" sz="20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민간부문의 투자계획 평가에 적용될 할인율의 경우</a:t>
            </a:r>
            <a:r>
              <a:rPr lang="en-US" altLang="ko-KR" sz="20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, </a:t>
            </a:r>
            <a:r>
              <a:rPr lang="ko-KR" altLang="en-US" sz="20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그것의 수행에   소요된 자금의 기간당 기회비용을 계산해 할인율로 사용하면 됨</a:t>
            </a:r>
            <a:endParaRPr lang="en-US" altLang="ko-KR" sz="2000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  <a:p>
            <a:pPr marL="266700" indent="-266700">
              <a:lnSpc>
                <a:spcPct val="150000"/>
              </a:lnSpc>
            </a:pPr>
            <a:endParaRPr lang="en-US" altLang="ko-KR" sz="1000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  <a:p>
            <a:pPr marL="266700" indent="-266700">
              <a:lnSpc>
                <a:spcPct val="150000"/>
              </a:lnSpc>
            </a:pPr>
            <a:r>
              <a:rPr lang="ko-KR" altLang="en-US" sz="20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공공사업의 경우는 다양한 사회적 목표를 추구하고 있기 때문에        이보다 훨씬 더 많은 요소들을 고려해 할인율을 선택해야 함</a:t>
            </a:r>
            <a:endParaRPr lang="en-US" altLang="ko-KR" sz="2000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altLang="ko-KR">
                <a:latin typeface="나눔고딕" panose="020D0604000000000000" pitchFamily="50" charset="-127"/>
                <a:ea typeface="나눔고딕" panose="020D0604000000000000" pitchFamily="50" charset="-127"/>
              </a:rPr>
              <a:t>PUBLIC FINANCE</a:t>
            </a:r>
            <a:endParaRPr lang="ko-KR" altLang="en-US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ko-KR" altLang="en-US">
                <a:latin typeface="나눔고딕" panose="020D0604000000000000" pitchFamily="50" charset="-127"/>
                <a:ea typeface="나눔고딕" panose="020D0604000000000000" pitchFamily="50" charset="-127"/>
              </a:rPr>
              <a:t>제</a:t>
            </a:r>
            <a:r>
              <a:rPr lang="en-US" altLang="ko-KR">
                <a:latin typeface="나눔고딕" panose="020D0604000000000000" pitchFamily="50" charset="-127"/>
                <a:ea typeface="나눔고딕" panose="020D0604000000000000" pitchFamily="50" charset="-127"/>
              </a:rPr>
              <a:t>12</a:t>
            </a:r>
            <a:r>
              <a:rPr lang="ko-KR" altLang="en-US">
                <a:latin typeface="나눔고딕" panose="020D0604000000000000" pitchFamily="50" charset="-127"/>
                <a:ea typeface="나눔고딕" panose="020D0604000000000000" pitchFamily="50" charset="-127"/>
              </a:rPr>
              <a:t>장  비용편익분석</a:t>
            </a:r>
            <a:endParaRPr lang="ko-KR" altLang="en-US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6CA9FF6-BF29-4679-8C21-AEBAF2895125}" type="slidenum">
              <a:rPr lang="ko-KR" altLang="en-US" smtClean="0">
                <a:latin typeface="나눔고딕" panose="020D0604000000000000" pitchFamily="50" charset="-127"/>
                <a:ea typeface="나눔고딕" panose="020D0604000000000000" pitchFamily="50" charset="-127"/>
              </a:rPr>
              <a:t>31</a:t>
            </a:fld>
            <a:endParaRPr lang="ko-KR" altLang="en-US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444626080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ko-KR" altLang="en-US" dirty="0">
                <a:latin typeface="나눔고딕" panose="020D0604000000000000" pitchFamily="50" charset="-127"/>
                <a:ea typeface="나눔고딕" panose="020D0604000000000000" pitchFamily="50" charset="-127"/>
              </a:rPr>
              <a:t>민간부문에 준한 사회적 할인율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 anchor="ctr">
            <a:noAutofit/>
          </a:bodyPr>
          <a:lstStyle/>
          <a:p>
            <a:pPr marL="266700" indent="-266700">
              <a:spcAft>
                <a:spcPts val="1000"/>
              </a:spcAft>
            </a:pPr>
            <a:r>
              <a:rPr lang="ko-KR" altLang="en-US" sz="20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세 가지의 대안</a:t>
            </a:r>
            <a:endParaRPr lang="en-US" altLang="ko-KR" sz="2000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  <a:p>
            <a:pPr marL="0" indent="0">
              <a:buNone/>
            </a:pPr>
            <a:r>
              <a:rPr lang="en-US" altLang="ko-KR" sz="20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   (1) </a:t>
            </a:r>
            <a:r>
              <a:rPr lang="ko-KR" altLang="en-US" sz="20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민간부문 투자의 </a:t>
            </a:r>
            <a:r>
              <a:rPr lang="ko-KR" altLang="en-US" sz="2000" dirty="0" err="1">
                <a:latin typeface="나눔고딕" panose="020D0604000000000000" pitchFamily="50" charset="-127"/>
                <a:ea typeface="나눔고딕" panose="020D0604000000000000" pitchFamily="50" charset="-127"/>
              </a:rPr>
              <a:t>세전</a:t>
            </a:r>
            <a:r>
              <a:rPr lang="ko-KR" altLang="en-US" sz="20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 수익률</a:t>
            </a:r>
          </a:p>
          <a:p>
            <a:pPr marL="444500" lvl="1">
              <a:spcAft>
                <a:spcPts val="1000"/>
              </a:spcAft>
            </a:pPr>
            <a:r>
              <a:rPr lang="ko-KR" altLang="en-US" dirty="0">
                <a:latin typeface="나눔고딕" panose="020D0604000000000000" pitchFamily="50" charset="-127"/>
                <a:ea typeface="나눔고딕" panose="020D0604000000000000" pitchFamily="50" charset="-127"/>
              </a:rPr>
              <a:t>민간부문에서 투자에 쓰일 돈이 공공사업에 투입된 경우에는 그 기회비용에 해당하는 민간부문의 </a:t>
            </a:r>
            <a:r>
              <a:rPr lang="ko-KR" altLang="en-US" dirty="0" err="1">
                <a:latin typeface="나눔고딕" panose="020D0604000000000000" pitchFamily="50" charset="-127"/>
                <a:ea typeface="나눔고딕" panose="020D0604000000000000" pitchFamily="50" charset="-127"/>
              </a:rPr>
              <a:t>세전</a:t>
            </a:r>
            <a:r>
              <a:rPr lang="ko-KR" altLang="en-US" dirty="0">
                <a:latin typeface="나눔고딕" panose="020D0604000000000000" pitchFamily="50" charset="-127"/>
                <a:ea typeface="나눔고딕" panose="020D0604000000000000" pitchFamily="50" charset="-127"/>
              </a:rPr>
              <a:t> 수익률이 적절한 할인율</a:t>
            </a:r>
            <a:r>
              <a:rPr lang="en-US" altLang="ko-KR" dirty="0">
                <a:latin typeface="나눔고딕" panose="020D0604000000000000" pitchFamily="50" charset="-127"/>
                <a:ea typeface="나눔고딕" panose="020D0604000000000000" pitchFamily="50" charset="-127"/>
              </a:rPr>
              <a:t> </a:t>
            </a:r>
          </a:p>
          <a:p>
            <a:pPr marL="0" indent="0">
              <a:buNone/>
            </a:pPr>
            <a:r>
              <a:rPr lang="en-US" altLang="ko-KR" sz="20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   (2) </a:t>
            </a:r>
            <a:r>
              <a:rPr lang="ko-KR" altLang="en-US" sz="2000" dirty="0" err="1">
                <a:latin typeface="나눔고딕" panose="020D0604000000000000" pitchFamily="50" charset="-127"/>
                <a:ea typeface="나눔고딕" panose="020D0604000000000000" pitchFamily="50" charset="-127"/>
              </a:rPr>
              <a:t>세후</a:t>
            </a:r>
            <a:r>
              <a:rPr lang="ko-KR" altLang="en-US" sz="20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 수익률 혹은 소비자이자율</a:t>
            </a:r>
          </a:p>
          <a:p>
            <a:pPr marL="444500" lvl="1"/>
            <a:r>
              <a:rPr lang="ko-KR" altLang="en-US" dirty="0">
                <a:latin typeface="나눔고딕" panose="020D0604000000000000" pitchFamily="50" charset="-127"/>
                <a:ea typeface="나눔고딕" panose="020D0604000000000000" pitchFamily="50" charset="-127"/>
              </a:rPr>
              <a:t>민간부문의 소비에 쓰였을 자금이 공공사업에 투입되는 경우라면 할인율은 소비자의 시간선호율이 되어야 함</a:t>
            </a:r>
            <a:r>
              <a:rPr lang="en-US" altLang="ko-KR" dirty="0">
                <a:latin typeface="나눔고딕" panose="020D0604000000000000" pitchFamily="50" charset="-127"/>
                <a:ea typeface="나눔고딕" panose="020D0604000000000000" pitchFamily="50" charset="-127"/>
              </a:rPr>
              <a:t> </a:t>
            </a:r>
          </a:p>
          <a:p>
            <a:pPr marL="444500" lvl="1"/>
            <a:r>
              <a:rPr lang="ko-KR" altLang="en-US" dirty="0">
                <a:latin typeface="나눔고딕" panose="020D0604000000000000" pitchFamily="50" charset="-127"/>
                <a:ea typeface="나눔고딕" panose="020D0604000000000000" pitchFamily="50" charset="-127"/>
              </a:rPr>
              <a:t>시점간 자원배분 과정에서 최적배분을 달성했다면 소비자의 시간 선호율은 소비자이자율과 같아지고</a:t>
            </a:r>
            <a:r>
              <a:rPr lang="en-US" altLang="ko-KR" dirty="0">
                <a:latin typeface="나눔고딕" panose="020D0604000000000000" pitchFamily="50" charset="-127"/>
                <a:ea typeface="나눔고딕" panose="020D0604000000000000" pitchFamily="50" charset="-127"/>
              </a:rPr>
              <a:t>, </a:t>
            </a:r>
            <a:r>
              <a:rPr lang="ko-KR" altLang="en-US" dirty="0">
                <a:latin typeface="나눔고딕" panose="020D0604000000000000" pitchFamily="50" charset="-127"/>
                <a:ea typeface="나눔고딕" panose="020D0604000000000000" pitchFamily="50" charset="-127"/>
              </a:rPr>
              <a:t>경제가 균형상태 있다면 소비자이자율은 다시   민간부문 투자의 </a:t>
            </a:r>
            <a:r>
              <a:rPr lang="ko-KR" altLang="en-US" dirty="0" err="1">
                <a:latin typeface="나눔고딕" panose="020D0604000000000000" pitchFamily="50" charset="-127"/>
                <a:ea typeface="나눔고딕" panose="020D0604000000000000" pitchFamily="50" charset="-127"/>
              </a:rPr>
              <a:t>세후</a:t>
            </a:r>
            <a:r>
              <a:rPr lang="ko-KR" altLang="en-US" dirty="0">
                <a:latin typeface="나눔고딕" panose="020D0604000000000000" pitchFamily="50" charset="-127"/>
                <a:ea typeface="나눔고딕" panose="020D0604000000000000" pitchFamily="50" charset="-127"/>
              </a:rPr>
              <a:t> 수익률과 일치</a:t>
            </a:r>
            <a:endParaRPr lang="en-US" altLang="ko-KR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altLang="ko-KR">
                <a:latin typeface="나눔고딕" panose="020D0604000000000000" pitchFamily="50" charset="-127"/>
                <a:ea typeface="나눔고딕" panose="020D0604000000000000" pitchFamily="50" charset="-127"/>
              </a:rPr>
              <a:t>PUBLIC FINANCE</a:t>
            </a:r>
            <a:endParaRPr lang="ko-KR" altLang="en-US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ko-KR" altLang="en-US">
                <a:latin typeface="나눔고딕" panose="020D0604000000000000" pitchFamily="50" charset="-127"/>
                <a:ea typeface="나눔고딕" panose="020D0604000000000000" pitchFamily="50" charset="-127"/>
              </a:rPr>
              <a:t>제</a:t>
            </a:r>
            <a:r>
              <a:rPr lang="en-US" altLang="ko-KR">
                <a:latin typeface="나눔고딕" panose="020D0604000000000000" pitchFamily="50" charset="-127"/>
                <a:ea typeface="나눔고딕" panose="020D0604000000000000" pitchFamily="50" charset="-127"/>
              </a:rPr>
              <a:t>12</a:t>
            </a:r>
            <a:r>
              <a:rPr lang="ko-KR" altLang="en-US">
                <a:latin typeface="나눔고딕" panose="020D0604000000000000" pitchFamily="50" charset="-127"/>
                <a:ea typeface="나눔고딕" panose="020D0604000000000000" pitchFamily="50" charset="-127"/>
              </a:rPr>
              <a:t>장  비용편익분석</a:t>
            </a:r>
            <a:endParaRPr lang="ko-KR" altLang="en-US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6CA9FF6-BF29-4679-8C21-AEBAF2895125}" type="slidenum">
              <a:rPr lang="ko-KR" altLang="en-US" smtClean="0">
                <a:latin typeface="나눔고딕" panose="020D0604000000000000" pitchFamily="50" charset="-127"/>
                <a:ea typeface="나눔고딕" panose="020D0604000000000000" pitchFamily="50" charset="-127"/>
              </a:rPr>
              <a:t>32</a:t>
            </a:fld>
            <a:endParaRPr lang="ko-KR" altLang="en-US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2863005796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ko-KR" altLang="en-US" dirty="0">
                <a:latin typeface="나눔고딕" panose="020D0604000000000000" pitchFamily="50" charset="-127"/>
                <a:ea typeface="나눔고딕" panose="020D0604000000000000" pitchFamily="50" charset="-127"/>
              </a:rPr>
              <a:t>민간부문에 준한 사회적 할인율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내용 개체 틀 2"/>
              <p:cNvSpPr>
                <a:spLocks noGrp="1"/>
              </p:cNvSpPr>
              <p:nvPr>
                <p:ph idx="1"/>
              </p:nvPr>
            </p:nvSpPr>
            <p:spPr/>
            <p:txBody>
              <a:bodyPr anchor="ctr">
                <a:noAutofit/>
              </a:bodyPr>
              <a:lstStyle/>
              <a:p>
                <a:pPr marL="0" indent="0">
                  <a:lnSpc>
                    <a:spcPct val="120000"/>
                  </a:lnSpc>
                  <a:buNone/>
                </a:pPr>
                <a:r>
                  <a:rPr lang="en-US" altLang="ko-KR" dirty="0">
                    <a:latin typeface="나눔고딕" panose="020D0604000000000000" pitchFamily="50" charset="-127"/>
                    <a:ea typeface="나눔고딕" panose="020D0604000000000000" pitchFamily="50" charset="-127"/>
                  </a:rPr>
                  <a:t>   (3) </a:t>
                </a:r>
                <a:r>
                  <a:rPr lang="ko-KR" altLang="en-US" dirty="0">
                    <a:latin typeface="나눔고딕" panose="020D0604000000000000" pitchFamily="50" charset="-127"/>
                    <a:ea typeface="나눔고딕" panose="020D0604000000000000" pitchFamily="50" charset="-127"/>
                  </a:rPr>
                  <a:t>양자의 가중평균</a:t>
                </a:r>
                <a:endParaRPr lang="ko-KR" altLang="en-US" sz="2000" dirty="0">
                  <a:latin typeface="나눔고딕" panose="020D0604000000000000" pitchFamily="50" charset="-127"/>
                  <a:ea typeface="나눔고딕" panose="020D0604000000000000" pitchFamily="50" charset="-127"/>
                </a:endParaRPr>
              </a:p>
              <a:p>
                <a:pPr marL="444500" lvl="1">
                  <a:lnSpc>
                    <a:spcPct val="120000"/>
                  </a:lnSpc>
                </a:pPr>
                <a:r>
                  <a:rPr lang="ko-KR" altLang="en-US" dirty="0">
                    <a:latin typeface="나눔고딕" panose="020D0604000000000000" pitchFamily="50" charset="-127"/>
                    <a:ea typeface="나눔고딕" panose="020D0604000000000000" pitchFamily="50" charset="-127"/>
                  </a:rPr>
                  <a:t>예 </a:t>
                </a:r>
                <a:r>
                  <a:rPr lang="en-US" altLang="ko-KR" dirty="0">
                    <a:latin typeface="나눔고딕" panose="020D0604000000000000" pitchFamily="50" charset="-127"/>
                    <a:ea typeface="나눔고딕" panose="020D0604000000000000" pitchFamily="50" charset="-127"/>
                  </a:rPr>
                  <a:t>: </a:t>
                </a:r>
                <a:r>
                  <a:rPr lang="ko-KR" altLang="en-US" dirty="0">
                    <a:latin typeface="나눔고딕" panose="020D0604000000000000" pitchFamily="50" charset="-127"/>
                    <a:ea typeface="나눔고딕" panose="020D0604000000000000" pitchFamily="50" charset="-127"/>
                  </a:rPr>
                  <a:t>공공사업에 쓰인 자금 중 </a:t>
                </a:r>
                <a:r>
                  <a:rPr lang="en-US" altLang="ko-KR" dirty="0">
                    <a:latin typeface="나눔고딕" panose="020D0604000000000000" pitchFamily="50" charset="-127"/>
                    <a:ea typeface="나눔고딕" panose="020D0604000000000000" pitchFamily="50" charset="-127"/>
                  </a:rPr>
                  <a:t>1/4</a:t>
                </a:r>
                <a:r>
                  <a:rPr lang="ko-KR" altLang="en-US" dirty="0">
                    <a:latin typeface="나눔고딕" panose="020D0604000000000000" pitchFamily="50" charset="-127"/>
                    <a:ea typeface="나눔고딕" panose="020D0604000000000000" pitchFamily="50" charset="-127"/>
                  </a:rPr>
                  <a:t>이 민간부문의 투자로 쓰였을 돈이고</a:t>
                </a:r>
                <a:r>
                  <a:rPr lang="en-US" altLang="ko-KR" dirty="0">
                    <a:latin typeface="나눔고딕" panose="020D0604000000000000" pitchFamily="50" charset="-127"/>
                    <a:ea typeface="나눔고딕" panose="020D0604000000000000" pitchFamily="50" charset="-127"/>
                  </a:rPr>
                  <a:t> </a:t>
                </a:r>
                <a:r>
                  <a:rPr lang="ko-KR" altLang="en-US" dirty="0">
                    <a:latin typeface="나눔고딕" panose="020D0604000000000000" pitchFamily="50" charset="-127"/>
                    <a:ea typeface="나눔고딕" panose="020D0604000000000000" pitchFamily="50" charset="-127"/>
                  </a:rPr>
                  <a:t> </a:t>
                </a:r>
                <a:r>
                  <a:rPr lang="en-US" altLang="ko-KR" dirty="0">
                    <a:latin typeface="나눔고딕" panose="020D0604000000000000" pitchFamily="50" charset="-127"/>
                    <a:ea typeface="나눔고딕" panose="020D0604000000000000" pitchFamily="50" charset="-127"/>
                  </a:rPr>
                  <a:t>3/4</a:t>
                </a:r>
                <a:r>
                  <a:rPr lang="ko-KR" altLang="en-US" dirty="0">
                    <a:latin typeface="나눔고딕" panose="020D0604000000000000" pitchFamily="50" charset="-127"/>
                    <a:ea typeface="나눔고딕" panose="020D0604000000000000" pitchFamily="50" charset="-127"/>
                  </a:rPr>
                  <a:t>은 소비로 충당되었을 돈이라면 </a:t>
                </a:r>
                <a:r>
                  <a:rPr lang="ko-KR" altLang="en-US" dirty="0" err="1">
                    <a:latin typeface="나눔고딕" panose="020D0604000000000000" pitchFamily="50" charset="-127"/>
                    <a:ea typeface="나눔고딕" panose="020D0604000000000000" pitchFamily="50" charset="-127"/>
                  </a:rPr>
                  <a:t>세전</a:t>
                </a:r>
                <a:r>
                  <a:rPr lang="ko-KR" altLang="en-US" dirty="0">
                    <a:latin typeface="나눔고딕" panose="020D0604000000000000" pitchFamily="50" charset="-127"/>
                    <a:ea typeface="나눔고딕" panose="020D0604000000000000" pitchFamily="50" charset="-127"/>
                  </a:rPr>
                  <a:t> 수익률과 </a:t>
                </a:r>
                <a:r>
                  <a:rPr lang="ko-KR" altLang="en-US" dirty="0" err="1">
                    <a:latin typeface="나눔고딕" panose="020D0604000000000000" pitchFamily="50" charset="-127"/>
                    <a:ea typeface="나눔고딕" panose="020D0604000000000000" pitchFamily="50" charset="-127"/>
                  </a:rPr>
                  <a:t>세후</a:t>
                </a:r>
                <a:r>
                  <a:rPr lang="ko-KR" altLang="en-US" dirty="0">
                    <a:latin typeface="나눔고딕" panose="020D0604000000000000" pitchFamily="50" charset="-127"/>
                    <a:ea typeface="나눔고딕" panose="020D0604000000000000" pitchFamily="50" charset="-127"/>
                  </a:rPr>
                  <a:t> 수익률의 가중평균치가 </a:t>
                </a:r>
                <a:r>
                  <a:rPr lang="ko-KR" altLang="en-US" dirty="0" err="1">
                    <a:latin typeface="나눔고딕" panose="020D0604000000000000" pitchFamily="50" charset="-127"/>
                    <a:ea typeface="나눔고딕" panose="020D0604000000000000" pitchFamily="50" charset="-127"/>
                  </a:rPr>
                  <a:t>할인률로</a:t>
                </a:r>
                <a:r>
                  <a:rPr lang="ko-KR" altLang="en-US" dirty="0">
                    <a:latin typeface="나눔고딕" panose="020D0604000000000000" pitchFamily="50" charset="-127"/>
                    <a:ea typeface="나눔고딕" panose="020D0604000000000000" pitchFamily="50" charset="-127"/>
                  </a:rPr>
                  <a:t> 사용 가능</a:t>
                </a:r>
                <a:endParaRPr lang="en-US" altLang="ko-KR" dirty="0">
                  <a:latin typeface="나눔고딕" panose="020D0604000000000000" pitchFamily="50" charset="-127"/>
                  <a:ea typeface="나눔고딕" panose="020D0604000000000000" pitchFamily="50" charset="-127"/>
                </a:endParaRPr>
              </a:p>
              <a:p>
                <a:pPr>
                  <a:lnSpc>
                    <a:spcPct val="120000"/>
                  </a:lnSpc>
                  <a:buFont typeface="Wingdings" panose="05000000000000000000" pitchFamily="2" charset="2"/>
                  <a:buChar char="§"/>
                </a:pPr>
                <a:endParaRPr lang="en-US" altLang="ko-KR" sz="500" dirty="0">
                  <a:latin typeface="나눔고딕" panose="020D0604000000000000" pitchFamily="50" charset="-127"/>
                  <a:ea typeface="나눔고딕" panose="020D0604000000000000" pitchFamily="50" charset="-127"/>
                </a:endParaRPr>
              </a:p>
              <a:p>
                <a:pPr marL="266700" indent="-266700">
                  <a:lnSpc>
                    <a:spcPct val="120000"/>
                  </a:lnSpc>
                  <a:buFont typeface="Wingdings" panose="05000000000000000000" pitchFamily="2" charset="2"/>
                  <a:buChar char="§"/>
                </a:pPr>
                <a:r>
                  <a:rPr lang="ko-KR" altLang="en-US" b="1" dirty="0">
                    <a:solidFill>
                      <a:schemeClr val="accent1">
                        <a:lumMod val="75000"/>
                      </a:schemeClr>
                    </a:solidFill>
                    <a:latin typeface="나눔고딕" panose="020D0604000000000000" pitchFamily="50" charset="-127"/>
                    <a:ea typeface="나눔고딕" panose="020D0604000000000000" pitchFamily="50" charset="-127"/>
                  </a:rPr>
                  <a:t>투자의 잠재가격</a:t>
                </a:r>
                <a:r>
                  <a:rPr lang="en-US" altLang="ko-KR" dirty="0">
                    <a:solidFill>
                      <a:schemeClr val="accent1">
                        <a:lumMod val="75000"/>
                      </a:schemeClr>
                    </a:solidFill>
                    <a:latin typeface="나눔고딕" panose="020D0604000000000000" pitchFamily="50" charset="-127"/>
                    <a:ea typeface="나눔고딕" panose="020D0604000000000000" pitchFamily="50" charset="-127"/>
                  </a:rPr>
                  <a:t>(shadow price of investment)</a:t>
                </a:r>
                <a:r>
                  <a:rPr lang="ko-KR" altLang="en-US" dirty="0">
                    <a:latin typeface="나눔고딕" panose="020D0604000000000000" pitchFamily="50" charset="-127"/>
                    <a:ea typeface="나눔고딕" panose="020D0604000000000000" pitchFamily="50" charset="-127"/>
                  </a:rPr>
                  <a:t>을 활용할</a:t>
                </a:r>
                <a:r>
                  <a:rPr lang="en-US" altLang="ko-KR" dirty="0">
                    <a:latin typeface="나눔고딕" panose="020D0604000000000000" pitchFamily="50" charset="-127"/>
                    <a:ea typeface="나눔고딕" panose="020D0604000000000000" pitchFamily="50" charset="-127"/>
                  </a:rPr>
                  <a:t> </a:t>
                </a:r>
                <a:r>
                  <a:rPr lang="ko-KR" altLang="en-US" dirty="0">
                    <a:latin typeface="나눔고딕" panose="020D0604000000000000" pitchFamily="50" charset="-127"/>
                    <a:ea typeface="나눔고딕" panose="020D0604000000000000" pitchFamily="50" charset="-127"/>
                  </a:rPr>
                  <a:t>수도 있음</a:t>
                </a:r>
                <a:endParaRPr lang="en-US" altLang="ko-KR" dirty="0">
                  <a:latin typeface="나눔고딕" panose="020D0604000000000000" pitchFamily="50" charset="-127"/>
                  <a:ea typeface="나눔고딕" panose="020D0604000000000000" pitchFamily="50" charset="-127"/>
                </a:endParaRPr>
              </a:p>
              <a:p>
                <a:pPr marL="444500" lvl="1">
                  <a:lnSpc>
                    <a:spcPct val="120000"/>
                  </a:lnSpc>
                </a:pPr>
                <a:r>
                  <a:rPr lang="ko-KR" altLang="en-US" dirty="0">
                    <a:latin typeface="나눔고딕" panose="020D0604000000000000" pitchFamily="50" charset="-127"/>
                    <a:ea typeface="나눔고딕" panose="020D0604000000000000" pitchFamily="50" charset="-127"/>
                  </a:rPr>
                  <a:t>투자의 잠재가격</a:t>
                </a:r>
                <a:r>
                  <a:rPr lang="en-US" altLang="ko-KR" dirty="0">
                    <a:latin typeface="나눔고딕" panose="020D0604000000000000" pitchFamily="50" charset="-127"/>
                    <a:ea typeface="나눔고딕" panose="020D0604000000000000" pitchFamily="50" charset="-127"/>
                  </a:rPr>
                  <a:t>(</a:t>
                </a:r>
                <a14:m>
                  <m:oMath xmlns:m="http://schemas.openxmlformats.org/officeDocument/2006/math">
                    <m:r>
                      <a:rPr lang="en-US" altLang="ko-KR" b="1" i="1" smtClean="0">
                        <a:latin typeface="Cambria Math" panose="02040503050406030204" pitchFamily="18" charset="0"/>
                      </a:rPr>
                      <m:t>𝒂</m:t>
                    </m:r>
                  </m:oMath>
                </a14:m>
                <a:r>
                  <a:rPr lang="en-US" altLang="ko-KR" dirty="0">
                    <a:latin typeface="나눔고딕" panose="020D0604000000000000" pitchFamily="50" charset="-127"/>
                    <a:ea typeface="나눔고딕" panose="020D0604000000000000" pitchFamily="50" charset="-127"/>
                  </a:rPr>
                  <a:t>) : </a:t>
                </a:r>
                <a:r>
                  <a:rPr lang="ko-KR" altLang="en-US" dirty="0">
                    <a:latin typeface="나눔고딕" panose="020D0604000000000000" pitchFamily="50" charset="-127"/>
                    <a:ea typeface="나눔고딕" panose="020D0604000000000000" pitchFamily="50" charset="-127"/>
                  </a:rPr>
                  <a:t>투자된 돈 </a:t>
                </a:r>
                <a:r>
                  <a:rPr lang="en-US" altLang="ko-KR" dirty="0">
                    <a:latin typeface="나눔고딕" panose="020D0604000000000000" pitchFamily="50" charset="-127"/>
                    <a:ea typeface="나눔고딕" panose="020D0604000000000000" pitchFamily="50" charset="-127"/>
                  </a:rPr>
                  <a:t>1</a:t>
                </a:r>
                <a:r>
                  <a:rPr lang="ko-KR" altLang="en-US" dirty="0">
                    <a:latin typeface="나눔고딕" panose="020D0604000000000000" pitchFamily="50" charset="-127"/>
                    <a:ea typeface="나눔고딕" panose="020D0604000000000000" pitchFamily="50" charset="-127"/>
                  </a:rPr>
                  <a:t>원에 의해 미래에 발생될 수익의 흐름을   현재가치로 평가한 것</a:t>
                </a:r>
                <a:endParaRPr lang="en-US" altLang="ko-KR" dirty="0">
                  <a:latin typeface="나눔고딕" panose="020D0604000000000000" pitchFamily="50" charset="-127"/>
                  <a:ea typeface="나눔고딕" panose="020D0604000000000000" pitchFamily="50" charset="-127"/>
                </a:endParaRPr>
              </a:p>
              <a:p>
                <a:pPr marL="444500" lvl="1">
                  <a:lnSpc>
                    <a:spcPct val="120000"/>
                  </a:lnSpc>
                </a:pPr>
                <a14:m>
                  <m:oMath xmlns:m="http://schemas.openxmlformats.org/officeDocument/2006/math">
                    <m:r>
                      <a:rPr lang="en-US" altLang="ko-KR" i="1">
                        <a:latin typeface="Cambria Math" panose="02040503050406030204" pitchFamily="18" charset="0"/>
                      </a:rPr>
                      <m:t>𝒂</m:t>
                    </m:r>
                  </m:oMath>
                </a14:m>
                <a:r>
                  <a:rPr lang="ko-KR" altLang="en-US" dirty="0">
                    <a:latin typeface="나눔고딕" panose="020D0604000000000000" pitchFamily="50" charset="-127"/>
                    <a:ea typeface="나눔고딕" panose="020D0604000000000000" pitchFamily="50" charset="-127"/>
                  </a:rPr>
                  <a:t>는 </a:t>
                </a:r>
                <a:r>
                  <a:rPr lang="en-US" altLang="ko-KR" dirty="0">
                    <a:latin typeface="나눔고딕" panose="020D0604000000000000" pitchFamily="50" charset="-127"/>
                    <a:ea typeface="나눔고딕" panose="020D0604000000000000" pitchFamily="50" charset="-127"/>
                  </a:rPr>
                  <a:t>1</a:t>
                </a:r>
                <a:r>
                  <a:rPr lang="ko-KR" altLang="en-US" dirty="0">
                    <a:latin typeface="나눔고딕" panose="020D0604000000000000" pitchFamily="50" charset="-127"/>
                    <a:ea typeface="나눔고딕" panose="020D0604000000000000" pitchFamily="50" charset="-127"/>
                  </a:rPr>
                  <a:t>보다 큰 값을 가지며 투자로 쓰일 자금에 이 값을 곱하면 실질적인 의미에서 소비의 단위로 환산된 결과가 나옴</a:t>
                </a:r>
                <a:endParaRPr lang="en-US" altLang="ko-KR" dirty="0">
                  <a:latin typeface="나눔고딕" panose="020D0604000000000000" pitchFamily="50" charset="-127"/>
                  <a:ea typeface="나눔고딕" panose="020D0604000000000000" pitchFamily="50" charset="-127"/>
                </a:endParaRPr>
              </a:p>
              <a:p>
                <a:pPr marL="444500" lvl="1">
                  <a:lnSpc>
                    <a:spcPct val="120000"/>
                  </a:lnSpc>
                </a:pPr>
                <a:r>
                  <a:rPr lang="ko-KR" altLang="en-US" dirty="0">
                    <a:latin typeface="나눔고딕" panose="020D0604000000000000" pitchFamily="50" charset="-127"/>
                    <a:ea typeface="나눔고딕" panose="020D0604000000000000" pitchFamily="50" charset="-127"/>
                  </a:rPr>
                  <a:t>이와</a:t>
                </a:r>
                <a:r>
                  <a:rPr lang="en-US" altLang="ko-KR" dirty="0">
                    <a:latin typeface="나눔고딕" panose="020D0604000000000000" pitchFamily="50" charset="-127"/>
                    <a:ea typeface="나눔고딕" panose="020D0604000000000000" pitchFamily="50" charset="-127"/>
                  </a:rPr>
                  <a:t> </a:t>
                </a:r>
                <a:r>
                  <a:rPr lang="ko-KR" altLang="en-US" dirty="0">
                    <a:latin typeface="나눔고딕" panose="020D0604000000000000" pitchFamily="50" charset="-127"/>
                    <a:ea typeface="나눔고딕" panose="020D0604000000000000" pitchFamily="50" charset="-127"/>
                  </a:rPr>
                  <a:t>같이 공공사업에 투입된 모든 자금을 소비 단위로 통일하고</a:t>
                </a:r>
                <a:r>
                  <a:rPr lang="en-US" altLang="ko-KR" dirty="0">
                    <a:latin typeface="나눔고딕" panose="020D0604000000000000" pitchFamily="50" charset="-127"/>
                    <a:ea typeface="나눔고딕" panose="020D0604000000000000" pitchFamily="50" charset="-127"/>
                  </a:rPr>
                  <a:t>, </a:t>
                </a:r>
                <a:r>
                  <a:rPr lang="ko-KR" altLang="en-US" dirty="0">
                    <a:latin typeface="나눔고딕" panose="020D0604000000000000" pitchFamily="50" charset="-127"/>
                    <a:ea typeface="나눔고딕" panose="020D0604000000000000" pitchFamily="50" charset="-127"/>
                  </a:rPr>
                  <a:t>자금이   민간부문의 소비에 전용된 경우에 준해 시간선호율을 할인율로 적용</a:t>
                </a:r>
                <a:endParaRPr lang="en-US" altLang="ko-KR" dirty="0">
                  <a:latin typeface="나눔고딕" panose="020D0604000000000000" pitchFamily="50" charset="-127"/>
                  <a:ea typeface="나눔고딕" panose="020D0604000000000000" pitchFamily="50" charset="-127"/>
                </a:endParaRPr>
              </a:p>
            </p:txBody>
          </p:sp>
        </mc:Choice>
        <mc:Fallback>
          <p:sp>
            <p:nvSpPr>
              <p:cNvPr id="3" name="내용 개체 틀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696" r="-696" b="-1154"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altLang="ko-KR">
                <a:latin typeface="나눔고딕" panose="020D0604000000000000" pitchFamily="50" charset="-127"/>
                <a:ea typeface="나눔고딕" panose="020D0604000000000000" pitchFamily="50" charset="-127"/>
              </a:rPr>
              <a:t>PUBLIC FINANCE</a:t>
            </a:r>
            <a:endParaRPr lang="ko-KR" altLang="en-US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ko-KR" altLang="en-US">
                <a:latin typeface="나눔고딕" panose="020D0604000000000000" pitchFamily="50" charset="-127"/>
                <a:ea typeface="나눔고딕" panose="020D0604000000000000" pitchFamily="50" charset="-127"/>
              </a:rPr>
              <a:t>제</a:t>
            </a:r>
            <a:r>
              <a:rPr lang="en-US" altLang="ko-KR">
                <a:latin typeface="나눔고딕" panose="020D0604000000000000" pitchFamily="50" charset="-127"/>
                <a:ea typeface="나눔고딕" panose="020D0604000000000000" pitchFamily="50" charset="-127"/>
              </a:rPr>
              <a:t>12</a:t>
            </a:r>
            <a:r>
              <a:rPr lang="ko-KR" altLang="en-US">
                <a:latin typeface="나눔고딕" panose="020D0604000000000000" pitchFamily="50" charset="-127"/>
                <a:ea typeface="나눔고딕" panose="020D0604000000000000" pitchFamily="50" charset="-127"/>
              </a:rPr>
              <a:t>장  비용편익분석</a:t>
            </a:r>
            <a:endParaRPr lang="ko-KR" altLang="en-US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6CA9FF6-BF29-4679-8C21-AEBAF2895125}" type="slidenum">
              <a:rPr lang="ko-KR" altLang="en-US" smtClean="0">
                <a:latin typeface="나눔고딕" panose="020D0604000000000000" pitchFamily="50" charset="-127"/>
                <a:ea typeface="나눔고딕" panose="020D0604000000000000" pitchFamily="50" charset="-127"/>
              </a:rPr>
              <a:t>33</a:t>
            </a:fld>
            <a:endParaRPr lang="ko-KR" altLang="en-US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3735876098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ko-KR" altLang="en-US" dirty="0">
                <a:latin typeface="나눔고딕" panose="020D0604000000000000" pitchFamily="50" charset="-127"/>
                <a:ea typeface="나눔고딕" panose="020D0604000000000000" pitchFamily="50" charset="-127"/>
              </a:rPr>
              <a:t>사회적 할인율의 도출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>
          <a:xfrm>
            <a:off x="628649" y="1422400"/>
            <a:ext cx="7961677" cy="4754563"/>
          </a:xfrm>
        </p:spPr>
        <p:txBody>
          <a:bodyPr anchor="ctr">
            <a:noAutofit/>
          </a:bodyPr>
          <a:lstStyle/>
          <a:p>
            <a:pPr marL="266700" indent="-266700">
              <a:lnSpc>
                <a:spcPct val="110000"/>
              </a:lnSpc>
              <a:buFont typeface="Wingdings" panose="05000000000000000000" pitchFamily="2" charset="2"/>
              <a:buChar char="§"/>
            </a:pPr>
            <a:r>
              <a:rPr lang="ko-KR" altLang="en-US" dirty="0">
                <a:latin typeface="나눔고딕" panose="020D0604000000000000" pitchFamily="50" charset="-127"/>
                <a:ea typeface="나눔고딕" panose="020D0604000000000000" pitchFamily="50" charset="-127"/>
              </a:rPr>
              <a:t>공공사업의 경우는 사회성을 중시해야 하기 때문에 사회적 관점에서 본 자금의 기회비용이라는 개념을 고려해 사회적 할인율을 적용하자는 견해 </a:t>
            </a:r>
            <a:r>
              <a:rPr lang="ko-KR" altLang="en-US" dirty="0"/>
              <a:t>⇒ </a:t>
            </a:r>
            <a:r>
              <a:rPr lang="ko-KR" altLang="en-US" dirty="0">
                <a:latin typeface="나눔고딕" panose="020D0604000000000000" pitchFamily="50" charset="-127"/>
                <a:ea typeface="나눔고딕" panose="020D0604000000000000" pitchFamily="50" charset="-127"/>
              </a:rPr>
              <a:t>사회적인 할인율                                                                     </a:t>
            </a:r>
            <a:r>
              <a:rPr lang="en-US" altLang="ko-KR" dirty="0">
                <a:latin typeface="나눔고딕" panose="020D0604000000000000" pitchFamily="50" charset="-127"/>
                <a:ea typeface="나눔고딕" panose="020D0604000000000000" pitchFamily="50" charset="-127"/>
              </a:rPr>
              <a:t>(</a:t>
            </a:r>
            <a:r>
              <a:rPr lang="ko-KR" altLang="en-US" dirty="0">
                <a:latin typeface="나눔고딕" panose="020D0604000000000000" pitchFamily="50" charset="-127"/>
                <a:ea typeface="나눔고딕" panose="020D0604000000000000" pitchFamily="50" charset="-127"/>
              </a:rPr>
              <a:t>사회적 관점을 명백하게 반영시킨 할인율이라는 의미</a:t>
            </a:r>
            <a:r>
              <a:rPr lang="en-US" altLang="ko-KR" dirty="0">
                <a:latin typeface="나눔고딕" panose="020D0604000000000000" pitchFamily="50" charset="-127"/>
                <a:ea typeface="나눔고딕" panose="020D0604000000000000" pitchFamily="50" charset="-127"/>
              </a:rPr>
              <a:t>)</a:t>
            </a:r>
            <a:endParaRPr lang="en-US" altLang="ko-KR" sz="200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  <a:p>
            <a:pPr marL="266700" indent="-266700">
              <a:lnSpc>
                <a:spcPct val="110000"/>
              </a:lnSpc>
              <a:buFont typeface="Wingdings" panose="05000000000000000000" pitchFamily="2" charset="2"/>
              <a:buChar char="§"/>
            </a:pPr>
            <a:r>
              <a:rPr lang="ko-KR" altLang="en-US" dirty="0">
                <a:latin typeface="나눔고딕" panose="020D0604000000000000" pitchFamily="50" charset="-127"/>
                <a:ea typeface="나눔고딕" panose="020D0604000000000000" pitchFamily="50" charset="-127"/>
              </a:rPr>
              <a:t>사회적 할인율은 민간부문에 적용되는 할인율보다 낮아야 한다는 주장</a:t>
            </a:r>
            <a:endParaRPr lang="en-US" altLang="ko-KR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  <a:p>
            <a:pPr marL="444500" lvl="1">
              <a:lnSpc>
                <a:spcPct val="110000"/>
              </a:lnSpc>
            </a:pPr>
            <a:r>
              <a:rPr lang="ko-KR" altLang="en-US" dirty="0">
                <a:latin typeface="나눔고딕" panose="020D0604000000000000" pitchFamily="50" charset="-127"/>
                <a:ea typeface="나눔고딕" panose="020D0604000000000000" pitchFamily="50" charset="-127"/>
              </a:rPr>
              <a:t>공공사업은 미래 세대에 미칠 영향까지 감안해 평가되어야 함</a:t>
            </a:r>
            <a:endParaRPr lang="en-US" altLang="ko-KR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  <a:p>
            <a:pPr marL="444500" lvl="1">
              <a:lnSpc>
                <a:spcPct val="110000"/>
              </a:lnSpc>
            </a:pPr>
            <a:r>
              <a:rPr lang="ko-KR" altLang="en-US" dirty="0">
                <a:latin typeface="나눔고딕" panose="020D0604000000000000" pitchFamily="50" charset="-127"/>
                <a:ea typeface="나눔고딕" panose="020D0604000000000000" pitchFamily="50" charset="-127"/>
              </a:rPr>
              <a:t>개인들이 본질적으로 근시안적</a:t>
            </a:r>
            <a:r>
              <a:rPr lang="en-US" altLang="ko-KR" dirty="0">
                <a:latin typeface="나눔고딕" panose="020D0604000000000000" pitchFamily="50" charset="-127"/>
                <a:ea typeface="나눔고딕" panose="020D0604000000000000" pitchFamily="50" charset="-127"/>
              </a:rPr>
              <a:t>(myopic)</a:t>
            </a:r>
            <a:r>
              <a:rPr lang="ko-KR" altLang="en-US" dirty="0">
                <a:latin typeface="나눔고딕" panose="020D0604000000000000" pitchFamily="50" charset="-127"/>
                <a:ea typeface="나눔고딕" panose="020D0604000000000000" pitchFamily="50" charset="-127"/>
              </a:rPr>
              <a:t>으로 의사결정을 내리므로              이를 교정해 줄 필요 있음</a:t>
            </a:r>
            <a:endParaRPr lang="en-US" altLang="ko-KR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  <a:p>
            <a:pPr marL="444500" lvl="1">
              <a:lnSpc>
                <a:spcPct val="110000"/>
              </a:lnSpc>
            </a:pPr>
            <a:r>
              <a:rPr lang="ko-KR" altLang="en-US" dirty="0">
                <a:latin typeface="나눔고딕" panose="020D0604000000000000" pitchFamily="50" charset="-127"/>
                <a:ea typeface="나눔고딕" panose="020D0604000000000000" pitchFamily="50" charset="-127"/>
              </a:rPr>
              <a:t>공공사업은 이로운 외부효과를 창출하므로 낮은 할인율을 적용해 공공사업이 적정한 수준에서 수행되도록 배려해야 함</a:t>
            </a:r>
            <a:endParaRPr lang="en-US" altLang="ko-KR" sz="200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  <a:p>
            <a:pPr marL="266700" indent="-266700">
              <a:lnSpc>
                <a:spcPct val="110000"/>
              </a:lnSpc>
            </a:pPr>
            <a:r>
              <a:rPr lang="ko-KR" altLang="en-US" dirty="0">
                <a:latin typeface="나눔고딕" panose="020D0604000000000000" pitchFamily="50" charset="-127"/>
                <a:ea typeface="나눔고딕" panose="020D0604000000000000" pitchFamily="50" charset="-127"/>
              </a:rPr>
              <a:t>사회적 할인율이 어떻게 도출되어야 하며 얼마나 낮아야 하는지에 대해서는 구체적 근거 찾기 어려움</a:t>
            </a:r>
            <a:endParaRPr lang="en-US" altLang="ko-KR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altLang="ko-KR">
                <a:latin typeface="나눔고딕" panose="020D0604000000000000" pitchFamily="50" charset="-127"/>
                <a:ea typeface="나눔고딕" panose="020D0604000000000000" pitchFamily="50" charset="-127"/>
              </a:rPr>
              <a:t>PUBLIC FINANCE</a:t>
            </a:r>
            <a:endParaRPr lang="ko-KR" altLang="en-US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ko-KR" altLang="en-US">
                <a:latin typeface="나눔고딕" panose="020D0604000000000000" pitchFamily="50" charset="-127"/>
                <a:ea typeface="나눔고딕" panose="020D0604000000000000" pitchFamily="50" charset="-127"/>
              </a:rPr>
              <a:t>제</a:t>
            </a:r>
            <a:r>
              <a:rPr lang="en-US" altLang="ko-KR">
                <a:latin typeface="나눔고딕" panose="020D0604000000000000" pitchFamily="50" charset="-127"/>
                <a:ea typeface="나눔고딕" panose="020D0604000000000000" pitchFamily="50" charset="-127"/>
              </a:rPr>
              <a:t>12</a:t>
            </a:r>
            <a:r>
              <a:rPr lang="ko-KR" altLang="en-US">
                <a:latin typeface="나눔고딕" panose="020D0604000000000000" pitchFamily="50" charset="-127"/>
                <a:ea typeface="나눔고딕" panose="020D0604000000000000" pitchFamily="50" charset="-127"/>
              </a:rPr>
              <a:t>장  비용편익분석</a:t>
            </a:r>
            <a:endParaRPr lang="ko-KR" altLang="en-US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6CA9FF6-BF29-4679-8C21-AEBAF2895125}" type="slidenum">
              <a:rPr lang="ko-KR" altLang="en-US" smtClean="0">
                <a:latin typeface="나눔고딕" panose="020D0604000000000000" pitchFamily="50" charset="-127"/>
                <a:ea typeface="나눔고딕" panose="020D0604000000000000" pitchFamily="50" charset="-127"/>
              </a:rPr>
              <a:t>34</a:t>
            </a:fld>
            <a:endParaRPr lang="ko-KR" altLang="en-US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2631975385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altLang="ko-KR" dirty="0">
                <a:latin typeface="나눔고딕" panose="020D0604000000000000" pitchFamily="50" charset="-127"/>
                <a:ea typeface="나눔고딕" panose="020D0604000000000000" pitchFamily="50" charset="-127"/>
              </a:rPr>
              <a:t>12.6  </a:t>
            </a:r>
            <a:r>
              <a:rPr lang="ko-KR" altLang="en-US" dirty="0">
                <a:latin typeface="나눔고딕" panose="020D0604000000000000" pitchFamily="50" charset="-127"/>
                <a:ea typeface="나눔고딕" panose="020D0604000000000000" pitchFamily="50" charset="-127"/>
              </a:rPr>
              <a:t>위험성의 문제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>
          <a:xfrm>
            <a:off x="628649" y="1422400"/>
            <a:ext cx="7961677" cy="4754563"/>
          </a:xfrm>
        </p:spPr>
        <p:txBody>
          <a:bodyPr anchor="ctr">
            <a:noAutofit/>
          </a:bodyPr>
          <a:lstStyle/>
          <a:p>
            <a:pPr marL="266700" indent="-266700">
              <a:buFont typeface="Wingdings" panose="05000000000000000000" pitchFamily="2" charset="2"/>
              <a:buChar char="§"/>
            </a:pPr>
            <a:r>
              <a:rPr lang="ko-KR" altLang="en-US" dirty="0">
                <a:latin typeface="나눔고딕" panose="020D0604000000000000" pitchFamily="50" charset="-127"/>
                <a:ea typeface="나눔고딕" panose="020D0604000000000000" pitchFamily="50" charset="-127"/>
              </a:rPr>
              <a:t>위험성이 개재된 공공사업을 평가할 때</a:t>
            </a:r>
            <a:r>
              <a:rPr lang="en-US" altLang="ko-KR" dirty="0">
                <a:latin typeface="나눔고딕" panose="020D0604000000000000" pitchFamily="50" charset="-127"/>
                <a:ea typeface="나눔고딕" panose="020D0604000000000000" pitchFamily="50" charset="-127"/>
              </a:rPr>
              <a:t>, </a:t>
            </a:r>
            <a:r>
              <a:rPr lang="ko-KR" altLang="en-US" dirty="0">
                <a:latin typeface="나눔고딕" panose="020D0604000000000000" pitchFamily="50" charset="-127"/>
                <a:ea typeface="나눔고딕" panose="020D0604000000000000" pitchFamily="50" charset="-127"/>
              </a:rPr>
              <a:t>위험성이 전혀 없는 사업보다 더 높은 할인율을 적용해야 한다는 주장</a:t>
            </a:r>
            <a:r>
              <a:rPr lang="en-US" altLang="ko-KR" dirty="0">
                <a:latin typeface="나눔고딕" panose="020D0604000000000000" pitchFamily="50" charset="-127"/>
                <a:ea typeface="나눔고딕" panose="020D0604000000000000" pitchFamily="50" charset="-127"/>
              </a:rPr>
              <a:t> </a:t>
            </a:r>
            <a:r>
              <a:rPr lang="ko-KR" altLang="en-US" dirty="0">
                <a:latin typeface="나눔고딕" panose="020D0604000000000000" pitchFamily="50" charset="-127"/>
                <a:ea typeface="나눔고딕" panose="020D0604000000000000" pitchFamily="50" charset="-127"/>
              </a:rPr>
              <a:t>있음</a:t>
            </a:r>
            <a:endParaRPr lang="en-US" altLang="ko-KR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  <a:p>
            <a:pPr marL="444500" lvl="1"/>
            <a:r>
              <a:rPr lang="ko-KR" altLang="en-US" dirty="0">
                <a:latin typeface="나눔고딕" panose="020D0604000000000000" pitchFamily="50" charset="-127"/>
                <a:ea typeface="나눔고딕" panose="020D0604000000000000" pitchFamily="50" charset="-127"/>
              </a:rPr>
              <a:t>공공사업의 비용이 주로 초기에 발생하고</a:t>
            </a:r>
            <a:r>
              <a:rPr lang="en-US" altLang="ko-KR" dirty="0">
                <a:latin typeface="나눔고딕" panose="020D0604000000000000" pitchFamily="50" charset="-127"/>
                <a:ea typeface="나눔고딕" panose="020D0604000000000000" pitchFamily="50" charset="-127"/>
              </a:rPr>
              <a:t>,</a:t>
            </a:r>
            <a:r>
              <a:rPr lang="ko-KR" altLang="en-US" dirty="0">
                <a:latin typeface="나눔고딕" panose="020D0604000000000000" pitchFamily="50" charset="-127"/>
                <a:ea typeface="나눔고딕" panose="020D0604000000000000" pitchFamily="50" charset="-127"/>
              </a:rPr>
              <a:t> 편익은 장기간에 걸쳐 비교적 고른 흐름으로 발생한다는 암묵적 전제</a:t>
            </a:r>
            <a:endParaRPr lang="en-US" altLang="ko-KR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  <a:p>
            <a:pPr marL="444500" lvl="1"/>
            <a:r>
              <a:rPr lang="ko-KR" altLang="en-US" dirty="0">
                <a:latin typeface="나눔고딕" panose="020D0604000000000000" pitchFamily="50" charset="-127"/>
                <a:ea typeface="나눔고딕" panose="020D0604000000000000" pitchFamily="50" charset="-127"/>
              </a:rPr>
              <a:t>미래에 생길 편익에 높은 할인율을 적용하여 현재가치를 작게 만드는 것을  통해 위험성에 대한 조정을 할 수 있다는 생각</a:t>
            </a:r>
            <a:endParaRPr lang="en-US" altLang="ko-KR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  <a:p>
            <a:pPr lvl="1"/>
            <a:endParaRPr lang="en-US" altLang="ko-KR" sz="500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  <a:p>
            <a:pPr marL="266700" indent="-266700"/>
            <a:r>
              <a:rPr lang="ko-KR" altLang="en-US" dirty="0" err="1">
                <a:latin typeface="나눔고딕" panose="020D0604000000000000" pitchFamily="50" charset="-127"/>
                <a:ea typeface="나눔고딕" panose="020D0604000000000000" pitchFamily="50" charset="-127"/>
              </a:rPr>
              <a:t>스티글리츠</a:t>
            </a:r>
            <a:r>
              <a:rPr lang="en-US" altLang="ko-KR" dirty="0">
                <a:latin typeface="나눔고딕" panose="020D0604000000000000" pitchFamily="50" charset="-127"/>
                <a:ea typeface="나눔고딕" panose="020D0604000000000000" pitchFamily="50" charset="-127"/>
              </a:rPr>
              <a:t>(J. Stiglitz) : </a:t>
            </a:r>
            <a:r>
              <a:rPr lang="ko-KR" altLang="en-US" dirty="0">
                <a:latin typeface="나눔고딕" panose="020D0604000000000000" pitchFamily="50" charset="-127"/>
                <a:ea typeface="나눔고딕" panose="020D0604000000000000" pitchFamily="50" charset="-127"/>
              </a:rPr>
              <a:t>할인율을 통해 위험성에 대한 조정을 하는     것은 바람직하지 않다고 지적</a:t>
            </a:r>
            <a:endParaRPr lang="en-US" altLang="ko-KR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  <a:p>
            <a:pPr marL="444500" lvl="1"/>
            <a:r>
              <a:rPr lang="en-US" altLang="ko-KR" dirty="0">
                <a:latin typeface="나눔고딕" panose="020D0604000000000000" pitchFamily="50" charset="-127"/>
                <a:ea typeface="나눔고딕" panose="020D0604000000000000" pitchFamily="50" charset="-127"/>
              </a:rPr>
              <a:t>(</a:t>
            </a:r>
            <a:r>
              <a:rPr lang="ko-KR" altLang="en-US" dirty="0">
                <a:latin typeface="나눔고딕" panose="020D0604000000000000" pitchFamily="50" charset="-127"/>
                <a:ea typeface="나눔고딕" panose="020D0604000000000000" pitchFamily="50" charset="-127"/>
              </a:rPr>
              <a:t>시간</a:t>
            </a:r>
            <a:r>
              <a:rPr lang="en-US" altLang="ko-KR" dirty="0">
                <a:latin typeface="나눔고딕" panose="020D0604000000000000" pitchFamily="50" charset="-127"/>
                <a:ea typeface="나눔고딕" panose="020D0604000000000000" pitchFamily="50" charset="-127"/>
              </a:rPr>
              <a:t>)</a:t>
            </a:r>
            <a:r>
              <a:rPr lang="ko-KR" altLang="en-US" dirty="0">
                <a:latin typeface="나눔고딕" panose="020D0604000000000000" pitchFamily="50" charset="-127"/>
                <a:ea typeface="나눔고딕" panose="020D0604000000000000" pitchFamily="50" charset="-127"/>
              </a:rPr>
              <a:t>할인율은 어디까지나 미래의 가치를 현재가치로 전환하는 수단일      뿐이며 위험성에 대한 조정의 역할에 사용되어서는 안 된다고 주장</a:t>
            </a:r>
            <a:endParaRPr lang="en-US" altLang="ko-KR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altLang="ko-KR">
                <a:latin typeface="나눔고딕" panose="020D0604000000000000" pitchFamily="50" charset="-127"/>
                <a:ea typeface="나눔고딕" panose="020D0604000000000000" pitchFamily="50" charset="-127"/>
              </a:rPr>
              <a:t>PUBLIC FINANCE</a:t>
            </a:r>
            <a:endParaRPr lang="ko-KR" altLang="en-US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ko-KR" altLang="en-US">
                <a:latin typeface="나눔고딕" panose="020D0604000000000000" pitchFamily="50" charset="-127"/>
                <a:ea typeface="나눔고딕" panose="020D0604000000000000" pitchFamily="50" charset="-127"/>
              </a:rPr>
              <a:t>제</a:t>
            </a:r>
            <a:r>
              <a:rPr lang="en-US" altLang="ko-KR">
                <a:latin typeface="나눔고딕" panose="020D0604000000000000" pitchFamily="50" charset="-127"/>
                <a:ea typeface="나눔고딕" panose="020D0604000000000000" pitchFamily="50" charset="-127"/>
              </a:rPr>
              <a:t>12</a:t>
            </a:r>
            <a:r>
              <a:rPr lang="ko-KR" altLang="en-US">
                <a:latin typeface="나눔고딕" panose="020D0604000000000000" pitchFamily="50" charset="-127"/>
                <a:ea typeface="나눔고딕" panose="020D0604000000000000" pitchFamily="50" charset="-127"/>
              </a:rPr>
              <a:t>장  비용편익분석</a:t>
            </a:r>
            <a:endParaRPr lang="ko-KR" altLang="en-US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6CA9FF6-BF29-4679-8C21-AEBAF2895125}" type="slidenum">
              <a:rPr lang="ko-KR" altLang="en-US" smtClean="0">
                <a:latin typeface="나눔고딕" panose="020D0604000000000000" pitchFamily="50" charset="-127"/>
                <a:ea typeface="나눔고딕" panose="020D0604000000000000" pitchFamily="50" charset="-127"/>
              </a:rPr>
              <a:t>35</a:t>
            </a:fld>
            <a:endParaRPr lang="ko-KR" altLang="en-US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1827895019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ko-KR" altLang="en-US" dirty="0" err="1">
                <a:latin typeface="나눔고딕" panose="020D0604000000000000" pitchFamily="50" charset="-127"/>
                <a:ea typeface="나눔고딕" panose="020D0604000000000000" pitchFamily="50" charset="-127"/>
              </a:rPr>
              <a:t>확실대등액을</a:t>
            </a:r>
            <a:r>
              <a:rPr lang="ko-KR" altLang="en-US" dirty="0">
                <a:latin typeface="나눔고딕" panose="020D0604000000000000" pitchFamily="50" charset="-127"/>
                <a:ea typeface="나눔고딕" panose="020D0604000000000000" pitchFamily="50" charset="-127"/>
              </a:rPr>
              <a:t> 통한 조정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 anchor="ctr">
            <a:noAutofit/>
          </a:bodyPr>
          <a:lstStyle/>
          <a:p>
            <a:pPr marL="266700" indent="-266700"/>
            <a:r>
              <a:rPr lang="ko-KR" altLang="en-US" sz="1800" dirty="0" err="1">
                <a:latin typeface="나눔고딕" panose="020D0604000000000000" pitchFamily="50" charset="-127"/>
                <a:ea typeface="나눔고딕" panose="020D0604000000000000" pitchFamily="50" charset="-127"/>
              </a:rPr>
              <a:t>확실대등액의</a:t>
            </a:r>
            <a:r>
              <a:rPr lang="ko-KR" altLang="en-US" sz="18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 개념을 불확실성이 있는 공공사업 평가에 활용할 수 있음</a:t>
            </a:r>
            <a:endParaRPr lang="en-US" altLang="ko-KR" sz="1800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  <a:p>
            <a:pPr marL="444500" lvl="1"/>
            <a:r>
              <a:rPr lang="ko-KR" altLang="en-US" sz="1600" b="1" dirty="0" err="1">
                <a:solidFill>
                  <a:schemeClr val="accent1">
                    <a:lumMod val="7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확실대등액</a:t>
            </a:r>
            <a:r>
              <a:rPr lang="en-US" altLang="ko-KR" sz="1600" dirty="0">
                <a:solidFill>
                  <a:schemeClr val="accent1">
                    <a:lumMod val="7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(certainty equivalents) </a:t>
            </a:r>
            <a:r>
              <a:rPr lang="en-US" altLang="ko-KR" sz="16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: </a:t>
            </a:r>
            <a:r>
              <a:rPr lang="ko-KR" altLang="en-US" sz="16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불확실한 편익이나 비용에 대하여 이와 동일한 효용을 주는 확실한 편익이나 비용의 가치</a:t>
            </a:r>
            <a:endParaRPr lang="en-US" altLang="ko-KR" sz="1600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  <a:p>
            <a:pPr marL="444500" lvl="1"/>
            <a:r>
              <a:rPr lang="ko-KR" altLang="en-US" sz="16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위험기피적인 경우 불확실한 편익에 대한 </a:t>
            </a:r>
            <a:r>
              <a:rPr lang="ko-KR" altLang="en-US" sz="1600" dirty="0" err="1">
                <a:latin typeface="나눔고딕" panose="020D0604000000000000" pitchFamily="50" charset="-127"/>
                <a:ea typeface="나눔고딕" panose="020D0604000000000000" pitchFamily="50" charset="-127"/>
              </a:rPr>
              <a:t>확실대등액은</a:t>
            </a:r>
            <a:r>
              <a:rPr lang="ko-KR" altLang="en-US" sz="16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 그 편익의 </a:t>
            </a:r>
            <a:r>
              <a:rPr lang="ko-KR" altLang="en-US" sz="1600" dirty="0" err="1">
                <a:latin typeface="나눔고딕" panose="020D0604000000000000" pitchFamily="50" charset="-127"/>
                <a:ea typeface="나눔고딕" panose="020D0604000000000000" pitchFamily="50" charset="-127"/>
              </a:rPr>
              <a:t>기대값보다</a:t>
            </a:r>
            <a:r>
              <a:rPr lang="ko-KR" altLang="en-US" sz="16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 낮게   나타남 ⇒ 위험에 대한 할인</a:t>
            </a:r>
            <a:endParaRPr lang="en-US" altLang="ko-KR" sz="200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  <a:p>
            <a:pPr marL="266700" indent="-266700"/>
            <a:r>
              <a:rPr lang="ko-KR" altLang="en-US" sz="18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위험성이 개재된 공공사업을 평가할 때 불확실한 비용이나 편익에 적절한 위험할인을 하여 확실대등액으로 바꾼 다음 이 수치들을 가지고 보통의 공공사업을 평가할 때와 똑같은 단계를 밟음</a:t>
            </a:r>
            <a:endParaRPr lang="en-US" altLang="ko-KR" sz="300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  <a:p>
            <a:pPr marL="266700" indent="-266700"/>
            <a:r>
              <a:rPr lang="ko-KR" altLang="en-US" sz="18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문제는 공공사업과 관련된 위험성을 어떻게 평가해야 하느냐에 있음</a:t>
            </a:r>
            <a:r>
              <a:rPr lang="en-US" altLang="ko-KR" sz="18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 </a:t>
            </a:r>
          </a:p>
          <a:p>
            <a:pPr marL="444500" lvl="1"/>
            <a:r>
              <a:rPr lang="ko-KR" altLang="en-US" sz="16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시장이 존재하지 않는 불확실한 편익의 경우 이에 대한 평가가 어려움</a:t>
            </a:r>
            <a:endParaRPr lang="en-US" altLang="ko-KR" sz="1600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  <a:p>
            <a:pPr marL="444500" lvl="1"/>
            <a:r>
              <a:rPr lang="ko-KR" altLang="en-US" sz="16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위험성을 제대로 평가하기 위해서는 비용과 편익의 확률분포를 잘 알고 있어야 하는데 이는 현실적으로 불가능함</a:t>
            </a:r>
            <a:endParaRPr lang="en-US" altLang="ko-KR" sz="1600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altLang="ko-KR">
                <a:latin typeface="나눔고딕" panose="020D0604000000000000" pitchFamily="50" charset="-127"/>
                <a:ea typeface="나눔고딕" panose="020D0604000000000000" pitchFamily="50" charset="-127"/>
              </a:rPr>
              <a:t>PUBLIC FINANCE</a:t>
            </a:r>
            <a:endParaRPr lang="ko-KR" altLang="en-US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ko-KR" altLang="en-US">
                <a:latin typeface="나눔고딕" panose="020D0604000000000000" pitchFamily="50" charset="-127"/>
                <a:ea typeface="나눔고딕" panose="020D0604000000000000" pitchFamily="50" charset="-127"/>
              </a:rPr>
              <a:t>제</a:t>
            </a:r>
            <a:r>
              <a:rPr lang="en-US" altLang="ko-KR">
                <a:latin typeface="나눔고딕" panose="020D0604000000000000" pitchFamily="50" charset="-127"/>
                <a:ea typeface="나눔고딕" panose="020D0604000000000000" pitchFamily="50" charset="-127"/>
              </a:rPr>
              <a:t>12</a:t>
            </a:r>
            <a:r>
              <a:rPr lang="ko-KR" altLang="en-US">
                <a:latin typeface="나눔고딕" panose="020D0604000000000000" pitchFamily="50" charset="-127"/>
                <a:ea typeface="나눔고딕" panose="020D0604000000000000" pitchFamily="50" charset="-127"/>
              </a:rPr>
              <a:t>장  비용편익분석</a:t>
            </a:r>
            <a:endParaRPr lang="ko-KR" altLang="en-US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6CA9FF6-BF29-4679-8C21-AEBAF2895125}" type="slidenum">
              <a:rPr lang="ko-KR" altLang="en-US" smtClean="0">
                <a:latin typeface="나눔고딕" panose="020D0604000000000000" pitchFamily="50" charset="-127"/>
                <a:ea typeface="나눔고딕" panose="020D0604000000000000" pitchFamily="50" charset="-127"/>
              </a:rPr>
              <a:t>36</a:t>
            </a:fld>
            <a:endParaRPr lang="ko-KR" altLang="en-US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3357445920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altLang="ko-KR" dirty="0">
                <a:latin typeface="나눔고딕" panose="020D0604000000000000" pitchFamily="50" charset="-127"/>
                <a:ea typeface="나눔고딕" panose="020D0604000000000000" pitchFamily="50" charset="-127"/>
              </a:rPr>
              <a:t>12.7  </a:t>
            </a:r>
            <a:r>
              <a:rPr lang="ko-KR" altLang="en-US" dirty="0">
                <a:latin typeface="나눔고딕" panose="020D0604000000000000" pitchFamily="50" charset="-127"/>
                <a:ea typeface="나눔고딕" panose="020D0604000000000000" pitchFamily="50" charset="-127"/>
              </a:rPr>
              <a:t>현실의 비용편익분석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 anchor="ctr">
            <a:noAutofit/>
          </a:bodyPr>
          <a:lstStyle/>
          <a:p>
            <a:pPr marL="266700" indent="-266700">
              <a:buFont typeface="Wingdings" panose="05000000000000000000" pitchFamily="2" charset="2"/>
              <a:buChar char="§"/>
            </a:pPr>
            <a:r>
              <a:rPr lang="ko-KR" altLang="en-US" dirty="0">
                <a:latin typeface="나눔고딕" panose="020D0604000000000000" pitchFamily="50" charset="-127"/>
                <a:ea typeface="나눔고딕" panose="020D0604000000000000" pitchFamily="50" charset="-127"/>
              </a:rPr>
              <a:t>치칠니스키</a:t>
            </a:r>
            <a:r>
              <a:rPr lang="en-US" altLang="ko-KR" dirty="0">
                <a:latin typeface="나눔고딕" panose="020D0604000000000000" pitchFamily="50" charset="-127"/>
                <a:ea typeface="나눔고딕" panose="020D0604000000000000" pitchFamily="50" charset="-127"/>
              </a:rPr>
              <a:t>(G. </a:t>
            </a:r>
            <a:r>
              <a:rPr lang="en-US" altLang="ko-KR" dirty="0" err="1">
                <a:latin typeface="나눔고딕" panose="020D0604000000000000" pitchFamily="50" charset="-127"/>
                <a:ea typeface="나눔고딕" panose="020D0604000000000000" pitchFamily="50" charset="-127"/>
              </a:rPr>
              <a:t>Chichilnisky</a:t>
            </a:r>
            <a:r>
              <a:rPr lang="en-US" altLang="ko-KR" dirty="0">
                <a:latin typeface="나눔고딕" panose="020D0604000000000000" pitchFamily="50" charset="-127"/>
                <a:ea typeface="나눔고딕" panose="020D0604000000000000" pitchFamily="50" charset="-127"/>
              </a:rPr>
              <a:t>) : </a:t>
            </a:r>
            <a:r>
              <a:rPr lang="ko-KR" altLang="en-US" dirty="0">
                <a:latin typeface="나눔고딕" panose="020D0604000000000000" pitchFamily="50" charset="-127"/>
                <a:ea typeface="나눔고딕" panose="020D0604000000000000" pitchFamily="50" charset="-127"/>
              </a:rPr>
              <a:t>일기예보에 비유해 비용편익분석을    어떻게 받아들여야 하는지 설명 </a:t>
            </a:r>
            <a:r>
              <a:rPr lang="en-US" altLang="ko-KR" dirty="0">
                <a:latin typeface="나눔고딕" panose="020D0604000000000000" pitchFamily="50" charset="-127"/>
                <a:ea typeface="나눔고딕" panose="020D0604000000000000" pitchFamily="50" charset="-127"/>
              </a:rPr>
              <a:t>(</a:t>
            </a:r>
            <a:r>
              <a:rPr lang="ko-KR" altLang="en-US" dirty="0">
                <a:latin typeface="나눔고딕" panose="020D0604000000000000" pitchFamily="50" charset="-127"/>
                <a:ea typeface="나눔고딕" panose="020D0604000000000000" pitchFamily="50" charset="-127"/>
              </a:rPr>
              <a:t>일반적으로 유용한 정보를 주지만</a:t>
            </a:r>
            <a:r>
              <a:rPr lang="en-US" altLang="ko-KR" dirty="0">
                <a:latin typeface="나눔고딕" panose="020D0604000000000000" pitchFamily="50" charset="-127"/>
                <a:ea typeface="나눔고딕" panose="020D0604000000000000" pitchFamily="50" charset="-127"/>
              </a:rPr>
              <a:t>,   </a:t>
            </a:r>
            <a:r>
              <a:rPr lang="ko-KR" altLang="en-US" dirty="0">
                <a:latin typeface="나눔고딕" panose="020D0604000000000000" pitchFamily="50" charset="-127"/>
                <a:ea typeface="나눔고딕" panose="020D0604000000000000" pitchFamily="50" charset="-127"/>
              </a:rPr>
              <a:t>때로는 잘못된 정보도 줄 수 있다는 점</a:t>
            </a:r>
            <a:r>
              <a:rPr lang="en-US" altLang="ko-KR" dirty="0">
                <a:latin typeface="나눔고딕" panose="020D0604000000000000" pitchFamily="50" charset="-127"/>
                <a:ea typeface="나눔고딕" panose="020D0604000000000000" pitchFamily="50" charset="-127"/>
              </a:rPr>
              <a:t>)</a:t>
            </a:r>
          </a:p>
          <a:p>
            <a:pPr marL="444500" lvl="1"/>
            <a:r>
              <a:rPr lang="ko-KR" altLang="en-US" dirty="0">
                <a:latin typeface="나눔고딕" panose="020D0604000000000000" pitchFamily="50" charset="-127"/>
                <a:ea typeface="나눔고딕" panose="020D0604000000000000" pitchFamily="50" charset="-127"/>
              </a:rPr>
              <a:t>비용과 편익을 어느 가격에 의해 평가하느냐에 따라 쉽게 분석 결과가 뒤집어질 수 있음을 지적</a:t>
            </a:r>
            <a:endParaRPr lang="en-US" altLang="ko-KR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  <a:p>
            <a:pPr marL="444500" lvl="1"/>
            <a:r>
              <a:rPr lang="ko-KR" altLang="en-US" dirty="0">
                <a:latin typeface="나눔고딕" panose="020D0604000000000000" pitchFamily="50" charset="-127"/>
                <a:ea typeface="나눔고딕" panose="020D0604000000000000" pitchFamily="50" charset="-127"/>
              </a:rPr>
              <a:t>사회적 할인율을 어떤 수준으로 정하느냐에 따라 분석결과가 크게 달라질 수 있다는 사실도 지적</a:t>
            </a:r>
            <a:endParaRPr lang="en-US" altLang="ko-KR" sz="500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  <a:p>
            <a:pPr marL="266700" indent="-266700"/>
            <a:r>
              <a:rPr lang="ko-KR" altLang="en-US" dirty="0">
                <a:latin typeface="나눔고딕" panose="020D0604000000000000" pitchFamily="50" charset="-127"/>
                <a:ea typeface="나눔고딕" panose="020D0604000000000000" pitchFamily="50" charset="-127"/>
              </a:rPr>
              <a:t>비용편익분석을 정직하게 수행한다 해도 객관적으로 타당한 비용편익분석의 결과를 얻기 어려움</a:t>
            </a:r>
            <a:endParaRPr lang="en-US" altLang="ko-KR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  <a:p>
            <a:pPr marL="444500" lvl="1"/>
            <a:r>
              <a:rPr lang="ko-KR" altLang="en-US" dirty="0">
                <a:latin typeface="나눔고딕" panose="020D0604000000000000" pitchFamily="50" charset="-127"/>
                <a:ea typeface="나눔고딕" panose="020D0604000000000000" pitchFamily="50" charset="-127"/>
              </a:rPr>
              <a:t>현실에서는 의도적인 왜곡평가를 하려는 유인이 강하게 존재하기 때문에    문제가 더욱 심각해짐</a:t>
            </a:r>
            <a:endParaRPr lang="en-US" altLang="ko-KR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altLang="ko-KR">
                <a:latin typeface="나눔고딕" panose="020D0604000000000000" pitchFamily="50" charset="-127"/>
                <a:ea typeface="나눔고딕" panose="020D0604000000000000" pitchFamily="50" charset="-127"/>
              </a:rPr>
              <a:t>PUBLIC FINANCE</a:t>
            </a:r>
            <a:endParaRPr lang="ko-KR" altLang="en-US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ko-KR" altLang="en-US">
                <a:latin typeface="나눔고딕" panose="020D0604000000000000" pitchFamily="50" charset="-127"/>
                <a:ea typeface="나눔고딕" panose="020D0604000000000000" pitchFamily="50" charset="-127"/>
              </a:rPr>
              <a:t>제</a:t>
            </a:r>
            <a:r>
              <a:rPr lang="en-US" altLang="ko-KR">
                <a:latin typeface="나눔고딕" panose="020D0604000000000000" pitchFamily="50" charset="-127"/>
                <a:ea typeface="나눔고딕" panose="020D0604000000000000" pitchFamily="50" charset="-127"/>
              </a:rPr>
              <a:t>12</a:t>
            </a:r>
            <a:r>
              <a:rPr lang="ko-KR" altLang="en-US">
                <a:latin typeface="나눔고딕" panose="020D0604000000000000" pitchFamily="50" charset="-127"/>
                <a:ea typeface="나눔고딕" panose="020D0604000000000000" pitchFamily="50" charset="-127"/>
              </a:rPr>
              <a:t>장  비용편익분석</a:t>
            </a:r>
            <a:endParaRPr lang="ko-KR" altLang="en-US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6CA9FF6-BF29-4679-8C21-AEBAF2895125}" type="slidenum">
              <a:rPr lang="ko-KR" altLang="en-US" smtClean="0">
                <a:latin typeface="나눔고딕" panose="020D0604000000000000" pitchFamily="50" charset="-127"/>
                <a:ea typeface="나눔고딕" panose="020D0604000000000000" pitchFamily="50" charset="-127"/>
              </a:rPr>
              <a:t>37</a:t>
            </a:fld>
            <a:endParaRPr lang="ko-KR" altLang="en-US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4128646104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altLang="ko-KR" dirty="0">
                <a:latin typeface="나눔고딕" panose="020D0604000000000000" pitchFamily="50" charset="-127"/>
                <a:ea typeface="나눔고딕" panose="020D0604000000000000" pitchFamily="50" charset="-127"/>
              </a:rPr>
              <a:t> </a:t>
            </a:r>
            <a:r>
              <a:rPr lang="ko-KR" altLang="en-US" dirty="0">
                <a:latin typeface="나눔고딕" panose="020D0604000000000000" pitchFamily="50" charset="-127"/>
                <a:ea typeface="나눔고딕" panose="020D0604000000000000" pitchFamily="50" charset="-127"/>
              </a:rPr>
              <a:t>현실의 비용편익분석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 anchor="ctr">
            <a:noAutofit/>
          </a:bodyPr>
          <a:lstStyle/>
          <a:p>
            <a:pPr marL="266700" indent="-266700">
              <a:lnSpc>
                <a:spcPct val="150000"/>
              </a:lnSpc>
              <a:spcAft>
                <a:spcPts val="1000"/>
              </a:spcAft>
            </a:pPr>
            <a:r>
              <a:rPr lang="ko-KR" altLang="en-US" dirty="0">
                <a:latin typeface="나눔고딕" panose="020D0604000000000000" pitchFamily="50" charset="-127"/>
                <a:ea typeface="나눔고딕" panose="020D0604000000000000" pitchFamily="50" charset="-127"/>
              </a:rPr>
              <a:t>현실의 비용편익분석 사례</a:t>
            </a:r>
            <a:endParaRPr lang="en-US" altLang="ko-KR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  <a:p>
            <a:pPr marL="444500" lvl="1">
              <a:lnSpc>
                <a:spcPct val="150000"/>
              </a:lnSpc>
              <a:spcAft>
                <a:spcPts val="1000"/>
              </a:spcAft>
            </a:pPr>
            <a:r>
              <a:rPr lang="ko-KR" altLang="en-US" dirty="0" err="1">
                <a:latin typeface="나눔고딕" panose="020D0604000000000000" pitchFamily="50" charset="-127"/>
                <a:ea typeface="나눔고딕" panose="020D0604000000000000" pitchFamily="50" charset="-127"/>
              </a:rPr>
              <a:t>새만금</a:t>
            </a:r>
            <a:r>
              <a:rPr lang="ko-KR" altLang="en-US" dirty="0">
                <a:latin typeface="나눔고딕" panose="020D0604000000000000" pitchFamily="50" charset="-127"/>
                <a:ea typeface="나눔고딕" panose="020D0604000000000000" pitchFamily="50" charset="-127"/>
              </a:rPr>
              <a:t> 간척사업 </a:t>
            </a:r>
            <a:r>
              <a:rPr lang="en-US" altLang="ko-KR" dirty="0">
                <a:latin typeface="나눔고딕" panose="020D0604000000000000" pitchFamily="50" charset="-127"/>
                <a:ea typeface="나눔고딕" panose="020D0604000000000000" pitchFamily="50" charset="-127"/>
              </a:rPr>
              <a:t>: </a:t>
            </a:r>
            <a:r>
              <a:rPr lang="ko-KR" altLang="en-US" dirty="0">
                <a:latin typeface="나눔고딕" panose="020D0604000000000000" pitchFamily="50" charset="-127"/>
                <a:ea typeface="나눔고딕" panose="020D0604000000000000" pitchFamily="50" charset="-127"/>
              </a:rPr>
              <a:t>전형적 편익 부풀리기</a:t>
            </a:r>
            <a:endParaRPr lang="en-US" altLang="ko-KR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  <a:p>
            <a:pPr marL="444500" lvl="1">
              <a:lnSpc>
                <a:spcPct val="150000"/>
              </a:lnSpc>
              <a:spcAft>
                <a:spcPts val="1000"/>
              </a:spcAft>
            </a:pPr>
            <a:r>
              <a:rPr lang="ko-KR" altLang="en-US" dirty="0">
                <a:latin typeface="나눔고딕" panose="020D0604000000000000" pitchFamily="50" charset="-127"/>
                <a:ea typeface="나눔고딕" panose="020D0604000000000000" pitchFamily="50" charset="-127"/>
              </a:rPr>
              <a:t>한반도대운하사업 </a:t>
            </a:r>
            <a:r>
              <a:rPr lang="en-US" altLang="ko-KR" dirty="0">
                <a:latin typeface="나눔고딕" panose="020D0604000000000000" pitchFamily="50" charset="-127"/>
                <a:ea typeface="나눔고딕" panose="020D0604000000000000" pitchFamily="50" charset="-127"/>
              </a:rPr>
              <a:t>: </a:t>
            </a:r>
            <a:r>
              <a:rPr lang="ko-KR" altLang="en-US" dirty="0">
                <a:latin typeface="나눔고딕" panose="020D0604000000000000" pitchFamily="50" charset="-127"/>
                <a:ea typeface="나눔고딕" panose="020D0604000000000000" pitchFamily="50" charset="-127"/>
              </a:rPr>
              <a:t>환경오염으로 인한 사회적 비용 반영 미흡</a:t>
            </a:r>
            <a:endParaRPr lang="en-US" altLang="ko-KR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  <a:p>
            <a:pPr marL="444500" lvl="1">
              <a:lnSpc>
                <a:spcPct val="150000"/>
              </a:lnSpc>
              <a:spcAft>
                <a:spcPts val="1000"/>
              </a:spcAft>
            </a:pPr>
            <a:r>
              <a:rPr lang="en-US" altLang="ko-KR" dirty="0">
                <a:latin typeface="나눔고딕" panose="020D0604000000000000" pitchFamily="50" charset="-127"/>
                <a:ea typeface="나눔고딕" panose="020D0604000000000000" pitchFamily="50" charset="-127"/>
              </a:rPr>
              <a:t>4</a:t>
            </a:r>
            <a:r>
              <a:rPr lang="ko-KR" altLang="en-US" dirty="0">
                <a:latin typeface="나눔고딕" panose="020D0604000000000000" pitchFamily="50" charset="-127"/>
                <a:ea typeface="나눔고딕" panose="020D0604000000000000" pitchFamily="50" charset="-127"/>
              </a:rPr>
              <a:t>대강 정비사업 </a:t>
            </a:r>
            <a:r>
              <a:rPr lang="en-US" altLang="ko-KR" dirty="0">
                <a:latin typeface="나눔고딕" panose="020D0604000000000000" pitchFamily="50" charset="-127"/>
                <a:ea typeface="나눔고딕" panose="020D0604000000000000" pitchFamily="50" charset="-127"/>
              </a:rPr>
              <a:t>: </a:t>
            </a:r>
            <a:r>
              <a:rPr lang="ko-KR" altLang="en-US" dirty="0">
                <a:latin typeface="나눔고딕" panose="020D0604000000000000" pitchFamily="50" charset="-127"/>
                <a:ea typeface="나눔고딕" panose="020D0604000000000000" pitchFamily="50" charset="-127"/>
              </a:rPr>
              <a:t>비용편익분석조차 이루어지지 않았음</a:t>
            </a:r>
            <a:endParaRPr lang="en-US" altLang="ko-KR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altLang="ko-KR">
                <a:latin typeface="나눔고딕" panose="020D0604000000000000" pitchFamily="50" charset="-127"/>
                <a:ea typeface="나눔고딕" panose="020D0604000000000000" pitchFamily="50" charset="-127"/>
              </a:rPr>
              <a:t>PUBLIC FINANCE</a:t>
            </a:r>
            <a:endParaRPr lang="ko-KR" altLang="en-US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ko-KR" altLang="en-US">
                <a:latin typeface="나눔고딕" panose="020D0604000000000000" pitchFamily="50" charset="-127"/>
                <a:ea typeface="나눔고딕" panose="020D0604000000000000" pitchFamily="50" charset="-127"/>
              </a:rPr>
              <a:t>제</a:t>
            </a:r>
            <a:r>
              <a:rPr lang="en-US" altLang="ko-KR">
                <a:latin typeface="나눔고딕" panose="020D0604000000000000" pitchFamily="50" charset="-127"/>
                <a:ea typeface="나눔고딕" panose="020D0604000000000000" pitchFamily="50" charset="-127"/>
              </a:rPr>
              <a:t>12</a:t>
            </a:r>
            <a:r>
              <a:rPr lang="ko-KR" altLang="en-US">
                <a:latin typeface="나눔고딕" panose="020D0604000000000000" pitchFamily="50" charset="-127"/>
                <a:ea typeface="나눔고딕" panose="020D0604000000000000" pitchFamily="50" charset="-127"/>
              </a:rPr>
              <a:t>장  비용편익분석</a:t>
            </a:r>
            <a:endParaRPr lang="ko-KR" altLang="en-US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6CA9FF6-BF29-4679-8C21-AEBAF2895125}" type="slidenum">
              <a:rPr lang="ko-KR" altLang="en-US" smtClean="0">
                <a:latin typeface="나눔고딕" panose="020D0604000000000000" pitchFamily="50" charset="-127"/>
                <a:ea typeface="나눔고딕" panose="020D0604000000000000" pitchFamily="50" charset="-127"/>
              </a:rPr>
              <a:t>38</a:t>
            </a:fld>
            <a:endParaRPr lang="ko-KR" altLang="en-US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3154549158"/>
      </p:ext>
    </p:extLst>
  </p:cSld>
  <p:clrMapOvr>
    <a:masterClrMapping/>
  </p:clrMapOvr>
</p:sld>
</file>

<file path=ppt/theme/theme1.xml><?xml version="1.0" encoding="utf-8"?>
<a:theme xmlns:a="http://schemas.openxmlformats.org/drawingml/2006/main" name="1_Office 테마">
  <a:themeElements>
    <a:clrScheme name="Office 테마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테마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테마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맑은 고딕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맑은 고딕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3444</TotalTime>
  <Words>2896</Words>
  <Application>Microsoft Office PowerPoint</Application>
  <PresentationFormat>화면 슬라이드 쇼(4:3)</PresentationFormat>
  <Paragraphs>381</Paragraphs>
  <Slides>38</Slides>
  <Notes>2</Notes>
  <HiddenSlides>0</HiddenSlides>
  <MMClips>0</MMClips>
  <ScaleCrop>false</ScaleCrop>
  <HeadingPairs>
    <vt:vector size="6" baseType="variant">
      <vt:variant>
        <vt:lpstr>사용한 글꼴</vt:lpstr>
      </vt:variant>
      <vt:variant>
        <vt:i4>7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38</vt:i4>
      </vt:variant>
    </vt:vector>
  </HeadingPairs>
  <TitlesOfParts>
    <vt:vector size="46" baseType="lpstr">
      <vt:lpstr>나눔고딕</vt:lpstr>
      <vt:lpstr>나눔고딕 ExtraBold</vt:lpstr>
      <vt:lpstr>맑은 고딕</vt:lpstr>
      <vt:lpstr>Arial</vt:lpstr>
      <vt:lpstr>Calibri</vt:lpstr>
      <vt:lpstr>Cambria Math</vt:lpstr>
      <vt:lpstr>Wingdings</vt:lpstr>
      <vt:lpstr>1_Office 테마</vt:lpstr>
      <vt:lpstr>제12장   비용편익분석</vt:lpstr>
      <vt:lpstr>12.1  민간부문의 비용편익분석</vt:lpstr>
      <vt:lpstr>현재가치법</vt:lpstr>
      <vt:lpstr>현재가치법</vt:lpstr>
      <vt:lpstr>내부수익률법</vt:lpstr>
      <vt:lpstr>내부수익률법</vt:lpstr>
      <vt:lpstr>편익-비용비율법</vt:lpstr>
      <vt:lpstr>편익-비용비율법</vt:lpstr>
      <vt:lpstr>12.2  공공부문의 비용편익분석</vt:lpstr>
      <vt:lpstr>공공사업의 여러 가지 목표</vt:lpstr>
      <vt:lpstr>공공사업의 여러 가지 목표</vt:lpstr>
      <vt:lpstr>12.3  편익과 비용의 평가기준</vt:lpstr>
      <vt:lpstr>편익과 비용의 평가기준 : 시장가격</vt:lpstr>
      <vt:lpstr>편익과 비용의 평가기준 : 잠재가격</vt:lpstr>
      <vt:lpstr>편익과 비용의 평가기준 : 조정된 시장가격</vt:lpstr>
      <vt:lpstr>편익과 비용의 평가기준 : 조정된 시장가격</vt:lpstr>
      <vt:lpstr>편익과 비용의 평가기준 : 조정된 시장가격</vt:lpstr>
      <vt:lpstr>편익과 비용의 평가기준 : 조정된 시장가격</vt:lpstr>
      <vt:lpstr>12.4  특수한 상황에서의 편익과 비용의 평가</vt:lpstr>
      <vt:lpstr>시장가격이 변화하는 경우</vt:lpstr>
      <vt:lpstr>시장에서 거래되지 않는 것의 평가</vt:lpstr>
      <vt:lpstr>시장에서 거래되지 않는 것의 평가</vt:lpstr>
      <vt:lpstr>시장에서 거래되지 않는 것의 평가</vt:lpstr>
      <vt:lpstr>시장에서 거래되지 않는 것의 평가</vt:lpstr>
      <vt:lpstr>통계적 생명의 가치</vt:lpstr>
      <vt:lpstr>통계적 생명의 가치</vt:lpstr>
      <vt:lpstr>통계적 생명의 가치</vt:lpstr>
      <vt:lpstr>통계적 생명의 가치</vt:lpstr>
      <vt:lpstr>의도적 왜곡평가의 문제</vt:lpstr>
      <vt:lpstr>분배측면의 고려</vt:lpstr>
      <vt:lpstr>12.5  사회적 할인율</vt:lpstr>
      <vt:lpstr>민간부문에 준한 사회적 할인율</vt:lpstr>
      <vt:lpstr>민간부문에 준한 사회적 할인율</vt:lpstr>
      <vt:lpstr>사회적 할인율의 도출</vt:lpstr>
      <vt:lpstr>12.6  위험성의 문제</vt:lpstr>
      <vt:lpstr>확실대등액을 통한 조정</vt:lpstr>
      <vt:lpstr>12.7  현실의 비용편익분석</vt:lpstr>
      <vt:lpstr> 현실의 비용편익분석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제 1장   재정학: 의의와 성격</dc:title>
  <dc:creator>chomh</dc:creator>
  <cp:lastModifiedBy>김민정</cp:lastModifiedBy>
  <cp:revision>964</cp:revision>
  <dcterms:created xsi:type="dcterms:W3CDTF">2015-08-04T05:38:00Z</dcterms:created>
  <dcterms:modified xsi:type="dcterms:W3CDTF">2021-02-21T15:04:53Z</dcterms:modified>
</cp:coreProperties>
</file>