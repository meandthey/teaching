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38"/>
  </p:notesMasterIdLst>
  <p:handoutMasterIdLst>
    <p:handoutMasterId r:id="rId39"/>
  </p:handoutMasterIdLst>
  <p:sldIdLst>
    <p:sldId id="330" r:id="rId2"/>
    <p:sldId id="259" r:id="rId3"/>
    <p:sldId id="316" r:id="rId4"/>
    <p:sldId id="318" r:id="rId5"/>
    <p:sldId id="264" r:id="rId6"/>
    <p:sldId id="265" r:id="rId7"/>
    <p:sldId id="266" r:id="rId8"/>
    <p:sldId id="267" r:id="rId9"/>
    <p:sldId id="268" r:id="rId10"/>
    <p:sldId id="270" r:id="rId11"/>
    <p:sldId id="272" r:id="rId12"/>
    <p:sldId id="274" r:id="rId13"/>
    <p:sldId id="275" r:id="rId14"/>
    <p:sldId id="277" r:id="rId15"/>
    <p:sldId id="278" r:id="rId16"/>
    <p:sldId id="279" r:id="rId17"/>
    <p:sldId id="281" r:id="rId18"/>
    <p:sldId id="282" r:id="rId19"/>
    <p:sldId id="283" r:id="rId20"/>
    <p:sldId id="329" r:id="rId21"/>
    <p:sldId id="285" r:id="rId22"/>
    <p:sldId id="323" r:id="rId23"/>
    <p:sldId id="324" r:id="rId24"/>
    <p:sldId id="292" r:id="rId25"/>
    <p:sldId id="294" r:id="rId26"/>
    <p:sldId id="296" r:id="rId27"/>
    <p:sldId id="298" r:id="rId28"/>
    <p:sldId id="327" r:id="rId29"/>
    <p:sldId id="301" r:id="rId30"/>
    <p:sldId id="303" r:id="rId31"/>
    <p:sldId id="304" r:id="rId32"/>
    <p:sldId id="306" r:id="rId33"/>
    <p:sldId id="307" r:id="rId34"/>
    <p:sldId id="309" r:id="rId35"/>
    <p:sldId id="310" r:id="rId36"/>
    <p:sldId id="311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03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54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96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52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65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31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16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조세의 기본원리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공평한 조세부담의 원칙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조세와 자원배분의 효율성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문제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잘 정비된 정부가 존재하는 한 존재해 왔으며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시대의 흐름에 따라 조세제도의 기본골격이 지속적으로 변화해 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관심을 끄는 것은 세원구성에 생긴 변화의 추세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세원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base)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대상이 되는 경제변수 혹은 경제행위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전통사회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화폐경제화의 정도가 미약했고 상업화와 도시화도 별로 진전되지 못했기    때문에 선택 가능한 조세의 종류가 아주 제한되어 있었음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권력자의 지배하에 있는 토지와 사람에 대한 과세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지조와 인두세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주요 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세입원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화폐화는 아직 이루어지지 않아 현물로 납부하거나 영주에게 노역을 제공함으로써 실질적인 납세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근대사회로의 이행기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담배세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같은 전통적인 물품세가 주종을 이루었음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변화는 당시 활기를 띠어 가던 국내 상업활동과 해외 무역활동이     과세당국의 관심을 끌기 시작한 데서 연유한 것으로 해석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조세에 관한 관심은 재정수입 달성에 국한되었으며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효율성이나 공평성상의 함의는 당시 사람들의 관심 밖에 놓여 있었음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270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근대사회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소득세나 법인세 같은 직접세에 대한 의존이 점차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부과의 대상이 점차 확대되어 부가가치세 같은 근대적 물품세 체계로 정착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미국은 전통적으로 직접세의 비중을 높여왔던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유럽 여러 나라들은    간접세 위주의 조세제도 운영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경제 ∙ 사회에 미치는 영향에 대해 많은 관심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tabLst>
                <a:tab pos="13462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종전에는 어떻게 하면 부작용을 최소화하면서 순조롭게 조세를 거둬들일 수  있는지가 주요 관심사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tabLst>
                <a:tab pos="13462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근대사회 진입 후부터는 조세가 단순히 재정수입을 조달하는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수단으로서가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아니라 정책 목표를 달성하기 위한 수단으로서도 인식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913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조세제도의 요건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공평한 분배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납세자들 사이의 공평한 부담의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효율성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과정에서 일어나는 교란 최소화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 단순성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행정비용 절감 및 납세자들의 자발적 협조 유도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신축성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여건의 변화에 쉽게 적응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책임성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납세자가 조세를 얼마나 부담하게 되는지 밝히고 자유로운 선택 허용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확실성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 및 징수의 과정이 정해진 법률과 규정에 따라 집행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105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조세부담의 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조세부담을 어떻게 분배하는 것이 공평한지에 대한 두 가지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편익원칙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(benefit principle)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납세자가 정부의 서비스로부터 받은 혜택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편익에 의해 공평한 조세부담의 크기가 결정되어야 한다고 보는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능력원칙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(ability-to-pay principle)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납세자가 가진 경제적 능력에 따라 부담을 지우는 것이 공평하다고 보는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091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편익원칙은 각 납세자가 공공서비스로부터 받은 편익에 비례하도록  조세부담을 분배하는 것이 공평하다고 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지출구조의 특성이 공평한 조세제도의 성격에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빅셀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Wicksell)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자발적 교환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(voluntary exchange)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재정이론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자발적 협조를 얻을 수 있다는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국민들이 누리는 혜택의 대가로서 조세를 부과하는 것이기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이러한 장점은 현실에서 실현되기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납세자들이 공공서비스에 대해 무임승차를 하려 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정부가 제공하는 재화와 서비스에서 각 납세자가 얼마나 큰 편익을 얻고 있는가를 파악하는 것은 매우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0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애당초 적절한 소득분배가 이루어지지 않은 상태라면 편익원칙에 따라 조세의 부담을 결정하는 것은 부적합할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제공하는 재화나 서비스가 소비에서의 경합성을 명백하게     가지고 있다면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이들의 공급과 관련된 비용 충당이 편익원칙에 따라  이루어지는 것에 대해서는 이의를 제기할 여지가 별로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수도 사용료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지하철 요금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174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11942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공공서비스의 혜택이 어떻게 분배되고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있는지와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관계없이   납세자의 담세능력에 따라 부담이 분배되어야 공평하다고 보는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(J.S. Mill)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조세부과의 기본원리로 제시한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능력이       조세부담 분배의 기초가 되는 것을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재분배목표 달성을 위한 조세 및 지출의 운용을 허용하게 된다는 장점</a:t>
            </a:r>
          </a:p>
          <a:p>
            <a:pPr marL="266700" indent="-266700"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혜택과 조세부담을 연결시키지 않고 있기 때문에 납세자들의 자발적 협조를 얻기 힘든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공평한 과세의 원칙으로 능력원칙 접근법이 갖는 호소력은 편익 원칙보다 더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189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수평적 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(horizontal equity)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동일한 경제적 능력의 소유자는 동일한 세금부담을 져야 한다는 원칙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동일한 경제적 능력의 소유자를 어떻게 판단할 것인지의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사람의 경제적 능력은 여러 가지 측면에서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잠재적 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0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결혼 여부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종교 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수직적 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(vertical equity)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커짐에 따라 조세부담을 얼마나 더 크게 만들지 결정해야 하는 것과 관련된 원칙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능력이 커짐에 따라 얼마나 누진적으로 조세부담을 늘려야 하는지에 대해서는 이견이 있을 수 있음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수평적 공평성과 수직적 공평성의 원칙 사이에는 불가분의 관계 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284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</a:t>
            </a:r>
            <a:endParaRPr lang="en-US" altLang="ko-KR" sz="10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사람이 얻는 소득의 크기는 경제적 능력의 평가기준으로 현실에서 가장 많이 사용되고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소득만을 기준으로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 경제적 능력을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평가하면 문제가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김씨와 이씨는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동일한 예산집합을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가지고 있지만 서로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선호체계를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가지고 있어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소득격차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4189AE-C1D9-4F64-9ADF-98F5A6D151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73" y="2726764"/>
            <a:ext cx="5539954" cy="314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7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예산집합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altLang="ko-KR" sz="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대안으로 예산집합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(budget set)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생각해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경우 명백한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순위를 매길 수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없다는 문제</a:t>
            </a:r>
            <a:endParaRPr lang="en-US" altLang="ko-KR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박씨가 최씨나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정씨보다 경제적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능력이 큰 것은 분명</a:t>
            </a:r>
            <a:endParaRPr lang="en-US" altLang="ko-KR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최씨와 정씨 중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누가 경제적 능력이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 큰지에 대해서는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판단 불가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2B57D4-28CA-4238-B28D-19AFF83CF4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751" y="2706887"/>
            <a:ext cx="5428598" cy="308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4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임금률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임금률이 높을수록 더 큰 경제적 능력의 소유자로 판단할 수 있을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임금률의 결정에는 능력의 크기뿐 아니라 교육이나 직업훈련 같은    인적 투자도 영향을 미치고 있다는 것이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임금률이 얼마인가를 알아내는 것은 어려움  </a:t>
            </a: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비근로소득이 주요한 소득원이 되고 있는 사람의 경우에도 문제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소비수준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소비수준도 경제적 능력뿐 아니라 선택의 결과까지 반영하고 있다는 점에서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사생활을 침해할 여지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0367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재산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재산에 기초해 경제적 능력을 평가하는 것이 소득이나 다른 기준에    의해 평가하는 것보다 훨씬 더 현실적일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각 사람의 재산을 정확하게 파악한다는 것은 거의 불가능에   가까운 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(stock)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갖고 있는 재산을 과세기준으로 삼을 경우        납세자가 현금흐름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(cash flow)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부족 때문에 어려운 처지에 빠질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0685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 기준의 여러 대안 중 어떤 하나가 특별히 더 낫다고 보기 힘들 만큼 모두가 문제를 고루 나누어 갖고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그래도 가장 많이 쓰이고 있는 것은 소득임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비교적 정확하고 객관적으로 파악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현금흐름 제약의 문제로부터도 자유로움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기준으로서의 소득이 이상적인 것은 아니며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소득세를    운영할 때는 여러 가지 문제가 발생할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1443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실현된 소득에만 과세해야 하는지의 여부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실현된 소득에 대해서만 과세할 것인지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발생한 사실만 가지고도    과세대상으로 삼을 것인지의 선택이 문제될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현행의 소득세제는 거의 예외 없이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실현주의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(realization concept)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   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엄밀하게 말하면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(accretion)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자체가 경제적 능력의 증가로               이어지는 만큼 당연히 과세의 대상이 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인플레이션의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명목소득을 대상으로 한 누진적인 세율구조 아래에서는 인플레이션이          진행됨에 따라 조세부담이 저절로 무거워지는 결과가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진행되고 있을 때는 계속 이에 대한 조정을 해주어 실질적      조세부담에 아무 변화가 생기지 않게 만들어야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5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88670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요소소득과 이전소득의 차등과세 필요성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노동이나 자본 등의 생산요소를 공급해 얻는 요소소득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(factor earnings)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정부가 이전해 주어 생긴 이전소득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(transfer income)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어떻게 처리해야   하는지가 또 하나의 문제가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이전소득도 경제적 능력을 증가시켜 주기 때문에 과세의 대상이 되어야 하나 현실에서 이를 실행에 옮기는 것은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같은 요소소득이라 하더라도 어떤 요소를 공급하고 획득한 소득인지에 따라 차등을 두어야 할까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0971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귀속소득의 처리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귀속소득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(imputed income)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주택이나 부동산 등을 소유하면서 스스로     사용하고 있는 사람이 실질적으로 얻는다고 생각할 수 있는 임대소득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귀속소득을 과세대상에서 제외하는 것은 공평성의 측면에서 명백한 문제를 일으킴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자신이 소유한 집에 직접 사는 사람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자신의 집은 임대해주고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집을       세내어 사는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귀속소득을 과세대상에서 제외한다면 자신이 소유하는 집에서 사는 사람의    조세부담이 작아지는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원칙적으로 귀속소득도 소득의 일종이므로 과세대상이 되어야 하지만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이를 실행하는 것은 정치적 ∙ 행정적으로 거의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830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859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현물소득에 대한 과세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농민이 스스로 경작한 농산물을 소비하는 경우에는 소득으로 간주하지 않는 것이 일반적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실질적인 의미에서 보면 일단 소득이 발생한 다음                                      이를 소비한 것으로 보고 과세하는 것이 공평성 측면에서 바람직할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 취득에 들어간 비용의 처리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기업과 마찬가지로 개인의 경우에도 소득의 취득에 소요된 비용을 뺀              나머지 부분에 대해서만 소득세가 부과되어야 마땅하다고 생각할 수 있음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과연 어떤 것까지 비용으로 인정해 주어야 하는지를 결정하는 것은               매우 어려운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7921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88670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사람들은 조세제도가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누진성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(progressivity)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갖는 것은 당연한 일이고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문제가 되는 것은 누진성의 정도에 대한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선택뿐이라고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생각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누진적 조세제도에 대해 명백한 반대의 입장을 갖고 있는         사람도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 조세제도에 대한 찬반의견의 논리적 근거를 살펴보는 것은       의미 있는 일임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3634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반대의견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조세제도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세율구조를 갖는 조세제도하에서 조세를 회피할 구멍을 쉽게 찾을 수 있어 탈세의 여지를 제공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책임성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 시행에 관한 선택을 할 때 누진세제의 영향을 거의 받지 않는       다수의 사람들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중산층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이의 영향을 많이 받는 소수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대해         충분한 배려를 하게 될 것인지 의심스러움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효율성에 대한 부정적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누진과세가 경제의 활력을 떨어뜨리는 원인이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누진성이 약할 때는 효율성에 별로 영향을 주지 못하다가 어느 단계를         넘어서야 비로소 우려할 정도의 부작용을 가져오게 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2701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불평등의 감소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누진세제를 통한 처분가능소득의 평준화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불평등이 사회의 안정성을 흔들 수 있음을 감안하면 누진세제의       평준화 효과를 긍정적으로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편익원칙에 입각한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경제적인 능력이 큰 사람일수록 정부서비스로부터 더 많은 혜택을                  얻고 있기 때문에 당연히 누진과세가 실시되어야 한다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소득계층이 정부의 서비스로부터 얻는 편익을 계량화하기 어려운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8368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34583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사회계약론적 근거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부캐넌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플라워즈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 and M. Flowers)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자신의 미래가 어떻게 될지 모르는 상황에서 조세제도를 선택한다면 자발적으로 누진세제를 선택할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(J.S. Mill)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과세의 원칙으로 동등희생의 원칙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납세자가 조세부담으로 인해 감수해야 하는 희생이 똑같도록 만들면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조세제도는 누진적인 성격을 갖게 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동등한 희생이라는 것이 과연 무엇을 뜻하는가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6441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spcAft>
                    <a:spcPts val="500"/>
                  </a:spcAft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희생의 절대량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동등한 희생을 조세납부로 인해 희생되는 효용의     절대량이 모든 사람에게 동일한 것으로 해석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세금을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납부한 후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소득의 감소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희생된 효용의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절대량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사람에게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똑같을 것을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반드시 누진세를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요구하지는 않음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086EC5-76B8-4C35-AFDA-8271DD8290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84" y="2623129"/>
            <a:ext cx="5591132" cy="33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87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396000" indent="-45720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희생의 비율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각자 얻고 있던 효용의 크기에 대한 희생된 효용의 비율이 모든 사람에게 똑같아야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그림에서 면적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면적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나눈 값이 모든 사람에게 동일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소득수준이 올라가도 소득의 한계효용이 똑같은 수준에 머무른다면   비례세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소득수준이 올라감에 따라 한계효용이 체감하는 일반적인 경우에는 특별히 어떤 방식으로 과세되어야 한다고 말하기 어려움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96000" indent="-45720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(3)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한계에서의 희생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한계에서의 효용의 희생이 모든 사람에게            똑같아야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한계에서의 희생으로 해석한다면 모두에게 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𝑺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길이가 같아져야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사람의 세후 순소득이 같아지는 극단적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누진성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결론은 모든 사람의 효용함수가 동일하고 소득의 한계효용이 체감한다는 조건이 충족되어야 타당성을 가질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667" r="-773"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9436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09997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창문세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(window tax) : 1696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제정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소유하는       건물의 창문 수에 따라 세금의 크기를 결정 ⇒ 사람들로 하여금 창문의 수를 극도로 줄인 집들을 짓게 만드는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사람들의 노동공급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위험부담 행위 등 광범한 영역에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실물적 의사결정에만 영향을 주는 것이 아니라 금융적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(financial)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의사결정에도 영향을 주고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앞으로 새로운 조세를 부과하겠다고 발표하는 것만으로 효과를 내기도 함 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공표효과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(announcement effect)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2804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28851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민간부문이 외부의 간섭을 받지 않고 자유롭게 의사결정을 할 수 있을 때 효율적 자원배분이 이루어질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민간부문의 의사결정에 영향을 주고 그 결과 경제행위에 변화가 생기면 효율성 저하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민간부문의 경제행위에 교란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(distortion)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일으키기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자유로운 의사결정이 비효율성을 일으키기 때문에 조세를   통해 교정해야 할 필요가 있는 경우도 존재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에너지세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722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1572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</a:pPr>
            <a:r>
              <a:rPr lang="ko-KR" altLang="en-US" sz="1900" b="1" spc="-9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중립세</a:t>
            </a:r>
            <a:r>
              <a:rPr lang="en-US" altLang="ko-KR" sz="1900" spc="-9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(lump-sum tax) </a:t>
            </a:r>
            <a:r>
              <a:rPr lang="en-US" altLang="ko-KR" sz="1900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900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경제행위에 교란을 일으키지 않는 조세</a:t>
            </a:r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조세가 중립세가 되기 위해서는 사람들이 내린 의사결정과 무관하게 조세부담이 결정되는 성격을 가져야 함</a:t>
            </a:r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완벽한 중립세의 성격을 갖는 예를 찾는 것은 거의 불가능함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인두세가 </a:t>
            </a:r>
            <a:r>
              <a:rPr lang="ko-KR" altLang="en-US" sz="1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중립세에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가깝다고 하지만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자식의 수를 선택하는 데 영향을 줄 것이므로 완벽한 중립세가 될 수 없음</a:t>
            </a:r>
          </a:p>
          <a:p>
            <a:pPr marL="266700" indent="-266700">
              <a:lnSpc>
                <a:spcPct val="100000"/>
              </a:lnSpc>
            </a:pP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경제분석에서 일반적으로 통용되는 중립세의 정의는 소득효과만  있고 대체효과는 없는 조세</a:t>
            </a:r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sz="1900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경제행위에 교란을 일으키는 조세는 자원배분의 비효율성 유발</a:t>
            </a:r>
            <a:endParaRPr lang="en-US" altLang="ko-KR" sz="1900" spc="-9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조세의 비효율성의 정도는 이를 중립세로 대체할 때 사회후생 수준에           생기는 변화로 측정할 수 있음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8508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교정과세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1572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민간부문의 경제행위에 항상 부정적인 효과만을 주는 것은 아님</a:t>
            </a:r>
            <a:endParaRPr lang="en-US" altLang="ko-KR" sz="1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교정과세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(corrective taxation)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실패를 교정해주는 역할을 하는 세금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에너지세</a:t>
            </a:r>
            <a:endParaRPr lang="en-US" altLang="ko-KR" sz="1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의미에서의 교정과세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사람들의 행동을 일정한 방향으로 유도하려는  목적에서 부과되는 모든 세금을 포괄하는 개념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죄악세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(sin tax)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자제력에 문제가 있는 사람에게 합리적인 결정을 하도록                 도와준다는 견지에서 부과되는 세금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오도너휴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래빈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O’Donohue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M. Robin)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건강에 나쁜 소비재에 대해 죄악세를 부과함으로써 사회후생을 증가할 수 있음을 보임</a:t>
            </a: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자유를 주장하는 사람의 입장에서 보면 온정적 간섭주의의      성격을 갖는 교정과세는 불필요하고 부당한 간섭에 지나지 않음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54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조세의 회피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avoidance)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법을 어기는 일 없이 조세부담을         줄이기 위해 자신의 행동을 수정하는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라고도 불림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탈세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evasion)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불법적으로 조세의무를 기피하려고 하는 행위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탈세가 이루어지는 여러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이중장부를 사용해 조세부담을 줄이는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소득을 보고할 때 일부를 탈루시켜 보고하는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현금거래를 통해 조세당국의 눈을 피하는 방법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탈세가 문제되는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공평성 저해 ⇒ 자발적 세금 납부 의욕에 악영향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5902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지하경제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(underground economy)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조세당국에 신고되지 않고       은밀하게 이루어지는 경제활동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미국과 우리나라를 비롯하여 대부분의 나라에서 지하경제의 규모는   무시하지 못할 수준임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임금소득에 비해 자영업의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소득탈루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비율이 높게 나타남</a:t>
            </a: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 사회에서 탈세가 성행하고 있는 것은 국민 모두가 당연히           조세납부의 의무를 져야 한다는 인식이 자리 잡혀 있지 못하기 때문</a:t>
            </a: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우리나라에서는 고소득층으로 갈수록 그리고 학력이 높아질수록               납세의식이 더 낮아지는 양상이 나타나고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422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7978022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탈세행위는 기본적으로 불확실성 하에서의 선택 문제로 접근할 수 있음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납세자는 세금과 관련해 두 가지 중 하나의 전략을 선택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endParaRPr lang="en-US" altLang="ko-KR" spc="-113" dirty="0"/>
              </a:p>
              <a:p>
                <a:pPr marL="215900" lvl="1" indent="0">
                  <a:spcAft>
                    <a:spcPts val="100"/>
                  </a:spcAft>
                  <a:buNone/>
                </a:pP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정직하게 소득을 신고하는 전략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vs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소득을 줄여서 신고하는 전략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0"/>
                  </a:spcAft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소득을 줄여서 신고하는 전략을 채택할 경우 소득탈루가 </a:t>
                </a: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적발되는지의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여부에  따라  그의 보수가 달라짐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spcAft>
                    <a:spcPts val="100"/>
                  </a:spcAft>
                </a:pPr>
                <a:endParaRPr lang="en-US" altLang="ko-KR" sz="2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00"/>
                  </a:spcAft>
                </a:pPr>
                <a:r>
                  <a:rPr lang="ko-KR" altLang="en-US" sz="2000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알링햄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샌드모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Allingham and A. </a:t>
                </a:r>
                <a:r>
                  <a:rPr lang="en-US" altLang="ko-KR" sz="2000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Sandmo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모형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pc="-113" dirty="0"/>
                  <a:t>어떤 납세자의 소득</a:t>
                </a:r>
                <a14:m>
                  <m:oMath xmlns:m="http://schemas.openxmlformats.org/officeDocument/2006/math">
                    <m:r>
                      <a:rPr lang="en-US" altLang="ko-KR" b="1" i="0" spc="-113" smtClean="0">
                        <a:latin typeface="Cambria Math"/>
                      </a:rPr>
                      <m:t> </m:t>
                    </m:r>
                    <m:r>
                      <a:rPr lang="en-US" altLang="ko-KR" b="1" i="0" spc="-113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ko-KR" altLang="en-US" spc="-113" dirty="0"/>
                  <a:t>는 자신만 알 뿐 과세당국은 모름</a:t>
                </a:r>
                <a:endParaRPr lang="en-US" altLang="ko-KR" spc="-113" dirty="0"/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pc="-113" dirty="0"/>
                  <a:t>자신의 소득을 </a:t>
                </a:r>
                <a14:m>
                  <m:oMath xmlns:m="http://schemas.openxmlformats.org/officeDocument/2006/math"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ko-KR" altLang="en-US" spc="-113" dirty="0"/>
                  <a:t>만큼 줄여 신고하면</a:t>
                </a:r>
                <a:r>
                  <a:rPr lang="en-US" altLang="ko-KR" spc="-113" dirty="0"/>
                  <a:t> </a:t>
                </a:r>
                <a:r>
                  <a:rPr lang="ko-KR" altLang="en-US" spc="-113" dirty="0"/>
                  <a:t>신고된 소득에 대해 세율 </a:t>
                </a:r>
                <a14:m>
                  <m:oMath xmlns:m="http://schemas.openxmlformats.org/officeDocument/2006/math"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spc="-113" dirty="0"/>
                  <a:t>가 적용</a:t>
                </a:r>
                <a:endParaRPr lang="en-US" altLang="ko-KR" spc="-113" dirty="0"/>
              </a:p>
              <a:p>
                <a:pPr marL="444500" lvl="1">
                  <a:spcAft>
                    <a:spcPts val="100"/>
                  </a:spcAft>
                </a:pPr>
                <a14:m>
                  <m:oMath xmlns:m="http://schemas.openxmlformats.org/officeDocument/2006/math">
                    <m:r>
                      <a:rPr lang="en-US" altLang="ko-KR" b="1" i="1" spc="-113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ko-KR" altLang="en-US" spc="-113" dirty="0"/>
                  <a:t>의</a:t>
                </a:r>
                <a:r>
                  <a:rPr lang="en-US" altLang="ko-KR" spc="-113" dirty="0"/>
                  <a:t> </a:t>
                </a:r>
                <a:r>
                  <a:rPr lang="ko-KR" altLang="en-US" spc="-113" dirty="0"/>
                  <a:t>확률로 무작위적인 감사</a:t>
                </a:r>
                <a:r>
                  <a:rPr lang="en-US" altLang="ko-KR" spc="-113" dirty="0"/>
                  <a:t>(random audit)</a:t>
                </a:r>
                <a:r>
                  <a:rPr lang="ko-KR" altLang="en-US" spc="-113" dirty="0"/>
                  <a:t>를 받을 수 있음</a:t>
                </a:r>
                <a:endParaRPr lang="en-US" altLang="ko-KR" spc="-113" dirty="0"/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pc="-113" dirty="0"/>
                  <a:t>소득탈루가 밝혀지면 탈루소득</a:t>
                </a:r>
                <a:r>
                  <a:rPr lang="en-US" altLang="ko-KR" spc="-113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altLang="ko-KR" spc="-113" dirty="0"/>
                  <a:t>)</a:t>
                </a:r>
                <a:r>
                  <a:rPr lang="ko-KR" altLang="en-US" spc="-113" dirty="0"/>
                  <a:t>에 대해 </a:t>
                </a:r>
                <a14:m>
                  <m:oMath xmlns:m="http://schemas.openxmlformats.org/officeDocument/2006/math">
                    <m:r>
                      <a:rPr lang="ko-KR" altLang="en-US" b="1" i="1" spc="-113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ko-KR" altLang="en-US" spc="-113" dirty="0"/>
                  <a:t>의 비율로 벌금을 냄</a:t>
                </a:r>
                <a:r>
                  <a:rPr lang="en-US" altLang="ko-KR" spc="-113" dirty="0"/>
                  <a:t> (</a:t>
                </a:r>
                <a14:m>
                  <m:oMath xmlns:m="http://schemas.openxmlformats.org/officeDocument/2006/math">
                    <m:r>
                      <a:rPr lang="ko-KR" altLang="en-US" b="1" i="1" spc="-113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pc="-113" dirty="0"/>
                  <a:t>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7978022" cy="4754563"/>
              </a:xfrm>
              <a:blipFill>
                <a:blip r:embed="rId2"/>
                <a:stretch>
                  <a:fillRect l="-688" r="-688" b="-6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265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납세자가 소득을 탈루했는데도 적발되지 않았을 경우 순소득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𝒕𝑽</m:t>
                    </m:r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탈루 사실이 발각되어 벌금을 내게 될 경우의 순소득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납세자는 다음의 기대효용을 극대화하는 탈루소득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크기를 선택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𝒑𝑼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</a:p>
              <a:p>
                <a:pPr marL="266700" indent="-266700" algn="ctr">
                  <a:lnSpc>
                    <a:spcPct val="100000"/>
                  </a:lnSpc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알링햄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샌드모는 기대효용을 극대화하기 위해 충족되어야 하는         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계 조건을 도출하고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이것에 기초해 몇 가지 비교정태분석 수행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3877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감사를 받을 확률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증가나 벌금률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증가는 탈루소득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줄임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상승이 탈루소득에 미치는 영향은 불분명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세율의 상승은 탈루소득의 한계편익을 증가시켜 탈루소득을      더 크게 만드는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납세자가 위험에 대해 어떤 성향을 가지는가에 따라 효과가       다르게 나타남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납세자가 절대위험기피도 체감의 특성을 갖는다면 세율 상승은 순소득을       줄여 탈루소득의 크기를 줄이는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/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납세자가 절대위험기피도 체감의 특성을 갖는다는 보장 없음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실증분석은 세율상승이 탈세를 증가시킨다는 결론을 내리는 경우가 많음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82781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탈세를 방지한다는 점에서 보면 오히려 감사의 확률이나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벌금률을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높이는 것이 상대적으로 더 효과적일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샌드모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Sandmo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세율을 일반적인 효율성과 공평성의 관점에서 볼 때 합리적인 수준으로 유지하고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감사의 확률이나 벌금률 조정을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탈세방지의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수단으로 활용하는 것이 바람직하다고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감사의 확률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벌금률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행정비용을 절약한다는 관점에서 보면 벌금률을 높이는 쪽이 더 바람직하나 탈세행위를 하는 많은 사람들 중 소수의 사람만을 적발해 무거운 벌칙을      가하는 것은 수평적 공평성에 문제를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감사의 확률과 벌금률 모두를 적절한 수준으로 유지하는 절충적 방식이      최선의 대응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9648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8171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각도에서 탈세행위를 분석하는 접근방식은 사회적 관계의 맥락에서 탈세가 이루어지고 있다는 사실을 적절하게 고려하지 못하는 한계를 가짐</a:t>
            </a:r>
            <a:endParaRPr lang="en-US" altLang="ko-KR" sz="20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죄책감이나 수치심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원칙을 지킨다는 자부심 등이 탈세행위를 억제하는          요인으로 작용할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과세당국의 결정과정이 정당하지 못했거나 자신을 불공평하게 대우했다고     느낄수록 탈세를 할 가능성이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Fortin 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실험적 방법을 통해 탈세행위가                   심리적 요인에 많은 영향을 받는다는 사실 밝혀냄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2028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2904</Words>
  <Application>Microsoft Office PowerPoint</Application>
  <PresentationFormat>화면 슬라이드 쇼(4:3)</PresentationFormat>
  <Paragraphs>385</Paragraphs>
  <Slides>36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제13장   조세의 기본원리</vt:lpstr>
      <vt:lpstr>13.1  배경설명</vt:lpstr>
      <vt:lpstr>배경설명</vt:lpstr>
      <vt:lpstr>배경설명</vt:lpstr>
      <vt:lpstr>바람직한 조세제도의 요건</vt:lpstr>
      <vt:lpstr>13.2  공평한 조세부담의 원칙</vt:lpstr>
      <vt:lpstr>편익원칙</vt:lpstr>
      <vt:lpstr>편익원칙</vt:lpstr>
      <vt:lpstr>능력원칙</vt:lpstr>
      <vt:lpstr>능력원칙</vt:lpstr>
      <vt:lpstr>13.3  경제적 능력 평가의 문제</vt:lpstr>
      <vt:lpstr>경제적 능력 평가의 문제</vt:lpstr>
      <vt:lpstr>경제적 능력 평가의 문제</vt:lpstr>
      <vt:lpstr>경제적 능력 평가의 문제</vt:lpstr>
      <vt:lpstr>능력 평가 기준으로서의 소득</vt:lpstr>
      <vt:lpstr>능력 평가 기준으로서의 소득</vt:lpstr>
      <vt:lpstr>능력 평가 기준으로서의 소득</vt:lpstr>
      <vt:lpstr>능력 평가 기준으로서의 소득</vt:lpstr>
      <vt:lpstr>능력 평가 기준으로서의 소득</vt:lpstr>
      <vt:lpstr>13.4  누진세제에 대한 찬반의견</vt:lpstr>
      <vt:lpstr>누진세제에 대한 찬반의견 : 반대의견</vt:lpstr>
      <vt:lpstr>누진세제에 대한 찬반의견 : 찬성의견</vt:lpstr>
      <vt:lpstr>누진세제에 대한 찬반의견 : 찬성의견</vt:lpstr>
      <vt:lpstr>동등희생의 원칙</vt:lpstr>
      <vt:lpstr>동등희생의 원칙</vt:lpstr>
      <vt:lpstr>13.5  조세와 자원배분의 효율성</vt:lpstr>
      <vt:lpstr>조세와 자원배분의 효율성</vt:lpstr>
      <vt:lpstr>중립세</vt:lpstr>
      <vt:lpstr>교정과세</vt:lpstr>
      <vt:lpstr>13.6  탈세행위의 문제</vt:lpstr>
      <vt:lpstr>탈세행위의 문제</vt:lpstr>
      <vt:lpstr>탈세행위의 모형</vt:lpstr>
      <vt:lpstr>탈세행위의 모형</vt:lpstr>
      <vt:lpstr>탈세행위의 모형</vt:lpstr>
      <vt:lpstr>탈세행위의 모형</vt:lpstr>
      <vt:lpstr>탈세행위의 모형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941</cp:revision>
  <dcterms:created xsi:type="dcterms:W3CDTF">2015-08-04T05:38:00Z</dcterms:created>
  <dcterms:modified xsi:type="dcterms:W3CDTF">2021-02-21T15:21:51Z</dcterms:modified>
</cp:coreProperties>
</file>