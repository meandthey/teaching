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2" r:id="rId1"/>
  </p:sldMasterIdLst>
  <p:notesMasterIdLst>
    <p:notesMasterId r:id="rId39"/>
  </p:notesMasterIdLst>
  <p:handoutMasterIdLst>
    <p:handoutMasterId r:id="rId40"/>
  </p:handoutMasterIdLst>
  <p:sldIdLst>
    <p:sldId id="333" r:id="rId2"/>
    <p:sldId id="258" r:id="rId3"/>
    <p:sldId id="260" r:id="rId4"/>
    <p:sldId id="261" r:id="rId5"/>
    <p:sldId id="262" r:id="rId6"/>
    <p:sldId id="263" r:id="rId7"/>
    <p:sldId id="303" r:id="rId8"/>
    <p:sldId id="265" r:id="rId9"/>
    <p:sldId id="304" r:id="rId10"/>
    <p:sldId id="266" r:id="rId11"/>
    <p:sldId id="267" r:id="rId12"/>
    <p:sldId id="268" r:id="rId13"/>
    <p:sldId id="306" r:id="rId14"/>
    <p:sldId id="307" r:id="rId15"/>
    <p:sldId id="271" r:id="rId16"/>
    <p:sldId id="308" r:id="rId17"/>
    <p:sldId id="309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6" r:id="rId29"/>
    <p:sldId id="325" r:id="rId30"/>
    <p:sldId id="327" r:id="rId31"/>
    <p:sldId id="310" r:id="rId32"/>
    <p:sldId id="324" r:id="rId33"/>
    <p:sldId id="330" r:id="rId34"/>
    <p:sldId id="331" r:id="rId35"/>
    <p:sldId id="332" r:id="rId36"/>
    <p:sldId id="299" r:id="rId37"/>
    <p:sldId id="300" r:id="rId3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3EDD6F-0BA4-451B-8863-FAB6E109FBCD}" v="14" dt="2026-01-08T02:15:17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4" autoAdjust="0"/>
    <p:restoredTop sz="94728" autoAdjust="0"/>
  </p:normalViewPr>
  <p:slideViewPr>
    <p:cSldViewPr snapToGrid="0">
      <p:cViewPr varScale="1">
        <p:scale>
          <a:sx n="144" d="100"/>
          <a:sy n="144" d="100"/>
        </p:scale>
        <p:origin x="27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6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2T05:21:08.811" v="101" actId="20577"/>
      <pc:docMkLst>
        <pc:docMk/>
      </pc:docMkLst>
      <pc:sldChg chg="modSp">
        <pc:chgData name="영완 전" userId="94a232b962f42e62" providerId="LiveId" clId="{862E7F7D-119D-4717-AD52-91020921814B}" dt="2026-01-08T02:15:17.921" v="60"/>
        <pc:sldMkLst>
          <pc:docMk/>
          <pc:sldMk cId="2131678008" sldId="258"/>
        </pc:sldMkLst>
        <pc:spChg chg="mod">
          <ac:chgData name="영완 전" userId="94a232b962f42e62" providerId="LiveId" clId="{862E7F7D-119D-4717-AD52-91020921814B}" dt="2026-01-08T02:15:17.921" v="60"/>
          <ac:spMkLst>
            <pc:docMk/>
            <pc:sldMk cId="2131678008" sldId="25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12:08.042" v="6" actId="20577"/>
        <pc:sldMkLst>
          <pc:docMk/>
          <pc:sldMk cId="1679783371" sldId="262"/>
        </pc:sldMkLst>
        <pc:spChg chg="mod">
          <ac:chgData name="영완 전" userId="94a232b962f42e62" providerId="LiveId" clId="{862E7F7D-119D-4717-AD52-91020921814B}" dt="2026-01-07T05:12:08.042" v="6" actId="20577"/>
          <ac:spMkLst>
            <pc:docMk/>
            <pc:sldMk cId="1679783371" sldId="26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15:02.538" v="26" actId="20577"/>
        <pc:sldMkLst>
          <pc:docMk/>
          <pc:sldMk cId="12373020" sldId="268"/>
        </pc:sldMkLst>
        <pc:spChg chg="mod">
          <ac:chgData name="영완 전" userId="94a232b962f42e62" providerId="LiveId" clId="{862E7F7D-119D-4717-AD52-91020921814B}" dt="2026-01-07T05:15:02.538" v="26" actId="20577"/>
          <ac:spMkLst>
            <pc:docMk/>
            <pc:sldMk cId="12373020" sldId="26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15:58.129" v="27" actId="20577"/>
        <pc:sldMkLst>
          <pc:docMk/>
          <pc:sldMk cId="54338907" sldId="271"/>
        </pc:sldMkLst>
        <pc:spChg chg="mod">
          <ac:chgData name="영완 전" userId="94a232b962f42e62" providerId="LiveId" clId="{862E7F7D-119D-4717-AD52-91020921814B}" dt="2026-01-07T05:15:58.129" v="27" actId="20577"/>
          <ac:spMkLst>
            <pc:docMk/>
            <pc:sldMk cId="54338907" sldId="27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0:40.106" v="81" actId="20577"/>
        <pc:sldMkLst>
          <pc:docMk/>
          <pc:sldMk cId="4274700433" sldId="299"/>
        </pc:sldMkLst>
        <pc:spChg chg="mod">
          <ac:chgData name="영완 전" userId="94a232b962f42e62" providerId="LiveId" clId="{862E7F7D-119D-4717-AD52-91020921814B}" dt="2026-01-12T05:20:40.106" v="81" actId="20577"/>
          <ac:spMkLst>
            <pc:docMk/>
            <pc:sldMk cId="4274700433" sldId="29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1:08.811" v="101" actId="20577"/>
        <pc:sldMkLst>
          <pc:docMk/>
          <pc:sldMk cId="1500953426" sldId="300"/>
        </pc:sldMkLst>
        <pc:spChg chg="mod">
          <ac:chgData name="영완 전" userId="94a232b962f42e62" providerId="LiveId" clId="{862E7F7D-119D-4717-AD52-91020921814B}" dt="2026-01-12T05:21:08.811" v="101" actId="20577"/>
          <ac:spMkLst>
            <pc:docMk/>
            <pc:sldMk cId="1500953426" sldId="30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6:26.054" v="62" actId="14100"/>
        <pc:sldMkLst>
          <pc:docMk/>
          <pc:sldMk cId="3213189200" sldId="304"/>
        </pc:sldMkLst>
        <pc:spChg chg="mod">
          <ac:chgData name="영완 전" userId="94a232b962f42e62" providerId="LiveId" clId="{862E7F7D-119D-4717-AD52-91020921814B}" dt="2026-01-12T05:16:26.054" v="62" actId="14100"/>
          <ac:spMkLst>
            <pc:docMk/>
            <pc:sldMk cId="3213189200" sldId="30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7:00.023" v="64" actId="20577"/>
        <pc:sldMkLst>
          <pc:docMk/>
          <pc:sldMk cId="4074746977" sldId="308"/>
        </pc:sldMkLst>
        <pc:spChg chg="mod">
          <ac:chgData name="영완 전" userId="94a232b962f42e62" providerId="LiveId" clId="{862E7F7D-119D-4717-AD52-91020921814B}" dt="2026-01-12T05:17:00.023" v="64" actId="20577"/>
          <ac:spMkLst>
            <pc:docMk/>
            <pc:sldMk cId="4074746977" sldId="30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17:25.010" v="41" actId="20577"/>
        <pc:sldMkLst>
          <pc:docMk/>
          <pc:sldMk cId="880397498" sldId="311"/>
        </pc:sldMkLst>
        <pc:spChg chg="mod">
          <ac:chgData name="영완 전" userId="94a232b962f42e62" providerId="LiveId" clId="{862E7F7D-119D-4717-AD52-91020921814B}" dt="2026-01-07T05:17:25.010" v="41" actId="20577"/>
          <ac:spMkLst>
            <pc:docMk/>
            <pc:sldMk cId="880397498" sldId="31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8:34.352" v="69" actId="20577"/>
        <pc:sldMkLst>
          <pc:docMk/>
          <pc:sldMk cId="3682876689" sldId="316"/>
        </pc:sldMkLst>
        <pc:spChg chg="mod">
          <ac:chgData name="영완 전" userId="94a232b962f42e62" providerId="LiveId" clId="{862E7F7D-119D-4717-AD52-91020921814B}" dt="2026-01-12T05:18:34.352" v="69" actId="20577"/>
          <ac:spMkLst>
            <pc:docMk/>
            <pc:sldMk cId="3682876689" sldId="31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8:44.921" v="70" actId="14100"/>
        <pc:sldMkLst>
          <pc:docMk/>
          <pc:sldMk cId="2572100287" sldId="317"/>
        </pc:sldMkLst>
        <pc:spChg chg="mod">
          <ac:chgData name="영완 전" userId="94a232b962f42e62" providerId="LiveId" clId="{862E7F7D-119D-4717-AD52-91020921814B}" dt="2026-01-12T05:18:44.921" v="70" actId="14100"/>
          <ac:spMkLst>
            <pc:docMk/>
            <pc:sldMk cId="2572100287" sldId="31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21:51.640" v="43" actId="20577"/>
        <pc:sldMkLst>
          <pc:docMk/>
          <pc:sldMk cId="253243028" sldId="318"/>
        </pc:sldMkLst>
        <pc:spChg chg="mod">
          <ac:chgData name="영완 전" userId="94a232b962f42e62" providerId="LiveId" clId="{862E7F7D-119D-4717-AD52-91020921814B}" dt="2026-01-07T05:21:51.640" v="43" actId="20577"/>
          <ac:spMkLst>
            <pc:docMk/>
            <pc:sldMk cId="253243028" sldId="31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9:25.030" v="71" actId="14100"/>
        <pc:sldMkLst>
          <pc:docMk/>
          <pc:sldMk cId="3034828117" sldId="326"/>
        </pc:sldMkLst>
        <pc:spChg chg="mod">
          <ac:chgData name="영완 전" userId="94a232b962f42e62" providerId="LiveId" clId="{862E7F7D-119D-4717-AD52-91020921814B}" dt="2026-01-12T05:19:25.030" v="71" actId="14100"/>
          <ac:spMkLst>
            <pc:docMk/>
            <pc:sldMk cId="3034828117" sldId="32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26:56.734" v="51" actId="20577"/>
        <pc:sldMkLst>
          <pc:docMk/>
          <pc:sldMk cId="217210840" sldId="331"/>
        </pc:sldMkLst>
        <pc:spChg chg="mod">
          <ac:chgData name="영완 전" userId="94a232b962f42e62" providerId="LiveId" clId="{862E7F7D-119D-4717-AD52-91020921814B}" dt="2026-01-07T05:26:56.734" v="51" actId="20577"/>
          <ac:spMkLst>
            <pc:docMk/>
            <pc:sldMk cId="217210840" sldId="33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27:34.830" v="53" actId="20577"/>
        <pc:sldMkLst>
          <pc:docMk/>
          <pc:sldMk cId="4121291218" sldId="332"/>
        </pc:sldMkLst>
        <pc:spChg chg="mod">
          <ac:chgData name="영완 전" userId="94a232b962f42e62" providerId="LiveId" clId="{862E7F7D-119D-4717-AD52-91020921814B}" dt="2026-01-07T05:27:34.830" v="53" actId="20577"/>
          <ac:spMkLst>
            <pc:docMk/>
            <pc:sldMk cId="4121291218" sldId="332"/>
            <ac:spMk id="3" creationId="{00000000-0000-0000-0000-000000000000}"/>
          </ac:spMkLst>
        </pc:spChg>
      </pc:sldChg>
    </pc:docChg>
  </pc:docChgLst>
  <pc:docChgLst>
    <pc:chgData name="lulumai mai" userId="1253169f8941c246" providerId="LiveId" clId="{EB46CEBC-9F90-4288-967F-DE3A5B970355}"/>
    <pc:docChg chg="modSld">
      <pc:chgData name="lulumai mai" userId="1253169f8941c246" providerId="LiveId" clId="{EB46CEBC-9F90-4288-967F-DE3A5B970355}" dt="2026-01-03T04:17:04.264" v="0" actId="14826"/>
      <pc:docMkLst>
        <pc:docMk/>
      </pc:docMkLst>
      <pc:sldChg chg="modSp">
        <pc:chgData name="lulumai mai" userId="1253169f8941c246" providerId="LiveId" clId="{EB46CEBC-9F90-4288-967F-DE3A5B970355}" dt="2026-01-03T04:17:04.264" v="0" actId="14826"/>
        <pc:sldMkLst>
          <pc:docMk/>
          <pc:sldMk cId="3072550014" sldId="303"/>
        </pc:sldMkLst>
        <pc:picChg chg="mod">
          <ac:chgData name="lulumai mai" userId="1253169f8941c246" providerId="LiveId" clId="{EB46CEBC-9F90-4288-967F-DE3A5B970355}" dt="2026-01-03T04:17:04.264" v="0" actId="14826"/>
          <ac:picMkLst>
            <pc:docMk/>
            <pc:sldMk cId="3072550014" sldId="303"/>
            <ac:picMk id="9" creationId="{ED48797A-7059-4B80-ADBA-994AD8992E8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114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523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233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655457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장 외국재정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5</a:t>
            </a:r>
            <a:r>
              <a:rPr lang="ko-KR" altLang="en-US"/>
              <a:t>장  공공선택의 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77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144000" cy="1311928"/>
          </a:xfrm>
          <a:prstGeom prst="rect">
            <a:avLst/>
          </a:prstGeom>
          <a:solidFill>
            <a:srgbClr val="6D9AC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5</a:t>
            </a:r>
            <a:r>
              <a:rPr lang="ko-KR" altLang="en-US"/>
              <a:t>장  공공선택의 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44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655457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장 외국재정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5</a:t>
            </a:r>
            <a:r>
              <a:rPr lang="ko-KR" altLang="en-US"/>
              <a:t>장  공공선택의 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0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5</a:t>
            </a:r>
            <a:r>
              <a:rPr lang="ko-KR" altLang="en-US"/>
              <a:t>장  공공선택의 이론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EFF2849-A446-7F3C-7249-8D53E905E3A4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79D55FC9-1C5F-BBA4-E3A9-414D243D3F33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05E3477A-F4BD-301B-4961-5D5282273D3C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BF9454CA-A2AF-DE27-092F-80AC9A387C22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15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1" y="2573901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5</a:t>
            </a:r>
            <a:r>
              <a:rPr lang="ko-KR" altLang="en-US"/>
              <a:t>장  공공선택의 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22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5</a:t>
            </a:r>
            <a:r>
              <a:rPr lang="ko-KR" altLang="en-US"/>
              <a:t>장  공공선택의 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68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5</a:t>
            </a:r>
            <a:r>
              <a:rPr lang="ko-KR" altLang="en-US"/>
              <a:t>장  공공선택의 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61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5" r:id="rId3"/>
    <p:sldLayoutId id="2147483716" r:id="rId4"/>
    <p:sldLayoutId id="2147483713" r:id="rId5"/>
    <p:sldLayoutId id="2147483714" r:id="rId6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5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B3864-0367-BE1D-33AF-23BB6E5CE5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8FE360-E959-4039-D17C-27BE07D4DF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6D762137-A1DF-2810-0849-5A6B5ABA53B3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340B2A1-5C80-7CA1-D76D-A2475003F331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DD16B45-16D1-739A-C1C0-EDE2AB9516DF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D6E4A4-5DEB-9E7D-2EE1-86EF5B5BA3B4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55BBE0FF-3503-88F2-26D7-1ABAA220C1D5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>
                <a:solidFill>
                  <a:schemeClr val="accent5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공공선택의 이론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34DDB0A-1B1F-51D3-69CA-734D468E16D7}"/>
              </a:ext>
            </a:extLst>
          </p:cNvPr>
          <p:cNvSpPr txBox="1">
            <a:spLocks/>
          </p:cNvSpPr>
          <p:nvPr/>
        </p:nvSpPr>
        <p:spPr>
          <a:xfrm>
            <a:off x="4389120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공공선택이론의 의의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5.2  </a:t>
            </a:r>
            <a:r>
              <a:rPr lang="ko-KR" altLang="en-US" sz="1600" b="1" dirty="0" err="1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직접민주제하의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공공선택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5.3  </a:t>
            </a:r>
            <a:r>
              <a:rPr lang="ko-KR" altLang="en-US" sz="1600" b="1" dirty="0" err="1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과반수제하에서의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정치적 균형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5.4  </a:t>
            </a:r>
            <a:r>
              <a:rPr lang="ko-KR" altLang="en-US" sz="1600" b="1" dirty="0" err="1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공공선택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1600" b="1" dirty="0">
              <a:solidFill>
                <a:srgbClr val="2F2F2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533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공공선택이론의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8288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구성원의 의사는 집단의 의사결정 과정을 통해 전체의 의사로 통합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30400" latinLnBrk="0"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공공선택이론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choice theory)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구성원의 의사가 집단의 의사로 통합되는 과정이 경제적 측면에서 갖는 의미를 분석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30400" latinLnBrk="0"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공공선택이론의 주요 주제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집단의사결정 과정의 성격 분석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집단의사결정 과정에서 파생되는 자원배분상의 함의 발견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이론적 관점에서 행태를 예측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직접민주제하의 공공선택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30400" indent="-230400" latinLnBrk="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직접민주제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(direct democracy)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사람이 모여 의사결정을 할 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구성원 모두가 직접 의사결정에 참여하는 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직접민주제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방식하에서는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다음에 대해 사전에 합의를 보아야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0" lvl="1" indent="-468000" latinLnBrk="0">
              <a:lnSpc>
                <a:spcPct val="130000"/>
              </a:lnSpc>
              <a:buAutoNum type="arabicParenBoth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각자에게 표를 어떻게 배분할 것인가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720000" lvl="1" indent="-468000" latinLnBrk="0">
              <a:lnSpc>
                <a:spcPct val="130000"/>
              </a:lnSpc>
              <a:buAutoNum type="arabicParenBoth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조건이 충족되었을 때 의사결정에 도달되었다고 볼 수 있는가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189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전원합의제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전원합의제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(unanimity)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 전원의 동의를 요구하는 표결방식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0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결과는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파레토최적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0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빅셀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Wicksell)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전원합의제의 방식이 가장 바람직한 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00000"/>
              </a:lnSpc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전원합의제의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0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사람을 만족시킬 수 있는 의안을 찾아내는 데 많은 시간이 소요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0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사람이 더 큰 몫을 차지하기 위해 전략적으로 반대하여 시간을 지연시키고 의사진행을 비효율적인 방향으로 이끌어 갈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0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현재상태가 다른 대안에 비해 월등하게 우위를 점함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00000"/>
              </a:lnSpc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전원합의제는 아주 중요한 사안과 관련해서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그리고 논의에 참여하는 사람이 매우 적을 때에 한해서만 활용될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930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(majority rule)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투표에 참가한 사람의 절반 이상이 찬성하는 의안을 통과된 것으로 간주하는 표결 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4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단순과반수제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’(simple majority rule)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라고도 부름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과반수제하에서는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소수파에 속하는 사람들의 이익이 침해되는 사례가 종종 일어나게 됨 ⇒ 다수의 횡포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(tyranny of the majority)</a:t>
            </a:r>
          </a:p>
          <a:p>
            <a:pPr latinLnBrk="0">
              <a:lnSpc>
                <a:spcPct val="140000"/>
              </a:lnSpc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 방식을 사용하면 의안이 논의되는 순서에 따라 의사결정의 결과가 달라지는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현상이 나타날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78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최적다수결제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indent="-230400" latinLnBrk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뷰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털록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 and 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Tullock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표결방식이라도 기본적으로 다음과 같은 두 가지 유형의 비용 수반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0663" lvl="1" indent="-230400" latinLnBrk="0">
              <a:lnSpc>
                <a:spcPct val="12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의사결정비용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(decision making costs)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의사결정에 소요되는 시간과 관련된 비용으로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요구되는 찬성표의 비율이 높을수록 커짐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0663" lvl="1" indent="-230400" latinLnBrk="0">
              <a:lnSpc>
                <a:spcPct val="12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의안이 통과되었을 때 이로 인해 손해를 본다고 느끼는 사람들로부터 발생하는 사회적 비용으로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요구되는 찬성표의 비율이 높을수록 작아짐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특정한 표결방식과 관련된 총비용은 위의 두 가지 유형의 비용을 합친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최적다수결제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(optimal majority)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의안이 통과되는 데 총비용이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최저로 되는 수준의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찬성비율을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요구하는 표결방식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6236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최적다수결제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673525"/>
                <a:ext cx="8109407" cy="4503440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의결에 필요한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표수에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따른 비용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r>
                  <a:rPr lang="ko-KR" altLang="en-US" sz="2000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총비용이 최저가 되는 </a:t>
                </a:r>
                <a14:m>
                  <m:oMath xmlns:m="http://schemas.openxmlformats.org/officeDocument/2006/math">
                    <m:r>
                      <a:rPr lang="en-US" altLang="ko-KR" sz="2000" i="1" spc="-20" dirty="0" smtClean="0">
                        <a:latin typeface="Cambria Math" panose="02040503050406030204" pitchFamily="18" charset="0"/>
                        <a:ea typeface="+mn-ea"/>
                      </a:rPr>
                      <m:t>𝐾</m:t>
                    </m:r>
                  </m:oMath>
                </a14:m>
                <a:r>
                  <a:rPr lang="ko-KR" altLang="en-US" sz="2000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의결에 필요한 </a:t>
                </a:r>
                <a:r>
                  <a:rPr lang="ko-KR" altLang="en-US" sz="2000" spc="-2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표수로</a:t>
                </a:r>
                <a:r>
                  <a:rPr lang="ko-KR" altLang="en-US" sz="2000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하는 것이 최적다수결제</a:t>
                </a:r>
                <a:endParaRPr lang="en-US" altLang="ko-KR" sz="2000" spc="-2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673525"/>
                <a:ext cx="8109407" cy="4503440"/>
              </a:xfrm>
              <a:blipFill>
                <a:blip r:embed="rId2"/>
                <a:stretch>
                  <a:fillRect l="-677" r="-301" b="-2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48797A-7059-4B80-ADBA-994AD8992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3517" y="2166986"/>
            <a:ext cx="6199305" cy="351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5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점수투표제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앞서의 표결 방식들은 사람들이 단순히 찬성이나 반대의 뜻을 표현하는 것만 허용하고 있어 선호의 강도를 반영할 수 없다는 문제점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투표 결과 최선이 아닌 대안이 선택될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점수투표제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(point voting)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각자에게 정해진 점수를 부여하고 투표자로 하여금 선호의 강도에 따라 이를 적절히 배분해 투표하게 만든 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의안이 얻는 점수를 합해 가장 많은 총점을 얻은 의안 선택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선호의 강도를 제대로 반영하여 합리적인 의사결정에 이르도록 할 수 있다는 장점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445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점수투표제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14968" cy="4754563"/>
          </a:xfrm>
        </p:spPr>
        <p:txBody>
          <a:bodyPr anchor="ctr">
            <a:no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점수투표제의 문제점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전략적 행위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(voting strategy)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취약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전략적 행위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투표자가 다른 투표자의 투표성향을 미리 예측하고 자신의 행동을 이에 맞춰 변화시킴으로써 자기가 원하는 결과를 얻으려 하는 행위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전략적 행위로 인해 최선의 대안이 선택되지 못하는 결과가 발생할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3189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점수투표제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latinLnBrk="0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선호의 강도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정직하게 투표한다면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조합장으로 선출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투표자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전략적 행위를 통해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에게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점을 몰아주면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조합장으로 선출 ⇒ 사회적으로 바람직하지 않은 결과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0DCFF9-573F-4F90-804A-1F8296D02A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937" y="2082031"/>
            <a:ext cx="7773412" cy="241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79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과반수제하에서의 정치적 균형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16531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30400" indent="-230400" latinLnBrk="0"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과반수제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일반적으로 가장 많이 사용되는 표결 방식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정치적 균형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주어진 집단의사결정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과정하에서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어떤 의제에 대해 합의가 이루어진 상태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 spc="-7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ko-KR" altLang="en-US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예산 규모를 </a:t>
                </a:r>
                <a:br>
                  <a:rPr lang="en-US" altLang="ko-KR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놓고 </a:t>
                </a:r>
                <a14:m>
                  <m:oMath xmlns:m="http://schemas.openxmlformats.org/officeDocument/2006/math"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ko-KR" altLang="en-US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과반수제 </a:t>
                </a:r>
                <a:br>
                  <a:rPr lang="en-US" altLang="ko-KR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방식에 의해 적절한 </a:t>
                </a:r>
                <a:br>
                  <a:rPr lang="en-US" altLang="ko-KR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예산규모를 선택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1200"/>
                  </a:spcBef>
                  <a:spcAft>
                    <a:spcPts val="2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투표자의 선호도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: 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: 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: 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16531"/>
                <a:ext cx="7886700" cy="4754563"/>
              </a:xfrm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79CF73-1A94-47B0-B299-515304B77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3538" y="3080963"/>
            <a:ext cx="5323022" cy="302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29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중위투표자이론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952642" cy="4754563"/>
              </a:xfrm>
            </p:spPr>
            <p:txBody>
              <a:bodyPr anchor="ctr">
                <a:noAutofit/>
              </a:bodyPr>
              <a:lstStyle/>
              <a:p>
                <a:pPr latinLnBrk="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과반수제하의 표결과정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latinLnBrk="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임의의 두 대안을 짝지어 각자에게 선택하게 한 후 과반수를 얻은 대안을 남기고 다른 대안은 제거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latinLnBrk="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남겨진 대안을 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3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대안과 다시 비교하여 과반수를 얻은 대안을 궁극적으로 선택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000"/>
                  </a:spcBef>
                </a:pPr>
                <a:r>
                  <a:rPr lang="ko-KR" altLang="en-US" sz="2000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콩도르세승자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(Condorcet winner)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여러 의안이 있을 때 둘씩 짝지어 비교하고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과반수를 얻어 살아남은 의안을 또 다른 의안과 비교하는 과정을 계속하여 결국 살아남게 된 의안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000"/>
                  </a:spcBef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비교 ⇒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남겨짐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비교 ⇒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남겨짐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[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콩도르세승자로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예산규모로 선택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]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952642" cy="4754563"/>
              </a:xfrm>
              <a:blipFill>
                <a:blip r:embed="rId2"/>
                <a:stretch>
                  <a:fillRect l="-6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7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투표자들의 선호가 앞에서 본 것처럼 주어진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비교의 순서와 상관없이 항상 똑같은 결과 나옴</a:t>
            </a:r>
          </a:p>
          <a:p>
            <a:pPr latinLnBrk="0"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과반수제를 통해 선택된 대안 𝐵는 어떤 성격을 갖고 있을까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452438" lvl="1" indent="-18415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투표자들을 선호하는 예산규모가 큰 사람부터 차례로 늘어놓으면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lvl="1" indent="0" latinLnBrk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𝑋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𝑍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𝑌의 순서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452438" lvl="1" indent="-18415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(median voter)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𝑍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 lvl="1" indent="-18415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과반수제에 의해 선택된 대안 𝐵는 중위투표자가 가장 선호하는 대안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중위투표자이론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(median voter theorem)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과반수제하에서는 중위투표자가 가장 선호하는 의안이 채택된다는 이론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7186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30400" lvl="1" indent="-230400" latinLnBrk="0">
                  <a:spcAft>
                    <a:spcPts val="200"/>
                  </a:spcAft>
                  <a:buFont typeface="Wingdings" panose="05000000000000000000" pitchFamily="2" charset="2"/>
                  <a:buChar char="§"/>
                  <a:tabLst>
                    <a:tab pos="987425" algn="l"/>
                  </a:tabLs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앞과 다른 투표자의 선호 가정 </a:t>
                </a:r>
                <a:b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≻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30400" indent="-230400" latinLnBrk="0">
                  <a:spcBef>
                    <a:spcPts val="2000"/>
                  </a:spcBef>
                  <a:tabLst>
                    <a:tab pos="1250950" algn="l"/>
                  </a:tabLs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𝐴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𝐵  비교 ⇒  𝐴</a:t>
                </a:r>
                <a:b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𝐴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𝐶  비교 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 </a:t>
                </a:r>
                <a:r>
                  <a:rPr lang="ko-KR" altLang="en-US" sz="2000" spc="-113" dirty="0">
                    <a:solidFill>
                      <a:srgbClr val="C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𝐶</a:t>
                </a:r>
                <a:endParaRPr lang="en-US" altLang="ko-KR" sz="2000" spc="-113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tabLst>
                    <a:tab pos="1250950" algn="l"/>
                  </a:tabLs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𝐵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𝐶  비교 ⇒  𝐵</a:t>
                </a:r>
                <a:b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ko-KR" altLang="en-US" sz="2000" spc="-113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𝐵</m:t>
                    </m:r>
                  </m:oMath>
                </a14:m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𝐴  비교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 </a:t>
                </a:r>
                <a:r>
                  <a:rPr lang="ko-KR" altLang="en-US" sz="2000" spc="-113" dirty="0">
                    <a:solidFill>
                      <a:srgbClr val="C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𝐴</a:t>
                </a:r>
                <a:endParaRPr lang="en-US" altLang="ko-KR" sz="2000" spc="-113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비교 순서가 달라짐에 따라 표결의 결과 달라짐 </a:t>
                </a:r>
                <a:b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 </a:t>
                </a:r>
                <a:r>
                  <a:rPr lang="ko-KR" altLang="en-US" sz="2000" b="1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투표의 역설</a:t>
                </a:r>
                <a:r>
                  <a:rPr lang="en-US" altLang="ko-KR" sz="2000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(voting paradox)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065424-3895-4843-BA12-1F2C5DCB4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9890" y="2011102"/>
            <a:ext cx="5532536" cy="316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48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85750" lvl="1" indent="-230400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과반수제에 의해 집단의사결정을 할 때 투표의 역설 현상 때문에 일관성 없는 결과가 나올 가능성이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 latinLnBrk="0">
              <a:lnSpc>
                <a:spcPct val="140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lvl="1" indent="-230400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의사진행 과정을 장악하고 있는 사람이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의사진행조작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(agenda manipulation)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결과에 영향을 미칠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36575" lvl="3" indent="-230400" latinLnBrk="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의안 간 비교의 순서를 선택함으로써 표결 결과에 영향력 행사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338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749" y="488713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역설이 나타나는 이유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다봉선호를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가진 투표자 존재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7675" lvl="4">
              <a:lnSpc>
                <a:spcPct val="130000"/>
              </a:lnSpc>
              <a:buClr>
                <a:schemeClr val="accent1"/>
              </a:buClr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단봉선호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봉우리가 하나인 산 모양을 갖는 선호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7675" lvl="4">
              <a:lnSpc>
                <a:spcPct val="130000"/>
              </a:lnSpc>
              <a:buClr>
                <a:schemeClr val="accent1"/>
              </a:buClr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다봉선호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𝑌의 선호처럼 봉우리가 양쪽에 두 개가 있는 경우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4" indent="-230400">
              <a:lnSpc>
                <a:spcPct val="130000"/>
              </a:lnSpc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단봉선호가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일반적이기는 하지만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다봉선호도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그리 이상한 일은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7675" lvl="3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공립학교의 질과 관련된 예산수준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중간 정도의 예산수준을 가장   싫어하고 아주 작거나 아주 큰 예산규모를 선호할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7675" lvl="3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건물의 용도로 도서관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청년회관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임대상가에 대해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다봉선호를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가질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4746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49402"/>
            <a:ext cx="7886700" cy="4754563"/>
          </a:xfrm>
        </p:spPr>
        <p:txBody>
          <a:bodyPr anchor="ctr">
            <a:noAutofit/>
          </a:bodyPr>
          <a:lstStyle/>
          <a:p>
            <a:pPr marL="2857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경우 다음의 조건이 성립하면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단봉선호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64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표준적인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볼록선호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64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고정된 가격에 직면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F6C1BD-F29A-47FF-A85F-DF3D51BA7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4412" y="2815482"/>
            <a:ext cx="6335175" cy="358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3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 공공선택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정부가 직접민주제의 방식에 의해 운용되는 예는 찾아보기 어려움</a:t>
            </a:r>
          </a:p>
          <a:p>
            <a:pPr marL="449263"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거의 모든 나라가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(representative democracy)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채택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정부는 주로 정치가나 관료에 의해 움직여지고 있으므로 이들의 행태를 자세히 관찰하고 분석할 필요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정치가나 관료들도 자신의 이득을 추구하는 경제주체라는 점에서는 기본적으로 효용극대화를 추구하는 소비자나 이윤극대화를 추구하는 기업과 다를 바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이들이 자신에게 돌아오는 이득을 극대화하려 할 것이라는 기본 가정으로부터 논의 출발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0397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대의민주제하에서 국민은 직접 의사결정에 참여하지 않고 자신들을 대표해 의사결정에 참여할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정치가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(politicians)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선출</a:t>
            </a:r>
          </a:p>
          <a:p>
            <a:pPr latinLnBrk="0">
              <a:lnSpc>
                <a:spcPct val="150000"/>
              </a:lnSpc>
            </a:pP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정치가가 정부 운영을 책임지게 되므로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 공공선택에 관한 논의는 정치가의 행동에 대한 분석으로부터 시작해야 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6465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표극대화모형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다운스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Downs)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 투표자와 정치가가 각각 다음과 같은 목표를 추구한다는 기본가정으로부터 논의 시작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투표자는 자신의 효용을 극대화하려 한다고 가정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경제활동으로부터 자신이 누릴 수 있는 순편익이 극대화되기를 바란다는 의미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6537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정치가는 공직을 얻기 위해 최대한 많은 표를 얻으려 한다고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투표자는 자신의 이익을 가장 잘 대표해 줄 수 있는 사람에게 표를 던지고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정치가는 이에 부응해 투표자에게 가장 유리한 정책을 추진</a:t>
            </a:r>
          </a:p>
          <a:p>
            <a:pPr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과정에서 개인의 선호가 집단의사로 반영됨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표극대화모형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(vote maximization model)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0929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투표자의 연합과 정강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 의안에 대해 견해를 달리하는 투표자들이 서로 연합함으로써 공동의 이익을 추구할 수 있는 여지가 있음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 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𝐵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𝐶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𝐷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𝐸가 징병제 폐지와 가족법 개정 여부에 대해 투표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100AEE4-7D39-41A3-87FB-EB9982871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3611" y="3053308"/>
            <a:ext cx="6914521" cy="326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70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투표자의 연합과 정강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첫째와 둘째 의안을 각각 분리해 표결에 붙이고 과반수제 적용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징병제에 관해서는 존속시키자는 안이 통과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가족법에 관해서는 개정하자는 안이 통과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𝐸가 연합해 𝐴는 가족법 유지 쪽에 표를 던지고 그 대가로 𝐸는 징병제 폐지 쪽으로 표를 던지기로 합의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징병제 폐지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가족법 유지 결정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과반수제를 위시한 대부분의 표결방식에서는 투표자들의 선호의 강도가 적절하게 반영되지 못하지만 투표자의 연합을 통해 선호의 강도가 반영될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0263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투표자의 연합과 정강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55942" cy="4754563"/>
          </a:xfrm>
        </p:spPr>
        <p:txBody>
          <a:bodyPr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 수가 엄청나게 많은 현실의 세계에서 투표자들이 실제로 연합을 구성한다는 것은 거의 불가능에 가까운 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정치가는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(platforms)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것을 통해 실질적으로 투표자의 연합을 만들어내는 역할</a:t>
            </a:r>
          </a:p>
          <a:p>
            <a:pPr marL="444500" lvl="1" indent="-176213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정강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정당이나 정치가가 여러 가지 사안에 대해 하나의 종합적인    태도를 취하게 되는데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구체적으로 나열해 놓은 것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정강을 만들 때는 득표를 극대화하려는 관점에서 선거구민들의 선호를 최대한으로 반영할 수 있도록 노력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정강은 성공적인 투표자의 연합을 만들고자 하는 시도와 밀접한 관계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2876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결탁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67593" cy="4754563"/>
          </a:xfrm>
        </p:spPr>
        <p:txBody>
          <a:bodyPr anchor="ctr">
            <a:no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투표자들이 직접적으로 연합을 결성해 표를 주고받는다면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정치적 결탁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(logrolling)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의해 표가 교환되었다고 말할 수 있음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정강을 통해 투표자들을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끌어모으는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것도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정치가가 매개 역할을 한다는 점만 다를 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내용상으로 보아 정치적 결탁에 의해 표를 교환하는 것과 다를 바 없음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표를 교환하는 행위를 어떻게 평가해야 하는지에 대해 긍정적으로 보는 견해와 부정적으로 보는 견해 공존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2100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결탁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Autofit/>
          </a:bodyPr>
          <a:lstStyle/>
          <a:p>
            <a:pPr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긍정적 평가</a:t>
            </a:r>
          </a:p>
          <a:p>
            <a:pPr marL="444500" lvl="1" indent="-176213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정치의 장에서 표를 교환하는 행위는 효율적 집단의사결정을 가능하게 해줌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 교환행위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(vote trading)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투표자가 갖는 선호의 강도가 반영될 길이 열리며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안정된 정치적 균형을 가져옴</a:t>
            </a:r>
          </a:p>
          <a:p>
            <a:pPr marL="444500" lvl="1" indent="-176213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민주적인 정치체제에서 타협이 중요한데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 교환행위는 정치적 과정에서의 타협을 구체화시킨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부정적 평가</a:t>
            </a:r>
          </a:p>
          <a:p>
            <a:pPr marL="444500" lvl="1" indent="-176213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표의 교환이 보편화될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대중의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희생하에서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특정 집단의 사람들에게만 이익이 돌아가는 방향으로 집단의사결정이 이루어질 가능성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243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현대의 정부에서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관료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(bureaucrat)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들은 정치가에 못지않게 중요한 역할 수행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관료는 정치가보다 수명이 길고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정책집행 과정을 직접 담당하여 이에 대한 전문적 지식을 갖고 있다는 점에서 정치가와 차이</a:t>
            </a:r>
          </a:p>
          <a:p>
            <a:pPr latinLnBrk="0"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민간기업은 이윤을 통해 경영성과를 평가할 수 있으나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관료들은 맡은 일을 얼마나 성공적으로 수행했는지를 평가할 적절한 기준 없음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관료들로 하여금 효율적인 행동을 하도록 유도하는 유인구조를 만들기 어려움</a:t>
            </a:r>
          </a:p>
          <a:p>
            <a:pPr latinLnBrk="0"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관료들이 공복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(public servant)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이어야 하지만 실제로는 이들의 도덕적 해이 발생할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9928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관료제모형의 기본골격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관료제모형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(bureaucracy model)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관료들이 어떤 행동을 보일 것인지 예측하는 데 분석의 초점을 맞춤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관료의 행태에 관한 대부분의 실증연구는 그들이 공공서비스를 생산할 때 비용을 가능한 한 최소의 수준으로 낮추려고 노력하지 않는 경향이 있음을 밝히고 있음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관료들이 비효율적 생산을 하는 이유는 그들의 능력 부족 탓이 아니라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그렇게 하는 것이 그들의 개인적 이득을 더 크게 만들기 때문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8851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307733" cy="4754563"/>
          </a:xfrm>
        </p:spPr>
        <p:txBody>
          <a:bodyPr anchor="ctr">
            <a:noAutofit/>
          </a:bodyPr>
          <a:lstStyle/>
          <a:p>
            <a:pPr>
              <a:spcAft>
                <a:spcPts val="700"/>
              </a:spcAft>
            </a:pPr>
            <a:r>
              <a:rPr lang="ko-KR" altLang="en-US" sz="2000" b="1" spc="-1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</a:t>
            </a:r>
            <a:r>
              <a:rPr lang="en-US" altLang="ko-KR" sz="2000" spc="-1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spc="-1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Niskanen</a:t>
            </a:r>
            <a:r>
              <a:rPr lang="en-US" altLang="ko-KR" sz="2000" spc="-1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model) : </a:t>
            </a:r>
            <a:r>
              <a:rPr lang="en-US" altLang="ko-KR" sz="20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관료들은 그가 속한 부서의 </a:t>
            </a:r>
            <a:r>
              <a:rPr lang="ko-KR" altLang="en-US" sz="2000" b="1" spc="-1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예산극대화</a:t>
            </a:r>
            <a:r>
              <a:rPr lang="en-US" altLang="ko-KR" sz="2000" spc="-1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(budget maximization)</a:t>
            </a:r>
            <a:r>
              <a:rPr lang="ko-KR" altLang="en-US" sz="20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추구한다는 기본가정</a:t>
            </a:r>
            <a:endParaRPr lang="en-US" altLang="ko-KR" sz="2000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Bef>
                <a:spcPts val="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직책상의 특권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사회적인 명성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영향력 등이 예산과 밀접한 관련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관료들은 입법부의 심사절차를 통해 공공재 생산에 필요한 경비 조달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Bef>
                <a:spcPts val="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생산물을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단위별로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판매하는 것이 아니라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전체의 생산물을 예산과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066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교환하는 형식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관료적 생산의 총편익이 총비용보다 크다는 사실을 입법부에 납득시키기만 하면 자신의 생산활동이 타당했다고 인정받을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4828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27212"/>
                <a:ext cx="7886700" cy="4754563"/>
              </a:xfrm>
            </p:spPr>
            <p:txBody>
              <a:bodyPr>
                <a:noAutofit/>
              </a:bodyPr>
              <a:lstStyle/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예산극대화를 추구하는 관료들은 입법부에 의해 타당성을 인정받을 수 있는 최대한의 생산수준인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선택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27212"/>
                <a:ext cx="7886700" cy="475456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ECDBFC-7ECE-49EA-91B2-2B6F4609E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4242" y="1498362"/>
            <a:ext cx="6625732" cy="386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99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관료들의 과다생산 경향에 대처하기 위해 다음과 같은 대책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96850" lvl="1" indent="0" latinLnBrk="0">
              <a:lnSpc>
                <a:spcPct val="120000"/>
              </a:lnSpc>
              <a:buNone/>
              <a:tabLst>
                <a:tab pos="900113" algn="l"/>
              </a:tabLst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 수준 관료들의 봉급을 예산절감 노력에 상응하게 조정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96850" lvl="1" indent="0" latinLnBrk="0">
              <a:lnSpc>
                <a:spcPct val="120000"/>
              </a:lnSpc>
              <a:buNone/>
              <a:tabLst>
                <a:tab pos="900113" algn="l"/>
              </a:tabLst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생산과 공급활동은 민간기업에 맡기고 정부는 경비만 대는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3538" lvl="1" indent="-166688" latinLnBrk="0">
              <a:lnSpc>
                <a:spcPct val="120000"/>
              </a:lnSpc>
              <a:tabLst>
                <a:tab pos="900113" algn="l"/>
              </a:tabLs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60350" latinLnBrk="0">
              <a:lnSpc>
                <a:spcPct val="120000"/>
              </a:lnSpc>
              <a:tabLst>
                <a:tab pos="900113" algn="l"/>
              </a:tabLs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 다음과 같은 의문을 제기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3538" lvl="1" indent="-166688" latinLnBrk="0">
              <a:lnSpc>
                <a:spcPct val="120000"/>
              </a:lnSpc>
              <a:tabLst>
                <a:tab pos="900113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현실에서의 입법부가 과연 모형에서 상정하고 있는 것처럼 순진하고 수동적인 존재인가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363538" lvl="1" indent="-166688" latinLnBrk="0">
              <a:lnSpc>
                <a:spcPct val="120000"/>
              </a:lnSpc>
              <a:tabLst>
                <a:tab pos="900113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 혹은 생산수준의 크고 작음이 관료의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효용함수에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들어가는 유일한 변수인가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3577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빌레인저모형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004363" cy="4754563"/>
              </a:xfrm>
            </p:spPr>
            <p:txBody>
              <a:bodyPr>
                <a:noAutofit/>
              </a:bodyPr>
              <a:lstStyle/>
              <a:p>
                <a:pPr marL="268288" indent="-230400" latinLnBrk="0">
                  <a:lnSpc>
                    <a:spcPct val="110000"/>
                  </a:lnSpc>
                  <a:spcAft>
                    <a:spcPts val="200"/>
                  </a:spcAft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미그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빌레인저모형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en-US" altLang="ko-KR" sz="2000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Migué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and Belanger model)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관료들이 효용극대화를 추구한다고 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indent="-230400" latinLnBrk="0">
                  <a:lnSpc>
                    <a:spcPct val="110000"/>
                  </a:lnSpc>
                  <a:spcAft>
                    <a:spcPts val="2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효용은 단지 공공재 생산량뿐 아니라 직책과 관련하여 누릴 수 있는 여러 특권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(perquisites)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의해서도 영향을 받고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indent="-230400" latinLnBrk="0">
                  <a:lnSpc>
                    <a:spcPct val="140000"/>
                  </a:lnSpc>
                  <a:spcAft>
                    <a:spcPts val="2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관료들의 효용함수가 다음과 같은 형태를 갖는다고 상정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관료적 생산수준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직책상의 특권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268288" indent="-230400" latinLnBrk="0">
                  <a:lnSpc>
                    <a:spcPct val="110000"/>
                  </a:lnSpc>
                  <a:spcBef>
                    <a:spcPts val="2000"/>
                  </a:spcBef>
                  <a:spcAft>
                    <a:spcPts val="2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관료들이 예산상의 잉여를 가지고 있어야만 이와 같은 직책상의 특권들을 취득할 수 있다는 점에 착안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indent="-230400" latinLnBrk="0">
                  <a:lnSpc>
                    <a:spcPct val="110000"/>
                  </a:lnSpc>
                  <a:spcAft>
                    <a:spcPts val="2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예산상의 잉여는 마치 개인기업의 이윤과 비슷한 역할</a:t>
                </a:r>
              </a:p>
              <a:p>
                <a:pPr marL="514800" lvl="1" indent="-230400" latinLnBrk="0">
                  <a:lnSpc>
                    <a:spcPct val="110000"/>
                  </a:lnSpc>
                  <a:spcAft>
                    <a:spcPts val="2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모형에서도 관료들이 과잉생산의 경향 보이지만 그 정도는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니스카넨모형에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비해 작음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004363" cy="4754563"/>
              </a:xfrm>
              <a:blipFill>
                <a:blip r:embed="rId2"/>
                <a:stretch>
                  <a:fillRect l="-228" b="-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6502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빌레인저모형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604690"/>
                <a:ext cx="7484409" cy="475456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관료들의 효용을 극대화하는 생산수준 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pc="-113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b="1" i="1" spc="-113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altLang="ko-KR" sz="2000" b="1" i="1" spc="-113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 spc="-113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28600" lvl="2"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과다생산이 이루어진다는 점에서 니스카넨모형과 비슷하나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과다생산의 정도는 니스카넨모형에서 보다 작아짐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604690"/>
                <a:ext cx="7484409" cy="4754563"/>
              </a:xfrm>
              <a:blipFill>
                <a:blip r:embed="rId2"/>
                <a:stretch>
                  <a:fillRect l="-733" r="-896" b="-1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F92093A-41B5-4174-A2BB-B1DAFD689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3816" y="1464302"/>
            <a:ext cx="6261216" cy="358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9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관료제의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국민과 관료들 사이에는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대리인의 관계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(principal-agent relationship)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성립해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관료들의 도덕적 해이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(moral hazard)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나타날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도덕적 해이는 국민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관료들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대리인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행동들을 제대로 파악할 수 없다는 데에서 기인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대리인의 관계는 국민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 사이에서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중층구조를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때로는 정치가와 관료가 결탁하여 국민의 이해에 반하면서 자신들의 공동이익을 추구하는 경우도 발생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견제와 균형을 중심으로 하는 민주적 정치제도는 본인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대리인의 관계에서 대리인의 행동을 바람직한 방향으로 유도하려는 노력의 소산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8672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관료제의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49402"/>
            <a:ext cx="7886700" cy="4754563"/>
          </a:xfrm>
        </p:spPr>
        <p:txBody>
          <a:bodyPr>
            <a:noAutofit/>
          </a:bodyPr>
          <a:lstStyle/>
          <a:p>
            <a:pPr latinLnBrk="0">
              <a:lnSpc>
                <a:spcPct val="130000"/>
              </a:lnSpc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관료제가 갖는 또 하나의 심각한 문제점은 영어의 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red tape’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말로 표현되는 관료적 형식주의로부터 나오는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비능률성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30000"/>
              </a:lnSpc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국민들에게 불필요한 부담을 안겨주는 관료제의 비능률성은 과다생산의 경향 못지않게 심각한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비능률성의 근저에는 여러 가지 이유가 깔려 있을 것임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30000"/>
              </a:lnSpc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지대추구행위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(rent seeking activities)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복잡한 행정절차는 많은 지대를 창출하게 되어 관료들에게 이득</a:t>
            </a:r>
          </a:p>
          <a:p>
            <a:pPr marL="449263" lvl="1" latinLnBrk="0">
              <a:lnSpc>
                <a:spcPct val="130000"/>
              </a:lnSpc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관료들의 위험기피적인 성향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일의 성공에 대한 보상은 별로 크지 않은 반면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실패에 대한 책임은 매우 큼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210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관료제의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49402"/>
            <a:ext cx="8111938" cy="4754563"/>
          </a:xfrm>
        </p:spPr>
        <p:txBody>
          <a:bodyPr>
            <a:noAutofit/>
          </a:bodyPr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비효율성을 제거하기 위한 개혁의 방안</a:t>
            </a:r>
          </a:p>
          <a:p>
            <a:pPr marL="449263"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급여구조와 승진제도의 개선</a:t>
            </a:r>
          </a:p>
          <a:p>
            <a:pPr marL="449263"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부처 간의 또는 민간부문과의 경쟁 촉진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300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관료들의 성과를 구체적으로 측정해 보수나 승진에 반영하는 정책</a:t>
            </a:r>
          </a:p>
          <a:p>
            <a:pPr marL="449263"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관료들이 수행하는 업무의 성격상 그 성과를 객관적으로 평가하기 어려움</a:t>
            </a:r>
          </a:p>
          <a:p>
            <a:pPr marL="449263"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성과의 객관적 평가가 가능하다 해도 이 정책이 정말로 관료들의 효율성을 높이는 데 효과를 발휘할 수 있다는 보장이 없음 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2002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미국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행정부의 교육개혁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 Child Left Behind)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1291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9924" cy="4754563"/>
          </a:xfrm>
        </p:spPr>
        <p:txBody>
          <a:bodyPr anchor="ctr">
            <a:noAutofit/>
          </a:bodyPr>
          <a:lstStyle/>
          <a:p>
            <a:pPr marL="285750" lvl="1" indent="-230400">
              <a:buFont typeface="Wingdings" panose="05000000000000000000" pitchFamily="2" charset="2"/>
              <a:buChar char="§"/>
            </a:pPr>
            <a:r>
              <a:rPr lang="ko-KR" altLang="en-US" sz="20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(special interest group)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대의민주제가 행해지고 있는 사회에서 정치가와 관료에 이어 중요한 역할을 하는 집단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6088" lvl="3" indent="-230400">
              <a:buFont typeface="Arial" panose="020B0604020202020204" pitchFamily="34" charset="0"/>
              <a:buChar char="•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국민이 정책수립과정에서 개인적인 유권자로서는 미미한 영향력밖에      발휘하지 못하지만 특수이해집단을 형성하고 집단적인 힘을 활용한다면 큰 영향력을 발휘할 수 있음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lvl="1" indent="-230400"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특수이해집단이 갖는 강점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6088" lvl="3" indent="-230400">
              <a:buFont typeface="Arial" panose="020B0604020202020204" pitchFamily="34" charset="0"/>
              <a:buChar char="•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구성원들이 공유하는 명백한 목적의식과 이에 따른 조직력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높은 투표율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자금력 등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6088" lvl="3" indent="-230400">
              <a:buFont typeface="Arial" panose="020B0604020202020204" pitchFamily="34" charset="0"/>
              <a:buChar char="•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개인들의 산발적인 힘을 뚜렷하게 설정된 목표를 향해 집중시킴으로써 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15688" lvl="3" indent="0">
              <a:buNone/>
            </a:pP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매우 큰 영향력 행사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700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57175" lvl="1" indent="-23040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 형성의 근거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79425" lvl="2" indent="-23040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소득의 원천 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노동조합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경제단체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79425" lvl="2" indent="-23040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소득의 크기 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가난한 사람들의 이익을 위해 결성된 로비그룹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79425" lvl="2" indent="-23040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산업별 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자동차산업의 로비그룹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농업 또는 축산업의 로비그룹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79425" lvl="2" indent="-23040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직종별 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변호사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79425" lvl="2" indent="-23040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목표 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환경보호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소비자보호 등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7175" lvl="1" indent="-230400" latinLnBrk="0">
              <a:lnSpc>
                <a:spcPct val="110000"/>
              </a:lnSpc>
              <a:spcBef>
                <a:spcPts val="1500"/>
              </a:spcBef>
              <a:buFont typeface="Wingdings" panose="05000000000000000000" pitchFamily="2" charset="2"/>
              <a:buChar char="§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특수이해집단들은 모르고 지나쳐 버릴 수 있는 것을 사회 문제화하여 합리적인 해결책을 모색할 수 있는 계기를 마련해 줌  ⇒  긍정적 역할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7175" lvl="1" indent="-230400" latinLnBrk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공익보다는 구성원들의 이익만을 앞세우는 경향이 있어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   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 전체의 입장에서 비효율적이거나 불합리한 결과를 유발하기도 함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7175" lvl="1" indent="-230400" latinLnBrk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b="1" spc="-15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철의 삼각형</a:t>
            </a:r>
            <a:r>
              <a:rPr lang="en-US" altLang="ko-KR" sz="2000" spc="-15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(iron triangle) 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 미국 정치의 주요한 특징 중 하나로         정치가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특수이해집단에 의해 만들어진 연합관계를 의미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953426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46638977-1062-4062-975A-96BC13157A03}" vid="{2556D793-3858-4EB4-980D-4CB9D1BC667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2988</TotalTime>
  <Words>2524</Words>
  <Application>Microsoft Office PowerPoint</Application>
  <PresentationFormat>화면 슬라이드 쇼(4:3)</PresentationFormat>
  <Paragraphs>363</Paragraphs>
  <Slides>37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7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5.1  공공선택이론의 의의</vt:lpstr>
      <vt:lpstr>5.2  직접민주제하의 공공선택</vt:lpstr>
      <vt:lpstr>전원합의제</vt:lpstr>
      <vt:lpstr>과반수제</vt:lpstr>
      <vt:lpstr>최적다수결제</vt:lpstr>
      <vt:lpstr>최적다수결제</vt:lpstr>
      <vt:lpstr>점수투표제</vt:lpstr>
      <vt:lpstr>점수투표제</vt:lpstr>
      <vt:lpstr>점수투표제</vt:lpstr>
      <vt:lpstr>5.3  과반수제하에서의 정치적 균형</vt:lpstr>
      <vt:lpstr>과반수제 : 중위투표자이론</vt:lpstr>
      <vt:lpstr>과반수제 : 중위투표자이론</vt:lpstr>
      <vt:lpstr>과반수제 : 투표의 역설</vt:lpstr>
      <vt:lpstr>과반수제 : 투표의 역설</vt:lpstr>
      <vt:lpstr>과반수제 : 투표의 역설</vt:lpstr>
      <vt:lpstr>과반수제 : 투표의 역설</vt:lpstr>
      <vt:lpstr>5.4  대의민주제하의 공공선택</vt:lpstr>
      <vt:lpstr>대의민주제하의 공공선택 : 정치가</vt:lpstr>
      <vt:lpstr>표극대화모형</vt:lpstr>
      <vt:lpstr>투표자의 연합과 정강</vt:lpstr>
      <vt:lpstr>투표자의 연합과 정강</vt:lpstr>
      <vt:lpstr>투표자의 연합과 정강</vt:lpstr>
      <vt:lpstr>정치적 결탁</vt:lpstr>
      <vt:lpstr>정치적 결탁</vt:lpstr>
      <vt:lpstr>대의민주제하의 공공선택 : 관료</vt:lpstr>
      <vt:lpstr>관료제모형의 기본골격</vt:lpstr>
      <vt:lpstr>니스카넨모형</vt:lpstr>
      <vt:lpstr>니스카넨모형</vt:lpstr>
      <vt:lpstr>니스카넨모형</vt:lpstr>
      <vt:lpstr>미그-빌레인저모형</vt:lpstr>
      <vt:lpstr>미그-빌레인저모형</vt:lpstr>
      <vt:lpstr>관료제의 개혁</vt:lpstr>
      <vt:lpstr>관료제의 개혁</vt:lpstr>
      <vt:lpstr>관료제의 개혁</vt:lpstr>
      <vt:lpstr>특수이해집단</vt:lpstr>
      <vt:lpstr>특수이해집단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850</cp:revision>
  <dcterms:created xsi:type="dcterms:W3CDTF">2015-08-04T05:38:00Z</dcterms:created>
  <dcterms:modified xsi:type="dcterms:W3CDTF">2026-01-12T05:21:19Z</dcterms:modified>
</cp:coreProperties>
</file>