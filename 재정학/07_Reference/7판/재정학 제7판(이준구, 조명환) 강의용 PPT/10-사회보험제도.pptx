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43"/>
  </p:notesMasterIdLst>
  <p:handoutMasterIdLst>
    <p:handoutMasterId r:id="rId44"/>
  </p:handoutMasterIdLst>
  <p:sldIdLst>
    <p:sldId id="360" r:id="rId2"/>
    <p:sldId id="258" r:id="rId3"/>
    <p:sldId id="304" r:id="rId4"/>
    <p:sldId id="305" r:id="rId5"/>
    <p:sldId id="349" r:id="rId6"/>
    <p:sldId id="306" r:id="rId7"/>
    <p:sldId id="350" r:id="rId8"/>
    <p:sldId id="351" r:id="rId9"/>
    <p:sldId id="308" r:id="rId10"/>
    <p:sldId id="309" r:id="rId11"/>
    <p:sldId id="311" r:id="rId12"/>
    <p:sldId id="314" r:id="rId13"/>
    <p:sldId id="315" r:id="rId14"/>
    <p:sldId id="316" r:id="rId15"/>
    <p:sldId id="317" r:id="rId16"/>
    <p:sldId id="319" r:id="rId17"/>
    <p:sldId id="354" r:id="rId18"/>
    <p:sldId id="320" r:id="rId19"/>
    <p:sldId id="322" r:id="rId20"/>
    <p:sldId id="323" r:id="rId21"/>
    <p:sldId id="324" r:id="rId22"/>
    <p:sldId id="325" r:id="rId23"/>
    <p:sldId id="326" r:id="rId24"/>
    <p:sldId id="359" r:id="rId25"/>
    <p:sldId id="328" r:id="rId26"/>
    <p:sldId id="329" r:id="rId27"/>
    <p:sldId id="330" r:id="rId28"/>
    <p:sldId id="332" r:id="rId29"/>
    <p:sldId id="333" r:id="rId30"/>
    <p:sldId id="334" r:id="rId31"/>
    <p:sldId id="335" r:id="rId32"/>
    <p:sldId id="336" r:id="rId33"/>
    <p:sldId id="338" r:id="rId34"/>
    <p:sldId id="340" r:id="rId35"/>
    <p:sldId id="341" r:id="rId36"/>
    <p:sldId id="342" r:id="rId37"/>
    <p:sldId id="344" r:id="rId38"/>
    <p:sldId id="345" r:id="rId39"/>
    <p:sldId id="355" r:id="rId40"/>
    <p:sldId id="357" r:id="rId41"/>
    <p:sldId id="356" r:id="rId4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AE1523-A063-418E-B036-D6DEBD41B4D9}" v="2" dt="2026-01-13T00:37:55.8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927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916" y="31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완 전" userId="94a232b962f42e62" providerId="LiveId" clId="{862E7F7D-119D-4717-AD52-91020921814B}"/>
    <pc:docChg chg="undo custSel modSld">
      <pc:chgData name="영완 전" userId="94a232b962f42e62" providerId="LiveId" clId="{862E7F7D-119D-4717-AD52-91020921814B}" dt="2026-01-13T00:41:14.911" v="236" actId="20577"/>
      <pc:docMkLst>
        <pc:docMk/>
      </pc:docMkLst>
      <pc:sldChg chg="modSp mod">
        <pc:chgData name="영완 전" userId="94a232b962f42e62" providerId="LiveId" clId="{862E7F7D-119D-4717-AD52-91020921814B}" dt="2026-01-08T05:47:43.175" v="18" actId="14100"/>
        <pc:sldMkLst>
          <pc:docMk/>
          <pc:sldMk cId="2131678008" sldId="258"/>
        </pc:sldMkLst>
        <pc:spChg chg="mod">
          <ac:chgData name="영완 전" userId="94a232b962f42e62" providerId="LiveId" clId="{862E7F7D-119D-4717-AD52-91020921814B}" dt="2026-01-08T05:47:43.175" v="18" actId="14100"/>
          <ac:spMkLst>
            <pc:docMk/>
            <pc:sldMk cId="2131678008" sldId="25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37:58.330" v="233" actId="14100"/>
        <pc:sldMkLst>
          <pc:docMk/>
          <pc:sldMk cId="1412765658" sldId="304"/>
        </pc:sldMkLst>
        <pc:spChg chg="mod">
          <ac:chgData name="영완 전" userId="94a232b962f42e62" providerId="LiveId" clId="{862E7F7D-119D-4717-AD52-91020921814B}" dt="2026-01-13T00:37:58.330" v="233" actId="14100"/>
          <ac:spMkLst>
            <pc:docMk/>
            <pc:sldMk cId="1412765658" sldId="30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49:03.462" v="19" actId="20577"/>
        <pc:sldMkLst>
          <pc:docMk/>
          <pc:sldMk cId="3582771244" sldId="305"/>
        </pc:sldMkLst>
        <pc:spChg chg="mod">
          <ac:chgData name="영완 전" userId="94a232b962f42e62" providerId="LiveId" clId="{862E7F7D-119D-4717-AD52-91020921814B}" dt="2026-01-08T05:49:03.462" v="19" actId="20577"/>
          <ac:spMkLst>
            <pc:docMk/>
            <pc:sldMk cId="3582771244" sldId="30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51:35.013" v="32" actId="20577"/>
        <pc:sldMkLst>
          <pc:docMk/>
          <pc:sldMk cId="184407324" sldId="308"/>
        </pc:sldMkLst>
        <pc:spChg chg="mod">
          <ac:chgData name="영완 전" userId="94a232b962f42e62" providerId="LiveId" clId="{862E7F7D-119D-4717-AD52-91020921814B}" dt="2026-01-08T05:51:35.013" v="32" actId="20577"/>
          <ac:spMkLst>
            <pc:docMk/>
            <pc:sldMk cId="184407324" sldId="30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52:11.299" v="34" actId="20577"/>
        <pc:sldMkLst>
          <pc:docMk/>
          <pc:sldMk cId="1563670462" sldId="309"/>
        </pc:sldMkLst>
        <pc:spChg chg="mod">
          <ac:chgData name="영완 전" userId="94a232b962f42e62" providerId="LiveId" clId="{862E7F7D-119D-4717-AD52-91020921814B}" dt="2026-01-08T05:52:11.299" v="34" actId="20577"/>
          <ac:spMkLst>
            <pc:docMk/>
            <pc:sldMk cId="1563670462" sldId="30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52:34.431" v="37" actId="20577"/>
        <pc:sldMkLst>
          <pc:docMk/>
          <pc:sldMk cId="1266194896" sldId="311"/>
        </pc:sldMkLst>
        <pc:spChg chg="mod">
          <ac:chgData name="영완 전" userId="94a232b962f42e62" providerId="LiveId" clId="{862E7F7D-119D-4717-AD52-91020921814B}" dt="2026-01-08T05:52:34.431" v="37" actId="20577"/>
          <ac:spMkLst>
            <pc:docMk/>
            <pc:sldMk cId="1266194896" sldId="31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39:02.804" v="234" actId="20577"/>
        <pc:sldMkLst>
          <pc:docMk/>
          <pc:sldMk cId="4033280428" sldId="314"/>
        </pc:sldMkLst>
        <pc:spChg chg="mod">
          <ac:chgData name="영완 전" userId="94a232b962f42e62" providerId="LiveId" clId="{862E7F7D-119D-4717-AD52-91020921814B}" dt="2026-01-13T00:39:02.804" v="234" actId="20577"/>
          <ac:spMkLst>
            <pc:docMk/>
            <pc:sldMk cId="4033280428" sldId="31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53:56.255" v="49" actId="20577"/>
        <pc:sldMkLst>
          <pc:docMk/>
          <pc:sldMk cId="1614571131" sldId="315"/>
        </pc:sldMkLst>
        <pc:spChg chg="mod">
          <ac:chgData name="영완 전" userId="94a232b962f42e62" providerId="LiveId" clId="{862E7F7D-119D-4717-AD52-91020921814B}" dt="2026-01-08T05:53:56.255" v="49" actId="20577"/>
          <ac:spMkLst>
            <pc:docMk/>
            <pc:sldMk cId="1614571131" sldId="31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54:51.790" v="53" actId="20577"/>
        <pc:sldMkLst>
          <pc:docMk/>
          <pc:sldMk cId="3650611521" sldId="316"/>
        </pc:sldMkLst>
        <pc:spChg chg="mod">
          <ac:chgData name="영완 전" userId="94a232b962f42e62" providerId="LiveId" clId="{862E7F7D-119D-4717-AD52-91020921814B}" dt="2026-01-08T05:54:51.790" v="53" actId="20577"/>
          <ac:spMkLst>
            <pc:docMk/>
            <pc:sldMk cId="3650611521" sldId="31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55:20.310" v="55" actId="14100"/>
        <pc:sldMkLst>
          <pc:docMk/>
          <pc:sldMk cId="1694194092" sldId="317"/>
        </pc:sldMkLst>
        <pc:spChg chg="mod">
          <ac:chgData name="영완 전" userId="94a232b962f42e62" providerId="LiveId" clId="{862E7F7D-119D-4717-AD52-91020921814B}" dt="2026-01-08T05:55:20.310" v="55" actId="14100"/>
          <ac:spMkLst>
            <pc:docMk/>
            <pc:sldMk cId="1694194092" sldId="31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58:30.620" v="91" actId="20577"/>
        <pc:sldMkLst>
          <pc:docMk/>
          <pc:sldMk cId="2784616097" sldId="322"/>
        </pc:sldMkLst>
        <pc:spChg chg="mod">
          <ac:chgData name="영완 전" userId="94a232b962f42e62" providerId="LiveId" clId="{862E7F7D-119D-4717-AD52-91020921814B}" dt="2026-01-08T05:58:30.620" v="91" actId="20577"/>
          <ac:spMkLst>
            <pc:docMk/>
            <pc:sldMk cId="2784616097" sldId="32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58:52.349" v="99" actId="313"/>
        <pc:sldMkLst>
          <pc:docMk/>
          <pc:sldMk cId="3283740449" sldId="323"/>
        </pc:sldMkLst>
        <pc:spChg chg="mod">
          <ac:chgData name="영완 전" userId="94a232b962f42e62" providerId="LiveId" clId="{862E7F7D-119D-4717-AD52-91020921814B}" dt="2026-01-08T05:58:52.349" v="99" actId="313"/>
          <ac:spMkLst>
            <pc:docMk/>
            <pc:sldMk cId="3283740449" sldId="32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01:07.138" v="114" actId="14100"/>
        <pc:sldMkLst>
          <pc:docMk/>
          <pc:sldMk cId="3931669652" sldId="325"/>
        </pc:sldMkLst>
        <pc:spChg chg="mod">
          <ac:chgData name="영완 전" userId="94a232b962f42e62" providerId="LiveId" clId="{862E7F7D-119D-4717-AD52-91020921814B}" dt="2026-01-08T06:01:07.138" v="114" actId="14100"/>
          <ac:spMkLst>
            <pc:docMk/>
            <pc:sldMk cId="3931669652" sldId="32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02:57.609" v="140" actId="20577"/>
        <pc:sldMkLst>
          <pc:docMk/>
          <pc:sldMk cId="3776044722" sldId="328"/>
        </pc:sldMkLst>
        <pc:spChg chg="mod">
          <ac:chgData name="영완 전" userId="94a232b962f42e62" providerId="LiveId" clId="{862E7F7D-119D-4717-AD52-91020921814B}" dt="2026-01-08T06:02:57.609" v="140" actId="20577"/>
          <ac:spMkLst>
            <pc:docMk/>
            <pc:sldMk cId="3776044722" sldId="32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04:35.156" v="145" actId="20577"/>
        <pc:sldMkLst>
          <pc:docMk/>
          <pc:sldMk cId="411804558" sldId="329"/>
        </pc:sldMkLst>
        <pc:spChg chg="mod">
          <ac:chgData name="영완 전" userId="94a232b962f42e62" providerId="LiveId" clId="{862E7F7D-119D-4717-AD52-91020921814B}" dt="2026-01-08T06:04:35.156" v="145" actId="20577"/>
          <ac:spMkLst>
            <pc:docMk/>
            <pc:sldMk cId="411804558" sldId="32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05:12.196" v="150" actId="20577"/>
        <pc:sldMkLst>
          <pc:docMk/>
          <pc:sldMk cId="3980420253" sldId="330"/>
        </pc:sldMkLst>
        <pc:spChg chg="mod">
          <ac:chgData name="영완 전" userId="94a232b962f42e62" providerId="LiveId" clId="{862E7F7D-119D-4717-AD52-91020921814B}" dt="2026-01-08T06:05:12.196" v="150" actId="20577"/>
          <ac:spMkLst>
            <pc:docMk/>
            <pc:sldMk cId="3980420253" sldId="33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05:40.209" v="155" actId="20577"/>
        <pc:sldMkLst>
          <pc:docMk/>
          <pc:sldMk cId="63004205" sldId="332"/>
        </pc:sldMkLst>
        <pc:spChg chg="mod">
          <ac:chgData name="영완 전" userId="94a232b962f42e62" providerId="LiveId" clId="{862E7F7D-119D-4717-AD52-91020921814B}" dt="2026-01-08T06:05:40.209" v="155" actId="20577"/>
          <ac:spMkLst>
            <pc:docMk/>
            <pc:sldMk cId="63004205" sldId="33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41:14.911" v="236" actId="20577"/>
        <pc:sldMkLst>
          <pc:docMk/>
          <pc:sldMk cId="2682462846" sldId="333"/>
        </pc:sldMkLst>
        <pc:spChg chg="mod">
          <ac:chgData name="영완 전" userId="94a232b962f42e62" providerId="LiveId" clId="{862E7F7D-119D-4717-AD52-91020921814B}" dt="2026-01-13T00:41:14.911" v="236" actId="20577"/>
          <ac:spMkLst>
            <pc:docMk/>
            <pc:sldMk cId="2682462846" sldId="33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06:56.716" v="159" actId="20577"/>
        <pc:sldMkLst>
          <pc:docMk/>
          <pc:sldMk cId="3410925274" sldId="334"/>
        </pc:sldMkLst>
        <pc:spChg chg="mod">
          <ac:chgData name="영완 전" userId="94a232b962f42e62" providerId="LiveId" clId="{862E7F7D-119D-4717-AD52-91020921814B}" dt="2026-01-08T06:06:56.716" v="159" actId="20577"/>
          <ac:spMkLst>
            <pc:docMk/>
            <pc:sldMk cId="3410925274" sldId="33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07:07.959" v="162" actId="20577"/>
        <pc:sldMkLst>
          <pc:docMk/>
          <pc:sldMk cId="2073670270" sldId="335"/>
        </pc:sldMkLst>
        <pc:spChg chg="mod">
          <ac:chgData name="영완 전" userId="94a232b962f42e62" providerId="LiveId" clId="{862E7F7D-119D-4717-AD52-91020921814B}" dt="2026-01-08T06:07:07.959" v="162" actId="20577"/>
          <ac:spMkLst>
            <pc:docMk/>
            <pc:sldMk cId="2073670270" sldId="33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08:21.448" v="177" actId="20577"/>
        <pc:sldMkLst>
          <pc:docMk/>
          <pc:sldMk cId="1301287816" sldId="336"/>
        </pc:sldMkLst>
        <pc:spChg chg="mod">
          <ac:chgData name="영완 전" userId="94a232b962f42e62" providerId="LiveId" clId="{862E7F7D-119D-4717-AD52-91020921814B}" dt="2026-01-08T06:08:21.448" v="177" actId="20577"/>
          <ac:spMkLst>
            <pc:docMk/>
            <pc:sldMk cId="1301287816" sldId="33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09:10.390" v="187" actId="20577"/>
        <pc:sldMkLst>
          <pc:docMk/>
          <pc:sldMk cId="1838836587" sldId="338"/>
        </pc:sldMkLst>
        <pc:spChg chg="mod">
          <ac:chgData name="영완 전" userId="94a232b962f42e62" providerId="LiveId" clId="{862E7F7D-119D-4717-AD52-91020921814B}" dt="2026-01-08T06:09:10.390" v="187" actId="20577"/>
          <ac:spMkLst>
            <pc:docMk/>
            <pc:sldMk cId="1838836587" sldId="33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09:30.849" v="188" actId="20577"/>
        <pc:sldMkLst>
          <pc:docMk/>
          <pc:sldMk cId="200117093" sldId="340"/>
        </pc:sldMkLst>
        <pc:spChg chg="mod">
          <ac:chgData name="영완 전" userId="94a232b962f42e62" providerId="LiveId" clId="{862E7F7D-119D-4717-AD52-91020921814B}" dt="2026-01-08T06:09:30.849" v="188" actId="20577"/>
          <ac:spMkLst>
            <pc:docMk/>
            <pc:sldMk cId="200117093" sldId="34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10:06.843" v="190" actId="14100"/>
        <pc:sldMkLst>
          <pc:docMk/>
          <pc:sldMk cId="1919604642" sldId="341"/>
        </pc:sldMkLst>
        <pc:spChg chg="mod">
          <ac:chgData name="영완 전" userId="94a232b962f42e62" providerId="LiveId" clId="{862E7F7D-119D-4717-AD52-91020921814B}" dt="2026-01-08T06:10:06.843" v="190" actId="14100"/>
          <ac:spMkLst>
            <pc:docMk/>
            <pc:sldMk cId="1919604642" sldId="34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10:53.331" v="193" actId="20577"/>
        <pc:sldMkLst>
          <pc:docMk/>
          <pc:sldMk cId="3079955441" sldId="342"/>
        </pc:sldMkLst>
        <pc:spChg chg="mod">
          <ac:chgData name="영완 전" userId="94a232b962f42e62" providerId="LiveId" clId="{862E7F7D-119D-4717-AD52-91020921814B}" dt="2026-01-08T06:10:53.331" v="193" actId="20577"/>
          <ac:spMkLst>
            <pc:docMk/>
            <pc:sldMk cId="3079955441" sldId="34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11:10.699" v="197" actId="20577"/>
        <pc:sldMkLst>
          <pc:docMk/>
          <pc:sldMk cId="2739134164" sldId="344"/>
        </pc:sldMkLst>
        <pc:spChg chg="mod">
          <ac:chgData name="영완 전" userId="94a232b962f42e62" providerId="LiveId" clId="{862E7F7D-119D-4717-AD52-91020921814B}" dt="2026-01-08T06:11:10.699" v="197" actId="20577"/>
          <ac:spMkLst>
            <pc:docMk/>
            <pc:sldMk cId="2739134164" sldId="34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50:09.938" v="21" actId="20577"/>
        <pc:sldMkLst>
          <pc:docMk/>
          <pc:sldMk cId="1060397207" sldId="351"/>
        </pc:sldMkLst>
        <pc:spChg chg="mod">
          <ac:chgData name="영완 전" userId="94a232b962f42e62" providerId="LiveId" clId="{862E7F7D-119D-4717-AD52-91020921814B}" dt="2026-01-08T05:50:09.938" v="21" actId="20577"/>
          <ac:spMkLst>
            <pc:docMk/>
            <pc:sldMk cId="1060397207" sldId="35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56:00.780" v="59" actId="20577"/>
        <pc:sldMkLst>
          <pc:docMk/>
          <pc:sldMk cId="1877083372" sldId="354"/>
        </pc:sldMkLst>
        <pc:spChg chg="mod">
          <ac:chgData name="영완 전" userId="94a232b962f42e62" providerId="LiveId" clId="{862E7F7D-119D-4717-AD52-91020921814B}" dt="2026-01-08T05:56:00.780" v="59" actId="20577"/>
          <ac:spMkLst>
            <pc:docMk/>
            <pc:sldMk cId="1877083372" sldId="35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11:39.537" v="202" actId="20577"/>
        <pc:sldMkLst>
          <pc:docMk/>
          <pc:sldMk cId="947993092" sldId="355"/>
        </pc:sldMkLst>
        <pc:spChg chg="mod">
          <ac:chgData name="영완 전" userId="94a232b962f42e62" providerId="LiveId" clId="{862E7F7D-119D-4717-AD52-91020921814B}" dt="2026-01-08T06:11:39.537" v="202" actId="20577"/>
          <ac:spMkLst>
            <pc:docMk/>
            <pc:sldMk cId="947993092" sldId="35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13:08.873" v="225" actId="20577"/>
        <pc:sldMkLst>
          <pc:docMk/>
          <pc:sldMk cId="3053145246" sldId="356"/>
        </pc:sldMkLst>
        <pc:spChg chg="mod">
          <ac:chgData name="영완 전" userId="94a232b962f42e62" providerId="LiveId" clId="{862E7F7D-119D-4717-AD52-91020921814B}" dt="2026-01-08T06:13:08.873" v="225" actId="20577"/>
          <ac:spMkLst>
            <pc:docMk/>
            <pc:sldMk cId="3053145246" sldId="35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12:01.006" v="207" actId="20577"/>
        <pc:sldMkLst>
          <pc:docMk/>
          <pc:sldMk cId="3649718346" sldId="357"/>
        </pc:sldMkLst>
        <pc:spChg chg="mod">
          <ac:chgData name="영완 전" userId="94a232b962f42e62" providerId="LiveId" clId="{862E7F7D-119D-4717-AD52-91020921814B}" dt="2026-01-08T06:12:01.006" v="207" actId="20577"/>
          <ac:spMkLst>
            <pc:docMk/>
            <pc:sldMk cId="3649718346" sldId="35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01:56.913" v="126" actId="20577"/>
        <pc:sldMkLst>
          <pc:docMk/>
          <pc:sldMk cId="1934387431" sldId="359"/>
        </pc:sldMkLst>
        <pc:spChg chg="mod">
          <ac:chgData name="영완 전" userId="94a232b962f42e62" providerId="LiveId" clId="{862E7F7D-119D-4717-AD52-91020921814B}" dt="2026-01-08T06:01:56.913" v="126" actId="20577"/>
          <ac:spMkLst>
            <pc:docMk/>
            <pc:sldMk cId="1934387431" sldId="35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46:40.064" v="0" actId="1038"/>
        <pc:sldMkLst>
          <pc:docMk/>
          <pc:sldMk cId="3730185614" sldId="360"/>
        </pc:sldMkLst>
        <pc:spChg chg="mod">
          <ac:chgData name="영완 전" userId="94a232b962f42e62" providerId="LiveId" clId="{862E7F7D-119D-4717-AD52-91020921814B}" dt="2026-01-08T05:46:40.064" v="0" actId="1038"/>
          <ac:spMkLst>
            <pc:docMk/>
            <pc:sldMk cId="3730185614" sldId="360"/>
            <ac:spMk id="8" creationId="{6DEC8FBD-FA87-2147-C4F8-2CF52B523D2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1336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655457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accent2"/>
                </a:solidFill>
                <a:effectLst/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10</a:t>
            </a:r>
            <a:r>
              <a:rPr lang="ko-KR" altLang="en-US"/>
              <a:t>장  사회보험제도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522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1A83F2F5-17D1-83D4-7C3A-302C04D11D1F}"/>
              </a:ext>
            </a:extLst>
          </p:cNvPr>
          <p:cNvGrpSpPr/>
          <p:nvPr userDrawn="1"/>
        </p:nvGrpSpPr>
        <p:grpSpPr>
          <a:xfrm>
            <a:off x="0" y="341304"/>
            <a:ext cx="9144000" cy="952748"/>
            <a:chOff x="0" y="225555"/>
            <a:chExt cx="9144000" cy="952748"/>
          </a:xfrm>
        </p:grpSpPr>
        <p:sp>
          <p:nvSpPr>
            <p:cNvPr id="10" name="화살표: 오각형 9">
              <a:extLst>
                <a:ext uri="{FF2B5EF4-FFF2-40B4-BE49-F238E27FC236}">
                  <a16:creationId xmlns:a16="http://schemas.microsoft.com/office/drawing/2014/main" id="{7A6DDCEE-C4C3-21B4-55A5-F1C3C3BA4DAA}"/>
                </a:ext>
              </a:extLst>
            </p:cNvPr>
            <p:cNvSpPr/>
            <p:nvPr/>
          </p:nvSpPr>
          <p:spPr>
            <a:xfrm>
              <a:off x="0" y="230070"/>
              <a:ext cx="9144000" cy="948233"/>
            </a:xfrm>
            <a:prstGeom prst="homePlate">
              <a:avLst>
                <a:gd name="adj" fmla="val 36573"/>
              </a:avLst>
            </a:prstGeom>
            <a:solidFill>
              <a:srgbClr val="E8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화살표: 갈매기형 수장 10">
              <a:extLst>
                <a:ext uri="{FF2B5EF4-FFF2-40B4-BE49-F238E27FC236}">
                  <a16:creationId xmlns:a16="http://schemas.microsoft.com/office/drawing/2014/main" id="{97D678B4-A77D-3E3B-BC76-FB65963CAC03}"/>
                </a:ext>
              </a:extLst>
            </p:cNvPr>
            <p:cNvSpPr/>
            <p:nvPr/>
          </p:nvSpPr>
          <p:spPr>
            <a:xfrm>
              <a:off x="8495587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C6DC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화살표: 갈매기형 수장 11">
              <a:extLst>
                <a:ext uri="{FF2B5EF4-FFF2-40B4-BE49-F238E27FC236}">
                  <a16:creationId xmlns:a16="http://schemas.microsoft.com/office/drawing/2014/main" id="{02C37690-90E3-D229-AAC8-C15FB88B804B}"/>
                </a:ext>
              </a:extLst>
            </p:cNvPr>
            <p:cNvSpPr/>
            <p:nvPr/>
          </p:nvSpPr>
          <p:spPr>
            <a:xfrm>
              <a:off x="8235619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99C1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2078"/>
            <a:ext cx="9144000" cy="711200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10</a:t>
            </a:r>
            <a:r>
              <a:rPr lang="ko-KR" altLang="en-US"/>
              <a:t>장  사회보험제도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0469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666572" y="2573903"/>
            <a:ext cx="7791629" cy="13300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4"/>
            <a:ext cx="7772400" cy="1330099"/>
          </a:xfrm>
        </p:spPr>
        <p:txBody>
          <a:bodyPr anchor="ctr">
            <a:normAutofit/>
          </a:bodyPr>
          <a:lstStyle>
            <a:lvl1pPr algn="ctr">
              <a:defRPr sz="285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10</a:t>
            </a:r>
            <a:r>
              <a:rPr lang="ko-KR" altLang="en-US"/>
              <a:t>장  사회보험제도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135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41337"/>
            <a:ext cx="7886700" cy="7112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10</a:t>
            </a:r>
            <a:r>
              <a:rPr lang="ko-KR" altLang="en-US"/>
              <a:t>장  사회보험제도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16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64457"/>
            <a:ext cx="78867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2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10</a:t>
            </a:r>
            <a:r>
              <a:rPr lang="ko-KR" altLang="en-US"/>
              <a:t>장  사회보험제도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302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09" r:id="rId3"/>
    <p:sldLayoutId id="2147483710" r:id="rId4"/>
  </p:sldLayoutIdLst>
  <p:hf hdr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2625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새굴림" panose="02030600000101010101" pitchFamily="18" charset="-127"/>
          <a:ea typeface="새굴림" panose="02030600000101010101" pitchFamily="18" charset="-127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130000"/>
        </a:lnSpc>
        <a:spcBef>
          <a:spcPts val="750"/>
        </a:spcBef>
        <a:spcAft>
          <a:spcPts val="300"/>
        </a:spcAft>
        <a:buFont typeface="Wingdings" panose="05000000000000000000" pitchFamily="2" charset="2"/>
        <a:buChar char="§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1pPr>
      <a:lvl2pPr marL="5143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2pPr>
      <a:lvl3pPr marL="8572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3pPr>
      <a:lvl4pPr marL="12001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4pPr>
      <a:lvl5pPr marL="15430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B0AD6-88B0-12AF-4022-5C51D6DCD0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82956DF-13F2-7E88-0A2E-134E5D287C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98"/>
          <a:stretch>
            <a:fillRect/>
          </a:stretch>
        </p:blipFill>
        <p:spPr>
          <a:xfrm>
            <a:off x="0" y="0"/>
            <a:ext cx="6167120" cy="68580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AF685A91-2FF1-9EC8-6594-F2C89D00639F}"/>
              </a:ext>
            </a:extLst>
          </p:cNvPr>
          <p:cNvGrpSpPr/>
          <p:nvPr/>
        </p:nvGrpSpPr>
        <p:grpSpPr>
          <a:xfrm>
            <a:off x="6167120" y="0"/>
            <a:ext cx="2976880" cy="6858000"/>
            <a:chOff x="6167120" y="0"/>
            <a:chExt cx="2976880" cy="6858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010FDC0-D72B-27BC-E5CD-197587C43C45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gradFill>
              <a:gsLst>
                <a:gs pos="0">
                  <a:srgbClr val="E8F1F0"/>
                </a:gs>
                <a:gs pos="100000">
                  <a:srgbClr val="FAFAF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C733450-C6D7-C28F-C524-08F9D4E18D47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blipFill dpi="0" rotWithShape="1">
              <a:blip r:embed="rId3">
                <a:alphaModFix amt="29000"/>
              </a:blip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2748B9B-7E24-BAF5-332C-4507E5AD4883}"/>
              </a:ext>
            </a:extLst>
          </p:cNvPr>
          <p:cNvSpPr/>
          <p:nvPr/>
        </p:nvSpPr>
        <p:spPr>
          <a:xfrm>
            <a:off x="4165600" y="1412240"/>
            <a:ext cx="4572000" cy="5080000"/>
          </a:xfrm>
          <a:prstGeom prst="roundRect">
            <a:avLst>
              <a:gd name="adj" fmla="val 1317"/>
            </a:avLst>
          </a:prstGeom>
          <a:solidFill>
            <a:srgbClr val="FAFAF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4">
            <a:extLst>
              <a:ext uri="{FF2B5EF4-FFF2-40B4-BE49-F238E27FC236}">
                <a16:creationId xmlns:a16="http://schemas.microsoft.com/office/drawing/2014/main" id="{6DEC8FBD-FA87-2147-C4F8-2CF52B523D27}"/>
              </a:ext>
            </a:extLst>
          </p:cNvPr>
          <p:cNvSpPr txBox="1">
            <a:spLocks/>
          </p:cNvSpPr>
          <p:nvPr/>
        </p:nvSpPr>
        <p:spPr>
          <a:xfrm>
            <a:off x="4393276" y="1422400"/>
            <a:ext cx="5392923" cy="198061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800" b="1" kern="1200">
                <a:solidFill>
                  <a:schemeClr val="accent5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10</a:t>
            </a: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</a:t>
            </a:r>
            <a:b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59775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사회보험제도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6BCBB9EE-C466-1A24-CA20-7C2B5E1F68E4}"/>
              </a:ext>
            </a:extLst>
          </p:cNvPr>
          <p:cNvSpPr txBox="1">
            <a:spLocks/>
          </p:cNvSpPr>
          <p:nvPr/>
        </p:nvSpPr>
        <p:spPr>
          <a:xfrm>
            <a:off x="4389120" y="3342059"/>
            <a:ext cx="4572000" cy="28663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10.1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사회보험제도의 의미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10.2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국민연금제도의 기본성격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10.3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국민연금제도와 관련된 중요 쟁점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10.4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국민연금제도의 경제적 효과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10.5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국민연금제도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10.6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건강보험제도의 기본성격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10.7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국민건강보험제도</a:t>
            </a:r>
          </a:p>
        </p:txBody>
      </p:sp>
    </p:spTree>
    <p:extLst>
      <p:ext uri="{BB962C8B-B14F-4D97-AF65-F5344CB8AC3E}">
        <p14:creationId xmlns:p14="http://schemas.microsoft.com/office/powerpoint/2010/main" val="3730185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사회보험제도의 의미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037368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spcAft>
                <a:spcPts val="20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사회보험제도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(social insurance system)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취지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시장실패의 존재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역선택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도덕적 해이</a:t>
            </a:r>
          </a:p>
          <a:p>
            <a:pPr marL="622300" lvl="2">
              <a:lnSpc>
                <a:spcPct val="110000"/>
              </a:lnSpc>
              <a:spcAft>
                <a:spcPts val="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민간부문에서는 시장실패가 일어나지 않는 완벽한 보험이 존재하기 어려움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온정적 간섭주의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(paternalism)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관점</a:t>
            </a:r>
          </a:p>
          <a:p>
            <a:pPr marL="622300" lvl="2">
              <a:lnSpc>
                <a:spcPct val="110000"/>
              </a:lnSpc>
              <a:spcAft>
                <a:spcPts val="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근시안적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(myopic)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으로 행동해 위험에 대한 대비를 소홀히 할 수 있음 </a:t>
            </a:r>
          </a:p>
          <a:p>
            <a:pPr marL="444500" lvl="1">
              <a:lnSpc>
                <a:spcPct val="110000"/>
              </a:lnSpc>
              <a:spcAft>
                <a:spcPts val="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상품평등주의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(commodity egalitarianism)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관점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lnSpc>
                <a:spcPct val="110000"/>
              </a:lnSpc>
              <a:spcAft>
                <a:spcPts val="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상품평등주의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상품은 모든 국민이 고루 누릴 수 있어야 한다는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아픈 사람은 소득과 관계없이 의료서비스의 혜택을 누릴 수     있어야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1678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사회보험제도의 의미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58397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앞에서와 같은 이유로 정부가 직접 위험에 대한 보험을 제공하는 것이 사회보험제도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2438" lvl="1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보험의 원리와 방식을 통해 사회정책 수행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사회보장기본법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 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호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사회보험이라 함은 국민에게 발생하는 사회적 위험을 보험방식에 의해 대처함으로써 국민 건강과 소득을 보장하는 제도를 의미한다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.”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2765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사회보험제도의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사회보험의 특징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일정한 조건을 갖춘 국민이면 반드시 사회보험에 가입하도록 하는  강제성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가입자 본인과 더불어 고용주와 정부가 비용의 일부를 부담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민간부문의 보험은 가입자가 낸 보험료와 혜택이 밀접한 관련을 갖는 데 비해 사회보험의 경우에는 양자 사이의 관계가 상대적으로 약함 </a:t>
            </a:r>
          </a:p>
          <a:p>
            <a:pPr marL="622300" lvl="2">
              <a:lnSpc>
                <a:spcPct val="130000"/>
              </a:lnSpc>
              <a:spcAft>
                <a:spcPts val="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사회보험에 소득재분배적 성격이 가미되었기 때문</a:t>
            </a:r>
          </a:p>
          <a:p>
            <a:pPr marL="622300" lvl="2">
              <a:lnSpc>
                <a:spcPct val="130000"/>
              </a:lnSpc>
              <a:spcAft>
                <a:spcPts val="20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사회적 적합성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(social adequacy)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개인적 </a:t>
            </a: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(individual equity)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사이의 갈등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2771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 사회보험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 사회보험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건강보험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고용보험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산재보험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10D6EFF-6134-4469-A416-E60BD4466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0137" y="2241431"/>
            <a:ext cx="7343725" cy="393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790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사회보험과 공공부조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사회보험과 공공부조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50000"/>
              </a:lnSpc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사회보험제도는 기본적으로 가입자들이 낸 보험료에 의해 운영되는 반면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공공부조 프로그램은 그 안에 독자적인 재원이 마련되어 있지 않고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일반적인 예산에서 재원 충당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50000"/>
              </a:lnSpc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공공부조 프로그램은 명확하게 재분배효과를 지향하고 있는 데 비해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사회보험의 경우에는 재분배효과를 적극적으로 추구하지 못함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886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국민연금제도의 기본성격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기본적으로 정부가 강제저축을 통해 국민의 노후 생계를 보장해 주는 보편적 연금 프로그램이라는 성격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800"/>
              </a:spcAft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가지 사회보험제도 중 가장 규모가 크고 중요한 프로그램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8154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중복세대의 모형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54241" cy="4754563"/>
          </a:xfrm>
        </p:spPr>
        <p:txBody>
          <a:bodyPr anchor="ctr">
            <a:noAutofit/>
          </a:bodyPr>
          <a:lstStyle/>
          <a:p>
            <a:pPr marL="266700" indent="-266700">
              <a:spcAft>
                <a:spcPts val="100"/>
              </a:spcAft>
            </a:pPr>
            <a:r>
              <a:rPr lang="ko-KR" altLang="en-US" b="1" spc="-3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중복세대의 모형</a:t>
            </a:r>
            <a:r>
              <a:rPr lang="en-US" altLang="ko-KR" spc="-3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(overlapping generation model) </a:t>
            </a:r>
            <a:r>
              <a:rPr lang="en-US" altLang="ko-KR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젊은 세대에 속하는 사람과 나이 든 세대에 속하는 사람이 중복되어 경제활동을 영위한다고 가정하는 모형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국민연금제도의 논리적 근거 </a:t>
            </a: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기본가정</a:t>
            </a:r>
            <a:endParaRPr lang="en-US" altLang="ko-KR" spc="-3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경제에는 매 기간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(period)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마다 𝑛명씩의 사람들이 태어나고 있으며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사람은 두 기간에 걸쳐 생존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사람은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단위의 소비 가능한 자원을 갖고 태어나며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이것은 바로 그 기간에서만 소비할 수 있을 뿐 다음 기간으로 넘겨 소비할 수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0397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중복세대의 모형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각자가 태어날 때 갖고 나온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단위의 초기부존자원을 모두 생애의    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기에 소비하는 경우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실현 가능한 균형이지만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파레토효율적이지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못함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85763" indent="-342900"/>
            <a:endParaRPr lang="en-US" altLang="ko-KR" sz="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젊은 세대에 속하는 사람이 초기부존자원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 중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단위를 나이 든 세대에 속하는 사람에게 이전하고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다음 기에 그때의 젊은 세대에게  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단위의 자원을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이전받음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685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젊은 세대와 나이 든 세대 사이의 사회적 계약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(social contract)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685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기와 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기에 각각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단위씩의 자원을 소비할 수 있게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685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자원배분상태는 각자가 초기부존자원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단위를 모두 생애의 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기에서 소비하는 것보다 우월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685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국민연금제도는 이러한 사회적 계약을 구체화시킨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407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국민연금제도의 의의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75023" cy="4754563"/>
          </a:xfrm>
        </p:spPr>
        <p:txBody>
          <a:bodyPr anchor="ctr">
            <a:noAutofit/>
          </a:bodyPr>
          <a:lstStyle/>
          <a:p>
            <a:pPr marL="268288" indent="-268288"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재정 프로그램의 네 가지 기능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0988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재정수입의 달성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0988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시장실패의 보완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0988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소득재분배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0988" indent="0">
              <a:spcBef>
                <a:spcPts val="0"/>
              </a:spcBef>
              <a:spcAft>
                <a:spcPts val="15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온정적 간섭주의에 의한 개입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243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>
              <a:spcBef>
                <a:spcPts val="0"/>
              </a:spcBef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국민연금제도는 재정수입 달성이라는 기능과 별다른 관련을 갖지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243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국민연금제도가 성숙단계에 이르면 보험료 수입보다 연금 지출이 더 많아져 다른 데서 재원을 끌어다 써야 할 상황이 될 수도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243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제도 초기에서는 수입이 지출보다 더 클 수 있지만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초과액은 사람들이 노후를 맞았을 때 되돌려주어야 한다는 점에서 보통의 재정수입으로 볼 수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3670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국민연금제도의 의의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spcAft>
                <a:spcPts val="1000"/>
              </a:spcAft>
              <a:buNone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시장실패의 보완</a:t>
            </a:r>
            <a:endParaRPr lang="en-US" altLang="ko-KR" sz="20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시장실패의 보완이란 측면에서 국민연금제도가 갖는 정당성의 근거가 가장 확실하게 드러남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66700" indent="-266700">
              <a:lnSpc>
                <a:spcPct val="10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민간부문은 노후의 생계를 위해 저축하고자 하는 사람에게 실질가치의 측면에서 안전한 투자기회 혹은 연금상품을 제공하지 못함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</a:p>
          <a:p>
            <a:pPr marL="266700" indent="-266700">
              <a:lnSpc>
                <a:spcPct val="10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사람마다 현역에서 일할 수 있는 기간이 다른 데 따르는 위험성을 대상으로 하는 보험상품이 마련되어 있지 못함 </a:t>
            </a:r>
          </a:p>
          <a:p>
            <a:pPr marL="266700" indent="-266700">
              <a:lnSpc>
                <a:spcPct val="100000"/>
              </a:lnSpc>
            </a:pPr>
            <a:r>
              <a:rPr lang="ko-KR" altLang="en-US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민간이 연금보험을 판매하는 경우 역선택이나 도덕적 해이 문제에 직면</a:t>
            </a: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역선택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남들보다 더 일찍 은퇴하는 사람들이 연금보험에 가입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단체보험에 가입으로 해결</a:t>
            </a: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도덕적 해이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일할 여력이 있음에도 불구하고 연금으로 인해 더 일찍 은퇴를 하는 선택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6194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국민연금제도의 의의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spcAft>
                <a:spcPts val="100"/>
              </a:spcAft>
              <a:buNone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소득재분배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100"/>
              </a:spcAft>
            </a:pPr>
            <a:endParaRPr lang="en-US" altLang="ko-KR" sz="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국민연금제도는 세 가지 경로를 통해 재분배에 기여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세대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(generation)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안에서 가난한 사람과 부유한 사람 사이의     격차를 줄이는 역할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세대와 세대 사이에 소득을 재분배하는 효과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세대간 </a:t>
            </a:r>
            <a:r>
              <a:rPr lang="ko-KR" altLang="en-US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(intergenerational equity)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문제 등장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  <a:spcAft>
                <a:spcPts val="100"/>
              </a:spcAft>
            </a:pP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제도의 수혜자인 노년층이 다른 연령에 비해 상대적으로 더 높은    비율의 빈곤층을 포함하고 있기 때문에 얼마간의 재분배효과 나옴</a:t>
            </a:r>
            <a:endParaRPr lang="en-US" altLang="ko-KR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spcAft>
                <a:spcPts val="100"/>
              </a:spcAft>
            </a:pPr>
            <a:endParaRPr lang="en-US" altLang="ko-KR" sz="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어느 정도의 재분배효과를 추구할 것인가는 제도설계 당시의 선택사항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적합성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(social adequacy) vs.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개인적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(individual equity)</a:t>
            </a:r>
            <a:endParaRPr lang="en-US" altLang="ko-KR" sz="18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3280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국민연금제도의 의의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50085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온정적 간섭주의에 의한 개입</a:t>
            </a:r>
            <a:endParaRPr lang="en-US" altLang="ko-KR" sz="20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소비자주권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(consumer sovereignty)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원칙에 충실하기 위해서는    각자가 민간부문에 존재하는 각종 보험상품을 이용해 스스로 노후의  생계에 대한 대책을 마련하도록 해야 함</a:t>
            </a: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현실에서는 노후의 생계대책 마련이 개인의 일이라 해서 정부가 완전히 손을 떼어서는 안 될 상황이 심심치 않게 발생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현명함이나 조심성의 부족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정보의 부족 때문</a:t>
            </a: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다이아몬드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(P. Diamond)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실증연구를 통해 미국 국민의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개인저축은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노후의 생계를 스스로 해결하기에 매우 불충분한 수준임을 보임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4571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en-US" altLang="ko-KR" spc="-2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10.3  </a:t>
            </a:r>
            <a:r>
              <a:rPr lang="ko-KR" altLang="en-US" spc="-2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국민연금제도와 관련된 중요 쟁점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58397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노후의 생계보장이 중요한 정책과제가 된다는 점을 인정한다 하더라도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과연 이 일을 국민연금제도처럼 강제적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(compulsory)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이며 공적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(public)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 해결방식으로 대처해야 하는지에 대해서는 의문이 제기될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강제적 해결방식의 필요성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개인들에게 자신의 노후 생계를 위한 준비를 전적으로 내맡겼을 때  부적절하게 준비하는 사람이 생기기 때문에 정부의 간섭 필요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4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0611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pc="-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강제적이며 공적인 해결방식의 필요성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20496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공적 해결방식의 필요성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규모의 경제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위험의 공동부담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(risk pooling)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참여하는 사람의 수가 더 많아질수록 그 이득이 더 커짐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역선택의 문제 해소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지급준비금을 많이 보유할 필요가 없어 사람들에게 높은 수익을 보장해 줄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민간보험에 비해 적은 행정비용 소요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인플레이션에 대한 적응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효율성의 측면에서 공적 프로그램이 사적 보험보다 더 유리한 위치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buNone/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공적 프로그램은 소비자의 다양한 요구에 부응하는 보험상품을 공급할 수 있는 능력의 측면에서 민간부문의 보험회사에 뒤짐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4194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적립방식과 부과방식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50000"/>
              </a:lnSpc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적립방식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(reserve-financed or fully funded method)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낸 보험료 혹은 사회보장세를 적립하여 기금을 만들고 사람들에게 연금을 지급하는 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50000"/>
              </a:lnSpc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부과방식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(pay-as-you-go method)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 일하고 있는  사람들에게 거둔 세금으로 은퇴해 있는 사람들에게 연금을 지급하는 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2019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적립방식과 부과방식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적립방식의 장점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사회심리학적 측면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부과방식은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연금 수혜자로서는 젊은 세대에게 부담을 준다는 사실에서 거북함을 느낄 수 있는 반면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적립방식은   자신이 일할 때 맡겨둔 돈을 되찾아 노후의 생계에 사용하는 것이기 때문에 그런 거북함을 느낄 필요가 전혀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적립방식하에서는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연금의 지불능력에 아무런 문제가 생기지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 세계적으로 나타나고 있는 인구의 급속한 고령화 현상과 관련해 적립방식의 상대적 이점이 더욱 두드러짐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적립방식은 축적된 기금이 완충작용을 해줄 수 있지만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부과방식은 일하는 사람이 추가적 부담을 고스란히 떠안아야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7083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적립방식과 부과방식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00000"/>
                  </a:lnSpc>
                  <a:spcAft>
                    <a:spcPts val="10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부과방식하에서 국민연금의 수입과 지출은 균형에서 다음을 충족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br>
                  <a:rPr lang="en-US" altLang="ko-KR" sz="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0" indent="0">
                  <a:lnSpc>
                    <a:spcPct val="100000"/>
                  </a:lnSpc>
                  <a:spcAft>
                    <a:spcPts val="1000"/>
                  </a:spcAft>
                  <a:buNone/>
                </a:pPr>
                <a:r>
                  <a:rPr lang="en-US" altLang="ko-KR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acc>
                      <m:accPr>
                        <m:chr m:val="̅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e>
                    </m:acc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  <a:endParaRPr lang="en-US" altLang="ko-KR" b="1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1200"/>
                  </a:spcAft>
                  <a:buNone/>
                </a:pPr>
                <a:r>
                  <a:rPr lang="en-US" altLang="ko-KR" b="1" dirty="0"/>
                  <a:t>    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보험료율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일하는 사람 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연금 혜택을 받는 사람 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acc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평균임금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 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평균적 연금 수준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</a:pPr>
                <a:endParaRPr lang="en-US" altLang="ko-KR" sz="100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ko-KR" altLang="en-US" dirty="0">
                        <a:latin typeface="나눔고딕" panose="020D0604000000000000" pitchFamily="50" charset="-127"/>
                        <a:ea typeface="나눔고딕" panose="020D0604000000000000" pitchFamily="50" charset="-127"/>
                      </a:rPr>
                      <m:t>위의 식으로부터 다음을 도출</m:t>
                    </m:r>
                  </m:oMath>
                </a14:m>
                <a:endParaRPr lang="en-US" altLang="ko-KR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altLang="ko-KR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sub>
                        </m:sSub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num>
                      <m:den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den>
                    </m:f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 </a:t>
                </a:r>
              </a:p>
              <a:p>
                <a:pPr marL="273050" lvl="1" indent="0">
                  <a:lnSpc>
                    <a:spcPct val="100000"/>
                  </a:lnSpc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의존비율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(dependency ratio),  </a:t>
                </a:r>
                <a14:m>
                  <m:oMath xmlns:m="http://schemas.openxmlformats.org/officeDocument/2006/math">
                    <m:r>
                      <a:rPr lang="ko-KR" altLang="en-US" i="1" dirty="0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num>
                      <m:den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den>
                    </m:f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평균적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소득대체율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42888" indent="-285750">
                  <a:lnSpc>
                    <a:spcPct val="100000"/>
                  </a:lnSpc>
                </a:pPr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부과방식하에서는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인구고령화에 대처하기 위해 일하는 사람의 보험료 부담을 높이거나 연금 지급액을 줄이는 것 중 하나를 선택해야 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464" b="-7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8076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적립방식과 부과방식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99715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부과방식은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1889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프로이센의 재상 비스마르크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(O. von Bismarck)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출범시킨 사회보장제도에서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첫선을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보임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당시는 연금을 받는 사람에 비해 일하고 있는 사람이 많았기 때문에     부과 방식이 문제가 되지 않았으나 지금은 당시에 비해 은퇴연령이      낮아지고 평균수명이 증가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부과방식을 채택하고 있는 나라들에서는 거의 예외 없이 연금재정의 위기가 심각한 사회문제로 등장하고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여건이 가능하다면 이론적으로 나은 적립방식을 채택하는 것이 바람직할 수 있으나 어느 단계에 가서는 이를 포기하고 부과방식으로 전환해야   하는 상황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4616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재분배적 요소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549402"/>
            <a:ext cx="7886700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적합성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개인적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이라는 두 가지 기준을 적절히 타협한 선에서 재분배효과 가미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민간부문에서의 보험과 유사하게 운영하는 것을 강조한다면 개인적 공평성에 더 큰 비중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국민연금제도가 소득재분배 기능도 일부 떠맡아야 하는 것으로 생각한다면 사회적 적합성이 좀 더 강조될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국민연금제도를 어떻게 이해하느냐가 중요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기본적으로 국민연금제도는 노후의 생계안정을 목표로 하며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세대 안의 소득격차를 줄이는 것에 목표를 두고 있지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아무런 재분배효과를 가미하지 않아야 한다는 것은 너무 극단적인 주장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과감한 재분배효과를 지향하는 국민연금제도를 갖고 있는 나라의 예는 찾아보기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37404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목적세 부과의 필요성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국민연금제도의 재원은 주로 보험료 또는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사회보장세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(social security tax)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라는 목적세를 부과하여 충당하는 것이 일반적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목적세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보험료 혹은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사회보장세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부과해 국민연금제도의 재원으로 사용하는 이유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국민연금제도를 일반 지출 프로그램과 구별해야 할 필요가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기존의 조세만으로는 국민연금제도의 운영에 필요한 막대한 자금을 조달하기 어렵다고 판단해 목적세 신설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연금 수혜자가 자신이 과거에 낸 돈을 돌려받는다는 자부심을 가질 수 있다는 점에서 별도의 세금이 부과되는 쪽을 더 선호했을 가능성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48261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목적세 부과의 필요성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195310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목적세를 통한 재원조달 방식은 현재 각 나라에서 부과되고 있는 보험료 혹은 사회보장세가 매우 역진적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(regressive)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 성격을 띠고 있다는 사실 때문에 문제가 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제도의 역진성을 줄이기 위해 정부의 일반적인 세원에 의해 재원을 조달하는 방식으로 전환해야 한다는 주장 제기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비대화를 우려하는 사람들에게 공격의 빌미를 제공하게 될 것이기 때문에 일반적인 세원 쪽으로 방향을 바꾼다는 것은 정치적으로 매우 민감한 문제가 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16696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합리적인 연금 급여수준의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spcBef>
                <a:spcPts val="700"/>
              </a:spcBef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변화하는 경제상황에서 합리적인 연금의 급여수준을 찾아낸다는 것은 결코 쉬운 일이 아님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Bef>
                <a:spcPts val="700"/>
              </a:spcBef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제도가 갖고 있는 지불능력이나 노년층의 생활수준 등 여러 가지 요소를 모두 감안해 결정해야 할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Bef>
                <a:spcPts val="700"/>
              </a:spcBef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노년층에게 단지 생존을 위한 수단을 제공해 주는 수준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vs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 국민이 누리고 있는 생활수준 향상의 혜택 공유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Bef>
                <a:spcPts val="700"/>
              </a:spcBef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급여수준 조정의 기준이 되는 가격과 소득의 변동을 어느 시기에 기준을 두고 측정해야 할 것인지도 문제가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  <a:spcBef>
                <a:spcPts val="700"/>
              </a:spcBef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역사적 방식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(historic method)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이미 일어난 변화를 바탕으로 기준 설정</a:t>
            </a:r>
          </a:p>
          <a:p>
            <a:pPr marL="444500" lvl="1">
              <a:lnSpc>
                <a:spcPct val="100000"/>
              </a:lnSpc>
              <a:spcBef>
                <a:spcPts val="700"/>
              </a:spcBef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예측방식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(forecasting method)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앞으로의 변화를 예측하여 기준 설정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97261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국민연금제도의 경제적 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03871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50000"/>
              </a:lnSpc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대부분의 나라에서 국민연금의 운용규모는 국내총생산의 </a:t>
            </a:r>
            <a:r>
              <a:rPr lang="en-US" altLang="ko-KR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30%</a:t>
            </a:r>
            <a:r>
              <a:rPr lang="ko-KR" altLang="en-US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        넘어설 정도로 성장하였으며</a:t>
            </a:r>
            <a:r>
              <a:rPr lang="en-US" altLang="ko-KR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민간부문의 경제 활동에 여러 측면으로    영향을 미침</a:t>
            </a:r>
            <a:endParaRPr lang="en-US" altLang="ko-KR" spc="-1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50000"/>
              </a:lnSpc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50000"/>
              </a:lnSpc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국민연금제도로 인해 영향을 받는 여러 경제활동 중 특히 우리의 관심을 끄는 것은 저축과 노동공급 행위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43874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저축행위에 미치는 영향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846483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노후의 생계보장을 주목적으로 하는 국민연금제도는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정부에 의한    강제저축 프로그램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이라는 기본성격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200"/>
              </a:spcAft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국민연금제도가 저축행위에 영향을 미치는 경로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lvl="1" indent="-39600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재산대체효과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(wealth substitution effect)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강제저축 프로그램 때문에 자발적인 저축의 필요성이 줄어듦 ⇒ 저축 감소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lvl="1" indent="-39600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은퇴효과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(retirement effect)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종전보다 더 빨리 은퇴  하도록 유도하여 은퇴기간을 대비하기 위해 더 많은 저축 필요 ⇒ 저축 증가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lvl="1" indent="-39600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상속효과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(bequest effect)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 일하고 있는 세대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로부터 은퇴상태에 있는 세대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소득을 재분배하는 효과를 내고    부모세대는 이를 상속을 통해 상쇄하려 함 ⇒ 저축 증가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60447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저축행위에 미치는 영향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058150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펠드스타인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(M. Feldstein)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 경우 사회보장제도의 도입이 저축을 현저하게 줄이는 결과를 가져왔다는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결과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1971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사회보장제도의 도입은 개인저축을 거의 반으로 줄어들게   했으며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경제 전체의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총저축을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38%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 감소시키는 결과를 가져옴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이 분석 결과가 잘못된 것이라는 지적 제기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댄지거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Danziger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et al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대부분의 실증연구에서 사회보장제도의 도입에 따른 저축 감소폭이 대략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0~20%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범위 안에 있다는 분석 결과가 나오고 있음을 지적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펠드스타인은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1996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년에 발표한 논문을 통해 사회보장세가 개인저축을 거의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60%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 줄이는 결과를 가져왔다고 주장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8045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노동공급에 미치는 영향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45928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국민연금제도가 노동공급에 미치는 영향은 소득효과와 대체효과의 틀 안에서 분석할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여가 소비를 늘리고 노동공급을 줄이는 방향으로 작용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자신이 낸 세금보다 연금의 혜택이 더 크면 실질소득을 높이는 효과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구체적으로 조기은퇴의 결정으로 나타나거나 일하는 사람들이 노동시간을 줄이는 것으로 나타나게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대체효과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그 방향을 분명히 알 수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제도의 도입으로 소득에 대한 조세부담이 새로 생긴다는 것을     고려한다면 대체효과는 노동공급을 줄이는 방향을 작용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이렇게 낸 세금이 은퇴 후 연금으로 돌아오는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것까지 고려해 의사결정을 한다면 대체효과는 다른 방향으로 작용할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04202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10.5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국민연금제도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국민연금제도는 국내에 거주하는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 이상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60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 미만의 국민이면 누구나 다 가입할 수 있도록 규정되어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indent="-432000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사업장가입자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직장을 통해 제도에 가입한 사람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indent="-432000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지역가입자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도시자영업자와 농어민의 신분으로 국민연금제도에 가입한 사람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indent="-432000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임의가입자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전업주부처럼 근로소득이 없는 사람 중 국민연금제도의 혜택을 받고 싶어 임의로 가입한 사람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indent="-432000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(4)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임의계속가입자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나이가 많거나 혹은 늦게 가입하여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60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세까지   가입해 있더라도 노령연금을 타기 위한 최소가입연수를 채우지    못하기 때문에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65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세에 이를 때까지 임의로 연장해 가입한 사람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0042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국민연금제도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국민연금제도는 기본적으로 적립방식에 의해 운영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사업장가입자의 경우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가입자가 기준소득월액의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4.5%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보험료로   납부하고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고용주가 이에 추가하여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4.5%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납부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5600" lvl="2" indent="-270000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기준소득월액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국민연금제도에서 규정하는 가입자의 한 달 소득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지역가입자나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임의계속가입자의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경우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애당초 기준소득월액의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3%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보험료로 내는 것으로부터 시작했으나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1998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년에는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보험료율을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9%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수준으로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상향하였으며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2033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년까지 보험료율은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13%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까지 상향 조정될 예정임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24628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보험료율은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다른 나라에 비해 상당히 낮은 수준에 머물러 있으며 이로 인해 우리나라의 연금재정은 근본적인 취약성 가짐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 사회에서는 고령화가 급속하게 진행되고 있어 연금재정이 매우 심각한 위기상황으로 치달을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지역가입자들 중 보험료를 제대로 내지 않는 사람들이 상당히 많아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문제를 더욱 심각하게 만듦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고소득층의 소득 축소신고는 연금재정에 큰 압박을 줄 뿐 아니라    부담분배의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문제 야기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0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국민연금제도 </a:t>
            </a:r>
            <a:r>
              <a:rPr lang="en-US" altLang="ko-KR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보험료</a:t>
            </a:r>
          </a:p>
        </p:txBody>
      </p:sp>
    </p:spTree>
    <p:extLst>
      <p:ext uri="{BB962C8B-B14F-4D97-AF65-F5344CB8AC3E}">
        <p14:creationId xmlns:p14="http://schemas.microsoft.com/office/powerpoint/2010/main" val="34109252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pc="-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국민연금제도 </a:t>
            </a:r>
            <a:r>
              <a:rPr lang="en-US" altLang="ko-KR" spc="-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연금의 급여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급여의 종류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노령연금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장애연금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유족연금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반환일시금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endParaRPr lang="en-US" altLang="ko-KR" sz="3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노령연금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가장 기본적인 급여로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가입기간이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10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년이 넘고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60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세에    도달한 사람이 받는 연금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노령연금의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기본연금액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산정 공식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기본연금액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 = 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)×(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𝟎𝟓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</a:t>
                </a:r>
              </a:p>
              <a:p>
                <a:pPr marL="0" indent="0" algn="ctr">
                  <a:buNone/>
                </a:pPr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00038" lvl="1" indent="0">
                  <a:lnSpc>
                    <a:spcPct val="100000"/>
                  </a:lnSpc>
                  <a:buNone/>
                </a:pP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연금수급 직전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3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년 동안의 전체 가입자의 월 평균보수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00038" lvl="1" indent="0">
                  <a:lnSpc>
                    <a:spcPct val="100000"/>
                  </a:lnSpc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	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가입자 개인의 가입기간 중 월 평균보수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00038" lvl="1" indent="0">
                  <a:lnSpc>
                    <a:spcPct val="100000"/>
                  </a:lnSpc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20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년을 초과하는 가입연수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00038" lvl="1" indent="0">
                  <a:lnSpc>
                    <a:spcPct val="100000"/>
                  </a:lnSpc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어느 시점에서 가입했느냐에 따라 다른 값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36702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2"/>
                <a:ext cx="8041525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기본연금액은 성격상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‘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균등부분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’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‘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소득비례부분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’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두 부분으로 구분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3050" lvl="1" indent="0">
                  <a:buNone/>
                </a:pP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(1)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균등부분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관련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모든 가입자가 똑같은 수준으로 받음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3050" lvl="1" indent="0">
                  <a:buNone/>
                </a:pP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(2)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소득비례부분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관련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가입자 자신의 가입기간 중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평균보수에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비례해 변화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국민연금제도의 연금 급여수준이 얼마나 관대한지의 척도로 </a:t>
                </a:r>
                <a:r>
                  <a:rPr lang="ko-KR" altLang="en-US" sz="2000" b="1" dirty="0" err="1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소득대체율</a:t>
                </a:r>
                <a:r>
                  <a:rPr lang="en-US" altLang="ko-KR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(replacement ration)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이라는 개념 사용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tabLst>
                    <a:tab pos="812800" algn="l"/>
                  </a:tabLst>
                </a:pP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소득대체율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어떤 사람이 받는 연금을 은퇴하기 전의 평균보수로     나눈 비율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tabLst>
                    <a:tab pos="812800" algn="l"/>
                  </a:tabLst>
                </a:pP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소득대체율이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100%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가까울수록 급여수준이 관대한 것이라고      평가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2"/>
                <a:ext cx="8041525" cy="4754563"/>
              </a:xfrm>
              <a:blipFill>
                <a:blip r:embed="rId2"/>
                <a:stretch>
                  <a:fillRect l="-682" r="-6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1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spc="-2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국민연금제도 </a:t>
            </a:r>
            <a:r>
              <a:rPr lang="en-US" altLang="ko-KR" spc="-2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2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연금의 급여</a:t>
            </a:r>
          </a:p>
        </p:txBody>
      </p:sp>
    </p:spTree>
    <p:extLst>
      <p:ext uri="{BB962C8B-B14F-4D97-AF65-F5344CB8AC3E}">
        <p14:creationId xmlns:p14="http://schemas.microsoft.com/office/powerpoint/2010/main" val="13012878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국민연금제도의 개혁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303376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국민연금제도의 재정 안정을 위해서는 보험료율을 올리는 동시에 소득   대체율을 낮춰야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2003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국민연금 개혁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9%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보험료율을 그대로 유지하되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소득대체율을 점진적으로 낮춤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endParaRPr lang="en-US" altLang="ko-KR" sz="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1600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2025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국민연금 개혁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2033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년까지 보험료율은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13%,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소득대체율은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43%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되도록 점진적으로 높임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긍정적 평가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연금의 지속가능성 높임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저소득층 노후 빈곤 완화에 기여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부정적 평가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젊은 세대의 부담 증가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국민연금의 구조적 문제 해결 미흡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endParaRPr lang="en-US" altLang="ko-KR" sz="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1600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국민연금재정 안정의 문제는 아직도 미해결의 숙제로 남아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88365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10.6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건강보험제도의 기본성격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의료비 부담과 관련된 위험에 대해 개인이 스스로의 책임하에 알아서 대처하도록 놓아두면 수많은 사람들이 보험 혜택의 사각지대에 놓이는 일이 발생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문제와 관련해서 정부가 어느 방식으로든 개입하지 않을 수 없다는 것이 일반적인 인식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거의 모든 나라들이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의료보장제도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통해 갑작스럽게 발생하는 의료비 부담 문제의 사회적 해결을 추구하고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1170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건강보험제도의 유형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54241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 개입의 정도에 따라 세 가지 유형으로 분류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민간보험방식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사회보험방식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국민보건서비스방식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민간보험방식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(consumer sovereignty model)</a:t>
            </a: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의료보험에 가입하는 것은 기본적으로 개인의 책임하에 이루어지며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개입은 최소한으로 제한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대부분의 직장에서 고용과 동시에 의료보험이 제공되기 때문에 직장을 가진 사람은 자동적으로 의료보험에 가입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직장을 갖지 못한 사람들 중 빈곤층과 노년층에 대해서는 정부가 별도의 의료보장 혜택을 제공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Medicaid, Medicare)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96046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건강보험제도의 유형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사회보험방식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(social health insurance)</a:t>
            </a: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 국민을 상대로 한 공적 의료보험제도가 그 기본 틀 구성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국가가 의료보장에 대한 기본적 책임을 져야 한다는 취지에서 공적 의료보험제도를 도입하고 정부가 그 비용의 일부를 부담하는 체제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우리나라를 비롯해 독일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프랑스 등 대부분의 나라들이 채택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 개입의 이유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시장실패의 보완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소득재분배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온정적 간섭주의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국민보건서비스방식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(national health service)</a:t>
            </a: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의료보장은 전적으로 국가의 책임이라는 취지에서 모든 국민에게 무상으로 의료서비스를 제공하며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정부 개입의 정도가 가장 강한 체제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국민에게 포괄적이며 균등한 의료서비스를 제공한다는 점에서 상품평등주의의 이상을 가장 완벽하게 구현할 수 있는 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영국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스웨덴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이탈리아 같은 나라가 이 방식을 채택하고 있으며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의료기관이 대부분 국영 혹은 공영의 형태로 운영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99554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10.7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국민건강보험제도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국민건강보험제도는 비교적 짧은 시간 안에 성숙된 단계로 진입해    우리나라의 의료보장체제에서 핵심적 역할을 수행하고 있음</a:t>
            </a: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 우리나라에서는 전 국민이 건강보험 아니면 의료급여의 혜택을 받고 있어 거의 완벽한 의료보장이 이루어지고 있는 상황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의료급여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저소득층을 대상으로 정부가 기본적인 의료서비스를 제공하는 공공부조 프로그램의 일환</a:t>
            </a: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건강보험제도는 기본적으로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저부담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저급여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체제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OECD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주요 나라들과 비교해 보면 우리나라의 보험료율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(7.09%)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보장률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(64.9%)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상당히 낮은 수준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91341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국민건강보험제도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국민건강보험제도는 부과방식에 의해 운영되고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건강보험 재정현황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34256E8-C6B2-44DA-84FC-513ABE5441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0618" y="2871678"/>
            <a:ext cx="7909040" cy="329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0718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국민건강보험제도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808768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건강보험제도의 문제점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정부지원을 늘리거나 가입자의 보험료 부담을 높이지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않고서는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건강보험 재정을 안정적으로 유지하면서 보장성을 강화하기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의료서비스에 대한 과다 수요로 인해 건강보험에 대한 재정 압박이 심화되고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79930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국민건강보험제도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73202"/>
            <a:ext cx="7886700" cy="4754563"/>
          </a:xfrm>
        </p:spPr>
        <p:txBody>
          <a:bodyPr anchor="ctr">
            <a:noAutofit/>
          </a:bodyPr>
          <a:lstStyle/>
          <a:p>
            <a:pPr marL="266700" indent="-266700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건강보험 재정 안정화를 위한 노력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 국민 주치의제도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포괄수가제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도입 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500"/>
              </a:spcAft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 국민 주치의제도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주치의가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 진료 과정에서 상급병원으로 갈 필요가 있는지를 심사하도록 하여 불필요한 병원 이용을 막자는 취지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포괄수가제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질병별로 미리 정해진 금액의 진료비만 받을 수 있도록 하는 제도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2012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년부터 몇 가지 질병에 대해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포괄수가제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도입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불필요한 진료 행위가 일어나는 것을 막을 수 있는 장점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반면 과소진료의 문제 발생할 가능성이 높아진다는 단점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97183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국민건강보험제도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311688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영리병원 도입도 건강보험제도에 영향을 미칠 가능성 있음</a:t>
            </a: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영리병원 도입으로 경쟁을 촉진하면 의료서비스의 질이 향상될            것이라는 기대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영리병원의 이윤추구행위로 인한 의료비 부담의 급속한 증가 우려</a:t>
            </a: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대형 영리병원의 우수 의료인력 흡수로 의료시장의 양극화가 발생할    가능성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1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건강보험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당연지정제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폐지 주장이 강화될 가능성</a:t>
            </a:r>
          </a:p>
          <a:p>
            <a:pPr>
              <a:lnSpc>
                <a:spcPct val="110000"/>
              </a:lnSpc>
            </a:pPr>
            <a:endParaRPr lang="ko-KR" altLang="en-US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의료보장체제의 기본골격을 바꾸는 것은 긁어 부스럼이 될 가능성이 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정책의 변화에서 생길 수 있는 긍정적∙부정적 효과를 충분히 검토한 다음 조심스럽게 이 문제에 접근할 필요가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3145246"/>
      </p:ext>
    </p:extLst>
  </p:cSld>
  <p:clrMapOvr>
    <a:masterClrMapping/>
  </p:clrMapOvr>
</p:sld>
</file>

<file path=ppt/theme/theme1.xml><?xml version="1.0" encoding="utf-8"?>
<a:theme xmlns:a="http://schemas.openxmlformats.org/drawingml/2006/main" name="재정학테마">
  <a:themeElements>
    <a:clrScheme name="사용자 지정 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6B7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재정학테마" id="{D220411F-458E-4BEF-9391-46AA3D35AAC4}" vid="{007A1872-AD0C-400C-B34D-A147BE5B3ECB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재정학테마</Template>
  <TotalTime>3212</TotalTime>
  <Words>3060</Words>
  <Application>Microsoft Office PowerPoint</Application>
  <PresentationFormat>화면 슬라이드 쇼(4:3)</PresentationFormat>
  <Paragraphs>433</Paragraphs>
  <Slides>41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51" baseType="lpstr">
      <vt:lpstr>굴림</vt:lpstr>
      <vt:lpstr>나눔고딕</vt:lpstr>
      <vt:lpstr>나눔고딕 ExtraBold</vt:lpstr>
      <vt:lpstr>맑은 고딕</vt:lpstr>
      <vt:lpstr>바탕</vt:lpstr>
      <vt:lpstr>새굴림</vt:lpstr>
      <vt:lpstr>Arial</vt:lpstr>
      <vt:lpstr>Cambria Math</vt:lpstr>
      <vt:lpstr>Wingdings</vt:lpstr>
      <vt:lpstr>재정학테마</vt:lpstr>
      <vt:lpstr>PowerPoint 프레젠테이션</vt:lpstr>
      <vt:lpstr>10.1  사회보험제도의 의미</vt:lpstr>
      <vt:lpstr>사회보험제도의 의미</vt:lpstr>
      <vt:lpstr>사회보험제도의 특징</vt:lpstr>
      <vt:lpstr>우리나라의 4대 사회보험</vt:lpstr>
      <vt:lpstr>사회보험과 공공부조</vt:lpstr>
      <vt:lpstr>10.2  국민연금제도의 기본성격</vt:lpstr>
      <vt:lpstr>중복세대의 모형</vt:lpstr>
      <vt:lpstr>중복세대의 모형</vt:lpstr>
      <vt:lpstr>국민연금제도의 의의</vt:lpstr>
      <vt:lpstr>국민연금제도의 의의</vt:lpstr>
      <vt:lpstr>국민연금제도의 의의</vt:lpstr>
      <vt:lpstr>국민연금제도의 의의</vt:lpstr>
      <vt:lpstr>10.3  국민연금제도와 관련된 중요 쟁점</vt:lpstr>
      <vt:lpstr>강제적이며 공적인 해결방식의 필요성</vt:lpstr>
      <vt:lpstr>적립방식과 부과방식</vt:lpstr>
      <vt:lpstr>적립방식과 부과방식</vt:lpstr>
      <vt:lpstr>적립방식과 부과방식</vt:lpstr>
      <vt:lpstr>적립방식과 부과방식</vt:lpstr>
      <vt:lpstr>재분배적 요소</vt:lpstr>
      <vt:lpstr>목적세 부과의 필요성</vt:lpstr>
      <vt:lpstr>목적세 부과의 필요성</vt:lpstr>
      <vt:lpstr>합리적인 연금 급여수준의 문제</vt:lpstr>
      <vt:lpstr>10.4  국민연금제도의 경제적 효과</vt:lpstr>
      <vt:lpstr>저축행위에 미치는 영향</vt:lpstr>
      <vt:lpstr>저축행위에 미치는 영향</vt:lpstr>
      <vt:lpstr>노동공급에 미치는 영향</vt:lpstr>
      <vt:lpstr>10.5  우리나라의 국민연금제도</vt:lpstr>
      <vt:lpstr>우리나라의 국민연금제도 : 보험료</vt:lpstr>
      <vt:lpstr>PowerPoint 프레젠테이션</vt:lpstr>
      <vt:lpstr>우리나라의 국민연금제도 : 연금의 급여</vt:lpstr>
      <vt:lpstr>PowerPoint 프레젠테이션</vt:lpstr>
      <vt:lpstr>국민연금제도의 개혁</vt:lpstr>
      <vt:lpstr>10.6  건강보험제도의 기본성격</vt:lpstr>
      <vt:lpstr>건강보험제도의 유형</vt:lpstr>
      <vt:lpstr>건강보험제도의 유형</vt:lpstr>
      <vt:lpstr>10.7  우리나라의 국민건강보험제도</vt:lpstr>
      <vt:lpstr>우리나라의 국민건강보험제도</vt:lpstr>
      <vt:lpstr>우리나라의 국민건강보험제도</vt:lpstr>
      <vt:lpstr>우리나라의 국민건강보험제도</vt:lpstr>
      <vt:lpstr>우리나라의 국민건강보험제도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영완 전</cp:lastModifiedBy>
  <cp:revision>895</cp:revision>
  <dcterms:created xsi:type="dcterms:W3CDTF">2015-08-04T05:38:00Z</dcterms:created>
  <dcterms:modified xsi:type="dcterms:W3CDTF">2026-01-13T00:41:25Z</dcterms:modified>
</cp:coreProperties>
</file>