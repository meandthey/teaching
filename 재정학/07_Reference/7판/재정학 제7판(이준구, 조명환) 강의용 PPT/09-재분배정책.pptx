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39"/>
  </p:notesMasterIdLst>
  <p:handoutMasterIdLst>
    <p:handoutMasterId r:id="rId40"/>
  </p:handoutMasterIdLst>
  <p:sldIdLst>
    <p:sldId id="377" r:id="rId2"/>
    <p:sldId id="258" r:id="rId3"/>
    <p:sldId id="311" r:id="rId4"/>
    <p:sldId id="357" r:id="rId5"/>
    <p:sldId id="358" r:id="rId6"/>
    <p:sldId id="359" r:id="rId7"/>
    <p:sldId id="373" r:id="rId8"/>
    <p:sldId id="372" r:id="rId9"/>
    <p:sldId id="323" r:id="rId10"/>
    <p:sldId id="360" r:id="rId11"/>
    <p:sldId id="325" r:id="rId12"/>
    <p:sldId id="328" r:id="rId13"/>
    <p:sldId id="361" r:id="rId14"/>
    <p:sldId id="362" r:id="rId15"/>
    <p:sldId id="332" r:id="rId16"/>
    <p:sldId id="334" r:id="rId17"/>
    <p:sldId id="336" r:id="rId18"/>
    <p:sldId id="337" r:id="rId19"/>
    <p:sldId id="365" r:id="rId20"/>
    <p:sldId id="339" r:id="rId21"/>
    <p:sldId id="341" r:id="rId22"/>
    <p:sldId id="366" r:id="rId23"/>
    <p:sldId id="367" r:id="rId24"/>
    <p:sldId id="368" r:id="rId25"/>
    <p:sldId id="369" r:id="rId26"/>
    <p:sldId id="346" r:id="rId27"/>
    <p:sldId id="374" r:id="rId28"/>
    <p:sldId id="375" r:id="rId29"/>
    <p:sldId id="347" r:id="rId30"/>
    <p:sldId id="348" r:id="rId31"/>
    <p:sldId id="349" r:id="rId32"/>
    <p:sldId id="350" r:id="rId33"/>
    <p:sldId id="351" r:id="rId34"/>
    <p:sldId id="352" r:id="rId35"/>
    <p:sldId id="353" r:id="rId36"/>
    <p:sldId id="371" r:id="rId37"/>
    <p:sldId id="376" r:id="rId3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A6FF5D-11FD-4542-9A8C-03DDFD326C17}" v="7" dt="2026-01-08T05:40:19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25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916" y="31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undo custSel modSld">
      <pc:chgData name="영완 전" userId="94a232b962f42e62" providerId="LiveId" clId="{862E7F7D-119D-4717-AD52-91020921814B}" dt="2026-01-13T02:06:06.823" v="233" actId="20577"/>
      <pc:docMkLst>
        <pc:docMk/>
      </pc:docMkLst>
      <pc:sldChg chg="modSp mod">
        <pc:chgData name="영완 전" userId="94a232b962f42e62" providerId="LiveId" clId="{862E7F7D-119D-4717-AD52-91020921814B}" dt="2026-01-08T05:23:11.600" v="3" actId="20577"/>
        <pc:sldMkLst>
          <pc:docMk/>
          <pc:sldMk cId="2131678008" sldId="258"/>
        </pc:sldMkLst>
        <pc:spChg chg="mod">
          <ac:chgData name="영완 전" userId="94a232b962f42e62" providerId="LiveId" clId="{862E7F7D-119D-4717-AD52-91020921814B}" dt="2026-01-08T05:23:11.600" v="3" actId="20577"/>
          <ac:spMkLst>
            <pc:docMk/>
            <pc:sldMk cId="2131678008" sldId="25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27:48.027" v="35" actId="20577"/>
        <pc:sldMkLst>
          <pc:docMk/>
          <pc:sldMk cId="2376397745" sldId="323"/>
        </pc:sldMkLst>
        <pc:spChg chg="mod">
          <ac:chgData name="영완 전" userId="94a232b962f42e62" providerId="LiveId" clId="{862E7F7D-119D-4717-AD52-91020921814B}" dt="2026-01-08T05:27:48.027" v="35" actId="20577"/>
          <ac:spMkLst>
            <pc:docMk/>
            <pc:sldMk cId="2376397745" sldId="32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28:43.657" v="46" actId="14100"/>
        <pc:sldMkLst>
          <pc:docMk/>
          <pc:sldMk cId="1843859219" sldId="325"/>
        </pc:sldMkLst>
        <pc:spChg chg="mod">
          <ac:chgData name="영완 전" userId="94a232b962f42e62" providerId="LiveId" clId="{862E7F7D-119D-4717-AD52-91020921814B}" dt="2026-01-08T05:28:43.657" v="46" actId="14100"/>
          <ac:spMkLst>
            <pc:docMk/>
            <pc:sldMk cId="1843859219" sldId="32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32:08.323" v="72" actId="14100"/>
        <pc:sldMkLst>
          <pc:docMk/>
          <pc:sldMk cId="1916290356" sldId="334"/>
        </pc:sldMkLst>
        <pc:spChg chg="mod">
          <ac:chgData name="영완 전" userId="94a232b962f42e62" providerId="LiveId" clId="{862E7F7D-119D-4717-AD52-91020921814B}" dt="2026-01-08T05:32:08.323" v="72" actId="14100"/>
          <ac:spMkLst>
            <pc:docMk/>
            <pc:sldMk cId="1916290356" sldId="33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33:05.199" v="78" actId="20577"/>
        <pc:sldMkLst>
          <pc:docMk/>
          <pc:sldMk cId="3487503944" sldId="339"/>
        </pc:sldMkLst>
        <pc:spChg chg="mod">
          <ac:chgData name="영완 전" userId="94a232b962f42e62" providerId="LiveId" clId="{862E7F7D-119D-4717-AD52-91020921814B}" dt="2026-01-08T05:33:05.199" v="78" actId="20577"/>
          <ac:spMkLst>
            <pc:docMk/>
            <pc:sldMk cId="3487503944" sldId="33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34:59.659" v="116" actId="20577"/>
        <pc:sldMkLst>
          <pc:docMk/>
          <pc:sldMk cId="296824963" sldId="341"/>
        </pc:sldMkLst>
        <pc:spChg chg="mod">
          <ac:chgData name="영완 전" userId="94a232b962f42e62" providerId="LiveId" clId="{862E7F7D-119D-4717-AD52-91020921814B}" dt="2026-01-08T05:34:59.659" v="116" actId="20577"/>
          <ac:spMkLst>
            <pc:docMk/>
            <pc:sldMk cId="296824963" sldId="34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37:43.013" v="148" actId="20577"/>
        <pc:sldMkLst>
          <pc:docMk/>
          <pc:sldMk cId="2855778330" sldId="346"/>
        </pc:sldMkLst>
        <pc:spChg chg="mod">
          <ac:chgData name="영완 전" userId="94a232b962f42e62" providerId="LiveId" clId="{862E7F7D-119D-4717-AD52-91020921814B}" dt="2026-01-08T05:37:43.013" v="148" actId="20577"/>
          <ac:spMkLst>
            <pc:docMk/>
            <pc:sldMk cId="2855778330" sldId="34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39:05.417" v="155" actId="2710"/>
        <pc:sldMkLst>
          <pc:docMk/>
          <pc:sldMk cId="4103832485" sldId="347"/>
        </pc:sldMkLst>
        <pc:spChg chg="mod">
          <ac:chgData name="영완 전" userId="94a232b962f42e62" providerId="LiveId" clId="{862E7F7D-119D-4717-AD52-91020921814B}" dt="2026-01-08T05:39:05.417" v="155" actId="2710"/>
          <ac:spMkLst>
            <pc:docMk/>
            <pc:sldMk cId="4103832485" sldId="34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40:20.605" v="173" actId="14100"/>
        <pc:sldMkLst>
          <pc:docMk/>
          <pc:sldMk cId="279608871" sldId="348"/>
        </pc:sldMkLst>
        <pc:spChg chg="mod">
          <ac:chgData name="영완 전" userId="94a232b962f42e62" providerId="LiveId" clId="{862E7F7D-119D-4717-AD52-91020921814B}" dt="2026-01-08T05:40:20.605" v="173" actId="14100"/>
          <ac:spMkLst>
            <pc:docMk/>
            <pc:sldMk cId="279608871" sldId="34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2:05:39.680" v="232" actId="14100"/>
        <pc:sldMkLst>
          <pc:docMk/>
          <pc:sldMk cId="716023034" sldId="349"/>
        </pc:sldMkLst>
        <pc:spChg chg="mod">
          <ac:chgData name="영완 전" userId="94a232b962f42e62" providerId="LiveId" clId="{862E7F7D-119D-4717-AD52-91020921814B}" dt="2026-01-13T02:05:39.680" v="232" actId="14100"/>
          <ac:spMkLst>
            <pc:docMk/>
            <pc:sldMk cId="716023034" sldId="34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42:08.422" v="176" actId="14100"/>
        <pc:sldMkLst>
          <pc:docMk/>
          <pc:sldMk cId="393580863" sldId="351"/>
        </pc:sldMkLst>
        <pc:spChg chg="mod">
          <ac:chgData name="영완 전" userId="94a232b962f42e62" providerId="LiveId" clId="{862E7F7D-119D-4717-AD52-91020921814B}" dt="2026-01-08T05:42:08.422" v="176" actId="14100"/>
          <ac:spMkLst>
            <pc:docMk/>
            <pc:sldMk cId="393580863" sldId="35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43:46.325" v="187" actId="20577"/>
        <pc:sldMkLst>
          <pc:docMk/>
          <pc:sldMk cId="4192945165" sldId="352"/>
        </pc:sldMkLst>
        <pc:spChg chg="mod">
          <ac:chgData name="영완 전" userId="94a232b962f42e62" providerId="LiveId" clId="{862E7F7D-119D-4717-AD52-91020921814B}" dt="2026-01-08T05:43:46.325" v="187" actId="20577"/>
          <ac:spMkLst>
            <pc:docMk/>
            <pc:sldMk cId="4192945165" sldId="35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44:29.802" v="201" actId="20577"/>
        <pc:sldMkLst>
          <pc:docMk/>
          <pc:sldMk cId="1278673268" sldId="353"/>
        </pc:sldMkLst>
        <pc:spChg chg="mod">
          <ac:chgData name="영완 전" userId="94a232b962f42e62" providerId="LiveId" clId="{862E7F7D-119D-4717-AD52-91020921814B}" dt="2026-01-08T05:44:29.802" v="201" actId="20577"/>
          <ac:spMkLst>
            <pc:docMk/>
            <pc:sldMk cId="1278673268" sldId="35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24:33.027" v="5" actId="20577"/>
        <pc:sldMkLst>
          <pc:docMk/>
          <pc:sldMk cId="1124667103" sldId="357"/>
        </pc:sldMkLst>
        <pc:spChg chg="mod">
          <ac:chgData name="영완 전" userId="94a232b962f42e62" providerId="LiveId" clId="{862E7F7D-119D-4717-AD52-91020921814B}" dt="2026-01-08T05:24:33.027" v="5" actId="20577"/>
          <ac:spMkLst>
            <pc:docMk/>
            <pc:sldMk cId="1124667103" sldId="35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25:43.535" v="13" actId="14100"/>
        <pc:sldMkLst>
          <pc:docMk/>
          <pc:sldMk cId="1897680684" sldId="358"/>
        </pc:sldMkLst>
        <pc:spChg chg="mod">
          <ac:chgData name="영완 전" userId="94a232b962f42e62" providerId="LiveId" clId="{862E7F7D-119D-4717-AD52-91020921814B}" dt="2026-01-08T05:25:43.535" v="13" actId="14100"/>
          <ac:spMkLst>
            <pc:docMk/>
            <pc:sldMk cId="1897680684" sldId="35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26:14.516" v="20" actId="20577"/>
        <pc:sldMkLst>
          <pc:docMk/>
          <pc:sldMk cId="4115562434" sldId="359"/>
        </pc:sldMkLst>
        <pc:spChg chg="mod">
          <ac:chgData name="영완 전" userId="94a232b962f42e62" providerId="LiveId" clId="{862E7F7D-119D-4717-AD52-91020921814B}" dt="2026-01-08T05:26:14.516" v="20" actId="20577"/>
          <ac:spMkLst>
            <pc:docMk/>
            <pc:sldMk cId="4115562434" sldId="35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28:12.620" v="43" actId="20577"/>
        <pc:sldMkLst>
          <pc:docMk/>
          <pc:sldMk cId="4193320093" sldId="360"/>
        </pc:sldMkLst>
        <pc:spChg chg="mod">
          <ac:chgData name="영완 전" userId="94a232b962f42e62" providerId="LiveId" clId="{862E7F7D-119D-4717-AD52-91020921814B}" dt="2026-01-08T05:28:12.620" v="43" actId="20577"/>
          <ac:spMkLst>
            <pc:docMk/>
            <pc:sldMk cId="4193320093" sldId="36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2:05:06.873" v="230" actId="14100"/>
        <pc:sldMkLst>
          <pc:docMk/>
          <pc:sldMk cId="1144257372" sldId="361"/>
        </pc:sldMkLst>
        <pc:spChg chg="mod">
          <ac:chgData name="영완 전" userId="94a232b962f42e62" providerId="LiveId" clId="{862E7F7D-119D-4717-AD52-91020921814B}" dt="2026-01-13T02:05:06.873" v="230" actId="14100"/>
          <ac:spMkLst>
            <pc:docMk/>
            <pc:sldMk cId="1144257372" sldId="36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31:05.141" v="71" actId="20577"/>
        <pc:sldMkLst>
          <pc:docMk/>
          <pc:sldMk cId="989394243" sldId="362"/>
        </pc:sldMkLst>
        <pc:spChg chg="mod">
          <ac:chgData name="영완 전" userId="94a232b962f42e62" providerId="LiveId" clId="{862E7F7D-119D-4717-AD52-91020921814B}" dt="2026-01-08T05:31:05.141" v="71" actId="20577"/>
          <ac:spMkLst>
            <pc:docMk/>
            <pc:sldMk cId="989394243" sldId="36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35:46.441" v="119" actId="20577"/>
        <pc:sldMkLst>
          <pc:docMk/>
          <pc:sldMk cId="1534518703" sldId="368"/>
        </pc:sldMkLst>
        <pc:spChg chg="mod">
          <ac:chgData name="영완 전" userId="94a232b962f42e62" providerId="LiveId" clId="{862E7F7D-119D-4717-AD52-91020921814B}" dt="2026-01-08T05:35:46.441" v="119" actId="20577"/>
          <ac:spMkLst>
            <pc:docMk/>
            <pc:sldMk cId="1534518703" sldId="36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36:30.016" v="124" actId="14100"/>
        <pc:sldMkLst>
          <pc:docMk/>
          <pc:sldMk cId="3966630329" sldId="369"/>
        </pc:sldMkLst>
        <pc:spChg chg="mod">
          <ac:chgData name="영완 전" userId="94a232b962f42e62" providerId="LiveId" clId="{862E7F7D-119D-4717-AD52-91020921814B}" dt="2026-01-08T05:36:30.016" v="124" actId="14100"/>
          <ac:spMkLst>
            <pc:docMk/>
            <pc:sldMk cId="3966630329" sldId="36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2:06:06.823" v="233" actId="20577"/>
        <pc:sldMkLst>
          <pc:docMk/>
          <pc:sldMk cId="3361668053" sldId="371"/>
        </pc:sldMkLst>
        <pc:spChg chg="mod">
          <ac:chgData name="영완 전" userId="94a232b962f42e62" providerId="LiveId" clId="{862E7F7D-119D-4717-AD52-91020921814B}" dt="2026-01-13T02:06:06.823" v="233" actId="20577"/>
          <ac:spMkLst>
            <pc:docMk/>
            <pc:sldMk cId="3361668053" sldId="37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27:14.071" v="28" actId="20577"/>
        <pc:sldMkLst>
          <pc:docMk/>
          <pc:sldMk cId="3939432133" sldId="372"/>
        </pc:sldMkLst>
        <pc:spChg chg="mod">
          <ac:chgData name="영완 전" userId="94a232b962f42e62" providerId="LiveId" clId="{862E7F7D-119D-4717-AD52-91020921814B}" dt="2026-01-08T05:27:14.071" v="28" actId="20577"/>
          <ac:spMkLst>
            <pc:docMk/>
            <pc:sldMk cId="3939432133" sldId="37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38:42.358" v="153" actId="14100"/>
        <pc:sldMkLst>
          <pc:docMk/>
          <pc:sldMk cId="79631252" sldId="375"/>
        </pc:sldMkLst>
        <pc:spChg chg="mod">
          <ac:chgData name="영완 전" userId="94a232b962f42e62" providerId="LiveId" clId="{862E7F7D-119D-4717-AD52-91020921814B}" dt="2026-01-08T05:38:42.358" v="153" actId="14100"/>
          <ac:spMkLst>
            <pc:docMk/>
            <pc:sldMk cId="79631252" sldId="37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5:45:41.175" v="203" actId="20577"/>
        <pc:sldMkLst>
          <pc:docMk/>
          <pc:sldMk cId="3976085307" sldId="376"/>
        </pc:sldMkLst>
        <pc:spChg chg="mod">
          <ac:chgData name="영완 전" userId="94a232b962f42e62" providerId="LiveId" clId="{862E7F7D-119D-4717-AD52-91020921814B}" dt="2026-01-08T05:45:41.175" v="203" actId="20577"/>
          <ac:spMkLst>
            <pc:docMk/>
            <pc:sldMk cId="3976085307" sldId="376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997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5600" y="194400"/>
            <a:ext cx="8643600" cy="1330099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9</a:t>
            </a:r>
            <a:r>
              <a:rPr lang="ko-KR" altLang="en-US"/>
              <a:t>장  재분배정책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293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4E8F14C0-5F29-7081-E496-9622DA44F58B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10" name="화살표: 오각형 9">
              <a:extLst>
                <a:ext uri="{FF2B5EF4-FFF2-40B4-BE49-F238E27FC236}">
                  <a16:creationId xmlns:a16="http://schemas.microsoft.com/office/drawing/2014/main" id="{D381FDB3-690A-7715-51DD-7F07955CB4DE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화살표: 갈매기형 수장 10">
              <a:extLst>
                <a:ext uri="{FF2B5EF4-FFF2-40B4-BE49-F238E27FC236}">
                  <a16:creationId xmlns:a16="http://schemas.microsoft.com/office/drawing/2014/main" id="{2031BC72-A764-E990-2627-6B4A206073A1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갈매기형 수장 11">
              <a:extLst>
                <a:ext uri="{FF2B5EF4-FFF2-40B4-BE49-F238E27FC236}">
                  <a16:creationId xmlns:a16="http://schemas.microsoft.com/office/drawing/2014/main" id="{4959E44B-4548-C87F-D699-1284F41C0B46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9</a:t>
            </a:r>
            <a:r>
              <a:rPr lang="ko-KR" altLang="en-US"/>
              <a:t>장  재분배정책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8024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666572" y="2573903"/>
            <a:ext cx="7791629" cy="13300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4"/>
            <a:ext cx="7772400" cy="1330099"/>
          </a:xfrm>
        </p:spPr>
        <p:txBody>
          <a:bodyPr anchor="ctr">
            <a:normAutofit/>
          </a:bodyPr>
          <a:lstStyle>
            <a:lvl1pPr algn="ctr">
              <a:defRPr sz="285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9</a:t>
            </a:r>
            <a:r>
              <a:rPr lang="ko-KR" altLang="en-US"/>
              <a:t>장  재분배정책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893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1337"/>
            <a:ext cx="7886700" cy="7112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9</a:t>
            </a:r>
            <a:r>
              <a:rPr lang="ko-KR" altLang="en-US"/>
              <a:t>장  재분배정책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254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64457"/>
            <a:ext cx="78867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2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9</a:t>
            </a:r>
            <a:r>
              <a:rPr lang="ko-KR" altLang="en-US"/>
              <a:t>장  재분배정책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290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09" r:id="rId3"/>
    <p:sldLayoutId id="2147483710" r:id="rId4"/>
  </p:sldLayoutIdLst>
  <p:hf hdr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2625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새굴림" panose="02030600000101010101" pitchFamily="18" charset="-127"/>
          <a:ea typeface="새굴림" panose="02030600000101010101" pitchFamily="18" charset="-127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130000"/>
        </a:lnSpc>
        <a:spcBef>
          <a:spcPts val="750"/>
        </a:spcBef>
        <a:spcAft>
          <a:spcPts val="300"/>
        </a:spcAft>
        <a:buFont typeface="Wingdings" panose="05000000000000000000" pitchFamily="2" charset="2"/>
        <a:buChar char="§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1pPr>
      <a:lvl2pPr marL="5143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2pPr>
      <a:lvl3pPr marL="8572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3pPr>
      <a:lvl4pPr marL="12001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4pPr>
      <a:lvl5pPr marL="15430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EC2E7E-E2A8-C56C-8A47-7D7C54D657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70403CB-F8CC-D4A1-7E14-2B8759DE00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836CBB14-4509-3859-ADB4-A4DBF5B9EC58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9B5E29A-5411-A3DC-108A-1C1D4E621A93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45AFA23-901F-4E16-B44B-696DE6E1096D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8561C54-AAD0-87BB-9310-F70222B8B0FA}"/>
              </a:ext>
            </a:extLst>
          </p:cNvPr>
          <p:cNvSpPr/>
          <p:nvPr/>
        </p:nvSpPr>
        <p:spPr>
          <a:xfrm>
            <a:off x="4165600" y="1412240"/>
            <a:ext cx="4572000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4">
            <a:extLst>
              <a:ext uri="{FF2B5EF4-FFF2-40B4-BE49-F238E27FC236}">
                <a16:creationId xmlns:a16="http://schemas.microsoft.com/office/drawing/2014/main" id="{AA762ACA-6BFB-FC41-0478-48B11950F782}"/>
              </a:ext>
            </a:extLst>
          </p:cNvPr>
          <p:cNvSpPr txBox="1">
            <a:spLocks/>
          </p:cNvSpPr>
          <p:nvPr/>
        </p:nvSpPr>
        <p:spPr>
          <a:xfrm>
            <a:off x="4389120" y="1422400"/>
            <a:ext cx="5392923" cy="25006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>
                <a:solidFill>
                  <a:schemeClr val="accent5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9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재분배정책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2D5DD7C-049A-F6D9-B77E-7B8D571E849C}"/>
              </a:ext>
            </a:extLst>
          </p:cNvPr>
          <p:cNvSpPr txBox="1">
            <a:spLocks/>
          </p:cNvSpPr>
          <p:nvPr/>
        </p:nvSpPr>
        <p:spPr>
          <a:xfrm>
            <a:off x="4389120" y="3768779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9.1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재분배정책에 대한 찬반의견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9.2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재분배정책의 실례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9.3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빈곤선의 결정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9.4  </a:t>
            </a:r>
            <a:r>
              <a:rPr lang="ko-KR" altLang="en-US" sz="1600" b="1" dirty="0">
                <a:solidFill>
                  <a:srgbClr val="2F2F2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재분배정책과 효율성</a:t>
            </a:r>
          </a:p>
        </p:txBody>
      </p:sp>
    </p:spTree>
    <p:extLst>
      <p:ext uri="{BB962C8B-B14F-4D97-AF65-F5344CB8AC3E}">
        <p14:creationId xmlns:p14="http://schemas.microsoft.com/office/powerpoint/2010/main" val="2830196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9.1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재분배정책에 대한 찬반의견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08274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재분배를 위해 개입하는 것이 과연 정당성을 갖는 일인지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또한 그것이 의도한 바대로 바람직한 결과를 가져올 수 있는지의 여부에 대해 서로 다른 의견이 팽팽하게 맞서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재분배정책에 대한 찬성과 반대의 논리 중 어느 한쪽이 절대적으로     우세하다고 단정 내리기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현대의 정부가 여러 가지 재분배정책을 채택하고 있는 추세는 시대적  흐름과 정치적 현실을 반영하는 것으로 보아야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167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39617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윤리적 관점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자유론자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(libertarian)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재분배를 위한 정부의 개입이 개인의 정당한 권리를 침해하는 결과를 가져올 것이라는 점에서 반대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일의 옳고 그름은 정당한 절차를 거쳤느냐의 여부에 의해서만  판단될 수 있다고 생각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재분배정책의 결과가 바람직하다 해도 그 과정에서 개인의 권리를   침해하게 된다면 결코 정당화될 수 없음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프리드먼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(M. Friedman)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불균등한 소득분배가 나타나는 것은 불가피하며 어떤 면에서는 오히려 바람직하기까지 하다고 주장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반대의 논리</a:t>
            </a:r>
          </a:p>
        </p:txBody>
      </p:sp>
    </p:spTree>
    <p:extLst>
      <p:ext uri="{BB962C8B-B14F-4D97-AF65-F5344CB8AC3E}">
        <p14:creationId xmlns:p14="http://schemas.microsoft.com/office/powerpoint/2010/main" val="3133125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85902"/>
            <a:ext cx="8033212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효율성에 대한 부정적 영향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재분배효과를 강화하기 위해 매우 급격한 누진적 조세제도를 도입하면 사람들은 더 적게 일하고 더 적게 저축하는 반응을 보일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정치적 현실의 관점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정치기구가 과연 재분배작업을 성공적으로 해낼 수 있느냐라는 점에 대한 의문 </a:t>
            </a: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집단의 이익이 복잡하게 얽혀 있는 정치기구가 불편부당한 입장에서 공평한 재분배를 수행하기 힘든 것은 사실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재분배정책이 그 속성상 계층 간의 갈등을 조장함으로써 정치과정에 심각한 긴장을 일으킬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반대의 논리</a:t>
            </a:r>
          </a:p>
        </p:txBody>
      </p:sp>
    </p:spTree>
    <p:extLst>
      <p:ext uri="{BB962C8B-B14F-4D97-AF65-F5344CB8AC3E}">
        <p14:creationId xmlns:p14="http://schemas.microsoft.com/office/powerpoint/2010/main" val="1124667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28808" cy="4754563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윤리적 관점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평등주의자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분배상태가 평등하지 못하면 당연히 이를 시정하려는 노력이 뒤따라야 함</a:t>
            </a: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공리주의자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윤리적인 입장에서 재분배가 사회전체의 후생을 증가시킬 수 있다는 견지에서 재분배정책 지지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공공재로서의 공평한 분배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(L.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Thurow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가져다주는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사회적 이득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범죄의 감소나 안정성의 증대 같은 것이 마치 공공재와 같은 성격을 갖는다고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만약 재분배로부터 나오는 사회적 이득이 공공재의 성격을 갖고 있다면 정부가 재분배를 위해 개입해야 할 필요가 생김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찬성의 논리</a:t>
            </a:r>
          </a:p>
        </p:txBody>
      </p:sp>
    </p:spTree>
    <p:extLst>
      <p:ext uri="{BB962C8B-B14F-4D97-AF65-F5344CB8AC3E}">
        <p14:creationId xmlns:p14="http://schemas.microsoft.com/office/powerpoint/2010/main" val="1897680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사회보험으로서의 재분배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’(social insurance)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이란 관점에서 정당화   하고자 하는 시도</a:t>
            </a: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뜻하지 않은 일로 빈곤에 빠질 수 있는 가능성에 대비해 일종의 안전장치를 마련해 놓는 것이 바람직함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재분배정책은 바로 이 안전장치에 해당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정치적 관점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 소수의 사람들에게 집중되어 있을 때 정치적 권력도 소수에게 집중되는 결과를 낳기 쉬움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이와 같은 부당한 권력의 집중을 방지하기 위해서는 재분배정책을  통해 부를 과감하게 분산시키는 것이 필요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찬성의 논리</a:t>
            </a:r>
          </a:p>
        </p:txBody>
      </p:sp>
    </p:spTree>
    <p:extLst>
      <p:ext uri="{BB962C8B-B14F-4D97-AF65-F5344CB8AC3E}">
        <p14:creationId xmlns:p14="http://schemas.microsoft.com/office/powerpoint/2010/main" val="4115562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9.2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재분배정책의 실례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재분배정책의 범주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  <a:spcAft>
                <a:spcPts val="8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 조세제도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lvl="1">
              <a:lnSpc>
                <a:spcPct val="130000"/>
              </a:lnSpc>
              <a:spcAft>
                <a:spcPts val="1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사회복지제도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lvl="2">
              <a:lnSpc>
                <a:spcPct val="13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사회보험제도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2">
              <a:lnSpc>
                <a:spcPct val="13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프로그램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lvl="1">
              <a:lnSpc>
                <a:spcPct val="130000"/>
              </a:lnSpc>
              <a:spcAft>
                <a:spcPts val="8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  <a:spcAft>
                <a:spcPts val="8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근로장려세제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2203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 조세제도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87492" cy="4754563"/>
          </a:xfrm>
        </p:spPr>
        <p:txBody>
          <a:bodyPr anchor="ctr"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일반적 조세제도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400" indent="-266400">
              <a:spcAft>
                <a:spcPts val="500"/>
              </a:spcAft>
            </a:pPr>
            <a:r>
              <a:rPr lang="ko-KR" altLang="en-US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누진성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(progressivity)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갖는 조세제도는 부유층과 빈곤층 사이에     존재하는 처분가능소득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(disposable income)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격차를 줄이는 역할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400" indent="-266400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일반적으로 조세수입 중에서 간접세가 차지하는 상대적 비중이 크면  높은 누진성을 기대할 수 없고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재분배효과도 제한적일 수밖에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400" indent="-266400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조세제도의 누진성이 높아지기 위해서는 납세자 개인의 경제적 능력에 따라 과세할 수 있는 직접세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소득세의 비중이 높아져야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400" indent="-266400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부유층이 합법적인 조세회피 수단을 가지고 있다면 높은 누진성이 있다 하더라도 재분배효과는 제한적임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9432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사회복지제도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99961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spcAft>
                <a:spcPts val="1500"/>
              </a:spcAft>
              <a:buNone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사회보험제도</a:t>
            </a:r>
            <a:endParaRPr lang="en-US" altLang="ko-KR" sz="20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사회적 보험을 제공하는 데 적극적인 역할을 해야 한다는 인식이 일반화된 것은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세기 이후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독일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1883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1884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각각 질병보험과 산재보험 도입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급격한 산업화에 따른 여러 사회문제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특히 노동자계층의 요구를      기존의 질서 안에서 수용하려는 의도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정부의 강한 입김 아래 중앙집권적 방식으로 발전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특정한 직장이나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직능집단을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중심축으로 한 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비스마르크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(Bismarck)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형 사회보험제도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로서의 성격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6397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사회복지제도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2" y="1422402"/>
            <a:ext cx="7660216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영국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19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세기 말 산업화 과정에서 심각한 문제로 대두되었던 도시빈민의 열악한 생활환경에 대한 대응의 성격으로 사회보장제도 출발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자발적인 참여에 의해 발전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 모두에게 최저수준의 혜택을 보장하는 데 주안점을 둔         보편주의적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베버리지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(Beveridge)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형 사회보험제도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3320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사회복지제도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53994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사회보험제도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국민연금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건강보험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고용보험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산재보험 등의 여러   프로그램으로 구성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보험이라는 이름이 붙어 있다는 사실이 재분배효과를 기본적으로 제약하는 요인이 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저소득층이 강제적인 보험제도의 존재로 인해 혜택을 볼 수 있음</a:t>
            </a:r>
          </a:p>
          <a:p>
            <a:pPr marL="444500" lvl="1">
              <a:spcBef>
                <a:spcPts val="200"/>
              </a:spcBef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저소득층은 무방비상태로 노령에 이르게 될 가능성이 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Bef>
                <a:spcPts val="200"/>
              </a:spcBef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국민연금제도의 수혜자인 노년층이 다른 연령층에 비해 빈곤층 비율이 상대적으로 높다는 점에서도 약간의 재분배효과를 기대할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실시되고 있는 각국의 사회보험제도는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기본적으로는 민간부문의 보험과 비슷하게 운영하면서 제한적으로 재분배효과 추구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3859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사회복지제도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공공부조 프로그램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(public assistance)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프로그램은 사회의 도움이 가장 절실한 극빈계층에 초점을 맞춤으로써 재분배효과 극대화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5950" lvl="1" indent="-342900">
              <a:lnSpc>
                <a:spcPct val="140000"/>
              </a:lnSpc>
              <a:tabLst>
                <a:tab pos="812800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국민기초생활보장제도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TANF(Temporary Aid to Needy Families)</a:t>
            </a:r>
          </a:p>
          <a:p>
            <a:pPr marL="266400" indent="-266400">
              <a:lnSpc>
                <a:spcPct val="140000"/>
              </a:lnSpc>
              <a:tabLst>
                <a:tab pos="8128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특정계층에 초점을 맞춤으로써 누진적 조세제도나 사회보험제도보다 더 큰 재분배효과 달성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9241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사회복지제도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99714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 프로그램은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(general)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범주적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(categorical)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구분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lnSpc>
                <a:spcPct val="140000"/>
              </a:lnSpc>
              <a:tabLst>
                <a:tab pos="812800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 공공부조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일정한 소득수준 이하의 사람은 모두 수혜자가 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2000"/>
              </a:spcAft>
              <a:tabLst>
                <a:tab pos="812800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범주적 공공부조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추가적인 기준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가족구성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장애자 여부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의해 수혜자 선정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나라에서 공공부조 프로그램은 범주적 형태로 시행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4257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사회복지제도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 프로그램의 문제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수혜자격을 어떻게 정하고 이를 어떻게 적용하느냐가 문제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수혜자격에 대한 검증이 너무 강하면 모욕감을 줄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수혜자격에 대한 검증이 너무 느슨하면 부정을 유발할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혜택의 절대적 수준을 어디로 정해야 하는가도 문제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혜택이 너무 크면 빈곤에서 벗어나려고 하는 유인 제공 실패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가장 본질적인 문제는 과연 어느 정도의 실질적인 도움을 줄 수      있느냐는 것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spcAft>
                <a:spcPts val="2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대증요법에 그칠 뿐 취약계층의 자립기반 확립 등의 근본적인      치료법은 될 수 없다는 지적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9394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사회복지제도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우리나라에서는 공공부조 프로그램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국민기초생활보장제도</a:t>
            </a:r>
            <a:endParaRPr lang="en-US" altLang="ko-KR" sz="20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근로능력의 유무에 관계없이 월 소득이 최저생계비에 미치지 못할  경우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차액을 정부가 보조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저소득층에 대한 생계보조의 성격이 국가의 보호에서 국민의 권리로 바뀜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국민기초생활보장제도의 문제점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제도의 혜택을 받는 사람의 소득이 약간 늘면 바로 그만큼 급여액이 깎이도록 설정되어 있어 근로의욕을 해칠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현실적으로 모든 사람에게 최저생계비를 보장해 주기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4641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8178686" cy="4754563"/>
              </a:xfrm>
            </p:spPr>
            <p:txBody>
              <a:bodyPr anchor="ctr">
                <a:noAutofit/>
              </a:bodyPr>
              <a:lstStyle/>
              <a:p>
                <a:pPr marL="0" indent="0">
                  <a:lnSpc>
                    <a:spcPct val="130000"/>
                  </a:lnSpc>
                  <a:spcAft>
                    <a:spcPts val="500"/>
                  </a:spcAft>
                  <a:buNone/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부의 소득세제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(negative income tax)</a:t>
                </a:r>
              </a:p>
              <a:p>
                <a:pPr marL="444500" lvl="1">
                  <a:lnSpc>
                    <a:spcPct val="130000"/>
                  </a:lnSpc>
                  <a:spcAft>
                    <a:spcPts val="500"/>
                  </a:spcAft>
                </a:pPr>
                <a:r>
                  <a:rPr lang="ko-KR" altLang="en-US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라이스</a:t>
                </a:r>
                <a:r>
                  <a:rPr lang="en-US" altLang="ko-KR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윌리엄스</a:t>
                </a:r>
                <a:r>
                  <a:rPr lang="en-US" altLang="ko-KR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(J. Rhys-Williams), </a:t>
                </a:r>
                <a:r>
                  <a:rPr lang="ko-KR" altLang="en-US" spc="-5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스티글러</a:t>
                </a:r>
                <a:r>
                  <a:rPr lang="en-US" altLang="ko-KR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(J. Stigler) </a:t>
                </a:r>
                <a:r>
                  <a:rPr lang="ko-KR" altLang="en-US" spc="-5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등에 의해 제안</a:t>
                </a:r>
              </a:p>
              <a:p>
                <a:pPr marL="444500" lvl="1">
                  <a:lnSpc>
                    <a:spcPct val="130000"/>
                  </a:lnSpc>
                  <a:spcAft>
                    <a:spcPts val="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개인의 소득이 일정수준 이하로 떨어질 경우 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−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세율을 적용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누진적 소득세제의 논리적 연장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30000"/>
                  </a:lnSpc>
                  <a:spcAft>
                    <a:spcPts val="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미국의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EITC(Earned Income Tax Credit),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우리나라의 근로장려세제가 부의 소득세제와 비슷한 성격 보유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8178686" cy="4754563"/>
              </a:xfrm>
              <a:blipFill>
                <a:blip r:embed="rId2"/>
                <a:stretch>
                  <a:fillRect l="-745" r="-5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6290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소득세제의 장점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일종의 권리에 의해 정부로부터 보조를 받는 형식을 취하기 때문에 수혜자가 아무런 수치감을 느낄 이유가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일반적인 조세체계 안에서 운영이 가능해 행정적으로 단순하고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별도의 수혜자격 심사를 필요로 하지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현물이 아니라 현금의 형태로 혜택을 주어 수혜자가 자유로이 처분할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소득세제의 단점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 조세제도의 틀 속에서 통합적으로 운용되기 때문에 특정한 집단의 특수한 요구에 쉽게 부응할 수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1170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30000"/>
                  </a:lnSpc>
                  <a:spcAft>
                    <a:spcPts val="7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구체적 운영방식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30000"/>
                  </a:lnSpc>
                  <a:spcAft>
                    <a:spcPts val="700"/>
                  </a:spcAft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기초수당</a:t>
                </a:r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(basic allowance, 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</a:t>
                </a:r>
                <a:r>
                  <a:rPr lang="ko-KR" altLang="en-US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한계세율</a:t>
                </a:r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30000"/>
                  </a:lnSpc>
                  <a:spcAft>
                    <a:spcPts val="7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선형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(linear)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세율구조를 가정했을 때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기초수당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한계세율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정해지면 보조금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다음과 같이 결정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ko-KR" sz="2000" b="1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𝒕𝑬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(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단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스스로 벌어들인 소득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              </a:t>
                </a:r>
              </a:p>
              <a:p>
                <a:pPr marL="444500" lvl="1">
                  <a:lnSpc>
                    <a:spcPct val="130000"/>
                  </a:lnSpc>
                  <a:spcAft>
                    <a:spcPts val="7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기초수당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한계세율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결정되면 혜택이 중단되는 점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다음과 같이 결정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num>
                      <m:den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den>
                    </m:f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3606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342900" lvl="1" indent="0">
                  <a:spcAft>
                    <a:spcPts val="500"/>
                  </a:spcAft>
                  <a:buNone/>
                </a:pP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266700" indent="-266700">
                  <a:spcAft>
                    <a:spcPts val="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처분가능소득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스스로 번 소득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사이의 관계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spcAft>
                    <a:spcPts val="500"/>
                  </a:spcAft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spcAft>
                    <a:spcPts val="500"/>
                  </a:spcAft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spcAft>
                    <a:spcPts val="500"/>
                  </a:spcAft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spcAft>
                    <a:spcPts val="500"/>
                  </a:spcAft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spcAft>
                    <a:spcPts val="500"/>
                  </a:spcAft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spcAft>
                    <a:spcPts val="500"/>
                  </a:spcAft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spcAft>
                    <a:spcPts val="500"/>
                  </a:spcAft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spcAft>
                    <a:spcPts val="500"/>
                  </a:spcAft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spcAft>
                    <a:spcPts val="500"/>
                  </a:spcAft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spcAft>
                    <a:spcPts val="500"/>
                  </a:spcAft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spcAft>
                    <a:spcPts val="500"/>
                  </a:spcAft>
                  <a:buNone/>
                </a:pP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FF93661-4DFB-4599-9F66-EC15255DA6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3085" y="2241053"/>
            <a:ext cx="7377829" cy="397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086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기초수당과 한계세율의 선택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소득세제가 갖는 재분배효과는 기초수당이 클수록 더 커짐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한계세율이 거의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100%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가까우면 스스로 번 돈이 늘어날 때 이와 거의 비슷한 크기로 정부의 지급액이 줄어들게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부의 소득세제의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이를 시행하는 데 엄청난 재정 부담이 따름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기준보다 약간 더 많은 소득을 벌고 있는 사람들의 근로의욕에       악영향을 끼칠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막대한 예산을 들여 소득을 재분배한다고 해서 실제로 사회의 상황이 얼마나 개선될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 있을까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7503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근로장려세제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2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근로장려세제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소득이 적어 생활이 어려운 근로자가구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근로빈곤층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대하여 생계 안정과 근로유인 제공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주요국의 근로장려세제 시행 상황</a:t>
            </a:r>
          </a:p>
          <a:p>
            <a:pPr marL="444500" lvl="1"/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미국은 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‘EITC’(earned </a:t>
            </a:r>
            <a:r>
              <a:rPr lang="en-US" altLang="ko-KR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ncome </a:t>
            </a:r>
            <a:r>
              <a:rPr lang="en-US" altLang="ko-KR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ax </a:t>
            </a:r>
            <a:r>
              <a:rPr lang="en-US" altLang="ko-KR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redit)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라는 이름으로 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1975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년부터 시행</a:t>
            </a:r>
            <a:endParaRPr lang="en-US" altLang="ko-KR" sz="2000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프랑스는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2002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‘PPE’(prime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p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our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l'emploi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라는 이름으로 시행</a:t>
            </a: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영국은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2003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‘WTC’(working tax credit)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라는 이름으로 시행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캐나다가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2007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년부터 시행한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WITB(working income tax benefit)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 비슷한 성격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824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근로장려세제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근로장려세제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가구의 구성원에 따라 근로장려금의 지원 혜택을 달리 운영하고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근로장려금의 혜택을 누릴 수 있는 근로소득 요건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4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배우자와 자녀가 없는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 이상의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단독가구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2,200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 미만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4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 중 한 명만 일하는 가구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3,200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 미만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40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부부가 모두 일하는 가구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,400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 미만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부부 합산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5979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근로장려세제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4754563"/>
          </a:xfrm>
        </p:spPr>
        <p:txBody>
          <a:bodyPr anchor="ctr">
            <a:noAutofit/>
          </a:bodyPr>
          <a:lstStyle/>
          <a:p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D4BBD4-0443-6ED1-61C4-737DF2CDD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735933"/>
            <a:ext cx="7780692" cy="427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3543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근로장려세제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17838" y="1784352"/>
                <a:ext cx="7886700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근로의욕을 촉진한다는 측면에서 보면 앞서 본 공공부조 프로그램보다 근로장려세제가 더 낫다고 볼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endParaRPr lang="en-US" altLang="ko-KR" sz="500" i="1" dirty="0">
                  <a:latin typeface="Cambria Math" panose="02040503050406030204" pitchFamily="18" charset="0"/>
                </a:endParaRPr>
              </a:p>
              <a:p>
                <a:pPr marL="266700" indent="-266700">
                  <a:lnSpc>
                    <a:spcPct val="11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acc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 최저생계비를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보장해 주는 공공부조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프로그램 도입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예산제약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붉은색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선분으로 바뀜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선택점의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이동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노동공급량의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𝑳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∗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𝑩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 ⇒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𝟎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273050" lvl="1" indent="0">
                  <a:lnSpc>
                    <a:spcPct val="110000"/>
                  </a:lnSpc>
                  <a:buNone/>
                </a:pP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7838" y="1784352"/>
                <a:ext cx="7886700" cy="4754563"/>
              </a:xfrm>
              <a:blipFill>
                <a:blip r:embed="rId2"/>
                <a:stretch>
                  <a:fillRect l="-696" t="-2051" r="-3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 descr="라인, 도표, 그래프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CDA399-CF9D-C096-277B-B6573E9891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600" y="2908300"/>
            <a:ext cx="5314950" cy="326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5187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근로장려세제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600199"/>
                <a:ext cx="8365721" cy="4756154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근로장려세제 도입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예산제약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푸른색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선분으로 바뀜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선택점의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이동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𝑬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노동공급량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en-US" altLang="ko-KR" b="1" i="1" dirty="0">
                  <a:latin typeface="Cambria Math" panose="02040503050406030204" pitchFamily="18" charset="0"/>
                </a:endParaRPr>
              </a:p>
              <a:p>
                <a:pPr marL="273050" lvl="1" indent="0">
                  <a:lnSpc>
                    <a:spcPct val="110000"/>
                  </a:lnSpc>
                  <a:buNone/>
                </a:pPr>
                <a:r>
                  <a:rPr lang="en-US" altLang="ko-KR" i="1" dirty="0">
                    <a:latin typeface="Cambria Math" panose="02040503050406030204" pitchFamily="18" charset="0"/>
                  </a:rPr>
                  <a:t>   </a:t>
                </a:r>
                <a:r>
                  <a:rPr lang="en-US" altLang="ko-KR" dirty="0"/>
                  <a:t>⇒</a:t>
                </a:r>
                <a:r>
                  <a:rPr lang="en-US" altLang="ko-KR" i="1" dirty="0"/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선분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</m:ctrlPr>
                      </m:acc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나눔고딕" panose="020D0604000000000000" pitchFamily="50" charset="-127"/>
                          </a:rPr>
                          <m:t>𝑳</m:t>
                        </m:r>
                      </m:e>
                    </m:acc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𝑩</m:t>
                    </m:r>
                  </m:oMath>
                </a14:m>
                <a:endParaRPr lang="en-US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3050" lvl="1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0" b="1" i="1" smtClean="0">
                          <a:latin typeface="Cambria Math" panose="02040503050406030204" pitchFamily="18" charset="0"/>
                        </a:rPr>
                        <m:t>→</m:t>
                      </m:r>
                      <m:acc>
                        <m:accPr>
                          <m:chr m:val="̅"/>
                          <m:ctrlPr>
                            <a:rPr lang="en-US" altLang="ko-KR" sz="1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̂"/>
                              <m:ctrlPr>
                                <a:rPr lang="en-US" altLang="ko-KR" sz="1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00" b="1" i="1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</m:acc>
                          <m:r>
                            <a:rPr lang="en-US" altLang="ko-KR" sz="1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acc>
                    </m:oMath>
                  </m:oMathPara>
                </a14:m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소비자의 선택에 따라 근로장려세제가 노동공급에 미치는 영향 달라짐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lnSpc>
                    <a:spcPct val="110000"/>
                  </a:lnSpc>
                  <a:spcBef>
                    <a:spcPts val="750"/>
                  </a:spcBef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근로장려세제 아래서 노동량이 줄어드나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공공부조 프로그램의 경우보다는 그 감소폭이 더 작음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600199"/>
                <a:ext cx="8365721" cy="4756154"/>
              </a:xfrm>
              <a:blipFill>
                <a:blip r:embed="rId2"/>
                <a:stretch>
                  <a:fillRect l="-656" r="-437" b="-1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B5C794C-B663-4B42-BEC1-A1D3E12B8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90717" y="1735438"/>
            <a:ext cx="5248665" cy="29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630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근로장려세제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에이사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호인스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Eissa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H.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Hoynes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자료로부터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EITC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노동시간을 별로 감소시키지 않았음을 보임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근로자들이 노동시간을 자유로이 선택할 수 없는 상황에  처해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근로자들이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EITC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구조에 대해 잘 모르기 때문에 선택을 바꾸지    않았다는 것도 또 다른 이유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근로장려세제는 국민기초생활보장제도와 같은 공공부조정책의 근로 의욕 감퇴효과에 대한 보완책으로 도입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근로장려세제가 노동공급에 미치는 영향을 현실성 있게 분석하기   위해서는 국민기초생활보장제도와의 상대적 맥락에서 문제에        접근해야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57783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기본소득제도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최근 우리나라에서는 기본소득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(universal basic income)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대한 논의 활성화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기본소득제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소득이나 재산이 많고 적음에 상관없이 모든 사람들에게 일정한 금액의 소득을 보장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사회에 속한 모든 사람들을 차별 없이 지원한다는 점에서 일반적인 공공부조 프로그램과 구별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93313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기본소득제도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70620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기본소득제는 사람들을 차별하지 않고 모두가 어느 정도의 생활을 누릴 수 있도록 보장한다는 점에서 긍정적인 명분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	</a:t>
            </a:r>
          </a:p>
          <a:p>
            <a:pPr lvl="1">
              <a:spcAft>
                <a:spcPts val="2000"/>
              </a:spcAft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복지의 사각지대를 해소하는 것은 생산성 향상에 기여할 수도 있음</a:t>
            </a:r>
          </a:p>
          <a:p>
            <a:pPr marL="266700" indent="-2667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근로의욕을 낮추고 많은 재원을 마련하기가 어렵다는 점에서 반대 의견도 만만치 않음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2000"/>
              </a:spcAft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복지프로그램에 사용되는 재원을 끌어오는 것이나 증세를 통한 재원 마련 모두 어려운 일임</a:t>
            </a:r>
          </a:p>
          <a:p>
            <a:pPr marL="266700" indent="-266700"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어느 수준의 소득을 보장해 주어야 하며 이를 위한 재원은 어떻게 마련할 것인지에 대한 면밀한 검토 필요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6312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9.3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빈곤선의 결정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12183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공공부조 프로그램으로 대표되는 정부의 빈곤정책은 우선 어떤 사람에게 이 정책의 초점을 맞추어야 할 것인가를 결정하는 것으로부터 출발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하나의 소득수준을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빈곤선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(poverty line)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책정해 놓고 어떤 사람의 소득이 이 수준에 미치지 못하면 빈곤한 사람으로 간주하는 것이 일반적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빈곤선을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어떤 소득수준에 설정해야 하는가는 어려운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38324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265969" cy="4754563"/>
          </a:xfrm>
        </p:spPr>
        <p:txBody>
          <a:bodyPr anchor="ctr">
            <a:noAutofit/>
          </a:bodyPr>
          <a:lstStyle/>
          <a:p>
            <a:pPr>
              <a:lnSpc>
                <a:spcPct val="140000"/>
              </a:lnSpc>
              <a:spcAft>
                <a:spcPts val="700"/>
              </a:spcAft>
            </a:pP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라운트리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(Rowntree)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lnSpc>
                <a:spcPct val="140000"/>
              </a:lnSpc>
              <a:spcAft>
                <a:spcPts val="7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라운트리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(S. Rowntree) : 1899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영국의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요크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(York)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지역의 주민을 대상으로 최저의 생활을 하기에 필요한 소득의 수준이 얼마인지 조사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4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이후 많은 사람들이 이처럼 사람이 생활하는 데 필요한 최소한의 의식주라는 기본적인 관점에서 빈곤선을 산출해 왔음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40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라운트리방식은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절대적이고 객관적인 기준에 의해 빈곤을 파악하고 있다는 특징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절대적이며 객관적인 기준</a:t>
            </a:r>
          </a:p>
        </p:txBody>
      </p:sp>
    </p:spTree>
    <p:extLst>
      <p:ext uri="{BB962C8B-B14F-4D97-AF65-F5344CB8AC3E}">
        <p14:creationId xmlns:p14="http://schemas.microsoft.com/office/powerpoint/2010/main" val="2796088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49838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라운트리 방식의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tabLst>
                <a:tab pos="7239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기본적 필요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(basic needs)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라는 것이 구체적으로 무엇을 의미하는지가 분명하지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tabLst>
                <a:tab pos="7239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무엇이 사회적 생존을 위한 최소한의 자원인지를 구체적으로 알아내는 것은 무척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 사례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사회보장청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식품 관련 최저생계비는 비교적 쉽게 산출될 수 있다는 점에 착안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식품과 관련된 최저생계비를 구한 후 이 금액에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곱한 금액을 최저생계비로 잡고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이란 숫자를 곱한 배경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일반적인 저소득층이 전 지출의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1/3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정도를 식품구입에 사용하고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절대적이며 객관적인 기준</a:t>
            </a:r>
          </a:p>
        </p:txBody>
      </p:sp>
    </p:spTree>
    <p:extLst>
      <p:ext uri="{BB962C8B-B14F-4D97-AF65-F5344CB8AC3E}">
        <p14:creationId xmlns:p14="http://schemas.microsoft.com/office/powerpoint/2010/main" val="7160230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빈곤을 상대적인 것으로서 파악해야 한다는 입장에서 본다면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사회의 평균적인 생활수준과 관련해 빈곤을 정의해야 한다는 생각을 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구체적인 방법의 예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평균소득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(mean income)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혹은 중위소득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(median income)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일정비율을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빈곤선으로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잡는 것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소득이 큰 사람부터 순서대로 배열한 다음 가장 작은 소득을 가진 몇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%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사람을 빈곤층으로 간주하는 것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상대적이며 객관적인 기준</a:t>
            </a:r>
          </a:p>
        </p:txBody>
      </p:sp>
    </p:spTree>
    <p:extLst>
      <p:ext uri="{BB962C8B-B14F-4D97-AF65-F5344CB8AC3E}">
        <p14:creationId xmlns:p14="http://schemas.microsoft.com/office/powerpoint/2010/main" val="42172448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37615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사람들의 주관적인 평가를 기초로 하여 빈곤을 정의할 수도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방법은 빈곤한 생활에 대한 사람들의 직접적이고 구체적인 느낌이 반영된다는 장점 보유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라이덴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(Leyden)</a:t>
            </a:r>
            <a:r>
              <a:rPr lang="ko-KR" altLang="en-US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방식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설문조사의 결과에 입각해 빈곤선 측정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자적 소견을 묻는 경우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당신이 사는 지역에서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 가족이 근근이 살아가기에 필요한 최소한의 소득은 얼마입니까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사람들에게 자신의 여건에 입각해 자신에게 필요한 최소한의 소득이 얼마냐고 묻는 방식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주관적인 기준</a:t>
            </a:r>
          </a:p>
        </p:txBody>
      </p:sp>
    </p:spTree>
    <p:extLst>
      <p:ext uri="{BB962C8B-B14F-4D97-AF65-F5344CB8AC3E}">
        <p14:creationId xmlns:p14="http://schemas.microsoft.com/office/powerpoint/2010/main" val="3935808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정책적인 빈곤선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93124" y="1422402"/>
            <a:ext cx="7886700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사회의 전반적인 경제적 능력과 빈곤을 퇴치하려는 의지라는 두 요소에 기초한 정책적 판단에 의해 빈곤선 선택  </a:t>
            </a:r>
            <a:r>
              <a:rPr lang="ko-KR" altLang="en-US" dirty="0"/>
              <a:t>⇒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정책적 빈곤선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"/>
              </a:spcAft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빈곤선을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설정하는 과정에서 핵심적인 역할을 하는 것은 정책담당자의 판단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"/>
              </a:spcAft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우리나라를 포함한 대부분의 나라에서 설정되어 있는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공식빈곤선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(official poverty line)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이 관점에서 선택된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"/>
              </a:spcAft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공식빈곤선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기초생활보장제도 적용의 기준이 되는 기준 중위소득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"/>
              </a:spcAft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현재 우리나라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 가구의 기준소득은 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이것이 합리적 빈곤선인지는 의문의 여지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29451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9.4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재분배정책과 효율성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재분배정책이 갖는 가장 심각한 문제 중의 하나로 지적되고 있는 것은 이로 인한 효율성의 상실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오컨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Okun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구멍 뚫린 물 양동이의 비유를 들어 이 관계 설명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tabLst>
                <a:tab pos="444500" algn="l"/>
              </a:tabLst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항상 물이 넘치는 부자의 샘에서 양동이로 물을 퍼     말라 있는 빈자의 샘으로 옮겨주는 역할에 비유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tabLst>
                <a:tab pos="444500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양동이에 구멍이 뚫려 있어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부자에게서 거두어진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원이 막상     가난한 사람의 수중에 들어갈 때는 예컨대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70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원이나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80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원으로      줄어들게 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⇒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효율성의 상실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8673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재분배정책과 효율성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73483" cy="4754563"/>
          </a:xfrm>
        </p:spPr>
        <p:txBody>
          <a:bodyPr anchor="ctr">
            <a:noAutofit/>
          </a:bodyPr>
          <a:lstStyle/>
          <a:p>
            <a:pPr marL="266700" lvl="1" indent="-266700">
              <a:lnSpc>
                <a:spcPct val="110000"/>
              </a:lnSpc>
              <a:spcBef>
                <a:spcPts val="75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공평한 분배를 지향하는 정부의 모든 정책이 효율성의 저하를 가져오는 것은 아님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재분배 정책을 펴느냐에 따라 공평성뿐 아니라 효율성의 측면에서도 좋은 효과를 낼 수 있음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1500"/>
              </a:spcAft>
            </a:pPr>
            <a:r>
              <a:rPr lang="ko-KR" altLang="en-US" spc="-3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블라인더</a:t>
            </a: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Blinder) :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경제안정정책</a:t>
            </a: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무역정책</a:t>
            </a:r>
            <a:r>
              <a:rPr lang="en-US" altLang="ko-KR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3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환경정책 등은 가난한 사람들에게 도움을 주면서 효율성을 높일 수 있는 여지가 있음을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장기적으로 보아 효율성과 공평성은 반드시 상충되지 않고 오히려 보완적일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(L.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Thurow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장기적 발전에 필수적인 동기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협동심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팀워크 등은 분배가 공평해야 최대한으로 발휘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16680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재분배정책과 효율성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73483" cy="4754563"/>
          </a:xfrm>
        </p:spPr>
        <p:txBody>
          <a:bodyPr anchor="ctr">
            <a:noAutofit/>
          </a:bodyPr>
          <a:lstStyle/>
          <a:p>
            <a:pPr marL="266700" lvl="1" indent="-266700">
              <a:lnSpc>
                <a:spcPct val="110000"/>
              </a:lnSpc>
              <a:spcBef>
                <a:spcPts val="75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최근 우리 사회의 성장과 분배 중 무엇을 우선해야 하는가에 대한 논쟁은 효율성과 공평성이 상충한다는 것을 암묵적으로 전제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5800" lvl="2" indent="-342900">
              <a:lnSpc>
                <a:spcPct val="110000"/>
              </a:lnSpc>
              <a:spcBef>
                <a:spcPts val="75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루카스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Lucas)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건전한 경제학에 해로운 여러 경향들 중 가장  매력적이나 내 생각에 가장 해로운 것은 분배문제에 관심의 초점을 맞추는 일이라고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lvl="1" indent="-266700">
              <a:lnSpc>
                <a:spcPct val="110000"/>
              </a:lnSpc>
              <a:spcBef>
                <a:spcPts val="75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최근의 연구 결과들은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성장과 분배의 문제를 상충적 시각에서 보는 것은 바람직하지 않다는 것을 보여줌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5800" lvl="2" indent="-342900">
              <a:lnSpc>
                <a:spcPct val="110000"/>
              </a:lnSpc>
              <a:spcBef>
                <a:spcPts val="75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오스트리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Ostry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등의 저서 </a:t>
            </a:r>
            <a:r>
              <a:rPr lang="en-US" altLang="ko-KR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Confronting Inequality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lvl="1" indent="-266700">
              <a:lnSpc>
                <a:spcPct val="110000"/>
              </a:lnSpc>
              <a:spcBef>
                <a:spcPts val="75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공평성과 효율성이 상충한다는 견해보다는 효율성에 미치는 나쁜 영향을 최소화하는 합리적 재분배정책을 찾아보는 유연하고 적극적인 태도를 갖는 것이 바람직함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재분배정책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6085307"/>
      </p:ext>
    </p:extLst>
  </p:cSld>
  <p:clrMapOvr>
    <a:masterClrMapping/>
  </p:clrMapOvr>
</p:sld>
</file>

<file path=ppt/theme/theme1.xml><?xml version="1.0" encoding="utf-8"?>
<a:theme xmlns:a="http://schemas.openxmlformats.org/drawingml/2006/main" name="재정학테마">
  <a:themeElements>
    <a:clrScheme name="사용자 지정 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재정학테마" id="{D220411F-458E-4BEF-9391-46AA3D35AAC4}" vid="{007A1872-AD0C-400C-B34D-A147BE5B3EC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재정학테마</Template>
  <TotalTime>4389</TotalTime>
  <Words>2452</Words>
  <Application>Microsoft Office PowerPoint</Application>
  <PresentationFormat>화면 슬라이드 쇼(4:3)</PresentationFormat>
  <Paragraphs>368</Paragraphs>
  <Slides>37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7" baseType="lpstr">
      <vt:lpstr>굴림</vt:lpstr>
      <vt:lpstr>나눔고딕</vt:lpstr>
      <vt:lpstr>나눔고딕 ExtraBold</vt:lpstr>
      <vt:lpstr>맑은 고딕</vt:lpstr>
      <vt:lpstr>바탕</vt:lpstr>
      <vt:lpstr>새굴림</vt:lpstr>
      <vt:lpstr>Arial</vt:lpstr>
      <vt:lpstr>Cambria Math</vt:lpstr>
      <vt:lpstr>Wingdings</vt:lpstr>
      <vt:lpstr>재정학테마</vt:lpstr>
      <vt:lpstr>PowerPoint 프레젠테이션</vt:lpstr>
      <vt:lpstr>9.1  재분배정책에 대한 찬반의견</vt:lpstr>
      <vt:lpstr>반대의 논리</vt:lpstr>
      <vt:lpstr>반대의 논리</vt:lpstr>
      <vt:lpstr>찬성의 논리</vt:lpstr>
      <vt:lpstr>찬성의 논리</vt:lpstr>
      <vt:lpstr>9.2  재분배정책의 실례</vt:lpstr>
      <vt:lpstr>일반적 조세제도</vt:lpstr>
      <vt:lpstr>사회복지제도 : 사회보험</vt:lpstr>
      <vt:lpstr>사회복지제도 : 사회보험</vt:lpstr>
      <vt:lpstr>사회복지제도 : 사회보험</vt:lpstr>
      <vt:lpstr>사회복지제도 : 공공부조</vt:lpstr>
      <vt:lpstr>사회복지제도 : 공공부조</vt:lpstr>
      <vt:lpstr>사회복지제도 : 공공부조</vt:lpstr>
      <vt:lpstr>사회복지제도 : 공공부조</vt:lpstr>
      <vt:lpstr>부의 소득세제</vt:lpstr>
      <vt:lpstr>부의 소득세제</vt:lpstr>
      <vt:lpstr>부의 소득세제</vt:lpstr>
      <vt:lpstr>부의 소득세제</vt:lpstr>
      <vt:lpstr>부의 소득세제</vt:lpstr>
      <vt:lpstr>근로장려세제</vt:lpstr>
      <vt:lpstr>근로장려세제</vt:lpstr>
      <vt:lpstr>근로장려세제</vt:lpstr>
      <vt:lpstr>근로장려세제</vt:lpstr>
      <vt:lpstr>근로장려세제</vt:lpstr>
      <vt:lpstr>근로장려세제</vt:lpstr>
      <vt:lpstr>기본소득제도</vt:lpstr>
      <vt:lpstr>기본소득제도</vt:lpstr>
      <vt:lpstr>9.3  빈곤선의 결정</vt:lpstr>
      <vt:lpstr>절대적이며 객관적인 기준</vt:lpstr>
      <vt:lpstr>절대적이며 객관적인 기준</vt:lpstr>
      <vt:lpstr>상대적이며 객관적인 기준</vt:lpstr>
      <vt:lpstr>주관적인 기준</vt:lpstr>
      <vt:lpstr>정책적인 빈곤선</vt:lpstr>
      <vt:lpstr>9.4  재분배정책과 효율성</vt:lpstr>
      <vt:lpstr>재분배정책과 효율성</vt:lpstr>
      <vt:lpstr>재분배정책과 효율성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990</cp:revision>
  <dcterms:created xsi:type="dcterms:W3CDTF">2015-08-04T05:38:00Z</dcterms:created>
  <dcterms:modified xsi:type="dcterms:W3CDTF">2026-01-13T02:06:17Z</dcterms:modified>
</cp:coreProperties>
</file>