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37"/>
  </p:notesMasterIdLst>
  <p:handoutMasterIdLst>
    <p:handoutMasterId r:id="rId38"/>
  </p:handoutMasterIdLst>
  <p:sldIdLst>
    <p:sldId id="337" r:id="rId2"/>
    <p:sldId id="298" r:id="rId3"/>
    <p:sldId id="301" r:id="rId4"/>
    <p:sldId id="302" r:id="rId5"/>
    <p:sldId id="303" r:id="rId6"/>
    <p:sldId id="304" r:id="rId7"/>
    <p:sldId id="306" r:id="rId8"/>
    <p:sldId id="307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5" r:id="rId25"/>
    <p:sldId id="326" r:id="rId26"/>
    <p:sldId id="327" r:id="rId27"/>
    <p:sldId id="328" r:id="rId28"/>
    <p:sldId id="329" r:id="rId29"/>
    <p:sldId id="331" r:id="rId30"/>
    <p:sldId id="330" r:id="rId31"/>
    <p:sldId id="332" r:id="rId32"/>
    <p:sldId id="333" r:id="rId33"/>
    <p:sldId id="334" r:id="rId34"/>
    <p:sldId id="335" r:id="rId35"/>
    <p:sldId id="336" r:id="rId3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6B73"/>
    <a:srgbClr val="6D9AC3"/>
    <a:srgbClr val="A6C9E8"/>
    <a:srgbClr val="FEFBF0"/>
    <a:srgbClr val="FDF4D1"/>
    <a:srgbClr val="FDF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12B30-E9C4-4961-91E6-C7D302AA7C8C}" v="22" dt="2026-01-08T02:12:21.4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07" autoAdjust="0"/>
    <p:restoredTop sz="96429" autoAdjust="0"/>
  </p:normalViewPr>
  <p:slideViewPr>
    <p:cSldViewPr snapToGrid="0">
      <p:cViewPr varScale="1">
        <p:scale>
          <a:sx n="147" d="100"/>
          <a:sy n="147" d="100"/>
        </p:scale>
        <p:origin x="2760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3T00:36:49.901" v="151" actId="20577"/>
      <pc:docMkLst>
        <pc:docMk/>
      </pc:docMkLst>
      <pc:sldChg chg="modSp mod">
        <pc:chgData name="영완 전" userId="94a232b962f42e62" providerId="LiveId" clId="{862E7F7D-119D-4717-AD52-91020921814B}" dt="2026-01-12T05:04:45.947" v="60" actId="14100"/>
        <pc:sldMkLst>
          <pc:docMk/>
          <pc:sldMk cId="1712747563" sldId="298"/>
        </pc:sldMkLst>
        <pc:spChg chg="mod">
          <ac:chgData name="영완 전" userId="94a232b962f42e62" providerId="LiveId" clId="{862E7F7D-119D-4717-AD52-91020921814B}" dt="2026-01-12T05:04:45.947" v="60" actId="14100"/>
          <ac:spMkLst>
            <pc:docMk/>
            <pc:sldMk cId="1712747563" sldId="29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32:53.959" v="78" actId="14100"/>
        <pc:sldMkLst>
          <pc:docMk/>
          <pc:sldMk cId="1452068938" sldId="302"/>
        </pc:sldMkLst>
        <pc:spChg chg="mod">
          <ac:chgData name="영완 전" userId="94a232b962f42e62" providerId="LiveId" clId="{862E7F7D-119D-4717-AD52-91020921814B}" dt="2026-01-13T00:32:53.959" v="78" actId="14100"/>
          <ac:spMkLst>
            <pc:docMk/>
            <pc:sldMk cId="1452068938" sldId="30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2:58:07.777" v="0" actId="20577"/>
        <pc:sldMkLst>
          <pc:docMk/>
          <pc:sldMk cId="2628305821" sldId="303"/>
        </pc:sldMkLst>
        <pc:spChg chg="mod">
          <ac:chgData name="영완 전" userId="94a232b962f42e62" providerId="LiveId" clId="{862E7F7D-119D-4717-AD52-91020921814B}" dt="2026-01-07T02:58:07.777" v="0" actId="20577"/>
          <ac:spMkLst>
            <pc:docMk/>
            <pc:sldMk cId="2628305821" sldId="30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2:12:21.460" v="56"/>
        <pc:sldMkLst>
          <pc:docMk/>
          <pc:sldMk cId="901644049" sldId="306"/>
        </pc:sldMkLst>
        <pc:spChg chg="mod">
          <ac:chgData name="영완 전" userId="94a232b962f42e62" providerId="LiveId" clId="{862E7F7D-119D-4717-AD52-91020921814B}" dt="2026-01-08T02:12:21.460" v="56"/>
          <ac:spMkLst>
            <pc:docMk/>
            <pc:sldMk cId="901644049" sldId="30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05:49.358" v="65" actId="20577"/>
        <pc:sldMkLst>
          <pc:docMk/>
          <pc:sldMk cId="2383572797" sldId="307"/>
        </pc:sldMkLst>
        <pc:spChg chg="mod">
          <ac:chgData name="영완 전" userId="94a232b962f42e62" providerId="LiveId" clId="{862E7F7D-119D-4717-AD52-91020921814B}" dt="2026-01-12T05:05:49.358" v="65" actId="20577"/>
          <ac:spMkLst>
            <pc:docMk/>
            <pc:sldMk cId="2383572797" sldId="30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2:59:54.286" v="5" actId="20577"/>
        <pc:sldMkLst>
          <pc:docMk/>
          <pc:sldMk cId="3280386023" sldId="309"/>
        </pc:sldMkLst>
        <pc:spChg chg="mod">
          <ac:chgData name="영완 전" userId="94a232b962f42e62" providerId="LiveId" clId="{862E7F7D-119D-4717-AD52-91020921814B}" dt="2026-01-07T02:59:54.286" v="5" actId="20577"/>
          <ac:spMkLst>
            <pc:docMk/>
            <pc:sldMk cId="3280386023" sldId="30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3:02:08.322" v="13" actId="313"/>
        <pc:sldMkLst>
          <pc:docMk/>
          <pc:sldMk cId="846392622" sldId="315"/>
        </pc:sldMkLst>
        <pc:spChg chg="mod">
          <ac:chgData name="영완 전" userId="94a232b962f42e62" providerId="LiveId" clId="{862E7F7D-119D-4717-AD52-91020921814B}" dt="2026-01-07T03:02:08.322" v="13" actId="313"/>
          <ac:spMkLst>
            <pc:docMk/>
            <pc:sldMk cId="846392622" sldId="31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10:19.898" v="70" actId="14100"/>
        <pc:sldMkLst>
          <pc:docMk/>
          <pc:sldMk cId="1975982757" sldId="316"/>
        </pc:sldMkLst>
        <pc:spChg chg="mod">
          <ac:chgData name="영완 전" userId="94a232b962f42e62" providerId="LiveId" clId="{862E7F7D-119D-4717-AD52-91020921814B}" dt="2026-01-12T05:10:19.898" v="70" actId="14100"/>
          <ac:spMkLst>
            <pc:docMk/>
            <pc:sldMk cId="1975982757" sldId="31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34:03.138" v="81" actId="20577"/>
        <pc:sldMkLst>
          <pc:docMk/>
          <pc:sldMk cId="2145397141" sldId="323"/>
        </pc:sldMkLst>
        <pc:spChg chg="mod">
          <ac:chgData name="영완 전" userId="94a232b962f42e62" providerId="LiveId" clId="{862E7F7D-119D-4717-AD52-91020921814B}" dt="2026-01-13T00:34:03.138" v="81" actId="20577"/>
          <ac:spMkLst>
            <pc:docMk/>
            <pc:sldMk cId="2145397141" sldId="32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4:56:59.196" v="38" actId="20577"/>
        <pc:sldMkLst>
          <pc:docMk/>
          <pc:sldMk cId="1634535118" sldId="327"/>
        </pc:sldMkLst>
        <pc:spChg chg="mod">
          <ac:chgData name="영완 전" userId="94a232b962f42e62" providerId="LiveId" clId="{862E7F7D-119D-4717-AD52-91020921814B}" dt="2026-01-07T04:56:59.196" v="38" actId="20577"/>
          <ac:spMkLst>
            <pc:docMk/>
            <pc:sldMk cId="1634535118" sldId="32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4:57:56.109" v="54" actId="20577"/>
        <pc:sldMkLst>
          <pc:docMk/>
          <pc:sldMk cId="987260856" sldId="330"/>
        </pc:sldMkLst>
        <pc:spChg chg="mod">
          <ac:chgData name="영완 전" userId="94a232b962f42e62" providerId="LiveId" clId="{862E7F7D-119D-4717-AD52-91020921814B}" dt="2026-01-07T04:57:56.109" v="54" actId="20577"/>
          <ac:spMkLst>
            <pc:docMk/>
            <pc:sldMk cId="987260856" sldId="33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34:29.356" v="93" actId="20577"/>
        <pc:sldMkLst>
          <pc:docMk/>
          <pc:sldMk cId="4032542822" sldId="331"/>
        </pc:sldMkLst>
        <pc:spChg chg="mod">
          <ac:chgData name="영완 전" userId="94a232b962f42e62" providerId="LiveId" clId="{862E7F7D-119D-4717-AD52-91020921814B}" dt="2026-01-13T00:34:29.356" v="93" actId="20577"/>
          <ac:spMkLst>
            <pc:docMk/>
            <pc:sldMk cId="4032542822" sldId="33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4:58:14.986" v="55" actId="20577"/>
        <pc:sldMkLst>
          <pc:docMk/>
          <pc:sldMk cId="1130476629" sldId="334"/>
        </pc:sldMkLst>
        <pc:spChg chg="mod">
          <ac:chgData name="영완 전" userId="94a232b962f42e62" providerId="LiveId" clId="{862E7F7D-119D-4717-AD52-91020921814B}" dt="2026-01-07T04:58:14.986" v="55" actId="20577"/>
          <ac:spMkLst>
            <pc:docMk/>
            <pc:sldMk cId="1130476629" sldId="33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0:36:49.901" v="151" actId="20577"/>
        <pc:sldMkLst>
          <pc:docMk/>
          <pc:sldMk cId="2983574720" sldId="336"/>
        </pc:sldMkLst>
        <pc:spChg chg="mod">
          <ac:chgData name="영완 전" userId="94a232b962f42e62" providerId="LiveId" clId="{862E7F7D-119D-4717-AD52-91020921814B}" dt="2026-01-13T00:36:49.901" v="151" actId="20577"/>
          <ac:spMkLst>
            <pc:docMk/>
            <pc:sldMk cId="2983574720" sldId="336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467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802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046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666571" y="2573901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3</a:t>
            </a:r>
            <a:r>
              <a:rPr lang="ko-KR" altLang="en-US"/>
              <a:t>장  후생경제학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387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DC73D5C-75FE-48ED-BB8F-43AD984788AB}"/>
              </a:ext>
            </a:extLst>
          </p:cNvPr>
          <p:cNvSpPr/>
          <p:nvPr userDrawn="1"/>
        </p:nvSpPr>
        <p:spPr>
          <a:xfrm>
            <a:off x="0" y="0"/>
            <a:ext cx="9144000" cy="1644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931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98B013E-ED00-8A3C-50CF-EBCCBC176C7B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8" name="화살표: 오각형 7">
              <a:extLst>
                <a:ext uri="{FF2B5EF4-FFF2-40B4-BE49-F238E27FC236}">
                  <a16:creationId xmlns:a16="http://schemas.microsoft.com/office/drawing/2014/main" id="{A3BBAD6E-594C-A671-11A8-D3EC6F9F2D6E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화살표: 갈매기형 수장 8">
              <a:extLst>
                <a:ext uri="{FF2B5EF4-FFF2-40B4-BE49-F238E27FC236}">
                  <a16:creationId xmlns:a16="http://schemas.microsoft.com/office/drawing/2014/main" id="{385ED31D-C228-7D4A-7EF0-441404539478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화살표: 갈매기형 수장 9">
              <a:extLst>
                <a:ext uri="{FF2B5EF4-FFF2-40B4-BE49-F238E27FC236}">
                  <a16:creationId xmlns:a16="http://schemas.microsoft.com/office/drawing/2014/main" id="{5ACF8DF9-06BC-B201-FB76-741E6C8D9618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>
              <a:defRPr sz="26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228600" marR="0" lvl="0" indent="-228600" algn="l" defTabSz="914400" rtl="0" eaLnBrk="1" fontAlgn="auto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마스터 텍스트 스타일을 편집합니다</a:t>
            </a:r>
          </a:p>
          <a:p>
            <a:pPr marL="685800" marR="0" lvl="1" indent="-228600" algn="l" defTabSz="914400" rtl="0" eaLnBrk="1" fontAlgn="auto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둘째 수준</a:t>
            </a:r>
          </a:p>
          <a:p>
            <a:pPr marL="1143000" marR="0" lvl="2" indent="-228600" algn="l" defTabSz="914400" rtl="0" eaLnBrk="1" fontAlgn="auto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셋째 수준</a:t>
            </a:r>
          </a:p>
          <a:p>
            <a:pPr marL="1600200" marR="0" lvl="3" indent="-228600" algn="l" defTabSz="914400" rtl="0" eaLnBrk="1" fontAlgn="auto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넷째 수준</a:t>
            </a:r>
          </a:p>
          <a:p>
            <a:pPr marL="2057400" marR="0" lvl="4" indent="-228600" algn="l" defTabSz="914400" rtl="0" eaLnBrk="1" fontAlgn="auto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다섯째 수준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rgbClr val="3F6B7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3F6B7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3</a:t>
            </a:r>
            <a:r>
              <a:rPr lang="ko-KR" altLang="en-US"/>
              <a:t>장  후생경제학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3F6B7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984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B4500A57-1468-ADE6-1F09-31DD89E64396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1" name="화살표: 오각형 10">
              <a:extLst>
                <a:ext uri="{FF2B5EF4-FFF2-40B4-BE49-F238E27FC236}">
                  <a16:creationId xmlns:a16="http://schemas.microsoft.com/office/drawing/2014/main" id="{01BA1C34-99BE-5A3D-B7E5-C81CD43036A8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7A61FC9D-E01E-CD49-9986-6F9656D1E207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화살표: 갈매기형 수장 12">
              <a:extLst>
                <a:ext uri="{FF2B5EF4-FFF2-40B4-BE49-F238E27FC236}">
                  <a16:creationId xmlns:a16="http://schemas.microsoft.com/office/drawing/2014/main" id="{A8357BCF-0915-C611-5057-809C039B889F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46445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3F6B7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3F6B7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3</a:t>
            </a:r>
            <a:r>
              <a:rPr lang="ko-KR" altLang="en-US"/>
              <a:t>장  후생경제학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3F6B7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1"/>
          <p:cNvSpPr txBox="1">
            <a:spLocks/>
          </p:cNvSpPr>
          <p:nvPr userDrawn="1"/>
        </p:nvSpPr>
        <p:spPr>
          <a:xfrm>
            <a:off x="2328332" y="541337"/>
            <a:ext cx="6187017" cy="7112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endParaRPr lang="ko-KR" altLang="en-US" sz="3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8086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4" r:id="rId2"/>
    <p:sldLayoutId id="2147483713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tx1"/>
          </a:solidFill>
          <a:effectLst/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9B712C2-A291-19FD-7E1B-0804BB5A0E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94F8529E-1BC1-F845-CD3A-403D5B0272EA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D0AD032-E9C6-2612-649F-3EC61D869A08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BE12C73-C4A1-8CB3-96A1-094EA6141C8F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4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8E4281B-1A62-1CF6-A453-34D14D3BB351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389120" y="1422401"/>
            <a:ext cx="5392923" cy="2006600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후생경제학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389120" y="3346752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3.1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후생 평가의 기준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3.2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자원배분의 효율성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3.3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시장의 실패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3.4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분배의 </a:t>
            </a:r>
            <a:r>
              <a:rPr lang="ko-KR" altLang="en-US" sz="1600" b="1" dirty="0" err="1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endParaRPr lang="ko-KR" altLang="en-US" sz="1600" b="1" dirty="0">
              <a:solidFill>
                <a:srgbClr val="2F2F2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3.5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3.6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사회후생함수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3.7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차선의 이론</a:t>
            </a:r>
          </a:p>
        </p:txBody>
      </p:sp>
    </p:spTree>
    <p:extLst>
      <p:ext uri="{BB962C8B-B14F-4D97-AF65-F5344CB8AC3E}">
        <p14:creationId xmlns:p14="http://schemas.microsoft.com/office/powerpoint/2010/main" val="1113221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3.2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자원배분의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112321" cy="4754563"/>
          </a:xfrm>
        </p:spPr>
        <p:txBody>
          <a:bodyPr>
            <a:no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파레토효율성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(Pareto efficiency)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하나의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 상태가 있다고 할 때 어느 누구에게도 손해가 가지 않으면서 어떤 사람에게는 이득이 되도록 하는 것이 불가능한 상태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파레토개선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(Pareto improvement)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자원배분 상태를 다른 상태로 변화시킬 때 손해를 보는 사람은 아무도 없으면서 이득을 얻는 사람이 생기게 만드는 변화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파레토효율성은 파레토개선이 일어날 수 없는 상태라고 말할 수도 있음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2747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자원배분의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효용가능경계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(utility possibility frontier)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주어진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자원으로 사람들이 최대한으로 얻을 수 있는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효용수준의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조합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F7D4EF-C89A-4464-869D-9D0666DBD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495" y="1612666"/>
            <a:ext cx="6097008" cy="344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완전경쟁과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73644" cy="4754563"/>
          </a:xfrm>
        </p:spPr>
        <p:txBody>
          <a:bodyPr>
            <a:noAutofit/>
          </a:bodyPr>
          <a:lstStyle/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후생경제학의 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정리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소비자의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선호체계가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강단조성을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갖고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외부성이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존재하지 않는다면 일반경쟁균형의 배분은 파레토효율적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후생경제학의 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정리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소비자의 선호체계가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볼록성을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가지면 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파레토효율적인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배분은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초기부존자원의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적절한 재배분을 통해 일반 경쟁균형으로 달성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효율적 자원배분이 분권적인 시장기구에 의해 달성될 수 있다는 점에서 중요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2068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3.3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실패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시장실패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(market failure)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시장에 의한 자원배분이라 할지라도 비효율적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원인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불완전경쟁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(public goods)</a:t>
            </a: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(externality)</a:t>
            </a: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불확실성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(uncertainty)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도덕적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해이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역선택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완비되지 못한 시장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57200" lvl="1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불완전한 정보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8305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원인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불완전경쟁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시장기구에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의한 자원배분이 효율적이라는 것은 완전경쟁이 전제되고 있는 상황에서만 타당성을 가짐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완전경쟁의 전제가 성립하지 않는다면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시장기구에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의한 자원배분이 효율적이라는 명제 역시 타당성을 잃게 되므로 불완전경쟁이 존재하고 있을 때 시장의 실패가 일어남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독과점은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보편적으로 존재하는 현상  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0170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원인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(public goods)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공원이나 도로같이 여러 사람의 공동 소비를 위해 생산된 재화나 서비스</a:t>
            </a:r>
          </a:p>
          <a:p>
            <a:pPr latinLnBrk="0">
              <a:spcBef>
                <a:spcPts val="1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특성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비경합성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(non-rivalry)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추가적으로 한 사람이 공공재를 더 소비한다 하더라도 다른 사람의 소비가능성이 줄어들지 않음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배제불가능성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(non-excludability)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대가를 치르지 않은 사람들을 소비에서 배제할 수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1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공공재의 특성 때문에 양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(+)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가격을 매기는 것이 불가능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시장기구가 공공재를 적절한 수준에서 생산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공급할 수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1644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원인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/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(externality)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사람의 행동이 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자에게 의도하지 않은 이득이나 손해를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가져다주는데도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이에 대한 대가를 지불하지도 않을 때 발생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이로운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대가를 받지 못하기 때문에 일반적으로 사회적 최적수준보다 더 적게 생산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해로운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외부성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대가를 치르지 않기 때문에 일반적으로 사회적 최적수준보다 더 많이 생산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3572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원인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불확실성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불확실성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(uncertainty)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개입하게 되면 일반경쟁균형이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파레토효율성을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가져다준다는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정리는 성립하지 않을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후생경제학의 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1, 2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정리는 모든 것이 확실하다는 가정을 전제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애로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(K. Arrow)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불확실성이 존재해도 모든 가능한 상황을 전부 포괄하는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완벽한 조건부거래시장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(perfect contingency market)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존재하면 시장의 실패가 일어나지 않음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역선택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(adverse selection)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도덕적 해이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(moral hazard)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때문에 완벽한 조건부거래시장 존재 어려움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0386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0000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z="32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원인 </a:t>
            </a:r>
            <a:r>
              <a:rPr lang="en-US" altLang="ko-KR" sz="32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완비되지 못한 시장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보험시장이나 자본시장 그 자체가 완전하게 갖춰져 있지 못해 비효율성 발생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천재지변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빈곤에 대한 보험 제공 어려움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⇒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개인들이 이와 관련된 위험에 노출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학자금 융자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중소기업 융자 등을 전담하는 자본시장 미비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보완적 시장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(complementary market)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부재로 인해 시장의 실패가 발생할 수도 있음 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32K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영상콘텐츠와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32K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모니터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8733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시장실패의 원인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불완전한 정보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개살구시장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(market for lemon)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모형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중고차시장에서 실제로 거래되는 차들은 겉보기만 그럴듯한 것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개살구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들만 거래됨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거래 양 당사자 중 한쪽이 정보를 갖지 못하는 비대칭 정보의 상황 때문에 이와 같은 시장의 실패 발생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보험시장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정보의 불완전성으로 인해 도덕적 해이와 역선택의 문제가 발생할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도덕적 해이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감추어진 행동으로 인해 나타나는 문제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역선택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감추어진 특성으로 인해 나타나는 문제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3746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시장실패와 정부 개입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실패가 일어날 경우 정부가 개입하여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시장기구의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부족한 점을 보완할 수 있음</a:t>
            </a: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개입은 나름대로 문제를 일으키기 때문에 신중하게 고려할 필요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개입은 민간부문의 자유로운 의사결정을 교란시키는 결과를 가져오므로 효율성에 나쁜 영향을 미침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초과부담 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0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정부의 실패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(government failure)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개입이 기대했던 효과를 내지 못하고 실패로 돌아가는 경우 자주 발생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9459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정부실패의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-23040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제한된 지식과 정보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정보가 제한되어 있는 상황에서는 정책의 영향에 대한 예측이 어렵고 정책의 효과도 떨어질 수밖에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spcBef>
                <a:spcPts val="3500"/>
              </a:spcBef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 반응의 통제 불가능성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기대했던 바와 다른 반응이 나타나면 그 정책은 의도한 효과를 거둘 수 없게 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3646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정부실패의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원인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latinLnBrk="0"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과정에서의 제약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타협을 모색하는 과정에서 변질된 정책이 채택될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latinLnBrk="0">
              <a:spcBef>
                <a:spcPts val="3500"/>
              </a:spcBef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관료조직에 대한 불완전한 통제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관료들이 공익보다 자신의 이익을 앞세우는 도덕적 해이 보일 가능성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3356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3.4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Bef>
                <a:spcPts val="3500"/>
              </a:spcBef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이란 여러 가지 요소를 포괄하는 복합적인 개념이며 주관적인 가치판단과 밀접한 관련을 맺고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500"/>
              </a:spcBef>
              <a:spcAft>
                <a:spcPts val="0"/>
              </a:spcAft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균등한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(equal)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분배가 공평한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(equitable)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라고 말하기는 힘들며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공평한 분배가 되기 위해서는 단지 똑같은 몫으로 나눠지는 것 이상의 요건이 충족되어야 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균등한 분배가 공평하다는 것을 인정한다 해도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완전히 균등한 분배가 정말로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공평한지에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대한 의문을 제기할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6392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분배의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공평한 분배의 요건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817632" cy="4754563"/>
          </a:xfrm>
        </p:spPr>
        <p:txBody>
          <a:bodyPr>
            <a:noAutofit/>
          </a:bodyPr>
          <a:lstStyle/>
          <a:p>
            <a:pPr marL="396000" indent="-432000" latinLnBrk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평등성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(equality)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재산과 소득이 사람들에게 고르게 나누어져야 함</a:t>
            </a:r>
          </a:p>
          <a:p>
            <a:pPr marL="396000" indent="-432000" latinLnBrk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정당한 권리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(rights)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 구성원 모두의 정당한 권리가 보장되어 있어야 함</a:t>
            </a:r>
          </a:p>
          <a:p>
            <a:pPr marL="396000" indent="-432000" latinLnBrk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공정성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(fairness)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일이 정해진 규칙에 따라 공정하게 이루어 져야 함</a:t>
            </a:r>
          </a:p>
          <a:p>
            <a:pPr marL="396000" indent="-432000" latinLnBrk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받을 만한 자격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(deserts)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분배상태가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각자의 자격에 상응하도록 결정되어야 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0"/>
              </a:spcBef>
              <a:spcAft>
                <a:spcPts val="0"/>
              </a:spcAft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위의 요건들 서로 충돌하여 어떤 것을 부득이 포기해야 하는 경우가 발생할 수도 있음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5982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공평성과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Bef>
                <a:spcPts val="20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자원배분의 효율성을 높이는 동시에 분배의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공평성까지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개선시킬 수 있는 정책의 예를 찾는 것은 어려움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0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경우에 효율성과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공평성이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서로 충돌하는 것은 아님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20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장기적 관점에서 볼 때는 공평성과 효율성이 상호보완적 관계에 있음을 발견할 가능성이 큼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4825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3.5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lnSpc>
                <a:spcPct val="140000"/>
              </a:lnSpc>
              <a:spcBef>
                <a:spcPts val="25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상태가 변화했을 때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변화가 개선인지의 여부를 평가하는 기준을 찾아내는 것은 후생경제학의 중요한 과제 중 하나</a:t>
            </a:r>
          </a:p>
          <a:p>
            <a:pPr latinLnBrk="0">
              <a:lnSpc>
                <a:spcPct val="140000"/>
              </a:lnSpc>
              <a:spcBef>
                <a:spcPts val="25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위해서는 개인간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효용비교가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이루어져야만 하지만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 사이의 효용을 객관적으로 비교할 방법을 찾는 것이 거의 불가능함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40000"/>
              </a:lnSpc>
              <a:spcBef>
                <a:spcPts val="2500"/>
              </a:spcBef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(compensation principle)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직접적으로 개인간 효용을 비교하지 않고서도 어떤 변화가 개선인지의 여부를 평가할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0841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파레토기준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lnSpc>
                <a:spcPct val="140000"/>
              </a:lnSpc>
              <a:spcBef>
                <a:spcPts val="3500"/>
              </a:spcBef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파레토기준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(Pareto criterion)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새로운 상태에서 어떤 사람의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효용수준도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예전보다 더 낮아지지 않았고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최소한 한 사람 이상의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효용수준이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예전보다 더 높아졌을 때 이를 개선이라고 평가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40000"/>
              </a:lnSpc>
              <a:spcBef>
                <a:spcPts val="35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파레토기준을 적용할 때 분명하게 개선이라고 판단할 수 있는 경우가 거의 없음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053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파레토기준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파레토기준에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의한 개선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→ </a:t>
                </a:r>
                <a14:m>
                  <m:oMath xmlns:m="http://schemas.openxmlformats.org/officeDocument/2006/math">
                    <m:r>
                      <a:rPr lang="en-US" altLang="ko-KR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ko-KR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ko-KR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ko-KR" sz="2000" b="1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spcBef>
                    <a:spcPts val="5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altLang="ko-KR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US" altLang="ko-KR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파레토기준에 의해 개선인지 아닌지 판별할 수 없음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D6B140-04BC-4234-A903-A48BBDA59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4442" y="1523511"/>
            <a:ext cx="6215115" cy="353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009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칼도기준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lnSpc>
                <a:spcPct val="160000"/>
              </a:lnSpc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칼도기준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Kaldor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criterion)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변화를 통해 이득을 얻는 사람에 의해 평가된 이득의 화폐가치가 손해를 보는 사람에 의해 평가된 손해의 화폐 가치보다 더 클 때 그 변화를 개선이라고 평가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6824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칼도기준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atinLnBrk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→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′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변화는 다음을 만족한다면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칼도기준에서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개선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15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dirty="0">
                        <a:latin typeface="Cambria Math" panose="02040503050406030204" pitchFamily="18" charset="0"/>
                        <a:ea typeface="+mn-ea"/>
                      </a:rPr>
                      <m:t>→</m:t>
                    </m:r>
                    <m:r>
                      <a:rPr lang="en-US" altLang="ko-KR" sz="2000" b="1" i="1" dirty="0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dirty="0">
                        <a:latin typeface="Cambria Math" panose="02040503050406030204" pitchFamily="18" charset="0"/>
                        <a:ea typeface="+mn-ea"/>
                      </a:rPr>
                      <m:t>′′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변화할 때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A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효용 증가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B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효용 불변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15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 dirty="0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dirty="0">
                        <a:latin typeface="Cambria Math" panose="02040503050406030204" pitchFamily="18" charset="0"/>
                        <a:ea typeface="+mn-ea"/>
                      </a:rPr>
                      <m:t>′′→</m:t>
                    </m:r>
                    <m:r>
                      <a:rPr lang="en-US" altLang="ko-KR" sz="2000" b="1" i="1" dirty="0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dirty="0">
                        <a:latin typeface="Cambria Math" panose="02040503050406030204" pitchFamily="18" charset="0"/>
                        <a:ea typeface="+mn-ea"/>
                      </a:rPr>
                      <m:t>′ 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변화할 때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화폐적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보상을 통해 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B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손해가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A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이득으로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완전히 상쇄됨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15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개선이 이루어진 것으로 판단 가능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CB63C8-FC19-4AE5-91FF-32C92200D6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09847" y="2428794"/>
            <a:ext cx="5158682" cy="294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14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스키토브스키기준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lnSpc>
                <a:spcPct val="14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자원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재배분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과정에서 효용가능경계가 변화한다면 어떤 변화가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칼도기준에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의해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개선이면서 그 반대 방향으로도 개선인 경우가 발생할 수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40000"/>
              </a:lnSpc>
              <a:spcBef>
                <a:spcPts val="2500"/>
              </a:spcBef>
              <a:spcAft>
                <a:spcPts val="0"/>
              </a:spcAft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스키토브스키기준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Scitovsky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criterion)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변화에 대해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칼도 기준에 의해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그것이 개선이고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반대방향으로의 변화는 개선이 아니라는 것이 확인되었을 때에 한해 그 변화를 개선이라고 판단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5397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스키토브스키기준</a:t>
            </a:r>
            <a:endParaRPr lang="ko-KR" altLang="en-US" sz="3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601788"/>
                <a:ext cx="7886700" cy="4754563"/>
              </a:xfrm>
            </p:spPr>
            <p:txBody>
              <a:bodyPr>
                <a:noAutofit/>
              </a:bodyPr>
              <a:lstStyle/>
              <a:p>
                <a:pPr latinLnBrk="0">
                  <a:lnSpc>
                    <a:spcPct val="120000"/>
                  </a:lnSpc>
                  <a:spcBef>
                    <a:spcPts val="2500"/>
                  </a:spcBef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효용가능경계가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𝑼𝑷𝑭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에서 자원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재배분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후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𝑼𝑷𝑭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′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변화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latinLnBrk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𝑼𝑷𝑭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𝑼𝑷𝑭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′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자원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재배분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전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후의 상황 아래 두 사람 사이에 보상을 통해 달성 가능한 효용 조합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2500"/>
                  </a:spcBef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𝑼𝑷𝑭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′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기준으로 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′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변화는  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칼도기준으로 개선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20000"/>
                  </a:lnSpc>
                  <a:spcBef>
                    <a:spcPts val="2500"/>
                  </a:spcBef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그러나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𝑼𝑷𝑭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기준으로 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+mn-ea"/>
                      </a:rPr>
                      <m:t>′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𝑻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변화도 역시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칼도기준으로 개선 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601788"/>
                <a:ext cx="7886700" cy="4754563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D41851D-5FF4-425E-A4C9-CA1ACE741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09030" y="3279956"/>
            <a:ext cx="5150211" cy="292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68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원칙에 대한 비판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Bef>
                <a:spcPts val="30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보상의 원칙은 객관적으로 비교 가능한 화폐단위에 의해 개선 여부를 평가하고 있음을 표방하고 있지만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실제로는 감춰진 방법으로 개인간 효용비교를 하고 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000"/>
              </a:spcBef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버그슨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Bergson) :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기수적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사회후생함수를 설정하고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기초해 변화의 개선여부를 판단하자고 제안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0371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3.6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사회후생함수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latinLnBrk="0">
                  <a:spcBef>
                    <a:spcPts val="25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사회후생함수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(social welfare function)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사람의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효용수준이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ko-KR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주어졌을 때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사회후생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𝑺𝑾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수준을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𝑺𝑾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𝒇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함수값으로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표현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spcBef>
                    <a:spcPts val="25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사회무차별곡선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(social indifference curve)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사회후생함수로부터 똑같은 수준의 사회후생을 주는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  <m:r>
                      <m:rPr>
                        <m:nor/>
                      </m:rPr>
                      <a:rPr lang="ko-KR" altLang="en-US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와</m:t>
                    </m:r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  <a:ea typeface="+mn-ea"/>
                          </a:rPr>
                          <m:t> 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조합들을 도출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spcBef>
                    <a:spcPts val="25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사람마다 다른 가치판단을 갖고 있어 모든 사람이 흔쾌히 동의할 수 있는 사회후생함수를 찾기 어려움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4535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사회무차별곡선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FF4D6CA-D0AF-49B9-A99B-9CABFBBF9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168" y="1819491"/>
            <a:ext cx="8709662" cy="396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918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공리주의적 가치판단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indent="-230400" latinLnBrk="0">
                  <a:spcBef>
                    <a:spcPts val="25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공리주의적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(utilitarian)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사회후생함수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</a:p>
              <a:p>
                <a:pPr marL="0" indent="-230400" latinLnBrk="0">
                  <a:lnSpc>
                    <a:spcPct val="160000"/>
                  </a:lnSpc>
                  <a:spcBef>
                    <a:spcPts val="250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>
                          <a:latin typeface="Cambria Math" panose="02040503050406030204" pitchFamily="18" charset="0"/>
                          <a:ea typeface="+mn-ea"/>
                        </a:rPr>
                        <m:t>𝑺𝑾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+mn-ea"/>
                            </a:rPr>
                            <m:t>𝑼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+mn-ea"/>
                            </a:rPr>
                            <m:t>𝑨</m:t>
                          </m:r>
                        </m:sub>
                      </m:sSub>
                      <m:r>
                        <a:rPr lang="en-US" altLang="ko-KR" sz="2000" b="1" i="1">
                          <a:latin typeface="Cambria Math" panose="02040503050406030204" pitchFamily="18" charset="0"/>
                          <a:ea typeface="+mn-ea"/>
                        </a:rPr>
                        <m:t>+ </m:t>
                      </m:r>
                      <m:sSub>
                        <m:sSubPr>
                          <m:ctrlPr>
                            <a:rPr lang="en-US" altLang="ko-KR" sz="2000" b="1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+mn-ea"/>
                            </a:rPr>
                            <m:t>𝑼</m:t>
                          </m:r>
                        </m:e>
                        <m:sub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+mn-ea"/>
                            </a:rPr>
                            <m:t>𝑩</m:t>
                          </m:r>
                        </m:sub>
                      </m:sSub>
                    </m:oMath>
                  </m:oMathPara>
                </a14:m>
                <a:endParaRPr lang="en-US" altLang="ko-KR" sz="2000" b="1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Bef>
                    <a:spcPts val="35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사회후생은 두 사람 사이에 효용이 어떻게 분배되는지에 관계없이 개인의 효용의 합에 의해서만 결정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indent="-230400" latinLnBrk="0">
                  <a:spcBef>
                    <a:spcPts val="25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두 사람의 효용수준에 대해 동일한 가중치 적용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4013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평등주의적 가치판단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atinLnBrk="0">
              <a:lnSpc>
                <a:spcPct val="140000"/>
              </a:lnSpc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평등주의적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(egalitarian)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가치판단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사람의 효용 수준이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높을수록 더 작은 가중치를 적용해 사회후생을 계산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40000"/>
              </a:lnSpc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평등주의적 가치판단은 재분배 정책의 유력한 근거 제시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40000"/>
              </a:lnSpc>
              <a:spcBef>
                <a:spcPts val="35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평등주의적 성향이 강할수록 사회무차별곡선은 원점에 대해             더욱 볼록한 모양을 가짐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25428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롤즈적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가치판단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0"/>
                <a:ext cx="8086319" cy="4754563"/>
              </a:xfrm>
            </p:spPr>
            <p:txBody>
              <a:bodyPr>
                <a:noAutofit/>
              </a:bodyPr>
              <a:lstStyle/>
              <a:p>
                <a:pPr latinLnBrk="0">
                  <a:spcBef>
                    <a:spcPts val="2500"/>
                  </a:spcBef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롤즈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(J. Rawls) :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 사회에서 가장 못사는 사람의 생활 수준을 가능한 한 가장 크게 개선시키는 것이 최우선 과제가 되어야 한다고 주장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최소극대화의 원칙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en-US" altLang="ko-KR" sz="2000" b="1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maximin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principle)</a:t>
                </a:r>
              </a:p>
              <a:p>
                <a:pPr latinLnBrk="0">
                  <a:spcBef>
                    <a:spcPts val="2500"/>
                  </a:spcBef>
                </a:pP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롤즈적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사회후생함수 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0" smtClean="0"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𝑺𝑾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ko-KR" sz="2000" b="1" i="0">
                        <a:latin typeface="Cambria Math" panose="02040503050406030204" pitchFamily="18" charset="0"/>
                        <a:ea typeface="+mn-ea"/>
                      </a:rPr>
                      <m:t>𝐦𝐢𝐧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⁡(</m:t>
                    </m:r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𝑨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sSub>
                      <m:sSubPr>
                        <m:ctrlP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𝑼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+mn-ea"/>
                          </a:rPr>
                          <m:t>𝑩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</a:t>
                </a:r>
              </a:p>
              <a:p>
                <a:pPr latinLnBrk="0">
                  <a:spcBef>
                    <a:spcPts val="2500"/>
                  </a:spcBef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가장 못사는 사람의 효용수준에 의해 그 사회의 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후생수준이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결정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spcBef>
                    <a:spcPts val="2500"/>
                  </a:spcBef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극단적인 평등주의적 가치판단을 반영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0"/>
                <a:ext cx="8086319" cy="4754563"/>
              </a:xfrm>
              <a:blipFill>
                <a:blip r:embed="rId2"/>
                <a:stretch>
                  <a:fillRect l="-678" r="-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7260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배분의 도출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효용가능경계 위에서 사회후생함수를 극대화하는 배분이 가장 바람직한 배분임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사회적으로 가장 바람직한 배분은 공평성에 대해 어떤 가치판단을 가지고 있는가에 따라 달라짐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latinLnBrk="0"/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사회후생함수의 모양은 공평성에 대해 어떤 가치판단을 가지고 있는가에 따라 달라지기 때문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6700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바람직한 배분의 도출</a:t>
            </a: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2344286-0EFE-458C-97A8-366E75DBD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364" y="1602494"/>
            <a:ext cx="8001985" cy="456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405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불가능성 정리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애로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(K. Arrow)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보편성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완비성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이행성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파레토원칙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비독재성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선택가능성으로부터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독립이라는 공리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(axiom)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모두 만족하는 사회후생함수는 존재하지 않음 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불가능성정리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(impossibility theorem)</a:t>
            </a:r>
          </a:p>
          <a:p>
            <a:pPr latinLnBrk="0">
              <a:spcAft>
                <a:spcPts val="0"/>
              </a:spcAft>
            </a:pPr>
            <a:endParaRPr lang="en-US" altLang="ko-KR" sz="5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한 공리를 포기하면 나머지 공리들을 만족시키는 사회후생함수가 존재할 수도 있음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latinLnBrk="0"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센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Sen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제한된 수의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선택가능성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사이에 합리적이고 민주적인 사회적 선호체계를 찾는 일은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0476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3.7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차선의 이론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 경제에서 최선의 효율적인 자원배분을 위해 만족되어야 하는 조건이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𝒌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 존재</a:t>
                </a:r>
                <a:endParaRPr lang="en-US" altLang="ko-KR" sz="20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만약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 개의 조건이 충족될 수 없는 상황에서 나머지</a:t>
                </a:r>
                <a:r>
                  <a:rPr lang="ko-KR" altLang="en-US" sz="2000" b="1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𝒌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𝟏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개의 조건이 충족되는 것이 차선의 결과인가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?</a:t>
                </a:r>
              </a:p>
              <a:p>
                <a:pPr latinLnBrk="0">
                  <a:spcBef>
                    <a:spcPts val="2000"/>
                  </a:spcBef>
                  <a:spcAft>
                    <a:spcPts val="0"/>
                  </a:spcAft>
                </a:pP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립시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랭카스터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(R. </a:t>
                </a:r>
                <a:r>
                  <a:rPr lang="en-US" altLang="ko-KR" sz="2000" b="1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Lipsey</a:t>
                </a: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and K. Lancaster) : 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하나 이상의 효율성 조건이 이미 파괴되어 있는 상태에서는 만족되는 효율성 조건의 수가 많아진다고 해서 사회적 후생이 더욱 커진다는 보장이 없음</a:t>
                </a:r>
                <a:b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차선의 이론</a:t>
                </a:r>
                <a:r>
                  <a:rPr lang="en-US" altLang="ko-KR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(theory of the second best)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05978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차선의 이론의 의의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424343" cy="4754563"/>
          </a:xfrm>
        </p:spPr>
        <p:txBody>
          <a:bodyPr>
            <a:noAutofit/>
          </a:bodyPr>
          <a:lstStyle/>
          <a:p>
            <a:pPr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공공부문의 의사결정 과정은 본질적으로 차선의 결과를 추구할 수밖에  없음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파레토최적배분을 가로막는 제약 때문에 최선의 배분이 실현될 수        없다면 차선의 결과라도 가져올 수 있도록 노력하는 것이 쉽지 않음을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말해줌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spcBef>
                <a:spcPts val="3000"/>
              </a:spcBef>
              <a:spcAft>
                <a:spcPts val="0"/>
              </a:spcAft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차선의 이론은 정부가 점진적 접근법에 의해 경제개혁 조치들을 추진        할 때 개혁의 중간과정에서 예기치 않은 부정적 결과를 가져오게 될지도 모른다는 점을 경고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후생경제학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3574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2159</TotalTime>
  <Words>1966</Words>
  <Application>Microsoft Office PowerPoint</Application>
  <PresentationFormat>화면 슬라이드 쇼(4:3)</PresentationFormat>
  <Paragraphs>278</Paragraphs>
  <Slides>35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4" baseType="lpstr">
      <vt:lpstr>나눔고딕</vt:lpstr>
      <vt:lpstr>나눔고딕 ExtraBold</vt:lpstr>
      <vt:lpstr>맑은 고딕</vt:lpstr>
      <vt:lpstr>새굴림</vt:lpstr>
      <vt:lpstr>Arial</vt:lpstr>
      <vt:lpstr>Calibri</vt:lpstr>
      <vt:lpstr>Cambria Math</vt:lpstr>
      <vt:lpstr>Wingdings</vt:lpstr>
      <vt:lpstr>Office 테마</vt:lpstr>
      <vt:lpstr>제3장   후생경제학</vt:lpstr>
      <vt:lpstr>3.2  자원배분의 효율성</vt:lpstr>
      <vt:lpstr>자원배분의 효율성</vt:lpstr>
      <vt:lpstr>완전경쟁과 효율성</vt:lpstr>
      <vt:lpstr>3.3  시장의 실패</vt:lpstr>
      <vt:lpstr>시장실패의 원인 : 불완전경쟁</vt:lpstr>
      <vt:lpstr>시장실패의 원인 : 공공재</vt:lpstr>
      <vt:lpstr>시장실패의 원인 : 외부성</vt:lpstr>
      <vt:lpstr>시장실패의 원인 : 불확실성</vt:lpstr>
      <vt:lpstr>시장실패의 원인 : 완비되지 못한 시장</vt:lpstr>
      <vt:lpstr>시장실패의 원인 : 불완전한 정보</vt:lpstr>
      <vt:lpstr>시장실패와 정부 개입</vt:lpstr>
      <vt:lpstr>정부실패의 원인</vt:lpstr>
      <vt:lpstr>정부실패의 원인</vt:lpstr>
      <vt:lpstr>3.4  분배의 공평성</vt:lpstr>
      <vt:lpstr>분배의 공평성 : 공평한 분배의 요건</vt:lpstr>
      <vt:lpstr>공평성과 효율성</vt:lpstr>
      <vt:lpstr>3.5  보상의 원칙</vt:lpstr>
      <vt:lpstr>보상의 원칙 : 파레토기준</vt:lpstr>
      <vt:lpstr>보상의 원칙 : 파레토기준</vt:lpstr>
      <vt:lpstr>보상의 원칙 : 칼도기준</vt:lpstr>
      <vt:lpstr>보상의 원칙 : 칼도기준</vt:lpstr>
      <vt:lpstr>보상의 원칙 : 스키토브스키기준</vt:lpstr>
      <vt:lpstr>보상의 원칙 : 스키토브스키기준</vt:lpstr>
      <vt:lpstr>보상의 원칙에 대한 비판</vt:lpstr>
      <vt:lpstr>3.6  사회후생함수</vt:lpstr>
      <vt:lpstr>사회무차별곡선</vt:lpstr>
      <vt:lpstr>공리주의적 가치판단</vt:lpstr>
      <vt:lpstr>평등주의적 가치판단</vt:lpstr>
      <vt:lpstr>롤즈적 가치판단</vt:lpstr>
      <vt:lpstr>바람직한 배분의 도출</vt:lpstr>
      <vt:lpstr>바람직한 배분의 도출</vt:lpstr>
      <vt:lpstr>불가능성 정리</vt:lpstr>
      <vt:lpstr>3.7  차선의 이론</vt:lpstr>
      <vt:lpstr>차선의 이론의 의의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643</cp:revision>
  <dcterms:created xsi:type="dcterms:W3CDTF">2015-08-04T05:38:00Z</dcterms:created>
  <dcterms:modified xsi:type="dcterms:W3CDTF">2026-01-13T00:36:54Z</dcterms:modified>
</cp:coreProperties>
</file>