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35"/>
  </p:notesMasterIdLst>
  <p:handoutMasterIdLst>
    <p:handoutMasterId r:id="rId36"/>
  </p:handoutMasterIdLst>
  <p:sldIdLst>
    <p:sldId id="369" r:id="rId2"/>
    <p:sldId id="258" r:id="rId3"/>
    <p:sldId id="261" r:id="rId4"/>
    <p:sldId id="345" r:id="rId5"/>
    <p:sldId id="295" r:id="rId6"/>
    <p:sldId id="355" r:id="rId7"/>
    <p:sldId id="354" r:id="rId8"/>
    <p:sldId id="35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68" r:id="rId20"/>
    <p:sldId id="308" r:id="rId21"/>
    <p:sldId id="310" r:id="rId22"/>
    <p:sldId id="311" r:id="rId23"/>
    <p:sldId id="312" r:id="rId24"/>
    <p:sldId id="357" r:id="rId25"/>
    <p:sldId id="314" r:id="rId26"/>
    <p:sldId id="358" r:id="rId27"/>
    <p:sldId id="315" r:id="rId28"/>
    <p:sldId id="360" r:id="rId29"/>
    <p:sldId id="361" r:id="rId30"/>
    <p:sldId id="362" r:id="rId31"/>
    <p:sldId id="363" r:id="rId32"/>
    <p:sldId id="365" r:id="rId33"/>
    <p:sldId id="367" r:id="rId3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9AC3"/>
    <a:srgbClr val="6D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C792FB-8475-4835-A0DD-EA92263DC3B1}" v="9" dt="2026-01-12T05:03:35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597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916" y="31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영완 전" userId="94a232b962f42e62" providerId="LiveId" clId="{862E7F7D-119D-4717-AD52-91020921814B}"/>
    <pc:docChg chg="custSel modSld">
      <pc:chgData name="영완 전" userId="94a232b962f42e62" providerId="LiveId" clId="{862E7F7D-119D-4717-AD52-91020921814B}" dt="2026-01-12T05:03:35.903" v="24"/>
      <pc:docMkLst>
        <pc:docMk/>
      </pc:docMkLst>
      <pc:sldChg chg="modSp mod">
        <pc:chgData name="영완 전" userId="94a232b962f42e62" providerId="LiveId" clId="{862E7F7D-119D-4717-AD52-91020921814B}" dt="2026-01-12T02:33:38.830" v="14" actId="20577"/>
        <pc:sldMkLst>
          <pc:docMk/>
          <pc:sldMk cId="2651480085" sldId="261"/>
        </pc:sldMkLst>
        <pc:spChg chg="mod">
          <ac:chgData name="영완 전" userId="94a232b962f42e62" providerId="LiveId" clId="{862E7F7D-119D-4717-AD52-91020921814B}" dt="2026-01-12T02:33:38.830" v="14" actId="20577"/>
          <ac:spMkLst>
            <pc:docMk/>
            <pc:sldMk cId="2651480085" sldId="26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2:49:02.805" v="3" actId="313"/>
        <pc:sldMkLst>
          <pc:docMk/>
          <pc:sldMk cId="2066413432" sldId="298"/>
        </pc:sldMkLst>
        <pc:spChg chg="mod">
          <ac:chgData name="영완 전" userId="94a232b962f42e62" providerId="LiveId" clId="{862E7F7D-119D-4717-AD52-91020921814B}" dt="2026-01-07T02:49:02.805" v="3" actId="313"/>
          <ac:spMkLst>
            <pc:docMk/>
            <pc:sldMk cId="2066413432" sldId="298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2:51:01.607" v="4" actId="20577"/>
        <pc:sldMkLst>
          <pc:docMk/>
          <pc:sldMk cId="1266018017" sldId="301"/>
        </pc:sldMkLst>
        <pc:spChg chg="mod">
          <ac:chgData name="영완 전" userId="94a232b962f42e62" providerId="LiveId" clId="{862E7F7D-119D-4717-AD52-91020921814B}" dt="2026-01-07T02:51:01.607" v="4" actId="20577"/>
          <ac:spMkLst>
            <pc:docMk/>
            <pc:sldMk cId="1266018017" sldId="301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02:55.586" v="18" actId="20577"/>
        <pc:sldMkLst>
          <pc:docMk/>
          <pc:sldMk cId="2292838365" sldId="304"/>
        </pc:sldMkLst>
        <pc:spChg chg="mod">
          <ac:chgData name="영완 전" userId="94a232b962f42e62" providerId="LiveId" clId="{862E7F7D-119D-4717-AD52-91020921814B}" dt="2026-01-12T05:02:55.586" v="18" actId="20577"/>
          <ac:spMkLst>
            <pc:docMk/>
            <pc:sldMk cId="2292838365" sldId="30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12T05:03:25.180" v="22"/>
        <pc:sldMkLst>
          <pc:docMk/>
          <pc:sldMk cId="4011051174" sldId="308"/>
        </pc:sldMkLst>
        <pc:spChg chg="mod">
          <ac:chgData name="영완 전" userId="94a232b962f42e62" providerId="LiveId" clId="{862E7F7D-119D-4717-AD52-91020921814B}" dt="2026-01-12T05:03:25.180" v="22"/>
          <ac:spMkLst>
            <pc:docMk/>
            <pc:sldMk cId="4011051174" sldId="308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12T05:03:35.903" v="24"/>
        <pc:sldMkLst>
          <pc:docMk/>
          <pc:sldMk cId="1776556060" sldId="310"/>
        </pc:sldMkLst>
        <pc:spChg chg="mod">
          <ac:chgData name="영완 전" userId="94a232b962f42e62" providerId="LiveId" clId="{862E7F7D-119D-4717-AD52-91020921814B}" dt="2026-01-12T05:03:35.903" v="24"/>
          <ac:spMkLst>
            <pc:docMk/>
            <pc:sldMk cId="1776556060" sldId="310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8T02:11:12.884" v="9"/>
        <pc:sldMkLst>
          <pc:docMk/>
          <pc:sldMk cId="4091152825" sldId="311"/>
        </pc:sldMkLst>
        <pc:spChg chg="mod">
          <ac:chgData name="영완 전" userId="94a232b962f42e62" providerId="LiveId" clId="{862E7F7D-119D-4717-AD52-91020921814B}" dt="2026-01-08T02:11:12.884" v="9"/>
          <ac:spMkLst>
            <pc:docMk/>
            <pc:sldMk cId="4091152825" sldId="311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8T02:11:04.390" v="7"/>
        <pc:sldMkLst>
          <pc:docMk/>
          <pc:sldMk cId="1521689242" sldId="312"/>
        </pc:sldMkLst>
        <pc:spChg chg="mod">
          <ac:chgData name="영완 전" userId="94a232b962f42e62" providerId="LiveId" clId="{862E7F7D-119D-4717-AD52-91020921814B}" dt="2026-01-08T02:11:04.390" v="7"/>
          <ac:spMkLst>
            <pc:docMk/>
            <pc:sldMk cId="1521689242" sldId="312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8T02:11:33.849" v="10"/>
        <pc:sldMkLst>
          <pc:docMk/>
          <pc:sldMk cId="3669205596" sldId="314"/>
        </pc:sldMkLst>
        <pc:spChg chg="mod">
          <ac:chgData name="영완 전" userId="94a232b962f42e62" providerId="LiveId" clId="{862E7F7D-119D-4717-AD52-91020921814B}" dt="2026-01-08T02:11:33.849" v="10"/>
          <ac:spMkLst>
            <pc:docMk/>
            <pc:sldMk cId="3669205596" sldId="314"/>
            <ac:spMk id="3" creationId="{00000000-0000-0000-0000-000000000000}"/>
          </ac:spMkLst>
        </pc:spChg>
      </pc:sldChg>
      <pc:sldChg chg="modSp mod">
        <pc:chgData name="영완 전" userId="94a232b962f42e62" providerId="LiveId" clId="{862E7F7D-119D-4717-AD52-91020921814B}" dt="2026-01-07T02:54:18.309" v="5" actId="20577"/>
        <pc:sldMkLst>
          <pc:docMk/>
          <pc:sldMk cId="5589672" sldId="357"/>
        </pc:sldMkLst>
        <pc:spChg chg="mod">
          <ac:chgData name="영완 전" userId="94a232b962f42e62" providerId="LiveId" clId="{862E7F7D-119D-4717-AD52-91020921814B}" dt="2026-01-07T02:54:18.309" v="5" actId="20577"/>
          <ac:spMkLst>
            <pc:docMk/>
            <pc:sldMk cId="5589672" sldId="357"/>
            <ac:spMk id="3" creationId="{00000000-0000-0000-0000-000000000000}"/>
          </ac:spMkLst>
        </pc:spChg>
      </pc:sldChg>
      <pc:sldChg chg="modSp">
        <pc:chgData name="영완 전" userId="94a232b962f42e62" providerId="LiveId" clId="{862E7F7D-119D-4717-AD52-91020921814B}" dt="2026-01-08T02:11:51.304" v="11"/>
        <pc:sldMkLst>
          <pc:docMk/>
          <pc:sldMk cId="2501180189" sldId="363"/>
        </pc:sldMkLst>
        <pc:spChg chg="mod">
          <ac:chgData name="영완 전" userId="94a232b962f42e62" providerId="LiveId" clId="{862E7F7D-119D-4717-AD52-91020921814B}" dt="2026-01-08T02:11:51.304" v="11"/>
          <ac:spMkLst>
            <pc:docMk/>
            <pc:sldMk cId="2501180189" sldId="363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74EB9A-155E-47CB-BDE7-4AA3BFCC0E51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6EE28E-5237-48A9-A4BC-4C0FE4044BF6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44264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9B8873-BC00-4E98-82A0-FC8387D5BC2D}" type="datetimeFigureOut">
              <a:rPr lang="ko-KR" altLang="en-US" smtClean="0"/>
              <a:pPr/>
              <a:t>2026-01-12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295A58-9429-4B5D-BCB7-763BD5DD46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861881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295A58-9429-4B5D-BCB7-763BD5DD4617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753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73904"/>
            <a:ext cx="7772400" cy="1330099"/>
          </a:xfrm>
        </p:spPr>
        <p:txBody>
          <a:bodyPr anchor="ctr">
            <a:normAutofit/>
          </a:bodyPr>
          <a:lstStyle>
            <a:lvl1pPr algn="ctr">
              <a:defRPr sz="285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새굴림" panose="02030600000101010101" pitchFamily="18" charset="-127"/>
                <a:ea typeface="새굴림" panose="02030600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151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618" y="194400"/>
            <a:ext cx="8647200" cy="1330099"/>
          </a:xfrm>
          <a:solidFill>
            <a:srgbClr val="6D9AC3"/>
          </a:solidFill>
        </p:spPr>
        <p:txBody>
          <a:bodyPr anchor="ctr">
            <a:normAutofit/>
          </a:bodyPr>
          <a:lstStyle>
            <a:lvl1pPr algn="ctr">
              <a:defRPr sz="3800" b="1" baseline="0">
                <a:solidFill>
                  <a:schemeClr val="bg1"/>
                </a:solidFill>
                <a:effectLst/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100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>
            <a:extLst>
              <a:ext uri="{FF2B5EF4-FFF2-40B4-BE49-F238E27FC236}">
                <a16:creationId xmlns:a16="http://schemas.microsoft.com/office/drawing/2014/main" id="{CE85AB1C-4C73-2502-C0CB-AED6F49DC5E5}"/>
              </a:ext>
            </a:extLst>
          </p:cNvPr>
          <p:cNvGrpSpPr/>
          <p:nvPr userDrawn="1"/>
        </p:nvGrpSpPr>
        <p:grpSpPr>
          <a:xfrm>
            <a:off x="0" y="341304"/>
            <a:ext cx="9144000" cy="952748"/>
            <a:chOff x="0" y="225555"/>
            <a:chExt cx="9144000" cy="952748"/>
          </a:xfrm>
        </p:grpSpPr>
        <p:sp>
          <p:nvSpPr>
            <p:cNvPr id="10" name="화살표: 오각형 9">
              <a:extLst>
                <a:ext uri="{FF2B5EF4-FFF2-40B4-BE49-F238E27FC236}">
                  <a16:creationId xmlns:a16="http://schemas.microsoft.com/office/drawing/2014/main" id="{25D0091D-ABA3-229F-26E5-20CF00CAD2A2}"/>
                </a:ext>
              </a:extLst>
            </p:cNvPr>
            <p:cNvSpPr/>
            <p:nvPr/>
          </p:nvSpPr>
          <p:spPr>
            <a:xfrm>
              <a:off x="0" y="230070"/>
              <a:ext cx="9144000" cy="948233"/>
            </a:xfrm>
            <a:prstGeom prst="homePlate">
              <a:avLst>
                <a:gd name="adj" fmla="val 36573"/>
              </a:avLst>
            </a:prstGeom>
            <a:solidFill>
              <a:srgbClr val="E8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화살표: 갈매기형 수장 10">
              <a:extLst>
                <a:ext uri="{FF2B5EF4-FFF2-40B4-BE49-F238E27FC236}">
                  <a16:creationId xmlns:a16="http://schemas.microsoft.com/office/drawing/2014/main" id="{CC825AEE-E4A9-6A53-F35E-C45BB1402FC4}"/>
                </a:ext>
              </a:extLst>
            </p:cNvPr>
            <p:cNvSpPr/>
            <p:nvPr/>
          </p:nvSpPr>
          <p:spPr>
            <a:xfrm>
              <a:off x="8495587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C6DC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화살표: 갈매기형 수장 11">
              <a:extLst>
                <a:ext uri="{FF2B5EF4-FFF2-40B4-BE49-F238E27FC236}">
                  <a16:creationId xmlns:a16="http://schemas.microsoft.com/office/drawing/2014/main" id="{06C19AC8-A524-5B4B-6642-C5F0506F2CF3}"/>
                </a:ext>
              </a:extLst>
            </p:cNvPr>
            <p:cNvSpPr/>
            <p:nvPr/>
          </p:nvSpPr>
          <p:spPr>
            <a:xfrm>
              <a:off x="8235619" y="225555"/>
              <a:ext cx="519935" cy="948233"/>
            </a:xfrm>
            <a:prstGeom prst="chevron">
              <a:avLst>
                <a:gd name="adj" fmla="val 73331"/>
              </a:avLst>
            </a:prstGeom>
            <a:solidFill>
              <a:srgbClr val="99C1B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462078"/>
            <a:ext cx="9144000" cy="711200"/>
          </a:xfrm>
        </p:spPr>
        <p:txBody>
          <a:bodyPr>
            <a:normAutofit/>
          </a:bodyPr>
          <a:lstStyle>
            <a:lvl1pPr algn="ctr">
              <a:defRPr sz="2600" b="1">
                <a:solidFill>
                  <a:schemeClr val="tx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8650" y="1422402"/>
            <a:ext cx="7886700" cy="475456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8572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200150" indent="-171450">
              <a:lnSpc>
                <a:spcPct val="120000"/>
              </a:lnSpc>
              <a:spcAft>
                <a:spcPts val="0"/>
              </a:spcAft>
              <a:buClr>
                <a:schemeClr val="accent1"/>
              </a:buClr>
              <a:buFont typeface="바탕" panose="02030600000101010101" pitchFamily="18" charset="-127"/>
              <a:buChar char="∙"/>
              <a:defRPr sz="2000" b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lnSpc>
                <a:spcPct val="120000"/>
              </a:lnSpc>
              <a:spcAft>
                <a:spcPts val="0"/>
              </a:spcAft>
              <a:defRPr sz="1350" b="0">
                <a:solidFill>
                  <a:srgbClr val="002060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3986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464457"/>
            <a:ext cx="9144000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2402"/>
            <a:ext cx="7886700" cy="4754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altLang="ko-K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/>
              <a:t>PUBLIC FINANCE</a:t>
            </a:r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제</a:t>
            </a:r>
            <a:r>
              <a:rPr lang="en-US" altLang="ko-KR"/>
              <a:t>2</a:t>
            </a:r>
            <a:r>
              <a:rPr lang="ko-KR" altLang="en-US"/>
              <a:t>장  우리나라의 재정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06CA9FF6-BF29-4679-8C21-AEBAF289512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9973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1" r:id="rId2"/>
    <p:sldLayoutId id="2147483710" r:id="rId3"/>
  </p:sldLayoutIdLst>
  <p:hf hdr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2600" b="1" kern="1200">
          <a:solidFill>
            <a:schemeClr val="bg1"/>
          </a:solidFill>
          <a:effectLst/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130000"/>
        </a:lnSpc>
        <a:spcBef>
          <a:spcPts val="750"/>
        </a:spcBef>
        <a:spcAft>
          <a:spcPts val="300"/>
        </a:spcAft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143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8572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2001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543050" indent="-171450" algn="l" defTabSz="685800" rtl="0" eaLnBrk="1" latinLnBrk="1" hangingPunct="1">
        <a:lnSpc>
          <a:spcPct val="130000"/>
        </a:lnSpc>
        <a:spcBef>
          <a:spcPts val="375"/>
        </a:spcBef>
        <a:spcAft>
          <a:spcPts val="3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0B1953-C66C-8364-6517-A00F8A568C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1A3DB41-ED50-24FE-BBA7-07A95CB65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598"/>
          <a:stretch>
            <a:fillRect/>
          </a:stretch>
        </p:blipFill>
        <p:spPr>
          <a:xfrm>
            <a:off x="0" y="0"/>
            <a:ext cx="6167120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70BFF19-0793-6AA9-FC64-D3B81D1D4C5E}"/>
              </a:ext>
            </a:extLst>
          </p:cNvPr>
          <p:cNvGrpSpPr/>
          <p:nvPr/>
        </p:nvGrpSpPr>
        <p:grpSpPr>
          <a:xfrm>
            <a:off x="6167120" y="0"/>
            <a:ext cx="2976880" cy="6858000"/>
            <a:chOff x="6167120" y="0"/>
            <a:chExt cx="2976880" cy="685800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0C384C36-9B8A-4A2E-98E9-DB7704A1A5D1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gradFill>
              <a:gsLst>
                <a:gs pos="0">
                  <a:srgbClr val="E8F1F0"/>
                </a:gs>
                <a:gs pos="100000">
                  <a:srgbClr val="FAFAF8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A45A329C-3B69-20C0-F4B3-7B4148378A52}"/>
                </a:ext>
              </a:extLst>
            </p:cNvPr>
            <p:cNvSpPr/>
            <p:nvPr/>
          </p:nvSpPr>
          <p:spPr>
            <a:xfrm>
              <a:off x="6167120" y="0"/>
              <a:ext cx="2976880" cy="6858000"/>
            </a:xfrm>
            <a:prstGeom prst="rect">
              <a:avLst/>
            </a:prstGeom>
            <a:blipFill dpi="0" rotWithShape="1">
              <a:blip r:embed="rId3">
                <a:alphaModFix amt="29000"/>
              </a:blip>
              <a:srcRect/>
              <a:tile tx="0" ty="0" sx="100000" sy="100000" flip="none" algn="tl"/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9864FC5-DEBF-2F8B-91E0-0DA077FA591F}"/>
              </a:ext>
            </a:extLst>
          </p:cNvPr>
          <p:cNvSpPr/>
          <p:nvPr/>
        </p:nvSpPr>
        <p:spPr>
          <a:xfrm>
            <a:off x="4165600" y="1412240"/>
            <a:ext cx="4572000" cy="5080000"/>
          </a:xfrm>
          <a:prstGeom prst="roundRect">
            <a:avLst>
              <a:gd name="adj" fmla="val 1317"/>
            </a:avLst>
          </a:prstGeom>
          <a:solidFill>
            <a:srgbClr val="FAFAF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제목 4">
            <a:extLst>
              <a:ext uri="{FF2B5EF4-FFF2-40B4-BE49-F238E27FC236}">
                <a16:creationId xmlns:a16="http://schemas.microsoft.com/office/drawing/2014/main" id="{6414BC64-4FA4-09F9-EBBC-8F4CDFDC540C}"/>
              </a:ext>
            </a:extLst>
          </p:cNvPr>
          <p:cNvSpPr txBox="1">
            <a:spLocks/>
          </p:cNvSpPr>
          <p:nvPr/>
        </p:nvSpPr>
        <p:spPr>
          <a:xfrm>
            <a:off x="4389120" y="1422400"/>
            <a:ext cx="5392923" cy="250060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 algn="ctr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800" b="1" kern="1200" baseline="0">
                <a:solidFill>
                  <a:schemeClr val="bg1"/>
                </a:solidFill>
                <a:effectLst/>
                <a:latin typeface="+mj-ea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제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2</a:t>
            </a:r>
            <a:r>
              <a:rPr lang="ko-KR" altLang="en-US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장</a:t>
            </a:r>
            <a: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 </a:t>
            </a:r>
            <a:br>
              <a:rPr lang="en-US" altLang="ko-KR" sz="3000" dirty="0">
                <a:solidFill>
                  <a:srgbClr val="8DAA9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</a:br>
            <a:r>
              <a:rPr lang="ko-KR" altLang="en-US" sz="3000" dirty="0">
                <a:solidFill>
                  <a:srgbClr val="59775D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우리나라의 재정</a:t>
            </a: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7EBBBC98-C251-7C9D-C688-10CC34FBF26A}"/>
              </a:ext>
            </a:extLst>
          </p:cNvPr>
          <p:cNvSpPr txBox="1">
            <a:spLocks/>
          </p:cNvSpPr>
          <p:nvPr/>
        </p:nvSpPr>
        <p:spPr>
          <a:xfrm>
            <a:off x="4389120" y="3684889"/>
            <a:ext cx="4572000" cy="25006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130000"/>
              </a:lnSpc>
              <a:spcBef>
                <a:spcPts val="1000"/>
              </a:spcBef>
              <a:spcAft>
                <a:spcPts val="400"/>
              </a:spcAft>
              <a:buFont typeface="Wingdings" panose="05000000000000000000" pitchFamily="2" charset="2"/>
              <a:buChar char="§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30000"/>
              </a:lnSpc>
              <a:spcBef>
                <a:spcPts val="50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2.1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2.2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수준과 구성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2.3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2.4  </a:t>
            </a:r>
            <a:r>
              <a: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</a:t>
            </a:r>
          </a:p>
        </p:txBody>
      </p:sp>
    </p:spTree>
    <p:extLst>
      <p:ext uri="{BB962C8B-B14F-4D97-AF65-F5344CB8AC3E}">
        <p14:creationId xmlns:p14="http://schemas.microsoft.com/office/powerpoint/2010/main" val="1065625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2.1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70984" y="1512096"/>
            <a:ext cx="7886700" cy="4754563"/>
          </a:xfrm>
        </p:spPr>
        <p:txBody>
          <a:bodyPr>
            <a:normAutofit/>
          </a:bodyPr>
          <a:lstStyle/>
          <a:p>
            <a:pPr indent="-230400" latinLnBrk="0"/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(public finance)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정부가 </a:t>
            </a:r>
            <a:r>
              <a:rPr lang="ko-KR" altLang="en-US" sz="2000" b="1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공공욕구를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충족시키기 위해 수행하는 모든 경제적 활동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중앙정부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(central government)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지방정부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(local government)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</a:pP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indent="-230400" latinLnBrk="0">
              <a:spcBef>
                <a:spcPts val="3000"/>
              </a:spcBef>
            </a:pP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buNone/>
            </a:pPr>
            <a:b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/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39A4489-2489-4FD9-83F1-E5B8C93150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41556" y="3275009"/>
            <a:ext cx="7330664" cy="2726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678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1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재정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>
              <a:lnSpc>
                <a:spcPct val="130000"/>
              </a:lnSpc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재정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예산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(budget)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기금</a:t>
            </a:r>
            <a:r>
              <a:rPr lang="en-US" altLang="ko-KR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(fund)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으로 구성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매년 계획을 세워 국회의 심의를 받아 의결 후 집행 가능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기금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예산처럼 까다로운 과정을 거치지 않아도 됨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30000"/>
              </a:lnSpc>
              <a:spcBef>
                <a:spcPts val="3000"/>
              </a:spcBef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예산은 다시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일반회계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b="1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특별회계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구성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조세수입 대부분 포함하며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기본적인 정부 활동과 관련되는 주요한 재정사업 모두 포괄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특별회계 </a:t>
            </a:r>
            <a:r>
              <a:rPr lang="en-US" altLang="ko-KR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특정한 목적을 위한 사업과 관련해 일반회계로부터 따로 떼어 설치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</a:t>
            </a:r>
            <a:endParaRPr lang="en-US" altLang="ko-KR" sz="2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51480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0"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제목 1">
            <a:extLst>
              <a:ext uri="{FF2B5EF4-FFF2-40B4-BE49-F238E27FC236}">
                <a16:creationId xmlns:a16="http://schemas.microsoft.com/office/drawing/2014/main" id="{715556AD-1A64-44F6-8B64-79D07750A1EE}"/>
              </a:ext>
            </a:extLst>
          </p:cNvPr>
          <p:cNvSpPr txBox="1">
            <a:spLocks/>
          </p:cNvSpPr>
          <p:nvPr/>
        </p:nvSpPr>
        <p:spPr>
          <a:xfrm>
            <a:off x="0" y="541337"/>
            <a:ext cx="9144001" cy="711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600" b="1" kern="1200"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algn="ctr"/>
            <a:r>
              <a:rPr lang="ko-KR" altLang="en-US" sz="3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재정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5E13E09-89B9-4FBB-8A30-0812A2EE9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9753" y="1594592"/>
            <a:ext cx="6613901" cy="469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76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1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30640"/>
            <a:ext cx="7886700" cy="4754563"/>
          </a:xfrm>
        </p:spPr>
        <p:txBody>
          <a:bodyPr>
            <a:normAutofit/>
          </a:bodyPr>
          <a:lstStyle/>
          <a:p>
            <a:pPr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일반회계의 세입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조세수입과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세외수입으로 구성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조세수입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각종 내국세와 관세 등을 통해 얻어지는 수입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세외수입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재산수입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경상이전수입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판매수입 등 포함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세수의 사용처에 따른 조세의 분류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보통세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세수 중 일부를 지방정부에 나눠주는 재원으로 사용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목적세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(earmarked tax)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  <a:sym typeface="Wingdings" panose="05000000000000000000" pitchFamily="2" charset="2"/>
              </a:rPr>
              <a:t>: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세수를 특정한 용도에 사용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685800" lvl="2" indent="-230400" latinLnBrk="0">
              <a:buNone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교통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에너지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농어촌특별세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246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20585" y="1430715"/>
            <a:ext cx="8179174" cy="4754563"/>
          </a:xfrm>
          <a:ln>
            <a:noFill/>
          </a:ln>
        </p:spPr>
        <p:txBody>
          <a:bodyPr>
            <a:noAutofit/>
          </a:bodyPr>
          <a:lstStyle/>
          <a:p>
            <a:pPr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과세대상에 따른 조세의 분류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소득과세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재산과세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상속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증여세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종합부동산세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소비과세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개별소비세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주세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부과방식에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따른 조세의 분류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직접세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(direct tax)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조세부담의 주체에게 직접적으로 세금 부과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상속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증여세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종합부동산세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간접세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(indirect tax)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상품 등에 부과해 간접적으로 세금 부과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개별소비세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증권거래세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45467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algn="ctr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7A32546-9661-48ED-891B-A6D1A4A730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66353" y="1421176"/>
            <a:ext cx="5182693" cy="499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656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세입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latinLnBrk="0">
              <a:lnSpc>
                <a:spcPct val="130000"/>
              </a:lnSpc>
              <a:spcBef>
                <a:spcPts val="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>
              <a:lnSpc>
                <a:spcPct val="13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6379A1F-0C4D-4FD7-A951-DB7D336248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23627" y="1526011"/>
            <a:ext cx="6548033" cy="486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201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-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일반회계 세출의 구분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/>
            <a:r>
              <a:rPr lang="ko-KR" altLang="en-US" sz="20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소관별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분류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세출예산이 배정되는 기관을 기준으로 분류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/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기능별 분류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예산사업이 수행하는 기능에 따라 분류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514800" lvl="1" indent="-230400" latinLnBrk="0"/>
            <a:r>
              <a:rPr lang="ko-KR" altLang="en-US" sz="2000" dirty="0" err="1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성질별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분류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세출예산의 지출대상이 갖는 성격에 따라 분류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0" indent="-230400" latinLnBrk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CFBEA93-0999-479B-B509-E7FDB5303A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9650" y="3741702"/>
            <a:ext cx="6793061" cy="2428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51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특별회계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특별회계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기업특별회계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기타특별회계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로 구성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기업특별회계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국가의 기업 활동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즉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공기업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’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이라고 부르는 것들의 활동과 관련된 특별회계의 범주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양곡관리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우편사업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우체국예금 등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특별회계가 포함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기타특별회계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교통시설특별회계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환경개선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농어촌구조개선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국가균형발전 등 각종 사업을 관리하는 여러 가지 특별회계가 포함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2025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현재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개별 특별회계가 설치되어 운영 중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6413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재정의 기본골격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기금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기금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특별한 목적을 수행하기 위해 특정한 자금을 예산과는 독립적으로 운용할 필요가 있을 때 설치됨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예산의 </a:t>
            </a: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목적구속금지</a:t>
            </a:r>
            <a:r>
              <a:rPr lang="en-US" altLang="ko-KR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(non-affection)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원칙의 제약을 보완하여 특정한 자금을 예산의 틀 밖에서 탄력적으로 운용하려는 목적으로 만들어짐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기금은 정부가 특정한 수입을 특정한 지출에 사용할 수 있도록 하기 위해 만들어짐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2025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년 현재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67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개의 기금이 운용되고 있으며 기금의 운용규모는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955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조원에 달함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11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925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2.2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수준과 구성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 재정의 규모는 국내총생산보다 상대적으로 더 빠른 속도로 커져 왔다는 장기적 추세를 발견할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5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494CB8D-D004-478E-A24B-8BE684956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9555" y="2707653"/>
            <a:ext cx="6812475" cy="364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4609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수준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우리나라에서 중앙정부 지출이 국내총생산에서 차지하는 비중은 선진국들의 평균적 수준에 비해 더 낮음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나라마다 여건이 다르기 때문에 재정규모를 선진국의 수준에 근접하도록 높이는 것이 바람직하다는 주장은 문제가 될 수 있음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3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현재의 재정규모가 적정한 것인지 평가를 내리기 위해서는 정부가 하는 일의 내용을 자세히 들여다봐야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경제의 가용자원을 민간부문과 정부부문이 어떤 비율로 나누어 쓰는 것이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사회후생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측면에서 바람직한 것인지에 대한 답을 찾아내야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13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6018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수준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230400" indent="-230400" latinLnBrk="0"/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우리나라의 공공부문 사회적 지출은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OECD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국가 중 최하위권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/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14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1627F9-EDE4-4CEA-8E3D-EBC2F2CD9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9881" y="1979434"/>
            <a:ext cx="6772503" cy="4398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6828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정부지출의 구성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일반회계의 기능별 분류방식이 경제적으로 가장 큰 의미를 가짐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>
              <a:buNone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spcBef>
                <a:spcPts val="3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15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1E1BA43-EA30-4038-910D-F84786E59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3530" y="2127321"/>
            <a:ext cx="6003921" cy="413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1375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2.3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083088" cy="4754563"/>
          </a:xfrm>
        </p:spPr>
        <p:txBody>
          <a:bodyPr>
            <a:normAutofit/>
          </a:bodyPr>
          <a:lstStyle/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조세부담률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조세부담이 국내총생산에서 차지하는 비중으로 계산되며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국민의 조세부담이 어떠한지를 나타내주는 지표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1500"/>
              </a:spcBef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latinLnBrk="0">
              <a:lnSpc>
                <a:spcPct val="130000"/>
              </a:lnSpc>
              <a:spcBef>
                <a:spcPts val="200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16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625B1F-C9C8-4C57-AA0D-57E04F28A1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113" y="2549903"/>
            <a:ext cx="5314782" cy="386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838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조세부담률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indent="-230400" latinLnBrk="0"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83950" lvl="1" indent="0" algn="ctr" latinLnBrk="0">
              <a:lnSpc>
                <a:spcPct val="130000"/>
              </a:lnSpc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17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3AD5CDD-2580-4F07-BBE3-E649497D60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921" y="2440665"/>
            <a:ext cx="7809858" cy="2829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7692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조세수입 내역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>
              <a:spcBef>
                <a:spcPts val="3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spcBef>
                <a:spcPts val="3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-230400" latinLnBrk="0">
              <a:spcBef>
                <a:spcPts val="300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-230400" latinLnBrk="0">
              <a:spcBef>
                <a:spcPts val="300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spcBef>
                <a:spcPts val="3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18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3672130-7901-44F8-918B-7A0FE3D5CE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63733" y="1570815"/>
            <a:ext cx="5671019" cy="4695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382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소득과세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우리나라 전체 국세수입의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5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.5%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전체 국세수입에서 소득세가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34.9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%,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법인세가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18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.6%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42900" lvl="1" indent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19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3148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소득과세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95557" cy="4754563"/>
          </a:xfrm>
        </p:spPr>
        <p:txBody>
          <a:bodyPr>
            <a:noAutofit/>
          </a:bodyPr>
          <a:lstStyle/>
          <a:p>
            <a:pPr indent="-230400" latinLnBrk="0">
              <a:lnSpc>
                <a:spcPct val="125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대표적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소득과세인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소득세와 법인세는 직접세의 성격을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5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직접세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조세부담 능력에 따라 세금의 크기를 결정하는 것이 가능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이를 통해 어느 정도의 재분배 효과를 얻을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5000"/>
              </a:lnSpc>
              <a:spcAft>
                <a:spcPts val="1500"/>
              </a:spcAft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간접세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납세자의 조세부담 능력에 맞춰 세금의 크기가 결정되도록 하는 것이 어려움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25000"/>
              </a:lnSpc>
              <a:spcBef>
                <a:spcPts val="1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전체 조세수입 중 직접세가 차지하는 비중이 클수록 형평성 측면에서 바람직하다고 여기는 경향이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5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그러나 소득세 비중이 올라갔다고 해서 공평한 부담의 분배에 더 가까워졌다고 성급한 결론을 내려서는 안 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25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하위 소득계층의 주요 수입원인 근로소득에 대한 과세 강화는 외형상의 수치가 시사하는 바와 정반대의 결과를 낳을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20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051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소비과세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개별소비세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에너지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주세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실제 조세부담을 소비자가 진다는 의미에서 간접세로 분류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조세수입 중 소비과세로부터의 수입은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33.5%</a:t>
            </a:r>
          </a:p>
          <a:p>
            <a:pPr lvl="1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수입은 전체 조세수입에서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24.4%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차지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단일세율구조를 가지며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소비재만을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과세대상에 포함시켜 약간의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역진성을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거의 모든 상품을 부과대상으로 하기 때문에 세율을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1%P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만 올려도 조세수입이 큰 폭으로 늘어남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납세자가 세금을 낸다는 사실을 거의 모르는 상태에서 거두는 세금이므로 조세수입을 늘리려 할 때 편리한 수단으로 사용됨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65560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7955793" cy="4754563"/>
          </a:xfrm>
        </p:spPr>
        <p:txBody>
          <a:bodyPr>
            <a:noAutofit/>
          </a:bodyPr>
          <a:lstStyle/>
          <a:p>
            <a:pPr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개별소비세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부가가치세의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역진성을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부분적으로 보완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사치재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성격의 상품에 선별적으로 부과하여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약간의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누진성을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가짐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제한된 품목에 선별적 적용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⇒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소비자의 선택에 교란을 일으킴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종전에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사치재였던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상품이 점차 필수품화하는 현상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개별소비세 부과대상 조정 필요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30000"/>
              </a:lnSpc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교통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에너지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환경세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휘발유나 경유 등의 유류에 부과되는 소비세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자동차 운행을 줄여 대기오염이나 교통 혼잡 등의 사회적 피해를 감소시키려는 의도로 부과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소비자의 선택에 변화를 가져와 사회적으로 바람직한 결과 유도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22</a:t>
            </a:fld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11528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부동산이나 주식과 같은 재산에 대해 부과하는 세금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거래단계에 부과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상속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증여세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증권거래세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인지세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보유단계에 부과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종합부동산세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지방세 중에는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취득세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재산세 등이 재산과세에 포함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3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조세수입에서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소비과세나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소득과세에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비해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재산과세가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차지하는 비중은 매우 작음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조세수입 중 재산과세의 비중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.5%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16892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조세제도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30400" indent="-230400" latinLnBrk="0">
              <a:lnSpc>
                <a:spcPct val="130000"/>
              </a:lnSpc>
              <a:spcBef>
                <a:spcPts val="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일반적으로 지방정부의 조세수입에서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재산과세의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비중은          중앙정부보다 훨씬 높음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 조세수입에서 재산과세 비중이 높은 이유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55600" indent="-230400" latinLnBrk="0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편익성의 원칙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지방정부가 제공하는 공공서비스의 편익에 대한 대가로 세금을 납부한다는 개념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355600" indent="-230400" latinLnBrk="0">
              <a:lnSpc>
                <a:spcPct val="13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안정성의 원칙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재산과세가 지방정부로 하여금 조세수입을 안정적으로 확보할 수 있게 함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재산세를 지방세의 중심축으로 삼는 것은 지역간 재정불균형을 심화시키는 문제를 일으킬 수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24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896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2.4 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422402"/>
            <a:ext cx="8160508" cy="4754563"/>
          </a:xfrm>
        </p:spPr>
        <p:txBody>
          <a:bodyPr>
            <a:noAutofit/>
          </a:bodyPr>
          <a:lstStyle/>
          <a:p>
            <a:pPr marL="230400"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넓은 의미의 지방정부 재정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도 교육청이 관리하는 교육재정과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일반적인 지방정부가 관리하는 재정으로 구성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일반적 의미의 지방재정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교육재정을 제외한 지방정부의 재정 의미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2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-230400" latinLnBrk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/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지방재정의 대부분은 예산이 차지하고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그중에서도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일반회계가 특히 큰 비중을 차지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25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DB897E6-CF19-4D96-A815-630F2699E1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4292" y="3034042"/>
            <a:ext cx="7024457" cy="2387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205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재원의 구성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-230400" latinLnBrk="0">
              <a:lnSpc>
                <a:spcPct val="130000"/>
              </a:lnSpc>
              <a:spcBef>
                <a:spcPts val="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지방정부의 </a:t>
            </a: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재원구성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  <a:spcBef>
                <a:spcPts val="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자체재원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지방정부가 자체적으로 조달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  <a:spcBef>
                <a:spcPts val="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지방세 수입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사용료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수수료 등의 세외수입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3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의존재원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중앙정부나 상위 지방정부로부터의 지원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30000"/>
              </a:lnSpc>
              <a:spcBef>
                <a:spcPts val="0"/>
              </a:spcBef>
            </a:pPr>
            <a:r>
              <a:rPr lang="ko-KR" altLang="en-US" sz="200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지방교부세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보조금 등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30000"/>
              </a:lnSpc>
              <a:spcBef>
                <a:spcPts val="3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지방정부는 필요에 따라 지방채 발행을 통해 재정운용에 필요한 재원을 마련할 수도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26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72160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재원의 구성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45523" y="1422402"/>
            <a:ext cx="7886700" cy="4754563"/>
          </a:xfrm>
        </p:spPr>
        <p:txBody>
          <a:bodyPr>
            <a:noAutofit/>
          </a:bodyPr>
          <a:lstStyle/>
          <a:p>
            <a:pPr marL="230400" indent="-230400" latinLnBrk="0">
              <a:lnSpc>
                <a:spcPct val="11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지방정부는 재원의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42.9%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를 중앙정부나 상위 지방정부의 재정지원에 의존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10000"/>
              </a:lnSpc>
              <a:spcBef>
                <a:spcPts val="1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중앙정부의 재정보조를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통해 지방정부의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활동영역이 넓어질 수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있다는 점은 긍정적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10000"/>
              </a:lnSpc>
              <a:spcBef>
                <a:spcPts val="15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지방정부의 독자적 사업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운영에 유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무형의 제약이 </a:t>
            </a:r>
            <a:b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된다는 점에서 부정적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10000"/>
              </a:lnSpc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27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75694B5-DCC6-4AC4-A550-C009AB9D2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43210" y="2426922"/>
            <a:ext cx="4951292" cy="358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8469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분야별 지출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28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FCCFA1F-5C71-4608-9195-D14C25F00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9006" y="1665994"/>
            <a:ext cx="7105479" cy="465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2220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중앙정부와 비교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313218"/>
            <a:ext cx="7886700" cy="4992046"/>
          </a:xfrm>
        </p:spPr>
        <p:txBody>
          <a:bodyPr>
            <a:noAutofit/>
          </a:bodyPr>
          <a:lstStyle/>
          <a:p>
            <a:pPr marL="230400" indent="-230400" latinLnBrk="0">
              <a:spcBef>
                <a:spcPts val="1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전체 재정에서 중앙정부가 차지하는 비중은 지방정부에 비해 큼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latinLnBrk="0">
              <a:spcBef>
                <a:spcPts val="1000"/>
              </a:spcBef>
              <a:buNone/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 latinLnBrk="0">
              <a:spcBef>
                <a:spcPts val="1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000"/>
              </a:spcBef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진정한 지방자치를 위해 지방정부의 재정자립도를 높일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필요 있음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29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5C55721-6227-4E94-A215-A2874FD67C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42837" y="1896880"/>
            <a:ext cx="5841734" cy="383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5427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재정자립도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766807"/>
            <a:ext cx="7886700" cy="4639917"/>
          </a:xfrm>
        </p:spPr>
        <p:txBody>
          <a:bodyPr>
            <a:normAutofit/>
          </a:bodyPr>
          <a:lstStyle/>
          <a:p>
            <a:pPr marL="230400" indent="-230400" latinLnBrk="0">
              <a:spcBef>
                <a:spcPts val="1500"/>
              </a:spcBef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재정자립도 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지방정부의 전체 예산에서 지방세나 세외수입과 같은 자체 재원이 얼마나 되는가를 측정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500"/>
              </a:spcBef>
            </a:pP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</a:p>
          <a:p>
            <a:pPr marL="230400" indent="-230400" latinLnBrk="0"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spcBef>
                <a:spcPts val="150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30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42ED40A-4FA9-444A-A355-2B6FB6124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3482" y="2425361"/>
            <a:ext cx="6097335" cy="393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240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재정자립도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49" y="1422402"/>
            <a:ext cx="8092270" cy="4754563"/>
          </a:xfrm>
        </p:spPr>
        <p:txBody>
          <a:bodyPr>
            <a:normAutofit/>
          </a:bodyPr>
          <a:lstStyle/>
          <a:p>
            <a:pPr indent="-230400" latinLnBrk="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상위의 지방자치단체에서 하위로 갈수록 재정자립도가 더 낮아지는 추세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평균적으로 특별시나 광역시의 재정자립도가 도보다 더 높음</a:t>
            </a:r>
          </a:p>
          <a:p>
            <a:pPr indent="-230400" latinLnBrk="0">
              <a:lnSpc>
                <a:spcPct val="140000"/>
              </a:lnSpc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indent="-230400" latinLnBrk="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지역간 재정불균형의 문제가 매우 심각한 상황 </a:t>
            </a: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vl="1" indent="-230400" latinLnBrk="0">
              <a:lnSpc>
                <a:spcPct val="140000"/>
              </a:lnSpc>
            </a:pP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자치구나 시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·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군 단위에서</a:t>
            </a:r>
            <a:r>
              <a:rPr lang="en-US" altLang="ko-KR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ko-KR" altLang="en-US" sz="2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재정자립도가 최대인 지역과 최소인 지역 사이에 두 배 이상의 격차 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31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01180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지방세 체계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atinLnBrk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0" indent="0" latinLnBrk="0">
              <a:buNone/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latinLnBrk="0"/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32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2838B71-AD47-47B5-B6AA-C5F4D89C4A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2378" y="1531870"/>
            <a:ext cx="7942972" cy="4629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889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541337"/>
            <a:ext cx="9144000" cy="711200"/>
          </a:xfrm>
        </p:spPr>
        <p:txBody>
          <a:bodyPr>
            <a:normAutofit/>
          </a:bodyPr>
          <a:lstStyle/>
          <a:p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지방재정 </a:t>
            </a:r>
            <a:r>
              <a:rPr lang="en-US" altLang="ko-KR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32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지방세 체계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28650" y="1523141"/>
            <a:ext cx="7886700" cy="4754563"/>
          </a:xfrm>
        </p:spPr>
        <p:txBody>
          <a:bodyPr>
            <a:noAutofit/>
          </a:bodyPr>
          <a:lstStyle/>
          <a:p>
            <a:pPr marL="230400" indent="-230400" latinLnBrk="0">
              <a:lnSpc>
                <a:spcPct val="10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0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00000"/>
              </a:lnSpc>
              <a:spcBef>
                <a:spcPts val="0"/>
              </a:spcBef>
            </a:pP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0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0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0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0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0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00000"/>
              </a:lnSpc>
              <a:spcBef>
                <a:spcPts val="0"/>
              </a:spcBef>
            </a:pPr>
            <a:endParaRPr lang="en-US" altLang="ko-KR" sz="2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00000"/>
              </a:lnSpc>
              <a:spcBef>
                <a:spcPts val="70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지방소비세가 전체 지방세 수입의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23.2%,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취득세가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21.7%,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지방소득세가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17.9%, 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재산세가 </a:t>
            </a:r>
            <a: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  <a:t>13.4%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의 비중 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00000"/>
              </a:lnSpc>
              <a:spcBef>
                <a:spcPts val="70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재산과세의 비중 높음 ⇒ 지역간 재정불균형을 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심화시키는</a:t>
            </a: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요인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30400" indent="-230400" latinLnBrk="0">
              <a:lnSpc>
                <a:spcPct val="100000"/>
              </a:lnSpc>
              <a:spcBef>
                <a:spcPts val="700"/>
              </a:spcBef>
            </a:pP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재산과세 중 거래단계의 과세가 보유단계의 과세보다 더 큰 비중</a:t>
            </a:r>
            <a:br>
              <a:rPr lang="en-US" altLang="ko-KR" dirty="0">
                <a:latin typeface="나눔고딕" panose="020D0604000000000000" pitchFamily="50" charset="-127"/>
                <a:ea typeface="나눔고딕" panose="020D0604000000000000" pitchFamily="50" charset="-127"/>
              </a:rPr>
            </a:br>
            <a:r>
              <a:rPr lang="ko-KR" altLang="en-US" dirty="0">
                <a:latin typeface="나눔고딕" panose="020D0604000000000000" pitchFamily="50" charset="-127"/>
                <a:ea typeface="나눔고딕" panose="020D0604000000000000" pitchFamily="50" charset="-127"/>
              </a:rPr>
              <a:t>⇒ 지방정부의 조세수입이 경제상황에 크게 영향을 받아 안정성 측면에서 문제를 일으킬 수 있음</a:t>
            </a:r>
            <a:endParaRPr lang="en-US" altLang="ko-KR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PUBLIC FINANCE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제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2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장  우리나라의 재정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CA9FF6-BF29-4679-8C21-AEBAF2895125}" type="slidenum"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pPr/>
              <a:t>33</a:t>
            </a:fld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B8D4005-BC02-49A3-BA40-B91C1F59D4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04417" y="1570859"/>
            <a:ext cx="7263305" cy="2650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004775"/>
      </p:ext>
    </p:extLst>
  </p:cSld>
  <p:clrMapOvr>
    <a:masterClrMapping/>
  </p:clrMapOvr>
</p:sld>
</file>

<file path=ppt/theme/theme1.xml><?xml version="1.0" encoding="utf-8"?>
<a:theme xmlns:a="http://schemas.openxmlformats.org/drawingml/2006/main" name="재정학테마">
  <a:themeElements>
    <a:clrScheme name="사용자 지정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6B73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재정학테마" id="{D220411F-458E-4BEF-9391-46AA3D35AAC4}" vid="{007A1872-AD0C-400C-B34D-A147BE5B3ECB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재정학테마</Template>
  <TotalTime>1934</TotalTime>
  <Words>1456</Words>
  <Application>Microsoft Office PowerPoint</Application>
  <PresentationFormat>화면 슬라이드 쇼(4:3)</PresentationFormat>
  <Paragraphs>353</Paragraphs>
  <Slides>33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2" baseType="lpstr">
      <vt:lpstr>굴림</vt:lpstr>
      <vt:lpstr>나눔고딕</vt:lpstr>
      <vt:lpstr>나눔고딕 ExtraBold</vt:lpstr>
      <vt:lpstr>맑은 고딕</vt:lpstr>
      <vt:lpstr>바탕</vt:lpstr>
      <vt:lpstr>새굴림</vt:lpstr>
      <vt:lpstr>Arial</vt:lpstr>
      <vt:lpstr>Wingdings</vt:lpstr>
      <vt:lpstr>재정학테마</vt:lpstr>
      <vt:lpstr>PowerPoint 프레젠테이션</vt:lpstr>
      <vt:lpstr>2.1  재정의 기본골격</vt:lpstr>
      <vt:lpstr>재정의 기본골격 : 중앙정부의 재정</vt:lpstr>
      <vt:lpstr>PowerPoint 프레젠테이션</vt:lpstr>
      <vt:lpstr>재정의 기본골격 : 일반회계 - 세입</vt:lpstr>
      <vt:lpstr>재정의 기본골격 : 일반회계 - 세입</vt:lpstr>
      <vt:lpstr>재정의 기본골격 : 일반회계 - 세입</vt:lpstr>
      <vt:lpstr>재정의 기본골격 : 일반회계 - 세입</vt:lpstr>
      <vt:lpstr>재정의 기본골격 : 일반회계 - 세출</vt:lpstr>
      <vt:lpstr>재정의 기본골격 : 특별회계</vt:lpstr>
      <vt:lpstr>재정의 기본골격 : 기금</vt:lpstr>
      <vt:lpstr>2.2  정부지출의 수준과 구성</vt:lpstr>
      <vt:lpstr>정부지출의 수준</vt:lpstr>
      <vt:lpstr>정부지출의 수준</vt:lpstr>
      <vt:lpstr>정부지출의 구성</vt:lpstr>
      <vt:lpstr>2.3  조세제도</vt:lpstr>
      <vt:lpstr>조세제도 : 조세부담률</vt:lpstr>
      <vt:lpstr>중앙정부의 조세수입 내역</vt:lpstr>
      <vt:lpstr>조세제도 : 소득과세</vt:lpstr>
      <vt:lpstr>조세제도 : 소득과세</vt:lpstr>
      <vt:lpstr>조세제도 : 소비과세</vt:lpstr>
      <vt:lpstr>조세제도 : 소비과세</vt:lpstr>
      <vt:lpstr>조세제도 : 재산과세</vt:lpstr>
      <vt:lpstr>조세제도 : 재산과세</vt:lpstr>
      <vt:lpstr>2.4  지방재정</vt:lpstr>
      <vt:lpstr>지방재정 : 재원의 구성</vt:lpstr>
      <vt:lpstr>지방재정 : 재원의 구성</vt:lpstr>
      <vt:lpstr>지방재정 : 분야별 지출</vt:lpstr>
      <vt:lpstr>지방재정 : 중앙정부와 비교</vt:lpstr>
      <vt:lpstr>지방재정 : 재정자립도</vt:lpstr>
      <vt:lpstr>지방재정 : 재정자립도</vt:lpstr>
      <vt:lpstr>지방재정 : 지방세 체계</vt:lpstr>
      <vt:lpstr>지방재정 : 지방세 체계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 1장   재정학: 의의와 성격</dc:title>
  <dc:creator>chomh</dc:creator>
  <cp:lastModifiedBy>영완 전</cp:lastModifiedBy>
  <cp:revision>629</cp:revision>
  <dcterms:created xsi:type="dcterms:W3CDTF">2015-08-04T05:38:00Z</dcterms:created>
  <dcterms:modified xsi:type="dcterms:W3CDTF">2026-01-12T05:03:37Z</dcterms:modified>
</cp:coreProperties>
</file>