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3"/>
  </p:notesMasterIdLst>
  <p:handoutMasterIdLst>
    <p:handoutMasterId r:id="rId44"/>
  </p:handoutMasterIdLst>
  <p:sldIdLst>
    <p:sldId id="316" r:id="rId2"/>
    <p:sldId id="258" r:id="rId3"/>
    <p:sldId id="294" r:id="rId4"/>
    <p:sldId id="297" r:id="rId5"/>
    <p:sldId id="298" r:id="rId6"/>
    <p:sldId id="264" r:id="rId7"/>
    <p:sldId id="299" r:id="rId8"/>
    <p:sldId id="300" r:id="rId9"/>
    <p:sldId id="266" r:id="rId10"/>
    <p:sldId id="267" r:id="rId11"/>
    <p:sldId id="301" r:id="rId12"/>
    <p:sldId id="302" r:id="rId13"/>
    <p:sldId id="303" r:id="rId14"/>
    <p:sldId id="271" r:id="rId15"/>
    <p:sldId id="272" r:id="rId16"/>
    <p:sldId id="305" r:id="rId17"/>
    <p:sldId id="274" r:id="rId18"/>
    <p:sldId id="275" r:id="rId19"/>
    <p:sldId id="306" r:id="rId20"/>
    <p:sldId id="276" r:id="rId21"/>
    <p:sldId id="312" r:id="rId22"/>
    <p:sldId id="277" r:id="rId23"/>
    <p:sldId id="309" r:id="rId24"/>
    <p:sldId id="278" r:id="rId25"/>
    <p:sldId id="280" r:id="rId26"/>
    <p:sldId id="313" r:id="rId27"/>
    <p:sldId id="310" r:id="rId28"/>
    <p:sldId id="311" r:id="rId29"/>
    <p:sldId id="282" r:id="rId30"/>
    <p:sldId id="283" r:id="rId31"/>
    <p:sldId id="284" r:id="rId32"/>
    <p:sldId id="285" r:id="rId33"/>
    <p:sldId id="314" r:id="rId34"/>
    <p:sldId id="31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5B74A-DE38-4103-BAB0-7A6DF0184D0E}" v="21" dt="2026-01-12T05:14:16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71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600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custSel modSld">
      <pc:chgData name="영완 전" userId="94a232b962f42e62" providerId="LiveId" clId="{862E7F7D-119D-4717-AD52-91020921814B}" dt="2026-01-12T05:14:21.171" v="65" actId="14100"/>
      <pc:docMkLst>
        <pc:docMk/>
      </pc:docMkLst>
      <pc:sldChg chg="modSp mod">
        <pc:chgData name="영완 전" userId="94a232b962f42e62" providerId="LiveId" clId="{862E7F7D-119D-4717-AD52-91020921814B}" dt="2026-01-12T05:11:57.899" v="52" actId="20577"/>
        <pc:sldMkLst>
          <pc:docMk/>
          <pc:sldMk cId="2131678008" sldId="258"/>
        </pc:sldMkLst>
        <pc:spChg chg="mod">
          <ac:chgData name="영완 전" userId="94a232b962f42e62" providerId="LiveId" clId="{862E7F7D-119D-4717-AD52-91020921814B}" dt="2026-01-12T05:11:57.899" v="52" actId="20577"/>
          <ac:spMkLst>
            <pc:docMk/>
            <pc:sldMk cId="2131678008" sldId="25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2:35.930" v="57" actId="313"/>
        <pc:sldMkLst>
          <pc:docMk/>
          <pc:sldMk cId="2839455499" sldId="264"/>
        </pc:sldMkLst>
        <pc:spChg chg="mod">
          <ac:chgData name="영완 전" userId="94a232b962f42e62" providerId="LiveId" clId="{862E7F7D-119D-4717-AD52-91020921814B}" dt="2026-01-12T05:12:35.930" v="57" actId="313"/>
          <ac:spMkLst>
            <pc:docMk/>
            <pc:sldMk cId="2839455499" sldId="26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01:05.723" v="3" actId="20577"/>
        <pc:sldMkLst>
          <pc:docMk/>
          <pc:sldMk cId="4218271124" sldId="266"/>
        </pc:sldMkLst>
        <pc:spChg chg="mod">
          <ac:chgData name="영완 전" userId="94a232b962f42e62" providerId="LiveId" clId="{862E7F7D-119D-4717-AD52-91020921814B}" dt="2026-01-07T05:01:05.723" v="3" actId="20577"/>
          <ac:spMkLst>
            <pc:docMk/>
            <pc:sldMk cId="4218271124" sldId="26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2:53.996" v="60" actId="20577"/>
        <pc:sldMkLst>
          <pc:docMk/>
          <pc:sldMk cId="3872314658" sldId="267"/>
        </pc:sldMkLst>
        <pc:spChg chg="mod">
          <ac:chgData name="영완 전" userId="94a232b962f42e62" providerId="LiveId" clId="{862E7F7D-119D-4717-AD52-91020921814B}" dt="2026-01-12T05:12:53.996" v="60" actId="20577"/>
          <ac:spMkLst>
            <pc:docMk/>
            <pc:sldMk cId="3872314658" sldId="267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7T05:02:47.872" v="12" actId="20577"/>
        <pc:sldMkLst>
          <pc:docMk/>
          <pc:sldMk cId="3466874465" sldId="274"/>
        </pc:sldMkLst>
        <pc:spChg chg="mod">
          <ac:chgData name="영완 전" userId="94a232b962f42e62" providerId="LiveId" clId="{862E7F7D-119D-4717-AD52-91020921814B}" dt="2026-01-07T05:02:47.872" v="12" actId="20577"/>
          <ac:spMkLst>
            <pc:docMk/>
            <pc:sldMk cId="3466874465" sldId="27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02:56.363" v="13" actId="20577"/>
        <pc:sldMkLst>
          <pc:docMk/>
          <pc:sldMk cId="1891645836" sldId="275"/>
        </pc:sldMkLst>
        <pc:spChg chg="mod">
          <ac:chgData name="영완 전" userId="94a232b962f42e62" providerId="LiveId" clId="{862E7F7D-119D-4717-AD52-91020921814B}" dt="2026-01-07T05:02:56.363" v="13" actId="20577"/>
          <ac:spMkLst>
            <pc:docMk/>
            <pc:sldMk cId="1891645836" sldId="2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03:23.235" v="15" actId="313"/>
        <pc:sldMkLst>
          <pc:docMk/>
          <pc:sldMk cId="3967870719" sldId="276"/>
        </pc:sldMkLst>
        <pc:spChg chg="mod">
          <ac:chgData name="영완 전" userId="94a232b962f42e62" providerId="LiveId" clId="{862E7F7D-119D-4717-AD52-91020921814B}" dt="2026-01-07T05:03:23.235" v="15" actId="313"/>
          <ac:spMkLst>
            <pc:docMk/>
            <pc:sldMk cId="3967870719" sldId="27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14:18.045" v="47"/>
        <pc:sldMkLst>
          <pc:docMk/>
          <pc:sldMk cId="2767843972" sldId="278"/>
        </pc:sldMkLst>
        <pc:spChg chg="mod">
          <ac:chgData name="영완 전" userId="94a232b962f42e62" providerId="LiveId" clId="{862E7F7D-119D-4717-AD52-91020921814B}" dt="2026-01-08T02:14:18.045" v="47"/>
          <ac:spMkLst>
            <pc:docMk/>
            <pc:sldMk cId="2767843972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04:27.878" v="23" actId="20577"/>
        <pc:sldMkLst>
          <pc:docMk/>
          <pc:sldMk cId="80782052" sldId="280"/>
        </pc:sldMkLst>
        <pc:spChg chg="mod">
          <ac:chgData name="영완 전" userId="94a232b962f42e62" providerId="LiveId" clId="{862E7F7D-119D-4717-AD52-91020921814B}" dt="2026-01-07T05:04:27.878" v="23" actId="20577"/>
          <ac:spMkLst>
            <pc:docMk/>
            <pc:sldMk cId="80782052" sldId="28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4:00.329" v="62" actId="20577"/>
        <pc:sldMkLst>
          <pc:docMk/>
          <pc:sldMk cId="2637531843" sldId="282"/>
        </pc:sldMkLst>
        <pc:spChg chg="mod">
          <ac:chgData name="영완 전" userId="94a232b962f42e62" providerId="LiveId" clId="{862E7F7D-119D-4717-AD52-91020921814B}" dt="2026-01-12T05:14:00.329" v="62" actId="20577"/>
          <ac:spMkLst>
            <pc:docMk/>
            <pc:sldMk cId="2637531843" sldId="28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4:21.171" v="65" actId="14100"/>
        <pc:sldMkLst>
          <pc:docMk/>
          <pc:sldMk cId="3667653090" sldId="283"/>
        </pc:sldMkLst>
        <pc:spChg chg="mod">
          <ac:chgData name="영완 전" userId="94a232b962f42e62" providerId="LiveId" clId="{862E7F7D-119D-4717-AD52-91020921814B}" dt="2026-01-12T05:14:21.171" v="65" actId="14100"/>
          <ac:spMkLst>
            <pc:docMk/>
            <pc:sldMk cId="3667653090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06:19.937" v="33" actId="20577"/>
        <pc:sldMkLst>
          <pc:docMk/>
          <pc:sldMk cId="1233157791" sldId="285"/>
        </pc:sldMkLst>
        <pc:spChg chg="mod">
          <ac:chgData name="영완 전" userId="94a232b962f42e62" providerId="LiveId" clId="{862E7F7D-119D-4717-AD52-91020921814B}" dt="2026-01-07T05:06:19.937" v="33" actId="20577"/>
          <ac:spMkLst>
            <pc:docMk/>
            <pc:sldMk cId="1233157791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07:11.766" v="39"/>
        <pc:sldMkLst>
          <pc:docMk/>
          <pc:sldMk cId="1033667446" sldId="287"/>
        </pc:sldMkLst>
        <pc:spChg chg="mod">
          <ac:chgData name="영완 전" userId="94a232b962f42e62" providerId="LiveId" clId="{862E7F7D-119D-4717-AD52-91020921814B}" dt="2026-01-07T05:07:11.766" v="39"/>
          <ac:spMkLst>
            <pc:docMk/>
            <pc:sldMk cId="1033667446" sldId="28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14:55.881" v="50"/>
        <pc:sldMkLst>
          <pc:docMk/>
          <pc:sldMk cId="2982002726" sldId="290"/>
        </pc:sldMkLst>
        <pc:spChg chg="mod">
          <ac:chgData name="영완 전" userId="94a232b962f42e62" providerId="LiveId" clId="{862E7F7D-119D-4717-AD52-91020921814B}" dt="2026-01-08T02:14:55.881" v="50"/>
          <ac:spMkLst>
            <pc:docMk/>
            <pc:sldMk cId="2982002726" sldId="290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8T02:15:01.005" v="51"/>
        <pc:sldMkLst>
          <pc:docMk/>
          <pc:sldMk cId="483802110" sldId="291"/>
        </pc:sldMkLst>
        <pc:spChg chg="mod">
          <ac:chgData name="영완 전" userId="94a232b962f42e62" providerId="LiveId" clId="{862E7F7D-119D-4717-AD52-91020921814B}" dt="2026-01-08T02:15:01.005" v="51"/>
          <ac:spMkLst>
            <pc:docMk/>
            <pc:sldMk cId="483802110" sldId="29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3:26.895" v="61" actId="20577"/>
        <pc:sldMkLst>
          <pc:docMk/>
          <pc:sldMk cId="3688719294" sldId="309"/>
        </pc:sldMkLst>
        <pc:spChg chg="mod">
          <ac:chgData name="영완 전" userId="94a232b962f42e62" providerId="LiveId" clId="{862E7F7D-119D-4717-AD52-91020921814B}" dt="2026-01-12T05:13:26.895" v="61" actId="20577"/>
          <ac:spMkLst>
            <pc:docMk/>
            <pc:sldMk cId="3688719294" sldId="30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05:07.517" v="25" actId="20577"/>
        <pc:sldMkLst>
          <pc:docMk/>
          <pc:sldMk cId="3561350851" sldId="311"/>
        </pc:sldMkLst>
        <pc:spChg chg="mod">
          <ac:chgData name="영완 전" userId="94a232b962f42e62" providerId="LiveId" clId="{862E7F7D-119D-4717-AD52-91020921814B}" dt="2026-01-07T05:05:07.517" v="25" actId="20577"/>
          <ac:spMkLst>
            <pc:docMk/>
            <pc:sldMk cId="3561350851" sldId="31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5:04:50.389" v="24" actId="20577"/>
        <pc:sldMkLst>
          <pc:docMk/>
          <pc:sldMk cId="269197048" sldId="313"/>
        </pc:sldMkLst>
        <pc:spChg chg="mod">
          <ac:chgData name="영완 전" userId="94a232b962f42e62" providerId="LiveId" clId="{862E7F7D-119D-4717-AD52-91020921814B}" dt="2026-01-07T05:04:50.389" v="24" actId="20577"/>
          <ac:spMkLst>
            <pc:docMk/>
            <pc:sldMk cId="269197048" sldId="31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855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42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4</a:t>
            </a:r>
            <a:r>
              <a:rPr lang="ko-KR" altLang="en-US"/>
              <a:t>장  공공재의 문제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059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9227034-34F5-4BC6-B023-7963099A9DC2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93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8B0021C-EFF0-C833-AD67-18316A0FD904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8" name="화살표: 오각형 7">
              <a:extLst>
                <a:ext uri="{FF2B5EF4-FFF2-40B4-BE49-F238E27FC236}">
                  <a16:creationId xmlns:a16="http://schemas.microsoft.com/office/drawing/2014/main" id="{19B4ED63-C057-51CE-BDE0-4EFBA95E97C4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화살표: 갈매기형 수장 8">
              <a:extLst>
                <a:ext uri="{FF2B5EF4-FFF2-40B4-BE49-F238E27FC236}">
                  <a16:creationId xmlns:a16="http://schemas.microsoft.com/office/drawing/2014/main" id="{1A248E59-78D7-0D3F-FA25-FCD657ED55E3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화살표: 갈매기형 수장 9">
              <a:extLst>
                <a:ext uri="{FF2B5EF4-FFF2-40B4-BE49-F238E27FC236}">
                  <a16:creationId xmlns:a16="http://schemas.microsoft.com/office/drawing/2014/main" id="{A740B188-A613-9DE2-ACCE-B485C62FDEA3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462078"/>
            <a:ext cx="9144000" cy="711200"/>
          </a:xfrm>
        </p:spPr>
        <p:txBody>
          <a:bodyPr>
            <a:normAutofit/>
          </a:bodyPr>
          <a:lstStyle>
            <a:lvl1pPr algn="ctr">
              <a:defRPr sz="26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3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30000"/>
              </a:lnSpc>
              <a:spcAft>
                <a:spcPts val="3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lnSpc>
                <a:spcPct val="130000"/>
              </a:lnSpc>
              <a:spcAft>
                <a:spcPts val="3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30000"/>
              </a:lnSpc>
              <a:spcAft>
                <a:spcPts val="3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30000"/>
              </a:lnSpc>
              <a:spcAft>
                <a:spcPts val="3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4</a:t>
            </a:r>
            <a:r>
              <a:rPr lang="ko-KR" altLang="en-US"/>
              <a:t>장  공공재의 문제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502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BF81059-8432-A41A-5C47-BA1A9545575E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9" name="화살표: 오각형 8">
              <a:extLst>
                <a:ext uri="{FF2B5EF4-FFF2-40B4-BE49-F238E27FC236}">
                  <a16:creationId xmlns:a16="http://schemas.microsoft.com/office/drawing/2014/main" id="{E2FAAC6C-0FF4-F474-BC35-B9F93D6179D9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9AB0DEA5-2AAF-7A9D-06BE-DB4B76947D6B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220D8EF2-93DD-47C2-246D-92D06AE10114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" y="464457"/>
            <a:ext cx="9144001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4</a:t>
            </a:r>
            <a:r>
              <a:rPr lang="ko-KR" altLang="en-US"/>
              <a:t>장  공공재의 문제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198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1" r:id="rId2"/>
    <p:sldLayoutId id="2147483710" r:id="rId3"/>
  </p:sldLayoutIdLst>
  <p:hf hdr="0"/>
  <p:txStyles>
    <p:titleStyle>
      <a:lvl1pPr algn="ctr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/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05F2FEE1-5A0B-4796-8200-F98CAA8A75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DCBD3AC-1F27-8445-826D-FFEC613DEA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11B81C2A-73FE-81DA-8D4B-CE79EE6BBC55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F419C24-CA27-6C71-476C-C9EEFC07EACC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C67CF1A-2897-C14F-C974-CACC62A612FD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233144F-2F1C-A44B-FF15-5EC5EBB36050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제목 4">
            <a:extLst>
              <a:ext uri="{FF2B5EF4-FFF2-40B4-BE49-F238E27FC236}">
                <a16:creationId xmlns:a16="http://schemas.microsoft.com/office/drawing/2014/main" id="{B4E8E74B-3E49-646E-F132-ED641726A8AC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>
                <a:solidFill>
                  <a:schemeClr val="accent5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공공재의 문제</a:t>
            </a: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7A6D489-B5FA-F83F-4B29-7AADB9CCEF5A}"/>
              </a:ext>
            </a:extLst>
          </p:cNvPr>
          <p:cNvSpPr txBox="1">
            <a:spLocks/>
          </p:cNvSpPr>
          <p:nvPr/>
        </p:nvSpPr>
        <p:spPr>
          <a:xfrm>
            <a:off x="4389120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의미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4.2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최적수준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4.3  </a:t>
            </a:r>
            <a:r>
              <a:rPr lang="ko-KR" altLang="en-US" sz="1600" b="1" dirty="0" err="1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자발적 교환 모형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4.4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4.5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다른 측면</a:t>
            </a:r>
          </a:p>
        </p:txBody>
      </p:sp>
    </p:spTree>
    <p:extLst>
      <p:ext uri="{BB962C8B-B14F-4D97-AF65-F5344CB8AC3E}">
        <p14:creationId xmlns:p14="http://schemas.microsoft.com/office/powerpoint/2010/main" val="2547481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4.1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의미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goods)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집단의 어떤 사람을 위해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어떤 사람에 의해 생산되는 즉시 그 집단의 모든 구성원이 함께 소비할 수 있는 재화 나 서비스</a:t>
            </a:r>
            <a:b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도로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공원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국방서비스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경찰서비스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공평한 소득분배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공공재는 공급의 주체가 </a:t>
            </a:r>
            <a:r>
              <a:rPr lang="ko-KR" altLang="en-US" sz="20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누구냐와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무관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정부가 공급하는 사용재의 성격을 갖는 것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의료서비스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수돗물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민간단체가 공급하는 공공재의 성격을 갖는 것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공원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박물관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가치재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(merit goods)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와 구분할 필요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0000"/>
              </a:lnSpc>
              <a:spcAft>
                <a:spcPts val="0"/>
              </a:spcAft>
            </a:pPr>
            <a:r>
              <a:rPr lang="ko-KR" altLang="en-US" sz="20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가치재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국민들이 고루 소비할 수 있게 만들어 주는 것이 바람직하다는 견지에서 정부가 생산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공급하는 재화나 서비스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기본성격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비경합성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두 가지 기본성격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비경합성과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</a:t>
            </a:r>
          </a:p>
          <a:p>
            <a:pPr marL="230400" indent="-230400" latinLnBrk="0">
              <a:spcBef>
                <a:spcPts val="0"/>
              </a:spcBef>
              <a:spcAft>
                <a:spcPts val="0"/>
              </a:spcAft>
            </a:pP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비경합성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(non-rivalry)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사람이 그 재화를 소비한다고 해서 다른 사람의 소비 가능성이 줄어들지 않음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일정한 양의 공공재가 생산되면 그 사회의 모든 사람이 바로      그만큼의 공공재를 소비할 수 있음</a:t>
            </a:r>
            <a:endParaRPr lang="en-US" altLang="ko-KR" sz="2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소비의 비경합성 때문에 또 한 사람이 공공재의 소비에 참여해도 그와 관련된 한계비용은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93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기본성격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비경합성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CD62C2-A862-4C87-954F-5C4185DD5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367" y="1651911"/>
            <a:ext cx="7931907" cy="452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77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기본성격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(non-excludability)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대가를 치르지 않고 그것을 소비하려는 사람을 배제할 수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 대가를 치르지 않으면 그것을 소비할 수 없다는 배제의 원칙이 철저하게 적용</a:t>
            </a: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공공재는 배제불가능성으로 인해 사람들이 무임승차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(free riding)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하려 해서 양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가격을 매길 수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8790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공공재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순수한 공공재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(pure public goods)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비경합성과 배제불가능성을 모두 갖춘 공공재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순수하지 못한 공공재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(impure public goods)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비경합성과 배제 불가능성을 완벽하게 갖추지 못한 공공재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공공재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라고도 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혼잡가능공공재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(congestible public goods)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비경합성을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가져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소비하는 사람이 너무 많을 때 혼잡의 문제가 발생하는 공공재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박물관 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9455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공공재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배제불가능성의 측면에서 볼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 불완전한 공공재도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2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학교나 공원 같은 공공재의 경우 비교적 쉽게 배제의 원칙을 적용할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2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배제불가능성은 생산기술의 특성에 따라 달라질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ko-KR" altLang="en-US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보는 대부분의 공공재들은 비경합성과 배제불가능성의 측면에서 제각기 다른 정도의 불완전성을 가짐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926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여러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F4778F-559E-4BCB-98CF-2FFAC566A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51" y="1513507"/>
            <a:ext cx="7846626" cy="475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8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클럽의 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뷰캐넌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Buchanan) 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혼잡가능공공재를 대상으로 하는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클럽의 이론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(theory of club)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제시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클럽의 이론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클럽의 최적 규모와 최적 회원 수의 결정과정 설명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클럽의 규모가 주어진 상황에서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 수 증가에 따른 비용과 편익의 변화를 관찰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주어진 규모의 클럽에 대한 최적 회원 수 도출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회원 수가 주어진 상황에서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클럽의 규모가 달라짐에 따른 비용과 편익의 변화를 관찰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주어진 회원 수에 대한 클럽의 최적규모 도출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위의 과정을 통해 클럽의 최적규모와 최적 회원 수를 풀어낼 수 있음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827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4.2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최적수준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30400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대표적 소비자의 공공재와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 사이의 효용극대화로부터 공공재 가격변화에 따른 소비자의 선택점을 추적하여 공공재에 대한 수요곡선 도출 가능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Aft>
                    <a:spcPts val="0"/>
                  </a:spcAft>
                </a:pP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대표적 소비자의 효용극대화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	</a:t>
                </a:r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max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𝒁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subject to</a:t>
                </a:r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𝒑𝒁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</m:oMath>
                </a14:m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사용재의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가격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1,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공공재의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조세가격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𝒑</m:t>
                    </m:r>
                  </m:oMath>
                </a14:m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𝑪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사용재의 양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공공재의 양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𝑴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231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수요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90EA9E-B17B-42AF-8D84-F14519878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3866" y="1556626"/>
            <a:ext cx="8256268" cy="465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90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공공재에 대한 개인의 수요곡선은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경우와 별로 다르지 않음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74AC817-F99E-4724-96D0-528DFFF0E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1920" y="1422402"/>
            <a:ext cx="7280158" cy="413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79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시장수요곡선의 도출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사용재의 경우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수요곡선을 수평방향으로 더하여 도출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경우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개인의 수요곡선을 수직방향으로 더하여 도출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BBCE04-1BB4-4E58-9792-F01BBC83C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5728" y="2946078"/>
            <a:ext cx="5647749" cy="337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16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시장수요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30400" indent="-230400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 시장수요곡선의 높이는 각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공공재의 양에 대해 사회 구성원 전체가 지불할 용의를 갖는 가격으로 이해할 수 있음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현실에서 개별 소비자의 실제 수요곡선을 알아내기는 매우 어려움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사람들이 공공재에 대한 자신의 수요를 진실하게 표출한다는 보장이 없기 때문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개인의 수요곡선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𝑫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2000" b="1" i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,</m:t>
                    </m:r>
                    <m:r>
                      <m:rPr>
                        <m:nor/>
                      </m:rPr>
                      <a:rPr lang="en-US" altLang="ko-KR" sz="2000" b="1" i="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 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𝑫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각 사람이 진정한 수요를 표출한다는 가정하에서 구한 수요곡선이기 때문에 특별히 </a:t>
                </a: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가상수요곡선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(pseudo-demand curve)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이라고 부름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0293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사용재와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사용재의 최적 생산수준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시장수요곡선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𝒅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공급곡선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𝑺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교차하는 점에서 달성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소비자는 그 상품에서 나오는 한계편익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한계비용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𝑴𝑪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같아지는 점에서 소비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소비자가 얻는 한계편익은 서로 같아짐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Aft>
                    <a:spcPts val="0"/>
                  </a:spcAft>
                </a:pP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 생산수준의 조건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-230400" latinLnBrk="0"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ko-KR" sz="2000" b="1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ko-KR" sz="2000" b="1" i="0" smtClean="0">
                        <a:latin typeface="Cambria Math" panose="02040503050406030204" pitchFamily="18" charset="0"/>
                        <a:ea typeface="+mn-ea"/>
                      </a:rPr>
                      <m:t>   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한계편익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  <a:ea typeface="+mn-ea"/>
                      </a:rPr>
                      <m:t>𝑩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한계편익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𝑴𝑪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    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3605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사용재와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공공재의 최적 생산수준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시장수요곡선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𝑫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공급곡선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𝑺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교차하는 점에서 달성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소비자는 모두 같은 양의 공공재를 소비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소비자들이 누리는 한계편익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합과 한계비용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같아짐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Aft>
                    <a:spcPts val="0"/>
                  </a:spcAft>
                </a:pP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최적 생산수준의 조건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</a:p>
              <a:p>
                <a:pPr marL="0" indent="-230400" latinLnBrk="0">
                  <a:spcAft>
                    <a:spcPts val="0"/>
                  </a:spcAft>
                  <a:buNone/>
                </a:pP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한계편익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+ </a:t>
                </a: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  <a:ea typeface="+mn-ea"/>
                      </a:rPr>
                      <m:t>𝑩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한계편익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한계비용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    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7183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1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최적 수준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새뮤얼슨조건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indent="-230400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)’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𝑿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)’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이라는 사용재가 존재하는 상황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가격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𝑷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정규화하고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시장은 완전경쟁시장이라 가정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-230400" latinLnBrk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𝒙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(=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𝟏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endParaRPr lang="en-US" altLang="ko-KR" sz="2000" b="1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 최적 생산수준의 조건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𝑴𝑩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𝑴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𝑪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→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𝑨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f>
                      <m:f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sub>
                        </m:sSub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𝒁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→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𝑴𝑹𝑺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𝑴𝑹𝑺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𝑴𝑷𝑻</m:t>
                    </m:r>
                  </m:oMath>
                </a14:m>
                <a:endParaRPr lang="en-US" altLang="ko-KR" sz="2000" b="1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0"/>
                  </a:spcBef>
                  <a:spcAft>
                    <a:spcPts val="0"/>
                  </a:spcAft>
                </a:pPr>
                <a:endParaRPr lang="en-US" altLang="ko-KR" sz="2000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ko-KR" altLang="en-US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새뮤얼슨조건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(Samuelson condition)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한계대체율의 합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𝑴𝑹𝑺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=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한계생산변환율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𝑴𝑷𝑻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7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6874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4.3 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자발적 교환 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30400" indent="-230400" latinLnBrk="0"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린달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(E. Lindahl) 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당사자 간의 자발적 교환에 의해 공공재의 생산수준과 비용부담비율이 동시에 결정될 수 있는 모형 제시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lvl="1" indent="-230400" latinLnBrk="0">
                  <a:spcAft>
                    <a:spcPts val="0"/>
                  </a:spcAft>
                </a:pP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사람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𝑩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 존재한다고 가정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 생산의 단위비용은 생산수준과 관계없이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원으로 가정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사람의 효용은 공공재의 단위 생산비용 중 자신이 부담해야 하는 비율과 공공재 소비량에 의존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1645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자발적 교환 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0531" y="1427163"/>
            <a:ext cx="7886700" cy="4754563"/>
          </a:xfrm>
        </p:spPr>
        <p:txBody>
          <a:bodyPr>
            <a:normAutofit/>
          </a:bodyPr>
          <a:lstStyle/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95B8F26-ED46-4045-9491-A47D46E8E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770" y="1895807"/>
            <a:ext cx="7658028" cy="406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63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자발적 교환 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입장에서 볼 때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𝑩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공공재 수요곡선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𝑫</m:t>
                        </m:r>
                      </m:e>
                      <m:sub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공급곡선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린달균형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en-US" altLang="ko-KR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Lindahl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equilibrium)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사람의 수요곡선이 만나는 점에서 공공재 생산수준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생산비용의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부담비율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𝒌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결정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자발적 교환의 원리를 따르고 있다는 뜻에서 공공재 생산문제의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준시장적 해결책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’(quasi-market solution)</a:t>
                </a: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자발적 교환의 모형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문제점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각자가 공공재에 대한 자신의 진정한 선호를 표출한다는 가정   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7870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자발적 교환 모형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린달균형은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점에서 달성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3312405-D342-4E00-A91B-66DB45243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165" y="2223600"/>
            <a:ext cx="7734686" cy="411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74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4.4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모형은 각 개인이 공공재에 대한 진정한 선호를 표출한다는 비현실적인 가정을 전제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사람들이 공공재의 혜택을 원하면서도 그 비용은 부담하지 않으려는 현상이 나타날 가능성이 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(free rider problem)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 부담을 회피하려고 자신은 그 공공재를 원하지 않는다고 말해 놓고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사람에 의해 공급되면 이에 편승하고자 하는 경향이 있기 때문에 생겨나는 문제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0973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경우 소비자는 자신의 선호를 거짓으로 표출함으로써 이득을 볼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공공재가 배제불가능성의 특성을 갖기 때문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사용재의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소비자는 자신의 선호를 왜곡해서 표출함으로써 이득을 볼 여지가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무임승차를 시도한다면 자발적인 합의에 의해 정해지는 공공재의 수준은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새뮤얼슨모형이나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린달모형에서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구해진 최적 생산수준에 못 미치게 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8719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자율적인 시장기구는 공공재를 효율적으로 배분할 수 없으므로 정부가 공공재를 생산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공급해야 한다는 주장 나올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어떤 수단을 통해서든 공공재에 대한 사람들의 선호를 알아내고 강제력을 이용해 그 생산비용을 거둠으로써 무임승차자의 문제 해결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문제는 하나의 가설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(hypothesis)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 뿐 사실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(fact)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자체는 아님을 유의할 필요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341C8C8-F4A2-4EFE-A10F-CE72448121A6}"/>
              </a:ext>
            </a:extLst>
          </p:cNvPr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z="3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</a:p>
        </p:txBody>
      </p:sp>
    </p:spTree>
    <p:extLst>
      <p:ext uri="{BB962C8B-B14F-4D97-AF65-F5344CB8AC3E}">
        <p14:creationId xmlns:p14="http://schemas.microsoft.com/office/powerpoint/2010/main" val="2767843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용의자의 딜레마 게임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2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공공재를 별로 원하지 않는다고 말하는 것은 비용부담을 회피하기 위한 전략적 행동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(strategic behavior)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볼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문제를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용의자의 딜레마 게임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(prisoner’s dilemma game)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상황으로 이해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82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마을 주변에 홍수방지시설 비용 부담 여부를 고려 중에 있는 김씨와 박씨의 예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각자의 비용 부담액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1,000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홍수방지로 인한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수혜액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 모두 비용 부담하는 경우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각각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1,500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명만 비용 부담하는 경우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각각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750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아무도 비용 부담 안 하는 경우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BE14339-9647-4062-BC5C-2A642A31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용의자의 딜레마 게임</a:t>
            </a:r>
          </a:p>
        </p:txBody>
      </p:sp>
    </p:spTree>
    <p:extLst>
      <p:ext uri="{BB962C8B-B14F-4D97-AF65-F5344CB8AC3E}">
        <p14:creationId xmlns:p14="http://schemas.microsoft.com/office/powerpoint/2010/main" val="269197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보수행렬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우월전략균형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(dominant strategy equilibrium)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김씨와 박씨 모두 홍수방지시설 비용을 부담하지 않기로 결정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23461E92-6264-477C-A1B0-5C7BFE8D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용의자의 딜레마 게임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E32322-1856-41DE-B12A-21A22622F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215" y="2168385"/>
            <a:ext cx="7634850" cy="252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55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협상 가능성의 존재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3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사람이 모두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1,000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만원씩 부담해 완벽한 홍수방지시설을 갖추는 쪽이 두 사람 모두에게 더 큰 순편익을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가져다주지만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우월전략을 선택함에 따라 잠재적 순이익을 희생할 가능성이 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개입은 공공재의 문제와 관련한 용의자의 딜레마 상황을 타개하고 협조적인 해결책을 모색한다는 점에서 의미를 가질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1350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공공재와 관련된 공공부문의 개입이 성공을 거두기 위해서는 사람들로 하여금 진정한 선호를 표출하게 만들 수 있어야 한다는 조건이 충족 되어야 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(demand revelation mechanism)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사람들로 하여금 공공재에 대한 진정한 선호를 표출하도록 유도하는 제도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사람들로 하여금 공공재에 대한 선호를 표출하게 만든 후 특별한 공식에 의해 적정한 공공재의 수준과 각자가 내야 할 세금을 결정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자발적으로 진정한 선호를 표출할 유인의 제공이 문제의 핵심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7531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058150" cy="4754563"/>
              </a:xfrm>
            </p:spPr>
            <p:txBody>
              <a:bodyPr>
                <a:noAutofit/>
              </a:bodyPr>
              <a:lstStyle/>
              <a:p>
                <a:pPr marL="230400" indent="-230400" latinLnBrk="0">
                  <a:spcBef>
                    <a:spcPts val="2000"/>
                  </a:spcBef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𝒏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명의 사람에게 어떤 공공재에 대한 선호를 물음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e>
                    </m:d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𝒊</m:t>
                    </m:r>
                  </m:oMath>
                </a14:m>
                <a:r>
                  <a:rPr lang="ko-KR" altLang="en-US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번째 사람이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공공재 수준에 대해 부여하는 가치라고 대답한 것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30400" indent="-230400"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정부가 그 공공재를 단위당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𝒄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원의 비용으로 생산할 수 있을 때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정부는 다음의 사회적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순편익이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극대화되도록 공공재의 생산수준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선택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latinLnBrk="0">
                  <a:spcBef>
                    <a:spcPts val="1500"/>
                  </a:spcBef>
                  <a:buNone/>
                </a:pP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사회적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순편익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(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)</m:t>
                        </m:r>
                      </m:e>
                    </m:nary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𝒄𝒁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</a:t>
                </a:r>
              </a:p>
              <a:p>
                <a:pPr marL="230400" indent="-230400" latinLnBrk="0">
                  <a:spcBef>
                    <a:spcPts val="20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사람들이 대답한 공공재의 가치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기초해 공공재로부터 나오는 사회적 순편익을 극대화하도록 공공재의 수준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𝒁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선택한 것임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058150" cy="4754563"/>
              </a:xfrm>
              <a:blipFill>
                <a:blip r:embed="rId2"/>
                <a:stretch>
                  <a:fillRect l="-681" r="-4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653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230400" indent="-230400" latinLnBrk="0">
                  <a:lnSpc>
                    <a:spcPct val="140000"/>
                  </a:lnSpc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다음과 같은 공식에 의해 세금을 부과하면 사람들이 자신의 진정한 선호를 표출하도록 유도할 수 있음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latinLnBrk="0">
                  <a:lnSpc>
                    <a:spcPct val="140000"/>
                  </a:lnSpc>
                  <a:spcAft>
                    <a:spcPts val="0"/>
                  </a:spcAft>
                  <a:buNone/>
                </a:pP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𝑻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𝒄</m:t>
                    </m:r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𝒁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∗</m:t>
                        </m:r>
                      </m:sup>
                    </m:sSup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≠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  <m:t>𝒊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000" b="1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𝒁</m:t>
                                </m:r>
                              </m:e>
                              <m:sup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𝒈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𝑽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p>
                    </m:sSup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   </a:t>
                </a:r>
              </a:p>
              <a:p>
                <a:pPr marL="514800" lvl="1" indent="-230400" latinLnBrk="0">
                  <a:lnSpc>
                    <a:spcPct val="140000"/>
                  </a:lnSpc>
                  <a:spcBef>
                    <a:spcPts val="20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𝑻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𝒋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번째 사람이 부담해야 할 조세의 크기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514800" lvl="1" indent="-230400" latinLnBrk="0">
                  <a:lnSpc>
                    <a:spcPct val="14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𝑽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−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𝒋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𝒋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번째 사람이 표출한 선호를 제외한 나머지 사람들 표출한 공공재에 대한 선호의 벡터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5928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각자가 부담해야 하는 세금의 크기가 그 자신이 표출한 선호와 무관하게 결정된다는 점이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핵심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선호를 거짓으로 표출해도 아무런 이득을 보지 못하고 경우에 따라서는 손해까지 입게 되는 결과 생김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수요표출기구하에서는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각자가 진정한 선호를 표출하는 것이 우월전략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클라크세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(Clarke tax)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57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수요표출기구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lnSpc>
                <a:spcPct val="15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보완재를 통해 공공재에 대한 수요를 간접적으로 추정할 수도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5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보완재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관계에 있는 사용재가 있다면 이 사용재에 대해 소비자가 표출한 선호를 통해 공공재에 대한 수요를 추정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5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공공재와 강한 보완성을 갖는 사용재가 존재할 경우에만 적용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9636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행태경제이론적 관점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lnSpc>
                <a:spcPct val="140000"/>
              </a:lnSpc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행태경제이론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(behavioral economics)</a:t>
            </a:r>
          </a:p>
          <a:p>
            <a:pPr lvl="1" indent="-230400" latinLnBrk="0">
              <a:lnSpc>
                <a:spcPct val="140000"/>
              </a:lnSpc>
              <a:spcAft>
                <a:spcPts val="200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인간이 이기적이고 합리적이라는 전통적 경제이론의 기본가정에 의문 제기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40000"/>
              </a:lnSpc>
              <a:spcAft>
                <a:spcPts val="0"/>
              </a:spcAft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good game)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실제 사람들의 행태를 관찰하여 공공재 생산을 위해 자발적으로 기여하려는 태도가 나타남을 보임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6385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공공재게임의 예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사람들에게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장의 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(token)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배정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표의 일부 혹은 전부를 자신이 갖거나 공공재에 투자할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자신이 가진 표는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장당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공공재에 투자한 표는 모든 참여자에게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장당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천원의 이익을 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참여자들이 모두 이기적이고 합리적일 경우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자신에게 배정된 표 전부를 스스로 가지려고 할 것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무임승차자의 문제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7BE7493-C923-42C6-BFDA-2C679922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행태경제이론적 관점</a:t>
            </a:r>
            <a:endParaRPr lang="ko-KR" altLang="en-US" sz="3200" spc="-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7216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마웰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에임스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(G.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Marwell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R. Ames)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무임승차 하려는 경향을 보인다는 가설을 약한 형태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(weak version)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강한 형태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(strong version)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나누어 검증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강한 형태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무임승차를 하려 들기 때문에 공공재가 자발적 기여에 의해서는 전혀 생산되지 못함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약한 형태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무임승차의 경향이 부분적으로 나타나기 때문에 자발적  기여에 의해 생산된 공공재가 효율적 수준에 미치지 못함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실험에 참여하는 사람들은 평균적으로 자신에게 배정된 표의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40%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60%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이르는 부분을 공공재에 투자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약한 형태의 무임승차가설이 현실과 부합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5449250-AAA9-4B45-97FB-F29CBF77C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행태경제이론적 관점</a:t>
            </a:r>
          </a:p>
        </p:txBody>
      </p:sp>
    </p:spTree>
    <p:extLst>
      <p:ext uri="{BB962C8B-B14F-4D97-AF65-F5344CB8AC3E}">
        <p14:creationId xmlns:p14="http://schemas.microsoft.com/office/powerpoint/2010/main" val="1033667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무임승차를 자제하는 이유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무임승차를 하는 것이 떳떳하지 못한 일이라는 인식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 행위가 타인의 분노를 사서 더 큰 불이익으로 이어질지도 모른다는 두려움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lvl="1" indent="-230400" latinLnBrk="0"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퍼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게히터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(E. Fehr and S.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Gächter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무임승차를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참여자에게 다른 사람들이 징벌을 가할 수 있게 만든 공공재게임을 실험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징벌을 가할 수 있게 만든 실험에서는 사람들이 자발적으로 공공재에 투자하는 부분이 훨씬 더 큰 것을 볼 수 있었음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징벌이 무임승차를 억제하는 효과를 가짐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B686431B-B8E9-40AD-AE83-BA1404F6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공공재게임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행태경제이론적 관점</a:t>
            </a:r>
            <a:endParaRPr lang="ko-KR" altLang="en-US" sz="3200" spc="-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13513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4.5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다른 측면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공공부문과 민간부문 중 누가 공공재 공급의 주체가 되어야 하는가를 정할 때 다음과 같은 것들이 고려되어야 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공공부문과 민간부문의 공공재 생산의 상대적 비용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격차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누가 국민의 선호에 적절히 부응할 수 있는가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분배적인 측면 고려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공공부문이 공공재 공급의 주체가 되어야 하는 경우라도 생산까지 공공부문이 도맡아 해야 할 필요는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경우에 따라서는 민간부문이 생산과정을 담당하고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공공부문은 공급과정만을 책임지는 방안도 고려할 필요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9914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중립성정리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중립성정리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(neutrality theorem)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공공재 생산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공급을 늘릴 때 민간부문의 공공재 생산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공급이 그 양만큼 감소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정부에 의한 공공재 공급의 증가가 민간부문의 공공재 공급을 완벽하게 구축함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(crowd-out)</a:t>
            </a:r>
          </a:p>
          <a:p>
            <a:pPr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중립성정리의 한계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비현실적 가정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납세자들 중에는 스스로 공공재를 공급하지 않는 사람이 거의 전부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공공재를 스스로 생산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공급하는 행위에서 만족감이나 자부심 같은 개인적 가치를 얻고 있다면 정부가 공공재 공급을 늘린다 해서 자신의 생산을 줄이지 않음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2002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중립성정리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안드레오니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Andreoni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자선을 위한 기부를 민간이 공급하는 공공재로 보고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대해 중립성 정리가 성립할 수 있는지를 검토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자선 행위의 동기가 순수한 이타심이라면 중립성정리가 성립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가난한 사람에게 도움을 주는 행위 그 자체가 만족감을 줄 경우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기부행위는 순수한 이기심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(pure egoism)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발로일 수 있음을 지적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만족감가설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(warm glow hypothesis)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민간부문이 어떤 공공재를 자발적으로 생산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공급하는 동기가 자신의 만족감에 있을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만족감가설이 맞을 경우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구축효과는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전혀 발생하지 않음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802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공공재와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공공재의 배분에 관한 결정을 내릴 때는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choice)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부르는 집단의사결정 과정을 거치게 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과정에 참여하는 여러 주체들은 각자의 이득을 좇아 행동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스미스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Smith)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개인이 자신의 이익만을 위해 행동해도 시장의 보이지 않는 손이 이를 공익으로 이끌어 간다고 설명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공공선택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과정에서 이런 결과를 기대하기는 무척 어려움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공공선택 과정으로 인해 이론적으로 도출된 공공재의 적정배분이 그대로 실현될 수 있다는 보장이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공공재의 문제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4977877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테마">
  <a:themeElements>
    <a:clrScheme name="사용자 지정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기본테마" id="{5561F6BF-656F-4EA4-B20D-57D3BCC6F53D}" vid="{B6009175-547E-40F5-8C45-BED81DE0098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2651</TotalTime>
  <Words>2451</Words>
  <Application>Microsoft Office PowerPoint</Application>
  <PresentationFormat>화면 슬라이드 쇼(4:3)</PresentationFormat>
  <Paragraphs>364</Paragraphs>
  <Slides>41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9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기본테마</vt:lpstr>
      <vt:lpstr>PowerPoint 프레젠테이션</vt:lpstr>
      <vt:lpstr>4.1  공공재의 의미</vt:lpstr>
      <vt:lpstr>공공재의 기본성격 : 비경합성</vt:lpstr>
      <vt:lpstr>공공재의 기본성격 : 비경합성</vt:lpstr>
      <vt:lpstr>공공재의 기본성격 : 배제불가능성</vt:lpstr>
      <vt:lpstr>불완전한 공공재</vt:lpstr>
      <vt:lpstr>불완전한 공공재</vt:lpstr>
      <vt:lpstr>공공재의 여러 유형</vt:lpstr>
      <vt:lpstr>클럽의 이론</vt:lpstr>
      <vt:lpstr>4.2  공공재의 최적수준</vt:lpstr>
      <vt:lpstr>공공재의 최적 수준 : 개인의 수요</vt:lpstr>
      <vt:lpstr>공공재의 최적 수준 : 개인의 수요</vt:lpstr>
      <vt:lpstr>공공재의 최적 수준 : 시장수요</vt:lpstr>
      <vt:lpstr>공공재의 최적 수준 : 시장수요</vt:lpstr>
      <vt:lpstr>공공재의 최적 수준 : 사용재와 비교</vt:lpstr>
      <vt:lpstr>공공재의 최적 수준 : 사용재와 비교</vt:lpstr>
      <vt:lpstr>공공재의 최적 수준 : 새뮤얼슨조건</vt:lpstr>
      <vt:lpstr>4.3  린달의 자발적 교환 모형</vt:lpstr>
      <vt:lpstr>린달의 자발적 교환 모형</vt:lpstr>
      <vt:lpstr>린달의 자발적 교환 모형</vt:lpstr>
      <vt:lpstr>린달의 자발적 교환 모형</vt:lpstr>
      <vt:lpstr>4.4  무임승차자의 문제</vt:lpstr>
      <vt:lpstr>무임승차자의 문제</vt:lpstr>
      <vt:lpstr>PowerPoint 프레젠테이션</vt:lpstr>
      <vt:lpstr>무임승차자의 문제 : 용의자의 딜레마 게임</vt:lpstr>
      <vt:lpstr>무임승차자의 문제 : 용의자의 딜레마 게임</vt:lpstr>
      <vt:lpstr>무임승차자의 문제 : 용의자의 딜레마 게임</vt:lpstr>
      <vt:lpstr>무임승차자의 문제 : 협상 가능성의 존재</vt:lpstr>
      <vt:lpstr>무임승차자의 문제 : 수요표출기구</vt:lpstr>
      <vt:lpstr>무임승차자의 문제 : 수요표출기구</vt:lpstr>
      <vt:lpstr>무임승차자의 문제 : 수요표출기구</vt:lpstr>
      <vt:lpstr>무임승차자의 문제 : 수요표출기구</vt:lpstr>
      <vt:lpstr>무임승차자의 문제 : 수요표출기구</vt:lpstr>
      <vt:lpstr>공공재게임 : 행태경제이론적 관점</vt:lpstr>
      <vt:lpstr>공공재게임 : 행태경제이론적 관점</vt:lpstr>
      <vt:lpstr>공공재게임 : 행태경제이론적 관점</vt:lpstr>
      <vt:lpstr>공공재게임 : 행태경제이론적 관점</vt:lpstr>
      <vt:lpstr>4.5  공공재의 다른 측면</vt:lpstr>
      <vt:lpstr>중립성정리</vt:lpstr>
      <vt:lpstr>중립성정리</vt:lpstr>
      <vt:lpstr>공공재와 공공선택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839</cp:revision>
  <dcterms:created xsi:type="dcterms:W3CDTF">2015-08-04T05:38:00Z</dcterms:created>
  <dcterms:modified xsi:type="dcterms:W3CDTF">2026-01-12T05:14:32Z</dcterms:modified>
</cp:coreProperties>
</file>