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8" r:id="rId1"/>
  </p:sldMasterIdLst>
  <p:notesMasterIdLst>
    <p:notesMasterId r:id="rId32"/>
  </p:notesMasterIdLst>
  <p:handoutMasterIdLst>
    <p:handoutMasterId r:id="rId33"/>
  </p:handoutMasterIdLst>
  <p:sldIdLst>
    <p:sldId id="346" r:id="rId2"/>
    <p:sldId id="259" r:id="rId3"/>
    <p:sldId id="330" r:id="rId4"/>
    <p:sldId id="264" r:id="rId5"/>
    <p:sldId id="266" r:id="rId6"/>
    <p:sldId id="341" r:id="rId7"/>
    <p:sldId id="332" r:id="rId8"/>
    <p:sldId id="269" r:id="rId9"/>
    <p:sldId id="271" r:id="rId10"/>
    <p:sldId id="333" r:id="rId11"/>
    <p:sldId id="273" r:id="rId12"/>
    <p:sldId id="334" r:id="rId13"/>
    <p:sldId id="335" r:id="rId14"/>
    <p:sldId id="277" r:id="rId15"/>
    <p:sldId id="278" r:id="rId16"/>
    <p:sldId id="343" r:id="rId17"/>
    <p:sldId id="279" r:id="rId18"/>
    <p:sldId id="280" r:id="rId19"/>
    <p:sldId id="285" r:id="rId20"/>
    <p:sldId id="288" r:id="rId21"/>
    <p:sldId id="287" r:id="rId22"/>
    <p:sldId id="289" r:id="rId23"/>
    <p:sldId id="290" r:id="rId24"/>
    <p:sldId id="336" r:id="rId25"/>
    <p:sldId id="292" r:id="rId26"/>
    <p:sldId id="293" r:id="rId27"/>
    <p:sldId id="294" r:id="rId28"/>
    <p:sldId id="295" r:id="rId29"/>
    <p:sldId id="345" r:id="rId30"/>
    <p:sldId id="342" r:id="rId31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D9A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220264E-9374-4FB8-B8C3-530FA0646457}" v="29" dt="2026-01-13T01:32:56.7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89" autoAdjust="0"/>
    <p:restoredTop sz="94660"/>
  </p:normalViewPr>
  <p:slideViewPr>
    <p:cSldViewPr snapToGrid="0">
      <p:cViewPr varScale="1">
        <p:scale>
          <a:sx n="153" d="100"/>
          <a:sy n="153" d="100"/>
        </p:scale>
        <p:origin x="2212" y="31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-1018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영완 전" userId="94a232b962f42e62" providerId="LiveId" clId="{862E7F7D-119D-4717-AD52-91020921814B}"/>
    <pc:docChg chg="undo custSel modSld">
      <pc:chgData name="영완 전" userId="94a232b962f42e62" providerId="LiveId" clId="{862E7F7D-119D-4717-AD52-91020921814B}" dt="2026-01-13T01:35:55.090" v="301" actId="14100"/>
      <pc:docMkLst>
        <pc:docMk/>
      </pc:docMkLst>
      <pc:sldChg chg="modSp mod">
        <pc:chgData name="영완 전" userId="94a232b962f42e62" providerId="LiveId" clId="{862E7F7D-119D-4717-AD52-91020921814B}" dt="2026-01-13T01:27:14.470" v="215" actId="20577"/>
        <pc:sldMkLst>
          <pc:docMk/>
          <pc:sldMk cId="1907375292" sldId="259"/>
        </pc:sldMkLst>
        <pc:spChg chg="mod">
          <ac:chgData name="영완 전" userId="94a232b962f42e62" providerId="LiveId" clId="{862E7F7D-119D-4717-AD52-91020921814B}" dt="2026-01-13T01:27:14.470" v="215" actId="20577"/>
          <ac:spMkLst>
            <pc:docMk/>
            <pc:sldMk cId="1907375292" sldId="259"/>
            <ac:spMk id="3" creationId="{00000000-0000-0000-0000-000000000000}"/>
          </ac:spMkLst>
        </pc:spChg>
      </pc:sldChg>
      <pc:sldChg chg="modSp">
        <pc:chgData name="영완 전" userId="94a232b962f42e62" providerId="LiveId" clId="{862E7F7D-119D-4717-AD52-91020921814B}" dt="2026-01-09T06:05:51.922" v="10"/>
        <pc:sldMkLst>
          <pc:docMk/>
          <pc:sldMk cId="3595591001" sldId="266"/>
        </pc:sldMkLst>
        <pc:spChg chg="mod">
          <ac:chgData name="영완 전" userId="94a232b962f42e62" providerId="LiveId" clId="{862E7F7D-119D-4717-AD52-91020921814B}" dt="2026-01-09T06:05:51.922" v="10"/>
          <ac:spMkLst>
            <pc:docMk/>
            <pc:sldMk cId="3595591001" sldId="266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6:07:14.087" v="18" actId="20577"/>
        <pc:sldMkLst>
          <pc:docMk/>
          <pc:sldMk cId="1475890901" sldId="269"/>
        </pc:sldMkLst>
        <pc:spChg chg="mod">
          <ac:chgData name="영완 전" userId="94a232b962f42e62" providerId="LiveId" clId="{862E7F7D-119D-4717-AD52-91020921814B}" dt="2026-01-09T06:07:14.087" v="18" actId="20577"/>
          <ac:spMkLst>
            <pc:docMk/>
            <pc:sldMk cId="1475890901" sldId="269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6:07:57.971" v="22" actId="20577"/>
        <pc:sldMkLst>
          <pc:docMk/>
          <pc:sldMk cId="2842186980" sldId="273"/>
        </pc:sldMkLst>
        <pc:spChg chg="mod">
          <ac:chgData name="영완 전" userId="94a232b962f42e62" providerId="LiveId" clId="{862E7F7D-119D-4717-AD52-91020921814B}" dt="2026-01-09T06:07:51.134" v="19" actId="20577"/>
          <ac:spMkLst>
            <pc:docMk/>
            <pc:sldMk cId="2842186980" sldId="273"/>
            <ac:spMk id="2" creationId="{00000000-0000-0000-0000-000000000000}"/>
          </ac:spMkLst>
        </pc:spChg>
        <pc:spChg chg="mod">
          <ac:chgData name="영완 전" userId="94a232b962f42e62" providerId="LiveId" clId="{862E7F7D-119D-4717-AD52-91020921814B}" dt="2026-01-09T06:07:57.971" v="22" actId="20577"/>
          <ac:spMkLst>
            <pc:docMk/>
            <pc:sldMk cId="2842186980" sldId="273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6:13:50.448" v="67" actId="20577"/>
        <pc:sldMkLst>
          <pc:docMk/>
          <pc:sldMk cId="3030165039" sldId="277"/>
        </pc:sldMkLst>
        <pc:spChg chg="mod">
          <ac:chgData name="영완 전" userId="94a232b962f42e62" providerId="LiveId" clId="{862E7F7D-119D-4717-AD52-91020921814B}" dt="2026-01-09T06:13:50.448" v="67" actId="20577"/>
          <ac:spMkLst>
            <pc:docMk/>
            <pc:sldMk cId="3030165039" sldId="277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6:14:18.254" v="77" actId="20577"/>
        <pc:sldMkLst>
          <pc:docMk/>
          <pc:sldMk cId="3396629673" sldId="278"/>
        </pc:sldMkLst>
        <pc:spChg chg="mod">
          <ac:chgData name="영완 전" userId="94a232b962f42e62" providerId="LiveId" clId="{862E7F7D-119D-4717-AD52-91020921814B}" dt="2026-01-09T06:14:18.254" v="77" actId="20577"/>
          <ac:spMkLst>
            <pc:docMk/>
            <pc:sldMk cId="3396629673" sldId="278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3T01:29:49.188" v="225"/>
        <pc:sldMkLst>
          <pc:docMk/>
          <pc:sldMk cId="1144754749" sldId="279"/>
        </pc:sldMkLst>
        <pc:spChg chg="mod">
          <ac:chgData name="영완 전" userId="94a232b962f42e62" providerId="LiveId" clId="{862E7F7D-119D-4717-AD52-91020921814B}" dt="2026-01-13T01:29:49.188" v="225"/>
          <ac:spMkLst>
            <pc:docMk/>
            <pc:sldMk cId="1144754749" sldId="279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6:35:22.035" v="107" actId="20577"/>
        <pc:sldMkLst>
          <pc:docMk/>
          <pc:sldMk cId="1950039958" sldId="280"/>
        </pc:sldMkLst>
        <pc:spChg chg="mod">
          <ac:chgData name="영완 전" userId="94a232b962f42e62" providerId="LiveId" clId="{862E7F7D-119D-4717-AD52-91020921814B}" dt="2026-01-09T06:35:22.035" v="107" actId="20577"/>
          <ac:spMkLst>
            <pc:docMk/>
            <pc:sldMk cId="1950039958" sldId="280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6:36:01.619" v="109" actId="14100"/>
        <pc:sldMkLst>
          <pc:docMk/>
          <pc:sldMk cId="4284616532" sldId="285"/>
        </pc:sldMkLst>
        <pc:spChg chg="mod">
          <ac:chgData name="영완 전" userId="94a232b962f42e62" providerId="LiveId" clId="{862E7F7D-119D-4717-AD52-91020921814B}" dt="2026-01-09T06:36:01.619" v="109" actId="14100"/>
          <ac:spMkLst>
            <pc:docMk/>
            <pc:sldMk cId="4284616532" sldId="285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6:37:15.164" v="125" actId="20577"/>
        <pc:sldMkLst>
          <pc:docMk/>
          <pc:sldMk cId="2202155484" sldId="287"/>
        </pc:sldMkLst>
        <pc:spChg chg="mod">
          <ac:chgData name="영완 전" userId="94a232b962f42e62" providerId="LiveId" clId="{862E7F7D-119D-4717-AD52-91020921814B}" dt="2026-01-09T06:37:15.164" v="125" actId="20577"/>
          <ac:spMkLst>
            <pc:docMk/>
            <pc:sldMk cId="2202155484" sldId="287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6:36:43.135" v="111" actId="20577"/>
        <pc:sldMkLst>
          <pc:docMk/>
          <pc:sldMk cId="1264792412" sldId="288"/>
        </pc:sldMkLst>
        <pc:spChg chg="mod">
          <ac:chgData name="영완 전" userId="94a232b962f42e62" providerId="LiveId" clId="{862E7F7D-119D-4717-AD52-91020921814B}" dt="2026-01-09T06:36:43.135" v="111" actId="20577"/>
          <ac:spMkLst>
            <pc:docMk/>
            <pc:sldMk cId="1264792412" sldId="288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6:37:44.273" v="150" actId="20577"/>
        <pc:sldMkLst>
          <pc:docMk/>
          <pc:sldMk cId="1503488239" sldId="289"/>
        </pc:sldMkLst>
        <pc:spChg chg="mod">
          <ac:chgData name="영완 전" userId="94a232b962f42e62" providerId="LiveId" clId="{862E7F7D-119D-4717-AD52-91020921814B}" dt="2026-01-09T06:37:44.273" v="150" actId="20577"/>
          <ac:spMkLst>
            <pc:docMk/>
            <pc:sldMk cId="1503488239" sldId="289"/>
            <ac:spMk id="3" creationId="{00000000-0000-0000-0000-000000000000}"/>
          </ac:spMkLst>
        </pc:spChg>
      </pc:sldChg>
      <pc:sldChg chg="modSp">
        <pc:chgData name="영완 전" userId="94a232b962f42e62" providerId="LiveId" clId="{862E7F7D-119D-4717-AD52-91020921814B}" dt="2026-01-13T01:32:56.767" v="231"/>
        <pc:sldMkLst>
          <pc:docMk/>
          <pc:sldMk cId="1043086102" sldId="290"/>
        </pc:sldMkLst>
        <pc:spChg chg="mod">
          <ac:chgData name="영완 전" userId="94a232b962f42e62" providerId="LiveId" clId="{862E7F7D-119D-4717-AD52-91020921814B}" dt="2026-01-13T01:32:56.767" v="231"/>
          <ac:spMkLst>
            <pc:docMk/>
            <pc:sldMk cId="1043086102" sldId="290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6:39:26.735" v="172" actId="14100"/>
        <pc:sldMkLst>
          <pc:docMk/>
          <pc:sldMk cId="2771729658" sldId="292"/>
        </pc:sldMkLst>
        <pc:spChg chg="mod">
          <ac:chgData name="영완 전" userId="94a232b962f42e62" providerId="LiveId" clId="{862E7F7D-119D-4717-AD52-91020921814B}" dt="2026-01-09T06:39:26.735" v="172" actId="14100"/>
          <ac:spMkLst>
            <pc:docMk/>
            <pc:sldMk cId="2771729658" sldId="292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6:41:29.154" v="197" actId="20577"/>
        <pc:sldMkLst>
          <pc:docMk/>
          <pc:sldMk cId="404165533" sldId="293"/>
        </pc:sldMkLst>
        <pc:spChg chg="mod">
          <ac:chgData name="영완 전" userId="94a232b962f42e62" providerId="LiveId" clId="{862E7F7D-119D-4717-AD52-91020921814B}" dt="2026-01-09T06:41:29.154" v="197" actId="20577"/>
          <ac:spMkLst>
            <pc:docMk/>
            <pc:sldMk cId="404165533" sldId="293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3T01:34:20.375" v="256" actId="20577"/>
        <pc:sldMkLst>
          <pc:docMk/>
          <pc:sldMk cId="2571883504" sldId="294"/>
        </pc:sldMkLst>
        <pc:spChg chg="mod">
          <ac:chgData name="영완 전" userId="94a232b962f42e62" providerId="LiveId" clId="{862E7F7D-119D-4717-AD52-91020921814B}" dt="2026-01-13T01:34:20.375" v="256" actId="20577"/>
          <ac:spMkLst>
            <pc:docMk/>
            <pc:sldMk cId="2571883504" sldId="294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3T01:34:43.625" v="257" actId="14100"/>
        <pc:sldMkLst>
          <pc:docMk/>
          <pc:sldMk cId="4228300865" sldId="295"/>
        </pc:sldMkLst>
        <pc:spChg chg="mod">
          <ac:chgData name="영완 전" userId="94a232b962f42e62" providerId="LiveId" clId="{862E7F7D-119D-4717-AD52-91020921814B}" dt="2026-01-13T01:34:43.625" v="257" actId="14100"/>
          <ac:spMkLst>
            <pc:docMk/>
            <pc:sldMk cId="4228300865" sldId="295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6:05:02.247" v="3" actId="14100"/>
        <pc:sldMkLst>
          <pc:docMk/>
          <pc:sldMk cId="1482840215" sldId="330"/>
        </pc:sldMkLst>
        <pc:spChg chg="mod">
          <ac:chgData name="영완 전" userId="94a232b962f42e62" providerId="LiveId" clId="{862E7F7D-119D-4717-AD52-91020921814B}" dt="2026-01-09T06:05:02.247" v="3" actId="14100"/>
          <ac:spMkLst>
            <pc:docMk/>
            <pc:sldMk cId="1482840215" sldId="330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6:06:36.164" v="12" actId="20577"/>
        <pc:sldMkLst>
          <pc:docMk/>
          <pc:sldMk cId="3812170683" sldId="332"/>
        </pc:sldMkLst>
        <pc:spChg chg="mod">
          <ac:chgData name="영완 전" userId="94a232b962f42e62" providerId="LiveId" clId="{862E7F7D-119D-4717-AD52-91020921814B}" dt="2026-01-09T06:06:36.164" v="12" actId="20577"/>
          <ac:spMkLst>
            <pc:docMk/>
            <pc:sldMk cId="3812170683" sldId="332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3T01:28:28.486" v="219" actId="313"/>
        <pc:sldMkLst>
          <pc:docMk/>
          <pc:sldMk cId="3404981220" sldId="334"/>
        </pc:sldMkLst>
        <pc:spChg chg="mod">
          <ac:chgData name="영완 전" userId="94a232b962f42e62" providerId="LiveId" clId="{862E7F7D-119D-4717-AD52-91020921814B}" dt="2026-01-13T01:28:28.486" v="219" actId="313"/>
          <ac:spMkLst>
            <pc:docMk/>
            <pc:sldMk cId="3404981220" sldId="334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6:13:12.676" v="42" actId="20577"/>
        <pc:sldMkLst>
          <pc:docMk/>
          <pc:sldMk cId="2334169212" sldId="335"/>
        </pc:sldMkLst>
        <pc:spChg chg="mod">
          <ac:chgData name="영완 전" userId="94a232b962f42e62" providerId="LiveId" clId="{862E7F7D-119D-4717-AD52-91020921814B}" dt="2026-01-09T06:13:12.676" v="42" actId="20577"/>
          <ac:spMkLst>
            <pc:docMk/>
            <pc:sldMk cId="2334169212" sldId="335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3T01:33:31.044" v="236" actId="20577"/>
        <pc:sldMkLst>
          <pc:docMk/>
          <pc:sldMk cId="3886842827" sldId="336"/>
        </pc:sldMkLst>
        <pc:spChg chg="mod">
          <ac:chgData name="영완 전" userId="94a232b962f42e62" providerId="LiveId" clId="{862E7F7D-119D-4717-AD52-91020921814B}" dt="2026-01-13T01:33:31.044" v="236" actId="20577"/>
          <ac:spMkLst>
            <pc:docMk/>
            <pc:sldMk cId="3886842827" sldId="336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6:52:47.088" v="214" actId="20577"/>
        <pc:sldMkLst>
          <pc:docMk/>
          <pc:sldMk cId="3458048808" sldId="342"/>
        </pc:sldMkLst>
        <pc:spChg chg="mod">
          <ac:chgData name="영완 전" userId="94a232b962f42e62" providerId="LiveId" clId="{862E7F7D-119D-4717-AD52-91020921814B}" dt="2026-01-09T06:52:47.088" v="214" actId="20577"/>
          <ac:spMkLst>
            <pc:docMk/>
            <pc:sldMk cId="3458048808" sldId="342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3T01:28:59.664" v="220" actId="20577"/>
        <pc:sldMkLst>
          <pc:docMk/>
          <pc:sldMk cId="4167021667" sldId="343"/>
        </pc:sldMkLst>
        <pc:spChg chg="mod">
          <ac:chgData name="영완 전" userId="94a232b962f42e62" providerId="LiveId" clId="{862E7F7D-119D-4717-AD52-91020921814B}" dt="2026-01-13T01:28:59.664" v="220" actId="20577"/>
          <ac:spMkLst>
            <pc:docMk/>
            <pc:sldMk cId="4167021667" sldId="343"/>
            <ac:spMk id="3" creationId="{ED1C234E-DC60-307C-F920-D6AD9AFA8554}"/>
          </ac:spMkLst>
        </pc:spChg>
      </pc:sldChg>
      <pc:sldChg chg="modSp mod">
        <pc:chgData name="영완 전" userId="94a232b962f42e62" providerId="LiveId" clId="{862E7F7D-119D-4717-AD52-91020921814B}" dt="2026-01-13T01:35:55.090" v="301" actId="14100"/>
        <pc:sldMkLst>
          <pc:docMk/>
          <pc:sldMk cId="3624116041" sldId="345"/>
        </pc:sldMkLst>
        <pc:spChg chg="mod">
          <ac:chgData name="영완 전" userId="94a232b962f42e62" providerId="LiveId" clId="{862E7F7D-119D-4717-AD52-91020921814B}" dt="2026-01-13T01:35:55.090" v="301" actId="14100"/>
          <ac:spMkLst>
            <pc:docMk/>
            <pc:sldMk cId="3624116041" sldId="345"/>
            <ac:spMk id="3" creationId="{A1E8E6A3-CADE-E1E7-03AB-02B8A261728E}"/>
          </ac:spMkLst>
        </pc:spChg>
      </pc:sldChg>
      <pc:sldChg chg="modSp mod">
        <pc:chgData name="영완 전" userId="94a232b962f42e62" providerId="LiveId" clId="{862E7F7D-119D-4717-AD52-91020921814B}" dt="2026-01-09T06:02:50.920" v="0" actId="20577"/>
        <pc:sldMkLst>
          <pc:docMk/>
          <pc:sldMk cId="3135814133" sldId="346"/>
        </pc:sldMkLst>
        <pc:spChg chg="mod">
          <ac:chgData name="영완 전" userId="94a232b962f42e62" providerId="LiveId" clId="{862E7F7D-119D-4717-AD52-91020921814B}" dt="2026-01-09T06:02:50.920" v="0" actId="20577"/>
          <ac:spMkLst>
            <pc:docMk/>
            <pc:sldMk cId="3135814133" sldId="346"/>
            <ac:spMk id="9" creationId="{29D266C5-F988-F18E-387E-93E1962EC5FD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74EB9A-155E-47CB-BDE7-4AA3BFCC0E51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6EE28E-5237-48A9-A4BC-4C0FE4044B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144264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9B8873-BC00-4E98-82A0-FC8387D5BC2D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295A58-9429-4B5D-BCB7-763BD5DD46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861881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295A58-9429-4B5D-BCB7-763BD5DD4617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08050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655457"/>
            <a:ext cx="7772400" cy="1330099"/>
          </a:xfrm>
          <a:solidFill>
            <a:srgbClr val="6D9AC3"/>
          </a:solidFill>
        </p:spPr>
        <p:txBody>
          <a:bodyPr anchor="ctr">
            <a:normAutofit/>
          </a:bodyPr>
          <a:lstStyle>
            <a:lvl1pPr algn="ctr">
              <a:defRPr sz="3800" b="1" baseline="0">
                <a:solidFill>
                  <a:schemeClr val="bg1"/>
                </a:solidFill>
                <a:effectLst/>
                <a:latin typeface="+mj-ea"/>
                <a:ea typeface="+mj-ea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US" altLang="ko-KR"/>
              <a:t>PUBLIC FINANCE</a:t>
            </a:r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20</a:t>
            </a:r>
            <a:r>
              <a:rPr lang="ko-KR" altLang="en-US"/>
              <a:t>장  조세와 경제행위</a:t>
            </a:r>
            <a:r>
              <a:rPr lang="en-US" altLang="ko-KR"/>
              <a:t>: </a:t>
            </a:r>
            <a:r>
              <a:rPr lang="ko-KR" altLang="en-US"/>
              <a:t>개인의 선택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60459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제목 및 내용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4079AEFB-1A2D-9B1E-6D95-594F094F6E8F}"/>
              </a:ext>
            </a:extLst>
          </p:cNvPr>
          <p:cNvGrpSpPr/>
          <p:nvPr userDrawn="1"/>
        </p:nvGrpSpPr>
        <p:grpSpPr>
          <a:xfrm>
            <a:off x="0" y="341304"/>
            <a:ext cx="9144000" cy="952748"/>
            <a:chOff x="0" y="225555"/>
            <a:chExt cx="9144000" cy="952748"/>
          </a:xfrm>
        </p:grpSpPr>
        <p:sp>
          <p:nvSpPr>
            <p:cNvPr id="10" name="화살표: 오각형 9">
              <a:extLst>
                <a:ext uri="{FF2B5EF4-FFF2-40B4-BE49-F238E27FC236}">
                  <a16:creationId xmlns:a16="http://schemas.microsoft.com/office/drawing/2014/main" id="{989BDF3B-FEB8-86A1-A3E2-A287C8E302AD}"/>
                </a:ext>
              </a:extLst>
            </p:cNvPr>
            <p:cNvSpPr/>
            <p:nvPr/>
          </p:nvSpPr>
          <p:spPr>
            <a:xfrm>
              <a:off x="0" y="230070"/>
              <a:ext cx="9144000" cy="948233"/>
            </a:xfrm>
            <a:prstGeom prst="homePlate">
              <a:avLst>
                <a:gd name="adj" fmla="val 36573"/>
              </a:avLst>
            </a:prstGeom>
            <a:solidFill>
              <a:srgbClr val="E8F1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1" name="화살표: 갈매기형 수장 10">
              <a:extLst>
                <a:ext uri="{FF2B5EF4-FFF2-40B4-BE49-F238E27FC236}">
                  <a16:creationId xmlns:a16="http://schemas.microsoft.com/office/drawing/2014/main" id="{D61D7A34-C7C6-8BF4-0E37-EC89B47E5B41}"/>
                </a:ext>
              </a:extLst>
            </p:cNvPr>
            <p:cNvSpPr/>
            <p:nvPr/>
          </p:nvSpPr>
          <p:spPr>
            <a:xfrm>
              <a:off x="8495587" y="225555"/>
              <a:ext cx="519935" cy="948233"/>
            </a:xfrm>
            <a:prstGeom prst="chevron">
              <a:avLst>
                <a:gd name="adj" fmla="val 73331"/>
              </a:avLst>
            </a:prstGeom>
            <a:solidFill>
              <a:srgbClr val="C6DC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화살표: 갈매기형 수장 11">
              <a:extLst>
                <a:ext uri="{FF2B5EF4-FFF2-40B4-BE49-F238E27FC236}">
                  <a16:creationId xmlns:a16="http://schemas.microsoft.com/office/drawing/2014/main" id="{8135AB20-96B2-7AA9-FAB9-ECD1EC374280}"/>
                </a:ext>
              </a:extLst>
            </p:cNvPr>
            <p:cNvSpPr/>
            <p:nvPr/>
          </p:nvSpPr>
          <p:spPr>
            <a:xfrm>
              <a:off x="8235619" y="225555"/>
              <a:ext cx="519935" cy="948233"/>
            </a:xfrm>
            <a:prstGeom prst="chevron">
              <a:avLst>
                <a:gd name="adj" fmla="val 73331"/>
              </a:avLst>
            </a:prstGeom>
            <a:solidFill>
              <a:srgbClr val="99C1B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62078"/>
            <a:ext cx="9144000" cy="711200"/>
          </a:xfrm>
        </p:spPr>
        <p:txBody>
          <a:bodyPr>
            <a:normAutofit/>
          </a:bodyPr>
          <a:lstStyle>
            <a:lvl1pPr algn="ctr">
              <a:defRPr sz="3200" b="1"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28650" y="1422402"/>
            <a:ext cx="7886700" cy="475456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spcAft>
                <a:spcPts val="0"/>
              </a:spcAft>
              <a:buClr>
                <a:schemeClr val="accent1"/>
              </a:buClr>
              <a:defRPr sz="20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lnSpc>
                <a:spcPct val="120000"/>
              </a:lnSpc>
              <a:spcAft>
                <a:spcPts val="0"/>
              </a:spcAft>
              <a:buClr>
                <a:schemeClr val="accent1"/>
              </a:buClr>
              <a:defRPr sz="20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857250" indent="-171450">
              <a:lnSpc>
                <a:spcPct val="120000"/>
              </a:lnSpc>
              <a:spcAft>
                <a:spcPts val="0"/>
              </a:spcAft>
              <a:buClr>
                <a:schemeClr val="accent1"/>
              </a:buClr>
              <a:buFont typeface="바탕" panose="02030600000101010101" pitchFamily="18" charset="-127"/>
              <a:buChar char="∙"/>
              <a:defRPr sz="20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200150" indent="-171450">
              <a:lnSpc>
                <a:spcPct val="120000"/>
              </a:lnSpc>
              <a:spcAft>
                <a:spcPts val="0"/>
              </a:spcAft>
              <a:buClr>
                <a:schemeClr val="accent1"/>
              </a:buClr>
              <a:buFont typeface="바탕" panose="02030600000101010101" pitchFamily="18" charset="-127"/>
              <a:buChar char="∙"/>
              <a:defRPr sz="20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lnSpc>
                <a:spcPct val="120000"/>
              </a:lnSpc>
              <a:spcAft>
                <a:spcPts val="0"/>
              </a:spcAft>
              <a:defRPr sz="1350" b="0">
                <a:solidFill>
                  <a:srgbClr val="0020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200" b="1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/>
              <a:t>PUBLIC FINANCE</a:t>
            </a:r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200" b="1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20</a:t>
            </a:r>
            <a:r>
              <a:rPr lang="ko-KR" altLang="en-US"/>
              <a:t>장  조세와 경제행위</a:t>
            </a:r>
            <a:r>
              <a:rPr lang="en-US" altLang="ko-KR"/>
              <a:t>: </a:t>
            </a:r>
            <a:r>
              <a:rPr lang="ko-KR" altLang="en-US"/>
              <a:t>개인의 선택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 b="1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78749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슬라이드">
    <p:bg>
      <p:bgPr>
        <a:solidFill>
          <a:srgbClr val="FE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모서리가 둥근 직사각형 6"/>
          <p:cNvSpPr/>
          <p:nvPr/>
        </p:nvSpPr>
        <p:spPr>
          <a:xfrm>
            <a:off x="666572" y="2573903"/>
            <a:ext cx="7791629" cy="133009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573904"/>
            <a:ext cx="7772400" cy="1330099"/>
          </a:xfrm>
        </p:spPr>
        <p:txBody>
          <a:bodyPr anchor="ctr">
            <a:normAutofit/>
          </a:bodyPr>
          <a:lstStyle>
            <a:lvl1pPr algn="ctr">
              <a:defRPr sz="2850" b="1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US" altLang="ko-KR"/>
              <a:t>PUBLIC FINANCE</a:t>
            </a:r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20</a:t>
            </a:r>
            <a:r>
              <a:rPr lang="ko-KR" altLang="en-US"/>
              <a:t>장  조세와 경제행위</a:t>
            </a:r>
            <a:r>
              <a:rPr lang="en-US" altLang="ko-KR"/>
              <a:t>: </a:t>
            </a:r>
            <a:r>
              <a:rPr lang="ko-KR" altLang="en-US"/>
              <a:t>개인의 선택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06CA9FF6-BF29-4679-8C21-AEBAF28951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09381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41337"/>
            <a:ext cx="7886700" cy="711200"/>
          </a:xfrm>
        </p:spPr>
        <p:txBody>
          <a:bodyPr>
            <a:normAutofit/>
          </a:bodyPr>
          <a:lstStyle>
            <a:lvl1pPr>
              <a:defRPr sz="2400" b="1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22402"/>
            <a:ext cx="7886700" cy="475456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spcAft>
                <a:spcPts val="0"/>
              </a:spcAft>
              <a:defRPr sz="1350" b="0">
                <a:solidFill>
                  <a:srgbClr val="0020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>
              <a:lnSpc>
                <a:spcPct val="120000"/>
              </a:lnSpc>
              <a:spcAft>
                <a:spcPts val="0"/>
              </a:spcAft>
              <a:defRPr sz="1350" b="0">
                <a:solidFill>
                  <a:srgbClr val="0020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857250" indent="-171450">
              <a:lnSpc>
                <a:spcPct val="120000"/>
              </a:lnSpc>
              <a:spcAft>
                <a:spcPts val="0"/>
              </a:spcAft>
              <a:buFont typeface="바탕" panose="02030600000101010101" pitchFamily="18" charset="-127"/>
              <a:buChar char="∙"/>
              <a:defRPr sz="1350" b="0">
                <a:solidFill>
                  <a:srgbClr val="0020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200150" indent="-171450">
              <a:lnSpc>
                <a:spcPct val="120000"/>
              </a:lnSpc>
              <a:spcAft>
                <a:spcPts val="0"/>
              </a:spcAft>
              <a:buFont typeface="바탕" panose="02030600000101010101" pitchFamily="18" charset="-127"/>
              <a:buChar char="∙"/>
              <a:defRPr sz="1350" b="0">
                <a:solidFill>
                  <a:srgbClr val="0020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>
              <a:lnSpc>
                <a:spcPct val="120000"/>
              </a:lnSpc>
              <a:spcAft>
                <a:spcPts val="0"/>
              </a:spcAft>
              <a:defRPr sz="1350" b="0">
                <a:solidFill>
                  <a:srgbClr val="0020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r>
              <a:rPr lang="en-US" altLang="ko-KR"/>
              <a:t>PUBLIC FINANCE</a:t>
            </a:r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20</a:t>
            </a:r>
            <a:r>
              <a:rPr lang="ko-KR" altLang="en-US"/>
              <a:t>장  조세와 경제행위</a:t>
            </a:r>
            <a:r>
              <a:rPr lang="en-US" altLang="ko-KR"/>
              <a:t>: </a:t>
            </a:r>
            <a:r>
              <a:rPr lang="ko-KR" altLang="en-US"/>
              <a:t>개인의 선택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fld id="{06CA9FF6-BF29-4679-8C21-AEBAF28951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44823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464457"/>
            <a:ext cx="7886700" cy="711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422402"/>
            <a:ext cx="7886700" cy="4754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altLang="ko-K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>
                <a:solidFill>
                  <a:schemeClr val="bg2">
                    <a:lumMod val="75000"/>
                  </a:schemeClr>
                </a:solidFill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r>
              <a:rPr lang="en-US" altLang="ko-KR"/>
              <a:t>PUBLIC FINANCE</a:t>
            </a:r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>
                <a:solidFill>
                  <a:schemeClr val="bg2">
                    <a:lumMod val="75000"/>
                  </a:schemeClr>
                </a:solidFill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20</a:t>
            </a:r>
            <a:r>
              <a:rPr lang="ko-KR" altLang="en-US"/>
              <a:t>장  조세와 경제행위</a:t>
            </a:r>
            <a:r>
              <a:rPr lang="en-US" altLang="ko-KR"/>
              <a:t>: </a:t>
            </a:r>
            <a:r>
              <a:rPr lang="ko-KR" altLang="en-US"/>
              <a:t>개인의 선택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bg2">
                    <a:lumMod val="75000"/>
                  </a:schemeClr>
                </a:solidFill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fld id="{06CA9FF6-BF29-4679-8C21-AEBAF28951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9690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09" r:id="rId3"/>
    <p:sldLayoutId id="2147483710" r:id="rId4"/>
  </p:sldLayoutIdLst>
  <p:hf hdr="0"/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2625" b="1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새굴림" panose="02030600000101010101" pitchFamily="18" charset="-127"/>
          <a:ea typeface="새굴림" panose="02030600000101010101" pitchFamily="18" charset="-127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130000"/>
        </a:lnSpc>
        <a:spcBef>
          <a:spcPts val="750"/>
        </a:spcBef>
        <a:spcAft>
          <a:spcPts val="300"/>
        </a:spcAft>
        <a:buFont typeface="Wingdings" panose="05000000000000000000" pitchFamily="2" charset="2"/>
        <a:buChar char="§"/>
        <a:defRPr sz="1650" kern="1200">
          <a:solidFill>
            <a:schemeClr val="tx1"/>
          </a:solidFill>
          <a:latin typeface="새굴림" panose="02030600000101010101" pitchFamily="18" charset="-127"/>
          <a:ea typeface="새굴림" panose="02030600000101010101" pitchFamily="18" charset="-127"/>
          <a:cs typeface="+mn-cs"/>
        </a:defRPr>
      </a:lvl1pPr>
      <a:lvl2pPr marL="514350" indent="-171450" algn="l" defTabSz="685800" rtl="0" eaLnBrk="1" latinLnBrk="1" hangingPunct="1">
        <a:lnSpc>
          <a:spcPct val="130000"/>
        </a:lnSpc>
        <a:spcBef>
          <a:spcPts val="375"/>
        </a:spcBef>
        <a:spcAft>
          <a:spcPts val="300"/>
        </a:spcAft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새굴림" panose="02030600000101010101" pitchFamily="18" charset="-127"/>
          <a:ea typeface="새굴림" panose="02030600000101010101" pitchFamily="18" charset="-127"/>
          <a:cs typeface="+mn-cs"/>
        </a:defRPr>
      </a:lvl2pPr>
      <a:lvl3pPr marL="857250" indent="-171450" algn="l" defTabSz="685800" rtl="0" eaLnBrk="1" latinLnBrk="1" hangingPunct="1">
        <a:lnSpc>
          <a:spcPct val="130000"/>
        </a:lnSpc>
        <a:spcBef>
          <a:spcPts val="375"/>
        </a:spcBef>
        <a:spcAft>
          <a:spcPts val="300"/>
        </a:spcAft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새굴림" panose="02030600000101010101" pitchFamily="18" charset="-127"/>
          <a:ea typeface="새굴림" panose="02030600000101010101" pitchFamily="18" charset="-127"/>
          <a:cs typeface="+mn-cs"/>
        </a:defRPr>
      </a:lvl3pPr>
      <a:lvl4pPr marL="1200150" indent="-171450" algn="l" defTabSz="685800" rtl="0" eaLnBrk="1" latinLnBrk="1" hangingPunct="1">
        <a:lnSpc>
          <a:spcPct val="130000"/>
        </a:lnSpc>
        <a:spcBef>
          <a:spcPts val="375"/>
        </a:spcBef>
        <a:spcAft>
          <a:spcPts val="300"/>
        </a:spcAft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새굴림" panose="02030600000101010101" pitchFamily="18" charset="-127"/>
          <a:ea typeface="새굴림" panose="02030600000101010101" pitchFamily="18" charset="-127"/>
          <a:cs typeface="+mn-cs"/>
        </a:defRPr>
      </a:lvl4pPr>
      <a:lvl5pPr marL="1543050" indent="-171450" algn="l" defTabSz="685800" rtl="0" eaLnBrk="1" latinLnBrk="1" hangingPunct="1">
        <a:lnSpc>
          <a:spcPct val="130000"/>
        </a:lnSpc>
        <a:spcBef>
          <a:spcPts val="375"/>
        </a:spcBef>
        <a:spcAft>
          <a:spcPts val="300"/>
        </a:spcAft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새굴림" panose="02030600000101010101" pitchFamily="18" charset="-127"/>
          <a:ea typeface="새굴림" panose="02030600000101010101" pitchFamily="18" charset="-127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8EC03C-CA50-37A5-93C4-84883A5D6F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1D20E53-E22E-5FDA-420D-AFC9A6CD6C8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598"/>
          <a:stretch>
            <a:fillRect/>
          </a:stretch>
        </p:blipFill>
        <p:spPr>
          <a:xfrm>
            <a:off x="0" y="0"/>
            <a:ext cx="6167120" cy="6858000"/>
          </a:xfrm>
          <a:prstGeom prst="rect">
            <a:avLst/>
          </a:prstGeom>
        </p:spPr>
      </p:pic>
      <p:grpSp>
        <p:nvGrpSpPr>
          <p:cNvPr id="4" name="그룹 3">
            <a:extLst>
              <a:ext uri="{FF2B5EF4-FFF2-40B4-BE49-F238E27FC236}">
                <a16:creationId xmlns:a16="http://schemas.microsoft.com/office/drawing/2014/main" id="{F8A0726A-7180-C90E-F3E4-B4C90E8AC393}"/>
              </a:ext>
            </a:extLst>
          </p:cNvPr>
          <p:cNvGrpSpPr/>
          <p:nvPr/>
        </p:nvGrpSpPr>
        <p:grpSpPr>
          <a:xfrm>
            <a:off x="6167120" y="0"/>
            <a:ext cx="2976880" cy="6858000"/>
            <a:chOff x="6167120" y="0"/>
            <a:chExt cx="2976880" cy="6858000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BB548345-60AE-5AB2-510D-4B8222901221}"/>
                </a:ext>
              </a:extLst>
            </p:cNvPr>
            <p:cNvSpPr/>
            <p:nvPr/>
          </p:nvSpPr>
          <p:spPr>
            <a:xfrm>
              <a:off x="6167120" y="0"/>
              <a:ext cx="2976880" cy="6858000"/>
            </a:xfrm>
            <a:prstGeom prst="rect">
              <a:avLst/>
            </a:prstGeom>
            <a:gradFill>
              <a:gsLst>
                <a:gs pos="0">
                  <a:srgbClr val="E8F1F0"/>
                </a:gs>
                <a:gs pos="100000">
                  <a:srgbClr val="FAFAF8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B0F732B4-66C1-781C-CAFA-E3B3E4036D55}"/>
                </a:ext>
              </a:extLst>
            </p:cNvPr>
            <p:cNvSpPr/>
            <p:nvPr/>
          </p:nvSpPr>
          <p:spPr>
            <a:xfrm>
              <a:off x="6167120" y="0"/>
              <a:ext cx="2976880" cy="6858000"/>
            </a:xfrm>
            <a:prstGeom prst="rect">
              <a:avLst/>
            </a:prstGeom>
            <a:blipFill dpi="0" rotWithShape="1">
              <a:blip r:embed="rId3">
                <a:alphaModFix amt="29000"/>
              </a:blip>
              <a:srcRect/>
              <a:tile tx="0" ty="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20D7849D-CFE9-CFAD-868E-D1F7F9208B45}"/>
              </a:ext>
            </a:extLst>
          </p:cNvPr>
          <p:cNvSpPr/>
          <p:nvPr/>
        </p:nvSpPr>
        <p:spPr>
          <a:xfrm>
            <a:off x="4073321" y="1412240"/>
            <a:ext cx="4884816" cy="5080000"/>
          </a:xfrm>
          <a:prstGeom prst="roundRect">
            <a:avLst>
              <a:gd name="adj" fmla="val 1317"/>
            </a:avLst>
          </a:prstGeom>
          <a:solidFill>
            <a:srgbClr val="FAFAF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제목 4">
            <a:extLst>
              <a:ext uri="{FF2B5EF4-FFF2-40B4-BE49-F238E27FC236}">
                <a16:creationId xmlns:a16="http://schemas.microsoft.com/office/drawing/2014/main" id="{40E2FAE7-B4BA-46AF-65CE-D443A62A3AAA}"/>
              </a:ext>
            </a:extLst>
          </p:cNvPr>
          <p:cNvSpPr txBox="1">
            <a:spLocks/>
          </p:cNvSpPr>
          <p:nvPr/>
        </p:nvSpPr>
        <p:spPr>
          <a:xfrm>
            <a:off x="4162617" y="1422400"/>
            <a:ext cx="5392923" cy="250060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ctr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800" b="1" kern="1200" baseline="0">
                <a:solidFill>
                  <a:schemeClr val="bg1"/>
                </a:solidFill>
                <a:effectLst/>
                <a:latin typeface="+mj-ea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ko-KR" altLang="en-US" sz="3000" dirty="0">
                <a:solidFill>
                  <a:srgbClr val="8DAA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제</a:t>
            </a:r>
            <a:r>
              <a:rPr lang="en-US" altLang="ko-KR" sz="3000" dirty="0">
                <a:solidFill>
                  <a:srgbClr val="8DAA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20</a:t>
            </a:r>
            <a:r>
              <a:rPr lang="ko-KR" altLang="en-US" sz="3000" dirty="0">
                <a:solidFill>
                  <a:srgbClr val="8DAA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장</a:t>
            </a:r>
            <a:r>
              <a:rPr lang="en-US" altLang="ko-KR" sz="3000" dirty="0">
                <a:solidFill>
                  <a:srgbClr val="8DAA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 </a:t>
            </a:r>
            <a:br>
              <a:rPr lang="en-US" altLang="ko-KR" sz="3000" dirty="0">
                <a:solidFill>
                  <a:srgbClr val="8DAA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</a:br>
            <a:r>
              <a:rPr lang="ko-KR" altLang="en-US" sz="2800" dirty="0">
                <a:solidFill>
                  <a:srgbClr val="59775D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조세와 경제행위 </a:t>
            </a:r>
            <a:r>
              <a:rPr lang="en-US" altLang="ko-KR" sz="2800" dirty="0">
                <a:solidFill>
                  <a:srgbClr val="59775D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: </a:t>
            </a:r>
            <a:r>
              <a:rPr lang="ko-KR" altLang="en-US" sz="2800" dirty="0">
                <a:solidFill>
                  <a:srgbClr val="59775D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개인의 선택</a:t>
            </a: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29D266C5-F988-F18E-387E-93E1962EC5FD}"/>
              </a:ext>
            </a:extLst>
          </p:cNvPr>
          <p:cNvSpPr txBox="1">
            <a:spLocks/>
          </p:cNvSpPr>
          <p:nvPr/>
        </p:nvSpPr>
        <p:spPr>
          <a:xfrm>
            <a:off x="4187784" y="3768779"/>
            <a:ext cx="4572000" cy="250060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130000"/>
              </a:lnSpc>
              <a:spcBef>
                <a:spcPts val="1000"/>
              </a:spcBef>
              <a:spcAft>
                <a:spcPts val="400"/>
              </a:spcAft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20.1  </a:t>
            </a:r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조세와 노동의 공급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20.2  </a:t>
            </a:r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노동공급에 미치는 영향의 실증연구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20.3  </a:t>
            </a:r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조세와 저축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20.4  </a:t>
            </a:r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저축에 미치는 영향의 실증연구</a:t>
            </a:r>
          </a:p>
        </p:txBody>
      </p:sp>
    </p:spTree>
    <p:extLst>
      <p:ext uri="{BB962C8B-B14F-4D97-AF65-F5344CB8AC3E}">
        <p14:creationId xmlns:p14="http://schemas.microsoft.com/office/powerpoint/2010/main" val="31358141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20.1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조세와 노동의 공급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8137121" cy="4754563"/>
          </a:xfrm>
        </p:spPr>
        <p:txBody>
          <a:bodyPr anchor="ctr">
            <a:noAutofit/>
          </a:bodyPr>
          <a:lstStyle/>
          <a:p>
            <a:pPr marL="266700" indent="-266700">
              <a:spcAft>
                <a:spcPts val="1500"/>
              </a:spcAft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조세가 노동공급에 관한 의사결정에 교란을 일으켜 발생하는 초과부담의 크기는 정책의 측면에서 매우 중요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spcAft>
                <a:spcPts val="100"/>
              </a:spcAft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조세가 노동공급에 미치는 영향의 분석 방법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spcAft>
                <a:spcPts val="1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이론모형을 통한 분석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효용극대화를 추구하는 개인의 선택에 기초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spcAft>
                <a:spcPts val="15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실증자료를 이용한 분석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spcAft>
                <a:spcPts val="1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분석단위의 선택 문제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개인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(individual) vs.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가계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(household)</a:t>
            </a:r>
          </a:p>
          <a:p>
            <a:pPr marL="444500" lvl="1">
              <a:spcAft>
                <a:spcPts val="100"/>
              </a:spcAft>
              <a:tabLst>
                <a:tab pos="1079500" algn="l"/>
              </a:tabLs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원론적으로는 개인을 기본적 분석단위로 선택해야 함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spcAft>
                <a:spcPts val="100"/>
              </a:spcAft>
              <a:tabLst>
                <a:tab pos="1079500" algn="l"/>
              </a:tabLs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개인의 노동공급에 관한 결정이 사실상 가족 공동의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의사결정이므로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가계를 분석의 기본단위로 선택하는 것이 더 나을 수도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개인의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073752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조세와 노동의 공급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7954241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1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어떤 경제의 노동 공급량은 다음 두 가지 의사결정의 결과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09600" lvl="1" indent="-266700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노동시장에 참여할 것인가의 여부에 관한 결정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09600" lvl="1" indent="-266700">
              <a:lnSpc>
                <a:spcPct val="110000"/>
              </a:lnSpc>
              <a:spcAft>
                <a:spcPts val="10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노동시장에 참여하는 사람들의 평균적 노동시간에 관한 결정</a:t>
            </a:r>
          </a:p>
          <a:p>
            <a:pPr marL="266700" indent="-266700">
              <a:lnSpc>
                <a:spcPct val="11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사람들은 실제의 임금률이 각자의 </a:t>
            </a: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유보임금률</a:t>
            </a: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(reservation wage rate)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보다 높아야만 노동시장에 참여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조세는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세후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순임금률을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낮춰 노동시장 참여에 관한 의사결정에 영향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algn="just">
              <a:lnSpc>
                <a:spcPct val="110000"/>
              </a:lnSpc>
              <a:spcAft>
                <a:spcPts val="10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누진적 소득세제도가 가정 안의 부차적 노동공급자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주부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노동시장 참여율을 낮추는 효과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한 경제 전체의 평균적인 노동시간에 관한 결정을 이해하기 위해서는 대표적 개인의 효용극대화 선택 과정을 살펴보는 것이 필요 </a:t>
            </a:r>
            <a:b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⇒ 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여가와 소득 사이의 선택 모형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개인의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828402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대표적 개인의 선택과 노동공급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0" indent="0">
                  <a:buNone/>
                </a:pPr>
                <a:r>
                  <a:rPr lang="ko-KR" altLang="en-US" sz="2000" b="1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비례소득세의 효과</a:t>
                </a:r>
                <a:endParaRPr lang="en-US" altLang="ko-KR" sz="2000" dirty="0">
                  <a:solidFill>
                    <a:schemeClr val="accent1">
                      <a:lumMod val="7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/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시간당 임금률이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인 사람이 여가와 소득 사이에서 선택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/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세율 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로 비례소득세 부과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endParaRPr lang="en-US" altLang="ko-KR" sz="100" i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/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예산선의 변화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선분 </a:t>
                </a:r>
                <a14:m>
                  <m:oMath xmlns:m="http://schemas.openxmlformats.org/officeDocument/2006/math">
                    <m:r>
                      <a:rPr lang="en-US" altLang="ko-KR" sz="2000" b="1" i="1" dirty="0" smtClean="0"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𝑨𝑩</m:t>
                    </m:r>
                  </m:oMath>
                </a14:m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en-US" altLang="ko-KR" sz="2000" b="1" dirty="0"/>
                  <a:t>⇒ 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선분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𝑩𝑪</m:t>
                    </m:r>
                  </m:oMath>
                </a14:m>
                <a:endParaRPr lang="en-US" altLang="ko-KR" sz="20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노동시간의 변화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선분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 smtClean="0">
                            <a:latin typeface="Cambria Math" panose="02040503050406030204" pitchFamily="18" charset="0"/>
                            <a:ea typeface="나눔고딕" panose="020D0604000000000000" pitchFamily="50" charset="-127"/>
                          </a:rPr>
                        </m:ctrlPr>
                      </m:sSubPr>
                      <m:e>
                        <m:r>
                          <a:rPr lang="en-US" altLang="ko-KR" sz="2000" b="1" i="1" smtClean="0">
                            <a:latin typeface="Cambria Math" panose="02040503050406030204" pitchFamily="18" charset="0"/>
                            <a:ea typeface="나눔고딕" panose="020D0604000000000000" pitchFamily="50" charset="-127"/>
                          </a:rPr>
                          <m:t>𝑳</m:t>
                        </m:r>
                      </m:e>
                      <m:sub>
                        <m:r>
                          <a:rPr lang="en-US" altLang="ko-KR" sz="2000" b="1" i="1" smtClean="0">
                            <a:latin typeface="Cambria Math" panose="02040503050406030204" pitchFamily="18" charset="0"/>
                            <a:ea typeface="나눔고딕" panose="020D0604000000000000" pitchFamily="50" charset="-127"/>
                          </a:rPr>
                          <m:t>𝟎</m:t>
                        </m:r>
                      </m:sub>
                    </m:sSub>
                    <m:r>
                      <a:rPr lang="en-US" altLang="ko-KR" sz="2000" b="1" i="1" smtClean="0"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𝑩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en-US" altLang="ko-KR" sz="2000" dirty="0"/>
                  <a:t>⇒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선분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 smtClean="0">
                            <a:latin typeface="Cambria Math" panose="02040503050406030204" pitchFamily="18" charset="0"/>
                            <a:ea typeface="나눔고딕" panose="020D0604000000000000" pitchFamily="50" charset="-127"/>
                          </a:rPr>
                        </m:ctrlPr>
                      </m:sSubPr>
                      <m:e>
                        <m:r>
                          <a:rPr lang="en-US" altLang="ko-KR" sz="2000" b="1" i="1" smtClean="0">
                            <a:latin typeface="Cambria Math" panose="02040503050406030204" pitchFamily="18" charset="0"/>
                            <a:ea typeface="나눔고딕" panose="020D0604000000000000" pitchFamily="50" charset="-127"/>
                          </a:rPr>
                          <m:t>𝑳</m:t>
                        </m:r>
                      </m:e>
                      <m:sub>
                        <m:r>
                          <a:rPr lang="en-US" altLang="ko-KR" sz="2000" b="1" i="1" smtClean="0">
                            <a:latin typeface="Cambria Math" panose="02040503050406030204" pitchFamily="18" charset="0"/>
                            <a:ea typeface="나눔고딕" panose="020D0604000000000000" pitchFamily="50" charset="-127"/>
                          </a:rPr>
                          <m:t>𝒕</m:t>
                        </m:r>
                      </m:sub>
                    </m:sSub>
                    <m:r>
                      <a:rPr lang="en-US" altLang="ko-KR" sz="2000" b="1" i="1" smtClean="0"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𝑩</m:t>
                    </m:r>
                  </m:oMath>
                </a14:m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sz="1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/>
                <a:endParaRPr lang="en-US" altLang="ko-KR" sz="1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/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비례소득세로 인해 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노동시간이 선분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 smtClean="0">
                            <a:latin typeface="Cambria Math" panose="02040503050406030204" pitchFamily="18" charset="0"/>
                            <a:ea typeface="나눔고딕" panose="020D0604000000000000" pitchFamily="50" charset="-127"/>
                          </a:rPr>
                        </m:ctrlPr>
                      </m:sSubPr>
                      <m:e>
                        <m:r>
                          <a:rPr lang="en-US" altLang="ko-KR" sz="2000" b="1" i="1" smtClean="0">
                            <a:latin typeface="Cambria Math" panose="02040503050406030204" pitchFamily="18" charset="0"/>
                            <a:ea typeface="나눔고딕" panose="020D0604000000000000" pitchFamily="50" charset="-127"/>
                          </a:rPr>
                          <m:t>𝑳</m:t>
                        </m:r>
                      </m:e>
                      <m:sub>
                        <m:r>
                          <a:rPr lang="en-US" altLang="ko-KR" sz="2000" b="1" i="1" smtClean="0">
                            <a:latin typeface="Cambria Math" panose="02040503050406030204" pitchFamily="18" charset="0"/>
                            <a:ea typeface="나눔고딕" panose="020D0604000000000000" pitchFamily="50" charset="-127"/>
                          </a:rPr>
                          <m:t>𝒕</m:t>
                        </m:r>
                      </m:sub>
                    </m:sSub>
                    <m:sSub>
                      <m:sSubPr>
                        <m:ctrlPr>
                          <a:rPr lang="en-US" altLang="ko-KR" sz="2000" i="1" smtClean="0">
                            <a:latin typeface="Cambria Math" panose="02040503050406030204" pitchFamily="18" charset="0"/>
                            <a:ea typeface="나눔고딕" panose="020D0604000000000000" pitchFamily="50" charset="-127"/>
                          </a:rPr>
                        </m:ctrlPr>
                      </m:sSubPr>
                      <m:e>
                        <m:r>
                          <a:rPr lang="en-US" altLang="ko-KR" sz="2000" b="1" i="1" smtClean="0">
                            <a:latin typeface="Cambria Math" panose="02040503050406030204" pitchFamily="18" charset="0"/>
                            <a:ea typeface="나눔고딕" panose="020D0604000000000000" pitchFamily="50" charset="-127"/>
                          </a:rPr>
                          <m:t>𝑳</m:t>
                        </m:r>
                      </m:e>
                      <m:sub>
                        <m:r>
                          <a:rPr lang="en-US" altLang="ko-KR" sz="2000" b="1" i="1" smtClean="0">
                            <a:latin typeface="Cambria Math" panose="02040503050406030204" pitchFamily="18" charset="0"/>
                            <a:ea typeface="나눔고딕" panose="020D0604000000000000" pitchFamily="50" charset="-127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길이만큼 감소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7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개인의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A25CF77-C360-4B3A-A887-E8AD820292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02712" y="3034437"/>
            <a:ext cx="5421352" cy="3073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3046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대표적 개인의 선택과 노동공급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6700" indent="-266700">
                  <a:lnSpc>
                    <a:spcPct val="14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비례소득세의 부과로 인해 노동공급 감소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4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비례소득세는 세후 </a:t>
                </a: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순임금률을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변화시킴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⇒</m:t>
                    </m:r>
                    <m:d>
                      <m:d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</m:d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4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대체효과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여가의 상대가격을 떨어뜨려 여가를 늘리고 노동공급을 줄이는 방향으로 작용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40000"/>
                  </a:lnSpc>
                </a:pP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소득효과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납세자의 실질소득을 떨어뜨려 여가를 줄이고 노동공급을 늘리는 방향으로 작용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40000"/>
                  </a:lnSpc>
                  <a:spcAft>
                    <a:spcPts val="5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노동공급이 감소하는 것은 대체효과가 소득효과보다 더 크기 때문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r="-61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개인의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955910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대표적 개인의 선택과 노동공급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6700" indent="-266700">
                  <a:lnSpc>
                    <a:spcPct val="130000"/>
                  </a:lnSpc>
                  <a:spcAft>
                    <a:spcPts val="30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소득세 부과가 항상 노동공급의 감소를 가져오는 것은 아님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30000"/>
                  </a:lnSpc>
                  <a:spcAft>
                    <a:spcPts val="30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대체효과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&gt;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소득효과 ⇒ 소득세 부과는 노동 공급량을 줄이는 결과 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30000"/>
                  </a:lnSpc>
                  <a:spcAft>
                    <a:spcPts val="30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대체효과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&lt;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소득효과 ⇒ 소득세 부과는 노동 공급량을 늘리는 결과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개인의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929587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대표적 개인의 선택과 노동공급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가격소비곡선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(price-consumption curve) 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소득세율 상승에 따라   노동의 공급이 어떻게 반응하는지를 보여줌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개인의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DC15FE9-CE7B-43D8-93AA-A7D198A70F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78610" y="2319601"/>
            <a:ext cx="6786779" cy="3857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1706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대표적 개인의 선택과 노동공급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8220249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30000"/>
              </a:lnSpc>
              <a:spcAft>
                <a:spcPts val="12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처음에는 세율 상승이 노동 공급량을 증가시키지만 어느 정도 이후에는 추가적 세율 상승이 노동 공급량을 감소시킴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근로소득뿐 아니라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비근로소득도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있는 경우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</a:pP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세후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순임금률의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변화로 대체효과와 소득효과 발생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</a:pP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비근로소득에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세금이 부과되면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세후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순소득은 세금을 뺀 만큼 감소하게 되므로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추가적인 소득효과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비근로소득이 존재하는 경우에는 추가적인 소득효과 때문에 비례소득세의 부과가 노동 공급량을 증가시키는 결과를 가져올 가능성이 약간 더 커짐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개인의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8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758909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대표적 개인의 선택과 노동공급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0" indent="0">
              <a:spcAft>
                <a:spcPts val="1500"/>
              </a:spcAft>
              <a:buNone/>
            </a:pP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누진소득세의 효과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spcAft>
                <a:spcPts val="15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소득이 올라감에 </a:t>
            </a:r>
            <a:b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따라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예산선이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b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점점 완만해지는 </a:t>
            </a:r>
            <a:b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형태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spcAft>
                <a:spcPts val="15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누진소득세는 </a:t>
            </a:r>
            <a:b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고소득자의 </a:t>
            </a:r>
            <a:b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근로의욕을 </a:t>
            </a:r>
            <a:b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감퇴시킬 </a:t>
            </a:r>
            <a:b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가능성이 높음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개인의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9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CBC811D-717E-4A0B-80F6-7C1676C1CC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28950" y="2490843"/>
            <a:ext cx="5565976" cy="3455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8629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대표적 개인의 선택과 노동공급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7990417" cy="4754563"/>
          </a:xfrm>
        </p:spPr>
        <p:txBody>
          <a:bodyPr anchor="ctr">
            <a:noAutofit/>
          </a:bodyPr>
          <a:lstStyle/>
          <a:p>
            <a:pPr marL="0" indent="0">
              <a:lnSpc>
                <a:spcPct val="110000"/>
              </a:lnSpc>
              <a:spcAft>
                <a:spcPts val="800"/>
              </a:spcAft>
              <a:buNone/>
            </a:pP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모형의 한계</a:t>
            </a:r>
            <a:endParaRPr lang="en-US" altLang="ko-KR" sz="2000" b="1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대표적 개인을 설정해 분석을 진행시키는 기본골격에 문제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  <a:spcAft>
                <a:spcPts val="7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서로 다른 여건하의 사람들이 보이는 총체적 반응은 단순한 모형에서 도출된 결론과 큰 차이를 보일 수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세전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임금률이 조세 부과 후에도 변화하지 않는다는 가정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  <a:spcAft>
                <a:spcPts val="7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조세가 부과되면 대부분의 사람들이 노동 공급량을 변화시킬 것이고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 결과 임금률에 어떤 변화가 올 것이 분명함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사람들이 자유로이 노동시간을 조절할 수 있다는 가정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90500">
              <a:lnSpc>
                <a:spcPct val="11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현실에서 임금률이 더 낮아진다고 해서 노동시간을 줄이거나 늘릴 수 있는 위치에 있는 사람은 극소수에 불과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개인의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904608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" y="541337"/>
            <a:ext cx="9144000" cy="711200"/>
          </a:xfrm>
        </p:spPr>
        <p:txBody>
          <a:bodyPr>
            <a:no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20.2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노동공급에 미치는 영향의 실증연구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2"/>
            <a:ext cx="7626350" cy="4754563"/>
          </a:xfrm>
        </p:spPr>
        <p:txBody>
          <a:bodyPr anchor="ctr">
            <a:noAutofit/>
          </a:bodyPr>
          <a:lstStyle/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조세가 사람들의 근로의욕에 어떤 영향을 미치고 있는지는 결국    실증연구에 의해 밝혀져야 할 문제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buFont typeface="Wingdings" panose="05000000000000000000" pitchFamily="2" charset="2"/>
              <a:buChar char="§"/>
            </a:pP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 문제에 대한 실증연구의 접근법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특정 그룹에 속하는 사람들을 대상으로 한 설문조사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노동공급곡선에 대한 계량경제학적 측정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실험적 방법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개인의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11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421869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실증연구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설문조사의 방법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8203623" cy="4754563"/>
          </a:xfrm>
        </p:spPr>
        <p:txBody>
          <a:bodyPr anchor="ctr">
            <a:noAutofit/>
          </a:bodyPr>
          <a:lstStyle/>
          <a:p>
            <a:pPr marL="0" indent="0">
              <a:spcAft>
                <a:spcPts val="500"/>
              </a:spcAft>
              <a:buNone/>
            </a:pP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설문조사의 방법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브레이크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(G. Break) 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영국의 변호사와 회계사를 대상으로 하여            소득세가 근로의욕에 어떤 영향을 미치는지에 대한 설문조사 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응답자 중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13%~19%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 이르는 비율의 사람들이 누진적 소득세가    자신의 근로의욕에 명백한 악영향을 끼친다고 대답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spcAft>
                <a:spcPts val="5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그러나 대부분의 사람들은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영향을 받지 않는다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라는 반응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400" indent="-26640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발로 등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(R. </a:t>
            </a:r>
            <a:r>
              <a:rPr lang="en-US" altLang="ko-KR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Balow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i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et al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.)</a:t>
            </a:r>
            <a:r>
              <a:rPr lang="en-US" altLang="ko-KR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누진적 소득세가 특히 부유층의 근로의욕에  미치는 영향에 분석의 초점의 맞춤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세금은 고소득자들의 근로의욕에 영향을 미치는 주요 요인 아님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세금보다는 자신의 일이 요구하는 노력이나 건강상태 등이 더욱 중요한 결정요인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개인의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049812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실증연구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설문조사의 방법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7914217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40000"/>
              </a:lnSpc>
              <a:spcAft>
                <a:spcPts val="500"/>
              </a:spcAft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설문조사에 기초한 접근법의 문제점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90500">
              <a:lnSpc>
                <a:spcPct val="140000"/>
              </a:lnSpc>
              <a:spcAft>
                <a:spcPts val="500"/>
              </a:spcAft>
            </a:pPr>
            <a:r>
              <a:rPr lang="ko-KR" altLang="en-US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응답자들이 스스로의 행위에 대해 정확하게 인식하지 못할 가능성</a:t>
            </a:r>
            <a:endParaRPr lang="en-US" altLang="ko-KR" spc="-5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90500">
              <a:lnSpc>
                <a:spcPct val="140000"/>
              </a:lnSpc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설사 정확하게 인식하고 있다 할지라도 이를 정확하게 전달할 수    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있는지의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여부도 문제가 될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90500">
              <a:lnSpc>
                <a:spcPct val="140000"/>
              </a:lnSpc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사람들이 과연 얼마나 정직하게 응답하는지에 대해서도 의문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개인의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341692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실증연구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계량경제학적 방법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0" indent="0">
              <a:lnSpc>
                <a:spcPct val="100000"/>
              </a:lnSpc>
              <a:spcAft>
                <a:spcPts val="1500"/>
              </a:spcAft>
              <a:buNone/>
            </a:pP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계량경제학적 방법</a:t>
            </a:r>
            <a:endParaRPr lang="en-US" altLang="ko-KR" b="1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  <a:spcAft>
                <a:spcPts val="2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노동경제학에서는 계량경제학적 방법을 사용해 노동 공급곡선을      추정하는 작업이 자주 이루어짐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spcAft>
                <a:spcPts val="2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노동 공급곡선의 모양을 안다는 것은 임금률이 변화할 때               노동 공급량이 어떻게 반응할 것인지 안다는 것을 뜻함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소득세의 부과가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세후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순임금률을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얼마나 떨어뜨리는지 알면       조세가 노동 공급에 어떤 영향을 미치는지 알아낼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  <a:spcAft>
                <a:spcPts val="2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 문제에 관한 실증연구들은 매우 상반된 결과 제시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개인의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301650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실증연구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계량경제학적 방법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하우스먼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(J. </a:t>
            </a:r>
            <a:r>
              <a:rPr lang="en-US" altLang="ko-KR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Hausman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 부과의 결과 노동 공급량이 상당한     폭으로 줄어든다는 결론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펜카벨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(J. </a:t>
            </a:r>
            <a:r>
              <a:rPr lang="en-US" altLang="ko-KR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Pencavel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많은 실증연구들이 그렇지 않다는 결론을       제시하고 있음을 지적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매커디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(T. </a:t>
            </a:r>
            <a:r>
              <a:rPr lang="en-US" altLang="ko-KR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MaCurdy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하나의 가상적 상황을 설정하고 이 두 상반된 견해가 의미하는 실질적 차이가 얼마나 되는지 검토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펜카벨의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실증연구에 입각한 계산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노동공급 감소량이 연간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시간에 불과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하우스먼의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실증연구에 입각한 계산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연간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121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시간의 노동공급량 감소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개인의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966296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456172-4CB4-237A-7FD6-F0353DD4D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5C2869-BCAE-E50B-79F2-D522D876F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실증연구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계량경제학적 방법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D1C234E-DC60-307C-F920-D6AD9AFA85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22402"/>
            <a:ext cx="8216092" cy="4754563"/>
          </a:xfrm>
        </p:spPr>
        <p:txBody>
          <a:bodyPr anchor="ctr">
            <a:noAutofit/>
          </a:bodyPr>
          <a:lstStyle/>
          <a:p>
            <a:pPr marL="266700" indent="-266700"/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하우스먼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–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포터바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(J. Hausman and J. Poterba)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1981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년과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1986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년에 미국에서 이루어진 대규모 감세에 대해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각각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0.4%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와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0.9%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노동 공급량 증가 추정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09600" lvl="1" indent="-26670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감세규모에 비해 추정된 노동 공급량의 증가는 인상적이지 못함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/>
            <a:endParaRPr lang="en-US" altLang="ko-KR" sz="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/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보즈워스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–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버틀리스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(B. Bosworth and G. Burtless) 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감세정책이 실시된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1980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년대에 미국의 노동 공급량이 상당한 폭으로 증가하였음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09600" lvl="1" indent="-26670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그러나 이러한 노동 공급량의 증가가 감세정책의 결과라고 보기는    어렵다고 지적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09600" lvl="1" indent="-266700">
              <a:spcAft>
                <a:spcPts val="1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노동 공급량의 증가는 감세 혜택을 받지 못하는 최하위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20%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계층에서 두드러지게 나타났음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9B30A53-6A10-AFB6-8F6A-EE4E8D758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8F6432F-2487-8425-0731-FB344036E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개인의 선택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6F8083C-2D23-0B4E-8E55-AD457BEE4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16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670216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실증연구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실험의 방법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0" indent="0">
              <a:lnSpc>
                <a:spcPct val="100000"/>
              </a:lnSpc>
              <a:spcAft>
                <a:spcPts val="700"/>
              </a:spcAft>
              <a:buNone/>
            </a:pP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실험의 방법</a:t>
            </a:r>
            <a:endParaRPr lang="en-US" altLang="ko-KR" b="1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spcAft>
                <a:spcPts val="7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경제학은 자연과학의 방법론을 많이 채택하고 있으면서도 자유로운  실험이 불가능하다는 점에서 한계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/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1960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년대 말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∼1970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년대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미국에서 제한적이나마 이 문제에 대한   답을 기대할 수 있게 해주는 실험이 실시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뉴저지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펜실베이니아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인디애나 등지에서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년간에 걸쳐 진행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부의 소득세제가 노동공급을 약간 줄이는 것으로 드러남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유의한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(significant)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영향을 미치고 있음이 확인되었지만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이를 두고 상당한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(substantial)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영향이라고 말할 수는 없다는 결론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개인의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17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447547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실증연구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실험의 방법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2"/>
            <a:ext cx="7886700" cy="4754563"/>
          </a:xfrm>
        </p:spPr>
        <p:txBody>
          <a:bodyPr anchor="ctr">
            <a:noAutofit/>
          </a:bodyPr>
          <a:lstStyle/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실험의 방법이 갖는 문제점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사람의 행위가 단지 실험에 참가했다는 이유만으로 변화할 가능성이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이런 단기적 프로그램을 통해 영구적 변화를 예측하기는 힘듦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spcAft>
                <a:spcPts val="15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소수를 대상으로 하는 프로그램과 전체 국민을 대상으로 하는        프로그램이 서로 다른 결과를 가져올 것이 분명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b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⇒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실험적 방법의 근본적 한계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400" indent="-266400"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현실에서 가끔 이루어지는 조세제도 개편을 마치 하나의 실험과 같은 상황으로 보아 개편 전과 후의 노동공급 양상을 비교함으로써 조세의 영향을 알아낼 수 있음 ⇒ 준실험적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(quasi-experimental)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접근방법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개인의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18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500399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" y="531814"/>
            <a:ext cx="9144000" cy="711200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20.3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조세와 저축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8029055" cy="4754563"/>
          </a:xfrm>
        </p:spPr>
        <p:txBody>
          <a:bodyPr anchor="ctr">
            <a:noAutofit/>
          </a:bodyPr>
          <a:lstStyle/>
          <a:p>
            <a:pPr marL="0" indent="0">
              <a:lnSpc>
                <a:spcPct val="110000"/>
              </a:lnSpc>
              <a:spcAft>
                <a:spcPts val="700"/>
              </a:spcAft>
              <a:buNone/>
            </a:pPr>
            <a:r>
              <a:rPr lang="ko-KR" altLang="en-US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저축의 동기</a:t>
            </a:r>
            <a:endParaRPr lang="en-US" altLang="ko-KR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은퇴 후의 생활에 대비해 돈을 모아두어야 하겠다는 의지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  <a:spcAft>
                <a:spcPts val="7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생애주기이론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(life-cycle hypothesis) 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저축을 바람직하다고 생각되는 소비의 흐름과 소득의 흐름 사이의 차이를 조정하려는 노력의 결과로 해석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altLang="ko-KR" sz="2000" spc="-3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(2) </a:t>
            </a:r>
            <a:r>
              <a:rPr lang="ko-KR" altLang="en-US" sz="2000" spc="-3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예비적 동기 </a:t>
            </a:r>
            <a:r>
              <a:rPr lang="en-US" altLang="ko-KR" sz="2000" spc="-3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spc="-3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앞날의 예기치 않은 필요에 대비해 두려는 동기</a:t>
            </a:r>
            <a:endParaRPr lang="en-US" altLang="ko-KR" sz="2000" spc="-3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  <a:spcAft>
                <a:spcPts val="7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너무 많은 저축을 하는 부자들의 행동을 설명할 수 없음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(3)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재산을 자식들에게 물려주고 싶은 욕망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실증분석 결과에 따르면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전체 저축 중에서 유산상속동기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(bequest motive)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 의한 저축이 차지하는 비중이 상당히 큼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개인의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19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846165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시점간 자원배분모형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422402"/>
                <a:ext cx="7945928" cy="4754563"/>
              </a:xfrm>
            </p:spPr>
            <p:txBody>
              <a:bodyPr anchor="ctr">
                <a:noAutofit/>
              </a:bodyPr>
              <a:lstStyle/>
              <a:p>
                <a:pPr marL="266700" indent="-266700">
                  <a:lnSpc>
                    <a:spcPct val="130000"/>
                  </a:lnSpc>
                  <a:spcAft>
                    <a:spcPts val="200"/>
                  </a:spcAft>
                  <a:buFont typeface="Wingdings" panose="05000000000000000000" pitchFamily="2" charset="2"/>
                  <a:buChar char="§"/>
                </a:pPr>
                <a:r>
                  <a:rPr lang="ko-KR" altLang="en-US" b="1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시점간 자원배분모형</a:t>
                </a:r>
                <a:r>
                  <a:rPr lang="en-US" altLang="ko-KR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(intertemporal resource allocation model)</a:t>
                </a:r>
              </a:p>
              <a:p>
                <a:pPr marL="444500" lvl="1">
                  <a:lnSpc>
                    <a:spcPct val="130000"/>
                  </a:lnSpc>
                  <a:spcAft>
                    <a:spcPts val="2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대표적 개인은 현재와 미래의 근로소득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을 초기부존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(initial endowment)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으로 하여 생애 전체의 관점에서 가장 바람직한 현재와 미래의 소비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  <m:sup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와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b="1" i="1" dirty="0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en-US" altLang="ko-KR" b="1" i="1" dirty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altLang="ko-KR" b="1" i="1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를 선택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30000"/>
                  </a:lnSpc>
                  <a:spcAft>
                    <a:spcPts val="2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완전한 자본시장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(perfect capital market)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가정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622300" lvl="2">
                  <a:lnSpc>
                    <a:spcPct val="130000"/>
                  </a:lnSpc>
                  <a:spcAft>
                    <a:spcPts val="2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사람들은 빌리고 싶은 만큼 마음대로 빌릴 수 있고 빌려주고 싶은 만큼 마음대로 빌려줄 수 있음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622300" lvl="2">
                  <a:lnSpc>
                    <a:spcPct val="130000"/>
                  </a:lnSpc>
                  <a:spcAft>
                    <a:spcPts val="2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빌릴 때와 빌려줄 때 적용되는 이자율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에 차이가 없음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422402"/>
                <a:ext cx="7945928" cy="4754563"/>
              </a:xfrm>
              <a:blipFill>
                <a:blip r:embed="rId2"/>
                <a:stretch>
                  <a:fillRect l="-690" r="-7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개인의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647924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시점간 자원배분모형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6700" indent="-266700">
                  <a:lnSpc>
                    <a:spcPct val="110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𝑨𝑩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: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대표적 개인의 예산제약</a:t>
                </a:r>
                <a:endParaRPr lang="en-US" altLang="ko-KR" sz="2000" i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10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: </a:t>
                </a:r>
                <a:r>
                  <a:rPr lang="ko-KR" altLang="en-US" sz="200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초기부존점</a:t>
                </a:r>
                <a:endParaRPr lang="en-US" altLang="ko-KR" sz="2000" i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10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𝑬</m:t>
                    </m:r>
                  </m:oMath>
                </a14:m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점을 선택한 대표적 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개인은 현재소득 중 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일부를 저축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10000"/>
                  </a:lnSpc>
                  <a:spcAft>
                    <a:spcPts val="800"/>
                  </a:spcAft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경우에 따라서는 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돈을 빌려 현재 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소득보다 더 많이 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소비하는 선택을 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할 수도 있음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개인의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CCD830C-6C36-44CC-9601-BF27A67B3A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05232" y="2482752"/>
            <a:ext cx="5414971" cy="3302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1554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조세부과의 효과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>
              <a:xfrm>
                <a:off x="628648" y="1422402"/>
                <a:ext cx="8007351" cy="4754563"/>
              </a:xfrm>
            </p:spPr>
            <p:txBody>
              <a:bodyPr anchor="ctr">
                <a:noAutofit/>
              </a:bodyPr>
              <a:lstStyle/>
              <a:p>
                <a:pPr marL="0" indent="0">
                  <a:spcAft>
                    <a:spcPts val="1500"/>
                  </a:spcAft>
                  <a:buNone/>
                </a:pPr>
                <a:r>
                  <a:rPr lang="ko-KR" altLang="en-US" b="1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근로소득세</a:t>
                </a:r>
                <a:endParaRPr lang="en-US" altLang="ko-KR" b="1" dirty="0">
                  <a:solidFill>
                    <a:schemeClr val="accent1">
                      <a:lumMod val="7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근로소득세가 부과된다는 것은 주어진 소득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와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dirty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altLang="ko-KR" b="1" i="1" dirty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에만 소득세가     부과될 뿐 이자소득에는 부과되지 않는 것을 뜻함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대표적 개인의 예산선은 원래의 기울기를 유지한 채 원점 쪽으로      평행이동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spcAft>
                    <a:spcPts val="15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소득효과만 발생하며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정상재의 성격을 지닌 현재소비는 감소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/>
                <a:r>
                  <a:rPr lang="ko-KR" altLang="en-US" spc="-1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근로소득세가 부과되었을 때 경제 전체의 저축이 어떻게 변화할           것인지는 정부가 이 조세수입을 어떻게 사용할 것인지를 알아야만       대답이 가능</a:t>
                </a:r>
                <a:endParaRPr lang="en-US" altLang="ko-KR" spc="-1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8" y="1422402"/>
                <a:ext cx="8007351" cy="4754563"/>
              </a:xfrm>
              <a:blipFill>
                <a:blip r:embed="rId2"/>
                <a:stretch>
                  <a:fillRect l="-7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개인의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034882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조세부과의 효과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0" indent="0">
                  <a:buNone/>
                </a:pPr>
                <a:r>
                  <a:rPr lang="ko-KR" altLang="en-US" sz="2000" b="1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이자소득세</a:t>
                </a:r>
                <a:endParaRPr lang="en-US" altLang="ko-KR" sz="2000" b="1" dirty="0">
                  <a:solidFill>
                    <a:schemeClr val="accent1">
                      <a:lumMod val="7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0" indent="0">
                  <a:buNone/>
                </a:pPr>
                <a:endParaRPr lang="en-US" altLang="ko-KR" sz="500" dirty="0">
                  <a:solidFill>
                    <a:schemeClr val="accent1">
                      <a:lumMod val="7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10000"/>
                  </a:lnSpc>
                  <a:spcAft>
                    <a:spcPts val="1500"/>
                  </a:spcAft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이자소득에만 소득세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세율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2000" b="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부과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근로소득세에는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비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과세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10000"/>
                  </a:lnSpc>
                  <a:spcAft>
                    <a:spcPts val="1500"/>
                  </a:spcAft>
                </a:pPr>
                <a:r>
                  <a:rPr lang="ko-KR" altLang="en-US" sz="200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예산선의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변화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선분 </a:t>
                </a:r>
                <a14:m>
                  <m:oMath xmlns:m="http://schemas.openxmlformats.org/officeDocument/2006/math">
                    <m:r>
                      <a:rPr lang="en-US" altLang="ko-KR" sz="2000" b="1" i="1" smtClean="0"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𝑨𝑩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 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⇒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선분 </a:t>
                </a:r>
                <a14:m>
                  <m:oMath xmlns:m="http://schemas.openxmlformats.org/officeDocument/2006/math"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𝑪𝑫</m:t>
                    </m:r>
                  </m:oMath>
                </a14:m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10000"/>
                  </a:lnSpc>
                  <a:spcAft>
                    <a:spcPts val="1500"/>
                  </a:spcAft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예산선의 기울기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−[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</m:d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10000"/>
                  </a:lnSpc>
                  <a:spcAft>
                    <a:spcPts val="1500"/>
                  </a:spcAft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소비자 선택의 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변화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𝑬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→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p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10000"/>
                  </a:lnSpc>
                  <a:spcAft>
                    <a:spcPts val="1500"/>
                  </a:spcAft>
                </a:pPr>
                <a:endParaRPr lang="en-US" altLang="ko-KR" sz="1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10000"/>
                  </a:lnSpc>
                  <a:spcAft>
                    <a:spcPts val="1500"/>
                  </a:spcAft>
                </a:pPr>
                <a:endParaRPr lang="en-US" altLang="ko-KR" sz="1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7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개인의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84DA2F9-D83F-494F-8D93-7E2AFAC819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12073" y="2731709"/>
            <a:ext cx="5437990" cy="3082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0861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조세부과의 효과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 fontAlgn="base">
              <a:lnSpc>
                <a:spcPct val="130000"/>
              </a:lnSpc>
              <a:spcAft>
                <a:spcPts val="3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대체효과와 소득효과 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12000" lvl="1" indent="-396000" fontAlgn="base">
              <a:lnSpc>
                <a:spcPct val="130000"/>
              </a:lnSpc>
              <a:spcAft>
                <a:spcPts val="300"/>
              </a:spcAft>
              <a:buNone/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대체효과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이자소득세의 부과로 인해 순이자율이 떨어져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현재     소비가 상대적으로 더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싸짐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⇒ 현재소비를 늘리는 방향으로 작용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3050" lvl="1" indent="0" fontAlgn="base">
              <a:lnSpc>
                <a:spcPct val="130000"/>
              </a:lnSpc>
              <a:spcAft>
                <a:spcPts val="300"/>
              </a:spcAft>
              <a:buNone/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(2)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소득효과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조세부과가 실질소득을 하락시킴</a:t>
            </a:r>
            <a:b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⇒ 현재소비를 줄이는 방향으로 작용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	</a:t>
            </a:r>
          </a:p>
          <a:p>
            <a:pPr marL="266400" indent="-266400" fontAlgn="base">
              <a:lnSpc>
                <a:spcPct val="130000"/>
              </a:lnSpc>
              <a:spcAft>
                <a:spcPts val="300"/>
              </a:spcAft>
            </a:pP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400" indent="-266400" fontAlgn="base">
              <a:lnSpc>
                <a:spcPct val="130000"/>
              </a:lnSpc>
              <a:spcAft>
                <a:spcPts val="3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대체효과와 소득효과 중 어느 효과가 더 크다는 것을 알기 전에는      결과를 예측할 수 없음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개인의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868428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조세부과의 효과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2"/>
            <a:ext cx="7941772" cy="4754563"/>
          </a:xfrm>
        </p:spPr>
        <p:txBody>
          <a:bodyPr anchor="ctr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500"/>
              </a:spcAft>
              <a:buNone/>
            </a:pP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일반적 소득세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spcBef>
                <a:spcPts val="0"/>
              </a:spcBef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일반적인 소득세는 특정한 유형의 소득에만 과세하는 것이 아니라 모든 유형의 소득을 과세대상에 포함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spcBef>
                <a:spcPts val="0"/>
              </a:spcBef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이자소득세의 경우에 본 대체효과와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소득효과뿐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아니라 근로소득세의 경우에 본 소득효과까지 가세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spcBef>
                <a:spcPts val="0"/>
              </a:spcBef>
              <a:spcAft>
                <a:spcPts val="2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이와 같이 복잡한 상황에서 저축이 어떻게 변화할 것이라고 예측하는 것은 거의 불가능에 가까움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개인의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717296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541337"/>
            <a:ext cx="9144000" cy="711200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20.4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저축에 미치는 영향의 실증연구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>
              <a:xfrm>
                <a:off x="628649" y="1422402"/>
                <a:ext cx="8328315" cy="4754563"/>
              </a:xfrm>
            </p:spPr>
            <p:txBody>
              <a:bodyPr anchor="ctr">
                <a:noAutofit/>
              </a:bodyPr>
              <a:lstStyle/>
              <a:p>
                <a:pPr marL="266700" indent="-266700">
                  <a:lnSpc>
                    <a:spcPct val="110000"/>
                  </a:lnSpc>
                  <a:spcAft>
                    <a:spcPts val="200"/>
                  </a:spcAft>
                  <a:buFont typeface="Wingdings" panose="05000000000000000000" pitchFamily="2" charset="2"/>
                  <a:buChar char="§"/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보스킨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(M. </a:t>
                </a:r>
                <a:r>
                  <a:rPr lang="en-US" altLang="ko-KR" sz="200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Boskin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 :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저축의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순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이자율 탄력성이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0.2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에서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0.4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범위    안에 있다는 연구 결과 제시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10000"/>
                  </a:lnSpc>
                  <a:spcAft>
                    <a:spcPts val="800"/>
                  </a:spcAft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저축이 이자율 변화에 대해 상당히 민감한 반응을 보인다는 것을 의미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10000"/>
                  </a:lnSpc>
                  <a:spcAft>
                    <a:spcPts val="800"/>
                  </a:spcAft>
                  <a:buFont typeface="Wingdings" panose="05000000000000000000" pitchFamily="2" charset="2"/>
                  <a:buChar char="§"/>
                </a:pPr>
                <a:r>
                  <a:rPr lang="ko-KR" altLang="en-US" sz="200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프렌드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-</a:t>
                </a:r>
                <a:r>
                  <a:rPr lang="ko-KR" altLang="en-US" sz="200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하스브룩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(I. Friend and J. </a:t>
                </a:r>
                <a:r>
                  <a:rPr lang="en-US" altLang="ko-KR" sz="200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Hasbrouk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 :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가계저축의 이자율 탄력  성이 통계적으로 무의미할 정도로 작거나 아니면 심지어 음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2000" b="1" i="1" smtClean="0"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−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값까지    가질 수 있다는 분석 결과 제시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10000"/>
                  </a:lnSpc>
                  <a:spcAft>
                    <a:spcPts val="800"/>
                  </a:spcAft>
                </a:pPr>
                <a:r>
                  <a:rPr lang="ko-KR" altLang="en-US" sz="200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하우스먼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-</a:t>
                </a:r>
                <a:r>
                  <a:rPr lang="ko-KR" altLang="en-US" sz="200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포터바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(J. </a:t>
                </a:r>
                <a:r>
                  <a:rPr lang="en-US" altLang="ko-KR" sz="200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Hausman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and J. </a:t>
                </a:r>
                <a:r>
                  <a:rPr lang="en-US" altLang="ko-KR" sz="200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Poterba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 :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기존의 실증연구 결과를 종합해 저축의 이자율 탄력성은 거의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0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에 가까울 정도로 작다고 결론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422402"/>
                <a:ext cx="8328315" cy="4754563"/>
              </a:xfrm>
              <a:blipFill>
                <a:blip r:embed="rId2"/>
                <a:stretch>
                  <a:fillRect l="-65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개인의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26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41655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저축에 미치는 영향의 실증연구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3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앳킨슨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스티글리츠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(A. Atkinson and J. Stiglitz) 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저축의 이자율     탄력성이 갖는 크기에 따라 조세 부과가 저축에 미치게 될 영향이      어떻게 달라질 것인지 계산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spcAft>
                <a:spcPts val="3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연간 이자율이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10%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인데 소득세 부과로 인해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세후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순이자율이  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5%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로 떨어진다고 할 때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저축의 이자율 탄력성이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0.05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라면          저축은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3.5%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만 감소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spcAft>
                <a:spcPts val="3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반면에 이자율 탄력성이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0.2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라면 저축의 감소폭은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13%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 이르고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0.4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 경우에는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25%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나 감소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개인의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27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718835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실증연구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준실험적 방법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15949" y="1422402"/>
            <a:ext cx="8075007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조세가 저축에 미치는 영향을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준실험적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방법에 의해 분석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정부가 저축 장려를 위해 시행하는 감세정책을 하나의 실험상황으로 보아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이것이 국민저축에 어떤 영향을 미쳤는지를 분석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</a:pPr>
            <a:r>
              <a:rPr lang="en-US" altLang="ko-KR" spc="-3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1982</a:t>
            </a:r>
            <a:r>
              <a:rPr lang="ko-KR" altLang="en-US" spc="-3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</a:t>
            </a:r>
            <a:r>
              <a:rPr lang="en-US" altLang="ko-KR" spc="-3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pc="-3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미국의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레이건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(R. Reagan)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행정부는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개인저축의 획기적 증대를 목표로 하여 모든 근로자에게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IRA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개설을 허용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spcAft>
                <a:spcPts val="1000"/>
              </a:spcAft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IRA :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해마다 일정 한도 이내의 금액을 적립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적립한 금액에 대해 소득공제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이자소득에 대해서는 연금을 찾을 때까지 과세 유예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개인의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28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283008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D5738C-267F-9176-E3DD-6B8B700C3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2D2ED2-D2A5-3C8E-3133-56DA3C9BB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실증연구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준실험적 방법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1E8E6A3-CADE-E1E7-03AB-02B8A26172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949" y="1422402"/>
            <a:ext cx="8070851" cy="4754563"/>
          </a:xfrm>
        </p:spPr>
        <p:txBody>
          <a:bodyPr anchor="ctr">
            <a:noAutofit/>
          </a:bodyPr>
          <a:lstStyle/>
          <a:p>
            <a:pPr marL="266700" indent="-266700"/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그래블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(J. Gravelle) : IRA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개설이 허용된 이후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IRA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 개인저축에서     차지하는 비중은 약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30%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까지 증가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09600" lvl="1" indent="-26670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그러나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IRA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 개인저축의 순증가에 기여하는 바는 제한적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09600" lvl="1" indent="-266700"/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IRA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연금저축 재원은 여러 경로를 통해 마련될 수 있는데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그중 국민저축 증가에 진정으로 기여하는 것은 소비지출의 감소를 통한 것임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09600" lvl="1" indent="-266700"/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/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애터내시오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들레이르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(O. Attanasio and T. </a:t>
            </a:r>
            <a:r>
              <a:rPr lang="en-US" altLang="ko-KR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DeLeire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국민저축의 순증가에 기여한 것으로 인정할 수 있는 것은 아무리 크게 잡아도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IRA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저축의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9%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넘지 못함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1335C18-58F6-4A0F-4A1A-DA4411DD1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C6F55D3-77DE-5057-366D-4A40AD5E2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개인의 선택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15C3FB0-3717-74DD-F740-EB081564D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29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241160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실증연구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준실험적 방법</a:t>
            </a:r>
            <a:endParaRPr lang="ko-KR" altLang="en-US" b="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2"/>
            <a:ext cx="7991648" cy="4754563"/>
          </a:xfrm>
        </p:spPr>
        <p:txBody>
          <a:bodyPr anchor="ctr">
            <a:noAutofit/>
          </a:bodyPr>
          <a:lstStyle/>
          <a:p>
            <a:pPr marL="266700" indent="-26670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미국의 대규모 감세정책이 개인저축 증가에 별다른 효과를 내지 못했 다는 결론 가능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09600" lvl="1" indent="-26670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소득세율 대폭 인하와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IRA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확대를 통한 세금우대 조치에도 미국의 개인저축은 전반적인 하향추세를 보여 왔음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감세정책은 지금까지 본 것과는 다른 경로를 통해서도 개인저축 혹은 국민저축에 영향을 줄 수 있음</a:t>
            </a:r>
          </a:p>
          <a:p>
            <a:pPr marL="609600" lvl="1" indent="-266700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소득세율 인하에 따라 투자자들의 세후 수익률이 올라가도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저축의 이자율탄력성이 아주 작은 값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또는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음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(-)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값을 갖는다면 세후 수익률의 상승이 저축에 별 영향을 주지 못함</a:t>
            </a:r>
          </a:p>
          <a:p>
            <a:pPr marL="266700" indent="-266700">
              <a:lnSpc>
                <a:spcPct val="11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감세정책이 개인저축을 어느 정도 증가시키는 결과를 가져왔다 해도  국민저축까지 동시에 증가시킨다는 보장이 없음</a:t>
            </a:r>
          </a:p>
          <a:p>
            <a:pPr marL="609600" lvl="1" indent="-266700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정부저축의 감소가 개인저축의 증가를 상쇄하기 때문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개인의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30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58048808"/>
      </p:ext>
    </p:extLst>
  </p:cSld>
  <p:clrMapOvr>
    <a:masterClrMapping/>
  </p:clrMapOvr>
</p:sld>
</file>

<file path=ppt/theme/theme1.xml><?xml version="1.0" encoding="utf-8"?>
<a:theme xmlns:a="http://schemas.openxmlformats.org/drawingml/2006/main" name="재정학테마">
  <a:themeElements>
    <a:clrScheme name="사용자 지정 1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F6B73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재정학테마" id="{D220411F-458E-4BEF-9391-46AA3D35AAC4}" vid="{007A1872-AD0C-400C-B34D-A147BE5B3ECB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재정학테마</Template>
  <TotalTime>6163</TotalTime>
  <Words>2172</Words>
  <Application>Microsoft Office PowerPoint</Application>
  <PresentationFormat>화면 슬라이드 쇼(4:3)</PresentationFormat>
  <Paragraphs>277</Paragraphs>
  <Slides>30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40" baseType="lpstr">
      <vt:lpstr>굴림</vt:lpstr>
      <vt:lpstr>나눔고딕</vt:lpstr>
      <vt:lpstr>나눔고딕 ExtraBold</vt:lpstr>
      <vt:lpstr>맑은 고딕</vt:lpstr>
      <vt:lpstr>바탕</vt:lpstr>
      <vt:lpstr>새굴림</vt:lpstr>
      <vt:lpstr>Arial</vt:lpstr>
      <vt:lpstr>Cambria Math</vt:lpstr>
      <vt:lpstr>Wingdings</vt:lpstr>
      <vt:lpstr>재정학테마</vt:lpstr>
      <vt:lpstr>PowerPoint 프레젠테이션</vt:lpstr>
      <vt:lpstr>20.1  조세와 노동의 공급</vt:lpstr>
      <vt:lpstr>조세와 노동의 공급</vt:lpstr>
      <vt:lpstr>대표적 개인의 선택과 노동공급</vt:lpstr>
      <vt:lpstr>대표적 개인의 선택과 노동공급</vt:lpstr>
      <vt:lpstr>대표적 개인의 선택과 노동공급</vt:lpstr>
      <vt:lpstr>대표적 개인의 선택과 노동공급</vt:lpstr>
      <vt:lpstr>대표적 개인의 선택과 노동공급</vt:lpstr>
      <vt:lpstr>대표적 개인의 선택과 노동공급</vt:lpstr>
      <vt:lpstr>대표적 개인의 선택과 노동공급</vt:lpstr>
      <vt:lpstr>20.2  노동공급에 미치는 영향의 실증연구</vt:lpstr>
      <vt:lpstr>실증연구 : 설문조사의 방법</vt:lpstr>
      <vt:lpstr>실증연구 : 설문조사의 방법</vt:lpstr>
      <vt:lpstr>실증연구 : 계량경제학적 방법</vt:lpstr>
      <vt:lpstr>실증연구 : 계량경제학적 방법</vt:lpstr>
      <vt:lpstr>실증연구 : 계량경제학적 방법</vt:lpstr>
      <vt:lpstr>실증연구 : 실험의 방법</vt:lpstr>
      <vt:lpstr>실증연구 : 실험의 방법</vt:lpstr>
      <vt:lpstr>20.3  조세와 저축</vt:lpstr>
      <vt:lpstr>시점간 자원배분모형</vt:lpstr>
      <vt:lpstr>시점간 자원배분모형</vt:lpstr>
      <vt:lpstr>조세부과의 효과</vt:lpstr>
      <vt:lpstr>조세부과의 효과</vt:lpstr>
      <vt:lpstr>조세부과의 효과</vt:lpstr>
      <vt:lpstr>조세부과의 효과</vt:lpstr>
      <vt:lpstr>20.4  저축에 미치는 영향의 실증연구</vt:lpstr>
      <vt:lpstr>저축에 미치는 영향의 실증연구</vt:lpstr>
      <vt:lpstr>실증연구 : 준실험적 방법</vt:lpstr>
      <vt:lpstr>실증연구 : 준실험적 방법</vt:lpstr>
      <vt:lpstr>실증연구 : 준실험적 방법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제 1장   재정학: 의의와 성격</dc:title>
  <dc:creator>chomh</dc:creator>
  <cp:lastModifiedBy>영완 전</cp:lastModifiedBy>
  <cp:revision>1536</cp:revision>
  <dcterms:created xsi:type="dcterms:W3CDTF">2015-08-04T05:38:00Z</dcterms:created>
  <dcterms:modified xsi:type="dcterms:W3CDTF">2026-01-13T01:36:02Z</dcterms:modified>
</cp:coreProperties>
</file>