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9"/>
  </p:notesMasterIdLst>
  <p:handoutMasterIdLst>
    <p:handoutMasterId r:id="rId40"/>
  </p:handoutMasterIdLst>
  <p:sldIdLst>
    <p:sldId id="363" r:id="rId2"/>
    <p:sldId id="258" r:id="rId3"/>
    <p:sldId id="310" r:id="rId4"/>
    <p:sldId id="311" r:id="rId5"/>
    <p:sldId id="312" r:id="rId6"/>
    <p:sldId id="313" r:id="rId7"/>
    <p:sldId id="315" r:id="rId8"/>
    <p:sldId id="316" r:id="rId9"/>
    <p:sldId id="317" r:id="rId10"/>
    <p:sldId id="318" r:id="rId11"/>
    <p:sldId id="320" r:id="rId12"/>
    <p:sldId id="321" r:id="rId13"/>
    <p:sldId id="322" r:id="rId14"/>
    <p:sldId id="323" r:id="rId15"/>
    <p:sldId id="354" r:id="rId16"/>
    <p:sldId id="325" r:id="rId17"/>
    <p:sldId id="326" r:id="rId18"/>
    <p:sldId id="361" r:id="rId19"/>
    <p:sldId id="329" r:id="rId20"/>
    <p:sldId id="330" r:id="rId21"/>
    <p:sldId id="331" r:id="rId22"/>
    <p:sldId id="332" r:id="rId23"/>
    <p:sldId id="355" r:id="rId24"/>
    <p:sldId id="335" r:id="rId25"/>
    <p:sldId id="362" r:id="rId26"/>
    <p:sldId id="336" r:id="rId27"/>
    <p:sldId id="356" r:id="rId28"/>
    <p:sldId id="357" r:id="rId29"/>
    <p:sldId id="358" r:id="rId30"/>
    <p:sldId id="341" r:id="rId31"/>
    <p:sldId id="359" r:id="rId32"/>
    <p:sldId id="345" r:id="rId33"/>
    <p:sldId id="347" r:id="rId34"/>
    <p:sldId id="349" r:id="rId35"/>
    <p:sldId id="350" r:id="rId36"/>
    <p:sldId id="351" r:id="rId37"/>
    <p:sldId id="352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A4A56F-C4B2-4226-8ED9-EA113093541F}" v="71" dt="2026-01-13T00:23:36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11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72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0:32:08.722" v="292" actId="20577"/>
      <pc:docMkLst>
        <pc:docMk/>
      </pc:docMkLst>
      <pc:sldChg chg="modSp mod">
        <pc:chgData name="영완 전" userId="94a232b962f42e62" providerId="LiveId" clId="{862E7F7D-119D-4717-AD52-91020921814B}" dt="2026-01-07T06:18:54.005" v="56" actId="20577"/>
        <pc:sldMkLst>
          <pc:docMk/>
          <pc:sldMk cId="2131678008" sldId="258"/>
        </pc:sldMkLst>
        <pc:spChg chg="mod">
          <ac:chgData name="영완 전" userId="94a232b962f42e62" providerId="LiveId" clId="{862E7F7D-119D-4717-AD52-91020921814B}" dt="2026-01-07T06:18:54.005" v="56" actId="20577"/>
          <ac:spMkLst>
            <pc:docMk/>
            <pc:sldMk cId="2131678008" sldId="2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27:18.889" v="221" actId="20577"/>
        <pc:sldMkLst>
          <pc:docMk/>
          <pc:sldMk cId="3133125413" sldId="311"/>
        </pc:sldMkLst>
        <pc:spChg chg="mod">
          <ac:chgData name="영완 전" userId="94a232b962f42e62" providerId="LiveId" clId="{862E7F7D-119D-4717-AD52-91020921814B}" dt="2026-01-08T02:27:18.889" v="221" actId="20577"/>
          <ac:spMkLst>
            <pc:docMk/>
            <pc:sldMk cId="3133125413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19:46.254" v="60" actId="20577"/>
        <pc:sldMkLst>
          <pc:docMk/>
          <pc:sldMk cId="1761651781" sldId="312"/>
        </pc:sldMkLst>
        <pc:spChg chg="mod">
          <ac:chgData name="영완 전" userId="94a232b962f42e62" providerId="LiveId" clId="{862E7F7D-119D-4717-AD52-91020921814B}" dt="2026-01-07T06:19:46.254" v="60" actId="20577"/>
          <ac:spMkLst>
            <pc:docMk/>
            <pc:sldMk cId="1761651781" sldId="31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20:29.220" v="65" actId="20577"/>
        <pc:sldMkLst>
          <pc:docMk/>
          <pc:sldMk cId="2083964747" sldId="313"/>
        </pc:sldMkLst>
        <pc:spChg chg="mod">
          <ac:chgData name="영완 전" userId="94a232b962f42e62" providerId="LiveId" clId="{862E7F7D-119D-4717-AD52-91020921814B}" dt="2026-01-07T06:20:29.220" v="65" actId="20577"/>
          <ac:spMkLst>
            <pc:docMk/>
            <pc:sldMk cId="2083964747" sldId="31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21:18.831" v="72" actId="20577"/>
        <pc:sldMkLst>
          <pc:docMk/>
          <pc:sldMk cId="575972804" sldId="315"/>
        </pc:sldMkLst>
        <pc:spChg chg="mod">
          <ac:chgData name="영완 전" userId="94a232b962f42e62" providerId="LiveId" clId="{862E7F7D-119D-4717-AD52-91020921814B}" dt="2026-01-07T06:21:18.831" v="72" actId="20577"/>
          <ac:spMkLst>
            <pc:docMk/>
            <pc:sldMk cId="575972804" sldId="31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19:35.347" v="249" actId="20577"/>
        <pc:sldMkLst>
          <pc:docMk/>
          <pc:sldMk cId="1587541454" sldId="316"/>
        </pc:sldMkLst>
        <pc:spChg chg="mod">
          <ac:chgData name="영완 전" userId="94a232b962f42e62" providerId="LiveId" clId="{862E7F7D-119D-4717-AD52-91020921814B}" dt="2026-01-13T00:19:35.347" v="249" actId="20577"/>
          <ac:spMkLst>
            <pc:docMk/>
            <pc:sldMk cId="1587541454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20:07.268" v="251" actId="14100"/>
        <pc:sldMkLst>
          <pc:docMk/>
          <pc:sldMk cId="2795709016" sldId="317"/>
        </pc:sldMkLst>
        <pc:spChg chg="mod">
          <ac:chgData name="영완 전" userId="94a232b962f42e62" providerId="LiveId" clId="{862E7F7D-119D-4717-AD52-91020921814B}" dt="2026-01-13T00:20:07.268" v="251" actId="14100"/>
          <ac:spMkLst>
            <pc:docMk/>
            <pc:sldMk cId="2795709016" sldId="31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24:06.487" v="82" actId="20577"/>
        <pc:sldMkLst>
          <pc:docMk/>
          <pc:sldMk cId="2215524041" sldId="318"/>
        </pc:sldMkLst>
        <pc:spChg chg="mod">
          <ac:chgData name="영완 전" userId="94a232b962f42e62" providerId="LiveId" clId="{862E7F7D-119D-4717-AD52-91020921814B}" dt="2026-01-07T06:24:06.487" v="82" actId="20577"/>
          <ac:spMkLst>
            <pc:docMk/>
            <pc:sldMk cId="2215524041" sldId="31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20:51.737" v="267" actId="20577"/>
        <pc:sldMkLst>
          <pc:docMk/>
          <pc:sldMk cId="784936063" sldId="320"/>
        </pc:sldMkLst>
        <pc:spChg chg="mod">
          <ac:chgData name="영완 전" userId="94a232b962f42e62" providerId="LiveId" clId="{862E7F7D-119D-4717-AD52-91020921814B}" dt="2026-01-13T00:20:51.737" v="267" actId="20577"/>
          <ac:spMkLst>
            <pc:docMk/>
            <pc:sldMk cId="784936063" sldId="32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21:25.433" v="270" actId="20577"/>
        <pc:sldMkLst>
          <pc:docMk/>
          <pc:sldMk cId="573213768" sldId="321"/>
        </pc:sldMkLst>
        <pc:spChg chg="mod">
          <ac:chgData name="영완 전" userId="94a232b962f42e62" providerId="LiveId" clId="{862E7F7D-119D-4717-AD52-91020921814B}" dt="2026-01-13T00:21:25.433" v="270" actId="20577"/>
          <ac:spMkLst>
            <pc:docMk/>
            <pc:sldMk cId="573213768" sldId="32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21:44.433" v="271" actId="14100"/>
        <pc:sldMkLst>
          <pc:docMk/>
          <pc:sldMk cId="2351524008" sldId="322"/>
        </pc:sldMkLst>
        <pc:spChg chg="mod">
          <ac:chgData name="영완 전" userId="94a232b962f42e62" providerId="LiveId" clId="{862E7F7D-119D-4717-AD52-91020921814B}" dt="2026-01-13T00:21:44.433" v="271" actId="14100"/>
          <ac:spMkLst>
            <pc:docMk/>
            <pc:sldMk cId="2351524008" sldId="32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22:07.789" v="272" actId="14100"/>
        <pc:sldMkLst>
          <pc:docMk/>
          <pc:sldMk cId="2985147895" sldId="323"/>
        </pc:sldMkLst>
        <pc:spChg chg="mod">
          <ac:chgData name="영완 전" userId="94a232b962f42e62" providerId="LiveId" clId="{862E7F7D-119D-4717-AD52-91020921814B}" dt="2026-01-13T00:22:07.789" v="272" actId="14100"/>
          <ac:spMkLst>
            <pc:docMk/>
            <pc:sldMk cId="2985147895" sldId="32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28:03.794" v="109" actId="20577"/>
        <pc:sldMkLst>
          <pc:docMk/>
          <pc:sldMk cId="1200301458" sldId="325"/>
        </pc:sldMkLst>
        <pc:spChg chg="mod">
          <ac:chgData name="영완 전" userId="94a232b962f42e62" providerId="LiveId" clId="{862E7F7D-119D-4717-AD52-91020921814B}" dt="2026-01-07T06:28:03.794" v="109" actId="20577"/>
          <ac:spMkLst>
            <pc:docMk/>
            <pc:sldMk cId="1200301458" sldId="32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22:41.603" v="276" actId="20577"/>
        <pc:sldMkLst>
          <pc:docMk/>
          <pc:sldMk cId="1394389021" sldId="326"/>
        </pc:sldMkLst>
        <pc:spChg chg="mod">
          <ac:chgData name="영완 전" userId="94a232b962f42e62" providerId="LiveId" clId="{862E7F7D-119D-4717-AD52-91020921814B}" dt="2026-01-13T00:22:41.603" v="276" actId="20577"/>
          <ac:spMkLst>
            <pc:docMk/>
            <pc:sldMk cId="1394389021" sldId="32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29:19.928" v="120" actId="20577"/>
        <pc:sldMkLst>
          <pc:docMk/>
          <pc:sldMk cId="3007051158" sldId="329"/>
        </pc:sldMkLst>
        <pc:spChg chg="mod">
          <ac:chgData name="영완 전" userId="94a232b962f42e62" providerId="LiveId" clId="{862E7F7D-119D-4717-AD52-91020921814B}" dt="2026-01-07T06:29:19.928" v="120" actId="20577"/>
          <ac:spMkLst>
            <pc:docMk/>
            <pc:sldMk cId="3007051158" sldId="32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30:02.575" v="123" actId="20577"/>
        <pc:sldMkLst>
          <pc:docMk/>
          <pc:sldMk cId="3843553029" sldId="331"/>
        </pc:sldMkLst>
        <pc:spChg chg="mod">
          <ac:chgData name="영완 전" userId="94a232b962f42e62" providerId="LiveId" clId="{862E7F7D-119D-4717-AD52-91020921814B}" dt="2026-01-07T06:30:02.575" v="123" actId="20577"/>
          <ac:spMkLst>
            <pc:docMk/>
            <pc:sldMk cId="3843553029" sldId="33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23:41.218" v="285" actId="20577"/>
        <pc:sldMkLst>
          <pc:docMk/>
          <pc:sldMk cId="2893132645" sldId="335"/>
        </pc:sldMkLst>
        <pc:spChg chg="mod">
          <ac:chgData name="영완 전" userId="94a232b962f42e62" providerId="LiveId" clId="{862E7F7D-119D-4717-AD52-91020921814B}" dt="2026-01-13T00:23:41.218" v="285" actId="20577"/>
          <ac:spMkLst>
            <pc:docMk/>
            <pc:sldMk cId="2893132645" sldId="33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33:26.199" v="160" actId="20577"/>
        <pc:sldMkLst>
          <pc:docMk/>
          <pc:sldMk cId="4026327797" sldId="336"/>
        </pc:sldMkLst>
        <pc:spChg chg="mod">
          <ac:chgData name="영완 전" userId="94a232b962f42e62" providerId="LiveId" clId="{862E7F7D-119D-4717-AD52-91020921814B}" dt="2026-01-07T06:33:26.199" v="160" actId="20577"/>
          <ac:spMkLst>
            <pc:docMk/>
            <pc:sldMk cId="4026327797" sldId="33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35:56.605" v="177" actId="14100"/>
        <pc:sldMkLst>
          <pc:docMk/>
          <pc:sldMk cId="3286752386" sldId="341"/>
        </pc:sldMkLst>
        <pc:spChg chg="mod">
          <ac:chgData name="영완 전" userId="94a232b962f42e62" providerId="LiveId" clId="{862E7F7D-119D-4717-AD52-91020921814B}" dt="2026-01-07T06:35:56.605" v="177" actId="14100"/>
          <ac:spMkLst>
            <pc:docMk/>
            <pc:sldMk cId="3286752386" sldId="34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37:44.006" v="193" actId="20577"/>
        <pc:sldMkLst>
          <pc:docMk/>
          <pc:sldMk cId="1725132573" sldId="347"/>
        </pc:sldMkLst>
        <pc:spChg chg="mod">
          <ac:chgData name="영완 전" userId="94a232b962f42e62" providerId="LiveId" clId="{862E7F7D-119D-4717-AD52-91020921814B}" dt="2026-01-07T06:37:44.006" v="193" actId="20577"/>
          <ac:spMkLst>
            <pc:docMk/>
            <pc:sldMk cId="1725132573" sldId="34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30:18.477" v="236"/>
        <pc:sldMkLst>
          <pc:docMk/>
          <pc:sldMk cId="1529090190" sldId="349"/>
        </pc:sldMkLst>
        <pc:spChg chg="mod">
          <ac:chgData name="영완 전" userId="94a232b962f42e62" providerId="LiveId" clId="{862E7F7D-119D-4717-AD52-91020921814B}" dt="2026-01-08T02:30:18.477" v="236"/>
          <ac:spMkLst>
            <pc:docMk/>
            <pc:sldMk cId="1529090190" sldId="34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40:13.824" v="200" actId="20577"/>
        <pc:sldMkLst>
          <pc:docMk/>
          <pc:sldMk cId="103975616" sldId="350"/>
        </pc:sldMkLst>
        <pc:spChg chg="mod">
          <ac:chgData name="영완 전" userId="94a232b962f42e62" providerId="LiveId" clId="{862E7F7D-119D-4717-AD52-91020921814B}" dt="2026-01-07T06:40:13.824" v="200" actId="20577"/>
          <ac:spMkLst>
            <pc:docMk/>
            <pc:sldMk cId="103975616" sldId="35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32:08.722" v="292" actId="20577"/>
        <pc:sldMkLst>
          <pc:docMk/>
          <pc:sldMk cId="295425756" sldId="351"/>
        </pc:sldMkLst>
        <pc:spChg chg="mod">
          <ac:chgData name="영완 전" userId="94a232b962f42e62" providerId="LiveId" clId="{862E7F7D-119D-4717-AD52-91020921814B}" dt="2026-01-13T00:32:08.722" v="292" actId="20577"/>
          <ac:spMkLst>
            <pc:docMk/>
            <pc:sldMk cId="295425756" sldId="35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30:59.693" v="246" actId="20577"/>
        <pc:sldMkLst>
          <pc:docMk/>
          <pc:sldMk cId="1316086552" sldId="352"/>
        </pc:sldMkLst>
        <pc:spChg chg="mod">
          <ac:chgData name="영완 전" userId="94a232b962f42e62" providerId="LiveId" clId="{862E7F7D-119D-4717-AD52-91020921814B}" dt="2026-01-08T02:30:59.693" v="246" actId="20577"/>
          <ac:spMkLst>
            <pc:docMk/>
            <pc:sldMk cId="1316086552" sldId="35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27:42.284" v="107" actId="20577"/>
        <pc:sldMkLst>
          <pc:docMk/>
          <pc:sldMk cId="3516940537" sldId="354"/>
        </pc:sldMkLst>
        <pc:spChg chg="mod">
          <ac:chgData name="영완 전" userId="94a232b962f42e62" providerId="LiveId" clId="{862E7F7D-119D-4717-AD52-91020921814B}" dt="2026-01-07T06:27:42.284" v="107" actId="20577"/>
          <ac:spMkLst>
            <pc:docMk/>
            <pc:sldMk cId="3516940537" sldId="354"/>
            <ac:spMk id="3" creationId="{00000000-0000-0000-0000-000000000000}"/>
          </ac:spMkLst>
        </pc:spChg>
        <pc:picChg chg="mod">
          <ac:chgData name="영완 전" userId="94a232b962f42e62" providerId="LiveId" clId="{862E7F7D-119D-4717-AD52-91020921814B}" dt="2026-01-07T06:27:20.831" v="97" actId="1076"/>
          <ac:picMkLst>
            <pc:docMk/>
            <pc:sldMk cId="3516940537" sldId="354"/>
            <ac:picMk id="9" creationId="{04E68B51-46FF-46F5-AFCF-E9DFD69B80BD}"/>
          </ac:picMkLst>
        </pc:picChg>
      </pc:sldChg>
      <pc:sldChg chg="modSp mod">
        <pc:chgData name="영완 전" userId="94a232b962f42e62" providerId="LiveId" clId="{862E7F7D-119D-4717-AD52-91020921814B}" dt="2026-01-07T06:30:42.591" v="127" actId="20577"/>
        <pc:sldMkLst>
          <pc:docMk/>
          <pc:sldMk cId="826183125" sldId="355"/>
        </pc:sldMkLst>
        <pc:spChg chg="mod">
          <ac:chgData name="영완 전" userId="94a232b962f42e62" providerId="LiveId" clId="{862E7F7D-119D-4717-AD52-91020921814B}" dt="2026-01-07T06:30:42.591" v="127" actId="20577"/>
          <ac:spMkLst>
            <pc:docMk/>
            <pc:sldMk cId="826183125" sldId="35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31:14.886" v="291" actId="20577"/>
        <pc:sldMkLst>
          <pc:docMk/>
          <pc:sldMk cId="406516716" sldId="356"/>
        </pc:sldMkLst>
        <pc:spChg chg="mod">
          <ac:chgData name="영완 전" userId="94a232b962f42e62" providerId="LiveId" clId="{862E7F7D-119D-4717-AD52-91020921814B}" dt="2026-01-13T00:31:14.886" v="291" actId="20577"/>
          <ac:spMkLst>
            <pc:docMk/>
            <pc:sldMk cId="406516716" sldId="35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36:35.401" v="184" actId="20577"/>
        <pc:sldMkLst>
          <pc:docMk/>
          <pc:sldMk cId="4167776928" sldId="359"/>
        </pc:sldMkLst>
        <pc:spChg chg="mod">
          <ac:chgData name="영완 전" userId="94a232b962f42e62" providerId="LiveId" clId="{862E7F7D-119D-4717-AD52-91020921814B}" dt="2026-01-07T06:36:35.401" v="184" actId="20577"/>
          <ac:spMkLst>
            <pc:docMk/>
            <pc:sldMk cId="4167776928" sldId="3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28:55.565" v="117" actId="20577"/>
        <pc:sldMkLst>
          <pc:docMk/>
          <pc:sldMk cId="1372138352" sldId="361"/>
        </pc:sldMkLst>
        <pc:spChg chg="mod">
          <ac:chgData name="영완 전" userId="94a232b962f42e62" providerId="LiveId" clId="{862E7F7D-119D-4717-AD52-91020921814B}" dt="2026-01-07T06:28:55.565" v="117" actId="20577"/>
          <ac:spMkLst>
            <pc:docMk/>
            <pc:sldMk cId="1372138352" sldId="36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4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200" y="194400"/>
            <a:ext cx="86436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8</a:t>
            </a:r>
            <a:r>
              <a:rPr lang="ko-KR" altLang="en-US"/>
              <a:t>장  소득분배이론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669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49E7622-9254-72CD-0D9E-80F898BF1B95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9D6F85B9-F0A1-6EEC-AE77-F45DEEFA7CB0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F90888F6-BF42-A52A-F624-2C6848517D27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C7C771AC-2701-E286-3C6C-D6C6EA2D19A8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8</a:t>
            </a:r>
            <a:r>
              <a:rPr lang="ko-KR" altLang="en-US"/>
              <a:t>장  소득분배이론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08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8</a:t>
            </a:r>
            <a:r>
              <a:rPr lang="ko-KR" altLang="en-US"/>
              <a:t>장  소득분배이론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21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8</a:t>
            </a:r>
            <a:r>
              <a:rPr lang="ko-KR" altLang="en-US"/>
              <a:t>장  소득분배이론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56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8</a:t>
            </a:r>
            <a:r>
              <a:rPr lang="ko-KR" altLang="en-US"/>
              <a:t>장  소득분배이론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413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6F50A-F0FE-D580-E93B-B82FEC086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CB18A2-CEAE-AAB5-DBA2-512FA58C79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B34ACE96-53E7-5B2D-128A-F746F66EDE98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8841361-D5E7-EEF2-2CC3-6187B974F724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01C8F73-E71F-F1AE-86E7-939547B15E58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309DE2E-245A-A5DC-7E6B-EA486A5AD0C8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E372FC0C-B17E-48EA-64D0-98EECA94CE97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소득분배이론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6888A1F-E22C-2033-CF05-56AEA6269753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최적분배이론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8.3  </a:t>
            </a:r>
            <a:r>
              <a:rPr lang="ko-KR" altLang="en-US" sz="1600" b="1" dirty="0" err="1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불평등도지수</a:t>
            </a:r>
            <a:endParaRPr lang="ko-KR" altLang="en-US" sz="1600" b="1" dirty="0">
              <a:solidFill>
                <a:srgbClr val="2F2F2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불평등 발생의 원인</a:t>
            </a:r>
          </a:p>
        </p:txBody>
      </p:sp>
    </p:spTree>
    <p:extLst>
      <p:ext uri="{BB962C8B-B14F-4D97-AF65-F5344CB8AC3E}">
        <p14:creationId xmlns:p14="http://schemas.microsoft.com/office/powerpoint/2010/main" val="47365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32831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sz="2000" b="1" spc="-4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  <a:r>
              <a:rPr lang="en-US" altLang="ko-KR" sz="2000" spc="-4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(distributive justice)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관한 최초의 본격적인 논의는               아리스토텔레스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(Aristoteles)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 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『</a:t>
            </a:r>
            <a:r>
              <a:rPr lang="ko-KR" altLang="en-US" sz="2000" spc="-4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니코마코스윤리학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』(</a:t>
            </a:r>
            <a:r>
              <a:rPr lang="en-US" altLang="ko-KR" sz="2000" i="1" spc="-4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Etica</a:t>
            </a:r>
            <a:r>
              <a:rPr lang="en-US" altLang="ko-KR" sz="2000" i="1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i="1" spc="-4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Nicomachea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 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찾아볼 수 있음</a:t>
            </a:r>
            <a:endParaRPr lang="en-US" altLang="ko-KR" sz="2000" spc="-4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각자가 가진 가치에 비례하는 분배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각자의 사회적 기여에 비례하는  분배가 정의로운 분배라는 견해를 밝히고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넓은 의미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사회적으로 의미 있는 모든 편익과 부담이 사회 구성원 사이에서 분배되는 것과 관련된 정의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좁은 의미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경제적인 것에 국한된 편익과 부담의 분배와 관련된 정의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정의로운 분배의 네 가지 기본요소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7800" indent="0">
              <a:lnSpc>
                <a:spcPct val="10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평등성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(equality)</a:t>
            </a:r>
          </a:p>
          <a:p>
            <a:pPr marL="355600" indent="-1778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7800" indent="0">
              <a:lnSpc>
                <a:spcPct val="10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정당한 권리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(rights)</a:t>
            </a:r>
          </a:p>
          <a:p>
            <a:pPr marL="355600" indent="-1778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7800" indent="0">
              <a:lnSpc>
                <a:spcPct val="10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(fairness)</a:t>
            </a:r>
          </a:p>
          <a:p>
            <a:pPr marL="355600" indent="-1778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7800" indent="0">
              <a:lnSpc>
                <a:spcPct val="10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받을 만한 자격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(deserts)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2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똑같은 도덕적 가치를 갖고 이 세상에 태어났다는 명제를 출발점으로 삼고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이로부터 정의로운 분배는 모든 사람이 물질적 가치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재산과 소득을 고루 나눠 가진 상태를 뜻한다는 결론을 이끌어 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모든 사람이 똑같은 도덕적 가치를 갖고 이 세상에 태어났다고 해서 물질적 가치도 똑같이 나눠 가져야 한다는 결론이 자동적으로   나올 수 있는 것은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312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정의관의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평등한 분배를 추구하는 과정에서 개인의 정당한 권리가 침해될     가능성이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평등성에 대한 요구가 자유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(liberty)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상충될 가능성이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평등한 분배라는 것이 설득력을 갖기 위해서는 평등성의 개념을 좀 더 탄력적으로 해석할 필요가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tabLst>
                <a:tab pos="809625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동등한 기회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’(equal opportunities)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가진다는 것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tabLst>
                <a:tab pos="809625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최소한의 생활수준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’(minimum standard of living)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대해 동등한 권리를 가진다는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65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4642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정당하게 가질 권리가 있는 것들만을 소유하는 분배의 상태가 정의로운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(libertarian)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들은 정의의 여러 요소 중 정당한 권리가 가장 우선되어야 할 중요한 요소라고 주장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52438" lvl="1">
              <a:lnSpc>
                <a:spcPct val="100000"/>
              </a:lnSpc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정의라는 이름 아래 개인의 자유가 침해되는 일이 없어야 함을 강조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노직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Nozick)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사람이 단순히 수단으로 사용되어서는 안 되고    목적 그 자체여야만 한다는 칸트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(I. Kant)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 원칙으로부터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권리는 어떤 경우에도 침해될 수 없으며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누구도 사회 전체를 위한다는 미명 아래 다른 사람을 이용할 권리를 갖지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최소한의 정부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’(minimal state)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정당화될 수 있는 가장 광범한 정부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396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177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노직의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정당한 권리의 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(entitlement principles)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압축되어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사람이 정의로운 방법을 통해 특정한 물건을 취득해 소유하고  있을 때 그것을 정당하게 가질 권리가 있다고 인정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물건을 정당하게 가질 권리가 있는 사람으로부터 올바른 방법을 통해 소유권을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이전받은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경우에도 역시 정당하게 가질 권리를 인정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정의로운 분배는 모든 사람이 정당하게 가질 권리가 있는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것만을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소유하는 상태를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정당한 권리의 원칙은 결과의 정의보다 절차상의 정의를 더욱 중요시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5972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49838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정의관의 문제점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결과로서 나타난 불평등이 수없이 많은 문제를 만들어 내고 있는데도  절차상의 정당성이 보장되었다는 사실 하나에 갈채를 보낼 사람이 과연 몇이나 될까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266700" indent="-266700">
              <a:lnSpc>
                <a:spcPct val="1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자유론자들이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말하는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정당한 방법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과연 무엇을 뜻하는가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444500" lvl="1" indent="-177800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정당한 방법이란 상황에 따라 달라질 수 있는 만큼 특정한 상황에서  정당한  방법이 무엇인지에 대해 많은 논란이 일어날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5600" indent="-177800">
              <a:lnSpc>
                <a:spcPct val="1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자처하는 사람들이 일반적으로 보이는 현실옹호적인 태도도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자유론자들이 정의의 원칙에 진정으로 충실한 사람들이라면 현실을  무조건 옹호하려 들 것이 아니라 냉철한 비판자의 면모를 보여야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754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8284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정의관은 벤담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Bentham)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최대다수의 최대행복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’(the greatest happiness of the greatest number)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말에 집약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분배란 그 사회의 총체적 후생을 극대화할 수 있는 분배여야 함</a:t>
            </a:r>
            <a:endParaRPr lang="en-US" altLang="ko-KR" sz="2000" spc="-4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전체의 후생의 증감에 입각한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공리의 원칙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(principle of utility)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유일한 도덕적 기준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최대다수의 최대행복을 가져오는 분배상태가 구체적으로 어떤 상태인지에 대해 한마디로 대답하기는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공리주의적인 정의의 원칙이 적용되는 여건에 따라 여러 가지 답이 나올 수 있기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70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522610"/>
            <a:ext cx="799888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정의관은 일반적으로 평등한 분배에 상당히 호의적인 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벤담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사회의 행복의 총합을 계산할 때 모든 사람이 한 몫으로서 포함되어야 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어느 누구도 한 몫 이상으로 셈해져서는 안 된다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  (Everybody to count for one, nobody for more than one).</a:t>
            </a: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정의관의 문제점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정의관이 불균등한 분배의 상태를 정당화시켜 줄 때도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벤담류의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단순한 공리주의는 각 개인의 효용의 합으로 정의된 사회적 후생을 극대화시켜 주는 분배의 상태를 지지하게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실천과정에서 개인의 권리가 침해될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불가능한 개인 사이의 효용 비교를 전제로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5524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최소극대화원칙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24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Rawls)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정의관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평등주의의 한 유형이며 </a:t>
            </a: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요소도 포함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아무런 사회질서도 없고 사람들이 무지의 장막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(veil of ignorance)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가려져 있는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원초적 상황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(original position)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가상적 상황으로부터 출발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상황에서 사람들은 앞으로 사회가 어떤 기본질서를 갖게 될 것인지에 대해 원칙적인 합의 도출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무지의 장막으로 인해 자신의 미래를 내다볼 수 없는 사람들은 사회 질서의 선택과정에 불편부당하고 공정한 태도로 임할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사회계약론의 강한 영향 </a:t>
            </a:r>
            <a:r>
              <a:rPr lang="ko-KR" altLang="en-US" sz="2000" dirty="0"/>
              <a:t>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계약론적 정의관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936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최소극대화원칙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26181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원초적 상황에서 사람들에 의해 선택되리라고 기대되는 정의의   원칙으로 다음 두 가지를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다른 사람들의 자유와 양립할 수 있는 한에서 가장 광범위한 자유에 대해 동등한 권리를 가져야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불평등은 다음의 두 조건을 모두 충족시킬 수 있을 때만 그 정당성을 인정받을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0850" lvl="2" indent="0">
              <a:lnSpc>
                <a:spcPct val="14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불평등이 모든 사람에게 이득이 되는 것을 기대할 수 있어야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0850" lvl="2" indent="0">
              <a:lnSpc>
                <a:spcPct val="14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사람에게 그 기회가 개방된 직위 및 직책과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결부되어서만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불평등성이 존재해야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213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최소극대화원칙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98602"/>
            <a:ext cx="799996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정의관이 가장 선명하게 드러나는 것은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차등의 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(difference principle)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원칙으로부터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최소극대화의 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maximin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principle)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최소극대화의 원칙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한 사회의 가장 못사는 사람에게 가장 큰 이득이 돌아가도록 사회의 기본구조를 짜야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복지정책이 가미된 자본주의체제나 민주적인 사회주의체제가 모두 정의의 원칙을 실현시키는 데 적합하다고 말함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 존재하지 않는 원초적 상황으로부터 정의의 원칙을 도출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계약의 구속력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1524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최적분배이론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59679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최적분배이론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정해진 크기의 총소득이 주어져 있다고 할 때 이를     사회의 구성원 사이에 어떻게 분배하는 것이 바람직한가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에지워스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(F. Edgeworth)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다음의 가정이 충족되면 모든 사람에게 균등한 소득을 나누어 주는 것이 바람직하다고 결론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사회후생이 개인들의 효용을 합친 것과 같음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접근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같은 효용함수를 가지며 효용은 오직 소득수준에만 의존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소득수준이 올라감에 따라 소득의 한계효용이 점차 작아짐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5147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에지워스의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최적분배이론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균등한 분배를 나타내는</a:t>
                </a:r>
                <a14:m>
                  <m:oMath xmlns:m="http://schemas.openxmlformats.org/officeDocument/2006/math">
                    <m:r>
                      <a:rPr lang="ko-KR" altLang="en-US" sz="1800" i="1" dirty="0">
                        <a:latin typeface="Cambria Math"/>
                      </a:rPr>
                      <m:t> </m:t>
                    </m:r>
                    <m:r>
                      <a:rPr lang="en-US" altLang="ko-KR" sz="1800" b="1" i="1" dirty="0" smtClean="0">
                        <a:latin typeface="Cambria Math"/>
                      </a:rPr>
                      <m:t> 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점에서 소득 분배가 이루어지는 것이 사회후생을  극대화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  <a:blipFill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E68B51-46FF-46F5-AFCF-E9DFD69B8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8663" y="1497014"/>
            <a:ext cx="6406673" cy="387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40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에지워스의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최적분배이론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에지워스의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가정에 문제가 있다면 앞의 결론에도 문제가 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사람의 효용함수가 똑같다는 가정의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한계효용이 체감한다는 가정의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622300" lvl="2">
              <a:lnSpc>
                <a:spcPct val="150000"/>
              </a:lnSpc>
              <a:buFont typeface="새굴림" panose="02030600000101010101" pitchFamily="18" charset="-127"/>
              <a:buChar char="∙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한계효용은 상품의 한계효용과 달라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체감해야 할   뚜렷한 이유를 찾기 어려움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50000"/>
              </a:lnSpc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 상태가 변화할 때 총소득의 크기가 달라지는 경우가 있을 수 있음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30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러너의 동등확률 가정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8675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러너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Lerner)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효용함수가 서로 다르다 해도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  특정한 효용함수를 가질 확률이 똑같다는 가정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동등확률의 가정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 하면 균등한 분배가 최적이라는 결론을 도출할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동등확률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(equal ignorance)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어떤 특정한 효용함수의 보유자가 될 확률은 똑같음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앞의 예에서 김씨와 박씨의 효용함수가 서로 다르다 할지라도 효용함수에 대한 확률이 같다면 기대효용의 관점에서 소득을 균등하게 분배하는 것이 사회적으로 최적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389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8.3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불평등도지수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37615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상태를 구체적으로 평가하기 위해 여러 가지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불평등도지수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(inequality index)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불평등도지수가 개발되었지만 바람직한 속성을 모두 갖추고 있는 것은 아직 발견되지 못했음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/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불평등도지수가 어떤 장단점을 갖고 있는지를 파악하고 적절한 것을 선택하여 사용할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138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358902"/>
            <a:ext cx="818699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(Lorenz curve)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사회의 구성원을 소득이 가장 낮은 사람으로부터 높아지는 순서대로 배열할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하위 몇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속하는 사람들이  전체 소득 중 몇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차지하고 있는지를 나타내는 점들을 모아 놓은 곡선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C0862E-FE6B-4158-B569-4E464A453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1571" y="2709455"/>
            <a:ext cx="6080858" cy="364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51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367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로렌츠곡선으로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보면 두 사회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중</a:t>
                </a:r>
                <a14:m>
                  <m:oMath xmlns:m="http://schemas.openxmlformats.org/officeDocument/2006/math">
                    <m:r>
                      <a:rPr lang="en-US" altLang="ko-KR" sz="1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평등한 분배상태라고 평가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로렌츠곡선의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상대적 위치를 보고 </a:t>
                </a: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불평등도를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평가하는 방법은 최소한의 가치판단만을 전제로 하고 있어 높은 객관성을 유지할 수 있다는 장점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36702"/>
                <a:ext cx="7886700" cy="4754563"/>
              </a:xfrm>
              <a:blipFill>
                <a:blip r:embed="rId2"/>
                <a:stretch>
                  <a:fillRect l="-464" r="-696" b="-17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1D3C4A-99B8-4C7E-A40F-C4F3AAF69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9813" y="1351122"/>
            <a:ext cx="6564374" cy="397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69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5008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의한 평가는 서수적 성격을 갖고 있어 어느 정도로 더   평등한지는 말할 수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 상황에서는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로렌츠곡선들이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서로 교차해 명백한 판단을 내릴 수 없는 경우를 많이 보게 된다는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문제점을 극복하기 위해 기수적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(cardinal)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평가방법 중 하나를 선택해 사용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7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기수적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평가방법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불평등의 정도를 구체적인 수치로 나타내 평가하는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553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799539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b="1" spc="-5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지니계수</a:t>
                </a:r>
                <a:r>
                  <a:rPr lang="en-US" altLang="ko-KR" spc="-5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(Gini coefficient: </a:t>
                </a:r>
                <a14:m>
                  <m:oMath xmlns:m="http://schemas.openxmlformats.org/officeDocument/2006/math">
                    <m:r>
                      <a:rPr lang="en-US" altLang="ko-KR" b="1" i="1" spc="-5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altLang="ko-KR" spc="-5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en-US" altLang="ko-KR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가장 흔히 사용되는 </a:t>
                </a:r>
                <a:r>
                  <a:rPr lang="ko-KR" altLang="en-US" spc="-5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불평등도지수</a:t>
                </a: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중 하나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로렌츠곡선을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활용한 계산방식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𝜼</m:t>
                        </m:r>
                      </m:num>
                      <m:den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𝜼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평균소득격차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활용한 계산방식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r>
                      <a:rPr lang="el-GR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𝜟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𝜟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den>
                    </m:f>
                  </m:oMath>
                </a14:m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dirty="0"/>
                  <a:t>       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7995397" cy="4754563"/>
              </a:xfrm>
              <a:blipFill>
                <a:blip r:embed="rId2"/>
                <a:stretch>
                  <a:fillRect l="-686" r="-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2BCE6C-6846-4A4E-9E27-DBE7EBEBD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85301" y="3078700"/>
            <a:ext cx="5234464" cy="323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01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값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</a:t>
            </a:r>
          </a:p>
          <a:p>
            <a:pPr marL="444500" lvl="1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클수록 불평등도의 정도가 크다고 평가할 수 있음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의한 소득불평등도의 평가는 강한 주관성을 내포하고     있다는 사실에 주의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0.35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때보다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0.41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때 더 불평등한 것인가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전제하고 있는 가치판단에 기초해 평가하면 그렇다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183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분위배율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7983335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en-US" altLang="ko-KR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lang="ko-KR" altLang="en-US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분위배율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(quintile share ratio: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속한 사람들의     소득점유비율을 하위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속한 사람들의 소득점유비율로 나눈 값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상위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의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소득점유비율</m:t>
                        </m:r>
                      </m:num>
                      <m:den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하위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의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소득점유비율</m:t>
                        </m:r>
                      </m:den>
                    </m:f>
                  </m:oMath>
                </a14:m>
                <a:r>
                  <a:rPr lang="en-US" altLang="ko-KR" dirty="0"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            </a:t>
                </a:r>
              </a:p>
              <a:p>
                <a:pPr marL="0" indent="0" algn="ctr"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분위배율은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모두가 균등한 소득을 가지고 있는 상황에서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   가지며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소득분배의 불평등도가 커질수록 그 값이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소득이 상위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또는 하위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속하지 않는 사람들의 분배상태를 반영하지 못한다는 점에서 한계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7983335" cy="4754563"/>
              </a:xfrm>
              <a:blipFill>
                <a:blip r:embed="rId2"/>
                <a:stretch>
                  <a:fillRect l="-687" r="-6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132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소득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불평등도지수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3529D2-6F3A-4EA2-B636-EE64BA91C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01" y="1931493"/>
            <a:ext cx="8594998" cy="392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51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178686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(A. Atkinson)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기존의 불평등도지수가 특정한 가치판단 혹은   사회후생함수를 내포하고 있는데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배후에 있는 사회후생함수를 정의 하기 힘들거나 이의 성격에 문제가 있는 경우가 대부분이라고 지적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배경이 되는 사회후생함수가 명백히 드러날 수 있는 성격을 가진 새로운 불평등도지수로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(Atkinson index: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제안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균등분배대등소득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(equally distributed equivalent income)</a:t>
                </a:r>
              </a:p>
              <a:p>
                <a:pPr marL="444500" lvl="1"/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인당 평균소득이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주어진 사회에서 소득이 어떤 특정한 상태로     사람들 사이에 분배된 결과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사회후생수준이 달성되었다고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사람들에게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씩의 소득을 균등하게 분배해 줄 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사회후생수준이 달성될 수 있다면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소득수준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균등분배대등소득이라고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정의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178686" cy="4754563"/>
              </a:xfrm>
              <a:blipFill>
                <a:blip r:embed="rId2"/>
                <a:stretch>
                  <a:fillRect l="-671" r="-7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327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균등분배대등소득에 기초해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불평등도지수를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정립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까지의 값을 가지며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가까울수록 더욱       불평등한 상태를 뜻함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소득분배가 완전히 균등하다면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따라서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거의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원에 가까운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인당 소득이라도 균등하게 분배되기만 하면     지금의 사회후생을 달성할 수 있을 때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가까운 값을 가짐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똑같은 분배상태라도 보는 사람에 따라 균등분배대등소득이 달라질 수 있기 때문에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값도 여러 가지로 나올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16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산식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1" i="1">
                                                    <a:latin typeface="Cambria Math" panose="02040503050406030204" pitchFamily="18" charset="0"/>
                                                  </a:rPr>
                                                  <m:t>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1" i="1">
                                                    <a:latin typeface="Cambria Math" panose="02040503050406030204" pitchFamily="18" charset="0"/>
                                                  </a:rPr>
                                                  <m:t>𝒊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ko-KR" b="1" i="1">
                                                    <a:latin typeface="Cambria Math" panose="02040503050406030204" pitchFamily="18" charset="0"/>
                                                  </a:rPr>
                                                  <m:t>𝒀</m:t>
                                                </m:r>
                                              </m:e>
                                            </m:acc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ko-KR" altLang="en-US" b="1" i="1">
                                        <a:latin typeface="Cambria Math" panose="02040503050406030204" pitchFamily="18" charset="0"/>
                                      </a:rPr>
                                      <m:t>𝜺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번째 소득계층에 속하는 사람들의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소득계층에 속하는 사람들이 전체 인구에서 차지하는 비율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분배매개변수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(distributive parameter)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값에 따라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값이 달리 나오게 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까지의 값을 가질 수 있으며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값이 커질수록 저소득층의 소득에 부여하는 가중치가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불평등성에 대한 명백한 가치판단을 전제로 하여 구해진다는 특성 가짐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062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 발생의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689052-7B52-4CBD-9D2B-780CF594B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9232" y="1571288"/>
            <a:ext cx="6542561" cy="460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12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75023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인생의 가장 원초적인 단계에서 발생하는 불평등의 원인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유전적 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교육적 환경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환경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차원에서의 불평등의 싹은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(family)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돋아나기 시작하는 것임을 알 수 있음</a:t>
            </a:r>
            <a:endParaRPr lang="en-US" altLang="ko-KR" sz="2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52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42019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중간적 단계에서의 불평등 발생경로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유전적 요인과 교육적 환경에 따라 어떤 개인의 능력이 달라짐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인지적 능력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(cognitive skill)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단어와 숫자를 능숙하게 구사하는   기능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 정보를 소화하는 기능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논리적 추론을 하는 기능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비인지적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능력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(non-cognitive skill)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지적인 능력이라고 볼 수는  없지만 넓은 의미에서의 능력이라고 부를 수 있는 것들을 포괄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유전적 요인과 교육적 환경은 개인적 특성에도 많은 영향을 주고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특성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말하는 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옷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입는 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행동거지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환경에서의 차이가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상속∙증여의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과정을 거쳐 재산상의 차이로 이어질 수도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776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경제적 지위의 격차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50000"/>
              </a:lnSpc>
              <a:buNone/>
            </a:pP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경제적 지위는 그가 얻고 있는 소득에 크게 영향을 받는데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소득은 다시 근로소득과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비근로소득으로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나누어 생각할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지위가 소득의 크기에 의해서만 결정되는 것은 아니고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직업적 지위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(occupational status)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이에 못지않게 중요한 결정요인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교육수준은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직업적 지위와 근로소득의 결정에 직접적인 영향을 미침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우연성이 또 하나의 요인으로 경제적 지위의 격차에 중요한 역할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17930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체제 내적 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재정제도상의 특성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(negative income tax),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등의 채택을 통해 분배의 평등화를 가져오도록 노력할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 인두세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(poll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채택하는 등 불평등을 심화시키는 방향으로 재정제도를 운영할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경제정책의 기조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 수십 년 동안 채택해 온 발전전략은 빠른 성장만을    강조하고 공평한 분배의 문제는 뒷전으로 돌리는 성격을 갖고 있었음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경제안정정책을 쓸 때 실업과 인플레이션 중 어디에 더 큰 비중을   두는지 역시 분배상태의 결정에 영향을 미침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132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732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노동시장의 상황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상태는 노동시장의 수요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 상황뿐 아니라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노동조합의    결성 여부 및 활성화의 정도 등 여러 요인에 의존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가격의 변동도 분배상태에 영향 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상대가격 구조의 변화에 따라 사람들의 실질소득이 달라지기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차별 또는 부정부패 같은 사회적 여건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미국에서 인종차별이 소수민족의 궁핍화를 가져왔음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우리나라에서의 지역차별이 지역간의 주민소득 격차를 만들어 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결혼관습이나 상속제도 같은 사회적 관행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부자들끼리의 결혼 관습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장자상속제도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9090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2183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체제 자체의 성격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altLang="ko-KR" sz="5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사회가 채택하고 있는 경제체제 그 자체의 성격이 분배의 상태에  영향을 미칠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일을 시장기능에 내맡기는 순수한 자본주의체제보다 정부가 일정한 역할을 떠맡고 있는 혼합경제체제에서의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분배상태가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더욱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평등화된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양상을 보일 것이라고 기대할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이상적인 사회주의체제가 실현될 수 있다면 자본주의체제에 비해 더욱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평등화된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분배상태의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달성이 가능할지도 모름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75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 요인의 제거 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1" y="1422402"/>
            <a:ext cx="7804150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불평등을 일으키는 원인들의 첫 싹은 가정의 울타리 안에서 돋아남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가정이라는 제도를 없애는 것이 불가능한 것처럼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속에서 싹튼  불평등의 요인들을 제거하는 것 역시 거의 불가능에 가까움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원초적인 불평등의 요인 중 특히 제거하기 힘든 것은 유전적 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035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인지적 능력과 비인지적 능력의 차이나 개인적 특성의 차이 역시 일단 발생한 것을 제거하기는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능력이나 개인적 특성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혹은 교육수준 같은 것은 평준화시키는 것이 가능하지 않을 뿐 아니라 바람직하지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개인적인 차원에서 비물질적 경로를 통해 발생하는 불평등의 경우는 거의 그대로 놓아둘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425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 요인의 제거 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물질적 경로에 의해 발생되는 불평등은 어느 정도 차단될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상속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증여세를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엄격하게 부과하면 만족할 만한 수준까지 경제적     환경의 격차를 제거할 수 있으나 현실적으로 매우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0">
              <a:lnSpc>
                <a:spcPct val="13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차원에서 발생하는 불평등 요인의 경우에는 대부분 제거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전체가 꾸준히 노력함으로써 인위적인 제도나 정책에 의해     생기는 불평등 요인을 점차 제거해 나갈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7175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평등한 사회를 건설하려고 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적절한 우선순위를 정해 이에 따라  개혁을 추진해 나가는 것이 무엇보다 중요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6086552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3822</TotalTime>
  <Words>2492</Words>
  <Application>Microsoft Office PowerPoint</Application>
  <PresentationFormat>화면 슬라이드 쇼(4:3)</PresentationFormat>
  <Paragraphs>406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8" baseType="lpstr">
      <vt:lpstr>Noto Sans KR Black</vt:lpstr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8.1  분배의 정의</vt:lpstr>
      <vt:lpstr>분배의 정의</vt:lpstr>
      <vt:lpstr>평등주의적 정의관</vt:lpstr>
      <vt:lpstr>평등주의적 정의관</vt:lpstr>
      <vt:lpstr>자유론적 정의관</vt:lpstr>
      <vt:lpstr>자유론적 정의관</vt:lpstr>
      <vt:lpstr>자유론적 정의관</vt:lpstr>
      <vt:lpstr>공리주의적 정의관</vt:lpstr>
      <vt:lpstr>공리주의적 정의관</vt:lpstr>
      <vt:lpstr>롤즈의 최소극대화원칙</vt:lpstr>
      <vt:lpstr>롤즈의 최소극대화원칙</vt:lpstr>
      <vt:lpstr>롤즈의 최소극대화원칙</vt:lpstr>
      <vt:lpstr>8.2  공리주의적 최적분배이론</vt:lpstr>
      <vt:lpstr>에지워스의 최적분배이론</vt:lpstr>
      <vt:lpstr>에지워스의 최적분배이론</vt:lpstr>
      <vt:lpstr>러너의 동등확률 가정</vt:lpstr>
      <vt:lpstr>8.3  불평등도지수</vt:lpstr>
      <vt:lpstr>로렌츠곡선</vt:lpstr>
      <vt:lpstr>로렌츠곡선</vt:lpstr>
      <vt:lpstr>로렌츠곡선</vt:lpstr>
      <vt:lpstr>지니계수</vt:lpstr>
      <vt:lpstr>지니계수</vt:lpstr>
      <vt:lpstr>5분위배율</vt:lpstr>
      <vt:lpstr>우리나라의 소득 불평등도지수</vt:lpstr>
      <vt:lpstr>앳킨슨지수</vt:lpstr>
      <vt:lpstr>앳킨슨지수</vt:lpstr>
      <vt:lpstr>앳킨슨지수</vt:lpstr>
      <vt:lpstr>8.4  불평등 발생의 원인</vt:lpstr>
      <vt:lpstr>개인적 요인</vt:lpstr>
      <vt:lpstr>개인적 요인</vt:lpstr>
      <vt:lpstr>개인적 요인</vt:lpstr>
      <vt:lpstr>사회적 요인</vt:lpstr>
      <vt:lpstr>사회적 요인</vt:lpstr>
      <vt:lpstr>사회적 요인</vt:lpstr>
      <vt:lpstr>불평등 요인의 제거 가능성</vt:lpstr>
      <vt:lpstr>불평등 요인의 제거 가능성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855</cp:revision>
  <dcterms:created xsi:type="dcterms:W3CDTF">2015-08-04T05:38:00Z</dcterms:created>
  <dcterms:modified xsi:type="dcterms:W3CDTF">2026-01-13T00:32:19Z</dcterms:modified>
</cp:coreProperties>
</file>