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40"/>
  </p:notesMasterIdLst>
  <p:handoutMasterIdLst>
    <p:handoutMasterId r:id="rId41"/>
  </p:handoutMasterIdLst>
  <p:sldIdLst>
    <p:sldId id="330" r:id="rId2"/>
    <p:sldId id="258" r:id="rId3"/>
    <p:sldId id="260" r:id="rId4"/>
    <p:sldId id="261" r:id="rId5"/>
    <p:sldId id="263" r:id="rId6"/>
    <p:sldId id="265" r:id="rId7"/>
    <p:sldId id="267" r:id="rId8"/>
    <p:sldId id="269" r:id="rId9"/>
    <p:sldId id="270" r:id="rId10"/>
    <p:sldId id="312" r:id="rId11"/>
    <p:sldId id="273" r:id="rId12"/>
    <p:sldId id="275" r:id="rId13"/>
    <p:sldId id="325" r:id="rId14"/>
    <p:sldId id="277" r:id="rId15"/>
    <p:sldId id="279" r:id="rId16"/>
    <p:sldId id="280" r:id="rId17"/>
    <p:sldId id="314" r:id="rId18"/>
    <p:sldId id="283" r:id="rId19"/>
    <p:sldId id="315" r:id="rId20"/>
    <p:sldId id="285" r:id="rId21"/>
    <p:sldId id="286" r:id="rId22"/>
    <p:sldId id="316" r:id="rId23"/>
    <p:sldId id="290" r:id="rId24"/>
    <p:sldId id="318" r:id="rId25"/>
    <p:sldId id="326" r:id="rId26"/>
    <p:sldId id="292" r:id="rId27"/>
    <p:sldId id="293" r:id="rId28"/>
    <p:sldId id="319" r:id="rId29"/>
    <p:sldId id="320" r:id="rId30"/>
    <p:sldId id="321" r:id="rId31"/>
    <p:sldId id="298" r:id="rId32"/>
    <p:sldId id="301" r:id="rId33"/>
    <p:sldId id="302" r:id="rId34"/>
    <p:sldId id="303" r:id="rId35"/>
    <p:sldId id="323" r:id="rId36"/>
    <p:sldId id="327" r:id="rId37"/>
    <p:sldId id="328" r:id="rId38"/>
    <p:sldId id="329" r:id="rId3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6C1E9C-5665-4967-81BF-FEE222F37032}" v="5" dt="2026-01-08T02:26:13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26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2304" y="31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2" d="100"/>
          <a:sy n="62" d="100"/>
        </p:scale>
        <p:origin x="31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완 전" userId="94a232b962f42e62" providerId="LiveId" clId="{862E7F7D-119D-4717-AD52-91020921814B}"/>
    <pc:docChg chg="undo custSel modSld">
      <pc:chgData name="영완 전" userId="94a232b962f42e62" providerId="LiveId" clId="{862E7F7D-119D-4717-AD52-91020921814B}" dt="2026-01-12T05:45:16.264" v="373" actId="20577"/>
      <pc:docMkLst>
        <pc:docMk/>
      </pc:docMkLst>
      <pc:sldChg chg="modSp mod">
        <pc:chgData name="영완 전" userId="94a232b962f42e62" providerId="LiveId" clId="{862E7F7D-119D-4717-AD52-91020921814B}" dt="2026-01-12T05:29:04.368" v="164" actId="20577"/>
        <pc:sldMkLst>
          <pc:docMk/>
          <pc:sldMk cId="2131678008" sldId="258"/>
        </pc:sldMkLst>
        <pc:spChg chg="mod">
          <ac:chgData name="영완 전" userId="94a232b962f42e62" providerId="LiveId" clId="{862E7F7D-119D-4717-AD52-91020921814B}" dt="2026-01-12T05:29:04.368" v="164" actId="20577"/>
          <ac:spMkLst>
            <pc:docMk/>
            <pc:sldMk cId="2131678008" sldId="25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29:16.058" v="165" actId="14100"/>
        <pc:sldMkLst>
          <pc:docMk/>
          <pc:sldMk cId="2542987162" sldId="260"/>
        </pc:sldMkLst>
        <pc:spChg chg="mod">
          <ac:chgData name="영완 전" userId="94a232b962f42e62" providerId="LiveId" clId="{862E7F7D-119D-4717-AD52-91020921814B}" dt="2026-01-12T05:29:16.058" v="165" actId="14100"/>
          <ac:spMkLst>
            <pc:docMk/>
            <pc:sldMk cId="2542987162" sldId="26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2:21:45.147" v="128" actId="20577"/>
        <pc:sldMkLst>
          <pc:docMk/>
          <pc:sldMk cId="4246147711" sldId="261"/>
        </pc:sldMkLst>
        <pc:spChg chg="mod">
          <ac:chgData name="영완 전" userId="94a232b962f42e62" providerId="LiveId" clId="{862E7F7D-119D-4717-AD52-91020921814B}" dt="2026-01-08T02:21:45.147" v="128" actId="20577"/>
          <ac:spMkLst>
            <pc:docMk/>
            <pc:sldMk cId="4246147711" sldId="26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5:51:45.002" v="1" actId="20577"/>
        <pc:sldMkLst>
          <pc:docMk/>
          <pc:sldMk cId="831893481" sldId="263"/>
        </pc:sldMkLst>
        <pc:spChg chg="mod">
          <ac:chgData name="영완 전" userId="94a232b962f42e62" providerId="LiveId" clId="{862E7F7D-119D-4717-AD52-91020921814B}" dt="2026-01-07T05:51:45.002" v="1" actId="20577"/>
          <ac:spMkLst>
            <pc:docMk/>
            <pc:sldMk cId="831893481" sldId="26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29:46.901" v="174" actId="14100"/>
        <pc:sldMkLst>
          <pc:docMk/>
          <pc:sldMk cId="3652914435" sldId="265"/>
        </pc:sldMkLst>
        <pc:spChg chg="mod">
          <ac:chgData name="영완 전" userId="94a232b962f42e62" providerId="LiveId" clId="{862E7F7D-119D-4717-AD52-91020921814B}" dt="2026-01-12T05:29:46.901" v="174" actId="14100"/>
          <ac:spMkLst>
            <pc:docMk/>
            <pc:sldMk cId="3652914435" sldId="265"/>
            <ac:spMk id="3" creationId="{00000000-0000-0000-0000-000000000000}"/>
          </ac:spMkLst>
        </pc:spChg>
        <pc:spChg chg="mod">
          <ac:chgData name="영완 전" userId="94a232b962f42e62" providerId="LiveId" clId="{862E7F7D-119D-4717-AD52-91020921814B}" dt="2026-01-07T05:52:02.353" v="2" actId="207"/>
          <ac:spMkLst>
            <pc:docMk/>
            <pc:sldMk cId="3652914435" sldId="265"/>
            <ac:spMk id="8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29:58.978" v="176" actId="20577"/>
        <pc:sldMkLst>
          <pc:docMk/>
          <pc:sldMk cId="2379870090" sldId="267"/>
        </pc:sldMkLst>
        <pc:spChg chg="mod">
          <ac:chgData name="영완 전" userId="94a232b962f42e62" providerId="LiveId" clId="{862E7F7D-119D-4717-AD52-91020921814B}" dt="2026-01-12T05:29:58.978" v="176" actId="20577"/>
          <ac:spMkLst>
            <pc:docMk/>
            <pc:sldMk cId="2379870090" sldId="26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30:20.413" v="181" actId="20577"/>
        <pc:sldMkLst>
          <pc:docMk/>
          <pc:sldMk cId="4090921885" sldId="270"/>
        </pc:sldMkLst>
        <pc:spChg chg="mod">
          <ac:chgData name="영완 전" userId="94a232b962f42e62" providerId="LiveId" clId="{862E7F7D-119D-4717-AD52-91020921814B}" dt="2026-01-12T05:30:20.413" v="181" actId="20577"/>
          <ac:spMkLst>
            <pc:docMk/>
            <pc:sldMk cId="4090921885" sldId="27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31:18.385" v="198" actId="14100"/>
        <pc:sldMkLst>
          <pc:docMk/>
          <pc:sldMk cId="364832594" sldId="273"/>
        </pc:sldMkLst>
        <pc:spChg chg="mod">
          <ac:chgData name="영완 전" userId="94a232b962f42e62" providerId="LiveId" clId="{862E7F7D-119D-4717-AD52-91020921814B}" dt="2026-01-12T05:31:18.385" v="198" actId="14100"/>
          <ac:spMkLst>
            <pc:docMk/>
            <pc:sldMk cId="364832594" sldId="27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2:22:59.546" v="141" actId="20577"/>
        <pc:sldMkLst>
          <pc:docMk/>
          <pc:sldMk cId="3918426190" sldId="275"/>
        </pc:sldMkLst>
        <pc:spChg chg="mod">
          <ac:chgData name="영완 전" userId="94a232b962f42e62" providerId="LiveId" clId="{862E7F7D-119D-4717-AD52-91020921814B}" dt="2026-01-08T02:22:59.546" v="141" actId="20577"/>
          <ac:spMkLst>
            <pc:docMk/>
            <pc:sldMk cId="3918426190" sldId="27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31:56.063" v="199" actId="20577"/>
        <pc:sldMkLst>
          <pc:docMk/>
          <pc:sldMk cId="811664038" sldId="277"/>
        </pc:sldMkLst>
        <pc:spChg chg="mod">
          <ac:chgData name="영완 전" userId="94a232b962f42e62" providerId="LiveId" clId="{862E7F7D-119D-4717-AD52-91020921814B}" dt="2026-01-07T05:57:46.225" v="21" actId="14100"/>
          <ac:spMkLst>
            <pc:docMk/>
            <pc:sldMk cId="811664038" sldId="277"/>
            <ac:spMk id="3" creationId="{00000000-0000-0000-0000-000000000000}"/>
          </ac:spMkLst>
        </pc:spChg>
        <pc:spChg chg="mod">
          <ac:chgData name="영완 전" userId="94a232b962f42e62" providerId="LiveId" clId="{862E7F7D-119D-4717-AD52-91020921814B}" dt="2026-01-12T05:31:56.063" v="199" actId="20577"/>
          <ac:spMkLst>
            <pc:docMk/>
            <pc:sldMk cId="811664038" sldId="277"/>
            <ac:spMk id="8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32:21.152" v="208" actId="20577"/>
        <pc:sldMkLst>
          <pc:docMk/>
          <pc:sldMk cId="2311666713" sldId="279"/>
        </pc:sldMkLst>
        <pc:spChg chg="mod">
          <ac:chgData name="영완 전" userId="94a232b962f42e62" providerId="LiveId" clId="{862E7F7D-119D-4717-AD52-91020921814B}" dt="2026-01-12T05:31:57.619" v="200" actId="20577"/>
          <ac:spMkLst>
            <pc:docMk/>
            <pc:sldMk cId="2311666713" sldId="279"/>
            <ac:spMk id="2" creationId="{00000000-0000-0000-0000-000000000000}"/>
          </ac:spMkLst>
        </pc:spChg>
        <pc:spChg chg="mod">
          <ac:chgData name="영완 전" userId="94a232b962f42e62" providerId="LiveId" clId="{862E7F7D-119D-4717-AD52-91020921814B}" dt="2026-01-12T05:32:21.152" v="208" actId="20577"/>
          <ac:spMkLst>
            <pc:docMk/>
            <pc:sldMk cId="2311666713" sldId="27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32:36.039" v="211" actId="20577"/>
        <pc:sldMkLst>
          <pc:docMk/>
          <pc:sldMk cId="3869206626" sldId="280"/>
        </pc:sldMkLst>
        <pc:spChg chg="mod">
          <ac:chgData name="영완 전" userId="94a232b962f42e62" providerId="LiveId" clId="{862E7F7D-119D-4717-AD52-91020921814B}" dt="2026-01-12T05:31:59.907" v="201" actId="20577"/>
          <ac:spMkLst>
            <pc:docMk/>
            <pc:sldMk cId="3869206626" sldId="280"/>
            <ac:spMk id="2" creationId="{00000000-0000-0000-0000-000000000000}"/>
          </ac:spMkLst>
        </pc:spChg>
        <pc:spChg chg="mod">
          <ac:chgData name="영완 전" userId="94a232b962f42e62" providerId="LiveId" clId="{862E7F7D-119D-4717-AD52-91020921814B}" dt="2026-01-12T05:32:36.039" v="211" actId="20577"/>
          <ac:spMkLst>
            <pc:docMk/>
            <pc:sldMk cId="3869206626" sldId="28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34:09.963" v="229" actId="20577"/>
        <pc:sldMkLst>
          <pc:docMk/>
          <pc:sldMk cId="2175783285" sldId="283"/>
        </pc:sldMkLst>
        <pc:spChg chg="mod">
          <ac:chgData name="영완 전" userId="94a232b962f42e62" providerId="LiveId" clId="{862E7F7D-119D-4717-AD52-91020921814B}" dt="2026-01-12T05:32:03.466" v="203" actId="20577"/>
          <ac:spMkLst>
            <pc:docMk/>
            <pc:sldMk cId="2175783285" sldId="283"/>
            <ac:spMk id="2" creationId="{00000000-0000-0000-0000-000000000000}"/>
          </ac:spMkLst>
        </pc:spChg>
        <pc:spChg chg="mod">
          <ac:chgData name="영완 전" userId="94a232b962f42e62" providerId="LiveId" clId="{862E7F7D-119D-4717-AD52-91020921814B}" dt="2026-01-12T05:34:09.963" v="229" actId="20577"/>
          <ac:spMkLst>
            <pc:docMk/>
            <pc:sldMk cId="2175783285" sldId="28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34:50.764" v="246" actId="20577"/>
        <pc:sldMkLst>
          <pc:docMk/>
          <pc:sldMk cId="2120671032" sldId="285"/>
        </pc:sldMkLst>
        <pc:spChg chg="mod">
          <ac:chgData name="영완 전" userId="94a232b962f42e62" providerId="LiveId" clId="{862E7F7D-119D-4717-AD52-91020921814B}" dt="2026-01-12T05:34:50.764" v="246" actId="20577"/>
          <ac:spMkLst>
            <pc:docMk/>
            <pc:sldMk cId="2120671032" sldId="28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35:10.895" v="250" actId="20577"/>
        <pc:sldMkLst>
          <pc:docMk/>
          <pc:sldMk cId="3022898404" sldId="286"/>
        </pc:sldMkLst>
        <pc:spChg chg="mod">
          <ac:chgData name="영완 전" userId="94a232b962f42e62" providerId="LiveId" clId="{862E7F7D-119D-4717-AD52-91020921814B}" dt="2026-01-12T05:35:10.895" v="250" actId="20577"/>
          <ac:spMkLst>
            <pc:docMk/>
            <pc:sldMk cId="3022898404" sldId="28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6:04:29.165" v="55" actId="20577"/>
        <pc:sldMkLst>
          <pc:docMk/>
          <pc:sldMk cId="2201036720" sldId="290"/>
        </pc:sldMkLst>
        <pc:spChg chg="mod">
          <ac:chgData name="영완 전" userId="94a232b962f42e62" providerId="LiveId" clId="{862E7F7D-119D-4717-AD52-91020921814B}" dt="2026-01-07T06:04:29.165" v="55" actId="20577"/>
          <ac:spMkLst>
            <pc:docMk/>
            <pc:sldMk cId="2201036720" sldId="29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6:07:14.290" v="71" actId="20577"/>
        <pc:sldMkLst>
          <pc:docMk/>
          <pc:sldMk cId="2434257244" sldId="292"/>
        </pc:sldMkLst>
        <pc:spChg chg="mod">
          <ac:chgData name="영완 전" userId="94a232b962f42e62" providerId="LiveId" clId="{862E7F7D-119D-4717-AD52-91020921814B}" dt="2026-01-07T06:07:14.290" v="71" actId="20577"/>
          <ac:spMkLst>
            <pc:docMk/>
            <pc:sldMk cId="2434257244" sldId="29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36:33.027" v="295" actId="20577"/>
        <pc:sldMkLst>
          <pc:docMk/>
          <pc:sldMk cId="1183054348" sldId="293"/>
        </pc:sldMkLst>
        <pc:spChg chg="mod">
          <ac:chgData name="영완 전" userId="94a232b962f42e62" providerId="LiveId" clId="{862E7F7D-119D-4717-AD52-91020921814B}" dt="2026-01-12T05:36:33.027" v="295" actId="20577"/>
          <ac:spMkLst>
            <pc:docMk/>
            <pc:sldMk cId="1183054348" sldId="29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42:18.885" v="344" actId="20577"/>
        <pc:sldMkLst>
          <pc:docMk/>
          <pc:sldMk cId="2689952938" sldId="298"/>
        </pc:sldMkLst>
        <pc:spChg chg="mod">
          <ac:chgData name="영완 전" userId="94a232b962f42e62" providerId="LiveId" clId="{862E7F7D-119D-4717-AD52-91020921814B}" dt="2026-01-12T05:42:18.885" v="344" actId="20577"/>
          <ac:spMkLst>
            <pc:docMk/>
            <pc:sldMk cId="2689952938" sldId="29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42:25.972" v="345" actId="14100"/>
        <pc:sldMkLst>
          <pc:docMk/>
          <pc:sldMk cId="1039939924" sldId="301"/>
        </pc:sldMkLst>
        <pc:spChg chg="mod">
          <ac:chgData name="영완 전" userId="94a232b962f42e62" providerId="LiveId" clId="{862E7F7D-119D-4717-AD52-91020921814B}" dt="2026-01-12T05:42:25.972" v="345" actId="14100"/>
          <ac:spMkLst>
            <pc:docMk/>
            <pc:sldMk cId="1039939924" sldId="30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42:37.418" v="347" actId="20577"/>
        <pc:sldMkLst>
          <pc:docMk/>
          <pc:sldMk cId="358263836" sldId="302"/>
        </pc:sldMkLst>
        <pc:spChg chg="mod">
          <ac:chgData name="영완 전" userId="94a232b962f42e62" providerId="LiveId" clId="{862E7F7D-119D-4717-AD52-91020921814B}" dt="2026-01-12T05:42:37.418" v="347" actId="20577"/>
          <ac:spMkLst>
            <pc:docMk/>
            <pc:sldMk cId="358263836" sldId="30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6:12:27.459" v="87" actId="20577"/>
        <pc:sldMkLst>
          <pc:docMk/>
          <pc:sldMk cId="3688381474" sldId="303"/>
        </pc:sldMkLst>
        <pc:spChg chg="mod">
          <ac:chgData name="영완 전" userId="94a232b962f42e62" providerId="LiveId" clId="{862E7F7D-119D-4717-AD52-91020921814B}" dt="2026-01-07T06:12:27.459" v="87" actId="20577"/>
          <ac:spMkLst>
            <pc:docMk/>
            <pc:sldMk cId="3688381474" sldId="30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30:48.284" v="196" actId="20577"/>
        <pc:sldMkLst>
          <pc:docMk/>
          <pc:sldMk cId="1044894779" sldId="312"/>
        </pc:sldMkLst>
        <pc:spChg chg="mod">
          <ac:chgData name="영완 전" userId="94a232b962f42e62" providerId="LiveId" clId="{862E7F7D-119D-4717-AD52-91020921814B}" dt="2026-01-12T05:30:48.284" v="196" actId="20577"/>
          <ac:spMkLst>
            <pc:docMk/>
            <pc:sldMk cId="1044894779" sldId="31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33:33.837" v="224" actId="20577"/>
        <pc:sldMkLst>
          <pc:docMk/>
          <pc:sldMk cId="1131537429" sldId="314"/>
        </pc:sldMkLst>
        <pc:spChg chg="mod">
          <ac:chgData name="영완 전" userId="94a232b962f42e62" providerId="LiveId" clId="{862E7F7D-119D-4717-AD52-91020921814B}" dt="2026-01-12T05:32:01.697" v="202" actId="20577"/>
          <ac:spMkLst>
            <pc:docMk/>
            <pc:sldMk cId="1131537429" sldId="314"/>
            <ac:spMk id="2" creationId="{00000000-0000-0000-0000-000000000000}"/>
          </ac:spMkLst>
        </pc:spChg>
        <pc:spChg chg="mod">
          <ac:chgData name="영완 전" userId="94a232b962f42e62" providerId="LiveId" clId="{862E7F7D-119D-4717-AD52-91020921814B}" dt="2026-01-12T05:33:33.837" v="224" actId="20577"/>
          <ac:spMkLst>
            <pc:docMk/>
            <pc:sldMk cId="1131537429" sldId="31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34:39.258" v="236" actId="20577"/>
        <pc:sldMkLst>
          <pc:docMk/>
          <pc:sldMk cId="1689708198" sldId="315"/>
        </pc:sldMkLst>
        <pc:spChg chg="mod">
          <ac:chgData name="영완 전" userId="94a232b962f42e62" providerId="LiveId" clId="{862E7F7D-119D-4717-AD52-91020921814B}" dt="2026-01-12T05:32:05.126" v="204" actId="20577"/>
          <ac:spMkLst>
            <pc:docMk/>
            <pc:sldMk cId="1689708198" sldId="315"/>
            <ac:spMk id="2" creationId="{00000000-0000-0000-0000-000000000000}"/>
          </ac:spMkLst>
        </pc:spChg>
        <pc:spChg chg="mod">
          <ac:chgData name="영완 전" userId="94a232b962f42e62" providerId="LiveId" clId="{862E7F7D-119D-4717-AD52-91020921814B}" dt="2026-01-12T05:34:39.258" v="236" actId="20577"/>
          <ac:spMkLst>
            <pc:docMk/>
            <pc:sldMk cId="1689708198" sldId="31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35:20.523" v="251" actId="14100"/>
        <pc:sldMkLst>
          <pc:docMk/>
          <pc:sldMk cId="1750734795" sldId="316"/>
        </pc:sldMkLst>
        <pc:spChg chg="mod">
          <ac:chgData name="영완 전" userId="94a232b962f42e62" providerId="LiveId" clId="{862E7F7D-119D-4717-AD52-91020921814B}" dt="2026-01-12T05:35:20.523" v="251" actId="14100"/>
          <ac:spMkLst>
            <pc:docMk/>
            <pc:sldMk cId="1750734795" sldId="31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36:03.493" v="290" actId="20577"/>
        <pc:sldMkLst>
          <pc:docMk/>
          <pc:sldMk cId="3683690164" sldId="318"/>
        </pc:sldMkLst>
        <pc:spChg chg="mod">
          <ac:chgData name="영완 전" userId="94a232b962f42e62" providerId="LiveId" clId="{862E7F7D-119D-4717-AD52-91020921814B}" dt="2026-01-12T05:36:03.493" v="290" actId="20577"/>
          <ac:spMkLst>
            <pc:docMk/>
            <pc:sldMk cId="3683690164" sldId="31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6:08:13.955" v="74" actId="20577"/>
        <pc:sldMkLst>
          <pc:docMk/>
          <pc:sldMk cId="953098675" sldId="319"/>
        </pc:sldMkLst>
        <pc:spChg chg="mod">
          <ac:chgData name="영완 전" userId="94a232b962f42e62" providerId="LiveId" clId="{862E7F7D-119D-4717-AD52-91020921814B}" dt="2026-01-07T06:08:13.955" v="74" actId="20577"/>
          <ac:spMkLst>
            <pc:docMk/>
            <pc:sldMk cId="953098675" sldId="31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36:44.220" v="296" actId="20577"/>
        <pc:sldMkLst>
          <pc:docMk/>
          <pc:sldMk cId="1040603135" sldId="320"/>
        </pc:sldMkLst>
        <pc:spChg chg="mod">
          <ac:chgData name="영완 전" userId="94a232b962f42e62" providerId="LiveId" clId="{862E7F7D-119D-4717-AD52-91020921814B}" dt="2026-01-12T05:36:44.220" v="296" actId="20577"/>
          <ac:spMkLst>
            <pc:docMk/>
            <pc:sldMk cId="1040603135" sldId="32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37:44.479" v="334" actId="20577"/>
        <pc:sldMkLst>
          <pc:docMk/>
          <pc:sldMk cId="3792172143" sldId="321"/>
        </pc:sldMkLst>
        <pc:spChg chg="mod">
          <ac:chgData name="영완 전" userId="94a232b962f42e62" providerId="LiveId" clId="{862E7F7D-119D-4717-AD52-91020921814B}" dt="2026-01-12T05:37:44.479" v="334" actId="20577"/>
          <ac:spMkLst>
            <pc:docMk/>
            <pc:sldMk cId="3792172143" sldId="32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6:13:11.925" v="92" actId="20577"/>
        <pc:sldMkLst>
          <pc:docMk/>
          <pc:sldMk cId="3511394195" sldId="323"/>
        </pc:sldMkLst>
        <pc:spChg chg="mod">
          <ac:chgData name="영완 전" userId="94a232b962f42e62" providerId="LiveId" clId="{862E7F7D-119D-4717-AD52-91020921814B}" dt="2026-01-07T06:13:11.925" v="92" actId="20577"/>
          <ac:spMkLst>
            <pc:docMk/>
            <pc:sldMk cId="3511394195" sldId="32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6:06:36.871" v="59" actId="20577"/>
        <pc:sldMkLst>
          <pc:docMk/>
          <pc:sldMk cId="3098906787" sldId="326"/>
        </pc:sldMkLst>
        <pc:spChg chg="mod">
          <ac:chgData name="영완 전" userId="94a232b962f42e62" providerId="LiveId" clId="{862E7F7D-119D-4717-AD52-91020921814B}" dt="2026-01-07T06:06:36.871" v="59" actId="20577"/>
          <ac:spMkLst>
            <pc:docMk/>
            <pc:sldMk cId="3098906787" sldId="32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44:53.483" v="351" actId="20577"/>
        <pc:sldMkLst>
          <pc:docMk/>
          <pc:sldMk cId="4292552071" sldId="327"/>
        </pc:sldMkLst>
        <pc:spChg chg="mod">
          <ac:chgData name="영완 전" userId="94a232b962f42e62" providerId="LiveId" clId="{862E7F7D-119D-4717-AD52-91020921814B}" dt="2026-01-12T05:44:53.483" v="351" actId="20577"/>
          <ac:spMkLst>
            <pc:docMk/>
            <pc:sldMk cId="4292552071" sldId="32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6:15:10.886" v="108" actId="20577"/>
        <pc:sldMkLst>
          <pc:docMk/>
          <pc:sldMk cId="3415600147" sldId="328"/>
        </pc:sldMkLst>
        <pc:spChg chg="mod">
          <ac:chgData name="영완 전" userId="94a232b962f42e62" providerId="LiveId" clId="{862E7F7D-119D-4717-AD52-91020921814B}" dt="2026-01-07T06:15:10.886" v="108" actId="20577"/>
          <ac:spMkLst>
            <pc:docMk/>
            <pc:sldMk cId="3415600147" sldId="32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45:16.264" v="373" actId="20577"/>
        <pc:sldMkLst>
          <pc:docMk/>
          <pc:sldMk cId="817952476" sldId="329"/>
        </pc:sldMkLst>
        <pc:spChg chg="mod">
          <ac:chgData name="영완 전" userId="94a232b962f42e62" providerId="LiveId" clId="{862E7F7D-119D-4717-AD52-91020921814B}" dt="2026-01-12T05:45:16.264" v="373" actId="20577"/>
          <ac:spMkLst>
            <pc:docMk/>
            <pc:sldMk cId="817952476" sldId="32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5:50:17.794" v="0" actId="20577"/>
        <pc:sldMkLst>
          <pc:docMk/>
          <pc:sldMk cId="2295829955" sldId="330"/>
        </pc:sldMkLst>
        <pc:spChg chg="mod">
          <ac:chgData name="영완 전" userId="94a232b962f42e62" providerId="LiveId" clId="{862E7F7D-119D-4717-AD52-91020921814B}" dt="2026-01-07T05:50:17.794" v="0" actId="20577"/>
          <ac:spMkLst>
            <pc:docMk/>
            <pc:sldMk cId="2295829955" sldId="330"/>
            <ac:spMk id="9" creationId="{E81A3527-2521-A222-666A-98D6B327BD2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6703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0200" y="194400"/>
            <a:ext cx="8643600" cy="1330099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7</a:t>
            </a:r>
            <a:r>
              <a:rPr lang="ko-KR" altLang="en-US"/>
              <a:t>장  환경정책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128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CAEB895A-97C7-DACC-C3BE-3033008D019A}"/>
              </a:ext>
            </a:extLst>
          </p:cNvPr>
          <p:cNvGrpSpPr/>
          <p:nvPr userDrawn="1"/>
        </p:nvGrpSpPr>
        <p:grpSpPr>
          <a:xfrm>
            <a:off x="0" y="341304"/>
            <a:ext cx="9144000" cy="952748"/>
            <a:chOff x="0" y="225555"/>
            <a:chExt cx="9144000" cy="952748"/>
          </a:xfrm>
        </p:grpSpPr>
        <p:sp>
          <p:nvSpPr>
            <p:cNvPr id="10" name="화살표: 오각형 9">
              <a:extLst>
                <a:ext uri="{FF2B5EF4-FFF2-40B4-BE49-F238E27FC236}">
                  <a16:creationId xmlns:a16="http://schemas.microsoft.com/office/drawing/2014/main" id="{06C8B430-165C-6645-476D-B0F2B2A70569}"/>
                </a:ext>
              </a:extLst>
            </p:cNvPr>
            <p:cNvSpPr/>
            <p:nvPr/>
          </p:nvSpPr>
          <p:spPr>
            <a:xfrm>
              <a:off x="0" y="230070"/>
              <a:ext cx="9144000" cy="948233"/>
            </a:xfrm>
            <a:prstGeom prst="homePlate">
              <a:avLst>
                <a:gd name="adj" fmla="val 36573"/>
              </a:avLst>
            </a:prstGeom>
            <a:solidFill>
              <a:srgbClr val="E8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화살표: 갈매기형 수장 10">
              <a:extLst>
                <a:ext uri="{FF2B5EF4-FFF2-40B4-BE49-F238E27FC236}">
                  <a16:creationId xmlns:a16="http://schemas.microsoft.com/office/drawing/2014/main" id="{90B79B1B-424C-A24B-BC3D-EDE31FD39025}"/>
                </a:ext>
              </a:extLst>
            </p:cNvPr>
            <p:cNvSpPr/>
            <p:nvPr/>
          </p:nvSpPr>
          <p:spPr>
            <a:xfrm>
              <a:off x="8495587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C6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화살표: 갈매기형 수장 11">
              <a:extLst>
                <a:ext uri="{FF2B5EF4-FFF2-40B4-BE49-F238E27FC236}">
                  <a16:creationId xmlns:a16="http://schemas.microsoft.com/office/drawing/2014/main" id="{9AE89BB6-D8D8-3E7B-5018-968F4F4214E2}"/>
                </a:ext>
              </a:extLst>
            </p:cNvPr>
            <p:cNvSpPr/>
            <p:nvPr/>
          </p:nvSpPr>
          <p:spPr>
            <a:xfrm>
              <a:off x="8235619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99C1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2078"/>
            <a:ext cx="9144000" cy="7112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7</a:t>
            </a:r>
            <a:r>
              <a:rPr lang="ko-KR" altLang="en-US"/>
              <a:t>장  환경정책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3257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666572" y="2573903"/>
            <a:ext cx="7791629" cy="13300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4"/>
            <a:ext cx="7772400" cy="1330099"/>
          </a:xfrm>
        </p:spPr>
        <p:txBody>
          <a:bodyPr anchor="ctr">
            <a:normAutofit/>
          </a:bodyPr>
          <a:lstStyle>
            <a:lvl1pPr algn="ctr">
              <a:defRPr sz="285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7</a:t>
            </a:r>
            <a:r>
              <a:rPr lang="ko-KR" altLang="en-US"/>
              <a:t>장  환경정책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872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41337"/>
            <a:ext cx="7886700" cy="7112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200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200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7</a:t>
            </a:r>
            <a:r>
              <a:rPr lang="ko-KR" altLang="en-US"/>
              <a:t>장  환경정책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1812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64457"/>
            <a:ext cx="78867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2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7</a:t>
            </a:r>
            <a:r>
              <a:rPr lang="ko-KR" altLang="en-US"/>
              <a:t>장  환경정책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6565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09" r:id="rId3"/>
    <p:sldLayoutId id="2147483710" r:id="rId4"/>
  </p:sldLayoutIdLst>
  <p:hf hdr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2625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새굴림" panose="02030600000101010101" pitchFamily="18" charset="-127"/>
          <a:ea typeface="새굴림" panose="02030600000101010101" pitchFamily="18" charset="-127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130000"/>
        </a:lnSpc>
        <a:spcBef>
          <a:spcPts val="750"/>
        </a:spcBef>
        <a:spcAft>
          <a:spcPts val="3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1pPr>
      <a:lvl2pPr marL="5143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2pPr>
      <a:lvl3pPr marL="8572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3pPr>
      <a:lvl4pPr marL="12001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4pPr>
      <a:lvl5pPr marL="15430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572300-6062-0636-8AE5-0AE1397189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29E9832-4EC4-25D3-6B7F-A06A99A9D4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98"/>
          <a:stretch>
            <a:fillRect/>
          </a:stretch>
        </p:blipFill>
        <p:spPr>
          <a:xfrm>
            <a:off x="0" y="0"/>
            <a:ext cx="6167120" cy="68580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DF385556-729C-8466-1397-DA17857A2235}"/>
              </a:ext>
            </a:extLst>
          </p:cNvPr>
          <p:cNvGrpSpPr/>
          <p:nvPr/>
        </p:nvGrpSpPr>
        <p:grpSpPr>
          <a:xfrm>
            <a:off x="6167120" y="0"/>
            <a:ext cx="2976880" cy="6858000"/>
            <a:chOff x="6167120" y="0"/>
            <a:chExt cx="2976880" cy="6858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0A4430-418A-2B74-3CB7-A60F41376451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gradFill>
              <a:gsLst>
                <a:gs pos="0">
                  <a:srgbClr val="E8F1F0"/>
                </a:gs>
                <a:gs pos="100000">
                  <a:srgbClr val="FAFAF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0605687-27D1-447F-6D27-8D17505FF700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blipFill dpi="0" rotWithShape="1">
              <a:blip r:embed="rId3">
                <a:alphaModFix amt="29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B688015-796F-F812-F654-C892546855A2}"/>
              </a:ext>
            </a:extLst>
          </p:cNvPr>
          <p:cNvSpPr/>
          <p:nvPr/>
        </p:nvSpPr>
        <p:spPr>
          <a:xfrm>
            <a:off x="4165600" y="1412240"/>
            <a:ext cx="4572000" cy="5080000"/>
          </a:xfrm>
          <a:prstGeom prst="roundRect">
            <a:avLst>
              <a:gd name="adj" fmla="val 1317"/>
            </a:avLst>
          </a:prstGeom>
          <a:solidFill>
            <a:srgbClr val="FAFAF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4">
            <a:extLst>
              <a:ext uri="{FF2B5EF4-FFF2-40B4-BE49-F238E27FC236}">
                <a16:creationId xmlns:a16="http://schemas.microsoft.com/office/drawing/2014/main" id="{321B356F-3DE4-C23A-8129-6D128CF07CE4}"/>
              </a:ext>
            </a:extLst>
          </p:cNvPr>
          <p:cNvSpPr txBox="1">
            <a:spLocks/>
          </p:cNvSpPr>
          <p:nvPr/>
        </p:nvSpPr>
        <p:spPr>
          <a:xfrm>
            <a:off x="4389120" y="1422400"/>
            <a:ext cx="5392923" cy="25006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800" b="1" kern="1200">
                <a:solidFill>
                  <a:schemeClr val="accent5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7</a:t>
            </a: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b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환경정책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E81A3527-2521-A222-666A-98D6B327BD2B}"/>
              </a:ext>
            </a:extLst>
          </p:cNvPr>
          <p:cNvSpPr txBox="1">
            <a:spLocks/>
          </p:cNvSpPr>
          <p:nvPr/>
        </p:nvSpPr>
        <p:spPr>
          <a:xfrm>
            <a:off x="4389120" y="3768779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7.1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환경정책의 편익과 비용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7.2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환경정책의 기본방향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7.3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환경정책의 분배적 측면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7.4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경제성장과 국제무역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7.5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국제적 차원의 환경정책</a:t>
            </a:r>
          </a:p>
        </p:txBody>
      </p:sp>
    </p:spTree>
    <p:extLst>
      <p:ext uri="{BB962C8B-B14F-4D97-AF65-F5344CB8AC3E}">
        <p14:creationId xmlns:p14="http://schemas.microsoft.com/office/powerpoint/2010/main" val="2295829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7.1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환경정책의 편익과 비용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32966" cy="4754563"/>
          </a:xfrm>
        </p:spPr>
        <p:txBody>
          <a:bodyPr anchor="ctr">
            <a:noAutofit/>
          </a:bodyPr>
          <a:lstStyle/>
          <a:p>
            <a:pPr marL="230400" indent="-230400">
              <a:lnSpc>
                <a:spcPct val="130000"/>
              </a:lnSpc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 보존을 목표로 하는 정책은 그것에 드는 비용보다 더 큰 편익을 주는 한에서만 그 정당성을 인정받을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합리적인 환경정책을 위해서는 무엇보다도 우선 이로부터 나오는 편익과 비용이 얼마나 되는지 정확하게 파악해야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환경정책에서 나오는 편익은 그 본질상 정확한 평가가 매우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깨끗한 공기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잘 보존된 숲의 가치 등은 시장가격이 존재하지 않아 그것들이 얼마만큼의 가치를 갖는지 알기 어렵기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167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 측정의 방법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지불의사 접근법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24899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지불의사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접근법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환경의 질 악화로 인해 손해를 본다고 느끼는 사람들은 이를 개선하기 위해 일정한 금액을 지불할 용의를 가짐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tabLst>
                <a:tab pos="355600" algn="l"/>
              </a:tabLs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지불할 용의가 있는 금액은 환경의 질 악화로 인해 효용이 어느 정도로 감소하느냐에 의해 결정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28600" indent="-228600">
              <a:lnSpc>
                <a:spcPct val="130000"/>
              </a:lnSpc>
              <a:tabLst>
                <a:tab pos="355600" algn="l"/>
              </a:tabLs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지불의사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(willingness-to-pay)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알아내 그것이 환경정책에서 나오는 편익이라고 보는 방법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지출함수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(expenditure function)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이용해 지불의사가 있는 금액을 알아낼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2987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30000"/>
                  </a:lnSpc>
                  <a:spcBef>
                    <a:spcPts val="100"/>
                  </a:spcBef>
                  <a:spcAft>
                    <a:spcPts val="15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상품들의 가격을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환경의 질을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라 하면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주어진 효용수준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</m:acc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달성하기 위한 최소한의 지출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</m:acc>
                    <m:r>
                      <a:rPr lang="en-US" altLang="ko-KR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spcBef>
                    <a:spcPts val="100"/>
                  </a:spcBef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환경정책으로 환경의 질이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수준으로 개선되면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</m:acc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달성하는 데 드는 최소한의 지출은 </a:t>
                </a:r>
                <a14:m>
                  <m:oMath xmlns:m="http://schemas.openxmlformats.org/officeDocument/2006/math"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만큼 작아짐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</m:acc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</m:acc>
                    <m:r>
                      <a:rPr lang="en-US" altLang="ko-KR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01600" indent="-177800">
                  <a:lnSpc>
                    <a:spcPct val="130000"/>
                  </a:lnSpc>
                  <a:spcBef>
                    <a:spcPts val="100"/>
                  </a:spcBef>
                  <a:spcAft>
                    <a:spcPts val="1500"/>
                  </a:spcAft>
                </a:pP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환경의 질 개선에 대해 최대한으로 지불할 용의가 있는 금액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spcBef>
                    <a:spcPts val="100"/>
                  </a:spcBef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충분한 통계자료를 수집해 소비자의 지출함수를 추정할 수 있다면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 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이런 방식을 통해 환경정책에서 나오는 편익을 계산 가능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spcBef>
                    <a:spcPts val="100"/>
                  </a:spcBef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실제로 충분한 통계자료를 확보할 수 있을까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?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 측정의 방법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지불의사 접근법</a:t>
            </a:r>
          </a:p>
        </p:txBody>
      </p:sp>
    </p:spTree>
    <p:extLst>
      <p:ext uri="{BB962C8B-B14F-4D97-AF65-F5344CB8AC3E}">
        <p14:creationId xmlns:p14="http://schemas.microsoft.com/office/powerpoint/2010/main" val="4246147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회피행위 접근법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사람들은 위험을 회피하기 위해 어느 정도의 지출을 감수할 용의 가짐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화재경보기 설치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안전장치가 옵션으로 부착된 자동차 구입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이런 행위의 관찰 결과에 입각해 환경정책에서 나오는 편익 측정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회피행위 접근법의 문제점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실제의 편익을 과소평가할 가능성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아무리 많은 돈을 지출한다 해도 오염물질에 의한 피해를 회피할 수 없는 경우에는 이 접근법을 적용할 수 없음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0" y="531814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 측정의 방법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회피행위 접근법</a:t>
            </a:r>
          </a:p>
        </p:txBody>
      </p:sp>
    </p:spTree>
    <p:extLst>
      <p:ext uri="{BB962C8B-B14F-4D97-AF65-F5344CB8AC3E}">
        <p14:creationId xmlns:p14="http://schemas.microsoft.com/office/powerpoint/2010/main" val="831893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320001" cy="4754563"/>
          </a:xfrm>
        </p:spPr>
        <p:txBody>
          <a:bodyPr anchor="ctr">
            <a:noAutofit/>
          </a:bodyPr>
          <a:lstStyle/>
          <a:p>
            <a:pPr marL="0" lvl="1" indent="0">
              <a:lnSpc>
                <a:spcPct val="130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헤도닉가격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접근법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lvl="1" indent="-23040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주택의 가격은 그것이 갖는 여러 가지 특성의 가치로 분해 가능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/>
              <a:t>⇒ </a:t>
            </a:r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헤도닉가격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(hedonic price)</a:t>
            </a:r>
          </a:p>
          <a:p>
            <a:pPr marL="444500" lvl="2">
              <a:lnSpc>
                <a:spcPct val="13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지역의 학군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도심지로부터의 거리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주변환경의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쾌적성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lvl="1" indent="-230400">
              <a:lnSpc>
                <a:spcPct val="130000"/>
              </a:lnSpc>
              <a:spcBef>
                <a:spcPts val="0"/>
              </a:spcBef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헤도닉가격함수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(hedonic price function) 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헤도닉가격의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개념에 입각해 주택이 갖는 여러 특성과 주택 가격을 연결시키는 함수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lvl="1" indent="-23040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헤도닉가격함수에는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환경의 질을 대표하는 여러 변수들이 독립변수로 포함되어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2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이를 통해 환경의 질이 개선되면 주택 가격이 얼마나 상승하는지 알아낼 수 있으며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 상승폭을 환경정책에서 나오는 편익으로 간주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0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spc="-13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편익 측정의 방법 </a:t>
            </a:r>
            <a:r>
              <a:rPr lang="en-US" altLang="ko-KR" spc="-13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3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헤도닉가격</a:t>
            </a:r>
            <a:r>
              <a:rPr lang="ko-KR" altLang="en-US" spc="-13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접근법</a:t>
            </a:r>
          </a:p>
        </p:txBody>
      </p:sp>
    </p:spTree>
    <p:extLst>
      <p:ext uri="{BB962C8B-B14F-4D97-AF65-F5344CB8AC3E}">
        <p14:creationId xmlns:p14="http://schemas.microsoft.com/office/powerpoint/2010/main" val="3652914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 측정의 방법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조건부평가법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조건부평가법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(contingent valuation method ; CVM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가상적인 환경 개선의 가능성을 제시하고 사람들로 하여금 이에 대한 평가를 하게 만드는 방법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이전의 방법들은 이론적 틀에 기초해 환경의 질 개선에 대해 사람들이 지불할 용의가 있는 금액을 알아내려 하는 반면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조건부평가법은 설문조사를 통해 이 금액에 대한 정보를 얻으려 한다는 점에서 대조적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</a:pP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한강의 수질을 개선시키기</a:t>
            </a:r>
            <a:r>
              <a:rPr lang="en-US" altLang="ko-KR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위해 얼마만큼의 세금을 부담할 용의가  있는가</a:t>
            </a:r>
            <a:r>
              <a:rPr lang="en-US" altLang="ko-KR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 </a:t>
            </a:r>
            <a:r>
              <a:rPr lang="ko-KR" altLang="en-US" dirty="0"/>
              <a:t>⇒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사람들의 답을 모은 다음 이를 통계적으로 처리함으로써  이와 같은 환경정책에서 나오는 편익 계산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9870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30400" indent="-230400">
              <a:lnSpc>
                <a:spcPct val="140000"/>
              </a:lnSpc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비사용가치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(non-use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value)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혹은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존재가치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(existence value)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단지 어떤 것이 존재한다는 사실만으로 가치를 갖는다는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2">
              <a:lnSpc>
                <a:spcPct val="14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광릉 주변의 숲에 서식하는 크낙새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lvl="1" indent="-230400">
              <a:lnSpc>
                <a:spcPct val="140000"/>
              </a:lnSpc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40000"/>
              </a:lnSpc>
              <a:spcAft>
                <a:spcPts val="200"/>
              </a:spcAft>
            </a:pP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환경정책에서 나오는 편익에는 당연히 존재가치가 포함되어야 하는데</a:t>
            </a:r>
            <a:r>
              <a:rPr lang="en-US" altLang="ko-KR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이를 측정한다는 점에서 보면 조건부평가법이 가장 낫다고 평가 가능</a:t>
            </a:r>
            <a:endParaRPr lang="en-US" altLang="ko-KR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 측정의 방법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조건부평가법</a:t>
            </a:r>
          </a:p>
        </p:txBody>
      </p:sp>
    </p:spTree>
    <p:extLst>
      <p:ext uri="{BB962C8B-B14F-4D97-AF65-F5344CB8AC3E}">
        <p14:creationId xmlns:p14="http://schemas.microsoft.com/office/powerpoint/2010/main" val="4290917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99961" cy="4754563"/>
          </a:xfrm>
        </p:spPr>
        <p:txBody>
          <a:bodyPr anchor="ctr">
            <a:noAutofit/>
          </a:bodyPr>
          <a:lstStyle/>
          <a:p>
            <a:pPr marL="230400" indent="-230400">
              <a:lnSpc>
                <a:spcPct val="130000"/>
              </a:lnSpc>
              <a:spcBef>
                <a:spcPts val="0"/>
              </a:spcBef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2007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태안 앞바다 기름유출 사고와 같은 경우에는 사건의 성격상   배상액의 결정이 매우 어려움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</a:p>
          <a:p>
            <a:pPr marL="444500" lvl="1" indent="-230188">
              <a:lnSpc>
                <a:spcPct val="130000"/>
              </a:lnSpc>
              <a:spcBef>
                <a:spcPts val="0"/>
              </a:spcBef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존재가치의 평가에 가장 적합한 방법이라고 인정받는 조건부평가법이 자주 그 해법으로 거론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30400" indent="-230400">
              <a:lnSpc>
                <a:spcPct val="130000"/>
              </a:lnSpc>
              <a:spcBef>
                <a:spcPts val="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환경오염 관련 분쟁에서 조건부평가법에 기초해 배상액을 결정하는     사례가 점차 늘어나고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73300" lvl="1" indent="-230400">
              <a:lnSpc>
                <a:spcPct val="130000"/>
              </a:lnSpc>
              <a:spcBef>
                <a:spcPts val="0"/>
              </a:spcBef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기업들은 이와 같은 배상액 결정 방식에 동의하지 않는 경우가 많음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0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조건부평가법을 둘러싼 논쟁</a:t>
            </a:r>
          </a:p>
        </p:txBody>
      </p:sp>
    </p:spTree>
    <p:extLst>
      <p:ext uri="{BB962C8B-B14F-4D97-AF65-F5344CB8AC3E}">
        <p14:creationId xmlns:p14="http://schemas.microsoft.com/office/powerpoint/2010/main" val="4090921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099714" cy="4754563"/>
          </a:xfrm>
        </p:spPr>
        <p:txBody>
          <a:bodyPr anchor="ctr">
            <a:noAutofit/>
          </a:bodyPr>
          <a:lstStyle/>
          <a:p>
            <a:pPr marL="230400" indent="-230400">
              <a:spcBef>
                <a:spcPts val="0"/>
              </a:spcBef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일반적으로 경제학자들은 어떤 것의 가치를 평가할 때 실제로 드러난   사람들의 행위로부터 구성된 현시된 선호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(revealed preference)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     기초해 결론을 도출하는 방법 선호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spcBef>
                <a:spcPts val="0"/>
              </a:spcBef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어떤 것에 일정한 가치를 부여하고 있다면 그들의 선택       행위에 이 사실이 구체적으로 반영될 것이라고 믿음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spcBef>
                <a:spcPts val="0"/>
              </a:spcBef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현시된 선호가 중요하다고 생각하는 경제학자들은 조건부평가법에      대해 부정적 평가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spcBef>
                <a:spcPts val="0"/>
              </a:spcBef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설문조사를 통한 가치평가는 신빙성 없는 접근방식이라는 의견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spcBef>
                <a:spcPts val="0"/>
              </a:spcBef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반면 조건부평가법에 대해 호의적인 경제학자도 상당히 많음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spcBef>
                <a:spcPts val="0"/>
              </a:spcBef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헤인먼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(W.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Hanemann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현시된 선호에 대한 과도한 집착을 버려야 한다고 주장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0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조건부평가법을 둘러싼 논쟁</a:t>
            </a:r>
          </a:p>
        </p:txBody>
      </p:sp>
    </p:spTree>
    <p:extLst>
      <p:ext uri="{BB962C8B-B14F-4D97-AF65-F5344CB8AC3E}">
        <p14:creationId xmlns:p14="http://schemas.microsoft.com/office/powerpoint/2010/main" val="1044894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8087246" cy="4754563"/>
              </a:xfrm>
            </p:spPr>
            <p:txBody>
              <a:bodyPr anchor="ctr">
                <a:noAutofit/>
              </a:bodyPr>
              <a:lstStyle/>
              <a:p>
                <a:pPr marL="0" indent="0">
                  <a:buNone/>
                </a:pP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조건부평가법의 문제점</a:t>
                </a:r>
                <a:endParaRPr lang="en-US" altLang="ko-KR" sz="2000" b="1" dirty="0">
                  <a:solidFill>
                    <a:schemeClr val="accent1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설문조사의 경우에는 질문의 표현이나 순서를 조금만 바꾸어도 응답의 내용이 크게 달라지는 일이 발생 ⇒ 응답효과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(response effect)</a:t>
                </a:r>
              </a:p>
              <a:p>
                <a:pPr marL="266700" indent="-266700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다이아몬드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하우스먼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(P. Diamond and J. </a:t>
                </a:r>
                <a:r>
                  <a:rPr lang="en-US" altLang="ko-KR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Hausman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환경의 가치를 평가할 때 이타적인 동기가 개입되면 환경의 가치를 과대평가할 가능성 있음을 지적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행태경제학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어떤 물건을 보유하고 있는지의 여부가 그것의 가치 평가에 영향을 준다는 사실 발견 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7800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수용의사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𝑾𝑻𝑨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있는 금액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&gt;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지불의사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𝑾𝑻𝑷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있는 금액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1993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년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‘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조건부평가위원회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’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미국 정부의 요청으로 수행한 보고서에서 조건부평가법에 대해 긍정적 평가 내림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8087246" cy="4754563"/>
              </a:xfrm>
              <a:blipFill>
                <a:blip r:embed="rId2"/>
                <a:stretch>
                  <a:fillRect l="-754" r="-678" b="-1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0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조건부평가법을 둘러싼 논쟁</a:t>
            </a:r>
          </a:p>
        </p:txBody>
      </p:sp>
    </p:spTree>
    <p:extLst>
      <p:ext uri="{BB962C8B-B14F-4D97-AF65-F5344CB8AC3E}">
        <p14:creationId xmlns:p14="http://schemas.microsoft.com/office/powerpoint/2010/main" val="364832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환경정책과 관련된 비용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00000"/>
                  </a:lnSpc>
                  <a:spcAft>
                    <a:spcPts val="13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환경정책의 수행과 관련된 가장 중요한 비용 항목은 정부의 예산에서 지출되는 행정비용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Aft>
                    <a:spcPts val="13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민간부문의 기업과 개인들은 환경규제를 준수하기 위해 여러 가지    형태의 비용을 지출 ⇒ </a:t>
                </a: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준수비용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(compliance cost)</a:t>
                </a:r>
              </a:p>
              <a:p>
                <a:pPr marL="266700" indent="-266700">
                  <a:lnSpc>
                    <a:spcPct val="100000"/>
                  </a:lnSpc>
                  <a:spcAft>
                    <a:spcPts val="13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환경정책이 기업의 투자를 위축시키는 결과를 가져오는 경우도 있음</a:t>
                </a:r>
                <a:endParaRPr lang="en-US" altLang="ko-KR" spc="-5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Aft>
                    <a:spcPts val="13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환경정책으로 개인은 실질소득 감소나 고용기회의 축소를 겪을 수 있음</a:t>
                </a:r>
                <a:endParaRPr lang="en-US" altLang="ko-KR" spc="-5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때로는 환경정책이 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−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비용을 발생하게 만들 가능성도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깨끗해진 환경이 기업의 생산성 향상에 도움 줄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환경 관련 규제에 순응하는 과정에서 기술혁신이 촉진되는 결과가 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빚어지기도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8426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7.2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환경정책의 기본 방향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9875" indent="-269875">
              <a:lnSpc>
                <a:spcPct val="15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환경문제를 해결하기 위한 정책은 다음 두 가지 범주로 구분할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775" lvl="1" indent="-269875">
              <a:lnSpc>
                <a:spcPct val="15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 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775" lvl="1" indent="-269875">
              <a:lnSpc>
                <a:spcPct val="15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직접통제방식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775" lvl="1" indent="-269875">
              <a:lnSpc>
                <a:spcPct val="150000"/>
              </a:lnSpc>
              <a:spcAft>
                <a:spcPts val="500"/>
              </a:spcAft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9875" indent="-342900">
              <a:lnSpc>
                <a:spcPct val="15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둘 중 어느 것이 더욱 바람직한 해결방식인가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5434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1" y="1422402"/>
            <a:ext cx="7459633" cy="4754563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방식의 장점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정책이 유연하게 운영될 수 있을 뿐 아니라 효율적으로 환경목표를 달성할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정책 수행에 얼마나 많은 정보를 요구하느냐는 측면에서 볼 때도 시장을 활용하는 방식이 더 나음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장기적인 관점에서 볼 때 효율적이고 경제적인 정화기술의 개발을 촉진할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1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 </a:t>
            </a:r>
            <a:r>
              <a:rPr lang="en-US" altLang="ko-KR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vs. </a:t>
            </a:r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직접통제방식</a:t>
            </a:r>
          </a:p>
        </p:txBody>
      </p:sp>
    </p:spTree>
    <p:extLst>
      <p:ext uri="{BB962C8B-B14F-4D97-AF65-F5344CB8AC3E}">
        <p14:creationId xmlns:p14="http://schemas.microsoft.com/office/powerpoint/2010/main" val="811664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pPr algn="ctr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vs.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직접통제방식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796299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환경단체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기업들은 직접통제방식을 선호하는 경향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직접통제방식이 환경세나 배출권 거래제도에 비해 더 적은  준수비용을 요구한다는 점에서 이를 선호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환경단체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환경세를 납부하거나 오염허가서를 구입했다는 사실이 도덕적으로 비난을 받아야 마땅한 기업에게 면죄부를 제공하는     결과를 빚는 데 대해 반감을 가짐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직접통제방식은 환경규제와 관련되어 발생하는 비용을    숨기기 쉬우며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확실한 효과를 낸다는 점에서 선호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방식은 익숙하지 않으며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관료들이 발휘할  수 있는 재량권을 줄임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1666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vs.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배출권 거래제도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81671"/>
            <a:ext cx="8033212" cy="4754563"/>
          </a:xfrm>
        </p:spPr>
        <p:txBody>
          <a:bodyPr anchor="ctr">
            <a:noAutofit/>
          </a:bodyPr>
          <a:lstStyle/>
          <a:p>
            <a:pPr marL="0" indent="0">
              <a:spcAft>
                <a:spcPts val="1500"/>
              </a:spcAft>
              <a:buNone/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제도의 상대적 장점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000"/>
              </a:spcAft>
            </a:pPr>
            <a:r>
              <a:rPr lang="ko-KR" altLang="en-US" spc="-3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부과는 이를 통해 재정수입을 올릴 수 있다는 장점</a:t>
            </a:r>
            <a:br>
              <a:rPr lang="en-US" altLang="ko-KR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이중배당금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(double dividend)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배출권 거래제도는 배출권이 거래되는 시장이 형성되어야 한다는 전제조건이 충족되어야 한다는 점에서도 상대적으로 불리한 위치에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0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거래제도하에서는 오염물질 배출자가 지불하는 비용의 변동성이 매우 큰데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환경세를 부과하면 일정한 수준에 머물게 만들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공평성의 관점에서 볼 때 오염물질 배출자가 그 대가를 지불하도록      만들어야 한다는 점에서 환경세 제도가 더 바람직하다고 말할 수 있음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 indent="-177800">
              <a:spcAft>
                <a:spcPts val="1500"/>
              </a:spcAft>
              <a:buSzPct val="50000"/>
              <a:buFont typeface="Wingdings" panose="05000000000000000000" pitchFamily="2" charset="2"/>
              <a:buChar char="l"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오염자지불원칙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(polluter pays principle)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측면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92066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vs.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배출권 거래제도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438853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배출권 거래제도의 상대적 장점</a:t>
            </a:r>
            <a:endParaRPr lang="en-US" altLang="ko-KR" spc="-113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5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</a:pP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오염물질 배출량에 대한 직접적 통제가 가능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50000"/>
              </a:lnSpc>
              <a:buSzPct val="50000"/>
              <a:buFont typeface="Wingdings" panose="05000000000000000000" pitchFamily="2" charset="2"/>
              <a:buChar char="l"/>
            </a:pPr>
            <a:r>
              <a:rPr lang="ko-KR" altLang="en-US" spc="-113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부과는 배출량이 간접적으로 통제되기 때문에 바람직한 배출수준에 이르기까지 세율을 계속 변경해야 하는 번거로움이 있음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5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</a:pP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경제가 성장하고 물가도 상승하는 상황에 대한 대처 측면에서 </a:t>
            </a:r>
            <a:r>
              <a:rPr lang="ko-KR" altLang="en-US" spc="-113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거래제도가 상대적으로 유리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50000"/>
              </a:lnSpc>
              <a:buSzPct val="50000"/>
              <a:buFont typeface="Wingdings" panose="05000000000000000000" pitchFamily="2" charset="2"/>
              <a:buChar char="l"/>
            </a:pPr>
            <a:r>
              <a:rPr lang="ko-KR" altLang="en-US" spc="-113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제도하에서는 세율을 계속 조정해야 하는데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</a:t>
            </a:r>
            <a:r>
              <a:rPr lang="ko-KR" altLang="en-US" spc="-113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pc="-113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거래제도하에서는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자동적으로 조정이 이루어질 수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1537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vs.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배출권 거래제도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307533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현실에서는 환경정책과 관련된 거의 모든 집단이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거래제도를 더  선호하는 경향을 발견할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환경세보다 배출권 거래제도를 더욱 선호하는 이유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거래제도하에서는 환경규제와 관련된 비용이 명백하게 드러나지 않기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부과의 효과는 간접적으로 나타나는 데 비해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거래제도의 효과는 직접적으로 나타남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기업들은 배출권을 추가로 구입할 때만 비용이 들어가기 때문에 비용   측면에서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거래제도를 선호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배출권이 신규 기업의 진입을 막는 장벽의 역할을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5783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vs.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배출권 거래제도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16339" cy="4754563"/>
          </a:xfrm>
        </p:spPr>
        <p:txBody>
          <a:bodyPr anchor="ctr">
            <a:noAutofit/>
          </a:bodyPr>
          <a:lstStyle/>
          <a:p>
            <a:pPr marL="266700" indent="-266700"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환경세 제도와 배출권 제도 중 어느 쪽이 더 나은지를 분명하게 말하기는 어려움</a:t>
            </a: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두 제도를 적절하게 혼합한 제도를 활용함으로써 더 나은 정책효과를   얻을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어느 한쪽만을 선택하면 오염물질을 배출하는 기업이 진정한 정보를  제공하지 않아 규제에 어려움</a:t>
            </a: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최근 유럽 여러 나라들은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환경세를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도입해 좋은 성과를 올리고 있음</a:t>
            </a: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네덜란드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덴마크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노르웨이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스웨덴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핀란드 등에서 이산화탄소 발생을 억제하기 위해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탄소세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(carbon tax)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부과</a:t>
            </a: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영국은 쓰레기 처리와 관련된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환경세를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여기서 얻는 수입을 사회보장세 경감에 사용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9708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7.3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환경정책의 분배적 측면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41772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환경정책은 기본적으로 외부성에 의한 비효율성을 극복하기 위한 정책이기 때문에 이에 대한 평가는 주로 효율성의 관점에서 내려져야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효율성의 측면에서만 본다면 흠잡을 데 없이 좋은 환경정책이라 할지라도 그것이 수행되는 과정에서 많은 불공평을 낳게 된다면 결코 바람직한 것이라고 할 수 없음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환경정책과 관련된 혜택과 비용이 상이한 소득계층 사이에서 어떻게  분배되고 있는지 조심스럽게 관찰해야 할 필요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0671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혜택의 분배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54241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대기오염이나 수질오염의 피해는 온 국민에게 돌아갈 수밖에 없지만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그중에서도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특히 저소득층이 더 큰 피해를 입는다고 말할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가난한 사람들은 마음대로 주거를 선택할 수 있는 경제적 여유가 없어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도시의 빈민가나 공단 주변지역의 열악한 환경 속에서 살아야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국립공원이나 도립공원과 같은 휴식공간의 확보를 목표로 하고 있는  환경정책의 주요 수혜계층은 중〮상류층이라고 말할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환경의 질 개선에 대해 지불할 용의가 있는 금액에 의해 혜택의 분배를 평가하면 앞에서와는 다른 결론에 도달할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대기오염의 직접적인 피해가 주로 저소득층에 돌아가지만</a:t>
            </a:r>
            <a:r>
              <a:rPr lang="en-US" altLang="ko-KR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대기의 질  개선에 대해 지불할 용의가 있는 금액은 고소득층이 훨씬 더 클 수 있음</a:t>
            </a:r>
            <a:endParaRPr lang="en-US" altLang="ko-KR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2898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비용의 분배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8" y="1422402"/>
            <a:ext cx="8108027" cy="4754563"/>
          </a:xfrm>
        </p:spPr>
        <p:txBody>
          <a:bodyPr anchor="ctr">
            <a:noAutofit/>
          </a:bodyPr>
          <a:lstStyle/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환경정책과 관련된 비용이 상이한 소득계층 사이에서 어떻게 분배되고 있는지를 알아내는 것은 무척 어려운 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환경정책을 수행하는 데 드는 비용은 정부의 예산과 국민이 내야 하는 세금에만 국한되는 것은 아님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환경정책에 의해 영향을 받는 수많은 사람들에게 실질적으로 돌아가는 비용도 환경정책과 관련된 비용으로 포함되어야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 수행에 필요한 예산을 충당하기 위한 조세부담이 소득계층별로 어떻게 나누어지는지를 평가해 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경우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환경세의 성격을 부분적으로 지닌 휘발유세 부담의 귀착 양상이 상당히 역진적인 것으로 나타남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pc="-9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탄소세나 </a:t>
            </a:r>
            <a:r>
              <a:rPr lang="ko-KR" altLang="en-US" spc="-9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spc="-9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거래제도에 관한 비용의 부담 귀착도 역진적이라는 지적</a:t>
            </a:r>
            <a:endParaRPr lang="en-US" altLang="ko-KR" spc="-9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0734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비용의 분배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39618" cy="4754563"/>
          </a:xfrm>
        </p:spPr>
        <p:txBody>
          <a:bodyPr anchor="ctr">
            <a:noAutofit/>
          </a:bodyPr>
          <a:lstStyle/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환경정책으로 인해 어떤 산업이 위축되고 이로 인해 특정계층의 사람들에게 비용이 발생할 가능성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산업에 고용되어 오던 생산요소는 당분간 실업상태에 빠질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이에 의해 저소득층의 노동자가 실업이나 임금저하 등의 형태로 주로 영향을 받는다면 이들이 환경정책 수행의 주요 비용부담계층이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환경규제는 원가 상승의 압력을 가중시키고 이것은 곧바로 제품 가격의 상승으로 이어짐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공해유발 산업에서 생산된 상품을 주로 소비하는 계층은 실질소득의 감소라는 형태로 비용을 부담하게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1036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비용의 분배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20495" cy="4754563"/>
          </a:xfrm>
        </p:spPr>
        <p:txBody>
          <a:bodyPr anchor="ctr">
            <a:noAutofit/>
          </a:bodyPr>
          <a:lstStyle/>
          <a:p>
            <a:pPr marL="266700" indent="-266700">
              <a:spcAft>
                <a:spcPts val="15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로빈슨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(S. Robinson)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실증연구에 의하면 공해방지정책에 의해         소득이 감소되는 비율은 고소득층으로 갈수록 낮아진다고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500"/>
              </a:spcAft>
            </a:pP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 관련 비용의 부담이 역진적이고 그 혜택도 부유층에게 많이       돌아가고 있다면</a:t>
            </a:r>
            <a:r>
              <a:rPr lang="en-US" altLang="ko-KR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환경을 보존해야 한다는 목표와 소득을 공평하게           분배해야 한다는 목표 사이에 어느 정도의 타협이 불가피함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환경정책을 수행하는 과정에서 가능한 한 저소득층의 부담을 경감        시키려고 노력하는 것이 바람직함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이와 같은 노력은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공평성뿐만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아니라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환경정책에 대한 저소득층의       지지를 확보하기 위해서도 반드시 필요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36901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7.4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경제성장과 국제무역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환경규제도 규제의 일종이므로 이로 인해 여러 부작용이 초래될 수 있음 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>
              <a:lnSpc>
                <a:spcPct val="150000"/>
              </a:lnSpc>
              <a:spcAft>
                <a:spcPts val="300"/>
              </a:spcAft>
            </a:pP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경제성장 둔화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국내 기업들의 국제경쟁력 약화 등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  <a:spcAft>
                <a:spcPts val="300"/>
              </a:spcAft>
            </a:pP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50825" indent="-250825">
              <a:lnSpc>
                <a:spcPct val="150000"/>
              </a:lnSpc>
              <a:spcAft>
                <a:spcPts val="300"/>
              </a:spcAft>
            </a:pP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환경정책이 실제로 그러한 부작용을 가져오는지에 대해서는 아직   명백한 결론이 나지 않은 상태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89067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환경정책과 경제성장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환경규제가 경제성장을 둔화시키는 결과를 가져오는 이유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300"/>
              </a:spcAft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기업이 사용하는 투입요소의 일부가 오염물질 정화에 사용되어야 하기   때문에 전통적인 의미에서의 생산성은 떨어질 수밖에 없음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300"/>
              </a:spcAft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 때문에 기업의 생산공정이나 경영방식에 변화가 올 텐데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이로 인해 생산성이 떨어지는 결과가 빚어질 수 있음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300"/>
              </a:spcAft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환경규제는 기업의 투자에 영향을 줌으로써 생산성 저하를 가져올 수 있음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300"/>
              </a:spcAft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시행되는 대부분의 환경규제는 새로운 생산시설에 대해서만    엄격한 통제를 가해 새롭고 효율적인 생산시설에 투자하려는 의욕을 위축시키는 결과를 가져옴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42572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환경정책과 경제성장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37369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실증분석에 따르면 환경규제가 생산성에 악영향을 준다는 연구 결과가 많이 존재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환경규제의 강화가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미국 제조업의 생산성 정체에 영향을  미쳤다는 연구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환경규제가 생산성 정체에 미친 영향은 다른 요인에 비해 크지 않았음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환경규제가 경제성장에 별 영향을 미치지 않거나 오히려 긍정적 영향을 미친다는 연구도 존재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환경규제가 구체적으로 어떤 방식으로 이루어지는가에 따라 그 영향은 달라짐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30543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환경정책과 경제성장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108026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30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포터가설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(Porter hypothesis)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환경규제가 기업의 국제경쟁력을 높이고 경제성장을 촉진시키는 역할을 한다고 주장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30000"/>
              </a:lnSpc>
              <a:spcAft>
                <a:spcPts val="3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기술혁신이 지속적으로 이루어지는 동적인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(dynamic)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세계에서는 환경규제가 반드시 생산성 저하로 이어지지 않음</a:t>
            </a:r>
          </a:p>
          <a:p>
            <a:pPr marL="444500" lvl="1" indent="-177800">
              <a:lnSpc>
                <a:spcPct val="130000"/>
              </a:lnSpc>
              <a:spcAft>
                <a:spcPts val="3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적절하게 골격이 짜인 환경규제는 기술혁신을 촉진시켜 생산성 향상에 기여할 수 있음</a:t>
            </a:r>
          </a:p>
          <a:p>
            <a:pPr marL="444500" lvl="1" indent="-177800">
              <a:lnSpc>
                <a:spcPct val="130000"/>
              </a:lnSpc>
              <a:spcAft>
                <a:spcPts val="3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환경규제가 환경 관련 서비스업의 성장을 촉진하는 계기를 제공한다는 점도 중요</a:t>
            </a:r>
          </a:p>
          <a:p>
            <a:pPr marL="444500" lvl="1" indent="-177800">
              <a:lnSpc>
                <a:spcPct val="130000"/>
              </a:lnSpc>
              <a:spcAft>
                <a:spcPts val="3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환경규제가 비효율적인 기업을 시장에서 몰아내는 역할을 하여 경제  전반의 생산성 향상을 기대할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30986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환경정책과 국제무역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60502"/>
            <a:ext cx="7886700" cy="4754563"/>
          </a:xfrm>
        </p:spPr>
        <p:txBody>
          <a:bodyPr anchor="ctr">
            <a:noAutofit/>
          </a:bodyPr>
          <a:lstStyle/>
          <a:p>
            <a:pPr marL="266700" indent="-2667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전통적 견해에 따르면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환경규제는 여러 경로를 통해 국제수지 흑자를 줄이거나 적자를 늘리는 역할을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국내 기업에게 추가적 비용을 부담하게 하고 생산성 향상을 둔화시킴으로써 국제경쟁력을 약화시키는 결과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기업들이 환경규제를 피해 생산시설을 해외로 옮기고 신규 투자도  해외에서 수행하여 수출이 줄고 수입이 늘어나는 효과가 나오기도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환경규제로 인해 기업이 비용 절감의 혜택을 얻을 수도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환경의 질이 개선되어 근로자들의 건강이 더 좋아짐에 따라 노동    생산성 향상 기대 가능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수질이 개선되어 식품가공 기업들이 깨끗한 물을 원료로 사용할 수 있는 데서 나오는 비용절감 효과도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06031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환경정책과 국제무역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8" y="1422402"/>
            <a:ext cx="8170374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문제에 대한 연구 결과를 보면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환경규제가 기업들의 국제경쟁력에     미치는 영향을 일률적으로 말하기 어려움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규제의 강도가 높을수록 국제경쟁력에 나쁜 영향을 미칠 가능성이 크며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규제의 형태라는 측면에서 보면 유연성이 작을수록 국제경쟁력에 미치는 악영향이 더욱 커짐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규제당국과 피규제자 사이의 관계가 적대적일 때 환경규제가                  국제경쟁력에 미치는 악영향이 더 큰 경향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21721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환경정책과 국제무역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16339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환경규제가 기업들의 국제경쟁력에 미치는 영향은 실증분석을 통해     알아낼 수 밖에 없음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실질임금과 환율이 변화하지 않는다고 가정한 상태에서 환경규제가  어떤 상품의 순수출에 미치는 영향을 살펴보는 방법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환경규제가 적용되는 산업과 그렇지 않은 산업 사이의 순수출을 비교하는 방법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오염유발 산업이 환경규제가 엄격한 나라로부터 상대적으로 느슨한  나라로 옮겨 가는 양상을 관찰하는 방법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재피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Jaffe </a:t>
            </a:r>
            <a:r>
              <a:rPr lang="en-US" altLang="ko-KR" sz="2000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et al.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정리한 바에 따르면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문제에 관한 실증연구의 결과에서 어떤 뚜렷한 결론을 끄집어내기는 어려움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99529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7.5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국제적 차원의 환경정책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7941772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지구의 온도를 높이는 역할을 하는 여러 가지 온실가스 중 가장 문제가 되는 것은 이산화탄소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𝑪𝑶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임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국제적 차원의 기후변화 대책도 이산화탄소 배출량의 억제에 그 초점이 맞춰져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기후변화 문제에 대한 관심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교토의정서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파리협정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7941772" cy="4754563"/>
              </a:xfrm>
              <a:blipFill>
                <a:blip r:embed="rId2"/>
                <a:stretch>
                  <a:fillRect l="-691" r="-6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99399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교토의정서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1992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 열린 리우환경회의에서 기후변화 문제에 대한 국제 공조  체제의 구축을 위해 유엔기후변화협약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(UNFCCC)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채택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500"/>
              </a:spcAft>
              <a:tabLst>
                <a:tab pos="901700" algn="l"/>
              </a:tabLs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공통의무사항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온실가스 배출량 감축을 위한 국가전략을 수립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시행하고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온실가스와 관련된 통계자료와 정책 이행에 관한 국가보고서를 작성해 제출해야 하는 일반적 성격의 의무로 구성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500"/>
              </a:spcAft>
              <a:tabLst>
                <a:tab pos="901700" algn="l"/>
              </a:tabLs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특정의무사항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협약 당사국들을 세 개의 범주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부속서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부속서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II,  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비부속서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나누고 각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범주별로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다른 의무를 부과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500"/>
              </a:spcAft>
              <a:tabLst>
                <a:tab pos="901700" algn="l"/>
              </a:tabLs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부속서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I(Annex I)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온실가스 배출량을 특정한 수준으로 감축해야 할 명백한 의무를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부여받음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2638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교토의정서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교토의정서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(Kyoto Protocol)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유엔기후변화협약만으로는 본격적인 국제 공조체제의 가동이 어렵다는 인식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구체적인 실천 지침을   마련하기 위해 만들어짐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부속서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Ⅰ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국가들에 대해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2012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년까지 온실가스 배출량을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1990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년의 배출량에서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5.2%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줄어든 수준으로 감축할 의무를 부과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미국을 비롯해 온실가스 배출량이 많은 중국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러시아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캐나다 등이 교토의정서의 효력 연장에 참여하지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83814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교토의정서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099714" cy="4754563"/>
          </a:xfrm>
        </p:spPr>
        <p:txBody>
          <a:bodyPr anchor="ctr">
            <a:noAutofit/>
          </a:bodyPr>
          <a:lstStyle/>
          <a:p>
            <a:pPr marL="266700" indent="-266700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교토의정서는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온실가스 배출량을 감축하는 수단으로 세 가지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유연성기제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(flexibility mechanism)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도입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5950" lvl="1" indent="-342900">
              <a:spcAft>
                <a:spcPts val="500"/>
              </a:spcAft>
              <a:tabLst>
                <a:tab pos="901700" algn="l"/>
              </a:tabLst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(emissions trading scheme)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국가별로 배출량을 배정하고 실제의 배출량이 배정된 배출량에 따라 배출권의 거래를  허용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총량거래제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615950" lvl="1" indent="-342900">
              <a:spcAft>
                <a:spcPts val="500"/>
              </a:spcAft>
              <a:tabLst>
                <a:tab pos="901700" algn="l"/>
              </a:tabLs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공동이행제도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(joint implementation)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부속서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국가들이 온실가스 배출 감축을 위한 공동노력을 할 수 있도록 마련된 제도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5950" lvl="1" indent="-342900">
              <a:spcAft>
                <a:spcPts val="500"/>
              </a:spcAft>
              <a:tabLst>
                <a:tab pos="901700" algn="l"/>
              </a:tabLs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청정개발체제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(clean development mechanism)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부속서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국가와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비부속서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 사이에서 온실가스 배출 감축을 위한 공동노력이    이루어질 수 있도록 마련된 제도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13941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파리협정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62554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교토의정서는 온실가스 감축에 크게 기여하였다는 평가를 받으면서도 여러 측면에서 한계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2020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년까지의 효력 연장에 많은 국가들이 참여하지 않음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중국과 인도 등은 온실가스 감축의무 없었음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국제적으로 기후변화에 대응하기 위해 이전과 다른 새로운 체제가     필요하다는 인식 확산 ⇒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파리협정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(Paris Agreement)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2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이전과 다른 새로운 기후체제라는 의미로 ‘신 기후체제’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(new climate change)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라고 부름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25520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파리협정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58397" cy="4754563"/>
          </a:xfrm>
        </p:spPr>
        <p:txBody>
          <a:bodyPr anchor="ctr">
            <a:noAutofit/>
          </a:bodyPr>
          <a:lstStyle/>
          <a:p>
            <a:pPr marL="266700" indent="-266700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파리협정은 여러 측면에서 기존의 기후변화체제와 차이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지구평균온도의 상승을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2℃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보다 훨씬 아래로 제한하고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1.5℃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까지   낮추기 위해 노력한다는 점을 분명히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온실가스 배출량을 줄이는 것을 포함하여 폭넓은 분야에 관심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기후변화에 신속하게 대응하기 위해 국가들이 스스로 자신의         온실가스 감축목표를 설정하도록 함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협정에 참여하는 모든 국가에게 국가결정기여를 제출하도록 함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기후변화에 대응하는 국가 확대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국가들이 필요한 만큼의 온실가스 감축을 달성하지 못하는 것을     방지하기 위해 ‘글로벌 이행점검’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(global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stocktake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시행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56001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파리협정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99715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파리협정은 신 기후체제의 근간을 마련하고자 하는 국제사회의            노력의 결과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5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신 기후체제를 완전하게 구축하기까지는 아직도 극복해야 할    일이 많음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나라가 스스로 설정한 온실가스 감축목표를 제대로 이행하도록    강제할 수 있는 수단을 마련하지 못함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기후변화로 피해를 입은 국가들에 대해 어떻게 보상을 할 것인지에    대한 구체적 방침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endParaRPr lang="en-US" altLang="ko-KR" sz="500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미국은 파리협정이 자국 경제에 부담을 준다는 이유로            파리협정에서 탈퇴하였음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환경정책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7952476"/>
      </p:ext>
    </p:extLst>
  </p:cSld>
  <p:clrMapOvr>
    <a:masterClrMapping/>
  </p:clrMapOvr>
</p:sld>
</file>

<file path=ppt/theme/theme1.xml><?xml version="1.0" encoding="utf-8"?>
<a:theme xmlns:a="http://schemas.openxmlformats.org/drawingml/2006/main" name="재정학테마">
  <a:themeElements>
    <a:clrScheme name="사용자 지정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6B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재정학테마" id="{D220411F-458E-4BEF-9391-46AA3D35AAC4}" vid="{007A1872-AD0C-400C-B34D-A147BE5B3EC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재정학테마</Template>
  <TotalTime>3783</TotalTime>
  <Words>2817</Words>
  <Application>Microsoft Office PowerPoint</Application>
  <PresentationFormat>화면 슬라이드 쇼(4:3)</PresentationFormat>
  <Paragraphs>354</Paragraphs>
  <Slides>38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8" baseType="lpstr">
      <vt:lpstr>굴림</vt:lpstr>
      <vt:lpstr>나눔고딕</vt:lpstr>
      <vt:lpstr>나눔고딕 ExtraBold</vt:lpstr>
      <vt:lpstr>맑은 고딕</vt:lpstr>
      <vt:lpstr>바탕</vt:lpstr>
      <vt:lpstr>새굴림</vt:lpstr>
      <vt:lpstr>Arial</vt:lpstr>
      <vt:lpstr>Cambria Math</vt:lpstr>
      <vt:lpstr>Wingdings</vt:lpstr>
      <vt:lpstr>재정학테마</vt:lpstr>
      <vt:lpstr>PowerPoint 프레젠테이션</vt:lpstr>
      <vt:lpstr>7.1  환경정책의 편익과 비용</vt:lpstr>
      <vt:lpstr>편익 측정의 방법 : 지불의사 접근법</vt:lpstr>
      <vt:lpstr>편익 측정의 방법 : 지불의사 접근법</vt:lpstr>
      <vt:lpstr>편익 측정의 방법 : 회피행위 접근법</vt:lpstr>
      <vt:lpstr>PowerPoint 프레젠테이션</vt:lpstr>
      <vt:lpstr>편익 측정의 방법 : 조건부평가법</vt:lpstr>
      <vt:lpstr>편익 측정의 방법 : 조건부평가법</vt:lpstr>
      <vt:lpstr>PowerPoint 프레젠테이션</vt:lpstr>
      <vt:lpstr>PowerPoint 프레젠테이션</vt:lpstr>
      <vt:lpstr>PowerPoint 프레젠테이션</vt:lpstr>
      <vt:lpstr>환경정책과 관련된 비용</vt:lpstr>
      <vt:lpstr>7.2  환경정책의 기본 방향</vt:lpstr>
      <vt:lpstr>PowerPoint 프레젠테이션</vt:lpstr>
      <vt:lpstr>시장을 활용하는 방식 vs. 직접통제방식</vt:lpstr>
      <vt:lpstr>환경세 부과 vs. 배출권 거래제도</vt:lpstr>
      <vt:lpstr>환경세 부과 vs. 배출권 거래제도</vt:lpstr>
      <vt:lpstr>환경세 부과 vs. 배출권 거래제도</vt:lpstr>
      <vt:lpstr>환경세 부과 vs. 배출권 거래제도</vt:lpstr>
      <vt:lpstr>7.3  환경정책의 분배적 측면</vt:lpstr>
      <vt:lpstr>혜택의 분배</vt:lpstr>
      <vt:lpstr>비용의 분배</vt:lpstr>
      <vt:lpstr>비용의 분배</vt:lpstr>
      <vt:lpstr>비용의 분배</vt:lpstr>
      <vt:lpstr>7.4  경제성장과 국제무역</vt:lpstr>
      <vt:lpstr>환경정책과 경제성장</vt:lpstr>
      <vt:lpstr>환경정책과 경제성장</vt:lpstr>
      <vt:lpstr>환경정책과 경제성장</vt:lpstr>
      <vt:lpstr>환경정책과 국제무역</vt:lpstr>
      <vt:lpstr>환경정책과 국제무역</vt:lpstr>
      <vt:lpstr>환경정책과 국제무역</vt:lpstr>
      <vt:lpstr>7.5  국제적 차원의 환경정책</vt:lpstr>
      <vt:lpstr>교토의정서</vt:lpstr>
      <vt:lpstr>교토의정서</vt:lpstr>
      <vt:lpstr>교토의정서</vt:lpstr>
      <vt:lpstr>파리협정</vt:lpstr>
      <vt:lpstr>파리협정</vt:lpstr>
      <vt:lpstr>파리협정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영완 전</cp:lastModifiedBy>
  <cp:revision>1002</cp:revision>
  <dcterms:created xsi:type="dcterms:W3CDTF">2015-08-04T05:38:00Z</dcterms:created>
  <dcterms:modified xsi:type="dcterms:W3CDTF">2026-01-12T05:45:23Z</dcterms:modified>
</cp:coreProperties>
</file>