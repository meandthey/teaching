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28"/>
  </p:notesMasterIdLst>
  <p:handoutMasterIdLst>
    <p:handoutMasterId r:id="rId29"/>
  </p:handoutMasterIdLst>
  <p:sldIdLst>
    <p:sldId id="305" r:id="rId2"/>
    <p:sldId id="259" r:id="rId3"/>
    <p:sldId id="261" r:id="rId4"/>
    <p:sldId id="260" r:id="rId5"/>
    <p:sldId id="303" r:id="rId6"/>
    <p:sldId id="264" r:id="rId7"/>
    <p:sldId id="297" r:id="rId8"/>
    <p:sldId id="298" r:id="rId9"/>
    <p:sldId id="266" r:id="rId10"/>
    <p:sldId id="267" r:id="rId11"/>
    <p:sldId id="268" r:id="rId12"/>
    <p:sldId id="269" r:id="rId13"/>
    <p:sldId id="270" r:id="rId14"/>
    <p:sldId id="299" r:id="rId15"/>
    <p:sldId id="300" r:id="rId16"/>
    <p:sldId id="275" r:id="rId17"/>
    <p:sldId id="301" r:id="rId18"/>
    <p:sldId id="276" r:id="rId19"/>
    <p:sldId id="278" r:id="rId20"/>
    <p:sldId id="279" r:id="rId21"/>
    <p:sldId id="280" r:id="rId22"/>
    <p:sldId id="282" r:id="rId23"/>
    <p:sldId id="304" r:id="rId24"/>
    <p:sldId id="284" r:id="rId25"/>
    <p:sldId id="285" r:id="rId26"/>
    <p:sldId id="288" r:id="rId2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9524D6-0908-4F52-95D2-72CC99F1AEC4}" v="7" dt="2026-01-09T05:59:59.1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13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2172" y="31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undo redo custSel modSld">
      <pc:chgData name="영완 전" userId="94a232b962f42e62" providerId="LiveId" clId="{862E7F7D-119D-4717-AD52-91020921814B}" dt="2026-01-13T01:26:28.195" v="356" actId="20577"/>
      <pc:docMkLst>
        <pc:docMk/>
      </pc:docMkLst>
      <pc:sldChg chg="modSp mod">
        <pc:chgData name="영완 전" userId="94a232b962f42e62" providerId="LiveId" clId="{862E7F7D-119D-4717-AD52-91020921814B}" dt="2026-01-09T05:33:48.105" v="6" actId="20577"/>
        <pc:sldMkLst>
          <pc:docMk/>
          <pc:sldMk cId="1907375292" sldId="259"/>
        </pc:sldMkLst>
        <pc:spChg chg="mod">
          <ac:chgData name="영완 전" userId="94a232b962f42e62" providerId="LiveId" clId="{862E7F7D-119D-4717-AD52-91020921814B}" dt="2026-01-09T05:33:48.105" v="6" actId="20577"/>
          <ac:spMkLst>
            <pc:docMk/>
            <pc:sldMk cId="1907375292" sldId="25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40:41.627" v="60" actId="20577"/>
        <pc:sldMkLst>
          <pc:docMk/>
          <pc:sldMk cId="496787134" sldId="261"/>
        </pc:sldMkLst>
        <pc:spChg chg="mod">
          <ac:chgData name="영완 전" userId="94a232b962f42e62" providerId="LiveId" clId="{862E7F7D-119D-4717-AD52-91020921814B}" dt="2026-01-09T05:40:41.627" v="60" actId="20577"/>
          <ac:spMkLst>
            <pc:docMk/>
            <pc:sldMk cId="496787134" sldId="26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42:22.759" v="64" actId="20577"/>
        <pc:sldMkLst>
          <pc:docMk/>
          <pc:sldMk cId="1667234454" sldId="264"/>
        </pc:sldMkLst>
        <pc:spChg chg="mod">
          <ac:chgData name="영완 전" userId="94a232b962f42e62" providerId="LiveId" clId="{862E7F7D-119D-4717-AD52-91020921814B}" dt="2026-01-09T05:42:22.759" v="64" actId="20577"/>
          <ac:spMkLst>
            <pc:docMk/>
            <pc:sldMk cId="1667234454" sldId="26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44:52.687" v="114" actId="14100"/>
        <pc:sldMkLst>
          <pc:docMk/>
          <pc:sldMk cId="520107918" sldId="266"/>
        </pc:sldMkLst>
        <pc:spChg chg="mod">
          <ac:chgData name="영완 전" userId="94a232b962f42e62" providerId="LiveId" clId="{862E7F7D-119D-4717-AD52-91020921814B}" dt="2026-01-09T05:44:52.687" v="114" actId="14100"/>
          <ac:spMkLst>
            <pc:docMk/>
            <pc:sldMk cId="520107918" sldId="26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45:24.168" v="123" actId="20577"/>
        <pc:sldMkLst>
          <pc:docMk/>
          <pc:sldMk cId="3237411232" sldId="267"/>
        </pc:sldMkLst>
        <pc:spChg chg="mod">
          <ac:chgData name="영완 전" userId="94a232b962f42e62" providerId="LiveId" clId="{862E7F7D-119D-4717-AD52-91020921814B}" dt="2026-01-09T05:45:24.168" v="123" actId="20577"/>
          <ac:spMkLst>
            <pc:docMk/>
            <pc:sldMk cId="3237411232" sldId="26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45:44.019" v="132" actId="20577"/>
        <pc:sldMkLst>
          <pc:docMk/>
          <pc:sldMk cId="3260978205" sldId="268"/>
        </pc:sldMkLst>
        <pc:spChg chg="mod">
          <ac:chgData name="영완 전" userId="94a232b962f42e62" providerId="LiveId" clId="{862E7F7D-119D-4717-AD52-91020921814B}" dt="2026-01-09T05:45:44.019" v="132" actId="20577"/>
          <ac:spMkLst>
            <pc:docMk/>
            <pc:sldMk cId="3260978205" sldId="26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45:54.884" v="134" actId="20577"/>
        <pc:sldMkLst>
          <pc:docMk/>
          <pc:sldMk cId="1688606737" sldId="269"/>
        </pc:sldMkLst>
        <pc:spChg chg="mod">
          <ac:chgData name="영완 전" userId="94a232b962f42e62" providerId="LiveId" clId="{862E7F7D-119D-4717-AD52-91020921814B}" dt="2026-01-09T05:45:54.884" v="134" actId="20577"/>
          <ac:spMkLst>
            <pc:docMk/>
            <pc:sldMk cId="1688606737" sldId="26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19:35.003" v="347" actId="20577"/>
        <pc:sldMkLst>
          <pc:docMk/>
          <pc:sldMk cId="670035084" sldId="270"/>
        </pc:sldMkLst>
        <pc:spChg chg="mod">
          <ac:chgData name="영완 전" userId="94a232b962f42e62" providerId="LiveId" clId="{862E7F7D-119D-4717-AD52-91020921814B}" dt="2026-01-13T01:19:35.003" v="347" actId="20577"/>
          <ac:spMkLst>
            <pc:docMk/>
            <pc:sldMk cId="670035084" sldId="27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50:44.044" v="235" actId="20577"/>
        <pc:sldMkLst>
          <pc:docMk/>
          <pc:sldMk cId="2940513601" sldId="275"/>
        </pc:sldMkLst>
        <pc:spChg chg="mod">
          <ac:chgData name="영완 전" userId="94a232b962f42e62" providerId="LiveId" clId="{862E7F7D-119D-4717-AD52-91020921814B}" dt="2026-01-09T05:50:44.044" v="235" actId="20577"/>
          <ac:spMkLst>
            <pc:docMk/>
            <pc:sldMk cId="2940513601" sldId="27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25:22.898" v="349" actId="20577"/>
        <pc:sldMkLst>
          <pc:docMk/>
          <pc:sldMk cId="249689282" sldId="278"/>
        </pc:sldMkLst>
        <pc:spChg chg="mod">
          <ac:chgData name="영완 전" userId="94a232b962f42e62" providerId="LiveId" clId="{862E7F7D-119D-4717-AD52-91020921814B}" dt="2026-01-13T01:25:22.898" v="349" actId="20577"/>
          <ac:spMkLst>
            <pc:docMk/>
            <pc:sldMk cId="249689282" sldId="27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26:06.170" v="355" actId="20577"/>
        <pc:sldMkLst>
          <pc:docMk/>
          <pc:sldMk cId="1704471244" sldId="279"/>
        </pc:sldMkLst>
        <pc:spChg chg="mod">
          <ac:chgData name="영완 전" userId="94a232b962f42e62" providerId="LiveId" clId="{862E7F7D-119D-4717-AD52-91020921814B}" dt="2026-01-13T01:26:06.170" v="355" actId="20577"/>
          <ac:spMkLst>
            <pc:docMk/>
            <pc:sldMk cId="1704471244" sldId="27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59:28.739" v="314" actId="20577"/>
        <pc:sldMkLst>
          <pc:docMk/>
          <pc:sldMk cId="3125114897" sldId="280"/>
        </pc:sldMkLst>
        <pc:spChg chg="mod">
          <ac:chgData name="영완 전" userId="94a232b962f42e62" providerId="LiveId" clId="{862E7F7D-119D-4717-AD52-91020921814B}" dt="2026-01-09T05:59:28.739" v="314" actId="20577"/>
          <ac:spMkLst>
            <pc:docMk/>
            <pc:sldMk cId="3125114897" sldId="28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26:28.195" v="356" actId="20577"/>
        <pc:sldMkLst>
          <pc:docMk/>
          <pc:sldMk cId="1178475144" sldId="282"/>
        </pc:sldMkLst>
        <pc:spChg chg="mod">
          <ac:chgData name="영완 전" userId="94a232b962f42e62" providerId="LiveId" clId="{862E7F7D-119D-4717-AD52-91020921814B}" dt="2026-01-13T01:26:28.195" v="356" actId="20577"/>
          <ac:spMkLst>
            <pc:docMk/>
            <pc:sldMk cId="1178475144" sldId="28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6:00:22.499" v="326" actId="14100"/>
        <pc:sldMkLst>
          <pc:docMk/>
          <pc:sldMk cId="483582603" sldId="284"/>
        </pc:sldMkLst>
        <pc:spChg chg="mod">
          <ac:chgData name="영완 전" userId="94a232b962f42e62" providerId="LiveId" clId="{862E7F7D-119D-4717-AD52-91020921814B}" dt="2026-01-09T06:00:22.499" v="326" actId="14100"/>
          <ac:spMkLst>
            <pc:docMk/>
            <pc:sldMk cId="483582603" sldId="28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6:00:52.876" v="334" actId="20577"/>
        <pc:sldMkLst>
          <pc:docMk/>
          <pc:sldMk cId="4016027699" sldId="285"/>
        </pc:sldMkLst>
        <pc:spChg chg="mod">
          <ac:chgData name="영완 전" userId="94a232b962f42e62" providerId="LiveId" clId="{862E7F7D-119D-4717-AD52-91020921814B}" dt="2026-01-09T06:00:52.876" v="334" actId="20577"/>
          <ac:spMkLst>
            <pc:docMk/>
            <pc:sldMk cId="4016027699" sldId="28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6:01:42.608" v="341" actId="20577"/>
        <pc:sldMkLst>
          <pc:docMk/>
          <pc:sldMk cId="1973948104" sldId="288"/>
        </pc:sldMkLst>
        <pc:spChg chg="mod">
          <ac:chgData name="영완 전" userId="94a232b962f42e62" providerId="LiveId" clId="{862E7F7D-119D-4717-AD52-91020921814B}" dt="2026-01-09T06:01:42.608" v="341" actId="20577"/>
          <ac:spMkLst>
            <pc:docMk/>
            <pc:sldMk cId="1973948104" sldId="28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44:02.696" v="110" actId="20577"/>
        <pc:sldMkLst>
          <pc:docMk/>
          <pc:sldMk cId="2189549491" sldId="297"/>
        </pc:sldMkLst>
        <pc:spChg chg="mod">
          <ac:chgData name="영완 전" userId="94a232b962f42e62" providerId="LiveId" clId="{862E7F7D-119D-4717-AD52-91020921814B}" dt="2026-01-09T05:44:02.696" v="110" actId="20577"/>
          <ac:spMkLst>
            <pc:docMk/>
            <pc:sldMk cId="2189549491" sldId="29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44:35.814" v="113" actId="20577"/>
        <pc:sldMkLst>
          <pc:docMk/>
          <pc:sldMk cId="146489037" sldId="298"/>
        </pc:sldMkLst>
        <pc:spChg chg="mod">
          <ac:chgData name="영완 전" userId="94a232b962f42e62" providerId="LiveId" clId="{862E7F7D-119D-4717-AD52-91020921814B}" dt="2026-01-09T05:44:35.814" v="113" actId="20577"/>
          <ac:spMkLst>
            <pc:docMk/>
            <pc:sldMk cId="146489037" sldId="29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49:24.251" v="207" actId="20577"/>
        <pc:sldMkLst>
          <pc:docMk/>
          <pc:sldMk cId="389004835" sldId="299"/>
        </pc:sldMkLst>
        <pc:spChg chg="mod">
          <ac:chgData name="영완 전" userId="94a232b962f42e62" providerId="LiveId" clId="{862E7F7D-119D-4717-AD52-91020921814B}" dt="2026-01-09T05:49:24.251" v="207" actId="20577"/>
          <ac:spMkLst>
            <pc:docMk/>
            <pc:sldMk cId="389004835" sldId="29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49:41.972" v="214" actId="20577"/>
        <pc:sldMkLst>
          <pc:docMk/>
          <pc:sldMk cId="2161677845" sldId="300"/>
        </pc:sldMkLst>
        <pc:spChg chg="mod">
          <ac:chgData name="영완 전" userId="94a232b962f42e62" providerId="LiveId" clId="{862E7F7D-119D-4717-AD52-91020921814B}" dt="2026-01-09T05:49:41.972" v="214" actId="20577"/>
          <ac:spMkLst>
            <pc:docMk/>
            <pc:sldMk cId="2161677845" sldId="30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51:06.194" v="246"/>
        <pc:sldMkLst>
          <pc:docMk/>
          <pc:sldMk cId="2270841533" sldId="301"/>
        </pc:sldMkLst>
        <pc:spChg chg="mod">
          <ac:chgData name="영완 전" userId="94a232b962f42e62" providerId="LiveId" clId="{862E7F7D-119D-4717-AD52-91020921814B}" dt="2026-01-09T05:51:06.194" v="246"/>
          <ac:spMkLst>
            <pc:docMk/>
            <pc:sldMk cId="2270841533" sldId="30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42:01.808" v="63" actId="20577"/>
        <pc:sldMkLst>
          <pc:docMk/>
          <pc:sldMk cId="4155691380" sldId="303"/>
        </pc:sldMkLst>
        <pc:spChg chg="mod">
          <ac:chgData name="영완 전" userId="94a232b962f42e62" providerId="LiveId" clId="{862E7F7D-119D-4717-AD52-91020921814B}" dt="2026-01-09T05:42:01.808" v="63" actId="20577"/>
          <ac:spMkLst>
            <pc:docMk/>
            <pc:sldMk cId="4155691380" sldId="30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5:59:47.165" v="318" actId="20577"/>
        <pc:sldMkLst>
          <pc:docMk/>
          <pc:sldMk cId="1816748020" sldId="304"/>
        </pc:sldMkLst>
        <pc:spChg chg="mod">
          <ac:chgData name="영완 전" userId="94a232b962f42e62" providerId="LiveId" clId="{862E7F7D-119D-4717-AD52-91020921814B}" dt="2026-01-09T05:59:47.165" v="318" actId="20577"/>
          <ac:spMkLst>
            <pc:docMk/>
            <pc:sldMk cId="1816748020" sldId="304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945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5600" y="194400"/>
            <a:ext cx="8643600" cy="1330099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19</a:t>
            </a:r>
            <a:r>
              <a:rPr lang="ko-KR" altLang="en-US"/>
              <a:t>장  조세제도의 개혁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546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827049CC-C566-8D59-5D1C-F70588662D63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10" name="화살표: 오각형 9">
              <a:extLst>
                <a:ext uri="{FF2B5EF4-FFF2-40B4-BE49-F238E27FC236}">
                  <a16:creationId xmlns:a16="http://schemas.microsoft.com/office/drawing/2014/main" id="{DA0C2AA5-8D61-17C1-3E9C-E97DD7EA9771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화살표: 갈매기형 수장 10">
              <a:extLst>
                <a:ext uri="{FF2B5EF4-FFF2-40B4-BE49-F238E27FC236}">
                  <a16:creationId xmlns:a16="http://schemas.microsoft.com/office/drawing/2014/main" id="{CE6D5917-ACD9-EDC8-6D95-8510841C0487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화살표: 갈매기형 수장 11">
              <a:extLst>
                <a:ext uri="{FF2B5EF4-FFF2-40B4-BE49-F238E27FC236}">
                  <a16:creationId xmlns:a16="http://schemas.microsoft.com/office/drawing/2014/main" id="{A5C4F836-AEF9-E147-F6FD-7660ACF31A9D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2078"/>
            <a:ext cx="9144000" cy="7112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19</a:t>
            </a:r>
            <a:r>
              <a:rPr lang="ko-KR" altLang="en-US"/>
              <a:t>장  조세제도의 개혁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986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666572" y="2573903"/>
            <a:ext cx="7791629" cy="13300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4"/>
            <a:ext cx="7772400" cy="1330099"/>
          </a:xfrm>
        </p:spPr>
        <p:txBody>
          <a:bodyPr anchor="ctr">
            <a:normAutofit/>
          </a:bodyPr>
          <a:lstStyle>
            <a:lvl1pPr algn="ctr">
              <a:defRPr sz="285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19</a:t>
            </a:r>
            <a:r>
              <a:rPr lang="ko-KR" altLang="en-US"/>
              <a:t>장  조세제도의 개혁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300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1337"/>
            <a:ext cx="7886700" cy="7112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19</a:t>
            </a:r>
            <a:r>
              <a:rPr lang="ko-KR" altLang="en-US"/>
              <a:t>장  조세제도의 개혁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722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64457"/>
            <a:ext cx="78867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2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19</a:t>
            </a:r>
            <a:r>
              <a:rPr lang="ko-KR" altLang="en-US"/>
              <a:t>장  조세제도의 개혁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80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09" r:id="rId3"/>
    <p:sldLayoutId id="2147483710" r:id="rId4"/>
  </p:sldLayoutIdLst>
  <p:hf hdr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2625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새굴림" panose="02030600000101010101" pitchFamily="18" charset="-127"/>
          <a:ea typeface="새굴림" panose="02030600000101010101" pitchFamily="18" charset="-127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130000"/>
        </a:lnSpc>
        <a:spcBef>
          <a:spcPts val="750"/>
        </a:spcBef>
        <a:spcAft>
          <a:spcPts val="300"/>
        </a:spcAft>
        <a:buFont typeface="Wingdings" panose="05000000000000000000" pitchFamily="2" charset="2"/>
        <a:buChar char="§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1pPr>
      <a:lvl2pPr marL="5143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2pPr>
      <a:lvl3pPr marL="8572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3pPr>
      <a:lvl4pPr marL="12001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4pPr>
      <a:lvl5pPr marL="15430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071139-F1C4-5040-71D0-CC2A465762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E48D7F1-87D2-C162-FA6A-07DA55911C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A072ACD6-14B0-38CB-E23D-95472B925706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BE63964-6D53-64D8-4C32-AD430E304653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7297ECC-F996-9455-55AD-2DFB547D1DF3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3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35A3519-4CF8-A997-AAD1-9024F341B5FA}"/>
              </a:ext>
            </a:extLst>
          </p:cNvPr>
          <p:cNvSpPr/>
          <p:nvPr/>
        </p:nvSpPr>
        <p:spPr>
          <a:xfrm>
            <a:off x="4165600" y="1412240"/>
            <a:ext cx="4572000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4">
            <a:extLst>
              <a:ext uri="{FF2B5EF4-FFF2-40B4-BE49-F238E27FC236}">
                <a16:creationId xmlns:a16="http://schemas.microsoft.com/office/drawing/2014/main" id="{FF5BC0A6-DD1D-A2F3-CC67-2C0571F61635}"/>
              </a:ext>
            </a:extLst>
          </p:cNvPr>
          <p:cNvSpPr txBox="1">
            <a:spLocks/>
          </p:cNvSpPr>
          <p:nvPr/>
        </p:nvSpPr>
        <p:spPr>
          <a:xfrm>
            <a:off x="4389120" y="1422400"/>
            <a:ext cx="5392923" cy="25006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800" b="1" kern="1200" baseline="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19</a:t>
            </a: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조세제도의 개혁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7FEE5480-0D62-D508-4D80-AEFA2A7F8ED9}"/>
              </a:ext>
            </a:extLst>
          </p:cNvPr>
          <p:cNvSpPr txBox="1">
            <a:spLocks/>
          </p:cNvSpPr>
          <p:nvPr/>
        </p:nvSpPr>
        <p:spPr>
          <a:xfrm>
            <a:off x="4389120" y="3768779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19.1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설계와 개혁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19.2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보상의 문제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19.3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개혁의 과제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19.4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개혁의 현실</a:t>
            </a:r>
          </a:p>
        </p:txBody>
      </p:sp>
    </p:spTree>
    <p:extLst>
      <p:ext uri="{BB962C8B-B14F-4D97-AF65-F5344CB8AC3E}">
        <p14:creationId xmlns:p14="http://schemas.microsoft.com/office/powerpoint/2010/main" val="1012470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설계와 개혁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228561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설계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(design) 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아무것도 없는 백지상태에서 새로운 조세제도를 그려내는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이미 존재하는 제도의 구속을 받을 필요 없이 가장 이상적인 조세제도를 생각해 내기만 하면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개혁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(reform)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현존하는 제도를 출발점으로 하여 바람직하지 않은 점을 고쳐 나가는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본질적으로 점진적인 변화의 과정일 수밖에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375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설계와 개혁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440536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 과정에서의 문제점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개혁의 과정은 바람직하지 않은 것들을 점진적으로 손질해 가는             과정으로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차선의 정리에 따르면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개혁 과정에서 사회후생이 오히려        떨어지는 결과를 가져올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sz="2000" spc="-9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파레토개선의</a:t>
            </a:r>
            <a:r>
              <a:rPr lang="ko-KR" altLang="en-US" sz="2000" spc="-9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성격을 갖는 사회적 변화는 현실에서 찾아보기 매우 어려움</a:t>
            </a:r>
            <a:endParaRPr lang="en-US" altLang="ko-KR" sz="2000" spc="-9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개혁이라는 명분으로 추진된 변화가 사실은 개악일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손해를 보는 사람에게 적절한 보상을 해주는 과정에서 여러 가지              복잡한 문제가 발생해 조세제도의 개혁 그 자체가 불가능해지는              상황이 조성될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6787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개혁이 효율성을 높이고 소득분배를 개선하는 효과를 낸다 하더라도 공평성의 원칙을 위배한다면 문제가 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변화로 사람들의 효용수준이 변하게 된다면 손해를 보는 사람에게 적절한 보상을 지급함으로써 공평성을 회복하는 것이 중요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2586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보상을 해준다고 할 때 직면하는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적절한 보상의 규모가 어느 정도인지를 정확하게 알기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가격이 계속 변하는 상황에서 부차적 효과나 기대하지 못한    효과까지 감안해 적절한 보상의 규모를 결정하는 것은 거의 불가능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적절한 보상의 규모를 알아냈다 하더라도 그 규모가 너무 커서 재원조달의 문제가 발생할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5691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현실적으로 보상이 불가능한 경우의 대안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변화를 시도는 하되 실제로 실행에 옮기는 시기를 늦춰 민간부문이 적응할 여유를 주는 방법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/>
              <a:t>⇒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누군가에게 보상을 해주어야 할 필요성은 여전히 존재하므로 이를 통해 문제가 완전히 해결되는 것을 기대하기는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조세제도상의 변화폭을 줄여 필요한 보상의 규모를 줄이는 방법 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/>
              <a:t>⇒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보상의 규모를 작게 하기 위해 변화의 정도를 줄인다면 기대할 수 있는 개선효과 역시 작아질 수밖에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7234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불필요성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70373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spcAft>
                <a:spcPts val="6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개혁에 따르는 변화에 대해 일일이 보상을 해주지 않아도         된다는 견해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33600" lvl="1" indent="-39600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개혁으로 손해를 보는 사람도 사실은 그 개혁의 간접적      수혜자이므로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밖으로 드러난 손해에 대한 전면적 보상은 과다보상이 될 가능성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33600" lvl="1" indent="-39600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소유한 재산 등의 경제적 가치는 애당초 정부의 덕에 의해 창출되었기 때문에 보상은 필요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33600" lvl="1" indent="-39600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개혁이 예기된 변화라면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계약 당시 이미 이와 관련된 위험을 부담하기로 결정한 것이므로 별도의 보상은 필요하지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9549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불필요성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51430"/>
            <a:ext cx="8037368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개혁에 따른 보상이 불필요하다는 주장이 완벽한 설득력을   갖추고 있다고는 말하기 어려움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66700" indent="-266700" algn="just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모든 행동에서 이득을 보는 사람과 손해를 보는 사람이 생기는데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현실적으로 일일이 보상을 해주면서 일을 추진할 수는 없을 것임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algn="just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소수의 사람에게 명백한 손실이 생기고 그 손실을 홀로 부담하게 내버려두는 것이 불공평하다는 판단이 설 때는 보상을 적극적으로 고려해 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489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개혁의 과제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조세지출의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83335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조세지출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(tax expenditure)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특별한 행위를 촉진하기 위해 조세상의 특혜를 부여하는 데서 생기는 조세수입의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상실분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일종의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감추어진 보조금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’(hidden subsidies)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역할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3050" lvl="1" indent="0">
              <a:lnSpc>
                <a:spcPct val="130000"/>
              </a:lnSpc>
              <a:spcAft>
                <a:spcPts val="2000"/>
              </a:spcAft>
              <a:buNone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ex)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기부금에 대한 소득공제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법인세제상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투자유인책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서레이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(S. Surrey)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안에 조세지출의 요소가 많이 포함되어 있을수록 재정이 비효율적으로 운영될 가능성이 높아진다고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0107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조세지출의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65944"/>
            <a:ext cx="7651750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ko-KR" altLang="en-US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조세지출은 본질적으로 감추어진 보조금의 역할을 하는 것이므로   자의적으로 운영될 가능성이 높음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이와 같은 편리함 때문에 정책담당자들은 조세지출의 형식으로     보조금을 지급하는 것을 선호하는 경향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만약 그 정도가 심해 무분별하게 특혜가 남발되면 정부의 재정은   비효율적으로 운영될 수밖에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합리적인 재정운영을 위해서는 조세지출의 성격을 띠고 있는 부분이 과연 타당성을 갖는지를 엄격하게 따져보아야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7411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조세지출이 정당화되기 위한 검증과정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5600" lvl="1" indent="-396000">
              <a:spcAft>
                <a:spcPts val="10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왜 그와 같은 행위를 부추겨야 할 필요가 있느냐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615600" lvl="1" indent="-396000">
              <a:spcAft>
                <a:spcPts val="10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행위가 사회적 관점에서 바람직하다면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이를 민간부문에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맡겨놓지 않고 정부가 간여해야 하는 이유가 무엇인가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615600" lvl="1" indent="-396000">
              <a:spcAft>
                <a:spcPts val="10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행위를 부추기려 할 때 과연 조세지출의 방법을 사용하는 것이 최선인가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조세지출의 문제</a:t>
            </a:r>
          </a:p>
        </p:txBody>
      </p:sp>
    </p:spTree>
    <p:extLst>
      <p:ext uri="{BB962C8B-B14F-4D97-AF65-F5344CB8AC3E}">
        <p14:creationId xmlns:p14="http://schemas.microsoft.com/office/powerpoint/2010/main" val="3260978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2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효율적인 운용을 위해서 우선 조세지출의 성격을 갖고 있는   부분에 대한 과감한 수술이 행해져야 한다는 인식 널리 확산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조세지출은 공평성의 측면에서도 문제를 갖는 것으로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주로 고소득층에 의해 활용되고 있어 결국 암묵적인 보조의 혜택이 이들에게 집중됨   </a:t>
            </a:r>
            <a:r>
              <a:rPr lang="ko-KR" altLang="en-US" dirty="0"/>
              <a:t>⇒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역전된 보조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(upside-down subsidy)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조세지출의 문제</a:t>
            </a:r>
          </a:p>
        </p:txBody>
      </p:sp>
    </p:spTree>
    <p:extLst>
      <p:ext uri="{BB962C8B-B14F-4D97-AF65-F5344CB8AC3E}">
        <p14:creationId xmlns:p14="http://schemas.microsoft.com/office/powerpoint/2010/main" val="1688606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220248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인플레이션은 여러 경로로 납세자들의 실질적 조세부담에 영향을 주기  때문에 조세제도상에서 이에 대한 적절한 대응 필요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인플레이션이 자본이득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기업이윤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이자소득 등 특정한 형태의 소득에 영향을 주어 실질적 조세부담이 변화하게 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0"/>
              </a:spcAf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세율구간상승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(bracket creep)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문제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소득공제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세액공제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소득구간 등 소득세의 모든 특성이 명목소득에 기초하기 때문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인플레이션하에서는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실질소득에 아무 변화가 없는데도 불구하고 조세부담이 더 커지게 됨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 관련 문제</a:t>
            </a:r>
          </a:p>
        </p:txBody>
      </p:sp>
    </p:spTree>
    <p:extLst>
      <p:ext uri="{BB962C8B-B14F-4D97-AF65-F5344CB8AC3E}">
        <p14:creationId xmlns:p14="http://schemas.microsoft.com/office/powerpoint/2010/main" val="670035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62554" cy="4754563"/>
          </a:xfrm>
        </p:spPr>
        <p:txBody>
          <a:bodyPr anchor="ctr">
            <a:noAutofit/>
          </a:bodyPr>
          <a:lstStyle/>
          <a:p>
            <a:pPr marL="266700" indent="-266700" fontAlgn="base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인플레이션이 진행되는 시기에는 국민소득에서 조세수입이 차지하는 비중이 자동적으로 높아짐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정부부문의 상대적 비중 증가를 막으려면 주기적으로 세율을 인하해 주는 작업이 필요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인플레이션율이 높은 경우에는 조정을 해주는 것이 당연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 fontAlgn="base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매우 낮은 인플레이션율에 대해서까지 조정을 해줄 필요가 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있을지의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여부는 그리 명백하지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물가통계상에 나타난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인플레이션율이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실제의 물가상승폭을 과장해서 나타낼 가능성도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 관련 문제</a:t>
            </a:r>
          </a:p>
        </p:txBody>
      </p:sp>
    </p:spTree>
    <p:extLst>
      <p:ext uri="{BB962C8B-B14F-4D97-AF65-F5344CB8AC3E}">
        <p14:creationId xmlns:p14="http://schemas.microsoft.com/office/powerpoint/2010/main" val="389004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79179" cy="4754563"/>
          </a:xfrm>
        </p:spPr>
        <p:txBody>
          <a:bodyPr anchor="ctr">
            <a:noAutofit/>
          </a:bodyPr>
          <a:lstStyle/>
          <a:p>
            <a:pPr marL="266700" indent="-2667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인플레이션은 법인세상에서도 몇 가지 문제를 유발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인플레이션이 감가상각과 관련하여 투자의욕에 부정적인 영향을 미칠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재고처리방식을 사용하느냐에 따라 과세대상이 되는 기업이윤이 다르게 나타날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개혁에 관한 논의에서는 이러한 문제점을 해소하기 위한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인플레이션회계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(inflation accounting)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채택이 현안과제로 제시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0" y="531814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 관련 문제</a:t>
            </a:r>
          </a:p>
        </p:txBody>
      </p:sp>
    </p:spTree>
    <p:extLst>
      <p:ext uri="{BB962C8B-B14F-4D97-AF65-F5344CB8AC3E}">
        <p14:creationId xmlns:p14="http://schemas.microsoft.com/office/powerpoint/2010/main" val="2161677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개혁의 과제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886701" cy="4754563"/>
          </a:xfrm>
        </p:spPr>
        <p:txBody>
          <a:bodyPr anchor="ctr">
            <a:noAutofit/>
          </a:bodyPr>
          <a:lstStyle/>
          <a:p>
            <a:pPr marL="266700" indent="-266700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어느 나라를 막론하고 세원이 계속적으로 잠식되고 있는 현상이 나타나는 것이 일반적인 현상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조세수입 결손을 막기 위해 소득세율을 계속 올려왔고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이렇게 높아진   세율 때문에 조세의 회피행위가 더욱 심화되는 악순환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66700" indent="-266700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세원을 획기적으로 넓히고 이를 기반으로 하여 소득세율을 인하해    주는 방향으로 개혁을 추진해야 한다는 인식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0513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개혁의 과제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758892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 세원을 넓히기 위한 조치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 가장 혁신적인 것은 매우 포괄적으로 정의된 소득을 과세대상으로 하는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포괄적 소득세제도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(comprehensive income taxation)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헤이그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사이먼스의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소득 정의에 입각해 소득세의 과세대상이 될   소득을 정의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납세자의 경제적 능력에 순증가를 가져오는 것이면 그것의 실현   여부를 불문하고 모두 소득으로 간주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1938" indent="-261938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포괄적 소득세제도를 실행에 옮기는 데에는 많은 문제가 따름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0841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개혁의 과제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(expenditure tax)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대체하자는 제안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소득세제를 지출세제로 대체함으로써 효율성과 공평성의 측면에서 개선을 기대할 수 있다는 믿음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저축을 과세대상에서 제외하는 지출세제의 채택이 국민저축의 현저한 증가를 가져올 것이라는 기대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현행 소득세제의 골격은 그대로 유지하되 여기에 손질을 가함으로써 개혁을 시도하자는 의견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	</a:t>
            </a:r>
          </a:p>
          <a:p>
            <a:pPr marL="444500" lvl="1">
              <a:lnSpc>
                <a:spcPct val="13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단일세율 소득세제 도입 주장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효율성 측면에서는 바람직할지 모르나 고소득층에게 유리하여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공평성상의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문제가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9461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개혁의 과제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08027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현행의 법인세제도의 문제점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저축과 투자행위에 대해 적절한 유인을 제공하지 못함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차입자금의 지급이자 비용공제는 허용하면서 자기자본의 귀속이자에    대한 공제는 허용하지 않아 타인자본 의존을 부채질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가족경영체제의 회사에게 상대적으로 유리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조세부담을 줄이기 위해    영업이윤을 월급으로 지불하든가 사내유보를 하는 등의 변칙적인 운영  이 가능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사내유보에 의해 발생하는 자본이득에 상대적으로 낮은 세율이 적용  됨으로써 이윤의 배당을 억제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법인세와 소득세의 통합문제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689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개혁의 현실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선진국에서의 경험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51430"/>
            <a:ext cx="8103870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나라에서 소득세 과세범위는 넓히고 세율은 내려주는 방향   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으로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개혁 추진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너무 높은 세율이 근로의욕을 저해하고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너무 많은 세금을      거두어 간다는 불만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획기적인 세율인하가 필요하다는 인식 아래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세수 감소에 대비해       과세범위를 넓히는 방안을 적극적으로 모색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과세범위의 확장은 조세수입의 확보뿐 아니라 공평한 조세부담의 분배 라는 측면에서 볼 때도 바람직함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 세율 인하와 동시에 그 구조의 단순화를 통해 세금을 내는 과정 에서 발생하는 납세비용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(tax compliance costs)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낮춰주려는 노력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4471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선진국에서의 경험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37615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법인세도 전반적인 세율인하의 추세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"/>
              </a:spcAft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OECD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국가들의 평균 법인세율은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50%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2017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초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22%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수준으로 하락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신자유주의의 유행과 더불어 감세정책이 경제에 활력을 불어넣어 줄 것이라는 믿음 아래 각국이 경쟁적으로 법인세율을 인하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00"/>
              </a:spcAft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슬렘로드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Slemred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법인세율이 전반적으로 낮아짐과 동시에 표준편차도 줄어드는 현상이 나타남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법인세율 인하와 수렴 현상은 나라들 사이의 경쟁 때문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"/>
              </a:spcAft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드브뢰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(M. Devereux </a:t>
            </a:r>
            <a:r>
              <a:rPr lang="en-US" altLang="ko-KR" sz="2000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al.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나라들 사이의 경쟁으로 인해 법인세율의 전반적 인하가 이루어졌음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5114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배당금의 이중과세를 방지하려는 목적으로 법인세와 소득세를 점차  통합시켜 나가는 움직임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법인소득을 주주에게 귀속시켜 주주 차원에서 통합을 실현하는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배당금을 과세대상이 되는 법인소득에서 공제하는 등의 방법을 통해 법인차원에서 통합을 시도하는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선진국에서의 경험</a:t>
            </a:r>
          </a:p>
        </p:txBody>
      </p:sp>
    </p:spTree>
    <p:extLst>
      <p:ext uri="{BB962C8B-B14F-4D97-AF65-F5344CB8AC3E}">
        <p14:creationId xmlns:p14="http://schemas.microsoft.com/office/powerpoint/2010/main" val="11784751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사회보장세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(social security tax)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점진적 확대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이제 정부의 중요한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세입원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중 하나로 확실히 자리매김함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제도의 도입과 정착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세율구조의 단순성이 제대로 활용되지 못했음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각종 면세조치와 특정 부분에 낮은 세율을 적용하여 현실의 세율   구조는 상당히 복잡한 양상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선진국에서의 경험</a:t>
            </a:r>
          </a:p>
        </p:txBody>
      </p:sp>
    </p:spTree>
    <p:extLst>
      <p:ext uri="{BB962C8B-B14F-4D97-AF65-F5344CB8AC3E}">
        <p14:creationId xmlns:p14="http://schemas.microsoft.com/office/powerpoint/2010/main" val="18167480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29303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1950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1960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조세수입을 늘리는 데 주안점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0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조세수입의 기반을 확충해 나가면서 점진적으로 조세제도의 기본   골격을 잡아가는 것이 중요한 과제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1970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경제개발 촉진을 위한 유인제공 측면이 강조되기 시작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0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가지 투자유인책이 조세제도에 도입되기 시작했음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1000"/>
              </a:spcAft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다양한 조세지원제도가 난립에 따른 부작용이 크다는 점을 인식하고 이를 점차 정리해 가려는 움직임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 조세제도 개혁과정에서의 중요한 이정표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lnSpc>
                <a:spcPct val="10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1974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  종합소득세제도 도입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lnSpc>
                <a:spcPct val="10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1977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도입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609600" lvl="1" indent="-266700">
              <a:lnSpc>
                <a:spcPct val="10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1993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금융실명제 실시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lnSpc>
                <a:spcPct val="10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2005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  종합부동산세 도입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조세제도 개혁</a:t>
            </a:r>
          </a:p>
        </p:txBody>
      </p:sp>
    </p:spTree>
    <p:extLst>
      <p:ext uri="{BB962C8B-B14F-4D97-AF65-F5344CB8AC3E}">
        <p14:creationId xmlns:p14="http://schemas.microsoft.com/office/powerpoint/2010/main" val="4835826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51430"/>
            <a:ext cx="8058150" cy="4754563"/>
          </a:xfrm>
        </p:spPr>
        <p:txBody>
          <a:bodyPr anchor="ctr">
            <a:no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현행 조세제도에서 개선되어야 할 점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납세자의 능력에 맞는 공평한 조세부담의 분배가 이루어질 수 있도록   조세제도 개혁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근로소득과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비근로소득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사이의 형평성 제고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36575" lvl="1" indent="-274638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종합부동산세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소득세제상의 형평성 문제를 완화하기 위한 좋은      방안이었으나 무력화됨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조세지원제도의 대폭 정리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조세지원제도의 남용은 일부 계층에 특혜가 집중되는 공평성의 문제와 자원배분을 왜곡하는 효율성의 문제 유발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이를 위해 우리나라는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2011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조세지출예산제도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채택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조세제도 개혁</a:t>
            </a:r>
          </a:p>
        </p:txBody>
      </p:sp>
    </p:spTree>
    <p:extLst>
      <p:ext uri="{BB962C8B-B14F-4D97-AF65-F5344CB8AC3E}">
        <p14:creationId xmlns:p14="http://schemas.microsoft.com/office/powerpoint/2010/main" val="4016027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37121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최근 들어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국세감면율이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다소 낮아지기는 했지만 우리나라의 조세지출 규모는 여전히 과다한 것으로 보임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재정건전성 유지와 과세형평성 및 효율성 제고를 위해 다양한 조세지출제도를 과감히 정리할 필요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단순화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14,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11)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되는 세금을 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비슷한 세목들을 하나로 묶는 등 과감한 조처 필요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진정한 조세제도 개혁이 이루어지기 위해서는 세법을 뜯어고치는 것    이외에도 주변의 관련 제도와 조세행정에도 손을 대야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조세제도의 개혁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조세제도 개혁</a:t>
            </a:r>
          </a:p>
        </p:txBody>
      </p:sp>
    </p:spTree>
    <p:extLst>
      <p:ext uri="{BB962C8B-B14F-4D97-AF65-F5344CB8AC3E}">
        <p14:creationId xmlns:p14="http://schemas.microsoft.com/office/powerpoint/2010/main" val="1973948104"/>
      </p:ext>
    </p:extLst>
  </p:cSld>
  <p:clrMapOvr>
    <a:masterClrMapping/>
  </p:clrMapOvr>
</p:sld>
</file>

<file path=ppt/theme/theme1.xml><?xml version="1.0" encoding="utf-8"?>
<a:theme xmlns:a="http://schemas.openxmlformats.org/drawingml/2006/main" name="재정학테마">
  <a:themeElements>
    <a:clrScheme name="사용자 지정 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재정학테마" id="{D220411F-458E-4BEF-9391-46AA3D35AAC4}" vid="{007A1872-AD0C-400C-B34D-A147BE5B3EC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재정학테마</Template>
  <TotalTime>4745</TotalTime>
  <Words>1662</Words>
  <Application>Microsoft Office PowerPoint</Application>
  <PresentationFormat>화면 슬라이드 쇼(4:3)</PresentationFormat>
  <Paragraphs>217</Paragraphs>
  <Slides>26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5" baseType="lpstr">
      <vt:lpstr>굴림</vt:lpstr>
      <vt:lpstr>나눔고딕</vt:lpstr>
      <vt:lpstr>나눔고딕 ExtraBold</vt:lpstr>
      <vt:lpstr>맑은 고딕</vt:lpstr>
      <vt:lpstr>바탕</vt:lpstr>
      <vt:lpstr>새굴림</vt:lpstr>
      <vt:lpstr>Arial</vt:lpstr>
      <vt:lpstr>Wingdings</vt:lpstr>
      <vt:lpstr>재정학테마</vt:lpstr>
      <vt:lpstr>PowerPoint 프레젠테이션</vt:lpstr>
      <vt:lpstr>19.1  조세제도의 설계와 개혁</vt:lpstr>
      <vt:lpstr>조세제도의 설계와 개혁</vt:lpstr>
      <vt:lpstr>19.2  보상의 문제</vt:lpstr>
      <vt:lpstr>19.2  보상의 문제</vt:lpstr>
      <vt:lpstr>보상의 문제</vt:lpstr>
      <vt:lpstr>보상의 불필요성</vt:lpstr>
      <vt:lpstr>보상의 불필요성</vt:lpstr>
      <vt:lpstr>19.3  조세제도 개혁의 과제 : 조세지출의 문제</vt:lpstr>
      <vt:lpstr>조세지출의 문제</vt:lpstr>
      <vt:lpstr>조세지출의 문제</vt:lpstr>
      <vt:lpstr>조세지출의 문제</vt:lpstr>
      <vt:lpstr>인플레이션 관련 문제</vt:lpstr>
      <vt:lpstr>인플레이션 관련 문제</vt:lpstr>
      <vt:lpstr>인플레이션 관련 문제</vt:lpstr>
      <vt:lpstr>조세제도 개혁의 과제 : 소득세제</vt:lpstr>
      <vt:lpstr>조세제도 개혁의 과제 : 소득세제</vt:lpstr>
      <vt:lpstr>조세제도 개혁의 과제 : 소득세제</vt:lpstr>
      <vt:lpstr>조세제도 개혁의 과제 : 법인세제</vt:lpstr>
      <vt:lpstr>19.4  조세제도 개혁의 현실 : 선진국에서의 경험</vt:lpstr>
      <vt:lpstr>선진국에서의 경험</vt:lpstr>
      <vt:lpstr>선진국에서의 경험</vt:lpstr>
      <vt:lpstr>선진국에서의 경험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1261</cp:revision>
  <dcterms:created xsi:type="dcterms:W3CDTF">2015-08-04T05:38:00Z</dcterms:created>
  <dcterms:modified xsi:type="dcterms:W3CDTF">2026-01-13T01:26:39Z</dcterms:modified>
</cp:coreProperties>
</file>