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0"/>
  </p:notesMasterIdLst>
  <p:handoutMasterIdLst>
    <p:handoutMasterId r:id="rId41"/>
  </p:handoutMasterIdLst>
  <p:sldIdLst>
    <p:sldId id="317" r:id="rId2"/>
    <p:sldId id="258" r:id="rId3"/>
    <p:sldId id="259" r:id="rId4"/>
    <p:sldId id="261" r:id="rId5"/>
    <p:sldId id="263" r:id="rId6"/>
    <p:sldId id="264" r:id="rId7"/>
    <p:sldId id="265" r:id="rId8"/>
    <p:sldId id="308" r:id="rId9"/>
    <p:sldId id="267" r:id="rId10"/>
    <p:sldId id="268" r:id="rId11"/>
    <p:sldId id="269" r:id="rId12"/>
    <p:sldId id="309" r:id="rId13"/>
    <p:sldId id="271" r:id="rId14"/>
    <p:sldId id="311" r:id="rId15"/>
    <p:sldId id="272" r:id="rId16"/>
    <p:sldId id="274" r:id="rId17"/>
    <p:sldId id="275" r:id="rId18"/>
    <p:sldId id="276" r:id="rId19"/>
    <p:sldId id="277" r:id="rId20"/>
    <p:sldId id="313" r:id="rId21"/>
    <p:sldId id="279" r:id="rId22"/>
    <p:sldId id="280" r:id="rId23"/>
    <p:sldId id="281" r:id="rId24"/>
    <p:sldId id="283" r:id="rId25"/>
    <p:sldId id="284" r:id="rId26"/>
    <p:sldId id="314" r:id="rId27"/>
    <p:sldId id="285" r:id="rId28"/>
    <p:sldId id="287" r:id="rId29"/>
    <p:sldId id="290" r:id="rId30"/>
    <p:sldId id="292" r:id="rId31"/>
    <p:sldId id="294" r:id="rId32"/>
    <p:sldId id="295" r:id="rId33"/>
    <p:sldId id="298" r:id="rId34"/>
    <p:sldId id="299" r:id="rId35"/>
    <p:sldId id="300" r:id="rId36"/>
    <p:sldId id="301" r:id="rId37"/>
    <p:sldId id="302" r:id="rId38"/>
    <p:sldId id="316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17FA4D-6507-43FD-96FC-F1C9DD5ADCD3}" v="35" dt="2026-01-13T00:51:25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7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244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0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0:53:21.627" v="327" actId="20577"/>
      <pc:docMkLst>
        <pc:docMk/>
      </pc:docMkLst>
      <pc:sldChg chg="modSp mod">
        <pc:chgData name="영완 전" userId="94a232b962f42e62" providerId="LiveId" clId="{862E7F7D-119D-4717-AD52-91020921814B}" dt="2026-01-08T07:04:03.758" v="0" actId="20577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08T07:04:03.758" v="0" actId="20577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4:38.389" v="5" actId="20577"/>
        <pc:sldMkLst>
          <pc:docMk/>
          <pc:sldMk cId="2408114758" sldId="261"/>
        </pc:sldMkLst>
        <pc:spChg chg="mod">
          <ac:chgData name="영완 전" userId="94a232b962f42e62" providerId="LiveId" clId="{862E7F7D-119D-4717-AD52-91020921814B}" dt="2026-01-08T07:04:38.389" v="5" actId="20577"/>
          <ac:spMkLst>
            <pc:docMk/>
            <pc:sldMk cId="2408114758" sldId="2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4:55.596" v="12" actId="20577"/>
        <pc:sldMkLst>
          <pc:docMk/>
          <pc:sldMk cId="644222432" sldId="263"/>
        </pc:sldMkLst>
        <pc:spChg chg="mod">
          <ac:chgData name="영완 전" userId="94a232b962f42e62" providerId="LiveId" clId="{862E7F7D-119D-4717-AD52-91020921814B}" dt="2026-01-08T07:04:55.596" v="12" actId="20577"/>
          <ac:spMkLst>
            <pc:docMk/>
            <pc:sldMk cId="644222432" sldId="26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5:38.198" v="23" actId="20577"/>
        <pc:sldMkLst>
          <pc:docMk/>
          <pc:sldMk cId="2774467319" sldId="264"/>
        </pc:sldMkLst>
        <pc:spChg chg="mod">
          <ac:chgData name="영완 전" userId="94a232b962f42e62" providerId="LiveId" clId="{862E7F7D-119D-4717-AD52-91020921814B}" dt="2026-01-08T07:05:38.198" v="23" actId="20577"/>
          <ac:spMkLst>
            <pc:docMk/>
            <pc:sldMk cId="2774467319" sldId="26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5:52.677" v="27" actId="20577"/>
        <pc:sldMkLst>
          <pc:docMk/>
          <pc:sldMk cId="1639443417" sldId="265"/>
        </pc:sldMkLst>
        <pc:spChg chg="mod">
          <ac:chgData name="영완 전" userId="94a232b962f42e62" providerId="LiveId" clId="{862E7F7D-119D-4717-AD52-91020921814B}" dt="2026-01-08T07:05:52.677" v="27" actId="20577"/>
          <ac:spMkLst>
            <pc:docMk/>
            <pc:sldMk cId="1639443417" sldId="26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7:06.329" v="49" actId="20577"/>
        <pc:sldMkLst>
          <pc:docMk/>
          <pc:sldMk cId="2587781896" sldId="267"/>
        </pc:sldMkLst>
        <pc:spChg chg="mod">
          <ac:chgData name="영완 전" userId="94a232b962f42e62" providerId="LiveId" clId="{862E7F7D-119D-4717-AD52-91020921814B}" dt="2026-01-08T07:07:06.329" v="49" actId="20577"/>
          <ac:spMkLst>
            <pc:docMk/>
            <pc:sldMk cId="2587781896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7:11.893" v="50" actId="20577"/>
        <pc:sldMkLst>
          <pc:docMk/>
          <pc:sldMk cId="3183098256" sldId="268"/>
        </pc:sldMkLst>
        <pc:spChg chg="mod">
          <ac:chgData name="영완 전" userId="94a232b962f42e62" providerId="LiveId" clId="{862E7F7D-119D-4717-AD52-91020921814B}" dt="2026-01-08T07:07:11.893" v="50" actId="20577"/>
          <ac:spMkLst>
            <pc:docMk/>
            <pc:sldMk cId="3183098256" sldId="2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46:59.568" v="268" actId="20577"/>
        <pc:sldMkLst>
          <pc:docMk/>
          <pc:sldMk cId="2857800867" sldId="269"/>
        </pc:sldMkLst>
        <pc:spChg chg="mod">
          <ac:chgData name="영완 전" userId="94a232b962f42e62" providerId="LiveId" clId="{862E7F7D-119D-4717-AD52-91020921814B}" dt="2026-01-13T00:46:59.568" v="268" actId="20577"/>
          <ac:spMkLst>
            <pc:docMk/>
            <pc:sldMk cId="2857800867" sldId="2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9:01.654" v="63" actId="20577"/>
        <pc:sldMkLst>
          <pc:docMk/>
          <pc:sldMk cId="759769181" sldId="272"/>
        </pc:sldMkLst>
        <pc:spChg chg="mod">
          <ac:chgData name="영완 전" userId="94a232b962f42e62" providerId="LiveId" clId="{862E7F7D-119D-4717-AD52-91020921814B}" dt="2026-01-08T07:09:01.654" v="63" actId="20577"/>
          <ac:spMkLst>
            <pc:docMk/>
            <pc:sldMk cId="759769181" sldId="27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9:51.390" v="68" actId="20577"/>
        <pc:sldMkLst>
          <pc:docMk/>
          <pc:sldMk cId="918149289" sldId="274"/>
        </pc:sldMkLst>
        <pc:spChg chg="mod">
          <ac:chgData name="영완 전" userId="94a232b962f42e62" providerId="LiveId" clId="{862E7F7D-119D-4717-AD52-91020921814B}" dt="2026-01-08T07:09:51.390" v="68" actId="20577"/>
          <ac:spMkLst>
            <pc:docMk/>
            <pc:sldMk cId="918149289" sldId="27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1:00.533" v="101" actId="20577"/>
        <pc:sldMkLst>
          <pc:docMk/>
          <pc:sldMk cId="244420374" sldId="275"/>
        </pc:sldMkLst>
        <pc:spChg chg="mod">
          <ac:chgData name="영완 전" userId="94a232b962f42e62" providerId="LiveId" clId="{862E7F7D-119D-4717-AD52-91020921814B}" dt="2026-01-08T07:11:00.533" v="101" actId="20577"/>
          <ac:spMkLst>
            <pc:docMk/>
            <pc:sldMk cId="244420374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1:16.011" v="104" actId="14100"/>
        <pc:sldMkLst>
          <pc:docMk/>
          <pc:sldMk cId="629214016" sldId="276"/>
        </pc:sldMkLst>
        <pc:spChg chg="mod">
          <ac:chgData name="영완 전" userId="94a232b962f42e62" providerId="LiveId" clId="{862E7F7D-119D-4717-AD52-91020921814B}" dt="2026-01-08T07:11:16.011" v="104" actId="14100"/>
          <ac:spMkLst>
            <pc:docMk/>
            <pc:sldMk cId="629214016" sldId="27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48:38.713" v="287" actId="20577"/>
        <pc:sldMkLst>
          <pc:docMk/>
          <pc:sldMk cId="3329735022" sldId="277"/>
        </pc:sldMkLst>
        <pc:spChg chg="mod">
          <ac:chgData name="영완 전" userId="94a232b962f42e62" providerId="LiveId" clId="{862E7F7D-119D-4717-AD52-91020921814B}" dt="2026-01-13T00:48:38.713" v="287" actId="20577"/>
          <ac:spMkLst>
            <pc:docMk/>
            <pc:sldMk cId="3329735022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2:45.843" v="126" actId="20577"/>
        <pc:sldMkLst>
          <pc:docMk/>
          <pc:sldMk cId="272400283" sldId="279"/>
        </pc:sldMkLst>
        <pc:spChg chg="mod">
          <ac:chgData name="영완 전" userId="94a232b962f42e62" providerId="LiveId" clId="{862E7F7D-119D-4717-AD52-91020921814B}" dt="2026-01-08T07:12:45.843" v="126" actId="20577"/>
          <ac:spMkLst>
            <pc:docMk/>
            <pc:sldMk cId="272400283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2:54.110" v="127" actId="20577"/>
        <pc:sldMkLst>
          <pc:docMk/>
          <pc:sldMk cId="48237890" sldId="280"/>
        </pc:sldMkLst>
        <pc:spChg chg="mod">
          <ac:chgData name="영완 전" userId="94a232b962f42e62" providerId="LiveId" clId="{862E7F7D-119D-4717-AD52-91020921814B}" dt="2026-01-08T07:12:54.110" v="127" actId="20577"/>
          <ac:spMkLst>
            <pc:docMk/>
            <pc:sldMk cId="48237890" sldId="28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3:38.205" v="142" actId="20577"/>
        <pc:sldMkLst>
          <pc:docMk/>
          <pc:sldMk cId="3761022356" sldId="281"/>
        </pc:sldMkLst>
        <pc:spChg chg="mod">
          <ac:chgData name="영완 전" userId="94a232b962f42e62" providerId="LiveId" clId="{862E7F7D-119D-4717-AD52-91020921814B}" dt="2026-01-08T07:13:38.205" v="142" actId="20577"/>
          <ac:spMkLst>
            <pc:docMk/>
            <pc:sldMk cId="3761022356" sldId="28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4:23.986" v="150" actId="20577"/>
        <pc:sldMkLst>
          <pc:docMk/>
          <pc:sldMk cId="2445647149" sldId="283"/>
        </pc:sldMkLst>
        <pc:spChg chg="mod">
          <ac:chgData name="영완 전" userId="94a232b962f42e62" providerId="LiveId" clId="{862E7F7D-119D-4717-AD52-91020921814B}" dt="2026-01-08T07:14:23.986" v="150" actId="20577"/>
          <ac:spMkLst>
            <pc:docMk/>
            <pc:sldMk cId="2445647149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4:42.079" v="151" actId="14100"/>
        <pc:sldMkLst>
          <pc:docMk/>
          <pc:sldMk cId="704058480" sldId="284"/>
        </pc:sldMkLst>
        <pc:spChg chg="mod">
          <ac:chgData name="영완 전" userId="94a232b962f42e62" providerId="LiveId" clId="{862E7F7D-119D-4717-AD52-91020921814B}" dt="2026-01-08T07:14:42.079" v="151" actId="14100"/>
          <ac:spMkLst>
            <pc:docMk/>
            <pc:sldMk cId="704058480" sldId="28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6:02.870" v="187" actId="20577"/>
        <pc:sldMkLst>
          <pc:docMk/>
          <pc:sldMk cId="2588608872" sldId="285"/>
        </pc:sldMkLst>
        <pc:spChg chg="mod">
          <ac:chgData name="영완 전" userId="94a232b962f42e62" providerId="LiveId" clId="{862E7F7D-119D-4717-AD52-91020921814B}" dt="2026-01-08T07:16:02.870" v="187" actId="20577"/>
          <ac:spMkLst>
            <pc:docMk/>
            <pc:sldMk cId="2588608872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0:04.083" v="288" actId="14100"/>
        <pc:sldMkLst>
          <pc:docMk/>
          <pc:sldMk cId="2991994806" sldId="287"/>
        </pc:sldMkLst>
        <pc:spChg chg="mod">
          <ac:chgData name="영완 전" userId="94a232b962f42e62" providerId="LiveId" clId="{862E7F7D-119D-4717-AD52-91020921814B}" dt="2026-01-13T00:50:04.083" v="288" actId="14100"/>
          <ac:spMkLst>
            <pc:docMk/>
            <pc:sldMk cId="2991994806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7:19.745" v="203" actId="20577"/>
        <pc:sldMkLst>
          <pc:docMk/>
          <pc:sldMk cId="746322276" sldId="290"/>
        </pc:sldMkLst>
        <pc:spChg chg="mod">
          <ac:chgData name="영완 전" userId="94a232b962f42e62" providerId="LiveId" clId="{862E7F7D-119D-4717-AD52-91020921814B}" dt="2026-01-08T07:17:19.745" v="203" actId="20577"/>
          <ac:spMkLst>
            <pc:docMk/>
            <pc:sldMk cId="746322276" sldId="29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7:33.768" v="204" actId="14100"/>
        <pc:sldMkLst>
          <pc:docMk/>
          <pc:sldMk cId="3915807118" sldId="292"/>
        </pc:sldMkLst>
        <pc:spChg chg="mod">
          <ac:chgData name="영완 전" userId="94a232b962f42e62" providerId="LiveId" clId="{862E7F7D-119D-4717-AD52-91020921814B}" dt="2026-01-08T07:17:33.768" v="204" actId="14100"/>
          <ac:spMkLst>
            <pc:docMk/>
            <pc:sldMk cId="3915807118" sldId="29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0:44.916" v="290" actId="20577"/>
        <pc:sldMkLst>
          <pc:docMk/>
          <pc:sldMk cId="444626080" sldId="294"/>
        </pc:sldMkLst>
        <pc:spChg chg="mod">
          <ac:chgData name="영완 전" userId="94a232b962f42e62" providerId="LiveId" clId="{862E7F7D-119D-4717-AD52-91020921814B}" dt="2026-01-13T00:50:44.916" v="290" actId="20577"/>
          <ac:spMkLst>
            <pc:docMk/>
            <pc:sldMk cId="444626080" sldId="29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9:01.010" v="212" actId="20577"/>
        <pc:sldMkLst>
          <pc:docMk/>
          <pc:sldMk cId="2863005796" sldId="295"/>
        </pc:sldMkLst>
        <pc:spChg chg="mod">
          <ac:chgData name="영완 전" userId="94a232b962f42e62" providerId="LiveId" clId="{862E7F7D-119D-4717-AD52-91020921814B}" dt="2026-01-08T07:19:01.010" v="212" actId="20577"/>
          <ac:spMkLst>
            <pc:docMk/>
            <pc:sldMk cId="2863005796" sldId="29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1:41.415" v="307" actId="20577"/>
        <pc:sldMkLst>
          <pc:docMk/>
          <pc:sldMk cId="3735876098" sldId="298"/>
        </pc:sldMkLst>
        <pc:spChg chg="mod">
          <ac:chgData name="영완 전" userId="94a232b962f42e62" providerId="LiveId" clId="{862E7F7D-119D-4717-AD52-91020921814B}" dt="2026-01-13T00:51:41.415" v="307" actId="20577"/>
          <ac:spMkLst>
            <pc:docMk/>
            <pc:sldMk cId="3735876098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2:53.324" v="315" actId="20577"/>
        <pc:sldMkLst>
          <pc:docMk/>
          <pc:sldMk cId="2631975385" sldId="299"/>
        </pc:sldMkLst>
        <pc:spChg chg="mod">
          <ac:chgData name="영완 전" userId="94a232b962f42e62" providerId="LiveId" clId="{862E7F7D-119D-4717-AD52-91020921814B}" dt="2026-01-13T00:52:53.324" v="315" actId="20577"/>
          <ac:spMkLst>
            <pc:docMk/>
            <pc:sldMk cId="2631975385" sldId="29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3:21.627" v="327" actId="20577"/>
        <pc:sldMkLst>
          <pc:docMk/>
          <pc:sldMk cId="1827895019" sldId="300"/>
        </pc:sldMkLst>
        <pc:spChg chg="mod">
          <ac:chgData name="영완 전" userId="94a232b962f42e62" providerId="LiveId" clId="{862E7F7D-119D-4717-AD52-91020921814B}" dt="2026-01-13T00:53:21.627" v="327" actId="20577"/>
          <ac:spMkLst>
            <pc:docMk/>
            <pc:sldMk cId="1827895019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21:46.394" v="247" actId="20577"/>
        <pc:sldMkLst>
          <pc:docMk/>
          <pc:sldMk cId="3357445920" sldId="301"/>
        </pc:sldMkLst>
        <pc:spChg chg="mod">
          <ac:chgData name="영완 전" userId="94a232b962f42e62" providerId="LiveId" clId="{862E7F7D-119D-4717-AD52-91020921814B}" dt="2026-01-08T07:21:46.394" v="247" actId="20577"/>
          <ac:spMkLst>
            <pc:docMk/>
            <pc:sldMk cId="3357445920" sldId="30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22:34.508" v="260" actId="20577"/>
        <pc:sldMkLst>
          <pc:docMk/>
          <pc:sldMk cId="4128646104" sldId="302"/>
        </pc:sldMkLst>
        <pc:spChg chg="mod">
          <ac:chgData name="영완 전" userId="94a232b962f42e62" providerId="LiveId" clId="{862E7F7D-119D-4717-AD52-91020921814B}" dt="2026-01-08T07:22:34.508" v="260" actId="20577"/>
          <ac:spMkLst>
            <pc:docMk/>
            <pc:sldMk cId="4128646104" sldId="30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6:37.204" v="46" actId="14100"/>
        <pc:sldMkLst>
          <pc:docMk/>
          <pc:sldMk cId="945362910" sldId="308"/>
        </pc:sldMkLst>
        <pc:spChg chg="mod">
          <ac:chgData name="영완 전" userId="94a232b962f42e62" providerId="LiveId" clId="{862E7F7D-119D-4717-AD52-91020921814B}" dt="2026-01-08T07:06:37.204" v="46" actId="14100"/>
          <ac:spMkLst>
            <pc:docMk/>
            <pc:sldMk cId="945362910" sldId="30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7:57.873" v="51" actId="14100"/>
        <pc:sldMkLst>
          <pc:docMk/>
          <pc:sldMk cId="3598490064" sldId="309"/>
        </pc:sldMkLst>
        <pc:spChg chg="mod">
          <ac:chgData name="영완 전" userId="94a232b962f42e62" providerId="LiveId" clId="{862E7F7D-119D-4717-AD52-91020921814B}" dt="2026-01-08T07:07:57.873" v="51" actId="14100"/>
          <ac:spMkLst>
            <pc:docMk/>
            <pc:sldMk cId="3598490064" sldId="30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08:44.800" v="56" actId="20577"/>
        <pc:sldMkLst>
          <pc:docMk/>
          <pc:sldMk cId="1892262164" sldId="311"/>
        </pc:sldMkLst>
        <pc:spChg chg="mod">
          <ac:chgData name="영완 전" userId="94a232b962f42e62" providerId="LiveId" clId="{862E7F7D-119D-4717-AD52-91020921814B}" dt="2026-01-08T07:08:44.800" v="56" actId="20577"/>
          <ac:spMkLst>
            <pc:docMk/>
            <pc:sldMk cId="1892262164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15:34.058" v="181" actId="20577"/>
        <pc:sldMkLst>
          <pc:docMk/>
          <pc:sldMk cId="72412847" sldId="314"/>
        </pc:sldMkLst>
        <pc:spChg chg="mod">
          <ac:chgData name="영완 전" userId="94a232b962f42e62" providerId="LiveId" clId="{862E7F7D-119D-4717-AD52-91020921814B}" dt="2026-01-08T07:15:34.058" v="181" actId="20577"/>
          <ac:spMkLst>
            <pc:docMk/>
            <pc:sldMk cId="72412847" sldId="31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7:22:43.662" v="264" actId="5793"/>
        <pc:sldMkLst>
          <pc:docMk/>
          <pc:sldMk cId="3154549158" sldId="316"/>
        </pc:sldMkLst>
        <pc:spChg chg="mod">
          <ac:chgData name="영완 전" userId="94a232b962f42e62" providerId="LiveId" clId="{862E7F7D-119D-4717-AD52-91020921814B}" dt="2026-01-08T07:22:43.662" v="264" actId="5793"/>
          <ac:spMkLst>
            <pc:docMk/>
            <pc:sldMk cId="3154549158" sldId="31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493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12</a:t>
            </a:r>
            <a:r>
              <a:rPr lang="ko-KR" altLang="en-US"/>
              <a:t>장  비용편익분석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19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AB91F2A-7F83-851A-84FE-FE94F4D1C98B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1789EA05-E27A-780F-EC14-D8115577DEB5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D5AEC115-B520-F67B-1499-E7D7243A8045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D04CC59C-572F-195A-AF3A-4035627FE061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12</a:t>
            </a:r>
            <a:r>
              <a:rPr lang="ko-KR" altLang="en-US"/>
              <a:t>장  비용편익분석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94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12</a:t>
            </a:r>
            <a:r>
              <a:rPr lang="ko-KR" altLang="en-US"/>
              <a:t>장  비용편익분석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96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12</a:t>
            </a:r>
            <a:r>
              <a:rPr lang="ko-KR" altLang="en-US"/>
              <a:t>장  비용편익분석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916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12</a:t>
            </a:r>
            <a:r>
              <a:rPr lang="ko-KR" altLang="en-US"/>
              <a:t>장  비용편익분석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493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6FEB4-34B9-69AA-6467-4D3115ACC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9FB4F5-08CD-83E9-BDCD-72160C25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5C51DBCE-9F5D-EE38-A791-DA4B81055F41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583E2B1-9E16-19BC-EBDA-06B5CD5719DE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37AADE3-23E5-BB7B-F818-643DC316EEA2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2CDA58-766A-445D-AC74-62A3D45F2704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1336E4DF-07AC-A249-B57F-1875171FB9EE}"/>
              </a:ext>
            </a:extLst>
          </p:cNvPr>
          <p:cNvSpPr txBox="1">
            <a:spLocks/>
          </p:cNvSpPr>
          <p:nvPr/>
        </p:nvSpPr>
        <p:spPr>
          <a:xfrm>
            <a:off x="4389120" y="1422401"/>
            <a:ext cx="5392923" cy="2006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accent2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비용편익분석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1C68A74-1559-0604-3FDE-F1B7F7CE6F99}"/>
              </a:ext>
            </a:extLst>
          </p:cNvPr>
          <p:cNvSpPr txBox="1">
            <a:spLocks/>
          </p:cNvSpPr>
          <p:nvPr/>
        </p:nvSpPr>
        <p:spPr>
          <a:xfrm>
            <a:off x="4389120" y="3327027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비용편익분석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비용편익분석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상황에서의 편익과 비용의 평가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12.6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12.7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</a:t>
            </a:r>
          </a:p>
        </p:txBody>
      </p:sp>
    </p:spTree>
    <p:extLst>
      <p:ext uri="{BB962C8B-B14F-4D97-AF65-F5344CB8AC3E}">
        <p14:creationId xmlns:p14="http://schemas.microsoft.com/office/powerpoint/2010/main" val="1051580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(cost benefit analysis)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공공부문뿐 아니라 민간부문에서 투자계획의 타당성을 평가하는 경우에도 널리 활용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 특정한 투자계획을 실천에 옮길 때 다음의 과정을 거침</a:t>
            </a:r>
            <a:endParaRPr lang="en-US" altLang="ko-KR" sz="2000" spc="-4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4248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목표의 달성을 가능케 하는 여러 투자계획의 대안을 찾아냄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4248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대안이 실행되었을 때 결과로서 나타날 모든 것을 예측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4248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비용과 편익을 추정해 사업계획의 종합적인 타당성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이윤창출  가능성을 평가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현재가치법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80415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지금부터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 후까지 그 효과가 나타나는 투자계획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기의 비용의 흐름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기의 편익의 흐름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미래에 예상되는 비용과 편익은 적절한 비율로 할인되어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현재가치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(present value)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바뀌어야 일관성 있는 평가가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할인율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(discount rate ;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할인 과정에 적용되는 비율로 투자계획에 사용되는 자금의 기간당 기회비용과 일치하도록 선택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투자계획의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현재가치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𝑷𝑽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𝑷𝑽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804150" cy="4754563"/>
              </a:xfrm>
              <a:blipFill>
                <a:blip r:embed="rId2"/>
                <a:stretch>
                  <a:fillRect l="-7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현재가치법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1" y="1422402"/>
            <a:ext cx="7778750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현재가치법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어떤 투자계획의 타당성을 현재가치로 환산된 순편익에 기초해 평가하는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투자계획의 타당성을 평가하는 두 가지 관점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3960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채택가능성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(admissibility)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투자계획이 과연 실행에 옮길  가치가 있는 것인지를 평가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93750" lvl="2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투자계획의 순편익의 현재가치가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큰가의 여부에 의해    판가름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3960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우선순위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preferability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대안이 되는 여러 투자계획들을 놓고  우선순위 부여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93750" lvl="2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대안들이 비교될 경우 현재가치가 높은 순서로 채택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811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내부수익률법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1581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(internal rate of return 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다음과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같은 방정식의 해</a:t>
                </a:r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𝝆</m:t>
                        </m:r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2000" b="1" i="1"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2000" b="1" i="1"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buNone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현재가치의 식은 편익 및 비용의 흐름을 할인율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통해 현재가치로  환산한 것을 뜻하지만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내부수익률을 구하는 식에서는 할인율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     미지수로 되어 있는 차이가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내부수익률법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내부수익률에 기초해 투자계획의 타당성을 평가하는   방법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15817" cy="4754563"/>
              </a:xfrm>
              <a:blipFill>
                <a:blip r:embed="rId2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422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내부수익률법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053994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내부수익률법에 의한 평가기준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투자계획에 소요되는 자금의 기회비용인 할인율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크면 채택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그렇지 않으면 기각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여러 투자계획을 비교할 경우에는 내부수익률이 높은 순으로 우선순위 부여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내부수익률법의 문제점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투자계획의 크기가 서로 다른 상황에서 이 방법에 의해 우선순위를   정할 때 문제가 발생하기 쉬움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미지수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해가 여러 개가 나올 수 있어 어떤 것을 내부수익률로      선택해야 할지가 분명하지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053994" cy="4754563"/>
              </a:xfrm>
              <a:blipFill>
                <a:blip r:embed="rId2"/>
                <a:stretch>
                  <a:fillRect l="-681" r="-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446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비용비율법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(benefit-cost ratio 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ratio)</a:t>
                </a:r>
              </a:p>
              <a:p>
                <a:pPr marL="266700" indent="-2667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𝑩𝑪</m:t>
                      </m:r>
                      <m:r>
                        <m:rPr>
                          <m:nor/>
                        </m:rPr>
                        <a:rPr lang="en-US" altLang="ko-K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b="1" i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m:t>ratio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편익의 현재가치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비용의 현재가치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</a:p>
              <a:p>
                <a:pPr marL="266700" indent="-266700"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비용비율법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편익과 비용의 현재가치를 각각 구하고 이 둘의    비율을 구해 판단의 근거로 삼는 방법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비용비율에 의거한 평가는 어떤 투자계획의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ratio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 크면 채택하고 그렇지 않으면 기각함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9443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비용비율법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25146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현재가치법과의 비교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비용비율법은 어떤 투자를 할 것인가 말 것인가를 정하는 데   있어서는 현재가치법과 차이가 없음</a:t>
                </a:r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𝑷𝑽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𝑷𝑽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𝑷𝑽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     ⟺     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buNone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여러 투자계획의 우선순위를 평가할 경우는 현재가치법과   일치하지 않을 수 있음</a:t>
                </a:r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723900" lvl="1" indent="0">
                  <a:buNone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buNone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부수적인 피해가 발생할 경우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그 투자계획에서 나오는 편익의 감소로 간주하느냐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비용의 증가로 간주하느냐에 따라 평가가 뒤바뀐다는 문제 발생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25146" cy="4754563"/>
              </a:xfrm>
              <a:blipFill>
                <a:blip r:embed="rId2"/>
                <a:stretch>
                  <a:fillRect l="-692" r="-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5362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41277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평가는 민간기업의 투자계획을 평가하는 것과 뚜렷이 차이가 있기 때문에 다른 평가방법을 요구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기업은 이윤을 유일한 관심의 대상으로 삼고 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공공부문은 여러 가지 복합적인 목표를 추구한다는 점에서 차이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공공사업이 유발하는 효과를 여러 각도에서 파악해 포괄적인 평가를  내려야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경우에는 비용과 편익을 평가할 때 시장가격을 그대로 사용하면 되는 데 비해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경우는 시장가격의 사용이 바람직하지 않은 상황이 자주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78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여러 가지 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1" y="1422402"/>
            <a:ext cx="798195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다양한 목표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총소비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증대를 통한 후생 증진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산업 발전의 기반 제공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고용수준의 제고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경제자립도의 제고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가치욕구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(merit wants)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충족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편익은 다양한 성격을 갖고 있어 이를 체계화해 이해해야 할 필요성이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효율적인 수행을 위해서는 이를 통해 기대할 수 있는 편익의 정확한 크기를 파악하는 것이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3098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여러 가지 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편익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실질적 편익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(real benefit)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수혜자가 얻는 실질적 혜택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  <a:tabLst>
                <a:tab pos="9017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금전적 편익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(pecuniary benefit)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공공사업으로 인한 상대가격구조의 변화에 의해 어떤 사람에게 금전상의 이득이 생긴 것 의미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경우를 제외하면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실질적인 편익에만 관심을 갖는 것이 일반적임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 편익의 구분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(direct benefit) vs.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간접적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(indirect benefit)</a:t>
            </a: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유형적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(tangible benefit) vs.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무형적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(intangible benefit)</a:t>
            </a: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(intermediate benefit) vs.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최종적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(final benefit)</a:t>
            </a: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(inside benefit) vs.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외부적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(outside benefit)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780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03870" cy="4754563"/>
          </a:xfrm>
        </p:spPr>
        <p:txBody>
          <a:bodyPr>
            <a:normAutofit/>
          </a:bodyPr>
          <a:lstStyle/>
          <a:p>
            <a:pPr marL="266700" indent="-266700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민간기업의 경우 시장가격에 입각해 투자사업과 관련된 편익과 비용을 측정하기만 하면 아무 문제가 생기지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경우 시장의 불완전성이나 정부개입 등으로 인해 시장가격이 자원의 정확한 기회비용을 반영하지 못할 때가 있어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시장가격이 적절한 평가기준이 되지는 못하는 경우가 많음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8490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(market price)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기초한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생산에 소요되는 사회적 한계비용이나 소비자들에게 돌아가는 사회적 한계편익을 제대로 반영하지 못하는 사례가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다른 대안들에 비하면 시장가격은 싼 비용으로 가장 많은 정보를 전달해 줄 수 있는 매체일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937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236874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(shadow price)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기초한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불완전성이 아주 심각하다고 판단되는 경우에는 자원의 사회적   기회비용을 계산하고 이를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잠재가격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간주해 편익과 비용의 평가기준으로 삼을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 산출의 기초가 되는 모형이 이론적 결함을 갖고 있거나 현실성을 결여하고 있다면 이를 통해 도출된 가격은 사회적 기회비용을 정확하게  반영하지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262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1217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(adjusted market price)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기초한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잠재가격을 정확하게 계산하기 어렵고 시장가격을 사용하는 것도       바람직하지 않다고 판단되는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사용할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불완전성의 원인에 따라 시장가격에 적절한 조정을 가한 가격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방법은 비교적 적은 비용만을 들이고도 잠재가격에 근접한 가격을  얻을 수 있다는 장점을 갖고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769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536339"/>
            <a:ext cx="8103871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독점의 경우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독점 생산된 상품의 경우에는 가격이 그것을 생산하는 데 드는 한계비용보다 더 큰 현상이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상품의 생산량이 공공사업에서 사용한 양만큼 증가한다면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상품의   사회적 기회비용은 추가적 생산을 위해 소요된 자원비용이라고 말할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한계비용을 평가기준으로 사용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 수행을 위해 그 상품을 구입했는데도 생산량은 예전의 수준에 그대로 머물러 있다면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소비자에게 갈 상품이 공공사업에 쓰인 것이라고 간주할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사회적 기회비용의 적절한 기준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생산량이 증가하기는 했는데 공공사업에서 사용한 것보다 적게 증가하는 경우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가격과 한계비용의 가중평균을 사회적 기회비용으로 간주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</a:p>
        </p:txBody>
      </p:sp>
    </p:spTree>
    <p:extLst>
      <p:ext uri="{BB962C8B-B14F-4D97-AF65-F5344CB8AC3E}">
        <p14:creationId xmlns:p14="http://schemas.microsoft.com/office/powerpoint/2010/main" val="91814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41278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조세의 존재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부과된 상품이 공공사업에 투입되는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생산자가격과   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조세를 포함한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소비자가격 중 어느 쪽을 평가기준으로 삼아야 하는지가 문제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물품세가 부과된 상품이 공공사업에 투입될 때 그 투입량만큼 생산량이 증가할 경우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추가적 생산에 소요되는 자원비용을 뜻하는 생산자가격이 평가기준으로 사용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생산량이 전혀 변화하지 않고 예전의 수준에 머물러 있는 경우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소비자에게 갈 것이 공공사업에 투자되었으므로 소비자가격이 적절한 평가기준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</a:p>
        </p:txBody>
      </p:sp>
    </p:spTree>
    <p:extLst>
      <p:ext uri="{BB962C8B-B14F-4D97-AF65-F5344CB8AC3E}">
        <p14:creationId xmlns:p14="http://schemas.microsoft.com/office/powerpoint/2010/main" val="244420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99961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실업의 존재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 내부에 상당한 정도의 비자발적 실업이 존재하고 있다면 이에 대해 적절한 고려를 할 필요가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공공사업에서 비자발적 실업상태에 있는 근로자를 고용할 때 여타 부문의 생산에는 아무런 영향을 주지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근로자들에게 지불되는 임금이 그들을 고용하는 것과 관련된 기회비용을 의미하지는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</a:p>
        </p:txBody>
      </p:sp>
    </p:spTree>
    <p:extLst>
      <p:ext uri="{BB962C8B-B14F-4D97-AF65-F5344CB8AC3E}">
        <p14:creationId xmlns:p14="http://schemas.microsoft.com/office/powerpoint/2010/main" val="629214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12.4 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상황에서의 편익과 비용의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696546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공공사업을 수행한 결과 몇 가지 상품이 일정한 양만큼 추가적으로 생산되어 이를 화폐가치로 환산해 편익의 일부로 간주해야 하는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공공사업은 규모가 크기 때문에 이로부터 나온 상품이 시장에 유입 되면서 가격에 변화가 일어날 가능성이 크고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 어떤 가격에  기초해 평가해야 할 것인지를 선택해야 하는 문제 발생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735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시장가격이 변화하는 경우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92944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관개사업을 통해 쌀 생산의 한계비용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생산량 증가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 하락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altLang="ko-KR" b="1" dirty="0">
                  <a:latin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sz="1800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관개사업으로 인한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편익 측정 시 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기준가격으로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모두 적절하지 않음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200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편익의 증가는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늘어난 소비자잉여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 spc="-100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크기로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측정하는 것이 적절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92944"/>
                <a:ext cx="7886700" cy="4754563"/>
              </a:xfrm>
              <a:blipFill>
                <a:blip r:embed="rId2"/>
                <a:stretch>
                  <a:fillRect l="-696" t="-29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436FA7-7173-48FE-8AB2-DD602A145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2555" y="2902625"/>
            <a:ext cx="5424989" cy="308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50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28808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시간의 가치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고속철도 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여행에 소요되는 시간의 단축이 편익의 거의 전부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시간의 가치가 얼마인지 알아야 이 사업에서 예상되는 편익을 제대로 계산해 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단순한 소비자선택모형에 따르면 사람들은 여가의 주관적 가치가 추가로 일했을 때 벌어들이는 소득과 같아질 때까지 일할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이로부터 어떤 사람이 얻을 수 있는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임금률이 그에게는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단위시간의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가치가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시간당 임금률에 절약된 시간의 크기를 곱하면 공공사업으로  인한 편익 계산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00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1948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임금률로 시간의 가치를 측정하려 할 때 주의점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소비자선택모형은 노동시간의 선택이 자유로운 상황을 가정하고 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사람에 따라서 노동시간의 선택이 자유롭지 않은 경우도 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일에 따르는 비금전적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(non-monetary)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이득 때문에 임금률이 시간의 진정한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평가액과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시간의 가치를 평가할 수 있는 다른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서로 다른 시간이 소요되는 여러 교통수단 사이에서 사람들이 어떤 선택을 하고 있는지 관찰하고 이를 통해 시간의 가치를 추정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237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1514" y="1427163"/>
            <a:ext cx="788670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생명의 가치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결과 생명을 구해낼 수 있다면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생명의 가치가 얼마인지  알아야 그 사업의 편익을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윤리적인 관점에서 보면 사람의 생명이 무한한 가치를 갖지만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경제학적 관점에서 보면 특정한 가치를 가질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경제학자의 관점에서 볼 때 생명의 가치를 측정하는 문제는 매우    중요한 의미를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ko-KR" altLang="en-US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생명과는 별도로 건강이 개선되거나 악화되는 것의 가치를    평가해야 하는 경우도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질을 개선하는 공공사업의 편익은 사람들의 건강이 개선되는 형태로 주로 나타나며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 개선의 화폐적 가치를 알아야만 이 공공사업의 편익을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022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91648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그 밖의 무형적 편익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우주탐험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프로그램으로 인한 국위 선양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군 장비 현대화사업에 의한    방위력 증대 같은 무형적 편익은 어떤 방법을 쓰더라도 다수의 공감을 얻을 수 있는 평가를 내리기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편익의 평가가 어려운 상황이라면 비용편익분석을 포기하고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우회적인 방법을 사용할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비용효율성분석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(cost effectiveness analysis)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목표를    주어진 것으로 간주하고 이를 달성할 수 있는 여러 대안 중 가장 적은  비용으로 달성할 수 있는 것을 찾아내는 접근방법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647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사망확률을 줄이기 위해 일정한 금액을 지불할 용의를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금액의 돈과 사망 확률의 감소가 맞바꿔질 수 있다는 사실에서 생명의 가치가 측정될 수 있는 단서가 제공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(value of a statistical life : VSL)</a:t>
            </a:r>
          </a:p>
          <a:p>
            <a:pPr marL="685800" lvl="2" indent="0">
              <a:lnSpc>
                <a:spcPct val="10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 측정방식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인적자본 접근법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0350"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0350">
              <a:lnSpc>
                <a:spcPct val="10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인적자본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(human capital)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접근법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죽음으로 인해 상실된 소득으로 평가하는 방법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생명의 가치를 과소평가할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노동시장에 참여하지 않는 사람들의 생명의 가치를 측정할 때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4058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4899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지불의사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(willingness-to-pay)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접근법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안정성의 증대를 위해 지불할 용의가 있는 금액을 측정해   생명의 가치를 평가하는 방법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설문조사를 통해 사람들의 지불의사를 직접적으로 묻는 방법은        사람들의 대답이 왜곡될 수 있다는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현시된 선호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(revealed preference)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기초해 통계적 생명의 가치를 측정하는 방법이 많이 사용됨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화재경보기 구입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비싸지만 안전한 차량 구입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광부나 스턴트맨 등 위험성이 높은 직종의 사람들이 받는 보수 등을 통해 사람들이       사망확률을 변화시키기 위해 지불할 용의가 있는 금액을 추정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412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108026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Aft>
                    <a:spcPts val="4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현실에서는 보상임금격차를 통해 통계적 생명의 가치를 측정하는 방법이 가장 많이 사용됨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사망의 확률이 높은 직종에 더 많은 임금을 지급하는 것이 보통인데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추가적 임금이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보상임금격차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(compensating wage differential)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  <a:spcAft>
                    <a:spcPts val="400"/>
                  </a:spcAft>
                  <a:tabLst>
                    <a:tab pos="1887538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 추정식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직종과 관련된 사망 위험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임금에 영향을 주는 위험 이외의 다른 요소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  <a:spcAft>
                    <a:spcPts val="400"/>
                  </a:spcAft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추정식의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계수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값이 보상임금격차와 밀접한 관련을 갖고     있으며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통해 통계적 생명의 가치를 측정할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사람들이 직업을 선택할 때 위험에 대해 잘 모르거나 이를 무시하려는 경향이 있기 때문에 생명의 가치를 과소평가할 가능성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108026" cy="4754563"/>
              </a:xfrm>
              <a:blipFill>
                <a:blip r:embed="rId2"/>
                <a:stretch>
                  <a:fillRect l="-677" r="-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8608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3321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측정 방법에 따라 통계적 생명의 가치가 달라지며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인적자본 접근법보다 지불의사 접근법에 의해 평가된 통계적 생명의 가치가 더 높은 경향</a:t>
            </a: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BE0BF1-8A3B-4B94-9EA0-34B49434B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162" y="2343858"/>
            <a:ext cx="6780771" cy="399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94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의도적 왜곡평가의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1243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공공사업을 추진하고 있는 사람들은 이로 인한 부차적 편익을     강조해 더욱 바람직한 프로그램으로 보이게 만들려는 경향을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고속도로 건설을 추진하는 측은 여행시간의 단축이라는 직접적 편익 외에도 여행객 증가로 인한 지역주민의 소득 증대라는 부차적 편익까지 내세워 사업의 타당성을 부풀려 보이려고 시도할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공공사업에서 나오는 편익의 이중계산을 통해 사업추진의 타당성을    부풀리는 경우도 종종 발견할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간척사업을 평가할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인한 농산물 생산의 증가를 편익으로 계산한 다음 조성된 농업용 토지의 가격을 또 다른 편익으로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의도적 왜곡평가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비용편익분석이 제대로 되었는지를 검증할 때 가장 신경을 써야 할 부분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6322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분배측면의 고려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2880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소득재분배를 명백히 지향하고 수행되는 공공사업의 경우에는 이로 인해 발생하는 분배상의 변화가 중요한 관심사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분배적 효과를 고려하여 타당성 평가한다면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소득계층별로 다른 분배가중치를 적용해 계층별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순편익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조정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분배가중치 사용의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상이한 계층의 가중치를 어느 정도로 다르게 만들어야 하는지에 대해서 의견의 일치를 보기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분배상의 고려를 반영하는 가중치 선정의 객관적 근거가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측면을 평가에 포함시키면 필요한 정보의 양이 매우 많아짐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평가과정에서 분배적인 고려를 하지 않을 수는 없지만 분배가중치를 적용하는 방법으로 이를 수행하는 것은 신중을 요함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5807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12.5 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올바른 평가를 위해서는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discount rate)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적절한 선택이 매우 중요한 과제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투자계획 평가에 적용될 할인율의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그것의 수행에   소요된 자금의 기간당 기회비용을 계산해 할인율로 사용하면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경우는 다양한 사회적 목표를 추구하고 있기 때문에        이보다 훨씬 더 많은 요소들을 고려해 할인율을 선택해야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626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 준한 사회적 할인율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가지의 대안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 투자의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</a:t>
            </a:r>
          </a:p>
          <a:p>
            <a:pPr marL="444500" lvl="1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 투자에 쓰일 돈이 공공사업에 투입된 경우에는 그 기회비용에 해당하는 민간부문의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수익률이 적절한 할인율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 혹은 소비자이자율</a:t>
            </a: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소비에 쓰였을 자금이 공공사업에 투입되는 경우라면   할인율은 소비자의 시간선호율이 되어야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시점간 자원배분 과정에서 최적배분을 달성했다면 소비자의 시간   선호율은 소비자이자율과 같아지고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균형상태 있다면 소비자이자율은 다시 민간부문 투자의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수익률과 일치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005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 준한 사회적 할인율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162060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(3)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양자의 가중평균</a:t>
                </a:r>
                <a:endParaRPr lang="ko-KR" altLang="en-US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공공사업에 쓰인 자금 중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1/4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민간부문의 투자로 쓰였을 돈이고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3/4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소비로 충당되었을 돈이라면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수익률의 가중평균치가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할인률로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사용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투자의 잠재가격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(shadow price of investment)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활용할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투자의 잠재가격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투자된 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원에 의해 미래에 발생될 수익의 흐름을 현재가치로 평가한 것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큰 값을 가지며 투자로 쓰일 자금에 이 값을 곱하면 실질적인 의미에서 소비의 단위로 환산된 결과가 나옴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같이 공공사업에 투입된 모든 자금을 소비 단위로 통일하고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자금이 민간부문의 소비에 전용된 경우에 준해 시간선호율을 할인율로 적용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162060" cy="4754563"/>
              </a:xfrm>
              <a:blipFill>
                <a:blip r:embed="rId2"/>
                <a:stretch>
                  <a:fillRect l="-672" r="-7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5876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할인율의 도출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80458"/>
            <a:ext cx="811218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경우는 사회성을 중시해야 하기 때문에 사회적 관점에서 본 자금의 기회비용이라는 개념을 고려해 사회적 할인율을 적용하자는 견해 </a:t>
            </a:r>
            <a:r>
              <a:rPr lang="ko-KR" altLang="en-US" dirty="0"/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사회적인 할인율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관점을 명백하게 반영시킨 할인율이라는  의미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할인율은 민간부문에 적용되는 할인율보다 낮아야 한다는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공공사업은 미래 세대에 미칠 영향까지 감안해 평가되어야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개인들이 본질적으로 근시안적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(myopic)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의사결정을 내리므로    이를 교정해 줄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공공사업은 이로운 외부효과를 창출하므로 낮은 할인율을 적용해 공공사업이 적정한 수준에서 수행되도록 배려해야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할인율이 어떻게 도출되어야 하며 얼마나 낮아야 하는지에 대해서는 구체적 근거 찾기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975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5928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위험성이 개재된 공공사업을 평가할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위험성이 전혀 없는 사업보다 더 높은 할인율을 적용해야 한다는 주장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비용이 주로 초기에 발생하고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편익은 장기간에 걸쳐     비교적 고른 흐름으로 발생한다는 암묵적 전제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미래에 생길 편익에 높은 할인율을 적용하여 현재가치를 작게 만드는 것을 통해 위험성에 대한 조정을 할 수 있다는 생각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스티글리츠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Stiglitz)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할인율을 통해 위험성에 대한 조정을 하는 것은 바람직하지 않다고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할인율은 어디까지나 미래의 가치를 현재가치로 전환하는 수단일 뿐이며 위험성에 대한 조정의 역할에 사용되어서는 안 된다고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7895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통한 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91346"/>
            <a:ext cx="8083088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개념을 불확실성이 있는 공공사업 평가에 활용할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18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(certainty equivalents)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불확실한 편익이나 비용에 대하여        이와 동일한 효용을 주는 확실한 편익이나 비용의 가치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위험기피적인 경우 불확실한 편익에 대한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확실대등액은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 편익의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기대값보다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낮게 나타남 ⇒ 위험에 대한 할인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위험성이 개재된 공공사업을 평가할 때 불확실한 비용이나 편익에 적절한 위험할인을 하여 확실대등액으로 바꾼 다음 이 수치들을 가지고 보통의 공공사업을 평가할 때와 똑같은 단계를 밟음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문제는 공공사업과 관련된 위험성을 어떻게 평가해야 하느냐에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시장이 존재하지 않는 불확실한 편익의 경우 이에 대한 평가가 어려움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위험성을 제대로 평가하기 위해서는 비용과 편익의 확률분포를 잘 알고 있어야 하는데 이는 현실적으로 불가능함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7445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12.7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5928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치칠니스키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Chichilnisky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일기예보에 비유해 비용편익분석을    어떻게 받아들여야 하는지 설명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유용한 정보를 주지만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잘못된 정보도 줄 수 있다는 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비용과 편익을 어느 가격에 의해 평가하느냐에 따라 쉽게 분석 결과가 뒤집어질 수 있음을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할인율을 어떤 수준으로 정하느냐에 따라 분석 결과가 크게   달라질 수 있다는 사실도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비용편익분석을 정직하게 수행한다 해도 객관적으로 타당한 비용편익분석의 결과를 얻기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의도적인 왜곡평가를 하려는 유인이 강하게 존재하기    때문에 문제가 더욱 심각해짐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646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 사례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새만금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간척사업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전형적 편익 부풀리기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한반도대운하사업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환경오염으로 인한 사회적 비용 반영 미흡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1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대강 정비사업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비용편익분석조차 이루어지지 않았음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549158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3482</TotalTime>
  <Words>2901</Words>
  <Application>Microsoft Office PowerPoint</Application>
  <PresentationFormat>화면 슬라이드 쇼(4:3)</PresentationFormat>
  <Paragraphs>397</Paragraphs>
  <Slides>38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12.1  민간부문의 비용편익분석</vt:lpstr>
      <vt:lpstr>현재가치법</vt:lpstr>
      <vt:lpstr>현재가치법</vt:lpstr>
      <vt:lpstr>내부수익률법</vt:lpstr>
      <vt:lpstr>내부수익률법</vt:lpstr>
      <vt:lpstr>편익-비용비율법</vt:lpstr>
      <vt:lpstr>편익-비용비율법</vt:lpstr>
      <vt:lpstr>12.2  공공부문의 비용편익분석</vt:lpstr>
      <vt:lpstr>공공사업의 여러 가지 목표</vt:lpstr>
      <vt:lpstr>공공사업의 여러 가지 목표</vt:lpstr>
      <vt:lpstr>12.3  편익과 비용의 평가기준</vt:lpstr>
      <vt:lpstr>편익과 비용의 평가기준 : 시장가격</vt:lpstr>
      <vt:lpstr>편익과 비용의 평가기준 : 잠재가격</vt:lpstr>
      <vt:lpstr>편익과 비용의 평가기준 : 조정된 시장가격</vt:lpstr>
      <vt:lpstr>PowerPoint 프레젠테이션</vt:lpstr>
      <vt:lpstr>PowerPoint 프레젠테이션</vt:lpstr>
      <vt:lpstr>PowerPoint 프레젠테이션</vt:lpstr>
      <vt:lpstr>12.4  특수한 상황에서의 편익과 비용의 평가</vt:lpstr>
      <vt:lpstr>시장가격이 변화하는 경우</vt:lpstr>
      <vt:lpstr>시장에서 거래되지 않는 것의 평가</vt:lpstr>
      <vt:lpstr>시장에서 거래되지 않는 것의 평가</vt:lpstr>
      <vt:lpstr>시장에서 거래되지 않는 것의 평가</vt:lpstr>
      <vt:lpstr>시장에서 거래되지 않는 것의 평가</vt:lpstr>
      <vt:lpstr>통계적 생명의 가치</vt:lpstr>
      <vt:lpstr>통계적 생명의 가치</vt:lpstr>
      <vt:lpstr>통계적 생명의 가치</vt:lpstr>
      <vt:lpstr>통계적 생명의 가치</vt:lpstr>
      <vt:lpstr>의도적 왜곡평가의 문제</vt:lpstr>
      <vt:lpstr>분배측면의 고려</vt:lpstr>
      <vt:lpstr>12.5  사회적 할인율</vt:lpstr>
      <vt:lpstr>민간부문에 준한 사회적 할인율</vt:lpstr>
      <vt:lpstr>민간부문에 준한 사회적 할인율</vt:lpstr>
      <vt:lpstr>사회적 할인율의 도출</vt:lpstr>
      <vt:lpstr>12.6  위험성의 문제</vt:lpstr>
      <vt:lpstr>확실대등액을 통한 조정</vt:lpstr>
      <vt:lpstr>12.7  현실의 비용편익분석</vt:lpstr>
      <vt:lpstr> 현실의 비용편익분석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967</cp:revision>
  <dcterms:created xsi:type="dcterms:W3CDTF">2015-08-04T05:38:00Z</dcterms:created>
  <dcterms:modified xsi:type="dcterms:W3CDTF">2026-01-13T00:53:26Z</dcterms:modified>
</cp:coreProperties>
</file>