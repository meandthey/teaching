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9"/>
  </p:notesMasterIdLst>
  <p:handoutMasterIdLst>
    <p:handoutMasterId r:id="rId30"/>
  </p:handoutMasterIdLst>
  <p:sldIdLst>
    <p:sldId id="318" r:id="rId2"/>
    <p:sldId id="259" r:id="rId3"/>
    <p:sldId id="315" r:id="rId4"/>
    <p:sldId id="308" r:id="rId5"/>
    <p:sldId id="316" r:id="rId6"/>
    <p:sldId id="264" r:id="rId7"/>
    <p:sldId id="267" r:id="rId8"/>
    <p:sldId id="295" r:id="rId9"/>
    <p:sldId id="269" r:id="rId10"/>
    <p:sldId id="309" r:id="rId11"/>
    <p:sldId id="270" r:id="rId12"/>
    <p:sldId id="271" r:id="rId13"/>
    <p:sldId id="311" r:id="rId14"/>
    <p:sldId id="273" r:id="rId15"/>
    <p:sldId id="274" r:id="rId16"/>
    <p:sldId id="275" r:id="rId17"/>
    <p:sldId id="277" r:id="rId18"/>
    <p:sldId id="279" r:id="rId19"/>
    <p:sldId id="280" r:id="rId20"/>
    <p:sldId id="282" r:id="rId21"/>
    <p:sldId id="283" r:id="rId22"/>
    <p:sldId id="284" r:id="rId23"/>
    <p:sldId id="285" r:id="rId24"/>
    <p:sldId id="312" r:id="rId25"/>
    <p:sldId id="313" r:id="rId26"/>
    <p:sldId id="314" r:id="rId27"/>
    <p:sldId id="317" r:id="rId2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6D98F-E22B-4688-B405-E0ED5F4621B0}" v="21" dt="2026-01-09T02:04:19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custSel modSld">
      <pc:chgData name="영완 전" userId="94a232b962f42e62" providerId="LiveId" clId="{862E7F7D-119D-4717-AD52-91020921814B}" dt="2026-01-09T02:04:20.336" v="97" actId="14100"/>
      <pc:docMkLst>
        <pc:docMk/>
      </pc:docMkLst>
      <pc:sldChg chg="modSp mod">
        <pc:chgData name="영완 전" userId="94a232b962f42e62" providerId="LiveId" clId="{862E7F7D-119D-4717-AD52-91020921814B}" dt="2026-01-09T01:56:19.121" v="11" actId="313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1:56:19.121" v="11" actId="313"/>
          <ac:spMkLst>
            <pc:docMk/>
            <pc:sldMk cId="1907375292" sldId="259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1:56:59.964" v="20" actId="20577"/>
        <pc:sldMkLst>
          <pc:docMk/>
          <pc:sldMk cId="3566598668" sldId="264"/>
        </pc:sldMkLst>
        <pc:spChg chg="mod">
          <ac:chgData name="영완 전" userId="94a232b962f42e62" providerId="LiveId" clId="{862E7F7D-119D-4717-AD52-91020921814B}" dt="2026-01-09T01:56:59.964" v="20" actId="20577"/>
          <ac:spMkLst>
            <pc:docMk/>
            <pc:sldMk cId="3566598668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7:27.212" v="23" actId="20577"/>
        <pc:sldMkLst>
          <pc:docMk/>
          <pc:sldMk cId="1448919472" sldId="267"/>
        </pc:sldMkLst>
        <pc:spChg chg="mod">
          <ac:chgData name="영완 전" userId="94a232b962f42e62" providerId="LiveId" clId="{862E7F7D-119D-4717-AD52-91020921814B}" dt="2026-01-09T01:57:27.212" v="23" actId="20577"/>
          <ac:spMkLst>
            <pc:docMk/>
            <pc:sldMk cId="1448919472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8:12.347" v="29" actId="20577"/>
        <pc:sldMkLst>
          <pc:docMk/>
          <pc:sldMk cId="2859377647" sldId="270"/>
        </pc:sldMkLst>
        <pc:spChg chg="mod">
          <ac:chgData name="영완 전" userId="94a232b962f42e62" providerId="LiveId" clId="{862E7F7D-119D-4717-AD52-91020921814B}" dt="2026-01-09T01:58:12.347" v="29" actId="20577"/>
          <ac:spMkLst>
            <pc:docMk/>
            <pc:sldMk cId="2859377647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58:32.590" v="34" actId="20577"/>
        <pc:sldMkLst>
          <pc:docMk/>
          <pc:sldMk cId="4061159104" sldId="271"/>
        </pc:sldMkLst>
        <pc:spChg chg="mod">
          <ac:chgData name="영완 전" userId="94a232b962f42e62" providerId="LiveId" clId="{862E7F7D-119D-4717-AD52-91020921814B}" dt="2026-01-09T01:58:32.590" v="34" actId="20577"/>
          <ac:spMkLst>
            <pc:docMk/>
            <pc:sldMk cId="4061159104" sldId="271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1:58:48.300" v="38" actId="20577"/>
        <pc:sldMkLst>
          <pc:docMk/>
          <pc:sldMk cId="1225919845" sldId="273"/>
        </pc:sldMkLst>
        <pc:spChg chg="mod">
          <ac:chgData name="영완 전" userId="94a232b962f42e62" providerId="LiveId" clId="{862E7F7D-119D-4717-AD52-91020921814B}" dt="2026-01-09T01:58:48.300" v="38" actId="20577"/>
          <ac:spMkLst>
            <pc:docMk/>
            <pc:sldMk cId="1225919845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0:00.495" v="49" actId="20577"/>
        <pc:sldMkLst>
          <pc:docMk/>
          <pc:sldMk cId="2068736836" sldId="275"/>
        </pc:sldMkLst>
        <pc:spChg chg="mod">
          <ac:chgData name="영완 전" userId="94a232b962f42e62" providerId="LiveId" clId="{862E7F7D-119D-4717-AD52-91020921814B}" dt="2026-01-09T02:00:00.495" v="49" actId="20577"/>
          <ac:spMkLst>
            <pc:docMk/>
            <pc:sldMk cId="2068736836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0:25.086" v="50" actId="14100"/>
        <pc:sldMkLst>
          <pc:docMk/>
          <pc:sldMk cId="559180642" sldId="277"/>
        </pc:sldMkLst>
        <pc:spChg chg="mod">
          <ac:chgData name="영완 전" userId="94a232b962f42e62" providerId="LiveId" clId="{862E7F7D-119D-4717-AD52-91020921814B}" dt="2026-01-09T02:00:25.086" v="50" actId="14100"/>
          <ac:spMkLst>
            <pc:docMk/>
            <pc:sldMk cId="559180642" sldId="277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2:00:59.167" v="56"/>
        <pc:sldMkLst>
          <pc:docMk/>
          <pc:sldMk cId="1596584273" sldId="282"/>
        </pc:sldMkLst>
        <pc:spChg chg="mod">
          <ac:chgData name="영완 전" userId="94a232b962f42e62" providerId="LiveId" clId="{862E7F7D-119D-4717-AD52-91020921814B}" dt="2026-01-09T02:00:59.167" v="56"/>
          <ac:spMkLst>
            <pc:docMk/>
            <pc:sldMk cId="1596584273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1:28.118" v="58" actId="14100"/>
        <pc:sldMkLst>
          <pc:docMk/>
          <pc:sldMk cId="2570306278" sldId="283"/>
        </pc:sldMkLst>
        <pc:spChg chg="mod">
          <ac:chgData name="영완 전" userId="94a232b962f42e62" providerId="LiveId" clId="{862E7F7D-119D-4717-AD52-91020921814B}" dt="2026-01-09T02:01:28.118" v="58" actId="14100"/>
          <ac:spMkLst>
            <pc:docMk/>
            <pc:sldMk cId="2570306278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1:43.896" v="64" actId="20577"/>
        <pc:sldMkLst>
          <pc:docMk/>
          <pc:sldMk cId="3927230508" sldId="285"/>
        </pc:sldMkLst>
        <pc:spChg chg="mod">
          <ac:chgData name="영완 전" userId="94a232b962f42e62" providerId="LiveId" clId="{862E7F7D-119D-4717-AD52-91020921814B}" dt="2026-01-09T02:01:43.896" v="64" actId="20577"/>
          <ac:spMkLst>
            <pc:docMk/>
            <pc:sldMk cId="3927230508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2:09.332" v="66" actId="14100"/>
        <pc:sldMkLst>
          <pc:docMk/>
          <pc:sldMk cId="2280767757" sldId="312"/>
        </pc:sldMkLst>
        <pc:spChg chg="mod">
          <ac:chgData name="영완 전" userId="94a232b962f42e62" providerId="LiveId" clId="{862E7F7D-119D-4717-AD52-91020921814B}" dt="2026-01-09T02:02:09.332" v="66" actId="14100"/>
          <ac:spMkLst>
            <pc:docMk/>
            <pc:sldMk cId="2280767757" sldId="312"/>
            <ac:spMk id="3" creationId="{00000000-0000-0000-0000-000000000000}"/>
          </ac:spMkLst>
        </pc:spChg>
        <pc:spChg chg="mod">
          <ac:chgData name="영완 전" userId="94a232b962f42e62" providerId="LiveId" clId="{862E7F7D-119D-4717-AD52-91020921814B}" dt="2026-01-09T02:02:00.673" v="65" actId="255"/>
          <ac:spMkLst>
            <pc:docMk/>
            <pc:sldMk cId="2280767757" sldId="312"/>
            <ac:spMk id="9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3:14.218" v="80" actId="20577"/>
        <pc:sldMkLst>
          <pc:docMk/>
          <pc:sldMk cId="205075070" sldId="313"/>
        </pc:sldMkLst>
        <pc:spChg chg="mod">
          <ac:chgData name="영완 전" userId="94a232b962f42e62" providerId="LiveId" clId="{862E7F7D-119D-4717-AD52-91020921814B}" dt="2026-01-09T02:03:14.218" v="80" actId="20577"/>
          <ac:spMkLst>
            <pc:docMk/>
            <pc:sldMk cId="205075070" sldId="31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3:31.148" v="81" actId="14100"/>
        <pc:sldMkLst>
          <pc:docMk/>
          <pc:sldMk cId="2208062301" sldId="314"/>
        </pc:sldMkLst>
        <pc:spChg chg="mod">
          <ac:chgData name="영완 전" userId="94a232b962f42e62" providerId="LiveId" clId="{862E7F7D-119D-4717-AD52-91020921814B}" dt="2026-01-09T02:03:31.148" v="81" actId="14100"/>
          <ac:spMkLst>
            <pc:docMk/>
            <pc:sldMk cId="2208062301" sldId="314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1:56:36.946" v="12"/>
        <pc:sldMkLst>
          <pc:docMk/>
          <pc:sldMk cId="406733876" sldId="316"/>
        </pc:sldMkLst>
        <pc:spChg chg="mod">
          <ac:chgData name="영완 전" userId="94a232b962f42e62" providerId="LiveId" clId="{862E7F7D-119D-4717-AD52-91020921814B}" dt="2026-01-09T01:56:36.946" v="12"/>
          <ac:spMkLst>
            <pc:docMk/>
            <pc:sldMk cId="406733876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04:20.336" v="97" actId="14100"/>
        <pc:sldMkLst>
          <pc:docMk/>
          <pc:sldMk cId="2667347573" sldId="317"/>
        </pc:sldMkLst>
        <pc:spChg chg="mod">
          <ac:chgData name="영완 전" userId="94a232b962f42e62" providerId="LiveId" clId="{862E7F7D-119D-4717-AD52-91020921814B}" dt="2026-01-09T02:04:20.336" v="97" actId="14100"/>
          <ac:spMkLst>
            <pc:docMk/>
            <pc:sldMk cId="2667347573" sldId="317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342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09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61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52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15</a:t>
            </a:r>
            <a:r>
              <a:rPr lang="ko-KR" altLang="en-US"/>
              <a:t>장  조세와 효율성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81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DFDFCCB-58A8-5171-A304-057DDBD3D4C7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76BAB666-1F62-5FFE-474C-D976411CB5A7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4AA88EE9-9008-A809-6181-662225386365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3D67D421-2F3C-AD0F-CA41-91EEA32F4BB4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15</a:t>
            </a:r>
            <a:r>
              <a:rPr lang="ko-KR" altLang="en-US"/>
              <a:t>장  조세와 효율성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440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15</a:t>
            </a:r>
            <a:r>
              <a:rPr lang="ko-KR" altLang="en-US"/>
              <a:t>장  조세와 효율성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57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15</a:t>
            </a:r>
            <a:r>
              <a:rPr lang="ko-KR" altLang="en-US"/>
              <a:t>장  조세와 효율성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9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15</a:t>
            </a:r>
            <a:r>
              <a:rPr lang="ko-KR" altLang="en-US"/>
              <a:t>장  조세와 효율성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04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8D2F6-1177-FA02-5A00-DE8B0EDA4C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D992D6-2256-75BE-0B44-D4D7B59F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A951010D-3574-CE78-379C-ACDBC6320B54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C206A29-591A-4773-8D3D-425DC4B4C4DE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8988A4C-CD4C-DB96-F089-5DAA1911D2A2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5D4D707-545C-75CE-F618-434BDC903C13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FD6E24BE-D652-BE91-1CB2-E19D47EBEECC}"/>
              </a:ext>
            </a:extLst>
          </p:cNvPr>
          <p:cNvSpPr txBox="1">
            <a:spLocks/>
          </p:cNvSpPr>
          <p:nvPr/>
        </p:nvSpPr>
        <p:spPr>
          <a:xfrm>
            <a:off x="4389120" y="140208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15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효율성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914927F-92A5-0080-C5AC-A2BD0D25FBCC}"/>
              </a:ext>
            </a:extLst>
          </p:cNvPr>
          <p:cNvSpPr txBox="1">
            <a:spLocks/>
          </p:cNvSpPr>
          <p:nvPr/>
        </p:nvSpPr>
        <p:spPr>
          <a:xfrm>
            <a:off x="4389120" y="369765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물품세의 초과부담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중립세의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실증분석</a:t>
            </a:r>
          </a:p>
        </p:txBody>
      </p:sp>
    </p:spTree>
    <p:extLst>
      <p:ext uri="{BB962C8B-B14F-4D97-AF65-F5344CB8AC3E}">
        <p14:creationId xmlns:p14="http://schemas.microsoft.com/office/powerpoint/2010/main" val="400158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징수되는 과정에서 납세자들이 실제로 지게 되는 부담의 크기는 세금으로 납부한 것보다 더 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(excess burden)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민간부문의 의사결정을 교란해   발생하는 효율성의 상실로 인해 납세자가 지는 추가적 부담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lnSpc>
                    <a:spcPct val="130000"/>
                  </a:lnSpc>
                  <a:buNone/>
                </a:pPr>
                <a:r>
                  <a:rPr lang="en-US" altLang="ko-KR" sz="4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342900" lvl="1" indent="0">
                  <a:lnSpc>
                    <a:spcPct val="130000"/>
                  </a:lnSpc>
                  <a:buNone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=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가져오는 실제의 부담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 징수액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lnSpc>
                    <a:spcPct val="130000"/>
                  </a:lnSpc>
                  <a:buNone/>
                </a:pPr>
                <a:endParaRPr lang="en-US" altLang="ko-KR" sz="4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자중손실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’(deadweight loss)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혹은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후생비용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’(welfare cost)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으로도   불림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초과부담에 대해 두 가지 접근방향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특정한 조세를 고려 대상으로 삼아 초과부담의 크기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나라의 조세제도 전체를 대상으로 삼아 초과부담의 크기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998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spcBef>
                    <a:spcPts val="0"/>
                  </a:spcBef>
                  <a:spcAft>
                    <a:spcPts val="2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초과부담은 효율적 자원배분의 조건이 충족될 수 없기 때문에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50000"/>
                  </a:lnSpc>
                  <a:spcBef>
                    <a:spcPts val="0"/>
                  </a:spcBef>
                  <a:spcAft>
                    <a:spcPts val="2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자원배분의 효율성 조건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한계대체율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𝑴𝑹𝑺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한계생산변환율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𝑴𝑷𝑻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745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+mn-ea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생산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·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소비되는 상황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완전경쟁 상황에서는 다음과 같이 효율성 조건 충족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spcBef>
                    <a:spcPts val="0"/>
                  </a:spcBef>
                  <a:spcAft>
                    <a:spcPts val="2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쌀에만 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부과되면 효율성 조건이 달성되지 못함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b>
                            </m:s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73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발생원인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비효율성은 조세가 가격구조를 교란하기 때문에 발생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때문에 소비자가 인식하는 쌀 가격이 그것을 생산하는 데    드는 자원비용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𝑴𝑪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근로소득세의 부과는 임금률에 변화를 가져와 여가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사이의 선택에 교란을 일으켜 비효율성 초래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여가와 소득 사이의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한계대체율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𝑴𝑻𝑺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여가와 소득 사이의 한계생산변환율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세금부과 전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en-US" altLang="ko-KR" spc="-113" dirty="0"/>
                  <a:t>⇒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충족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세금부과  후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 spc="-113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pc="-113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113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 spc="-113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e>
                    </m:d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113" dirty="0"/>
                  <a:t>⇒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위배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59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15.2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74775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부분균형적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접근방법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시장에서 공급자에게 물품세가 부과되는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공급곡선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수평선의 모양을 갖는다고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보상수요곡선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(compensated demand curve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우하향하는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모양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초과부담을 분석하기 위해서는 소득효과가 제거된 보상수요곡선을   사용해야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74775" cy="4754563"/>
              </a:xfrm>
              <a:blipFill>
                <a:blip r:embed="rId2"/>
                <a:stretch>
                  <a:fillRect l="-679" r="-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891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 공급곡선의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가격의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소비량의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소비자잉여의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𝑮𝑯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𝑰𝑯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순손실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△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𝑰𝑮</m:t>
                    </m:r>
                  </m:oMath>
                </a14:m>
                <a:endParaRPr lang="en-US" altLang="ko-KR" sz="24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897" b="-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7C88E7-9C01-4E46-84C1-FDE02A108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5416" y="2512253"/>
            <a:ext cx="5476168" cy="324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defTabSz="627063">
                  <a:lnSpc>
                    <a:spcPct val="150000"/>
                  </a:lnSpc>
                  <a:spcAft>
                    <a:spcPts val="25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𝒕𝑷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den>
                        </m:f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𝑷𝑸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거래액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초과부담은 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수요의 가격탄력성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상품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거래액이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클수록 더욱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272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시장차원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2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 크기는 수요의 가격탄력성에 따라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spcAft>
                    <a:spcPts val="25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점을 기준으로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보다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가격탄력성이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작음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spcBef>
                    <a:spcPts val="750"/>
                  </a:spcBef>
                  <a:spcAft>
                    <a:spcPts val="2500"/>
                  </a:spcAft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수요곡선이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</m:s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인 경우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초과부담이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더 작게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AFC05EE-97BD-43CC-98FD-F8F9D914A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8950" y="2652114"/>
            <a:ext cx="5710014" cy="322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일정한 조세수입을 얻는 과정에서 발생하는 초과부담이 클수록 상대적으로 더욱 비효율적임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(coefficient of inefficiency)</a:t>
                </a:r>
                <a:b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b="1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초과부담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b="1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조세수입</m:t>
                        </m:r>
                      </m:den>
                    </m:f>
                    <m:r>
                      <a:rPr lang="en-US" altLang="ko-KR" b="1">
                        <a:latin typeface="Cambria Math" panose="02040503050406030204" pitchFamily="18" charset="0"/>
                        <a:ea typeface="+mn-ea"/>
                      </a:rPr>
                      <m:t>=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444500" lvl="1" indent="-190500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상실률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’(efficiency-loss ratio)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이라고도 불림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90500"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비효율성계수는 세율과 수요의 가격탄력성에 따라 비례적으로 커짐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공급곡선이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우상향하면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물품세의 초과부담은 수요뿐 아니라 공급의   탄력성에도 영향을 받음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37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소주에 물품세가 부과되고 있는 상황에서 막걸리에 물품세를    부과할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막걸리에 대한 물품세 부과로 대체관계에 있는 소주의 수요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소주의 소비량이 늘어나면서 사회적 순편익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0"/>
              </a:spcBef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증가한 사회적 순편익은 막걸리에 대한 물품세의 초과부담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인한 후생손실을 어느 정도 상쇄하는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15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막걸리에 대한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막걸리시장에서의 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𝑨𝑩𝑪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Bef>
                    <a:spcPts val="0"/>
                  </a:spcBef>
                  <a:spcAft>
                    <a:spcPts val="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소주시장에서의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후생증가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𝑭𝑮𝑯𝑰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spcBef>
                    <a:spcPts val="0"/>
                  </a:spcBef>
                  <a:spcAft>
                    <a:spcPts val="2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40000"/>
                  </a:lnSpc>
                  <a:spcBef>
                    <a:spcPts val="0"/>
                  </a:spcBef>
                  <a:spcAft>
                    <a:spcPts val="500"/>
                  </a:spcAft>
                  <a:buFont typeface="Wingdings" panose="05000000000000000000" pitchFamily="2" charset="2"/>
                  <a:buChar char="§"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물품세 부과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A70438-C575-489E-B855-F0C6F4CE7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6646" y="2621549"/>
            <a:ext cx="6470708" cy="3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77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상품에 각각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세율로 물품세가 동시에 부과되는 경우의     초과부담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nary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4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개별 상품에 부과된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초과부담 산식을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𝒏</m:t>
                    </m:r>
                  </m:oMath>
                </a14:m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상품의 경우로 바로 일반화할 수 있다는 의미</a:t>
                </a:r>
                <a:endPara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40000"/>
                  </a:lnSpc>
                  <a:spcAft>
                    <a:spcPts val="500"/>
                  </a:spcAft>
                  <a:buNone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여러 상품에 물품세 부과</a:t>
            </a:r>
          </a:p>
        </p:txBody>
      </p:sp>
    </p:spTree>
    <p:extLst>
      <p:ext uri="{BB962C8B-B14F-4D97-AF65-F5344CB8AC3E}">
        <p14:creationId xmlns:p14="http://schemas.microsoft.com/office/powerpoint/2010/main" val="122591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3204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옷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소비하는 소비자에 대해 쌀에만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spcAft>
                    <a:spcPts val="1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800"/>
                  </a:spcAft>
                  <a:buNone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/>
                  <a:t>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𝑨𝑪</m:t>
                    </m:r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  <a:spcAft>
                    <a:spcPts val="1800"/>
                  </a:spcAft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 후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선택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8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옷의 단위로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측정한 세금의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𝑳𝑬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3204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A0EE07-4E91-47C3-8FAF-C7C33B71E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7987" y="2643480"/>
            <a:ext cx="5488767" cy="327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153746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물품세의 초과부담의 크기를 확인하기 위해 물품세와 동일한 효용의 변화를 가져오는 소득의 변화를 고려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이러한 소득의 변화로 인한 새로운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𝑯𝑰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옷의 단위로 환산한 소득의 감소분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𝑴𝑬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′′(=</m:t>
                    </m:r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𝑳𝑵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(equivalent variation)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동일한 소비자의 후생 변화를 가져오는 소득의 변화</a:t>
                </a: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관련된 소득의 대등변화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수입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𝑳𝑬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선분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길이만큼 더 큼 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𝑵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초과부담의 크기로 이해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153746" cy="4754563"/>
              </a:xfrm>
              <a:blipFill>
                <a:blip r:embed="rId2"/>
                <a:stretch>
                  <a:fillRect l="-673" r="-6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736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79179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물품세와 같은 조세수입을 올리는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도입하고 소비자 효용을 비교해 물품세의 초과부담을 설명할 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중립세가 부과되면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원래의 예산선과 똑같은 기울기를 가지며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지나야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경우 소비자는 효용이 극대화된 점에서 물품세의 경우보다 더 높은 효용을 누리게 되는 것을 확인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Aft>
                    <a:spcPts val="10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중립세와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소비자가 누리는 효용의 차이를 물품세로 인한 초과부담으로 이해할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79179" cy="4754563"/>
              </a:xfrm>
              <a:blipFill>
                <a:blip r:embed="rId2"/>
                <a:stretch>
                  <a:fillRect l="-688" r="-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18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쌀과 옷이 완전히 보완적인 경우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L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 모양의 무차별곡선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8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가격변화에서 나오는 대체효과는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</a:p>
              <a:p>
                <a:pPr marL="266700" indent="-266700">
                  <a:spcAft>
                    <a:spcPts val="18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부과와 관련된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대등변화와 조세수입이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𝑹𝑺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길이로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서로 같음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/>
                  <a:t>⇒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물품세의 초과부담은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대체효과에 기인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EF4821-8BCE-466E-954D-7EF0A94A8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1832" y="2770161"/>
            <a:ext cx="5253049" cy="321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58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보상된 노동공급곡선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(compensated labor supply curve)</a:t>
                </a: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5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수평의 노동수요곡선 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근로소득세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부과되면 다음의 효과들이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300"/>
                  </a:spcAft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공급곡선은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이동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노동량의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en-US" altLang="ko-KR" sz="2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 공급자의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잉여 감소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𝑭𝑮𝑯𝑰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𝑭𝑮𝑯𝑱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크기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ko-KR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𝒘𝑳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A0887A-D381-4FC4-97D3-5A6E85CFA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36824" y="2803268"/>
            <a:ext cx="5194913" cy="31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0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차원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39336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177800" indent="-177800">
                  <a:buFont typeface="Wingdings" panose="05000000000000000000" pitchFamily="2" charset="2"/>
                  <a:buChar char="§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시간당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임금을 받는 근로자에게 세율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근로소득세를 부과하면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순임금률은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e>
                    </m:d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감소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→</m:t>
                    </m:r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→</m:t>
                    </m:r>
                    <m:sSup>
                      <m:sSupPr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𝑮</m:t>
                        </m:r>
                        <m:sSup>
                          <m:sSup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𝑨𝑫</m:t>
                        </m:r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acc>
                    <m:r>
                      <a:rPr lang="en-US" altLang="ko-KR" b="1" i="1" spc="-113">
                        <a:latin typeface="Cambria Math" panose="02040503050406030204" pitchFamily="18" charset="0"/>
                      </a:rPr>
                      <m:t>(=</m:t>
                    </m:r>
                    <m:acc>
                      <m:accPr>
                        <m:chr m:val="̅"/>
                        <m:ctrlP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 spc="-113" smtClean="0">
                            <a:latin typeface="Cambria Math" panose="02040503050406030204" pitchFamily="18" charset="0"/>
                          </a:rPr>
                          <m:t>𝑮𝑭</m:t>
                        </m:r>
                      </m:e>
                    </m:acc>
                    <m:r>
                      <a:rPr lang="en-US" altLang="ko-KR" b="1" i="1" spc="-113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177800" indent="-177800">
                  <a:buFont typeface="Arial" panose="020B0604020202020204" pitchFamily="34" charset="0"/>
                  <a:buChar char="•"/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크기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13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i="1" spc="-113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ko-KR" b="1" i="1" spc="-113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b="1" i="1" spc="-113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39336"/>
                <a:ext cx="7886700" cy="4754563"/>
              </a:xfrm>
              <a:blipFill>
                <a:blip r:embed="rId2"/>
                <a:stretch>
                  <a:fillRect l="-696" r="-2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CA98C7-7CF1-41E8-8A12-8C11A2457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4180" y="2962339"/>
            <a:ext cx="5222510" cy="311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84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15.4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7893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완벽하게 갖춘 조세를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환경하에서는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조세라도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복잡한 상황에서는 중립세의 성격을 잃게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조세를 찾았다 해도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그것을 채택하는 것이 바람직하다고 말할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중립세가 바람직하다는 것은 오직 효율성의 관점에서 적용되는 말이며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공평성의 측면에서 볼 때는 나쁜 조세가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0306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중립성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2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옷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2000"/>
                  </a:spcAft>
                  <a:tabLst>
                    <a:tab pos="982663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효율성 조건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여가를 과세대상에서 제외하는 소득세제 아래서는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𝑴𝑹𝑺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𝑴𝑷𝑻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성립하므로 이러한 소득세제는 더 이상 중립세가 될 수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7336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수요량의 변화와 초과부담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수요곡선하에서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물품세 부과 결과 수요량에 아무런 변화가     없다고 해서 물품세의 초과부담이 없다고 판단해서는 안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수요량이 불변이라도 초과부담의 원인이 되는 대체효과는 존재하기  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수요량이 불변으로 나타난 것은 소득효과와 대체효과가 서로 상쇄된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7230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008274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6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쌀에 대한 물품세 부과 후 소비자의 쌀 수요량은 불변이라도 초과부담은 존재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물품세로 인한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조세수입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𝑬𝑬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대등변화에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해당하는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소득변화의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𝑬𝑽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초과부담의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′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𝑽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008274" cy="4754563"/>
              </a:xfrm>
              <a:blipFill>
                <a:blip r:embed="rId2"/>
                <a:stretch>
                  <a:fillRect l="-685" r="-685" b="-10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문제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수요량의 변화와 초과부담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AF1F62-E334-4C9B-B586-DBC723093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8678" y="2758188"/>
            <a:ext cx="5585456" cy="316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67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실증분석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850333" cy="4754563"/>
          </a:xfrm>
        </p:spPr>
        <p:txBody>
          <a:bodyPr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근로소득세의 초과부담</a:t>
            </a: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(H. Rosen)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근로소득세의 초과부담이 조세수입의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0.9%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수준이라는 분석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하우스먼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Hausman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근로소득세의 초과부담이 조세수입의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22.1%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되며 이 중 상당 부분은 누진세율구조에 기인한다는         분석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자본소득세의 초과부담</a:t>
            </a: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Feldstein)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자본소득에 대한 과세가 현재소비와   미래소비 사이의 선택에 교란을 가져온다는 데 주목하고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자본소득 과세로 인한 초과부담의 규모가 총저축의 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이른다고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주장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7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671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다음의 두 가지 접근방법 사용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609600" lvl="1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현존하는 모든 조세를 중립세로 대체한 가상적 상황에서 사회후생이 얼마나 더 높아질 수 있는가를 측정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총량적 초과부담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일반균형모형에 의해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원의 추가적인 조세수입으로부터 발생하는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한계초과부담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excess burden)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062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실증분석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전체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9055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발라드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(C. Ballard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‘계산 가능한 일반균형모형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(computable general equilibrium model ; CGE)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이용해 미국경제에서의 한계초과부담 측정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1338" lvl="1" indent="-268288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한계초과부담의 크기는 모형 속에 포함되어 있는 여러 가지 탄력성의 크기에 민감하게 반응</a:t>
            </a:r>
          </a:p>
          <a:p>
            <a:pPr marL="541338" lvl="1" indent="-268288"/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미국 조세제도하에서는 조세수입이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 증가할 때마다 최소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0.17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달러에서 최대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0.56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달러에 이르는 한계초과부담이 발생한다는 결론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효율성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7347573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4357</TotalTime>
  <Words>1595</Words>
  <Application>Microsoft Office PowerPoint</Application>
  <PresentationFormat>화면 슬라이드 쇼(4:3)</PresentationFormat>
  <Paragraphs>244</Paragraphs>
  <Slides>27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15.1  초과부담의 성격</vt:lpstr>
      <vt:lpstr>초과부담의 성격</vt:lpstr>
      <vt:lpstr>초과부담의 발생원인</vt:lpstr>
      <vt:lpstr>초과부담의 발생원인</vt:lpstr>
      <vt:lpstr>초과부담의 발생원인</vt:lpstr>
      <vt:lpstr>15.2  물품세의 초과부담</vt:lpstr>
      <vt:lpstr>물품세의 초과부담 : 시장차원</vt:lpstr>
      <vt:lpstr>물품세의 초과부담 : 시장차원</vt:lpstr>
      <vt:lpstr>물품세의 초과부담 : 시장차원</vt:lpstr>
      <vt:lpstr>물품세의 초과부담 : 시장의 차원</vt:lpstr>
      <vt:lpstr>물품세의 초과부담 : 여러 상품에 물품세 부과</vt:lpstr>
      <vt:lpstr>PowerPoint 프레젠테이션</vt:lpstr>
      <vt:lpstr>PowerPoint 프레젠테이션</vt:lpstr>
      <vt:lpstr>물품세의 초과부담 : 개인의 차원</vt:lpstr>
      <vt:lpstr>물품세의 초과부담 : 개인의 차원</vt:lpstr>
      <vt:lpstr>물품세의 초과부담 : 개인의 차원</vt:lpstr>
      <vt:lpstr>물품세의 초과부담 : 개인의 차원</vt:lpstr>
      <vt:lpstr>15.3  근로소득세의 초과부담</vt:lpstr>
      <vt:lpstr>근로소득세의 초과부담 : 개인의 차원</vt:lpstr>
      <vt:lpstr>15.4  중립세의 문제</vt:lpstr>
      <vt:lpstr>중립세의 문제 : 소득세의 중립성</vt:lpstr>
      <vt:lpstr>중립세의 문제 : 수요량의 변화와 초과부담</vt:lpstr>
      <vt:lpstr>PowerPoint 프레젠테이션</vt:lpstr>
      <vt:lpstr>15.5  초과부담의 실증분석</vt:lpstr>
      <vt:lpstr>초과부담의 실증분석 : 조세제도 전체</vt:lpstr>
      <vt:lpstr>초과부담의 실증분석 : 조세제도 전체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969</cp:revision>
  <dcterms:created xsi:type="dcterms:W3CDTF">2015-08-04T05:38:00Z</dcterms:created>
  <dcterms:modified xsi:type="dcterms:W3CDTF">2026-01-09T02:04:26Z</dcterms:modified>
</cp:coreProperties>
</file>