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5"/>
  </p:notesMasterIdLst>
  <p:handoutMasterIdLst>
    <p:handoutMasterId r:id="rId36"/>
  </p:handoutMasterIdLst>
  <p:sldIdLst>
    <p:sldId id="312" r:id="rId2"/>
    <p:sldId id="305" r:id="rId3"/>
    <p:sldId id="295" r:id="rId4"/>
    <p:sldId id="306" r:id="rId5"/>
    <p:sldId id="307" r:id="rId6"/>
    <p:sldId id="297" r:id="rId7"/>
    <p:sldId id="263" r:id="rId8"/>
    <p:sldId id="264" r:id="rId9"/>
    <p:sldId id="265" r:id="rId10"/>
    <p:sldId id="267" r:id="rId11"/>
    <p:sldId id="268" r:id="rId12"/>
    <p:sldId id="269" r:id="rId13"/>
    <p:sldId id="299" r:id="rId14"/>
    <p:sldId id="273" r:id="rId15"/>
    <p:sldId id="274" r:id="rId16"/>
    <p:sldId id="275" r:id="rId17"/>
    <p:sldId id="276" r:id="rId18"/>
    <p:sldId id="277" r:id="rId19"/>
    <p:sldId id="279" r:id="rId20"/>
    <p:sldId id="280" r:id="rId21"/>
    <p:sldId id="308" r:id="rId22"/>
    <p:sldId id="281" r:id="rId23"/>
    <p:sldId id="282" r:id="rId24"/>
    <p:sldId id="283" r:id="rId25"/>
    <p:sldId id="300" r:id="rId26"/>
    <p:sldId id="309" r:id="rId27"/>
    <p:sldId id="285" r:id="rId28"/>
    <p:sldId id="286" r:id="rId29"/>
    <p:sldId id="310" r:id="rId30"/>
    <p:sldId id="287" r:id="rId31"/>
    <p:sldId id="288" r:id="rId32"/>
    <p:sldId id="302" r:id="rId33"/>
    <p:sldId id="311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9EF5F6-2FFC-4467-A396-11D743F1D0BB}" v="3" dt="2026-01-09T05:10:35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89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1:17:11.687" v="230" actId="20577"/>
      <pc:docMkLst>
        <pc:docMk/>
      </pc:docMkLst>
      <pc:sldChg chg="modSp mod">
        <pc:chgData name="영완 전" userId="94a232b962f42e62" providerId="LiveId" clId="{862E7F7D-119D-4717-AD52-91020921814B}" dt="2026-01-09T05:03:33.593" v="61" actId="20577"/>
        <pc:sldMkLst>
          <pc:docMk/>
          <pc:sldMk cId="333882298" sldId="263"/>
        </pc:sldMkLst>
        <pc:spChg chg="mod">
          <ac:chgData name="영완 전" userId="94a232b962f42e62" providerId="LiveId" clId="{862E7F7D-119D-4717-AD52-91020921814B}" dt="2026-01-09T05:03:33.593" v="61" actId="20577"/>
          <ac:spMkLst>
            <pc:docMk/>
            <pc:sldMk cId="333882298" sldId="26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3:43.179" v="64" actId="20577"/>
        <pc:sldMkLst>
          <pc:docMk/>
          <pc:sldMk cId="3844891421" sldId="264"/>
        </pc:sldMkLst>
        <pc:spChg chg="mod">
          <ac:chgData name="영완 전" userId="94a232b962f42e62" providerId="LiveId" clId="{862E7F7D-119D-4717-AD52-91020921814B}" dt="2026-01-09T05:03:43.179" v="64" actId="20577"/>
          <ac:spMkLst>
            <pc:docMk/>
            <pc:sldMk cId="3844891421" sldId="26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5:11.488" v="83" actId="20577"/>
        <pc:sldMkLst>
          <pc:docMk/>
          <pc:sldMk cId="4224603277" sldId="265"/>
        </pc:sldMkLst>
        <pc:spChg chg="mod">
          <ac:chgData name="영완 전" userId="94a232b962f42e62" providerId="LiveId" clId="{862E7F7D-119D-4717-AD52-91020921814B}" dt="2026-01-09T05:05:11.488" v="83" actId="20577"/>
          <ac:spMkLst>
            <pc:docMk/>
            <pc:sldMk cId="4224603277" sldId="26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6:04.914" v="92" actId="20577"/>
        <pc:sldMkLst>
          <pc:docMk/>
          <pc:sldMk cId="4098003230" sldId="267"/>
        </pc:sldMkLst>
        <pc:spChg chg="mod">
          <ac:chgData name="영완 전" userId="94a232b962f42e62" providerId="LiveId" clId="{862E7F7D-119D-4717-AD52-91020921814B}" dt="2026-01-09T05:06:04.914" v="92" actId="20577"/>
          <ac:spMkLst>
            <pc:docMk/>
            <pc:sldMk cId="4098003230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6:36.106" v="94" actId="14100"/>
        <pc:sldMkLst>
          <pc:docMk/>
          <pc:sldMk cId="2272223083" sldId="268"/>
        </pc:sldMkLst>
        <pc:spChg chg="mod">
          <ac:chgData name="영완 전" userId="94a232b962f42e62" providerId="LiveId" clId="{862E7F7D-119D-4717-AD52-91020921814B}" dt="2026-01-09T05:06:36.106" v="94" actId="14100"/>
          <ac:spMkLst>
            <pc:docMk/>
            <pc:sldMk cId="2272223083" sldId="2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6:42.496" v="95" actId="20577"/>
        <pc:sldMkLst>
          <pc:docMk/>
          <pc:sldMk cId="931716047" sldId="269"/>
        </pc:sldMkLst>
        <pc:spChg chg="mod">
          <ac:chgData name="영완 전" userId="94a232b962f42e62" providerId="LiveId" clId="{862E7F7D-119D-4717-AD52-91020921814B}" dt="2026-01-09T05:06:42.496" v="95" actId="20577"/>
          <ac:spMkLst>
            <pc:docMk/>
            <pc:sldMk cId="931716047" sldId="2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8:13.166" v="107" actId="20577"/>
        <pc:sldMkLst>
          <pc:docMk/>
          <pc:sldMk cId="2324303270" sldId="273"/>
        </pc:sldMkLst>
        <pc:spChg chg="mod">
          <ac:chgData name="영완 전" userId="94a232b962f42e62" providerId="LiveId" clId="{862E7F7D-119D-4717-AD52-91020921814B}" dt="2026-01-09T05:08:13.166" v="107" actId="20577"/>
          <ac:spMkLst>
            <pc:docMk/>
            <pc:sldMk cId="2324303270" sldId="27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9:20.219" v="115" actId="20577"/>
        <pc:sldMkLst>
          <pc:docMk/>
          <pc:sldMk cId="3643615324" sldId="275"/>
        </pc:sldMkLst>
        <pc:spChg chg="mod">
          <ac:chgData name="영완 전" userId="94a232b962f42e62" providerId="LiveId" clId="{862E7F7D-119D-4717-AD52-91020921814B}" dt="2026-01-09T05:09:20.219" v="115" actId="20577"/>
          <ac:spMkLst>
            <pc:docMk/>
            <pc:sldMk cId="3643615324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1:16.295" v="170" actId="20577"/>
        <pc:sldMkLst>
          <pc:docMk/>
          <pc:sldMk cId="3837637109" sldId="277"/>
        </pc:sldMkLst>
        <pc:spChg chg="mod">
          <ac:chgData name="영완 전" userId="94a232b962f42e62" providerId="LiveId" clId="{862E7F7D-119D-4717-AD52-91020921814B}" dt="2026-01-09T05:11:16.295" v="170" actId="20577"/>
          <ac:spMkLst>
            <pc:docMk/>
            <pc:sldMk cId="3837637109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2:13.848" v="172" actId="20577"/>
        <pc:sldMkLst>
          <pc:docMk/>
          <pc:sldMk cId="2849824148" sldId="279"/>
        </pc:sldMkLst>
        <pc:spChg chg="mod">
          <ac:chgData name="영완 전" userId="94a232b962f42e62" providerId="LiveId" clId="{862E7F7D-119D-4717-AD52-91020921814B}" dt="2026-01-09T05:12:13.848" v="172" actId="20577"/>
          <ac:spMkLst>
            <pc:docMk/>
            <pc:sldMk cId="2849824148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3:26.963" v="179" actId="20577"/>
        <pc:sldMkLst>
          <pc:docMk/>
          <pc:sldMk cId="4268142763" sldId="282"/>
        </pc:sldMkLst>
        <pc:spChg chg="mod">
          <ac:chgData name="영완 전" userId="94a232b962f42e62" providerId="LiveId" clId="{862E7F7D-119D-4717-AD52-91020921814B}" dt="2026-01-09T05:13:26.963" v="179" actId="20577"/>
          <ac:spMkLst>
            <pc:docMk/>
            <pc:sldMk cId="4268142763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4:18.928" v="190" actId="20577"/>
        <pc:sldMkLst>
          <pc:docMk/>
          <pc:sldMk cId="1479889648" sldId="283"/>
        </pc:sldMkLst>
        <pc:spChg chg="mod">
          <ac:chgData name="영완 전" userId="94a232b962f42e62" providerId="LiveId" clId="{862E7F7D-119D-4717-AD52-91020921814B}" dt="2026-01-09T05:14:18.928" v="190" actId="20577"/>
          <ac:spMkLst>
            <pc:docMk/>
            <pc:sldMk cId="1479889648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6:36.971" v="201" actId="14100"/>
        <pc:sldMkLst>
          <pc:docMk/>
          <pc:sldMk cId="1656801688" sldId="285"/>
        </pc:sldMkLst>
        <pc:spChg chg="mod">
          <ac:chgData name="영완 전" userId="94a232b962f42e62" providerId="LiveId" clId="{862E7F7D-119D-4717-AD52-91020921814B}" dt="2026-01-09T05:16:36.971" v="201" actId="14100"/>
          <ac:spMkLst>
            <pc:docMk/>
            <pc:sldMk cId="1656801688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17:11.687" v="230" actId="20577"/>
        <pc:sldMkLst>
          <pc:docMk/>
          <pc:sldMk cId="3128023693" sldId="286"/>
        </pc:sldMkLst>
        <pc:spChg chg="mod">
          <ac:chgData name="영완 전" userId="94a232b962f42e62" providerId="LiveId" clId="{862E7F7D-119D-4717-AD52-91020921814B}" dt="2026-01-13T01:17:11.687" v="230" actId="20577"/>
          <ac:spMkLst>
            <pc:docMk/>
            <pc:sldMk cId="3128023693" sldId="28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27:56.433" v="227" actId="20577"/>
        <pc:sldMkLst>
          <pc:docMk/>
          <pc:sldMk cId="1317643475" sldId="287"/>
        </pc:sldMkLst>
        <pc:spChg chg="mod">
          <ac:chgData name="영완 전" userId="94a232b962f42e62" providerId="LiveId" clId="{862E7F7D-119D-4717-AD52-91020921814B}" dt="2026-01-09T05:27:56.433" v="227" actId="20577"/>
          <ac:spMkLst>
            <pc:docMk/>
            <pc:sldMk cId="1317643475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0:17.538" v="6" actId="20577"/>
        <pc:sldMkLst>
          <pc:docMk/>
          <pc:sldMk cId="4113270946" sldId="295"/>
        </pc:sldMkLst>
        <pc:spChg chg="mod">
          <ac:chgData name="영완 전" userId="94a232b962f42e62" providerId="LiveId" clId="{862E7F7D-119D-4717-AD52-91020921814B}" dt="2026-01-09T05:00:17.538" v="6" actId="20577"/>
          <ac:spMkLst>
            <pc:docMk/>
            <pc:sldMk cId="4113270946" sldId="29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2:32.878" v="56" actId="20577"/>
        <pc:sldMkLst>
          <pc:docMk/>
          <pc:sldMk cId="193030188" sldId="297"/>
        </pc:sldMkLst>
        <pc:spChg chg="mod">
          <ac:chgData name="영완 전" userId="94a232b962f42e62" providerId="LiveId" clId="{862E7F7D-119D-4717-AD52-91020921814B}" dt="2026-01-09T05:02:32.878" v="56" actId="20577"/>
          <ac:spMkLst>
            <pc:docMk/>
            <pc:sldMk cId="193030188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4:53.129" v="197" actId="20577"/>
        <pc:sldMkLst>
          <pc:docMk/>
          <pc:sldMk cId="3638899055" sldId="300"/>
        </pc:sldMkLst>
        <pc:spChg chg="mod">
          <ac:chgData name="영완 전" userId="94a232b962f42e62" providerId="LiveId" clId="{862E7F7D-119D-4717-AD52-91020921814B}" dt="2026-01-09T05:14:53.129" v="197" actId="20577"/>
          <ac:spMkLst>
            <pc:docMk/>
            <pc:sldMk cId="3638899055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0:00.788" v="0" actId="20577"/>
        <pc:sldMkLst>
          <pc:docMk/>
          <pc:sldMk cId="873451579" sldId="305"/>
        </pc:sldMkLst>
        <pc:spChg chg="mod">
          <ac:chgData name="영완 전" userId="94a232b962f42e62" providerId="LiveId" clId="{862E7F7D-119D-4717-AD52-91020921814B}" dt="2026-01-09T05:00:00.788" v="0" actId="20577"/>
          <ac:spMkLst>
            <pc:docMk/>
            <pc:sldMk cId="873451579" sldId="30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0:40.800" v="9" actId="20577"/>
        <pc:sldMkLst>
          <pc:docMk/>
          <pc:sldMk cId="133660336" sldId="306"/>
        </pc:sldMkLst>
        <pc:spChg chg="mod">
          <ac:chgData name="영완 전" userId="94a232b962f42e62" providerId="LiveId" clId="{862E7F7D-119D-4717-AD52-91020921814B}" dt="2026-01-09T05:00:40.800" v="9" actId="20577"/>
          <ac:spMkLst>
            <pc:docMk/>
            <pc:sldMk cId="133660336" sldId="30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01:04.168" v="14" actId="20577"/>
        <pc:sldMkLst>
          <pc:docMk/>
          <pc:sldMk cId="2789923591" sldId="307"/>
        </pc:sldMkLst>
        <pc:spChg chg="mod">
          <ac:chgData name="영완 전" userId="94a232b962f42e62" providerId="LiveId" clId="{862E7F7D-119D-4717-AD52-91020921814B}" dt="2026-01-09T05:01:04.168" v="14" actId="20577"/>
          <ac:spMkLst>
            <pc:docMk/>
            <pc:sldMk cId="2789923591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2:49.837" v="173" actId="20577"/>
        <pc:sldMkLst>
          <pc:docMk/>
          <pc:sldMk cId="3163002608" sldId="308"/>
        </pc:sldMkLst>
        <pc:spChg chg="mod">
          <ac:chgData name="영완 전" userId="94a232b962f42e62" providerId="LiveId" clId="{862E7F7D-119D-4717-AD52-91020921814B}" dt="2026-01-09T05:12:49.837" v="173" actId="20577"/>
          <ac:spMkLst>
            <pc:docMk/>
            <pc:sldMk cId="3163002608" sldId="30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6:12.058" v="200" actId="14100"/>
        <pc:sldMkLst>
          <pc:docMk/>
          <pc:sldMk cId="2534988411" sldId="309"/>
        </pc:sldMkLst>
        <pc:spChg chg="mod">
          <ac:chgData name="영완 전" userId="94a232b962f42e62" providerId="LiveId" clId="{862E7F7D-119D-4717-AD52-91020921814B}" dt="2026-01-09T05:16:12.058" v="200" actId="14100"/>
          <ac:spMkLst>
            <pc:docMk/>
            <pc:sldMk cId="2534988411" sldId="30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17:48.702" v="209" actId="20577"/>
        <pc:sldMkLst>
          <pc:docMk/>
          <pc:sldMk cId="1547228533" sldId="310"/>
        </pc:sldMkLst>
        <pc:spChg chg="mod">
          <ac:chgData name="영완 전" userId="94a232b962f42e62" providerId="LiveId" clId="{862E7F7D-119D-4717-AD52-91020921814B}" dt="2026-01-09T05:17:48.702" v="209" actId="20577"/>
          <ac:spMkLst>
            <pc:docMk/>
            <pc:sldMk cId="1547228533" sldId="31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28:52.169" v="229" actId="20577"/>
        <pc:sldMkLst>
          <pc:docMk/>
          <pc:sldMk cId="2207462342" sldId="311"/>
        </pc:sldMkLst>
        <pc:spChg chg="mod">
          <ac:chgData name="영완 전" userId="94a232b962f42e62" providerId="LiveId" clId="{862E7F7D-119D-4717-AD52-91020921814B}" dt="2026-01-09T05:28:52.169" v="229" actId="20577"/>
          <ac:spMkLst>
            <pc:docMk/>
            <pc:sldMk cId="2207462342" sldId="31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2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778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974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18</a:t>
            </a:r>
            <a:r>
              <a:rPr lang="ko-KR" altLang="en-US"/>
              <a:t>장  법인세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76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A947971-A0B0-F60D-458B-7799BC9DBD34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6DC4ADCB-3DE2-F41C-6E97-114902894080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DA55F5FC-0B7C-E151-B2DF-53DCC703B331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69C4D1ED-8FFD-2167-BF75-87C60FD4902F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18</a:t>
            </a:r>
            <a:r>
              <a:rPr lang="ko-KR" altLang="en-US"/>
              <a:t>장  법인세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856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18</a:t>
            </a:r>
            <a:r>
              <a:rPr lang="ko-KR" altLang="en-US"/>
              <a:t>장  법인세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0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18</a:t>
            </a:r>
            <a:r>
              <a:rPr lang="ko-KR" altLang="en-US"/>
              <a:t>장  법인세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59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18</a:t>
            </a:r>
            <a:r>
              <a:rPr lang="ko-KR" altLang="en-US"/>
              <a:t>장  법인세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5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14FB4-D644-455C-C1D3-FDC5942B9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23C43F-0A8E-595B-BFEA-7001F7DCE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BFB5B30-04B3-EB55-8613-E5127DEE4A24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B6DD6D9-50A1-49FA-C1C5-34CC6EED37EE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3749F08-8F8D-EA48-E7FB-E0DDD80E3770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D51B2F6-D159-A128-414C-BF6DCCE99D8F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66BCB031-D6F4-F554-2F69-89154DDCD07A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18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법인세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D26C7DA-3C4B-B4F1-7291-5BE5F8AA30F7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</a:t>
            </a:r>
          </a:p>
        </p:txBody>
      </p:sp>
    </p:spTree>
    <p:extLst>
      <p:ext uri="{BB962C8B-B14F-4D97-AF65-F5344CB8AC3E}">
        <p14:creationId xmlns:p14="http://schemas.microsoft.com/office/powerpoint/2010/main" val="277322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개인에게 부과되는 일반적 조세와 달리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법적으로만 그 실체가 인정되는 법인을 과세대상으로 삼는다는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궁극적으로 조세부담을 질 수 있는 것은 오직 개인일 뿐이라는 사실을 들어 법인에 대한 과세는 별 의미가 없다는 주장이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개인에게 적용되는 소득세제도와 다른 별도의 법인세제도를  유지하는 것이 바람직하다는 주장도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345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반대의견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조세부담을 결국은 개인이 지게 되는 것이며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그렇다면 공평한  과세라는 개념은 오직 개인에 대해서만 적용할 수 있을 뿐임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법인부문에서 발생하는 소득도 개인으로 귀속시켜 다른 소득과      합쳐진 상태에서 과세되어야 마땅함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통합주의 견해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(integrationist view)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27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반대의견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따로 존재하는 체제하에서 다음의 문제점이 나타난다고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법인부문에서 발생한 이윤 중 주주에게 배당된 부분은 이중의 조세부담 유발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사내유보가 된 부분은 법인세율이 주주 개인에 적용될 소득세율과 다를 수밖에 없기 때문에 역시 문제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 차원에서 일률적인 세율 적용은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높은 한계세율을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적용받는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고소득 주주들에게 이득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6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소유가 널리 분산되어 있고 규모가 큰 오늘날의 법인들은 나름대로   독특한 성격 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법인들은 스스로 존재하는 법적 실체로 강한 독자성을 갖고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단순히 주주들에게 소득을 창출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전달해 주는 역할만 하는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독자적인 납세능력을 갖고 있는 것으로 간주해도 좋으므로 법인에  대해 적용되는 독립적이고 절대적인 조세가 존재할 필요가 있다는  입장 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절대주의 견해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(absolute view)</a:t>
            </a:r>
            <a:endParaRPr lang="ko-KR" altLang="en-US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992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존립에 관한 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92252"/>
            <a:ext cx="8182842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사회로부터 받고 있는 여러 혜택에 대한 대가로서 법인세를 부과해야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다는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 소득세제도가 갖고 있는 성격에서 법인세를 별도로 유지하는 것이 바람직할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소득세제는 배당된 부분에만 과세하고 사내유보가 된 부분에 대해서는 과세하지 않는데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 단계에서 일차적으로 과세를 함으로써 사내유보를 통해 소득세 부담을 줄이려 하는 시도를 미연에 방지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법인의 행동에 영향을 주는 수단으로서 법인세가 유용하게 활용될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기업으로 하여금 더 많은 저축과 투자 유도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03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과세대상과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459634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과세대상은 일정 기간 동안 얻은 수입에서 사업에 소요된 여러 가지 비용을 뺀 것으로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법인세제는 법인의 행동에 여러 가지로 영향을 미침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특성이 법인들로 하여금 타인자본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대한  의존도를 높이게 만드는 유인을 제공할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법인이 어떤 방식으로 감가상각을 하도록 허용하느냐에 따라   투자의 절대적 수준과 그 구성이 달라질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과세대상을 정의할 때는 민간부문의 경제적 선택에 미칠 영향을 적절히 고려해야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88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과세대상과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70027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납세자의 능력에 따라 조세부담을 지게 만든다는 원칙을    적용하기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직접세의 일종이기는 하지만 실제로 누가 그 부담을 지게 될 것인지 분명하지 않기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법인세의 세율구조가 누진적 성격을 가질 필요가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나라에서 법인세 세율구조는 매우 단순하게 유지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법인세율 구조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0F4EF5E-C5CC-45DA-9ED0-9BC5FB823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321" y="4339480"/>
            <a:ext cx="6804676" cy="20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9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18.2 </a:t>
            </a:r>
            <a:r>
              <a:rPr lang="ko-KR" altLang="en-US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법인부문의 자본에 대한 과세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50977"/>
                <a:ext cx="7937615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 과세대상이 되는 소득을 정의할 때 주주가 공급한 자본의 기회비용에 대한 공제를 허용하지 않기 때문에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법인세는 법인부문에 투자된 자본이 얻는 소득에 대한 과세로 해석 가능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하버거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Harberger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모형을 통한 법인세 부담의 귀착 분석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법인부분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비법인부문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 법인부문에 고용된 자본에만 부과되는 세금을 법인세로 볼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법인부문의 자본에만 과세를 하는 경우의 부담 귀착을 산출효과와  요소대체효과의 관점에서 파악할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산출효과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법인부문이 비법인부문에 비해 더 자본집약적이라면      산출효과는 자본의 상대가격을 낮추는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요소대체효과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부문 간 요소집약도 차이에 상관없이 항상 자본의    상대가격을 떨어뜨리는 결과를 가져옴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50977"/>
                <a:ext cx="7937615" cy="4754563"/>
              </a:xfrm>
              <a:blipFill>
                <a:blip r:embed="rId2"/>
                <a:stretch>
                  <a:fillRect l="-6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60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법인부문의 자본에 대한 과세</a:t>
            </a:r>
            <a:endParaRPr lang="ko-KR" altLang="en-US" sz="2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5681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법인부문이 더욱 자본집약적이라는 것을 전제로 한다면 법인세 부담은 일차적으로 자본의 소유자에게 귀착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법인부문에 자본을 투자한 사람만이 부담을 지는 것이 아니라 모든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소유자가 부담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 공급자도 법인세의 부담을 일부 질 수 있으며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법인부문이 생산한 상품의 소비자도 일부의 부담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법인세로 인해 자본의 소유자가 지게 되는 상대적 부담은 부문 간 요소집약도의 차이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대한 수요의 가격탄력성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요소간 대체탄력성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공급탄력성 등에 의해 좌우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자본의 공급탄력성은 고려의 대상으로 삼는 기간이 장기인가    아니면 단기인가에 따라 달라짐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800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568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(economic profit)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수입 중에서 모든 기회비용을 빼고 남은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법인세에서 규정하는 이윤과 경제적 이윤은 차이가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법인세상의 감가상각은 진정한 경제적 감가상각과 다름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자기자본에 대한 귀속이자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(imputed interest)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기회비용의 일종이지만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법인세제는 이를 비용으로 처리하는 것을 허용하지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여건 아래에서 법인세는 실질적으로 경제적 이윤에 대한 과세의 성격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감가상각률이 경제적 감가상각률에 근접해 있고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법인의 한계투자가 차입된 자금으로 조달되는 상황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223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경제적 이윤에 대한 과세의 성격을 갖고 있다는 것은 결국  법인세가 기업의 선택에 아무 영향을 미치지 않는다는 것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 이윤극대화를 추구하는 기업의 선택은 조세가 부과되었다고 해서 달라져야 할 이유가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171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비용이 소요되는 투자의 실행 여부를 결정해야 하는 상황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투자의 기대수익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투자의 기회비용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기간당 감가상각률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	       +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차입된 자금에 대해 적용되는 이자율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법인세가 없는 상황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성립할 때 투자 실행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r>
                      <a:rPr lang="ko-KR" altLang="en-US" sz="2000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존재하는 상황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성립할 때 투자 실행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법인의 투자의사 결정은 법인세의 존재여부에 영향을 받지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법인세의 부과가 이 투자여부의 결정에 아무 영향을 끼치지 않는다는 의미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존재하지 않음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5311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부담의 귀착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이윤에 대한 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21609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이윤에 대해 부과되는 과세의 성격을 갖는다면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이의 부담은   법인의 소유주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에게 전적으로 귀착됨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76225">
              <a:lnSpc>
                <a:spcPct val="140000"/>
              </a:lnSpc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주주가 다른 사람에게 부담을 전가시킬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법인세는 엄밀한 의미에서의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이윤세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(profit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상당한 차이를 갖고 있을 것이 분명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542925" lvl="1" indent="-269875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법인세를 이윤세로 볼 수 있는 여지는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이와 같은         시각은 현실의 법인세를 이해하는 데 상당한 도움을 줄 수 있을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4303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 감가상각이 진정한 의미의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(economic depreciation)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일치할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법인세가 경제적 이윤에 대한 과세의 성격을 갖게 될 가능성이 높음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가능하다면 법인세제는 투자에 관한 의사결정에 중립적일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algn="just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감가상각이 무엇을 의미하는지 알기는 쉽지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algn="just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기술적 측면뿐 아니라 자본재시장에 관한 정보나 물가동향 등 여러 가지 측면에 대한 자세한 지식이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의미의 경제적 감가상각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자본재가 나이를 먹어감에 따라 그 가치가 줄어드는 부분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7116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08026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오래된 자본재가 새로운 자본재보다 가치가 낮은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생산활동에 사용될 수 있는 기간이 그만큼 더 짧음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성능이 떨어짐에 따라 생산성이 더 낮아짐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속에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체화된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기술이 진부하게 되어 가치가 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자본재의 가치가 떨어지는 정도를 측정하는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가격중심적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접근방식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조사된 자본재 가격에 기초해 감가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상각을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산출하는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비가격적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접근방식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자본재가 노후화되는 물리적 과정 그 자체에 대한 관찰에서 감가상각을 산출하는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3615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98602"/>
                <a:ext cx="7711017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가격중심적 접근방식</a:t>
                </a: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1450" lvl="1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물가상승과 기술상의 진부화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(obsolescence)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없는 상황에서 어떤 자본재의 연령별 가격을 측정하여 연령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가격곡선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(age-price profile)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도출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차이는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연령이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년에서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6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년이 되는 사이에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발생하는 경제적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감가상각으로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볼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1450" lvl="1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98602"/>
                <a:ext cx="7711017" cy="4754563"/>
              </a:xfrm>
              <a:blipFill>
                <a:blip r:embed="rId2"/>
                <a:stretch>
                  <a:fillRect l="-7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595C74-FA39-4086-A912-0EBE28C8D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405" y="3134566"/>
            <a:ext cx="5589757" cy="311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25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448850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 상승도 없고 기술적 진부화도 일어나지 않는 경우라면 연령별 자본재가격에 대한 시장조사를 통해 경제적 감가상각을 계산할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50825" indent="-250825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 상승에 따라 중고 자본재의 가격도 상승한다면 단순히 연령별 자본재의 가격을 비교해 경제적 감가상각을 산출하는 방법은 정당성을 잃게 됨</a:t>
            </a: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진부화의 효과까지 감안한다면 문제는 더욱 복잡해짐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생산된 자본재는 과거에 생산된 자본재보다 진보된 기술을 체화하고 있기 때문에 제조연도에 따라 다른 연령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가격곡선을 갖게 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0825" indent="-250825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헐튼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와이코프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(C. Hulten and F. Wykoff) :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자본재가 연령에 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대해 감가상각율이 일정하게 유지되는 등비형 연령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가격곡선의 특징을        보여준다는 결과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제시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7637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78685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비가격적 접근방식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시간이 경과함에 따라 자본재의 물리적 특성에 어떤 변화가 일어나는가에 기초해 감가상각을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과정을 거쳐 경제적 감가상각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76225">
              <a:lnSpc>
                <a:spcPct val="13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자본재별로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평균활용기간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(mean useful life)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얼마나 되는가를  파악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76225">
              <a:lnSpc>
                <a:spcPct val="13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자본재가 실제로 수명을 다 하는 퇴역연령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(retirement age)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분포를 파악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9824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법인세제상 감가상각은 편의상 자본재를 몇 개의 그룹으로 분류하고 각 그룹에 대해 미리 정해진 규칙에 따라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감가상각하는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것을 허용하는 것이 일반적임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"/>
                  </a:spcAft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예를 들면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년의 내용기간을 가진 자본재에 대해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년에 구입가격의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씩 감가상각을 해나가도록 허용하는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정액법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(straight line method)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883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경우에 따라 법인세제상의 감가상각을 일부러 경제적 감가상각과 차이가 나도록 만들기도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가속상각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(accelerated depreciation)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법인세 부담을 줄여주고 투자유인을 제공하기 위해 빠른 속도로 감가상각을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해나가는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것을 허용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즉시경비처리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(immediate write-off, expensing)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가속상각제도의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극단적 예로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자본재의 구입비용 전액을 즉시 경비로 처리해 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002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84867"/>
            <a:ext cx="7886700" cy="4492098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법인세 부담 감소효과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 법인세 부담이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4,673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줄어들었음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0"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0"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0"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8A6631-D306-4D2F-BBE9-FE5062C05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575" y="2573004"/>
            <a:ext cx="7680850" cy="372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70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법인세제상의 감가상각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1243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실제보다 빠른 속도로 감가상각을 할 수 있도록 허용해 주는 제도는    기업이 세금부담을 회피하는 수단으로 악용할 가능성이 있기 때문에   특별한 주의가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산업별 혹은 자본재 종류별로 각각 다른 정도의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허용할 경우 투자행위에 교란을 가져오게 된다는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142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4543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여러 경로로 법인세의 실질적 부담에 변화를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인플레이션으로 인해 법인이 유리한 입장에 처하게 되는 측면도 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이로 인해 더 무거운 세금의 부담을 지는 것이 일반적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법인세제를 적절히 조정해 법인들이 과도한 부담을 지지 않도록         배려해야 할 필요성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9889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500"/>
              </a:spcAft>
              <a:buNone/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법인세의 실질적 부담을 증가시키는 이유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실질가치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 감가상각은 자본재 구입 당시의 가격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역사적 비용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     기초하지만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감가상각이 끝난 자본재를 새것으로 대체하는 데 드는   비용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대체비용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역사적 비용보다 더 커지게 됨</a:t>
            </a:r>
            <a:endParaRPr lang="en-US" altLang="ko-KR" spc="-7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0825" indent="-250825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회계상 재고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(inventory)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처리 방식에 따라 기업의 법인세 부담에 영향을 주기도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93725" lvl="1" indent="-250825">
              <a:lnSpc>
                <a:spcPct val="110000"/>
              </a:lnSpc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선입선출법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(FIFO)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예전의 재고가 먼저 팔려나간다고 보는 방법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93725" lvl="1" indent="-250825">
              <a:lnSpc>
                <a:spcPct val="110000"/>
              </a:lnSpc>
            </a:pPr>
            <a:r>
              <a:rPr lang="ko-KR" altLang="en-US" sz="2000" b="1" spc="-113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후입선출법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(LIFO)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새로 생산된 것이 먼저 팔려나간다고 보는 방법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93725" lvl="1" indent="-250825">
              <a:lnSpc>
                <a:spcPct val="110000"/>
              </a:lnSpc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진행되면 선입선출법을 채택하는 기업의 장부상 이윤이 과대평가되어 법인세 부담이 무거워지는 현상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8899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인플레이션과 법인세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70027"/>
            <a:ext cx="8037368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부채의 실질가치를 떨어뜨려 타인자본을 사용하고 있는 법인에게 유리하게 작용하기도 함</a:t>
            </a:r>
          </a:p>
          <a:p>
            <a:pPr marL="266700" indent="-266700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법인에게 유리하게 작용하기보다는 불리하게 작용하는 측면이 더 크다는 쪽이 우세</a:t>
            </a:r>
          </a:p>
          <a:p>
            <a:pPr marL="266700" indent="-266700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인플레이션에 대한 조정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해마다 각종 자본재 가격의 평균적 상승폭을 측정해 감가상각의 허용 폭을 이에 맞추어 늘려 주는 방식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/>
              <a:t>⇒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조세행정을 번거롭게 만든다는 문제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가격 상승률을 감안하여 법인세제에서 허용해 주는 내용기간을 짧게 만들어 주는 방법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988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9971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법인세가 존재하는 체제에서 효율성의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비법인부문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사이의 자원배분을 왜곡할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수익에 대한 과세율을 높여 저축과 투자의 결정 교란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부채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자본비율이나 배당률의 선택 같은 재무관리의 측면에서도 교란 발생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법인세는 공평성과 효율성의 측면에서 여러 문제를 유발하므로 소득세와 통합할 필요가 있다는 주장 제기됨</a:t>
            </a:r>
            <a:endParaRPr lang="en-US" altLang="ko-KR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801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(full integration)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법인세를 소득세와 완전하게 통합하는 방식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>
              <a:lnSpc>
                <a:spcPct val="150000"/>
              </a:lnSpc>
              <a:spcAft>
                <a:spcPts val="2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이윤 중 사내유보 되는 부분과 배당이 되는 부분에 대해 적절한  조치를 취해 소득세와 통합시키는 방안 강구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>
              <a:lnSpc>
                <a:spcPct val="150000"/>
              </a:lnSpc>
              <a:spcAft>
                <a:spcPts val="200"/>
              </a:spcAft>
            </a:pPr>
            <a:r>
              <a:rPr lang="ko-KR" altLang="en-US" b="1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조합방식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자본이득방식이 있음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8023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60000" indent="-432000">
              <a:spcAft>
                <a:spcPts val="1500"/>
              </a:spcAft>
              <a:buNone/>
            </a:pP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조합방식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(partnership method)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주주를 법인화되지 않은 조합의 조합원과 같이 취급해 법인의 이윤을 주주에게 완전하게 귀속시킨 다음    소득세를 부과하는 방식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사내유보가 된 부분을 각 주주의 지분에 따라 배분해 소득으로 귀속시킨 후 귀속된 소득을 각 개인에게 통보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5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주주들은 이렇게 귀속된 소득을 자신의 소득에 포함시켜 소득세 납부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주주가 얻는 자본이득 중 이윤이 사내유보 되었기 때문에 발생한 부분에    대해서는 소득세 면제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228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60502"/>
            <a:ext cx="763004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조합방식의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실현되지 않은 자본이득에 대해서까지 소득세를 납부하게 되면   현금흐름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(cash flow)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문제가 있는 주주 발생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2000" dirty="0"/>
              <a:t>⇒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 차원에서 원천과세를 하는 방법에 의해 해결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규모가 크고 소유가 광범하게 분산되어 있는 법인의 경우에는     적용하기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투자세액공제처럼 투자를 촉진시키기 위해 제공되는 유인과       관련해 문제를 일으킬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외국인 투자가 혹은 장학재단이나 공익단체처럼 납세의 의무가   없는 단체가 주주인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통합이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높이는 결과를 가져오면 소득이 높은 주주의 반발이 일어날 수 있음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7643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60000" indent="-432000">
              <a:lnSpc>
                <a:spcPct val="14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자본이득방식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(capital gains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법인세를 철폐하고 실현되지 않은 부분을 포함한 모든 자본이득에 소득세를 부과하여 실질적으로 조세가 완전히 통합된 결과가 나타나도록 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자본이득방식은 아직 실현되지 않은 자본이득까지 계산하여 과세대상으로 삼는 것이므로 여러 가지 문제를 일으킬 가능성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112" y="3424533"/>
            <a:ext cx="35775" cy="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76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부분통합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(partial integration)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 법인의 이윤 중 배당되는 부분에 대해 이중과세의 측면만이라도 제거하고자 하는 의도에서 시도됨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법인세제도는 그대로 둔 채 배당금에 대한 이중과세의 요소를 제거하는 데 역점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8817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통합의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2183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배당세액공제제도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법인의 이윤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 배당된 부분에 대한 법인세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납부액을 떼어내 이것을 주주가 납부한 것으로 간주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주주에게 귀속시킬 수 있는 법인세의 일부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귀속법인세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주주가 얻는 소득의 일종이라고 간주하여 그의 종합소득을 계산하는 데 포함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542925" lvl="1" indent="-269875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후 그가 내야 할 종합소득세액이 산출되면 그것에서 이 귀속법인세에 해당하는 만큼을 세액공제의 형식으로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빼주는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방식으로 처리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0025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부분통합의 다른 사례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2925" lvl="1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영국에서 한때 시행되었던 귀속제도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(imputation system)</a:t>
            </a:r>
          </a:p>
          <a:p>
            <a:pPr marL="542925" lvl="1" indent="-269875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차등세율제도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(split rate system)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법인세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7462342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5101</TotalTime>
  <Words>2195</Words>
  <Application>Microsoft Office PowerPoint</Application>
  <PresentationFormat>화면 슬라이드 쇼(4:3)</PresentationFormat>
  <Paragraphs>287</Paragraphs>
  <Slides>33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3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18.1  법인세의 성격</vt:lpstr>
      <vt:lpstr>법인세 존립에 관한 반대의견</vt:lpstr>
      <vt:lpstr>법인세 존립에 관한 반대의견</vt:lpstr>
      <vt:lpstr>법인세 존립에 관한 찬성의견</vt:lpstr>
      <vt:lpstr>법인세 존립에 관한 찬성의견</vt:lpstr>
      <vt:lpstr>법인세 과세대상과 세율구조</vt:lpstr>
      <vt:lpstr>법인세 과세대상과 세율구조</vt:lpstr>
      <vt:lpstr>18.2 법인세 부담의 귀착 : 법인부문의 자본에 대한 과세</vt:lpstr>
      <vt:lpstr>법인세 부담의 귀착 : 법인부문의 자본에 대한 과세</vt:lpstr>
      <vt:lpstr>법인세 부담의 귀착 : 경제적 이윤에 대한 과세</vt:lpstr>
      <vt:lpstr>법인세 부담의 귀착 : 경제적 이윤에 대한 과세</vt:lpstr>
      <vt:lpstr>법인세 부담의 귀착 : 경제적 이윤에 대한 과세</vt:lpstr>
      <vt:lpstr>법인세 부담의 귀착 : 경제적 이윤에 대한 과세</vt:lpstr>
      <vt:lpstr>18.3  감가상각의 문제</vt:lpstr>
      <vt:lpstr>경제적 감가상각</vt:lpstr>
      <vt:lpstr>경제적 감가상각</vt:lpstr>
      <vt:lpstr>경제적 감가상각</vt:lpstr>
      <vt:lpstr>경제적 감가상각</vt:lpstr>
      <vt:lpstr>법인세제상의 감가상각</vt:lpstr>
      <vt:lpstr>법인세제상의 감가상각</vt:lpstr>
      <vt:lpstr>법인세제상의 감가상각</vt:lpstr>
      <vt:lpstr>법인세제상의 감가상각</vt:lpstr>
      <vt:lpstr>18.4  인플레이션과 법인세</vt:lpstr>
      <vt:lpstr>인플레이션과 법인세</vt:lpstr>
      <vt:lpstr>인플레이션과 법인세</vt:lpstr>
      <vt:lpstr>18.5  법인세 통합의 문제</vt:lpstr>
      <vt:lpstr>법인세 통합의 문제 : 완전통합</vt:lpstr>
      <vt:lpstr>법인세 통합의 문제 : 완전통합</vt:lpstr>
      <vt:lpstr>법인세 통합의 문제 : 완전통합</vt:lpstr>
      <vt:lpstr>법인세 통합의 문제 : 완전통합</vt:lpstr>
      <vt:lpstr>법인세 통합의 문제 : 부분통합</vt:lpstr>
      <vt:lpstr>법인세 통합의 문제 : 부분통합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1282</cp:revision>
  <dcterms:created xsi:type="dcterms:W3CDTF">2015-08-04T05:38:00Z</dcterms:created>
  <dcterms:modified xsi:type="dcterms:W3CDTF">2026-01-13T01:17:22Z</dcterms:modified>
</cp:coreProperties>
</file>