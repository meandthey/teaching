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36"/>
  </p:notesMasterIdLst>
  <p:handoutMasterIdLst>
    <p:handoutMasterId r:id="rId37"/>
  </p:handoutMasterIdLst>
  <p:sldIdLst>
    <p:sldId id="316" r:id="rId2"/>
    <p:sldId id="298" r:id="rId3"/>
    <p:sldId id="300" r:id="rId4"/>
    <p:sldId id="301" r:id="rId5"/>
    <p:sldId id="267" r:id="rId6"/>
    <p:sldId id="302" r:id="rId7"/>
    <p:sldId id="303" r:id="rId8"/>
    <p:sldId id="304" r:id="rId9"/>
    <p:sldId id="305" r:id="rId10"/>
    <p:sldId id="308" r:id="rId11"/>
    <p:sldId id="306" r:id="rId12"/>
    <p:sldId id="307" r:id="rId13"/>
    <p:sldId id="276" r:id="rId14"/>
    <p:sldId id="277" r:id="rId15"/>
    <p:sldId id="278" r:id="rId16"/>
    <p:sldId id="310" r:id="rId17"/>
    <p:sldId id="311" r:id="rId18"/>
    <p:sldId id="281" r:id="rId19"/>
    <p:sldId id="282" r:id="rId20"/>
    <p:sldId id="283" r:id="rId21"/>
    <p:sldId id="312" r:id="rId22"/>
    <p:sldId id="285" r:id="rId23"/>
    <p:sldId id="286" r:id="rId24"/>
    <p:sldId id="287" r:id="rId25"/>
    <p:sldId id="288" r:id="rId26"/>
    <p:sldId id="289" r:id="rId27"/>
    <p:sldId id="314" r:id="rId28"/>
    <p:sldId id="313" r:id="rId29"/>
    <p:sldId id="291" r:id="rId30"/>
    <p:sldId id="292" r:id="rId31"/>
    <p:sldId id="315" r:id="rId32"/>
    <p:sldId id="294" r:id="rId33"/>
    <p:sldId id="295" r:id="rId34"/>
    <p:sldId id="296" r:id="rId3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977D2C-CA37-4DD4-8B65-B70C6DA1FF98}" v="40" dt="2026-01-12T05:27:32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6" autoAdjust="0"/>
    <p:restoredTop sz="97470" autoAdjust="0"/>
  </p:normalViewPr>
  <p:slideViewPr>
    <p:cSldViewPr snapToGrid="0">
      <p:cViewPr varScale="1">
        <p:scale>
          <a:sx n="148" d="100"/>
          <a:sy n="148" d="100"/>
        </p:scale>
        <p:origin x="2568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721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custSel modSld">
      <pc:chgData name="영완 전" userId="94a232b962f42e62" providerId="LiveId" clId="{862E7F7D-119D-4717-AD52-91020921814B}" dt="2026-01-12T05:28:11.400" v="384" actId="14100"/>
      <pc:docMkLst>
        <pc:docMk/>
      </pc:docMkLst>
      <pc:sldChg chg="modSp mod">
        <pc:chgData name="영완 전" userId="94a232b962f42e62" providerId="LiveId" clId="{862E7F7D-119D-4717-AD52-91020921814B}" dt="2026-01-07T05:31:31.098" v="32" actId="20577"/>
        <pc:sldMkLst>
          <pc:docMk/>
          <pc:sldMk cId="1782816868" sldId="267"/>
        </pc:sldMkLst>
        <pc:spChg chg="mod">
          <ac:chgData name="영완 전" userId="94a232b962f42e62" providerId="LiveId" clId="{862E7F7D-119D-4717-AD52-91020921814B}" dt="2026-01-07T05:31:31.098" v="32" actId="20577"/>
          <ac:spMkLst>
            <pc:docMk/>
            <pc:sldMk cId="1782816868" sldId="26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38:23.849" v="251" actId="14100"/>
        <pc:sldMkLst>
          <pc:docMk/>
          <pc:sldMk cId="4293202635" sldId="276"/>
        </pc:sldMkLst>
        <pc:spChg chg="mod">
          <ac:chgData name="영완 전" userId="94a232b962f42e62" providerId="LiveId" clId="{862E7F7D-119D-4717-AD52-91020921814B}" dt="2026-01-07T05:38:23.849" v="251" actId="14100"/>
          <ac:spMkLst>
            <pc:docMk/>
            <pc:sldMk cId="4293202635" sldId="27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2:17:09.012" v="299" actId="20577"/>
        <pc:sldMkLst>
          <pc:docMk/>
          <pc:sldMk cId="1092566009" sldId="277"/>
        </pc:sldMkLst>
        <pc:spChg chg="mod">
          <ac:chgData name="영완 전" userId="94a232b962f42e62" providerId="LiveId" clId="{862E7F7D-119D-4717-AD52-91020921814B}" dt="2026-01-08T02:17:09.012" v="299" actId="20577"/>
          <ac:spMkLst>
            <pc:docMk/>
            <pc:sldMk cId="1092566009" sldId="27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2:17:30.902" v="301" actId="20577"/>
        <pc:sldMkLst>
          <pc:docMk/>
          <pc:sldMk cId="1815631542" sldId="278"/>
        </pc:sldMkLst>
        <pc:spChg chg="mod">
          <ac:chgData name="영완 전" userId="94a232b962f42e62" providerId="LiveId" clId="{862E7F7D-119D-4717-AD52-91020921814B}" dt="2026-01-08T02:17:30.902" v="301" actId="20577"/>
          <ac:spMkLst>
            <pc:docMk/>
            <pc:sldMk cId="1815631542" sldId="27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40:50.475" v="266" actId="20577"/>
        <pc:sldMkLst>
          <pc:docMk/>
          <pc:sldMk cId="2266902839" sldId="281"/>
        </pc:sldMkLst>
        <pc:spChg chg="mod">
          <ac:chgData name="영완 전" userId="94a232b962f42e62" providerId="LiveId" clId="{862E7F7D-119D-4717-AD52-91020921814B}" dt="2026-01-07T05:40:50.475" v="266" actId="20577"/>
          <ac:spMkLst>
            <pc:docMk/>
            <pc:sldMk cId="2266902839" sldId="28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41:19.283" v="267" actId="20577"/>
        <pc:sldMkLst>
          <pc:docMk/>
          <pc:sldMk cId="2302765273" sldId="283"/>
        </pc:sldMkLst>
        <pc:spChg chg="mod">
          <ac:chgData name="영완 전" userId="94a232b962f42e62" providerId="LiveId" clId="{862E7F7D-119D-4717-AD52-91020921814B}" dt="2026-01-07T05:41:19.283" v="267" actId="20577"/>
          <ac:spMkLst>
            <pc:docMk/>
            <pc:sldMk cId="2302765273" sldId="28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45:13.826" v="292" actId="14100"/>
        <pc:sldMkLst>
          <pc:docMk/>
          <pc:sldMk cId="2413393191" sldId="285"/>
        </pc:sldMkLst>
        <pc:spChg chg="mod">
          <ac:chgData name="영완 전" userId="94a232b962f42e62" providerId="LiveId" clId="{862E7F7D-119D-4717-AD52-91020921814B}" dt="2026-01-07T05:45:13.826" v="292" actId="14100"/>
          <ac:spMkLst>
            <pc:docMk/>
            <pc:sldMk cId="2413393191" sldId="285"/>
            <ac:spMk id="3" creationId="{00000000-0000-0000-0000-000000000000}"/>
          </ac:spMkLst>
        </pc:spChg>
        <pc:spChg chg="mod">
          <ac:chgData name="영완 전" userId="94a232b962f42e62" providerId="LiveId" clId="{862E7F7D-119D-4717-AD52-91020921814B}" dt="2026-01-07T05:44:08.039" v="282"/>
          <ac:spMkLst>
            <pc:docMk/>
            <pc:sldMk cId="2413393191" sldId="285"/>
            <ac:spMk id="9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26:07.681" v="369" actId="20577"/>
        <pc:sldMkLst>
          <pc:docMk/>
          <pc:sldMk cId="1733036524" sldId="286"/>
        </pc:sldMkLst>
        <pc:spChg chg="mod">
          <ac:chgData name="영완 전" userId="94a232b962f42e62" providerId="LiveId" clId="{862E7F7D-119D-4717-AD52-91020921814B}" dt="2026-01-12T05:26:07.681" v="369" actId="20577"/>
          <ac:spMkLst>
            <pc:docMk/>
            <pc:sldMk cId="1733036524" sldId="28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26:35.959" v="375" actId="20577"/>
        <pc:sldMkLst>
          <pc:docMk/>
          <pc:sldMk cId="2971026762" sldId="288"/>
        </pc:sldMkLst>
        <pc:spChg chg="mod">
          <ac:chgData name="영완 전" userId="94a232b962f42e62" providerId="LiveId" clId="{862E7F7D-119D-4717-AD52-91020921814B}" dt="2026-01-12T05:26:35.959" v="375" actId="20577"/>
          <ac:spMkLst>
            <pc:docMk/>
            <pc:sldMk cId="2971026762" sldId="28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2:18:52.871" v="308" actId="20577"/>
        <pc:sldMkLst>
          <pc:docMk/>
          <pc:sldMk cId="816596079" sldId="289"/>
        </pc:sldMkLst>
        <pc:spChg chg="mod">
          <ac:chgData name="영완 전" userId="94a232b962f42e62" providerId="LiveId" clId="{862E7F7D-119D-4717-AD52-91020921814B}" dt="2026-01-08T02:18:52.871" v="308" actId="20577"/>
          <ac:spMkLst>
            <pc:docMk/>
            <pc:sldMk cId="816596079" sldId="28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2:19:10.996" v="311" actId="20577"/>
        <pc:sldMkLst>
          <pc:docMk/>
          <pc:sldMk cId="1076886456" sldId="291"/>
        </pc:sldMkLst>
        <pc:spChg chg="mod">
          <ac:chgData name="영완 전" userId="94a232b962f42e62" providerId="LiveId" clId="{862E7F7D-119D-4717-AD52-91020921814B}" dt="2026-01-08T02:19:10.996" v="311" actId="20577"/>
          <ac:spMkLst>
            <pc:docMk/>
            <pc:sldMk cId="1076886456" sldId="29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27:49.393" v="383" actId="20577"/>
        <pc:sldMkLst>
          <pc:docMk/>
          <pc:sldMk cId="2685874841" sldId="295"/>
        </pc:sldMkLst>
        <pc:spChg chg="mod">
          <ac:chgData name="영완 전" userId="94a232b962f42e62" providerId="LiveId" clId="{862E7F7D-119D-4717-AD52-91020921814B}" dt="2026-01-12T05:27:49.393" v="383" actId="20577"/>
          <ac:spMkLst>
            <pc:docMk/>
            <pc:sldMk cId="2685874841" sldId="29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28:11.400" v="384" actId="14100"/>
        <pc:sldMkLst>
          <pc:docMk/>
          <pc:sldMk cId="399347730" sldId="296"/>
        </pc:sldMkLst>
        <pc:spChg chg="mod">
          <ac:chgData name="영완 전" userId="94a232b962f42e62" providerId="LiveId" clId="{862E7F7D-119D-4717-AD52-91020921814B}" dt="2026-01-12T05:28:11.400" v="384" actId="14100"/>
          <ac:spMkLst>
            <pc:docMk/>
            <pc:sldMk cId="399347730" sldId="29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22:44.432" v="355" actId="20577"/>
        <pc:sldMkLst>
          <pc:docMk/>
          <pc:sldMk cId="1620458388" sldId="298"/>
        </pc:sldMkLst>
        <pc:spChg chg="mod">
          <ac:chgData name="영완 전" userId="94a232b962f42e62" providerId="LiveId" clId="{862E7F7D-119D-4717-AD52-91020921814B}" dt="2026-01-12T05:22:44.432" v="355" actId="20577"/>
          <ac:spMkLst>
            <pc:docMk/>
            <pc:sldMk cId="1620458388" sldId="29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24:16.432" v="358" actId="20577"/>
        <pc:sldMkLst>
          <pc:docMk/>
          <pc:sldMk cId="1474966475" sldId="300"/>
        </pc:sldMkLst>
        <pc:spChg chg="mod">
          <ac:chgData name="영완 전" userId="94a232b962f42e62" providerId="LiveId" clId="{862E7F7D-119D-4717-AD52-91020921814B}" dt="2026-01-12T05:24:16.432" v="358" actId="20577"/>
          <ac:spMkLst>
            <pc:docMk/>
            <pc:sldMk cId="1474966475" sldId="30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30:46.647" v="11" actId="313"/>
        <pc:sldMkLst>
          <pc:docMk/>
          <pc:sldMk cId="3300045331" sldId="301"/>
        </pc:sldMkLst>
        <pc:spChg chg="mod">
          <ac:chgData name="영완 전" userId="94a232b962f42e62" providerId="LiveId" clId="{862E7F7D-119D-4717-AD52-91020921814B}" dt="2026-01-07T05:30:46.647" v="11" actId="313"/>
          <ac:spMkLst>
            <pc:docMk/>
            <pc:sldMk cId="3300045331" sldId="301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12T05:24:33.741" v="359" actId="20577"/>
        <pc:sldMkLst>
          <pc:docMk/>
          <pc:sldMk cId="580308932" sldId="302"/>
        </pc:sldMkLst>
        <pc:spChg chg="mod">
          <ac:chgData name="영완 전" userId="94a232b962f42e62" providerId="LiveId" clId="{862E7F7D-119D-4717-AD52-91020921814B}" dt="2026-01-12T05:24:33.741" v="359" actId="20577"/>
          <ac:spMkLst>
            <pc:docMk/>
            <pc:sldMk cId="580308932" sldId="302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07T05:33:01.241" v="33" actId="20577"/>
        <pc:sldMkLst>
          <pc:docMk/>
          <pc:sldMk cId="1908086435" sldId="303"/>
        </pc:sldMkLst>
        <pc:spChg chg="mod">
          <ac:chgData name="영완 전" userId="94a232b962f42e62" providerId="LiveId" clId="{862E7F7D-119D-4717-AD52-91020921814B}" dt="2026-01-07T05:33:01.241" v="33" actId="20577"/>
          <ac:spMkLst>
            <pc:docMk/>
            <pc:sldMk cId="1908086435" sldId="303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07T05:33:18.166" v="40" actId="313"/>
        <pc:sldMkLst>
          <pc:docMk/>
          <pc:sldMk cId="1324548458" sldId="305"/>
        </pc:sldMkLst>
        <pc:spChg chg="mod">
          <ac:chgData name="영완 전" userId="94a232b962f42e62" providerId="LiveId" clId="{862E7F7D-119D-4717-AD52-91020921814B}" dt="2026-01-07T05:33:18.166" v="40" actId="313"/>
          <ac:spMkLst>
            <pc:docMk/>
            <pc:sldMk cId="1324548458" sldId="30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25:08.918" v="360" actId="14100"/>
        <pc:sldMkLst>
          <pc:docMk/>
          <pc:sldMk cId="3841592822" sldId="307"/>
        </pc:sldMkLst>
        <pc:spChg chg="mod">
          <ac:chgData name="영완 전" userId="94a232b962f42e62" providerId="LiveId" clId="{862E7F7D-119D-4717-AD52-91020921814B}" dt="2026-01-12T05:25:08.918" v="360" actId="14100"/>
          <ac:spMkLst>
            <pc:docMk/>
            <pc:sldMk cId="3841592822" sldId="30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36:07.731" v="248" actId="20577"/>
        <pc:sldMkLst>
          <pc:docMk/>
          <pc:sldMk cId="1876370591" sldId="308"/>
        </pc:sldMkLst>
        <pc:spChg chg="mod">
          <ac:chgData name="영완 전" userId="94a232b962f42e62" providerId="LiveId" clId="{862E7F7D-119D-4717-AD52-91020921814B}" dt="2026-01-07T05:36:07.731" v="248" actId="20577"/>
          <ac:spMkLst>
            <pc:docMk/>
            <pc:sldMk cId="1876370591" sldId="308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07T05:40:15.749" v="265" actId="20577"/>
        <pc:sldMkLst>
          <pc:docMk/>
          <pc:sldMk cId="2193893666" sldId="311"/>
        </pc:sldMkLst>
        <pc:spChg chg="mod">
          <ac:chgData name="영완 전" userId="94a232b962f42e62" providerId="LiveId" clId="{862E7F7D-119D-4717-AD52-91020921814B}" dt="2026-01-07T05:40:15.749" v="265" actId="20577"/>
          <ac:spMkLst>
            <pc:docMk/>
            <pc:sldMk cId="2193893666" sldId="31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43:35.238" v="281" actId="20577"/>
        <pc:sldMkLst>
          <pc:docMk/>
          <pc:sldMk cId="1829088464" sldId="312"/>
        </pc:sldMkLst>
        <pc:spChg chg="mod">
          <ac:chgData name="영완 전" userId="94a232b962f42e62" providerId="LiveId" clId="{862E7F7D-119D-4717-AD52-91020921814B}" dt="2026-01-07T05:43:35.238" v="281" actId="20577"/>
          <ac:spMkLst>
            <pc:docMk/>
            <pc:sldMk cId="1829088464" sldId="31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2:19:59.345" v="325" actId="20577"/>
        <pc:sldMkLst>
          <pc:docMk/>
          <pc:sldMk cId="403832051" sldId="315"/>
        </pc:sldMkLst>
        <pc:spChg chg="mod">
          <ac:chgData name="영완 전" userId="94a232b962f42e62" providerId="LiveId" clId="{862E7F7D-119D-4717-AD52-91020921814B}" dt="2026-01-08T02:19:59.345" v="325" actId="20577"/>
          <ac:spMkLst>
            <pc:docMk/>
            <pc:sldMk cId="403832051" sldId="31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440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0200" y="194400"/>
            <a:ext cx="86436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6</a:t>
            </a:r>
            <a:r>
              <a:rPr lang="ko-KR" altLang="en-US"/>
              <a:t>장  외부성의 문제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59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BBB61687-51C6-BEDF-7D19-72495E53719E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2865CA90-0320-F995-9D8D-CEA5F502306D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256725D5-9F8B-28C7-A50C-3D25BE6BFD38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CF89F1DB-337A-B4E5-EB14-F50B5482A8F7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6</a:t>
            </a:r>
            <a:r>
              <a:rPr lang="ko-KR" altLang="en-US"/>
              <a:t>장  외부성의 문제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6088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6</a:t>
            </a:r>
            <a:r>
              <a:rPr lang="ko-KR" altLang="en-US"/>
              <a:t>장  외부성의 문제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004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200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200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6</a:t>
            </a:r>
            <a:r>
              <a:rPr lang="ko-KR" altLang="en-US"/>
              <a:t>장  외부성의 문제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06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0624" y="3118106"/>
            <a:ext cx="7781544" cy="1470025"/>
          </a:xfrm>
        </p:spPr>
        <p:txBody>
          <a:bodyPr vert="horz" lIns="91440" tIns="45720" rIns="91440" bIns="45720" rtlCol="0" anchor="t">
            <a:normAutofit/>
          </a:bodyPr>
          <a:lstStyle>
            <a:lvl1pPr algn="r" defTabSz="685800" rtl="0" eaLnBrk="1" latinLnBrk="0" hangingPunct="1">
              <a:spcBef>
                <a:spcPct val="0"/>
              </a:spcBef>
              <a:buNone/>
              <a:defRPr lang="en-US" sz="36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359152"/>
            <a:ext cx="8211312" cy="6858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6858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15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제</a:t>
            </a:r>
            <a:r>
              <a:rPr lang="en-US" altLang="ko-KR"/>
              <a:t>6</a:t>
            </a:r>
            <a:r>
              <a:rPr lang="ko-KR" altLang="en-US"/>
              <a:t>장  외부성의 문제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749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6</a:t>
            </a:r>
            <a:r>
              <a:rPr lang="ko-KR" altLang="en-US"/>
              <a:t>장  외부성의 문제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09" r:id="rId3"/>
    <p:sldLayoutId id="2147483710" r:id="rId4"/>
    <p:sldLayoutId id="2147483711" r:id="rId5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34D878-308D-9B14-F82F-AFF593D65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200" y="194400"/>
            <a:ext cx="8643600" cy="1330099"/>
          </a:xfrm>
        </p:spPr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CF49A28-C708-A257-AFC8-40BF1E43C3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CEED93E6-9AC1-51BD-329B-70548E444C06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EBAC4F4-9BD9-55A1-377F-F7DB4200D7A6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7F2CF92-2E90-8E7B-19AE-D4878A3BA22A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0CF35E9-5A2C-0B80-2146-FA27B2C9275D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68F3BC71-A74A-DD5E-61C5-5B577BD25B76}"/>
              </a:ext>
            </a:extLst>
          </p:cNvPr>
          <p:cNvSpPr txBox="1">
            <a:spLocks/>
          </p:cNvSpPr>
          <p:nvPr/>
        </p:nvSpPr>
        <p:spPr>
          <a:xfrm>
            <a:off x="4389120" y="142240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>
                <a:solidFill>
                  <a:schemeClr val="accent5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</a:t>
            </a:r>
            <a:r>
              <a:rPr lang="ko-KR" altLang="en-US" sz="300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외부성의 문제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AE3BF65-1FF9-519A-82AE-3F31500353DC}"/>
              </a:ext>
            </a:extLst>
          </p:cNvPr>
          <p:cNvSpPr txBox="1">
            <a:spLocks/>
          </p:cNvSpPr>
          <p:nvPr/>
        </p:nvSpPr>
        <p:spPr>
          <a:xfrm>
            <a:off x="4389120" y="376877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6.1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외부성의 의미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6.2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외부성과 자원배분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6.3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문제 해결의 여러 방법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6.4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소유권 확립을 통한 문제의 해결</a:t>
            </a:r>
          </a:p>
        </p:txBody>
      </p:sp>
    </p:spTree>
    <p:extLst>
      <p:ext uri="{BB962C8B-B14F-4D97-AF65-F5344CB8AC3E}">
        <p14:creationId xmlns:p14="http://schemas.microsoft.com/office/powerpoint/2010/main" val="1953815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외부성의 의미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8" y="1422402"/>
            <a:ext cx="8176208" cy="4754563"/>
          </a:xfrm>
        </p:spPr>
        <p:txBody>
          <a:bodyPr>
            <a:normAutofit/>
          </a:bodyPr>
          <a:lstStyle/>
          <a:p>
            <a:pPr marL="261938" indent="-261938">
              <a:lnSpc>
                <a:spcPct val="130000"/>
              </a:lnSpc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(externality)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행위가 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자에게 의도하지 않은 혜택이나  손해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가져다주면서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대가를 받지도 지불하지도 않을 때 외부성이 발생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외부효과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’(external effect)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라고 부르기도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양봉업자와 과수원 주인 사이의 관계가 이로운 외부성의 예로 자주 들어지고 있으나 사실은 아님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양봉장의 벌들이 인근 과수원의 나무들의 수분을 의도하지 않게 도와줄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과수원 주인과 양봉업자가 대가를 주고받는다면 외부성은 이미 ‘내부화’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(internalized)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된 것임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0458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외부성의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279238" cy="475456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이로운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(positive externality,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외부경제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vs.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해로운 외부성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(negative externality,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외부불경제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63538" lvl="1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이로운 외부성의 예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기초학문분야의 교육과 연구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63538" lvl="1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해로운 외부성의 예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환경오염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/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생산과정서 일어나는 것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vs.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소비과정에서 일어나는 것</a:t>
            </a:r>
          </a:p>
          <a:p>
            <a:pPr marL="363538" lvl="1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생산과정에서 나오는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공단에서 방출되는 유독물질이 주변환경을 오염시키는 경우</a:t>
            </a:r>
          </a:p>
          <a:p>
            <a:pPr marL="363538" lvl="1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소비과정에서 나오는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가정에서 쓴 합성세제가 하천의 수질을   오염시키는 경우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4966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외부성의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lnSpc>
                <a:spcPct val="13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실질적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기술적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금전적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363538" lvl="1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금전적 외부성은 상대가격구조의 변동에 의해 발생하는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2438" lvl="3" indent="0" fontAlgn="base">
              <a:lnSpc>
                <a:spcPct val="130000"/>
              </a:lnSpc>
              <a:buNone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ex)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지하철 개통에 따른 주변 아파트 가격 상승</a:t>
            </a:r>
          </a:p>
          <a:p>
            <a:pPr marL="363538" lvl="1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경제학에서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부르는 것은 실질적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>
              <a:lnSpc>
                <a:spcPct val="130000"/>
              </a:lnSpc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fontAlgn="base">
              <a:lnSpc>
                <a:spcPct val="13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사용재적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63538" lvl="1" fontAlgn="base">
              <a:lnSpc>
                <a:spcPct val="130000"/>
              </a:lnSpc>
              <a:tabLst>
                <a:tab pos="1160463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외부효과가 비경합성을 갖고 있는가의 여부에 따라 구분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0045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외부성과 자원배분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1938" indent="-261938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완전경쟁시장의 균형에서 소비자 개인이 인식하는 사적 한계편익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𝑷𝑴𝑩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생산자 개인이 인식하는 사적 한계비용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𝑷𝑴𝑪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같아짐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  <a:spcAft>
                    <a:spcPts val="2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𝑷𝑴𝑩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𝑷𝑴𝑪</m:t>
                      </m:r>
                    </m:oMath>
                  </m:oMathPara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그러나 자원배분의 효율성을 위해서는 </a:t>
                </a:r>
                <a:r>
                  <a:rPr lang="ko-KR" altLang="en-US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사회적 한계편익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𝑺𝑴𝑩</m:t>
                    </m:r>
                  </m:oMath>
                </a14:m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</a:t>
                </a:r>
                <a:r>
                  <a:rPr lang="ko-KR" altLang="en-US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사회적 한계비용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𝑺𝑴𝑪</m:t>
                    </m:r>
                  </m:oMath>
                </a14:m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서로 같아야 함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 algn="ctr">
                  <a:lnSpc>
                    <a:spcPct val="130000"/>
                  </a:lnSpc>
                  <a:spcAft>
                    <a:spcPts val="2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𝑺𝑴𝑩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𝑺𝑴𝑪</m:t>
                      </m:r>
                    </m:oMath>
                  </m:oMathPara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외부성이 존재하지 않는다면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𝑷𝑴𝑩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𝑺𝑴𝑩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𝑷𝑴𝑪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𝑺𝑴𝑪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성립하므로 완전경쟁시장의 균형에 의해 효율성의 조건 만족됨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2816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직관적 설명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13935"/>
                <a:ext cx="7886700" cy="4754563"/>
              </a:xfrm>
            </p:spPr>
            <p:txBody>
              <a:bodyPr anchor="ctr">
                <a:noAutofit/>
              </a:bodyPr>
              <a:lstStyle/>
              <a:p>
                <a:pPr marL="261938" indent="-261938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만약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외부성이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존재한다면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𝑷𝑴𝑪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𝑺𝑴𝑪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또는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𝑷𝑴𝑩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𝑺𝑴𝑩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성립 하므로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𝑷𝑴𝑩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𝑷𝑴𝑪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성립해도 완전경쟁시장의 균형에서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latin typeface="Cambria Math"/>
                        <a:ea typeface="+mn-ea"/>
                      </a:rPr>
                      <m:t>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𝑺𝑴𝑩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𝑺𝑴𝑪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관계가 나타날 수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63538" lvl="1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소비과정에서 해로운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외부성이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생기는 경우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𝑺𝑴𝑩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𝑷𝑴𝑩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63538" lvl="1">
                  <a:spcAft>
                    <a:spcPts val="2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생산과정에서 해로운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외부성이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생기는 경우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𝑺𝑴𝑪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𝑷𝑴𝑪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 fontAlgn="base">
                  <a:spcAft>
                    <a:spcPts val="2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민간부문은 경제적 의사결정을 내릴 때 사적인 효용극대화 혹은 이윤극대화를 위해 단지 개인적인 편익과 비용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𝑷𝑴𝑩</m:t>
                    </m:r>
                  </m:oMath>
                </a14:m>
                <a:r>
                  <a:rPr lang="en-US" altLang="ko-KR" sz="20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𝑷𝑴𝑪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에만 관심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 fontAlgn="base"/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외부성이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존재하면 설사 한계비용 가격설정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(MC pricing)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가능하다 할지라도 자원배분은 비효율적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13935"/>
                <a:ext cx="7886700" cy="4754563"/>
              </a:xfr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0308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그림에 의한 설명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생산과정에서 나오는 오염물질을 인근 하천에 배출하고 있으며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생산수준이 높아질수록 배출량 증가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생산물을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단위 늘릴 때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외부성으로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인해 발생하는 사회적 한계피해액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𝑺𝑴𝑫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생산수준이 높아질수록 체증한다고 가정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사회적 한계피해액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>
                        <a:latin typeface="Cambria Math" panose="02040503050406030204" pitchFamily="18" charset="0"/>
                      </a:rPr>
                      <m:t>𝑺𝑴𝑫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곡선은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우상향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생산물에 대한 수요곡선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우하향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그리고 한계비용곡선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𝑷𝑴𝑪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우상향하는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모양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사회적 한계비용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𝑺𝑴𝑪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사적 한계비용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𝑷𝑴𝑪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외부성으로 인한  사회적 한계피해액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𝑺𝑴𝑫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수직합으로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나타남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1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8086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그림에 의한 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altLang="ko-KR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87E449F-3884-4CA7-8906-F78A1D047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157" y="1580717"/>
            <a:ext cx="8117686" cy="444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08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그림에 의한 설명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024283" cy="4754563"/>
              </a:xfrm>
            </p:spPr>
            <p:txBody>
              <a:bodyPr anchor="ctr">
                <a:noAutofit/>
              </a:bodyPr>
              <a:lstStyle/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경쟁적 상황에서의 시장균형은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‘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=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한계비용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𝑴𝑪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)’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관계가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성립하는</a:t>
                </a:r>
                <a14:m>
                  <m:oMath xmlns:m="http://schemas.openxmlformats.org/officeDocument/2006/math">
                    <m:r>
                      <a:rPr lang="en-US" altLang="ko-KR" sz="20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점에서 이루어지고 균형산출량은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효율적 배분은 사회적 한계비용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𝑺𝑴𝑪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기초해 찾아져야 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</a:p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𝑺𝑴𝑪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조건이 성립하는 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점이 사회적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최적배분점이며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이때의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생산량은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 spc="-5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sz="2000" b="1" i="1" spc="-5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spc="-5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altLang="ko-KR" sz="2000" b="1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더 크므로 해로운 </a:t>
                </a:r>
                <a:r>
                  <a:rPr lang="ko-KR" altLang="en-US" sz="2000" spc="-5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외부성이</a:t>
                </a:r>
                <a:r>
                  <a:rPr lang="ko-KR" altLang="en-US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존재할 때 과잉생산의 경향</a:t>
                </a:r>
                <a:endParaRPr lang="en-US" altLang="ko-KR" sz="2000" spc="-5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024283" cy="4754563"/>
              </a:xfrm>
              <a:blipFill>
                <a:blip r:embed="rId2"/>
                <a:stretch>
                  <a:fillRect l="-6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4548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그림에 의한 설명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8120398" cy="4754563"/>
              </a:xfrm>
            </p:spPr>
            <p:txBody>
              <a:bodyPr anchor="ctr">
                <a:noAutofit/>
              </a:bodyPr>
              <a:lstStyle/>
              <a:p>
                <a:pPr marL="261938" indent="-261938">
                  <a:lnSpc>
                    <a:spcPct val="140000"/>
                  </a:lnSpc>
                  <a:spcAft>
                    <a:spcPts val="2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외부성의 존재로 인한 과잉생산을 사회후생의 측면에서 어떻게 평가할 수 있을까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? </a:t>
                </a:r>
              </a:p>
              <a:p>
                <a:pPr marL="261938" indent="-261938">
                  <a:lnSpc>
                    <a:spcPct val="14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spc="-5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sz="2000" i="1" spc="-5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에서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 spc="-5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altLang="ko-KR" sz="20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생산수준이 변화한다면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</a:p>
              <a:p>
                <a:pPr marL="342900" lvl="1" indent="0">
                  <a:lnSpc>
                    <a:spcPct val="140000"/>
                  </a:lnSpc>
                  <a:buNone/>
                </a:pPr>
                <a:r>
                  <a:rPr lang="en-US" altLang="ko-KR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(1) </a:t>
                </a:r>
                <a:r>
                  <a:rPr lang="ko-KR" altLang="en-US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긍정적 효과 </a:t>
                </a:r>
                <a:r>
                  <a:rPr lang="en-US" altLang="ko-KR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오염물질 배출량 감소 ⇒ 오염물질로 인한 사회적 피해         감소</a:t>
                </a:r>
                <a:endParaRPr lang="en-US" altLang="ko-KR" sz="2000" spc="-5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7813" lvl="1" indent="0">
                  <a:lnSpc>
                    <a:spcPct val="140000"/>
                  </a:lnSpc>
                  <a:buNone/>
                  <a:tabLst>
                    <a:tab pos="711200" algn="l"/>
                  </a:tabLst>
                </a:pPr>
                <a:r>
                  <a:rPr lang="en-US" altLang="ko-KR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(2) </a:t>
                </a:r>
                <a:r>
                  <a:rPr lang="ko-KR" altLang="en-US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부정적 효과 </a:t>
                </a:r>
                <a:r>
                  <a:rPr lang="en-US" altLang="ko-KR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상품 생산량 감소 ⇒ 생산자잉여와 소비자잉여 감소</a:t>
                </a:r>
                <a:endParaRPr lang="en-US" altLang="ko-KR" sz="2000" spc="-5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>
                  <a:lnSpc>
                    <a:spcPct val="140000"/>
                  </a:lnSpc>
                  <a:tabLst>
                    <a:tab pos="711200" algn="l"/>
                  </a:tabLs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생산수준 변화가 사회후생에 미치는 영향을 알아내기 위해서는 두 가지 효과를 비교해 종합적 평가를 내려야 함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8120398" cy="4754563"/>
              </a:xfrm>
              <a:blipFill>
                <a:blip r:embed="rId2"/>
                <a:stretch>
                  <a:fillRect l="-676" r="-6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6370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그림에 의한 설명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66494"/>
                <a:ext cx="7886700" cy="4754563"/>
              </a:xfrm>
            </p:spPr>
            <p:txBody>
              <a:bodyPr anchor="ctr">
                <a:noAutofit/>
              </a:bodyPr>
              <a:lstStyle/>
              <a:p>
                <a:pPr marL="261938" lvl="1" indent="-261938">
                  <a:lnSpc>
                    <a:spcPct val="110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생산량이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sz="18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altLang="ko-KR" sz="18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변화하면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</a:p>
              <a:p>
                <a:pPr marL="444500" lvl="2" indent="-179388">
                  <a:lnSpc>
                    <a:spcPct val="11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2" indent="-179388">
                  <a:lnSpc>
                    <a:spcPct val="11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생산감소로 인해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△</a:t>
                </a:r>
                <a14:m>
                  <m:oMath xmlns:m="http://schemas.openxmlformats.org/officeDocument/2006/math">
                    <m:r>
                      <a:rPr lang="en-US" altLang="ko-KR" i="1" spc="-80">
                        <a:latin typeface="Cambria Math" panose="02040503050406030204" pitchFamily="18" charset="0"/>
                      </a:rPr>
                      <m:t>𝑮𝑭</m:t>
                    </m:r>
                    <m:r>
                      <a:rPr lang="en-US" altLang="ko-KR" b="1" i="1" spc="-80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생산자잉여와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소비자잉여 감소</a:t>
                </a:r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2" indent="-179388">
                  <a:lnSpc>
                    <a:spcPct val="11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altLang="ko-KR" sz="1000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2" indent="-179388">
                  <a:lnSpc>
                    <a:spcPct val="11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오염물질 감소로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인해 □</a:t>
                </a:r>
                <a14:m>
                  <m:oMath xmlns:m="http://schemas.openxmlformats.org/officeDocument/2006/math">
                    <m:r>
                      <a:rPr lang="en-US" altLang="ko-KR" b="1" i="1" spc="-80" dirty="0" smtClean="0">
                        <a:latin typeface="Cambria Math" panose="02040503050406030204" pitchFamily="18" charset="0"/>
                        <a:ea typeface="+mn-ea"/>
                      </a:rPr>
                      <m:t>𝑮𝑯𝑭𝑰</m:t>
                    </m:r>
                  </m:oMath>
                </a14:m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(=</a:t>
                </a: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□</a:t>
                </a:r>
                <a14:m>
                  <m:oMath xmlns:m="http://schemas.openxmlformats.org/officeDocument/2006/math">
                    <m:r>
                      <a:rPr lang="en-US" altLang="ko-KR" b="1" i="1" spc="-80" dirty="0" smtClean="0">
                        <a:latin typeface="Cambria Math" panose="02040503050406030204" pitchFamily="18" charset="0"/>
                      </a:rPr>
                      <m:t>𝑱𝑲</m:t>
                    </m:r>
                    <m:sSub>
                      <m:sSubPr>
                        <m:ctrlPr>
                          <a:rPr lang="en-US" altLang="ko-KR" i="1" spc="-8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pc="-8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i="1" spc="-8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sSup>
                      <m:sSupPr>
                        <m:ctrlPr>
                          <a:rPr lang="en-US" altLang="ko-KR" i="1" spc="-8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spc="-8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altLang="ko-KR" i="1" spc="-8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사회적 피해 감소</a:t>
                </a:r>
                <a:endParaRPr lang="en-US" altLang="ko-KR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2" indent="-179388">
                  <a:lnSpc>
                    <a:spcPct val="11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altLang="ko-KR" sz="1000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2" indent="-179388">
                  <a:lnSpc>
                    <a:spcPct val="11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결국 전체적인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사회후생은 </a:t>
                </a:r>
                <a:b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△</a:t>
                </a:r>
                <a14:m>
                  <m:oMath xmlns:m="http://schemas.openxmlformats.org/officeDocument/2006/math">
                    <m:r>
                      <a:rPr lang="en-US" altLang="ko-KR" b="1" i="1" spc="-80">
                        <a:latin typeface="Cambria Math" panose="02040503050406030204" pitchFamily="18" charset="0"/>
                      </a:rPr>
                      <m:t>𝑮𝑭𝑯</m:t>
                    </m:r>
                  </m:oMath>
                </a14:m>
                <a:r>
                  <a:rPr lang="ko-KR" altLang="en-US" spc="-8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증가</a:t>
                </a:r>
                <a:endParaRPr lang="en-US" altLang="ko-KR" sz="1800" spc="-8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66494"/>
                <a:ext cx="7886700" cy="4754563"/>
              </a:xfrm>
              <a:blipFill rotWithShape="0">
                <a:blip r:embed="rId2"/>
                <a:stretch>
                  <a:fillRect l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1006F9-F2EC-4926-9FC6-458675250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9664" y="2669216"/>
            <a:ext cx="5636237" cy="311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257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환경정책상 함의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7970144" cy="4754563"/>
              </a:xfrm>
            </p:spPr>
            <p:txBody>
              <a:bodyPr>
                <a:normAutofit/>
              </a:bodyPr>
              <a:lstStyle/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모형에서 찾아낸 가장 바람직한 오염물질 배출수준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𝑸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더 크다는 데 주의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이는 오염물질 배출수준을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떨어뜨리는 것이 최적은 아니라는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의미</a:t>
                </a:r>
              </a:p>
              <a:p>
                <a:pPr marL="261938" indent="-261938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오염물질 배출을 줄이려는 목적에서 생산량을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𝑸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이하로 떨어뜨리면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생산수준 하락에 따른 사회적 순편익 감소의 부정적 효과가 오염물질로 인한 피해 감소의 긍정적 효과보다 더욱 커짐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7970144" cy="4754563"/>
              </a:xfrm>
              <a:blipFill>
                <a:blip r:embed="rId2"/>
                <a:stretch>
                  <a:fillRect l="-688" r="-1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1592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 해결의 여러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86054" cy="4754563"/>
          </a:xfrm>
        </p:spPr>
        <p:txBody>
          <a:bodyPr anchor="ctr">
            <a:noAutofit/>
          </a:bodyPr>
          <a:lstStyle/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환경오염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외부성이 개재되어 있어 시장이 자율적으로 이 문제를 해결할 수 없으므로 정부의 개입을 통해 외부성의 문제를 해결할 수 있는 방법을 마련해야 환경이 적절하게 보존될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환경정책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7813" lvl="1" indent="0">
              <a:lnSpc>
                <a:spcPct val="14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(market-based approach)</a:t>
            </a:r>
          </a:p>
          <a:p>
            <a:pPr marL="277813" lvl="1" indent="0">
              <a:lnSpc>
                <a:spcPct val="14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(command-and-control)</a:t>
            </a:r>
          </a:p>
          <a:p>
            <a:pPr marL="277813" lvl="1" indent="0">
              <a:lnSpc>
                <a:spcPct val="14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 확립을 통한 환경문제의 해결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3202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81951" cy="4754563"/>
          </a:xfrm>
        </p:spPr>
        <p:txBody>
          <a:bodyPr anchor="ctr">
            <a:noAutofit/>
          </a:bodyPr>
          <a:lstStyle/>
          <a:p>
            <a:pPr marL="261938" indent="-261938">
              <a:lnSpc>
                <a:spcPct val="13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방식은 직접 통제하는 것이 아니라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적절한 유인을     제공해 스스로 배출을 억제하도록 유도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방식의 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유인만을 제공하고 나머지 부분은 시장이 알아서 처리하는  방식이기 때문에 정책이 유연하게 운영될 수 있을 뿐 아니라 효율적으로 환경목표를 달성할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직접통제방식의 경우 많은 양의 정보를 필요로 하는 데 비해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방식이 요구하는 정보의 양은 그리 많지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장기적인 관점에서 볼 때 효율적이고 경제적인 정화기술의 개발 촉진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2566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 부과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Autofit/>
          </a:bodyPr>
          <a:lstStyle/>
          <a:p>
            <a:pPr marL="261938" indent="-261938">
              <a:lnSpc>
                <a:spcPct val="13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오염물질을 배출하는 행위에 대해 어떤 대가를 지불하지 않기 때문에 개인적인 관점에서 인식하는 생산비용이 사회적 생산비용보다 더 낮아지는 것이 문제의 핵심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3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기업들이 적절한 생산수준을 선택하도록 유도하기 위해서는 오염물질 배출행위에 대해 조세를 부과함으로써 이들이 인식하는 개인적 생산 비용을 사회적 생산비용의 수준으로 끌어올려야 할 필요가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30000"/>
              </a:lnSpc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피구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Pigou) :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환경세를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부과함으로써 가격이 사회적 비용에 관한 정보를 올바로 제공해 줄 수 있도록 만들 수 있다고 주장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⇒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또는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피구세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2000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Pigouvian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tax)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5631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 부과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lang="en-US" altLang="ko-KR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AC625DF-9064-4EB8-9AA0-E735468C5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2217" y="1520201"/>
            <a:ext cx="8339566" cy="455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72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 부과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7846483" cy="4754563"/>
              </a:xfrm>
            </p:spPr>
            <p:txBody>
              <a:bodyPr anchor="ctr">
                <a:noAutofit/>
              </a:bodyPr>
              <a:lstStyle/>
              <a:p>
                <a:pPr marL="261938" indent="-261938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최적수준을 달성하기 위해서는 환경세의 세율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최적배분상태에서 오염물질이 초래하는 한계피해액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14:m>
                  <m:oMath xmlns:m="http://schemas.openxmlformats.org/officeDocument/2006/math">
                    <m:r>
                      <a:rPr lang="en-US" altLang="ko-KR" sz="20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𝑱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길이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일치시켜야 함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환경세를 포함한 개인적 한계비용곡선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𝑷𝑴𝑪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𝑷𝑴𝑪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환경세가 부과된 후의 균형점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최적생산수준에서의 한계피해액을 세율로 하는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환경세를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부과하면  이윤극대화를 추구하는 생산자들은 자발적으로 최적생산수준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선택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7846483" cy="4754563"/>
              </a:xfrm>
              <a:blipFill>
                <a:blip r:embed="rId2"/>
                <a:stretch>
                  <a:fillRect l="-699" r="-6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3893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32870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</a:t>
            </a:r>
            <a:endParaRPr lang="ko-KR" altLang="en-US" sz="2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1938" indent="-261938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 부과 방식의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상황에서 최적세율을 찾아내는 것은 무척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경쟁이 불완전한 경우가 더욱 많음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환경세를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누구에게 어떤 방식으로 부과해야 하는지의 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오염물질 배출자의 행동에 대한 적절한 감시가 가능한지의 여부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환경세가 실제로 부과되는 사례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탄소세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(carbon tax)</a:t>
            </a:r>
          </a:p>
          <a:p>
            <a:pPr marL="449263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지구온난화의 원인인 온실가스의 배출을 줄이려는 목적으로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1990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핀란드에서 처음 부과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1990~2008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동안 이산화탄소 배출량을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줄이는 성과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6902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일정한 양의 오염물질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(emission rights)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보유하고 있는 경제주체만 오염물질을 배출할 수 있게 허용하는 방식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사회적인 관점에서 적절하다고 판단되는 오염물질의 배출수준을 파악하여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배출량이 이 수준 이내에 머물 수 있도록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발행량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통제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배출권은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시장에서 자유로이 교환될 수 있도록 허용됨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시장의 힘을 빌려 환경오염의 문제를 해결할 수 있는 길이 열림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7874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spcBef>
                <a:spcPts val="100"/>
              </a:spcBef>
              <a:spcAft>
                <a:spcPts val="2000"/>
              </a:spcAft>
              <a:buNone/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거래제도의 장점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Bef>
                <a:spcPts val="100"/>
              </a:spcBef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배출권의 거래과정에서 사람들이 환경에 대한 진정한 선호 표출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Bef>
                <a:spcPts val="100"/>
              </a:spcBef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환경보존과 관련된 비용을 절약할 수 있음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</a:p>
          <a:p>
            <a:pPr marL="573300" lvl="1" indent="-230400">
              <a:spcBef>
                <a:spcPts val="100"/>
              </a:spcBef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더욱 효율적인 정화능력을 갖춘 기업으로 자체정화의 부담이 넘겨지는 것을 통해 사회 전체의 관점에서 비용이 절감되는 효과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Bef>
                <a:spcPts val="100"/>
              </a:spcBef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비교적 쉽게 오염물질 배출량을 통제할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Bef>
                <a:spcPts val="100"/>
              </a:spcBef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신축성을 갖고 있어 경제상황의 변화에 쉽게 적응할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73300" lvl="1" indent="-230400">
              <a:spcBef>
                <a:spcPts val="100"/>
              </a:spcBef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환경세의 경우 인플레이션이 발생할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때마다 세율 조정 필요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</a:t>
            </a:r>
            <a:endParaRPr lang="ko-KR" altLang="en-US" spc="-25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2765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74437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50000"/>
              </a:lnSpc>
              <a:spcAft>
                <a:spcPts val="2000"/>
              </a:spcAft>
              <a:buNone/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거래제도의 단점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Aft>
                <a:spcPts val="8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시행의 초기단계에서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분배 기준을 어떻게 할 것인가의 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Aft>
                <a:spcPts val="800"/>
              </a:spcAf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독점을 통해 경쟁질서를 해치는 결과를 가져올 수 있음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30400" indent="-230400">
              <a:spcAft>
                <a:spcPts val="8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배출권이 거래되는 시장에 참여하는 경제주체의 수가 매우 적거나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불완전한 정보와 거래비용에 의해 시장이 제대로 기능하지 못할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spcAft>
                <a:spcPts val="8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배출권이 유효한 지역과 오염물질이 영향을 미치는 지역의 범위가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다를 경우 문제가 발생할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</a:t>
            </a:r>
            <a:endParaRPr lang="ko-KR" altLang="en-US" spc="-25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9088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91609" cy="4754563"/>
          </a:xfrm>
        </p:spPr>
        <p:txBody>
          <a:bodyPr anchor="ctr">
            <a:noAutofit/>
          </a:bodyPr>
          <a:lstStyle/>
          <a:p>
            <a:pPr marL="0" indent="0">
              <a:spcAft>
                <a:spcPts val="2000"/>
              </a:spcAft>
              <a:buNone/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거래제도의 사례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1993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년도부터 시카고선물거래소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(Chicago Board of Trade)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거래 시작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거래시장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(emission rights markets)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출범</a:t>
            </a:r>
          </a:p>
          <a:p>
            <a:pPr marL="533400" lvl="1" indent="-177800" fontAlgn="base">
              <a:spcAft>
                <a:spcPts val="1000"/>
              </a:spcAft>
              <a:buSzPct val="50000"/>
              <a:buFont typeface="Wingdings" panose="05000000000000000000" pitchFamily="2" charset="2"/>
              <a:buChar char="l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배출권시장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출범 이후 산성비의 강수량이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50%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정도 줄어드는 효과 발생</a:t>
            </a:r>
          </a:p>
          <a:p>
            <a:pPr marL="266700" indent="-2667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지구온난화와 관련해 온실가스에 대한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이산화탄소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거래시장을 형성하자는 주장 제기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교토의정서에서 이에 대한 국제적 합의 이룸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 fontAlgn="base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유럽연합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(EU)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의해 이산화탄소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배출권시장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도입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시장을 활용하는 방식 </a:t>
            </a:r>
            <a:r>
              <a:rPr lang="en-US" altLang="ko-KR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배출권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거래제도</a:t>
            </a:r>
            <a:endParaRPr lang="ko-KR" altLang="en-US" spc="-25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3393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1938" indent="-261938">
              <a:lnSpc>
                <a:spcPct val="13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직접통제방식의 형태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오염물질 배출량의 허용기준을 정하고 모든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배출자로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하여금 이 기준을 준수하도록 만드는 방식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오염물질 발생을 억제하기 위해 특정한 공정의 채택이나 정화시설의 설치를 의무화하는 방식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3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직접통제방식은 경직성을 가질 수밖에 없어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실제로 정책이 수행되는 과정에서 예기치 못했던 많은 어려움에 직면할 가능성이 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200"/>
              </a:spcAft>
            </a:pP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오염물질 배출자의 수가 매우 많은 경우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수많은 배출자의 행동을        일일이 감시하지 못해 애초에 기대했던 효과를 거두기 힘들어짐</a:t>
            </a:r>
            <a:endParaRPr lang="en-US" altLang="ko-KR" sz="200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3036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직접통제방식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(W. Oates)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실증연구를 통해 직접통제방식을 사용할 경우에는 시장을 활용하는 경우보다 거의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배나 더 많은 경제적 비용이 소요된다는 것을 보임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우리나라를 위시한 대부분의 나라가 직접통제방식에 크게 의존하고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5786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 확립을 통한 문제의 해결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80500" cy="4754563"/>
          </a:xfrm>
        </p:spPr>
        <p:txBody>
          <a:bodyPr anchor="ctr">
            <a:noAutofit/>
          </a:bodyPr>
          <a:lstStyle/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외부성이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자원배분상의 문제를 일으키는 배경을 보면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소유권이 모호하게 정의되어 있거나 바람직하지 않은 방식으로 귀속되어 있어 문제가 생기는 경우를 많이 보게 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소유권을 명백하게 정의해 주거나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재배분하는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것을 통해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문제의 해결을 시도해 볼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앞에서 본 두 가지 접근법은 정부가 환경문제에 관해 직접 개입하는 것을 뜻하는 반면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접근법은 민간부문이 스스로 해결책을 찾도록    도와주는 데 그친다는 특징을 가짐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1026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확립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공유지의 비극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바다나 들판은 모든 사람의 공동재산이라고 할 수 있는데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소유권이  분명하지 않기 때문에 각 개인은 이를 아껴 쓸 유인을 갖지 못하게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공유지의 비극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(tragedy of the commons)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소유권이 명확하게 규정되어 있지 못해 아까운 자원이 낭비되는 현상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6596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확립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공유지의 비극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57175" indent="-257175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 마을에 사는 사람들이 소를 방목하는 데 사용할 목초지를 공동으로 구입하여 소유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57175" indent="-257175">
                  <a:lnSpc>
                    <a:spcPct val="100000"/>
                  </a:lnSpc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57175" indent="-257175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마을 사람이면 누구나 송아지를 사서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 동안 공동목초지에 놓아먹일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57175" indent="-257175">
                  <a:lnSpc>
                    <a:spcPct val="100000"/>
                  </a:lnSpc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57175" indent="-257175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송아지 한 마리 구입비용은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라고 가정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이는 방목되는 송아지 수를 한 마리 늘리는 데 소요되는 한계비용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𝑴𝑪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>
                  <a:lnSpc>
                    <a:spcPct val="100000"/>
                  </a:lnSpc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57175" indent="-257175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한정된 땅에 많은 수의 송아지가 방목되면 성장이 더 느려져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 후에 받을 수 있는 가격이 떨어지게 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7675" lvl="1" indent="-180975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방목된 송아지의 수가 많아질수록 마리당 평균생산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𝑨𝑷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하락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3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47449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확립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공유지의 비극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300038"/>
            <a:endParaRPr lang="en-US" altLang="ko-KR" sz="1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28588" indent="0">
              <a:buNone/>
            </a:pPr>
            <a:r>
              <a:rPr lang="en-US" altLang="ko-KR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B172F4-3A1D-4E17-AB03-1B58D953E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651" y="1636504"/>
            <a:ext cx="7924617" cy="432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7837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확립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공유지의 비극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7970144" cy="4754563"/>
              </a:xfrm>
            </p:spPr>
            <p:txBody>
              <a:bodyPr anchor="ctr">
                <a:noAutofit/>
              </a:bodyPr>
              <a:lstStyle/>
              <a:p>
                <a:pPr marL="268288" indent="-268288">
                  <a:lnSpc>
                    <a:spcPct val="100000"/>
                  </a:lnSpc>
                </a:pPr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마을 전체의 입장</a:t>
                </a:r>
                <a:endParaRPr lang="en-US" altLang="ko-KR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6213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총생산에서 총비용을 뺀 잉여가 가장 크게 되는 수준의 송아지를 방목하는 것이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바람직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⇒ 한계생산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𝑴𝑷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=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한계비용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𝑴𝑪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  <a:p>
                <a:pPr marL="444500" lvl="1" indent="-176213"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마리의 송아지가 방목될 때 주민 전체가 얻는 잉여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□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𝑨𝑩𝑪𝑫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52438" lvl="1" indent="-184150">
                  <a:lnSpc>
                    <a:spcPct val="100000"/>
                  </a:lnSpc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8288" indent="-268288">
                  <a:lnSpc>
                    <a:spcPct val="100000"/>
                  </a:lnSpc>
                </a:pPr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개인의 입장</a:t>
                </a:r>
                <a:endParaRPr lang="en-US" altLang="ko-KR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>
                  <a:lnSpc>
                    <a:spcPct val="100000"/>
                  </a:lnSpc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 후 송아지 한 마리의 가격이 그것의 구입비용을 초과할 경우 한 마리를 더 구입해 방목함으로써 이득을 얻을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개인적 관점에서 방목하게 되는 송아지의 총수는 평균생산곡선이    한계비용곡선과 교차하는 수준인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이와 같은 선택이 이루어질 때 마을 전체가 얻을 수 있는 잉여는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수준으로 떨어져 비효율적인 결과 발생 ⇒ 공유지의 비극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7970144" cy="4754563"/>
              </a:xfrm>
              <a:blipFill>
                <a:blip r:embed="rId2"/>
                <a:stretch>
                  <a:fillRect l="-688" r="-3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68864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확립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공유지의 비극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1938" indent="-261938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공유지의 비극 발생 배경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4625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개인이 송아지 한 마리를 더 구입해 방목하기로 결정한 행위가 다른 주민들에게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외부성을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일으키고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4625">
                  <a:lnSpc>
                    <a:spcPct val="130000"/>
                  </a:lnSpc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외부성이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존재하는 상황에서 소유권이 분명히 정의되지 못했기 때문에 문제가 발생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lvl="1" indent="-261938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1938" indent="-261938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만약 그 목초지에 주인이 있어 일정한 요금을 내야 송아지를 놓아먹일 수 있다면 공유지의 비극은 일어나지 않음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4625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송아지 한 마리당 </a:t>
                </a:r>
                <a14:m>
                  <m:oMath xmlns:m="http://schemas.openxmlformats.org/officeDocument/2006/math"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만큼의 요금을 내야 한다면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송아지 사육의 한계비용은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되고 한계비용곡선은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𝑴𝑪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됨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4625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사람들이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수준에서 방목하는 송아지의 수 선택 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3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1556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확립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 확립의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25954" cy="4754563"/>
          </a:xfrm>
        </p:spPr>
        <p:txBody>
          <a:bodyPr anchor="ctr">
            <a:noAutofit/>
          </a:bodyPr>
          <a:lstStyle/>
          <a:p>
            <a:pPr marL="261938" indent="-219075">
              <a:lnSpc>
                <a:spcPct val="140000"/>
              </a:lnSpc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강의 상류에 화공약품 공장이 있고 하류에는 그 강에서 잡히는    물고기 요리를 전문으로 하는 음식점이 영업하고 있는 경우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40000"/>
              </a:lnSpc>
              <a:spcAft>
                <a:spcPts val="500"/>
              </a:spcAft>
              <a:tabLst>
                <a:tab pos="1074738" algn="l"/>
                <a:tab pos="1349375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공장에서 배출하는 폐수 때문에 물고기가 줄어들어 음식점 영업에    지장이 생김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40000"/>
              </a:lnSpc>
              <a:spcAft>
                <a:spcPts val="500"/>
              </a:spcAft>
              <a:tabLst>
                <a:tab pos="1074738" algn="l"/>
                <a:tab pos="1349375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만약 한 사람이 공장과 음식점을 모두 소유하고 있다면 폐수를 마음  대로 배출하는 일은 일어나지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40000"/>
              </a:lnSpc>
              <a:spcAft>
                <a:spcPts val="500"/>
              </a:spcAft>
              <a:tabLst>
                <a:tab pos="1074738" algn="l"/>
                <a:tab pos="1349375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폐수를 처리하는 데 드는 비용과 수질 향상으로 인한 음식점 쪽의 이윤 증가를 비교해 적절한 수준에서 강의 수질을 유지하려 하기 때문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8320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1938" indent="-261938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소유권이 한 사람에게 통합된 상황에서는 오염물질의 배출이 더 이상 외부성의 원인이 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4625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사람들은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자신의 이익을 지키기 위해 오염물질의 배출을 자발적으로 억제할 것임 ⇒ 외부성의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내부화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(internalization)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spcAft>
                <a:spcPts val="2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환경오염의 경우에는 피해자의 수가 많아 소유권의 재배분을 통해 문제 해결을 기대하기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재배분보다는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소유권을 명백하게 정의해 주는 방식으로 문제 해결을 시도하는 쪽이 더욱 실현가능성이 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확립 </a:t>
            </a:r>
            <a:r>
              <a:rPr lang="en-US" altLang="ko-KR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소유권 확립의 효과</a:t>
            </a:r>
          </a:p>
        </p:txBody>
      </p:sp>
    </p:spTree>
    <p:extLst>
      <p:ext uri="{BB962C8B-B14F-4D97-AF65-F5344CB8AC3E}">
        <p14:creationId xmlns:p14="http://schemas.microsoft.com/office/powerpoint/2010/main" val="34856068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확립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코즈정리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87315" cy="4754563"/>
          </a:xfrm>
        </p:spPr>
        <p:txBody>
          <a:bodyPr anchor="ctr">
            <a:noAutofit/>
          </a:bodyPr>
          <a:lstStyle/>
          <a:p>
            <a:pPr marL="261938" indent="-261938">
              <a:lnSpc>
                <a:spcPct val="140000"/>
              </a:lnSpc>
              <a:spcAft>
                <a:spcPts val="200"/>
              </a:spcAf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Coase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소유권이 분명하다면 외부성의 문제가 당사자들의  자발적 협상에 의해 해결될 수 있음 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 </a:t>
            </a:r>
            <a:r>
              <a:rPr lang="ko-KR" altLang="en-US" sz="2000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코즈정리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(Coase theorem)</a:t>
            </a:r>
          </a:p>
          <a:p>
            <a:pPr marL="604838" lvl="1" indent="-261938">
              <a:lnSpc>
                <a:spcPct val="140000"/>
              </a:lnSpc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외부성의 본질적 성격이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상호성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(reciprocity)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있음을 지적하고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부과처럼 정부가 당사자들 중 한쪽에게만 책임을 지게        만드는 방식으로는 효율적 자원배분을 이룰 수 없다고 주장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40000"/>
              </a:lnSpc>
              <a:spcAft>
                <a:spcPts val="200"/>
              </a:spcAft>
            </a:pP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직접적 개입을 삼가고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당사자들 사이의 협상이 원활하게 진행될 수 있도록 제도적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행정적 뒷받침을 해주는 데 그 역할을 한정시켜야 한다는 것이 </a:t>
            </a:r>
            <a:r>
              <a:rPr lang="ko-KR" altLang="en-US" sz="2000" spc="-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코즈의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주장</a:t>
            </a:r>
            <a:endParaRPr lang="en-US" altLang="ko-KR" sz="200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58748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소유권의 확립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코즈정리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210550" cy="4754563"/>
          </a:xfrm>
        </p:spPr>
        <p:txBody>
          <a:bodyPr anchor="ctr">
            <a:noAutofit/>
          </a:bodyPr>
          <a:lstStyle/>
          <a:p>
            <a:pPr marL="261938" indent="-261938">
              <a:lnSpc>
                <a:spcPct val="14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코즈정리에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입각해 환경정책을 수행하려고 할 때 여러 문제점이 발생할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0" lvl="1" indent="-450000">
              <a:lnSpc>
                <a:spcPct val="140000"/>
              </a:lnSpc>
              <a:spcAft>
                <a:spcPts val="3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환경문제에서는 이해당사자가 누구인지 판별하기조차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0" lvl="1" indent="-450000">
              <a:lnSpc>
                <a:spcPct val="140000"/>
              </a:lnSpc>
              <a:spcAft>
                <a:spcPts val="3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협상과정에서 발생하는 거래비용이 적게 들어야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0" lvl="1" indent="-450000">
              <a:lnSpc>
                <a:spcPct val="140000"/>
              </a:lnSpc>
              <a:spcAft>
                <a:spcPts val="3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이해당사자들의 협상을 통해 과연 공정한 해결책을 찾을 수 있는지에 대한 의문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0" lvl="1" indent="-450000">
              <a:lnSpc>
                <a:spcPct val="140000"/>
              </a:lnSpc>
              <a:spcAft>
                <a:spcPts val="3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코즈의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상호성 개념 자체의 문제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미샨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Mishan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쾌적권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(amenity right)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개념을 통해 일반 대중이 깨끗한 환경에 대한 권리를 갖고 있음을 주장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외부성의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347730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3200</TotalTime>
  <Words>2320</Words>
  <Application>Microsoft Office PowerPoint</Application>
  <PresentationFormat>화면 슬라이드 쇼(4:3)</PresentationFormat>
  <Paragraphs>315</Paragraphs>
  <Slides>34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5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Cambria Math</vt:lpstr>
      <vt:lpstr>Wingdings</vt:lpstr>
      <vt:lpstr>Wingdings 3</vt:lpstr>
      <vt:lpstr>재정학테마</vt:lpstr>
      <vt:lpstr>PowerPoint 프레젠테이션</vt:lpstr>
      <vt:lpstr>6.1  외부성의 의미</vt:lpstr>
      <vt:lpstr>외부성의 유형</vt:lpstr>
      <vt:lpstr>외부성의 유형</vt:lpstr>
      <vt:lpstr>6.2  외부성과 자원배분</vt:lpstr>
      <vt:lpstr>직관적 설명</vt:lpstr>
      <vt:lpstr>그림에 의한 설명</vt:lpstr>
      <vt:lpstr>그림에 의한 설명</vt:lpstr>
      <vt:lpstr>그림에 의한 설명</vt:lpstr>
      <vt:lpstr>그림에 의한 설명</vt:lpstr>
      <vt:lpstr>그림에 의한 설명</vt:lpstr>
      <vt:lpstr>환경정책상 함의</vt:lpstr>
      <vt:lpstr>6.3  문제 해결의 여러 방법</vt:lpstr>
      <vt:lpstr>시장을 활용하는 방식</vt:lpstr>
      <vt:lpstr>시장을 활용하는 방식 : 환경세 부과</vt:lpstr>
      <vt:lpstr>시장을 활용하는 방식 : 환경세 부과</vt:lpstr>
      <vt:lpstr>시장을 활용하는 방식 : 환경세 부과</vt:lpstr>
      <vt:lpstr>시장을 활용하는 방식 : 환경세 부과</vt:lpstr>
      <vt:lpstr>시장을 활용하는 방식 : 배출권 거래제도</vt:lpstr>
      <vt:lpstr>PowerPoint 프레젠테이션</vt:lpstr>
      <vt:lpstr>PowerPoint 프레젠테이션</vt:lpstr>
      <vt:lpstr>PowerPoint 프레젠테이션</vt:lpstr>
      <vt:lpstr>직접통제방식</vt:lpstr>
      <vt:lpstr>직접통제방식</vt:lpstr>
      <vt:lpstr>6.4  소유권 확립을 통한 문제의 해결</vt:lpstr>
      <vt:lpstr>소유권의 확립 : 공유지의 비극</vt:lpstr>
      <vt:lpstr>소유권의 확립 : 공유지의 비극</vt:lpstr>
      <vt:lpstr>소유권의 확립 : 공유지의 비극</vt:lpstr>
      <vt:lpstr>소유권의 확립 : 공유지의 비극</vt:lpstr>
      <vt:lpstr>소유권의 확립 : 공유지의 비극</vt:lpstr>
      <vt:lpstr>소유권의 확립 : 소유권 확립의 효과</vt:lpstr>
      <vt:lpstr>PowerPoint 프레젠테이션</vt:lpstr>
      <vt:lpstr>소유권의 확립 : 코즈정리</vt:lpstr>
      <vt:lpstr>소유권의 확립 : 코즈정리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846</cp:revision>
  <dcterms:created xsi:type="dcterms:W3CDTF">2015-08-04T05:38:00Z</dcterms:created>
  <dcterms:modified xsi:type="dcterms:W3CDTF">2026-01-12T05:28:22Z</dcterms:modified>
</cp:coreProperties>
</file>