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3"/>
  </p:notesMasterIdLst>
  <p:handoutMasterIdLst>
    <p:handoutMasterId r:id="rId44"/>
  </p:handoutMasterIdLst>
  <p:sldIdLst>
    <p:sldId id="337" r:id="rId2"/>
    <p:sldId id="315" r:id="rId3"/>
    <p:sldId id="305" r:id="rId4"/>
    <p:sldId id="316" r:id="rId5"/>
    <p:sldId id="268" r:id="rId6"/>
    <p:sldId id="335" r:id="rId7"/>
    <p:sldId id="265" r:id="rId8"/>
    <p:sldId id="269" r:id="rId9"/>
    <p:sldId id="270" r:id="rId10"/>
    <p:sldId id="318" r:id="rId11"/>
    <p:sldId id="271" r:id="rId12"/>
    <p:sldId id="273" r:id="rId13"/>
    <p:sldId id="336" r:id="rId14"/>
    <p:sldId id="320" r:id="rId15"/>
    <p:sldId id="334" r:id="rId16"/>
    <p:sldId id="321" r:id="rId17"/>
    <p:sldId id="275" r:id="rId18"/>
    <p:sldId id="276" r:id="rId19"/>
    <p:sldId id="277" r:id="rId20"/>
    <p:sldId id="278" r:id="rId21"/>
    <p:sldId id="323" r:id="rId22"/>
    <p:sldId id="324" r:id="rId23"/>
    <p:sldId id="325" r:id="rId24"/>
    <p:sldId id="282" r:id="rId25"/>
    <p:sldId id="326" r:id="rId26"/>
    <p:sldId id="327" r:id="rId27"/>
    <p:sldId id="328" r:id="rId28"/>
    <p:sldId id="287" r:id="rId29"/>
    <p:sldId id="288" r:id="rId30"/>
    <p:sldId id="289" r:id="rId31"/>
    <p:sldId id="290" r:id="rId32"/>
    <p:sldId id="291" r:id="rId33"/>
    <p:sldId id="331" r:id="rId34"/>
    <p:sldId id="330" r:id="rId35"/>
    <p:sldId id="332" r:id="rId36"/>
    <p:sldId id="294" r:id="rId37"/>
    <p:sldId id="295" r:id="rId38"/>
    <p:sldId id="296" r:id="rId39"/>
    <p:sldId id="297" r:id="rId40"/>
    <p:sldId id="298" r:id="rId41"/>
    <p:sldId id="299" r:id="rId4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64167-476E-4DA6-B10E-EF24EEAAC3AA}" v="1" dt="2026-01-12T01:31:10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412" y="312"/>
      </p:cViewPr>
      <p:guideLst>
        <p:guide orient="horz" pos="2183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0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2:02:46.121" v="320" actId="20577"/>
      <pc:docMkLst>
        <pc:docMk/>
      </pc:docMkLst>
      <pc:sldChg chg="modSp mod">
        <pc:chgData name="영완 전" userId="94a232b962f42e62" providerId="LiveId" clId="{862E7F7D-119D-4717-AD52-91020921814B}" dt="2026-01-12T01:32:21.619" v="39" actId="20577"/>
        <pc:sldMkLst>
          <pc:docMk/>
          <pc:sldMk cId="710432419" sldId="265"/>
        </pc:sldMkLst>
        <pc:spChg chg="mod">
          <ac:chgData name="영완 전" userId="94a232b962f42e62" providerId="LiveId" clId="{862E7F7D-119D-4717-AD52-91020921814B}" dt="2026-01-12T01:32:21.619" v="39" actId="20577"/>
          <ac:spMkLst>
            <pc:docMk/>
            <pc:sldMk cId="710432419" sldId="26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3:16.826" v="47" actId="14100"/>
        <pc:sldMkLst>
          <pc:docMk/>
          <pc:sldMk cId="1954424251" sldId="269"/>
        </pc:sldMkLst>
        <pc:spChg chg="mod">
          <ac:chgData name="영완 전" userId="94a232b962f42e62" providerId="LiveId" clId="{862E7F7D-119D-4717-AD52-91020921814B}" dt="2026-01-12T01:33:16.826" v="47" actId="14100"/>
          <ac:spMkLst>
            <pc:docMk/>
            <pc:sldMk cId="1954424251" sldId="26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4:07.040" v="52" actId="20577"/>
        <pc:sldMkLst>
          <pc:docMk/>
          <pc:sldMk cId="4269011805" sldId="270"/>
        </pc:sldMkLst>
        <pc:spChg chg="mod">
          <ac:chgData name="영완 전" userId="94a232b962f42e62" providerId="LiveId" clId="{862E7F7D-119D-4717-AD52-91020921814B}" dt="2026-01-12T01:34:07.040" v="52" actId="20577"/>
          <ac:spMkLst>
            <pc:docMk/>
            <pc:sldMk cId="4269011805" sldId="27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6:11.377" v="82" actId="14100"/>
        <pc:sldMkLst>
          <pc:docMk/>
          <pc:sldMk cId="1747022094" sldId="273"/>
        </pc:sldMkLst>
        <pc:spChg chg="mod">
          <ac:chgData name="영완 전" userId="94a232b962f42e62" providerId="LiveId" clId="{862E7F7D-119D-4717-AD52-91020921814B}" dt="2026-01-12T01:36:11.377" v="82" actId="14100"/>
          <ac:spMkLst>
            <pc:docMk/>
            <pc:sldMk cId="1747022094" sldId="27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9:56.481" v="142" actId="20577"/>
        <pc:sldMkLst>
          <pc:docMk/>
          <pc:sldMk cId="1259844680" sldId="275"/>
        </pc:sldMkLst>
        <pc:spChg chg="mod">
          <ac:chgData name="영완 전" userId="94a232b962f42e62" providerId="LiveId" clId="{862E7F7D-119D-4717-AD52-91020921814B}" dt="2026-01-12T01:39:56.481" v="142" actId="20577"/>
          <ac:spMkLst>
            <pc:docMk/>
            <pc:sldMk cId="1259844680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0:18.845" v="145" actId="20577"/>
        <pc:sldMkLst>
          <pc:docMk/>
          <pc:sldMk cId="3321070818" sldId="276"/>
        </pc:sldMkLst>
        <pc:spChg chg="mod">
          <ac:chgData name="영완 전" userId="94a232b962f42e62" providerId="LiveId" clId="{862E7F7D-119D-4717-AD52-91020921814B}" dt="2026-01-12T01:40:18.845" v="145" actId="20577"/>
          <ac:spMkLst>
            <pc:docMk/>
            <pc:sldMk cId="3321070818" sldId="27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2:01:55.643" v="319" actId="20577"/>
        <pc:sldMkLst>
          <pc:docMk/>
          <pc:sldMk cId="977225507" sldId="277"/>
        </pc:sldMkLst>
        <pc:spChg chg="mod">
          <ac:chgData name="영완 전" userId="94a232b962f42e62" providerId="LiveId" clId="{862E7F7D-119D-4717-AD52-91020921814B}" dt="2026-01-13T02:01:55.643" v="319" actId="20577"/>
          <ac:spMkLst>
            <pc:docMk/>
            <pc:sldMk cId="977225507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1:41.880" v="168" actId="20577"/>
        <pc:sldMkLst>
          <pc:docMk/>
          <pc:sldMk cId="715179942" sldId="278"/>
        </pc:sldMkLst>
        <pc:spChg chg="mod">
          <ac:chgData name="영완 전" userId="94a232b962f42e62" providerId="LiveId" clId="{862E7F7D-119D-4717-AD52-91020921814B}" dt="2026-01-12T01:41:41.880" v="168" actId="20577"/>
          <ac:spMkLst>
            <pc:docMk/>
            <pc:sldMk cId="715179942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4:44.677" v="204" actId="14100"/>
        <pc:sldMkLst>
          <pc:docMk/>
          <pc:sldMk cId="607166811" sldId="282"/>
        </pc:sldMkLst>
        <pc:spChg chg="mod">
          <ac:chgData name="영완 전" userId="94a232b962f42e62" providerId="LiveId" clId="{862E7F7D-119D-4717-AD52-91020921814B}" dt="2026-01-12T01:44:44.677" v="204" actId="14100"/>
          <ac:spMkLst>
            <pc:docMk/>
            <pc:sldMk cId="607166811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7:57.034" v="237" actId="14100"/>
        <pc:sldMkLst>
          <pc:docMk/>
          <pc:sldMk cId="3800964467" sldId="287"/>
        </pc:sldMkLst>
        <pc:spChg chg="mod">
          <ac:chgData name="영완 전" userId="94a232b962f42e62" providerId="LiveId" clId="{862E7F7D-119D-4717-AD52-91020921814B}" dt="2026-01-12T01:47:57.034" v="237" actId="14100"/>
          <ac:spMkLst>
            <pc:docMk/>
            <pc:sldMk cId="3800964467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8:55.390" v="246" actId="20577"/>
        <pc:sldMkLst>
          <pc:docMk/>
          <pc:sldMk cId="581063303" sldId="288"/>
        </pc:sldMkLst>
        <pc:spChg chg="mod">
          <ac:chgData name="영완 전" userId="94a232b962f42e62" providerId="LiveId" clId="{862E7F7D-119D-4717-AD52-91020921814B}" dt="2026-01-12T01:48:55.390" v="246" actId="20577"/>
          <ac:spMkLst>
            <pc:docMk/>
            <pc:sldMk cId="581063303" sldId="28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9:32.879" v="250" actId="14100"/>
        <pc:sldMkLst>
          <pc:docMk/>
          <pc:sldMk cId="168208218" sldId="289"/>
        </pc:sldMkLst>
        <pc:spChg chg="mod">
          <ac:chgData name="영완 전" userId="94a232b962f42e62" providerId="LiveId" clId="{862E7F7D-119D-4717-AD52-91020921814B}" dt="2026-01-12T01:49:32.879" v="250" actId="14100"/>
          <ac:spMkLst>
            <pc:docMk/>
            <pc:sldMk cId="168208218" sldId="28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0:45.348" v="262" actId="20577"/>
        <pc:sldMkLst>
          <pc:docMk/>
          <pc:sldMk cId="3490406275" sldId="290"/>
        </pc:sldMkLst>
        <pc:spChg chg="mod">
          <ac:chgData name="영완 전" userId="94a232b962f42e62" providerId="LiveId" clId="{862E7F7D-119D-4717-AD52-91020921814B}" dt="2026-01-12T01:50:45.348" v="262" actId="20577"/>
          <ac:spMkLst>
            <pc:docMk/>
            <pc:sldMk cId="3490406275" sldId="29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1:28.338" v="268" actId="20577"/>
        <pc:sldMkLst>
          <pc:docMk/>
          <pc:sldMk cId="3988766762" sldId="291"/>
        </pc:sldMkLst>
        <pc:spChg chg="mod">
          <ac:chgData name="영완 전" userId="94a232b962f42e62" providerId="LiveId" clId="{862E7F7D-119D-4717-AD52-91020921814B}" dt="2026-01-12T01:51:28.338" v="268" actId="20577"/>
          <ac:spMkLst>
            <pc:docMk/>
            <pc:sldMk cId="3988766762" sldId="29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3:35.190" v="308" actId="313"/>
        <pc:sldMkLst>
          <pc:docMk/>
          <pc:sldMk cId="697762949" sldId="294"/>
        </pc:sldMkLst>
        <pc:spChg chg="mod">
          <ac:chgData name="영완 전" userId="94a232b962f42e62" providerId="LiveId" clId="{862E7F7D-119D-4717-AD52-91020921814B}" dt="2026-01-12T01:53:35.190" v="308" actId="313"/>
          <ac:spMkLst>
            <pc:docMk/>
            <pc:sldMk cId="697762949" sldId="29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4:23.044" v="309" actId="14100"/>
        <pc:sldMkLst>
          <pc:docMk/>
          <pc:sldMk cId="515675221" sldId="296"/>
        </pc:sldMkLst>
        <pc:spChg chg="mod">
          <ac:chgData name="영완 전" userId="94a232b962f42e62" providerId="LiveId" clId="{862E7F7D-119D-4717-AD52-91020921814B}" dt="2026-01-12T01:54:23.044" v="309" actId="14100"/>
          <ac:spMkLst>
            <pc:docMk/>
            <pc:sldMk cId="515675221" sldId="29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4:50.645" v="310" actId="20577"/>
        <pc:sldMkLst>
          <pc:docMk/>
          <pc:sldMk cId="2976452153" sldId="297"/>
        </pc:sldMkLst>
        <pc:spChg chg="mod">
          <ac:chgData name="영완 전" userId="94a232b962f42e62" providerId="LiveId" clId="{862E7F7D-119D-4717-AD52-91020921814B}" dt="2026-01-12T01:54:50.645" v="310" actId="20577"/>
          <ac:spMkLst>
            <pc:docMk/>
            <pc:sldMk cId="2976452153" sldId="29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5:46.927" v="316" actId="20577"/>
        <pc:sldMkLst>
          <pc:docMk/>
          <pc:sldMk cId="3184469600" sldId="298"/>
        </pc:sldMkLst>
        <pc:spChg chg="mod">
          <ac:chgData name="영완 전" userId="94a232b962f42e62" providerId="LiveId" clId="{862E7F7D-119D-4717-AD52-91020921814B}" dt="2026-01-12T01:55:46.927" v="316" actId="20577"/>
          <ac:spMkLst>
            <pc:docMk/>
            <pc:sldMk cId="3184469600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6:07.493" v="317" actId="14100"/>
        <pc:sldMkLst>
          <pc:docMk/>
          <pc:sldMk cId="871511590" sldId="299"/>
        </pc:sldMkLst>
        <pc:spChg chg="mod">
          <ac:chgData name="영완 전" userId="94a232b962f42e62" providerId="LiveId" clId="{862E7F7D-119D-4717-AD52-91020921814B}" dt="2026-01-12T01:56:07.493" v="317" actId="14100"/>
          <ac:spMkLst>
            <pc:docMk/>
            <pc:sldMk cId="871511590" sldId="29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29:17.897" v="22" actId="20577"/>
        <pc:sldMkLst>
          <pc:docMk/>
          <pc:sldMk cId="3241536331" sldId="315"/>
        </pc:sldMkLst>
        <pc:spChg chg="mod">
          <ac:chgData name="영완 전" userId="94a232b962f42e62" providerId="LiveId" clId="{862E7F7D-119D-4717-AD52-91020921814B}" dt="2026-01-12T01:29:17.897" v="22" actId="20577"/>
          <ac:spMkLst>
            <pc:docMk/>
            <pc:sldMk cId="3241536331" sldId="31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0:32.977" v="29" actId="20577"/>
        <pc:sldMkLst>
          <pc:docMk/>
          <pc:sldMk cId="565772102" sldId="316"/>
        </pc:sldMkLst>
        <pc:spChg chg="mod">
          <ac:chgData name="영완 전" userId="94a232b962f42e62" providerId="LiveId" clId="{862E7F7D-119D-4717-AD52-91020921814B}" dt="2026-01-12T01:30:32.977" v="29" actId="20577"/>
          <ac:spMkLst>
            <pc:docMk/>
            <pc:sldMk cId="565772102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5:11.104" v="75" actId="20577"/>
        <pc:sldMkLst>
          <pc:docMk/>
          <pc:sldMk cId="429529779" sldId="318"/>
        </pc:sldMkLst>
        <pc:spChg chg="mod">
          <ac:chgData name="영완 전" userId="94a232b962f42e62" providerId="LiveId" clId="{862E7F7D-119D-4717-AD52-91020921814B}" dt="2026-01-12T01:35:11.104" v="75" actId="20577"/>
          <ac:spMkLst>
            <pc:docMk/>
            <pc:sldMk cId="429529779" sldId="318"/>
            <ac:spMk id="3" creationId="{00000000-0000-0000-0000-000000000000}"/>
          </ac:spMkLst>
        </pc:spChg>
        <pc:spChg chg="mod">
          <ac:chgData name="영완 전" userId="94a232b962f42e62" providerId="LiveId" clId="{862E7F7D-119D-4717-AD52-91020921814B}" dt="2026-01-12T01:34:19.378" v="53" actId="207"/>
          <ac:spMkLst>
            <pc:docMk/>
            <pc:sldMk cId="429529779" sldId="318"/>
            <ac:spMk id="8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2:00:57.491" v="318" actId="20577"/>
        <pc:sldMkLst>
          <pc:docMk/>
          <pc:sldMk cId="1245422415" sldId="320"/>
        </pc:sldMkLst>
        <pc:spChg chg="mod">
          <ac:chgData name="영완 전" userId="94a232b962f42e62" providerId="LiveId" clId="{862E7F7D-119D-4717-AD52-91020921814B}" dt="2026-01-13T02:00:57.491" v="318" actId="20577"/>
          <ac:spMkLst>
            <pc:docMk/>
            <pc:sldMk cId="1245422415" sldId="32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8:34.849" v="119" actId="20577"/>
        <pc:sldMkLst>
          <pc:docMk/>
          <pc:sldMk cId="1843908547" sldId="321"/>
        </pc:sldMkLst>
        <pc:spChg chg="mod">
          <ac:chgData name="영완 전" userId="94a232b962f42e62" providerId="LiveId" clId="{862E7F7D-119D-4717-AD52-91020921814B}" dt="2026-01-12T01:38:34.849" v="119" actId="20577"/>
          <ac:spMkLst>
            <pc:docMk/>
            <pc:sldMk cId="1843908547" sldId="32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1:59.544" v="169" actId="20577"/>
        <pc:sldMkLst>
          <pc:docMk/>
          <pc:sldMk cId="598178696" sldId="323"/>
        </pc:sldMkLst>
        <pc:spChg chg="mod">
          <ac:chgData name="영완 전" userId="94a232b962f42e62" providerId="LiveId" clId="{862E7F7D-119D-4717-AD52-91020921814B}" dt="2026-01-12T01:41:59.544" v="169" actId="20577"/>
          <ac:spMkLst>
            <pc:docMk/>
            <pc:sldMk cId="598178696" sldId="32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2:02:46.121" v="320" actId="20577"/>
        <pc:sldMkLst>
          <pc:docMk/>
          <pc:sldMk cId="2702974659" sldId="324"/>
        </pc:sldMkLst>
        <pc:spChg chg="mod">
          <ac:chgData name="영완 전" userId="94a232b962f42e62" providerId="LiveId" clId="{862E7F7D-119D-4717-AD52-91020921814B}" dt="2026-01-13T02:02:46.121" v="320" actId="20577"/>
          <ac:spMkLst>
            <pc:docMk/>
            <pc:sldMk cId="2702974659" sldId="32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9:54.543" v="252" actId="20577"/>
        <pc:sldMkLst>
          <pc:docMk/>
          <pc:sldMk cId="872138446" sldId="325"/>
        </pc:sldMkLst>
        <pc:spChg chg="mod">
          <ac:chgData name="영완 전" userId="94a232b962f42e62" providerId="LiveId" clId="{862E7F7D-119D-4717-AD52-91020921814B}" dt="2026-01-12T01:49:54.543" v="252" actId="20577"/>
          <ac:spMkLst>
            <pc:docMk/>
            <pc:sldMk cId="872138446" sldId="32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0:02.699" v="254" actId="20577"/>
        <pc:sldMkLst>
          <pc:docMk/>
          <pc:sldMk cId="2350340325" sldId="326"/>
        </pc:sldMkLst>
        <pc:spChg chg="mod">
          <ac:chgData name="영완 전" userId="94a232b962f42e62" providerId="LiveId" clId="{862E7F7D-119D-4717-AD52-91020921814B}" dt="2026-01-12T01:50:02.699" v="254" actId="20577"/>
          <ac:spMkLst>
            <pc:docMk/>
            <pc:sldMk cId="2350340325" sldId="32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0:06.102" v="255" actId="20577"/>
        <pc:sldMkLst>
          <pc:docMk/>
          <pc:sldMk cId="2289691988" sldId="327"/>
        </pc:sldMkLst>
        <pc:spChg chg="mod">
          <ac:chgData name="영완 전" userId="94a232b962f42e62" providerId="LiveId" clId="{862E7F7D-119D-4717-AD52-91020921814B}" dt="2026-01-12T01:50:06.102" v="255" actId="20577"/>
          <ac:spMkLst>
            <pc:docMk/>
            <pc:sldMk cId="2289691988" sldId="32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47:16.790" v="234" actId="20577"/>
        <pc:sldMkLst>
          <pc:docMk/>
          <pc:sldMk cId="803313038" sldId="328"/>
        </pc:sldMkLst>
        <pc:spChg chg="mod">
          <ac:chgData name="영완 전" userId="94a232b962f42e62" providerId="LiveId" clId="{862E7F7D-119D-4717-AD52-91020921814B}" dt="2026-01-12T01:46:52.509" v="221" actId="20577"/>
          <ac:spMkLst>
            <pc:docMk/>
            <pc:sldMk cId="803313038" sldId="328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12T01:47:16.790" v="234" actId="20577"/>
          <ac:spMkLst>
            <pc:docMk/>
            <pc:sldMk cId="803313038" sldId="32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2:17.264" v="277" actId="20577"/>
        <pc:sldMkLst>
          <pc:docMk/>
          <pc:sldMk cId="2649024445" sldId="330"/>
        </pc:sldMkLst>
        <pc:spChg chg="mod">
          <ac:chgData name="영완 전" userId="94a232b962f42e62" providerId="LiveId" clId="{862E7F7D-119D-4717-AD52-91020921814B}" dt="2026-01-12T01:52:17.264" v="277" actId="20577"/>
          <ac:spMkLst>
            <pc:docMk/>
            <pc:sldMk cId="2649024445" sldId="33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2:01.795" v="273" actId="20577"/>
        <pc:sldMkLst>
          <pc:docMk/>
          <pc:sldMk cId="3682284902" sldId="331"/>
        </pc:sldMkLst>
        <pc:spChg chg="mod">
          <ac:chgData name="영완 전" userId="94a232b962f42e62" providerId="LiveId" clId="{862E7F7D-119D-4717-AD52-91020921814B}" dt="2026-01-12T01:52:01.795" v="273" actId="20577"/>
          <ac:spMkLst>
            <pc:docMk/>
            <pc:sldMk cId="3682284902" sldId="33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3:22.442" v="304" actId="14100"/>
        <pc:sldMkLst>
          <pc:docMk/>
          <pc:sldMk cId="2719547811" sldId="332"/>
        </pc:sldMkLst>
        <pc:spChg chg="mod">
          <ac:chgData name="영완 전" userId="94a232b962f42e62" providerId="LiveId" clId="{862E7F7D-119D-4717-AD52-91020921814B}" dt="2026-01-12T01:53:22.442" v="304" actId="14100"/>
          <ac:spMkLst>
            <pc:docMk/>
            <pc:sldMk cId="2719547811" sldId="33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8:05.656" v="117" actId="20577"/>
        <pc:sldMkLst>
          <pc:docMk/>
          <pc:sldMk cId="2771490421" sldId="334"/>
        </pc:sldMkLst>
        <pc:spChg chg="mod">
          <ac:chgData name="영완 전" userId="94a232b962f42e62" providerId="LiveId" clId="{862E7F7D-119D-4717-AD52-91020921814B}" dt="2026-01-12T01:38:05.656" v="117" actId="20577"/>
          <ac:spMkLst>
            <pc:docMk/>
            <pc:sldMk cId="2771490421" sldId="33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1:32.494" v="35" actId="20577"/>
        <pc:sldMkLst>
          <pc:docMk/>
          <pc:sldMk cId="2415495601" sldId="335"/>
        </pc:sldMkLst>
        <pc:spChg chg="mod">
          <ac:chgData name="영완 전" userId="94a232b962f42e62" providerId="LiveId" clId="{862E7F7D-119D-4717-AD52-91020921814B}" dt="2026-01-12T01:31:32.494" v="35" actId="20577"/>
          <ac:spMkLst>
            <pc:docMk/>
            <pc:sldMk cId="2415495601" sldId="33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37:20.427" v="107" actId="20577"/>
        <pc:sldMkLst>
          <pc:docMk/>
          <pc:sldMk cId="3939176274" sldId="336"/>
        </pc:sldMkLst>
        <pc:spChg chg="mod">
          <ac:chgData name="영완 전" userId="94a232b962f42e62" providerId="LiveId" clId="{862E7F7D-119D-4717-AD52-91020921814B}" dt="2026-01-12T01:37:20.427" v="107" actId="20577"/>
          <ac:spMkLst>
            <pc:docMk/>
            <pc:sldMk cId="3939176274" sldId="33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88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705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22</a:t>
            </a:r>
            <a:r>
              <a:rPr lang="ko-KR" altLang="en-US"/>
              <a:t>장  재정적자와 국채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73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D9FE364-4DB0-B82E-4178-41B1C70999CC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32812324-0F9F-ED03-7481-41F6CB8B981F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FB21BD51-31A7-2E9E-1F35-A98A0718FDDA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AC1DAFD4-43C7-AA39-61ED-299182A74F4C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22</a:t>
            </a:r>
            <a:r>
              <a:rPr lang="ko-KR" altLang="en-US"/>
              <a:t>장  재정적자와 국채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989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22</a:t>
            </a:r>
            <a:r>
              <a:rPr lang="ko-KR" altLang="en-US"/>
              <a:t>장  재정적자와 국채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77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22</a:t>
            </a:r>
            <a:r>
              <a:rPr lang="ko-KR" altLang="en-US"/>
              <a:t>장  재정적자와 국채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41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22</a:t>
            </a:r>
            <a:r>
              <a:rPr lang="ko-KR" altLang="en-US"/>
              <a:t>장  재정적자와 국채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16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6969B2-51D1-3D72-DBB7-F6829E583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95EA42F3-86B1-28C2-0542-10CC28B44CF8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CFC8676-2220-951D-319D-B261BE8DB7E4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E1704C5-17D3-5C8B-5064-34FCF34A96D0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B0B316-BAA5-E86F-9468-165BE5B868DE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C546BD56-DE51-48E7-070A-DB96CEBE859A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22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재정적자와 국채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6085FB4-CA9B-8570-4B17-B5BFC47C91C6}"/>
              </a:ext>
            </a:extLst>
          </p:cNvPr>
          <p:cNvSpPr txBox="1">
            <a:spLocks/>
          </p:cNvSpPr>
          <p:nvPr/>
        </p:nvSpPr>
        <p:spPr>
          <a:xfrm>
            <a:off x="4389120" y="368488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국가채무의 크기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22.5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22.6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국채에 의한 재원조달의 타당성</a:t>
            </a:r>
          </a:p>
        </p:txBody>
      </p:sp>
    </p:spTree>
    <p:extLst>
      <p:ext uri="{BB962C8B-B14F-4D97-AF65-F5344CB8AC3E}">
        <p14:creationId xmlns:p14="http://schemas.microsoft.com/office/powerpoint/2010/main" val="1409839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Autofit/>
          </a:bodyPr>
          <a:lstStyle/>
          <a:p>
            <a:pPr marL="271463" indent="-271463">
              <a:spcAft>
                <a:spcPts val="700"/>
              </a:spcAft>
            </a:pPr>
            <a:r>
              <a:rPr lang="ko-KR" altLang="en-US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일반적인 상황에서라면 언제나 수입과 지출을 일치시키도록   노력해야 하며</a:t>
            </a:r>
            <a:r>
              <a:rPr lang="en-US" altLang="ko-KR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재정적자</a:t>
            </a:r>
            <a:r>
              <a:rPr lang="en-US" altLang="ko-KR" sz="2000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(budget deficit)</a:t>
            </a:r>
            <a:r>
              <a:rPr lang="ko-KR" altLang="en-US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국가가 매우 비정상적인 상황에 처해 있을 때 한해서만 그 정당성을 인정할 수 있다는 것이      전통적 인식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안정이라는 관점에서 재정의 수지를 조절해 나가야 한다는    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기능적 재정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(functional finance)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개념 등장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나라에서든 경기과열보다 경기침체가 문제 되는 상황이 더 자주 발생하고 있기 때문에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경제안정의 관점에서 재정을 운영하다 보면 지속적인 재정적자를 경험하게 되는 경우가 매우 흔하게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최근에는 만성적 재정적자의 문제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153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069030-C6D1-4062-88E7-720423D16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053" y="1654149"/>
            <a:ext cx="6923168" cy="429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0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만성적 재정적자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 프로그램 관련 지출의 급격한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생활수준의 전반적 향상에 따라 사회복지 지출의 증가를 요구하는  정치적 압력이 점차 강해지는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 여건상 일단 늘어나면 다시 예전의 수준으로 줄이기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좀 더 효율적인 재정운영을 함으로써 적자의 폭을 줄이도록   노력해야 한다는 요구가 점차 강해지고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폭을 줄여야 한다는 것은 현대의 정부가 공통적으로     안고 있는 고민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577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현대의 거의 모든 정부는 재정수요가 늘어나는 상황에서 재정적자의 폭을 과감히 줄여야 하는 어려운 과제에 직면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헬러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(P. Heller)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 이 과제의 해결이 더욱 어려워질 것으로 전망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인구 고령화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연금과 의료서비스 관련 정부지출 증가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지구온난화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(global warming)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급속한 속도로 진전되고 있는 세계화 추세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875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20743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국가채무의 급격한 증가를 막기 위해 각국 정부는 여러 가지 조치들을 취하고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연방정부가 국채 발행을 통해 무분별하게 정부지출을 늘리는  것을 막기 위해 의회가 국가채무의 한도 결정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0"/>
              </a:spcAft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EU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성장협약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(Stability and Growth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Pacr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회원국들의 국내총생산과 국가부채 규모 규제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우리나라도 재정건전성 문제에 더 이상 초연할 수 없는 상황</a:t>
            </a:r>
          </a:p>
          <a:p>
            <a:pPr marL="449263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2008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글로벌 금융위기와 최근의 코로나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극복과정에서 재정지출이 늘어나 재정건전성에 대한 우려가 높아지고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549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28809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기간 동안 정부의 지출이 수입을 초과하는 부분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국채를 발행함으로써 재정수입보다 더 큰 규모의 재정지출을 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국채를 발행하면 언젠가는 이를 상환해야 하므로 국민에게 그 크기에 해당하는 빚을 지게 되는 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시점에서 그동안 발행한 국채의 총량을 재면 국가가 국민에게 지고 있는 빚이 얼마인가를 알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의미에서의 재정적자나 국가채무의 크기는 겉으로 나타난 예산상의 적자나 국채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발행량과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043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58151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인플레이션의 상황에서는 물가 상승이 자동적으로 빚을 갚아주는 효과가 나타남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안고 있는 채무의 경우에도 인플레이션으로 인해 그 일부분이 저절로 없어지는 현상이 나타날 수 있음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(inflation tax)</a:t>
            </a: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국민에게 빚을 지고 있는 경우에는 인플레이션으로 인한 채무의 실질가치 하락이 정부의 중요한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세입원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의미에서 재정적자의 크기는 인플레이션세를 통한 수입을 차감해 구해야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인플레이션이 보편화되어 있어 공식통계에 나타난 재정적자는 실질적인 적자폭을 과장하는 경향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442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 변동의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이자율이 상승하면 이미 발행된 채권의 가격 하락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발행한 국채의 액면은 그대로라도 이자율 상승으로 그것의  시장가치가 하락한다면 정부의 실질적인 채무는 줄어든 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 상승은 인플레이션과 마찬가지로 국가가 지고 있는 채무의   일부를 자동적으로 갚아주는 효과</a:t>
            </a: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반면에 이자율이 하락한다면 국가의 실질 부채가 더 커지는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  <a:spcAft>
                <a:spcPts val="700"/>
              </a:spcAft>
              <a:tabLst>
                <a:tab pos="449263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이자율은 위아래로 변동이 심하기 때문에 경우에 따라서는 이자율의 급격한 하락으로 국가의 실질적인 부채가 큰 폭으로 증가되는 결과가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의미에서의 재정적자의 폭을 알기 위해서는 물가수준과 이자율 변동의 효과를 감안해야 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9011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286750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정부예산의 지출항목 중 어떤 것은 경상지출의 성격을 갖고 있는 데 비해 다른 것은 자본적 지출의 성격을 갖고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공무원의 급여나 사무용품 구입을 위해 지출된 것은 그 효과가 즉시 나타나 없어진다는 의미에서 경상지출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  <a:spcAft>
                <a:spcPts val="500"/>
              </a:spcAft>
            </a:pPr>
            <a:r>
              <a:rPr lang="ko-KR" altLang="en-US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도로나 항만 같은 사회간접자본을 조성하기 위해 지출된 것은 자본을 취득하기 위해 사용한 것이라는 의미에서 </a:t>
            </a:r>
            <a:r>
              <a:rPr lang="ko-KR" altLang="en-US" sz="2000" b="1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자본지출</a:t>
            </a:r>
            <a:r>
              <a:rPr lang="en-US" altLang="ko-KR" sz="2000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(capital expenditure)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엄밀한 의미에서 그해의 정부지출은 감가상각분에 국한되어야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1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자본예산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(capital budgeting)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방식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중 자본지출의 성격이 있는 것은 경상지출에서 분리하여 따로 고려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자본예산의 방식을 채택하여 실질적인 적자폭을 따져 보면 통계수치에 나타난 것보다 현저하게 줄어들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자본지출의 존재</a:t>
            </a:r>
          </a:p>
        </p:txBody>
      </p:sp>
    </p:spTree>
    <p:extLst>
      <p:ext uri="{BB962C8B-B14F-4D97-AF65-F5344CB8AC3E}">
        <p14:creationId xmlns:p14="http://schemas.microsoft.com/office/powerpoint/2010/main" val="42952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pPr algn="ctr"/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자본지출의 존재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자본예산방식을 실제로 사용하는 데는 다음과 같은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지출항목을 언제나 경상지출과 자본지출로 명백하게 구분할 수 있는 것이 아님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교육이나 직업 훈련을 위한 지출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방만한 재정운영을 부추길 가능성이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058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25146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2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나라가 부담하고 있는 빚을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국가부채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국가부채는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상환주체와 회계처리 방식에 따라 여러가지로 정의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보통의 의미에서 국가채무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지방정부가 상환의무를   갖는 부채만을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일반정부부채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국가채무에 국민건강보험공단과 같이 정부가 직접 운영하는 것은 아니지만 재정적 책임을 가지는 비영리공공기관의 부채를 더한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공공부문부채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일반정부부채에 한국공항공사와 같은 비금융공기업의 부채를 포함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702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49590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한때 국가부채의 진정한 크기가 무엇인지를 둘러싸고 격렬한 논쟁이     벌어진 바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국제통화기금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(IMF)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제시한 기준에 따라 국가부채를 계산해야         한다는 정부와 암묵적인 국가부채까지 포함시켜 계산해야 한다는      사람들 사이에서 벌어진 논쟁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>
              <a:lnSpc>
                <a:spcPct val="11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IMF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차주가 되어 상환의무를 지며 상환금액을 예측할 수 있는 경우에 한해 국가부채에 포함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우리가 보통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국가채무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 부르는 것은 이 기준에 따른 것</a:t>
            </a: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국가채무를 좀 더 넓은 의미에서 파악한다면 실질적으로 정부가 책임을 져야 할 모든 것을 이에 포함시켜야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국가보증채무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사회보험과 관련된 잠재적 채무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공적자금과 관련된    잠재적 채무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176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91155" cy="4754563"/>
          </a:xfrm>
        </p:spPr>
        <p:txBody>
          <a:bodyPr anchor="ctr">
            <a:noAutofit/>
          </a:bodyPr>
          <a:lstStyle/>
          <a:p>
            <a:pPr marL="271463" indent="-271463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IMF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기준에 따라 국가부채의 공식 통계를 만드는 것 그 자체는 문제가 될 것이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spcAft>
                <a:spcPts val="700"/>
              </a:spcAft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국가부채를 안정적인 수준으로 관리해야 한다는 입장에서 보면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국가부채까지 포함시켜 생각하는 것이 바람직하다고 말할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국가부채와 관련되어 특히 관심을 가져야 할 부분은 국민연금이나 건강보험과 관련된 잠재적 채무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선심성 정책으로 인해 그동안 이 부분에 막대한 규모의 잠재적 채무가 누적되어 있는 상황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</a:t>
            </a:r>
          </a:p>
        </p:txBody>
      </p:sp>
    </p:spTree>
    <p:extLst>
      <p:ext uri="{BB962C8B-B14F-4D97-AF65-F5344CB8AC3E}">
        <p14:creationId xmlns:p14="http://schemas.microsoft.com/office/powerpoint/2010/main" val="1245422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12430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재정적자가 국민경제에 여러 방면으로 영향을 미치게 될 것은 분명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그 영향의 내용이 무엇인지에 대해 경제학자들의 견해가 항상  일치하는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재정적자가 경제의 총수요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(aggregate demand)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미치는 영향에 대해 의견이 크게 엇갈림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의견 차이는 경제를 안정시키는 수단으로서 재정정책이 갖는 유효성에 대한 견해 차이로 이어짐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490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들어 정부가 현재의 지출수준을 그대로 유지한 채 국민들로부터 거두어들이는 세금을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억원만큼 경감시켜 주기로 결정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spcAft>
                <a:spcPts val="2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지출수준의 변화 없이 조세부담을 경감시켜 주기 위해서는  그 금액에 해당하는 국채를 발행해야 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42888" indent="-242888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변화가 경제 전체의 총수요에 어떤 영향을 미치게 될 것인가에 대해서는 학파마다 다른 답 제시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3908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37615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전통적인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케인즈경제학자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(Keynesian) 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국채 발행을 통해 조세부담을 경감시켜 줄 때 총수요가 더 커진다고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2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세금을 예전보다 더 적게 내면 처분가능소득이 그만큼 늘어나 소비 수준을 높일 수 있다고 보기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통화주의자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(monetarist) 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국채발행이 구축효과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(crowding-out effect)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가져오기 때문에 총수요에는 변화가 거의 일어나지 않는다고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시중에 풀려 나가는 과정에서 정부가 가용자금을 놓고 민간 부문과 경합하는 양상이 나타나 이자율 상승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이자율이 상승하면 기업의 투자가 줄어들고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조세경감을 통한 소비촉진 효과가 상쇄되는 결과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9844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83335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구축효과가 어느 정도의 크기로 나타날 것인지는 재정적자가 발생하는 시점에 경제가 처한 상황에 크게 의존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완전고용에 가까운 상황에서 재정적자가 발생할 경우에는 구축효과가 매우 큰 폭으로 발생할 가능성이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매우 침체되어 있는 상황에서 재정적자가 발생하는 경우라면 구축효과가 거의 나타나지 않을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케인즈경제학자들은 경우에 따라서 재정적자가 오히려 투자를 촉진 시키는 결과까지 가져올 수 있다고 주장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(crowding-in effect)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070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32965" cy="4754563"/>
          </a:xfrm>
        </p:spPr>
        <p:txBody>
          <a:bodyPr anchor="ctr">
            <a:noAutofit/>
          </a:bodyPr>
          <a:lstStyle/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Barro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(Ricardian equivalence theorem)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들어 또 다른 각도에서 적자재정이 총수요에 아무런 영향을 미치지  못한다는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경제주체는 국채와 미래의 조세부담 사이에 존재하는 이 대등관계를 알고 있음</a:t>
            </a:r>
          </a:p>
          <a:p>
            <a:pPr marL="449263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정부가 조세로 거둬들이던 부분을 국채로 대체한다 하더라도  그의 경제적 선택을 변경해야 할 하등의 이유를 발견하지 못하게       된다는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구성비율은 자원배분의 측면에서 아무런 의미가 없으며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재정을 적자로 운영했다고 해서 총수요가 촉진되는 효과는 전혀 기대 할 수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225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12430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구축효과의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논리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재정적자로 인한 확장효과가 민간부문의 투자 감소에 의해 상쇄되기 때문에 총수요가 증가하지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대등정리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적자재정이 총수요를 변화시킬 수 없을 뿐 아니라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전반적인 자원배분 과정에 어떤 영향도 주지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9388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성립한다면 국채 발행이 이자율을 상승시키는 결과는 나타나지 않고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구축효과도 전혀 나타나지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궁극적으로 실증연구에 의해 판가름이 나야 할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지금까지 제시된 실증연구에서 구축효과가 완벽하게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작용한다거나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엄밀하게 성립하고 있다는 것을 결정적으로    입증해 주는 것을 찾아보기는 힘든 것이 사실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5179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자본축적과 경제성장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나라의 국민저축은 크게 보아 가계와 기업에 의해 행해지는 민간부문의 저축과 정부부문의 저축으로 구성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spcAft>
                <a:spcPts val="8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적자재정을 운영하면 그 적자폭만큼 꾸어다 쓰는 셈이 되어 국민 저축을 줄이고 이는 기본적으로 투자에 나쁜 영향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  <a:p>
            <a:pPr marL="271463" indent="-271463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발행이 이자율을 상승시켜 투자에 나쁜 영향을 미칠 수도 있음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spcAft>
                <a:spcPts val="8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재정적자로 인해 투자가 위축되는 결과가 빚어진다면 장기적 성장에 지장 초래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재정적자가 투자의 감소를 가져오는 원인이 되는 것은 아님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매우 침체된 상황에서 발생한 재정적자는 오히려 투자를 자극하는 역할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178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국제수지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87492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누적은 여러 경로를 통해 그 나라의 국제수지를 악화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정부지출이 조세에 의해 조달되지 않고 국채 발행에 의해 조달됨으로써 국민의 소비수준이 더욱 높아지기 때문에 발생하는 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9388">
              <a:lnSpc>
                <a:spcPct val="11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엄밀하게 성립하지 않는 한 국채의 발행은 사람들의 소비를 촉진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9388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수입상품의 소비도 증가하여 결국 국제수지의 악화로 연결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누적이 투자를 저해하여 생산성의 향상이 더디게 되고 이것이 그 나라 산업의 국제경쟁력을 약화시키기 때문에 생기는 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발행이 이자율을 높이게 되는 결과를 가져오고 이것이 국제수지 악화의 원인이 되는 경로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1980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초반의 미국경제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2974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28809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국채와 관련된 논의에서 논쟁의 초점이 되는 것은 이로 말미암아          미래세대에게 부담을 전가하게 되는 결과가 생기는지의 여부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일단 발행되면 미래의 세대는 조세수입 아니면 다시 국채를       발행하여 마련한 돈으로 이 채무를 상환해야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조세수입으로 채무를 상환하는 경우 미래세대가 그 부담을 지게 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국채를 발행하여 상환하는 경우에도 새로이 발행된 국채의        보유자에게 계속 이자를 지급해야 하므로 미래 세대의 부담이 늘게     되는 것은 마찬가지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논리는 상황을 너무나 단순하게 파악하고 있다는 문제점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발행과 더불어 그 나라의 경제에 어떤 일들이 일어나는가에    따라 상환부담의 주체가 달라질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2138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08274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러너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Lerner)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대표되는 전통적 견해에서는 국채와 관련된 부담을 </a:t>
            </a:r>
            <a:r>
              <a:rPr lang="ko-KR" altLang="en-US" b="1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내부채무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ko-KR" altLang="en-US" b="1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외부채무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구분해 논의</a:t>
            </a:r>
            <a:endParaRPr lang="en-US" altLang="ko-KR" spc="-1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내부채무</a:t>
            </a:r>
            <a:r>
              <a:rPr lang="en-US" altLang="ko-KR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(internal debt)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그 나라 국민으로부터 돈을 빌린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결과 발생한 채무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외부채무</a:t>
            </a:r>
            <a:r>
              <a:rPr lang="en-US" altLang="ko-KR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(external debt)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정부지출을 위해 해외에서 빌려다 씀으로써 생기는 채무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7166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82595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내부채무의 경우 미래세대의 부담이 늘어날 이유가 없다고 지적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발행된 국채가 그 나라 국민에 의해서 사들여지고 국내에 계속 머무는 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상환을 받게 되는 것 역시 그 나라의 국민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발행은 미래 세대 내부에서 소득의 이전을 가져오게 될 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 전체에게 추가적인 부담을 주는 것은 아니라는 논리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외부채무의 경우 현재의 세대가 적자재정을 통해 소비수준을 높이는 것과 관련된 부담을 미래의 세대가 전적으로 지게 된다는 결론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해외에서 꾸어 온 돈을 정부가 투자행위를 하는 데 썼다고 하면 이 결론은 수정되어야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정부가 수행한 투자계획에서 나오는 수익률이 해외에서 차입을 할 때 지불해야 할 이자율보다 높다면 미래세대는 오히려 더 높은 소비수준을 누릴 수도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0340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675766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견해는 정부가 자국민에게 국채를 팔아 적자재정을 운영하고 있는 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미래 세대에게 부담이 발생하지 않는다고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spcAft>
                <a:spcPts val="2000"/>
              </a:spcAft>
            </a:pPr>
            <a:r>
              <a:rPr lang="ko-KR" altLang="en-US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이와 같은 주장은 상황을 너무 단순하게 파악하고 있는 문제점 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상황을 다른 각도에서 고찰해 보면 미래세대가 국채의 부담을 지게 된다는 주장에 상당한 설득력이 있음을 발견할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9691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 세대로 부담이 전가된다는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41277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(generation)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일반적으로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시점에서 동시에 태어난 사람들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33400" lvl="1" indent="-266700" fontAlgn="base">
              <a:lnSpc>
                <a:spcPct val="14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시점의 어떤 사회에는 나이에 따라 여러 세대로 구분되는 사람들이 섞여 살고 있는 것으로 이해할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사회 안에 나이가 많은 노년세대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청년기는 넘겼으나 노년기에 이르지 않은 중년세대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젊은 청년세대의 세 세대가 공존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청년에서 중년으로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중년에서 노년으로 이행하는 데는 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시간이 소요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3313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74282" cy="4754563"/>
          </a:xfrm>
        </p:spPr>
        <p:txBody>
          <a:bodyPr anchor="ctr">
            <a:noAutofit/>
          </a:bodyPr>
          <a:lstStyle/>
          <a:p>
            <a:pPr marL="271463" indent="-271463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한 시점에서 정부가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후에 상환을 약속하는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300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국채를 발행했을 때 이것이 각 세대의 경제생활에 미치는 영향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국채상환을 받을 수 없는 노년세대는 이를 전혀 사지 않고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중년과 청년세대가 반반씩 나누어 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국채 판매로 얻은 돈을 추가적 소비지출에 사용한다면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 인해 각 세대의 소비는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억원씩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증가하는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중년과 청년세대는 각각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억원의 국채를 샀기 때문에 국채가 발행된 시기의 소비수준은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억원만큼 하락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노년세대만이 국채 발행에 의해 충당된 정부지출의 수혜자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0964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83335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년이 지나 각 세대는 다음 단계의 세대로 바뀌었고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국채를 상환해야 할 때가 온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조세수입으로 이 부채를 상환하기로 하고 각 세대에게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억원씩   세금을 부과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300"/>
              </a:spcAft>
            </a:pP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노년세대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 시 중년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중년세대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 시 청년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150</a:t>
            </a: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억원을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돌려받으므로 세금을 내고 남은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억원을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추가적 소비에 충당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발행되었던 때 그들의 소비수준이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억원만큼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하락했는데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이제 바로 그만큼 소비가 증가할 수 있기 때문에 전반적인 관점에서 국채 발행은 그들에게는 아무 부담도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가져다주지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 당시 노년이었고 이제 사망한 사람들은 국채 발행의 결과 소비수준이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억원만큼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더 높아질 수 있었음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  <a:endParaRPr lang="ko-KR" altLang="en-US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1063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45435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 시 노년이었던 사람들이 얻은 혜택의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 당시 아직 태어나지도 않았거나 아주 어렸다가 이제 청년이 된 세대는 그것으로 인해 아무 혜택도 보지 못했으면서 상환을 위한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억원의 조세부담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부담은 바로 이 새로운 청년세대에게 귀착되는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발행의 결과 지금의 청년세대로부터 국채가 발행된 당시의 노년층으로 소득이 이전되는 효과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  <a:endParaRPr lang="ko-KR" altLang="en-US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208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발행은 자본축적을 저해하여 미래세대에게 부담을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수도 있음</a:t>
            </a:r>
          </a:p>
          <a:p>
            <a:pPr marL="614363" lvl="1" indent="-271463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상황에서 국채의 발행은 어느 정도의 구축효과를 가져와 민간부문의 투자를 위축시키는 결과</a:t>
            </a:r>
          </a:p>
          <a:p>
            <a:pPr marL="614363" lvl="1" indent="-271463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투자가 위축되어 자본축적이 제대로 이루어지지 못하면 경제성장 속도가 늦어지고 이로 인해 미래세대의 생활수준 향상 속도도      늦어지게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  <a:endParaRPr lang="ko-KR" altLang="en-US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0406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현실에서 성립한다면 국채 발행이 미래세대에  부담을 안겨주는 일은 결코 발생하지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견해와는 전혀 다른 근거에서 미래의 세대가 국채의 부담을 전혀 지지 않게 된다는 주장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Barro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유산상속과 관련된 선택을 하는 과정에서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성립하는 근거를 찾을 수 있다고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 사람들은 국채 발행으로 인해 자신의 후손이 미래에 져야 할 추가적인 조세부담에 해당하는 만큼 유산을 더 늘려서 줌으로써    정부가 국채를 발행한 효과를 상쇄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국채는 미래세대에게 아무런 부담을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가져다주지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않을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8766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8397" cy="4754563"/>
          </a:xfrm>
        </p:spPr>
        <p:txBody>
          <a:bodyPr anchor="ctr">
            <a:noAutofit/>
          </a:bodyPr>
          <a:lstStyle/>
          <a:p>
            <a:pPr marL="271463" indent="-271463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성립한다면 국채 발행이 국민저축과 투자에 전혀 영향을 미치지 않고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자본축적에도 아무런 변화가 생기지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장기적인 성장의 측면에서 발생하는 미래세대의 부담도 생기지 않는다고 할 수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</a:t>
            </a:r>
          </a:p>
          <a:p>
            <a:pPr marL="271463" indent="-271463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분명한 논리적 근거를 갖고 있는 것은 사실이지만 현실의 세계는 다름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대등정리에서 말하는 정도의 합리성을 갖고 있는 사람을 찾기는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사람들은 후손에게 거의 아무런 유산도 남겨주지 못하는   경제적 상황에 처해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2849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24652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현실에서 성립하고 있다는 것을 입증하기 위해서는 재정적자폭이 커질 때 민간부문의 저축이 따라서 증가했다는 사실을    보여야만 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그런데 현실에서는 오히려 그 반대로 재정적자와 민간부문 저축의 감소가 함께 나타나는 경우가 더 많은 경향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대등정리를 들어 국채가 미래의 세대에 아무런 부담을 가져다 주지 않는다고 주장하는 것의 설득력은 과히 크지 않음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9024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82841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 사이의 부담분배 문제를 따진다는 관점에서 보면 재정적자에만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관심을 집중하는 것은 바람직하지 않다는 주장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재정수지에 무엇이 포함되어야 하는지에 대해 일정한 기준이 없고</a:t>
            </a:r>
            <a:r>
              <a:rPr lang="en-US" altLang="ko-KR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포함 대상이 달라짐에 따라 재정수지의 상황이 크게 변할 수 있기 때문</a:t>
            </a:r>
            <a:endParaRPr lang="en-US" altLang="ko-KR" sz="2000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 사이의 부담분배를 정확하게 파악하기 위한 대안으로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(generational accounts)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개념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세대가 납부하는 모든 종류의 세금에서 정부로부터의 이전지출을 뺀 순납부액의 현재가치가 얼마인지를 알아내려고 하는 것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이들을 서로 비교하면 미래세대로 부담이 떠넘겨지느냐의 여부를 파악 할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547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7965018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0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세대간 회계 모형에서 말하는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 :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똑같은 나이를 갖는 사람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0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앞으로 태어날 사람들을 통틀어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미래세대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’(future generation)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라고 부름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세대간 회계 모형은 정부가 행하는 모든 종류의 지출을 충당하기 위한 조세부담을 언제든 누구인가가 져야 한다는 사실에서 출발하고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정부의 예산제약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3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277813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 생존하고 있는 세대가 져야 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현재가치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7813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태어나지 않은 미래세대가 져야 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현재가치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7813" lvl="1" indent="0">
                  <a:lnSpc>
                    <a:spcPct val="100000"/>
                  </a:lnSpc>
                  <a:buNone/>
                </a:pPr>
                <a:r>
                  <a:rPr lang="en-US" altLang="ko-KR" b="1" dirty="0"/>
                  <a:t>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 시점에서 파악한 정부의 순재산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7813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정부의 소비지출 흐름의 현재가치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7965018" cy="4754563"/>
              </a:xfrm>
              <a:blipFill>
                <a:blip r:embed="rId2"/>
                <a:stretch>
                  <a:fillRect l="-6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7762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  <a:buFont typeface="Wingdings" panose="05000000000000000000" pitchFamily="2" charset="2"/>
                  <a:buChar char="§"/>
                  <a:tabLst>
                    <a:tab pos="271463" algn="l"/>
                  </a:tabLst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일정한 값으로 주어졌다고 할 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값이 하나의 수준으로 결정되면 이에 따라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수준 결정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9388">
                  <a:lnSpc>
                    <a:spcPct val="130000"/>
                  </a:lnSpc>
                  <a:spcAft>
                    <a:spcPts val="1500"/>
                  </a:spcAft>
                  <a:tabLst>
                    <a:tab pos="449263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이유에서든 현재 생존하고 있는 세대의 부담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줄어들면 미래세대의 부담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늘어날 수밖에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tabLst>
                    <a:tab pos="271463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모형을 이용해 만약 현재의 재정 관련 정책의 기본 틀이 그대로 유지될 경우 그 부담이 각 세대로 어떻게 분배될 것인지 알아볼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현재의 재정 관련 정책의 기본 틀에 어떤 변화가 올 경우 그것이 세대간의 부담 분배에 미칠 영향은 무엇인가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070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70866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아우어바흐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Auerbach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Y. J. Chun)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 모형을 적용해 우리 사회에서의 세대간 회계를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현재의 재정 관련 정책이 그대로 유지될 경우 우리의 미래세대는 매우 무거운 부담을 안게 될 것이라고 전망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우리나라의 국민연금제도는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저부담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고급여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기본구조를 갖고 있어 언젠가는 연금재정에 심각한 위기가 올 것으로 예상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공평성 차원에서 볼 때 국민연금의 부담과 급여를 합리적 수준으로 조정하는 일은 매우 시급한 과제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56752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국채에 의한 재원조달의 타당성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경우에 따라서는 재정적자를 감수하고서라도 적극적인 지출정책을 쓸 필요가 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나아가 지출의 성격상 조세수입보다 국채 발행에 의존하는 것이 더 합리적인 선택이 되는 경우가 있을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지출 프로그램의 수혜자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측면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 성격이 강한 정부지출은 조세수입에 의해서 충당되는 것이 당연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투자의 성격을 갖는 정부지출의 경우에는 그 혜택이 미래의 세대에게 돌아갈 것이기 때문에 조세수입보다는 국채 발행에 의해서 조달되는 것이 더 합리적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6452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국채에 의한 재원조달의 타당성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Bef>
                <a:spcPts val="75"/>
              </a:spcBef>
              <a:spcAft>
                <a:spcPts val="2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세대간 공평성의 측면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  <a:spcBef>
                <a:spcPts val="75"/>
              </a:spcBef>
              <a:spcAft>
                <a:spcPts val="1000"/>
              </a:spcAft>
              <a:tabLst>
                <a:tab pos="44926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기술진보와 생산성의 증대로 인해 다음 세대에 속하는    사람들은 현재의 세대보다 한층 더 풍요로운 생활을 즐길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>
              <a:lnSpc>
                <a:spcPct val="130000"/>
              </a:lnSpc>
              <a:spcBef>
                <a:spcPts val="75"/>
              </a:spcBef>
              <a:spcAft>
                <a:spcPts val="1000"/>
              </a:spcAft>
              <a:tabLst>
                <a:tab pos="44926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그렇다면 세대간 공평성의 관점에서 볼 때 미래의 세대로부터 현재의 세대로 소득을 이전해 주는 것이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  <a:spcBef>
                <a:spcPts val="75"/>
              </a:spcBef>
              <a:spcAft>
                <a:spcPts val="1000"/>
              </a:spcAft>
              <a:tabLst>
                <a:tab pos="44926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방향으로 소득을 재분배한다는 의미에서 국채에 의해 재원을    조달하는 것이 정당화될 수 있는 여지가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4696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국채에 의한 재원조달의 타당성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671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쪽의 초과부담이 더 작은지의 관점에서도 평가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발행으로 재원을 조달하는 것은 지금 세금을 거두는 대신 미래에 세금을 걷는 것이므로 초과부담을 회피할 수 있는 것은 아님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조세수입에 의한 재원조달의 경우 지출 전체에 해당하는 세금을 한꺼번에 부과하는 것이며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발행에 의존할 경우에는 여러 번으로 쪼개서 조금씩 세금을 걷는 것이라면 초과부담이 줄어들 수 있음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크기는 세율의 제곱에 비례하기 때문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측면에서 보면 국채에 의한 재원조달이 자본축적에 나쁜 영향을 미쳐 장기적 효율성의 저하를 가져오게 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1511590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5266</TotalTime>
  <Words>3198</Words>
  <Application>Microsoft Office PowerPoint</Application>
  <PresentationFormat>화면 슬라이드 쇼(4:3)</PresentationFormat>
  <Paragraphs>363</Paragraphs>
  <Slides>41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1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22.1  배경설명</vt:lpstr>
      <vt:lpstr>배경설명</vt:lpstr>
      <vt:lpstr>배경설명</vt:lpstr>
      <vt:lpstr>배경설명</vt:lpstr>
      <vt:lpstr>배경설명</vt:lpstr>
      <vt:lpstr>22.2  재정적자와 국가부채의 크기</vt:lpstr>
      <vt:lpstr>재정적자와 국가부채의 크기 : 인플레이션의 효과</vt:lpstr>
      <vt:lpstr>재정적자와 국가부채의 크기 : 이자율 변동의 효과</vt:lpstr>
      <vt:lpstr>PowerPoint 프레젠테이션</vt:lpstr>
      <vt:lpstr>재정적자와 국가부채의 크기 : 자본지출의 존재</vt:lpstr>
      <vt:lpstr>재정적자와 국가부채의 크기 : 암묵적 국가부채</vt:lpstr>
      <vt:lpstr>재정적자와 국가부채의 크기 : 암묵적 국가부채</vt:lpstr>
      <vt:lpstr>재정적자와 국가부채의 크기 : 암묵적 국가부채</vt:lpstr>
      <vt:lpstr>22.3  재정적자의 경제적 효과</vt:lpstr>
      <vt:lpstr>재정적자의 경제적 효과 : 총수요</vt:lpstr>
      <vt:lpstr>재정적자의 경제적 효과 : 총수요</vt:lpstr>
      <vt:lpstr>재정적자의 경제적 효과 : 총수요</vt:lpstr>
      <vt:lpstr>재정적자의 경제적 효과 : 총수요</vt:lpstr>
      <vt:lpstr>재정적자의 경제적 효과 : 총수요</vt:lpstr>
      <vt:lpstr>재정적자의 경제적 효과 : 자본축적과 경제성장</vt:lpstr>
      <vt:lpstr>재정적자의 경제적 효과 : 국제수지</vt:lpstr>
      <vt:lpstr>22.4  국채의 부담</vt:lpstr>
      <vt:lpstr>국채의 부담 : 전통적 견해</vt:lpstr>
      <vt:lpstr>국채의 부담 : 전통적 견해</vt:lpstr>
      <vt:lpstr>국채의 부담 : 전통적 견해</vt:lpstr>
      <vt:lpstr>국채의 부담 : 미래 세대로 부담이 전가된다는 견해</vt:lpstr>
      <vt:lpstr>국채의 부담 : 미래세대로 부담이 전가된다는 견해</vt:lpstr>
      <vt:lpstr>PowerPoint 프레젠테이션</vt:lpstr>
      <vt:lpstr>PowerPoint 프레젠테이션</vt:lpstr>
      <vt:lpstr>PowerPoint 프레젠테이션</vt:lpstr>
      <vt:lpstr>국채의 부담 : 리카도의 대등정리</vt:lpstr>
      <vt:lpstr>국채의 부담 : 리카도의 대등정리</vt:lpstr>
      <vt:lpstr>국채의 부담 : 리카도의 대등정리</vt:lpstr>
      <vt:lpstr>22.5  세대간 회계</vt:lpstr>
      <vt:lpstr>세대간 회계</vt:lpstr>
      <vt:lpstr>세대간 회계</vt:lpstr>
      <vt:lpstr>세대간 회계</vt:lpstr>
      <vt:lpstr>22.6  국채에 의한 재원조달의 타당성</vt:lpstr>
      <vt:lpstr>국채에 의한 재원조달의 타당성</vt:lpstr>
      <vt:lpstr>국채에 의한 재원조달의 타당성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1449</cp:revision>
  <dcterms:created xsi:type="dcterms:W3CDTF">2015-08-04T05:38:00Z</dcterms:created>
  <dcterms:modified xsi:type="dcterms:W3CDTF">2026-01-13T02:02:54Z</dcterms:modified>
</cp:coreProperties>
</file>