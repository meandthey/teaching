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32"/>
  </p:notesMasterIdLst>
  <p:handoutMasterIdLst>
    <p:handoutMasterId r:id="rId33"/>
  </p:handoutMasterIdLst>
  <p:sldIdLst>
    <p:sldId id="319" r:id="rId2"/>
    <p:sldId id="259" r:id="rId3"/>
    <p:sldId id="261" r:id="rId4"/>
    <p:sldId id="262" r:id="rId5"/>
    <p:sldId id="263" r:id="rId6"/>
    <p:sldId id="310" r:id="rId7"/>
    <p:sldId id="266" r:id="rId8"/>
    <p:sldId id="31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315" r:id="rId17"/>
    <p:sldId id="281" r:id="rId18"/>
    <p:sldId id="282" r:id="rId19"/>
    <p:sldId id="283" r:id="rId20"/>
    <p:sldId id="284" r:id="rId21"/>
    <p:sldId id="318" r:id="rId22"/>
    <p:sldId id="286" r:id="rId23"/>
    <p:sldId id="287" r:id="rId24"/>
    <p:sldId id="289" r:id="rId25"/>
    <p:sldId id="291" r:id="rId26"/>
    <p:sldId id="292" r:id="rId27"/>
    <p:sldId id="294" r:id="rId28"/>
    <p:sldId id="295" r:id="rId29"/>
    <p:sldId id="296" r:id="rId30"/>
    <p:sldId id="297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9858B7-919B-455C-8884-AAA9B083A67C}" v="7" dt="2026-01-13T01:03:06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9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916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26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modSld">
      <pc:chgData name="영완 전" userId="94a232b962f42e62" providerId="LiveId" clId="{862E7F7D-119D-4717-AD52-91020921814B}" dt="2026-01-13T01:03:06.022" v="137" actId="20577"/>
      <pc:docMkLst>
        <pc:docMk/>
      </pc:docMkLst>
      <pc:sldChg chg="modSp mod">
        <pc:chgData name="영완 전" userId="94a232b962f42e62" providerId="LiveId" clId="{862E7F7D-119D-4717-AD52-91020921814B}" dt="2026-01-09T01:39:51.555" v="20" actId="20577"/>
        <pc:sldMkLst>
          <pc:docMk/>
          <pc:sldMk cId="1907375292" sldId="259"/>
        </pc:sldMkLst>
        <pc:spChg chg="mod">
          <ac:chgData name="영완 전" userId="94a232b962f42e62" providerId="LiveId" clId="{862E7F7D-119D-4717-AD52-91020921814B}" dt="2026-01-09T01:39:51.555" v="20" actId="20577"/>
          <ac:spMkLst>
            <pc:docMk/>
            <pc:sldMk cId="1907375292" sldId="25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40:23.321" v="21" actId="14100"/>
        <pc:sldMkLst>
          <pc:docMk/>
          <pc:sldMk cId="3433892865" sldId="261"/>
        </pc:sldMkLst>
        <pc:spChg chg="mod">
          <ac:chgData name="영완 전" userId="94a232b962f42e62" providerId="LiveId" clId="{862E7F7D-119D-4717-AD52-91020921814B}" dt="2026-01-09T01:40:23.321" v="21" actId="14100"/>
          <ac:spMkLst>
            <pc:docMk/>
            <pc:sldMk cId="3433892865" sldId="26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40:44.683" v="24" actId="20577"/>
        <pc:sldMkLst>
          <pc:docMk/>
          <pc:sldMk cId="2102100703" sldId="262"/>
        </pc:sldMkLst>
        <pc:spChg chg="mod">
          <ac:chgData name="영완 전" userId="94a232b962f42e62" providerId="LiveId" clId="{862E7F7D-119D-4717-AD52-91020921814B}" dt="2026-01-09T01:40:44.683" v="24" actId="20577"/>
          <ac:spMkLst>
            <pc:docMk/>
            <pc:sldMk cId="2102100703" sldId="26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01:42.839" v="132" actId="20577"/>
        <pc:sldMkLst>
          <pc:docMk/>
          <pc:sldMk cId="2735520434" sldId="263"/>
        </pc:sldMkLst>
        <pc:spChg chg="mod">
          <ac:chgData name="영완 전" userId="94a232b962f42e62" providerId="LiveId" clId="{862E7F7D-119D-4717-AD52-91020921814B}" dt="2026-01-09T01:40:51.755" v="26" actId="20577"/>
          <ac:spMkLst>
            <pc:docMk/>
            <pc:sldMk cId="2735520434" sldId="263"/>
            <ac:spMk id="2" creationId="{00000000-0000-0000-0000-000000000000}"/>
          </ac:spMkLst>
        </pc:spChg>
        <pc:spChg chg="mod">
          <ac:chgData name="영완 전" userId="94a232b962f42e62" providerId="LiveId" clId="{862E7F7D-119D-4717-AD52-91020921814B}" dt="2026-01-13T01:01:42.839" v="132" actId="20577"/>
          <ac:spMkLst>
            <pc:docMk/>
            <pc:sldMk cId="2735520434" sldId="26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02:04.511" v="134" actId="20577"/>
        <pc:sldMkLst>
          <pc:docMk/>
          <pc:sldMk cId="3509006696" sldId="266"/>
        </pc:sldMkLst>
        <pc:spChg chg="mod">
          <ac:chgData name="영완 전" userId="94a232b962f42e62" providerId="LiveId" clId="{862E7F7D-119D-4717-AD52-91020921814B}" dt="2026-01-13T01:02:04.511" v="134" actId="20577"/>
          <ac:spMkLst>
            <pc:docMk/>
            <pc:sldMk cId="3509006696" sldId="26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44:24.442" v="48" actId="14100"/>
        <pc:sldMkLst>
          <pc:docMk/>
          <pc:sldMk cId="1344797484" sldId="272"/>
        </pc:sldMkLst>
        <pc:spChg chg="mod">
          <ac:chgData name="영완 전" userId="94a232b962f42e62" providerId="LiveId" clId="{862E7F7D-119D-4717-AD52-91020921814B}" dt="2026-01-09T01:44:24.442" v="48" actId="14100"/>
          <ac:spMkLst>
            <pc:docMk/>
            <pc:sldMk cId="1344797484" sldId="27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02:41.587" v="135" actId="20577"/>
        <pc:sldMkLst>
          <pc:docMk/>
          <pc:sldMk cId="2280216495" sldId="278"/>
        </pc:sldMkLst>
        <pc:spChg chg="mod">
          <ac:chgData name="영완 전" userId="94a232b962f42e62" providerId="LiveId" clId="{862E7F7D-119D-4717-AD52-91020921814B}" dt="2026-01-13T01:02:41.587" v="135" actId="20577"/>
          <ac:spMkLst>
            <pc:docMk/>
            <pc:sldMk cId="2280216495" sldId="27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46:40.800" v="50" actId="14100"/>
        <pc:sldMkLst>
          <pc:docMk/>
          <pc:sldMk cId="3265376006" sldId="281"/>
        </pc:sldMkLst>
        <pc:spChg chg="mod">
          <ac:chgData name="영완 전" userId="94a232b962f42e62" providerId="LiveId" clId="{862E7F7D-119D-4717-AD52-91020921814B}" dt="2026-01-09T01:46:40.800" v="50" actId="14100"/>
          <ac:spMkLst>
            <pc:docMk/>
            <pc:sldMk cId="3265376006" sldId="281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13T01:03:06.022" v="137" actId="20577"/>
        <pc:sldMkLst>
          <pc:docMk/>
          <pc:sldMk cId="580327251" sldId="282"/>
        </pc:sldMkLst>
        <pc:spChg chg="mod">
          <ac:chgData name="영완 전" userId="94a232b962f42e62" providerId="LiveId" clId="{862E7F7D-119D-4717-AD52-91020921814B}" dt="2026-01-13T01:03:06.022" v="137" actId="20577"/>
          <ac:spMkLst>
            <pc:docMk/>
            <pc:sldMk cId="580327251" sldId="28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48:45.849" v="56" actId="20577"/>
        <pc:sldMkLst>
          <pc:docMk/>
          <pc:sldMk cId="686621717" sldId="287"/>
        </pc:sldMkLst>
        <pc:spChg chg="mod">
          <ac:chgData name="영완 전" userId="94a232b962f42e62" providerId="LiveId" clId="{862E7F7D-119D-4717-AD52-91020921814B}" dt="2026-01-09T01:48:45.849" v="56" actId="20577"/>
          <ac:spMkLst>
            <pc:docMk/>
            <pc:sldMk cId="686621717" sldId="28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49:43.489" v="62" actId="20577"/>
        <pc:sldMkLst>
          <pc:docMk/>
          <pc:sldMk cId="2984589177" sldId="289"/>
        </pc:sldMkLst>
        <pc:spChg chg="mod">
          <ac:chgData name="영완 전" userId="94a232b962f42e62" providerId="LiveId" clId="{862E7F7D-119D-4717-AD52-91020921814B}" dt="2026-01-09T01:49:43.489" v="62" actId="20577"/>
          <ac:spMkLst>
            <pc:docMk/>
            <pc:sldMk cId="2984589177" sldId="28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50:54.593" v="66" actId="14100"/>
        <pc:sldMkLst>
          <pc:docMk/>
          <pc:sldMk cId="3022557112" sldId="292"/>
        </pc:sldMkLst>
        <pc:spChg chg="mod">
          <ac:chgData name="영완 전" userId="94a232b962f42e62" providerId="LiveId" clId="{862E7F7D-119D-4717-AD52-91020921814B}" dt="2026-01-09T01:50:54.593" v="66" actId="14100"/>
          <ac:spMkLst>
            <pc:docMk/>
            <pc:sldMk cId="3022557112" sldId="29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53:20.732" v="109" actId="20577"/>
        <pc:sldMkLst>
          <pc:docMk/>
          <pc:sldMk cId="2114113243" sldId="295"/>
        </pc:sldMkLst>
        <pc:spChg chg="mod">
          <ac:chgData name="영완 전" userId="94a232b962f42e62" providerId="LiveId" clId="{862E7F7D-119D-4717-AD52-91020921814B}" dt="2026-01-09T01:53:20.732" v="109" actId="20577"/>
          <ac:spMkLst>
            <pc:docMk/>
            <pc:sldMk cId="2114113243" sldId="29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54:35.599" v="125" actId="20577"/>
        <pc:sldMkLst>
          <pc:docMk/>
          <pc:sldMk cId="2821371660" sldId="296"/>
        </pc:sldMkLst>
        <pc:spChg chg="mod">
          <ac:chgData name="영완 전" userId="94a232b962f42e62" providerId="LiveId" clId="{862E7F7D-119D-4717-AD52-91020921814B}" dt="2026-01-09T01:54:35.599" v="125" actId="20577"/>
          <ac:spMkLst>
            <pc:docMk/>
            <pc:sldMk cId="2821371660" sldId="29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55:07.876" v="129" actId="20577"/>
        <pc:sldMkLst>
          <pc:docMk/>
          <pc:sldMk cId="2077531056" sldId="297"/>
        </pc:sldMkLst>
        <pc:spChg chg="mod">
          <ac:chgData name="영완 전" userId="94a232b962f42e62" providerId="LiveId" clId="{862E7F7D-119D-4717-AD52-91020921814B}" dt="2026-01-09T01:55:07.876" v="129" actId="20577"/>
          <ac:spMkLst>
            <pc:docMk/>
            <pc:sldMk cId="2077531056" sldId="29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42:01.256" v="35" actId="20577"/>
        <pc:sldMkLst>
          <pc:docMk/>
          <pc:sldMk cId="3660847019" sldId="310"/>
        </pc:sldMkLst>
        <pc:spChg chg="mod">
          <ac:chgData name="영완 전" userId="94a232b962f42e62" providerId="LiveId" clId="{862E7F7D-119D-4717-AD52-91020921814B}" dt="2026-01-09T01:41:20.636" v="30" actId="20577"/>
          <ac:spMkLst>
            <pc:docMk/>
            <pc:sldMk cId="3660847019" sldId="310"/>
            <ac:spMk id="2" creationId="{00000000-0000-0000-0000-000000000000}"/>
          </ac:spMkLst>
        </pc:spChg>
        <pc:spChg chg="mod">
          <ac:chgData name="영완 전" userId="94a232b962f42e62" providerId="LiveId" clId="{862E7F7D-119D-4717-AD52-91020921814B}" dt="2026-01-09T01:42:01.256" v="35" actId="20577"/>
          <ac:spMkLst>
            <pc:docMk/>
            <pc:sldMk cId="3660847019" sldId="310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9T01:46:18.347" v="49" actId="20577"/>
        <pc:sldMkLst>
          <pc:docMk/>
          <pc:sldMk cId="1746837567" sldId="315"/>
        </pc:sldMkLst>
        <pc:spChg chg="mod">
          <ac:chgData name="영완 전" userId="94a232b962f42e62" providerId="LiveId" clId="{862E7F7D-119D-4717-AD52-91020921814B}" dt="2026-01-09T01:46:18.347" v="49" actId="20577"/>
          <ac:spMkLst>
            <pc:docMk/>
            <pc:sldMk cId="1746837567" sldId="31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38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accent2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14</a:t>
            </a:r>
            <a:r>
              <a:rPr lang="ko-KR" altLang="en-US"/>
              <a:t>장  조세와 소득분배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503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14</a:t>
            </a:r>
            <a:r>
              <a:rPr lang="ko-KR" altLang="en-US"/>
              <a:t>장  조세와 소득분배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ACBC91E-E39D-6481-28C7-1F1F28F3DA92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72F4E3FD-6AE2-8E0E-2A01-1F3DA3D25DA4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077C6414-2E7D-526B-7645-2D3158FA6670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72CCA400-53B4-838B-1995-AAF4EB0F9D34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404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14</a:t>
            </a:r>
            <a:r>
              <a:rPr lang="ko-KR" altLang="en-US"/>
              <a:t>장  조세와 소득분배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083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14</a:t>
            </a:r>
            <a:r>
              <a:rPr lang="ko-KR" altLang="en-US"/>
              <a:t>장  조세와 소득분배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882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14</a:t>
            </a:r>
            <a:r>
              <a:rPr lang="ko-KR" altLang="en-US"/>
              <a:t>장  조세와 소득분배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250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839210-1131-E6E6-A172-3F68665C0E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B641F4-F991-DD5E-DDE3-F4E4D229D6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79CEB097-45C8-E625-62D1-B534591DB6F2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3FE0C31-48F2-0BF5-4DDD-333C9747D88A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A78597A-6B56-E49B-D2A6-DE6184453FA5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C33B3D7-C4C6-4EA2-8592-C2610AA06129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4E2B7A13-D254-6FDC-D9DA-07C2B4F6ED94}"/>
              </a:ext>
            </a:extLst>
          </p:cNvPr>
          <p:cNvSpPr txBox="1">
            <a:spLocks/>
          </p:cNvSpPr>
          <p:nvPr/>
        </p:nvSpPr>
        <p:spPr>
          <a:xfrm>
            <a:off x="4389120" y="140208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14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조세와 소득분배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D3D418EA-0C30-AAED-EF2E-8E3175ABE5D9}"/>
              </a:ext>
            </a:extLst>
          </p:cNvPr>
          <p:cNvSpPr txBox="1">
            <a:spLocks/>
          </p:cNvSpPr>
          <p:nvPr/>
        </p:nvSpPr>
        <p:spPr>
          <a:xfrm>
            <a:off x="4389120" y="369765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14.1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귀착 </a:t>
            </a: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기초적 논의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14.2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부분균형분석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14.3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일반균형분석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14.4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조세부담 귀착의 실증분석</a:t>
            </a:r>
          </a:p>
        </p:txBody>
      </p:sp>
    </p:spTree>
    <p:extLst>
      <p:ext uri="{BB962C8B-B14F-4D97-AF65-F5344CB8AC3E}">
        <p14:creationId xmlns:p14="http://schemas.microsoft.com/office/powerpoint/2010/main" val="401723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14.1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귀착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기초적 논의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73202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조세부담의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귀착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(incidence)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궁극적으로 조세부담이 누구에게       돌아가는가를 뜻하는 개념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/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법적 귀착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(statutory incidence)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조세법상으로 누가 조세납부의 의무를 지도록 규정되어 있는지에 의해 결정됨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/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경제적 귀착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(economic incidence)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실제로 누가 조세부담을       지는가를 보는 귀착의 개념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경제적 귀착이 법적 귀착과 차이를 보이게 되는 이유는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조세부담이    다른 사람에게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전가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(shifting)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되는 현상이 나타나기 때문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이는 사람과 사람 사이에 맺어지는 경제적 관계에 의해 저절로       일어나게 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조세부담의 전가</a:t>
                </a: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=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조세납부액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실질처분가능소득의 변화폭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73202"/>
                <a:ext cx="7886700" cy="4754563"/>
              </a:xfrm>
              <a:blipFill>
                <a:blip r:embed="rId3"/>
                <a:stretch>
                  <a:fillRect l="-696" b="-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전가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74775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 전가의 예 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700"/>
              </a:spcAft>
            </a:pPr>
            <a:r>
              <a:rPr lang="ko-KR" altLang="en-US" sz="2000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전방전가</a:t>
            </a:r>
            <a:r>
              <a:rPr lang="en-US" altLang="ko-KR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(forward shifting) 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부과된 결과 어떤 기업이 생산하는 상품의 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가격이 예전보다 더 높아지면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상품을 사야 하는 소비자도 실질적으로 법인세 부담의 일부를 지는 결과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700"/>
              </a:spcAft>
            </a:pPr>
            <a:r>
              <a:rPr lang="ko-KR" altLang="en-US" sz="2000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후방전가</a:t>
            </a:r>
            <a:r>
              <a:rPr lang="en-US" altLang="ko-KR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(backward shifting) 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부과되어 기업이 노동의 </a:t>
            </a:r>
            <a:r>
              <a:rPr lang="ko-KR" altLang="en-US" sz="2000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고용량을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줄이거나 근로자가 받는 임금이 하락한다면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근로자 역시 법인세의 부담을 부분적으로 나누어지는 셈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389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주체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귀착은 사람들은 어떤 기준에 의해 몇 개의 그룹으로 분류하고 조세부담이 각 그룹별로 귀착되는 양상을 분석하는 방식을 채택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기능별 소득분배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(functional distribution of income)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생산   요소를 공급하느냐에 따라 사람들을 구분하고 각 그룹별로 부담의    귀착을 분석하는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계층별 소득분배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(size distribution of income)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부유층과 빈곤층    사이에서 조세부담이 어떻게 분배되고 있는지 보는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2100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부담의 원천 측면과 사용 측면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029055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조세가 부과될 때 어떤 사람이 지는 부담은 결국 그의 실질처분가능소득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𝑹𝑫𝑰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생기는 변화로 판가름 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조세부담의 귀착 양상을 알아내기 위해서는 조세부과의 결과 각 계층의 실질처분가능소득이 어떻게 변화하는지 보아야 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66700" indent="-266700"/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실질처분가능소득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𝑹𝑫𝑰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𝑵𝑫𝑰</m:t>
                          </m:r>
                        </m:num>
                        <m:den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den>
                      </m:f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num>
                        <m:den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den>
                      </m:f>
                    </m:oMath>
                  </m:oMathPara>
                </a14:m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/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/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 defTabSz="519113">
                  <a:buNone/>
                </a:pPr>
                <a:r>
                  <a:rPr lang="en-US" altLang="ko-KR" b="1" dirty="0"/>
                  <a:t>		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𝑵𝑫𝑰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명목처분가능소득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en-US" altLang="ko-KR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납세자의 명목소득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</a:p>
              <a:p>
                <a:pPr marL="342900" lvl="1" indent="0" defTabSz="519113">
                  <a:buNone/>
                </a:pPr>
                <a:r>
                  <a:rPr lang="en-US" altLang="ko-KR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			     	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물가수준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029055" cy="4754563"/>
              </a:xfrm>
              <a:blipFill>
                <a:blip r:embed="rId2"/>
                <a:stretch>
                  <a:fillRect l="-683" r="-4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552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부담의 원천 측면과 사용 측면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53994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원천측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(source side)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효과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부과가 명목처분가능소득을 통해  실질처분가능소득에 변화를 가져오는 것</a:t>
            </a:r>
          </a:p>
          <a:p>
            <a:pPr marL="608400" lvl="1" indent="-2664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경우에 따라서는 명목소득 자체에 변화가 생기는 수도 있음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 → 총수요 감소 → 고용 감소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 하락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608400" lvl="1" indent="-2664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조세부과로 인해 각 생산요소의 수요와 공급에 변화가 와서 생산요소 공급자가 얻는 소득이 달라지는 경우도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8400" lvl="1" indent="-26640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사용측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(use side)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효과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조세부과가 가격에 변화를 통해 실질처분가능소득에 변화를 가져오는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부과로 인한 소비자 가격의 상승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084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귀착의 여러 개념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754736" cy="4754563"/>
          </a:xfrm>
        </p:spPr>
        <p:txBody>
          <a:bodyPr anchor="ctr">
            <a:noAutofit/>
          </a:bodyPr>
          <a:lstStyle/>
          <a:p>
            <a:pPr marL="396000" indent="-457200"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균형예산귀착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(balanced budget incidence)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조세로부터의      세수를 갖고 특정한 사업을 수행했다고 할 때 조세징수와 지출프로그램의 효과를 묶어서 귀착을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분배적 효과는 정부가 그 조세수입을 어떻게 사용하느냐에 따라 달라지는지를 고려하기 위함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차별귀착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(differential incidence)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정부예산을 불변으로 유지한다는 가정 아래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종류의 조세를 같은 조세수입을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가져다주는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다른  종류의 조세로 대체했을 때 어떤 분배효과가 나오는가를 보는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/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절대귀착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(absolute incidence)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조세나 지출에 아무런 변화가 없다고 가정하고 특정한 조세의 분배적 효과를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편리하다는 이점은 있으나 바람직한 방법은 될 수 없음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9006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기준에 의한 귀착의 구분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753350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부분균형분석과 일반균형분석에 의한 귀착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부분균형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(partial equilibrium)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분석은 경제의 한 부문이 다른 부문과 주고받는 영향은 매우 작다고 가정하고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시장 사이의 상호연관관계가 강한 경우는 일반균형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(general equilibrium)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틀에서 분석할 필요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/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단기와 장기에서의 귀착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저축에 조세를 부과할 때의 예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저축자의 세금부담이 늘어난 것 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 감소 → 자본스톡 감소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노동수요 감소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개방경제와 폐쇄경제에서의 귀착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개방도가 큰 경제에서의 자본과세는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수익률이 바로 그 과세의 폭만큼 올라서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수익률은 종전과 다름없이 유지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1105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14.2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부분균형분석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75023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상품에 부과된 </a:t>
            </a:r>
            <a:r>
              <a:rPr lang="ko-KR" altLang="en-US" sz="20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(excise tax)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부담이 어떻게 귀착되는지 분석</a:t>
            </a:r>
            <a:endParaRPr lang="en-US" altLang="ko-KR" sz="20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종량세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방식으로 부과된다고 가정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종량세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(specific tax)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단위당 일정액의 세금을 부과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종가세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2000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ad valorem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tax)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상품가격의 몇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세금으로 부과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2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조세를 납부할 의무를 가진다고 가정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tabLst>
                <a:tab pos="901700" algn="l"/>
              </a:tabLs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법적 귀착이 공급자에게 돌아가나 경제적 귀착은 이와 다를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4797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부분균형분석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볼펜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자루당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100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원의 물품세가 부과되는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공급곡선이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100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위쪽으로 이동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소비자가 내는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560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생산자가 받는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460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소비자에게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귀착되는 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노란색 사다리꼴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생산자에게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귀착되는 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연두색 사다리꼴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8BD56E2-57CD-4E8E-98EB-139ECABD59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8751" y="2614412"/>
            <a:ext cx="5862444" cy="356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97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부분균형분석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85902"/>
            <a:ext cx="788670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부담을 어느 쪽이 상대적으로 더 많이 지게 되는지는 수요와 공급의 가격탄력성에 따라 달라짐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공급곡선이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수평선인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부담이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소비자에게 전가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50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소비자가 지는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상대적 부담은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공급탄력성이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클수록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수요탄력성이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작을수록 커짐</a:t>
            </a:r>
            <a:endParaRPr lang="en-US" altLang="ko-KR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47379BA-E51C-4372-B17C-D3495D254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6969" y="2700759"/>
            <a:ext cx="5868987" cy="334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42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부분균형분석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납세의무가 소비자에게 있는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수요곡선이 단위당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세금에 해당하는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거리만큼 아래쪽으로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이동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소비자에게 부과된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효과는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공급자가 납세의무를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지고 있는 경우와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전혀 다를 바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A891360-62B5-4C1C-AC91-9DCB245A3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0072" y="2682542"/>
            <a:ext cx="5486718" cy="308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58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생산요소에 대한 과세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177800" indent="-1778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노동에 대한 과세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(wage income tax)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부과는 노동공급곡선을 위쪽으로 이동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/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/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근로소득세로</a:t>
                </a: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인한 </a:t>
                </a:r>
                <a:r>
                  <a:rPr lang="ko-KR" altLang="en-US" spc="-8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순임금률의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 </a:t>
                </a: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8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i="1" spc="-8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pc="-80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ko-KR" b="1" i="1" spc="-80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ko-KR" b="1" i="1" spc="-80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ko-KR" b="1" i="1" spc="-8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b="1" i="1" spc="-8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lvl="1" indent="-177800"/>
                <a:endParaRPr lang="en-US" altLang="ko-KR" sz="1000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/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수요와 공급의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탄력성이 상대적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조세부담을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결정하는 데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핵심적 역할</a:t>
                </a: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E4C76DF-D0DE-4A1A-B855-03CBE48BE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6038" y="2695548"/>
            <a:ext cx="5887421" cy="333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64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생산요소에 대한 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자본에 대한 과세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고려 대상으로 삼는 경제가 얼마나 큰 개방성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(openness)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갖고 있는지가 중요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완전히 개방적인 경제에서 국내 자본시장의 공급탄력성은 무한히 큰 것으로 나타남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해외와 자본거래가 매우 활발하게 이루어지고 있으므로 국제적으로 정해진 이자율에서 무한히 많은 자본이 국내 자본시장으로 공급될 수 있기 때문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경제의 개방성이 높을수록 자본에 대한 과세가 자본의 사용자에게  전가될 가능성이 높아짐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9002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자본화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770283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조세의 자본화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capitalization)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자산의 가격이 미래에 발생될  조세부담의 현재가치에 해당하는 부분만큼 하락하는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앞으로 지게 될 세금부담이 미리 예측되어 가격에 반영되는 현상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토지와 같이 공급이 고정되어 있는 경우에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0216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자본화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토지시장이 완전경쟁적이면 토지 가격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임대료 흐름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현재가치는 같게 되어 아래와 같은 관계 성립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기간당 할인율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  <a:p>
                <a:pPr marL="266700" indent="-266700"/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토지에서 나오는 임대료수입에 대해 각 기별로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조세가 부과된 후의 토지가격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b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순임대료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흐름의 현재가치와 같아짐</a:t>
                </a:r>
                <a:b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bSup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)+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</a:t>
                </a:r>
              </a:p>
              <a:p>
                <a:pPr marL="266700" indent="-266700"/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토지에 조세가 부과되면 가격이 미래 조세부담의 현재가치만큼 하락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6837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자본화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20495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부과된 조세의 자본화가 일어나면 미래에 예상되는 조세부담은 현재 그 토지를 보유하는 사람에게 전적으로 귀착되는 결과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 세금을 내는 사람은 조세가 부과되는 미래의 그 시점에서 토지를 보유하는 사람이지만 자본화로 인해 이미 낮아진 가격을 주고 샀기 때문에 실질적으로 그가 지는 부담은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토지의 공급이 신축적이라면 완전한 자본화는 일어나지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일부가 임대료에 전가된다면 조세부담의 완전한 자본화는 일어나지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5376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14.3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귀착의 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일반균형분석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하버거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(A. </a:t>
                </a:r>
                <a:r>
                  <a:rPr lang="en-US" altLang="ko-KR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Harberger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귀착분석모형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일반균형의 틀 안에서 조세부담의 귀착 분석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모형의 가정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자본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생산요소가 존재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부존량은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각각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</m:acc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  주어져 있음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생산요소들은 완전한 이동성을 갖고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기업들은 노동과 자본을 사용해 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옷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재화를 생산하고 있으며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조세를 포함하지 않은 쌀과 옷의 가격은 각각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표시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경제의 모든 시장에서 완전경쟁이 이루어지고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재화의 생산함수는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차동차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혹은 선형동차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(linearly homogeneous)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특성을 가짐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쌀이 옷보다 더 노동집약적인 방법으로 생산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소비자들은 모두 똑같은 선호를 갖고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0327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특정물품세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(specific commodity tax)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대해서만 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물품세가 부과되는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 후 소비자가 직면하는 쌀 가격은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상승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/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소비자들은 예전보다 더 비싸진 쌀을 옷으로 대체해 소비하려는 반응을 보임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1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8911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대한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부과에 따라 생산물의 조합 변화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생산점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이동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buNone/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1709E9-8068-45DE-AF10-5D4D68C98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6050" y="2529153"/>
            <a:ext cx="5799541" cy="329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474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85902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계약곡선 위에서의 이동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이에 따라 한계기술대체율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𝑹𝑻𝑺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및 요소가격비율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도 변함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  <a:spcBef>
                    <a:spcPts val="100"/>
                  </a:spcBef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  <a:spcBef>
                    <a:spcPts val="100"/>
                  </a:spcBef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  <a:spcBef>
                    <a:spcPts val="100"/>
                  </a:spcBef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요소가격비율</a:t>
                </a:r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 spc="-100" smtClean="0">
                        <a:latin typeface="Cambria Math" panose="02040503050406030204" pitchFamily="18" charset="0"/>
                      </a:rPr>
                      <m:t>         </m:t>
                    </m:r>
                    <m:sSub>
                      <m:sSubPr>
                        <m:ctrlPr>
                          <a:rPr lang="en-US" altLang="ko-KR" i="1" spc="-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 spc="-100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ko-KR" i="1" spc="-10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spc="-10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num>
                          <m:den>
                            <m:r>
                              <a:rPr lang="en-US" altLang="ko-KR" b="1" i="1" spc="-10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den>
                        </m:f>
                        <m:r>
                          <a:rPr lang="en-US" altLang="ko-KR" b="1" i="1" spc="-10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altLang="ko-KR" b="1" i="1" spc="-100">
                        <a:latin typeface="Cambria Math" panose="02040503050406030204" pitchFamily="18" charset="0"/>
                      </a:rPr>
                      <m:t>  &gt; </m:t>
                    </m:r>
                    <m:sSub>
                      <m:sSubPr>
                        <m:ctrlPr>
                          <a:rPr lang="en-US" altLang="ko-KR" i="1" spc="-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 spc="-100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ko-KR" i="1" spc="-10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spc="-10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num>
                          <m:den>
                            <m:r>
                              <a:rPr lang="en-US" altLang="ko-KR" b="1" i="1" spc="-10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den>
                        </m:f>
                        <m:r>
                          <a:rPr lang="en-US" altLang="ko-KR" b="1" i="1" spc="-10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노동의 상대가격</a:t>
                </a:r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하락</a:t>
                </a:r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자본의 상대가격</a:t>
                </a:r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상승</a:t>
                </a:r>
                <a:endParaRPr lang="en-US" altLang="ko-KR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endParaRPr lang="en-US" altLang="ko-KR" sz="1000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노동집약적인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물품세가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부과되었기 때문</a:t>
                </a:r>
                <a:endParaRPr lang="en-US" altLang="ko-KR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100"/>
                  </a:spcBef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100"/>
                  </a:spcBef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85902"/>
                <a:ext cx="7886700" cy="4754563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9EFD335-9623-4AE9-9D14-A70D0B920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8143" y="2728591"/>
            <a:ext cx="5343960" cy="318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82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한 상품에만 부과되는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 상품의 생산과정에서 집약적으로 사용되는 요소의 상대가격을 떨어뜨리는 결과를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요소의 상대가격이 변화하는 정도는 다음과 같은 요인에 의존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 산업 사이에 요소집약도의 차이가 클수록 상대가격비율이 더 큰 폭으로 변화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과세대상이 된 상품에 대한 수요의 가격탄력성이 클수록 상대가격의 변화가 더 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 사이의 대체탄력성이 작을수록 상대가격의 변화가 더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4780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부과되는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부담귀착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–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원천측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(source side)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물품세가 부과된 산업에서 집약적으로 사용되고 있는 생산요소의   공급자에게 부담이 귀착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사람들이 노동과 자본을 서로 다른 비율로 공급하고 있다면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노동을 상대적으로 더 많이 공급하는 사람일수록 더 무거운 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상품에만 부과되는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부담귀착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–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사용측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(use side)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과세대상 상품을 상대적으로 더 많이 소비하고 있는 사람일수록 더 많은 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수요의 소득탄력성이 아주 큰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사치재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(luxuries)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에만 물품세가 부과 된다면 부유층이 상대적으로 더 큰 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6621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pc="-3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생산부문의 한 생산요소에 대한 과세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pc="-9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생산부문에서 사용되는 자본에만 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9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9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 spc="-90">
                            <a:latin typeface="Cambria Math" panose="02040503050406030204" pitchFamily="18" charset="0"/>
                          </a:rPr>
                          <m:t>𝒌𝒙</m:t>
                        </m:r>
                      </m:sub>
                    </m:sSub>
                  </m:oMath>
                </a14:m>
                <a:r>
                  <a:rPr lang="ko-KR" altLang="en-US" spc="-9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조세를 부과하는 경우</a:t>
                </a:r>
                <a:endParaRPr lang="en-US" altLang="ko-KR" spc="-9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생산부문에만 과세되기 때문에 쌀 가격이 상대적으로 올라가고 이에 따라 수요가 옷으로 이동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생산가능곡선 위에서 옷의 상대적 비중이 높아지는 쪽으로 움직여가는 것을 의미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비용극소화의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조건이 다음과 같이 변하는 데 따라 요소투입비율에도 변화가 나타남 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𝑹𝑻𝑺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bSup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𝒘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𝒌𝒙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&lt;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𝒘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𝒗</m:t>
                        </m:r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=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𝑹𝑻𝑺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p>
                    </m:sSubSup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이는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에지워스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상자 속의 계약곡선 위에 있지 않은 한 점에서 생산이 이루어짐을 의미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4589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조세부과로 인한 생산의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ko-KR" b="1" i="1" spc="-8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점은 계약곡선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밖에 존재하여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생산과정에서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효율성이 충족되지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못한다는 것을 의미</a:t>
                </a: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endParaRPr lang="en-US" altLang="ko-KR" sz="300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변화는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가지 효과가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작용한 결과</a:t>
                </a: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lnSpc>
                    <a:spcPct val="110000"/>
                  </a:lnSpc>
                  <a:buNone/>
                </a:pP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(1) 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산출효과</a:t>
                </a: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lnSpc>
                    <a:spcPct val="110000"/>
                  </a:lnSpc>
                  <a:buNone/>
                </a:pP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(2) 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요소대체효과</a:t>
                </a: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32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 생산부문의 한 생산요소에 대한 과세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B710D1-728F-46A0-8474-0BE77FB755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4979" y="2370211"/>
            <a:ext cx="5800142" cy="348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6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549402"/>
                <a:ext cx="7546917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산출효과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(input effect)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생산의 자본에 대한 과세는 쌀의 생산비용을 증가시켜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생산을 감소시키는데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 결과 쌀 생산에 집약적으로 사용되는 노동의 가격이 상대적으로 하락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일반적으로 산출효과는 과세된 부문의 요소집약도에 의존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부문에서 집약적으로 사용되는 생산요소의 상대적 가격비율을 낮추는 방향으로 작용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>
                  <a:lnSpc>
                    <a:spcPct val="10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요소대체효과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(factor substitution effect)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생산의 자본에 조세를 부과하면 상대적으로 가격이 높아진 자본을 노동으로 대체하기 때문에 자본의 상대가격 하락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생산과정에서의 한계기술대체율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𝑹𝑻𝑺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b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내려가고 옷 생산과정에서의 한계기술대체율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𝑹𝑻𝑺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p>
                    </m:sSub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올라감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요소대체효과는 조세부과의 대상이 되는 생산요소의 상대가격이 하락하는 방향으로 작용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549402"/>
                <a:ext cx="7546917" cy="4754563"/>
              </a:xfrm>
              <a:blipFill>
                <a:blip r:embed="rId2"/>
                <a:stretch>
                  <a:fillRect l="-727" r="-727" b="-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32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 생산부문의 한 생산요소에 대한 과세</a:t>
            </a:r>
          </a:p>
        </p:txBody>
      </p:sp>
    </p:spTree>
    <p:extLst>
      <p:ext uri="{BB962C8B-B14F-4D97-AF65-F5344CB8AC3E}">
        <p14:creationId xmlns:p14="http://schemas.microsoft.com/office/powerpoint/2010/main" val="3022557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부분적인 요소과세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(partial factor tax),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한 생산부문에서 사용되는 하나의 생산요소에만 부과되는 세금의 총체적 효과는 산출효과와 요소대체효과의 합작품이라고 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노동집약적인 쌀 생산에 사용되는 자본에 대한 과세가 노동과 자본의 상대가격에 어떠한 영향을 미칠지는 불분명함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산출효과와 요소대체효과가 서로 반대방향으로 작용하기 때문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산출효과가 요소대체효과보다 크다면 노동의 상대가격 하락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요소대체효과가 산출효과보다 크다면 자본의 상대가격 하락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32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 생산부문의 한 생산요소에 대한 과세</a:t>
            </a:r>
          </a:p>
        </p:txBody>
      </p:sp>
    </p:spTree>
    <p:extLst>
      <p:ext uri="{BB962C8B-B14F-4D97-AF65-F5344CB8AC3E}">
        <p14:creationId xmlns:p14="http://schemas.microsoft.com/office/powerpoint/2010/main" val="3129610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14.4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 귀착의 실증분석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법인세의 부담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귀착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크리재니악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머스그레이브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Kryzaniak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R. Musgrave)</a:t>
            </a:r>
          </a:p>
          <a:p>
            <a:pPr marL="444500" lvl="1" indent="-1778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제조업의 경우 법인세 부담의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100%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이상이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소비자에게로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전가됨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수요조건을 무시하고 있으며 분석의 배경으로 삼고 있는     모형의 구조에도 문제가 있다는 등 여러 각도에서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비판받음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lvl="1" indent="-266700">
              <a:lnSpc>
                <a:spcPct val="10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Gordon)</a:t>
            </a:r>
          </a:p>
          <a:p>
            <a:pPr marL="444500" lvl="1" indent="-1778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 제조업에서 법인세 부담이 소비자에게로 전가되는 현상은 전혀 찾아볼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lvl="1" indent="-266700">
              <a:lnSpc>
                <a:spcPct val="10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연구들로부터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법인세 부담의 귀착에 관해서는 아직 분명하게 말하기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4113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 귀착의 실증분석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국민연금 보험료의 귀착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국민연금의 보험료는 대부분의 나라에서 고용주와 근로자가 각각 반씩 부담하도록 규정되어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근로자가 내는 부분은 당연히 자신의 부담이 될 것인 데 비해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고용주가 부담하기로 된 부분은 누구에게 귀착되는지 잘 알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근로자가 받는 임금이 고용주가 부담하는 금액만큼 떨어지는 결과가 빚어진다면 이 부담은 근로자에게 완전히 전가된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브리튼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Brittain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사회보장제도를 대상으로 하여 검증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표면적으로 고용주가 부담하기로 된 부분이 실제로는 근로자의      부담으로 거의 완전하게 전가되고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1371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pc="-36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 귀착의 실증분석 </a:t>
            </a:r>
            <a:r>
              <a:rPr lang="en-US" altLang="ko-KR" spc="-36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36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전반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08026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페크먼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오크너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Pechman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B.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Okner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1966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자료를 이용해   미국 조세제도 전반의 부담 귀착을 분석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조세제도가 기본적으로 비례세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(proportional tax)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성격을  갖고 있음을 밝혀냄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조세제도가 상당한 정도의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누진성을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갖고 있는 것같이 보여도 실제로는 부유한 사람이 그리 큰 부담을 지는 것은 아님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피케티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사에즈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(T. Piketty and E.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Saez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444500" lvl="1"/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2004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자료를 통해 미국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연방세의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소득계층별 부담 귀착을 분석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연방세의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부담 귀착이 상당히 누진적이라는 결론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소득분배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7531056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3736</TotalTime>
  <Words>2192</Words>
  <Application>Microsoft Office PowerPoint</Application>
  <PresentationFormat>화면 슬라이드 쇼(4:3)</PresentationFormat>
  <Paragraphs>310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14.1  조세부담의 귀착 : 기초적 논의</vt:lpstr>
      <vt:lpstr>조세부담의 전가</vt:lpstr>
      <vt:lpstr>조세부담의 주체</vt:lpstr>
      <vt:lpstr>부담의 원천 측면과 사용 측면</vt:lpstr>
      <vt:lpstr>부담의 원천 측면과 사용 측면</vt:lpstr>
      <vt:lpstr>귀착의 여러 개념</vt:lpstr>
      <vt:lpstr>다른 기준에 의한 귀착의 구분</vt:lpstr>
      <vt:lpstr>14.2  귀착의 분석 : 부분균형분석</vt:lpstr>
      <vt:lpstr>귀착의 분석 : 부분균형분석</vt:lpstr>
      <vt:lpstr>귀착의 분석 : 부분균형분석</vt:lpstr>
      <vt:lpstr>귀착의 분석 : 부분균형분석</vt:lpstr>
      <vt:lpstr>생산요소에 대한 과세</vt:lpstr>
      <vt:lpstr>생산요소에 대한 과세</vt:lpstr>
      <vt:lpstr>조세의 자본화</vt:lpstr>
      <vt:lpstr>조세의 자본화</vt:lpstr>
      <vt:lpstr>조세의 자본화</vt:lpstr>
      <vt:lpstr>14.3  귀착의 분석 : 일반균형분석</vt:lpstr>
      <vt:lpstr>한 상품에만 물품세 부과</vt:lpstr>
      <vt:lpstr>한 상품에만 물품세 부과</vt:lpstr>
      <vt:lpstr>한 상품에만 물품세 부과</vt:lpstr>
      <vt:lpstr>한 상품에만 물품세 부과</vt:lpstr>
      <vt:lpstr>한 상품에만 물품세 부과</vt:lpstr>
      <vt:lpstr>한 생산부문의 한 생산요소에 대한 과세</vt:lpstr>
      <vt:lpstr>PowerPoint 프레젠테이션</vt:lpstr>
      <vt:lpstr>PowerPoint 프레젠테이션</vt:lpstr>
      <vt:lpstr>PowerPoint 프레젠테이션</vt:lpstr>
      <vt:lpstr>14.4  조세부담 귀착의 실증분석</vt:lpstr>
      <vt:lpstr>조세부담 귀착의 실증분석</vt:lpstr>
      <vt:lpstr>조세부담 귀착의 실증분석 : 조세제도 전반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923</cp:revision>
  <dcterms:created xsi:type="dcterms:W3CDTF">2015-08-04T05:38:00Z</dcterms:created>
  <dcterms:modified xsi:type="dcterms:W3CDTF">2026-01-13T01:03:14Z</dcterms:modified>
</cp:coreProperties>
</file>