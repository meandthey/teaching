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5"/>
  </p:notesMasterIdLst>
  <p:handoutMasterIdLst>
    <p:handoutMasterId r:id="rId26"/>
  </p:handoutMasterIdLst>
  <p:sldIdLst>
    <p:sldId id="324" r:id="rId2"/>
    <p:sldId id="297" r:id="rId3"/>
    <p:sldId id="298" r:id="rId4"/>
    <p:sldId id="299" r:id="rId5"/>
    <p:sldId id="301" r:id="rId6"/>
    <p:sldId id="302" r:id="rId7"/>
    <p:sldId id="303" r:id="rId8"/>
    <p:sldId id="308" r:id="rId9"/>
    <p:sldId id="304" r:id="rId10"/>
    <p:sldId id="305" r:id="rId11"/>
    <p:sldId id="306" r:id="rId12"/>
    <p:sldId id="307" r:id="rId13"/>
    <p:sldId id="309" r:id="rId14"/>
    <p:sldId id="310" r:id="rId15"/>
    <p:sldId id="312" r:id="rId16"/>
    <p:sldId id="316" r:id="rId17"/>
    <p:sldId id="317" r:id="rId18"/>
    <p:sldId id="318" r:id="rId19"/>
    <p:sldId id="320" r:id="rId20"/>
    <p:sldId id="319" r:id="rId21"/>
    <p:sldId id="321" r:id="rId22"/>
    <p:sldId id="323" r:id="rId23"/>
    <p:sldId id="322" r:id="rId24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mhmh@office.uos.ac.kr" initials="c" lastIdx="1" clrIdx="0">
    <p:extLst>
      <p:ext uri="{19B8F6BF-5375-455C-9EA6-DF929625EA0E}">
        <p15:presenceInfo xmlns:p15="http://schemas.microsoft.com/office/powerpoint/2012/main" userId="chomhmh@office.uos.ac.k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  <a:srgbClr val="A6C9E8"/>
    <a:srgbClr val="4A82B4"/>
    <a:srgbClr val="FEFBF0"/>
    <a:srgbClr val="FDF4D1"/>
    <a:srgbClr val="FD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0BEC9-4FBC-47F7-81B2-C0711F396985}" v="12" dt="2026-01-08T06:17:52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11" autoAdjust="0"/>
    <p:restoredTop sz="96391" autoAdjust="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5:01:49.373" v="51" actId="313"/>
      <pc:docMkLst>
        <pc:docMk/>
      </pc:docMkLst>
      <pc:sldChg chg="modSp mod">
        <pc:chgData name="영완 전" userId="94a232b962f42e62" providerId="LiveId" clId="{862E7F7D-119D-4717-AD52-91020921814B}" dt="2026-01-08T06:17:27.888" v="38" actId="20577"/>
        <pc:sldMkLst>
          <pc:docMk/>
          <pc:sldMk cId="2210664272" sldId="297"/>
        </pc:sldMkLst>
        <pc:spChg chg="mod">
          <ac:chgData name="영완 전" userId="94a232b962f42e62" providerId="LiveId" clId="{862E7F7D-119D-4717-AD52-91020921814B}" dt="2026-01-08T06:17:27.888" v="38" actId="20577"/>
          <ac:spMkLst>
            <pc:docMk/>
            <pc:sldMk cId="2210664272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6:50.829" v="29" actId="20577"/>
        <pc:sldMkLst>
          <pc:docMk/>
          <pc:sldMk cId="2970764052" sldId="304"/>
        </pc:sldMkLst>
        <pc:spChg chg="mod">
          <ac:chgData name="영완 전" userId="94a232b962f42e62" providerId="LiveId" clId="{862E7F7D-119D-4717-AD52-91020921814B}" dt="2026-01-08T06:16:50.829" v="29" actId="20577"/>
          <ac:spMkLst>
            <pc:docMk/>
            <pc:sldMk cId="2970764052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36:49.931" v="0" actId="20577"/>
        <pc:sldMkLst>
          <pc:docMk/>
          <pc:sldMk cId="2817347799" sldId="305"/>
        </pc:sldMkLst>
        <pc:spChg chg="mod">
          <ac:chgData name="영완 전" userId="94a232b962f42e62" providerId="LiveId" clId="{862E7F7D-119D-4717-AD52-91020921814B}" dt="2026-01-07T02:36:49.931" v="0" actId="20577"/>
          <ac:spMkLst>
            <pc:docMk/>
            <pc:sldMk cId="2817347799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7:53.770" v="47" actId="20577"/>
        <pc:sldMkLst>
          <pc:docMk/>
          <pc:sldMk cId="662188186" sldId="306"/>
        </pc:sldMkLst>
        <pc:spChg chg="mod">
          <ac:chgData name="영완 전" userId="94a232b962f42e62" providerId="LiveId" clId="{862E7F7D-119D-4717-AD52-91020921814B}" dt="2026-01-07T02:36:58.810" v="1" actId="20577"/>
          <ac:spMkLst>
            <pc:docMk/>
            <pc:sldMk cId="662188186" sldId="306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08T06:17:53.770" v="47" actId="20577"/>
          <ac:spMkLst>
            <pc:docMk/>
            <pc:sldMk cId="662188186" sldId="30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09:48.330" v="23" actId="20577"/>
        <pc:sldMkLst>
          <pc:docMk/>
          <pc:sldMk cId="1466328140" sldId="307"/>
        </pc:sldMkLst>
        <pc:spChg chg="mod">
          <ac:chgData name="영완 전" userId="94a232b962f42e62" providerId="LiveId" clId="{862E7F7D-119D-4717-AD52-91020921814B}" dt="2026-01-08T02:09:48.330" v="23" actId="20577"/>
          <ac:spMkLst>
            <pc:docMk/>
            <pc:sldMk cId="1466328140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6:17:14.458" v="32" actId="20577"/>
        <pc:sldMkLst>
          <pc:docMk/>
          <pc:sldMk cId="2539898328" sldId="308"/>
        </pc:sldMkLst>
        <pc:spChg chg="mod">
          <ac:chgData name="영완 전" userId="94a232b962f42e62" providerId="LiveId" clId="{862E7F7D-119D-4717-AD52-91020921814B}" dt="2026-01-08T06:17:14.458" v="32" actId="20577"/>
          <ac:spMkLst>
            <pc:docMk/>
            <pc:sldMk cId="2539898328" sldId="30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01:49.373" v="51" actId="313"/>
        <pc:sldMkLst>
          <pc:docMk/>
          <pc:sldMk cId="3771004583" sldId="318"/>
        </pc:sldMkLst>
        <pc:spChg chg="mod">
          <ac:chgData name="영완 전" userId="94a232b962f42e62" providerId="LiveId" clId="{862E7F7D-119D-4717-AD52-91020921814B}" dt="2026-01-12T05:01:49.373" v="51" actId="313"/>
          <ac:spMkLst>
            <pc:docMk/>
            <pc:sldMk cId="3771004583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40:03.475" v="7" actId="20577"/>
        <pc:sldMkLst>
          <pc:docMk/>
          <pc:sldMk cId="3156747776" sldId="319"/>
        </pc:sldMkLst>
        <pc:spChg chg="mod">
          <ac:chgData name="영완 전" userId="94a232b962f42e62" providerId="LiveId" clId="{862E7F7D-119D-4717-AD52-91020921814B}" dt="2026-01-07T02:40:03.475" v="7" actId="20577"/>
          <ac:spMkLst>
            <pc:docMk/>
            <pc:sldMk cId="3156747776" sldId="31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39:51.680" v="6" actId="313"/>
        <pc:sldMkLst>
          <pc:docMk/>
          <pc:sldMk cId="2400291903" sldId="320"/>
        </pc:sldMkLst>
        <pc:spChg chg="mod">
          <ac:chgData name="영완 전" userId="94a232b962f42e62" providerId="LiveId" clId="{862E7F7D-119D-4717-AD52-91020921814B}" dt="2026-01-07T02:39:51.680" v="6" actId="313"/>
          <ac:spMkLst>
            <pc:docMk/>
            <pc:sldMk cId="2400291903" sldId="32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41:48.650" v="16" actId="20577"/>
        <pc:sldMkLst>
          <pc:docMk/>
          <pc:sldMk cId="552752169" sldId="321"/>
        </pc:sldMkLst>
        <pc:spChg chg="mod">
          <ac:chgData name="영완 전" userId="94a232b962f42e62" providerId="LiveId" clId="{862E7F7D-119D-4717-AD52-91020921814B}" dt="2026-01-07T02:41:48.650" v="16" actId="20577"/>
          <ac:spMkLst>
            <pc:docMk/>
            <pc:sldMk cId="552752169" sldId="32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732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03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8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02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1E253C9-4E6F-18E8-EDBA-F05A0FD01FCB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8" name="화살표: 오각형 7">
              <a:extLst>
                <a:ext uri="{FF2B5EF4-FFF2-40B4-BE49-F238E27FC236}">
                  <a16:creationId xmlns:a16="http://schemas.microsoft.com/office/drawing/2014/main" id="{4A29294F-18D3-9A91-F718-F489DD88A60C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화살표: 갈매기형 수장 8">
              <a:extLst>
                <a:ext uri="{FF2B5EF4-FFF2-40B4-BE49-F238E27FC236}">
                  <a16:creationId xmlns:a16="http://schemas.microsoft.com/office/drawing/2014/main" id="{489129EF-5A66-DE7D-20A2-AD66773BB108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화살표: 갈매기형 수장 9">
              <a:extLst>
                <a:ext uri="{FF2B5EF4-FFF2-40B4-BE49-F238E27FC236}">
                  <a16:creationId xmlns:a16="http://schemas.microsoft.com/office/drawing/2014/main" id="{D088EFF8-1ACF-DF0D-A0E8-7707EFCDBCBA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>
              <a:defRPr sz="26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98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6445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8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4" r:id="rId2"/>
    <p:sldLayoutId id="2147483713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1"/>
          </a:solidFill>
          <a:effectLst/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8BB5F-58F6-9543-F083-8683B26F5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A06524-8792-EB1C-1990-72FCAF05F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3885FFF-B4CC-1A05-B083-4767CA563475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7068F91-B08D-8D1D-0F01-56928E5E37B8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CFEBDBE-37A8-636D-4EE7-E692AA1A65EB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2476097-80E3-1074-49EE-D7468B148EC5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40611AAE-1AE4-E8F4-D265-72D3D77E4822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재정학 </a:t>
            </a:r>
            <a:r>
              <a:rPr lang="en-US" altLang="ko-KR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의의와 성격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4C59039-A83C-4E9B-9FAE-9DE26BEDC250}"/>
              </a:ext>
            </a:extLst>
          </p:cNvPr>
          <p:cNvSpPr txBox="1">
            <a:spLocks/>
          </p:cNvSpPr>
          <p:nvPr/>
        </p:nvSpPr>
        <p:spPr>
          <a:xfrm>
            <a:off x="4389120" y="368488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내용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  </a:t>
            </a:r>
            <a:r>
              <a:rPr lang="ko-KR" altLang="en-US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정부란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무엇인가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혼합경제와 정부의 역할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</p:spTree>
    <p:extLst>
      <p:ext uri="{BB962C8B-B14F-4D97-AF65-F5344CB8AC3E}">
        <p14:creationId xmlns:p14="http://schemas.microsoft.com/office/powerpoint/2010/main" val="4286468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재정학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finance)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국가재정 이외에도 정부 혹은 공공부문의 활동과 관련된 다양한 주제들에 대한 연구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과거에는 예산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같은 제도의 특성을 분석하는 데 관심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최근에는 조세나 정부지출이 경제에 미치는 영향을 이론적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실증적으로 밝히는 데 분석의 초점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  <a:buClr>
                <a:schemeClr val="accent1"/>
              </a:buClr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응용미시경제의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한 분야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미시경제학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가계와 기업의 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경제행위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66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관심 대상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관심 대상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행동과 이에 대한 의사결정 과정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행동이 경제에 미치는 영향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(3)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정책대안들에 대한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규범적 분석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있는 그대로의 사실에 관한 이해 추구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규범적 분석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정책이 바람직한지 여부에 대한 판단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790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정부란 무엇인가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40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(government)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범위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 징수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소집영장 발부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범죄자 검거 및 징벌의 주체가 정부라는 것은 의심의 여지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한국철도공사나 한국방송공사의 경우는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indent="-234000" latinLnBrk="0">
              <a:spcBef>
                <a:spcPts val="4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의미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좁은 의미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입법부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40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공공기관까지 포함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0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753350" cy="4754563"/>
          </a:xfrm>
        </p:spPr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국민이 직접 선출한 사람이나 이들이 임명한 사람들이 운영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국민에 대한 강제력 보유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소득의 일부를 세금으로 납부하도록 강제할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주로 비시장적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(non-market)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방법을 통해 배분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경찰서비스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교육서비스 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어떻게 정의하는가에 따라 정부는 위의 특징 중 일부만 가질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635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보는 견해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(organic view)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사회가 하나의 자연적 유기체라고 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개인이 유기체의 한 부분을 구성하며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그 유기체의 심장부에 해당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개인은 사회의 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부분으로서만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의미가 있으며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전체의 이익에 봉사하는 것을 개인의 미덕으로 여김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개인 위에 존재하는 우월한 존재로 인식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자유나 권리를 보장하기 위해 정부가 존재한다는 사고방식 배격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7821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정부를 보는 견해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28789" cy="4754563"/>
          </a:xfrm>
        </p:spPr>
        <p:txBody>
          <a:bodyPr>
            <a:noAutofit/>
          </a:bodyPr>
          <a:lstStyle/>
          <a:p>
            <a:pPr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(mechanic view)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개인 목표달성의 편의에 의해 고안된 존재라고 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구체적으로 어떤 것이 개인에게 좋은 것이며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방법으로 이를 촉진시켜야 하는지에 대해서 이견 존재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역할은 외부의 침략을 막고 폭력으로부터 개인을 보호하는 데 그쳐야 한다는 것에  동의 </a:t>
            </a:r>
            <a:r>
              <a:rPr lang="en-US" altLang="ko-KR" sz="2000" b="1" dirty="0"/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최소한의 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(minimal government)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이상의 역할에 대해서는 견해차 존재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소극적 의미의 자유 보장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사회민주주의자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democrat)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적극적 의미의 자유 보장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178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유기체적 견해 </a:t>
            </a:r>
            <a:r>
              <a:rPr lang="en-US" altLang="ko-KR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vs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기계론적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86699" cy="4754563"/>
          </a:xfrm>
        </p:spPr>
        <p:txBody>
          <a:bodyPr>
            <a:normAutofit/>
          </a:bodyPr>
          <a:lstStyle/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사회에서 궁극적인 중요성을 갖는 것은 국가가 아니라 개인이라는 기본원칙에 합의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아무리 개인주의적인 사회라 해도 예외적인 경우에는 국가를 위해 개인이 희생될 수도 있음을 인정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개인과 사회 사이의 긴장은 필연적인 것이며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경우에 정부가 해야 할 일과 해서는 안 될 일 사이의 구분이 애매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결국 이 문제에 대한 해답은 경제논리뿐 아니라 정치적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철학적 판단을 포함한 포괄적인 관점에서 찾아야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989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1.3 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혼합경제와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혼합경제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(mixed economy)</a:t>
            </a: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정부부문이 경제의 재화와 서비스 중 상당 부분을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민간의 경제활동에 여러 방식으로 간섭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순수시장경제와 통제경제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위치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순수시장경제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market economy)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시장이 자원배분의 중심적 역할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통제경제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(command economy)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자원배분의 중심적 역할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76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시장기구의 한계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시장기구가 소득과 재산을 공평하게 분배해 준다는 보장이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시장기구를 통해 경제의 안정적 성장을 이루는 데도 한계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 의한 자원배분이 효율적이지 않을 수도 있음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failure)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7347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역할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운동경기에 비유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78455" cy="4754563"/>
          </a:xfrm>
        </p:spPr>
        <p:txBody>
          <a:bodyPr>
            <a:no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시장경제는 가계와 기업들이 각자의 목표를 추구하는 과정에서 상호접촉한다는 측면에서 운동경기와 흡사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운동경기의 구성요소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경기자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(player),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(rule),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(umpire)</a:t>
            </a: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시장에서 규칙을 정하고 이를 해석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집행하는 심판의 역할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정부는 시장경제에 직접 참여하는 경기자의 역할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경찰서비스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교육서비스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 등의 사회간접자본을 직접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저소득자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생계보조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 운영 등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188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주요기능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85150" cy="4754563"/>
          </a:xfrm>
        </p:spPr>
        <p:txBody>
          <a:bodyPr>
            <a:noAutofit/>
          </a:bodyPr>
          <a:lstStyle/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(allocation)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재화나 서비스를 직접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공급하는 일을 담당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(distribution)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소득분배의 실현을 위해 노력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indent="-457200" latinLnBrk="0">
              <a:spcBef>
                <a:spcPts val="3500"/>
              </a:spcBef>
              <a:spcAft>
                <a:spcPts val="0"/>
              </a:spcAft>
              <a:buAutoNum type="arabicParenBoth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(stabilization) 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생산자원의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완전한 고용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물가의 안정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국제수지의 균형을 달성하기 위해 여러 가지 재정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통화정책 동원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32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큰 정부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70850" cy="4754563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혼합경제체제하에서 정부의 활동 범위는 계속 확장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사회복지와 관련 비중 급격하게 증가</a:t>
            </a: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과도한 팽창은 결코 반길 만한 일이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자유와 창의 보장이라는 측면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 작다고 해서 좋은 정부라고 말할 수 있는 것은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정부에 과도하게 집착하여 반드시 수행해야 할 기능까지 포기하게 만드는 것은 바람직하지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588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큰 정부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정부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적절한 크기가 무엇인지에 대한 논쟁은 앞으로도 끝없이 계속될 것이 분명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논의의 초점이 단순히 큰 정부를 지향해야 하느냐 아니면 작은 정부를 지향해야 하느냐에 맞춰지는 것은 그리 생산적이지 않음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해야 할 일과 하지 말아야 할 일이 명확하게 구분되면 정부의 적절한 크기가 무엇인지에 대한 답은 저절로 나오게 될 것임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101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규모의 측정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기준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국내총생산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(GDP)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대비 정부예산의 비율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가용자원 중 정부가 사용하는 비중을 의미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국내총생산 대비 정부예산의 비율만으로 정부의 규모를 평가하는 것은 적절하지 않을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예산뿐만 아니라 규제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(regulation)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다양한 경로를 통해서 국민경제에 영향을 미칠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우리나라는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1997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말의 외환위기 이후 규제철폐와 민영화를 통해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날씬한 정부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만들어야 한다는 요구 증가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47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>
                <a:latin typeface="나눔고딕" panose="020D0604000000000000" pitchFamily="50" charset="-127"/>
                <a:ea typeface="나눔고딕" panose="020D0604000000000000" pitchFamily="50" charset="-127"/>
              </a:rPr>
              <a:t>1.4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근대적 의미에서 공공재정은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이탈리아의 도시국가와 독일의 자유시에서 찾아볼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본격적 의미에서의 공공재정은 그 후의 민족국가 단계에서 드러남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민족국가 등장 이전 공공행위는 군주 개인의 일로 간주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군주는 자신의 소유토지로부터 인지세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통행세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관세 등을 통해 필요한 자금 충당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귀족 및 관료조직 운영을 위한 비용 증가와 영주와의 갈등 확대과정에서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유통세 등 간접세에 대한 의존 증가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463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공공재정에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원초적 형태의 논의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스콜라학파의 저술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17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중상주의자들의 저술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페티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Petty),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Locke),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Hume) </a:t>
            </a: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근대적 의미에서의 재정학이라는 분야가 처음 정립된 것은 스미스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Smith)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시대에 이르러서 라고 말할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공공재정의 문제가 경제학자들의 주요 관심 중 하나로 정착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리카도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Ricardo),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S. Mill),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Marshall)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270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 시대 이래로 바람직한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많은 관심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조세제도의 요건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lnSpc>
                <a:spcPct val="12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조세부담이 납세자들 사이에서 공평하게 분배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조세부담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혜택에 비례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능력에 비례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적은 행정비용을 요구하는 것이 효율적 제도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뒤피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Dupuit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Marshall) 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논의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00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후반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불리는 분야와 밀접한 연관을 맺으면서 발전	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이론들은 정부의 경제적 역할을 논의할 때 유용하게 활용될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피구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Pigou)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발전에 지대한 영향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29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(V. Pareto)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이탈리아 학파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지출 측면에 관심의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초점</a:t>
            </a:r>
          </a:p>
          <a:p>
            <a:pPr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북유럽학파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공공선택이라는 재정학의 주요 분야 개척</a:t>
            </a:r>
          </a:p>
          <a:p>
            <a:pPr latinLnBrk="0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케인즈혁명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(Keynesian revolution)</a:t>
            </a: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관심을 후생경제학적 문제에서 경제안정과 관련된 재정의 기능으로 돌리는 계기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재정학에서 거시경제적 시각이 지배하는 추세가 한동안 지속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747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미시적 자원배분의 문제에 대한 연구가 다시 주류를 이루게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애로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드브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 and J. Debreu)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일반균형이론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후생경제학에 새로운 바람 일으키며 재정학에 커다란 영향 </a:t>
            </a: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새뮤얼슨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Samuelson)</a:t>
            </a: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「공공지출의 순수이론」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(The Pure Theory of Public Expenditure)</a:t>
            </a: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공공재라는 개념이 엄밀한 이론적 논의의 대상이 되었고 이를 계기로 현대적 재정학의 윤곽이 잡히기 시작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2752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18525"/>
            <a:ext cx="7886700" cy="4754563"/>
          </a:xfrm>
        </p:spPr>
        <p:txBody>
          <a:bodyPr>
            <a:noAutofit/>
          </a:bodyPr>
          <a:lstStyle/>
          <a:p>
            <a:pPr latinLnBrk="0">
              <a:lnSpc>
                <a:spcPct val="140000"/>
              </a:lnSpc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공공선택이론의 폭이 넓어짐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털록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G.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Tullock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공공선택의 문제에 관심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Stigler) :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규제포획이론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(regulatory capture theory)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니스카넨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Niskanen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관료제모형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(bureaucracy model)</a:t>
            </a: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8648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 연구의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연구대상이 공공재나 그 밖의 미시적 자원배분 문제로 옮겨지고 나서야 비로소 현대 재정학이 고유한 영역을 확보할 수 있는 계기 마련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연구대상이 경제안정을 위한 재정수단의 탐색에 머무른다면 거시경제학과 구분 어려움</a:t>
            </a: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또 다른 이름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공공경제학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economics)</a:t>
            </a: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재정학의 주요 관심분야가 정부 혹은 공공부문의 경제적 행위를 분석하는 데 있다는 사실을 명백하게 드러내 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재정학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의의와 성격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023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2015</TotalTime>
  <Words>1536</Words>
  <Application>Microsoft Office PowerPoint</Application>
  <PresentationFormat>화면 슬라이드 쇼(4:3)</PresentationFormat>
  <Paragraphs>209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나눔고딕</vt:lpstr>
      <vt:lpstr>나눔고딕 ExtraBold</vt:lpstr>
      <vt:lpstr>맑은 고딕</vt:lpstr>
      <vt:lpstr>새굴림</vt:lpstr>
      <vt:lpstr>Arial</vt:lpstr>
      <vt:lpstr>Wingdings</vt:lpstr>
      <vt:lpstr>Office 테마</vt:lpstr>
      <vt:lpstr>PowerPoint 프레젠테이션</vt:lpstr>
      <vt:lpstr>1.1  재정학 연구의 내용</vt:lpstr>
      <vt:lpstr>재정학의 주요 관심 대상</vt:lpstr>
      <vt:lpstr>1.2  정부란 무엇인가?</vt:lpstr>
      <vt:lpstr>정부부문의 특징</vt:lpstr>
      <vt:lpstr>정부를 보는 견해 : 유기체적 견해</vt:lpstr>
      <vt:lpstr>정부를 보는 견해 : 기계론적 견해</vt:lpstr>
      <vt:lpstr>유기체적 견해 vs 기계론적 견해</vt:lpstr>
      <vt:lpstr>1.3  혼합경제와 정부의 역할</vt:lpstr>
      <vt:lpstr>시장기구의 한계</vt:lpstr>
      <vt:lpstr>정부의 역할 : 운동경기에 비유</vt:lpstr>
      <vt:lpstr>정부의 3대 주요기능</vt:lpstr>
      <vt:lpstr>큰 정부 vs 작은 정부</vt:lpstr>
      <vt:lpstr>큰 정부 vs 작은 정부</vt:lpstr>
      <vt:lpstr>정부 규모의 측정</vt:lpstr>
      <vt:lpstr>1.4  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  <vt:lpstr>재정학 연구의 역사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621</cp:revision>
  <cp:lastPrinted>2020-10-06T06:59:05Z</cp:lastPrinted>
  <dcterms:created xsi:type="dcterms:W3CDTF">2015-08-04T05:38:00Z</dcterms:created>
  <dcterms:modified xsi:type="dcterms:W3CDTF">2026-01-12T05:01:59Z</dcterms:modified>
</cp:coreProperties>
</file>