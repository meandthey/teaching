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33"/>
  </p:notesMasterIdLst>
  <p:handoutMasterIdLst>
    <p:handoutMasterId r:id="rId34"/>
  </p:handoutMasterIdLst>
  <p:sldIdLst>
    <p:sldId id="320" r:id="rId2"/>
    <p:sldId id="258" r:id="rId3"/>
    <p:sldId id="307" r:id="rId4"/>
    <p:sldId id="261" r:id="rId5"/>
    <p:sldId id="262" r:id="rId6"/>
    <p:sldId id="308" r:id="rId7"/>
    <p:sldId id="264" r:id="rId8"/>
    <p:sldId id="265" r:id="rId9"/>
    <p:sldId id="267" r:id="rId10"/>
    <p:sldId id="310" r:id="rId11"/>
    <p:sldId id="272" r:id="rId12"/>
    <p:sldId id="274" r:id="rId13"/>
    <p:sldId id="275" r:id="rId14"/>
    <p:sldId id="276" r:id="rId15"/>
    <p:sldId id="311" r:id="rId16"/>
    <p:sldId id="277" r:id="rId17"/>
    <p:sldId id="278" r:id="rId18"/>
    <p:sldId id="313" r:id="rId19"/>
    <p:sldId id="281" r:id="rId20"/>
    <p:sldId id="283" r:id="rId21"/>
    <p:sldId id="284" r:id="rId22"/>
    <p:sldId id="286" r:id="rId23"/>
    <p:sldId id="287" r:id="rId24"/>
    <p:sldId id="315" r:id="rId25"/>
    <p:sldId id="289" r:id="rId26"/>
    <p:sldId id="291" r:id="rId27"/>
    <p:sldId id="292" r:id="rId28"/>
    <p:sldId id="317" r:id="rId29"/>
    <p:sldId id="296" r:id="rId30"/>
    <p:sldId id="319" r:id="rId31"/>
    <p:sldId id="299" r:id="rId3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9A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147A9E-2B03-416E-9649-1A8A60C4B039}" v="9" dt="2026-01-08T06:38:38.9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774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1916" y="31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73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영완 전" userId="94a232b962f42e62" providerId="LiveId" clId="{862E7F7D-119D-4717-AD52-91020921814B}"/>
    <pc:docChg chg="custSel modSld">
      <pc:chgData name="영완 전" userId="94a232b962f42e62" providerId="LiveId" clId="{862E7F7D-119D-4717-AD52-91020921814B}" dt="2026-01-13T00:45:40.621" v="221" actId="20577"/>
      <pc:docMkLst>
        <pc:docMk/>
      </pc:docMkLst>
      <pc:sldChg chg="modSp mod">
        <pc:chgData name="영완 전" userId="94a232b962f42e62" providerId="LiveId" clId="{862E7F7D-119D-4717-AD52-91020921814B}" dt="2026-01-08T06:15:04.589" v="0" actId="14100"/>
        <pc:sldMkLst>
          <pc:docMk/>
          <pc:sldMk cId="2131678008" sldId="258"/>
        </pc:sldMkLst>
        <pc:spChg chg="mod">
          <ac:chgData name="영완 전" userId="94a232b962f42e62" providerId="LiveId" clId="{862E7F7D-119D-4717-AD52-91020921814B}" dt="2026-01-08T06:15:04.589" v="0" actId="14100"/>
          <ac:spMkLst>
            <pc:docMk/>
            <pc:sldMk cId="2131678008" sldId="258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6:19:41.230" v="20" actId="20577"/>
        <pc:sldMkLst>
          <pc:docMk/>
          <pc:sldMk cId="2359752699" sldId="261"/>
        </pc:sldMkLst>
        <pc:spChg chg="mod">
          <ac:chgData name="영완 전" userId="94a232b962f42e62" providerId="LiveId" clId="{862E7F7D-119D-4717-AD52-91020921814B}" dt="2026-01-08T06:19:41.230" v="20" actId="20577"/>
          <ac:spMkLst>
            <pc:docMk/>
            <pc:sldMk cId="2359752699" sldId="261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6:20:32.745" v="22" actId="14100"/>
        <pc:sldMkLst>
          <pc:docMk/>
          <pc:sldMk cId="3543568401" sldId="264"/>
        </pc:sldMkLst>
        <pc:spChg chg="mod">
          <ac:chgData name="영완 전" userId="94a232b962f42e62" providerId="LiveId" clId="{862E7F7D-119D-4717-AD52-91020921814B}" dt="2026-01-08T06:20:32.745" v="22" actId="14100"/>
          <ac:spMkLst>
            <pc:docMk/>
            <pc:sldMk cId="3543568401" sldId="264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6:21:22.001" v="23" actId="14100"/>
        <pc:sldMkLst>
          <pc:docMk/>
          <pc:sldMk cId="2120600837" sldId="265"/>
        </pc:sldMkLst>
        <pc:spChg chg="mod">
          <ac:chgData name="영완 전" userId="94a232b962f42e62" providerId="LiveId" clId="{862E7F7D-119D-4717-AD52-91020921814B}" dt="2026-01-08T06:21:22.001" v="23" actId="14100"/>
          <ac:spMkLst>
            <pc:docMk/>
            <pc:sldMk cId="2120600837" sldId="265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6:23:14.288" v="32" actId="20577"/>
        <pc:sldMkLst>
          <pc:docMk/>
          <pc:sldMk cId="2103004757" sldId="274"/>
        </pc:sldMkLst>
        <pc:spChg chg="mod">
          <ac:chgData name="영완 전" userId="94a232b962f42e62" providerId="LiveId" clId="{862E7F7D-119D-4717-AD52-91020921814B}" dt="2026-01-08T06:23:14.288" v="32" actId="20577"/>
          <ac:spMkLst>
            <pc:docMk/>
            <pc:sldMk cId="2103004757" sldId="274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0:43:40.021" v="219" actId="20577"/>
        <pc:sldMkLst>
          <pc:docMk/>
          <pc:sldMk cId="3613487357" sldId="275"/>
        </pc:sldMkLst>
        <pc:spChg chg="mod">
          <ac:chgData name="영완 전" userId="94a232b962f42e62" providerId="LiveId" clId="{862E7F7D-119D-4717-AD52-91020921814B}" dt="2026-01-13T00:43:40.021" v="219" actId="20577"/>
          <ac:spMkLst>
            <pc:docMk/>
            <pc:sldMk cId="3613487357" sldId="275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6:26:49.059" v="69" actId="20577"/>
        <pc:sldMkLst>
          <pc:docMk/>
          <pc:sldMk cId="3881370428" sldId="278"/>
        </pc:sldMkLst>
        <pc:spChg chg="mod">
          <ac:chgData name="영완 전" userId="94a232b962f42e62" providerId="LiveId" clId="{862E7F7D-119D-4717-AD52-91020921814B}" dt="2026-01-08T06:26:49.059" v="69" actId="20577"/>
          <ac:spMkLst>
            <pc:docMk/>
            <pc:sldMk cId="3881370428" sldId="278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6:28:29.097" v="97" actId="20577"/>
        <pc:sldMkLst>
          <pc:docMk/>
          <pc:sldMk cId="1002916979" sldId="281"/>
        </pc:sldMkLst>
        <pc:spChg chg="mod">
          <ac:chgData name="영완 전" userId="94a232b962f42e62" providerId="LiveId" clId="{862E7F7D-119D-4717-AD52-91020921814B}" dt="2026-01-08T06:28:29.097" v="97" actId="20577"/>
          <ac:spMkLst>
            <pc:docMk/>
            <pc:sldMk cId="1002916979" sldId="281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6:29:46.334" v="105" actId="20577"/>
        <pc:sldMkLst>
          <pc:docMk/>
          <pc:sldMk cId="1408617098" sldId="283"/>
        </pc:sldMkLst>
        <pc:spChg chg="mod">
          <ac:chgData name="영완 전" userId="94a232b962f42e62" providerId="LiveId" clId="{862E7F7D-119D-4717-AD52-91020921814B}" dt="2026-01-08T06:29:46.334" v="105" actId="20577"/>
          <ac:spMkLst>
            <pc:docMk/>
            <pc:sldMk cId="1408617098" sldId="283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6:34:54.956" v="136" actId="14100"/>
        <pc:sldMkLst>
          <pc:docMk/>
          <pc:sldMk cId="50930158" sldId="284"/>
        </pc:sldMkLst>
        <pc:spChg chg="mod">
          <ac:chgData name="영완 전" userId="94a232b962f42e62" providerId="LiveId" clId="{862E7F7D-119D-4717-AD52-91020921814B}" dt="2026-01-08T06:34:54.956" v="136" actId="14100"/>
          <ac:spMkLst>
            <pc:docMk/>
            <pc:sldMk cId="50930158" sldId="284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6:36:02.950" v="141" actId="20577"/>
        <pc:sldMkLst>
          <pc:docMk/>
          <pc:sldMk cId="2591772147" sldId="286"/>
        </pc:sldMkLst>
        <pc:spChg chg="mod">
          <ac:chgData name="영완 전" userId="94a232b962f42e62" providerId="LiveId" clId="{862E7F7D-119D-4717-AD52-91020921814B}" dt="2026-01-08T06:36:02.950" v="141" actId="20577"/>
          <ac:spMkLst>
            <pc:docMk/>
            <pc:sldMk cId="2591772147" sldId="286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6:36:14.861" v="142" actId="20577"/>
        <pc:sldMkLst>
          <pc:docMk/>
          <pc:sldMk cId="3572618310" sldId="287"/>
        </pc:sldMkLst>
        <pc:spChg chg="mod">
          <ac:chgData name="영완 전" userId="94a232b962f42e62" providerId="LiveId" clId="{862E7F7D-119D-4717-AD52-91020921814B}" dt="2026-01-08T06:36:14.861" v="142" actId="20577"/>
          <ac:spMkLst>
            <pc:docMk/>
            <pc:sldMk cId="3572618310" sldId="287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6:37:39.659" v="169" actId="20577"/>
        <pc:sldMkLst>
          <pc:docMk/>
          <pc:sldMk cId="2163934003" sldId="289"/>
        </pc:sldMkLst>
        <pc:spChg chg="mod">
          <ac:chgData name="영완 전" userId="94a232b962f42e62" providerId="LiveId" clId="{862E7F7D-119D-4717-AD52-91020921814B}" dt="2026-01-08T06:37:39.659" v="169" actId="20577"/>
          <ac:spMkLst>
            <pc:docMk/>
            <pc:sldMk cId="2163934003" sldId="289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6:38:05.455" v="173" actId="20577"/>
        <pc:sldMkLst>
          <pc:docMk/>
          <pc:sldMk cId="1962563790" sldId="291"/>
        </pc:sldMkLst>
        <pc:spChg chg="mod">
          <ac:chgData name="영완 전" userId="94a232b962f42e62" providerId="LiveId" clId="{862E7F7D-119D-4717-AD52-91020921814B}" dt="2026-01-08T06:38:05.455" v="173" actId="20577"/>
          <ac:spMkLst>
            <pc:docMk/>
            <pc:sldMk cId="1962563790" sldId="291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6:38:49.588" v="183" actId="20577"/>
        <pc:sldMkLst>
          <pc:docMk/>
          <pc:sldMk cId="1877970466" sldId="292"/>
        </pc:sldMkLst>
        <pc:spChg chg="mod">
          <ac:chgData name="영완 전" userId="94a232b962f42e62" providerId="LiveId" clId="{862E7F7D-119D-4717-AD52-91020921814B}" dt="2026-01-08T06:38:49.588" v="183" actId="20577"/>
          <ac:spMkLst>
            <pc:docMk/>
            <pc:sldMk cId="1877970466" sldId="292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0:45:40.621" v="221" actId="20577"/>
        <pc:sldMkLst>
          <pc:docMk/>
          <pc:sldMk cId="2711150967" sldId="296"/>
        </pc:sldMkLst>
        <pc:spChg chg="mod">
          <ac:chgData name="영완 전" userId="94a232b962f42e62" providerId="LiveId" clId="{862E7F7D-119D-4717-AD52-91020921814B}" dt="2026-01-13T00:45:40.621" v="221" actId="20577"/>
          <ac:spMkLst>
            <pc:docMk/>
            <pc:sldMk cId="2711150967" sldId="296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6:41:05.771" v="214" actId="20577"/>
        <pc:sldMkLst>
          <pc:docMk/>
          <pc:sldMk cId="1074077062" sldId="299"/>
        </pc:sldMkLst>
        <pc:spChg chg="mod">
          <ac:chgData name="영완 전" userId="94a232b962f42e62" providerId="LiveId" clId="{862E7F7D-119D-4717-AD52-91020921814B}" dt="2026-01-08T06:41:05.771" v="214" actId="20577"/>
          <ac:spMkLst>
            <pc:docMk/>
            <pc:sldMk cId="1074077062" sldId="299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6:19:04.218" v="7" actId="20577"/>
        <pc:sldMkLst>
          <pc:docMk/>
          <pc:sldMk cId="1226120245" sldId="307"/>
        </pc:sldMkLst>
        <pc:spChg chg="mod">
          <ac:chgData name="영완 전" userId="94a232b962f42e62" providerId="LiveId" clId="{862E7F7D-119D-4717-AD52-91020921814B}" dt="2026-01-08T06:19:04.218" v="7" actId="20577"/>
          <ac:spMkLst>
            <pc:docMk/>
            <pc:sldMk cId="1226120245" sldId="307"/>
            <ac:spMk id="3" creationId="{00000000-0000-0000-0000-000000000000}"/>
          </ac:spMkLst>
        </pc:spChg>
      </pc:sldChg>
      <pc:sldChg chg="modSp">
        <pc:chgData name="영완 전" userId="94a232b962f42e62" providerId="LiveId" clId="{862E7F7D-119D-4717-AD52-91020921814B}" dt="2026-01-08T06:21:58.034" v="26" actId="20577"/>
        <pc:sldMkLst>
          <pc:docMk/>
          <pc:sldMk cId="3484797603" sldId="310"/>
        </pc:sldMkLst>
        <pc:spChg chg="mod">
          <ac:chgData name="영완 전" userId="94a232b962f42e62" providerId="LiveId" clId="{862E7F7D-119D-4717-AD52-91020921814B}" dt="2026-01-08T06:21:58.034" v="26" actId="20577"/>
          <ac:spMkLst>
            <pc:docMk/>
            <pc:sldMk cId="3484797603" sldId="310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6:24:53.146" v="49" actId="20577"/>
        <pc:sldMkLst>
          <pc:docMk/>
          <pc:sldMk cId="3372252085" sldId="311"/>
        </pc:sldMkLst>
        <pc:spChg chg="mod">
          <ac:chgData name="영완 전" userId="94a232b962f42e62" providerId="LiveId" clId="{862E7F7D-119D-4717-AD52-91020921814B}" dt="2026-01-08T06:24:53.146" v="49" actId="20577"/>
          <ac:spMkLst>
            <pc:docMk/>
            <pc:sldMk cId="3372252085" sldId="311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6:27:32.529" v="82" actId="20577"/>
        <pc:sldMkLst>
          <pc:docMk/>
          <pc:sldMk cId="2314617006" sldId="313"/>
        </pc:sldMkLst>
        <pc:spChg chg="mod">
          <ac:chgData name="영완 전" userId="94a232b962f42e62" providerId="LiveId" clId="{862E7F7D-119D-4717-AD52-91020921814B}" dt="2026-01-08T06:27:32.529" v="82" actId="20577"/>
          <ac:spMkLst>
            <pc:docMk/>
            <pc:sldMk cId="2314617006" sldId="313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6:36:43.197" v="146" actId="20577"/>
        <pc:sldMkLst>
          <pc:docMk/>
          <pc:sldMk cId="1189966346" sldId="315"/>
        </pc:sldMkLst>
        <pc:spChg chg="mod">
          <ac:chgData name="영완 전" userId="94a232b962f42e62" providerId="LiveId" clId="{862E7F7D-119D-4717-AD52-91020921814B}" dt="2026-01-08T06:36:43.197" v="146" actId="20577"/>
          <ac:spMkLst>
            <pc:docMk/>
            <pc:sldMk cId="1189966346" sldId="315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6:39:52.231" v="208" actId="20577"/>
        <pc:sldMkLst>
          <pc:docMk/>
          <pc:sldMk cId="2023522667" sldId="317"/>
        </pc:sldMkLst>
        <pc:spChg chg="mod">
          <ac:chgData name="영완 전" userId="94a232b962f42e62" providerId="LiveId" clId="{862E7F7D-119D-4717-AD52-91020921814B}" dt="2026-01-08T06:39:52.231" v="208" actId="20577"/>
          <ac:spMkLst>
            <pc:docMk/>
            <pc:sldMk cId="2023522667" sldId="317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6:40:31.884" v="211" actId="20577"/>
        <pc:sldMkLst>
          <pc:docMk/>
          <pc:sldMk cId="3264962325" sldId="319"/>
        </pc:sldMkLst>
        <pc:spChg chg="mod">
          <ac:chgData name="영완 전" userId="94a232b962f42e62" providerId="LiveId" clId="{862E7F7D-119D-4717-AD52-91020921814B}" dt="2026-01-08T06:40:31.884" v="211" actId="20577"/>
          <ac:spMkLst>
            <pc:docMk/>
            <pc:sldMk cId="3264962325" sldId="319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74EB9A-155E-47CB-BDE7-4AA3BFCC0E51}" type="datetimeFigureOut">
              <a:rPr lang="ko-KR" altLang="en-US" smtClean="0"/>
              <a:t>2026-01-13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EE28E-5237-48A9-A4BC-4C0FE4044BF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14426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B8873-BC00-4E98-82A0-FC8387D5BC2D}" type="datetimeFigureOut">
              <a:rPr lang="ko-KR" altLang="en-US" smtClean="0"/>
              <a:t>2026-01-13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95A58-9429-4B5D-BCB7-763BD5DD461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86188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611130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008379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655457"/>
            <a:ext cx="7772400" cy="1330099"/>
          </a:xfrm>
          <a:solidFill>
            <a:srgbClr val="6D9AC3"/>
          </a:solidFill>
        </p:spPr>
        <p:txBody>
          <a:bodyPr anchor="ctr">
            <a:normAutofit/>
          </a:bodyPr>
          <a:lstStyle>
            <a:lvl1pPr algn="ctr">
              <a:defRPr sz="3800" b="1" baseline="0">
                <a:solidFill>
                  <a:schemeClr val="accent2"/>
                </a:solidFill>
                <a:effectLst/>
                <a:latin typeface="+mj-ea"/>
                <a:ea typeface="+mj-ea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11</a:t>
            </a:r>
            <a:r>
              <a:rPr lang="ko-KR" altLang="en-US"/>
              <a:t>장  정부지출의 분석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3992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제목 및 내용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>
            <a:extLst>
              <a:ext uri="{FF2B5EF4-FFF2-40B4-BE49-F238E27FC236}">
                <a16:creationId xmlns:a16="http://schemas.microsoft.com/office/drawing/2014/main" id="{F857F177-35FB-03FC-F5CD-E429E03029BF}"/>
              </a:ext>
            </a:extLst>
          </p:cNvPr>
          <p:cNvGrpSpPr/>
          <p:nvPr userDrawn="1"/>
        </p:nvGrpSpPr>
        <p:grpSpPr>
          <a:xfrm>
            <a:off x="0" y="341304"/>
            <a:ext cx="9144000" cy="952748"/>
            <a:chOff x="0" y="225555"/>
            <a:chExt cx="9144000" cy="952748"/>
          </a:xfrm>
        </p:grpSpPr>
        <p:sp>
          <p:nvSpPr>
            <p:cNvPr id="12" name="화살표: 오각형 11">
              <a:extLst>
                <a:ext uri="{FF2B5EF4-FFF2-40B4-BE49-F238E27FC236}">
                  <a16:creationId xmlns:a16="http://schemas.microsoft.com/office/drawing/2014/main" id="{AA521602-E9F7-B978-0FED-BB293F474432}"/>
                </a:ext>
              </a:extLst>
            </p:cNvPr>
            <p:cNvSpPr/>
            <p:nvPr/>
          </p:nvSpPr>
          <p:spPr>
            <a:xfrm>
              <a:off x="0" y="230070"/>
              <a:ext cx="9144000" cy="948233"/>
            </a:xfrm>
            <a:prstGeom prst="homePlate">
              <a:avLst>
                <a:gd name="adj" fmla="val 36573"/>
              </a:avLst>
            </a:prstGeom>
            <a:solidFill>
              <a:srgbClr val="E8F1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화살표: 갈매기형 수장 12">
              <a:extLst>
                <a:ext uri="{FF2B5EF4-FFF2-40B4-BE49-F238E27FC236}">
                  <a16:creationId xmlns:a16="http://schemas.microsoft.com/office/drawing/2014/main" id="{F4E4F4BA-D893-7E84-5D9C-257528E7DC7F}"/>
                </a:ext>
              </a:extLst>
            </p:cNvPr>
            <p:cNvSpPr/>
            <p:nvPr/>
          </p:nvSpPr>
          <p:spPr>
            <a:xfrm>
              <a:off x="8495587" y="225555"/>
              <a:ext cx="519935" cy="948233"/>
            </a:xfrm>
            <a:prstGeom prst="chevron">
              <a:avLst>
                <a:gd name="adj" fmla="val 73331"/>
              </a:avLst>
            </a:prstGeom>
            <a:solidFill>
              <a:srgbClr val="C6DC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화살표: 갈매기형 수장 13">
              <a:extLst>
                <a:ext uri="{FF2B5EF4-FFF2-40B4-BE49-F238E27FC236}">
                  <a16:creationId xmlns:a16="http://schemas.microsoft.com/office/drawing/2014/main" id="{D86A03EF-7CE6-9615-9EED-2FE351108AAB}"/>
                </a:ext>
              </a:extLst>
            </p:cNvPr>
            <p:cNvSpPr/>
            <p:nvPr/>
          </p:nvSpPr>
          <p:spPr>
            <a:xfrm>
              <a:off x="8235619" y="225555"/>
              <a:ext cx="519935" cy="948233"/>
            </a:xfrm>
            <a:prstGeom prst="chevron">
              <a:avLst>
                <a:gd name="adj" fmla="val 73331"/>
              </a:avLst>
            </a:prstGeom>
            <a:solidFill>
              <a:srgbClr val="99C1B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62078"/>
            <a:ext cx="9144000" cy="711200"/>
          </a:xfrm>
        </p:spPr>
        <p:txBody>
          <a:bodyPr>
            <a:normAutofit/>
          </a:bodyPr>
          <a:lstStyle>
            <a:lvl1pPr algn="ctr">
              <a:defRPr sz="3200" b="1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50" y="1422402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857250" indent="-17145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Font typeface="바탕" panose="02030600000101010101" pitchFamily="18" charset="-127"/>
              <a:buChar char="∙"/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200150" indent="-17145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Font typeface="바탕" panose="02030600000101010101" pitchFamily="18" charset="-127"/>
              <a:buChar char="∙"/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11</a:t>
            </a:r>
            <a:r>
              <a:rPr lang="ko-KR" altLang="en-US"/>
              <a:t>장  정부지출의 분석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163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bg>
      <p:bgPr>
        <a:solidFill>
          <a:srgbClr val="FE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/>
        </p:nvSpPr>
        <p:spPr>
          <a:xfrm>
            <a:off x="666572" y="2573903"/>
            <a:ext cx="7791629" cy="13300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73904"/>
            <a:ext cx="7772400" cy="1330099"/>
          </a:xfrm>
        </p:spPr>
        <p:txBody>
          <a:bodyPr anchor="ctr">
            <a:normAutofit/>
          </a:bodyPr>
          <a:lstStyle>
            <a:lvl1pPr algn="ctr">
              <a:defRPr sz="2850" b="1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11</a:t>
            </a:r>
            <a:r>
              <a:rPr lang="ko-KR" altLang="en-US"/>
              <a:t>장  정부지출의 분석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91421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41337"/>
            <a:ext cx="7886700" cy="711200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22402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857250" indent="-171450">
              <a:lnSpc>
                <a:spcPct val="120000"/>
              </a:lnSpc>
              <a:spcAft>
                <a:spcPts val="0"/>
              </a:spcAft>
              <a:buFont typeface="바탕" panose="02030600000101010101" pitchFamily="18" charset="-127"/>
              <a:buChar char="∙"/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200150" indent="-171450">
              <a:lnSpc>
                <a:spcPct val="120000"/>
              </a:lnSpc>
              <a:spcAft>
                <a:spcPts val="0"/>
              </a:spcAft>
              <a:buFont typeface="바탕" panose="02030600000101010101" pitchFamily="18" charset="-127"/>
              <a:buChar char="∙"/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11</a:t>
            </a:r>
            <a:r>
              <a:rPr lang="ko-KR" altLang="en-US"/>
              <a:t>장  정부지출의 분석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fld id="{06CA9FF6-BF29-4679-8C21-AEBAF289512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3417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464457"/>
            <a:ext cx="78867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2402"/>
            <a:ext cx="7886700" cy="4754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11</a:t>
            </a:r>
            <a:r>
              <a:rPr lang="ko-KR" altLang="en-US"/>
              <a:t>장  정부지출의 분석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fld id="{06CA9FF6-BF29-4679-8C21-AEBAF289512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44839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09" r:id="rId3"/>
    <p:sldLayoutId id="2147483710" r:id="rId4"/>
  </p:sldLayoutIdLst>
  <p:hf hdr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2625" b="1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새굴림" panose="02030600000101010101" pitchFamily="18" charset="-127"/>
          <a:ea typeface="새굴림" panose="02030600000101010101" pitchFamily="18" charset="-127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130000"/>
        </a:lnSpc>
        <a:spcBef>
          <a:spcPts val="750"/>
        </a:spcBef>
        <a:spcAft>
          <a:spcPts val="300"/>
        </a:spcAft>
        <a:buFont typeface="Wingdings" panose="05000000000000000000" pitchFamily="2" charset="2"/>
        <a:buChar char="§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1pPr>
      <a:lvl2pPr marL="5143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2pPr>
      <a:lvl3pPr marL="8572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3pPr>
      <a:lvl4pPr marL="12001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4pPr>
      <a:lvl5pPr marL="15430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EDE515-2CCE-F785-259F-57D6779385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17AE8AF-9AAB-8FCC-3122-14E1E9ACDD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598"/>
          <a:stretch>
            <a:fillRect/>
          </a:stretch>
        </p:blipFill>
        <p:spPr>
          <a:xfrm>
            <a:off x="0" y="0"/>
            <a:ext cx="6167120" cy="6858000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1C032AEE-5AB3-3C45-F2B1-0D9A36B55B18}"/>
              </a:ext>
            </a:extLst>
          </p:cNvPr>
          <p:cNvGrpSpPr/>
          <p:nvPr/>
        </p:nvGrpSpPr>
        <p:grpSpPr>
          <a:xfrm>
            <a:off x="6167120" y="0"/>
            <a:ext cx="2976880" cy="6858000"/>
            <a:chOff x="6167120" y="0"/>
            <a:chExt cx="2976880" cy="6858000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512155A-40D4-276C-474D-DF837EBC7E87}"/>
                </a:ext>
              </a:extLst>
            </p:cNvPr>
            <p:cNvSpPr/>
            <p:nvPr/>
          </p:nvSpPr>
          <p:spPr>
            <a:xfrm>
              <a:off x="6167120" y="0"/>
              <a:ext cx="2976880" cy="6858000"/>
            </a:xfrm>
            <a:prstGeom prst="rect">
              <a:avLst/>
            </a:prstGeom>
            <a:gradFill>
              <a:gsLst>
                <a:gs pos="0">
                  <a:srgbClr val="E8F1F0"/>
                </a:gs>
                <a:gs pos="100000">
                  <a:srgbClr val="FAFAF8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BBFAEEC5-4F07-5B8B-52CC-B6F6BA9C9BFF}"/>
                </a:ext>
              </a:extLst>
            </p:cNvPr>
            <p:cNvSpPr/>
            <p:nvPr/>
          </p:nvSpPr>
          <p:spPr>
            <a:xfrm>
              <a:off x="6167120" y="0"/>
              <a:ext cx="2976880" cy="6858000"/>
            </a:xfrm>
            <a:prstGeom prst="rect">
              <a:avLst/>
            </a:prstGeom>
            <a:blipFill dpi="0" rotWithShape="1">
              <a:blip r:embed="rId3">
                <a:alphaModFix amt="29000"/>
              </a:blip>
              <a:srcRect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BAFD972-E4D1-E123-2051-C63DBDFDE4C6}"/>
              </a:ext>
            </a:extLst>
          </p:cNvPr>
          <p:cNvSpPr/>
          <p:nvPr/>
        </p:nvSpPr>
        <p:spPr>
          <a:xfrm>
            <a:off x="4165600" y="1412240"/>
            <a:ext cx="4572000" cy="5080000"/>
          </a:xfrm>
          <a:prstGeom prst="roundRect">
            <a:avLst>
              <a:gd name="adj" fmla="val 1317"/>
            </a:avLst>
          </a:prstGeom>
          <a:solidFill>
            <a:srgbClr val="FAFAF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제목 4">
            <a:extLst>
              <a:ext uri="{FF2B5EF4-FFF2-40B4-BE49-F238E27FC236}">
                <a16:creationId xmlns:a16="http://schemas.microsoft.com/office/drawing/2014/main" id="{07D27C61-E5DA-FC3B-F326-B7B4CECA1BC5}"/>
              </a:ext>
            </a:extLst>
          </p:cNvPr>
          <p:cNvSpPr txBox="1">
            <a:spLocks/>
          </p:cNvSpPr>
          <p:nvPr/>
        </p:nvSpPr>
        <p:spPr>
          <a:xfrm>
            <a:off x="4389120" y="1422401"/>
            <a:ext cx="5392923" cy="226535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ctr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800" b="1" kern="1200" baseline="0">
                <a:solidFill>
                  <a:schemeClr val="accent2"/>
                </a:solidFill>
                <a:effectLst/>
                <a:latin typeface="+mj-ea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ko-KR" altLang="en-US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제</a:t>
            </a:r>
            <a: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11</a:t>
            </a:r>
            <a:r>
              <a:rPr lang="ko-KR" altLang="en-US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장</a:t>
            </a:r>
            <a: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</a:t>
            </a:r>
            <a:b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sz="3000" dirty="0">
                <a:solidFill>
                  <a:srgbClr val="59775D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정부지출의 분석</a:t>
            </a: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86327DB0-856F-204A-4CBA-E5080568738A}"/>
              </a:ext>
            </a:extLst>
          </p:cNvPr>
          <p:cNvSpPr txBox="1">
            <a:spLocks/>
          </p:cNvSpPr>
          <p:nvPr/>
        </p:nvSpPr>
        <p:spPr>
          <a:xfrm>
            <a:off x="4389120" y="3620642"/>
            <a:ext cx="4572000" cy="25006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11.1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정부지출의 당위성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11.2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정부지출의 경제적 효과 </a:t>
            </a: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자원배분 측면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11.3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정부지출의 경제적 효과 </a:t>
            </a: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소득분배 측면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11.4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정부지출의 지속적 증가 현상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11.5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재정착각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11.6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효율적 예산제도</a:t>
            </a:r>
          </a:p>
        </p:txBody>
      </p:sp>
    </p:spTree>
    <p:extLst>
      <p:ext uri="{BB962C8B-B14F-4D97-AF65-F5344CB8AC3E}">
        <p14:creationId xmlns:p14="http://schemas.microsoft.com/office/powerpoint/2010/main" val="3131625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11.1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정부지출의 당위성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070619" cy="4754563"/>
          </a:xfrm>
        </p:spPr>
        <p:txBody>
          <a:bodyPr anchor="ctr">
            <a:noAutofit/>
          </a:bodyPr>
          <a:lstStyle/>
          <a:p>
            <a:pPr>
              <a:spcAft>
                <a:spcPts val="20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정부지출 당위성의 근거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시장실패의 보완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시장실패로 인한 비효율성을 줄이기 위해 개입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2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외부성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불확실성 등과 관련된 정부의 지출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소득재분배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더욱 공평한 소득분배를 실현시키기 위한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개입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재분배 관련 지출의 지속적 증가는 국민소득에서 정부지출이 차지하는 비중이 점차 높아져 온 이유 중 하나임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정부지출의 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1678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정부지출의 당위성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8149590" cy="4754563"/>
          </a:xfrm>
        </p:spPr>
        <p:txBody>
          <a:bodyPr anchor="ctr">
            <a:no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가치재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공급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</a:pPr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가치재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(merit goods)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성격을 갖는 재화와 서비스를 생산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공급한다는 점에서 정부지출의 정당성 찾을 수도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개인이 스스로의 후생에 대해 내린 판단이 부적절하다고 생각되는 경우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정부는 이를 시정하기 위해 개입을 시도할 수 있음</a:t>
            </a:r>
          </a:p>
          <a:p>
            <a:pPr marL="444500" lvl="1">
              <a:lnSpc>
                <a:spcPct val="14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소비자주권의 원칙과 충돌할 가능성 </a:t>
            </a:r>
          </a:p>
          <a:p>
            <a:pPr marL="622300" lvl="2">
              <a:lnSpc>
                <a:spcPct val="14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소비자주권의 원칙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개인이 스스로의 판단으로 취한 행동에 대해    정부나 그 밖의 제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자가 간섭하지 말 것을 요구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정부지출의 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6120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0000"/>
            <a:ext cx="9144000" cy="711200"/>
          </a:xfrm>
        </p:spPr>
        <p:txBody>
          <a:bodyPr>
            <a:no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11.2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정부지출의 경제적 효과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자원배분 측면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7833706" cy="4754563"/>
          </a:xfrm>
        </p:spPr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정부지출이 갖는 여러 가지 경제적 효과는 자원배분과 소득분배의    두 측면에서 평가해 볼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자원배분 측면에서 정부지출의 효과를 평가한다는 것은 구체적으로 정부지출이 그 경제에서 생산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소비되는 재화와 서비스의 양과 구성   비율에 미치는 영향을 알아내는 것을 뜻함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정부의 지출 프로그램은 언제나 민간부문의 반응을 유발함으로써     자원배분상의 효과가 나타나게 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정부지출의 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59752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재화와 서비스에 대한 지출의 효과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정부지출은 다음의 두 종류로 구분할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3050" lvl="1" indent="0">
              <a:lnSpc>
                <a:spcPct val="130000"/>
              </a:lnSpc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정부가 재화와 서비스를 구입하기 위한 지출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3050" lvl="1" indent="0">
              <a:lnSpc>
                <a:spcPct val="130000"/>
              </a:lnSpc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민간부문에 대한 이전지출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(transfer payment)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§"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정부가 일정량의 재화와 서비스를 사용하게 되면 민간부문이 사용할 수 있는 재화와 서비스의 양은 그만큼 줄어들게 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민간부문의 생산이 줄어든다고 해서 모든 상품의 생산이 비례적으로 줄어드는 것은 아님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정부지출의 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50529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549402"/>
                <a:ext cx="7886700" cy="4754563"/>
              </a:xfrm>
            </p:spPr>
            <p:txBody>
              <a:bodyPr anchor="ctr">
                <a:noAutofit/>
              </a:bodyPr>
              <a:lstStyle/>
              <a:p>
                <a:pPr>
                  <a:buFont typeface="Wingdings" panose="05000000000000000000" pitchFamily="2" charset="2"/>
                  <a:buChar char="§"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algn="ctr">
                  <a:buFont typeface="Wingdings" panose="05000000000000000000" pitchFamily="2" charset="2"/>
                  <a:buChar char="§"/>
                </a:pPr>
                <a:endParaRPr lang="en-US" altLang="ko-KR" sz="16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정부부문 생산증가가 효율성을 떨어뜨리지 않는다면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정부부문 생산증가가 효율성을 떨어뜨린다면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549402"/>
                <a:ext cx="7886700" cy="4754563"/>
              </a:xfrm>
              <a:blipFill>
                <a:blip r:embed="rId2"/>
                <a:stretch>
                  <a:fillRect l="-696" b="-192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정부지출의 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제목 1"/>
          <p:cNvSpPr txBox="1">
            <a:spLocks/>
          </p:cNvSpPr>
          <p:nvPr/>
        </p:nvSpPr>
        <p:spPr>
          <a:xfrm>
            <a:off x="1" y="541337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ctr"/>
            <a:r>
              <a:rPr lang="ko-KR" altLang="en-US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재화와 서비스에 대한 지출의 효과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FD08AA5-58E0-4B2D-8E69-E9C5C7ACAD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04142" y="1497014"/>
            <a:ext cx="6735715" cy="3815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536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이전지출의 효과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191155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이전지출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정부가 재화나 서비스를 구입하기 위해 지출하는 것이 아니라 일방적으로 소득을 이전해 주는 성격의 지출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30000"/>
              </a:lnSpc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이전지출의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종류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소득보조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가격보조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현물보조 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소비자이론의 틀을 사용해 정부의 이전지출이 이것을 받는 사람의 경제적 선택에 어떤 영향을 주는지 알아볼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정부지출의 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43568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이전지출의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효과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소득보조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422402"/>
                <a:ext cx="7954241" cy="4754563"/>
              </a:xfrm>
            </p:spPr>
            <p:txBody>
              <a:bodyPr anchor="ctr">
                <a:noAutofit/>
              </a:bodyPr>
              <a:lstStyle/>
              <a:p>
                <a:pPr marL="266700" indent="-266700"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소득을 식품과 비식품의 구입에 나누어 지출하고 있는 사람에게 정부가 </a:t>
                </a:r>
                <a:r>
                  <a:rPr lang="en-US" altLang="ko-KR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30</a:t>
                </a:r>
                <a:r>
                  <a:rPr lang="ko-KR" altLang="en-US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만원의 </a:t>
                </a:r>
                <a:r>
                  <a:rPr lang="ko-KR" altLang="en-US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소득보조</a:t>
                </a:r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(lump-sum subsidy)</a:t>
                </a:r>
                <a:r>
                  <a:rPr lang="ko-KR" altLang="en-US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제공</a:t>
                </a:r>
                <a:endParaRPr lang="en-US" altLang="ko-KR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buFont typeface="Wingdings" panose="05000000000000000000" pitchFamily="2" charset="2"/>
                  <a:buChar char="§"/>
                </a:pPr>
                <a:endParaRPr lang="en-US" altLang="ko-KR" sz="2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예산선의 변화 </a:t>
                </a:r>
                <a:r>
                  <a:rPr lang="en-US" altLang="ko-KR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</a:p>
              <a:p>
                <a:pPr marL="0" indent="0">
                  <a:buNone/>
                </a:pP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</a:t>
                </a:r>
                <a:r>
                  <a:rPr lang="ko-KR" altLang="en-US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</a:t>
                </a:r>
                <a14:m>
                  <m:oMath xmlns:m="http://schemas.openxmlformats.org/officeDocument/2006/math">
                    <m:r>
                      <a:rPr lang="ko-KR" alt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𝑨𝑩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ko-KR" altLang="en-US" dirty="0">
                        <a:latin typeface="나눔고딕" panose="020D0604000000000000" pitchFamily="50" charset="-127"/>
                        <a:ea typeface="나눔고딕" panose="020D0604000000000000" pitchFamily="50" charset="-127"/>
                      </a:rPr>
                      <m:t>선분</m:t>
                    </m:r>
                    <m:r>
                      <a:rPr lang="en-US" altLang="ko-KR" b="1" i="1" dirty="0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 </m:t>
                    </m:r>
                    <m:r>
                      <a:rPr lang="en-US" altLang="ko-KR" b="1" i="1" dirty="0" smtClean="0">
                        <a:latin typeface="Cambria Math" panose="02040503050406030204" pitchFamily="18" charset="0"/>
                      </a:rPr>
                      <m:t>𝑪𝑫</m:t>
                    </m:r>
                  </m:oMath>
                </a14:m>
                <a:endParaRPr lang="en-US" altLang="ko-KR" sz="3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</a:t>
                </a:r>
                <a:r>
                  <a:rPr lang="ko-KR" altLang="en-US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비자 선택의 </a:t>
                </a:r>
                <a:br>
                  <a:rPr lang="en-US" altLang="ko-KR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변화 </a:t>
                </a:r>
                <a:r>
                  <a:rPr lang="en-US" altLang="ko-KR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ko-KR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→ </m:t>
                    </m:r>
                    <m:r>
                      <a:rPr lang="en-US" altLang="ko-KR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ko-KR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ko-KR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</a:p>
              <a:p>
                <a:pPr marL="266700" indent="-266700"/>
                <a:endParaRPr lang="en-US" altLang="ko-KR" sz="2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소비자의 식품 </a:t>
                </a:r>
                <a:br>
                  <a:rPr lang="en-US" altLang="ko-KR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소비량 증가 </a:t>
                </a:r>
                <a:r>
                  <a:rPr lang="en-US" altLang="ko-KR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br>
                  <a:rPr lang="en-US" altLang="ko-KR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𝑭𝑭</m:t>
                    </m:r>
                    <m:r>
                      <a:rPr lang="en-US" altLang="ko-KR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′</m:t>
                    </m:r>
                  </m:oMath>
                </a14:m>
                <a:endParaRPr lang="en-US" altLang="ko-KR" dirty="0">
                  <a:solidFill>
                    <a:srgbClr val="00206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endParaRPr lang="en-US" altLang="ko-KR" sz="200" dirty="0">
                  <a:solidFill>
                    <a:srgbClr val="00206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소득효과만 발생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endParaRPr lang="en-US" altLang="ko-KR" dirty="0">
                  <a:solidFill>
                    <a:srgbClr val="00206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422402"/>
                <a:ext cx="7954241" cy="4754563"/>
              </a:xfrm>
              <a:blipFill>
                <a:blip r:embed="rId2"/>
                <a:stretch>
                  <a:fillRect l="-690" r="-460" b="-11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정부지출의 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18BFD12-E065-4A9B-B7F9-499C602B64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41151" y="2844127"/>
            <a:ext cx="5347797" cy="3052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600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이전지출의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효과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가격보조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549402"/>
                <a:ext cx="7886700" cy="4754563"/>
              </a:xfrm>
            </p:spPr>
            <p:txBody>
              <a:bodyPr anchor="ctr">
                <a:noAutofit/>
              </a:bodyPr>
              <a:lstStyle/>
              <a:p>
                <a:pPr marL="266700" indent="-266700">
                  <a:buFont typeface="Wingdings" panose="05000000000000000000" pitchFamily="2" charset="2"/>
                  <a:buChar char="§"/>
                </a:pPr>
                <a:r>
                  <a:rPr lang="ko-KR" altLang="en-US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정부가 식품 가격의 </a:t>
                </a:r>
                <a:r>
                  <a:rPr lang="en-US" altLang="ko-KR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1/3</a:t>
                </a:r>
                <a:r>
                  <a:rPr lang="ko-KR" altLang="en-US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을  보조해 주는 </a:t>
                </a:r>
                <a:r>
                  <a:rPr lang="ko-KR" altLang="en-US" b="1" spc="-113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가격보조</a:t>
                </a:r>
                <a:r>
                  <a:rPr lang="en-US" altLang="ko-KR" spc="-113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(price subsidy)</a:t>
                </a:r>
                <a:r>
                  <a:rPr lang="ko-KR" altLang="en-US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경우</a:t>
                </a:r>
                <a:endParaRPr lang="en-US" altLang="ko-KR" spc="-113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buFont typeface="Wingdings" panose="05000000000000000000" pitchFamily="2" charset="2"/>
                  <a:buChar char="§"/>
                </a:pPr>
                <a:endParaRPr lang="en-US" altLang="ko-KR" sz="1800" spc="-113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예산선의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변화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𝑨𝑩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</a:t>
                </a:r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𝑨𝑱</m:t>
                    </m:r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endParaRPr lang="en-US" altLang="ko-KR" sz="2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소비자 선택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endParaRPr lang="en-US" altLang="ko-KR" sz="2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가격보조 아래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보조금의 크기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𝑵𝑮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549402"/>
                <a:ext cx="7886700" cy="4754563"/>
              </a:xfrm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정부지출의 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CF5E184-6383-4444-86DC-46BDACA58C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51577" y="2908646"/>
            <a:ext cx="5526946" cy="3043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323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이전지출의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효과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가격보조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가격보조의 지급은 다음의 두 가지 효과 발생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</a:p>
              <a:p>
                <a:pPr marL="444500" lvl="1">
                  <a:lnSpc>
                    <a:spcPct val="100000"/>
                  </a:lnSpc>
                </a:pP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소득효과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소비자의 실질소득을 더 크게 만듦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대체효과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비식품에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대한 식품의 상대가격을 떨어뜨림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00000"/>
                  </a:lnSpc>
                </a:pPr>
                <a:endParaRPr lang="en-US" altLang="ko-KR" sz="2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같은 효용을 누릴 수 있게 만드는 소득보조로 대체하면 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소득보조 아래서의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예산선은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선분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𝑲𝑳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소비자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선택점은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로 변화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소득보조 아래서 보조금의 크기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𝑵𝑴</m:t>
                    </m:r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00000"/>
                  </a:lnSpc>
                </a:pPr>
                <a:endParaRPr lang="en-US" altLang="ko-KR" sz="2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가격보조는 소비자의 효용을 똑같은 수준으로 올리기 위한 소득보조의 경우보다 선분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𝑴𝑮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만큼 더 많은 이전지출을 요구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가격보조의 비효율성 의미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</a:p>
              <a:p>
                <a:pPr marL="444500" lvl="1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비효율성은 대체효과와 관련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00000"/>
                  </a:lnSpc>
                </a:pPr>
                <a:endParaRPr lang="en-US" altLang="ko-KR" sz="2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국민의 식품소비 증대라는 목표 달성에는 소득보조보다 가격보조가 더 효과적임을 알 수 있음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641" r="-464" b="-23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정부지출의 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847976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이전지출의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효과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특수한 현물보조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특별한 조건이 붙어 있는 </a:t>
                </a:r>
                <a:r>
                  <a:rPr lang="ko-KR" altLang="en-US" b="1" spc="-113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현물보조</a:t>
                </a:r>
                <a:r>
                  <a:rPr lang="en-US" altLang="ko-KR" spc="-113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(in-kind subsidy)</a:t>
                </a:r>
                <a:r>
                  <a:rPr lang="ko-KR" altLang="en-US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 제공될 경우</a:t>
                </a:r>
                <a:endParaRPr lang="en-US" altLang="ko-KR" spc="-113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00000"/>
                  </a:lnSpc>
                </a:pPr>
                <a:r>
                  <a:rPr lang="ko-KR" altLang="en-US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정부가 일정 크기</a:t>
                </a:r>
                <a:r>
                  <a:rPr lang="en-US" altLang="ko-KR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:r>
                  <a:rPr lang="ko-KR" altLang="en-US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 </a:t>
                </a:r>
                <a14:m>
                  <m:oMath xmlns:m="http://schemas.openxmlformats.org/officeDocument/2006/math">
                    <m:r>
                      <a:rPr lang="en-US" altLang="ko-KR" b="1" i="1" spc="-113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𝑶</m:t>
                    </m:r>
                    <m:acc>
                      <m:accPr>
                        <m:chr m:val="̅"/>
                        <m:ctrlPr>
                          <a:rPr lang="en-US" altLang="ko-KR" b="1" i="1" spc="-113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</m:ctrlPr>
                      </m:accPr>
                      <m:e>
                        <m:r>
                          <a:rPr lang="en-US" altLang="ko-KR" b="1" i="1" spc="-113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𝑯</m:t>
                        </m:r>
                      </m:e>
                    </m:acc>
                  </m:oMath>
                </a14:m>
                <a:r>
                  <a:rPr lang="en-US" altLang="ko-KR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주택서비스를 무료로 제공</a:t>
                </a:r>
                <a:endParaRPr lang="en-US" altLang="ko-KR" spc="-113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더 큰 주택에서 살기를 원할 경우 이 프로그램의 혜택을 포기해야 함</a:t>
                </a:r>
                <a:endParaRPr lang="en-US" altLang="ko-KR" spc="-113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00000"/>
                  </a:lnSpc>
                </a:pPr>
                <a:endParaRPr lang="en-US" altLang="ko-KR" sz="200" spc="-113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초기의 예산선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𝑹𝑺</m:t>
                    </m:r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</a:pPr>
                <a:endParaRPr lang="en-US" altLang="ko-KR" sz="2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현물보조 후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예산선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𝑹𝑻𝑼𝑺</m:t>
                    </m:r>
                  </m:oMath>
                </a14:m>
                <a:endParaRPr lang="en-US" altLang="ko-KR" i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lvl="1" indent="-266700">
                  <a:lnSpc>
                    <a:spcPct val="100000"/>
                  </a:lnSpc>
                  <a:spcBef>
                    <a:spcPts val="750"/>
                  </a:spcBef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소비자 선택의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변화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𝑬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lvl="1" indent="-266700">
                  <a:lnSpc>
                    <a:spcPct val="100000"/>
                  </a:lnSpc>
                  <a:spcBef>
                    <a:spcPts val="750"/>
                  </a:spcBef>
                  <a:buFont typeface="Wingdings" panose="05000000000000000000" pitchFamily="2" charset="2"/>
                  <a:buChar char="§"/>
                </a:pPr>
                <a:endParaRPr lang="en-US" altLang="ko-KR" sz="2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</a:pPr>
                <a:r>
                  <a:rPr lang="ko-KR" altLang="en-US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현물보조 이후 </a:t>
                </a:r>
                <a:br>
                  <a:rPr lang="en-US" altLang="ko-KR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주택서비스</a:t>
                </a:r>
                <a:r>
                  <a:rPr lang="en-US" altLang="ko-KR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소비량이 </a:t>
                </a:r>
                <a:br>
                  <a:rPr lang="en-US" altLang="ko-KR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14:m>
                  <m:oMath xmlns:m="http://schemas.openxmlformats.org/officeDocument/2006/math">
                    <m:r>
                      <a:rPr lang="en-US" altLang="ko-KR" b="1" i="1" spc="-100" smtClean="0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ko-KR" altLang="en-US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에서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i="1" spc="-100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1" i="1" spc="-100" dirty="0" smtClean="0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</m:acc>
                  </m:oMath>
                </a14:m>
                <a:r>
                  <a:rPr lang="ko-KR" altLang="en-US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로 감소</a:t>
                </a:r>
                <a:endParaRPr lang="en-US" altLang="ko-KR" spc="-1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</a:pPr>
                <a:endParaRPr lang="en-US" altLang="ko-KR" sz="2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10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정부지출의 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1874B23-62EA-4298-9296-B277EF748E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59267" y="3233924"/>
            <a:ext cx="5389403" cy="308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0398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11.3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정부지출의 경제적 효과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소득분배 측면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8058150" cy="4754563"/>
          </a:xfrm>
        </p:spPr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여러 가지 대안을 놓고 비교할 때 서로 다른 분배적 귀결을 조심스럽게 분석하고 이를 중요한 선택기준의 하나로 삼아야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지출 프로그램의 분배적 귀결을 정확하게 파악하기 위해서는 정부지출에 대한 민간부문의 반응을 모두 파악하고 있어야 한다는 어려움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정부지출 프로그램이 어떤 특정 그룹의 사람들에게 혜택을 </a:t>
            </a:r>
            <a:r>
              <a:rPr lang="ko-KR" altLang="en-US" spc="-2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가져다준다는</a:t>
            </a:r>
            <a:r>
              <a:rPr lang="ko-KR" altLang="en-US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pc="-2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기대하에서</a:t>
            </a:r>
            <a:r>
              <a:rPr lang="ko-KR" altLang="en-US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수행된다고 할 때</a:t>
            </a:r>
            <a:r>
              <a:rPr lang="en-US" altLang="ko-KR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혜택의 </a:t>
            </a:r>
            <a:r>
              <a:rPr lang="ko-KR" altLang="en-US" b="1" spc="-2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전가</a:t>
            </a:r>
            <a:r>
              <a:rPr lang="en-US" altLang="ko-KR" spc="-2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(shifting)</a:t>
            </a:r>
            <a:r>
              <a:rPr lang="ko-KR" altLang="en-US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 생겨 </a:t>
            </a:r>
            <a:r>
              <a:rPr lang="ko-KR" altLang="en-US" b="1" spc="-2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실제의 귀착</a:t>
            </a:r>
            <a:r>
              <a:rPr lang="en-US" altLang="ko-KR" spc="-2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(actual incidence)</a:t>
            </a:r>
            <a:r>
              <a:rPr lang="ko-KR" altLang="en-US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은 원래 의도했던 바와 달라질 수 있음</a:t>
            </a:r>
            <a:endParaRPr lang="en-US" altLang="ko-KR" spc="-2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이로 인해 어떤 프로그램이 표방하는 분배적 효과와 실제로 나타나는 분배적 효과 사이에 커다란 차이가 생길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고등교육에 대한 정부보조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상류층에 혜택 주로 갈 수 있음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),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새 지하철 노선이 들어오는 경우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정부지출의 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030047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소득분배 측면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분배적 효과의 구체적 사례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203624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정부의 지출 프로그램이 갖는 분배적 효과는 소비자들뿐 아니라 생산자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즉 기업들 사이에서도 나타날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기업들 사이에서 발생하는 분배적 효과 그 자체는 별 의미가 없음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55600" lvl="2" indent="-1968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이는 결국 그것이 개인 차원의 분배적 효과로 이어지기 때문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정부의 지출 프로그램이 분배의 측면에서 소비자에게 미치는 영향은      주로 시장가격의 변화를 통해 발생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정부지출의 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134873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/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주택보조금 지급은 주택시장에서 주택서비스의 수요곡선을  우측으로 이동</a:t>
            </a:r>
            <a:endParaRPr lang="en-US" altLang="ko-KR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정부지출의 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제목 1"/>
          <p:cNvSpPr txBox="1">
            <a:spLocks/>
          </p:cNvSpPr>
          <p:nvPr/>
        </p:nvSpPr>
        <p:spPr>
          <a:xfrm>
            <a:off x="0" y="541337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ctr"/>
            <a:r>
              <a:rPr lang="ko-KR" altLang="en-US" spc="-15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소득분배 측면 </a:t>
            </a:r>
            <a:r>
              <a:rPr lang="en-US" altLang="ko-KR" spc="-15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15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분배적 효과의 구체적 사례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E0C0628-3AED-4669-B250-D7CFE4AA78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81390" y="2329143"/>
            <a:ext cx="6781220" cy="3847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6790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/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수요의 증가가 궁극적으로 어떤 분배적 효과를 내는지는 주택서비스의      공급자들이 이에 대해 얼마나 신축적인 반응을 보이는지에 따라 달라짐</a:t>
            </a:r>
            <a:endParaRPr lang="en-US" altLang="ko-KR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endParaRPr lang="en-US" altLang="ko-KR" sz="2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buNone/>
            </a:pPr>
            <a:r>
              <a:rPr lang="en-US" altLang="ko-KR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(1) </a:t>
            </a: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주택서비스의 공급이 신축적으로 반응할 수 없는 경우</a:t>
            </a:r>
            <a:endParaRPr lang="en-US" altLang="ko-KR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보조금의 지급은 소비되는 주택서비스의 양을 별로 늘리지 못하면서       가격만 큰 폭으로 오르게 하는 효과를 냄</a:t>
            </a:r>
            <a:endParaRPr lang="en-US" altLang="ko-KR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2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buNone/>
            </a:pPr>
            <a:r>
              <a:rPr lang="en-US" altLang="ko-KR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(2) </a:t>
            </a: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주택서비스의 공급이 상당히 신축적으로 반응할 수 있는 경우</a:t>
            </a:r>
            <a:endParaRPr lang="en-US" altLang="ko-KR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주택보조금이 세 들어 살고 있는 사람에게도 실질적인 혜택을 </a:t>
            </a:r>
            <a:r>
              <a:rPr lang="ko-KR" altLang="en-US" spc="-113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가져다줄</a:t>
            </a: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가능성이 큼</a:t>
            </a:r>
            <a:endParaRPr lang="en-US" altLang="ko-KR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/>
            <a:endParaRPr lang="en-US" altLang="ko-KR" sz="2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en-US" altLang="ko-KR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</a:t>
            </a: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은 단기</a:t>
            </a:r>
            <a:r>
              <a:rPr lang="en-US" altLang="ko-KR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(2)</a:t>
            </a: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는 장기에서의 상황을 나타내고 있는 것으로 해석 가능</a:t>
            </a:r>
            <a:endParaRPr lang="en-US" altLang="ko-KR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정부지출의 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1" y="541337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ctr"/>
            <a:r>
              <a:rPr lang="ko-KR" altLang="en-US" spc="-15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소득분배 측면 </a:t>
            </a:r>
            <a:r>
              <a:rPr lang="en-US" altLang="ko-KR" spc="-15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15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분배적 효과의 구체적 사례</a:t>
            </a:r>
          </a:p>
        </p:txBody>
      </p:sp>
    </p:spTree>
    <p:extLst>
      <p:ext uri="{BB962C8B-B14F-4D97-AF65-F5344CB8AC3E}">
        <p14:creationId xmlns:p14="http://schemas.microsoft.com/office/powerpoint/2010/main" val="33722520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11.4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정부지출의 지속적 증가 현상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549402"/>
            <a:ext cx="7886700" cy="47545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spcBef>
                <a:spcPts val="0"/>
              </a:spcBef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바그너의 법칙</a:t>
            </a: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(Wagner’s law)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경제성장에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따라 국민경제에서 차지하는 공공부문의 상대적 크기가 증대하는 현상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spcBef>
                <a:spcPts val="0"/>
              </a:spcBef>
            </a:pPr>
            <a:endParaRPr lang="en-US" altLang="ko-KR" sz="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spcBef>
                <a:spcPts val="0"/>
              </a:spcBef>
            </a:pPr>
            <a:endParaRPr lang="en-US" altLang="ko-KR" sz="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spcBef>
                <a:spcPts val="0"/>
              </a:spcBef>
            </a:pPr>
            <a:endParaRPr lang="en-US" altLang="ko-KR" sz="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spcBef>
                <a:spcPts val="0"/>
              </a:spcBef>
            </a:pPr>
            <a:endParaRPr lang="en-US" altLang="ko-KR" sz="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spcBef>
                <a:spcPts val="0"/>
              </a:spcBef>
            </a:pPr>
            <a:endParaRPr lang="en-US" altLang="ko-KR" sz="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spcBef>
                <a:spcPts val="0"/>
              </a:spcBef>
            </a:pPr>
            <a:endParaRPr lang="en-US" altLang="ko-KR" sz="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spcBef>
                <a:spcPts val="0"/>
              </a:spcBef>
            </a:pPr>
            <a:endParaRPr lang="en-US" altLang="ko-KR" sz="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spcBef>
                <a:spcPts val="0"/>
              </a:spcBef>
            </a:pPr>
            <a:endParaRPr lang="en-US" altLang="ko-KR" sz="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정부지출의 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B556C8D-DE7D-43CA-9A7B-9D904846DC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0912" y="2254099"/>
            <a:ext cx="6608063" cy="3977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6453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정부지출 증가의 원인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278438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0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피콕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와이즈먼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(A. Peacock and J. Wiseman)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설명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정부가 더 많은 돈을 쓰기를 원하는 반면 국민은 더 많은 세금을 내려고 하지 않기 때문에 정부는 지출결정과정에서 국민의 동의를 얻기 위해   노력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국민이 인내할 수 있는 세금부담의 수준이 존재하여 정부 행동에 제약  요인으로 작용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경제가 안정적으로 성장하는 과정에서 세율구조가 그대로 유지된다면   조세수입은 지속적으로 증가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사회적 혼란기에 들어서면 점진적인 증가추세가 갑작스럽게 팽창추세로 바뀌게 되고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이에 따라 국민의 조세부담을 크게 증가시킴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사회적 혼란기에는 국민이 대규모의 정부지출이 필요한 이유를 납득하고 기꺼이 더 많은 세금을 내려는 태도를 보임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정부지출의 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813704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정부지출 증가의 원인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422402"/>
                <a:ext cx="8116339" cy="4754563"/>
              </a:xfrm>
            </p:spPr>
            <p:txBody>
              <a:bodyPr anchor="ctr">
                <a:noAutofit/>
              </a:bodyPr>
              <a:lstStyle/>
              <a:p>
                <a:pPr marL="444500" lvl="1">
                  <a:spcAft>
                    <a:spcPts val="500"/>
                  </a:spcAft>
                </a:pPr>
                <a:r>
                  <a:rPr lang="ko-KR" altLang="en-US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전위효과</a:t>
                </a:r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(displacement effect)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사회적 혼란기에 갑작스러운 정부 지출의 증가를 용인하는 분위기가 생기는 것 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spcAft>
                    <a:spcPts val="5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사회가 혼란기에 들어서면 정부지출이 상향 조정되며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(displaced upward),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공적인 지출이 사적인 지출을 대신함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(public expenditures displace private expenditures)</a:t>
                </a:r>
              </a:p>
              <a:p>
                <a:pPr marL="444500" lvl="1">
                  <a:spcAft>
                    <a:spcPts val="5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사회적 혼란기가 지난 후에도 정부지출의 상대적 비중은 이전 수준으로 복귀하지 않고 일단 전위되어 높아진 수준에서 지속적으로 증가하는  현상을 보임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spcAft>
                    <a:spcPts val="5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이와 같은 위기 상황이 몇 차례 반복됨에 따라 정부지출은 점차 더 높은 수준으로 올라감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ko-KR" altLang="en-US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톱</a:t>
                </a:r>
                <a:r>
                  <a:rPr lang="ko-KR" altLang="en-US" b="1" dirty="0" err="1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니효과</a:t>
                </a:r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(ratchet effect)</a:t>
                </a: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422402"/>
                <a:ext cx="8116339" cy="4754563"/>
              </a:xfrm>
              <a:blipFill>
                <a:blip r:embed="rId2"/>
                <a:stretch>
                  <a:fillRect r="-60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정부지출의 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146170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정부지출 증가의 원인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049837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브라운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잭슨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(C. Brown and P. Jackson)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설명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바그너의 법칙을 중위투표자의 선택과 결부시켜 설명하려고 시도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 전체의 소득수준이 상승하면서 중위투표자의 소득이 상승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중위투표자의 소득이 증가할 때 공공서비스에 대한 수요의 소득탄력성이 크다면 공공지출의 상대적 비중이 커질 수 있다고 설명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이러한 설명이 옳다면 정부지출의 지속적 증가현상을 부정적으로 볼 이유 없음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endParaRPr lang="en-US" altLang="ko-KR" sz="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보멀효과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en-US" altLang="ko-KR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Baumol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effect)</a:t>
            </a: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정부가 생산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공급하는 것이 주로 서비스의 형태를 갖고 있기 때문에  정부부문의 생산성 증가 속도는 상대적으로 느릴 가능성이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이에 따라 정부가 생산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공급하는 서비스의 생산비용이 상대적으로    빨리 올라 정부지출이 증가하는 것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정부지출의 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029169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정부지출 증가의 원인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549402"/>
            <a:ext cx="8020744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특정한 지출 프로그램에 의해 이득을 보는 소수의 사람들은 이를 관철 하기 위해 적극적으로 노력하는 반면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 비용부담의 주체가 될 일반   대중은 별생각 없이 끌려가기 때문에 정부지출이 계속 증가하는 경향이 나타날 수도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altLang="ko-KR" sz="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특수이해집단에 혜택이 돌아가는 지출 프로그램의 경우에는 이들의 로비가 채택 여부에 큰 영향을 미칠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일반적으로 특수이해집단의 이해관계와 연결되어 있는 프로그램들은 다른 것보다 더 쉽게 채택되는 경향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</a:pPr>
            <a:endParaRPr lang="en-US" altLang="ko-KR" sz="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관료들의 개인적 이해관계 때문에 정부지출이 더 커진다고 볼 수도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관료들은 가능한 한 더 큰 예산을 따오려고 노력하는 성향을 보이는데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이런 성향에 적절한 제동을 걸지 못해 정부지출이 크게 늘어날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정부지출의 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086170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정부지출 증가의 원인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178686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사람들의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재정착각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(fiscal illusion)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도 정부지출 증대의 원인이 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재정착각은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정부가 공공서비스를 더 많이 공급하기 위해서는 조세부담이 올라가야 하나 이를 제대로 인식하지 못하는 경향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의미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재정착각이 있을 경우 국민들은 정부 팽창에 대해 적극적인 제동을 걸지 않을 것임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</a:pPr>
            <a:endParaRPr lang="en-US" altLang="ko-KR" sz="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뷰캐넌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(J. Buchanan)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</a:t>
            </a:r>
            <a:r>
              <a:rPr lang="ko-KR" altLang="en-US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리바이어던가설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(Leviathan hypothesis)</a:t>
            </a: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현대 대의민주주의는 근본적으로 정부부문의 과도한 팽창을 유발하는 속성을 지님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대중들은 더 큰 정부지출에 적극적으로 반대하지 않는 투표성향을 보임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특히 적자재정을 통한 정부 지출의 증가는 현재 세대의 비용 증가 없이 편익을 가져올 수 있음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정부지출의 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09301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11.5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재정착각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049838" cy="4754563"/>
          </a:xfrm>
        </p:spPr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재정착각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(fiscal illusion)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 전반에 대한 체계적인 오해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(systematic misperception)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 인해 투표자의 선호가 왜곡되는 현상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 대중은 조세와 공공서비스 사이의 관계를 명확히 알지 못해 재정 전반에 대해 체계적인 오해를 하게 될 가능성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/>
            <a:endParaRPr lang="en-US" altLang="ko-KR" sz="1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다운스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(A. Downs) 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투표자가 정부의 활동에 대해 갖고 있는 정보가   불완전할 가능성이 크다는 점 지적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정보의 불완전성이 경우에 따라서는 재정정책에 대한 체계적인 오해로 이어지고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이에 따라 재정착각 현상이 나타날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정보의 불완전성은 재정착각이 일어나기 위한 필요조건일 뿐 충분조건의 성격까지 갖는 것은 아님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정부지출의 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917721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재정착각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50000"/>
              </a:lnSpc>
              <a:spcAft>
                <a:spcPts val="8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재정착각이 지출프로그램에 미치는 영향은 불확실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50000"/>
              </a:lnSpc>
              <a:spcAft>
                <a:spcPts val="800"/>
              </a:spcAft>
              <a:tabLst>
                <a:tab pos="444500" algn="l"/>
              </a:tabLs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지출프로그램의 혜택이 불분명하지만 이를 위한 조세부담은 뚜렷할 경우 재정지출을 축소하는 방향으로 작용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50000"/>
              </a:lnSpc>
              <a:spcAft>
                <a:spcPts val="800"/>
              </a:spcAft>
              <a:tabLst>
                <a:tab pos="444500" algn="l"/>
              </a:tabLs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지출프로그램과 관련된 자신의 조세부담을 과소 평가하게 되면 지출프로그램의 확대로 이어질 수도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정부지출의 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26183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재정착각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7886700" cy="4754563"/>
          </a:xfrm>
        </p:spPr>
        <p:txBody>
          <a:bodyPr anchor="ctr">
            <a:noAutofit/>
          </a:bodyPr>
          <a:lstStyle/>
          <a:p>
            <a:pPr marL="266700" indent="-266700">
              <a:spcAft>
                <a:spcPts val="7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최근에 이루어진 연구를 보면 재정착각의 존재가 지출프로그램 확대를 요구하는 방향으로 영향을 미치는 경우가 대부분 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7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이는 정부 세입구조의 특성 때문에 납세자들이 자신의 조세부담을  제대로 인식하지 못하기 때문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spcAft>
                <a:spcPts val="700"/>
              </a:spcAft>
            </a:pPr>
            <a:endParaRPr lang="en-US" altLang="ko-KR" sz="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7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재정착각이 지출프로그램의 확대를 요구하는 방향으로 영향을 미치는 데는 관료들의 의도적 행동도 영향</a:t>
            </a:r>
          </a:p>
          <a:p>
            <a:pPr marL="444500" lvl="1">
              <a:spcAft>
                <a:spcPts val="7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니스카넨모형의 예산극대화를 추구하는 관료</a:t>
            </a:r>
          </a:p>
          <a:p>
            <a:pPr marL="444500" lvl="1">
              <a:spcAft>
                <a:spcPts val="7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관료들은 지출프로그램의 편익을 과장하는 한편 비용은 최소한으로 줄여 전달함으로써 투표자들의 재정착각을 부추김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정부지출의 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899663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재정착각 발생의 원인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조세제도의 복잡성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뷰캐넌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(J. Buchanan)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조세를 여러 가지로 잘게 쪼게 부과하면      납세자들이 그 부담을 제대로 인식하지 못하게 된다고 지적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조세제도가 복잡할수록 지출 프로그램과 관련된 조세 부담을 한층  더 과소평가하는 재정착각이 발생하게 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세입체계의 높은 소득탄력성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세입체계의 소득탄력성이 높을 경우 경제가 성장하는 과정에서      자동적으로 조세수입이 더 큰 폭으로 늘어나게 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세율을 올리지 않았는데도 조세수입이 저절로 늘어나는 경우에는 사람들이 별로 신경을 쓰지 않음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정부지출의 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25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639340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재정착각 발생의 원인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7945928" cy="4754563"/>
          </a:xfrm>
        </p:spPr>
        <p:txBody>
          <a:bodyPr anchor="ctr">
            <a:noAutofit/>
          </a:bodyPr>
          <a:lstStyle/>
          <a:p>
            <a:pPr marL="266700" indent="-26670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국채가 미래의 조세부담을 의미한다는 사실을 제대로 인식하지 못함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4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국채를 발행해 지출 프로그램의 재원을 마련하면 당장 내는 세금이  줄어들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4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국채의 발행은 그들이 지금 내야 할 세금을 미래로 미룬 데   불과하며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조세부담 그 자체의 감소를 뜻하는 것이 아님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4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 발행을 통해 재원조달을 하는 경우는 조세 징수에 의해 조달하는 경우에 비해 정부의 지출 규모가 더 커지는 경향이 나타날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정부지출의 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26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25637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11.6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효율적 예산제도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22402"/>
                <a:ext cx="8241030" cy="4754563"/>
              </a:xfrm>
            </p:spPr>
            <p:txBody>
              <a:bodyPr anchor="ctr">
                <a:noAutofit/>
              </a:bodyPr>
              <a:lstStyle/>
              <a:p>
                <a:pPr marL="266700" indent="-266700"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정부지출의 지속적 증가 경향은 정부의 효율적 운영을 더욱 절실히 요구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indent="-190500"/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‘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효율적인 예산제도란 어떤 것인가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’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 대한 논의 필요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buFont typeface="Wingdings" panose="05000000000000000000" pitchFamily="2" charset="2"/>
                  <a:buChar char="§"/>
                </a:pPr>
                <a:r>
                  <a:rPr lang="ko-KR" altLang="en-US" b="1" spc="-30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점증주의적 시각</a:t>
                </a:r>
                <a:r>
                  <a:rPr lang="en-US" altLang="ko-KR" spc="-30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(incrementalism) </a:t>
                </a:r>
                <a:r>
                  <a:rPr lang="en-US" altLang="ko-KR" spc="-3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spc="-3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다음 해의 예산을 책정할 때 단순하게 각 부처의 올해 예산을 일정한 비율</a:t>
                </a:r>
                <a:r>
                  <a:rPr lang="en-US" altLang="ko-KR" spc="-3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:r>
                  <a:rPr lang="ko-KR" altLang="en-US" spc="-3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예 </a:t>
                </a:r>
                <a:r>
                  <a:rPr lang="en-US" altLang="ko-KR" spc="-3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ko-KR" altLang="en-US" b="1" i="1" spc="-30" smtClean="0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ko-KR" altLang="en-US" spc="-3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배</a:t>
                </a:r>
                <a:r>
                  <a:rPr lang="en-US" altLang="ko-KR" spc="-3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pc="-3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로 불려 편성한다고 보는 시각</a:t>
                </a:r>
                <a:endParaRPr lang="en-US" altLang="ko-KR" spc="-3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indent="-1905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점증주의적인 시각에서 어떤 나라의 예산추이를 설명할 때 단기적인   예측력은 매우 클 것이라고 짐작할 수 있음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indent="-1905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다음의 것들을 설명하기 어려운 단점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787400" lvl="2" indent="-1905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왜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 시간이 흐름에 따라 변화하는가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?</a:t>
                </a:r>
              </a:p>
              <a:p>
                <a:pPr marL="787400" lvl="2" indent="-1905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왜 기관들 사이에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값에 차이가 생기는가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?</a:t>
                </a: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22402"/>
                <a:ext cx="8241030" cy="4754563"/>
              </a:xfrm>
              <a:blipFill>
                <a:blip r:embed="rId2"/>
                <a:stretch>
                  <a:fillRect l="-66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정부지출의 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27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79704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효율적 예산제도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349096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합리주의적 시각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(rationalist view)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중위투표자이론이나 투표자의 연합 같은 공공선택의 개념을 활용하여 예산편성 과정을 체계적으로 설명하려는 시각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90500">
              <a:lnSpc>
                <a:spcPct val="110000"/>
              </a:lnSpc>
              <a:tabLst>
                <a:tab pos="444500" algn="l"/>
              </a:tabLst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윌리엄슨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(O. Williamson)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은 어떤 부서의 𝛼값이 부서마다 다른 것은     수요측 요인 때문이라고 설명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22300" lvl="2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비용할증 가격설정의 원칙을 이용해 부서 사이에 𝛼값에 차이가 나는   이유 설명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22300" lvl="2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정치인은 지출 프로그램의 선택을 통해 자신의 정치적 가치를 극대화 하는 과정에서 국민의 수요를 반영시킴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합리주의에 의해 예산을 편성한다는 것은 점증주의와 같은 주먹구구를  지양하고 합리적인 근거에 입각해 편성한다는 것을 뜻함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합리주의적 접근법은 많은 정보의 뒷받침이 있을 경우에만 본래의 의미를 살릴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정부지출의 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28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235226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품목별 예산제도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(line-item budgeting system)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기관의 지출항목별로 예산을 편성하는 제도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비슷한 일을 하는 부서 사이의 중복을 막을 수 없다는 문제점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프로그램 예산제도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(program budgeting system)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비슷한 목표와   기능을 가진 사업부서들을 한데 묶어 프로그램 단위로 예산을 편성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품목별 예산제도의 문제점을 시정하기 위해 고안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예산편성 단계에서 부서 간의 중복을 막아 비용절감 효과를 노림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정부지출의 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29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0" y="541337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ctr"/>
            <a:r>
              <a:rPr lang="ko-KR" altLang="en-US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프로그램 예산제도</a:t>
            </a:r>
          </a:p>
        </p:txBody>
      </p:sp>
    </p:spTree>
    <p:extLst>
      <p:ext uri="{BB962C8B-B14F-4D97-AF65-F5344CB8AC3E}">
        <p14:creationId xmlns:p14="http://schemas.microsoft.com/office/powerpoint/2010/main" val="27111509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7937615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예산이 사업단위를 기준으로 편성될 경우에는 정부의 활동에 대한 더욱 정확한 판단이 가능하게 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정부활동의 산출물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(outputs)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초점을 맞춤으로써 효율성의 평가를  용이하게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종래의 부서별로 예산이 배정되는 예산제도는 정부활동의 투입요소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(inputs)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초점을 맞추는 방식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40000"/>
              </a:lnSpc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우리나라도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2007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년부터 재정운용의 효율성과 책임성을 제고하기 위해 프로그램 예산제도를 도입해 운영하고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정부지출의 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30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제목 1"/>
          <p:cNvSpPr txBox="1">
            <a:spLocks/>
          </p:cNvSpPr>
          <p:nvPr/>
        </p:nvSpPr>
        <p:spPr>
          <a:xfrm>
            <a:off x="0" y="541337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ctr"/>
            <a:r>
              <a:rPr lang="ko-KR" altLang="en-US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프로그램 예산제도</a:t>
            </a:r>
          </a:p>
        </p:txBody>
      </p:sp>
    </p:spTree>
    <p:extLst>
      <p:ext uri="{BB962C8B-B14F-4D97-AF65-F5344CB8AC3E}">
        <p14:creationId xmlns:p14="http://schemas.microsoft.com/office/powerpoint/2010/main" val="32649623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00000"/>
              </a:lnSpc>
            </a:pPr>
            <a:r>
              <a:rPr lang="ko-KR" altLang="en-US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영기준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예산제도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(zero-based budgeting system)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영기준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(zero-base)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에서 출발해 각 부서의 활동으로부터 나오는 편익이 소요되는  비용을 초과한다는 것을 입증함으로써 부서별 예산배정이 이루어짐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영기준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(zero-base)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부서의 아주 낮은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거의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0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가까운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활동수준 의미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altLang="ko-KR" sz="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매년 원점으로 돌아가 다시 생각하는 자세로 예산을 편성할 것을 요구하고 있다는 점에서 합리성을 띤 제도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endParaRPr lang="en-US" altLang="ko-KR" sz="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너무 많은 행정비용이 든다는 단점이 있어 주로 사기업과 지방정부에 의해서만 부분적으로 활용되어 왔음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endParaRPr lang="en-US" altLang="ko-KR" sz="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우리나라도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1983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년에 이 제도를 도입해 시험적으로 실시하였으나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, 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뚜렷한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성과를 거두지 못하자 얼마 지나지 않아 중단되었음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정부지출의 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31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0" y="541337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ctr"/>
            <a:r>
              <a:rPr lang="ko-KR" altLang="en-US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영기준</a:t>
            </a:r>
            <a:r>
              <a:rPr lang="ko-KR" altLang="en-US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예산제도</a:t>
            </a:r>
          </a:p>
        </p:txBody>
      </p:sp>
    </p:spTree>
    <p:extLst>
      <p:ext uri="{BB962C8B-B14F-4D97-AF65-F5344CB8AC3E}">
        <p14:creationId xmlns:p14="http://schemas.microsoft.com/office/powerpoint/2010/main" val="1074077062"/>
      </p:ext>
    </p:extLst>
  </p:cSld>
  <p:clrMapOvr>
    <a:masterClrMapping/>
  </p:clrMapOvr>
</p:sld>
</file>

<file path=ppt/theme/theme1.xml><?xml version="1.0" encoding="utf-8"?>
<a:theme xmlns:a="http://schemas.openxmlformats.org/drawingml/2006/main" name="재정학테마">
  <a:themeElements>
    <a:clrScheme name="사용자 지정 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F6B73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재정학테마" id="{D220411F-458E-4BEF-9391-46AA3D35AAC4}" vid="{007A1872-AD0C-400C-B34D-A147BE5B3ECB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재정학테마</Template>
  <TotalTime>3872</TotalTime>
  <Words>2256</Words>
  <Application>Microsoft Office PowerPoint</Application>
  <PresentationFormat>화면 슬라이드 쇼(4:3)</PresentationFormat>
  <Paragraphs>361</Paragraphs>
  <Slides>31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41" baseType="lpstr">
      <vt:lpstr>굴림</vt:lpstr>
      <vt:lpstr>나눔고딕</vt:lpstr>
      <vt:lpstr>나눔고딕 ExtraBold</vt:lpstr>
      <vt:lpstr>맑은 고딕</vt:lpstr>
      <vt:lpstr>바탕</vt:lpstr>
      <vt:lpstr>새굴림</vt:lpstr>
      <vt:lpstr>Arial</vt:lpstr>
      <vt:lpstr>Cambria Math</vt:lpstr>
      <vt:lpstr>Wingdings</vt:lpstr>
      <vt:lpstr>재정학테마</vt:lpstr>
      <vt:lpstr>PowerPoint 프레젠테이션</vt:lpstr>
      <vt:lpstr>11.1  정부지출의 당위성</vt:lpstr>
      <vt:lpstr>정부지출의 당위성</vt:lpstr>
      <vt:lpstr>11.2  정부지출의 경제적 효과 : 자원배분 측면</vt:lpstr>
      <vt:lpstr>재화와 서비스에 대한 지출의 효과</vt:lpstr>
      <vt:lpstr>PowerPoint 프레젠테이션</vt:lpstr>
      <vt:lpstr>이전지출의 효과</vt:lpstr>
      <vt:lpstr>이전지출의 효과 : 소득보조</vt:lpstr>
      <vt:lpstr>이전지출의 효과 : 가격보조</vt:lpstr>
      <vt:lpstr>이전지출의 효과 : 가격보조</vt:lpstr>
      <vt:lpstr>이전지출의 효과 : 특수한 현물보조</vt:lpstr>
      <vt:lpstr>11.3  정부지출의 경제적 효과 : 소득분배 측면</vt:lpstr>
      <vt:lpstr>소득분배 측면 : 분배적 효과의 구체적 사례</vt:lpstr>
      <vt:lpstr>PowerPoint 프레젠테이션</vt:lpstr>
      <vt:lpstr>PowerPoint 프레젠테이션</vt:lpstr>
      <vt:lpstr>11.4  정부지출의 지속적 증가 현상</vt:lpstr>
      <vt:lpstr>정부지출 증가의 원인</vt:lpstr>
      <vt:lpstr>정부지출 증가의 원인</vt:lpstr>
      <vt:lpstr>정부지출 증가의 원인</vt:lpstr>
      <vt:lpstr>정부지출 증가의 원인</vt:lpstr>
      <vt:lpstr>정부지출 증가의 원인</vt:lpstr>
      <vt:lpstr>11.5  재정착각</vt:lpstr>
      <vt:lpstr>재정착각</vt:lpstr>
      <vt:lpstr>재정착각</vt:lpstr>
      <vt:lpstr>재정착각 발생의 원인</vt:lpstr>
      <vt:lpstr>재정착각 발생의 원인</vt:lpstr>
      <vt:lpstr>11.6  효율적 예산제도</vt:lpstr>
      <vt:lpstr>효율적 예산제도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 1장   재정학: 의의와 성격</dc:title>
  <dc:creator>chomh</dc:creator>
  <cp:lastModifiedBy>영완 전</cp:lastModifiedBy>
  <cp:revision>813</cp:revision>
  <dcterms:created xsi:type="dcterms:W3CDTF">2015-08-04T05:38:00Z</dcterms:created>
  <dcterms:modified xsi:type="dcterms:W3CDTF">2026-01-13T00:45:50Z</dcterms:modified>
</cp:coreProperties>
</file>