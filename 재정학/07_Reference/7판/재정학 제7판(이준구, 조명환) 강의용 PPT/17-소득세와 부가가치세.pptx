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08" r:id="rId1"/>
  </p:sldMasterIdLst>
  <p:notesMasterIdLst>
    <p:notesMasterId r:id="rId41"/>
  </p:notesMasterIdLst>
  <p:handoutMasterIdLst>
    <p:handoutMasterId r:id="rId42"/>
  </p:handoutMasterIdLst>
  <p:sldIdLst>
    <p:sldId id="337" r:id="rId2"/>
    <p:sldId id="259" r:id="rId3"/>
    <p:sldId id="312" r:id="rId4"/>
    <p:sldId id="261" r:id="rId5"/>
    <p:sldId id="262" r:id="rId6"/>
    <p:sldId id="313" r:id="rId7"/>
    <p:sldId id="314" r:id="rId8"/>
    <p:sldId id="333" r:id="rId9"/>
    <p:sldId id="315" r:id="rId10"/>
    <p:sldId id="270" r:id="rId11"/>
    <p:sldId id="316" r:id="rId12"/>
    <p:sldId id="317" r:id="rId13"/>
    <p:sldId id="272" r:id="rId14"/>
    <p:sldId id="274" r:id="rId15"/>
    <p:sldId id="318" r:id="rId16"/>
    <p:sldId id="319" r:id="rId17"/>
    <p:sldId id="322" r:id="rId18"/>
    <p:sldId id="321" r:id="rId19"/>
    <p:sldId id="282" r:id="rId20"/>
    <p:sldId id="283" r:id="rId21"/>
    <p:sldId id="284" r:id="rId22"/>
    <p:sldId id="285" r:id="rId23"/>
    <p:sldId id="323" r:id="rId24"/>
    <p:sldId id="286" r:id="rId25"/>
    <p:sldId id="325" r:id="rId26"/>
    <p:sldId id="334" r:id="rId27"/>
    <p:sldId id="326" r:id="rId28"/>
    <p:sldId id="327" r:id="rId29"/>
    <p:sldId id="328" r:id="rId30"/>
    <p:sldId id="329" r:id="rId31"/>
    <p:sldId id="331" r:id="rId32"/>
    <p:sldId id="332" r:id="rId33"/>
    <p:sldId id="335" r:id="rId34"/>
    <p:sldId id="295" r:id="rId35"/>
    <p:sldId id="296" r:id="rId36"/>
    <p:sldId id="297" r:id="rId37"/>
    <p:sldId id="298" r:id="rId38"/>
    <p:sldId id="336" r:id="rId39"/>
    <p:sldId id="300" r:id="rId40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D9AC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58157B2-01F4-4ECB-B29B-97E33D4F34F5}" v="6" dt="2026-01-09T04:44:57.56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15" autoAdjust="0"/>
    <p:restoredTop sz="94660"/>
  </p:normalViewPr>
  <p:slideViewPr>
    <p:cSldViewPr snapToGrid="0">
      <p:cViewPr varScale="1">
        <p:scale>
          <a:sx n="153" d="100"/>
          <a:sy n="153" d="100"/>
        </p:scale>
        <p:origin x="1916" y="312"/>
      </p:cViewPr>
      <p:guideLst>
        <p:guide orient="horz" pos="216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200" d="100"/>
        <a:sy n="200" d="100"/>
      </p:scale>
      <p:origin x="0" y="-10184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handoutMaster" Target="handoutMasters/handoutMaster1.xml"/><Relationship Id="rId47" Type="http://schemas.microsoft.com/office/2016/11/relationships/changesInfo" Target="changesInfos/changesInfo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Relationship Id="rId48" Type="http://schemas.microsoft.com/office/2015/10/relationships/revisionInfo" Target="revisionInfo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영완 전" userId="94a232b962f42e62" providerId="LiveId" clId="{862E7F7D-119D-4717-AD52-91020921814B}"/>
    <pc:docChg chg="undo custSel modSld">
      <pc:chgData name="영완 전" userId="94a232b962f42e62" providerId="LiveId" clId="{862E7F7D-119D-4717-AD52-91020921814B}" dt="2026-01-13T01:13:52.337" v="339" actId="14100"/>
      <pc:docMkLst>
        <pc:docMk/>
      </pc:docMkLst>
      <pc:sldChg chg="modSp mod">
        <pc:chgData name="영완 전" userId="94a232b962f42e62" providerId="LiveId" clId="{862E7F7D-119D-4717-AD52-91020921814B}" dt="2026-01-09T02:26:17.207" v="5" actId="313"/>
        <pc:sldMkLst>
          <pc:docMk/>
          <pc:sldMk cId="1907375292" sldId="259"/>
        </pc:sldMkLst>
        <pc:spChg chg="mod">
          <ac:chgData name="영완 전" userId="94a232b962f42e62" providerId="LiveId" clId="{862E7F7D-119D-4717-AD52-91020921814B}" dt="2026-01-09T02:26:17.207" v="5" actId="313"/>
          <ac:spMkLst>
            <pc:docMk/>
            <pc:sldMk cId="1907375292" sldId="259"/>
            <ac:spMk id="3" creationId="{00000000-0000-0000-0000-000000000000}"/>
          </ac:spMkLst>
        </pc:spChg>
      </pc:sldChg>
      <pc:sldChg chg="modSp mod">
        <pc:chgData name="영완 전" userId="94a232b962f42e62" providerId="LiveId" clId="{862E7F7D-119D-4717-AD52-91020921814B}" dt="2026-01-09T02:27:13.415" v="18"/>
        <pc:sldMkLst>
          <pc:docMk/>
          <pc:sldMk cId="1992893896" sldId="261"/>
        </pc:sldMkLst>
        <pc:spChg chg="mod">
          <ac:chgData name="영완 전" userId="94a232b962f42e62" providerId="LiveId" clId="{862E7F7D-119D-4717-AD52-91020921814B}" dt="2026-01-09T02:27:13.415" v="18"/>
          <ac:spMkLst>
            <pc:docMk/>
            <pc:sldMk cId="1992893896" sldId="261"/>
            <ac:spMk id="2" creationId="{00000000-0000-0000-0000-000000000000}"/>
          </ac:spMkLst>
        </pc:spChg>
      </pc:sldChg>
      <pc:sldChg chg="modSp mod">
        <pc:chgData name="영완 전" userId="94a232b962f42e62" providerId="LiveId" clId="{862E7F7D-119D-4717-AD52-91020921814B}" dt="2026-01-13T01:09:41.993" v="317" actId="20577"/>
        <pc:sldMkLst>
          <pc:docMk/>
          <pc:sldMk cId="4026097252" sldId="262"/>
        </pc:sldMkLst>
        <pc:spChg chg="mod">
          <ac:chgData name="영완 전" userId="94a232b962f42e62" providerId="LiveId" clId="{862E7F7D-119D-4717-AD52-91020921814B}" dt="2026-01-13T01:09:41.993" v="317" actId="20577"/>
          <ac:spMkLst>
            <pc:docMk/>
            <pc:sldMk cId="4026097252" sldId="262"/>
            <ac:spMk id="3" creationId="{00000000-0000-0000-0000-000000000000}"/>
          </ac:spMkLst>
        </pc:spChg>
      </pc:sldChg>
      <pc:sldChg chg="modSp mod">
        <pc:chgData name="영완 전" userId="94a232b962f42e62" providerId="LiveId" clId="{862E7F7D-119D-4717-AD52-91020921814B}" dt="2026-01-13T01:10:26.616" v="318" actId="20577"/>
        <pc:sldMkLst>
          <pc:docMk/>
          <pc:sldMk cId="2824867321" sldId="270"/>
        </pc:sldMkLst>
        <pc:spChg chg="mod">
          <ac:chgData name="영완 전" userId="94a232b962f42e62" providerId="LiveId" clId="{862E7F7D-119D-4717-AD52-91020921814B}" dt="2026-01-13T01:10:26.616" v="318" actId="20577"/>
          <ac:spMkLst>
            <pc:docMk/>
            <pc:sldMk cId="2824867321" sldId="270"/>
            <ac:spMk id="3" creationId="{00000000-0000-0000-0000-000000000000}"/>
          </ac:spMkLst>
        </pc:spChg>
      </pc:sldChg>
      <pc:sldChg chg="modSp mod">
        <pc:chgData name="영완 전" userId="94a232b962f42e62" providerId="LiveId" clId="{862E7F7D-119D-4717-AD52-91020921814B}" dt="2026-01-09T02:50:47.623" v="75" actId="20577"/>
        <pc:sldMkLst>
          <pc:docMk/>
          <pc:sldMk cId="407784982" sldId="272"/>
        </pc:sldMkLst>
        <pc:spChg chg="mod">
          <ac:chgData name="영완 전" userId="94a232b962f42e62" providerId="LiveId" clId="{862E7F7D-119D-4717-AD52-91020921814B}" dt="2026-01-09T02:50:47.623" v="75" actId="20577"/>
          <ac:spMkLst>
            <pc:docMk/>
            <pc:sldMk cId="407784982" sldId="272"/>
            <ac:spMk id="3" creationId="{00000000-0000-0000-0000-000000000000}"/>
          </ac:spMkLst>
        </pc:spChg>
      </pc:sldChg>
      <pc:sldChg chg="modSp mod">
        <pc:chgData name="영완 전" userId="94a232b962f42e62" providerId="LiveId" clId="{862E7F7D-119D-4717-AD52-91020921814B}" dt="2026-01-09T04:42:57.837" v="191" actId="20577"/>
        <pc:sldMkLst>
          <pc:docMk/>
          <pc:sldMk cId="1635562314" sldId="282"/>
        </pc:sldMkLst>
        <pc:spChg chg="mod">
          <ac:chgData name="영완 전" userId="94a232b962f42e62" providerId="LiveId" clId="{862E7F7D-119D-4717-AD52-91020921814B}" dt="2026-01-09T04:42:57.837" v="191" actId="20577"/>
          <ac:spMkLst>
            <pc:docMk/>
            <pc:sldMk cId="1635562314" sldId="282"/>
            <ac:spMk id="3" creationId="{00000000-0000-0000-0000-000000000000}"/>
          </ac:spMkLst>
        </pc:spChg>
      </pc:sldChg>
      <pc:sldChg chg="modSp mod">
        <pc:chgData name="영완 전" userId="94a232b962f42e62" providerId="LiveId" clId="{862E7F7D-119D-4717-AD52-91020921814B}" dt="2026-01-09T04:43:37.164" v="197" actId="20577"/>
        <pc:sldMkLst>
          <pc:docMk/>
          <pc:sldMk cId="2984582896" sldId="283"/>
        </pc:sldMkLst>
        <pc:spChg chg="mod">
          <ac:chgData name="영완 전" userId="94a232b962f42e62" providerId="LiveId" clId="{862E7F7D-119D-4717-AD52-91020921814B}" dt="2026-01-09T04:43:37.164" v="197" actId="20577"/>
          <ac:spMkLst>
            <pc:docMk/>
            <pc:sldMk cId="2984582896" sldId="283"/>
            <ac:spMk id="3" creationId="{00000000-0000-0000-0000-000000000000}"/>
          </ac:spMkLst>
        </pc:spChg>
      </pc:sldChg>
      <pc:sldChg chg="modSp mod">
        <pc:chgData name="영완 전" userId="94a232b962f42e62" providerId="LiveId" clId="{862E7F7D-119D-4717-AD52-91020921814B}" dt="2026-01-09T04:44:26.165" v="202" actId="20577"/>
        <pc:sldMkLst>
          <pc:docMk/>
          <pc:sldMk cId="1924886309" sldId="284"/>
        </pc:sldMkLst>
        <pc:spChg chg="mod">
          <ac:chgData name="영완 전" userId="94a232b962f42e62" providerId="LiveId" clId="{862E7F7D-119D-4717-AD52-91020921814B}" dt="2026-01-09T04:44:26.165" v="202" actId="20577"/>
          <ac:spMkLst>
            <pc:docMk/>
            <pc:sldMk cId="1924886309" sldId="284"/>
            <ac:spMk id="3" creationId="{00000000-0000-0000-0000-000000000000}"/>
          </ac:spMkLst>
        </pc:spChg>
      </pc:sldChg>
      <pc:sldChg chg="modSp mod">
        <pc:chgData name="영완 전" userId="94a232b962f42e62" providerId="LiveId" clId="{862E7F7D-119D-4717-AD52-91020921814B}" dt="2026-01-13T01:11:33.585" v="322" actId="20577"/>
        <pc:sldMkLst>
          <pc:docMk/>
          <pc:sldMk cId="134699516" sldId="285"/>
        </pc:sldMkLst>
        <pc:spChg chg="mod">
          <ac:chgData name="영완 전" userId="94a232b962f42e62" providerId="LiveId" clId="{862E7F7D-119D-4717-AD52-91020921814B}" dt="2026-01-13T01:11:33.585" v="322" actId="20577"/>
          <ac:spMkLst>
            <pc:docMk/>
            <pc:sldMk cId="134699516" sldId="285"/>
            <ac:spMk id="3" creationId="{00000000-0000-0000-0000-000000000000}"/>
          </ac:spMkLst>
        </pc:spChg>
      </pc:sldChg>
      <pc:sldChg chg="modSp mod">
        <pc:chgData name="영완 전" userId="94a232b962f42e62" providerId="LiveId" clId="{862E7F7D-119D-4717-AD52-91020921814B}" dt="2026-01-09T04:45:45.387" v="213" actId="313"/>
        <pc:sldMkLst>
          <pc:docMk/>
          <pc:sldMk cId="1338558999" sldId="286"/>
        </pc:sldMkLst>
        <pc:spChg chg="mod">
          <ac:chgData name="영완 전" userId="94a232b962f42e62" providerId="LiveId" clId="{862E7F7D-119D-4717-AD52-91020921814B}" dt="2026-01-09T04:45:45.387" v="213" actId="313"/>
          <ac:spMkLst>
            <pc:docMk/>
            <pc:sldMk cId="1338558999" sldId="286"/>
            <ac:spMk id="3" creationId="{00000000-0000-0000-0000-000000000000}"/>
          </ac:spMkLst>
        </pc:spChg>
      </pc:sldChg>
      <pc:sldChg chg="modSp mod">
        <pc:chgData name="영완 전" userId="94a232b962f42e62" providerId="LiveId" clId="{862E7F7D-119D-4717-AD52-91020921814B}" dt="2026-01-09T04:52:50.046" v="273" actId="14100"/>
        <pc:sldMkLst>
          <pc:docMk/>
          <pc:sldMk cId="3527000700" sldId="295"/>
        </pc:sldMkLst>
        <pc:spChg chg="mod">
          <ac:chgData name="영완 전" userId="94a232b962f42e62" providerId="LiveId" clId="{862E7F7D-119D-4717-AD52-91020921814B}" dt="2026-01-09T04:52:50.046" v="273" actId="14100"/>
          <ac:spMkLst>
            <pc:docMk/>
            <pc:sldMk cId="3527000700" sldId="295"/>
            <ac:spMk id="3" creationId="{00000000-0000-0000-0000-000000000000}"/>
          </ac:spMkLst>
        </pc:spChg>
      </pc:sldChg>
      <pc:sldChg chg="modSp mod">
        <pc:chgData name="영완 전" userId="94a232b962f42e62" providerId="LiveId" clId="{862E7F7D-119D-4717-AD52-91020921814B}" dt="2026-01-09T04:53:11.033" v="276" actId="14100"/>
        <pc:sldMkLst>
          <pc:docMk/>
          <pc:sldMk cId="828950501" sldId="296"/>
        </pc:sldMkLst>
        <pc:spChg chg="mod">
          <ac:chgData name="영완 전" userId="94a232b962f42e62" providerId="LiveId" clId="{862E7F7D-119D-4717-AD52-91020921814B}" dt="2026-01-09T04:53:11.033" v="276" actId="14100"/>
          <ac:spMkLst>
            <pc:docMk/>
            <pc:sldMk cId="828950501" sldId="296"/>
            <ac:spMk id="3" creationId="{00000000-0000-0000-0000-000000000000}"/>
          </ac:spMkLst>
        </pc:spChg>
      </pc:sldChg>
      <pc:sldChg chg="modSp mod">
        <pc:chgData name="영완 전" userId="94a232b962f42e62" providerId="LiveId" clId="{862E7F7D-119D-4717-AD52-91020921814B}" dt="2026-01-09T04:53:52.498" v="284" actId="20577"/>
        <pc:sldMkLst>
          <pc:docMk/>
          <pc:sldMk cId="1765383490" sldId="297"/>
        </pc:sldMkLst>
        <pc:spChg chg="mod">
          <ac:chgData name="영완 전" userId="94a232b962f42e62" providerId="LiveId" clId="{862E7F7D-119D-4717-AD52-91020921814B}" dt="2026-01-09T04:53:52.498" v="284" actId="20577"/>
          <ac:spMkLst>
            <pc:docMk/>
            <pc:sldMk cId="1765383490" sldId="297"/>
            <ac:spMk id="3" creationId="{00000000-0000-0000-0000-000000000000}"/>
          </ac:spMkLst>
        </pc:spChg>
      </pc:sldChg>
      <pc:sldChg chg="modSp mod">
        <pc:chgData name="영완 전" userId="94a232b962f42e62" providerId="LiveId" clId="{862E7F7D-119D-4717-AD52-91020921814B}" dt="2026-01-09T04:54:23.474" v="303" actId="20577"/>
        <pc:sldMkLst>
          <pc:docMk/>
          <pc:sldMk cId="3249941498" sldId="298"/>
        </pc:sldMkLst>
        <pc:spChg chg="mod">
          <ac:chgData name="영완 전" userId="94a232b962f42e62" providerId="LiveId" clId="{862E7F7D-119D-4717-AD52-91020921814B}" dt="2026-01-09T04:54:23.474" v="303" actId="20577"/>
          <ac:spMkLst>
            <pc:docMk/>
            <pc:sldMk cId="3249941498" sldId="298"/>
            <ac:spMk id="3" creationId="{00000000-0000-0000-0000-000000000000}"/>
          </ac:spMkLst>
        </pc:spChg>
      </pc:sldChg>
      <pc:sldChg chg="modSp mod">
        <pc:chgData name="영완 전" userId="94a232b962f42e62" providerId="LiveId" clId="{862E7F7D-119D-4717-AD52-91020921814B}" dt="2026-01-13T01:13:52.337" v="339" actId="14100"/>
        <pc:sldMkLst>
          <pc:docMk/>
          <pc:sldMk cId="2893146327" sldId="300"/>
        </pc:sldMkLst>
        <pc:spChg chg="mod">
          <ac:chgData name="영완 전" userId="94a232b962f42e62" providerId="LiveId" clId="{862E7F7D-119D-4717-AD52-91020921814B}" dt="2026-01-13T01:13:52.337" v="339" actId="14100"/>
          <ac:spMkLst>
            <pc:docMk/>
            <pc:sldMk cId="2893146327" sldId="300"/>
            <ac:spMk id="3" creationId="{00000000-0000-0000-0000-000000000000}"/>
          </ac:spMkLst>
        </pc:spChg>
      </pc:sldChg>
      <pc:sldChg chg="modSp mod">
        <pc:chgData name="영완 전" userId="94a232b962f42e62" providerId="LiveId" clId="{862E7F7D-119D-4717-AD52-91020921814B}" dt="2026-01-09T02:27:04.893" v="12" actId="20577"/>
        <pc:sldMkLst>
          <pc:docMk/>
          <pc:sldMk cId="3283880336" sldId="312"/>
        </pc:sldMkLst>
        <pc:spChg chg="mod">
          <ac:chgData name="영완 전" userId="94a232b962f42e62" providerId="LiveId" clId="{862E7F7D-119D-4717-AD52-91020921814B}" dt="2026-01-09T02:26:42.059" v="11"/>
          <ac:spMkLst>
            <pc:docMk/>
            <pc:sldMk cId="3283880336" sldId="312"/>
            <ac:spMk id="2" creationId="{00000000-0000-0000-0000-000000000000}"/>
          </ac:spMkLst>
        </pc:spChg>
        <pc:spChg chg="mod">
          <ac:chgData name="영완 전" userId="94a232b962f42e62" providerId="LiveId" clId="{862E7F7D-119D-4717-AD52-91020921814B}" dt="2026-01-09T02:27:04.893" v="12" actId="20577"/>
          <ac:spMkLst>
            <pc:docMk/>
            <pc:sldMk cId="3283880336" sldId="312"/>
            <ac:spMk id="3" creationId="{00000000-0000-0000-0000-000000000000}"/>
          </ac:spMkLst>
        </pc:spChg>
      </pc:sldChg>
      <pc:sldChg chg="modSp mod">
        <pc:chgData name="영완 전" userId="94a232b962f42e62" providerId="LiveId" clId="{862E7F7D-119D-4717-AD52-91020921814B}" dt="2026-01-09T02:28:41.804" v="34" actId="20577"/>
        <pc:sldMkLst>
          <pc:docMk/>
          <pc:sldMk cId="2824395575" sldId="313"/>
        </pc:sldMkLst>
        <pc:spChg chg="mod">
          <ac:chgData name="영완 전" userId="94a232b962f42e62" providerId="LiveId" clId="{862E7F7D-119D-4717-AD52-91020921814B}" dt="2026-01-09T02:28:41.804" v="34" actId="20577"/>
          <ac:spMkLst>
            <pc:docMk/>
            <pc:sldMk cId="2824395575" sldId="313"/>
            <ac:spMk id="3" creationId="{00000000-0000-0000-0000-000000000000}"/>
          </ac:spMkLst>
        </pc:spChg>
      </pc:sldChg>
      <pc:sldChg chg="modSp mod">
        <pc:chgData name="영완 전" userId="94a232b962f42e62" providerId="LiveId" clId="{862E7F7D-119D-4717-AD52-91020921814B}" dt="2026-01-09T02:29:21.415" v="46" actId="20577"/>
        <pc:sldMkLst>
          <pc:docMk/>
          <pc:sldMk cId="631276507" sldId="314"/>
        </pc:sldMkLst>
        <pc:spChg chg="mod">
          <ac:chgData name="영완 전" userId="94a232b962f42e62" providerId="LiveId" clId="{862E7F7D-119D-4717-AD52-91020921814B}" dt="2026-01-09T02:29:21.415" v="46" actId="20577"/>
          <ac:spMkLst>
            <pc:docMk/>
            <pc:sldMk cId="631276507" sldId="314"/>
            <ac:spMk id="3" creationId="{00000000-0000-0000-0000-000000000000}"/>
          </ac:spMkLst>
        </pc:spChg>
      </pc:sldChg>
      <pc:sldChg chg="modSp mod">
        <pc:chgData name="영완 전" userId="94a232b962f42e62" providerId="LiveId" clId="{862E7F7D-119D-4717-AD52-91020921814B}" dt="2026-01-09T02:30:31.065" v="65" actId="20577"/>
        <pc:sldMkLst>
          <pc:docMk/>
          <pc:sldMk cId="4207058035" sldId="315"/>
        </pc:sldMkLst>
        <pc:spChg chg="mod">
          <ac:chgData name="영완 전" userId="94a232b962f42e62" providerId="LiveId" clId="{862E7F7D-119D-4717-AD52-91020921814B}" dt="2026-01-09T02:30:31.065" v="65" actId="20577"/>
          <ac:spMkLst>
            <pc:docMk/>
            <pc:sldMk cId="4207058035" sldId="315"/>
            <ac:spMk id="3" creationId="{00000000-0000-0000-0000-000000000000}"/>
          </ac:spMkLst>
        </pc:spChg>
      </pc:sldChg>
      <pc:sldChg chg="modSp mod">
        <pc:chgData name="영완 전" userId="94a232b962f42e62" providerId="LiveId" clId="{862E7F7D-119D-4717-AD52-91020921814B}" dt="2026-01-09T02:50:20.462" v="69" actId="20577"/>
        <pc:sldMkLst>
          <pc:docMk/>
          <pc:sldMk cId="334930359" sldId="317"/>
        </pc:sldMkLst>
        <pc:spChg chg="mod">
          <ac:chgData name="영완 전" userId="94a232b962f42e62" providerId="LiveId" clId="{862E7F7D-119D-4717-AD52-91020921814B}" dt="2026-01-09T02:50:20.462" v="69" actId="20577"/>
          <ac:spMkLst>
            <pc:docMk/>
            <pc:sldMk cId="334930359" sldId="317"/>
            <ac:spMk id="3" creationId="{00000000-0000-0000-0000-000000000000}"/>
          </ac:spMkLst>
        </pc:spChg>
      </pc:sldChg>
      <pc:sldChg chg="modSp mod">
        <pc:chgData name="영완 전" userId="94a232b962f42e62" providerId="LiveId" clId="{862E7F7D-119D-4717-AD52-91020921814B}" dt="2026-01-09T02:51:26.889" v="77" actId="20577"/>
        <pc:sldMkLst>
          <pc:docMk/>
          <pc:sldMk cId="2728213324" sldId="318"/>
        </pc:sldMkLst>
        <pc:spChg chg="mod">
          <ac:chgData name="영완 전" userId="94a232b962f42e62" providerId="LiveId" clId="{862E7F7D-119D-4717-AD52-91020921814B}" dt="2026-01-09T02:51:26.889" v="77" actId="20577"/>
          <ac:spMkLst>
            <pc:docMk/>
            <pc:sldMk cId="2728213324" sldId="318"/>
            <ac:spMk id="3" creationId="{00000000-0000-0000-0000-000000000000}"/>
          </ac:spMkLst>
        </pc:spChg>
      </pc:sldChg>
      <pc:sldChg chg="modSp mod">
        <pc:chgData name="영완 전" userId="94a232b962f42e62" providerId="LiveId" clId="{862E7F7D-119D-4717-AD52-91020921814B}" dt="2026-01-09T02:53:14.263" v="148" actId="20577"/>
        <pc:sldMkLst>
          <pc:docMk/>
          <pc:sldMk cId="4138812439" sldId="319"/>
        </pc:sldMkLst>
        <pc:spChg chg="mod">
          <ac:chgData name="영완 전" userId="94a232b962f42e62" providerId="LiveId" clId="{862E7F7D-119D-4717-AD52-91020921814B}" dt="2026-01-09T02:53:14.263" v="148" actId="20577"/>
          <ac:spMkLst>
            <pc:docMk/>
            <pc:sldMk cId="4138812439" sldId="319"/>
            <ac:spMk id="3" creationId="{00000000-0000-0000-0000-000000000000}"/>
          </ac:spMkLst>
        </pc:spChg>
      </pc:sldChg>
      <pc:sldChg chg="modSp mod">
        <pc:chgData name="영완 전" userId="94a232b962f42e62" providerId="LiveId" clId="{862E7F7D-119D-4717-AD52-91020921814B}" dt="2026-01-09T04:41:39.574" v="160" actId="20577"/>
        <pc:sldMkLst>
          <pc:docMk/>
          <pc:sldMk cId="2194538485" sldId="321"/>
        </pc:sldMkLst>
        <pc:spChg chg="mod">
          <ac:chgData name="영완 전" userId="94a232b962f42e62" providerId="LiveId" clId="{862E7F7D-119D-4717-AD52-91020921814B}" dt="2026-01-09T04:41:39.574" v="160" actId="20577"/>
          <ac:spMkLst>
            <pc:docMk/>
            <pc:sldMk cId="2194538485" sldId="321"/>
            <ac:spMk id="3" creationId="{00000000-0000-0000-0000-000000000000}"/>
          </ac:spMkLst>
        </pc:spChg>
      </pc:sldChg>
      <pc:sldChg chg="modSp mod">
        <pc:chgData name="영완 전" userId="94a232b962f42e62" providerId="LiveId" clId="{862E7F7D-119D-4717-AD52-91020921814B}" dt="2026-01-09T04:46:15.302" v="217" actId="20577"/>
        <pc:sldMkLst>
          <pc:docMk/>
          <pc:sldMk cId="3634496063" sldId="325"/>
        </pc:sldMkLst>
        <pc:spChg chg="mod">
          <ac:chgData name="영완 전" userId="94a232b962f42e62" providerId="LiveId" clId="{862E7F7D-119D-4717-AD52-91020921814B}" dt="2026-01-09T04:46:15.302" v="217" actId="20577"/>
          <ac:spMkLst>
            <pc:docMk/>
            <pc:sldMk cId="3634496063" sldId="325"/>
            <ac:spMk id="3" creationId="{00000000-0000-0000-0000-000000000000}"/>
          </ac:spMkLst>
        </pc:spChg>
      </pc:sldChg>
      <pc:sldChg chg="modSp mod">
        <pc:chgData name="영완 전" userId="94a232b962f42e62" providerId="LiveId" clId="{862E7F7D-119D-4717-AD52-91020921814B}" dt="2026-01-13T01:12:07.397" v="333" actId="20577"/>
        <pc:sldMkLst>
          <pc:docMk/>
          <pc:sldMk cId="3297443984" sldId="326"/>
        </pc:sldMkLst>
        <pc:spChg chg="mod">
          <ac:chgData name="영완 전" userId="94a232b962f42e62" providerId="LiveId" clId="{862E7F7D-119D-4717-AD52-91020921814B}" dt="2026-01-13T01:12:07.397" v="333" actId="20577"/>
          <ac:spMkLst>
            <pc:docMk/>
            <pc:sldMk cId="3297443984" sldId="326"/>
            <ac:spMk id="3" creationId="{00000000-0000-0000-0000-000000000000}"/>
          </ac:spMkLst>
        </pc:spChg>
      </pc:sldChg>
      <pc:sldChg chg="modSp mod">
        <pc:chgData name="영완 전" userId="94a232b962f42e62" providerId="LiveId" clId="{862E7F7D-119D-4717-AD52-91020921814B}" dt="2026-01-09T04:48:11.167" v="243" actId="20577"/>
        <pc:sldMkLst>
          <pc:docMk/>
          <pc:sldMk cId="3539277381" sldId="328"/>
        </pc:sldMkLst>
        <pc:spChg chg="mod">
          <ac:chgData name="영완 전" userId="94a232b962f42e62" providerId="LiveId" clId="{862E7F7D-119D-4717-AD52-91020921814B}" dt="2026-01-09T04:48:11.167" v="243" actId="20577"/>
          <ac:spMkLst>
            <pc:docMk/>
            <pc:sldMk cId="3539277381" sldId="328"/>
            <ac:spMk id="3" creationId="{00000000-0000-0000-0000-000000000000}"/>
          </ac:spMkLst>
        </pc:spChg>
      </pc:sldChg>
      <pc:sldChg chg="modSp mod">
        <pc:chgData name="영완 전" userId="94a232b962f42e62" providerId="LiveId" clId="{862E7F7D-119D-4717-AD52-91020921814B}" dt="2026-01-09T04:49:52.662" v="256" actId="20577"/>
        <pc:sldMkLst>
          <pc:docMk/>
          <pc:sldMk cId="478226547" sldId="331"/>
        </pc:sldMkLst>
        <pc:spChg chg="mod">
          <ac:chgData name="영완 전" userId="94a232b962f42e62" providerId="LiveId" clId="{862E7F7D-119D-4717-AD52-91020921814B}" dt="2026-01-09T04:49:52.662" v="256" actId="20577"/>
          <ac:spMkLst>
            <pc:docMk/>
            <pc:sldMk cId="478226547" sldId="331"/>
            <ac:spMk id="3" creationId="{00000000-0000-0000-0000-000000000000}"/>
          </ac:spMkLst>
        </pc:spChg>
      </pc:sldChg>
      <pc:sldChg chg="modSp mod">
        <pc:chgData name="영완 전" userId="94a232b962f42e62" providerId="LiveId" clId="{862E7F7D-119D-4717-AD52-91020921814B}" dt="2026-01-09T04:50:22.072" v="263" actId="20577"/>
        <pc:sldMkLst>
          <pc:docMk/>
          <pc:sldMk cId="4140438979" sldId="332"/>
        </pc:sldMkLst>
        <pc:spChg chg="mod">
          <ac:chgData name="영완 전" userId="94a232b962f42e62" providerId="LiveId" clId="{862E7F7D-119D-4717-AD52-91020921814B}" dt="2026-01-09T04:50:22.072" v="263" actId="20577"/>
          <ac:spMkLst>
            <pc:docMk/>
            <pc:sldMk cId="4140438979" sldId="332"/>
            <ac:spMk id="3" creationId="{00000000-0000-0000-0000-000000000000}"/>
          </ac:spMkLst>
        </pc:spChg>
      </pc:sldChg>
      <pc:sldChg chg="modSp mod">
        <pc:chgData name="영완 전" userId="94a232b962f42e62" providerId="LiveId" clId="{862E7F7D-119D-4717-AD52-91020921814B}" dt="2026-01-09T02:29:42.604" v="49" actId="14100"/>
        <pc:sldMkLst>
          <pc:docMk/>
          <pc:sldMk cId="662234472" sldId="333"/>
        </pc:sldMkLst>
        <pc:spChg chg="mod">
          <ac:chgData name="영완 전" userId="94a232b962f42e62" providerId="LiveId" clId="{862E7F7D-119D-4717-AD52-91020921814B}" dt="2026-01-09T02:29:42.604" v="49" actId="14100"/>
          <ac:spMkLst>
            <pc:docMk/>
            <pc:sldMk cId="662234472" sldId="333"/>
            <ac:spMk id="3" creationId="{00000000-0000-0000-0000-000000000000}"/>
          </ac:spMkLst>
        </pc:spChg>
      </pc:sldChg>
      <pc:sldChg chg="modSp mod">
        <pc:chgData name="영완 전" userId="94a232b962f42e62" providerId="LiveId" clId="{862E7F7D-119D-4717-AD52-91020921814B}" dt="2026-01-09T04:51:49.148" v="272" actId="14100"/>
        <pc:sldMkLst>
          <pc:docMk/>
          <pc:sldMk cId="3759063438" sldId="335"/>
        </pc:sldMkLst>
        <pc:spChg chg="mod">
          <ac:chgData name="영완 전" userId="94a232b962f42e62" providerId="LiveId" clId="{862E7F7D-119D-4717-AD52-91020921814B}" dt="2026-01-09T04:51:49.148" v="272" actId="14100"/>
          <ac:spMkLst>
            <pc:docMk/>
            <pc:sldMk cId="3759063438" sldId="335"/>
            <ac:spMk id="3" creationId="{00000000-0000-0000-0000-000000000000}"/>
          </ac:spMkLst>
        </pc:spChg>
      </pc:sldChg>
      <pc:sldChg chg="modSp mod">
        <pc:chgData name="영완 전" userId="94a232b962f42e62" providerId="LiveId" clId="{862E7F7D-119D-4717-AD52-91020921814B}" dt="2026-01-09T04:54:38.749" v="304" actId="20577"/>
        <pc:sldMkLst>
          <pc:docMk/>
          <pc:sldMk cId="2302053296" sldId="336"/>
        </pc:sldMkLst>
        <pc:spChg chg="mod">
          <ac:chgData name="영완 전" userId="94a232b962f42e62" providerId="LiveId" clId="{862E7F7D-119D-4717-AD52-91020921814B}" dt="2026-01-09T04:54:38.749" v="304" actId="20577"/>
          <ac:spMkLst>
            <pc:docMk/>
            <pc:sldMk cId="2302053296" sldId="336"/>
            <ac:spMk id="3" creationId="{00000000-0000-0000-0000-000000000000}"/>
          </ac:spMkLst>
        </pc:spChg>
      </pc:sldChg>
      <pc:sldChg chg="modSp mod">
        <pc:chgData name="영완 전" userId="94a232b962f42e62" providerId="LiveId" clId="{862E7F7D-119D-4717-AD52-91020921814B}" dt="2026-01-09T02:25:44.442" v="0" actId="1038"/>
        <pc:sldMkLst>
          <pc:docMk/>
          <pc:sldMk cId="3708808361" sldId="337"/>
        </pc:sldMkLst>
        <pc:spChg chg="mod">
          <ac:chgData name="영완 전" userId="94a232b962f42e62" providerId="LiveId" clId="{862E7F7D-119D-4717-AD52-91020921814B}" dt="2026-01-09T02:25:44.442" v="0" actId="1038"/>
          <ac:spMkLst>
            <pc:docMk/>
            <pc:sldMk cId="3708808361" sldId="337"/>
            <ac:spMk id="8" creationId="{5046705A-80E0-9DA0-32CC-67D2B28BD6DB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74EB9A-155E-47CB-BDE7-4AA3BFCC0E51}" type="datetimeFigureOut">
              <a:rPr lang="ko-KR" altLang="en-US" smtClean="0"/>
              <a:t>2026-01-13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76EE28E-5237-48A9-A4BC-4C0FE4044BF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21442645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9B8873-BC00-4E98-82A0-FC8387D5BC2D}" type="datetimeFigureOut">
              <a:rPr lang="ko-KR" altLang="en-US" smtClean="0"/>
              <a:t>2026-01-13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0295A58-9429-4B5D-BCB7-763BD5DD461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2861881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295A58-9429-4B5D-BCB7-763BD5DD4617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745534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295A58-9429-4B5D-BCB7-763BD5DD4617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811993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제목 슬라이드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655457"/>
            <a:ext cx="7772400" cy="1330099"/>
          </a:xfrm>
          <a:solidFill>
            <a:srgbClr val="6D9AC3"/>
          </a:solidFill>
        </p:spPr>
        <p:txBody>
          <a:bodyPr anchor="ctr">
            <a:normAutofit/>
          </a:bodyPr>
          <a:lstStyle>
            <a:lvl1pPr algn="ctr">
              <a:defRPr sz="3800" b="1" baseline="0">
                <a:solidFill>
                  <a:schemeClr val="bg1"/>
                </a:solidFill>
                <a:effectLst/>
                <a:latin typeface="+mj-ea"/>
                <a:ea typeface="+mj-ea"/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r>
              <a:rPr lang="en-US" altLang="ko-KR"/>
              <a:t>PUBLIC FINANCE</a:t>
            </a:r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r>
              <a:rPr lang="ko-KR" altLang="en-US"/>
              <a:t>제</a:t>
            </a:r>
            <a:r>
              <a:rPr lang="en-US" altLang="ko-KR"/>
              <a:t>17</a:t>
            </a:r>
            <a:r>
              <a:rPr lang="ko-KR" altLang="en-US"/>
              <a:t>장  소득세와 부가가치세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fld id="{06CA9FF6-BF29-4679-8C21-AEBAF289512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615540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_제목 및 내용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그룹 7">
            <a:extLst>
              <a:ext uri="{FF2B5EF4-FFF2-40B4-BE49-F238E27FC236}">
                <a16:creationId xmlns:a16="http://schemas.microsoft.com/office/drawing/2014/main" id="{5853338A-58DE-EF38-F0B0-0C3AE5D555B7}"/>
              </a:ext>
            </a:extLst>
          </p:cNvPr>
          <p:cNvGrpSpPr/>
          <p:nvPr userDrawn="1"/>
        </p:nvGrpSpPr>
        <p:grpSpPr>
          <a:xfrm>
            <a:off x="0" y="341304"/>
            <a:ext cx="9144000" cy="952748"/>
            <a:chOff x="0" y="225555"/>
            <a:chExt cx="9144000" cy="952748"/>
          </a:xfrm>
        </p:grpSpPr>
        <p:sp>
          <p:nvSpPr>
            <p:cNvPr id="10" name="화살표: 오각형 9">
              <a:extLst>
                <a:ext uri="{FF2B5EF4-FFF2-40B4-BE49-F238E27FC236}">
                  <a16:creationId xmlns:a16="http://schemas.microsoft.com/office/drawing/2014/main" id="{DE4AD2F6-D48C-7AFF-E2C5-8BA4523C3FEE}"/>
                </a:ext>
              </a:extLst>
            </p:cNvPr>
            <p:cNvSpPr/>
            <p:nvPr/>
          </p:nvSpPr>
          <p:spPr>
            <a:xfrm>
              <a:off x="0" y="230070"/>
              <a:ext cx="9144000" cy="948233"/>
            </a:xfrm>
            <a:prstGeom prst="homePlate">
              <a:avLst>
                <a:gd name="adj" fmla="val 36573"/>
              </a:avLst>
            </a:prstGeom>
            <a:solidFill>
              <a:srgbClr val="E8F1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" name="화살표: 갈매기형 수장 10">
              <a:extLst>
                <a:ext uri="{FF2B5EF4-FFF2-40B4-BE49-F238E27FC236}">
                  <a16:creationId xmlns:a16="http://schemas.microsoft.com/office/drawing/2014/main" id="{598C66EA-D2B5-E8B2-72D0-A0968680F948}"/>
                </a:ext>
              </a:extLst>
            </p:cNvPr>
            <p:cNvSpPr/>
            <p:nvPr/>
          </p:nvSpPr>
          <p:spPr>
            <a:xfrm>
              <a:off x="8495587" y="225555"/>
              <a:ext cx="519935" cy="948233"/>
            </a:xfrm>
            <a:prstGeom prst="chevron">
              <a:avLst>
                <a:gd name="adj" fmla="val 73331"/>
              </a:avLst>
            </a:prstGeom>
            <a:solidFill>
              <a:srgbClr val="C6DCD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2" name="화살표: 갈매기형 수장 11">
              <a:extLst>
                <a:ext uri="{FF2B5EF4-FFF2-40B4-BE49-F238E27FC236}">
                  <a16:creationId xmlns:a16="http://schemas.microsoft.com/office/drawing/2014/main" id="{12580D62-80D9-190E-5FB7-4160921CB1FE}"/>
                </a:ext>
              </a:extLst>
            </p:cNvPr>
            <p:cNvSpPr/>
            <p:nvPr/>
          </p:nvSpPr>
          <p:spPr>
            <a:xfrm>
              <a:off x="8235619" y="225555"/>
              <a:ext cx="519935" cy="948233"/>
            </a:xfrm>
            <a:prstGeom prst="chevron">
              <a:avLst>
                <a:gd name="adj" fmla="val 73331"/>
              </a:avLst>
            </a:prstGeom>
            <a:solidFill>
              <a:srgbClr val="99C1B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462078"/>
            <a:ext cx="9144000" cy="711200"/>
          </a:xfrm>
        </p:spPr>
        <p:txBody>
          <a:bodyPr>
            <a:normAutofit/>
          </a:bodyPr>
          <a:lstStyle>
            <a:lvl1pPr algn="ctr">
              <a:defRPr sz="3200" b="1"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628650" y="1422402"/>
            <a:ext cx="7886700" cy="4754563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spcAft>
                <a:spcPts val="0"/>
              </a:spcAft>
              <a:buClr>
                <a:schemeClr val="accent1"/>
              </a:buClr>
              <a:defRPr sz="20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lnSpc>
                <a:spcPct val="120000"/>
              </a:lnSpc>
              <a:spcAft>
                <a:spcPts val="0"/>
              </a:spcAft>
              <a:buClr>
                <a:schemeClr val="accent1"/>
              </a:buClr>
              <a:defRPr sz="20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857250" indent="-171450">
              <a:lnSpc>
                <a:spcPct val="120000"/>
              </a:lnSpc>
              <a:spcAft>
                <a:spcPts val="0"/>
              </a:spcAft>
              <a:buClr>
                <a:schemeClr val="accent1"/>
              </a:buClr>
              <a:buFont typeface="바탕" panose="02030600000101010101" pitchFamily="18" charset="-127"/>
              <a:buChar char="∙"/>
              <a:defRPr sz="20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200150" indent="-171450">
              <a:lnSpc>
                <a:spcPct val="120000"/>
              </a:lnSpc>
              <a:spcAft>
                <a:spcPts val="0"/>
              </a:spcAft>
              <a:buClr>
                <a:schemeClr val="accent1"/>
              </a:buClr>
              <a:buFont typeface="바탕" panose="02030600000101010101" pitchFamily="18" charset="-127"/>
              <a:buChar char="∙"/>
              <a:defRPr sz="20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lnSpc>
                <a:spcPct val="120000"/>
              </a:lnSpc>
              <a:spcAft>
                <a:spcPts val="0"/>
              </a:spcAft>
              <a:defRPr sz="1350" b="0">
                <a:solidFill>
                  <a:srgbClr val="00206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1200" b="1">
                <a:solidFill>
                  <a:schemeClr val="accent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en-US" altLang="ko-KR"/>
              <a:t>PUBLIC FINANCE</a:t>
            </a:r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200" b="1">
                <a:solidFill>
                  <a:schemeClr val="accent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/>
              <a:t>제</a:t>
            </a:r>
            <a:r>
              <a:rPr lang="en-US" altLang="ko-KR"/>
              <a:t>17</a:t>
            </a:r>
            <a:r>
              <a:rPr lang="ko-KR" altLang="en-US"/>
              <a:t>장  소득세와 부가가치세</a:t>
            </a:r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200" b="1">
                <a:solidFill>
                  <a:schemeClr val="accent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06CA9FF6-BF29-4679-8C21-AEBAF2895125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832988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제목 슬라이드">
    <p:bg>
      <p:bgPr>
        <a:solidFill>
          <a:srgbClr val="FEFB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모서리가 둥근 직사각형 6"/>
          <p:cNvSpPr/>
          <p:nvPr/>
        </p:nvSpPr>
        <p:spPr>
          <a:xfrm>
            <a:off x="666572" y="2573903"/>
            <a:ext cx="7791629" cy="1330099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573904"/>
            <a:ext cx="7772400" cy="1330099"/>
          </a:xfrm>
        </p:spPr>
        <p:txBody>
          <a:bodyPr anchor="ctr">
            <a:normAutofit/>
          </a:bodyPr>
          <a:lstStyle>
            <a:lvl1pPr algn="ctr">
              <a:defRPr sz="2850" b="1">
                <a:solidFill>
                  <a:schemeClr val="accent5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새굴림" panose="02030600000101010101" pitchFamily="18" charset="-127"/>
                <a:ea typeface="새굴림" panose="02030600000101010101" pitchFamily="18" charset="-127"/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r>
              <a:rPr lang="en-US" altLang="ko-KR"/>
              <a:t>PUBLIC FINANCE</a:t>
            </a:r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r>
              <a:rPr lang="ko-KR" altLang="en-US"/>
              <a:t>제</a:t>
            </a:r>
            <a:r>
              <a:rPr lang="en-US" altLang="ko-KR"/>
              <a:t>17</a:t>
            </a:r>
            <a:r>
              <a:rPr lang="ko-KR" altLang="en-US"/>
              <a:t>장  소득세와 부가가치세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fld id="{06CA9FF6-BF29-4679-8C21-AEBAF289512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345268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541337"/>
            <a:ext cx="7886700" cy="711200"/>
          </a:xfrm>
        </p:spPr>
        <p:txBody>
          <a:bodyPr>
            <a:normAutofit/>
          </a:bodyPr>
          <a:lstStyle>
            <a:lvl1pPr>
              <a:defRPr sz="2400" b="1">
                <a:solidFill>
                  <a:schemeClr val="accent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새굴림" panose="02030600000101010101" pitchFamily="18" charset="-127"/>
                <a:ea typeface="새굴림" panose="02030600000101010101" pitchFamily="18" charset="-127"/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422402"/>
            <a:ext cx="7886700" cy="4754563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spcAft>
                <a:spcPts val="0"/>
              </a:spcAft>
              <a:defRPr sz="1350" b="0">
                <a:solidFill>
                  <a:srgbClr val="00206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>
              <a:lnSpc>
                <a:spcPct val="120000"/>
              </a:lnSpc>
              <a:spcAft>
                <a:spcPts val="0"/>
              </a:spcAft>
              <a:defRPr sz="1350" b="0">
                <a:solidFill>
                  <a:srgbClr val="00206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857250" indent="-171450">
              <a:lnSpc>
                <a:spcPct val="120000"/>
              </a:lnSpc>
              <a:spcAft>
                <a:spcPts val="0"/>
              </a:spcAft>
              <a:buFont typeface="바탕" panose="02030600000101010101" pitchFamily="18" charset="-127"/>
              <a:buChar char="∙"/>
              <a:defRPr sz="1350" b="0">
                <a:solidFill>
                  <a:srgbClr val="00206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200150" indent="-171450">
              <a:lnSpc>
                <a:spcPct val="120000"/>
              </a:lnSpc>
              <a:spcAft>
                <a:spcPts val="0"/>
              </a:spcAft>
              <a:buFont typeface="바탕" panose="02030600000101010101" pitchFamily="18" charset="-127"/>
              <a:buChar char="∙"/>
              <a:defRPr sz="1350" b="0">
                <a:solidFill>
                  <a:srgbClr val="00206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>
              <a:lnSpc>
                <a:spcPct val="120000"/>
              </a:lnSpc>
              <a:spcAft>
                <a:spcPts val="0"/>
              </a:spcAft>
              <a:defRPr sz="1350" b="0">
                <a:solidFill>
                  <a:srgbClr val="00206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>
                <a:solidFill>
                  <a:schemeClr val="bg2">
                    <a:lumMod val="75000"/>
                  </a:schemeClr>
                </a:solidFill>
                <a:latin typeface="새굴림" panose="02030600000101010101" pitchFamily="18" charset="-127"/>
                <a:ea typeface="새굴림" panose="02030600000101010101" pitchFamily="18" charset="-127"/>
              </a:defRPr>
            </a:lvl1pPr>
          </a:lstStyle>
          <a:p>
            <a:r>
              <a:rPr lang="en-US" altLang="ko-KR"/>
              <a:t>PUBLIC FINANCE</a:t>
            </a:r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>
                <a:solidFill>
                  <a:schemeClr val="bg2">
                    <a:lumMod val="75000"/>
                  </a:schemeClr>
                </a:solidFill>
                <a:latin typeface="새굴림" panose="02030600000101010101" pitchFamily="18" charset="-127"/>
                <a:ea typeface="새굴림" panose="02030600000101010101" pitchFamily="18" charset="-127"/>
              </a:defRPr>
            </a:lvl1pPr>
          </a:lstStyle>
          <a:p>
            <a:r>
              <a:rPr lang="ko-KR" altLang="en-US"/>
              <a:t>제</a:t>
            </a:r>
            <a:r>
              <a:rPr lang="en-US" altLang="ko-KR"/>
              <a:t>17</a:t>
            </a:r>
            <a:r>
              <a:rPr lang="ko-KR" altLang="en-US"/>
              <a:t>장  소득세와 부가가치세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>
                <a:solidFill>
                  <a:schemeClr val="bg2">
                    <a:lumMod val="75000"/>
                  </a:schemeClr>
                </a:solidFill>
                <a:latin typeface="새굴림" panose="02030600000101010101" pitchFamily="18" charset="-127"/>
                <a:ea typeface="새굴림" panose="02030600000101010101" pitchFamily="18" charset="-127"/>
              </a:defRPr>
            </a:lvl1pPr>
          </a:lstStyle>
          <a:p>
            <a:fld id="{06CA9FF6-BF29-4679-8C21-AEBAF289512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18464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B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464457"/>
            <a:ext cx="7886700" cy="711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422402"/>
            <a:ext cx="7886700" cy="4754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  <a:endParaRPr lang="en-US" altLang="ko-K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3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>
                <a:solidFill>
                  <a:schemeClr val="bg2">
                    <a:lumMod val="75000"/>
                  </a:schemeClr>
                </a:solidFill>
                <a:latin typeface="새굴림" panose="02030600000101010101" pitchFamily="18" charset="-127"/>
                <a:ea typeface="새굴림" panose="02030600000101010101" pitchFamily="18" charset="-127"/>
              </a:defRPr>
            </a:lvl1pPr>
          </a:lstStyle>
          <a:p>
            <a:r>
              <a:rPr lang="en-US" altLang="ko-KR"/>
              <a:t>PUBLIC FINANCE</a:t>
            </a:r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3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b="1">
                <a:solidFill>
                  <a:schemeClr val="bg2">
                    <a:lumMod val="75000"/>
                  </a:schemeClr>
                </a:solidFill>
                <a:latin typeface="새굴림" panose="02030600000101010101" pitchFamily="18" charset="-127"/>
                <a:ea typeface="새굴림" panose="02030600000101010101" pitchFamily="18" charset="-127"/>
              </a:defRPr>
            </a:lvl1pPr>
          </a:lstStyle>
          <a:p>
            <a:r>
              <a:rPr lang="ko-KR" altLang="en-US"/>
              <a:t>제</a:t>
            </a:r>
            <a:r>
              <a:rPr lang="en-US" altLang="ko-KR"/>
              <a:t>17</a:t>
            </a:r>
            <a:r>
              <a:rPr lang="ko-KR" altLang="en-US"/>
              <a:t>장  소득세와 부가가치세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3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>
                <a:solidFill>
                  <a:schemeClr val="bg2">
                    <a:lumMod val="75000"/>
                  </a:schemeClr>
                </a:solidFill>
                <a:latin typeface="새굴림" panose="02030600000101010101" pitchFamily="18" charset="-127"/>
                <a:ea typeface="새굴림" panose="02030600000101010101" pitchFamily="18" charset="-127"/>
              </a:defRPr>
            </a:lvl1pPr>
          </a:lstStyle>
          <a:p>
            <a:fld id="{06CA9FF6-BF29-4679-8C21-AEBAF289512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903608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1" r:id="rId1"/>
    <p:sldLayoutId id="2147483712" r:id="rId2"/>
    <p:sldLayoutId id="2147483709" r:id="rId3"/>
    <p:sldLayoutId id="2147483710" r:id="rId4"/>
  </p:sldLayoutIdLst>
  <p:hf hdr="0"/>
  <p:txStyles>
    <p:titleStyle>
      <a:lvl1pPr algn="l" defTabSz="685800" rtl="0" eaLnBrk="1" latinLnBrk="1" hangingPunct="1">
        <a:lnSpc>
          <a:spcPct val="90000"/>
        </a:lnSpc>
        <a:spcBef>
          <a:spcPct val="0"/>
        </a:spcBef>
        <a:buNone/>
        <a:defRPr sz="2625" b="1" kern="1200">
          <a:solidFill>
            <a:schemeClr val="tx1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새굴림" panose="02030600000101010101" pitchFamily="18" charset="-127"/>
          <a:ea typeface="새굴림" panose="02030600000101010101" pitchFamily="18" charset="-127"/>
          <a:cs typeface="+mj-cs"/>
        </a:defRPr>
      </a:lvl1pPr>
    </p:titleStyle>
    <p:bodyStyle>
      <a:lvl1pPr marL="171450" indent="-171450" algn="l" defTabSz="685800" rtl="0" eaLnBrk="1" latinLnBrk="1" hangingPunct="1">
        <a:lnSpc>
          <a:spcPct val="130000"/>
        </a:lnSpc>
        <a:spcBef>
          <a:spcPts val="750"/>
        </a:spcBef>
        <a:spcAft>
          <a:spcPts val="300"/>
        </a:spcAft>
        <a:buFont typeface="Wingdings" panose="05000000000000000000" pitchFamily="2" charset="2"/>
        <a:buChar char="§"/>
        <a:defRPr sz="1650" kern="1200">
          <a:solidFill>
            <a:schemeClr val="tx1"/>
          </a:solidFill>
          <a:latin typeface="새굴림" panose="02030600000101010101" pitchFamily="18" charset="-127"/>
          <a:ea typeface="새굴림" panose="02030600000101010101" pitchFamily="18" charset="-127"/>
          <a:cs typeface="+mn-cs"/>
        </a:defRPr>
      </a:lvl1pPr>
      <a:lvl2pPr marL="514350" indent="-171450" algn="l" defTabSz="685800" rtl="0" eaLnBrk="1" latinLnBrk="1" hangingPunct="1">
        <a:lnSpc>
          <a:spcPct val="130000"/>
        </a:lnSpc>
        <a:spcBef>
          <a:spcPts val="375"/>
        </a:spcBef>
        <a:spcAft>
          <a:spcPts val="300"/>
        </a:spcAft>
        <a:buFont typeface="Arial" panose="020B0604020202020204" pitchFamily="34" charset="0"/>
        <a:buChar char="•"/>
        <a:defRPr sz="1650" kern="1200">
          <a:solidFill>
            <a:schemeClr val="tx1"/>
          </a:solidFill>
          <a:latin typeface="새굴림" panose="02030600000101010101" pitchFamily="18" charset="-127"/>
          <a:ea typeface="새굴림" panose="02030600000101010101" pitchFamily="18" charset="-127"/>
          <a:cs typeface="+mn-cs"/>
        </a:defRPr>
      </a:lvl2pPr>
      <a:lvl3pPr marL="857250" indent="-171450" algn="l" defTabSz="685800" rtl="0" eaLnBrk="1" latinLnBrk="1" hangingPunct="1">
        <a:lnSpc>
          <a:spcPct val="130000"/>
        </a:lnSpc>
        <a:spcBef>
          <a:spcPts val="375"/>
        </a:spcBef>
        <a:spcAft>
          <a:spcPts val="300"/>
        </a:spcAft>
        <a:buFont typeface="Arial" panose="020B0604020202020204" pitchFamily="34" charset="0"/>
        <a:buChar char="•"/>
        <a:defRPr sz="1650" kern="1200">
          <a:solidFill>
            <a:schemeClr val="tx1"/>
          </a:solidFill>
          <a:latin typeface="새굴림" panose="02030600000101010101" pitchFamily="18" charset="-127"/>
          <a:ea typeface="새굴림" panose="02030600000101010101" pitchFamily="18" charset="-127"/>
          <a:cs typeface="+mn-cs"/>
        </a:defRPr>
      </a:lvl3pPr>
      <a:lvl4pPr marL="1200150" indent="-171450" algn="l" defTabSz="685800" rtl="0" eaLnBrk="1" latinLnBrk="1" hangingPunct="1">
        <a:lnSpc>
          <a:spcPct val="130000"/>
        </a:lnSpc>
        <a:spcBef>
          <a:spcPts val="375"/>
        </a:spcBef>
        <a:spcAft>
          <a:spcPts val="300"/>
        </a:spcAft>
        <a:buFont typeface="Arial" panose="020B0604020202020204" pitchFamily="34" charset="0"/>
        <a:buChar char="•"/>
        <a:defRPr sz="1650" kern="1200">
          <a:solidFill>
            <a:schemeClr val="tx1"/>
          </a:solidFill>
          <a:latin typeface="새굴림" panose="02030600000101010101" pitchFamily="18" charset="-127"/>
          <a:ea typeface="새굴림" panose="02030600000101010101" pitchFamily="18" charset="-127"/>
          <a:cs typeface="+mn-cs"/>
        </a:defRPr>
      </a:lvl4pPr>
      <a:lvl5pPr marL="1543050" indent="-171450" algn="l" defTabSz="685800" rtl="0" eaLnBrk="1" latinLnBrk="1" hangingPunct="1">
        <a:lnSpc>
          <a:spcPct val="130000"/>
        </a:lnSpc>
        <a:spcBef>
          <a:spcPts val="375"/>
        </a:spcBef>
        <a:spcAft>
          <a:spcPts val="300"/>
        </a:spcAft>
        <a:buFont typeface="Arial" panose="020B0604020202020204" pitchFamily="34" charset="0"/>
        <a:buChar char="•"/>
        <a:defRPr sz="1650" kern="1200">
          <a:solidFill>
            <a:schemeClr val="tx1"/>
          </a:solidFill>
          <a:latin typeface="새굴림" panose="02030600000101010101" pitchFamily="18" charset="-127"/>
          <a:ea typeface="새굴림" panose="02030600000101010101" pitchFamily="18" charset="-127"/>
          <a:cs typeface="+mn-cs"/>
        </a:defRPr>
      </a:lvl5pPr>
      <a:lvl6pPr marL="18859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570AA7E-5677-CFB0-BA54-98544A9C509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7BEFA8AF-1F5B-4579-6A50-390C8CF2F28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6598"/>
          <a:stretch>
            <a:fillRect/>
          </a:stretch>
        </p:blipFill>
        <p:spPr>
          <a:xfrm>
            <a:off x="0" y="0"/>
            <a:ext cx="6167120" cy="6858000"/>
          </a:xfrm>
          <a:prstGeom prst="rect">
            <a:avLst/>
          </a:prstGeom>
        </p:spPr>
      </p:pic>
      <p:grpSp>
        <p:nvGrpSpPr>
          <p:cNvPr id="4" name="그룹 3">
            <a:extLst>
              <a:ext uri="{FF2B5EF4-FFF2-40B4-BE49-F238E27FC236}">
                <a16:creationId xmlns:a16="http://schemas.microsoft.com/office/drawing/2014/main" id="{F54A9594-E698-2534-4481-FEB4187EF962}"/>
              </a:ext>
            </a:extLst>
          </p:cNvPr>
          <p:cNvGrpSpPr/>
          <p:nvPr/>
        </p:nvGrpSpPr>
        <p:grpSpPr>
          <a:xfrm>
            <a:off x="6167120" y="0"/>
            <a:ext cx="2976880" cy="6858000"/>
            <a:chOff x="6167120" y="0"/>
            <a:chExt cx="2976880" cy="6858000"/>
          </a:xfrm>
        </p:grpSpPr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74565443-39B6-F9C9-0C8D-4900B020A69E}"/>
                </a:ext>
              </a:extLst>
            </p:cNvPr>
            <p:cNvSpPr/>
            <p:nvPr/>
          </p:nvSpPr>
          <p:spPr>
            <a:xfrm>
              <a:off x="6167120" y="0"/>
              <a:ext cx="2976880" cy="6858000"/>
            </a:xfrm>
            <a:prstGeom prst="rect">
              <a:avLst/>
            </a:prstGeom>
            <a:gradFill>
              <a:gsLst>
                <a:gs pos="0">
                  <a:srgbClr val="E8F1F0"/>
                </a:gs>
                <a:gs pos="100000">
                  <a:srgbClr val="FAFAF8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E81A8394-1037-A971-0023-C9FC398FE5F6}"/>
                </a:ext>
              </a:extLst>
            </p:cNvPr>
            <p:cNvSpPr/>
            <p:nvPr/>
          </p:nvSpPr>
          <p:spPr>
            <a:xfrm>
              <a:off x="6167120" y="0"/>
              <a:ext cx="2976880" cy="6858000"/>
            </a:xfrm>
            <a:prstGeom prst="rect">
              <a:avLst/>
            </a:prstGeom>
            <a:blipFill dpi="0" rotWithShape="1">
              <a:blip r:embed="rId3">
                <a:alphaModFix amt="29000"/>
              </a:blip>
              <a:srcRect/>
              <a:tile tx="0" ty="0" sx="100000" sy="100000" flip="none" algn="tl"/>
            </a:blip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BB3292C4-3F35-4158-90AF-EBC473FAEFDC}"/>
              </a:ext>
            </a:extLst>
          </p:cNvPr>
          <p:cNvSpPr/>
          <p:nvPr/>
        </p:nvSpPr>
        <p:spPr>
          <a:xfrm>
            <a:off x="4165600" y="1412240"/>
            <a:ext cx="4572000" cy="5080000"/>
          </a:xfrm>
          <a:prstGeom prst="roundRect">
            <a:avLst>
              <a:gd name="adj" fmla="val 1317"/>
            </a:avLst>
          </a:prstGeom>
          <a:solidFill>
            <a:srgbClr val="FAFAF8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제목 4">
            <a:extLst>
              <a:ext uri="{FF2B5EF4-FFF2-40B4-BE49-F238E27FC236}">
                <a16:creationId xmlns:a16="http://schemas.microsoft.com/office/drawing/2014/main" id="{5046705A-80E0-9DA0-32CC-67D2B28BD6DB}"/>
              </a:ext>
            </a:extLst>
          </p:cNvPr>
          <p:cNvSpPr txBox="1">
            <a:spLocks/>
          </p:cNvSpPr>
          <p:nvPr/>
        </p:nvSpPr>
        <p:spPr>
          <a:xfrm>
            <a:off x="4393276" y="1422400"/>
            <a:ext cx="5392923" cy="2500603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>
            <a:lvl1pPr algn="ctr" defTabSz="6858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800" b="1" kern="1200" baseline="0">
                <a:solidFill>
                  <a:schemeClr val="bg1"/>
                </a:solidFill>
                <a:effectLst/>
                <a:latin typeface="+mj-ea"/>
                <a:ea typeface="+mj-ea"/>
                <a:cs typeface="+mj-cs"/>
              </a:defRPr>
            </a:lvl1pPr>
          </a:lstStyle>
          <a:p>
            <a:pPr algn="l">
              <a:lnSpc>
                <a:spcPct val="150000"/>
              </a:lnSpc>
            </a:pPr>
            <a:r>
              <a:rPr lang="ko-KR" altLang="en-US" sz="3000" dirty="0">
                <a:solidFill>
                  <a:srgbClr val="8DAA9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제</a:t>
            </a:r>
            <a:r>
              <a:rPr lang="en-US" altLang="ko-KR" sz="3000" dirty="0">
                <a:solidFill>
                  <a:srgbClr val="8DAA9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17</a:t>
            </a:r>
            <a:r>
              <a:rPr lang="ko-KR" altLang="en-US" sz="3000" dirty="0">
                <a:solidFill>
                  <a:srgbClr val="8DAA9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장</a:t>
            </a:r>
            <a:r>
              <a:rPr lang="en-US" altLang="ko-KR" sz="3000" dirty="0">
                <a:solidFill>
                  <a:srgbClr val="8DAA9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  </a:t>
            </a:r>
            <a:br>
              <a:rPr lang="en-US" altLang="ko-KR" sz="3000" dirty="0">
                <a:solidFill>
                  <a:srgbClr val="8DAA9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</a:br>
            <a:r>
              <a:rPr lang="ko-KR" altLang="en-US" sz="3000" dirty="0">
                <a:solidFill>
                  <a:srgbClr val="59775D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소득세와 부가가치세</a:t>
            </a:r>
          </a:p>
        </p:txBody>
      </p:sp>
      <p:sp>
        <p:nvSpPr>
          <p:cNvPr id="9" name="내용 개체 틀 2">
            <a:extLst>
              <a:ext uri="{FF2B5EF4-FFF2-40B4-BE49-F238E27FC236}">
                <a16:creationId xmlns:a16="http://schemas.microsoft.com/office/drawing/2014/main" id="{2D35C307-03BD-525B-7006-F0FE49DB243D}"/>
              </a:ext>
            </a:extLst>
          </p:cNvPr>
          <p:cNvSpPr txBox="1">
            <a:spLocks/>
          </p:cNvSpPr>
          <p:nvPr/>
        </p:nvSpPr>
        <p:spPr>
          <a:xfrm>
            <a:off x="4389120" y="3768779"/>
            <a:ext cx="4572000" cy="250060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130000"/>
              </a:lnSpc>
              <a:spcBef>
                <a:spcPts val="1000"/>
              </a:spcBef>
              <a:spcAft>
                <a:spcPts val="400"/>
              </a:spcAft>
              <a:buFont typeface="Wingdings" panose="05000000000000000000" pitchFamily="2" charset="2"/>
              <a:buChar char="§"/>
              <a:defRPr sz="2200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130000"/>
              </a:lnSpc>
              <a:spcBef>
                <a:spcPts val="50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30000"/>
              </a:lnSpc>
              <a:spcBef>
                <a:spcPts val="50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30000"/>
              </a:lnSpc>
              <a:spcBef>
                <a:spcPts val="50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30000"/>
              </a:lnSpc>
              <a:spcBef>
                <a:spcPts val="50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US" altLang="ko-KR" sz="16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17.1  </a:t>
            </a:r>
            <a:r>
              <a:rPr lang="ko-KR" altLang="en-US" sz="16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소득세의 과세대상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sz="16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17.2  </a:t>
            </a:r>
            <a:r>
              <a:rPr lang="ko-KR" altLang="en-US" sz="16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소득세의 세율구조와 과세단위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sz="16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17.3  </a:t>
            </a:r>
            <a:r>
              <a:rPr lang="ko-KR" altLang="en-US" sz="16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부가가치세의 성격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sz="16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17.4  </a:t>
            </a:r>
            <a:r>
              <a:rPr lang="ko-KR" altLang="en-US" sz="16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부가가치세의 세율구조</a:t>
            </a:r>
          </a:p>
        </p:txBody>
      </p:sp>
    </p:spTree>
    <p:extLst>
      <p:ext uri="{BB962C8B-B14F-4D97-AF65-F5344CB8AC3E}">
        <p14:creationId xmlns:p14="http://schemas.microsoft.com/office/powerpoint/2010/main" val="37088083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17.1 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소득세의 과세대상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28650" y="1422402"/>
            <a:ext cx="8083088" cy="4754563"/>
          </a:xfrm>
        </p:spPr>
        <p:txBody>
          <a:bodyPr anchor="ctr">
            <a:noAutofit/>
          </a:bodyPr>
          <a:lstStyle/>
          <a:p>
            <a:pPr marL="266700" indent="-266700">
              <a:lnSpc>
                <a:spcPct val="13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소득세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각 납세자가 자신의 경제적 능력에 비례하는 조세부담을 지도록 만든다는 능력원칙에 근거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30000"/>
              </a:lnSpc>
              <a:spcAft>
                <a:spcPts val="15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사람들의 경제적 능력을 직접 측정하는 데 어려움이 있어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소득을 대리변수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(proxy variable)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로 삼아 이를 과세의 기초로 삼음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3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경제적 능력에 대한 대리변수로서 소득을 정의할 때 우리가 보통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‘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소득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’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이라고 생각하는 것만을 그 속에 포함시키는 것으로는 불충분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30000"/>
              </a:lnSpc>
            </a:pP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미실현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자본이득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(unrealized capital gains)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등도 소득의 일부로 포함시켜야 함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17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소득세와 부가가치세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2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073752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헤이그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-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사이먼스의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소득 정의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266700" indent="-266700">
              <a:lnSpc>
                <a:spcPct val="110000"/>
              </a:lnSpc>
              <a:spcAft>
                <a:spcPts val="1500"/>
              </a:spcAft>
            </a:pP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헤이그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-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사이먼스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(R. Haig and H. Simons)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의 소득 정의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0" indent="0">
              <a:lnSpc>
                <a:spcPct val="110000"/>
              </a:lnSpc>
              <a:spcAft>
                <a:spcPts val="1000"/>
              </a:spcAft>
              <a:buNone/>
              <a:tabLst>
                <a:tab pos="804863" algn="l"/>
              </a:tabLst>
            </a:pPr>
            <a:r>
              <a:rPr lang="ko-KR" altLang="en-US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 </a:t>
            </a:r>
            <a:r>
              <a:rPr lang="en-US" altLang="ko-KR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  </a:t>
            </a:r>
            <a:r>
              <a:rPr lang="ko-KR" altLang="en-US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소득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= 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두 시점 사이에 발생한 경제적 능력 순증가의 화폐가치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      </a:t>
            </a:r>
            <a:b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             = 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소비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 + 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순가치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(net worth)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의 변화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 indent="-177800">
              <a:lnSpc>
                <a:spcPct val="110000"/>
              </a:lnSpc>
              <a:spcAft>
                <a:spcPts val="4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납세자의 경제적 능력을 증가시키는 것은 모두 소득으로 보고 그것의 실현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여부는 중요하지 않다는 입장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 indent="-177800">
              <a:lnSpc>
                <a:spcPct val="110000"/>
              </a:lnSpc>
              <a:spcAft>
                <a:spcPts val="4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능력원칙의 더욱 충실한 구현이 가능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 indent="-177800">
              <a:lnSpc>
                <a:spcPct val="110000"/>
              </a:lnSpc>
              <a:spcAft>
                <a:spcPts val="4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세원의 계속적 잠식이라는 문제를 해결하는 데도 도움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 indent="-177800">
              <a:lnSpc>
                <a:spcPct val="110000"/>
              </a:lnSpc>
              <a:spcAft>
                <a:spcPts val="4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효율성 측면에서도 장점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모든 종류의 소득이 동등한 대우를 받아  교란을 피할 수 있음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17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소득세와 부가가치세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3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838803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헤이그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-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사이먼스의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소득 정의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266700" indent="-266700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헤이그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-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사이먼스의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소득 정의를 반영한 </a:t>
            </a:r>
            <a:r>
              <a:rPr lang="ko-KR" altLang="en-US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포괄적 소득세</a:t>
            </a:r>
            <a:r>
              <a:rPr lang="en-US" altLang="ko-KR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(comprehensive income tax)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제도 실행의 문제점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1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가격이 계속 변화하는 상황에서 각 납세자의 경제적 능력 순증가를 정확히 파악한다는 것은 거의 불가능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1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자본이득을 과세대상에 포함시키는 것은 이중과세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(double taxation)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의 위험성을 안고 있음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622300" lvl="2">
              <a:lnSpc>
                <a:spcPct val="11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소비능력에 비례한 과세에 목적을 두는 한 자본이득에 대한 과세는 문제를 일으키지 않는다는 반론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1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우리가 보통 소득으로 간주하지 않는 여러 가지를 소득에 포함시켜 과세하는 것은 매우 어려움 </a:t>
            </a:r>
            <a:b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(ex.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집 안에서 생산되는 재화와 서비스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여가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귀속소득 등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17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소득세와 부가가치세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4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928938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현실의 소득 정의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28649" y="1422402"/>
            <a:ext cx="8004117" cy="4754563"/>
          </a:xfrm>
        </p:spPr>
        <p:txBody>
          <a:bodyPr anchor="ctr">
            <a:noAutofit/>
          </a:bodyPr>
          <a:lstStyle/>
          <a:p>
            <a:pPr marL="266700" indent="-266700">
              <a:lnSpc>
                <a:spcPct val="130000"/>
              </a:lnSpc>
              <a:buFont typeface="Wingdings" panose="05000000000000000000" pitchFamily="2" charset="2"/>
              <a:buChar char="§"/>
            </a:pP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헤이그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-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사이먼스의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소득 정의는 </a:t>
            </a:r>
            <a:r>
              <a:rPr lang="ko-KR" altLang="en-US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발생주의</a:t>
            </a:r>
            <a:r>
              <a:rPr lang="en-US" altLang="ko-KR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(accretion concept)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원칙에 기초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30000"/>
              </a:lnSpc>
              <a:spcAft>
                <a:spcPts val="15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현실의 소득세제는 대부분 실현된 소득만을 과세대상에 포함시키는 </a:t>
            </a:r>
            <a:r>
              <a:rPr lang="ko-KR" altLang="en-US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실현주의</a:t>
            </a:r>
            <a:r>
              <a:rPr lang="en-US" altLang="ko-KR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(realization concept)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채택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30000"/>
              </a:lnSpc>
              <a:spcAft>
                <a:spcPts val="15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요소소득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(factor earnings)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은 매우 전형적인 소득이므로 이들을 소득세의 과세대상에 포함시키는 데 아무 문제가 없음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 (ex.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임금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임대료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이자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배당금 등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</a:p>
          <a:p>
            <a:pPr marL="271463" indent="-271463">
              <a:lnSpc>
                <a:spcPct val="13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현실에서는 소득의 일종이지만 과세대상에서 제외되고 있는 것 </a:t>
            </a:r>
            <a:r>
              <a:rPr lang="ko-KR" altLang="en-US" dirty="0"/>
              <a:t>⇒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자본이득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이전지출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현물보수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귀속임대료 등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17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소득세와 부가가치세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5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0260972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각종 공제제도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28649" y="1422402"/>
            <a:ext cx="8116340" cy="4754563"/>
          </a:xfrm>
        </p:spPr>
        <p:txBody>
          <a:bodyPr anchor="ctr">
            <a:noAutofit/>
          </a:bodyPr>
          <a:lstStyle/>
          <a:p>
            <a:pPr marL="266700" indent="-266700">
              <a:lnSpc>
                <a:spcPct val="13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이상적으로는 어떤 사람이 번 소득에서 이를 얻기 위해 소요된 비용을  차감한 나머지를 그 사람의 납세능력으로 간주하고 이에 대해 소득세를 부과해야 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마땅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30000"/>
              </a:lnSpc>
              <a:spcAft>
                <a:spcPts val="20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그러나 소득 취득에 소요된 비용을 정확하게 계산해 낸다는 것은 현실적으로 거의 불가능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3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납세자가 어쩔 수 없이 지출할 수밖에 없는 비용이기 때문에 납세능력을 그만큼 감소시키는 결과가 나타난다는 이유에서 공제를 허용해 주는    사례도 많음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609600" lvl="1" indent="-266700">
              <a:lnSpc>
                <a:spcPct val="13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예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인적공제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보험료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교육비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의료비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등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17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소득세와 부가가치세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6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8243955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각종 공제제도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28650" y="1422402"/>
            <a:ext cx="8124652" cy="4754563"/>
          </a:xfrm>
        </p:spPr>
        <p:txBody>
          <a:bodyPr anchor="ctr">
            <a:noAutofit/>
          </a:bodyPr>
          <a:lstStyle/>
          <a:p>
            <a:pPr marL="266700" indent="-266700">
              <a:lnSpc>
                <a:spcPct val="140000"/>
              </a:lnSpc>
              <a:spcAft>
                <a:spcPts val="400"/>
              </a:spcAft>
            </a:pPr>
            <a:r>
              <a:rPr lang="ko-KR" altLang="en-US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소득공제</a:t>
            </a:r>
            <a:r>
              <a:rPr lang="en-US" altLang="ko-KR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(deduction)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공제항목들은 과세 대상이 되는 소득에서 공제액 만큼을 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빼주는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것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40000"/>
              </a:lnSpc>
              <a:spcAft>
                <a:spcPts val="4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높은 한계세율의 적용을 받는 납세자일수록 같은 크기의 소득공제에서 받는 실질적 혜택이 더 커짐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40000"/>
              </a:lnSpc>
              <a:spcAft>
                <a:spcPts val="4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예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인적공제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근로소득공제 등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17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소득세와 부가가치세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7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312765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각종 공제제도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28649" y="1422402"/>
            <a:ext cx="8186997" cy="4754563"/>
          </a:xfrm>
        </p:spPr>
        <p:txBody>
          <a:bodyPr anchor="ctr">
            <a:noAutofit/>
          </a:bodyPr>
          <a:lstStyle/>
          <a:p>
            <a:pPr marL="266700" indent="-266700">
              <a:lnSpc>
                <a:spcPct val="140000"/>
              </a:lnSpc>
              <a:spcAft>
                <a:spcPts val="400"/>
              </a:spcAft>
            </a:pPr>
            <a:r>
              <a:rPr lang="ko-KR" altLang="en-US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세액공제</a:t>
            </a:r>
            <a:r>
              <a:rPr lang="en-US" altLang="ko-KR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(tax credit)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세금을 직접 깎아주는 형식으로 공제를 해주는 것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40000"/>
              </a:lnSpc>
              <a:spcAft>
                <a:spcPts val="4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한계세율과 관계없이 세액공제액 그 자체가 바로 세금 절감폭이 됨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40000"/>
              </a:lnSpc>
              <a:spcAft>
                <a:spcPts val="4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세액공제의 경우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한계세율이 낮은 사람에게 상대적으로 더욱 유리하게 작용할 수 있음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40000"/>
              </a:lnSpc>
              <a:spcAft>
                <a:spcPts val="4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예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배당소득공제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저축세액공제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등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17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소득세와 부가가치세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8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622344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각종 공제제도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266700" indent="-266700">
              <a:lnSpc>
                <a:spcPct val="110000"/>
              </a:lnSpc>
              <a:spcAft>
                <a:spcPts val="10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어떤 항목에 대해 어느 수준의 공제를 허용해야 하며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소득공제와      세액공제 중 어떤 형태를 취해야 할 것이냐에 대한 객관적인 답을      찾기 어려움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10000"/>
              </a:lnSpc>
              <a:spcAft>
                <a:spcPts val="10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너무 많은 항목에 대해 공제를 허용하게 되면 조세제도가 복잡해지는 문제 발생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     </a:t>
            </a:r>
          </a:p>
          <a:p>
            <a:pPr marL="266700" indent="-266700">
              <a:lnSpc>
                <a:spcPct val="11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최저한의 생활에 필요한 비용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최저생계비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을 고려해 각종 공제의      크기를 적절하게 결정해야 함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1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공제의 크기 결정 시 조세수입을 고려할 필요 있음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1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아주 소수의 사람만이 소득세를 납부하게 되는 것도 문제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17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소득세와 부가가치세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9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070580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0" y="541337"/>
            <a:ext cx="9144000" cy="711200"/>
          </a:xfrm>
        </p:spPr>
        <p:txBody>
          <a:bodyPr>
            <a:normAutofit/>
          </a:bodyPr>
          <a:lstStyle/>
          <a:p>
            <a:r>
              <a:rPr lang="en-US" altLang="ko-KR" sz="3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17.2  </a:t>
            </a:r>
            <a:r>
              <a:rPr lang="ko-KR" altLang="en-US" sz="3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소득세의 세율구조와 과세단위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266700" indent="-266700" fontAlgn="base">
              <a:lnSpc>
                <a:spcPct val="110000"/>
              </a:lnSpc>
              <a:spcAft>
                <a:spcPts val="15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대개 낮은 소득의 구간에는 낮은 세율이 적용되다가 높은 소득의 구간으로 옮겨 가면서 점차 높은 세율이 적용되는 계단식 구조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 fontAlgn="base"/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우리나라의 소득세율구조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한계세율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</a:p>
          <a:p>
            <a:pPr marL="266700" indent="-266700" fontAlgn="base"/>
            <a:endParaRPr lang="en-US" altLang="ko-KR" sz="2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fontAlgn="base"/>
            <a:endParaRPr lang="en-US" altLang="ko-KR" sz="1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fontAlgn="base"/>
            <a:endParaRPr lang="en-US" altLang="ko-KR" sz="1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fontAlgn="base"/>
            <a:endParaRPr lang="en-US" altLang="ko-KR" sz="1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fontAlgn="base"/>
            <a:endParaRPr lang="en-US" altLang="ko-KR" sz="1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fontAlgn="base"/>
            <a:endParaRPr lang="en-US" altLang="ko-KR" sz="1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17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소득세와 부가가치세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10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017113EB-4ACD-45A1-8089-4C9414DEA70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425994" y="3151622"/>
            <a:ext cx="6292011" cy="32047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48673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소득세의 세율구조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266700" indent="-266700" fontAlgn="base">
              <a:lnSpc>
                <a:spcPct val="100000"/>
              </a:lnSpc>
            </a:pPr>
            <a:r>
              <a:rPr lang="ko-KR" altLang="en-US" sz="2000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한계세율</a:t>
            </a:r>
            <a:r>
              <a:rPr lang="en-US" altLang="ko-KR" sz="2000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(marginal tax rate)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과 </a:t>
            </a:r>
            <a:r>
              <a:rPr lang="ko-KR" altLang="en-US" sz="2000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평균세율</a:t>
            </a:r>
            <a:r>
              <a:rPr lang="en-US" altLang="ko-KR" sz="2000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(average tax rate)</a:t>
            </a:r>
          </a:p>
          <a:p>
            <a:pPr marL="444500" lvl="1" fontAlgn="base">
              <a:lnSpc>
                <a:spcPct val="100000"/>
              </a:lnSpc>
            </a:pPr>
            <a:r>
              <a:rPr lang="ko-KR" altLang="en-US" sz="2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한계세율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소득 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원이 증가했을 때 세액의 증가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 fontAlgn="base">
              <a:lnSpc>
                <a:spcPct val="100000"/>
              </a:lnSpc>
            </a:pPr>
            <a:r>
              <a:rPr lang="ko-KR" altLang="en-US" sz="2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평균세율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세액을 소득으로 나눈 것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 fontAlgn="base">
              <a:lnSpc>
                <a:spcPct val="100000"/>
              </a:lnSpc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한 소득구간 내에서 한계세율은 일정해도 평균세율은 변화 가능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 fontAlgn="base">
              <a:lnSpc>
                <a:spcPct val="100000"/>
              </a:lnSpc>
            </a:pP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 fontAlgn="base">
              <a:lnSpc>
                <a:spcPct val="100000"/>
              </a:lnSpc>
            </a:pP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 fontAlgn="base">
              <a:lnSpc>
                <a:spcPct val="100000"/>
              </a:lnSpc>
            </a:pP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 fontAlgn="base">
              <a:lnSpc>
                <a:spcPct val="100000"/>
              </a:lnSpc>
            </a:pP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 fontAlgn="base">
              <a:lnSpc>
                <a:spcPct val="100000"/>
              </a:lnSpc>
            </a:pP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 fontAlgn="base">
              <a:lnSpc>
                <a:spcPct val="100000"/>
              </a:lnSpc>
            </a:pP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 fontAlgn="base">
              <a:lnSpc>
                <a:spcPct val="100000"/>
              </a:lnSpc>
            </a:pP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 fontAlgn="base">
              <a:lnSpc>
                <a:spcPct val="100000"/>
              </a:lnSpc>
            </a:pP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 fontAlgn="base">
              <a:lnSpc>
                <a:spcPct val="100000"/>
              </a:lnSpc>
            </a:pP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17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소득세와 부가가치세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11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C04EBEEB-423B-4D04-BB1D-9B402FD2B16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641103" y="3020929"/>
            <a:ext cx="5861793" cy="3318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97072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소득세의 세율구조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28649" y="1422402"/>
            <a:ext cx="7958397" cy="4754563"/>
          </a:xfrm>
        </p:spPr>
        <p:txBody>
          <a:bodyPr anchor="ctr">
            <a:noAutofit/>
          </a:bodyPr>
          <a:lstStyle/>
          <a:p>
            <a:pPr marL="271463" indent="-271463" fontAlgn="base">
              <a:lnSpc>
                <a:spcPct val="110000"/>
              </a:lnSpc>
              <a:spcAft>
                <a:spcPts val="10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세율구조에 관한 선택은 소득구간과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각 소득구간의 세율에 관한 선택을 의미 </a:t>
            </a:r>
            <a:r>
              <a:rPr lang="ko-KR" altLang="en-US" dirty="0"/>
              <a:t>⇒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누진성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(progressivity) </a:t>
            </a:r>
          </a:p>
          <a:p>
            <a:pPr marL="271463" indent="-271463" fontAlgn="base">
              <a:lnSpc>
                <a:spcPct val="110000"/>
              </a:lnSpc>
              <a:spcAft>
                <a:spcPts val="10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지금까지 논의한 세율은 납세자의 소득에서 각종 공제를 차감한 과세 표준을 기초로 하여 정의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71463" indent="-271463" fontAlgn="base">
              <a:lnSpc>
                <a:spcPct val="11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과세표준에 따른 세율만으로 소득세제의 누진성을 평가하면 현실을   정확하게 파악하지 못하게 될 가능성 있음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614363" lvl="1" indent="-271463" fontAlgn="base">
              <a:lnSpc>
                <a:spcPct val="110000"/>
              </a:lnSpc>
              <a:spcAft>
                <a:spcPts val="10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예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부유층에게 많은 공제가 허용되는 경우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71463" indent="-271463" fontAlgn="base">
              <a:lnSpc>
                <a:spcPct val="11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각 소득계층의 실질적 조세부담을 알기 위해서는 </a:t>
            </a:r>
            <a:r>
              <a:rPr lang="ko-KR" altLang="en-US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실효세율</a:t>
            </a:r>
            <a:r>
              <a:rPr lang="en-US" altLang="ko-KR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(effective tax rate)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을 파악해야 함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541338" lvl="2" indent="-271463" fontAlgn="base">
              <a:lnSpc>
                <a:spcPct val="110000"/>
              </a:lnSpc>
              <a:buFont typeface="Arial" panose="020B0604020202020204" pitchFamily="34" charset="0"/>
              <a:buChar char="•"/>
              <a:tabLst>
                <a:tab pos="723900" algn="l"/>
              </a:tabLs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실효세율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소득세액을 공제 전의 총소득으로 나눈 비율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17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소득세와 부가가치세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12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349303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소득세의 세율구조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266700" indent="-266700">
              <a:lnSpc>
                <a:spcPct val="130000"/>
              </a:lnSpc>
              <a:spcAft>
                <a:spcPts val="400"/>
              </a:spcAft>
              <a:buFont typeface="Wingdings" panose="05000000000000000000" pitchFamily="2" charset="2"/>
              <a:buChar char="§"/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세율구조의 선택과정에서 몇 개의 소득구간으로 나눠야 할 것인지도 중요한 문제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30000"/>
              </a:lnSpc>
              <a:spcAft>
                <a:spcPts val="4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소득구간을 좁게 잡아 많은 수의 소득구간으로 세분하게 되면 조세 제도가 복잡해지는 단점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30000"/>
              </a:lnSpc>
              <a:spcAft>
                <a:spcPts val="4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소득구간을 크게 잡으면 한 소득구간에서 바로 위 소득 구간으로    옮겨 갈 때 한계세율이 급격하게 상승하기 때문에 경제주체의 선택 행위에 상대적으로 큰 교란을 가져온다는 문제점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17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소득세와 부가가치세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13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077849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소득세의 세율구조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266700" indent="-266700">
              <a:lnSpc>
                <a:spcPct val="110000"/>
              </a:lnSpc>
            </a:pPr>
            <a:r>
              <a:rPr lang="ko-KR" altLang="en-US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단일세율소득세</a:t>
            </a:r>
            <a:r>
              <a:rPr lang="en-US" altLang="ko-KR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(flat rate income tax)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의 아이디어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1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모든 소득에 대해 단 한 가지의 세율 적용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10000"/>
              </a:lnSpc>
              <a:spcAft>
                <a:spcPts val="10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기본공제나 소득 취득과 관련된 비용에 대한 공제를 제외하고는 어떤 공제도 허용하지 말 것을 요구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1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단일세율소득세 제도의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장점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 indent="-190500">
              <a:lnSpc>
                <a:spcPct val="11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민간부문 의사결정에 대한 교란과 행정비용 줄일 수 있음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 indent="-190500">
              <a:lnSpc>
                <a:spcPct val="110000"/>
              </a:lnSpc>
              <a:spcAft>
                <a:spcPts val="10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각종 공제제도를 이용한 합법적 조세회피 행위 억제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1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단일세율소득세 제도의 단점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1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누진세율 소득세에 비해 고소득층에게 유리한 결과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17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소득세와 부가가치세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14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3036757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소득세 과세단위의 선택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266700" indent="-266700" fontAlgn="base"/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개인별로 소득세를 과세해야 하는지 가족을 단위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부부 소득의 합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로  과세를 해야 하는지의 선택 문제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</a:p>
          <a:p>
            <a:pPr marL="444500" lvl="1" fontAlgn="base"/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과세단위의 선택은 부담의 공평성에 영향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 fontAlgn="base">
              <a:spcAft>
                <a:spcPts val="15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결혼과 관련된 결정에 대한 교란을 일으키는 원인이 될 수도 있음</a:t>
            </a:r>
          </a:p>
          <a:p>
            <a:pPr marL="266700" indent="-266700" fontAlgn="base"/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현실의 거의 모든 나라는 소득수준이 높아질수록 더 높은 한계세율이 적용되는 세율구조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609600" lvl="1" indent="-266700" fontAlgn="base"/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과세단위의 선택문제가 복잡한 양상을 띠게 되는 것은 바로 이와  같은 세율구조에 기인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17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소득세와 부가가치세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15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2821332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소득세 과세단위의 선택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28649" y="1422402"/>
            <a:ext cx="8299220" cy="4754563"/>
          </a:xfrm>
        </p:spPr>
        <p:txBody>
          <a:bodyPr anchor="ctr">
            <a:noAutofit/>
          </a:bodyPr>
          <a:lstStyle/>
          <a:p>
            <a:pPr marL="266700" indent="-266700" fontAlgn="base"/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과세단위를 선택하는 과정에서 고려해야 할 기본원칙</a:t>
            </a:r>
          </a:p>
          <a:p>
            <a:pPr marL="612000" lvl="1" indent="-424800" fontAlgn="base">
              <a:buNone/>
            </a:pPr>
            <a:r>
              <a:rPr lang="en-US" altLang="ko-KR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(1)</a:t>
            </a:r>
            <a:r>
              <a:rPr lang="en-US" altLang="ko-KR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수평적 </a:t>
            </a:r>
            <a:r>
              <a:rPr lang="ko-KR" altLang="en-US" b="1" dirty="0" err="1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공평성</a:t>
            </a:r>
            <a:r>
              <a:rPr lang="en-US" altLang="ko-KR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(horizontal equity)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똑같은 소득을 갖는 가정이          다른 조건까지 동일하다면 똑같은 세 부담을 져야 함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612000" lvl="1" indent="-424800" fontAlgn="base">
              <a:buNone/>
            </a:pPr>
            <a:r>
              <a:rPr lang="en-US" altLang="ko-KR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(2)</a:t>
            </a:r>
            <a:r>
              <a:rPr lang="en-US" altLang="ko-KR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결혼중립성</a:t>
            </a:r>
            <a:r>
              <a:rPr lang="en-US" altLang="ko-KR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(marriage neutrality)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어떤 두 사람이 결혼을 한다고        해서 그들의 세 부담이 달라져서는 안 됨 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622300" lvl="2" indent="-177800" fontAlgn="base">
              <a:spcAft>
                <a:spcPts val="15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이것은 효율성의 관점이나 공평성의 측면과도 관련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 fontAlgn="base"/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과세단위의 선택문제가 어려운 이유는 어떤 것을 선택하더라도              이 두 원칙을 동시에 충족시킬 수 없다는 데 있음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17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소득세와 부가가치세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16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13881243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소득세 과세단위의 선택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28650" y="1481666"/>
            <a:ext cx="7886700" cy="4754563"/>
          </a:xfrm>
        </p:spPr>
        <p:txBody>
          <a:bodyPr anchor="ctr">
            <a:noAutofit/>
          </a:bodyPr>
          <a:lstStyle/>
          <a:p>
            <a:pPr marL="266700" indent="-266700">
              <a:spcAft>
                <a:spcPts val="1500"/>
              </a:spcAft>
              <a:buFont typeface="Wingdings" panose="05000000000000000000" pitchFamily="2" charset="2"/>
              <a:buChar char="§"/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한 쌍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(A)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은 부인에 비해 남편의 소득이 훨씬 더 큰 반면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다른 한 쌍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(B)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은 부부가 같은 소득을 얻는 두 가족의 예 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buFont typeface="Wingdings" panose="05000000000000000000" pitchFamily="2" charset="2"/>
              <a:buChar char="§"/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개인을 관세단위로 삼은 경우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/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각 가족이 내는 세금의 총액은 그들이 결혼을 했다고 해서 달라지지 않으므로 결혼중립성의 원칙 충족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spcAft>
                <a:spcPts val="1500"/>
              </a:spcAft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그러나 수평적 공평성의 원칙이 충족되지 못함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/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가족을 과세단위로 삼은 경우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/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두 가족이 같은 세금을 내게 되므로 수평적 공평성의 원칙 충족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/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그러나 결혼중립성의 원칙이 충족되지 못함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17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소득세와 부가가치세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17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14858312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소득세 과세단위의 선택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28649" y="1422402"/>
            <a:ext cx="8182842" cy="4754563"/>
          </a:xfrm>
        </p:spPr>
        <p:txBody>
          <a:bodyPr anchor="ctr">
            <a:noAutofit/>
          </a:bodyPr>
          <a:lstStyle/>
          <a:p>
            <a:pPr marL="266700" indent="-266700" fontAlgn="base">
              <a:spcAft>
                <a:spcPts val="1000"/>
              </a:spcAft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가족을 과세단위로 삼을 경우 결혼한 사람이 불리해지는 것을 막기 위해 부부의 소득분할을 허용해 주는 경우가 있으나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이 제도 역시 결혼중립성의 원칙 위배</a:t>
            </a:r>
          </a:p>
          <a:p>
            <a:pPr marL="266700" indent="-266700" fontAlgn="base"/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가족을 과세단위로 삼을 경우 효율성의 측면에서 주부들의 근로의욕에  나쁜 영향을 미칠 수 있다는 문제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 fontAlgn="base">
              <a:spcAft>
                <a:spcPts val="1000"/>
              </a:spcAft>
            </a:pPr>
            <a:r>
              <a:rPr lang="ko-KR" altLang="en-US" sz="2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라러미아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(S. </a:t>
            </a:r>
            <a:r>
              <a:rPr lang="en-US" altLang="ko-KR" sz="2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LaLumia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) :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미국의 경우 과세단위를 개인에서 가족으로  바꿈에 따라 고학력 부인의 노동 공급량이 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2%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포인트 줄어들었음</a:t>
            </a:r>
          </a:p>
          <a:p>
            <a:pPr marL="266700" indent="-266700" fontAlgn="base"/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과세단위를 어떻게 선택하느냐는 문제는 사회가 앞에서 설명한 여러     고려사항 중에서 어느 것을 더 중요하게 생각하느냐에 의해서 해결될    성질의 것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17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소득세와 부가가치세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18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19453848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17.3 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부가가치세의 성격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28649" y="1422402"/>
            <a:ext cx="7937615" cy="4754563"/>
          </a:xfrm>
        </p:spPr>
        <p:txBody>
          <a:bodyPr anchor="ctr">
            <a:noAutofit/>
          </a:bodyPr>
          <a:lstStyle/>
          <a:p>
            <a:pPr marL="266700" indent="-266700">
              <a:spcAft>
                <a:spcPts val="1500"/>
              </a:spcAft>
              <a:buFont typeface="Wingdings" panose="05000000000000000000" pitchFamily="2" charset="2"/>
              <a:buChar char="§"/>
            </a:pPr>
            <a:r>
              <a:rPr lang="ko-KR" altLang="en-US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부가가치세</a:t>
            </a:r>
            <a:r>
              <a:rPr lang="en-US" altLang="ko-KR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(value-added tax)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일반적인 소비과세의 한 형태로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      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각 생산단계에서 추가되는 부가가치를 과세대상으로 삼음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 fontAlgn="base">
              <a:spcAft>
                <a:spcPts val="1500"/>
              </a:spcAft>
            </a:pP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1954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년 프랑스에서 공업부문만을 대상으로 하는 부분적인 과세       제도로 처음 등장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</a:p>
          <a:p>
            <a:pPr marL="266700" indent="-266700" fontAlgn="base">
              <a:spcAft>
                <a:spcPts val="1500"/>
              </a:spcAft>
            </a:pP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1960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년대 말과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1970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년대 초에 들어서면서 유럽의 각 나라들이        순차적으로 이 제도를 채택하여 현재는 미국을 제외한 거의 모든        주요국가에서 이 제도를 시행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17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소득세와 부가가치세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19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63556231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부가가치세 도입의 배경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28650" y="1422402"/>
            <a:ext cx="8033212" cy="4754563"/>
          </a:xfrm>
        </p:spPr>
        <p:txBody>
          <a:bodyPr anchor="ctr">
            <a:noAutofit/>
          </a:bodyPr>
          <a:lstStyle/>
          <a:p>
            <a:pPr marL="266700" indent="-266700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부가가치세 실시 이전 유럽의 간접세는 다단계거래세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(multi-stage turnover tax)</a:t>
            </a:r>
          </a:p>
          <a:p>
            <a:pPr marL="444500" lvl="1">
              <a:lnSpc>
                <a:spcPct val="110000"/>
              </a:lnSpc>
              <a:spcAft>
                <a:spcPts val="15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이 세제하에서는 각 생산단계에서의 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총판매액에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대해 부과된 거래세가 계속 누적되어 다음 단계로 넘어가는 현상 생김        </a:t>
            </a:r>
            <a:b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  </a:t>
            </a:r>
            <a:r>
              <a:rPr lang="en-US" altLang="ko-KR" dirty="0"/>
              <a:t>⇒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  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누적효과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(accumulative effect)</a:t>
            </a:r>
          </a:p>
          <a:p>
            <a:pPr marL="266700" indent="-266700">
              <a:lnSpc>
                <a:spcPct val="11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다단계거래세의 문제점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1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누적효과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때문에 생산과정의 최종단계에 가까워질수록 조세부담이   무거워지는 문제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1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기업 사이의 수직적 통합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(vertical integration)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유도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1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각 거래단계에서 납부한 거래세를 정확히 파악할 수 없어 수출 시의   소비세 환급과 관련해 문제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17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소득세와 부가가치세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20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8458289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부가가치세 도입의 배경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266700" indent="-266700">
              <a:spcAft>
                <a:spcPts val="1500"/>
              </a:spcAft>
              <a:buFont typeface="Wingdings" panose="05000000000000000000" pitchFamily="2" charset="2"/>
              <a:buChar char="§"/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부가가치세는 다단계거래세의 문제점을 극복하기 위한 방편으로 고안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buFont typeface="Wingdings" panose="05000000000000000000" pitchFamily="2" charset="2"/>
              <a:buChar char="§"/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부가가치세의 장점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/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각 생산단계에서 추가된 부가가치에만 조세가 부과되어 불필요한   수직적 통합을 촉진하는 효과를 갖지 않음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/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각 상품별로 납부한 세금이 명백하게 드러날 수 있어 수출품에 대한 소비세의 환급과 관련해서도 장점 보유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/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단일세율구조의 부가가치세제를 통해 소비자 선택행위의 교란을    줄일 수 있음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17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소득세와 부가가치세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21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2488630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부가가치세 도입의 배경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266700" indent="-266700">
              <a:lnSpc>
                <a:spcPct val="140000"/>
              </a:lnSpc>
              <a:spcAft>
                <a:spcPts val="200"/>
              </a:spcAft>
              <a:buFont typeface="Wingdings" panose="05000000000000000000" pitchFamily="2" charset="2"/>
              <a:buChar char="§"/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부가가치세는 세제 운영 과정에서 탈세를 어느 정도 방지할 수 있는   효과가 있음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40000"/>
              </a:lnSpc>
              <a:spcAft>
                <a:spcPts val="2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기존의 거래세는 각 기업의 총판매액에 대해 세금이 부과되기 때문에 생산과정의 앞뒤 단계에 있는 기업과 대조할 필요가 없었음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40000"/>
              </a:lnSpc>
              <a:spcAft>
                <a:spcPts val="2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부가가치세는 환급을 위해 앞뒤 단계의 기업과 대조하는 과정이 요구되기 때문에 이들의 협조가 없이는 탈세를 할 수 없게 됨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17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소득세와 부가가치세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22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469951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주요국 부가가치세 현황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28650" y="1549402"/>
            <a:ext cx="7886700" cy="4754563"/>
          </a:xfrm>
        </p:spPr>
        <p:txBody>
          <a:bodyPr anchor="ctr">
            <a:noAutofit/>
          </a:bodyPr>
          <a:lstStyle/>
          <a:p>
            <a:pPr marL="0" indent="0">
              <a:buNone/>
            </a:pP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vl="1">
              <a:buFont typeface="Wingdings" panose="05000000000000000000" pitchFamily="2" charset="2"/>
              <a:buChar char="§"/>
            </a:pP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vl="1">
              <a:buFont typeface="Wingdings" panose="05000000000000000000" pitchFamily="2" charset="2"/>
              <a:buChar char="§"/>
            </a:pP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vl="1">
              <a:buFont typeface="Wingdings" panose="05000000000000000000" pitchFamily="2" charset="2"/>
              <a:buChar char="§"/>
            </a:pP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vl="1">
              <a:buFont typeface="Wingdings" panose="05000000000000000000" pitchFamily="2" charset="2"/>
              <a:buChar char="§"/>
            </a:pP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vl="1">
              <a:buFont typeface="Wingdings" panose="05000000000000000000" pitchFamily="2" charset="2"/>
              <a:buChar char="§"/>
            </a:pP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vl="1">
              <a:buFont typeface="Wingdings" panose="05000000000000000000" pitchFamily="2" charset="2"/>
              <a:buChar char="§"/>
            </a:pP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vl="1">
              <a:buFont typeface="Wingdings" panose="05000000000000000000" pitchFamily="2" charset="2"/>
              <a:buChar char="§"/>
            </a:pP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vl="1">
              <a:buFont typeface="Wingdings" panose="05000000000000000000" pitchFamily="2" charset="2"/>
              <a:buChar char="§"/>
            </a:pP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/>
            <a:endParaRPr lang="en-US" altLang="ko-KR" sz="5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101600"/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우리나라의 부가가치세율은 다른 나라에 비해 상대적으로 낮은 편임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17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소득세와 부가가치세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23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54977208-5C36-4AC3-BAEE-BD4FC51EBA0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334842" y="1549401"/>
            <a:ext cx="6163491" cy="40675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869742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부가가치세의 과세 근거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266700" indent="-266700">
              <a:lnSpc>
                <a:spcPct val="130000"/>
              </a:lnSpc>
              <a:spcAft>
                <a:spcPts val="1500"/>
              </a:spcAft>
              <a:buFont typeface="Wingdings" panose="05000000000000000000" pitchFamily="2" charset="2"/>
              <a:buChar char="§"/>
              <a:tabLst>
                <a:tab pos="355600" algn="l"/>
              </a:tabLs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부가가치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(value-added) 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각 생산단계에서 생산된 상품의 가치로부터 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중간투입물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(intermediate inputs)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로 사용된 상품의 가치를 뺀 것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30000"/>
              </a:lnSpc>
              <a:spcAft>
                <a:spcPts val="1500"/>
              </a:spcAft>
              <a:tabLst>
                <a:tab pos="355600" algn="l"/>
              </a:tabLs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각 생산단계에서 창출된 부가가치는 결국 여러 생산요소에 대한 보수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즉 임금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이자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임대료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이윤 등의 형태로 국민에게 분배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30000"/>
              </a:lnSpc>
              <a:spcAft>
                <a:spcPts val="1500"/>
              </a:spcAft>
              <a:tabLst>
                <a:tab pos="355600" algn="l"/>
              </a:tabLst>
            </a:pPr>
            <a:r>
              <a:rPr lang="ko-KR" altLang="en-US" spc="-2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각 생산요소에 대한 보수를 모두 더한 것을 </a:t>
            </a:r>
            <a:r>
              <a:rPr lang="en-US" altLang="ko-KR" spc="-2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‘</a:t>
            </a:r>
            <a:r>
              <a:rPr lang="ko-KR" altLang="en-US" spc="-2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국내총생산</a:t>
            </a:r>
            <a:r>
              <a:rPr lang="en-US" altLang="ko-KR" spc="-2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’(GDP)</a:t>
            </a:r>
            <a:r>
              <a:rPr lang="ko-KR" altLang="en-US" spc="-2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이라고 부를 수 있는데</a:t>
            </a:r>
            <a:r>
              <a:rPr lang="en-US" altLang="ko-KR" spc="-2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pc="-2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그렇다면 부가가치를 모두 더한 것도 국내총생산이 됨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17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소득세와 부가가치세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24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3855899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부가가치세의 유형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266700" indent="-266700" fontAlgn="base">
              <a:lnSpc>
                <a:spcPct val="110000"/>
              </a:lnSpc>
              <a:spcAft>
                <a:spcPts val="15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부가가치세 운영상에 있어 자본재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(capital goods)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를 소비재와 어떻게 다르게 처리할 것인지에 따라 부가가치세의 유형 구분 가능</a:t>
            </a:r>
          </a:p>
          <a:p>
            <a:pPr marL="507600" indent="-432000" fontAlgn="base">
              <a:lnSpc>
                <a:spcPct val="110000"/>
              </a:lnSpc>
              <a:buNone/>
            </a:pPr>
            <a:r>
              <a:rPr lang="en-US" altLang="ko-KR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(1)</a:t>
            </a:r>
            <a:r>
              <a:rPr lang="en-US" altLang="ko-KR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소비형</a:t>
            </a:r>
            <a:r>
              <a:rPr lang="en-US" altLang="ko-KR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(consumption-type)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부가가치세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자본재를 과세대상에서 제외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 fontAlgn="base">
              <a:lnSpc>
                <a:spcPct val="11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자본재 구입에 든 비용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투자비용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을 중간투입에 사용되는 상품의    구입비용과 마찬가지로 간주하여 과세대상 산정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 fontAlgn="base">
              <a:lnSpc>
                <a:spcPct val="11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실질적으로 한 경제에서 생산된 소비재의 가치에 대해서만 부과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</a:p>
          <a:p>
            <a:pPr marL="444500" lvl="1" fontAlgn="base">
              <a:lnSpc>
                <a:spcPct val="11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소비재에만 부과되는 일반적 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판매세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(sales tax)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와 거의 비슷한 속성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17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소득세와 부가가치세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25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3449606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부가가치세의 유형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507600" indent="-432000" fontAlgn="base">
              <a:spcAft>
                <a:spcPts val="200"/>
              </a:spcAft>
              <a:buNone/>
            </a:pPr>
            <a:r>
              <a:rPr lang="en-US" altLang="ko-KR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(2)</a:t>
            </a:r>
            <a:r>
              <a:rPr lang="en-US" altLang="ko-KR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순소득형</a:t>
            </a:r>
            <a:r>
              <a:rPr lang="en-US" altLang="ko-KR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(net income-type)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부가가치세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그해에 사용된 자본재는 감가상각이 된 부분에 국한되기 때문에 이것만을 과세대상에서 제외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</a:p>
          <a:p>
            <a:pPr marL="444500" lvl="1" fontAlgn="base">
              <a:spcAft>
                <a:spcPts val="2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국내순생산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(NDP)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에 대한 과세로 간주 가능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 fontAlgn="base">
              <a:spcAft>
                <a:spcPts val="2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소비형 부가가치세와 순소득형 부가가치세 사이에 존재하는 차이는 과세대상에 순투자가 포함되어 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있느냐의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여부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17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소득세와 부가가치세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26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10817780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부가가치세의 유형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28649" y="1422402"/>
            <a:ext cx="8236875" cy="4754563"/>
          </a:xfrm>
        </p:spPr>
        <p:txBody>
          <a:bodyPr anchor="ctr">
            <a:noAutofit/>
          </a:bodyPr>
          <a:lstStyle/>
          <a:p>
            <a:pPr marL="507600" indent="-432000" fontAlgn="base">
              <a:lnSpc>
                <a:spcPct val="110000"/>
              </a:lnSpc>
              <a:spcAft>
                <a:spcPts val="100"/>
              </a:spcAft>
              <a:buNone/>
            </a:pP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(3)</a:t>
            </a:r>
            <a:r>
              <a:rPr lang="en-US" altLang="ko-KR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총소득형</a:t>
            </a:r>
            <a:r>
              <a:rPr lang="en-US" altLang="ko-KR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(gross income-type)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부가가치세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자본재도 소비재와 전혀 다를 바 없다는 입장에서 이의 구입비용이나 감가상각에 대한 공제를 허용하지 않는 특징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</a:p>
          <a:p>
            <a:pPr marL="444500" lvl="1" fontAlgn="base">
              <a:lnSpc>
                <a:spcPct val="110000"/>
              </a:lnSpc>
              <a:spcAft>
                <a:spcPts val="1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각 생산단계에서의 과세대상에는 임금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이자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지대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이윤 등의 각종      소득뿐 아니라 감가상각도 포함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 fontAlgn="base">
              <a:lnSpc>
                <a:spcPct val="110000"/>
              </a:lnSpc>
              <a:spcAft>
                <a:spcPts val="1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가장 포괄적인 것으로서 실질적으로 국내총생산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(GDP)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을 과세대상으로 함 </a:t>
            </a:r>
            <a:r>
              <a:rPr lang="ko-KR" altLang="en-US" dirty="0"/>
              <a:t>⇒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GDP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형 부가가치세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 fontAlgn="base">
              <a:lnSpc>
                <a:spcPct val="110000"/>
              </a:lnSpc>
              <a:spcAft>
                <a:spcPts val="1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순소득형 부가가치세와의 사이에 존재하는 차이는 감가상각이 과세대상에 포함되느냐의 여부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 fontAlgn="base">
              <a:lnSpc>
                <a:spcPct val="110000"/>
              </a:lnSpc>
              <a:spcAft>
                <a:spcPts val="100"/>
              </a:spcAft>
            </a:pP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소비형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부가가치세와의 사이에 존재하는 차이는 총투자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(gross investment)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가 과세대상에 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포함되느냐의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여부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17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소득세와 부가가치세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27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9744398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부가가치세의 유형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fontAlgn="base">
              <a:spcAft>
                <a:spcPts val="300"/>
              </a:spcAft>
            </a:pPr>
            <a:endParaRPr lang="en-US" altLang="ko-KR" sz="1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fontAlgn="base">
              <a:spcAft>
                <a:spcPts val="300"/>
              </a:spcAft>
            </a:pPr>
            <a:endParaRPr lang="en-US" altLang="ko-KR" sz="1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fontAlgn="base">
              <a:spcAft>
                <a:spcPts val="300"/>
              </a:spcAft>
            </a:pPr>
            <a:endParaRPr lang="en-US" altLang="ko-KR" sz="1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fontAlgn="base">
              <a:spcAft>
                <a:spcPts val="300"/>
              </a:spcAft>
            </a:pPr>
            <a:endParaRPr lang="en-US" altLang="ko-KR" sz="1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fontAlgn="base">
              <a:spcAft>
                <a:spcPts val="300"/>
              </a:spcAft>
            </a:pPr>
            <a:endParaRPr lang="en-US" altLang="ko-KR" sz="1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fontAlgn="base">
              <a:spcAft>
                <a:spcPts val="300"/>
              </a:spcAft>
            </a:pPr>
            <a:endParaRPr lang="en-US" altLang="ko-KR" sz="1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fontAlgn="base">
              <a:spcAft>
                <a:spcPts val="300"/>
              </a:spcAft>
            </a:pPr>
            <a:endParaRPr lang="en-US" altLang="ko-KR" sz="1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fontAlgn="base">
              <a:spcAft>
                <a:spcPts val="300"/>
              </a:spcAft>
            </a:pPr>
            <a:endParaRPr lang="en-US" altLang="ko-KR" sz="1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17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소득세와 부가가치세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28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1EBD8B8C-0A09-4D66-8B22-C74DE9F9E9F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86771" y="2344987"/>
            <a:ext cx="7699290" cy="32569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401701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부가가치세의 유형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266700" indent="-266700" fontAlgn="base">
              <a:spcAft>
                <a:spcPts val="15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어떤 형태의 부가가치세제를 선택하느냐에 따라 경제행위에 미치는  영향이나 부담의 귀착패턴이 조금씩 달라짐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</a:p>
          <a:p>
            <a:pPr marL="266700" indent="-266700" fontAlgn="base">
              <a:spcAft>
                <a:spcPts val="15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투자행위에 대해 어떤 대우를 해 줄 것인가에 관한 정책적 판단에 따라 적절히 선택해 사용할 수밖에 없음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 fontAlgn="base">
              <a:spcAft>
                <a:spcPts val="15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우리나라를 비롯한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EU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의 여러 나라에서는 소비형 부가가치세제가    가장 많이 채택되고 있음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17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소득세와 부가가치세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29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53927738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부가가치의 산정방식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266700" indent="-266700" fontAlgn="base"/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원목회사  </a:t>
            </a:r>
            <a:r>
              <a:rPr lang="ko-KR" altLang="en-US" sz="2000" dirty="0"/>
              <a:t>⇒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 목재회사  </a:t>
            </a:r>
            <a:r>
              <a:rPr lang="ko-KR" altLang="en-US" sz="2000" dirty="0"/>
              <a:t>⇒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 가구회사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 indent="-266700" fontAlgn="base"/>
            <a:r>
              <a:rPr lang="ko-KR" altLang="en-US" sz="2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원목회사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매출 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5</a:t>
            </a:r>
            <a:r>
              <a:rPr lang="ko-KR" altLang="en-US" sz="2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억원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2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목재회사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매출 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8</a:t>
            </a:r>
            <a:r>
              <a:rPr lang="ko-KR" altLang="en-US" sz="2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억원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b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가구회사 매출 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10</a:t>
            </a:r>
            <a:r>
              <a:rPr lang="ko-KR" altLang="en-US" sz="2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억원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 indent="-266700" fontAlgn="base"/>
            <a:r>
              <a:rPr lang="ko-KR" altLang="en-US" sz="2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원목회사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부가가치 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5</a:t>
            </a:r>
            <a:r>
              <a:rPr lang="ko-KR" altLang="en-US" sz="2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억원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2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목재회사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부가가치 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3</a:t>
            </a:r>
            <a:r>
              <a:rPr lang="ko-KR" altLang="en-US" sz="2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억원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b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가구회사 부가가치 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2</a:t>
            </a:r>
            <a:r>
              <a:rPr lang="ko-KR" altLang="en-US" sz="2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억원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 indent="-266700" fontAlgn="base"/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각 기업의 부가가치에 세율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(10%)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을 곱하기만 하면 그 기업이 부담해야 할 세금의 크기 계산 가능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 indent="-266700" fontAlgn="base">
              <a:spcAft>
                <a:spcPts val="1500"/>
              </a:spcAft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원목회사 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5</a:t>
            </a:r>
            <a:r>
              <a:rPr lang="ko-KR" altLang="en-US" sz="2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천만원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목재회사 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3</a:t>
            </a:r>
            <a:r>
              <a:rPr lang="ko-KR" altLang="en-US" sz="2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천만원</a:t>
            </a:r>
            <a:b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가구회사 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2</a:t>
            </a:r>
            <a:r>
              <a:rPr lang="ko-KR" altLang="en-US" sz="2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천만원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 fontAlgn="base"/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현실에서 각 기업이 창출한 부가가치와 그 기업이 부담해야 할 세액을 산출하는 과정은 앞의 예에서 본 것처럼 단순하지 않음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17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소득세와 부가가치세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30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41798370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부가가치의 산정방식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28649" y="1422402"/>
            <a:ext cx="8174529" cy="4754563"/>
          </a:xfrm>
        </p:spPr>
        <p:txBody>
          <a:bodyPr anchor="ctr">
            <a:noAutofit/>
          </a:bodyPr>
          <a:lstStyle/>
          <a:p>
            <a:pPr marL="266700" indent="-266700">
              <a:lnSpc>
                <a:spcPct val="140000"/>
              </a:lnSpc>
              <a:spcAft>
                <a:spcPts val="20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부가가치의 산정방식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 indent="-190500">
              <a:lnSpc>
                <a:spcPct val="140000"/>
              </a:lnSpc>
              <a:spcAft>
                <a:spcPts val="2000"/>
              </a:spcAft>
              <a:tabLst>
                <a:tab pos="812800" algn="l"/>
                <a:tab pos="901700" algn="l"/>
                <a:tab pos="1079500" algn="l"/>
              </a:tabLst>
            </a:pPr>
            <a:r>
              <a:rPr lang="ko-KR" altLang="en-US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합산방식</a:t>
            </a:r>
            <a:r>
              <a:rPr lang="en-US" altLang="ko-KR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(addition method)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부가가치가 임금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이자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지대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이윤 등의 요소소득으로 구성된다는 점에 착안해 각 기업이 지급한 요소소득을  모두 더해 부가가치를 계산하는 방식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 indent="-190500">
              <a:lnSpc>
                <a:spcPct val="140000"/>
              </a:lnSpc>
              <a:spcAft>
                <a:spcPts val="2000"/>
              </a:spcAft>
              <a:tabLst>
                <a:tab pos="812800" algn="l"/>
                <a:tab pos="901700" algn="l"/>
                <a:tab pos="1079500" algn="l"/>
              </a:tabLst>
            </a:pPr>
            <a:r>
              <a:rPr lang="ko-KR" altLang="en-US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공제방식</a:t>
            </a:r>
            <a:r>
              <a:rPr lang="en-US" altLang="ko-KR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(subtraction method)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일정 기간 동안의 총판매액에서     중간투입에 사용된 상품의 총구입액을 빼서 부가가치를 계산하는 방식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17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소득세와 부가가치세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31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7822654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부가가치의 산정방식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28649" y="1422402"/>
            <a:ext cx="8103871" cy="4754563"/>
          </a:xfrm>
        </p:spPr>
        <p:txBody>
          <a:bodyPr anchor="ctr">
            <a:noAutofit/>
          </a:bodyPr>
          <a:lstStyle/>
          <a:p>
            <a:pPr marL="266400" indent="-266400">
              <a:lnSpc>
                <a:spcPct val="130000"/>
              </a:lnSpc>
              <a:spcAft>
                <a:spcPts val="20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공제방식은 구체적으로 이를 어떻게 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적용하느냐에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따라 직접공제방식과 간접공제방식의 두 유형으로 구분 가능</a:t>
            </a:r>
          </a:p>
          <a:p>
            <a:pPr marL="540000" indent="-39600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altLang="ko-KR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(1)</a:t>
            </a:r>
            <a:r>
              <a:rPr lang="en-US" altLang="ko-KR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직접공제방식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어떤 기업의 총판매액에서 앞 생산 단계로부터의      총구입액을 빼 그 기업의 부가가치를 구한 다음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여기에 세율을 곱해서 세액을 결정하는 방식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30000"/>
              </a:lnSpc>
              <a:spcAft>
                <a:spcPts val="200"/>
              </a:spcAft>
            </a:pPr>
            <a:r>
              <a:rPr lang="ko-KR" altLang="en-US" b="1" dirty="0" err="1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거래액공제방식</a:t>
            </a:r>
            <a:r>
              <a:rPr lang="en-US" altLang="ko-KR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(account method)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이라고도 불림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17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소득세와 부가가치세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32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14043897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부가가치의 산정방식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28649" y="1422402"/>
            <a:ext cx="8066464" cy="4754563"/>
          </a:xfrm>
        </p:spPr>
        <p:txBody>
          <a:bodyPr anchor="ctr">
            <a:noAutofit/>
          </a:bodyPr>
          <a:lstStyle/>
          <a:p>
            <a:pPr marL="540000" indent="-39600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altLang="ko-KR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(2)</a:t>
            </a:r>
            <a:r>
              <a:rPr lang="en-US" altLang="ko-KR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간접공제방식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어떤 기업의 총판매액에 부가가치세율을 곱해 산출한 세액에서 앞 생산단계의 기업들이 이미 납부한 부가가치세를 뺀 나머지를 그 기업이 부담해야 할 세액으로 결정하는 방식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30000"/>
              </a:lnSpc>
              <a:spcAft>
                <a:spcPts val="200"/>
              </a:spcAft>
            </a:pPr>
            <a:r>
              <a:rPr lang="ko-KR" altLang="en-US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매입세액공제방식</a:t>
            </a:r>
            <a:r>
              <a:rPr lang="en-US" altLang="ko-KR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(invoice method)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이라고도 불림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30000"/>
              </a:lnSpc>
              <a:spcAft>
                <a:spcPts val="2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각 기업이 자신의 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총판매액에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대해 부가가치세 납부 의무를 갖되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이전 생산단계에서 납부된 부가가치세를 세액공제로 환급 받을 수 있음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30000"/>
              </a:lnSpc>
              <a:spcAft>
                <a:spcPts val="2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행정적 절차가 단순하고 거래당사자간의 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상호견제를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통해 탈세를 막을 수 있는 장점도 있어 거의 모든 나라가 이 방식 사용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17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소득세와 부가가치세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33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5906343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17.4 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부가가치세의 세율구조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28650" y="1422402"/>
            <a:ext cx="7962554" cy="4754563"/>
          </a:xfrm>
        </p:spPr>
        <p:txBody>
          <a:bodyPr anchor="ctr">
            <a:noAutofit/>
          </a:bodyPr>
          <a:lstStyle/>
          <a:p>
            <a:pPr marL="266700" indent="-266700">
              <a:lnSpc>
                <a:spcPct val="130000"/>
              </a:lnSpc>
              <a:buFont typeface="Wingdings" panose="05000000000000000000" pitchFamily="2" charset="2"/>
              <a:buChar char="§"/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부가가치세의 세율구조의 일반적 특징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3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대부분 소비재에 대해 기본적으로 단일세율을 적용 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622300" lvl="2">
              <a:lnSpc>
                <a:spcPct val="13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소비자 선택에 교란을 일으키지 않는다는 장점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622300" lvl="2">
              <a:lnSpc>
                <a:spcPct val="13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저소득층의 조세부담이 상대적으로 커진다는 단점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3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저소득층의 조세부담을 가볍게 하기 위해 생활필수품에 대해 예외적으로 낮은 세율을 적용해 주는 것이 일반적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</a:p>
          <a:p>
            <a:pPr marL="444500" lvl="1">
              <a:lnSpc>
                <a:spcPct val="13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부가가치세의 적용을 하기가 어렵다고 판단되는 영세사업자에게 과세특례자의 지위를 인정해 주고 있는 것도 일반적인 추세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17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소득세와 부가가치세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34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52700070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면세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28649" y="1422402"/>
            <a:ext cx="8062307" cy="4754563"/>
          </a:xfrm>
        </p:spPr>
        <p:txBody>
          <a:bodyPr anchor="ctr">
            <a:noAutofit/>
          </a:bodyPr>
          <a:lstStyle/>
          <a:p>
            <a:pPr marL="266700" indent="-266700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부가가치세 </a:t>
            </a:r>
            <a:r>
              <a:rPr lang="ko-KR" altLang="en-US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면세</a:t>
            </a:r>
            <a:r>
              <a:rPr lang="en-US" altLang="ko-KR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(tax exemption)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의 대상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vl="1">
              <a:lnSpc>
                <a:spcPct val="11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규모가 매우 영세해서 기장의 능력도 없고 행정적인 부담만 될 것으로 판단되는 기업들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vl="1">
              <a:lnSpc>
                <a:spcPct val="11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필수품의 성격을 갖고 있어 저소득층이 많이 구입하는 품목 </a:t>
            </a:r>
            <a:b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예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식료품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의약품 등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</a:p>
          <a:p>
            <a:pPr lvl="1">
              <a:lnSpc>
                <a:spcPct val="11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의료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,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교육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문화사업 등의 공익성이 높은 재화나 서비스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vl="1">
              <a:lnSpc>
                <a:spcPct val="110000"/>
              </a:lnSpc>
              <a:spcAft>
                <a:spcPts val="20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은행이나 보험 같은 금융서비스처럼 행정적인 측면에서 부가가치세제의 적용이 힘든 경우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1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어떤 상품이 부가가치세 면제의 대상으로 선정되면 그 상품의 최종소비 단계에서만 부가가치세가 부과되지 않음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1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중간단계에서 납부한 부가가치세는 환급을 해주지 않음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17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소득세와 부가가치세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35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2895050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면세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28649" y="1422402"/>
            <a:ext cx="7954241" cy="4754563"/>
          </a:xfrm>
        </p:spPr>
        <p:txBody>
          <a:bodyPr anchor="ctr">
            <a:noAutofit/>
          </a:bodyPr>
          <a:lstStyle/>
          <a:p>
            <a:pPr marL="271463" indent="-271463">
              <a:lnSpc>
                <a:spcPct val="130000"/>
              </a:lnSpc>
              <a:spcAft>
                <a:spcPts val="1500"/>
              </a:spcAft>
              <a:buFont typeface="Wingdings" panose="05000000000000000000" pitchFamily="2" charset="2"/>
              <a:buChar char="§"/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상품이 아닌 사업자가 면세조치의 대상이 되는 경우에는 그 사업자가 생산단계의 어느 곳에 위치해 있는지에 따라 정부의 부가가치세 수입에 차이가 발생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71463" indent="-271463">
              <a:lnSpc>
                <a:spcPct val="130000"/>
              </a:lnSpc>
              <a:spcAft>
                <a:spcPts val="15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사업자가 최종소비단계에 위치해 있는 경우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그 사업자에 대한 면세   조치가 정부의 부가가치세 수입을 줄이는 결과를 가져옴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71463" indent="-271463">
              <a:lnSpc>
                <a:spcPct val="130000"/>
              </a:lnSpc>
              <a:spcAft>
                <a:spcPts val="15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면세조치의 적용을 받는 사업자가 다른 기업이 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중간투입물로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쓰는 상품을 생산하는 경우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,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면세조치로 인해 정부의 부가가치세 수입이 오히려 더 커지게 됨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17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소득세와 부가가치세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36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6538349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영세율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266700" indent="-266700">
              <a:spcAft>
                <a:spcPts val="2000"/>
              </a:spcAft>
              <a:buFont typeface="Wingdings" panose="05000000000000000000" pitchFamily="2" charset="2"/>
              <a:buChar char="§"/>
            </a:pPr>
            <a:r>
              <a:rPr lang="ko-KR" altLang="en-US" b="1" dirty="0" err="1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영세율제도</a:t>
            </a:r>
            <a:r>
              <a:rPr lang="en-US" altLang="ko-KR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(zero rating)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국제적 차원에서 이중과세를 방지하고     수출을 촉진하거나 특정산업을 육성하려고 하는 취지로 운영되는     경우가 많음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/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영세율의 적용을 받게 되면 그 이전 단계에서 낸 부가가치세까지       모두 면제되어 이의 환급을 요구할 수 있음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/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영세율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적용 대상이 되는 상품의 생산과 유통의 전 과정에 대해      모든 부가가치세 납부의무가 면제되는 결과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/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완벽한 면세장치의 역할을 함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17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소득세와 부가가치세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37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4994149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영세율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266700" indent="-266700">
              <a:lnSpc>
                <a:spcPct val="130000"/>
              </a:lnSpc>
              <a:spcAft>
                <a:spcPts val="2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우리나라를 포함한 대부분의 나라는 수출되는 상품에 대해 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영세율을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적용해 주고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수입품에 대해서는 수입가액 전체에 대해 부가가치세를 부과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  </a:t>
            </a:r>
            <a:r>
              <a:rPr lang="en-US" altLang="ko-KR" dirty="0"/>
              <a:t>⇒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  </a:t>
            </a:r>
            <a:r>
              <a:rPr lang="ko-KR" altLang="en-US" b="1" dirty="0" err="1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목적지원칙</a:t>
            </a:r>
            <a:r>
              <a:rPr lang="en-US" altLang="ko-KR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(destination principle)</a:t>
            </a:r>
          </a:p>
          <a:p>
            <a:pPr marL="444500" lvl="1">
              <a:lnSpc>
                <a:spcPct val="130000"/>
              </a:lnSpc>
              <a:spcAft>
                <a:spcPts val="2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국내 주민의 소비행위에 대해서만 과세하고 외국에 사는 사람들의  소비행위에 대해서는 과세하지 않겠다는 의지의 표현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17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소득세와 부가가치세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38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30205329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부가가치세의 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역진성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28650" y="1422402"/>
            <a:ext cx="7886700" cy="4754563"/>
          </a:xfrm>
        </p:spPr>
        <p:txBody>
          <a:bodyPr anchor="ctr">
            <a:noAutofit/>
          </a:bodyPr>
          <a:lstStyle/>
          <a:p>
            <a:pPr marL="266700" indent="-266700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대부분의 나라의 부가가치세는 기본적으로 단일세율구조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10000"/>
              </a:lnSpc>
              <a:spcAft>
                <a:spcPts val="15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고소득층으로 갈수록 소득에서 소비가 차지하는 비중이 작아지므로 부가가치세는 소득수준을 기준으로 볼 때 역진적 성격을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지님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10000"/>
              </a:lnSpc>
              <a:spcAft>
                <a:spcPts val="15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생활필수품에 대한 면세조치는 부가가치세의 역진성을 부분적으로   완화시켜 줄 수 있음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1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면세조치가 이와 같은 부가가치세의 역진성을 부분적으로 완화시켜 줄 수 있음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10000"/>
              </a:lnSpc>
              <a:tabLst>
                <a:tab pos="812800" algn="l"/>
              </a:tabLs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여러 실증연구들은 면세제도가 역진성을 완화하는 데 큰 역할을 하고 있어 부가가치세의 전반적인 역진성은 그다지 크지 않다고 결론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10000"/>
              </a:lnSpc>
              <a:tabLst>
                <a:tab pos="812800" algn="l"/>
              </a:tabLs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면세제도의 도입이 효율성의 측면에서 좋지 않은 영향을 미칠 수도 있음을 고려할 필요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소비자 선택에 교란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17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소득세와 부가가치세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39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893146327"/>
      </p:ext>
    </p:extLst>
  </p:cSld>
  <p:clrMapOvr>
    <a:masterClrMapping/>
  </p:clrMapOvr>
</p:sld>
</file>

<file path=ppt/theme/theme1.xml><?xml version="1.0" encoding="utf-8"?>
<a:theme xmlns:a="http://schemas.openxmlformats.org/drawingml/2006/main" name="재정학테마">
  <a:themeElements>
    <a:clrScheme name="사용자 지정 15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3F6B73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재정학테마" id="{D220411F-458E-4BEF-9391-46AA3D35AAC4}" vid="{007A1872-AD0C-400C-B34D-A147BE5B3ECB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재정학테마</Template>
  <TotalTime>4858</TotalTime>
  <Words>2542</Words>
  <Application>Microsoft Office PowerPoint</Application>
  <PresentationFormat>화면 슬라이드 쇼(4:3)</PresentationFormat>
  <Paragraphs>346</Paragraphs>
  <Slides>39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39</vt:i4>
      </vt:variant>
    </vt:vector>
  </HeadingPairs>
  <TitlesOfParts>
    <vt:vector size="48" baseType="lpstr">
      <vt:lpstr>굴림</vt:lpstr>
      <vt:lpstr>나눔고딕</vt:lpstr>
      <vt:lpstr>나눔고딕 ExtraBold</vt:lpstr>
      <vt:lpstr>맑은 고딕</vt:lpstr>
      <vt:lpstr>바탕</vt:lpstr>
      <vt:lpstr>새굴림</vt:lpstr>
      <vt:lpstr>Arial</vt:lpstr>
      <vt:lpstr>Wingdings</vt:lpstr>
      <vt:lpstr>재정학테마</vt:lpstr>
      <vt:lpstr>PowerPoint 프레젠테이션</vt:lpstr>
      <vt:lpstr>17.1  소득세의 과세대상</vt:lpstr>
      <vt:lpstr>헤이그-사이먼스의 소득 정의</vt:lpstr>
      <vt:lpstr>헤이그-사이먼스의 소득 정의</vt:lpstr>
      <vt:lpstr>현실의 소득 정의</vt:lpstr>
      <vt:lpstr>각종 공제제도</vt:lpstr>
      <vt:lpstr>각종 공제제도</vt:lpstr>
      <vt:lpstr>각종 공제제도</vt:lpstr>
      <vt:lpstr>각종 공제제도</vt:lpstr>
      <vt:lpstr>17.2  소득세의 세율구조와 과세단위</vt:lpstr>
      <vt:lpstr>소득세의 세율구조</vt:lpstr>
      <vt:lpstr>소득세의 세율구조</vt:lpstr>
      <vt:lpstr>소득세의 세율구조</vt:lpstr>
      <vt:lpstr>소득세의 세율구조</vt:lpstr>
      <vt:lpstr>소득세 과세단위의 선택</vt:lpstr>
      <vt:lpstr>소득세 과세단위의 선택</vt:lpstr>
      <vt:lpstr>소득세 과세단위의 선택</vt:lpstr>
      <vt:lpstr>소득세 과세단위의 선택</vt:lpstr>
      <vt:lpstr>17.3  부가가치세의 성격</vt:lpstr>
      <vt:lpstr>부가가치세 도입의 배경</vt:lpstr>
      <vt:lpstr>부가가치세 도입의 배경</vt:lpstr>
      <vt:lpstr>부가가치세 도입의 배경</vt:lpstr>
      <vt:lpstr>주요국 부가가치세 현황</vt:lpstr>
      <vt:lpstr>부가가치세의 과세 근거</vt:lpstr>
      <vt:lpstr>부가가치세의 유형</vt:lpstr>
      <vt:lpstr>부가가치세의 유형</vt:lpstr>
      <vt:lpstr>부가가치세의 유형</vt:lpstr>
      <vt:lpstr>부가가치세의 유형</vt:lpstr>
      <vt:lpstr>부가가치세의 유형</vt:lpstr>
      <vt:lpstr>부가가치의 산정방식</vt:lpstr>
      <vt:lpstr>부가가치의 산정방식</vt:lpstr>
      <vt:lpstr>부가가치의 산정방식</vt:lpstr>
      <vt:lpstr>부가가치의 산정방식</vt:lpstr>
      <vt:lpstr>17.4  부가가치세의 세율구조</vt:lpstr>
      <vt:lpstr>면세</vt:lpstr>
      <vt:lpstr>면세</vt:lpstr>
      <vt:lpstr>영세율</vt:lpstr>
      <vt:lpstr>영세율</vt:lpstr>
      <vt:lpstr>부가가치세의 역진성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제 1장   재정학: 의의와 성격</dc:title>
  <dc:creator>chomh</dc:creator>
  <cp:lastModifiedBy>영완 전</cp:lastModifiedBy>
  <cp:revision>1182</cp:revision>
  <dcterms:created xsi:type="dcterms:W3CDTF">2015-08-04T05:38:00Z</dcterms:created>
  <dcterms:modified xsi:type="dcterms:W3CDTF">2026-01-13T01:13:53Z</dcterms:modified>
</cp:coreProperties>
</file>