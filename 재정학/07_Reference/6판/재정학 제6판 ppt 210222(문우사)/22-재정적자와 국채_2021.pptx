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1" r:id="rId1"/>
  </p:sldMasterIdLst>
  <p:notesMasterIdLst>
    <p:notesMasterId r:id="rId43"/>
  </p:notesMasterIdLst>
  <p:handoutMasterIdLst>
    <p:handoutMasterId r:id="rId44"/>
  </p:handoutMasterIdLst>
  <p:sldIdLst>
    <p:sldId id="337" r:id="rId2"/>
    <p:sldId id="315" r:id="rId3"/>
    <p:sldId id="305" r:id="rId4"/>
    <p:sldId id="316" r:id="rId5"/>
    <p:sldId id="268" r:id="rId6"/>
    <p:sldId id="335" r:id="rId7"/>
    <p:sldId id="265" r:id="rId8"/>
    <p:sldId id="269" r:id="rId9"/>
    <p:sldId id="270" r:id="rId10"/>
    <p:sldId id="318" r:id="rId11"/>
    <p:sldId id="271" r:id="rId12"/>
    <p:sldId id="273" r:id="rId13"/>
    <p:sldId id="336" r:id="rId14"/>
    <p:sldId id="320" r:id="rId15"/>
    <p:sldId id="334" r:id="rId16"/>
    <p:sldId id="321" r:id="rId17"/>
    <p:sldId id="275" r:id="rId18"/>
    <p:sldId id="276" r:id="rId19"/>
    <p:sldId id="277" r:id="rId20"/>
    <p:sldId id="278" r:id="rId21"/>
    <p:sldId id="323" r:id="rId22"/>
    <p:sldId id="324" r:id="rId23"/>
    <p:sldId id="325" r:id="rId24"/>
    <p:sldId id="282" r:id="rId25"/>
    <p:sldId id="326" r:id="rId26"/>
    <p:sldId id="327" r:id="rId27"/>
    <p:sldId id="328" r:id="rId28"/>
    <p:sldId id="287" r:id="rId29"/>
    <p:sldId id="288" r:id="rId30"/>
    <p:sldId id="289" r:id="rId31"/>
    <p:sldId id="290" r:id="rId32"/>
    <p:sldId id="291" r:id="rId33"/>
    <p:sldId id="331" r:id="rId34"/>
    <p:sldId id="330" r:id="rId35"/>
    <p:sldId id="332" r:id="rId36"/>
    <p:sldId id="294" r:id="rId37"/>
    <p:sldId id="295" r:id="rId38"/>
    <p:sldId id="296" r:id="rId39"/>
    <p:sldId id="297" r:id="rId40"/>
    <p:sldId id="298" r:id="rId41"/>
    <p:sldId id="299" r:id="rId4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0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589" y="62"/>
      </p:cViewPr>
      <p:guideLst>
        <p:guide orient="horz" pos="2183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00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887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705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943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319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90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재정학 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073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22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재정적자와 국채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국가채무의 크기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22.5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세대간 회계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22.6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국채에 의한 재원조달의 타당성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spcAft>
                <a:spcPts val="700"/>
              </a:spcAft>
            </a:pPr>
            <a:r>
              <a:rPr lang="ko-KR" altLang="en-US" sz="2000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일반적인 상황에서라면 언제나 수입과 지출을 일치시키도록 노력해야 하며</a:t>
            </a:r>
            <a:r>
              <a:rPr lang="en-US" altLang="ko-KR" sz="2000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spc="-1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재정적자</a:t>
            </a:r>
            <a:r>
              <a:rPr lang="en-US" altLang="ko-KR" sz="2000" spc="-1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(budget deficit)</a:t>
            </a:r>
            <a:r>
              <a:rPr lang="ko-KR" altLang="en-US" sz="2000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국가가 매우 비정상적인 상황에 처해 있을 때 한해서만 그 정당성을 인정할 수 있다는 것이 전통적 인식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경제의 안정이라는 관점에서 재정의 수지를 조절해 나가야 한다는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기능적 재정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(functional finance)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개념 등장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>
              <a:spcAft>
                <a:spcPts val="7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나라에서든 경기과열보다 경기침체가 문제되는 상황이 더 자주 발생하고 있기 때문에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경제안정의 관점에서 재정을 운영하다 보면 지속적인 재정적자를 경험하게 되는 경우가 매우 흔하게 나타남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최근에는 만성적 재정적자의 문제 발생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153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 descr="테이블이(가) 표시된 사진&#10;&#10;자동 생성된 설명">
            <a:extLst>
              <a:ext uri="{FF2B5EF4-FFF2-40B4-BE49-F238E27FC236}">
                <a16:creationId xmlns:a16="http://schemas.microsoft.com/office/drawing/2014/main" id="{21069030-C6D1-4062-88E7-720423D16F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52" y="1557222"/>
            <a:ext cx="6923170" cy="448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103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만성적 재정적자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 프로그램 관련 지출의 급격한 증가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생활수준의 전반적 향상에 따라 사회복지 지출의 증가를 요구하는 정치적 압력이 점차 강해지는 경향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spcAft>
                <a:spcPts val="10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현실적 여건상 일단 늘어나면 다시 예전의 수준으로 줄이기 어려움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좀 더 효율적인 재정운영을 함으로써 적자의 폭을 줄이도록 노력해야 한다는 요구가 점차 강해지고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폭을 줄여야 한다는 것은 현대의 정부가 공통적으로 안고 있는 고민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5772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4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현대의 거의 모든 정부는 재정수요가 늘어나는 상황에서 재정적자의 폭을 과감히 줄여야 하는 어려운 과제에 직면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헬러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(P. Heller)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앞으로 이 과제의 해결이 더욱 어려워질 것으로 전망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4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인구 고령화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연금과 의료서비스 관련 정부지출 증가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4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지구온난화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(global warming)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현상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40000"/>
              </a:lnSpc>
              <a:spcAft>
                <a:spcPts val="7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 급속한 속도로 진전되고 있는 세계화 추세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875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국가채무의 급격한 증가를 막기 위해 각국 정부는 여러 가지 조치들을 취하고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연방정부가 국채 발행을 통해 무분별하게 정부지출을 늘리는 것을 막기 위해 의회가 국가채무의 한도 결정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2000"/>
              </a:spcAft>
            </a:pP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EU 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안정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•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성장협약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(Stability and Growth </a:t>
            </a:r>
            <a:r>
              <a:rPr lang="en-US" altLang="ko-KR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Pacr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통해 회원국들의 국내총생산과 국가부채 규모 규제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우리나라도 재정건전성 문제에 더 이상 초연할 수 없는 상황</a:t>
            </a:r>
          </a:p>
          <a:p>
            <a:pPr marL="449263" lvl="1">
              <a:lnSpc>
                <a:spcPct val="13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2008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년의 글로벌 금융위기와 최근의 코로나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극복과정에서 재정지출이 늘어나 재정건전성에 대한 우려가 높아지고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5495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국가부채의 크기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7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일정한 기간 동안 정부의 지출이 수입을 초과하는 부분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정부는 국채를 발행함으로써 재정수입보다 더 큰 규모의 재정지출을 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국채를 발행하면 언젠가는 이를 상환해야 하므로 국민에게 그 크기에 해당하는 빚을 지게 되는 셈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7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시점에서 그동안 발행한 국채의 총량을 재면 국가가 국민에게 지고 있는 빚이 얼마인가를 알 수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진정한 의미에서의 재정적자나 국가채무의 크기는 겉으로 나타난 예산상의 적자나 국채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발행량과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다를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0432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국가부채의 크기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인플레이션의 상황에서는 물가 상승이 자동적으로 빚을 갚아주는 효과가 나타남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  <a:spcAft>
                <a:spcPts val="10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안고 있는 채무의 경우에도 인플레이션으로 인해 그 일부분이 저절로 없어지는 현상이 나타날 수 있음 </a:t>
            </a:r>
            <a:b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인플레이션세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(inflation tax)</a:t>
            </a: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국민에게 빚을 지고 있는 경우에는 인플레이션으로 인한 채무의 실질가치 하락이 정부의 중요한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세입원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진정한 의미에서 재정적자의 크기는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인플레이션세를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통한 수입을 차감해 구해야 함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나라에서 인플레이션이 보편화되어 있어 공식통계에 나타난 재정적자는 실질적인 적자폭을 과장하는 경향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442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국가부채의 크기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이자율 변동의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이자율이 상승하면 이미 발행된 채권의 가격 하락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발행한 국채의 액면은 그대로라도 이자율 상승으로 그것의 시장가치가 하락한다면 정부의 실질적인 채무는 줄어든 셈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10000"/>
              </a:lnSpc>
              <a:spcAft>
                <a:spcPts val="7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이자율 상승은 인플레이션과 마찬가지로 국가가 지고 있는 채무의 일부를 자동적으로 갚아 주는 효과</a:t>
            </a:r>
          </a:p>
          <a:p>
            <a:pPr marL="271463" indent="-271463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반면에 이자율이 하락한다면 국가의 실질 부채가 더 커지는 결과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10000"/>
              </a:lnSpc>
              <a:spcAft>
                <a:spcPts val="700"/>
              </a:spcAft>
              <a:tabLst>
                <a:tab pos="449263" algn="l"/>
              </a:tabLs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이자율은 위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아래로 변동이 심하기 때문에 경우에 따라서는 이자율의 급격한 하락으로 국가의 실질적인 부채가 큰 폭으로 증가되는 결과가 나타날 수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진정한 의미에서의 재정적자의 폭을 알기 위해서는 물가수준과 이자율 변동의 효과를 감안해야 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9011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40FB9-7F24-48AF-834E-25E2E0FEA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국가부채의 크기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자본지출의 존재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정부예산의 지출항목 중 어떤 것은 경상지출의 성격을 갖고 있는 데 비해 다른 것은 자본적 지출의 성격을 갖고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공무원의 급여나 사무용품 구입을 위해 지출된 것은 그 효과가 즉시 나타나 없어진다는 의미에서 경상지출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10000"/>
              </a:lnSpc>
              <a:spcAft>
                <a:spcPts val="500"/>
              </a:spcAft>
            </a:pPr>
            <a:r>
              <a:rPr lang="ko-KR" altLang="en-US" sz="1800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도로나 항만 같은 사회간접자본을 조성하기 위해 지출된 것은 자본을 취득하기 위해 사용한 것이라는 의미에서 </a:t>
            </a:r>
            <a:r>
              <a:rPr lang="ko-KR" altLang="en-US" sz="1800" b="1" spc="-1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자본지출</a:t>
            </a:r>
            <a:r>
              <a:rPr lang="en-US" altLang="ko-KR" sz="1800" spc="-1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(capital expenditure)</a:t>
            </a:r>
            <a:endParaRPr lang="ko-KR" altLang="en-US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엄밀한 의미에서 그해의 정부지출은 감가상각분에 국한되어야 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fontAlgn="base">
              <a:lnSpc>
                <a:spcPct val="110000"/>
              </a:lnSpc>
            </a:pPr>
            <a:r>
              <a:rPr lang="ko-KR" altLang="en-US" sz="18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자본예산</a:t>
            </a:r>
            <a:r>
              <a:rPr lang="en-US" altLang="ko-KR" sz="18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(capital budgeting)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방식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 중 자본지출의 성격이 있는 것은 경상지출에서 분리하여 따로 고려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자본예산의 방식을 채택하여 실질적인 적자폭을 따져 보면 통계수치에 나타난 것보다 현저하게 줄어들 수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529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국가부채의 크기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자본지출의 존재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 fontAlgn="base">
              <a:lnSpc>
                <a:spcPct val="14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자본예산방식을 실제로 사용하는 데는 다음과 같은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40000"/>
              </a:lnSpc>
              <a:spcAft>
                <a:spcPts val="4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지출항목을 언제나 경상지출과 자본지출로 명백하게 구분할 수 있는 것이 아님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교육이나 직업 훈련을 위한 지출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7800" fontAlgn="base">
              <a:lnSpc>
                <a:spcPct val="140000"/>
              </a:lnSpc>
              <a:spcAft>
                <a:spcPts val="4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방만한 재정운영을 부추길 가능성이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0585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국가부채의 크기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암묵적 국가부채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spcAft>
                <a:spcPts val="2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나라가 부담하고 있는 빚을 국가부채라고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국가부채는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상환주체와 회계처리 방식에 따라 여러가지로 정의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10000"/>
              </a:lnSpc>
              <a:spcAft>
                <a:spcPts val="7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보통의 의미에서 국가채무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중앙정부와 지방정부가 상환의무를 갖는 부채만을 포함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10000"/>
              </a:lnSpc>
              <a:spcAft>
                <a:spcPts val="7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일반정부부채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국가채무에 국민건강보험공단과 같이 정부가 직접 운영하는 것은 아니지만 재정적 책임을 가지는 비영리공공기관의 부채를 더한 것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10000"/>
              </a:lnSpc>
              <a:spcAft>
                <a:spcPts val="7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공공부문부채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일반정부부채에 한국공항공사와 같은 비금융공기업의 부채를 포함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7022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국가부채의 크기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암묵적 국가부채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한때 국가부채의 진정한 크기가 무엇인지를 둘러싸고 격렬한 논쟁이 벌어진 바 있음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  <a:spcAft>
                <a:spcPts val="7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국제통화기금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(IMF)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제시한 기준에 따라 국가부채를 계산해야 한다는 정부와 암묵적인 국가부채까지 포함시켜 계산해야 한다는 사람들 사이에서 벌어진 논쟁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1463" indent="-271463">
              <a:lnSpc>
                <a:spcPct val="110000"/>
              </a:lnSpc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IMF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기준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차주가 되어 상환의무를 지며 상환금액을 예측할 수 있는 경우에 한해 국가부채에 포함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>
              <a:lnSpc>
                <a:spcPct val="110000"/>
              </a:lnSpc>
              <a:spcAft>
                <a:spcPts val="7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우리가 보통 국가채무라고 부르는 것은 이 기준에 따른 것</a:t>
            </a: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국가채무를 좀 더 넓은 의미에서 파악한다면 실질적으로 정부가 책임을 져야 할 모든 것을 이에 포함시켜야 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국가보증채무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사회보험과 관련된 잠재적 채무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공적자금과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관련된 잠재적 채무 등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9176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재정적자와 국가부채의 크기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암묵적 국가부채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IMF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기준에 따라 국가부채의 공식 통계를 만드는 것 그 자체는 문제가 될 것이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spcAft>
                <a:spcPts val="700"/>
              </a:spcAft>
            </a:pP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국가부채를 안정적인 수준으로 관리해야 한다는 입장에서 보면</a:t>
            </a:r>
            <a:r>
              <a:rPr lang="en-US" altLang="ko-KR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암묵적 국가부채까지 포함시켜 생각하는 것이 바람직하다고 말할 수 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암묵적 국가부채와 관련되어 특히 관심을 가져야 할 부분은 국민연금이나 건강보험과 관련된 잠재적 채무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선심성 정책으로 인해 그 동안 이 부분에 막대한 규모의 잠재적 채무가 누적되어 있는 상황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5422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재정적자가 국민경제에 여러 방면으로 영향을 미치게 될 것은 분명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그 영향의 내용이 무엇인지에 대해 경제학자들의 견해가 항상 일치하는 것은 아님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재정적자가 경제의 총수요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(aggregate demand)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미치는 영향에 대해 의견이 크게 엇갈림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의견 차이는 경제를 안정시키는 수단으로서 재정정책이 갖는 유효성에 대한 견해 차이로 이어짐</a:t>
            </a:r>
            <a:endParaRPr lang="en-US" altLang="ko-KR" spc="-3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1490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총수요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 fontAlgn="base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예를 들어 정부가 현재의 지출수준을 그대로 유지한 채 국민들로부터 거두어 들이는 세금을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억원만큼 경감시켜 주기로 결정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fontAlgn="base">
              <a:spcAft>
                <a:spcPts val="2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이렇게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지출수준의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변화 없이 조세부담을 경감시켜 주기 위해서는 그 금액에 해당하는 국채를 발행해야 함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42888" indent="-242888" fontAlgn="base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변화가 경제 전체의 총수요에 어떤 영향을 미치게 될 것인가에 대해서는 학파마다 다른 답 제시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3908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총수요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전통적인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케인즈경제학자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(Keynesian) :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국채 발행을 통해 조세부담을 경감시켜 줄 때 총수요가 더 커진다고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  <a:spcAft>
                <a:spcPts val="2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세금을 예전보다 더 적게 내면 처분가능소득이 그만큼 늘어나 소비수준을 높일 수 있다고 보기 때문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통화주의자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(monetarist):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국채발행이 구축효과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(crowding-out effect)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가져오기 때문에 총수요에는 변화가 거의 일어나지 않는다고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국채가 시중에 풀려 나가는 과정에서 정부가 가용자금을 놓고 민간부문과 경합하는 양상이 나타나 이자율 상승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이자율이 상승하면 기업의 투자가 줄어들고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이에 따라 조세경감을 통한 소비촉진 효과가 상쇄되는 결과 나타남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9844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총수요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구축효과가 어느 정도의 크기로 나타날 것인지는 재정적자가 발생하는 시점에 경제가 처한 상황에 크게 의존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2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완전고용에 가까운 상황에서 재정적자가 발생할 경우에는 구축효과가 매우 큰 폭으로 발생할 가능성이 큼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2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경제가 매우 침체되어 있는 상황에서 재정적자가 발생하는 경우라면 구축효과가 거의 나타나지 않을 수도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200"/>
              </a:spcAft>
            </a:pP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케인즈경제학자들은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경우에 따라서 재정적자가 오히려 투자를 촉진시키는 결과까지 가져 올 수 있다고 주장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(crowding-in effect)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1070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총수요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Barro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(Ricardian equivalence theorem)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들어 또 다른 각도에서 적자재정이 총수요에 아무런 영향을 미치지 못한다는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합리적인 경제주체는 국채와 미래의 조세부담 사이에 존재하는 이 대등관계를 알고 있음</a:t>
            </a:r>
          </a:p>
          <a:p>
            <a:pPr marL="449263" lvl="1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따라서 정부가 조세로 거둬들이던 부분을 국채로 대체한다 하더라도 그의 경제적 선택을 변경해야 할 하등의 이유를 발견하지 못하게 된다는 것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구성비율은 자원배분의 측면에서 아무런 의미가 없으며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재정을 적자로 운영했다고 해서 총수요가 촉진되는 효과는 전혀 기대할 수 없음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7225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총수요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구축효과의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논리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재정적자로 인한 확장효과가 민간부문의 투자 감소에 의해 상쇄되기 때문에 총수요가 증가하지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대등정리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적자재정이 총수요를 변화시킬 수 없을 뿐 아니라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전반적인 자원배분 과정에 어떤 영향도 주지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9388">
              <a:lnSpc>
                <a:spcPct val="110000"/>
              </a:lnSpc>
              <a:spcAft>
                <a:spcPts val="1000"/>
              </a:spcAft>
            </a:pP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대등정리가 성립한다면 국채 발행이 이자율을 상승시키는 결과는 나타나지 않고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구축효과도 전혀 나타나지 않음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궁극적으로 실증연구에 의해 판가름이 나야 할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지금까지 제시된 실증연구에서 구축효과가 완벽하게 작용한다거나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대등정리가 엄밀하게 성립하고 있다는 것을 결정적으로 입증해 주는 것을 찾아보기는 힘든 것이 사실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5179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자본축적과 경제성장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/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나라의 국민저축은 크게 보아 가계와 기업에 의해 행해지는 민간부문의 저축과 정부부문의 저축으로 구성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spcAft>
                <a:spcPts val="800"/>
              </a:spcAft>
            </a:pPr>
            <a:r>
              <a:rPr lang="ko-KR" altLang="en-US" sz="18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적자재정을 운영하면 그 적자폭만큼 꾸어다 쓰는 셈이 되어 국민저축을 줄이고 이는 기본적으로 투자에 나쁜 영향</a:t>
            </a:r>
            <a:r>
              <a:rPr lang="en-US" altLang="ko-KR" sz="18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</a:p>
          <a:p>
            <a:pPr marL="271463" indent="-271463"/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발행이 이자율을 상승시켜 투자에 나쁜 영향을 미칠 수도 있음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spcAft>
                <a:spcPts val="800"/>
              </a:spcAft>
            </a:pPr>
            <a:r>
              <a:rPr lang="ko-KR" altLang="en-US" sz="18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재정적자로 인해 투자가 위축되는 결과가 빚어진다면 장기적 성장에 지장 초래</a:t>
            </a:r>
            <a:r>
              <a:rPr lang="en-US" altLang="ko-KR" sz="18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1463" indent="-271463"/>
            <a:r>
              <a:rPr lang="ko-KR" altLang="en-US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재정적자가 투자의 감소를 가져오는 원인이 되는 것은 아님</a:t>
            </a:r>
            <a:r>
              <a:rPr lang="en-US" altLang="ko-KR" sz="20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/>
            <a:r>
              <a:rPr lang="ko-KR" altLang="en-US" sz="18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경제가 매우 침체된 상황에서 발생한 재정적자는 오히려 투자를 자극하는 역할 </a:t>
            </a:r>
            <a:r>
              <a:rPr lang="en-US" altLang="ko-KR" sz="1800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8178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경제적 효과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국제수지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누적은 여러 경로를 통해 그 나라의 국제수지를 악화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정부지출이 조세에 의해 조달되지 않고 국채 발행에 의해 조달됨으로써 국민의 소비수준이 더욱 높아지기 때문에 발생하는 효과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9388">
              <a:lnSpc>
                <a:spcPct val="110000"/>
              </a:lnSpc>
            </a:pP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대등정리가 엄밀하게 성립하지 않는 한 국채의 발행은 사람들의 소비를 촉진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indent="-179388">
              <a:lnSpc>
                <a:spcPct val="110000"/>
              </a:lnSpc>
              <a:spcAft>
                <a:spcPts val="10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이에 따라 수입상품의 소비도 증가하여 결국 국제수지의 악화로 연결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재정적자의 누적이 투자를 저해하여 생산성의 향상이 더디게 되고 이것이 그 나라 산업의 국제경쟁력을 약화시키기 때문에 생기는 효과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발행이 이자율을 높이게 되는 결과를 가져오고 이것이 국제수지 악화의 원인이 되는 경로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1980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초반의 미국경제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2974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국채와 관련된 논의에서 논쟁의 초점이 되는 것은 이로 말미암아 미래 세대에게 부담을 전가하게 되는 결과가 생기는지의 여부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국채가 일단 발행되면 미래의 세대는 조세수입 아니면 다시 국채를 발행하여 마련한 돈으로 이 채무를 상환해야 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조세수입으로 채무를 상환하는 경우 미래 세대가 그 부담을 지게 됨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다시 국채를 발행하여 상환하는 경우에도 새로이 발행된 국채의 보유자에게 계속 이자를 지급해야 하므로 미래 세대의 부담이 늘게 되는 것은 마찬가지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논리는 상황을 너무나 단순하게 파악하고 있다는 문제점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발행과 더불어 그 나라의 경제에 어떤 일들이 일어나는가에 따라 상환부담의 주체가 달라질 수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2138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전통적 견해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4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러너</a:t>
            </a:r>
            <a:r>
              <a:rPr lang="en-US" altLang="ko-KR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Lerner)</a:t>
            </a: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대표되는 전통적 견해에서는 국채와 관련된 부담을 </a:t>
            </a:r>
            <a:r>
              <a:rPr lang="ko-KR" altLang="en-US" b="1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내부채무</a:t>
            </a: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ko-KR" altLang="en-US" b="1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외부채무</a:t>
            </a: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구분해 논의</a:t>
            </a:r>
            <a:endParaRPr lang="en-US" altLang="ko-KR" spc="-1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4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pc="-1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내부채무</a:t>
            </a:r>
            <a:r>
              <a:rPr lang="en-US" altLang="ko-KR" spc="-1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(internal debt)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그 나라 국민으로부터 돈을 빌린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결과 발생한 채무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4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pc="-1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외부채무</a:t>
            </a:r>
            <a:r>
              <a:rPr lang="en-US" altLang="ko-KR" spc="-1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(external debt)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정부지출을 위해 해외에서 빌려다 씀으로써 생기는 채무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7166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전통적 견해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내부채무의 경우 미래 세대의 부담이 늘어날 이유가 없다고 지적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발행된 국채가 그 나라 국민에 의해서 사들여지고 국내에 계속 머무는 경우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상환을 받게 되는 것 역시 그 나라의 국민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발행은 미래 세대 내부에서 소득의 이전을 가져오게 될 뿐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 전체에게 추가적인 부담을 주는 것은 아니라는 논리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외부채무의 경우 현재의 세대가 적자재정을 통해 소비수준을 높이는 것과 관련된 부담을 미래의 세대가 전적으로 지게 된다는 결론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해외에서 꾸어 온 돈을 정부가 투자행위를 하는 데 썼다고 하면 이 결론은 수정되어야 함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만약 정부가 수행한 투자계획에서 나오는 수익률이 해외에서 차입을 할 때 지불해야 할 이자율보다 높다면 미래 세대는 오히려 더 높은 소비수준을 누릴 수도 있음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0340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전통적 견해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4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전통적 견해는 정부가 자국민에게 국채를 팔아 적자재정을 운영하고 있는 한 미래 세대에게 부담이 발생하지 않는다고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40000"/>
              </a:lnSpc>
              <a:spcAft>
                <a:spcPts val="2000"/>
              </a:spcAft>
            </a:pPr>
            <a:r>
              <a:rPr lang="ko-KR" altLang="en-US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이와 같은 주장은 상황을 너무 단순하게 파악하고 있는 문제점 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4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상황을 다른 각도에서 고찰해 보면 미래세대가 국채의 부담을 지게 된다는 주장에 상당한 설득력이 있음을 발견할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9691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미래세대로 부담이 전가된다는 견해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 fontAlgn="base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세대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(generation)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일반적으로 한 시점에서 동시에 태어난 사람들로 정의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33400" lvl="1" indent="-266700" fontAlgn="base">
              <a:lnSpc>
                <a:spcPct val="140000"/>
              </a:lnSpc>
              <a:spcAft>
                <a:spcPts val="1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시점의 어떤 사회에는 나이에 따라 여러 세대로 구분되는 사람들이 섞여 살고 있는 것으로 이해할 수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사회 안에 나이가 많은 노년세대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청년기는 넘겼으나 노년기에 이르지 않은 중년세대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아주 젊은 청년세대의 세 세대가 공존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4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청년에서 중년으로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중년에서 노년으로 이행하는 데는 약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년의 시간이 소요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3313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미래세대로 부담이 전가된다는 견해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한 시점에서 정부가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후에 상환을 약속하는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300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국채를 발행했을 때 이것이 각 세대의 경제생활에 미치는 영향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국채상환을 받을 수 없는 노년세대는 이를 전혀 사지 않고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중년과 청년세대가 반반씩 나누어 삼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국채 판매로 얻은 돈을 추가적 소비지출에 사용한다면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 인해 각 세대의 소비는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억원씩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증가하는 결과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중년과 청년세대는 각각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150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억원의 국채를 샀기 때문에 국채가 발행된 시기의 소비수준은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억원만큼 하락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노년세대만이 국채 발행에 의해 충당된 정부지출의 수혜자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09644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067DC0-105A-4A86-A5C0-09C0FD25F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미래세대로 부담이 전가된다는 견해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년이 지나 각 세대는 다음 단계의 세대로 바뀌었고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국채를 상환해야 할 때가 온 경우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조세수입으로 이 부채를 상환하기로 하고 각 세대에게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억원씩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세금을 부과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  <a:spcAft>
                <a:spcPts val="300"/>
              </a:spcAft>
            </a:pPr>
            <a:r>
              <a:rPr lang="ko-KR" altLang="en-US" sz="18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노년세대 </a:t>
            </a:r>
            <a:r>
              <a:rPr lang="en-US" altLang="ko-KR" sz="18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8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</a:t>
            </a:r>
            <a:r>
              <a:rPr lang="ko-KR" altLang="en-US" sz="180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발행시</a:t>
            </a:r>
            <a:r>
              <a:rPr lang="ko-KR" altLang="en-US" sz="18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중년</a:t>
            </a:r>
            <a:r>
              <a:rPr lang="en-US" altLang="ko-KR" sz="18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8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중년세대</a:t>
            </a:r>
            <a:r>
              <a:rPr lang="en-US" altLang="ko-KR" sz="18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8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</a:t>
            </a:r>
            <a:r>
              <a:rPr lang="ko-KR" altLang="en-US" sz="180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발행시</a:t>
            </a:r>
            <a:r>
              <a:rPr lang="ko-KR" altLang="en-US" sz="18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청년</a:t>
            </a:r>
            <a:r>
              <a:rPr lang="en-US" altLang="ko-KR" sz="18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8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는 </a:t>
            </a:r>
            <a:r>
              <a:rPr lang="en-US" altLang="ko-KR" sz="18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150</a:t>
            </a:r>
            <a:r>
              <a:rPr lang="ko-KR" altLang="en-US" sz="180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억원을</a:t>
            </a:r>
            <a:r>
              <a:rPr lang="ko-KR" altLang="en-US" sz="18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돌려받으므로 세금을 내고 남은 </a:t>
            </a:r>
            <a:r>
              <a:rPr lang="en-US" altLang="ko-KR" sz="18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1800" spc="-5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억원을</a:t>
            </a:r>
            <a:r>
              <a:rPr lang="ko-KR" altLang="en-US" sz="18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추가적 소비에 충당</a:t>
            </a:r>
            <a:endParaRPr lang="en-US" altLang="ko-KR" sz="180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국채가 발행되었던 때 그들의 소비수준이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50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억원만큼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하락했는데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이제 바로 그만큼 소비가 증가할 수 있기 때문에 전반적인 관점에서 국채 발행은 그들에게는 아무 부담도 가져다 주지 않음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10000"/>
              </a:lnSpc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 당시 노년이었고 이제 사망한 사람들은 국채 발행의 결과 소비수준이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억원만큼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더 높아질 수 있었음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10633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1C089F-9F6D-4872-AB5E-856C12449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미래세대로 부담이 전가된다는 견해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발행시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노년이었던 사람들이 얻은 혜택의 부담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국채가 발행 당시 아직 태어나지도 않았거나 아주 어렸다가 이제 청년이 된 세대는 그것으로 인해 아무 혜택도 보지 못했으면서 상환을 위한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억원의 조세부담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부담은 바로 이 새로운 청년세대에게 귀착되는 결과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발행의 결과 지금의 청년세대로부터 국채가 발행된 당시의 노년층으로 소득이 이전되는 효과 발생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2082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C41A9-1F13-4F96-9949-2710D1A0C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미래세대로 부담이 전가된다는 견해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발행은 자본축적을 저해하여 미래세대에게 부담을 가져다 줄 수도 있음</a:t>
            </a:r>
          </a:p>
          <a:p>
            <a:pPr marL="614363" lvl="1" indent="-271463">
              <a:lnSpc>
                <a:spcPct val="14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일반적인 상황에서 국채의 발행은 어느 정도의 구축효과를 가져 와 민간부문의 투자를 위축시키는 결과</a:t>
            </a:r>
          </a:p>
          <a:p>
            <a:pPr marL="614363" lvl="1" indent="-271463">
              <a:lnSpc>
                <a:spcPct val="14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투자가 위축되어 자본축적이 제대로 이루어지지 못하면 경제성장 속도가 늦어지고 이로 인해 미래세대의 생활수준 향상 속도도 늦어지게 됨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04062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대등정리가 현실에서 성립한다면 국채 발행이 미래세대에 부담을 안겨 주는 일은 결코 발생하지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전통적 견해와는 전혀 다른 근거에서 미래의 세대가 국채의 부담을 전혀 지지 않게 된다는 주장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1463" indent="-271463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Barro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유산상속과 관련된 선택을 하는 과정에서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대등정리가 성립하는 근거를 찾을 수 있다고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합리적 사람들은 국채 발행으로 인해 자신의 후손이 미래에 져야 할 추가적인 조세부담에 해당하는 만큼 유산을 더 늘려서 줌으로써 정부가 국채를 발행한 효과를 상쇄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따라서 국채는 미래세대에게 아무런 부담을 가져다 주지 않을 것임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87667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대등정리가 성립한다면 국채 발행이 국민저축과 투자에 전혀 영향을 미치지 않고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따라서 자본축적에도 아무런 변화가 생기지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spcAft>
                <a:spcPts val="10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장기적인 성장의 측면에서 발생하는 미래 세대의 부담도 생기지 않는다고 할 수 있음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</a:t>
            </a:r>
          </a:p>
          <a:p>
            <a:pPr marL="271463" indent="-271463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대등정리가 분명한 논리적 근거를 갖고 있는 것은 사실이지만 현실의 세계는 다름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/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대등정리에서 말하는 정도의 합리성을 갖고 있는 사람을 찾기는 어려움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사람들은 후손에게 거의 아무런 유산도 남겨 주지 못하는 경제적 상황에 처해 있음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22849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국채의 부담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3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대등정리가 현실에서 성립하고 있다는 것을 입증하기 위해서는 재정적자폭이 커질 때 민간부문의 저축이 따라서 증가했다는 사실을 보여야만 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30000"/>
              </a:lnSpc>
              <a:spcAft>
                <a:spcPts val="3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그런데 현실에서는 오히려 그 반대로 재정적자와 민간부문 저축의 감소가 함께 나타나는 경우가 더 많은 경향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>
              <a:lnSpc>
                <a:spcPct val="130000"/>
              </a:lnSpc>
              <a:spcAft>
                <a:spcPts val="300"/>
              </a:spcAft>
            </a:pP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리카도의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대등정리를 들어 국채가 미래의 세대에 아무런 부담을 가져다 주지 않는다고 주장하는 것의 설득력은 과히 크지 않음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9024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22.5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세대간 회계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 fontAlgn="base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 사이의 부담분배 문제를 따진다는 관점에서 보면 재정적자에만 관심을 집중하는 것은 바람직하지 않다는 주장 있음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fontAlgn="base">
              <a:lnSpc>
                <a:spcPct val="130000"/>
              </a:lnSpc>
              <a:spcAft>
                <a:spcPts val="1000"/>
              </a:spcAft>
            </a:pPr>
            <a:r>
              <a:rPr lang="ko-KR" altLang="en-US" sz="18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재정수지에 무엇이 포함되어야 하는지에 대해 일정한 기준이 없고</a:t>
            </a:r>
            <a:r>
              <a:rPr lang="en-US" altLang="ko-KR" sz="18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포함 대상이 달라짐에 따라 재정수지의 상황이 크게 변할 수 있기 때문</a:t>
            </a:r>
            <a:endParaRPr lang="en-US" altLang="ko-KR" sz="1800" spc="-2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 사이의 부담분배를 정확하게 파악하기 위한 대안으로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세대간 회계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(generational accounts)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개념 제시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 fontAlgn="base">
              <a:lnSpc>
                <a:spcPct val="13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세대가 납부하는 모든 종류의 세금에서 정부로부터의 이전지출을 뺀 순납부액의 현재가치가 얼마인지를 알아내려고 하는 것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fontAlgn="base">
              <a:lnSpc>
                <a:spcPct val="13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이들을 서로 비교하면 미래세대로 부담이 떠넘겨지느냐의 여부를 파악할 수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95478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세대간 회계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0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세대간 회계 모형에서 말하는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세대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’ :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똑같은 나이를 갖는 사람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00000"/>
                  </a:lnSpc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앞으로 태어날 사람들을 통틀어 미래세대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(future generation)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라고 부름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00000"/>
                  </a:lnSpc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세대간 회계 모형은 정부가 행하는 모든 종류의 지출을 충당하기 위한 조세부담을 언제든 누구인가가 져야 한다는 사실에서 출발하고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정부의 예산제약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</a:t>
                </a:r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3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</a:p>
              <a:p>
                <a:pPr marL="277813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현재 생존하고 있는 세대가 져야 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조세부담의 현재가치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7813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태어나지 않은 미래세대가 져야 할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조세부담의 현재가치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7813" lvl="1" indent="0">
                  <a:lnSpc>
                    <a:spcPct val="100000"/>
                  </a:lnSpc>
                  <a:buNone/>
                </a:pPr>
                <a:r>
                  <a:rPr lang="en-US" altLang="ko-KR" b="1" dirty="0"/>
                  <a:t>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현재 시점에서 파악한 정부의 순재산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7813" lvl="1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정부의 소비지출 흐름의 현재가치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77629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세대간 회계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71463" indent="-271463">
                  <a:lnSpc>
                    <a:spcPct val="130000"/>
                  </a:lnSpc>
                  <a:buFont typeface="Wingdings" panose="05000000000000000000" pitchFamily="2" charset="2"/>
                  <a:buChar char="§"/>
                  <a:tabLst>
                    <a:tab pos="271463" algn="l"/>
                  </a:tabLst>
                </a:pP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en-US" altLang="ko-KR" b="1" i="1" dirty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일정한 값으로 주어졌다고 할 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값이 하나의 수준으로 결정되면 이에 따라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수준 결정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 indent="-179388">
                  <a:lnSpc>
                    <a:spcPct val="130000"/>
                  </a:lnSpc>
                  <a:spcAft>
                    <a:spcPts val="1500"/>
                  </a:spcAft>
                  <a:tabLst>
                    <a:tab pos="449263" algn="l"/>
                  </a:tabLst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이유에서든 현재 생존하고 있는 세대의 부담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줄어들면 미래세대의 부담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800" b="1" i="1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늘어날 수밖에 없음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1463" indent="-271463">
                  <a:lnSpc>
                    <a:spcPct val="130000"/>
                  </a:lnSpc>
                  <a:tabLst>
                    <a:tab pos="271463" algn="l"/>
                  </a:tabLs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모형을 이용해 만약 현재의 재정 관련 정책의 기본 틀이 그대로 유지될 경우 그 부담이 각 세대로 어떻게 분배될 것인지 알아볼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9263" lvl="1">
                  <a:lnSpc>
                    <a:spcPct val="130000"/>
                  </a:lnSpc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현재의 재정 관련 정책의 기본 틀에 어떤 변화가 올 경우 그것이 세대간의 부담 분배에 미칠 영향은 무엇인가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?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60702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세대간 회계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아우어박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Auerbach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Y. J. Chun)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세대간 회계 모형을 적용해 우리 사회에서의 세대간 회계를 계산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현재의 재정 관련 정책이 그대로 유지될 경우 우리의 미래세대는 매우 무거운 부담을 안게 될 것이라고 전망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우리나라의 국민연금제도는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저부담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고급여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기본구조를 갖고 있어 언젠가는 연금재정에 심각한 위기가 올 것으로 예상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세대간 공평성 차원에서 볼 때 국민연금의 부담과 급여를 합리적 수준으로 조정하는 일은 매우 시급한 과제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56752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22.6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국채에 의한 재원조달의 타당성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경우에 따라서는 재정적자를 감수하고서라도 적극적인 지출정책을 쓸 필요가 생길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9263" lvl="1">
              <a:lnSpc>
                <a:spcPct val="130000"/>
              </a:lnSpc>
              <a:spcAft>
                <a:spcPts val="2500"/>
              </a:spcAft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나아가 지출의 성격상 조세수입 보다 국채 발행에 의존하는 것이 더 합리적인 선택이 되는 경우가 있을 수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지출 프로그램의 수혜자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측면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 성격이 강한 정부지출은 조세수입에 의해서 충당되는 것이 당연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투자의 성격을 갖는 정부지출의 경우에는 그 혜택이 미래의 세대에게 돌아갈 것이기 때문에 조세수입보다는 국채 발행에 의해서 조달되는 것이 더 합리적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64521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국채에 의한 재원조달의 타당성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Bef>
                <a:spcPts val="75"/>
              </a:spcBef>
              <a:spcAft>
                <a:spcPts val="2000"/>
              </a:spcAft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세대간 공평성의 측면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30000"/>
              </a:lnSpc>
              <a:spcBef>
                <a:spcPts val="75"/>
              </a:spcBef>
              <a:spcAft>
                <a:spcPts val="1000"/>
              </a:spcAft>
              <a:tabLst>
                <a:tab pos="449263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기술진보와 생산성의 증대로 인해 다음 세대에 속하는 사람들은 현재의 세대보다 한층 더 풍요로운 생활을 즐길 수 있음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>
              <a:lnSpc>
                <a:spcPct val="130000"/>
              </a:lnSpc>
              <a:spcBef>
                <a:spcPts val="75"/>
              </a:spcBef>
              <a:spcAft>
                <a:spcPts val="1000"/>
              </a:spcAft>
              <a:tabLst>
                <a:tab pos="449263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그렇다면 세대간 공평성의 관점에서 볼 때 미래의 세대로부터 현재의 세대로 소득을 이전해 주는 것이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바람직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>
              <a:lnSpc>
                <a:spcPct val="130000"/>
              </a:lnSpc>
              <a:spcBef>
                <a:spcPts val="75"/>
              </a:spcBef>
              <a:spcAft>
                <a:spcPts val="1000"/>
              </a:spcAft>
              <a:tabLst>
                <a:tab pos="449263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이런 방향으로 소득을 재분배한다는 의미에서 국채에 의해 재원을 조달하는 것이 정당화될 수 있는 여지가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44696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국채에 의한 재원조달의 타당성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측면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0000" indent="-2700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쪽의 초과부담이 더 작은지의 관점에서도 평가 가능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발행으로 재원을 조달하는 것은 지금 세금을 거두는 대신 미래에 세금을 걷는 것이므로 초과부담을 회피할 수 있는 것은 아님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70000" indent="-2700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조세수입에 의한 재원조달의 경우 지출 전체에 해당하는 세금을 한꺼번에 부과하는 것이며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국채 발행에 의존할 경우에는 여러 번으로 쪼개서 조금씩 세금을 걷는 것이라면 초과부담이 줄어들 수 있음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초과부담의 크기는 세율의 제곱에 비례하기 때문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270000" indent="-2700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측면에서 보면 국채에 의한 재원조달이 자본축적에 나쁜 영향을 미쳐 장기적 효율성의 저하를 가져오게 될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재정적자와 국채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151159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3194</Words>
  <Application>Microsoft Office PowerPoint</Application>
  <PresentationFormat>화면 슬라이드 쇼(4:3)</PresentationFormat>
  <Paragraphs>364</Paragraphs>
  <Slides>41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9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2_Office 테마</vt:lpstr>
      <vt:lpstr>제22장   재정적자와 국채</vt:lpstr>
      <vt:lpstr>22.1  배경설명</vt:lpstr>
      <vt:lpstr>배경설명</vt:lpstr>
      <vt:lpstr>배경설명</vt:lpstr>
      <vt:lpstr>배경설명</vt:lpstr>
      <vt:lpstr>배경설명</vt:lpstr>
      <vt:lpstr>22.2  재정적자와 국가부채의 크기</vt:lpstr>
      <vt:lpstr>재정적자와 국가부채의 크기 : 인플레이션의 효과</vt:lpstr>
      <vt:lpstr>재정적자와 국가부채의 크기 : 이자율 변동의 효과</vt:lpstr>
      <vt:lpstr>재정적자와 국가부채의 크기 : 자본지출의 존재</vt:lpstr>
      <vt:lpstr>재정적자와 국가부채의 크기 : 자본지출의 존재</vt:lpstr>
      <vt:lpstr>재정적자와 국가부채의 크기 : 암묵적 국가부채</vt:lpstr>
      <vt:lpstr>재정적자와 국가부채의 크기 : 암묵적 국가부채</vt:lpstr>
      <vt:lpstr>재정적자와 국가부채의 크기 : 암묵적 국가부채</vt:lpstr>
      <vt:lpstr>22.3  재정적자의 경제적 효과</vt:lpstr>
      <vt:lpstr>재정적자의 경제적 효과 : 총수요</vt:lpstr>
      <vt:lpstr>재정적자의 경제적 효과 : 총수요</vt:lpstr>
      <vt:lpstr>재정적자의 경제적 효과 : 총수요</vt:lpstr>
      <vt:lpstr>재정적자의 경제적 효과 : 총수요</vt:lpstr>
      <vt:lpstr>재정적자의 경제적 효과 : 총수요</vt:lpstr>
      <vt:lpstr>재정적자의 경제적 효과 : 자본축적과 경제성장</vt:lpstr>
      <vt:lpstr>재정적자의 경제적 효과 : 국제수지</vt:lpstr>
      <vt:lpstr>22.4  국채의 부담</vt:lpstr>
      <vt:lpstr>국채의 부담 : 전통적 견해</vt:lpstr>
      <vt:lpstr>국채의 부담 : 전통적 견해</vt:lpstr>
      <vt:lpstr>국채의 부담 : 전통적 견해</vt:lpstr>
      <vt:lpstr>국채의 부담 : 미래세대로 부담이 전가된다는 견해</vt:lpstr>
      <vt:lpstr>국채의 부담 : 미래세대로 부담이 전가된다는 견해</vt:lpstr>
      <vt:lpstr>국채의 부담 : 미래세대로 부담이 전가된다는 견해</vt:lpstr>
      <vt:lpstr>국채의 부담 : 미래세대로 부담이 전가된다는 견해</vt:lpstr>
      <vt:lpstr>국채의 부담 : 미래세대로 부담이 전가된다는 견해</vt:lpstr>
      <vt:lpstr>국채의 부담 : 리카도의 대등정리</vt:lpstr>
      <vt:lpstr>국채의 부담 : 리카도의 대등정리</vt:lpstr>
      <vt:lpstr>국채의 부담 : 리카도의 대등정리</vt:lpstr>
      <vt:lpstr>22.5  세대간 회계</vt:lpstr>
      <vt:lpstr>세대간 회계</vt:lpstr>
      <vt:lpstr>세대간 회계</vt:lpstr>
      <vt:lpstr>세대간 회계</vt:lpstr>
      <vt:lpstr>22.6  국채에 의한 재원조달의 타당성</vt:lpstr>
      <vt:lpstr>국채에 의한 재원조달의 타당성</vt:lpstr>
      <vt:lpstr>국채에 의한 재원조달의 타당성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김소정</cp:lastModifiedBy>
  <cp:revision>1450</cp:revision>
  <dcterms:created xsi:type="dcterms:W3CDTF">2015-08-04T05:38:00Z</dcterms:created>
  <dcterms:modified xsi:type="dcterms:W3CDTF">2021-02-20T15:11:24Z</dcterms:modified>
</cp:coreProperties>
</file>