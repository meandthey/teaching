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9" r:id="rId1"/>
  </p:sldMasterIdLst>
  <p:notesMasterIdLst>
    <p:notesMasterId r:id="rId39"/>
  </p:notesMasterIdLst>
  <p:handoutMasterIdLst>
    <p:handoutMasterId r:id="rId40"/>
  </p:handoutMasterIdLst>
  <p:sldIdLst>
    <p:sldId id="296" r:id="rId2"/>
    <p:sldId id="258" r:id="rId3"/>
    <p:sldId id="260" r:id="rId4"/>
    <p:sldId id="261" r:id="rId5"/>
    <p:sldId id="262" r:id="rId6"/>
    <p:sldId id="263" r:id="rId7"/>
    <p:sldId id="303" r:id="rId8"/>
    <p:sldId id="265" r:id="rId9"/>
    <p:sldId id="304" r:id="rId10"/>
    <p:sldId id="266" r:id="rId11"/>
    <p:sldId id="267" r:id="rId12"/>
    <p:sldId id="268" r:id="rId13"/>
    <p:sldId id="306" r:id="rId14"/>
    <p:sldId id="307" r:id="rId15"/>
    <p:sldId id="271" r:id="rId16"/>
    <p:sldId id="308" r:id="rId17"/>
    <p:sldId id="309" r:id="rId18"/>
    <p:sldId id="311" r:id="rId19"/>
    <p:sldId id="312" r:id="rId20"/>
    <p:sldId id="313" r:id="rId21"/>
    <p:sldId id="314" r:id="rId22"/>
    <p:sldId id="315" r:id="rId23"/>
    <p:sldId id="316" r:id="rId24"/>
    <p:sldId id="317" r:id="rId25"/>
    <p:sldId id="318" r:id="rId26"/>
    <p:sldId id="319" r:id="rId27"/>
    <p:sldId id="320" r:id="rId28"/>
    <p:sldId id="326" r:id="rId29"/>
    <p:sldId id="325" r:id="rId30"/>
    <p:sldId id="327" r:id="rId31"/>
    <p:sldId id="310" r:id="rId32"/>
    <p:sldId id="324" r:id="rId33"/>
    <p:sldId id="330" r:id="rId34"/>
    <p:sldId id="331" r:id="rId35"/>
    <p:sldId id="332" r:id="rId36"/>
    <p:sldId id="299" r:id="rId37"/>
    <p:sldId id="300" r:id="rId38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D9A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24" autoAdjust="0"/>
    <p:restoredTop sz="94728" autoAdjust="0"/>
  </p:normalViewPr>
  <p:slideViewPr>
    <p:cSldViewPr snapToGrid="0">
      <p:cViewPr varScale="1">
        <p:scale>
          <a:sx n="86" d="100"/>
          <a:sy n="86" d="100"/>
        </p:scale>
        <p:origin x="1478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6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-27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74EB9A-155E-47CB-BDE7-4AA3BFCC0E51}" type="datetimeFigureOut">
              <a:rPr lang="ko-KR" altLang="en-US" smtClean="0"/>
              <a:t>2021-02-22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6EE28E-5237-48A9-A4BC-4C0FE4044B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144264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9B8873-BC00-4E98-82A0-FC8387D5BC2D}" type="datetimeFigureOut">
              <a:rPr lang="ko-KR" altLang="en-US" smtClean="0"/>
              <a:t>2021-02-22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295A58-9429-4B5D-BCB7-763BD5DD46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861881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95A58-9429-4B5D-BCB7-763BD5DD4617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42946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95A58-9429-4B5D-BCB7-763BD5DD461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6114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95A58-9429-4B5D-BCB7-763BD5DD4617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15231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95A58-9429-4B5D-BCB7-763BD5DD4617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42335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573902"/>
            <a:ext cx="7772400" cy="1330099"/>
          </a:xfrm>
        </p:spPr>
        <p:txBody>
          <a:bodyPr anchor="ctr">
            <a:normAutofit/>
          </a:bodyPr>
          <a:lstStyle>
            <a:lvl1pPr algn="ctr">
              <a:defRPr sz="3800" b="1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 altLang="ko-KR"/>
              <a:t>PUBLIC FINANCE</a:t>
            </a:r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1</a:t>
            </a:r>
            <a:r>
              <a:rPr lang="ko-KR" altLang="en-US"/>
              <a:t>장  재정학</a:t>
            </a:r>
            <a:r>
              <a:rPr lang="en-US" altLang="ko-KR"/>
              <a:t>: </a:t>
            </a:r>
            <a:r>
              <a:rPr lang="ko-KR" altLang="en-US"/>
              <a:t>의의와 성격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614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BD14322B-89EF-4DE6-82DD-B4948B5F2EEE}"/>
              </a:ext>
            </a:extLst>
          </p:cNvPr>
          <p:cNvSpPr/>
          <p:nvPr userDrawn="1"/>
        </p:nvSpPr>
        <p:spPr>
          <a:xfrm>
            <a:off x="0" y="0"/>
            <a:ext cx="9144000" cy="1330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618" y="194400"/>
            <a:ext cx="8645237" cy="1332000"/>
          </a:xfrm>
          <a:solidFill>
            <a:srgbClr val="6D9AC3"/>
          </a:solidFill>
        </p:spPr>
        <p:txBody>
          <a:bodyPr anchor="ctr">
            <a:normAutofit/>
          </a:bodyPr>
          <a:lstStyle>
            <a:lvl1pPr algn="ctr">
              <a:defRPr sz="3800" b="1" baseline="0">
                <a:solidFill>
                  <a:schemeClr val="tx1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재정학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2</a:t>
            </a:r>
            <a:r>
              <a:rPr lang="ko-KR" altLang="en-US"/>
              <a:t>장  우리나라의 재정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9223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73557"/>
            <a:ext cx="9144000" cy="711200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1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28650" y="1422400"/>
            <a:ext cx="7886700" cy="4754563"/>
          </a:xfrm>
        </p:spPr>
        <p:txBody>
          <a:bodyPr anchor="ctr">
            <a:normAutofit/>
          </a:bodyPr>
          <a:lstStyle>
            <a:lvl1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20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  <a:lvl2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18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2pPr>
            <a:lvl3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18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3pPr>
            <a:lvl4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18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4pPr>
            <a:lvl5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18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1</a:t>
            </a:r>
            <a:r>
              <a:rPr lang="ko-KR" altLang="en-US"/>
              <a:t>장  재정학</a:t>
            </a:r>
            <a:r>
              <a:rPr lang="en-US" altLang="ko-KR"/>
              <a:t>: </a:t>
            </a:r>
            <a:r>
              <a:rPr lang="ko-KR" altLang="en-US"/>
              <a:t>의의와 성격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AC9FBE22-6673-4F8B-81FC-4C6C25369B23}"/>
              </a:ext>
            </a:extLst>
          </p:cNvPr>
          <p:cNvCxnSpPr/>
          <p:nvPr userDrawn="1"/>
        </p:nvCxnSpPr>
        <p:spPr>
          <a:xfrm>
            <a:off x="628650" y="1259382"/>
            <a:ext cx="7886700" cy="0"/>
          </a:xfrm>
          <a:prstGeom prst="line">
            <a:avLst/>
          </a:prstGeom>
          <a:ln w="57150">
            <a:solidFill>
              <a:srgbClr val="A6C9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8127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0" y="1311928"/>
            <a:ext cx="9144000" cy="55460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338622"/>
            <a:ext cx="9144000" cy="711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422400"/>
            <a:ext cx="7886700" cy="4754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altLang="ko-K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제</a:t>
            </a:r>
            <a:r>
              <a:rPr lang="en-US" altLang="ko-KR" dirty="0"/>
              <a:t>1</a:t>
            </a:r>
            <a:r>
              <a:rPr lang="ko-KR" altLang="en-US" dirty="0"/>
              <a:t>장 재정학 </a:t>
            </a:r>
            <a:r>
              <a:rPr lang="en-US" altLang="ko-KR" dirty="0"/>
              <a:t>: </a:t>
            </a:r>
            <a:r>
              <a:rPr lang="ko-KR" altLang="en-US" dirty="0"/>
              <a:t>의의와 성격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9661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</p:sldLayoutIdLst>
  <p:hf hdr="0"/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effectLst/>
          <a:latin typeface="나눔고딕 ExtraBold" panose="020D0904000000000000" pitchFamily="50" charset="-127"/>
          <a:ea typeface="나눔고딕 ExtraBold" panose="020D0904000000000000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30000"/>
        </a:lnSpc>
        <a:spcBef>
          <a:spcPts val="1000"/>
        </a:spcBef>
        <a:spcAft>
          <a:spcPts val="400"/>
        </a:spcAft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13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13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13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13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ctrTitle"/>
          </p:nvPr>
        </p:nvSpPr>
        <p:spPr>
          <a:xfrm>
            <a:off x="4572000" y="815184"/>
            <a:ext cx="5392923" cy="2500603"/>
          </a:xfrm>
          <a:noFill/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제</a:t>
            </a:r>
            <a:r>
              <a:rPr lang="en-US" altLang="ko-KR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5</a:t>
            </a:r>
            <a:r>
              <a:rPr lang="ko-KR" altLang="en-US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장  </a:t>
            </a:r>
            <a:br>
              <a:rPr lang="en-US" altLang="ko-KR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</a:br>
            <a:r>
              <a:rPr lang="ko-KR" altLang="en-US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공공선택의 이론</a:t>
            </a:r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4572000" y="3429000"/>
            <a:ext cx="4572000" cy="250060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130000"/>
              </a:lnSpc>
              <a:spcBef>
                <a:spcPts val="1000"/>
              </a:spcBef>
              <a:spcAft>
                <a:spcPts val="400"/>
              </a:spcAft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5.1 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공공선택이론의 의의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5.2  </a:t>
            </a:r>
            <a:r>
              <a:rPr lang="ko-KR" altLang="en-US" sz="16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직접민주제하의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공공선택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5.3  </a:t>
            </a:r>
            <a:r>
              <a:rPr lang="ko-KR" altLang="en-US" sz="16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과반수제하에서의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정치적 균형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5.4  </a:t>
            </a:r>
            <a:r>
              <a:rPr lang="ko-KR" altLang="en-US" sz="16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대의민주제하의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공공선택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0299"/>
            <a:ext cx="4319957" cy="6417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910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5.1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공공선택이론의 의의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68288" indent="-230400" latinLnBrk="0">
              <a:lnSpc>
                <a:spcPct val="13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 구성원의 의사는 집단의 의사결정 과정을 통해 전체의 의사로 통합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8288" indent="-230400" latinLnBrk="0">
              <a:lnSpc>
                <a:spcPct val="130000"/>
              </a:lnSpc>
              <a:spcBef>
                <a:spcPts val="2500"/>
              </a:spcBef>
            </a:pPr>
            <a:r>
              <a:rPr lang="ko-KR" altLang="en-US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공공선택이론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(public choice theory)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 구성원의 의사가 집단의 의사로 통합되는 과정이 경제적 측면에서 갖는 의미를 분석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8288" indent="-230400" latinLnBrk="0">
              <a:lnSpc>
                <a:spcPct val="130000"/>
              </a:lnSpc>
              <a:spcBef>
                <a:spcPts val="2500"/>
              </a:spcBef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공공선택이론의 주요 주제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230400" latinLnBrk="0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집단의사결정 과정의 성격 분석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230400" latinLnBrk="0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집단의사결정 과정에서 파생되는 자원배분상의 함의 발견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230400" latinLnBrk="0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이론적 관점에서 행태를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예측∙설명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공공선택의 이론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31678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5.2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직접민주제하의 공공선택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30400" indent="-230400" latinLnBrk="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직접민주제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(direct democracy)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여러 사람이 모여 의사결정을 할 때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구성원 모두가 직접 의사결정에 참여하는 방식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lnSpc>
                <a:spcPct val="130000"/>
              </a:lnSpc>
              <a:buFont typeface="Wingdings" panose="05000000000000000000" pitchFamily="2" charset="2"/>
              <a:buChar char="§"/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직접민주제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방식하에서는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다음에 대해 사전에 합의를 보아야 함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0" lvl="1" indent="-468000" latinLnBrk="0">
              <a:lnSpc>
                <a:spcPct val="130000"/>
              </a:lnSpc>
              <a:buAutoNum type="arabicParenBoth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각자에게 표를 어떻게 배분할 것인가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</a:p>
          <a:p>
            <a:pPr marL="720000" lvl="1" indent="-468000" latinLnBrk="0">
              <a:lnSpc>
                <a:spcPct val="130000"/>
              </a:lnSpc>
              <a:buAutoNum type="arabicParenBoth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조건이 충족되었을 때 의사결정에 도달되었다고 볼 수 있는가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공공선택의 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67189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전원합의제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latinLnBrk="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전원합의제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(unanimity)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투표자 전원의 동의를 요구하는 표결방식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latinLnBrk="0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 결과는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파레토최적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latinLnBrk="0">
              <a:lnSpc>
                <a:spcPct val="110000"/>
              </a:lnSpc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빅셀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(K. Wicksell) 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전원합의제의 방식이 가장 바람직한 방식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lnSpc>
                <a:spcPct val="110000"/>
              </a:lnSpc>
              <a:spcBef>
                <a:spcPts val="2500"/>
              </a:spcBef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전원합의제의 문제점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latinLnBrk="0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모든 사람을 만족시킬 수 있는 의안을 찾아내는 데 많은 시간이 소요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latinLnBrk="0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사람이 더 큰 몫을 차지하기 위해 전략적으로 반대하여 시간을 지연시키고 의사진행을 비효율적인 방향으로 이끌어 갈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latinLnBrk="0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현재상태가 다른 대안에 비해 월등하게 우위를 점함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lnSpc>
                <a:spcPct val="110000"/>
              </a:lnSpc>
              <a:spcBef>
                <a:spcPts val="2500"/>
              </a:spcBef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전원합의제는 아주 중요한 사안과 관련해서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그리고 논의에 참여하는 사람이 매우 적을 때에 한해서만 활용될 수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공공선택의 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93063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과반수제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latinLnBrk="0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과반수제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(majority rule)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투표에 참가한 사람의 절반 이상이 찬성하는 의안을 통과된 것으로 간주하는 표결 방식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latinLnBrk="0">
              <a:lnSpc>
                <a:spcPct val="14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단순과반수제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(simple majority rule)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라고도 부름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lnSpc>
                <a:spcPct val="140000"/>
              </a:lnSpc>
              <a:spcBef>
                <a:spcPts val="2500"/>
              </a:spcBef>
              <a:buFont typeface="Wingdings" panose="05000000000000000000" pitchFamily="2" charset="2"/>
              <a:buChar char="§"/>
            </a:pP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과반수제하에서는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소수파에 속하는 사람들의 이익이 침해되는 사례가 종종 일어나게 됨 ⇒ 다수의 횡포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(tyranny of the majority)</a:t>
            </a:r>
          </a:p>
          <a:p>
            <a:pPr latinLnBrk="0">
              <a:lnSpc>
                <a:spcPct val="140000"/>
              </a:lnSpc>
              <a:spcBef>
                <a:spcPts val="2500"/>
              </a:spcBef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과반수제 방식을 사용하면 의안이 논의되는 순서에 따라 의사결정의 결과가 달라지는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투표의 역설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’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현상이 나타날 수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공공선택의 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797833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최적다수결제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indent="-230400" latinLnBrk="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부캐넌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털록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(J. Buchanan and G. </a:t>
            </a:r>
            <a:r>
              <a:rPr lang="en-US" altLang="ko-KR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Tullock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표결방식이라도 기본적으로 다음과 같은 두 가지 유형의 비용 수반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20663" lvl="1" indent="-230400" latinLnBrk="0">
              <a:lnSpc>
                <a:spcPct val="120000"/>
              </a:lnSpc>
              <a:buNone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(1)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의사결정비용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(decision making costs) 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의사결정에 소요되는 시간과 관련된 비용으로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요구되는 찬성표의 비율이 높을수록 커짐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20663" lvl="1" indent="-230400" latinLnBrk="0">
              <a:lnSpc>
                <a:spcPct val="120000"/>
              </a:lnSpc>
              <a:buNone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(2)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의안이 통과되었을 때 이로 인해 손해를 본다고 느끼는 사람들로부터 발생하는 사회적 비용으로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요구되는 찬성표의 비율이 높을수록 작아짐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indent="-230400" latinLnBrk="0">
              <a:lnSpc>
                <a:spcPct val="120000"/>
              </a:lnSpc>
              <a:spcBef>
                <a:spcPts val="2500"/>
              </a:spcBef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특정한 표결방식과 관련된 총비용은 위의 두 가지 유형의 비용을 합친 것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indent="-230400" latinLnBrk="0">
              <a:lnSpc>
                <a:spcPct val="120000"/>
              </a:lnSpc>
            </a:pP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최적다수결제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(optimal majority)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의안이 통과되는 데 총비용이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최저로 되는 수준의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찬성비율을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요구하는 표결방식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공공선택의 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462360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최적다수결제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628649" y="1422400"/>
                <a:ext cx="8053711" cy="4754563"/>
              </a:xfrm>
            </p:spPr>
            <p:txBody>
              <a:bodyPr anchor="ctr">
                <a:noAutofit/>
              </a:bodyPr>
              <a:lstStyle/>
              <a:p>
                <a:pPr>
                  <a:lnSpc>
                    <a:spcPct val="120000"/>
                  </a:lnSpc>
                  <a:spcAft>
                    <a:spcPts val="100"/>
                  </a:spcAft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의결에 필요한 </a:t>
                </a:r>
                <a:r>
                  <a:rPr lang="ko-KR" altLang="en-US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표수에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따른 비용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lnSpc>
                    <a:spcPct val="120000"/>
                  </a:lnSpc>
                  <a:spcAft>
                    <a:spcPts val="100"/>
                  </a:spcAft>
                </a:pP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lnSpc>
                    <a:spcPct val="120000"/>
                  </a:lnSpc>
                  <a:spcAft>
                    <a:spcPts val="100"/>
                  </a:spcAft>
                </a:pP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lnSpc>
                    <a:spcPct val="120000"/>
                  </a:lnSpc>
                  <a:spcAft>
                    <a:spcPts val="100"/>
                  </a:spcAft>
                </a:pP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lnSpc>
                    <a:spcPct val="120000"/>
                  </a:lnSpc>
                  <a:spcAft>
                    <a:spcPts val="100"/>
                  </a:spcAft>
                </a:pP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lnSpc>
                    <a:spcPct val="120000"/>
                  </a:lnSpc>
                  <a:spcAft>
                    <a:spcPts val="100"/>
                  </a:spcAft>
                </a:pP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lnSpc>
                    <a:spcPct val="120000"/>
                  </a:lnSpc>
                  <a:spcAft>
                    <a:spcPts val="100"/>
                  </a:spcAft>
                </a:pP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0" indent="0">
                  <a:lnSpc>
                    <a:spcPct val="120000"/>
                  </a:lnSpc>
                  <a:spcAft>
                    <a:spcPts val="100"/>
                  </a:spcAft>
                  <a:buNone/>
                </a:pP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lnSpc>
                    <a:spcPct val="120000"/>
                  </a:lnSpc>
                  <a:spcAft>
                    <a:spcPts val="100"/>
                  </a:spcAft>
                </a:pPr>
                <a:r>
                  <a:rPr lang="ko-KR" altLang="en-US" sz="2000" spc="-2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총비용이 최저가 되는 </a:t>
                </a:r>
                <a14:m>
                  <m:oMath xmlns:m="http://schemas.openxmlformats.org/officeDocument/2006/math">
                    <m:r>
                      <a:rPr lang="en-US" altLang="ko-KR" sz="2000" i="1" spc="-20" dirty="0" smtClean="0">
                        <a:latin typeface="Cambria Math" panose="02040503050406030204" pitchFamily="18" charset="0"/>
                        <a:ea typeface="+mn-ea"/>
                      </a:rPr>
                      <m:t>𝐾</m:t>
                    </m:r>
                  </m:oMath>
                </a14:m>
                <a:r>
                  <a:rPr lang="ko-KR" altLang="en-US" sz="2000" spc="-2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를 의결에 필요한 </a:t>
                </a:r>
                <a:r>
                  <a:rPr lang="ko-KR" altLang="en-US" sz="2000" spc="-2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표수로</a:t>
                </a:r>
                <a:r>
                  <a:rPr lang="ko-KR" altLang="en-US" sz="2000" spc="-2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하는 것이 최적다수결제</a:t>
                </a:r>
                <a:endParaRPr lang="en-US" altLang="ko-KR" sz="2000" spc="-2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422400"/>
                <a:ext cx="8053711" cy="4754563"/>
              </a:xfrm>
              <a:blipFill>
                <a:blip r:embed="rId2"/>
                <a:stretch>
                  <a:fillRect l="-681" r="-8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공공선택의 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D48797A-7059-4B80-ADBA-994AD8992E8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145" y="2078209"/>
            <a:ext cx="6095709" cy="3443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550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점수투표제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latinLnBrk="0">
              <a:lnSpc>
                <a:spcPct val="13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앞서의 표결 방식들은 사람들이 단순히 찬성이나 반대의 뜻을 표현하는 것만 허용하고 있어 선호의 강도를 반영할 수 없다는 문제점 </a:t>
            </a:r>
            <a:b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⇒  투표 결과 최선이 아닌 대안이 선택될 수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latinLnBrk="0">
              <a:lnSpc>
                <a:spcPct val="130000"/>
              </a:lnSpc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점수투표제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(point voting)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각자에게 정해진 점수를 부여하고 투표자로 하여금 선호의 강도에 따라 이를 적절히 배분해 투표하게 만든 후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 의안이 얻는 점수를 합해 가장 많은 총점을 얻은 의안 선택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latinLnBrk="0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선호의 강도를 제대로 반영하여 합리적인 의사결정에 이르도록 할 수 있다는 장점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공공선택의 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194456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점수투표제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0"/>
            <a:ext cx="8018200" cy="4754563"/>
          </a:xfrm>
        </p:spPr>
        <p:txBody>
          <a:bodyPr anchor="ctr">
            <a:noAutofit/>
          </a:bodyPr>
          <a:lstStyle/>
          <a:p>
            <a:pPr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점수투표제의 문제점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투표자의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전략적 행위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(voting strategy)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 취약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514800" lvl="1" indent="-230400">
              <a:lnSpc>
                <a:spcPct val="14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전략적 행위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투표자가 다른 투표자의 투표성향을 미리 예측하고 자신의 행동을 이에 맞춰 변화시킴으로써 자기가 원하는 결과를 얻으려 하는 행위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lnSpc>
                <a:spcPct val="140000"/>
              </a:lnSpc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indent="-230400">
              <a:lnSpc>
                <a:spcPct val="14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전략적 행위로 인해 최선의 대안이 선택되지 못하는 결과가 발생할 수도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공공선택의 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131892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점수투표제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latinLnBrk="0">
                  <a:lnSpc>
                    <a:spcPct val="130000"/>
                  </a:lnSpc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선호의 강도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latinLnBrk="0">
                  <a:lnSpc>
                    <a:spcPct val="130000"/>
                  </a:lnSpc>
                </a:pP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latinLnBrk="0">
                  <a:lnSpc>
                    <a:spcPct val="130000"/>
                  </a:lnSpc>
                </a:pP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latinLnBrk="0">
                  <a:lnSpc>
                    <a:spcPct val="130000"/>
                  </a:lnSpc>
                </a:pP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0" indent="0" latinLnBrk="0">
                  <a:lnSpc>
                    <a:spcPct val="130000"/>
                  </a:lnSpc>
                  <a:buNone/>
                </a:pP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latinLnBrk="0">
                  <a:lnSpc>
                    <a:spcPct val="130000"/>
                  </a:lnSpc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정직하게 투표한다면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가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조합장으로 선출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latinLnBrk="0">
                  <a:lnSpc>
                    <a:spcPct val="130000"/>
                  </a:lnSpc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투표자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5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가 전략적 행위를 통해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에게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10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점을 몰아주면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가 조합장으로 선출 ⇒ 사회적으로 바람직하지 않은 결과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공공선택의 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 descr="테이블이(가) 표시된 사진&#10;&#10;자동 생성된 설명">
            <a:extLst>
              <a:ext uri="{FF2B5EF4-FFF2-40B4-BE49-F238E27FC236}">
                <a16:creationId xmlns:a16="http://schemas.microsoft.com/office/drawing/2014/main" id="{2D0DCFF9-573F-4F90-804A-1F8296D02A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597" y="2116137"/>
            <a:ext cx="7538806" cy="2404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0794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5.3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과반수제하에서의 정치적 균형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30400" indent="-230400" latinLnBrk="0">
                  <a:lnSpc>
                    <a:spcPct val="120000"/>
                  </a:lnSpc>
                  <a:spcBef>
                    <a:spcPts val="1200"/>
                  </a:spcBef>
                  <a:buFont typeface="Wingdings" panose="05000000000000000000" pitchFamily="2" charset="2"/>
                  <a:buChar char="§"/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과반수제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일반적으로 가장 많이 사용되는 표결 방식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30400" indent="-230400" latinLnBrk="0">
                  <a:lnSpc>
                    <a:spcPct val="120000"/>
                  </a:lnSpc>
                  <a:spcBef>
                    <a:spcPts val="1200"/>
                  </a:spcBef>
                  <a:buFont typeface="Wingdings" panose="05000000000000000000" pitchFamily="2" charset="2"/>
                  <a:buChar char="§"/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정치적 균형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주어진 집단의사결정 </a:t>
                </a:r>
                <a:r>
                  <a:rPr lang="ko-KR" altLang="en-US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과정하에서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어떤 의제에 대해 합의가 이루어진 상태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30400" indent="-230400" latinLnBrk="0">
                  <a:lnSpc>
                    <a:spcPct val="120000"/>
                  </a:lnSpc>
                  <a:spcBef>
                    <a:spcPts val="1200"/>
                  </a:spcBef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altLang="ko-KR" sz="2000" b="1" i="1" spc="-7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ko-KR" sz="2000" b="1" i="1" spc="-7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sz="2000" b="1" i="1" spc="-70" smtClean="0"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ko-KR" sz="2000" b="1" i="1" spc="-7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sz="2000" b="1" i="1" spc="-70"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ko-KR" altLang="en-US" sz="2000" spc="-7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예산 규모를 </a:t>
                </a:r>
                <a:br>
                  <a:rPr lang="en-US" altLang="ko-KR" sz="2000" spc="-7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z="2000" spc="-7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놓고 </a:t>
                </a:r>
                <a14:m>
                  <m:oMath xmlns:m="http://schemas.openxmlformats.org/officeDocument/2006/math">
                    <m:r>
                      <a:rPr lang="en-US" altLang="ko-KR" sz="2000" b="1" i="1" spc="-7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altLang="ko-KR" sz="2000" b="1" i="1" spc="-7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sz="2000" b="1" i="1" spc="-70"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US" altLang="ko-KR" sz="2000" b="1" i="1" spc="-7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sz="2000" b="1" i="1" spc="-70">
                        <a:latin typeface="Cambria Math" panose="02040503050406030204" pitchFamily="18" charset="0"/>
                      </a:rPr>
                      <m:t>𝒁</m:t>
                    </m:r>
                  </m:oMath>
                </a14:m>
                <a:r>
                  <a:rPr lang="ko-KR" altLang="en-US" sz="2000" spc="-7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가 과반수제 </a:t>
                </a:r>
                <a:br>
                  <a:rPr lang="en-US" altLang="ko-KR" sz="2000" spc="-7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z="2000" spc="-7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방식에 의해 적절한 </a:t>
                </a:r>
                <a:br>
                  <a:rPr lang="en-US" altLang="ko-KR" sz="2000" spc="-7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z="2000" spc="-7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예산규모를 선택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30400" indent="-230400" latinLnBrk="0">
                  <a:lnSpc>
                    <a:spcPct val="120000"/>
                  </a:lnSpc>
                  <a:spcBef>
                    <a:spcPts val="1200"/>
                  </a:spcBef>
                  <a:spcAft>
                    <a:spcPts val="200"/>
                  </a:spcAft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투표자의 선호도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 :  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 ≻ 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𝑩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≻ 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 :  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≻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𝑩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≻ 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𝒁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 :  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≻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≻ 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공공선택의 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C79CF73-1A94-47B0-B299-515304B7786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3025" y="3080963"/>
            <a:ext cx="5324049" cy="3024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1291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과반수제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중위투표자이론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628649" y="1422400"/>
                <a:ext cx="8106977" cy="4754563"/>
              </a:xfrm>
            </p:spPr>
            <p:txBody>
              <a:bodyPr anchor="ctr">
                <a:noAutofit/>
              </a:bodyPr>
              <a:lstStyle/>
              <a:p>
                <a:pPr latinLnBrk="0"/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과반수제하의 표결과정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514800" lvl="1" latinLnBrk="0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임의의 두 대안을 짝지어 각자에게 선택하게 한 후 과반수를 얻은 대안을 남기고 다른 대안은 제거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514800" lvl="1" latinLnBrk="0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남겨진 대안을 제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3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대안과 다시 비교하여 과반수를 얻은 대안을 궁극적으로 선택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latinLnBrk="0">
                  <a:spcBef>
                    <a:spcPts val="2000"/>
                  </a:spcBef>
                </a:pPr>
                <a:r>
                  <a:rPr lang="ko-KR" altLang="en-US" sz="2000" dirty="0" err="1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꽁도세승자</a:t>
                </a:r>
                <a:r>
                  <a:rPr lang="en-US" altLang="ko-KR" sz="2000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(Condorcet winner) :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여러 의안이 있을 때 둘씩 짝지어 비교하고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과반수를 얻어 살아남은 의안을 또 다른 의안과 비교하는 과정을 계속하여 결국 살아남게 된 의안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latinLnBrk="0">
                  <a:spcBef>
                    <a:spcPts val="2000"/>
                  </a:spcBef>
                </a:pP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비교 ⇒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남겨짐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altLang="ko-KR" sz="2000" b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비교 ⇒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남겨짐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[</a:t>
                </a:r>
                <a:r>
                  <a:rPr lang="ko-KR" altLang="en-US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꽁도세승자로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가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예산규모로 선택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]</a:t>
                </a: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422400"/>
                <a:ext cx="8106977" cy="4754563"/>
              </a:xfrm>
              <a:blipFill>
                <a:blip r:embed="rId2"/>
                <a:stretch>
                  <a:fillRect l="-677" r="-150" b="-1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공공선택의 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3730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과반수제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중위투표자이론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latinLnBrk="0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투표자들의 선호가 앞에서 본 것처럼 주어진 경우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비교의 순서와 상관없이 항상 똑같은 결과 나옴</a:t>
            </a:r>
          </a:p>
          <a:p>
            <a:pPr latinLnBrk="0">
              <a:spcBef>
                <a:spcPts val="2500"/>
              </a:spcBef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과반수제를 통해 선택된 대안 𝐵는 어떤 성격을 갖고 있을까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</a:p>
          <a:p>
            <a:pPr marL="452438" lvl="1" indent="-184150" latinLnBrk="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 투표자들을 선호하는 예산규모가 큰 사람부터 차례로 늘어놓으면 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8288" lvl="1" indent="0" latinLnBrk="0">
              <a:buNone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𝑋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𝑍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𝑌의 순서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	</a:t>
            </a:r>
          </a:p>
          <a:p>
            <a:pPr marL="452438" lvl="1" indent="-184150" latinLnBrk="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중위투표자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(median voter) 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𝑍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52438" lvl="1" indent="-184150" latinLnBrk="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과반수제에 의해 선택된 대안 𝐵는 중위투표자가 가장 선호하는 대안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spcBef>
                <a:spcPts val="2500"/>
              </a:spcBef>
            </a:pPr>
            <a:r>
              <a:rPr lang="ko-KR" altLang="en-US" sz="2000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중위투표자이론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(median voter theorem)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과반수제하에서는 중위투표자가 가장 선호하는 의안이 채택된다는 이론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공공선택의 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271869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과반수제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투표의 역설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30400" lvl="1" indent="-230400" latinLnBrk="0">
                  <a:spcAft>
                    <a:spcPts val="200"/>
                  </a:spcAft>
                  <a:buFont typeface="Wingdings" panose="05000000000000000000" pitchFamily="2" charset="2"/>
                  <a:buChar char="§"/>
                  <a:tabLst>
                    <a:tab pos="987425" algn="l"/>
                  </a:tabLst>
                </a:pPr>
                <a:r>
                  <a:rPr lang="ko-KR" altLang="en-US" sz="2000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앞과 다른 투표자의 선호 가정 </a:t>
                </a:r>
                <a:br>
                  <a:rPr lang="en-US" altLang="ko-KR" sz="2000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14:m>
                  <m:oMath xmlns:m="http://schemas.openxmlformats.org/officeDocument/2006/math"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𝑿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: 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𝑨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≻ 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𝑩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≻ 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 : 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≻ 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 ≻ 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br>
                  <a:rPr lang="en-US" altLang="ko-KR" sz="2000" i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𝒁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 : 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≻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≻ 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</a:p>
              <a:p>
                <a:pPr marL="230400" indent="-230400" latinLnBrk="0">
                  <a:spcBef>
                    <a:spcPts val="2000"/>
                  </a:spcBef>
                  <a:tabLst>
                    <a:tab pos="1250950" algn="l"/>
                  </a:tabLst>
                </a:pPr>
                <a:r>
                  <a:rPr lang="ko-KR" altLang="en-US" sz="2000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𝐴</a:t>
                </a:r>
                <a:r>
                  <a:rPr lang="en-US" altLang="ko-KR" sz="2000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lang="ko-KR" altLang="en-US" sz="2000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𝐵  비교 ⇒  𝐴</a:t>
                </a:r>
                <a:br>
                  <a:rPr lang="en-US" altLang="ko-KR" sz="2000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z="2000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𝐴</a:t>
                </a:r>
                <a:r>
                  <a:rPr lang="en-US" altLang="ko-KR" sz="2000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lang="ko-KR" altLang="en-US" sz="2000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𝐶  비교 </a:t>
                </a:r>
                <a:r>
                  <a:rPr lang="en-US" altLang="ko-KR" sz="2000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	</a:t>
                </a:r>
                <a:r>
                  <a:rPr lang="ko-KR" altLang="en-US" sz="2000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⇒  </a:t>
                </a:r>
                <a:r>
                  <a:rPr lang="ko-KR" altLang="en-US" sz="2000" spc="-113" dirty="0">
                    <a:solidFill>
                      <a:srgbClr val="C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𝐶</a:t>
                </a:r>
                <a:endParaRPr lang="en-US" altLang="ko-KR" sz="2000" spc="-113" dirty="0">
                  <a:solidFill>
                    <a:srgbClr val="C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30400" indent="-230400" latinLnBrk="0">
                  <a:spcBef>
                    <a:spcPts val="2000"/>
                  </a:spcBef>
                  <a:tabLst>
                    <a:tab pos="1250950" algn="l"/>
                  </a:tabLst>
                </a:pPr>
                <a:r>
                  <a:rPr lang="ko-KR" altLang="en-US" sz="2000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𝐵</a:t>
                </a:r>
                <a:r>
                  <a:rPr lang="en-US" altLang="ko-KR" sz="2000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lang="ko-KR" altLang="en-US" sz="2000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𝐶  비교 ⇒  𝐵</a:t>
                </a:r>
                <a:br>
                  <a:rPr lang="en-US" altLang="ko-KR" sz="2000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14:m>
                  <m:oMath xmlns:m="http://schemas.openxmlformats.org/officeDocument/2006/math">
                    <m:r>
                      <m:rPr>
                        <m:nor/>
                      </m:rPr>
                      <a:rPr lang="ko-KR" altLang="en-US" sz="2000" spc="-113" dirty="0">
                        <a:latin typeface="나눔고딕" panose="020D0604000000000000" pitchFamily="50" charset="-127"/>
                        <a:ea typeface="나눔고딕" panose="020D0604000000000000" pitchFamily="50" charset="-127"/>
                      </a:rPr>
                      <m:t>𝐵</m:t>
                    </m:r>
                  </m:oMath>
                </a14:m>
                <a:r>
                  <a:rPr lang="en-US" altLang="ko-KR" sz="2000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lang="ko-KR" altLang="en-US" sz="2000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𝐴  비교</a:t>
                </a:r>
                <a:r>
                  <a:rPr lang="en-US" altLang="ko-KR" sz="2000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	</a:t>
                </a:r>
                <a:r>
                  <a:rPr lang="ko-KR" altLang="en-US" sz="2000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⇒  </a:t>
                </a:r>
                <a:r>
                  <a:rPr lang="ko-KR" altLang="en-US" sz="2000" spc="-113" dirty="0">
                    <a:solidFill>
                      <a:srgbClr val="C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𝐴</a:t>
                </a:r>
                <a:endParaRPr lang="en-US" altLang="ko-KR" sz="2000" spc="-113" dirty="0">
                  <a:solidFill>
                    <a:srgbClr val="C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30400" indent="-230400" latinLnBrk="0">
                  <a:spcBef>
                    <a:spcPts val="2000"/>
                  </a:spcBef>
                </a:pPr>
                <a:r>
                  <a:rPr lang="ko-KR" altLang="en-US" sz="2000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비교 순서가 달라짐에 따라 표결의 결과 달라짐 </a:t>
                </a:r>
                <a:br>
                  <a:rPr lang="en-US" altLang="ko-KR" sz="2000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z="2000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⇒  </a:t>
                </a:r>
                <a:r>
                  <a:rPr lang="ko-KR" altLang="en-US" sz="2000" b="1" spc="-113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투표의 역설</a:t>
                </a:r>
                <a:r>
                  <a:rPr lang="en-US" altLang="ko-KR" sz="2000" spc="-113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(voting paradox)</a:t>
                </a: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t="-1026" b="-397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공공선택의 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4065424-3895-4843-BA12-1F2C5DCB4B2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6901" y="2011102"/>
            <a:ext cx="5578514" cy="3167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4489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과반수제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투표의 역설</a:t>
            </a:r>
            <a:endParaRPr lang="ko-KR" altLang="en-US" sz="26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85750" lvl="1" indent="-230400" latinLnBrk="0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과반수제에 의해 집단의사결정을 할 때 투표의 역설 현상 때문에 일관성 없는 결과가 나올 가능성이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lvl="1" indent="-230400" latinLnBrk="0">
              <a:lnSpc>
                <a:spcPct val="140000"/>
              </a:lnSpc>
              <a:buClr>
                <a:srgbClr val="002060"/>
              </a:buClr>
              <a:buFont typeface="Wingdings" panose="05000000000000000000" pitchFamily="2" charset="2"/>
              <a:buChar char="§"/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lvl="1" indent="-230400" latinLnBrk="0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의사진행 과정을 장악하고 있는 사람이 </a:t>
            </a: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의사진행조작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(agenda manipulation)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을 통해 결과에 영향을 미칠 수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536575" lvl="3" indent="-230400" latinLnBrk="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의안간 비교의 순서를 선택함으로써 표결 결과에 영향력 행사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공공선택의 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43389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과반수제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투표의 역설</a:t>
            </a:r>
            <a:endParaRPr lang="ko-KR" altLang="en-US" sz="26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85750" lvl="1" indent="-28575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투표의 역설이 나타나는 이유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다봉선호를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가진 투표자 존재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7675" lvl="4">
              <a:lnSpc>
                <a:spcPct val="130000"/>
              </a:lnSpc>
              <a:buClr>
                <a:schemeClr val="accent1"/>
              </a:buClr>
            </a:pPr>
            <a:r>
              <a:rPr lang="ko-KR" altLang="en-US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단봉선호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봉우리가 하나인 산 모양을 갖는 선호</a:t>
            </a:r>
            <a:endParaRPr lang="en-US" altLang="ko-KR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7675" lvl="4">
              <a:lnSpc>
                <a:spcPct val="130000"/>
              </a:lnSpc>
              <a:buClr>
                <a:schemeClr val="accent1"/>
              </a:buClr>
            </a:pPr>
            <a:r>
              <a:rPr lang="ko-KR" altLang="en-US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다봉선호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𝑌의 선호처럼 봉우리가 양쪽에 두 개가 있는 경우</a:t>
            </a:r>
            <a:endParaRPr lang="en-US" altLang="ko-KR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87600" lvl="4" indent="-230400">
              <a:lnSpc>
                <a:spcPct val="130000"/>
              </a:lnSpc>
              <a:buClr>
                <a:srgbClr val="002060"/>
              </a:buClr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lvl="1" indent="-28575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단봉선호가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일반적이기는 하지만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다봉선호도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그리 이상한 일은 아님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7675" lvl="3" indent="-2286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공립학교의 질과 관련된 예산수준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중간 정도의 예산수준을 가장 싫어하고 아주 작거나 아주 큰 예산규모를 선호할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7675" lvl="3" indent="-2286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건물의 용도로 도서관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청년회관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임대상가에 대해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다봉선호를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가질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공공선택의 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747469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과반수제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투표의 역설</a:t>
            </a:r>
            <a:endParaRPr lang="ko-KR" altLang="en-US" sz="26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85750" lvl="2" indent="-285750">
              <a:spcBef>
                <a:spcPts val="0"/>
              </a:spcBef>
              <a:spcAft>
                <a:spcPts val="500"/>
              </a:spcAft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일반적인 경우 다음의 조건이 성립하면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단봉선호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나타남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6400" lvl="3" indent="-230400"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표준적인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볼록선호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6400" lvl="3" indent="-230400"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고정된 가격에 직면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87600" lvl="3" indent="-230400">
              <a:spcBef>
                <a:spcPts val="0"/>
              </a:spcBef>
              <a:spcAft>
                <a:spcPts val="500"/>
              </a:spcAft>
              <a:buClr>
                <a:srgbClr val="002060"/>
              </a:buClr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87600" lvl="3" indent="-230400">
              <a:spcBef>
                <a:spcPts val="0"/>
              </a:spcBef>
              <a:spcAft>
                <a:spcPts val="500"/>
              </a:spcAft>
              <a:buClr>
                <a:srgbClr val="002060"/>
              </a:buClr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87600" lvl="3" indent="-230400">
              <a:spcBef>
                <a:spcPts val="0"/>
              </a:spcBef>
              <a:spcAft>
                <a:spcPts val="500"/>
              </a:spcAft>
              <a:buClr>
                <a:srgbClr val="002060"/>
              </a:buClr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87600" lvl="3" indent="-230400">
              <a:spcBef>
                <a:spcPts val="0"/>
              </a:spcBef>
              <a:spcAft>
                <a:spcPts val="500"/>
              </a:spcAft>
              <a:buClr>
                <a:srgbClr val="002060"/>
              </a:buClr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87600" lvl="3" indent="-230400">
              <a:spcBef>
                <a:spcPts val="0"/>
              </a:spcBef>
              <a:spcAft>
                <a:spcPts val="500"/>
              </a:spcAft>
              <a:buClr>
                <a:srgbClr val="002060"/>
              </a:buClr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87600" lvl="3" indent="-230400">
              <a:spcBef>
                <a:spcPts val="0"/>
              </a:spcBef>
              <a:spcAft>
                <a:spcPts val="500"/>
              </a:spcAft>
              <a:buClr>
                <a:srgbClr val="002060"/>
              </a:buClr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87600" lvl="3" indent="-230400">
              <a:spcBef>
                <a:spcPts val="0"/>
              </a:spcBef>
              <a:spcAft>
                <a:spcPts val="500"/>
              </a:spcAft>
              <a:buClr>
                <a:srgbClr val="002060"/>
              </a:buClr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공공선택의 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FF6C1BD-F29A-47FF-A85F-DF3D51BA747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1913" y="2948621"/>
            <a:ext cx="6040174" cy="3407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4330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5.4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대의민주제하의 공공선택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indent="-230400" latinLnBrk="0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현실의 정부가 직접민주제의 방식에 의해 운용되는 예는 찾아보기 어려움</a:t>
            </a:r>
          </a:p>
          <a:p>
            <a:pPr marL="449263" lvl="1" indent="-230400" latinLnBrk="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거의 모든 나라가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대의민주제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(representative democracy)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채택 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indent="-230400" latinLnBrk="0">
              <a:spcBef>
                <a:spcPts val="2000"/>
              </a:spcBef>
            </a:pP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대의민주제하의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정부는 주로 정치가나 관료에 의해 움직여지고 있으므로 이들의 행태를 자세히 관찰하고 분석할 필요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indent="-230400" latinLnBrk="0">
              <a:spcBef>
                <a:spcPts val="2000"/>
              </a:spcBef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정치가나 관료들도 자신의 이득을 추구하는 경제주체라는 점에서는 기본적으로 효용극대화를 추구하는 소비자나 이윤극대화를 추구하는 기업과 다를 바 없음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indent="-230400" latinLnBrk="0">
              <a:spcBef>
                <a:spcPts val="2000"/>
              </a:spcBef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따라서 이들이 자신에게 돌아오는 이득을 극대화하려 할 것이라는 기본 가정으로부터 논의 출발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공공선택의 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803974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대의민주제하의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공공선택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정치가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latinLnBrk="0">
              <a:lnSpc>
                <a:spcPct val="15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대의민주제하에서 국민은 직접 의사결정에 참여하지 않고 자신들을 대표해 의사결정에 참여할 </a:t>
            </a: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정치가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(politicians)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선출</a:t>
            </a:r>
          </a:p>
          <a:p>
            <a:pPr latinLnBrk="0">
              <a:lnSpc>
                <a:spcPct val="150000"/>
              </a:lnSpc>
            </a:pPr>
            <a:endParaRPr lang="ko-KR" altLang="en-US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lnSpc>
                <a:spcPct val="15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정치가가 정부 운영을 책임지게 되므로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대의민주제하의 공공선택에 관한 논의는 정치가의 행동에 대한 분석으로부터 시작해야 함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공공선택의 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064655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표극대화모형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latinLnBrk="0">
              <a:lnSpc>
                <a:spcPct val="110000"/>
              </a:lnSpc>
            </a:pP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다운즈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(A. Downs) 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대의민주제하의 투표자와 정치가가 각각 다음과 같은 목표를 추구한다는 기본가정으로부터 논의 시작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lnSpc>
                <a:spcPct val="110000"/>
              </a:lnSpc>
              <a:spcBef>
                <a:spcPts val="2000"/>
              </a:spcBef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투표자는 자신의 효용을 극대화하려 한다고 가정 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latinLnBrk="0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정부의 경제활동으로부터 자신이 누릴 수 있는 순편익이 극대화되기를 바란다는 의미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-236537" latinLnBrk="0">
              <a:lnSpc>
                <a:spcPct val="110000"/>
              </a:lnSpc>
              <a:spcBef>
                <a:spcPts val="2000"/>
              </a:spcBef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정치가는 공직을 얻기 위해 최대한 많은 표를 얻으려 한다고 가정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lnSpc>
                <a:spcPct val="110000"/>
              </a:lnSpc>
              <a:spcBef>
                <a:spcPts val="2000"/>
              </a:spcBef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투표자는 자신의 이익을 가장 잘 대표해 줄 수 있는 사람에게 표를 던지고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정치가는 이에 부응해 투표자에게 가장 유리한 정책을 추진</a:t>
            </a:r>
          </a:p>
          <a:p>
            <a:pPr latinLnBrk="0">
              <a:lnSpc>
                <a:spcPct val="110000"/>
              </a:lnSpc>
              <a:spcBef>
                <a:spcPts val="2000"/>
              </a:spcBef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과정에서 개인의 선호가 집단의사로 반영됨 </a:t>
            </a:r>
            <a:b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20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⇒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표극대화모형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(vote maximization model)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공공선택의 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309292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투표자의 연합과 정강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개별 의안에 대해 견해를 달리하는 투표자들이 서로 연합함으로써     공동의 이익을 추구할 수 있는 여지가 있음</a:t>
            </a:r>
          </a:p>
          <a:p>
            <a:pPr>
              <a:lnSpc>
                <a:spcPct val="120000"/>
              </a:lnSpc>
              <a:spcBef>
                <a:spcPts val="1500"/>
              </a:spcBef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투표자 𝐴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𝐵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𝐶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𝐷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𝐸가 징병제 폐지와 가족법 개정 여부에 대해 투표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20000"/>
              </a:lnSpc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20000"/>
              </a:lnSpc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20000"/>
              </a:lnSpc>
            </a:pPr>
            <a:endParaRPr lang="ko-KR" altLang="en-US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20000"/>
              </a:lnSpc>
              <a:buNone/>
            </a:pPr>
            <a:endParaRPr lang="ko-KR" altLang="en-US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장 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공공선택의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 descr="테이블이(가) 표시된 사진&#10;&#10;자동 생성된 설명">
            <a:extLst>
              <a:ext uri="{FF2B5EF4-FFF2-40B4-BE49-F238E27FC236}">
                <a16:creationId xmlns:a16="http://schemas.microsoft.com/office/drawing/2014/main" id="{B100AEE4-7D39-41A3-87FB-EB9982871DA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097" y="3002488"/>
            <a:ext cx="6921805" cy="3264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5701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투표자의 연합과 정강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latinLnBrk="0">
              <a:lnSpc>
                <a:spcPct val="13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첫째와 둘째 의안을 각각 분리해 표결에 붙이고 과반수제 적용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latinLnBrk="0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징병제에 관해서는 존속시키자는 안이 통과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latinLnBrk="0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가족법에 관해서는 개정하자는 안이 통과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lnSpc>
                <a:spcPct val="130000"/>
              </a:lnSpc>
              <a:spcBef>
                <a:spcPts val="2500"/>
              </a:spcBef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𝐴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𝐸가 연합해 𝐴는 가족법 유지 쪽에 표를 던지고 그 대가로 𝐸는 징병제 폐지 쪽으로 표를 던지기로 합의 </a:t>
            </a:r>
            <a:b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20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⇒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징병제 폐지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가족법 유지 결정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lnSpc>
                <a:spcPct val="130000"/>
              </a:lnSpc>
              <a:spcBef>
                <a:spcPts val="2500"/>
              </a:spcBef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과반수제를 위시한 대부분의 표결방식에서는 투표자들의 선호의 강도가 적절하게 반영되지 못하지만 투표자의 연합을 통해 선호의 강도가 반영될 수 있음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공공선택의 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702638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투표자의 연합과 정강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0"/>
            <a:ext cx="7982690" cy="4754563"/>
          </a:xfrm>
        </p:spPr>
        <p:txBody>
          <a:bodyPr anchor="ctr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투표자 수가 엄청나게 많은 현실의 세계에서 투표자들이 실제로 연합을 구성한다는 것은 거의 불가능에 가까운 일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30000"/>
              </a:lnSpc>
              <a:spcBef>
                <a:spcPts val="2500"/>
              </a:spcBef>
            </a:pP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대의민주제하의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정치가는 </a:t>
            </a: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정강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(platforms)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이라는 것을 통해 실질적으로 투표자의 연합을 만들어내는 역할</a:t>
            </a:r>
          </a:p>
          <a:p>
            <a:pPr marL="444500" lvl="1" indent="-176213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정강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정당이나 정치가가 여러 가지 사안에 대해 하나의 종합적인 태도를    취하게 되는데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이를 구체적으로 나열해 놓은 것</a:t>
            </a:r>
          </a:p>
          <a:p>
            <a:pPr>
              <a:lnSpc>
                <a:spcPct val="130000"/>
              </a:lnSpc>
              <a:spcBef>
                <a:spcPts val="2000"/>
              </a:spcBef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정강을 만들 때는 득표를 극대화하려는 관점에서 선거구민들의 선호를 최대한으로 반영할 수 있도록 노력 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76213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정강은 성공적인 투표자의 연합을 만들고자 하는 시도와 밀접한 관계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공공선택의 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828766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정치적 결탁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0"/>
            <a:ext cx="7973812" cy="4754563"/>
          </a:xfrm>
        </p:spPr>
        <p:txBody>
          <a:bodyPr anchor="ctr">
            <a:noAutofit/>
          </a:bodyPr>
          <a:lstStyle/>
          <a:p>
            <a:pPr>
              <a:lnSpc>
                <a:spcPct val="140000"/>
              </a:lnSpc>
              <a:spcAft>
                <a:spcPts val="10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만약 투표자들이 직접적으로 연합을 결성해 표를 주고받는다면 </a:t>
            </a: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정치적 결탁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(logrolling)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 의해 표가 교환되었다고 말할 수 있음</a:t>
            </a:r>
          </a:p>
          <a:p>
            <a:pPr>
              <a:lnSpc>
                <a:spcPct val="140000"/>
              </a:lnSpc>
              <a:spcAft>
                <a:spcPts val="10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정강을 통해 투표자들을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끌어모으는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것도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정치가가 매개 역할을 한다는 점만 다를 뿐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내용상으로 보아 정치적 결탁에 의해 표를 교환하는 것과 다를 바 없음</a:t>
            </a:r>
          </a:p>
          <a:p>
            <a:pPr>
              <a:lnSpc>
                <a:spcPct val="140000"/>
              </a:lnSpc>
              <a:spcAft>
                <a:spcPts val="10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표를 교환하는 행위를 어떻게 평가해야 하는지에 대해 긍정적으로 보는 견해와 부정적으로 보는 견해 공존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장 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공공선택의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721002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정치적 결탁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latinLnBrk="0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긍정적 평가</a:t>
            </a:r>
          </a:p>
          <a:p>
            <a:pPr marL="444500" lvl="1" indent="-176213" latinLnBrk="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정치의 장에서 표를 교환하는 행위는 효율적 집단의사결정을 가능하게 해줌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76213" latinLnBrk="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표 교환행위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(vote trading)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통해 투표자가 갖는 선호의 강도가 반영될 길이 열리며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안정된 정치적 균형을 가져옴</a:t>
            </a:r>
          </a:p>
          <a:p>
            <a:pPr marL="444500" lvl="1" indent="-176213" latinLnBrk="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민주적인 정치체제에서 타협이 중요한데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표 교환행위는 정치적 과정에서의 타협을 구체화시킨 것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spcBef>
                <a:spcPts val="2500"/>
              </a:spcBef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부정적 평가</a:t>
            </a:r>
          </a:p>
          <a:p>
            <a:pPr marL="444500" lvl="1" indent="-176213" latinLnBrk="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표의 교환이 보편화될 경우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일반대중의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희생하에서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특정 집단의 사람들에게만 이익이 돌아가는 방향으로 집단의사결정이 이루어질 가능성 있음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장 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공공선택의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32430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대의민주제하의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공공선택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관료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latinLnBrk="0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현대의 정부에서 </a:t>
            </a: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관료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(bureaucrat)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들은 정치가에 못지않게 중요한 역할 수행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latinLnBrk="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관료는 정치가보다 수명이 길고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정책집행 과정을 직접 담당하여 이에 대한 전문적 지식을 갖고 있다는 점에서 정치가와 차이</a:t>
            </a:r>
          </a:p>
          <a:p>
            <a:pPr latinLnBrk="0">
              <a:spcBef>
                <a:spcPts val="2500"/>
              </a:spcBef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민간기업은 이윤을 통해 경영성과를 평가할 수 있으나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관료들은 맡은 일을 얼마나 성공적으로 수행했는지를 평가할 적절한 기준 없음 </a:t>
            </a:r>
            <a:b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⇒ 관료들로 하여금 효율적인 행동을 하도록 유도하는 유인구조를 만들기 어려움</a:t>
            </a:r>
          </a:p>
          <a:p>
            <a:pPr latinLnBrk="0">
              <a:spcBef>
                <a:spcPts val="2500"/>
              </a:spcBef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관료들이 공복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(public servant)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이어야 하지만 실제로는 이들의 도덕적 해이 발생할 수 있음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공공선택의 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599287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관료제모형의 기본골격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</a:pPr>
            <a:r>
              <a:rPr lang="ko-KR" altLang="en-US" sz="2000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관료제모형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(bureaucracy model)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현실에서 관료들이 어떤 행동을 보일 것인지 예측하는 데 분석의 초점을 맞춤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관료의 행태에 관한 대부분의 실증연구는 그들이 공공서비스를 생산할 때 비용을 가능한 한 최소의 수준으로 낮추려고 노력하지 않는 경향이 있음을 밝히고 있음 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관료들이 비효율적 생산을 하는 이유는 그들의 능력 부족 탓이 아니라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그렇게 하는 것이 그들의 개인적 이득을 더 크게 만들기 때문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공공선택의 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888513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니스카넨모형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>
              <a:spcAft>
                <a:spcPts val="700"/>
              </a:spcAft>
            </a:pPr>
            <a:r>
              <a:rPr lang="ko-KR" altLang="en-US" sz="2000" b="1" spc="-100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니스카넨모형</a:t>
            </a:r>
            <a:r>
              <a:rPr lang="en-US" altLang="ko-KR" sz="2000" spc="-1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en-US" altLang="ko-KR" sz="2000" spc="-100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Niskanen</a:t>
            </a:r>
            <a:r>
              <a:rPr lang="en-US" altLang="ko-KR" sz="2000" spc="-1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model) : </a:t>
            </a:r>
            <a:r>
              <a:rPr lang="en-US" altLang="ko-KR" sz="2000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관료들은 그가 속한 부서의 </a:t>
            </a:r>
            <a:r>
              <a:rPr lang="ko-KR" altLang="en-US" sz="2000" b="1" spc="-1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예산극대화</a:t>
            </a:r>
            <a:r>
              <a:rPr lang="en-US" altLang="ko-KR" sz="2000" spc="-1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(budget maximization)</a:t>
            </a:r>
            <a:r>
              <a:rPr lang="ko-KR" altLang="en-US" sz="2000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추구한다는 기본가정</a:t>
            </a:r>
            <a:endParaRPr lang="en-US" altLang="ko-KR" sz="2000" spc="-1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>
              <a:spcBef>
                <a:spcPts val="0"/>
              </a:spcBef>
              <a:spcAft>
                <a:spcPts val="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직책상의 특권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사회적인 명성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권한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영향력 등이 예산과 밀접한 관련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관료들은 입법부의 심사절차를 통해 공공재 생산에 필요한 경비 조달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>
              <a:spcBef>
                <a:spcPts val="0"/>
              </a:spcBef>
              <a:spcAft>
                <a:spcPts val="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생산물을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단위별로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판매하는 것이 아니라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전체의 생산물을 예산과 교환하는 형식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관료적 생산의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총편익이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총비용보다 크다는 사실을 입법부에 납득시키기만 하면 자신의 생산활동이 타당했다고 인정받을 수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공공선택의 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28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348281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니스카넨모형</a:t>
            </a:r>
            <a:endParaRPr lang="ko-KR" altLang="en-US" sz="26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예산극대화를 추구하는 관료들은 입법부에 의해 타당성을 인정받을 수 있는 최대한의 생산수준인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 smtClean="0">
                            <a:latin typeface="Cambria Math" panose="02040503050406030204" pitchFamily="18" charset="0"/>
                          </a:rPr>
                          <m:t>𝑸</m:t>
                        </m:r>
                      </m:e>
                      <m:sub>
                        <m:r>
                          <a:rPr lang="en-US" altLang="ko-KR" sz="2000" b="1" i="1" smtClean="0"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</m:sSub>
                  </m:oMath>
                </a14:m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선택</a:t>
                </a: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b="-346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공공선택의 이론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8ECDBFC-7ECE-49EA-91B2-2B6F4609EF4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242" y="1487511"/>
            <a:ext cx="6625733" cy="3888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7999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니스카넨모형</a:t>
            </a:r>
            <a:endParaRPr lang="ko-KR" altLang="en-US" sz="26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latinLnBrk="0">
              <a:lnSpc>
                <a:spcPct val="120000"/>
              </a:lnSpc>
            </a:pP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니스카넨은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관료들의 과다생산 경향에 대처하기 위해 다음과 같은 대책 제시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96850" lvl="1" indent="0" latinLnBrk="0">
              <a:lnSpc>
                <a:spcPct val="120000"/>
              </a:lnSpc>
              <a:buNone/>
              <a:tabLst>
                <a:tab pos="900113" algn="l"/>
              </a:tabLst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관리자 수준 관료들의 봉급을 예산절감 노력에 상응하게 조정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96850" lvl="1" indent="0" latinLnBrk="0">
              <a:lnSpc>
                <a:spcPct val="120000"/>
              </a:lnSpc>
              <a:buNone/>
              <a:tabLst>
                <a:tab pos="900113" algn="l"/>
              </a:tabLst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(2)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생산과 공급활동은 민간기업에 맡기고 정부는 경비만 대는 방법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63538" lvl="1" indent="-166688" latinLnBrk="0">
              <a:lnSpc>
                <a:spcPct val="120000"/>
              </a:lnSpc>
              <a:tabLst>
                <a:tab pos="900113" algn="l"/>
              </a:tabLst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-260350" latinLnBrk="0">
              <a:lnSpc>
                <a:spcPct val="120000"/>
              </a:lnSpc>
              <a:tabLst>
                <a:tab pos="900113" algn="l"/>
              </a:tabLst>
            </a:pP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니스카넨모형에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대해 다음과 같은 의문을 제기 가능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63538" lvl="1" indent="-166688" latinLnBrk="0">
              <a:lnSpc>
                <a:spcPct val="120000"/>
              </a:lnSpc>
              <a:tabLst>
                <a:tab pos="900113" algn="l"/>
              </a:tabLs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현실에서의 입법부가 과연 모형에서 상정하고 있는 것처럼 순진하고 수동적인 존재인가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</a:p>
          <a:p>
            <a:pPr marL="363538" lvl="1" indent="-166688" latinLnBrk="0">
              <a:lnSpc>
                <a:spcPct val="120000"/>
              </a:lnSpc>
              <a:tabLst>
                <a:tab pos="900113" algn="l"/>
              </a:tabLs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예산 혹은 생산수준의 크고 작음이 관료의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효용함수에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들어가는 유일한 변수인가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? 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장 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공공선택의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30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935775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미그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빌레인저모형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268288" indent="-230400" latinLnBrk="0">
                  <a:lnSpc>
                    <a:spcPct val="110000"/>
                  </a:lnSpc>
                  <a:spcAft>
                    <a:spcPts val="200"/>
                  </a:spcAft>
                </a:pPr>
                <a:r>
                  <a:rPr lang="ko-KR" altLang="en-US" sz="2000" b="1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미그</a:t>
                </a:r>
                <a:r>
                  <a:rPr lang="en-US" altLang="ko-KR" sz="2000" b="1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-</a:t>
                </a:r>
                <a:r>
                  <a:rPr lang="ko-KR" altLang="en-US" sz="2000" b="1" dirty="0" err="1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빌레인저모형</a:t>
                </a:r>
                <a:r>
                  <a:rPr lang="en-US" altLang="ko-KR" sz="2000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:r>
                  <a:rPr lang="en-US" altLang="ko-KR" sz="2000" dirty="0" err="1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Migué</a:t>
                </a:r>
                <a:r>
                  <a:rPr lang="en-US" altLang="ko-KR" sz="2000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and Belanger model)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관료들이 효용극대화를 추구한다고 가정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514800" lvl="1" indent="-230400" latinLnBrk="0">
                  <a:lnSpc>
                    <a:spcPct val="110000"/>
                  </a:lnSpc>
                  <a:spcAft>
                    <a:spcPts val="2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효용은 단지 공공재 생산량뿐 아니라 직책과 관련하여 누릴 수 있는 여러 특권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(perquisites)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에 의해서도 영향을 받고 있음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514800" lvl="1" indent="-230400" latinLnBrk="0">
                  <a:lnSpc>
                    <a:spcPct val="140000"/>
                  </a:lnSpc>
                  <a:spcAft>
                    <a:spcPts val="2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관료들의 효용함수가 다음과 같은 형태를 갖는다고 상정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	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𝑼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𝑼</m:t>
                    </m:r>
                    <m:d>
                      <m:d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𝑸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</m:d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  (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𝑸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관료적 생산수준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직책상의 특권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</a:p>
              <a:p>
                <a:pPr marL="268288" indent="-230400" latinLnBrk="0">
                  <a:lnSpc>
                    <a:spcPct val="110000"/>
                  </a:lnSpc>
                  <a:spcBef>
                    <a:spcPts val="2000"/>
                  </a:spcBef>
                  <a:spcAft>
                    <a:spcPts val="200"/>
                  </a:spcAft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관료들이 예산상의 잉여를 가지고 있어야만 이와 같은 직책상의 특권들을 취득할 수 있다는 점에 착안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514800" lvl="1" indent="-230400" latinLnBrk="0">
                  <a:lnSpc>
                    <a:spcPct val="110000"/>
                  </a:lnSpc>
                  <a:spcAft>
                    <a:spcPts val="2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예산상의 잉여는 마치 개인기업의 이윤과 비슷한 역할</a:t>
                </a:r>
              </a:p>
              <a:p>
                <a:pPr marL="514800" lvl="1" indent="-230400" latinLnBrk="0">
                  <a:lnSpc>
                    <a:spcPct val="110000"/>
                  </a:lnSpc>
                  <a:spcAft>
                    <a:spcPts val="2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 모형에서도 관료들이 과잉생산의 경향 보이지만 그 정도는 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니스카넨모형에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비해 작음</a:t>
                </a: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3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공공선택의 이론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31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265020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미그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빌레인저모형</a:t>
            </a:r>
            <a:endParaRPr lang="ko-KR" altLang="en-US" sz="26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>
                  <a:lnSpc>
                    <a:spcPct val="130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lnSpc>
                    <a:spcPct val="130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lnSpc>
                    <a:spcPct val="130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lnSpc>
                    <a:spcPct val="130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lnSpc>
                    <a:spcPct val="130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lnSpc>
                    <a:spcPct val="130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lnSpc>
                    <a:spcPct val="130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lnSpc>
                    <a:spcPct val="130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lnSpc>
                    <a:spcPct val="130000"/>
                  </a:lnSpc>
                  <a:spcBef>
                    <a:spcPts val="0"/>
                  </a:spcBef>
                  <a:spcAft>
                    <a:spcPts val="200"/>
                  </a:spcAft>
                </a:pPr>
                <a:r>
                  <a:rPr lang="ko-KR" altLang="en-US" sz="2000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관료들의 효용을 극대화하는 생산수준 </a:t>
                </a:r>
                <a:r>
                  <a:rPr lang="en-US" altLang="ko-KR" sz="2000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 spc="-113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 spc="-113">
                            <a:latin typeface="Cambria Math" panose="02040503050406030204" pitchFamily="18" charset="0"/>
                          </a:rPr>
                          <m:t>𝑸</m:t>
                        </m:r>
                      </m:e>
                      <m:sub>
                        <m:r>
                          <a:rPr lang="en-US" altLang="ko-KR" sz="2000" b="1" i="1" spc="-113">
                            <a:latin typeface="Cambria Math" panose="02040503050406030204" pitchFamily="18" charset="0"/>
                          </a:rPr>
                          <m:t>𝑴</m:t>
                        </m:r>
                        <m:r>
                          <a:rPr lang="en-US" altLang="ko-KR" sz="2000" b="1" i="1" spc="-113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sz="2000" b="1" i="1" spc="-113">
                            <a:latin typeface="Cambria Math" panose="02040503050406030204" pitchFamily="18" charset="0"/>
                          </a:rPr>
                          <m:t>𝑩</m:t>
                        </m:r>
                      </m:sub>
                    </m:sSub>
                  </m:oMath>
                </a14:m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28600" lvl="2">
                  <a:lnSpc>
                    <a:spcPct val="130000"/>
                  </a:lnSpc>
                  <a:spcBef>
                    <a:spcPts val="0"/>
                  </a:spcBef>
                  <a:spcAft>
                    <a:spcPts val="200"/>
                  </a:spcAft>
                  <a:buFont typeface="Wingdings" panose="05000000000000000000" pitchFamily="2" charset="2"/>
                  <a:buChar char="§"/>
                </a:pPr>
                <a:r>
                  <a:rPr lang="ko-KR" altLang="en-US" sz="2000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과다생산이 이루어진다는 점에서 니스카넨모형과 비슷하나</a:t>
                </a:r>
                <a:r>
                  <a:rPr lang="en-US" altLang="ko-KR" sz="2000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lang="ko-KR" altLang="en-US" sz="2000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과다생산의 정도는 니스카넨모형에서 보다 작아짐</a:t>
                </a:r>
                <a:endParaRPr lang="en-US" altLang="ko-KR" sz="2000" spc="-113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b="-115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장 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공공선택의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이론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F92093A-41B5-4174-A2BB-B1DAFD6899A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5769" y="1499814"/>
            <a:ext cx="5792461" cy="3309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891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관료제의 개혁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atinLnBrk="0">
              <a:spcAft>
                <a:spcPts val="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국민과 관료들 사이에는 </a:t>
            </a: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본인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대리인의 관계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(principal-agent relationship)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 성립해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관료들의 도덕적 해이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(moral hazard)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 나타날 수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latinLnBrk="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도덕적 해이는 국민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본인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관료들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대리인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행동들을 제대로 파악할 수 없다는 데에서 기인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spcBef>
                <a:spcPts val="2500"/>
              </a:spcBef>
              <a:spcAft>
                <a:spcPts val="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본인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대리인의 관계는 국민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정치인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관료 사이에서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중층구조를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가짐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latinLnBrk="0">
              <a:spcAft>
                <a:spcPts val="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때로는 정치가와 관료가 결탁하여 국민의 이해에 반하면서 자신들의 공동이익을 추구하는 경우도 발생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latinLnBrk="0">
              <a:spcAft>
                <a:spcPts val="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견제와 균형을 중심으로 하는 민주적 정치제도는 본인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대리인의 관계에서 대리인의 행동을 바람직한 방향으로 유도하려는 노력의 소산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장 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공공선택의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이론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986720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관료제의 개혁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atinLnBrk="0">
              <a:lnSpc>
                <a:spcPct val="130000"/>
              </a:lnSpc>
              <a:spcAft>
                <a:spcPts val="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관료제가 갖는 또 하나의 심각한 문제점은 영어의 ‘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red tape’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이라는 말로 표현되는 관료적 형식주의로부터 나오는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비능률성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latinLnBrk="0">
              <a:lnSpc>
                <a:spcPct val="130000"/>
              </a:lnSpc>
              <a:spcAft>
                <a:spcPts val="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국민들에게 불필요한 부담을 안겨 주는 관료제의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비능률성은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과다생산의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경향 못지 않게 심각한 문제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lnSpc>
                <a:spcPct val="130000"/>
              </a:lnSpc>
              <a:spcBef>
                <a:spcPts val="2500"/>
              </a:spcBef>
              <a:spcAft>
                <a:spcPts val="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이러한 비능률성의 근저에는 여러 가지 이유가 깔려 있을 것임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latinLnBrk="0">
              <a:lnSpc>
                <a:spcPct val="130000"/>
              </a:lnSpc>
              <a:spcAft>
                <a:spcPts val="0"/>
              </a:spcAft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지대추구행위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(rent seeking activities)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복잡한 행정절차는 많은 지대를 창출하게 되어 관료들에게 이득</a:t>
            </a:r>
          </a:p>
          <a:p>
            <a:pPr marL="449263" lvl="1" latinLnBrk="0">
              <a:lnSpc>
                <a:spcPct val="130000"/>
              </a:lnSpc>
              <a:spcAft>
                <a:spcPts val="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관료들의 위험기피적인 성향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일의 성공에 대한 보상은 별로 크지 않은 반면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실패에 대한 책임은 매우 큼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공공선택의 이론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72108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관료제의 개혁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atinLnBrk="0">
              <a:lnSpc>
                <a:spcPct val="120000"/>
              </a:lnSpc>
              <a:spcAft>
                <a:spcPts val="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비효율성을 제거하기 위한 개혁의 방안</a:t>
            </a:r>
          </a:p>
          <a:p>
            <a:pPr marL="449263" lvl="1" latinLnBrk="0">
              <a:lnSpc>
                <a:spcPct val="120000"/>
              </a:lnSpc>
              <a:spcAft>
                <a:spcPts val="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급여구조와 승진제도의 개선</a:t>
            </a:r>
          </a:p>
          <a:p>
            <a:pPr marL="449263" lvl="1" latinLnBrk="0">
              <a:lnSpc>
                <a:spcPct val="120000"/>
              </a:lnSpc>
              <a:spcAft>
                <a:spcPts val="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부처간의 또는 민간부문과의 경쟁 촉진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lnSpc>
                <a:spcPct val="120000"/>
              </a:lnSpc>
              <a:spcBef>
                <a:spcPts val="3000"/>
              </a:spcBef>
              <a:spcAft>
                <a:spcPts val="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관료들의 성과를 구체적으로 측정해 보수나 승진에 반영하는 정책</a:t>
            </a:r>
          </a:p>
          <a:p>
            <a:pPr marL="449263" lvl="1" latinLnBrk="0">
              <a:lnSpc>
                <a:spcPct val="120000"/>
              </a:lnSpc>
              <a:spcAft>
                <a:spcPts val="0"/>
              </a:spcAft>
            </a:pPr>
            <a:r>
              <a:rPr lang="ko-KR" altLang="en-US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관료들이 수행하는 업무의 성격상 그 성과를 객관적으로 평가하기 어려움</a:t>
            </a:r>
          </a:p>
          <a:p>
            <a:pPr marL="449263" lvl="1" latinLnBrk="0">
              <a:lnSpc>
                <a:spcPct val="120000"/>
              </a:lnSpc>
              <a:spcAft>
                <a:spcPts val="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성과의 객관적 평가가 가능하다 해도 이 정책이 정말로 관료들의 효율성을 높이는 데 효과를 발휘할 수 있다는 보장이 없음  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latinLnBrk="0">
              <a:lnSpc>
                <a:spcPct val="120000"/>
              </a:lnSpc>
              <a:spcAft>
                <a:spcPts val="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2002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미국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부시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행정부의 교육개혁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(No Child Left Behind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공공선택의 이론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212912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특수이해집단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85750" lvl="1" indent="-230400">
              <a:buFont typeface="Wingdings" panose="05000000000000000000" pitchFamily="2" charset="2"/>
              <a:buChar char="§"/>
            </a:pPr>
            <a:r>
              <a:rPr lang="ko-KR" altLang="en-US" sz="2000" b="1" spc="-113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특수이해집단</a:t>
            </a:r>
            <a:r>
              <a:rPr lang="en-US" altLang="ko-KR" sz="2000" spc="-113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(special interest group) </a:t>
            </a:r>
            <a:r>
              <a:rPr lang="en-US" altLang="ko-KR" sz="20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대의민주제가 행해지고 있는 사회에서 정치가와 관료에 이어 중요한 역할을 하는 집단</a:t>
            </a:r>
            <a:endParaRPr lang="en-US" altLang="ko-KR" sz="2000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6088" lvl="3" indent="-230400">
              <a:buFont typeface="Arial" panose="020B0604020202020204" pitchFamily="34" charset="0"/>
              <a:buChar char="•"/>
            </a:pPr>
            <a:r>
              <a:rPr lang="ko-KR" altLang="en-US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국민이 정책수립과정에서 개인적인 유권자로서는 미미한 영향력밖에 발휘하지 못하지만 특수이해집단을 형성하고 집단적인 힘을 활용한다면 큰 영향력을 발휘할 수 있음</a:t>
            </a:r>
            <a:endParaRPr lang="en-US" altLang="ko-KR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lvl="1" indent="-230400">
              <a:spcBef>
                <a:spcPts val="2500"/>
              </a:spcBef>
              <a:buFont typeface="Wingdings" panose="05000000000000000000" pitchFamily="2" charset="2"/>
              <a:buChar char="§"/>
            </a:pPr>
            <a:r>
              <a:rPr lang="ko-KR" altLang="en-US" sz="20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특수이해집단이 갖는 강점</a:t>
            </a:r>
            <a:endParaRPr lang="en-US" altLang="ko-KR" sz="2000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6088" lvl="3" indent="-230400">
              <a:buFont typeface="Arial" panose="020B0604020202020204" pitchFamily="34" charset="0"/>
              <a:buChar char="•"/>
            </a:pPr>
            <a:r>
              <a:rPr lang="ko-KR" altLang="en-US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구성원들이 공유하는 명백한 목적의식과 이에 따른 조직력</a:t>
            </a:r>
            <a:r>
              <a:rPr lang="en-US" altLang="ko-KR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높은 투표율</a:t>
            </a:r>
            <a:r>
              <a:rPr lang="en-US" altLang="ko-KR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자금력 등</a:t>
            </a:r>
            <a:endParaRPr lang="en-US" altLang="ko-KR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6088" lvl="3" indent="-230400">
              <a:buFont typeface="Arial" panose="020B0604020202020204" pitchFamily="34" charset="0"/>
              <a:buChar char="•"/>
            </a:pPr>
            <a:r>
              <a:rPr lang="ko-KR" altLang="en-US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개인들의 산발적인 힘을 뚜렷하게 설정된 목표를 향해 집중시킴으로써 매우 큰     영향력 행사</a:t>
            </a:r>
            <a:endParaRPr lang="en-US" altLang="ko-KR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공공선택의 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36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7470043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특수이해집단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57175" lvl="1" indent="-23040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ko-KR" altLang="en-US" sz="2000" spc="-1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특수이해집단 형성의 근거</a:t>
            </a:r>
            <a:endParaRPr lang="en-US" altLang="ko-KR" sz="2000" spc="-15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79425" lvl="2" indent="-23040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ko-KR" altLang="en-US" spc="-1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소득의 원천 </a:t>
            </a:r>
            <a:r>
              <a:rPr lang="en-US" altLang="ko-KR" spc="-1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pc="-1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각종 노동조합</a:t>
            </a:r>
            <a:r>
              <a:rPr lang="en-US" altLang="ko-KR" spc="-1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pc="-1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각종 경제단체</a:t>
            </a:r>
            <a:endParaRPr lang="en-US" altLang="ko-KR" spc="-15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79425" lvl="2" indent="-23040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ko-KR" altLang="en-US" spc="-1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소득의 크기 </a:t>
            </a:r>
            <a:r>
              <a:rPr lang="en-US" altLang="ko-KR" spc="-1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pc="-1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가난한 사람들의 이익을 위해 결성된 로비그룹</a:t>
            </a:r>
            <a:endParaRPr lang="en-US" altLang="ko-KR" spc="-15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79425" lvl="2" indent="-23040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ko-KR" altLang="en-US" spc="-1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산업별 </a:t>
            </a:r>
            <a:r>
              <a:rPr lang="en-US" altLang="ko-KR" spc="-1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pc="-1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자동차산업의 로비그룹</a:t>
            </a:r>
            <a:r>
              <a:rPr lang="en-US" altLang="ko-KR" spc="-1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pc="-1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농업 또는 축산업의 로비그룹</a:t>
            </a:r>
            <a:endParaRPr lang="en-US" altLang="ko-KR" spc="-15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79425" lvl="2" indent="-23040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ko-KR" altLang="en-US" spc="-1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직종별 </a:t>
            </a:r>
            <a:r>
              <a:rPr lang="en-US" altLang="ko-KR" spc="-1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pc="-1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변호사</a:t>
            </a:r>
            <a:r>
              <a:rPr lang="en-US" altLang="ko-KR" spc="-1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pc="-1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의사</a:t>
            </a:r>
            <a:r>
              <a:rPr lang="en-US" altLang="ko-KR" spc="-1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pc="-1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등</a:t>
            </a:r>
            <a:endParaRPr lang="en-US" altLang="ko-KR" spc="-15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79425" lvl="2" indent="-23040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ko-KR" altLang="en-US" spc="-1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사회적 목표 </a:t>
            </a:r>
            <a:r>
              <a:rPr lang="en-US" altLang="ko-KR" spc="-1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pc="-1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환경보호</a:t>
            </a:r>
            <a:r>
              <a:rPr lang="en-US" altLang="ko-KR" spc="-1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pc="-1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소비자보호 등</a:t>
            </a:r>
            <a:endParaRPr lang="en-US" altLang="ko-KR" spc="-15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57175" lvl="1" indent="-230400" latinLnBrk="0">
              <a:lnSpc>
                <a:spcPct val="120000"/>
              </a:lnSpc>
              <a:spcBef>
                <a:spcPts val="1500"/>
              </a:spcBef>
              <a:buFont typeface="Wingdings" panose="05000000000000000000" pitchFamily="2" charset="2"/>
              <a:buChar char="§"/>
            </a:pPr>
            <a:r>
              <a:rPr lang="ko-KR" altLang="en-US" sz="2000" spc="-1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특수이해집단들은 모르고 지나쳐 버릴 수 있는 것을 사회 문제화하여 합리적인 해결책을 모색할 수 있는 계기를 마련해 줌 ⇒ 긍정적 역할</a:t>
            </a:r>
            <a:endParaRPr lang="en-US" altLang="ko-KR" sz="2000" spc="-15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57175" lvl="1" indent="-230400" latinLnBrk="0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ko-KR" altLang="en-US" sz="2000" spc="-1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일반적으로 공익보다는 구성원들의 이익만을 앞세우는 경향이 있어</a:t>
            </a:r>
            <a:r>
              <a:rPr lang="en-US" altLang="ko-KR" sz="2000" spc="-1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spc="-1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 전체의 입장에서 비효율적이거나 불합리한 결과를 유발하기도 함</a:t>
            </a:r>
            <a:endParaRPr lang="en-US" altLang="ko-KR" sz="2000" spc="-15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57175" lvl="1" indent="-230400" latinLnBrk="0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ko-KR" altLang="en-US" sz="2000" b="1" spc="-15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철의 삼각형</a:t>
            </a:r>
            <a:r>
              <a:rPr lang="en-US" altLang="ko-KR" sz="2000" spc="-15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(iron triangle) </a:t>
            </a:r>
            <a:r>
              <a:rPr lang="en-US" altLang="ko-KR" sz="2000" spc="-1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spc="-1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현대 미국 정치의 주요한 특징 중 하나로 정치가</a:t>
            </a:r>
            <a:r>
              <a:rPr lang="en-US" altLang="ko-KR" sz="2000" spc="-1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spc="-1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관료</a:t>
            </a:r>
            <a:r>
              <a:rPr lang="en-US" altLang="ko-KR" sz="2000" spc="-1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spc="-1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특수이해집단에 의해 만들어진 연합관계를 의미</a:t>
            </a:r>
            <a:endParaRPr lang="en-US" altLang="ko-KR" sz="2000" spc="-15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공공선택의 이론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37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0095342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2993</TotalTime>
  <Words>2521</Words>
  <Application>Microsoft Office PowerPoint</Application>
  <PresentationFormat>화면 슬라이드 쇼(4:3)</PresentationFormat>
  <Paragraphs>359</Paragraphs>
  <Slides>37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37</vt:i4>
      </vt:variant>
    </vt:vector>
  </HeadingPairs>
  <TitlesOfParts>
    <vt:vector size="45" baseType="lpstr">
      <vt:lpstr>나눔고딕</vt:lpstr>
      <vt:lpstr>나눔고딕 ExtraBold</vt:lpstr>
      <vt:lpstr>맑은 고딕</vt:lpstr>
      <vt:lpstr>Arial</vt:lpstr>
      <vt:lpstr>Calibri</vt:lpstr>
      <vt:lpstr>Cambria Math</vt:lpstr>
      <vt:lpstr>Wingdings</vt:lpstr>
      <vt:lpstr>1_Office 테마</vt:lpstr>
      <vt:lpstr>제5장   공공선택의 이론</vt:lpstr>
      <vt:lpstr>5.1  공공선택이론의 의의</vt:lpstr>
      <vt:lpstr>5.2  직접민주제하의 공공선택</vt:lpstr>
      <vt:lpstr>전원합의제</vt:lpstr>
      <vt:lpstr>과반수제</vt:lpstr>
      <vt:lpstr>최적다수결제</vt:lpstr>
      <vt:lpstr>최적다수결제</vt:lpstr>
      <vt:lpstr>점수투표제</vt:lpstr>
      <vt:lpstr>점수투표제</vt:lpstr>
      <vt:lpstr>점수투표제</vt:lpstr>
      <vt:lpstr>5.3  과반수제하에서의 정치적 균형</vt:lpstr>
      <vt:lpstr>과반수제 : 중위투표자이론</vt:lpstr>
      <vt:lpstr>과반수제 : 중위투표자이론</vt:lpstr>
      <vt:lpstr>과반수제 : 투표의 역설</vt:lpstr>
      <vt:lpstr>과반수제 : 투표의 역설</vt:lpstr>
      <vt:lpstr>과반수제 : 투표의 역설</vt:lpstr>
      <vt:lpstr>과반수제 : 투표의 역설</vt:lpstr>
      <vt:lpstr>5.4  대의민주제하의 공공선택</vt:lpstr>
      <vt:lpstr>대의민주제하의 공공선택 : 정치가</vt:lpstr>
      <vt:lpstr>표극대화모형</vt:lpstr>
      <vt:lpstr>투표자의 연합과 정강</vt:lpstr>
      <vt:lpstr>투표자의 연합과 정강</vt:lpstr>
      <vt:lpstr>투표자의 연합과 정강</vt:lpstr>
      <vt:lpstr>정치적 결탁</vt:lpstr>
      <vt:lpstr>정치적 결탁</vt:lpstr>
      <vt:lpstr>대의민주제하의 공공선택 : 관료</vt:lpstr>
      <vt:lpstr>관료제모형의 기본골격</vt:lpstr>
      <vt:lpstr>니스카넨모형</vt:lpstr>
      <vt:lpstr>니스카넨모형</vt:lpstr>
      <vt:lpstr>니스카넨모형</vt:lpstr>
      <vt:lpstr>미그-빌레인저모형</vt:lpstr>
      <vt:lpstr>미그-빌레인저모형</vt:lpstr>
      <vt:lpstr>관료제의 개혁</vt:lpstr>
      <vt:lpstr>관료제의 개혁</vt:lpstr>
      <vt:lpstr>관료제의 개혁</vt:lpstr>
      <vt:lpstr>특수이해집단</vt:lpstr>
      <vt:lpstr>특수이해집단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 1장   재정학: 의의와 성격</dc:title>
  <dc:creator>chomh</dc:creator>
  <cp:lastModifiedBy>김민정</cp:lastModifiedBy>
  <cp:revision>852</cp:revision>
  <dcterms:created xsi:type="dcterms:W3CDTF">2015-08-04T05:38:00Z</dcterms:created>
  <dcterms:modified xsi:type="dcterms:W3CDTF">2021-02-21T15:31:08Z</dcterms:modified>
</cp:coreProperties>
</file>