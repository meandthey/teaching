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8" r:id="rId1"/>
  </p:sldMasterIdLst>
  <p:notesMasterIdLst>
    <p:notesMasterId r:id="rId37"/>
  </p:notesMasterIdLst>
  <p:handoutMasterIdLst>
    <p:handoutMasterId r:id="rId38"/>
  </p:handoutMasterIdLst>
  <p:sldIdLst>
    <p:sldId id="343" r:id="rId2"/>
    <p:sldId id="259" r:id="rId3"/>
    <p:sldId id="330" r:id="rId4"/>
    <p:sldId id="264" r:id="rId5"/>
    <p:sldId id="266" r:id="rId6"/>
    <p:sldId id="341" r:id="rId7"/>
    <p:sldId id="332" r:id="rId8"/>
    <p:sldId id="269" r:id="rId9"/>
    <p:sldId id="271" r:id="rId10"/>
    <p:sldId id="333" r:id="rId11"/>
    <p:sldId id="273" r:id="rId12"/>
    <p:sldId id="334" r:id="rId13"/>
    <p:sldId id="335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8" r:id="rId24"/>
    <p:sldId id="287" r:id="rId25"/>
    <p:sldId id="289" r:id="rId26"/>
    <p:sldId id="290" r:id="rId27"/>
    <p:sldId id="336" r:id="rId28"/>
    <p:sldId id="292" r:id="rId29"/>
    <p:sldId id="293" r:id="rId30"/>
    <p:sldId id="294" r:id="rId31"/>
    <p:sldId id="295" r:id="rId32"/>
    <p:sldId id="296" r:id="rId33"/>
    <p:sldId id="298" r:id="rId34"/>
    <p:sldId id="337" r:id="rId35"/>
    <p:sldId id="342" r:id="rId3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89" autoAdjust="0"/>
    <p:restoredTop sz="94660"/>
  </p:normalViewPr>
  <p:slideViewPr>
    <p:cSldViewPr snapToGrid="0">
      <p:cViewPr varScale="1">
        <p:scale>
          <a:sx n="86" d="100"/>
          <a:sy n="86" d="100"/>
        </p:scale>
        <p:origin x="1469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01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805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18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826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618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재정학 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조세와 경제행위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개인의 선택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조세와 노동의 공급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노동 공급에 미치는 영향의 실증연구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조세와 저축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저축에 미치는 영향의 실증연구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노동의 공급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노동공급에 관한 의사결정에 교란을 일으켜 발생하는 초과부담의 크기는 정책의 측면에서 매우 중요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노동공급에 미치는 영향의 분석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이론모형을 통한 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효용극대화를 추구하는 개인의 선택에 기초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실증자료를 이용한 분석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분석단위의 선택 문제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(individual) vs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(household)</a:t>
            </a:r>
          </a:p>
          <a:p>
            <a:pPr marL="444500" lvl="1">
              <a:spcAft>
                <a:spcPts val="100"/>
              </a:spcAft>
              <a:tabLst>
                <a:tab pos="10795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원론적으로는 개인을 기본적 분석단위로 선택해야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"/>
              </a:spcAft>
              <a:tabLst>
                <a:tab pos="10795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노동공급에 관한 결정이 사실상 가족 공동의 의사결정이므로 가계를 분석의 기본단위로 선택하는 것이 더 나을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노동의 공급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경제의 노동 공급량은 다음 두 가지 의사결정의 결과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노동시장에 참여할 것인가의 여부에 관한 결정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노동시장에 참여하는 사람들의 평균적 노동시간에 관한 결정</a:t>
            </a: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사람들은 실제의 임금률이 각자의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유보임금률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(reservation wage rate)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보다 높아야만 노동시장에 참여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순임금률을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낮춰 노동시장 참여에 관한 의사결정에 영향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algn="just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누진적 소득세제도가 가정 안의 부차적 노동공급자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노동시장 참여율을 낮추는 효과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경제 전체의 평균적인 노동시간에 관한 결정을 이해하기 위해서는 대표적 개인의 효용극대화 선택 과정을 살펴보는 것이 필요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여가와 소득 사이의 선택 모형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2840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개인의 선택과 노동공급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비례소득세의 효과</a:t>
                </a:r>
                <a:endParaRPr lang="en-US" altLang="ko-KR" sz="2000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시간당 임금률이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인 사람이 여가와 소득 사이에서 선택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/>
                  <a:t>세율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ko-KR" altLang="en-US" dirty="0"/>
                  <a:t>로 비례소득세 부과</a:t>
                </a:r>
                <a:endParaRPr lang="en-US" altLang="ko-KR" dirty="0"/>
              </a:p>
              <a:p>
                <a:pPr>
                  <a:lnSpc>
                    <a:spcPct val="110000"/>
                  </a:lnSpc>
                </a:pPr>
                <a:endParaRPr lang="en-US" altLang="ko-KR" sz="100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 변화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𝑨𝑩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b="1" dirty="0"/>
                  <a:t>⇒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𝑩𝑪</m:t>
                    </m:r>
                  </m:oMath>
                </a14:m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노동시간의 변화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𝑳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𝟎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/>
                  <a:t>⇒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𝑳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𝒕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𝑩</m:t>
                    </m:r>
                  </m:oMath>
                </a14:m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비례소득세로 인해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노동시간이 선분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𝑳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𝒕</m:t>
                        </m:r>
                      </m:sub>
                    </m:sSub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𝑳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길이만큼 감소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b="-8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A25CF77-C360-4B3A-A887-E8AD820292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711" y="3027961"/>
            <a:ext cx="5532467" cy="314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04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개인의 선택과 노동공급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4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비례소득세의 부과로 인해 노동공급 감소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4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비례소득세는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순임금율을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변화시킴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4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대체효과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여가의 상대가격을 떨어뜨려 여가를 늘리고 노동공급을 줄이는 방향으로 작용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4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소득효과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납세자의 실질소득을 떨어뜨려 여가를 줄이고 노동공급을 늘리는 방향으로 작용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40000"/>
                  </a:lnSpc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노동공급이 감소하는 것은 대체효과가 소득효과보다 더 크기 때문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5591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개인의 선택과 노동공급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Aft>
                    <a:spcPts val="3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 부과가 항상 노동공급의 감소를 가져오는 것은 아님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Aft>
                    <a:spcPts val="3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대체효과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&gt;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소득효과 ⇒ 소득세 부과는 노동 공급량을 줄이는 결과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Aft>
                    <a:spcPts val="3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대체효과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&lt;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소득효과 ⇒ 소득세 부과는 노동 공급량을 늘리는 결과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2958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개인의 선택과 노동공급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가격소비곡선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(price-consumption curve)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소득세율 상승에 따라 노동의 공급이 어떻게 반응하는지를 보여줌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DC15FE9-CE7B-43D8-93AA-A7D198A70F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10" y="2333672"/>
            <a:ext cx="7005979" cy="398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70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개인의 선택과 노동공급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처음에는 세율 상승이 노동 공급량을 증가시키지만 어느 정도 이후에는 추가적 세율 상승이 노동 공급량을 감소시킴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근로소득뿐 아니라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비근로소득도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있는 경우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순임금률의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변화로 대체효과와 소득효과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비근로소득에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세금이 부과되면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순소득은 세금을 뺀 만큼 감소하게 되므로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추가적인 소득효과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비근로소득이 존재하는 경우에는 추가적인 소득효과 때문에 비례소득세의 부과가 노동 공급량을 증가시키는 결과를 가져올 가능성이  약간 더 커짐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5890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개인의 선택과 노동공급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spcAft>
                <a:spcPts val="1500"/>
              </a:spcAft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누진소득세의 효과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소득이 올라감에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예산선이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점점 완만해지는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누진소득세는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고소득자의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근로의욕을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감퇴시킬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가능성이 높음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BC811D-717E-4A0B-80F6-7C1676C1CC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0" y="2486492"/>
            <a:ext cx="6075160" cy="344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62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개인의 선택과 노동공급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모형의 한계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개인을 설정해 분석을 진행시키는 기본골격에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서로 다른 여건하의 사람들이 보이는 총체적 반응은 단순한 모형에서 도출된 결론과 큰 차이를 보일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임금률이 조세 부과 후에도 변화하지 않는다는 가정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부과되면 대부분의 사람들이 노동 공급량을 변화시킬 것이고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결과 임금률에 어떤 변화가 올 것이 분명함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자유로이 노동시간을 조절할 수 있다는 가정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임금률이 더 낮아진다고 해서 노동시간을 줄이거나 늘릴 수 있는 위치에 있는 사람은 극소수에 불과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0460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 공급에 미치는 영향의 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사람들의 근로의욕에 어떤 영향을 미치고 있는지는 결국 실증연구에 의해 밝혀져야 할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문제에 대한 실증연구의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 그룹에 속하는 사람들을 대상으로 한 설문조사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노동공급곡선에 대한 계량경제학적 측정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실험적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186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설문조사의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설문조사의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브레이크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(G. Break)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영국의 변호사와 회계사를 대상으로 하여 소득세가 근로의욕에 어떤 영향을 미치는지에 대한 설문조사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응답자 중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13%~19%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이르는 비율의 사람들이 누진적 소득세가 자신의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근로의욕에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명백한 악영향을 끼친다고 대답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대부분의 사람들은 “영향을 받지 않는다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반응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발로우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Balow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r>
              <a:rPr lang="en-US" altLang="ko-KR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누진적 소득세가 특히 부유층의 근로의욕에 미치는 영향에 분석의 초점의 맞춤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세금은 고소득자들의 근로의욕에 영향을 미치는 주요 요인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세금보다는 자신의 일이 요구하는 노력이나 건강상태 등이 더욱 중요한 결정요인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4981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설문조사의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설문조사에 기초한 접근법의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40000"/>
              </a:lnSpc>
              <a:spcAft>
                <a:spcPts val="500"/>
              </a:spcAft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응답자들이 스스로의 행위에 대해 정확하게 인식하지 못할 가능성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설사 정확하게 인식하고 있다 할지라도 이를 정확하게 전달할 수 있는지의 여부도 문제가 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과연 얼마나 정직하게 응답하는지에 대해서도 의문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4169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계량경제학적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spcAft>
                <a:spcPts val="15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계량경제학적 방법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노동경제학에서는 계량경제학적 방법을 사용해 노동 공급곡선을 추정하는 작업이 자주 이루어짐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 공급곡선의 모양을 안다는 것은 임금률이 변화할 때 노동 공급량이 어떻게 반응할 것인지 안다는 것을 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부과가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순임금률을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얼마나 떨어뜨리는지 알면 조세가 노동 공급에 어떤 영향을 미치는지 알아낼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문제에 관한 실증연구들은 매우 상반된 결과 제시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0165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계량경제학적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하우즈먼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Hausman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 부과의 결과 노동 공급량이 상당한 폭으로 줄어든다는 결론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펜카벨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Pencavel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실증연구들이 그렇지 않다는 결론을 제시하고 있음을 지적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매커디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MaCurdy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하나의 가상적 상황을 설정하고 이 두 상반된 견해가 의미하는 실질적 차이가 얼마나 되는지 검토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펜카벨의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실증연구에 입각한 계산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노동공급 감소량이 연간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시간에 불과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하우즈먼의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실증연구에 입각한 계산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시간의 노동공급량 감소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6629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실험의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실험의 방법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경제학은 자연과학의 방법론을 많이 채택하고 있으면서도 자유로운 실험이 불가능하다는 점에서 한계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1960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∼1970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미국에서 제한적이나마 이 문제에 대한 답을 기대할 수 있게 해주는 실험이 실시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뉴저지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펜실베니아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인디애나 등지에서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년간에 걸쳐 진행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소득세제가 노동공급을 약간 줄이는 것으로 드러남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유의한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(significant)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영향을 미치고 있음이 확인되었지만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두고 상당한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(substantial)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영향이라고 말할 수는 없다는 결론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4754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실험의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실험의 방법이 갖는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사람의 행위가 단지 실험에 참가했다는 이유만으로 변화할 가능성이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이런 단기적 프로그램을 통해 영구적 변화를 예측하기는 힘듦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소수를 대상으로 하는 프로그램과 전체 국민을 대상으로 하는 프로그램이 서로 다른 결과를 가져올 것이 분명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실험적 방법의 근본적 한계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가끔 이루어지는 조세제도 개편을 마치 하나의 실험과 같은 상황으로 보아 개편 전과 후의 노동공급 양상을 비교함으로써 조세의 영향을 알아낼 수 있음 ⇒ 준실험적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(quasi-experimental)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접근방법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0039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 부과로 인한 노동공급의 감소가 사실이라면 감세정책을 적극적으로 추진해야 할 필요성이 제기될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 세율을 낮춰 줌으로써 사람들로 하여금 더 많은 양의 노동을 공급하도록 유도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레이건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Reagan)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대통령과 영국 대처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(M. Thatcher)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수상의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신자유주의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 소득세 세율을 대폭 깎아 줬을 때 이와 같은 효과가 발생할 것인지의 여부는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준실험적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방식을 통해 답을 얻을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 정부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1981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1986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대대적 조세개혁을 통해 근로소득에 부과되는 세율을 큰 폭으로 내리는 조처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0593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감세정책의 효과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40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연구결과 요약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4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소득세율을 대폭 낮춰준 결과 노동 공급량이 상당한 폭으로 증가했을 가능성은 그리 커 보이지 않음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4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노동공급의 임금탄력성이 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값을 갖는다는 실증연구 결과가  많이 나와 있는데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그렇다면 세율 인하는 노동 공급량을 오히려 줄어들게 만들 수도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4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감세정책에 가장 호의적이라고 할 수 있는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하우즈먼의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실증연구 결과를 그대로 적용하더라도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1980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년대에 이루어진 조세제도 개혁의 노동공급 촉진효과는 그리 크지 않았다는 결론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1413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하우즈먼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포터바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Hausman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J. Poterba)</a:t>
            </a:r>
          </a:p>
          <a:p>
            <a:pPr marL="444500" lvl="1">
              <a:spcAft>
                <a:spcPts val="2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하우즈먼의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추정치를 이용해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소득세 세율 인하는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0.4%, 1986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소득세 세율 인하는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0.9%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노동 공급량 증가를 가져올 것이라는 계산 결과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보즈워스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버틀리스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(B. Bosworth and G.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Burtless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감세정책이 실시된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년대에 노동 공급량이 상당한 폭으로 증가했으며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남성 근로자의 경우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1981~1989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기간 동안 노동공급량이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5.1%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폭으로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이 모두를 감세정책의 효과로 돌릴 수는 없다고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3280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미국에서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년대에 일어난 노동 공급량 증가의 주요 원인은 감세정책이 아닌 다른 것이었을 가능성이 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500"/>
              </a:spcAft>
              <a:tabLst>
                <a:tab pos="0" algn="l"/>
              </a:tabLst>
            </a:pP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근로장려세제</a:t>
            </a:r>
            <a:r>
              <a:rPr lang="en-US" altLang="ko-KR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(EITC)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확대가 큰 영향을 미친 것처럼 보임</a:t>
            </a:r>
            <a:endParaRPr lang="en-US" altLang="ko-KR" spc="-2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5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모핏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윌헬름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Moffitt and M. Wilhelm):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세율의 대폭 인하가 고소득층의 노동공급에 거의 영향을 미치지 않았음을 지적하면서 감세정책의 효과에 의문을 제기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경험에 비추어 볼 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감세정책이 근로의욕을 북돋아 주는 데 이렇다 할 효과를 내지 못했다는 결론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1828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저축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Aft>
                <a:spcPts val="70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저축의 동기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은퇴 후의 생활에 대비해 돈을 모아 두어야 하겠다는 의지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생애주기이론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(life-cycle hypothesis)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저축을 바람직하다고 생각되는 소비의 흐름과 소득의 흐름 사이의 차이를 조정하려는 노력의 결과로 해석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예비적 동기 </a:t>
            </a:r>
            <a:r>
              <a:rPr lang="en-US" altLang="ko-KR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앞날의 예기치 않은 필요에 대비해 두려는 동기</a:t>
            </a:r>
            <a:endParaRPr lang="en-US" altLang="ko-KR" sz="2000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너무 많은 저축을 하는 부자들의 행동을 설명할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재산을 자식들에게 물려주고 싶은 욕망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실증분석 결과에 따르면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전체 저축 중에서 유산상속동기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(bequest motive)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의한 저축이 차지하는 비중이 상당히 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4616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시점간 자원배분모형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시점간 자원배분모형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(intertemporal resource allocation model)</a:t>
                </a:r>
              </a:p>
              <a:p>
                <a:pPr marL="444500" lvl="1">
                  <a:lnSpc>
                    <a:spcPct val="13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대표적 개인은 현재와 미래의 근로소득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초기부존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(initial endowment)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하여 생애 전체의 관점에서 가장 바람직한 현재와 미래의 소비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선택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3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완전한 자본시장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(perfect capital market)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가정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22300" lvl="2">
                  <a:lnSpc>
                    <a:spcPct val="13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사람들은 빌리고 싶은 만큼 마음대로 빌릴 수 있고 빌려 주고 싶은 만큼 마음대로 빌려줄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22300" lvl="2">
                  <a:lnSpc>
                    <a:spcPct val="13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빌릴 때와 빌려줄 때 적용되는 이자율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차이가 없음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5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4792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시점간 자원배분모형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대표적 개인의 예산제약</a:t>
                </a:r>
                <a:endParaRPr lang="en-US" altLang="ko-KR" sz="2000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초기부존점</a:t>
                </a:r>
                <a:endParaRPr lang="en-US" altLang="ko-KR" sz="2000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점을 선택한 대표적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개인은 현재소득 중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일부를 저축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8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경우에 따라서는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돈을 빌려 현재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소득보다 더 많이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소비하는 선택을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할 수도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CD830C-6C36-44CC-9601-BF27A67B3A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488" y="2396487"/>
            <a:ext cx="5627537" cy="341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55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0" indent="0">
                  <a:spcAft>
                    <a:spcPts val="1500"/>
                  </a:spcAft>
                  <a:buNone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</a:t>
                </a:r>
                <a:endParaRPr lang="en-US" altLang="ko-KR" b="1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근로소득세가 부과된다는 것은 주어진 소득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에만 소득세가 부과될 뿐 이자소득에는 부과되지 않는 것을 뜻함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대표적 개인의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원래의 기울기를 유지한 채 원점 쪽으로 평행이동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소득효과만 발생하며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정상재의 성격을 지닌 현재소비는 감소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pc="-1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근로소득세가 부과되었을 때 경제 전체의 저축이 어떻게 변화할 것인지는 정부가 이 조세수입을 어떻게 사용할 것인지를 알아야만 대답이 가능</a:t>
                </a:r>
                <a:endParaRPr lang="en-US" altLang="ko-KR" spc="-1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r="-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3488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0" indent="0">
                  <a:buNone/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이자소득세</a:t>
                </a:r>
                <a:endParaRPr lang="en-US" altLang="ko-KR" sz="2000" b="1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buNone/>
                </a:pPr>
                <a:endParaRPr lang="en-US" altLang="ko-KR" sz="500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이자소득에만 소득세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근로소득세에는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미과세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500"/>
                  </a:spcAft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변화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𝑨𝑩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𝑪𝑫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 기울기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−[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 선택의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500"/>
                  </a:spcAft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500"/>
                  </a:spcAft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1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84DA2F9-D83F-494F-8D93-7E2AFAC819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072" y="2730959"/>
            <a:ext cx="5603423" cy="317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86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대체효과와 소득효과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 fontAlgn="base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대체효과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이자소득세의 부과로 인해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순이자율이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떨어져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현재소비가 상대적으로 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싸짐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⇒ 현재소비를 늘리는 방향으로 작용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 fontAlgn="base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소득효과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조세부과가 실질소득을 하락시킴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현재소비를 줄이는 방향으로 작용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266400" indent="-266400" fontAlgn="base">
              <a:lnSpc>
                <a:spcPct val="130000"/>
              </a:lnSpc>
              <a:spcAft>
                <a:spcPts val="300"/>
              </a:spcAft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 fontAlgn="base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대체효과와 소득효과 중 어느 효과가 더 크다는 것을 알기 전에는 결과를 예측할 수 없음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6842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5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일반적 소득세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Bef>
                <a:spcPts val="0"/>
              </a:spcBef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일반적인 소득세는 특정한 유형의 소득에만 과세하는 것이 아니라 모든 유형의 소득을 과세대상에 포함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Bef>
                <a:spcPts val="0"/>
              </a:spcBef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이자소득세의 경우에 본 대체효과와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소득효과뿐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아니라 근로소득세의 경우에 본 소득효과까지 가세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Bef>
                <a:spcPts val="0"/>
              </a:spcBef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같이 복잡한 상황에서 저축이 어떻게 변화할 것이라고 예측하는 것은 거의 불가능에 가까움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1729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저축에 미치는 영향의 실증연구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보스킨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(M. </a:t>
                </a:r>
                <a:r>
                  <a:rPr lang="en-US" altLang="ko-KR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Boskin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저축의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이자율 탄력성이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0.2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0.4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범위 안에 있다는 연구결과 제시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8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저축이 이자율 변화에 대해 상당히 민감한 반응을 보인다는 것을 의미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프렌드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하스브룩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(I. Friend and J. </a:t>
                </a:r>
                <a:r>
                  <a:rPr lang="en-US" altLang="ko-KR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Hasbrouk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가계저축의 이자율 탄력성이 통계적으로 무의미할 정도로 작거나 아니면 심지어 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값까지 가질 수 있다는 분석결과 제시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800"/>
                  </a:spcAft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하우즈먼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포테바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(J. </a:t>
                </a:r>
                <a:r>
                  <a:rPr lang="en-US" altLang="ko-KR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Hausman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and J. </a:t>
                </a:r>
                <a:r>
                  <a:rPr lang="en-US" altLang="ko-KR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Poterba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기존의 실증연구 결과를 종합해 저축의 이자율 탄력성은 거의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가까울 정도로 작다고 결론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165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저축에 미치는 영향의 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앳킨슨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스티글리츠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Atkinson and J. Stiglitz)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저축의 이자율 탄력성이 갖는 크기에 따라 조세 부과가 저축에 미치게 될 영향이 어떻게 달라질 것인지 계산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연간 이자율이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인데 소득세 부과로 인해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순이자율이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떨어진다고 할 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저축의 이자율 탄력성이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0.05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라면 저축은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3.5%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 감소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반면에 이자율 탄력성이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라면 저축의 감소폭은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이르고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0.4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 경우에는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25%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감소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1883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저축에 미치는 영향을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준실험적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방법에 의해 분석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저축 장려를 위해 시행하는 감세정책을 하나의 실험상황으로 보아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이것이 국민저축에 어떤 영향을 미쳤는지를 분석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1970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이래 미국은 국민저축률이 크게 떨어져 자본축적 속도가 급격히 낮아지고 기업들의 생산성 향상이 둔화되는 문제가 대두되기 시작</a:t>
            </a:r>
            <a:endParaRPr lang="en-US" altLang="ko-KR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개인저축을 촉진시킬 방안으로 조세상 특혜를 주는 저축상품의 도입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83008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레이건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Reagan)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개인저축의 획기적 증대를 목표로 하여 모든 근로자에게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개설을 허용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 제도의 이용자는 해마다 일정 한도 이내의 금액을 적립하고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적립한 금액에 대해 소득공제를 받을 수 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이자소득에 대해서는 연금을 찾을 때까지 과세가 유예되는 혜택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정책이 나오기 직전인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억 달러 수준에 머물고 있던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연간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저축액은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280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억 달러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1986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380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억 달러로 뛰어 오름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그래블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Gravelle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IRA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연금저축 증가의 재원은 여러 경로를 통해 마련될 수 있으나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그중 국민저축 증가에 진정으로 기여하는 것은 소비지출의 감소를 통한 것이라고 지적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06658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감세정책의 효과</a:t>
            </a:r>
            <a:endParaRPr lang="ko-KR" altLang="en-US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저축을 증가시켰는가는 결국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통한 저축 유인의 제공이 민간부문의 소비를 감소시키는 결과를 가져오는지의 여부에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일부 경제학자들은 실제로 그런 일이 일어나 감세정책이 효과를 발휘했다는 평가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초반에 관찰될 수 있었던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저축액의 증가는 대부분이 소비지출 감소에 의해 충당되었다고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27654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감세정책의 효과</a:t>
            </a:r>
            <a:endParaRPr lang="ko-KR" altLang="en-US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훨씬 많은 경제학자들이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저축액의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증가에도 불구하고 개인저축이나 국민저축의 순증가는 일어나지 않았다는 연구결과 제시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감세정책이 개인저축의 순증가를 가져왔다는 결론에 이르고 있는 연구들이 공통적으로 방법론상에 문제를 갖고 있음을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 증가의 대부분이 소비의 감소가 아닌 다른 경로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형태의 저축을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전환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이루어짐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애터내시오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들레이르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Attanasio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T.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DeLeire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국민저축의 순증가에 기여한 것으로 인정할 수 있는 것은 아무리 크게 잡아도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넘지 못함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 경제학계에서는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확대가 개인저축 혹은 국민저축의 순증가에 기여한 바는 거의 없다는 것이 일종의 정설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6713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감세정책의 효과</a:t>
            </a:r>
            <a:endParaRPr lang="ko-KR" altLang="en-US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감세정책은 지금까지 본 것과는 다른 경로를 통해서도 개인저축 혹은 국민저축에 영향을 줄 수 있음</a:t>
            </a:r>
          </a:p>
          <a:p>
            <a:pPr marL="609600" lvl="1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소득세율 인하에 따라 투자자들의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수익률이 올라간 결과 저축이 늘어날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저축의 이자율탄력성이 아주 작은 값을 갖거나 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값을 갖는다면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수익률의 상승이 저축에 별 영향을 주지 못하는 결과 가져옴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10000"/>
              </a:lnSpc>
            </a:pP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감세정책이 개인저축을 어느 정도 증가시키는 결과를 가져왔다 해도 국민저축까지 동시에 증가시킨다는 보장이 없음</a:t>
            </a:r>
          </a:p>
          <a:p>
            <a:pPr marL="609600" lvl="1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정부저축의 감소가 개인저축의 증가를 상쇄하기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80488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2586</Words>
  <Application>Microsoft Office PowerPoint</Application>
  <PresentationFormat>화면 슬라이드 쇼(4:3)</PresentationFormat>
  <Paragraphs>317</Paragraphs>
  <Slides>35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3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제20장   조세와 경제행위  : 개인의 선택</vt:lpstr>
      <vt:lpstr>20.1  조세와 노동의 공급</vt:lpstr>
      <vt:lpstr>조세와 노동의 공급</vt:lpstr>
      <vt:lpstr>대표적 개인의 선택과 노동공급</vt:lpstr>
      <vt:lpstr>대표적 개인의 선택과 노동공급</vt:lpstr>
      <vt:lpstr>대표적 개인의 선택과 노동공급</vt:lpstr>
      <vt:lpstr>대표적 개인의 선택과 노동공급</vt:lpstr>
      <vt:lpstr>대표적 개인의 선택과 노동공급</vt:lpstr>
      <vt:lpstr>대표적 개인의 선택과 노동공급</vt:lpstr>
      <vt:lpstr>대표적 개인의 선택과 노동공급</vt:lpstr>
      <vt:lpstr>20.2  노동 공급에 미치는 영향의 실증연구</vt:lpstr>
      <vt:lpstr>실증연구 : 설문조사의 방법</vt:lpstr>
      <vt:lpstr>실증연구 : 설문조사의 방법</vt:lpstr>
      <vt:lpstr>실증연구 : 계량경제학적 방법</vt:lpstr>
      <vt:lpstr>실증연구 : 계량경제학적 방법</vt:lpstr>
      <vt:lpstr>실증연구 : 실험의 방법</vt:lpstr>
      <vt:lpstr>실증연구 : 실험의 방법</vt:lpstr>
      <vt:lpstr>실증연구 : 감세정책의 효과</vt:lpstr>
      <vt:lpstr>실증연구 : 감세정책의 효과</vt:lpstr>
      <vt:lpstr>실증연구 : 감세정책의 효과</vt:lpstr>
      <vt:lpstr>실증연구 : 감세정책의 효과</vt:lpstr>
      <vt:lpstr>20.3  조세와 저축</vt:lpstr>
      <vt:lpstr>시점간 자원배분모형</vt:lpstr>
      <vt:lpstr>시점간 자원배분모형</vt:lpstr>
      <vt:lpstr>조세부과의 효과</vt:lpstr>
      <vt:lpstr>조세부과의 효과</vt:lpstr>
      <vt:lpstr>조세부과의 효과</vt:lpstr>
      <vt:lpstr>조세부과의 효과</vt:lpstr>
      <vt:lpstr>20.4  저축에 미치는 영향의 실증연구</vt:lpstr>
      <vt:lpstr>저축에 미치는 영향의 실증연구</vt:lpstr>
      <vt:lpstr>실증연구 : 감세정책의 효과</vt:lpstr>
      <vt:lpstr>실증연구 : 감세정책의 효과</vt:lpstr>
      <vt:lpstr>실증연구 : 감세정책의 효과</vt:lpstr>
      <vt:lpstr>실증연구 : 감세정책의 효과</vt:lpstr>
      <vt:lpstr>실증연구 : 감세정책의 효과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김소정</cp:lastModifiedBy>
  <cp:revision>1491</cp:revision>
  <dcterms:created xsi:type="dcterms:W3CDTF">2015-08-04T05:38:00Z</dcterms:created>
  <dcterms:modified xsi:type="dcterms:W3CDTF">2021-02-21T07:32:42Z</dcterms:modified>
</cp:coreProperties>
</file>