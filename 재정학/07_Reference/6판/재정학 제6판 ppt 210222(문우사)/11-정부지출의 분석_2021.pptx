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1"/>
  </p:sldMasterIdLst>
  <p:notesMasterIdLst>
    <p:notesMasterId r:id="rId37"/>
  </p:notesMasterIdLst>
  <p:handoutMasterIdLst>
    <p:handoutMasterId r:id="rId38"/>
  </p:handoutMasterIdLst>
  <p:sldIdLst>
    <p:sldId id="321" r:id="rId2"/>
    <p:sldId id="258" r:id="rId3"/>
    <p:sldId id="307" r:id="rId4"/>
    <p:sldId id="261" r:id="rId5"/>
    <p:sldId id="262" r:id="rId6"/>
    <p:sldId id="308" r:id="rId7"/>
    <p:sldId id="264" r:id="rId8"/>
    <p:sldId id="265" r:id="rId9"/>
    <p:sldId id="267" r:id="rId10"/>
    <p:sldId id="310" r:id="rId11"/>
    <p:sldId id="272" r:id="rId12"/>
    <p:sldId id="274" r:id="rId13"/>
    <p:sldId id="275" r:id="rId14"/>
    <p:sldId id="276" r:id="rId15"/>
    <p:sldId id="311" r:id="rId16"/>
    <p:sldId id="277" r:id="rId17"/>
    <p:sldId id="278" r:id="rId18"/>
    <p:sldId id="313" r:id="rId19"/>
    <p:sldId id="281" r:id="rId20"/>
    <p:sldId id="283" r:id="rId21"/>
    <p:sldId id="284" r:id="rId22"/>
    <p:sldId id="286" r:id="rId23"/>
    <p:sldId id="287" r:id="rId24"/>
    <p:sldId id="315" r:id="rId25"/>
    <p:sldId id="289" r:id="rId26"/>
    <p:sldId id="291" r:id="rId27"/>
    <p:sldId id="292" r:id="rId28"/>
    <p:sldId id="317" r:id="rId29"/>
    <p:sldId id="296" r:id="rId30"/>
    <p:sldId id="319" r:id="rId31"/>
    <p:sldId id="299" r:id="rId32"/>
    <p:sldId id="301" r:id="rId33"/>
    <p:sldId id="302" r:id="rId34"/>
    <p:sldId id="304" r:id="rId35"/>
    <p:sldId id="320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7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69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111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0837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20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83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32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263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정부지출의 분석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당위성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경제적 효과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측면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경제적 효과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지속적 증가 현상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11.6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효율적 예산제도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당위성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03622" cy="4754563"/>
          </a:xfrm>
        </p:spPr>
        <p:txBody>
          <a:bodyPr anchor="ctr">
            <a:noAutofit/>
          </a:bodyPr>
          <a:lstStyle/>
          <a:p>
            <a:pPr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정부지출 당위성의 근거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시장실패로 인한 비효율성을 줄이기 위해 개입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불확실성 등과 관련된 정부의 지출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더욱 공평한 소득분배를 실현시키기 위한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 관련 지출의 지속적 증가는 국민소득에서 정부지출이 차지하는 비중이 점차 높아져 온 이유 중 하나임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당위성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701618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가치재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가치재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(merit goods)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성격을 갖는 재화와 서비스를 생산 ∙ 공급한다는 점에서 정부지출의 정당성 찾을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개인이 스스로의 후생에 대해 내린 판단이 부적절하다고 생각되는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이를 시정하기 위해 개입을 시도할 수 있음</a:t>
            </a: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소비자주권의 원칙과 충돌할 가능성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소비자주권의 원칙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개인이 스스로의 판단으로 취한 행동에 대해 정부나 그 밖의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자가 간섭하지 말 것을 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612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760341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정부지출이 갖는 여러 가지 경제적 효과는 자원배분과 소득분배의   두 측면에서 평가해 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측면에서 정부지출의 효과를 평가한다는 것은 구체적으로 정부지출이 그 경제에서 생산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∙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소비되는 재화와 서비스의 양과 구성 비율에 미치는 영향을 알아내는 것을 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지출 프로그램은 언제나 민간부문의 반응을 유발함으로써    자원배분상의 효과가 나타나게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9752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재화와 서비스에 대한 지출의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정부지출은 다음의 두 종류로 구분할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재화와 서비스를 구입하기 위한 지출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 대한 이전지출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(transfer payment)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일정량의 재화와 서비스를 사용하게 되면 민간부문이 사용할 수 있는 재화와 서비스의 양은 그만큼 줄어들게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생산이 줄어든다고 해서 모든 상품의 생산이 비례적으로 줄어드는 것은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0529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313BA-30D4-4414-A67C-10395BB16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재화와 서비스에 대한 지출의 효과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algn="ctr">
                  <a:buFont typeface="Wingdings" panose="05000000000000000000" pitchFamily="2" charset="2"/>
                  <a:buChar char="§"/>
                </a:pPr>
                <a:endPara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정부부문 생산증가가 효율성을 떨어뜨리지 않는다면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정부부문 생산증가가 효율성을 떨어뜨린다면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20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D08AA5-58E0-4B2D-8E69-E9C5C7ACAD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23" y="1422400"/>
            <a:ext cx="6540553" cy="370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3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17979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재화나 서비스를 구입하기 위해 지출하는 것이 아니라 일방적으로 소득을 이전해 주는 성격의 지출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종류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소득보조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가격보조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현물보조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소비자이론의 틀을 사용해 정부의 이전지출이 이것을 받는 사람의 경제적 선택에 어떤 영향을 주는지 알아볼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3568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소득보조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소득을 식품과 비식품의 구입에 나누어 지출하고 있는 사람에게 정부가 </a:t>
                </a:r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30</a:t>
                </a: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만원의 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소득보조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(lump-sum subsidy)</a:t>
                </a: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제공</a:t>
                </a:r>
                <a:endParaRPr lang="en-US" altLang="ko-KR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altLang="ko-KR" sz="2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ko-KR" altLang="en-US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선분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𝑪𝑫</m:t>
                    </m:r>
                  </m:oMath>
                </a14:m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</a:t>
                </a: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비자 선택의 변화 </a:t>
                </a:r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altLang="ko-KR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식품 </a:t>
                </a:r>
                <a:b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소비량 증가 </a:t>
                </a:r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𝑭𝑭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endParaRPr lang="en-US" altLang="ko-KR" sz="200" dirty="0">
                  <a:solidFill>
                    <a:srgbClr val="00206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소득효과만 발생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dirty="0">
                  <a:solidFill>
                    <a:srgbClr val="00206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769"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8BFD12-E065-4A9B-B7F9-499C602B6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613" y="2621762"/>
            <a:ext cx="5320789" cy="301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00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가격보조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정부가 식품 가격의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1/3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 보조해 주는 </a:t>
                </a:r>
                <a:r>
                  <a:rPr lang="ko-KR" altLang="en-US" b="1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</a:t>
                </a:r>
                <a:r>
                  <a:rPr lang="en-US" altLang="ko-KR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(price subsidy)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경우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4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𝑨𝑱</m:t>
                    </m:r>
                  </m:oMath>
                </a14:m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선택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 아래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보조금의 크기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𝑵𝑮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CF5E184-6383-4444-86DC-46BDACA58C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342" y="2558786"/>
            <a:ext cx="5235008" cy="287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23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가격보조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가격보조의 지급은 다음의 두 가지 효과 발생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실질소득을 더 크게 만듦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비식품에 대한 식품의 상대가격을 떨어뜨림</a:t>
                </a: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같은 효용을 누릴 수 있게 만드는 소득보조로 대체하면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소득보조 아래서의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𝑲𝑳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변화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소득보조 아래서 보조금의 크기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𝑵𝑴</m:t>
                    </m:r>
                  </m:oMath>
                </a14:m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가격보조는 소비자의 효용을 똑같은 수준으로 올리기 위한 소득보조의 경우보다 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𝑴𝑮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더 많은 이전지출을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가격보조의 비효율성 의미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비효율성은 대체효과와 관련</a:t>
                </a: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국민의 식품소비 증대라는 목표 달성에는 소득보조보다 가격보조가 더 효과적임을 알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026" r="-464" b="-2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4797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특수한 현물보조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특별한 조건이 붙어 있는 </a:t>
                </a:r>
                <a:r>
                  <a:rPr lang="ko-KR" altLang="en-US" b="1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현물보조</a:t>
                </a:r>
                <a:r>
                  <a:rPr lang="en-US" altLang="ko-KR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(in-kind subsidy)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제공될 경우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정부가 일정 크기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pc="-113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𝑶</m:t>
                    </m:r>
                    <m:acc>
                      <m:accPr>
                        <m:chr m:val="̅"/>
                        <m:ctrlPr>
                          <a:rPr lang="en-US" altLang="ko-KR" b="1" i="1" spc="-113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acc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𝑯</m:t>
                        </m:r>
                      </m:e>
                    </m:acc>
                  </m:oMath>
                </a14:m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주택서비스를 무료로 제공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큰 주택에서 살기를 원할 경우 이 프로그램의 혜택을 포기해야 함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초기의 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𝑹𝑺</m:t>
                    </m:r>
                  </m:oMath>
                </a14:m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현물보조 후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𝑹𝑻𝑼𝑺</m:t>
                    </m:r>
                  </m:oMath>
                </a14:m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0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선택의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현물보조 이후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주택서비스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소비량이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 spc="-100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pc="-10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00" dirty="0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acc>
                  </m:oMath>
                </a14:m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감소</a:t>
                </a:r>
                <a:endParaRPr lang="en-US" altLang="ko-KR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874B23-62EA-4298-9296-B277EF748E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750" y="3267214"/>
            <a:ext cx="5116633" cy="290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39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79122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대안을 놓고 비교할 때 서로 다른 분배적 귀결을 조심스럽게 분석하고 이를 중요한 선택기준의 하나로 삼아야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 프로그램의 분배적 귀결을 정확하게 파악하기 위해서는 정부지출에      대한 민간부문의 반응을 모두 파악하고 있어야 한다는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프로그램이 어떤 특정 그룹의 사람들에게 혜택을 가져다 준다는 </a:t>
            </a:r>
            <a:r>
              <a:rPr lang="ko-KR" altLang="en-US" spc="-2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기대하에서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수행된다고 할 때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혜택의 </a:t>
            </a:r>
            <a:r>
              <a:rPr lang="ko-KR" altLang="en-US" b="1" spc="-2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전가</a:t>
            </a:r>
            <a:r>
              <a:rPr lang="en-US" altLang="ko-KR" spc="-2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(shifting)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생겨 </a:t>
            </a:r>
            <a:r>
              <a:rPr lang="ko-KR" altLang="en-US" b="1" spc="-2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실제의 귀착</a:t>
            </a:r>
            <a:r>
              <a:rPr lang="en-US" altLang="ko-KR" spc="-2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(actual incidence)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원래 의도했던 바와 달라질 수 있음</a:t>
            </a:r>
            <a:endParaRPr lang="en-US" altLang="ko-KR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 인해 어떤 프로그램이 표방하는 분배적 효과와 실제로 나타나는 분배적 효과 사이에 커다란 차이가 생길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고등교육에 대한 정부보조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상류층에 혜택 주로 갈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새 지하철 노선이 들어오는 경우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3004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효과의 구체적 사례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6167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지출 프로그램이 갖는 분배적 효과는 소비자들뿐 아니라 생산자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기업들 사이에서도 나타날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 사이에서 발생하는 분배적 효과 그 자체는 별 의미가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55600" lvl="2" indent="-1968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결국 그것이 개인 차원의 분배적 효과로 이어지기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지출 프로그램이 분배의 측면에서 소비자에게 미치는 영향은  주로 시장가격의 변화를 통해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3487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9E055-3B60-4AA1-8AB4-940E38B5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효과의 구체적 사례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주택보조금 지급은 주택시장에서 주택서비스의 수요곡선을  우측으로 이동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0C0628-3AED-4669-B250-D7CFE4AA78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23" y="2060695"/>
            <a:ext cx="6787954" cy="384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79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B2AC5-15C2-4826-8112-1D46D1268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효과의 구체적 사례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수요의 증가가 궁극적으로 어떤 분배적 효과를 내는지는 주택서비스의 공급자들이 이에 대해 얼마나 신축적인 반응을 보이는지에 따라 달라짐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2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(1)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주택서비스의 공급이 신축적으로 반응할 수 없는 경우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보조금의 지급은 소비되는 주택서비스의 양을 별로 늘리지 못하면서 가격만 큰     폭으로 오르게 하는 효과를 냄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(2)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주택서비스의 공급이 상당히 신축적으로 반응할 수 있는 경우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주택보조금이 세 들어 살고 있는 사람에게도 실질적인 혜택을 가져다 줄 가능성이 큼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2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단기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(2)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장기에서의 상황을 나타내고 있는 것으로 해석 가능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2252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지속적 증가 현상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바그너의 법칙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(Wagner’s law)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경제성장에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 국민경제에서 차지하는 공공부문의 상대적 크기가 증대하는 현상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4B556C8D-DE7D-43CA-9A7B-9D904846DC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510" y="2250832"/>
            <a:ext cx="6000979" cy="401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45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819064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피콕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와이즈먼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Peacock and J. Wiseman)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더 많은 돈을 쓰기를 원하는 반면 국민은 더 많은 세금을 내려고 하지 않기 때문에 정부는 지출결정과정에서 국민의 동의를 얻기 위해 노력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국민이 인내할 수 있는 세금부담의 수준이 존재하여 정부 행동에 제약요인으로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안정적으로 성장하는 과정에서 세율구조가 그대로 유지된다면 조세   수입은 지속적으로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혼란기에 들어서면 점진적인 증가추세가 갑작스럽게 팽창추세로    바뀌게 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국민의 조세부담을 크게 증가시킴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혼란기에는 국민이 대규모의 정부지출이 필요한 이유를 납득하고  기꺼이 더 많은 세금을 내려는 태도를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1370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444500" lvl="1">
                  <a:spcAft>
                    <a:spcPts val="500"/>
                  </a:spcAft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전위효과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(displacement effect)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혼란기에 갑작스런 정부지출의   증가를 용인하는 분위기가 생기는 것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사회가 혼란기에 들어서면 정부지출이 상향 조정되며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(displaced upward),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공적인 지출이 사적인 지출을 대신함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(public expenditures displace private expenditures)</a:t>
                </a:r>
              </a:p>
              <a:p>
                <a:pPr marL="444500" lvl="1"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혼란기가 지난 후에도 정부지출의 상대적 비중은 이전 수준으로 복귀하지 않고 일단 전위되어 높아진 수준에서 지속적으로 증가하는 현상을 보임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이와 같은 위기 상황이 몇 차례 반복됨에 따라 정부지출은 점차 더 높은 수준으로 올라감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톱</a:t>
                </a:r>
                <a:r>
                  <a:rPr lang="ko-KR" altLang="en-US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니효과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(ratchet effect)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4617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브라운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잭슨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(C. Brown and P. Jackson)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바그너의 법칙을 중위투표자의 선택과 결부시켜 설명하려고 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경제전체의 소득수준이 상승하면서 중위투표자의 소득이 상승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중위투표자의 소득이 증가할 때 공공서비스에 대한 수요의 소득탄력성이   크다면 공공지출의 상대적 비중이 커질 수 있다고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설명이 옳다면 정부지출의 지속적 증가현상을 부정적으로 볼 이유 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보몰효과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Baumol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effect)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공급하는 것이 주로 서비스의 형태를 갖고 있기 때문에 정부  부문의 생산성 증가 속도는 상대적으로 느릴 가능성이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정부가 생산∙공급하는 서비스의 생산비용이 상대적으로 빨리 올라 정부지출이 증가하는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2916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87512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지출 프로그램에 의해 이득을 보는 소수의 사람들은 이를 관철하기 위해 적극적으로 노력하는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비용부담의 주체가 될 일반대중은 별 생각 없이 끌려가기 때문에 정부지출이 계속 증가하는 경향이  나타날 수도 있음</a:t>
            </a: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특수이해집단에 혜택이 돌아가는 지출 프로그램의 경우에는 이들의 로비가 채택 여부에 큰 영향을 미칠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특수이해집단의 이해관계와 연결되어 있는 프로그램들은 다른 것보다 더 쉽게 채택되는 경향</a:t>
            </a: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관료들의 개인적 이해관계 때문에 정부지출이 더 커진다고 볼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가능한 한 더 큰 예산을 따오려고 노력하는 성향을 보이는데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 성향에 적절한 제동을 걸지 못해 정부지출이 크게 늘어날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8617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(fiscal illusion)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 정부지출 증대의 원인이 될 수 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공공서비스를 더 많이 공급하기 위해서는 조세부담이   올라가야 하나 이를 제대로 인식하지 못하는 경향을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재정착각이 있을 경우 국민들은 정부 팽창에 대해 적극적인 제동을 걸지     않을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부캐넌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J.Buchanan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리바이어던가설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(Leviathan hypothesis)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 대의민주주의는 근본적으로 정부부문의 과도한 팽창을 유발하는        속성을 지님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대중들은 더 큰 정부지출에 적극적으로 반대하지 않는 투표성향을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적자재정을 통한 정부 지출의 증가는 현재 세대의 비용 증가 없이       편익을 가져올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930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53288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(fiscal illusion)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 전반에 대한 체계적인 오해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(systematic misperception)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인해 투표자의 선호가 왜곡되는 현상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대중은 조세와 공공서비스 사이의 관계를 명확히 알지 못해 재정 전반에 대해 체계적인 오해를 하게 될 가능성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다운즈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Downs)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투표자가 정부의 활동에 대해 갖고 있는 정보가 불완전할 가능성이 크다는 점 지적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불완전성이 경우에 따라서는 재정정책에 대한 체계적인 오해로 이어지고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재정착각 현상이 나타날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불완전성은 재정착각이 일어나기 위한 필요조건일 뿐 충분 조건의    성격까지 갖는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1772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재정착각이 지출프로그램에 미치는 영향은 불확실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800"/>
              </a:spcAft>
              <a:tabLst>
                <a:tab pos="4445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지출프로그램의 혜택이 불분명하지만 이를 위한 조세 부담은 뚜렷할 경우   재정지출을 축소하는 방향으로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800"/>
              </a:spcAft>
              <a:tabLst>
                <a:tab pos="4445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지출프로그램과 관련된 자신의 조세부담을 과소 평가하게 되면 지출  프로그램의 확대로 이어질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618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최근에 이루어진 연구를 보면 재정착각의 존재가 지출프로그램 확대를 요구하는 방향으로 영향을 미치는 경우가 대부분 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정부 세입구조의 특성 때문에 납세자들이 자신의 조세 부담을 제대로 인식하지 못하기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700"/>
              </a:spcAft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재정착각이 지출프로그램의 확대를 요구하는 방향으로 영향을 미치는 데는  관료들의 의도적 행동도 영향</a:t>
            </a:r>
          </a:p>
          <a:p>
            <a:pPr marL="444500" lvl="1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니스카넨모형의 예산극대화를 추구하는 관료</a:t>
            </a:r>
          </a:p>
          <a:p>
            <a:pPr marL="444500" lvl="1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지출프로그램의 편익을 과장하는 한편 비용은 최소한으로 줄여 전달함으로써 투표자들의 재정착각을 부추김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9966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 발생의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복잡성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부캐넌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조세를 여러 가지로 잘게 쪼게 부과하면 납세자들이 그 부담을 제대로 인식하지 못하게 된다고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조세제도가 복잡할수록 지출 프로그램과 관련된 조세 부담을 한층 더 과소  평가하는 재정착각이 발생하게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세입체계의 높은 소득탄력성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세입체계의 소득탄력성이 높을 경우 경제가 성장하는 과정에서 자동적으로 조세수입이 더 큰 폭으로 늘어나게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세율을 올리지 않았는데도 조세수입이 저절로 늘어나는 경우에는   사람들이 별로 신경을 쓰지 않음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934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 발생의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국채가 미래의 조세부담을 의미한다는 사실을 제대로 인식하지 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국채를 발행해 지출 프로그램의 재원을 마련하면 당장 내는 세금이 줄어들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발행은 그들이 지금 내야 할 세금을 미래로 미룬 데 불과하며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그 자체의 감소를 뜻하는 것이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발행을 통해 재원조달을 하는 경우는 조세 징수에 의해 조달하는 경우에 비해 정부의 지출 규모가 더 커지는 경향이 나타날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2563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 예산제도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8028789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정부지출의 지속적 증가 경향은 정부의 효율적 운영을 더욱 절실히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05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효율적인 예산제도란 어떤 것인가에 대한 논의 필요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b="1" spc="-3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점증주의적 시각</a:t>
                </a:r>
                <a:r>
                  <a:rPr lang="en-US" altLang="ko-KR" spc="-3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(incrementalism) </a:t>
                </a:r>
              </a:p>
              <a:p>
                <a:pPr marL="457200" lvl="1" indent="0">
                  <a:buNone/>
                </a:pPr>
                <a:r>
                  <a:rPr lang="en-US" altLang="ko-KR" sz="2000" spc="-30" dirty="0"/>
                  <a:t>: </a:t>
                </a:r>
                <a:r>
                  <a:rPr lang="ko-KR" altLang="en-US" sz="2000" spc="-30" dirty="0"/>
                  <a:t>다음 해의 예산을 책정할 때 단순하게 각  부처의 올해 예산을 일정한 비율</a:t>
                </a:r>
                <a:r>
                  <a:rPr lang="en-US" altLang="ko-KR" sz="2000" spc="-30" dirty="0"/>
                  <a:t>(</a:t>
                </a:r>
                <a:r>
                  <a:rPr lang="ko-KR" altLang="en-US" sz="2000" spc="-30" dirty="0"/>
                  <a:t>예 </a:t>
                </a:r>
                <a:r>
                  <a:rPr lang="en-US" altLang="ko-KR" sz="2000" spc="-30" dirty="0"/>
                  <a:t>: </a:t>
                </a:r>
                <a14:m>
                  <m:oMath xmlns:m="http://schemas.openxmlformats.org/officeDocument/2006/math">
                    <m:r>
                      <a:rPr lang="ko-KR" altLang="en-US" sz="2000" b="1" i="1" spc="-30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sz="2000" spc="-30" dirty="0"/>
                  <a:t>배</a:t>
                </a:r>
                <a:r>
                  <a:rPr lang="en-US" altLang="ko-KR" sz="2000" spc="-30" dirty="0"/>
                  <a:t>)</a:t>
                </a:r>
                <a:r>
                  <a:rPr lang="ko-KR" altLang="en-US" sz="2000" spc="-30" dirty="0"/>
                  <a:t>로 불려 편성한다고 보는 시각</a:t>
                </a:r>
                <a:endParaRPr lang="en-US" altLang="ko-KR" sz="2000" spc="-30" dirty="0"/>
              </a:p>
              <a:p>
                <a:pPr marL="444500" lvl="1" indent="-1905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점증주의적인 시각에서 어떤 나라의 예산추이를 설명할 때 단기적인 예측력은 매우 클 것이라고 짐작할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05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다음의 것들을 설명하기 어려운 단점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787400" lvl="2" indent="-190500"/>
                <a:r>
                  <a:rPr lang="ko-KR" altLang="en-US" sz="1600" dirty="0"/>
                  <a:t>왜 </a:t>
                </a: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sz="1600" dirty="0"/>
                  <a:t>가 시간이 흐름에 따라 변화하는가</a:t>
                </a:r>
                <a:r>
                  <a:rPr lang="en-US" altLang="ko-KR" sz="1600" dirty="0"/>
                  <a:t>?</a:t>
                </a:r>
              </a:p>
              <a:p>
                <a:pPr marL="787400" lvl="2" indent="-190500"/>
                <a:r>
                  <a:rPr lang="ko-KR" altLang="en-US" sz="1600" dirty="0"/>
                  <a:t>왜 기관들 사이에 </a:t>
                </a: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sz="1600" dirty="0"/>
                  <a:t>의 값에 차이가 생기는가</a:t>
                </a:r>
                <a:r>
                  <a:rPr lang="en-US" altLang="ko-KR" sz="1600" dirty="0"/>
                  <a:t>?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8028789" cy="4754563"/>
              </a:xfrm>
              <a:blipFill>
                <a:blip r:embed="rId2"/>
                <a:stretch>
                  <a:fillRect l="-683" t="-513" r="-456" b="-2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7970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 예산제도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6167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합리주의적 시각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(rationalist view)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중위투표자이론이나 투표자의 연합 같은 공공선택의 개념을 활용하여 예산편성 과정을 체계적으로 설명하려는 시각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  <a:tabLst>
                <a:tab pos="444500" algn="l"/>
              </a:tabLs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윌리엄슨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(O. Williamson)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어떤 부서의 𝛼값이 부서마다 다른 것은 수요측 요인 때문이라고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lnSpc>
                <a:spcPct val="110000"/>
              </a:lnSpc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비용할증 가격설정의 원칙을 이용해 부서 사이에 𝛼값에 차이가 나는 이유 설명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lnSpc>
                <a:spcPct val="110000"/>
              </a:lnSpc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정치인은 지출 프로그램의 선택을 통해 자신의 정치적 가치를 극대화하는 과정에서 국민의 수요를 반영시킴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합리주의에 의해 예산을 편성한다는 것은 점증주의와 같은 주먹구구를 지양하고 합리적인 근거에 입각해 편성한다는 것을 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합리주의적 접근법은 많은 정보의 뒷받침이 있을 경우에만 본래의 의미를   살릴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3522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8764F-40B1-463B-B5D4-49BEBB2D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프로그램 예산제도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품목별 예산제도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(line-item budgeting system)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기관의 지출항목별로 예산을 편성하는 제도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비슷한 일을 하는 부서 사이의 중복을 막을 수 없다는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프로그램 예산제도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(program budgeting system)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비슷한 목표와 기능을 가진 사업부서들을 한데 묶어 프로그램 단위로 예산을 편성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품목별 예산제도의 문제점을 시정하기 위해 고안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예산편성 단계에서 부서간의 중복을 막아 비용절감 효과를 노림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1150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1F15C-E3FD-4030-B18B-1EFA9FE6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프로그램 예산제도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예산이 사업단위를 기준으로 편성될 경우에는 정부의 활동에 대한 더욱 정확한 판단이 가능하게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정부활동의 산출물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(outputs)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초점을 맞춤으로써 효율성의 평가를 용이하게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종래의 부서별로 예산이 배정되는 예산제도는 정부활동의 투입요소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(inputs)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초점을 맞추는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2007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년부터 재정운용의 효율성과 책임성을 제고하기 위해 프로그램 예산제도를 도입해 운영하고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4962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2301C-FD79-4C66-8DEF-D6BE4B60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영기준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예산제도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6671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영기준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예산제도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(zero-based budgeting system)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영기준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(zero-base)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출발해 각 부서의 활동으로부터 나오는 편익이 소요되는 비용을 초과한다는 것을 입증함으로써 부서별 예산배정이 이루어 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영기준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(zero-base)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부서의 아주 낮은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가까운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활동수준 의미</a:t>
            </a: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원점으로 돌아가 다시 생각하는 자세로 예산을 편성할 것을 요구하고 있다는 점에서 합리성을 띤 제도</a:t>
            </a: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너무 많은 행정비용이 든다는 단점이 있어 주로 사기업과 지방정부에 의해서만 부분적으로 활용되어 왔음</a:t>
            </a: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이 제도를 도입해 시험적으로 실시하였으나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그다지 뚜렷한 성과를 거두지 못하자 얼마 지나지 않아 중단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4077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예산제도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lvl="1" indent="-266700">
              <a:lnSpc>
                <a:spcPct val="100000"/>
              </a:lnSpc>
              <a:spcBef>
                <a:spcPts val="75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2004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정부는 재정제도 개혁을 위한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재정개혁 과제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lnSpc>
                <a:spcPct val="100000"/>
              </a:lnSpc>
              <a:spcBef>
                <a:spcPts val="75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lnSpc>
                <a:spcPct val="100000"/>
              </a:lnSpc>
              <a:spcBef>
                <a:spcPts val="75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개혁과제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 ∙ 장기적 관점의 국가재정운용계획 수립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총액배분 자율편성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(top-down)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성과관리 예산제도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이후 정부가 바뀌어도 위의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개혁과제의 기본방향은 유지되고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2822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예산제도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4556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중∙장기적 관점의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국가재정운용계획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예산과 정책이 유기적으로 연계되도록 하기 위해 경제의 앞날에 대한 장기적 비전을 예산편성 과정에 반영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특별회계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기금을 포괄하는 통합재정기준으로 작성하여 예산제도의 투명성과 재원배분의 효율성을 제고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총액배분 자율편성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(top-down)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부처별로 지출 한도를 설정하고 구체적인 지출 내용은 각 부처가 자율적으로 결정하도록 허용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부처에 상당한 정도의 자율성을 부여함으로써 예산과 관련한 각 부처의    책임과 권한을 강화한다는 데 이 제도의 기본 취지가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일선 행정부서가 갖고 있는 전문성을 적극 활용함으로써 재원 배분의 효율성을 높일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3259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예산제도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성과관리 예산제도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재정사업의 목표와 성과지표를 설정하고 그 지표에 의한 평가 결과를 재정 운영에 반영하는 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지금까지의 예산이 주로 투입 측면에 주안점을 두는 방식으로 관리되었던 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성과관리 제도는 사업의 최종 성과를 중점 관리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총액배분 자율편성 제도 도입으로 인해 각 부처의 예산편성 자율권이 대폭 확대된 데 대한 보완책의 성격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7170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예산제도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2878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2018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국민참여예산제도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도입한 것도 주목할 만한 변화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  <a:spcAft>
                <a:spcPts val="70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예산편성 과정에 국민의견이 직접 반영될 수 있도록 하여 예산에 대한      국민의 관심을 높이고 국가재정을 보다 투명하게 운영하기 위함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저출산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•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고령화와 코로나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인한 재정여건 악화 등을 고려할 때 보다 적극적인 자세로 우리나라 예산제도의 개혁을 추진하는 것이 필요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13852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3817</TotalTime>
  <Words>2525</Words>
  <Application>Microsoft Office PowerPoint</Application>
  <PresentationFormat>화면 슬라이드 쇼(4:3)</PresentationFormat>
  <Paragraphs>375</Paragraphs>
  <Slides>35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3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제11장   정부지출의 분석</vt:lpstr>
      <vt:lpstr>11.1  정부지출의 당위성</vt:lpstr>
      <vt:lpstr>정부지출의 당위성</vt:lpstr>
      <vt:lpstr>11.2  정부지출의 경제적 효과 : 자원배분 측면</vt:lpstr>
      <vt:lpstr>재화와 서비스에 대한 지출의 효과</vt:lpstr>
      <vt:lpstr>재화와 서비스에 대한 지출의 효과</vt:lpstr>
      <vt:lpstr>이전지출의 효과</vt:lpstr>
      <vt:lpstr>이전지출의 효과 : 소득보조</vt:lpstr>
      <vt:lpstr>이전지출의 효과 : 가격보조</vt:lpstr>
      <vt:lpstr>이전지출의 효과 : 가격보조</vt:lpstr>
      <vt:lpstr>이전지출의 효과 : 특수한 현물보조</vt:lpstr>
      <vt:lpstr>11.3  정부지출의 경제적 효과 : 소득분배 측면</vt:lpstr>
      <vt:lpstr>소득분배 측면 : 분배적 효과의 구체적 사례</vt:lpstr>
      <vt:lpstr>소득분배 측면 : 분배적 효과의 구체적 사례</vt:lpstr>
      <vt:lpstr>소득분배 측면 : 분배적 효과의 구체적 사례</vt:lpstr>
      <vt:lpstr>11.4  정부지출의 지속적 증가 현상</vt:lpstr>
      <vt:lpstr>정부지출 증가의 원인</vt:lpstr>
      <vt:lpstr>정부지출 증가의 원인</vt:lpstr>
      <vt:lpstr>정부지출 증가의 원인</vt:lpstr>
      <vt:lpstr>정부지출 증가의 원인</vt:lpstr>
      <vt:lpstr>정부지출 증가의 원인</vt:lpstr>
      <vt:lpstr>11.5  재정착각</vt:lpstr>
      <vt:lpstr>재정착각</vt:lpstr>
      <vt:lpstr>재정착각</vt:lpstr>
      <vt:lpstr>재정착각 발생의 원인</vt:lpstr>
      <vt:lpstr>재정착각 발생의 원인</vt:lpstr>
      <vt:lpstr>11.6  효율적 예산제도</vt:lpstr>
      <vt:lpstr>효율적 예산제도</vt:lpstr>
      <vt:lpstr>프로그램 예산제도</vt:lpstr>
      <vt:lpstr>프로그램 예산제도</vt:lpstr>
      <vt:lpstr>영기준 예산제도</vt:lpstr>
      <vt:lpstr>우리나라의 예산제도 개혁</vt:lpstr>
      <vt:lpstr>우리나라의 예산제도 개혁</vt:lpstr>
      <vt:lpstr>우리나라의 예산제도 개혁</vt:lpstr>
      <vt:lpstr>우리나라의 예산제도 개혁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803</cp:revision>
  <dcterms:created xsi:type="dcterms:W3CDTF">2015-08-04T05:38:00Z</dcterms:created>
  <dcterms:modified xsi:type="dcterms:W3CDTF">2021-02-21T14:36:47Z</dcterms:modified>
</cp:coreProperties>
</file>