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40"/>
  </p:notesMasterIdLst>
  <p:handoutMasterIdLst>
    <p:handoutMasterId r:id="rId41"/>
  </p:handoutMasterIdLst>
  <p:sldIdLst>
    <p:sldId id="322" r:id="rId2"/>
    <p:sldId id="259" r:id="rId3"/>
    <p:sldId id="316" r:id="rId4"/>
    <p:sldId id="260" r:id="rId5"/>
    <p:sldId id="263" r:id="rId6"/>
    <p:sldId id="265" r:id="rId7"/>
    <p:sldId id="304" r:id="rId8"/>
    <p:sldId id="269" r:id="rId9"/>
    <p:sldId id="317" r:id="rId10"/>
    <p:sldId id="305" r:id="rId11"/>
    <p:sldId id="271" r:id="rId12"/>
    <p:sldId id="274" r:id="rId13"/>
    <p:sldId id="318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311" r:id="rId25"/>
    <p:sldId id="287" r:id="rId26"/>
    <p:sldId id="319" r:id="rId27"/>
    <p:sldId id="312" r:id="rId28"/>
    <p:sldId id="289" r:id="rId29"/>
    <p:sldId id="313" r:id="rId30"/>
    <p:sldId id="314" r:id="rId31"/>
    <p:sldId id="291" r:id="rId32"/>
    <p:sldId id="309" r:id="rId33"/>
    <p:sldId id="293" r:id="rId34"/>
    <p:sldId id="315" r:id="rId35"/>
    <p:sldId id="321" r:id="rId36"/>
    <p:sldId id="320" r:id="rId37"/>
    <p:sldId id="296" r:id="rId38"/>
    <p:sldId id="297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4" autoAdjust="0"/>
    <p:restoredTop sz="96400" autoAdjust="0"/>
  </p:normalViewPr>
  <p:slideViewPr>
    <p:cSldViewPr snapToGrid="0">
      <p:cViewPr varScale="1">
        <p:scale>
          <a:sx n="82" d="100"/>
          <a:sy n="82" d="100"/>
        </p:scale>
        <p:origin x="13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49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63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92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2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04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29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바람직한 조세제도의 탐색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최적물품세의 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최적소득세의 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조세행정의 문제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2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최적조세구조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(optimal tax structure)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사회후생을 극대화할 수 있는 조세구조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측면뿐 아니라 분배의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공평성이라는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측면도 고려해야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효율성과 공평성 사이의 적절한 타협이 이루어지는 선에서 최적조세구조를 찾음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Ramsey),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보아뙤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Boiteux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등으로부터 시작된 전통적 최적조세이론은 사실상 거의 전적으로 효율성이라는 관점에서 문제에 접근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조세수입을 달성하면서 최소한의 효율성 상실만을 가져오는 조세 제도의 탐색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측면까지 감안한 최적조세이론도 존재하나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아직도 효율성을 위주로 하는 최적조세이론이 지배적인 흐름을 형성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987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 연구자들이 사용하는 최적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(optimal)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표현이 실제로는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효율적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’(most efficient)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의미를 갖는 경우가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최적조세구조를 찾는 단계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선택 가능한 조세구조 중에서 어떤 것들이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조세구조가 될 수 있는지 찾아냄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기준을 적용해 이들 중 가장 바람직하다고 생각되는 조세구조를 선택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이런 방식으로 최적조세구조를 찾는 일이 쉽지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56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최적조세이론은 최선의 방책을 찾을 수 없다는 현실을 인정하고 차선의 방책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(second-best solution)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찾는 데 주력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2088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조세부과가 효율성의 상실을 가져오는 점을 인정하고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가능하면 이를 최소화하는 조세구조를 찾으려고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최적조세이론의 두 가지 유형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8650" lvl="1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종류의 조세를 통해 조세수입을 얻는 것이 바람직한지의 관점에서 접근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간접세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28650" lvl="1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구체적인 조세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놓고 이를 어떻게 운영하는 것이 최적인지를 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783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직접세와 간접세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  <a:tabLst>
                    <a:tab pos="177800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전통적 논의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조세수입이 같다면 물품세보다 소득세 부과할 때의 사회후생이 더 크므로 물품세보다 소득세가 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바람직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물품세하의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⇒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소득세하의 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𝑮𝑯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소득세가 더 바람직하다는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엄밀한 논리적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근거의 뒷받침을 받지 못함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436" b="-5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DA4B40-5670-464F-84F2-B298A61E85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163" y="2664451"/>
            <a:ext cx="5130700" cy="291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6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직접세와 간접세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indent="-285750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현대적 논의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스티글리츠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Atkinson and J. Stiglitz)  </a:t>
            </a:r>
          </a:p>
          <a:p>
            <a:pPr marL="628650" lvl="1" indent="-28575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경제적 능력은 ‘감추어진 특성’이기 때문에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관찰 가능한 다른 특성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대리변수로 하여 선별수단으로 삼아야 함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선별이론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(theory of screening)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2088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무엇을 대리변수로 할 것인가의 문제 </a:t>
            </a:r>
          </a:p>
          <a:p>
            <a:pPr marL="444500" lvl="1" indent="-192088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선별 수단을 선택할 때 고려 사항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능력과 높은 상관관계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의사결정에 최소한의 교란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행정비용을 극소화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2088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능력의 대리변수로 소득이 가장 흔히 활용되지만 능력의 지표로서 많은 문제점 지님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159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40000"/>
              </a:lnSpc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소득세가 직접세 체계의 중심적 위치를 차지하고 있는 것을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(expenditure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대체하는 것이 바람직하다는 의견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차이는 단지 저축에서 나오는 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과세 여부에서만 차이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30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4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사람을 대상으로 부과되는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대인세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(personal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대해서 부과되는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대물세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i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 rem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갖는 보통의 물품세와는 다름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4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납세자의 경제적 능력에 따라 세율을 조정하여 원하는 만큼의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26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buNone/>
              <a:tabLst>
                <a:tab pos="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지지자들은 소득세는 시점간 자원배분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(intertemporal resource allocation)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과정에서 교란을 일으키게 되어 비효율성의 원인이 된다는 점을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소득세를 같은 세수를 가져다 주는 지출세로 대체하면 소비자의 효용이 더 높아질 수 있다는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055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시점간 자원배분 모형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동일한 세수를 주는 소득세와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지출세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소득세는 이자소득에도 과세하여 예산선의 기울기를 바꿈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71475" indent="-285750">
                  <a:lnSpc>
                    <a:spcPct val="110000"/>
                  </a:lnSpc>
                  <a:spcBef>
                    <a:spcPts val="0"/>
                  </a:spcBef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부존점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 예산선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 부과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𝑪𝑫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효용수준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지출세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𝑭𝑮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효용수준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564" b="-4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51571C-555E-44B5-96EE-E7B2D97E05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319" y="2493500"/>
            <a:ext cx="5810225" cy="33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1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3050" indent="-27305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여가와 소득 사이의 선택을 고려하는 일반적인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모형하에서는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지출세가 더 바람직하다는 주장이 타당성을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지출세가 여가와 소득 사이의 선택을 교란하는 결과를 가져와 소득세보다 더 우월하다고 주장할 근거가 없어지기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이론에 따르면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일단 하나 이상의 효율성조건이 교란된 경우 효율성조건이 추가적으로 교란되었다 해서 후생수준이 반드시 더 낮아지는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4742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5113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관점에서의 효율성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자본축적을 촉진하는 측면에서 지출세가 더 낫다고 주장하기도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주장 역시 이론적 근거는 그리 뚜렷하지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지출세가 본격적으로 채택된 사례가 드물기 때문에 실제로 저축이 현저하게 증가했다는 실증적 근거도 댈 수 없는 형편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512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측면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511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칼도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Kaldor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노동 대가인 소득보다 소비하는 행위에 대해 과세하는 것이 바람직하다고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사회에 기여하는 행위에 대해 과세할 것이 아니라 사회로부터 가져가는 행위에 대해 과세해야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스스로 소비하고 싶은 욕구를 억누르고 남의 필요에 쓰일 목적으로 저축한 돈에 대해 과세하는 것은 불공평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이유로 지출세가 더 공평하다는 것에 공감하기는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511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소득세가 수평적 공평성의 문제를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면에서 똑같고 오직 저축성향에서만 차이를 보인다면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소득세제하에서는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저축성향이 더 높은 사람이 더 많은 세금을 납부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107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효율성과 공평성 측면에서 지출세가 소득세보다 약간 더 우월해 보이지만 그 차이는 확연하지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지출세로의 전환 논의는 시간을 두고 계속 나타나고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1930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피셔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(I. Fisher)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중심으로 한 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칼도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Kaldor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재논의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미드위원회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(Meade Committee)</a:t>
            </a:r>
          </a:p>
          <a:p>
            <a:pPr marL="444500" lvl="1" indent="-174625">
              <a:spcAft>
                <a:spcPts val="1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FRB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의장인 그린스펀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Greenspan)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지출세제를 채택한 나라는 거의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	</a:t>
            </a:r>
          </a:p>
          <a:p>
            <a:pPr marL="444500" lvl="1" indent="-176213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도입의 정치적인 어려움이 매우 클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285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16.3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(F. Ramsey)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접근방법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 조세수입의 목표를 달성하면서 초과부담을 최소화하는 물품세의 구조 모색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4625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이후 최적물품세와 관련한 많은 이론들은 기본적으로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접근방법을 따름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물품세 체계의 초과부담 총합을 극소화하기 위해서는 각 상품에 적용되는 세율을 어떻게 결정해야 할까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  <a:p>
                <a:pPr marL="444500" lvl="1" indent="-176213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상품으로부터의 조세수입의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한계초과부담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(marginal excess burden 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𝑴𝑬𝑩</m:t>
                    </m:r>
                  </m:oMath>
                </a14:m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같아지도록 세율을 결정해야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조세의 징수액을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 증가시켰을 때 발생하는 초과부담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49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소비하는 대표적 소비자를 고려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부과할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 후의 수요량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부과되는 물품세를 단위당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 더 올리는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증가분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단위당 세금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 올려 얻을 수 있는 조세수입 증가분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한계조세수입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(marginal tax revenue)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476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한계초과부담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𝑴𝑬𝑩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상승으로 인해 발생하는 초과부담의 증가분을 한계조세수입으로 나눈 값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한계초과부담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𝑴𝑬𝑩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한계초과부담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𝑴𝑬𝑩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lvl="1" indent="-268288"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 체계로부터 나오는 총초과부담을 극소화하기 위해서는 위의 두 한계초과부담이 같아야 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램지규칙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(Ramsey rule)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9567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조세제도로부터 나오는 초과부담을 극소화하기 위해서는 모든 상품의 수요량 감소가 똑같은 비율로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일어나도록 세율구조를 만들어야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세수가 주어져 있는 상태에서 초과부담을 최소화하기 위해서는 두 재화 사이의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원당 한계초과 부담이 같아야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상품에 대해 똑같은 세율을 적용하는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체계가 반드시 최적일 이유는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786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대한 보상수요의 가격탄력성을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하면 다음을 확인할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185738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조세부과로 인한 쌀 수요량 감소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185738">
                  <a:lnSpc>
                    <a:spcPct val="110000"/>
                  </a:lnSpc>
                  <a:spcAft>
                    <a:spcPts val="2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조세부과로 인한 옷 수요량 감소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램지규칙을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다음과 같이 다시 표현할 수 있음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역탄력성규칙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(inverse elasticity rule)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658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상품에 적용되는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세율을 수요의 가격탄력성에 반비례하도록 정해야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가격탄력성이 큰 상품에는 낮은 세율을 적용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가격탄력성이 작은 상품에는 높은 세율을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측면을 고려할 경우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있을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탄력성이 낮은 생필품에 높은 세율 적용하고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탄력성이 큰 사치재에 낮은 세율 적용 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저소득층에게 불리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3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콜렛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lvl="1" indent="-268288">
              <a:lnSpc>
                <a:spcPct val="130000"/>
              </a:lnSpc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콜렛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Corlett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D. Hague)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여가에 세금을 부과할 수 없음을 인식하고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여가에 대해 간접적으로 과세하는 방법을 모색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여가에 보완적인 상품에 높은 세율을 적용하고 대체적인 상품에는 낮은 세율을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콜렛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헤이그규칙은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직접세와 간접세 사이에서의 선택 문제에 대해 세율에 차등을 둔 </a:t>
            </a: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제도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간접세가 더 낫다는 주장으로 이해할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59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최적물품세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함의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효율성뿐 아니라 공평성의 측면에서도 적절한 성격을 지녀야 진정한 의미에서의 최적조세라고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 부과로 생겨나는 분배적 귀결에 대해서도 적절한 고려를 하는 최적조세모형의 설정이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측면까지 고려하면 최적물품세를 위한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수정되어야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정도의 평등주의적 성향을 전제하느냐에 따라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수정의 폭이 달라질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부자와 가난한 사람 사이의 소비패턴에 얼마나 차이가 있는지도 이 문제와 관련을 가질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4534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최적소득세의 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(progressive)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조세제도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납세자의 소득수준이 올라감에 따라 그의 평균세율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(average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올라가는 성격을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지닌 조세제도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(marginal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기준으로 하여 누진성을 정의하기도 하나 평균세율에 입각해 누진성을 정의하는 접근법이 보편적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소득세제의 누진성은 여러 가지 방법으로 측정될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722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누진성의 측정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432000" indent="-396000">
                  <a:lnSpc>
                    <a:spcPct val="14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 상승에 따라 평균세율이 얼마나 빨리 올라가는지를 통해 측정하는 방법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1188" lvl="1" indent="-268288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	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  <a:p>
                <a:pPr marL="611188" lvl="1" indent="-268288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값이 더 클수록 더욱 누진적이라고 평가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2559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누진성의 측정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432000" indent="-396000">
                  <a:spcAft>
                    <a:spcPts val="1000"/>
                  </a:spcAft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소득에 대한 조세의 탄력성을 활용하는 방법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000" lvl="1" indent="-2700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소득탄력성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변화할 때 조세부담이 몇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변화하는가를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000" lvl="1" indent="-2700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000" lvl="1" indent="-270000">
                  <a:spcAft>
                    <a:spcPts val="1500"/>
                  </a:spcAft>
                  <a:buNone/>
                </a:pP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		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612000" lvl="1" indent="-270000"/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값이 더 클수록 더욱 누진적이라고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007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누진성의 측정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40000"/>
                  </a:lnSpc>
                  <a:spcAft>
                    <a:spcPts val="3000"/>
                  </a:spcAft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b="1" i="1" dirty="0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누진성의 정도에 대해 다른 평가를 하는 경우가 많음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8288" indent="-268288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사람의 소득세부담을 현재의 수준에서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씩 증가시키는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1188" lvl="1" indent="-268288">
                  <a:lnSpc>
                    <a:spcPct val="14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예전보다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크게 되어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누진성이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커졌다고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1188" lvl="1" indent="-268288">
                  <a:lnSpc>
                    <a:spcPct val="14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변하지 않아 누진성에 변화가 없다고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3767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선형누진세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(linear progressive tax)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한계세율이 일정하게 유지되면서도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누진성을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갖는 세제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조세부담액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사이의 관계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𝒕𝒀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사람에게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만큼의 정액증여를 한 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벌어들인 소득에 대해서는 정해진 세율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적용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소득수준이 높아짐에 따라 한계세율은 일정하게 유지되며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평균세율은 증가함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미만의 납세자는 정부로부터 보조금을 받게 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일종의 부의 소득세제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392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선형누진세하의 조세부담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9CBC98-9464-43D4-9F18-520FC23BF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21" y="2096136"/>
            <a:ext cx="7629756" cy="422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69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한계세율과 평균소득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>
              <a:lnSpc>
                <a:spcPct val="10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622A04-A2D6-4DD6-8829-561DF75FB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2" y="2029844"/>
            <a:ext cx="7522733" cy="428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33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5113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선형누진세의 한계세율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높을수록 초과부담 커지고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정액증여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커질수록 재분배효과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5113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두 측면을 모두 고려해 적절한 한계세율과 정액증여의 조합을 찾으면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최적선형누진세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(optimal linear progressive tax)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도출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5113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일정한 조세수입을 달성해야 한다는 조건하에서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정액증여를 더 크게 만들기 위해서는 반드시 한계세율을 더 높여야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3285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유지 아래 정액증여 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한계세율 상승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8288" indent="-268288"/>
                <a:endParaRPr lang="en-US" altLang="ko-KR" sz="2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가난한 사람의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부유한 사람의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감소  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재분배효과</a:t>
                </a:r>
                <a:endParaRPr lang="en-US" altLang="ko-KR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/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/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789D6B-45BE-42FD-9281-2FDD4FD884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050" y="2641206"/>
            <a:ext cx="6013456" cy="342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1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Stern)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최적선형누진세의 모형을 세우고 적절한 계수들의 값을 대입하여 최적선형누진세가 어떤 구조를 갖고 있는지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똑같은 소득과 여가 사이의 선호를 가지며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이들 사이의 대체탄력성이 불변으로 유지된다고 가정</a:t>
            </a:r>
            <a:endParaRPr lang="en-US" altLang="ko-KR" spc="-7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조세수입을 달성해야 한다는 조건하에 사회후생함수를 극대화하는 </a:t>
            </a:r>
            <a:r>
              <a:rPr lang="ko-KR" altLang="en-US" spc="-7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최적선형누진세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세율 계산</a:t>
            </a:r>
            <a:endParaRPr lang="en-US" altLang="ko-KR" spc="-7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최적세율은 대체탄력성의 크기와 배경이 되는 사회후생함수의 성격에 민감하게 반응하는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평등성에 대한 가치가 높을수록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최적선형누진세율이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높아지는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846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스턴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(N. Stern)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최적선형누진세율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1500"/>
                  </a:spcAft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평등성에 대한 변수로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값이 작아질수록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평등성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중시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=−∞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롤즈적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(Rawlsian)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가치판단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28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평등성에 대한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선호가 강할수록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높은 세율이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요구됨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28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대체탄력성이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클수록 더 낮은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세율이 요구됨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2800">
                  <a:lnSpc>
                    <a:spcPct val="110000"/>
                  </a:lnSpc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D97AAB-4227-4A39-BB88-591EB53546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160" y="2891205"/>
            <a:ext cx="5864806" cy="333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44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최고소득세율의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소득구간이 올라감에 따라 세율이 점차 높아지는 복잡한 세율구조를 갖는 경우가 대부분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현실에서 찾아보기 어려움</a:t>
            </a:r>
          </a:p>
          <a:p>
            <a:pPr marL="268288" indent="-268288">
              <a:lnSpc>
                <a:spcPct val="130000"/>
              </a:lnSpc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세율구조를 어떻게 설계하는 것이 최적인지를 이론적으로 접근하는 것은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최고소득세율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(top income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어떤 수준에서 결정하는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바람직한지에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이슈에 관심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448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최고소득세율의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피케티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Piketty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</a:t>
            </a:r>
          </a:p>
          <a:p>
            <a:pPr marL="611188" lvl="1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최고소득세율은 소득세 수입을 극대화하는 세율을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최고소득계층에 속한 사람들이 최고소득세율의 변화에 반응하는 경로로 다음을 가정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행위에 영향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조세회피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(tax avoidance)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관련한 행위에 영향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최고소득계층의 보수 협상과 관련한 태도에 영향</a:t>
            </a:r>
          </a:p>
          <a:p>
            <a:pPr marL="611188" lvl="1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경로의 영향의 크기에 따라 최적 최고소득세율이 달라질 것임</a:t>
            </a:r>
          </a:p>
          <a:p>
            <a:pPr marL="611188" lvl="1" indent="-268288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최고소득세율 인하폭이 클수록 최상위 계층의 소득 점유율이 더 커지는 추세로부터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중요한 역할을 한다고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피케티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등의 연구는 미국 경제를 대상으로 하고 있어 경제상황이 다른 나라들에게 일률적으로 적용하기는 어렵다는 점에서 한계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5651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효율적이고 공평한 조세제도를 만들기 위해서는 조세행정의 합리화가 필수적임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조세제도를 운영하는 데 드는 비용의 최소화가 중요한 과제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조세제도를 운영하는 데 소요되는 비용은 크게 두 가지의 범주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조세징수를 위해 행정당국이 사용하는 비용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납세비용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compliance cost)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조세를 납부하는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과정에서 써야 하는 비용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노력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494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실증분석 결과에 따르면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조세당국이 징세과정에서 지출하는 비용은 그다지 크지 않다고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100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달러의 세금 징수에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센트의 비용 지불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달러의 세금 징수에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센트의 비용 지불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조세제도를 위해 제도를 단순화하여 납세비용을 줄일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조세제도는 운용에 많은 행정비용을 유발할 뿐 아니라 조세의 회피와 탈세를 조장할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85644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2435</Words>
  <Application>Microsoft Office PowerPoint</Application>
  <PresentationFormat>화면 슬라이드 쇼(4:3)</PresentationFormat>
  <Paragraphs>334</Paragraphs>
  <Slides>38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제16장   바람직한 조세제도의 탐색</vt:lpstr>
      <vt:lpstr>16.1  최적조세이론</vt:lpstr>
      <vt:lpstr>16.1  최적조세이론</vt:lpstr>
      <vt:lpstr>최적조세이론</vt:lpstr>
      <vt:lpstr>최적조세이론</vt:lpstr>
      <vt:lpstr>16.2  바람직한 조세의 형태 : 직접세와 간접세</vt:lpstr>
      <vt:lpstr>바람직한 조세의 형태 : 직접세와 간접세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16.3  최적물품세의 이론</vt:lpstr>
      <vt:lpstr>램지규칙</vt:lpstr>
      <vt:lpstr>램지규칙</vt:lpstr>
      <vt:lpstr>램지규칙의 의의</vt:lpstr>
      <vt:lpstr>역탄력성규칙</vt:lpstr>
      <vt:lpstr>역탄력성규칙의 의의</vt:lpstr>
      <vt:lpstr>콜렛-헤이그규칙</vt:lpstr>
      <vt:lpstr>최적물품세 : 분배적 함의</vt:lpstr>
      <vt:lpstr>16.4  최적소득세의 이론</vt:lpstr>
      <vt:lpstr>누진성의 측정</vt:lpstr>
      <vt:lpstr>누진성의 측정</vt:lpstr>
      <vt:lpstr>누진성의 측정</vt:lpstr>
      <vt:lpstr>선형누진세</vt:lpstr>
      <vt:lpstr>선형누진세</vt:lpstr>
      <vt:lpstr>선형누진세</vt:lpstr>
      <vt:lpstr>선형누진세</vt:lpstr>
      <vt:lpstr>선형누진세</vt:lpstr>
      <vt:lpstr>선형누진세</vt:lpstr>
      <vt:lpstr>선형누진세</vt:lpstr>
      <vt:lpstr>최적 최고소득세율의 문제</vt:lpstr>
      <vt:lpstr>최적 최고소득세율의 문제</vt:lpstr>
      <vt:lpstr>16.5  조세행정의 문제</vt:lpstr>
      <vt:lpstr>조세행정의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1142</cp:revision>
  <dcterms:created xsi:type="dcterms:W3CDTF">2015-08-04T05:38:00Z</dcterms:created>
  <dcterms:modified xsi:type="dcterms:W3CDTF">2021-02-21T14:20:06Z</dcterms:modified>
</cp:coreProperties>
</file>