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14" r:id="rId1"/>
  </p:sldMasterIdLst>
  <p:notesMasterIdLst>
    <p:notesMasterId r:id="rId36"/>
  </p:notesMasterIdLst>
  <p:handoutMasterIdLst>
    <p:handoutMasterId r:id="rId37"/>
  </p:handoutMasterIdLst>
  <p:sldIdLst>
    <p:sldId id="316" r:id="rId2"/>
    <p:sldId id="298" r:id="rId3"/>
    <p:sldId id="300" r:id="rId4"/>
    <p:sldId id="301" r:id="rId5"/>
    <p:sldId id="267" r:id="rId6"/>
    <p:sldId id="302" r:id="rId7"/>
    <p:sldId id="303" r:id="rId8"/>
    <p:sldId id="304" r:id="rId9"/>
    <p:sldId id="305" r:id="rId10"/>
    <p:sldId id="308" r:id="rId11"/>
    <p:sldId id="306" r:id="rId12"/>
    <p:sldId id="307" r:id="rId13"/>
    <p:sldId id="276" r:id="rId14"/>
    <p:sldId id="277" r:id="rId15"/>
    <p:sldId id="278" r:id="rId16"/>
    <p:sldId id="310" r:id="rId17"/>
    <p:sldId id="311" r:id="rId18"/>
    <p:sldId id="281" r:id="rId19"/>
    <p:sldId id="282" r:id="rId20"/>
    <p:sldId id="283" r:id="rId21"/>
    <p:sldId id="312" r:id="rId22"/>
    <p:sldId id="285" r:id="rId23"/>
    <p:sldId id="286" r:id="rId24"/>
    <p:sldId id="287" r:id="rId25"/>
    <p:sldId id="288" r:id="rId26"/>
    <p:sldId id="289" r:id="rId27"/>
    <p:sldId id="314" r:id="rId28"/>
    <p:sldId id="313" r:id="rId29"/>
    <p:sldId id="291" r:id="rId30"/>
    <p:sldId id="292" r:id="rId31"/>
    <p:sldId id="315" r:id="rId32"/>
    <p:sldId id="294" r:id="rId33"/>
    <p:sldId id="295" r:id="rId34"/>
    <p:sldId id="296" r:id="rId35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D9A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349" autoAdjust="0"/>
    <p:restoredTop sz="97470" autoAdjust="0"/>
  </p:normalViewPr>
  <p:slideViewPr>
    <p:cSldViewPr snapToGrid="0">
      <p:cViewPr varScale="1">
        <p:scale>
          <a:sx n="87" d="100"/>
          <a:sy n="87" d="100"/>
        </p:scale>
        <p:origin x="1406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6721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74EB9A-155E-47CB-BDE7-4AA3BFCC0E51}" type="datetimeFigureOut">
              <a:rPr lang="ko-KR" altLang="en-US" smtClean="0"/>
              <a:t>2021-02-22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6EE28E-5237-48A9-A4BC-4C0FE4044B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144264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9B8873-BC00-4E98-82A0-FC8387D5BC2D}" type="datetimeFigureOut">
              <a:rPr lang="ko-KR" altLang="en-US" smtClean="0"/>
              <a:t>2021-02-22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295A58-9429-4B5D-BCB7-763BD5DD46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861881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295A58-9429-4B5D-BCB7-763BD5DD4617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42946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295A58-9429-4B5D-BCB7-763BD5DD4617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74407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295A58-9429-4B5D-BCB7-763BD5DD4617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22840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573902"/>
            <a:ext cx="7772400" cy="1330099"/>
          </a:xfrm>
        </p:spPr>
        <p:txBody>
          <a:bodyPr anchor="ctr">
            <a:normAutofit/>
          </a:bodyPr>
          <a:lstStyle>
            <a:lvl1pPr algn="ctr">
              <a:defRPr sz="3800" b="1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en-US" altLang="ko-KR"/>
              <a:t>PUBLIC FINANCE</a:t>
            </a:r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1</a:t>
            </a:r>
            <a:r>
              <a:rPr lang="ko-KR" altLang="en-US"/>
              <a:t>장  재정학</a:t>
            </a:r>
            <a:r>
              <a:rPr lang="en-US" altLang="ko-KR"/>
              <a:t>: </a:t>
            </a:r>
            <a:r>
              <a:rPr lang="ko-KR" altLang="en-US"/>
              <a:t>의의와 성격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fld id="{06CA9FF6-BF29-4679-8C21-AEBAF289512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05641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BD14322B-89EF-4DE6-82DD-B4948B5F2EEE}"/>
              </a:ext>
            </a:extLst>
          </p:cNvPr>
          <p:cNvSpPr/>
          <p:nvPr userDrawn="1"/>
        </p:nvSpPr>
        <p:spPr>
          <a:xfrm>
            <a:off x="0" y="0"/>
            <a:ext cx="9144000" cy="1330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618" y="194400"/>
            <a:ext cx="8645237" cy="1332000"/>
          </a:xfrm>
          <a:solidFill>
            <a:srgbClr val="6D9AC3"/>
          </a:solidFill>
        </p:spPr>
        <p:txBody>
          <a:bodyPr anchor="ctr">
            <a:normAutofit/>
          </a:bodyPr>
          <a:lstStyle>
            <a:lvl1pPr algn="ctr">
              <a:defRPr sz="3800" b="1" baseline="0">
                <a:solidFill>
                  <a:schemeClr val="tx1"/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ko-KR" altLang="en-US"/>
              <a:t>재정학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2</a:t>
            </a:r>
            <a:r>
              <a:rPr lang="ko-KR" altLang="en-US"/>
              <a:t>장  우리나라의 재정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fld id="{06CA9FF6-BF29-4679-8C21-AEBAF289512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82273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73557"/>
            <a:ext cx="9144000" cy="711200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tx1"/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28650" y="1422400"/>
            <a:ext cx="7886700" cy="4754563"/>
          </a:xfrm>
        </p:spPr>
        <p:txBody>
          <a:bodyPr anchor="ctr">
            <a:normAutofit/>
          </a:bodyPr>
          <a:lstStyle>
            <a:lvl1pPr>
              <a:lnSpc>
                <a:spcPct val="130000"/>
              </a:lnSpc>
              <a:spcAft>
                <a:spcPts val="400"/>
              </a:spcAft>
              <a:buClr>
                <a:schemeClr val="accent1"/>
              </a:buClr>
              <a:defRPr sz="20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  <a:lvl2pPr>
              <a:lnSpc>
                <a:spcPct val="130000"/>
              </a:lnSpc>
              <a:spcAft>
                <a:spcPts val="400"/>
              </a:spcAft>
              <a:buClr>
                <a:schemeClr val="accent1"/>
              </a:buClr>
              <a:defRPr sz="18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2pPr>
            <a:lvl3pPr>
              <a:lnSpc>
                <a:spcPct val="130000"/>
              </a:lnSpc>
              <a:spcAft>
                <a:spcPts val="400"/>
              </a:spcAft>
              <a:buClr>
                <a:schemeClr val="accent1"/>
              </a:buClr>
              <a:defRPr sz="18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3pPr>
            <a:lvl4pPr>
              <a:lnSpc>
                <a:spcPct val="130000"/>
              </a:lnSpc>
              <a:spcAft>
                <a:spcPts val="400"/>
              </a:spcAft>
              <a:buClr>
                <a:schemeClr val="accent1"/>
              </a:buClr>
              <a:defRPr sz="18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4pPr>
            <a:lvl5pPr>
              <a:lnSpc>
                <a:spcPct val="130000"/>
              </a:lnSpc>
              <a:spcAft>
                <a:spcPts val="400"/>
              </a:spcAft>
              <a:buClr>
                <a:schemeClr val="accent1"/>
              </a:buClr>
              <a:defRPr sz="18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/>
              <a:t>PUBLIC FINANCE</a:t>
            </a:r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1</a:t>
            </a:r>
            <a:r>
              <a:rPr lang="ko-KR" altLang="en-US"/>
              <a:t>장  재정학</a:t>
            </a:r>
            <a:r>
              <a:rPr lang="en-US" altLang="ko-KR"/>
              <a:t>: </a:t>
            </a:r>
            <a:r>
              <a:rPr lang="ko-KR" altLang="en-US"/>
              <a:t>의의와 성격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06CA9FF6-BF29-4679-8C21-AEBAF2895125}" type="slidenum">
              <a:rPr lang="ko-KR" altLang="en-US" smtClean="0"/>
              <a:pPr/>
              <a:t>‹#›</a:t>
            </a:fld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AC9FBE22-6673-4F8B-81FC-4C6C25369B23}"/>
              </a:ext>
            </a:extLst>
          </p:cNvPr>
          <p:cNvCxnSpPr/>
          <p:nvPr userDrawn="1"/>
        </p:nvCxnSpPr>
        <p:spPr>
          <a:xfrm>
            <a:off x="628650" y="1259382"/>
            <a:ext cx="7886700" cy="0"/>
          </a:xfrm>
          <a:prstGeom prst="line">
            <a:avLst/>
          </a:prstGeom>
          <a:ln w="57150">
            <a:solidFill>
              <a:srgbClr val="A6C9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5861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0" y="1311928"/>
            <a:ext cx="9144000" cy="55460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338622"/>
            <a:ext cx="9144000" cy="711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422400"/>
            <a:ext cx="7886700" cy="4754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altLang="ko-K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/>
              <a:t>PUBLIC FINANCE</a:t>
            </a:r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제</a:t>
            </a:r>
            <a:r>
              <a:rPr lang="en-US" altLang="ko-KR" dirty="0"/>
              <a:t>1</a:t>
            </a:r>
            <a:r>
              <a:rPr lang="ko-KR" altLang="en-US" dirty="0"/>
              <a:t>장 재정학 </a:t>
            </a:r>
            <a:r>
              <a:rPr lang="en-US" altLang="ko-KR" dirty="0"/>
              <a:t>: </a:t>
            </a:r>
            <a:r>
              <a:rPr lang="ko-KR" altLang="en-US" dirty="0"/>
              <a:t>의의와 성격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06CA9FF6-BF29-4679-8C21-AEBAF289512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2870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</p:sldLayoutIdLst>
  <p:hf hdr="0"/>
  <p:txStyles>
    <p:titleStyle>
      <a:lvl1pPr algn="ctr" defTabSz="914400" rtl="0" eaLnBrk="1" latinLnBrk="1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effectLst/>
          <a:latin typeface="나눔고딕 ExtraBold" panose="020D0904000000000000" pitchFamily="50" charset="-127"/>
          <a:ea typeface="나눔고딕 ExtraBold" panose="020D0904000000000000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30000"/>
        </a:lnSpc>
        <a:spcBef>
          <a:spcPts val="1000"/>
        </a:spcBef>
        <a:spcAft>
          <a:spcPts val="400"/>
        </a:spcAft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130000"/>
        </a:lnSpc>
        <a:spcBef>
          <a:spcPts val="500"/>
        </a:spcBef>
        <a:spcAft>
          <a:spcPts val="4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130000"/>
        </a:lnSpc>
        <a:spcBef>
          <a:spcPts val="500"/>
        </a:spcBef>
        <a:spcAft>
          <a:spcPts val="4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130000"/>
        </a:lnSpc>
        <a:spcBef>
          <a:spcPts val="500"/>
        </a:spcBef>
        <a:spcAft>
          <a:spcPts val="4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130000"/>
        </a:lnSpc>
        <a:spcBef>
          <a:spcPts val="500"/>
        </a:spcBef>
        <a:spcAft>
          <a:spcPts val="4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ctrTitle"/>
          </p:nvPr>
        </p:nvSpPr>
        <p:spPr>
          <a:xfrm>
            <a:off x="4572000" y="815184"/>
            <a:ext cx="5392923" cy="2500603"/>
          </a:xfrm>
          <a:noFill/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3000" dirty="0">
                <a:solidFill>
                  <a:srgbClr val="6D9AC3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제</a:t>
            </a:r>
            <a:r>
              <a:rPr lang="en-US" altLang="ko-KR" sz="3000" dirty="0">
                <a:solidFill>
                  <a:srgbClr val="6D9AC3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6</a:t>
            </a:r>
            <a:r>
              <a:rPr lang="ko-KR" altLang="en-US" sz="3000" dirty="0">
                <a:solidFill>
                  <a:srgbClr val="6D9AC3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장  </a:t>
            </a:r>
            <a:br>
              <a:rPr lang="en-US" altLang="ko-KR" sz="3000" dirty="0">
                <a:solidFill>
                  <a:srgbClr val="6D9AC3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</a:br>
            <a:r>
              <a:rPr lang="ko-KR" altLang="en-US" sz="3000" dirty="0">
                <a:solidFill>
                  <a:srgbClr val="6D9AC3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외부성의 문제</a:t>
            </a:r>
          </a:p>
        </p:txBody>
      </p:sp>
      <p:sp>
        <p:nvSpPr>
          <p:cNvPr id="6" name="내용 개체 틀 2"/>
          <p:cNvSpPr txBox="1">
            <a:spLocks/>
          </p:cNvSpPr>
          <p:nvPr/>
        </p:nvSpPr>
        <p:spPr>
          <a:xfrm>
            <a:off x="4572000" y="3429000"/>
            <a:ext cx="4572000" cy="250060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130000"/>
              </a:lnSpc>
              <a:spcBef>
                <a:spcPts val="1000"/>
              </a:spcBef>
              <a:spcAft>
                <a:spcPts val="400"/>
              </a:spcAft>
              <a:buFont typeface="Wingdings" panose="05000000000000000000" pitchFamily="2" charset="2"/>
              <a:buChar char="§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6.1  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외부성의 의미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6.2  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외부성과 자원배분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6.3  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문제 해결의 여러 방법</a:t>
            </a:r>
            <a:endParaRPr lang="en-US" altLang="ko-KR" sz="1600" b="1" dirty="0">
              <a:solidFill>
                <a:schemeClr val="tx1">
                  <a:lumMod val="65000"/>
                  <a:lumOff val="3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6.4  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소유권 확립을 통한 문제의 해결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0299"/>
            <a:ext cx="4319957" cy="6417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9105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6.1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외부성의 의미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61938" indent="-261938">
              <a:lnSpc>
                <a:spcPct val="130000"/>
              </a:lnSpc>
            </a:pP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외부성</a:t>
            </a: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(externality)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어떤 행위가 제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자에게 의도하지 않은 혜택이나 손해 가져다 주면서 대가를 받지도 지불하지도 않을 때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외부성이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발생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외부효과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(external effect)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라고 부르기도 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30000"/>
              </a:lnSpc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1938" indent="-261938">
              <a:lnSpc>
                <a:spcPct val="13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양봉업자와 과수원 주인 사이의 관계가 이로운 외부성의 예로 자주   들어지고 있으나 사실은 아님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양봉장의 벌들이 인근 과수원의 나무들의 수분을 의도하지 않게 도와줄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그러나 과수원 주인과 양봉업자가 대가를 주고받는다면 외부성은 이미   ‘내부화’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(internalized)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된 것임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장  외부성의 문제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204583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외부성의 유형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(1)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이로운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외부성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(positive externality,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외부경제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b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         vs.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해로운 외부성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(negative externality,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외부불경제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63538" lvl="1" fontAlgn="base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이로운 외부성의 예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기초학문분야의 교육과 연구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63538" lvl="1" fontAlgn="base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해로운 외부성의 예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환경오염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fontAlgn="base"/>
            <a:endParaRPr lang="ko-KR" altLang="en-US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 fontAlgn="base">
              <a:buNone/>
            </a:pP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(2)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생산과정서 일어나는 것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vs.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소비과정에서 일어나는 것</a:t>
            </a:r>
          </a:p>
          <a:p>
            <a:pPr marL="363538" lvl="1" fontAlgn="base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생산과정에서 나오는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외부성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공단에서 방출되는 유독물질이 주변환경을   오염시키는 경우</a:t>
            </a:r>
          </a:p>
          <a:p>
            <a:pPr marL="363538" lvl="1" fontAlgn="base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소비과정에서 나오는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외부성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가정에서 쓴 합성세제가 하천의 수질을 오염시키는 경우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외부성의 문제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749664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외부성의 유형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fontAlgn="base">
              <a:lnSpc>
                <a:spcPct val="130000"/>
              </a:lnSpc>
              <a:buNone/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(3)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실질적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기술적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외부성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vs.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금전적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외부성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363538" lvl="1" fontAlgn="base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금전적 외부성은 상대가격구조의 변동에 의해 발생하는 것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52438" lvl="3" indent="0" fontAlgn="base">
              <a:lnSpc>
                <a:spcPct val="130000"/>
              </a:lnSpc>
              <a:buNone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ex)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지하철 개통에 따른 주변 아파트 가격 상승</a:t>
            </a:r>
          </a:p>
          <a:p>
            <a:pPr marL="363538" lvl="1" fontAlgn="base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경제학에서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외부성이라고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부르는 것은 실질적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외부성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의미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fontAlgn="base">
              <a:lnSpc>
                <a:spcPct val="130000"/>
              </a:lnSpc>
            </a:pP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 fontAlgn="base">
              <a:lnSpc>
                <a:spcPct val="130000"/>
              </a:lnSpc>
              <a:buNone/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(4)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사용재적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외부성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vs.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공공재적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외부성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63538" lvl="1" fontAlgn="base">
              <a:lnSpc>
                <a:spcPct val="130000"/>
              </a:lnSpc>
              <a:tabLst>
                <a:tab pos="1160463" algn="l"/>
              </a:tabLs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외부효과가 비경합성을 갖고 있는가의 여부에 따라 구분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외부성의 문제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000453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6.2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외부성과 자원배분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>
              <a:xfrm>
                <a:off x="628649" y="1422400"/>
                <a:ext cx="7886701" cy="4754563"/>
              </a:xfrm>
            </p:spPr>
            <p:txBody>
              <a:bodyPr anchor="ctr">
                <a:noAutofit/>
              </a:bodyPr>
              <a:lstStyle/>
              <a:p>
                <a:pPr marL="261938" indent="-261938">
                  <a:lnSpc>
                    <a:spcPct val="13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완전경쟁시장의 균형에서 소비자 개인이 인식하는 사적 한계편익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𝑷𝑴𝑩</m:t>
                    </m:r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과  생산자 개인이 인식하는 사적 한계비용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𝑷𝑴𝑪</m:t>
                    </m:r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같아짐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1938" indent="-261938">
                  <a:lnSpc>
                    <a:spcPct val="130000"/>
                  </a:lnSpc>
                  <a:spcAft>
                    <a:spcPts val="20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1" i="1">
                          <a:latin typeface="Cambria Math" panose="02040503050406030204" pitchFamily="18" charset="0"/>
                        </a:rPr>
                        <m:t>𝑷𝑴𝑩</m:t>
                      </m:r>
                      <m:r>
                        <a:rPr lang="en-US" altLang="ko-KR" sz="20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000" b="1" i="1"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altLang="ko-KR" sz="20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000" b="1" i="1">
                          <a:latin typeface="Cambria Math" panose="02040503050406030204" pitchFamily="18" charset="0"/>
                        </a:rPr>
                        <m:t>𝑷𝑴𝑪</m:t>
                      </m:r>
                    </m:oMath>
                  </m:oMathPara>
                </a14:m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1938" indent="-261938">
                  <a:lnSpc>
                    <a:spcPct val="130000"/>
                  </a:lnSpc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그러나 자원배분의 효율성을 위해서는 </a:t>
                </a:r>
                <a:r>
                  <a:rPr lang="ko-KR" altLang="en-US" sz="2000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사회적 한계편익</a:t>
                </a:r>
                <a:r>
                  <a:rPr lang="en-US" altLang="ko-KR" sz="2000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𝑺𝑴𝑩</m:t>
                    </m:r>
                  </m:oMath>
                </a14:m>
                <a:r>
                  <a:rPr lang="en-US" altLang="ko-KR" sz="2000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과      </a:t>
                </a:r>
                <a:r>
                  <a:rPr lang="ko-KR" altLang="en-US" sz="2000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사회적 한계비용</a:t>
                </a:r>
                <a:r>
                  <a:rPr lang="en-US" altLang="ko-KR" sz="2000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𝑺𝑴𝑪</m:t>
                    </m:r>
                  </m:oMath>
                </a14:m>
                <a:r>
                  <a:rPr lang="en-US" altLang="ko-KR" sz="2000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 서로 같아야 함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1938" indent="-261938" algn="ctr">
                  <a:lnSpc>
                    <a:spcPct val="130000"/>
                  </a:lnSpc>
                  <a:spcAft>
                    <a:spcPts val="20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1" i="1">
                          <a:latin typeface="Cambria Math" panose="02040503050406030204" pitchFamily="18" charset="0"/>
                        </a:rPr>
                        <m:t>𝑺𝑴𝑩</m:t>
                      </m:r>
                      <m:r>
                        <a:rPr lang="en-US" altLang="ko-KR" sz="20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000" b="1" i="1">
                          <a:latin typeface="Cambria Math" panose="02040503050406030204" pitchFamily="18" charset="0"/>
                        </a:rPr>
                        <m:t>𝑺𝑴𝑪</m:t>
                      </m:r>
                    </m:oMath>
                  </m:oMathPara>
                </a14:m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1938" indent="-261938">
                  <a:lnSpc>
                    <a:spcPct val="130000"/>
                  </a:lnSpc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외부성이 존재하지 않는다면 </a:t>
                </a:r>
                <a14:m>
                  <m:oMath xmlns:m="http://schemas.openxmlformats.org/officeDocument/2006/math">
                    <m:r>
                      <a:rPr lang="en-US" altLang="ko-KR" sz="2000" b="1" i="1" smtClean="0">
                        <a:latin typeface="Cambria Math" panose="02040503050406030204" pitchFamily="18" charset="0"/>
                      </a:rPr>
                      <m:t>𝑷𝑴𝑩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</a:rPr>
                      <m:t>𝑺𝑴𝑩</m:t>
                    </m:r>
                  </m:oMath>
                </a14:m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와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2000" b="1" i="1" smtClean="0">
                        <a:latin typeface="Cambria Math" panose="02040503050406030204" pitchFamily="18" charset="0"/>
                      </a:rPr>
                      <m:t>𝑷𝑴𝑪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</a:rPr>
                      <m:t>𝑺𝑴𝑪</m:t>
                    </m:r>
                  </m:oMath>
                </a14:m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가 성립하므로 완전경쟁시장의 균형에 의해 효율성의 조건 만족됨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49" y="1422400"/>
                <a:ext cx="7886701" cy="4754563"/>
              </a:xfrm>
              <a:blipFill>
                <a:blip r:embed="rId2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외부성의 문제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828168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직관적 설명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61938" indent="-261938"/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만약 </a:t>
                </a:r>
                <a:r>
                  <a:rPr lang="ko-KR" altLang="en-US" sz="2000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외부성이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존재한다면 </a:t>
                </a:r>
                <a14:m>
                  <m:oMath xmlns:m="http://schemas.openxmlformats.org/officeDocument/2006/math">
                    <m:r>
                      <a:rPr lang="en-US" altLang="ko-KR" sz="2000" b="1" i="1" smtClean="0">
                        <a:latin typeface="Cambria Math" panose="02040503050406030204" pitchFamily="18" charset="0"/>
                      </a:rPr>
                      <m:t>𝑷𝑴𝑪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𝑺𝑴𝑪</m:t>
                    </m:r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또는 </a:t>
                </a:r>
                <a14:m>
                  <m:oMath xmlns:m="http://schemas.openxmlformats.org/officeDocument/2006/math">
                    <m:r>
                      <a:rPr lang="en-US" altLang="ko-KR" sz="2000" b="1" i="1" smtClean="0">
                        <a:latin typeface="Cambria Math" panose="02040503050406030204" pitchFamily="18" charset="0"/>
                      </a:rPr>
                      <m:t>𝑷𝑴𝑩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𝑺𝑴𝑩</m:t>
                    </m:r>
                  </m:oMath>
                </a14:m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가 성립하므로 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𝑷𝑴𝑩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𝑷𝑴𝑪</m:t>
                    </m:r>
                  </m:oMath>
                </a14:m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가 성립해도 완전경쟁시장의 균형에서</a:t>
                </a:r>
                <a14:m>
                  <m:oMath xmlns:m="http://schemas.openxmlformats.org/officeDocument/2006/math">
                    <m:r>
                      <a:rPr lang="ko-KR" altLang="en-US" sz="2000" i="1" dirty="0">
                        <a:latin typeface="Cambria Math"/>
                        <a:ea typeface="+mn-ea"/>
                      </a:rPr>
                      <m:t> 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</a:rPr>
                      <m:t>𝑺𝑴𝑩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𝑺𝑴𝑪</m:t>
                    </m:r>
                  </m:oMath>
                </a14:m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 관계가 나타날 수 있음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363538" lvl="1"/>
                <a:r>
                  <a:rPr lang="ko-KR" altLang="en-US" dirty="0"/>
                  <a:t>소비과정에서 해로운 </a:t>
                </a:r>
                <a:r>
                  <a:rPr lang="ko-KR" altLang="en-US" dirty="0" err="1"/>
                  <a:t>외부성이</a:t>
                </a:r>
                <a:r>
                  <a:rPr lang="ko-KR" altLang="en-US" dirty="0"/>
                  <a:t> 생기는 경우 </a:t>
                </a:r>
                <a:r>
                  <a:rPr lang="en-US" altLang="ko-KR" dirty="0"/>
                  <a:t>: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𝑺𝑴𝑩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𝑷𝑴𝑩</m:t>
                    </m:r>
                  </m:oMath>
                </a14:m>
                <a:endParaRPr lang="en-US" altLang="ko-KR" dirty="0"/>
              </a:p>
              <a:p>
                <a:pPr marL="363538" lvl="1">
                  <a:spcAft>
                    <a:spcPts val="2000"/>
                  </a:spcAft>
                </a:pPr>
                <a:r>
                  <a:rPr lang="ko-KR" altLang="en-US" dirty="0"/>
                  <a:t>생산과정에서 해로운 </a:t>
                </a:r>
                <a:r>
                  <a:rPr lang="ko-KR" altLang="en-US" dirty="0" err="1"/>
                  <a:t>외부성이</a:t>
                </a:r>
                <a:r>
                  <a:rPr lang="ko-KR" altLang="en-US" dirty="0"/>
                  <a:t> 생기는 경우 </a:t>
                </a:r>
                <a:r>
                  <a:rPr lang="en-US" altLang="ko-KR" dirty="0"/>
                  <a:t>: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𝑺𝑴𝑪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𝑷𝑴𝑪</m:t>
                    </m:r>
                  </m:oMath>
                </a14:m>
                <a:r>
                  <a:rPr lang="ko-KR" altLang="en-US" dirty="0"/>
                  <a:t> </a:t>
                </a:r>
                <a:endParaRPr lang="en-US" altLang="ko-KR" dirty="0"/>
              </a:p>
              <a:p>
                <a:pPr marL="261938" indent="-261938" fontAlgn="base">
                  <a:spcAft>
                    <a:spcPts val="2000"/>
                  </a:spcAft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민간부문은 경제적 의사결정을 내릴 때 사적인 효용극대화 혹은 이윤극대화를 위해 단지 개인적인 편익과 비용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2000" b="1" i="1" dirty="0" smtClean="0">
                        <a:latin typeface="Cambria Math" panose="02040503050406030204" pitchFamily="18" charset="0"/>
                      </a:rPr>
                      <m:t>𝑷𝑴𝑩</m:t>
                    </m:r>
                  </m:oMath>
                </a14:m>
                <a:r>
                  <a:rPr lang="en-US" altLang="ko-KR" sz="2000" i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ko-KR" sz="2000" b="1" i="1" dirty="0" smtClean="0">
                        <a:latin typeface="Cambria Math" panose="02040503050406030204" pitchFamily="18" charset="0"/>
                      </a:rPr>
                      <m:t>𝑷𝑴𝑪</m:t>
                    </m:r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에만 관심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1938" indent="-261938" fontAlgn="base"/>
                <a:r>
                  <a:rPr lang="ko-KR" altLang="en-US" sz="2000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외부성이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존재하면 설사 한계비용 가격설정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(MC pricing)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 가능하다 할지라도 자원배분은 비효율적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r="-15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외부성의 문제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803089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그림에 의한 설명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61938" indent="-261938">
                  <a:lnSpc>
                    <a:spcPct val="130000"/>
                  </a:lnSpc>
                  <a:spcAft>
                    <a:spcPts val="1500"/>
                  </a:spcAft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생산과정에서 나오는 오염물질을 인근 하천에 배출하고 있으며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생산수준이 높아질수록 배출량 증가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1938" indent="-261938">
                  <a:lnSpc>
                    <a:spcPct val="130000"/>
                  </a:lnSpc>
                  <a:spcAft>
                    <a:spcPts val="1500"/>
                  </a:spcAft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생산물을 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1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단위 늘릴 때 </a:t>
                </a:r>
                <a:r>
                  <a:rPr lang="ko-KR" altLang="en-US" sz="2000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외부성으로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인해 발생하는 사회적 한계피해액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2000" b="1" i="1" dirty="0" smtClean="0">
                        <a:latin typeface="Cambria Math" panose="02040503050406030204" pitchFamily="18" charset="0"/>
                      </a:rPr>
                      <m:t>𝑺𝑴𝑫</m:t>
                    </m:r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은 생산수준이 높아질수록 체증한다고 가정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1938" indent="-261938">
                  <a:lnSpc>
                    <a:spcPct val="130000"/>
                  </a:lnSpc>
                  <a:spcAft>
                    <a:spcPts val="1500"/>
                  </a:spcAft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사회적 한계피해액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2000" b="1" i="1" dirty="0">
                        <a:latin typeface="Cambria Math" panose="02040503050406030204" pitchFamily="18" charset="0"/>
                      </a:rPr>
                      <m:t>𝑺𝑴𝑫</m:t>
                    </m:r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곡선은 </a:t>
                </a:r>
                <a:r>
                  <a:rPr lang="ko-KR" altLang="en-US" sz="2000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우상향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생산물에 대한 수요곡선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2000" b="1" i="1" smtClean="0">
                        <a:latin typeface="Cambria Math" panose="02040503050406030204" pitchFamily="18" charset="0"/>
                      </a:rPr>
                      <m:t>𝑫</m:t>
                    </m:r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은 </a:t>
                </a:r>
                <a:r>
                  <a:rPr lang="ko-KR" altLang="en-US" sz="2000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우하향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그리고 한계비용곡선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2000" b="1" i="1" dirty="0" smtClean="0">
                        <a:latin typeface="Cambria Math" panose="02040503050406030204" pitchFamily="18" charset="0"/>
                      </a:rPr>
                      <m:t>𝑷𝑴𝑪</m:t>
                    </m:r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은 </a:t>
                </a:r>
                <a:r>
                  <a:rPr lang="ko-KR" altLang="en-US" sz="2000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우상향하는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모양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1938" indent="-261938">
                  <a:lnSpc>
                    <a:spcPct val="130000"/>
                  </a:lnSpc>
                  <a:spcAft>
                    <a:spcPts val="1500"/>
                  </a:spcAft>
                </a:pP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사회적 한계비용</a:t>
                </a: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2000" b="1" i="1" dirty="0" smtClean="0">
                        <a:latin typeface="Cambria Math" panose="02040503050406030204" pitchFamily="18" charset="0"/>
                      </a:rPr>
                      <m:t>𝑺𝑴𝑪</m:t>
                    </m:r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은 사적 한계비용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2000" b="1" i="1" dirty="0" smtClean="0">
                        <a:latin typeface="Cambria Math" panose="02040503050406030204" pitchFamily="18" charset="0"/>
                      </a:rPr>
                      <m:t>𝑷𝑴𝑪</m:t>
                    </m:r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과 외부성으로 인한   사회적 한계피해액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2000" b="1" i="1" dirty="0" smtClean="0">
                        <a:latin typeface="Cambria Math" panose="02040503050406030204" pitchFamily="18" charset="0"/>
                      </a:rPr>
                      <m:t>𝑺𝑴𝑫</m:t>
                    </m:r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 </a:t>
                </a:r>
                <a:r>
                  <a:rPr lang="ko-KR" altLang="en-US" sz="2000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수직합으로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나타남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r="-15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외부성의 문제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7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080864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그림에 의한 설명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0" indent="0">
              <a:buNone/>
            </a:pPr>
            <a:r>
              <a:rPr lang="en-US" altLang="ko-KR" sz="1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</a:t>
            </a:r>
          </a:p>
        </p:txBody>
      </p:sp>
      <p:sp>
        <p:nvSpPr>
          <p:cNvPr id="6" name="날짜 개체 틀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바닥글 개체 틀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외부성의 문제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8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387E449F-3884-4CA7-8906-F78A1D0471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782" y="1580717"/>
            <a:ext cx="8128436" cy="4447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8088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그림에 의한 설명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61938" indent="-261938">
                  <a:lnSpc>
                    <a:spcPct val="130000"/>
                  </a:lnSpc>
                  <a:spcAft>
                    <a:spcPts val="1500"/>
                  </a:spcAft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경쟁적 상황에서의 시장균형은 가격 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=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한계비용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2000" b="1" i="1" dirty="0" smtClean="0"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altLang="ko-KR" sz="2000" b="1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000" b="1" i="1" dirty="0" smtClean="0">
                        <a:latin typeface="Cambria Math" panose="02040503050406030204" pitchFamily="18" charset="0"/>
                      </a:rPr>
                      <m:t>𝑴𝑪</m:t>
                    </m:r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 관계가 </a:t>
                </a:r>
                <a:b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성립하는</a:t>
                </a:r>
                <a14:m>
                  <m:oMath xmlns:m="http://schemas.openxmlformats.org/officeDocument/2006/math">
                    <m:r>
                      <a:rPr lang="en-US" altLang="ko-KR" sz="2000" b="1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2000" b="1" i="1" dirty="0" smtClean="0">
                        <a:latin typeface="Cambria Math" panose="02040503050406030204" pitchFamily="18" charset="0"/>
                      </a:rPr>
                      <m:t>𝑭</m:t>
                    </m:r>
                  </m:oMath>
                </a14:m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점에서 이루어지고 균형산출량은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1" i="1" smtClean="0">
                            <a:latin typeface="Cambria Math" panose="02040503050406030204" pitchFamily="18" charset="0"/>
                          </a:rPr>
                          <m:t>𝑸</m:t>
                        </m:r>
                      </m:e>
                      <m:sub>
                        <m:r>
                          <a:rPr lang="en-US" altLang="ko-KR" sz="2000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1938" indent="-261938">
                  <a:lnSpc>
                    <a:spcPct val="130000"/>
                  </a:lnSpc>
                  <a:spcAft>
                    <a:spcPts val="1500"/>
                  </a:spcAft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효율적 배분은 사회적 한계비용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2000" b="1" i="1" dirty="0" smtClean="0">
                        <a:latin typeface="Cambria Math" panose="02040503050406030204" pitchFamily="18" charset="0"/>
                      </a:rPr>
                      <m:t>𝑺𝑴𝑪</m:t>
                    </m:r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에 기초해 찾아져야 함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</a:t>
                </a:r>
              </a:p>
              <a:p>
                <a:pPr marL="261938" indent="-261938">
                  <a:lnSpc>
                    <a:spcPct val="130000"/>
                  </a:lnSpc>
                  <a:spcAft>
                    <a:spcPts val="1500"/>
                  </a:spcAft>
                </a:pPr>
                <a14:m>
                  <m:oMath xmlns:m="http://schemas.openxmlformats.org/officeDocument/2006/math">
                    <m:r>
                      <a:rPr lang="en-US" altLang="ko-KR" sz="2000" b="1" i="1" dirty="0" smtClean="0"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altLang="ko-KR" sz="2000" b="1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000" b="1" i="1" dirty="0" smtClean="0">
                        <a:latin typeface="Cambria Math" panose="02040503050406030204" pitchFamily="18" charset="0"/>
                      </a:rPr>
                      <m:t>𝑺𝑴𝑪</m:t>
                    </m:r>
                  </m:oMath>
                </a14:m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 조건이 성립하는 </a:t>
                </a:r>
                <a14:m>
                  <m:oMath xmlns:m="http://schemas.openxmlformats.org/officeDocument/2006/math">
                    <m:r>
                      <a:rPr lang="en-US" altLang="ko-KR" sz="2000" b="1" i="1" dirty="0" smtClean="0"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점이 사회적 </a:t>
                </a:r>
                <a:r>
                  <a:rPr lang="ko-KR" altLang="en-US" sz="2000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최적배분점이며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이때의 </a:t>
                </a:r>
                <a:b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생산량은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000" b="1" i="1" smtClean="0">
                            <a:latin typeface="Cambria Math" panose="02040503050406030204" pitchFamily="18" charset="0"/>
                          </a:rPr>
                          <m:t>𝑸</m:t>
                        </m:r>
                      </m:e>
                      <m:sup>
                        <m:r>
                          <a:rPr lang="en-US" altLang="ko-KR" sz="2000" b="1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1938" indent="-261938">
                  <a:lnSpc>
                    <a:spcPct val="130000"/>
                  </a:lnSpc>
                  <a:spcAft>
                    <a:spcPts val="15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1" i="1" spc="-50">
                            <a:latin typeface="Cambria Math" panose="02040503050406030204" pitchFamily="18" charset="0"/>
                          </a:rPr>
                          <m:t>𝑸</m:t>
                        </m:r>
                      </m:e>
                      <m:sub>
                        <m:r>
                          <a:rPr lang="en-US" altLang="ko-KR" sz="2000" b="1" i="1" spc="-5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ko-KR" altLang="en-US" sz="2000" spc="-5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가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0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000" b="1" i="1" spc="-50">
                            <a:latin typeface="Cambria Math" panose="02040503050406030204" pitchFamily="18" charset="0"/>
                          </a:rPr>
                          <m:t>𝑸</m:t>
                        </m:r>
                      </m:e>
                      <m:sup>
                        <m:r>
                          <a:rPr lang="en-US" altLang="ko-KR" sz="2000" b="1" i="1" spc="-5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ko-KR" altLang="en-US" sz="2000" spc="-5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보다 더 크므로 해로운 </a:t>
                </a:r>
                <a:r>
                  <a:rPr lang="ko-KR" altLang="en-US" sz="2000" spc="-50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외부성이</a:t>
                </a:r>
                <a:r>
                  <a:rPr lang="ko-KR" altLang="en-US" sz="2000" spc="-5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존재할 때 과잉생산의 경향</a:t>
                </a:r>
                <a:endParaRPr lang="en-US" altLang="ko-KR" sz="2000" spc="-5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날짜 개체 틀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바닥글 개체 틀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외부성의 문제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9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245484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그림에 의한 설명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422400"/>
                <a:ext cx="8014188" cy="4754563"/>
              </a:xfrm>
            </p:spPr>
            <p:txBody>
              <a:bodyPr anchor="ctr">
                <a:noAutofit/>
              </a:bodyPr>
              <a:lstStyle/>
              <a:p>
                <a:pPr marL="261938" indent="-261938">
                  <a:lnSpc>
                    <a:spcPct val="140000"/>
                  </a:lnSpc>
                  <a:spcAft>
                    <a:spcPts val="2000"/>
                  </a:spcAft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외부성의 존재로 인한 과잉생산을 사회후생의 측면에서 어떻게 평가할 수 있을까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? </a:t>
                </a:r>
              </a:p>
              <a:p>
                <a:pPr marL="261938" indent="-261938">
                  <a:lnSpc>
                    <a:spcPct val="14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i="1" spc="-50">
                            <a:latin typeface="Cambria Math" panose="02040503050406030204" pitchFamily="18" charset="0"/>
                          </a:rPr>
                          <m:t>𝑸</m:t>
                        </m:r>
                      </m:e>
                      <m:sub>
                        <m:r>
                          <a:rPr lang="en-US" altLang="ko-KR" sz="2000" i="1" spc="-5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ko-KR" altLang="en-US" sz="2000" spc="-5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에서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0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000" i="1" spc="-50">
                            <a:latin typeface="Cambria Math" panose="02040503050406030204" pitchFamily="18" charset="0"/>
                          </a:rPr>
                          <m:t>𝑸</m:t>
                        </m:r>
                      </m:e>
                      <m:sup>
                        <m:r>
                          <a:rPr lang="en-US" altLang="ko-KR" sz="2000" i="1" spc="-5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ko-KR" altLang="en-US" sz="2000" spc="-5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로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생산수준이 변화한다면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</a:t>
                </a:r>
              </a:p>
              <a:p>
                <a:pPr marL="342900" lvl="1" indent="0">
                  <a:lnSpc>
                    <a:spcPct val="140000"/>
                  </a:lnSpc>
                  <a:buNone/>
                </a:pPr>
                <a:r>
                  <a:rPr lang="en-US" altLang="ko-KR" sz="2000" spc="-5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(1) </a:t>
                </a:r>
                <a:r>
                  <a:rPr lang="ko-KR" altLang="en-US" sz="2000" spc="-5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긍정적 효과 </a:t>
                </a:r>
                <a:r>
                  <a:rPr lang="en-US" altLang="ko-KR" sz="2000" spc="-5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sz="2000" spc="-5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오염물질 배출량 감소 ⇒ 오염물질로 인한 사회적 피해 감소</a:t>
                </a:r>
                <a:endParaRPr lang="en-US" altLang="ko-KR" sz="2000" spc="-5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77813" lvl="1" indent="0">
                  <a:lnSpc>
                    <a:spcPct val="140000"/>
                  </a:lnSpc>
                  <a:buNone/>
                  <a:tabLst>
                    <a:tab pos="711200" algn="l"/>
                  </a:tabLst>
                </a:pPr>
                <a:r>
                  <a:rPr lang="en-US" altLang="ko-KR" sz="2000" spc="-5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(2) </a:t>
                </a:r>
                <a:r>
                  <a:rPr lang="ko-KR" altLang="en-US" sz="2000" spc="-5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부정적 효과 </a:t>
                </a:r>
                <a:r>
                  <a:rPr lang="en-US" altLang="ko-KR" sz="2000" spc="-5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sz="2000" spc="-5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상품 생산량 감소 ⇒ 생산자잉여와 소비자잉여 감소</a:t>
                </a:r>
                <a:endParaRPr lang="en-US" altLang="ko-KR" sz="2000" spc="-5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9263" lvl="1">
                  <a:lnSpc>
                    <a:spcPct val="140000"/>
                  </a:lnSpc>
                  <a:tabLst>
                    <a:tab pos="711200" algn="l"/>
                  </a:tabLs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생산수준 변화가 사회후생에 미치는 영향을 알아내기 위해서는 두 가지 효과를 비교해 종합적 평가를 내려야 함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422400"/>
                <a:ext cx="8014188" cy="4754563"/>
              </a:xfrm>
              <a:blipFill>
                <a:blip r:embed="rId2"/>
                <a:stretch>
                  <a:fillRect l="-68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날짜 개체 틀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바닥글 개체 틀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외부성의 문제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763705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그림에 의한 설명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61938" lvl="1" indent="-261938">
                  <a:spcBef>
                    <a:spcPts val="0"/>
                  </a:spcBef>
                  <a:buFont typeface="Wingdings" panose="05000000000000000000" pitchFamily="2" charset="2"/>
                  <a:buChar char="§"/>
                </a:pPr>
                <a:r>
                  <a:rPr lang="ko-KR" altLang="en-US" sz="2000" dirty="0"/>
                  <a:t>생산량이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1" i="1" smtClean="0">
                            <a:latin typeface="Cambria Math" panose="02040503050406030204" pitchFamily="18" charset="0"/>
                          </a:rPr>
                          <m:t>𝑸</m:t>
                        </m:r>
                      </m:e>
                      <m:sub>
                        <m:r>
                          <a:rPr lang="en-US" altLang="ko-KR" sz="2000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ko-KR" altLang="en-US" sz="2000" dirty="0"/>
                  <a:t>에서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000" b="1" i="1" smtClean="0">
                            <a:latin typeface="Cambria Math" panose="02040503050406030204" pitchFamily="18" charset="0"/>
                          </a:rPr>
                          <m:t>𝑸</m:t>
                        </m:r>
                      </m:e>
                      <m:sup>
                        <m:r>
                          <a:rPr lang="en-US" altLang="ko-KR" sz="2000" b="1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ko-KR" altLang="en-US" sz="2000" dirty="0"/>
                  <a:t>로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변화하면 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</a:t>
                </a:r>
              </a:p>
              <a:p>
                <a:pPr marL="742950" lvl="2" indent="-285750">
                  <a:spcBef>
                    <a:spcPts val="0"/>
                  </a:spcBef>
                </a:pPr>
                <a:r>
                  <a:rPr lang="ko-KR" altLang="en-US" spc="-8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생산감소로 인해 </a:t>
                </a:r>
                <a:r>
                  <a:rPr lang="en-US" altLang="ko-KR" spc="-80" dirty="0"/>
                  <a:t> </a:t>
                </a:r>
                <a:r>
                  <a:rPr lang="en-US" altLang="ko-KR" spc="-8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△</a:t>
                </a:r>
                <a14:m>
                  <m:oMath xmlns:m="http://schemas.openxmlformats.org/officeDocument/2006/math">
                    <m:r>
                      <a:rPr lang="en-US" altLang="ko-KR" i="1" spc="-80">
                        <a:latin typeface="Cambria Math" panose="02040503050406030204" pitchFamily="18" charset="0"/>
                      </a:rPr>
                      <m:t>𝑮𝑭</m:t>
                    </m:r>
                    <m:r>
                      <a:rPr lang="en-US" altLang="ko-KR" b="1" i="1" spc="-80" smtClean="0"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r>
                  <a:rPr lang="en-US" altLang="ko-KR" spc="-8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spc="-8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만큼 </a:t>
                </a:r>
                <a:r>
                  <a:rPr lang="en-US" altLang="ko-KR" spc="-80" dirty="0"/>
                  <a:t> </a:t>
                </a:r>
                <a:r>
                  <a:rPr lang="ko-KR" altLang="en-US" spc="-8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생산자잉여와 소비자잉여 감소</a:t>
                </a:r>
                <a:endParaRPr lang="en-US" altLang="ko-KR" spc="-80" dirty="0"/>
              </a:p>
              <a:p>
                <a:pPr marL="742950" lvl="2" indent="-285750">
                  <a:spcBef>
                    <a:spcPts val="0"/>
                  </a:spcBef>
                </a:pPr>
                <a:r>
                  <a:rPr lang="ko-KR" altLang="en-US" spc="-8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오염물질 감소로 인해 □</a:t>
                </a:r>
                <a14:m>
                  <m:oMath xmlns:m="http://schemas.openxmlformats.org/officeDocument/2006/math">
                    <m:r>
                      <a:rPr lang="en-US" altLang="ko-KR" b="1" i="1" spc="-80" dirty="0" smtClean="0">
                        <a:latin typeface="Cambria Math" panose="02040503050406030204" pitchFamily="18" charset="0"/>
                        <a:ea typeface="+mn-ea"/>
                      </a:rPr>
                      <m:t>𝑮𝑯𝑭𝑰</m:t>
                    </m:r>
                  </m:oMath>
                </a14:m>
                <a:r>
                  <a:rPr lang="en-US" altLang="ko-KR" spc="-8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(=</a:t>
                </a:r>
                <a:r>
                  <a:rPr lang="ko-KR" altLang="en-US" spc="-8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□</a:t>
                </a:r>
                <a14:m>
                  <m:oMath xmlns:m="http://schemas.openxmlformats.org/officeDocument/2006/math">
                    <m:r>
                      <a:rPr lang="en-US" altLang="ko-KR" b="1" i="1" spc="-80" dirty="0" smtClean="0">
                        <a:latin typeface="Cambria Math" panose="02040503050406030204" pitchFamily="18" charset="0"/>
                      </a:rPr>
                      <m:t>𝑱𝑲</m:t>
                    </m:r>
                    <m:sSub>
                      <m:sSubPr>
                        <m:ctrlPr>
                          <a:rPr lang="en-US" altLang="ko-KR" i="1" spc="-8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spc="-80">
                            <a:latin typeface="Cambria Math" panose="02040503050406030204" pitchFamily="18" charset="0"/>
                          </a:rPr>
                          <m:t>𝑸</m:t>
                        </m:r>
                      </m:e>
                      <m:sub>
                        <m:r>
                          <a:rPr lang="en-US" altLang="ko-KR" i="1" spc="-8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sSup>
                      <m:sSupPr>
                        <m:ctrlPr>
                          <a:rPr lang="en-US" altLang="ko-KR" i="1" spc="-8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i="1" spc="-80">
                            <a:latin typeface="Cambria Math" panose="02040503050406030204" pitchFamily="18" charset="0"/>
                          </a:rPr>
                          <m:t>𝑸</m:t>
                        </m:r>
                      </m:e>
                      <m:sup>
                        <m:r>
                          <a:rPr lang="en-US" altLang="ko-KR" i="1" spc="-8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ko-KR" spc="-8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spc="-8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만큼 사회적 피해 감소</a:t>
                </a:r>
                <a:endParaRPr lang="en-US" altLang="ko-KR" spc="-80" dirty="0"/>
              </a:p>
              <a:p>
                <a:pPr marL="742950" lvl="2" indent="-285750">
                  <a:spcBef>
                    <a:spcPts val="0"/>
                  </a:spcBef>
                </a:pPr>
                <a:r>
                  <a:rPr lang="ko-KR" altLang="en-US" spc="-8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결국 전체적인 사회후생은  </a:t>
                </a:r>
                <a:r>
                  <a:rPr lang="en-US" altLang="ko-KR" spc="-8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△</a:t>
                </a:r>
                <a14:m>
                  <m:oMath xmlns:m="http://schemas.openxmlformats.org/officeDocument/2006/math">
                    <m:r>
                      <a:rPr lang="en-US" altLang="ko-KR" b="1" i="1" spc="-80">
                        <a:latin typeface="Cambria Math" panose="02040503050406030204" pitchFamily="18" charset="0"/>
                      </a:rPr>
                      <m:t>𝑮𝑭𝑯</m:t>
                    </m:r>
                  </m:oMath>
                </a14:m>
                <a:r>
                  <a:rPr lang="ko-KR" altLang="en-US" spc="-8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만큼 증가</a:t>
                </a:r>
                <a:endParaRPr lang="en-US" altLang="ko-KR" spc="-8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742950" lvl="2" indent="-285750">
                  <a:spcBef>
                    <a:spcPts val="0"/>
                  </a:spcBef>
                </a:pPr>
                <a:endParaRPr lang="en-US" altLang="ko-KR" spc="-8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2" indent="-179388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endParaRPr lang="en-US" altLang="ko-KR" sz="1800" spc="-80" dirty="0"/>
              </a:p>
              <a:p>
                <a:pPr marL="444500" lvl="2" indent="-179388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endParaRPr lang="en-US" altLang="ko-KR" spc="-8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2" indent="-179388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endParaRPr lang="en-US" altLang="ko-KR" sz="1800" spc="-80" dirty="0"/>
              </a:p>
              <a:p>
                <a:pPr marL="444500" lvl="2" indent="-179388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endParaRPr lang="en-US" altLang="ko-KR" spc="-8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2" indent="-179388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endParaRPr lang="en-US" altLang="ko-KR" sz="1800" spc="-80" dirty="0"/>
              </a:p>
              <a:p>
                <a:pPr marL="444500" lvl="2" indent="-179388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endParaRPr lang="en-US" altLang="ko-KR" spc="-8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2" indent="-179388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endParaRPr lang="en-US" altLang="ko-KR" sz="1800" spc="-8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t="-141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외부성의 문제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11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D1006F9-F2EC-4926-9FC6-45867525043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6444" y="3151300"/>
            <a:ext cx="5651112" cy="3115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72575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환경정책상 함의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>
              <a:xfrm>
                <a:off x="628649" y="1422400"/>
                <a:ext cx="7970227" cy="4754563"/>
              </a:xfrm>
            </p:spPr>
            <p:txBody>
              <a:bodyPr>
                <a:normAutofit/>
              </a:bodyPr>
              <a:lstStyle/>
              <a:p>
                <a:pPr marL="261938" indent="-261938">
                  <a:lnSpc>
                    <a:spcPct val="130000"/>
                  </a:lnSpc>
                  <a:spcAft>
                    <a:spcPts val="15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 모형에서 찾아낸 가장 바람직한 오염물질 배출수준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 smtClean="0">
                            <a:latin typeface="Cambria Math" panose="02040503050406030204" pitchFamily="18" charset="0"/>
                            <a:ea typeface="나눔고딕" panose="020D0604000000000000" pitchFamily="50" charset="-127"/>
                          </a:rPr>
                        </m:ctrlPr>
                      </m:sSup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  <a:ea typeface="나눔고딕" panose="020D0604000000000000" pitchFamily="50" charset="-127"/>
                          </a:rPr>
                          <m:t>𝑸</m:t>
                        </m:r>
                      </m:e>
                      <m:sup>
                        <m:r>
                          <a:rPr lang="en-US" altLang="ko-KR" b="1" i="1" smtClean="0">
                            <a:latin typeface="Cambria Math" panose="02040503050406030204" pitchFamily="18" charset="0"/>
                            <a:ea typeface="나눔고딕" panose="020D0604000000000000" pitchFamily="50" charset="-127"/>
                          </a:rPr>
                          <m:t>∗</m:t>
                        </m:r>
                      </m:sup>
                    </m:sSup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는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0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보다 더 크다는 데 주의 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1938" indent="-261938">
                  <a:lnSpc>
                    <a:spcPct val="130000"/>
                  </a:lnSpc>
                  <a:spcAft>
                    <a:spcPts val="15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이는 오염물질 배출수준을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0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으로 떨어뜨리는 것이 최적은 아니라는 </a:t>
                </a:r>
                <a:r>
                  <a:rPr lang="en-US" altLang="ko-KR" dirty="0"/>
                  <a:t> 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의미</a:t>
                </a:r>
              </a:p>
              <a:p>
                <a:pPr marL="261938" indent="-261938">
                  <a:lnSpc>
                    <a:spcPct val="130000"/>
                  </a:lnSpc>
                  <a:spcAft>
                    <a:spcPts val="15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오염물질 배출을 줄이려는 목적에서 생산량을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  <a:ea typeface="나눔고딕" panose="020D0604000000000000" pitchFamily="50" charset="-127"/>
                          </a:rPr>
                        </m:ctrlPr>
                      </m:sSupPr>
                      <m:e>
                        <m:r>
                          <a:rPr lang="en-US" altLang="ko-KR" i="1">
                            <a:latin typeface="Cambria Math" panose="02040503050406030204" pitchFamily="18" charset="0"/>
                            <a:ea typeface="나눔고딕" panose="020D0604000000000000" pitchFamily="50" charset="-127"/>
                          </a:rPr>
                          <m:t>𝑸</m:t>
                        </m:r>
                      </m:e>
                      <m:sup>
                        <m:r>
                          <a:rPr lang="en-US" altLang="ko-KR" i="1">
                            <a:latin typeface="Cambria Math" panose="02040503050406030204" pitchFamily="18" charset="0"/>
                            <a:ea typeface="나눔고딕" panose="020D0604000000000000" pitchFamily="50" charset="-127"/>
                          </a:rPr>
                          <m:t>∗</m:t>
                        </m:r>
                      </m:sup>
                    </m:sSup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이하로 떨어뜨리면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생산수준 하락에 따른 사회적 순편익 감소의 부정적 효과가 오염물질로 인한 피해 감소의 긍정적 효과보다 더욱 커짐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49" y="1422400"/>
                <a:ext cx="7970227" cy="4754563"/>
              </a:xfrm>
              <a:blipFill>
                <a:blip r:embed="rId2"/>
                <a:stretch>
                  <a:fillRect l="-688" r="-15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외부성의 문제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12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415928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6.3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문제 해결의 여러 방법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1938" indent="-261938">
              <a:lnSpc>
                <a:spcPct val="14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환경오염 문제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외부성이 개재되어 있어 시장이 자율적으로 이 문제를 해결  할 수 없으므로 정부의 개입을 통해 외부성의 문제를 해결할 수 있는 방법을 마련해야 환경이 적절하게 보존될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1938" indent="-261938">
              <a:lnSpc>
                <a:spcPct val="14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정부의 환경정책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7813" lvl="1" indent="0">
              <a:lnSpc>
                <a:spcPct val="140000"/>
              </a:lnSpc>
              <a:buNone/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(1)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시장을 활용하는 방식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(market-based approach)</a:t>
            </a:r>
          </a:p>
          <a:p>
            <a:pPr marL="277813" lvl="1" indent="0">
              <a:lnSpc>
                <a:spcPct val="140000"/>
              </a:lnSpc>
              <a:buNone/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(2)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직접통제방식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(command-and-control)</a:t>
            </a:r>
          </a:p>
          <a:p>
            <a:pPr marL="277813" lvl="1" indent="0">
              <a:lnSpc>
                <a:spcPct val="140000"/>
              </a:lnSpc>
              <a:buNone/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(3)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소유권 확립을 통한 환경문제의 해결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외부성의 문제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13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932026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시장을 활용하는 방식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0"/>
            <a:ext cx="8110905" cy="4754563"/>
          </a:xfrm>
        </p:spPr>
        <p:txBody>
          <a:bodyPr anchor="ctr">
            <a:noAutofit/>
          </a:bodyPr>
          <a:lstStyle/>
          <a:p>
            <a:pPr marL="261938" indent="-261938">
              <a:lnSpc>
                <a:spcPct val="130000"/>
              </a:lnSpc>
              <a:spcAft>
                <a:spcPts val="2000"/>
              </a:spcAft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시장을 활용하는 방식은 직접 통제하는 것이 아니라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적절한 유인을       제공해 스스로 배출을 억제하도록 유도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1938" indent="-261938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시장을 활용하는 방식의 장점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정부는 유인만을 제공하고 나머지 부분은 시장이 알아서 처리하는 방식이기 때문에 정책이 유연하게 운영될 수 있을 뿐 아니라 효율적으로 환경목표를 달성할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>
              <a:lnSpc>
                <a:spcPct val="13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직접통제방식의 경우 많은 양의 정보를 필요로 하는 데 비해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시장을 활용 방식이 요구하는 정보의 양은 그리 많지 않음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>
              <a:lnSpc>
                <a:spcPct val="13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장기적인 관점에서 볼 때 효율적이고 경제적인 정화기술의 개발 촉진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외부성의 문제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14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925660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시장을 활용하는 방식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환경세 부과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1938" indent="-261938">
              <a:lnSpc>
                <a:spcPct val="130000"/>
              </a:lnSpc>
              <a:spcAft>
                <a:spcPts val="1500"/>
              </a:spcAft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오염물질을 배출하는 행위에 대해 어떤 대가를 지불하지 않기 때문에 개인적인 관점에서 인식하는 생산비용이 사회적 생산비용보다 더 낮아지는 것이 문제의 핵심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1938" indent="-261938">
              <a:lnSpc>
                <a:spcPct val="130000"/>
              </a:lnSpc>
              <a:spcAft>
                <a:spcPts val="1500"/>
              </a:spcAft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기업들이 적절한 생산수준을 선택하도록 유도하기 위해서는 오염물질 배출행위에 대해 조세를 부과함으로써 이들이 인식하는 개인적 생산비용을 사회적 생산비용의 수준으로 끌어올려야 할 필요가 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1938" indent="-261938">
              <a:lnSpc>
                <a:spcPct val="130000"/>
              </a:lnSpc>
              <a:spcAft>
                <a:spcPts val="15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피구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(A. Pigou) :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환경세를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부과함으로써 가격이 사회적 비용에 관한 정보를 올바로 제공해 줄 수 있도록 만들 수 있다고 주장</a:t>
            </a:r>
            <a:b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2000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⇒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환경세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또는 </a:t>
            </a:r>
            <a:r>
              <a:rPr lang="ko-KR" altLang="en-US" sz="2000" b="1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피구세</a:t>
            </a: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en-US" altLang="ko-KR" sz="2000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Pigouvian</a:t>
            </a: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tax)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외부성의 문제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15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156315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시장을 활용하는 방식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환경세 부과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endParaRPr lang="en-US" altLang="ko-KR" sz="1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1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1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1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1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1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1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1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1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buNone/>
            </a:pPr>
            <a:r>
              <a:rPr lang="en-US" altLang="ko-KR" sz="1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외부성의 문제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16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AC625DF-9064-4EB8-9AA0-E735468C57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800" y="1588418"/>
            <a:ext cx="8038399" cy="4422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726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시장을 활용하는 방식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환경세 부과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61938" indent="-261938">
                  <a:lnSpc>
                    <a:spcPct val="130000"/>
                  </a:lnSpc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최적수준을 달성하기 위해서는 환경세의 세율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2000" b="1" i="1" dirty="0" smtClean="0"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을 최적배분상태에서 오염물질이 초래하는 한계피해액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선분</a:t>
                </a:r>
                <a14:m>
                  <m:oMath xmlns:m="http://schemas.openxmlformats.org/officeDocument/2006/math">
                    <m:r>
                      <a:rPr lang="en-US" altLang="ko-KR" sz="2000" b="1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2000" b="1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𝑱</m:t>
                    </m:r>
                    <m:sSup>
                      <m:sSup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𝑸</m:t>
                        </m:r>
                      </m:e>
                      <m:sup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ko-KR" altLang="en-US" sz="2000" i="1">
                        <a:latin typeface="Cambria Math" panose="02040503050406030204" pitchFamily="18" charset="0"/>
                      </a:rPr>
                      <m:t>의</m:t>
                    </m:r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길이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과 일치시켜야 함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1938" indent="-261938">
                  <a:lnSpc>
                    <a:spcPct val="130000"/>
                  </a:lnSpc>
                </a:pPr>
                <a:endParaRPr lang="en-US" altLang="ko-KR" sz="5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1938" indent="-261938">
                  <a:lnSpc>
                    <a:spcPct val="130000"/>
                  </a:lnSpc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환경세를 포함한 개인적 한계비용곡선 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𝑷𝑴𝑪</m:t>
                        </m:r>
                      </m:e>
                      <m:sub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𝑻</m:t>
                        </m:r>
                      </m:sub>
                    </m:sSub>
                    <m:r>
                      <a:rPr lang="en-US" altLang="ko-KR" sz="20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</a:rPr>
                      <m:t>𝑷𝑴𝑪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1938" indent="-261938">
                  <a:lnSpc>
                    <a:spcPct val="130000"/>
                  </a:lnSpc>
                </a:pPr>
                <a:endParaRPr lang="en-US" altLang="ko-KR" sz="5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1938" indent="-261938">
                  <a:lnSpc>
                    <a:spcPct val="130000"/>
                  </a:lnSpc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환경세가 부과된 후의 균형점 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점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1938" indent="-261938">
                  <a:lnSpc>
                    <a:spcPct val="130000"/>
                  </a:lnSpc>
                </a:pPr>
                <a:endParaRPr lang="en-US" altLang="ko-KR" sz="5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1938" indent="-261938">
                  <a:lnSpc>
                    <a:spcPct val="130000"/>
                  </a:lnSpc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최적생산수준에서의 한계피해액을 세율로 하는 환경세를 부과하면   이윤극대화를 추구하는 생산자들은 자발적으로 최적생산수준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𝑸</m:t>
                        </m:r>
                      </m:e>
                      <m:sup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선택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r="-7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외부성의 문제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17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938936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시장을 활용하는 방식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환경세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부과</a:t>
            </a:r>
            <a:endParaRPr lang="ko-KR" altLang="en-US" sz="26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1938" indent="-261938"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환경세 부과 방식의 문제점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현실의 상황에서 최적세율을 찾아내는 것은 무척 어려움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현실에서는 경쟁이 불완전한 경우가 더욱 많음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/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환경세를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누구에게 어떤 방식으로 부과해야 하는지의 문제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오염물질 배출자의 행동에 대한 적절한 감시가 가능한지의 여부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1938" indent="-261938"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환경세가 실제로 부과되는 사례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– </a:t>
            </a:r>
            <a:r>
              <a:rPr lang="ko-KR" altLang="en-US" sz="2000" b="1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탄소세</a:t>
            </a: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(carbon tax)</a:t>
            </a:r>
          </a:p>
          <a:p>
            <a:pPr marL="449263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지구온난화의 원인인 온실가스의 배출을 줄이려는 목적으로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1990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 핀란드에서 처음 부과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/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1990~2008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년동안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이산화탄소 배출량을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12%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나 줄이는 성과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외부성의 문제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18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669028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시장을 활용하는 방식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배출권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거래제도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1938" indent="-261938">
              <a:lnSpc>
                <a:spcPct val="14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배출권</a:t>
            </a: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거래제도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일정한 양의 오염물질 </a:t>
            </a:r>
            <a:r>
              <a:rPr lang="ko-KR" altLang="en-US" sz="2000" b="1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배출권</a:t>
            </a: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(emission rights)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을 보유하고 있는 경제주체만 오염물질을 배출할 수 있게 허용하는 방식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1938" indent="-261938">
              <a:lnSpc>
                <a:spcPct val="140000"/>
              </a:lnSpc>
              <a:buFont typeface="Wingdings" panose="05000000000000000000" pitchFamily="2" charset="2"/>
              <a:buChar char="§"/>
            </a:pPr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1938" indent="-261938">
              <a:lnSpc>
                <a:spcPct val="14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정부는 사회적인 관점에서 적절하다고 판단되는 오염물질의 배출수준을 파악하여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배출량이 이 수준 이내에 머물 수 있도록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배출권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발행량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통제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1938" indent="-261938">
              <a:lnSpc>
                <a:spcPct val="140000"/>
              </a:lnSpc>
              <a:buFont typeface="Wingdings" panose="05000000000000000000" pitchFamily="2" charset="2"/>
              <a:buChar char="§"/>
            </a:pPr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1938" indent="-261938">
              <a:lnSpc>
                <a:spcPct val="14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배출권은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시장에서 자유로이 교환될 수 있도록 허용됨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177800">
              <a:lnSpc>
                <a:spcPct val="14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시장의 힘을 빌려 환경오염의 문제를 해결할 수 있는 길이 열림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외부성의 문제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19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778740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854CC7-0DB4-42A0-BD6E-BE5191FCC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시장을 활용하는 방식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배출권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거래제도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0" indent="0">
              <a:spcBef>
                <a:spcPts val="100"/>
              </a:spcBef>
              <a:spcAft>
                <a:spcPts val="2000"/>
              </a:spcAft>
              <a:buNone/>
            </a:pPr>
            <a:r>
              <a:rPr lang="ko-KR" altLang="en-US" b="1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배출권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거래제도의 장점</a:t>
            </a:r>
            <a:endParaRPr lang="en-US" altLang="ko-KR" b="1" dirty="0">
              <a:solidFill>
                <a:schemeClr val="accent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>
              <a:spcBef>
                <a:spcPts val="100"/>
              </a:spcBef>
              <a:spcAft>
                <a:spcPts val="15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배출권의 거래과정에서 사람들이 환경에 대한 진정한 선호 표출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>
              <a:spcBef>
                <a:spcPts val="100"/>
              </a:spcBef>
              <a:spcAft>
                <a:spcPts val="3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환경보존과 관련된 비용을 절약할 수 있음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</a:t>
            </a:r>
          </a:p>
          <a:p>
            <a:pPr marL="573300" lvl="1" indent="-230400">
              <a:spcBef>
                <a:spcPts val="100"/>
              </a:spcBef>
              <a:spcAft>
                <a:spcPts val="1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예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더욱 효율적인 정화능력을 갖춘 기업으로 자체정화의 부담이 넘겨지는 것을 통해 사회 전체의 관점에서 비용이 절감되는 효과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>
              <a:spcBef>
                <a:spcPts val="100"/>
              </a:spcBef>
              <a:spcAft>
                <a:spcPts val="1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비교적 쉽게 오염물질 배출량을 통제할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>
              <a:spcBef>
                <a:spcPts val="100"/>
              </a:spcBef>
              <a:spcAft>
                <a:spcPts val="3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신축성을 갖고 있어 경제상황의 변화에 쉽게 적응할 수 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573300" lvl="1" indent="-230400">
              <a:spcBef>
                <a:spcPts val="100"/>
              </a:spcBef>
              <a:spcAft>
                <a:spcPts val="8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환경세의 경우 인플레이션이 발생할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때마다 세율 조정 필요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외부성의 문제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20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027652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D1781C-EBB9-4C7F-909B-77793E924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시장을 활용하는 방식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배출권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거래제도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0"/>
            <a:ext cx="7970227" cy="4754563"/>
          </a:xfrm>
        </p:spPr>
        <p:txBody>
          <a:bodyPr anchor="ctr">
            <a:noAutofit/>
          </a:bodyPr>
          <a:lstStyle/>
          <a:p>
            <a:pPr marL="0" indent="0">
              <a:lnSpc>
                <a:spcPct val="150000"/>
              </a:lnSpc>
              <a:spcAft>
                <a:spcPts val="2000"/>
              </a:spcAft>
              <a:buNone/>
            </a:pPr>
            <a:r>
              <a:rPr lang="ko-KR" altLang="en-US" b="1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배출권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거래제도의 단점</a:t>
            </a:r>
            <a:endParaRPr lang="en-US" altLang="ko-KR" b="1" dirty="0">
              <a:solidFill>
                <a:schemeClr val="accent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>
              <a:spcAft>
                <a:spcPts val="8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시행의 초기단계에서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배출권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분배 기준을 어떻게 할 것인가의 문제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>
              <a:spcAft>
                <a:spcPts val="800"/>
              </a:spcAft>
            </a:pP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배출권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독점을 통해 경쟁질서를 해치는 결과를 가져올 수 있음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230400" indent="-230400">
              <a:spcAft>
                <a:spcPts val="8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배출권이 거래되는 시장에 참여하는 경제주체의 수가 매우 적거나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 불완전한 정보와 거래비용에 의해 시장이 제대로 기능하지 못할 수 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>
              <a:spcAft>
                <a:spcPts val="8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배출권이 유효한 지역과 오염물질이 영향을 미치는 지역의 범위가 </a:t>
            </a:r>
            <a:b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다를 경우 문제가 발생할 수 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외부성의 문제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21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290884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3CBDB9-6298-443F-BBB1-9CDC108C0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시장을 활용하는 방식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배출권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거래제도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0" indent="0">
              <a:spcAft>
                <a:spcPts val="2000"/>
              </a:spcAft>
              <a:buNone/>
            </a:pPr>
            <a:r>
              <a:rPr lang="ko-KR" altLang="en-US" b="1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배출권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거래제도의 사례</a:t>
            </a:r>
            <a:endParaRPr lang="en-US" altLang="ko-KR" b="1" dirty="0">
              <a:solidFill>
                <a:schemeClr val="accent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 fontAlgn="base"/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1993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년도부터 시카고 선물거래소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(Board of Trade)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를 통해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배출권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거래 시작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⇒ </a:t>
            </a:r>
            <a:r>
              <a:rPr lang="ko-KR" altLang="en-US" b="1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배출권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거래시장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(emission rights markets)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출범</a:t>
            </a:r>
          </a:p>
          <a:p>
            <a:pPr marL="533400" lvl="1" indent="-177800" fontAlgn="base">
              <a:spcAft>
                <a:spcPts val="1000"/>
              </a:spcAft>
              <a:buSzPct val="50000"/>
              <a:buFont typeface="Wingdings" panose="05000000000000000000" pitchFamily="2" charset="2"/>
              <a:buChar char="l"/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배출권시장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출범 이후 산성비의 강수량이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50%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정도 줄어드는 효과 발생</a:t>
            </a:r>
          </a:p>
          <a:p>
            <a:pPr marL="266700" indent="-266700" fontAlgn="base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지구온난화와 관련해 온실가스에 대한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배출권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이산화탄소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배출권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 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거래시장을 형성하자는 주장 제기 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09600" lvl="1" indent="-266700" fontAlgn="base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교토의정서에서 이에 대한 국제적 합의 이룸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09600" lvl="1" indent="-266700" fontAlgn="base"/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2005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 유럽연합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(EU)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에 의해 이산화탄소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배출권시장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도입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외부성의 문제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22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133931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직접통제방식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1938" indent="-261938">
              <a:lnSpc>
                <a:spcPct val="130000"/>
              </a:lnSpc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직접통제방식의 형태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>
              <a:lnSpc>
                <a:spcPct val="130000"/>
              </a:lnSpc>
              <a:spcAft>
                <a:spcPts val="2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오염물질 배출량의 허용기준을 정하고 모든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배출자로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하여금 이 기준을 준수하도록 만드는 방식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>
              <a:lnSpc>
                <a:spcPct val="130000"/>
              </a:lnSpc>
              <a:spcAft>
                <a:spcPts val="2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오염물질 발생을 억제하기 위해 특정한 공정의 채택이나 정화시설의 설치를 의무화하는 방식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30000"/>
              </a:lnSpc>
              <a:spcAft>
                <a:spcPts val="200"/>
              </a:spcAft>
            </a:pPr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1938" indent="-261938">
              <a:lnSpc>
                <a:spcPct val="130000"/>
              </a:lnSpc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직접통제방식은 경직성을 가질 수밖에 없어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실제로 정책이 수행되는 과정에서 예기치 못했던 많은 어려움에 직면할 가능성이 큼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>
              <a:lnSpc>
                <a:spcPct val="130000"/>
              </a:lnSpc>
              <a:spcAft>
                <a:spcPts val="200"/>
              </a:spcAft>
            </a:pPr>
            <a:r>
              <a:rPr lang="ko-KR" altLang="en-US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오염물질 배출자의 수가 매우 많은 경우</a:t>
            </a:r>
            <a:r>
              <a:rPr lang="en-US" altLang="ko-KR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수많은 배출자의 행동을 일일이 감시하지 못해 애초에 기대했던 효과를 거두기 힘들어짐</a:t>
            </a:r>
            <a:endParaRPr lang="en-US" altLang="ko-KR" spc="-5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외부성의 문제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23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330365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직접통제방식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1938" indent="-261938">
              <a:lnSpc>
                <a:spcPct val="140000"/>
              </a:lnSpc>
              <a:buFont typeface="Wingdings" panose="05000000000000000000" pitchFamily="2" charset="2"/>
              <a:buChar char="§"/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오우츠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(W. Oates) 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실증연구를 통해 직접통제방식을 사용할 경우에는 시장을 활용하는 경우보다 거의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배나 더 많은 경제적 비용이     소요된다는 것을 보임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1938" indent="-261938">
              <a:lnSpc>
                <a:spcPct val="140000"/>
              </a:lnSpc>
              <a:buFont typeface="Wingdings" panose="05000000000000000000" pitchFamily="2" charset="2"/>
              <a:buChar char="§"/>
            </a:pP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1938" indent="-261938">
              <a:lnSpc>
                <a:spcPct val="14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현실에서는 우리나라를 위시한 대부분의 나라가 직접통제방식에 크게 의존하고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외부성의 문제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24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357862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6.4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소유권 확립을 통한 문제의 해결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0"/>
            <a:ext cx="8075735" cy="4754563"/>
          </a:xfrm>
        </p:spPr>
        <p:txBody>
          <a:bodyPr anchor="ctr">
            <a:noAutofit/>
          </a:bodyPr>
          <a:lstStyle/>
          <a:p>
            <a:pPr marL="261938" indent="-261938">
              <a:lnSpc>
                <a:spcPct val="14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외부성이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자원배분상의 문제를 일으키는 배경을 보면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소유권이 모호하게 정의되어 있거나 바람직하지 않은 방식으로 귀속되어 있어 문제가   생기는 경우를 많이 보게 됨 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1938" indent="-261938">
              <a:lnSpc>
                <a:spcPct val="140000"/>
              </a:lnSpc>
              <a:buFont typeface="Wingdings" panose="05000000000000000000" pitchFamily="2" charset="2"/>
              <a:buChar char="§"/>
            </a:pPr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1938" indent="-261938">
              <a:lnSpc>
                <a:spcPct val="14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소유권을 명백하게 정의해 주거나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재배분하는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것을 통해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외부성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문제의 해결을 시도해 볼 수 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1938" indent="-261938">
              <a:lnSpc>
                <a:spcPct val="140000"/>
              </a:lnSpc>
              <a:buFont typeface="Wingdings" panose="05000000000000000000" pitchFamily="2" charset="2"/>
              <a:buChar char="§"/>
            </a:pPr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1938" indent="-261938">
              <a:lnSpc>
                <a:spcPct val="14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앞에서 본 두 가지 접근법은 정부가 환경문제에 관해 직접 개입하는 것을 뜻하는 반면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 제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접근법은 민간부문이 스스로 해결책을 찾도록 도와주는 데 그친다는 특징을 가짐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외부성의 문제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25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710267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소유권의 확립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공유지의 비극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1938" indent="-261938">
              <a:lnSpc>
                <a:spcPct val="14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바다나 들판은 모든 사람의 공동재산이라고 할 수 있는데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소유권이 분명하지 않기 때문에 각 개인은 이를 아껴 쓸 유인을 갖지 못하게 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1938" indent="-261938">
              <a:lnSpc>
                <a:spcPct val="140000"/>
              </a:lnSpc>
              <a:buFont typeface="Wingdings" panose="05000000000000000000" pitchFamily="2" charset="2"/>
              <a:buChar char="§"/>
            </a:pP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1938" indent="-261938">
              <a:lnSpc>
                <a:spcPct val="140000"/>
              </a:lnSpc>
              <a:buFont typeface="Wingdings" panose="05000000000000000000" pitchFamily="2" charset="2"/>
              <a:buChar char="§"/>
            </a:pP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공유지의 비극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(tragedy of the commons)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소유권이 명확하게 규정되어 있지 못해 아까운 자원이 낭비되는 현상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외부성의 문제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26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165960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소유권의 확립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공유지의 비극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57175" indent="-257175">
                  <a:lnSpc>
                    <a:spcPct val="10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한 마을에 사는 사람들이 소를 방목하는 데 사용할 목초지를 공동으로 구입하여 소유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57175" indent="-257175">
                  <a:lnSpc>
                    <a:spcPct val="100000"/>
                  </a:lnSpc>
                </a:pPr>
                <a:endParaRPr lang="en-US" altLang="ko-KR" sz="5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57175" indent="-257175">
                  <a:lnSpc>
                    <a:spcPct val="10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 마을 사람이면 누구나 송아지를 사서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1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년 동안 공동목초지에 놓아먹일 수 있음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57175" indent="-257175">
                  <a:lnSpc>
                    <a:spcPct val="100000"/>
                  </a:lnSpc>
                </a:pPr>
                <a:endParaRPr lang="en-US" altLang="ko-KR" sz="5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57175" indent="-257175">
                  <a:lnSpc>
                    <a:spcPct val="10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송아지 한 마리 구입비용은 </a:t>
                </a:r>
                <a14:m>
                  <m:oMath xmlns:m="http://schemas.openxmlformats.org/officeDocument/2006/math">
                    <m:r>
                      <a:rPr lang="ko-KR" altLang="en-US" b="1" i="1">
                        <a:latin typeface="Cambria Math" panose="02040503050406030204" pitchFamily="18" charset="0"/>
                      </a:rPr>
                      <m:t>𝜶</m:t>
                    </m:r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라고 가정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 indent="-177800">
                  <a:lnSpc>
                    <a:spcPct val="10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이는 방목되는 송아지 수를 한 마리 늘리는 데 소요되는 한계비용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𝑴𝑪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의미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 indent="-177800">
                  <a:lnSpc>
                    <a:spcPct val="100000"/>
                  </a:lnSpc>
                </a:pPr>
                <a:endParaRPr lang="en-US" altLang="ko-KR" sz="5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57175" indent="-257175">
                  <a:lnSpc>
                    <a:spcPct val="10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한정된 땅에 많은 수의 송아지가 방목되면 성장이 더 느려져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1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년 후에 받을 수 있는 가격이 떨어지게 됨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7675" lvl="1" indent="-180975">
                  <a:lnSpc>
                    <a:spcPct val="10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방목된 송아지의 수가 많아질수록 마리당 평균생산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𝑨𝑷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 하락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외부성의 문제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27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947449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소유권의 확립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공유지의 비극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300038"/>
            <a:endParaRPr lang="en-US" altLang="ko-KR" sz="1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28588" indent="0">
              <a:buNone/>
            </a:pPr>
            <a:r>
              <a:rPr lang="en-US" altLang="ko-KR" sz="1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외부성의 문제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28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66B172F4-3A1D-4E17-AB03-1B58D953E7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534847"/>
            <a:ext cx="7924619" cy="4529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78375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소유권의 확립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공유지의 비극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68288" indent="-268288"/>
                <a:r>
                  <a:rPr lang="ko-KR" altLang="en-US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마을 전체의 입장</a:t>
                </a:r>
                <a:endParaRPr lang="en-US" altLang="ko-KR" dirty="0">
                  <a:solidFill>
                    <a:schemeClr val="accent1">
                      <a:lumMod val="7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 indent="-176213">
                  <a:lnSpc>
                    <a:spcPct val="10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총생산에서 총비용을 뺀 잉여가 가장 크게 되는 수준의 송아지를 방목하는 것이 </a:t>
                </a: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바람직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⇒ 한계생산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𝑴𝑷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 =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한계비용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𝑴𝑪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</a:p>
              <a:p>
                <a:pPr marL="444500" lvl="1" indent="-176213">
                  <a:lnSpc>
                    <a:spcPct val="10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𝑵</m:t>
                        </m:r>
                      </m:e>
                      <m:sup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마리의 송아지가 방목될 때 주민 전체가 얻는 잉여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□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𝑨𝑩𝑪𝑫</m:t>
                    </m:r>
                  </m:oMath>
                </a14:m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8288" indent="-268288">
                  <a:lnSpc>
                    <a:spcPct val="100000"/>
                  </a:lnSpc>
                </a:pPr>
                <a:r>
                  <a:rPr lang="ko-KR" altLang="en-US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개인의 입장</a:t>
                </a:r>
                <a:endParaRPr lang="en-US" altLang="ko-KR" dirty="0">
                  <a:solidFill>
                    <a:schemeClr val="accent1">
                      <a:lumMod val="7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 indent="-177800">
                  <a:lnSpc>
                    <a:spcPct val="100000"/>
                  </a:lnSpc>
                </a:pP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1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년 후 송아지 한 마리의 가격이 그것의 구입비용을 초과할 경우 한 마리를 더 구입해 방목함으로써 이득을 얻을 수 있음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 indent="-177800">
                  <a:lnSpc>
                    <a:spcPct val="10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개인적 관점에서 방목하게 되는 송아지의 총수는 평균생산곡선이 한계비용곡선과 교차하는 수준인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𝑵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 indent="-177800">
                  <a:lnSpc>
                    <a:spcPct val="10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이와 같은 선택이 이루어질 때 마을 전체가 얻을 수 있는 잉여는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0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 수준으로 떨어져 비효율적인 결과 발생 ⇒ 공유지의 비극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외부성의 문제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29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7688645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소유권의 확립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공유지의 비극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61938" indent="-261938">
                  <a:lnSpc>
                    <a:spcPct val="130000"/>
                  </a:lnSpc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공유지의 비극 발생 배경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9263" lvl="1" indent="-174625">
                  <a:lnSpc>
                    <a:spcPct val="13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개인이 송아지 한 마리를 더 구입해 방목하기로 결정한 행위가 다른 주민들에게 </a:t>
                </a: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외부성을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일으키고 있음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9263" lvl="1" indent="-174625">
                  <a:lnSpc>
                    <a:spcPct val="130000"/>
                  </a:lnSpc>
                </a:pP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외부성이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존재하는 상황에서 소유권이 분명히 정의되지 못했기 때문에 문제가 발생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1938" lvl="1" indent="-261938">
                  <a:lnSpc>
                    <a:spcPct val="130000"/>
                  </a:lnSpc>
                  <a:buFont typeface="Wingdings" panose="05000000000000000000" pitchFamily="2" charset="2"/>
                  <a:buChar char="§"/>
                </a:pPr>
                <a:endParaRPr lang="en-US" altLang="ko-KR" sz="5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1938" indent="-261938">
                  <a:lnSpc>
                    <a:spcPct val="130000"/>
                  </a:lnSpc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만약 그 목초지에 주인이 있어 일정한 요금을 내야 송아지를 놓아먹일 수 있다면 공유지의 비극은 일어나지 않음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9263" lvl="1" indent="-174625">
                  <a:lnSpc>
                    <a:spcPct val="130000"/>
                  </a:lnSpc>
                </a:pPr>
                <a:r>
                  <a:rPr lang="ko-KR" altLang="en-US" dirty="0"/>
                  <a:t>송아지 한 마리당 </a:t>
                </a:r>
                <a14:m>
                  <m:oMath xmlns:m="http://schemas.openxmlformats.org/officeDocument/2006/math">
                    <m:r>
                      <a:rPr lang="ko-KR" altLang="en-US" b="1" i="1">
                        <a:latin typeface="Cambria Math" panose="02040503050406030204" pitchFamily="18" charset="0"/>
                      </a:rPr>
                      <m:t>𝜷</m:t>
                    </m:r>
                  </m:oMath>
                </a14:m>
                <a:r>
                  <a:rPr lang="ko-KR" altLang="en-US" dirty="0"/>
                  <a:t>만큼의 요금을 내야 한다면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송아지 사육의 한계비용은 </a:t>
                </a:r>
                <a:r>
                  <a:rPr lang="en-US" altLang="ko-KR" dirty="0"/>
                  <a:t>(</a:t>
                </a:r>
                <a14:m>
                  <m:oMath xmlns:m="http://schemas.openxmlformats.org/officeDocument/2006/math">
                    <m:r>
                      <a:rPr lang="ko-KR" altLang="en-US" b="1" i="1">
                        <a:latin typeface="Cambria Math" panose="02040503050406030204" pitchFamily="18" charset="0"/>
                      </a:rPr>
                      <m:t>𝜶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𝜷</m:t>
                    </m:r>
                  </m:oMath>
                </a14:m>
                <a:r>
                  <a:rPr lang="en-US" altLang="ko-KR" dirty="0"/>
                  <a:t>)</a:t>
                </a:r>
                <a:r>
                  <a:rPr lang="ko-KR" altLang="en-US" dirty="0"/>
                  <a:t>가 되고 한계비용곡선은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𝑴𝑪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ko-KR" altLang="en-US" dirty="0"/>
                  <a:t>이 됨</a:t>
                </a:r>
                <a:endParaRPr lang="en-US" altLang="ko-KR" dirty="0"/>
              </a:p>
              <a:p>
                <a:pPr marL="449263" lvl="1" indent="-174625">
                  <a:lnSpc>
                    <a:spcPct val="130000"/>
                  </a:lnSpc>
                </a:pPr>
                <a:r>
                  <a:rPr lang="ko-KR" altLang="en-US" dirty="0"/>
                  <a:t>사람들이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𝑵</m:t>
                        </m:r>
                      </m:e>
                      <m:sup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ko-KR" altLang="en-US" dirty="0"/>
                  <a:t>의 수준에서 방목하는 송아지의 수 선택 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b="-38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외부성의 문제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30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615567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소유권의 확립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소유권 확립의 효과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0"/>
            <a:ext cx="7987812" cy="4754563"/>
          </a:xfrm>
        </p:spPr>
        <p:txBody>
          <a:bodyPr anchor="ctr">
            <a:noAutofit/>
          </a:bodyPr>
          <a:lstStyle/>
          <a:p>
            <a:pPr marL="261938" indent="-219075">
              <a:lnSpc>
                <a:spcPct val="140000"/>
              </a:lnSpc>
              <a:spcAft>
                <a:spcPts val="5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어느 강의 상류에 화공약품 공장이 있고 하류에는 그 강에서 잡히는 물고기 요리를 전문으로 하는 음식점이 영업하고 있는 경우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>
              <a:lnSpc>
                <a:spcPct val="140000"/>
              </a:lnSpc>
              <a:spcAft>
                <a:spcPts val="500"/>
              </a:spcAft>
              <a:tabLst>
                <a:tab pos="1074738" algn="l"/>
                <a:tab pos="1349375" algn="l"/>
              </a:tabLs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공장에서 배출하는 폐수 때문에 물고기가 줄어들어 음식점 영업에 지장이    생김  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>
              <a:lnSpc>
                <a:spcPct val="140000"/>
              </a:lnSpc>
              <a:spcAft>
                <a:spcPts val="500"/>
              </a:spcAft>
              <a:tabLst>
                <a:tab pos="1074738" algn="l"/>
                <a:tab pos="1349375" algn="l"/>
              </a:tabLs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만약 한 사람이 공장과 음식점을 모두 소유하고 있다면 폐수를 마음대로      배출하는 일은 일어나지 않음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>
              <a:lnSpc>
                <a:spcPct val="140000"/>
              </a:lnSpc>
              <a:spcAft>
                <a:spcPts val="500"/>
              </a:spcAft>
              <a:tabLst>
                <a:tab pos="1074738" algn="l"/>
                <a:tab pos="1349375" algn="l"/>
              </a:tabLs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폐수를 처리하는 데 드는 비용과 수질 향상으로 인한 음식점 쪽의 이윤 증가를 비교해 적절한 수준에서 강의 수질을 유지하려 하기 때문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외부성의 문제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31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383205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6119B2-DB47-43A1-AFFA-B91727AE5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소유권의 확립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소유권 확립의 효과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1938" indent="-261938"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소유권이 한 사람에게 통합된 상황에서는 오염물질의 배출이 더 이상 외부성의 원인이 되지 않음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indent="-174625">
              <a:spcAft>
                <a:spcPts val="2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사람들은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자신의 이익을 지키기 위해 오염물질의 배출을 자발적으로 억제할 것임 ⇒ 외부성의 </a:t>
            </a: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내부화</a:t>
            </a: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(internalization)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1938" indent="-261938">
              <a:spcAft>
                <a:spcPts val="20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그러나 환경오염의 경우에는 피해자의 수가 많아 소유권의 재배분을 통해 문제 해결을 기대하기 어려움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1938" indent="-261938"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소유권의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재배분보다는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소유권을 명백하게 정의해 주는 방식으로 문제 해결을 시도하는 쪽이 더욱 실현가능성이 큼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외부성의 문제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32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8560687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소유권의 확립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코우즈정리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1938" indent="-261938">
              <a:lnSpc>
                <a:spcPct val="140000"/>
              </a:lnSpc>
              <a:spcAft>
                <a:spcPts val="200"/>
              </a:spcAft>
            </a:pP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코우즈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(R. </a:t>
            </a:r>
            <a:r>
              <a:rPr lang="en-US" altLang="ko-KR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Coase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소유권이 분명하다면 외부성의 문제가 당사자들의 자발적 협상에 의해 해결될 수 있음  </a:t>
            </a:r>
            <a:b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⇒  </a:t>
            </a:r>
            <a:r>
              <a:rPr lang="ko-KR" altLang="en-US" sz="2000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코우즈정리</a:t>
            </a: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(Coase theorem)</a:t>
            </a:r>
          </a:p>
          <a:p>
            <a:pPr marL="604838" lvl="1" indent="-261938">
              <a:lnSpc>
                <a:spcPct val="140000"/>
              </a:lnSpc>
              <a:spcAft>
                <a:spcPts val="1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외부성의 본질적 성격이 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상호성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(reciprocity)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에 있음을 지적하고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환경세 부과처럼 정부가 당사자들 중 한쪽에게만 책임을 지게 만드는 방식으로는 효율적 자원배분을 이룰 수 없다고 주장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1938" indent="-261938">
              <a:lnSpc>
                <a:spcPct val="140000"/>
              </a:lnSpc>
              <a:spcAft>
                <a:spcPts val="200"/>
              </a:spcAft>
            </a:pPr>
            <a:r>
              <a:rPr lang="ko-KR" altLang="en-US" sz="2000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정부는 직접적 개입을 삼가고</a:t>
            </a:r>
            <a:r>
              <a:rPr lang="en-US" altLang="ko-KR" sz="2000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당사자들 사이의 협상이 원활하게 진행될 수 있도록 제도적 ∙ 행정적 뒷받침을 해주는 데 그 역할을 한정시켜야    한다는 것이 </a:t>
            </a:r>
            <a:r>
              <a:rPr lang="ko-KR" altLang="en-US" sz="2000" spc="-5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코우즈의</a:t>
            </a:r>
            <a:r>
              <a:rPr lang="ko-KR" altLang="en-US" sz="2000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주장</a:t>
            </a:r>
            <a:endParaRPr lang="en-US" altLang="ko-KR" sz="2000" spc="-5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외부성의 문제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33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8587484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소유권의 확립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코우즈정리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0"/>
            <a:ext cx="7886700" cy="4754563"/>
          </a:xfrm>
        </p:spPr>
        <p:txBody>
          <a:bodyPr anchor="ctr">
            <a:noAutofit/>
          </a:bodyPr>
          <a:lstStyle/>
          <a:p>
            <a:pPr marL="261938" indent="-261938">
              <a:lnSpc>
                <a:spcPct val="14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현실에서 코우즈정리에 입각해 환경정책을 수행하려고 할 때 여러    문제점이 발생할 수 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0" lvl="1" indent="-450000">
              <a:lnSpc>
                <a:spcPct val="140000"/>
              </a:lnSpc>
              <a:spcAft>
                <a:spcPts val="300"/>
              </a:spcAft>
              <a:buNone/>
            </a:pP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(1)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환경문제에서는 이해당사자가 누구인지 판별하기조차 어려움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0" lvl="1" indent="-450000">
              <a:lnSpc>
                <a:spcPct val="140000"/>
              </a:lnSpc>
              <a:spcAft>
                <a:spcPts val="300"/>
              </a:spcAft>
              <a:buNone/>
            </a:pP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(2)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협상과정에서 발생하는 거래비용이 적게 들어야 함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0" lvl="1" indent="-450000">
              <a:lnSpc>
                <a:spcPct val="140000"/>
              </a:lnSpc>
              <a:spcAft>
                <a:spcPts val="300"/>
              </a:spcAft>
              <a:buNone/>
            </a:pP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(3)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이해당사자들의 협상을 통해 과연 공정한 해결책을 찾을 </a:t>
            </a:r>
            <a:r>
              <a:rPr lang="ko-KR" altLang="en-US" sz="2000">
                <a:latin typeface="나눔고딕" panose="020D0604000000000000" pitchFamily="50" charset="-127"/>
                <a:ea typeface="나눔고딕" panose="020D0604000000000000" pitchFamily="50" charset="-127"/>
              </a:rPr>
              <a:t>수        있는지에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대한 의문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0" lvl="1" indent="-450000">
              <a:lnSpc>
                <a:spcPct val="140000"/>
              </a:lnSpc>
              <a:spcAft>
                <a:spcPts val="300"/>
              </a:spcAft>
              <a:buNone/>
            </a:pP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(4)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코우즈의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상호성 개념 자체의 문제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미샨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(E. </a:t>
            </a:r>
            <a:r>
              <a:rPr lang="en-US" altLang="ko-KR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Mishan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은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b="1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쾌적권</a:t>
            </a: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(amenity right)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이라는 개념을 통해 일반 대중이 깨끗한 환경에 대한 권리를 갖고 있음을 주장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외부성의 문제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34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9347730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3181</TotalTime>
  <Words>2306</Words>
  <Application>Microsoft Office PowerPoint</Application>
  <PresentationFormat>화면 슬라이드 쇼(4:3)</PresentationFormat>
  <Paragraphs>318</Paragraphs>
  <Slides>34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34</vt:i4>
      </vt:variant>
    </vt:vector>
  </HeadingPairs>
  <TitlesOfParts>
    <vt:vector size="42" baseType="lpstr">
      <vt:lpstr>나눔고딕</vt:lpstr>
      <vt:lpstr>나눔고딕 ExtraBold</vt:lpstr>
      <vt:lpstr>맑은 고딕</vt:lpstr>
      <vt:lpstr>Arial</vt:lpstr>
      <vt:lpstr>Calibri</vt:lpstr>
      <vt:lpstr>Cambria Math</vt:lpstr>
      <vt:lpstr>Wingdings</vt:lpstr>
      <vt:lpstr>1_Office 테마</vt:lpstr>
      <vt:lpstr>제6장   외부성의 문제</vt:lpstr>
      <vt:lpstr>6.1  외부성의 의미</vt:lpstr>
      <vt:lpstr>외부성의 유형</vt:lpstr>
      <vt:lpstr>외부성의 유형</vt:lpstr>
      <vt:lpstr>6.2  외부성과 자원배분</vt:lpstr>
      <vt:lpstr>직관적 설명</vt:lpstr>
      <vt:lpstr>그림에 의한 설명</vt:lpstr>
      <vt:lpstr>그림에 의한 설명</vt:lpstr>
      <vt:lpstr>그림에 의한 설명</vt:lpstr>
      <vt:lpstr>그림에 의한 설명</vt:lpstr>
      <vt:lpstr>그림에 의한 설명</vt:lpstr>
      <vt:lpstr>환경정책상 함의</vt:lpstr>
      <vt:lpstr>6.3  문제 해결의 여러 방법</vt:lpstr>
      <vt:lpstr>시장을 활용하는 방식</vt:lpstr>
      <vt:lpstr>시장을 활용하는 방식 : 환경세 부과</vt:lpstr>
      <vt:lpstr>시장을 활용하는 방식 : 환경세 부과</vt:lpstr>
      <vt:lpstr>시장을 활용하는 방식 : 환경세 부과</vt:lpstr>
      <vt:lpstr>시장을 활용하는 방식 : 환경세 부과</vt:lpstr>
      <vt:lpstr>시장을 활용하는 방식 : 배출권 거래제도</vt:lpstr>
      <vt:lpstr>시장을 활용하는 방식 : 배출권 거래제도</vt:lpstr>
      <vt:lpstr>시장을 활용하는 방식 : 배출권 거래제도</vt:lpstr>
      <vt:lpstr>시장을 활용하는 방식 : 배출권 거래제도</vt:lpstr>
      <vt:lpstr>직접통제방식</vt:lpstr>
      <vt:lpstr>직접통제방식</vt:lpstr>
      <vt:lpstr>6.4  소유권 확립을 통한 문제의 해결</vt:lpstr>
      <vt:lpstr>소유권의 확립 : 공유지의 비극</vt:lpstr>
      <vt:lpstr>소유권의 확립 : 공유지의 비극</vt:lpstr>
      <vt:lpstr>소유권의 확립 : 공유지의 비극</vt:lpstr>
      <vt:lpstr>소유권의 확립 : 공유지의 비극</vt:lpstr>
      <vt:lpstr>소유권의 확립 : 공유지의 비극</vt:lpstr>
      <vt:lpstr>소유권의 확립 : 소유권 확립의 효과</vt:lpstr>
      <vt:lpstr>소유권의 확립 : 소유권 확립의 효과</vt:lpstr>
      <vt:lpstr>소유권의 확립 : 코우즈정리</vt:lpstr>
      <vt:lpstr>소유권의 확립 : 코우즈정리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제 1장   재정학: 의의와 성격</dc:title>
  <dc:creator>chomh</dc:creator>
  <cp:lastModifiedBy>김민정</cp:lastModifiedBy>
  <cp:revision>838</cp:revision>
  <dcterms:created xsi:type="dcterms:W3CDTF">2015-08-04T05:38:00Z</dcterms:created>
  <dcterms:modified xsi:type="dcterms:W3CDTF">2021-02-21T15:34:44Z</dcterms:modified>
</cp:coreProperties>
</file>