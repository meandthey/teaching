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0" r:id="rId4"/>
    <p:sldId id="264" r:id="rId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5E5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30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98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6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67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559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84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5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97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16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79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004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50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2D930-C124-4C13-8FBF-21F010BBCBE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3E003-A718-459A-9444-34306610B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208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36812" y="0"/>
            <a:ext cx="10515600" cy="1325563"/>
          </a:xfrm>
        </p:spPr>
        <p:txBody>
          <a:bodyPr/>
          <a:lstStyle/>
          <a:p>
            <a:pPr algn="ctr"/>
            <a:r>
              <a:rPr lang="ko-KR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출석부 표기 방법 안내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886529"/>
              </p:ext>
            </p:extLst>
          </p:nvPr>
        </p:nvGraphicFramePr>
        <p:xfrm>
          <a:off x="838200" y="1003775"/>
          <a:ext cx="10515600" cy="5706682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16859165"/>
                    </a:ext>
                  </a:extLst>
                </a:gridCol>
              </a:tblGrid>
              <a:tr h="5612177">
                <a:tc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출석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: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빈칸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228600" marR="0" indent="-2286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결석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: 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228600" marR="0" indent="-2286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지각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․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조퇴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: </a:t>
                      </a:r>
                      <a:r>
                        <a:rPr lang="en-US" altLang="ko-KR" sz="1800" b="1" u="sng" kern="0" spc="0" dirty="0">
                          <a:solidFill>
                            <a:srgbClr val="7030A0"/>
                          </a:solidFill>
                          <a:effectLst/>
                          <a:latin typeface="휴먼명조"/>
                          <a:ea typeface="휴먼명조"/>
                        </a:rPr>
                        <a:t>“</a:t>
                      </a:r>
                      <a:r>
                        <a:rPr lang="ko-KR" altLang="en-US" sz="1800" b="1" u="sng" kern="0" spc="0" baseline="0" dirty="0">
                          <a:solidFill>
                            <a:srgbClr val="7030A0"/>
                          </a:solidFill>
                          <a:effectLst/>
                          <a:latin typeface="휴먼명조"/>
                          <a:ea typeface="휴먼명조"/>
                        </a:rPr>
                        <a:t>수업에 참여하지 않은</a:t>
                      </a:r>
                      <a:r>
                        <a:rPr lang="en-US" altLang="ko-KR" sz="1800" b="1" u="sng" kern="0" spc="0" dirty="0">
                          <a:solidFill>
                            <a:srgbClr val="7030A0"/>
                          </a:solidFill>
                          <a:effectLst/>
                          <a:latin typeface="휴먼명조"/>
                          <a:ea typeface="휴먼명조"/>
                        </a:rPr>
                        <a:t>”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시간 표기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  <a:p>
                      <a:pPr marL="304800" marR="0" indent="-3048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baseline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   - 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출석 호명 시 부재한 학생은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/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처리하고 최종적으로 결석 시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×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처리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  <a:p>
                      <a:pPr marL="304800" marR="0" indent="-3048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  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</a:t>
                      </a:r>
                      <a:r>
                        <a:rPr lang="en-US" altLang="ko-KR" sz="1600" kern="0" spc="0" baseline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지각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․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조퇴는 </a:t>
                      </a:r>
                      <a:r>
                        <a:rPr lang="en-US" altLang="ko-KR" sz="1800" b="1" kern="0" spc="0" dirty="0">
                          <a:solidFill>
                            <a:srgbClr val="7030A0"/>
                          </a:solidFill>
                          <a:effectLst/>
                          <a:latin typeface="휴먼명조"/>
                          <a:ea typeface="휴먼명조"/>
                        </a:rPr>
                        <a:t>“1</a:t>
                      </a:r>
                      <a:r>
                        <a:rPr lang="ko-KR" altLang="en-US" sz="1800" b="1" kern="0" spc="0" dirty="0">
                          <a:solidFill>
                            <a:srgbClr val="7030A0"/>
                          </a:solidFill>
                          <a:effectLst/>
                          <a:latin typeface="휴먼명조"/>
                          <a:ea typeface="휴먼명조"/>
                        </a:rPr>
                        <a:t>교시를 </a:t>
                      </a:r>
                      <a:r>
                        <a:rPr lang="en-US" altLang="ko-KR" sz="1800" b="1" kern="0" spc="0" dirty="0">
                          <a:solidFill>
                            <a:srgbClr val="7030A0"/>
                          </a:solidFill>
                          <a:effectLst/>
                          <a:latin typeface="휴먼명조"/>
                          <a:ea typeface="휴먼명조"/>
                        </a:rPr>
                        <a:t>3</a:t>
                      </a:r>
                      <a:r>
                        <a:rPr lang="ko-KR" altLang="en-US" sz="1800" b="1" kern="0" spc="0" dirty="0">
                          <a:solidFill>
                            <a:srgbClr val="7030A0"/>
                          </a:solidFill>
                          <a:effectLst/>
                          <a:latin typeface="휴먼명조"/>
                          <a:ea typeface="휴먼명조"/>
                        </a:rPr>
                        <a:t>등분</a:t>
                      </a:r>
                      <a:r>
                        <a:rPr lang="en-US" altLang="ko-KR" sz="1800" b="1" kern="0" spc="0" dirty="0">
                          <a:solidFill>
                            <a:srgbClr val="7030A0"/>
                          </a:solidFill>
                          <a:effectLst/>
                          <a:latin typeface="휴먼명조"/>
                          <a:ea typeface="휴먼명조"/>
                        </a:rPr>
                        <a:t>”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하여 시간 표기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1/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□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2/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□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3/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□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304800" marR="0" indent="-3048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304800" marR="0" indent="-3048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304800" marR="0" indent="-3048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304800" marR="0" indent="-3048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304800" marR="0" indent="-3048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304800" marR="0" indent="-3048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304800" marR="0" indent="-3048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304800" marR="0" indent="-304800" algn="just" fontAlgn="base" latinLnBrk="1">
                        <a:lnSpc>
                          <a:spcPct val="16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35137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159321"/>
              </p:ext>
            </p:extLst>
          </p:nvPr>
        </p:nvGraphicFramePr>
        <p:xfrm>
          <a:off x="6096000" y="3543522"/>
          <a:ext cx="4715932" cy="2804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7487">
                  <a:extLst>
                    <a:ext uri="{9D8B030D-6E8A-4147-A177-3AD203B41FA5}">
                      <a16:colId xmlns:a16="http://schemas.microsoft.com/office/drawing/2014/main" val="1777456361"/>
                    </a:ext>
                  </a:extLst>
                </a:gridCol>
                <a:gridCol w="979486">
                  <a:extLst>
                    <a:ext uri="{9D8B030D-6E8A-4147-A177-3AD203B41FA5}">
                      <a16:colId xmlns:a16="http://schemas.microsoft.com/office/drawing/2014/main" val="4047219730"/>
                    </a:ext>
                  </a:extLst>
                </a:gridCol>
                <a:gridCol w="979486">
                  <a:extLst>
                    <a:ext uri="{9D8B030D-6E8A-4147-A177-3AD203B41FA5}">
                      <a16:colId xmlns:a16="http://schemas.microsoft.com/office/drawing/2014/main" val="3350259704"/>
                    </a:ext>
                  </a:extLst>
                </a:gridCol>
                <a:gridCol w="2009473">
                  <a:extLst>
                    <a:ext uri="{9D8B030D-6E8A-4147-A177-3AD203B41FA5}">
                      <a16:colId xmlns:a16="http://schemas.microsoft.com/office/drawing/2014/main" val="893119486"/>
                    </a:ext>
                  </a:extLst>
                </a:gridCol>
              </a:tblGrid>
              <a:tr h="28471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표기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출결사항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523809"/>
                  </a:ext>
                </a:extLst>
              </a:tr>
              <a:tr h="26511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60</a:t>
                      </a:r>
                      <a:r>
                        <a:rPr lang="ko-KR" altLang="en-US" sz="1400" b="1" dirty="0"/>
                        <a:t>분 수업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75</a:t>
                      </a:r>
                      <a:r>
                        <a:rPr lang="ko-KR" altLang="en-US" sz="1400" b="1" dirty="0"/>
                        <a:t>분 수업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40529"/>
                  </a:ext>
                </a:extLst>
              </a:tr>
              <a:tr h="2651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7030A0"/>
                          </a:solidFill>
                        </a:rPr>
                        <a:t>빈칸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572050"/>
                  </a:ext>
                </a:extLst>
              </a:tr>
              <a:tr h="265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7030A0"/>
                          </a:solidFill>
                        </a:rPr>
                        <a:t>X</a:t>
                      </a:r>
                      <a:r>
                        <a:rPr lang="ko-KR" altLang="en-US" sz="1200" b="1" dirty="0">
                          <a:solidFill>
                            <a:srgbClr val="7030A0"/>
                          </a:solidFill>
                        </a:rPr>
                        <a:t>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결석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결석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761918"/>
                  </a:ext>
                </a:extLst>
              </a:tr>
              <a:tr h="265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7030A0"/>
                          </a:solidFill>
                        </a:rPr>
                        <a:t>1/3</a:t>
                      </a:r>
                      <a:endParaRPr lang="ko-KR" altLang="en-US" sz="12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  <a:r>
                        <a:rPr lang="ko-KR" altLang="en-US" sz="1200" dirty="0"/>
                        <a:t>분 불참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25</a:t>
                      </a:r>
                      <a:r>
                        <a:rPr lang="ko-KR" altLang="en-US" sz="1200" dirty="0"/>
                        <a:t>분 불참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10507"/>
                  </a:ext>
                </a:extLst>
              </a:tr>
              <a:tr h="265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7030A0"/>
                          </a:solidFill>
                        </a:rPr>
                        <a:t>2/3</a:t>
                      </a:r>
                      <a:endParaRPr lang="ko-KR" altLang="en-US" sz="12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40</a:t>
                      </a:r>
                      <a:r>
                        <a:rPr lang="ko-KR" altLang="en-US" sz="1200" dirty="0"/>
                        <a:t>분 불참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</a:t>
                      </a:r>
                      <a:r>
                        <a:rPr lang="ko-KR" altLang="en-US" sz="1200" dirty="0"/>
                        <a:t>분 불참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606667"/>
                  </a:ext>
                </a:extLst>
              </a:tr>
              <a:tr h="265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7030A0"/>
                          </a:solidFill>
                        </a:rPr>
                        <a:t>1/6</a:t>
                      </a:r>
                      <a:endParaRPr lang="ko-KR" altLang="en-US" sz="12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시간 연강</a:t>
                      </a:r>
                    </a:p>
                  </a:txBody>
                  <a:tcPr anchor="ctr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</a:t>
                      </a:r>
                      <a:r>
                        <a:rPr lang="ko-KR" altLang="en-US" sz="1200" dirty="0"/>
                        <a:t>분 불참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309952"/>
                  </a:ext>
                </a:extLst>
              </a:tr>
              <a:tr h="265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ko-KR" altLang="en-US" sz="12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…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…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045220"/>
                  </a:ext>
                </a:extLst>
              </a:tr>
              <a:tr h="265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7030A0"/>
                          </a:solidFill>
                        </a:rPr>
                        <a:t>1/9</a:t>
                      </a:r>
                      <a:endParaRPr lang="ko-KR" altLang="en-US" sz="12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시간 연강</a:t>
                      </a:r>
                    </a:p>
                  </a:txBody>
                  <a:tcPr anchor="ctr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</a:t>
                      </a:r>
                      <a:r>
                        <a:rPr lang="ko-KR" altLang="en-US" sz="1200" dirty="0"/>
                        <a:t>분 불참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949291"/>
                  </a:ext>
                </a:extLst>
              </a:tr>
              <a:tr h="265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ko-KR" altLang="en-US" sz="12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…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…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916640"/>
                  </a:ext>
                </a:extLst>
              </a:tr>
            </a:tbl>
          </a:graphicData>
        </a:graphic>
      </p:graphicFrame>
      <p:cxnSp>
        <p:nvCxnSpPr>
          <p:cNvPr id="6" name="직선 화살표 연결선 5"/>
          <p:cNvCxnSpPr/>
          <p:nvPr/>
        </p:nvCxnSpPr>
        <p:spPr>
          <a:xfrm flipV="1">
            <a:off x="1176723" y="4575204"/>
            <a:ext cx="849327" cy="1322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56864" y="47609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7030A0"/>
                </a:solidFill>
              </a:rPr>
              <a:t>예시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A1D56B-8584-444E-9CFC-E0A2B091A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467" y="3543522"/>
            <a:ext cx="3629886" cy="289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73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F2F6F4-DB71-4178-A082-D5A619A2A541}"/>
              </a:ext>
            </a:extLst>
          </p:cNvPr>
          <p:cNvSpPr txBox="1"/>
          <p:nvPr/>
        </p:nvSpPr>
        <p:spPr>
          <a:xfrm>
            <a:off x="1405467" y="2217046"/>
            <a:ext cx="9330266" cy="36218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2000" b="1" kern="1400" dirty="0">
                <a:solidFill>
                  <a:srgbClr val="7030A0"/>
                </a:solidFill>
              </a:rPr>
              <a:t>1.</a:t>
            </a:r>
            <a:r>
              <a:rPr lang="ko-KR" altLang="en-US" sz="2000" b="1" kern="1400" dirty="0">
                <a:solidFill>
                  <a:srgbClr val="7030A0"/>
                </a:solidFill>
              </a:rPr>
              <a:t> 담당교원이 직접 출석부 출력 </a:t>
            </a:r>
            <a:r>
              <a:rPr lang="en-US" altLang="ko-KR" sz="2000" b="1" kern="1400" dirty="0">
                <a:solidFill>
                  <a:srgbClr val="7030A0"/>
                </a:solidFill>
              </a:rPr>
              <a:t>(</a:t>
            </a:r>
            <a:r>
              <a:rPr lang="ko-KR" altLang="en-US" sz="2000" b="1" kern="1400" dirty="0">
                <a:solidFill>
                  <a:srgbClr val="7030A0"/>
                </a:solidFill>
              </a:rPr>
              <a:t>가로형 또는</a:t>
            </a:r>
            <a:r>
              <a:rPr lang="en-US" altLang="ko-KR" sz="2000" b="1" kern="1400" dirty="0">
                <a:solidFill>
                  <a:srgbClr val="7030A0"/>
                </a:solidFill>
              </a:rPr>
              <a:t> </a:t>
            </a:r>
            <a:r>
              <a:rPr lang="ko-KR" altLang="en-US" sz="2000" b="1" kern="1400" dirty="0">
                <a:solidFill>
                  <a:srgbClr val="7030A0"/>
                </a:solidFill>
              </a:rPr>
              <a:t>세로형</a:t>
            </a:r>
            <a:r>
              <a:rPr lang="en-US" altLang="ko-KR" sz="2000" b="1" kern="1400" dirty="0">
                <a:solidFill>
                  <a:srgbClr val="7030A0"/>
                </a:solidFill>
              </a:rPr>
              <a:t> </a:t>
            </a:r>
            <a:r>
              <a:rPr lang="ko-KR" altLang="en-US" sz="2000" b="1" kern="1400" dirty="0" err="1">
                <a:solidFill>
                  <a:srgbClr val="7030A0"/>
                </a:solidFill>
              </a:rPr>
              <a:t>택</a:t>
            </a:r>
            <a:r>
              <a:rPr lang="en-US" altLang="ko-KR" sz="2000" b="1" kern="1400" dirty="0">
                <a:solidFill>
                  <a:srgbClr val="7030A0"/>
                </a:solidFill>
              </a:rPr>
              <a:t>1)</a:t>
            </a: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b="1" kern="1400" dirty="0">
                <a:solidFill>
                  <a:srgbClr val="7030A0"/>
                </a:solidFill>
              </a:rPr>
              <a:t>    - </a:t>
            </a:r>
            <a:r>
              <a:rPr lang="ko-KR" altLang="en-US" b="1" kern="1400" dirty="0">
                <a:solidFill>
                  <a:srgbClr val="7030A0"/>
                </a:solidFill>
              </a:rPr>
              <a:t>출석부 </a:t>
            </a:r>
            <a:r>
              <a:rPr lang="ko-KR" altLang="en-US" b="1" kern="1400" dirty="0" err="1">
                <a:solidFill>
                  <a:srgbClr val="7030A0"/>
                </a:solidFill>
              </a:rPr>
              <a:t>대리출력을</a:t>
            </a:r>
            <a:r>
              <a:rPr lang="ko-KR" altLang="en-US" b="1" kern="1400" dirty="0">
                <a:solidFill>
                  <a:srgbClr val="7030A0"/>
                </a:solidFill>
              </a:rPr>
              <a:t> 금함 </a:t>
            </a:r>
            <a:r>
              <a:rPr lang="en-US" altLang="ko-KR" b="1" kern="1400" dirty="0">
                <a:solidFill>
                  <a:srgbClr val="7030A0"/>
                </a:solidFill>
              </a:rPr>
              <a:t>(</a:t>
            </a:r>
            <a:r>
              <a:rPr lang="ko-KR" altLang="en-US" b="1" kern="1400" dirty="0">
                <a:solidFill>
                  <a:srgbClr val="7030A0"/>
                </a:solidFill>
              </a:rPr>
              <a:t>타인 출력 시 출석부 하단에 </a:t>
            </a:r>
            <a:r>
              <a:rPr lang="ko-KR" altLang="en-US" b="1" kern="1400" dirty="0" err="1">
                <a:solidFill>
                  <a:srgbClr val="7030A0"/>
                </a:solidFill>
              </a:rPr>
              <a:t>출력자</a:t>
            </a:r>
            <a:r>
              <a:rPr lang="ko-KR" altLang="en-US" b="1" kern="1400" dirty="0">
                <a:solidFill>
                  <a:srgbClr val="7030A0"/>
                </a:solidFill>
              </a:rPr>
              <a:t> 기록으로 </a:t>
            </a:r>
            <a:r>
              <a:rPr lang="ko-KR" altLang="en-US" b="1" kern="1400" dirty="0" err="1">
                <a:solidFill>
                  <a:srgbClr val="7030A0"/>
                </a:solidFill>
              </a:rPr>
              <a:t>지적사항</a:t>
            </a:r>
            <a:r>
              <a:rPr lang="en-US" altLang="ko-KR" b="1" kern="1400" dirty="0">
                <a:solidFill>
                  <a:srgbClr val="7030A0"/>
                </a:solidFill>
              </a:rPr>
              <a:t>)</a:t>
            </a: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2000" b="1" kern="1400" dirty="0">
                <a:solidFill>
                  <a:srgbClr val="7030A0"/>
                </a:solidFill>
              </a:rPr>
              <a:t>2.</a:t>
            </a:r>
            <a:r>
              <a:rPr lang="ko-KR" altLang="en-US" sz="2000" b="1" kern="1400" dirty="0">
                <a:solidFill>
                  <a:srgbClr val="7030A0"/>
                </a:solidFill>
              </a:rPr>
              <a:t> 한학기 </a:t>
            </a:r>
            <a:r>
              <a:rPr lang="en-US" altLang="ko-KR" sz="2000" b="1" kern="1400" dirty="0">
                <a:solidFill>
                  <a:srgbClr val="7030A0"/>
                </a:solidFill>
              </a:rPr>
              <a:t>5</a:t>
            </a:r>
            <a:r>
              <a:rPr lang="ko-KR" altLang="en-US" sz="2000" b="1" kern="1400" dirty="0">
                <a:solidFill>
                  <a:srgbClr val="7030A0"/>
                </a:solidFill>
              </a:rPr>
              <a:t>회 이상 출석부 출력</a:t>
            </a:r>
            <a:endParaRPr lang="en-US" altLang="ko-KR" sz="2000" b="1" kern="1400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b="1" kern="1400" dirty="0">
                <a:solidFill>
                  <a:srgbClr val="7030A0"/>
                </a:solidFill>
              </a:rPr>
              <a:t>    - </a:t>
            </a:r>
            <a:r>
              <a:rPr lang="ko-KR" altLang="en-US" b="1" kern="1400" dirty="0" err="1">
                <a:solidFill>
                  <a:srgbClr val="7030A0"/>
                </a:solidFill>
              </a:rPr>
              <a:t>개강전</a:t>
            </a:r>
            <a:r>
              <a:rPr lang="en-US" altLang="ko-KR" b="1" kern="1400" dirty="0">
                <a:solidFill>
                  <a:srgbClr val="7030A0"/>
                </a:solidFill>
              </a:rPr>
              <a:t>, 1/4, 1/2, 3/4, 3/4, </a:t>
            </a:r>
            <a:r>
              <a:rPr lang="ko-KR" altLang="en-US" b="1" kern="1400" dirty="0" err="1">
                <a:solidFill>
                  <a:srgbClr val="7030A0"/>
                </a:solidFill>
              </a:rPr>
              <a:t>기말평가</a:t>
            </a:r>
            <a:r>
              <a:rPr lang="ko-KR" altLang="en-US" b="1" kern="1400" dirty="0">
                <a:solidFill>
                  <a:srgbClr val="7030A0"/>
                </a:solidFill>
              </a:rPr>
              <a:t> 이전</a:t>
            </a:r>
            <a:endParaRPr lang="en-US" altLang="ko-KR" b="1" kern="1400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2000" b="1" kern="1400" dirty="0">
                <a:solidFill>
                  <a:srgbClr val="7030A0"/>
                </a:solidFill>
              </a:rPr>
              <a:t>3.</a:t>
            </a:r>
            <a:r>
              <a:rPr lang="ko-KR" altLang="en-US" sz="2000" b="1" kern="1400" dirty="0">
                <a:solidFill>
                  <a:srgbClr val="7030A0"/>
                </a:solidFill>
              </a:rPr>
              <a:t> 담당교수 이름 옆 서명 필수</a:t>
            </a:r>
            <a:endParaRPr lang="en-US" altLang="ko-KR" sz="2000" b="1" kern="1400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spcAft>
                <a:spcPts val="300"/>
              </a:spcAft>
            </a:pPr>
            <a:r>
              <a:rPr lang="ko-KR" altLang="en-US" sz="1900" b="1" kern="1400" dirty="0">
                <a:solidFill>
                  <a:srgbClr val="FF0000"/>
                </a:solidFill>
              </a:rPr>
              <a:t> ★ 출석 미달자가 있는 경우 </a:t>
            </a:r>
            <a:r>
              <a:rPr lang="en-US" altLang="ko-KR" sz="1900" b="1" kern="1400" dirty="0">
                <a:solidFill>
                  <a:srgbClr val="FF0000"/>
                </a:solidFill>
              </a:rPr>
              <a:t>‘F</a:t>
            </a:r>
            <a:r>
              <a:rPr lang="ko-KR" altLang="en-US" sz="1900" b="1" kern="1400" dirty="0">
                <a:solidFill>
                  <a:srgbClr val="FF0000"/>
                </a:solidFill>
              </a:rPr>
              <a:t>학점</a:t>
            </a:r>
            <a:r>
              <a:rPr lang="en-US" altLang="ko-KR" sz="1900" b="1" kern="1400" dirty="0">
                <a:solidFill>
                  <a:srgbClr val="FF0000"/>
                </a:solidFill>
              </a:rPr>
              <a:t>‘ </a:t>
            </a:r>
            <a:r>
              <a:rPr lang="ko-KR" altLang="en-US" sz="1900" b="1" kern="1400" dirty="0">
                <a:solidFill>
                  <a:srgbClr val="FF0000"/>
                </a:solidFill>
              </a:rPr>
              <a:t>처리 여부 확인을 위해 </a:t>
            </a:r>
            <a:r>
              <a:rPr lang="ko-KR" altLang="en-US" sz="1900" b="1" kern="1400" dirty="0" err="1">
                <a:solidFill>
                  <a:srgbClr val="FF0000"/>
                </a:solidFill>
              </a:rPr>
              <a:t>성적일람표도</a:t>
            </a:r>
            <a:r>
              <a:rPr lang="ko-KR" altLang="en-US" sz="1900" b="1" kern="1400" dirty="0">
                <a:solidFill>
                  <a:srgbClr val="FF0000"/>
                </a:solidFill>
              </a:rPr>
              <a:t> 필수 첨부</a:t>
            </a:r>
            <a:endParaRPr lang="en-US" altLang="ko-KR" sz="1900" b="1" kern="1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rgbClr val="7030A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5EF037-45B1-4A3E-AB92-C86EEB3E176C}"/>
              </a:ext>
            </a:extLst>
          </p:cNvPr>
          <p:cNvSpPr/>
          <p:nvPr/>
        </p:nvSpPr>
        <p:spPr>
          <a:xfrm>
            <a:off x="2643773" y="850668"/>
            <a:ext cx="69044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출석부 표기 안내사항</a:t>
            </a:r>
            <a:endParaRPr lang="en-US" altLang="ko-KR" sz="5400" b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308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121A3579-E54E-4D42-9481-DCFCC4952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4" y="850707"/>
            <a:ext cx="10184503" cy="58718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6601" y="393699"/>
            <a:ext cx="1097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7030A0"/>
                </a:solidFill>
                <a:latin typeface="맑은 고딕" panose="020B0503020000020004" pitchFamily="50" charset="-127"/>
              </a:rPr>
              <a:t>□ </a:t>
            </a:r>
            <a:r>
              <a:rPr lang="ko-KR" altLang="en-US" sz="2400" b="1" dirty="0">
                <a:solidFill>
                  <a:srgbClr val="7030A0"/>
                </a:solidFill>
              </a:rPr>
              <a:t>통합학사</a:t>
            </a:r>
            <a:r>
              <a:rPr lang="en-US" altLang="ko-KR" sz="2400" b="1" dirty="0">
                <a:solidFill>
                  <a:srgbClr val="7030A0"/>
                </a:solidFill>
              </a:rPr>
              <a:t>_</a:t>
            </a:r>
            <a:r>
              <a:rPr lang="ko-KR" altLang="en-US" sz="2400" b="1" dirty="0" err="1">
                <a:solidFill>
                  <a:srgbClr val="7030A0"/>
                </a:solidFill>
              </a:rPr>
              <a:t>수업관리</a:t>
            </a:r>
            <a:r>
              <a:rPr lang="en-US" altLang="ko-KR" sz="2400" b="1" dirty="0">
                <a:solidFill>
                  <a:srgbClr val="7030A0"/>
                </a:solidFill>
              </a:rPr>
              <a:t>_</a:t>
            </a:r>
            <a:r>
              <a:rPr lang="ko-KR" altLang="en-US" sz="2400" b="1" dirty="0" err="1">
                <a:solidFill>
                  <a:srgbClr val="7030A0"/>
                </a:solidFill>
              </a:rPr>
              <a:t>출석부조회</a:t>
            </a:r>
            <a:r>
              <a:rPr lang="en-US" altLang="ko-KR" sz="2400" b="1" dirty="0">
                <a:solidFill>
                  <a:srgbClr val="7030A0"/>
                </a:solidFill>
              </a:rPr>
              <a:t>_ </a:t>
            </a:r>
            <a:r>
              <a:rPr lang="ko-KR" altLang="en-US" sz="2400" b="1" dirty="0">
                <a:solidFill>
                  <a:srgbClr val="7030A0"/>
                </a:solidFill>
              </a:rPr>
              <a:t>출석부 출력 </a:t>
            </a:r>
            <a:r>
              <a:rPr lang="en-US" altLang="ko-KR" sz="2400" b="1" dirty="0">
                <a:solidFill>
                  <a:srgbClr val="7030A0"/>
                </a:solidFill>
              </a:rPr>
              <a:t>[</a:t>
            </a:r>
            <a:r>
              <a:rPr lang="ko-KR" altLang="en-US" sz="2400" b="1" dirty="0">
                <a:solidFill>
                  <a:srgbClr val="7030A0"/>
                </a:solidFill>
              </a:rPr>
              <a:t>가로형 예시</a:t>
            </a:r>
            <a:r>
              <a:rPr lang="en-US" altLang="ko-KR" sz="2400" b="1" dirty="0">
                <a:solidFill>
                  <a:srgbClr val="7030A0"/>
                </a:solidFill>
              </a:rPr>
              <a:t>] </a:t>
            </a:r>
            <a:endParaRPr lang="ko-KR" altLang="en-US" sz="1200" b="1" dirty="0">
              <a:solidFill>
                <a:srgbClr val="7030A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194200" y="1485059"/>
            <a:ext cx="2891093" cy="380282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884269" y="1505923"/>
            <a:ext cx="862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7030A0"/>
                </a:solidFill>
              </a:rPr>
              <a:t>홍길동    </a:t>
            </a:r>
          </a:p>
        </p:txBody>
      </p:sp>
      <p:sp>
        <p:nvSpPr>
          <p:cNvPr id="2" name="TextBox 1"/>
          <p:cNvSpPr txBox="1"/>
          <p:nvPr/>
        </p:nvSpPr>
        <p:spPr>
          <a:xfrm rot="20796497">
            <a:off x="8894083" y="1392160"/>
            <a:ext cx="1251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문체부 쓰기 흘림체" panose="02030609000101010101" pitchFamily="17" charset="-127"/>
              </a:rPr>
              <a:t>홍길동</a:t>
            </a:r>
          </a:p>
        </p:txBody>
      </p:sp>
      <p:cxnSp>
        <p:nvCxnSpPr>
          <p:cNvPr id="25" name="직선 화살표 연결선 24"/>
          <p:cNvCxnSpPr/>
          <p:nvPr/>
        </p:nvCxnSpPr>
        <p:spPr>
          <a:xfrm flipH="1" flipV="1">
            <a:off x="10085294" y="1653769"/>
            <a:ext cx="691797" cy="8964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777091" y="1469103"/>
            <a:ext cx="110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7030A0"/>
                </a:solidFill>
              </a:rPr>
              <a:t>서명</a:t>
            </a:r>
          </a:p>
        </p:txBody>
      </p:sp>
    </p:spTree>
    <p:extLst>
      <p:ext uri="{BB962C8B-B14F-4D97-AF65-F5344CB8AC3E}">
        <p14:creationId xmlns:p14="http://schemas.microsoft.com/office/powerpoint/2010/main" val="3580301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121A3579-E54E-4D42-9481-DCFCC4952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869" y="537123"/>
            <a:ext cx="7499493" cy="60240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6601" y="393699"/>
            <a:ext cx="1097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□ </a:t>
            </a:r>
            <a:r>
              <a:rPr lang="ko-KR" altLang="en-US" sz="2400" b="1" dirty="0">
                <a:solidFill>
                  <a:srgbClr val="7030A0"/>
                </a:solidFill>
              </a:rPr>
              <a:t>통합학사</a:t>
            </a:r>
            <a:r>
              <a:rPr lang="en-US" altLang="ko-KR" sz="2400" b="1" dirty="0">
                <a:solidFill>
                  <a:srgbClr val="7030A0"/>
                </a:solidFill>
              </a:rPr>
              <a:t>_</a:t>
            </a:r>
            <a:r>
              <a:rPr lang="ko-KR" altLang="en-US" sz="2400" b="1" dirty="0" err="1">
                <a:solidFill>
                  <a:srgbClr val="7030A0"/>
                </a:solidFill>
              </a:rPr>
              <a:t>수업관리</a:t>
            </a:r>
            <a:r>
              <a:rPr lang="en-US" altLang="ko-KR" sz="2400" b="1" dirty="0">
                <a:solidFill>
                  <a:srgbClr val="7030A0"/>
                </a:solidFill>
              </a:rPr>
              <a:t>_</a:t>
            </a:r>
            <a:r>
              <a:rPr lang="ko-KR" altLang="en-US" sz="2400" b="1" dirty="0" err="1">
                <a:solidFill>
                  <a:srgbClr val="7030A0"/>
                </a:solidFill>
              </a:rPr>
              <a:t>출석부조회</a:t>
            </a:r>
            <a:r>
              <a:rPr lang="en-US" altLang="ko-KR" sz="2400" b="1" dirty="0">
                <a:solidFill>
                  <a:srgbClr val="7030A0"/>
                </a:solidFill>
              </a:rPr>
              <a:t>_ </a:t>
            </a:r>
            <a:r>
              <a:rPr lang="ko-KR" altLang="en-US" sz="2400" b="1" dirty="0">
                <a:solidFill>
                  <a:srgbClr val="7030A0"/>
                </a:solidFill>
              </a:rPr>
              <a:t>출석부 출력 </a:t>
            </a:r>
            <a:r>
              <a:rPr lang="en-US" altLang="ko-KR" sz="2400" b="1" dirty="0">
                <a:solidFill>
                  <a:srgbClr val="7030A0"/>
                </a:solidFill>
              </a:rPr>
              <a:t>[</a:t>
            </a:r>
            <a:r>
              <a:rPr lang="ko-KR" altLang="en-US" sz="2400" b="1" dirty="0">
                <a:solidFill>
                  <a:srgbClr val="7030A0"/>
                </a:solidFill>
              </a:rPr>
              <a:t>세로형 예시</a:t>
            </a:r>
            <a:r>
              <a:rPr lang="en-US" altLang="ko-KR" sz="2400" b="1" dirty="0">
                <a:solidFill>
                  <a:srgbClr val="7030A0"/>
                </a:solidFill>
              </a:rPr>
              <a:t>] </a:t>
            </a:r>
            <a:endParaRPr lang="ko-KR" altLang="en-US" sz="1200" b="1" dirty="0">
              <a:solidFill>
                <a:srgbClr val="7030A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232777" y="1553758"/>
            <a:ext cx="2419710" cy="303368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 rot="20796497">
            <a:off x="8583368" y="1489997"/>
            <a:ext cx="1251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문체부 쓰기 흘림체" panose="02030609000101010101" pitchFamily="17" charset="-127"/>
              </a:rPr>
              <a:t>홍길동</a:t>
            </a:r>
          </a:p>
        </p:txBody>
      </p:sp>
      <p:cxnSp>
        <p:nvCxnSpPr>
          <p:cNvPr id="25" name="직선 화살표 연결선 24"/>
          <p:cNvCxnSpPr/>
          <p:nvPr/>
        </p:nvCxnSpPr>
        <p:spPr>
          <a:xfrm flipH="1" flipV="1">
            <a:off x="10087719" y="1705442"/>
            <a:ext cx="691797" cy="8964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779516" y="1553758"/>
            <a:ext cx="110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7030A0"/>
                </a:solidFill>
              </a:rPr>
              <a:t>서명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6BB7C3-F8EC-49E3-93C8-17E3A72BE6D8}"/>
              </a:ext>
            </a:extLst>
          </p:cNvPr>
          <p:cNvSpPr/>
          <p:nvPr/>
        </p:nvSpPr>
        <p:spPr>
          <a:xfrm>
            <a:off x="3881540" y="2360768"/>
            <a:ext cx="344212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9080C"/>
                </a:solidFill>
                <a:latin typeface="*Dotum-5086-Identity-H"/>
              </a:rPr>
              <a:t>주</a:t>
            </a:r>
            <a:r>
              <a:rPr lang="en-US" altLang="ko-KR" sz="1600" dirty="0">
                <a:solidFill>
                  <a:srgbClr val="F9080C"/>
                </a:solidFill>
                <a:latin typeface="*Dotum-5086-Identity-H"/>
              </a:rPr>
              <a:t>, </a:t>
            </a:r>
            <a:r>
              <a:rPr lang="ko-KR" altLang="en-US" sz="1600" dirty="0">
                <a:solidFill>
                  <a:srgbClr val="F9080C"/>
                </a:solidFill>
                <a:latin typeface="*Dotum-5086-Identity-H"/>
              </a:rPr>
              <a:t>월</a:t>
            </a:r>
            <a:r>
              <a:rPr lang="en-US" altLang="ko-KR" sz="1600" dirty="0">
                <a:solidFill>
                  <a:srgbClr val="F9080C"/>
                </a:solidFill>
                <a:latin typeface="*Dotum-5086-Identity-H"/>
              </a:rPr>
              <a:t>, </a:t>
            </a:r>
            <a:r>
              <a:rPr lang="ko-KR" altLang="en-US" sz="1600" dirty="0">
                <a:solidFill>
                  <a:srgbClr val="F9080C"/>
                </a:solidFill>
                <a:latin typeface="*Dotum-5086-Identity-H"/>
              </a:rPr>
              <a:t>일</a:t>
            </a:r>
            <a:r>
              <a:rPr lang="en-US" altLang="ko-KR" sz="1600" dirty="0">
                <a:solidFill>
                  <a:srgbClr val="F9080C"/>
                </a:solidFill>
                <a:latin typeface="*Dotum-5086-Identity-H"/>
              </a:rPr>
              <a:t>, </a:t>
            </a:r>
            <a:r>
              <a:rPr lang="ko-KR" altLang="en-US" sz="1600" dirty="0">
                <a:solidFill>
                  <a:srgbClr val="F9080C"/>
                </a:solidFill>
                <a:latin typeface="*Dotum-5086-Identity-H"/>
              </a:rPr>
              <a:t>요일 기재 </a:t>
            </a:r>
            <a:r>
              <a:rPr lang="en-US" altLang="ko-KR" sz="1600" dirty="0">
                <a:solidFill>
                  <a:srgbClr val="F9080C"/>
                </a:solidFill>
                <a:latin typeface="*Dotum-5086-Identity-H"/>
              </a:rPr>
              <a:t>(15</a:t>
            </a:r>
            <a:r>
              <a:rPr lang="ko-KR" altLang="en-US" sz="1600" dirty="0">
                <a:solidFill>
                  <a:srgbClr val="F9080C"/>
                </a:solidFill>
                <a:latin typeface="*Dotum-5086-Identity-H"/>
              </a:rPr>
              <a:t>주</a:t>
            </a:r>
            <a:r>
              <a:rPr lang="en-US" altLang="ko-KR" sz="1600" dirty="0">
                <a:solidFill>
                  <a:srgbClr val="F9080C"/>
                </a:solidFill>
                <a:latin typeface="*Dotum-5086-Identity-H"/>
              </a:rPr>
              <a:t>)</a:t>
            </a:r>
            <a:r>
              <a:rPr lang="ko-KR" altLang="en-US" sz="1600" dirty="0">
                <a:solidFill>
                  <a:srgbClr val="F9080D"/>
                </a:solidFill>
                <a:latin typeface="*Dotum-5086-Identity-H"/>
              </a:rPr>
              <a:t> 작성</a:t>
            </a:r>
            <a:endParaRPr lang="ko-KR" altLang="en-US" sz="1600" dirty="0"/>
          </a:p>
          <a:p>
            <a:endParaRPr lang="en-US" altLang="ko-KR" dirty="0">
              <a:solidFill>
                <a:srgbClr val="F9080C"/>
              </a:solidFill>
              <a:latin typeface="*Dotum-5086-Identity-H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AC33E1-DCA9-485F-AC4A-599590E87E75}"/>
              </a:ext>
            </a:extLst>
          </p:cNvPr>
          <p:cNvSpPr/>
          <p:nvPr/>
        </p:nvSpPr>
        <p:spPr>
          <a:xfrm>
            <a:off x="9567333" y="2461777"/>
            <a:ext cx="25269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F9080E"/>
                </a:solidFill>
                <a:latin typeface="*Dotum-5086-Identity-H"/>
              </a:rPr>
              <a:t>- </a:t>
            </a:r>
            <a:r>
              <a:rPr lang="ko-KR" altLang="en-US" sz="1200" dirty="0">
                <a:solidFill>
                  <a:srgbClr val="F9080E"/>
                </a:solidFill>
                <a:latin typeface="*Dotum-5086-Identity-H"/>
              </a:rPr>
              <a:t>출</a:t>
            </a:r>
            <a:r>
              <a:rPr lang="ko-KR" altLang="en-US" sz="1200" dirty="0">
                <a:solidFill>
                  <a:srgbClr val="F9080C"/>
                </a:solidFill>
                <a:latin typeface="*Dotum-5086-Identity-H"/>
              </a:rPr>
              <a:t>석부가 여러 장일 경우 각 장에          서명</a:t>
            </a:r>
          </a:p>
          <a:p>
            <a:r>
              <a:rPr lang="en-US" altLang="ko-KR" sz="1200" dirty="0">
                <a:solidFill>
                  <a:srgbClr val="F9080E"/>
                </a:solidFill>
                <a:latin typeface="*Dotum-5086-Identity-H"/>
              </a:rPr>
              <a:t>- </a:t>
            </a:r>
            <a:r>
              <a:rPr lang="ko-KR" altLang="en-US" sz="1200" dirty="0">
                <a:solidFill>
                  <a:srgbClr val="F9080D"/>
                </a:solidFill>
                <a:latin typeface="*Dotum-5086-Identity-H"/>
              </a:rPr>
              <a:t>수정부분은 필이 날인</a:t>
            </a:r>
          </a:p>
          <a:p>
            <a:r>
              <a:rPr lang="en-US" altLang="ko-KR" sz="1200" dirty="0">
                <a:solidFill>
                  <a:srgbClr val="F9080E"/>
                </a:solidFill>
                <a:latin typeface="*Dotum-5086-Identity-H"/>
              </a:rPr>
              <a:t>- </a:t>
            </a:r>
            <a:r>
              <a:rPr lang="ko-KR" altLang="en-US" sz="1200" dirty="0">
                <a:solidFill>
                  <a:srgbClr val="F9080D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보강을 실시할 </a:t>
            </a:r>
            <a:r>
              <a:rPr lang="ko-KR" altLang="en-US" sz="1200" dirty="0" err="1">
                <a:solidFill>
                  <a:srgbClr val="F9080D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결우</a:t>
            </a:r>
            <a:r>
              <a:rPr lang="ko-KR" altLang="en-US" sz="1200" dirty="0">
                <a:solidFill>
                  <a:srgbClr val="F9080D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출석부에 보강을 확인 할 수 있는 내용 기록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50782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966F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263</Words>
  <Application>Microsoft Office PowerPoint</Application>
  <PresentationFormat>와이드스크린</PresentationFormat>
  <Paragraphs>62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*Dotum-5086-Identity-H</vt:lpstr>
      <vt:lpstr>돋움</vt:lpstr>
      <vt:lpstr>맑은 고딕</vt:lpstr>
      <vt:lpstr>문체부 쓰기 흘림체</vt:lpstr>
      <vt:lpstr>한양신명조</vt:lpstr>
      <vt:lpstr>휴먼명조</vt:lpstr>
      <vt:lpstr>Arial</vt:lpstr>
      <vt:lpstr>Office 테마</vt:lpstr>
      <vt:lpstr>출석부 표기 방법 안내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33</cp:revision>
  <cp:lastPrinted>2021-02-17T04:46:01Z</cp:lastPrinted>
  <dcterms:created xsi:type="dcterms:W3CDTF">2021-02-16T06:33:40Z</dcterms:created>
  <dcterms:modified xsi:type="dcterms:W3CDTF">2025-11-29T01:45:03Z</dcterms:modified>
</cp:coreProperties>
</file>