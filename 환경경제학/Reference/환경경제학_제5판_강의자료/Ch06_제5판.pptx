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2" r:id="rId2"/>
    <p:sldId id="332" r:id="rId3"/>
    <p:sldId id="344" r:id="rId4"/>
    <p:sldId id="345" r:id="rId5"/>
    <p:sldId id="293" r:id="rId6"/>
    <p:sldId id="347" r:id="rId7"/>
    <p:sldId id="349" r:id="rId8"/>
    <p:sldId id="348" r:id="rId9"/>
    <p:sldId id="350" r:id="rId10"/>
    <p:sldId id="266" r:id="rId11"/>
    <p:sldId id="346" r:id="rId12"/>
    <p:sldId id="268" r:id="rId13"/>
    <p:sldId id="351" r:id="rId14"/>
    <p:sldId id="269" r:id="rId15"/>
    <p:sldId id="342" r:id="rId16"/>
    <p:sldId id="352" r:id="rId17"/>
    <p:sldId id="353" r:id="rId18"/>
    <p:sldId id="354" r:id="rId19"/>
    <p:sldId id="359" r:id="rId20"/>
    <p:sldId id="360" r:id="rId21"/>
    <p:sldId id="366" r:id="rId22"/>
    <p:sldId id="338" r:id="rId23"/>
    <p:sldId id="271" r:id="rId24"/>
    <p:sldId id="355" r:id="rId25"/>
    <p:sldId id="356" r:id="rId26"/>
    <p:sldId id="339" r:id="rId27"/>
    <p:sldId id="363" r:id="rId28"/>
    <p:sldId id="357" r:id="rId29"/>
    <p:sldId id="358" r:id="rId30"/>
    <p:sldId id="364" r:id="rId31"/>
    <p:sldId id="365" r:id="rId32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871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E07228F-68B1-4EB3-A66D-353750538D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9FA812-938A-41BA-B6D6-C1942689EA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A314DAF-C69B-4A7B-81FB-06A8D7758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BCF13D0-A27C-465E-B909-E563FE14F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DCC848D3-DD4C-4B68-AA19-F0E0D2E71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4F32833E-1BB6-409F-B1E8-048CC1EB4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7FA1BFDB-59DD-4193-AC66-1C4AEEB0F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F556817B-12B2-4F1C-B9C0-EE0054CD7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4880807-E017-4080-BEDD-1D74717E5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ADD9786-EF78-4AF3-AC36-619C13E6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D7836259-30C0-43C7-91AE-D90F4285A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46F593F2-2B93-42EC-8B0D-989B414B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0F783C21-135C-4970-BD37-3D833FC23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E9AB5B99-8693-4B32-ABB6-D91775AB6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9B9DA93-F1BF-47C6-89A6-653C9E6CF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5ED6CB1-BD51-487C-8B0B-0D9A71CE7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706FD055-0D92-43B4-9945-B11986A7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52E28F1D-2F86-4762-A671-65B68681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11B41102-5AC6-4CFC-B589-C812682C1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9C3AEB3A-CCD6-4401-89B6-0BE3FC05E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C1582F7-FC81-4948-B41B-40F951A2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5025BF0-92F7-42A9-BA03-55594912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62F20058-FBDA-4246-B9F5-D7A281E7B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8256720A-5FC5-49F0-A034-B1279372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8EED809A-2417-4C79-8135-C15A774F0A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DED0ED0B-F9C2-4CB2-AE7B-2A5902659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D8BABC1-6112-4D40-893C-16CDD8BB9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95C3F3A-1B01-4F13-8A84-E1C4E4B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C2B12FE6-3D07-4FFA-9211-CFDE50826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AAF39EF-A21D-4D72-9611-03025DC31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F27AC63A-49ED-43E6-A83B-72692EF20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639AA9B1-B236-480B-B3EC-4870AEB59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FA806CD-4ED0-4814-93A1-C37678C11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CE57ADE-5D08-4FF5-9470-E709ED1C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9345B548-F0D5-48B7-9E19-EB4F0BDC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A4319A58-B7F8-408A-842E-0F517ADE8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5D5F5B1A-2EFF-464A-8D8F-BD1E7BFA6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737090C5-74BD-464C-9618-D89DA4866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5002FE7-B6A7-43B9-9A2E-604F7E500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3CE0CE5-997A-4D06-A055-5CABDD198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9215C1C-6501-42F6-B1E8-4D63E2614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113C57D-3A39-4E21-8EB2-5E20EB09E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9204549E-20EE-4778-B012-67B479F396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6EFAAB7B-152F-49A7-B6B0-1E150C537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FF6F709-AEA1-422F-A326-B99AADEB9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83BF9D3-D845-45E2-935F-B554564AA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363EE260-B5C5-49E4-B663-AA0263894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AF0B0B57-FA37-4065-ACBD-E6EA708ED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FBC937FC-DB94-4A87-BFA3-FE33AD64DB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60854FAB-EB38-4CE7-A5E9-32F101311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41D792-587E-4E8C-9171-F3B0EB2E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C8614D7-CB8E-4FD9-82D1-4196B6210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DBCF59C0-CCD6-45BB-B439-C9322DD60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4790B0FC-3050-4862-BB85-AC67A3408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B1EC9841-EE00-4941-BC86-C071B663B7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3CBBA3C6-2BF0-4E1D-8346-67F4C015E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41D13D8-5360-4782-AE13-F57279A8B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8E9990C-98A1-49E5-9901-A1173CBF5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786DCB35-51A4-41ED-A611-ED006438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B75BA546-D8B9-40B0-AE7D-F0732BC61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04D0F0B7-87A8-40E8-9B99-5DE5C891D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CBC35B84-CB50-4B45-A6D7-58A5AE127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1711F7F-DF6B-43A3-8977-71B455F6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7BA1B6A-226F-4A78-A68D-42BA7964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9D9705E8-CA9D-47E6-A1A6-D2FB5AF0A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E54FB822-0778-4747-BBF1-ACB9E5CE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54D8BF89-D37F-4907-B9C4-DAAC30FCDE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CBB90A9E-6474-4827-9E6C-D2F1B6DDA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5FAF08E-E357-4CB9-99AD-4BDB61516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F582FCD-AAF2-4E7E-801D-4309CE791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FCD43563-C939-4778-9E25-6AC4D1AA6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4F323413-8213-4BDD-9054-5E47C5FBE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83C7B4CE-DAA8-45D6-834B-52F85E7DF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78310CCF-5F81-4598-822E-3ABF226E2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E9453DF-C51B-46FB-9033-723BFBD18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CEA368A1-A40C-404B-9657-DA80DD520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1122A3FD-0CC8-43D2-9499-AAFC8168E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51222B04-5465-408C-B3D5-B191769A9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09C2C4DC-FC5B-4696-A9FF-4E9562567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BA801141-B843-4592-A226-3E7E89E11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F770EF0-5E0E-422A-A391-DF0668B74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13417851-9AEB-43BD-B701-BC4E2636B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89605927-0FF1-45A1-9022-62AAB0AC8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BD7E19CF-9714-4893-8A86-8C1C1B4F3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82DE7254-807A-4F77-9A89-06CECDE47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86DD32FE-4CEB-49D8-BB0F-E2CE1E2F5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B95CBF3-FA44-4D2A-ACAC-375D7AE20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0D2F452-55B6-46D1-8BE0-C772230CD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DFD986AA-85F2-4D6D-953A-CE933455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7276AD28-F097-4386-9EFD-5EBAEDD85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DE14406F-5BAD-4F35-AA07-731F9CAE4A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36E71E66-12A4-4CF8-8CCB-55E0CC1B0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3ABE745-DEF4-4713-A2BD-865E4818E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43C4FF4-99AD-44E5-99B5-5D28E37A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64F43236-30DA-4E78-A628-33DE65B18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07D5B009-81A0-49A1-8366-3EBE82BB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21A0A6A5-29C4-4EAA-8283-1322762DA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AC84D798-0D48-4DFB-B032-DDFF24D6D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1A1E45F-C4D1-4E4E-BFCA-6F98959F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4CC90BB-C0ED-4460-87DE-6DDC2458B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23561F23-7DA7-48D2-840C-6895FB15F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DCEEC7B9-20F2-4C94-8330-BFE6CD2D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2D650510-E45A-41D0-96B4-A89A5D15E7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2AF67D15-63BC-4047-A0BB-312C5F757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38353C3-A00A-43E2-8AB7-4391DB5D7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283D8B5-1452-4577-A793-557D21D23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BACA1E03-BEA2-48EB-B945-F347AADD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80EED90D-4C99-4827-90E9-8C87D2C89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4B0ED3D0-A1BA-4B64-AD83-0EF9462631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A77A1C00-6F80-4FB3-BE5F-F6A68E97B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1E81998-B6B8-40DF-839C-0FBE5D5A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F792BAF-45CB-48DF-A11C-A7D8E4BF5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BC3B567D-6B0A-42D8-B448-0A7FC259F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C8084FA7-00A9-4754-9D2E-A1003A0D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E1BE01D6-4910-484B-845F-1DEC954E09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4522F5EB-A85C-4FEF-9B0D-ADC1760BD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4746969-980E-429A-8A31-07B94A724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BC3D807-CEB0-447B-AA7F-5CFFACBDE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FADEB2C1-7015-44FD-A519-30DB88D17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B6ED24B4-7800-48A7-ABA1-6B024B10F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88766F86-DF9E-4EA2-BE07-7C9B4179FD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410B670B-A10B-44AC-8C9B-BB38C31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0890FB52-7553-4542-9C9C-8D00F170F97D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B55C3DD9-3FC7-46F7-8438-2E6092921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B67D221C-5413-4743-9520-273B9A735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02A701B3-5BFB-4736-8D93-13A836ABD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A2ACCEA5-F5D8-438D-ADC7-B262D6329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E6114F83-F075-45DA-A636-8C66F5604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499BBFB7-826B-4704-8CFE-79DD2A96E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17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804982D-2A99-4ED1-AC03-291BBD22D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AD72170-C5CD-4DCA-A621-FC0C068D8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10A2BE0-C1DE-4A01-9578-A7E31CD714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138D1-9C9F-4F4D-992C-D8D18C65726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620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0D08930-F507-4BAC-968A-26A507355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6967AA3-9F2B-4916-AA8D-FD1D5B94D6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937910F-69A1-41BE-9311-D25C16B7D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154E89-9DFC-4E92-BBD9-F27AEDF3FF7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454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904CD31-1CCC-493D-8B2B-0A835BD41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443FD2F-7A63-4ED5-95EE-FB234FACCA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3EE0CB2-0ED4-40CD-9D1A-EA3F0C414F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0E89A9-F44B-4FD2-B0F0-F3975399A11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339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1A095FD-4F6A-4F63-B8D8-81FD738FFF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F6B6D19-4099-4628-8E2C-146DDB834E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D88F9F4-43E3-4E26-9D22-626CE6E781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7FEB5-2659-4BF8-9621-FC49035541C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369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8A3692F-8E8B-4BA0-AFE6-6DF7CD449F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1D19A3D-2141-40CA-A787-825BE2B8E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2932873-EF62-4502-9731-62B0712AE7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2BA0C-3200-4A90-9C52-23875B3380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250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397BDD9-8806-4522-BDBC-E8E8FBE7B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977BF77-8B7B-48DE-85DA-933F19A0F0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763E445-EE50-403A-B95C-5A2039153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B8F2A-6B41-473D-B41C-6EEF13A4EE8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66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19F4D3B-4583-4470-A400-D33B7D94B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4765BD5-1174-4A88-8630-6D0059DF7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8D4ACF7-9F6C-4640-9F69-DCF11DFAA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08FD84-E10E-4BA8-B0A6-0A3E541FF0F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03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3DCD2E0-AE38-4E08-91FE-AB5E96F5A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07978AF-5CC2-448E-A92F-B5EF5DE26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B72C2FB-3AE6-446D-B1D8-2E3A7B74C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D98AF-BF5C-4CE0-8BC0-6ACAFF2255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429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0CC60E9-F3DB-4265-B88A-7F8CE3640E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B80E473-1FFC-4349-ADA0-F7CAAC1F1E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C8BDFA1-E457-46B5-AD9E-2769271654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AC1B52-8A9D-4003-B9F4-8F056909756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080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98C1242-E53B-4182-97E2-21A7C2C27B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412514B-5BE2-4FD8-BF91-0851DFD83B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1DE76D4-8BE4-4AC1-8E69-925110C70F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1DCED-E243-42E4-A261-0B774ACEC09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443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E764AC9A-48BA-4B87-AE2B-62F4412D9B5C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AB5CFF36-A5AC-49B4-B1EF-9DB7265F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2A666575-DA64-4D4B-82BE-596F56FDB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FA32ABA8-8163-433A-8A15-ADD51BC4B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3075" name="Rectangle 6">
            <a:extLst>
              <a:ext uri="{FF2B5EF4-FFF2-40B4-BE49-F238E27FC236}">
                <a16:creationId xmlns:a16="http://schemas.microsoft.com/office/drawing/2014/main" id="{16A2F0D9-0678-4D8A-BCC0-9392E3E59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6" name="Rectangle 7">
            <a:extLst>
              <a:ext uri="{FF2B5EF4-FFF2-40B4-BE49-F238E27FC236}">
                <a16:creationId xmlns:a16="http://schemas.microsoft.com/office/drawing/2014/main" id="{31B15DA2-FBDA-48C4-9674-FFE0B7514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B01DC140-E449-4125-823B-3F6CA6AED8D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3587A87A-6DE8-432B-86FB-A90727A97E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6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52F09C23-AD3E-4D54-9CCB-4A08E11C87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BD822B94-B8A6-47DA-B8AD-7660F37FAD12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6">
            <a:extLst>
              <a:ext uri="{FF2B5EF4-FFF2-40B4-BE49-F238E27FC236}">
                <a16:creationId xmlns:a16="http://schemas.microsoft.com/office/drawing/2014/main" id="{7B041AC0-AE93-4179-B636-2449537C6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3D179C1D-5E6F-4E75-A095-177356123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57525" y="2897188"/>
            <a:ext cx="6072188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환경기준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직접규제의 경제적 비효율성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4" name="바닥글 개체 틀 4">
            <a:extLst>
              <a:ext uri="{FF2B5EF4-FFF2-40B4-BE49-F238E27FC236}">
                <a16:creationId xmlns:a16="http://schemas.microsoft.com/office/drawing/2014/main" id="{09F28EA8-02BA-4186-9590-1240D50D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5365" name="슬라이드 번호 개체 틀 5">
            <a:extLst>
              <a:ext uri="{FF2B5EF4-FFF2-40B4-BE49-F238E27FC236}">
                <a16:creationId xmlns:a16="http://schemas.microsoft.com/office/drawing/2014/main" id="{2471BAAF-2712-4790-9F58-2443A15E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31B19A6-5177-418A-B934-BC6DD5A51926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6" name="Rectangle 1026">
            <a:extLst>
              <a:ext uri="{FF2B5EF4-FFF2-40B4-BE49-F238E27FC236}">
                <a16:creationId xmlns:a16="http://schemas.microsoft.com/office/drawing/2014/main" id="{D554B64C-851C-441B-B1B6-24C52419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7" name="Rectangle 1027">
            <a:extLst>
              <a:ext uri="{FF2B5EF4-FFF2-40B4-BE49-F238E27FC236}">
                <a16:creationId xmlns:a16="http://schemas.microsoft.com/office/drawing/2014/main" id="{E36E8FA0-35FE-4394-862C-FEAF34CB1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783961-BA41-415E-8F64-56DA2A757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6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직접규제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2B1ADEC2-6CCD-4B1D-98AB-1FC421A59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2397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직접규제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1037">
            <a:extLst>
              <a:ext uri="{FF2B5EF4-FFF2-40B4-BE49-F238E27FC236}">
                <a16:creationId xmlns:a16="http://schemas.microsoft.com/office/drawing/2014/main" id="{C2B6C1FA-9193-4E04-8BFB-ABB277AE5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0588" y="1481138"/>
            <a:ext cx="775017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직접규제는 환경기준을 구체적인 법률로 정하여 오염원들에게 지키도록 요구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사법권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경찰력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벌금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행정조치 등의 수단으로 법률을 준수토록 함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직접규제는 각국이 가장 많이 사용하는 환경정책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실행과정이 단순하고 직접적이며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정책의 목표를 명확히 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위반자를 처벌하는 절차를 포함하므로 환경오염은 비도덕적이라는 윤리의식과 부합됨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하지만 직접규제는 경제적 유인을 통해 오염원 스스로 배출량을 효율적으로 줄이도록 유도하는 정책이 아님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정책당국이 설정한 기준을 의무적으로 지키도록 요구하기 때문에 배출감소를 위해 오염원이 취할 수 있는 선택 폭을 매우 제한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효율성 측면에서 많은 문제점을 가지고 있으며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환경경제학자들에게 지속적인 비판을 받아 옴</a:t>
            </a: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7CDF1152-CF74-4208-8B1A-1AF28D85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043F98B9-7406-4D74-A0E6-6DEC74ED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589BCF3-CF20-419B-8254-523390ED9D9D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62B4D9B9-D9F1-411E-BB61-CC1861BC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FB99F026-E91A-4CAB-8542-BFC5C4AE3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6">
            <a:extLst>
              <a:ext uri="{FF2B5EF4-FFF2-40B4-BE49-F238E27FC236}">
                <a16:creationId xmlns:a16="http://schemas.microsoft.com/office/drawing/2014/main" id="{C04559E3-14BB-4636-A2D1-97B486780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15913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환경기준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1" name="Rectangle 1037">
            <a:extLst>
              <a:ext uri="{FF2B5EF4-FFF2-40B4-BE49-F238E27FC236}">
                <a16:creationId xmlns:a16="http://schemas.microsoft.com/office/drawing/2014/main" id="{BECF7C2A-45DC-4799-9A94-C2F3BE6AC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20669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정책당국이 오염원에게 지정하는 환경기준은 크게 세 가지로 분류됨</a:t>
            </a:r>
          </a:p>
          <a:p>
            <a:pPr lvl="1" eaLnBrk="1" hangingPunct="1"/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배출기준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오염도기준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기술기준</a:t>
            </a:r>
          </a:p>
        </p:txBody>
      </p:sp>
      <p:sp>
        <p:nvSpPr>
          <p:cNvPr id="17412" name="바닥글 개체 틀 4">
            <a:extLst>
              <a:ext uri="{FF2B5EF4-FFF2-40B4-BE49-F238E27FC236}">
                <a16:creationId xmlns:a16="http://schemas.microsoft.com/office/drawing/2014/main" id="{31035733-706B-4C8A-9E81-145FBA0A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7413" name="슬라이드 번호 개체 틀 5">
            <a:extLst>
              <a:ext uri="{FF2B5EF4-FFF2-40B4-BE49-F238E27FC236}">
                <a16:creationId xmlns:a16="http://schemas.microsoft.com/office/drawing/2014/main" id="{E8349261-E2A7-4EBD-B472-8DB368F2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9E96782-57E0-49C0-986C-236A928F1522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7414" name="Rectangle 1026">
            <a:extLst>
              <a:ext uri="{FF2B5EF4-FFF2-40B4-BE49-F238E27FC236}">
                <a16:creationId xmlns:a16="http://schemas.microsoft.com/office/drawing/2014/main" id="{9F6AF7E7-BD32-435E-8C6A-9C5D35CE4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5" name="Rectangle 1027">
            <a:extLst>
              <a:ext uri="{FF2B5EF4-FFF2-40B4-BE49-F238E27FC236}">
                <a16:creationId xmlns:a16="http://schemas.microsoft.com/office/drawing/2014/main" id="{B847B6D0-2F02-4112-A35D-E19D6206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526FA8BA-6440-46FE-9A11-ACCF569813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8538" y="1685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배출기준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오염원이 배출할 수 있는 오염물질 배출량의 상한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오염물질의 특성이나 오염자 경제 행위의 특성에 따라 적용되는 방식이 다를 수 있음 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바닥글 개체 틀 4">
            <a:extLst>
              <a:ext uri="{FF2B5EF4-FFF2-40B4-BE49-F238E27FC236}">
                <a16:creationId xmlns:a16="http://schemas.microsoft.com/office/drawing/2014/main" id="{7130984F-2FF6-4874-BBBE-9A9FCB09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8436" name="슬라이드 번호 개체 틀 5">
            <a:extLst>
              <a:ext uri="{FF2B5EF4-FFF2-40B4-BE49-F238E27FC236}">
                <a16:creationId xmlns:a16="http://schemas.microsoft.com/office/drawing/2014/main" id="{9142F604-441C-414D-964A-EAD0F451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A538671-5B1D-4DF7-A7F0-2FABE815DC3C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07C37E58-BDFE-4D86-8567-9A6F8DD5B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BCF16BFB-8D89-4C4E-B7BE-941265216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B7787814-2C2C-4EB4-8593-B7B55A92C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174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배출기준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(emission standards)</a:t>
            </a:r>
            <a:endParaRPr lang="ko-KR" altLang="en-US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61697F3-A3D3-44CD-95EF-78DAD4F98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20" y="3216129"/>
            <a:ext cx="8021360" cy="267168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052">
            <a:extLst>
              <a:ext uri="{FF2B5EF4-FFF2-40B4-BE49-F238E27FC236}">
                <a16:creationId xmlns:a16="http://schemas.microsoft.com/office/drawing/2014/main" id="{E08D2159-673B-4C2E-A84B-E9966B5C9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(ambient standards)</a:t>
            </a:r>
          </a:p>
        </p:txBody>
      </p:sp>
      <p:sp>
        <p:nvSpPr>
          <p:cNvPr id="19459" name="Rectangle 2053">
            <a:extLst>
              <a:ext uri="{FF2B5EF4-FFF2-40B4-BE49-F238E27FC236}">
                <a16:creationId xmlns:a16="http://schemas.microsoft.com/office/drawing/2014/main" id="{E8CAD8A5-C332-4C6E-9A08-C9C3A28792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1446213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자연환경에 축적된 오염물질량의 허용된 상한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서울시 대기 중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SO</a:t>
            </a:r>
            <a:r>
              <a:rPr lang="en-US" altLang="ko-KR" sz="20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농도의 상한선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한강수계의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BOD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상한선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오염도기준을 적용할 때는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오염도 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측정지점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(receptor site)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정한 뒤 이 지점에서의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축적량이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정책 목표로 정한 상한선을 넘지 않도록 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오염도기준은 단독으로 실행되는 것이 아니라 배출기준이나 기술기준을 매개로 하여 실행됨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배출기준을 이용하여 오염도기준을 실행하기 위해서는 각 오염원의 배출량이 어떤 경로를 통해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측정지점의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오염도에 얼마나 영향을 주는지를 파악할 수 있어야 함</a:t>
            </a: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498136B5-3DBB-4AD6-819F-07159360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702831CE-9890-4767-878D-7C60D19A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D814E8E-8CC7-445F-8800-29B1400B004F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2">
            <a:extLst>
              <a:ext uri="{FF2B5EF4-FFF2-40B4-BE49-F238E27FC236}">
                <a16:creationId xmlns:a16="http://schemas.microsoft.com/office/drawing/2014/main" id="{7E109445-1FE9-4E38-88F2-DFB47CC8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476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배출기준을 매개로 하여 오염도기준을 실행하는 경우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2053">
            <a:extLst>
              <a:ext uri="{FF2B5EF4-FFF2-40B4-BE49-F238E27FC236}">
                <a16:creationId xmlns:a16="http://schemas.microsoft.com/office/drawing/2014/main" id="{CD0FCE99-F295-4FBA-8D70-CDD320E79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1925638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오염도 측정지점은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지점이며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S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부터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</a:t>
            </a:r>
            <a:r>
              <a:rPr lang="en-US" altLang="ko-KR" sz="24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5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까지의 상류 오염원이 배출하는 배출량에 영향을 받음</a:t>
            </a:r>
          </a:p>
          <a:p>
            <a:pPr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지점에서의 목표오염도를 달성하기 위해서는 각 오염원의 실제 배출량이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에서의 오염도에 어떤 영향을 주는지를 파악하여야 함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31F8DCCE-6360-44A2-81C6-4748C91C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EDAA6758-3AB0-4D64-91E9-939A0070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BE94FB9-2C35-45A6-B1D8-E134DF930776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7FE259C-0C5D-48F4-947C-78B394B13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05" y="3865454"/>
            <a:ext cx="6316825" cy="278875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052">
            <a:extLst>
              <a:ext uri="{FF2B5EF4-FFF2-40B4-BE49-F238E27FC236}">
                <a16:creationId xmlns:a16="http://schemas.microsoft.com/office/drawing/2014/main" id="{819D08B1-224D-43AC-960A-CF1BE1C4A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476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배출기준을 매개로 하여 오염도기준을 실행하는 경우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2053">
                <a:extLst>
                  <a:ext uri="{FF2B5EF4-FFF2-40B4-BE49-F238E27FC236}">
                    <a16:creationId xmlns:a16="http://schemas.microsoft.com/office/drawing/2014/main" id="{8C1FE6CA-3474-4C50-BA73-6499BF58191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27113" y="1925638"/>
                <a:ext cx="7685087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배출량이 오염도에 미치는 영향을 수식으로 표현</a:t>
                </a:r>
              </a:p>
              <a:p>
                <a:pPr lvl="1" eaLnBrk="1" hangingPunct="1"/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en-US" altLang="ko-KR" sz="20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=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배출량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=1,2,…,N)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Q =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오염도 측정지점에서의 오염도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 =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기타요인에 의해 축적되는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오염물질량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d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 단위 오염물질이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측정지점에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실제로 축적되는 양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전이계수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transfer coefficient)</a:t>
                </a:r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측정지점의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오염물질량은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아래와 같이 나타낼 수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28" name="Rectangle 2053">
                <a:extLst>
                  <a:ext uri="{FF2B5EF4-FFF2-40B4-BE49-F238E27FC236}">
                    <a16:creationId xmlns:a16="http://schemas.microsoft.com/office/drawing/2014/main" id="{8C1FE6CA-3474-4C50-BA73-6499BF581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7113" y="1925638"/>
                <a:ext cx="7685087" cy="4114800"/>
              </a:xfrm>
              <a:blipFill>
                <a:blip r:embed="rId2"/>
                <a:stretch>
                  <a:fillRect l="-1031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바닥글 개체 틀 4">
            <a:extLst>
              <a:ext uri="{FF2B5EF4-FFF2-40B4-BE49-F238E27FC236}">
                <a16:creationId xmlns:a16="http://schemas.microsoft.com/office/drawing/2014/main" id="{645EBBB5-5B8B-4431-B746-F96A7E21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1030" name="슬라이드 번호 개체 틀 5">
            <a:extLst>
              <a:ext uri="{FF2B5EF4-FFF2-40B4-BE49-F238E27FC236}">
                <a16:creationId xmlns:a16="http://schemas.microsoft.com/office/drawing/2014/main" id="{A631717E-0900-4921-A60E-9C0802BD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8BE000-3630-4904-8B50-9D2CA32D7CAF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1" name="Rectangle 2">
            <a:extLst>
              <a:ext uri="{FF2B5EF4-FFF2-40B4-BE49-F238E27FC236}">
                <a16:creationId xmlns:a16="http://schemas.microsoft.com/office/drawing/2014/main" id="{9203975C-46AE-4AC6-8290-94D7C7F0B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052">
            <a:extLst>
              <a:ext uri="{FF2B5EF4-FFF2-40B4-BE49-F238E27FC236}">
                <a16:creationId xmlns:a16="http://schemas.microsoft.com/office/drawing/2014/main" id="{2B00D68E-5509-4D34-AAFF-F59DC1000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196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동질적 오염물질과 이질적 오염물질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2053">
            <a:extLst>
              <a:ext uri="{FF2B5EF4-FFF2-40B4-BE49-F238E27FC236}">
                <a16:creationId xmlns:a16="http://schemas.microsoft.com/office/drawing/2014/main" id="{5B081D36-A4FF-4196-872A-C5796C6A3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700213"/>
            <a:ext cx="7685088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오염물질의 배출농도가 같더라도 측정지점에서 멀리 떨어진 오염원의 전이계수가 가까운 오염원의 전이계수보다 더 작은 값을 가질 것임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각 오염원이 배출한 오염물질이 자연환경의 오염도에 미치는 영향이 서로 동일할 경우 </a:t>
            </a:r>
            <a:r>
              <a:rPr lang="ko-KR" altLang="en-US" sz="25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동질적 오염물질</a:t>
            </a:r>
            <a:r>
              <a:rPr lang="en-US" altLang="ko-KR" sz="25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(uniformly mixed pollutant)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이라 하고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어느 오염원에 의해 배출되었느냐에 따라 오염도에 미치는 영향이 달라지는 오염물질을 </a:t>
            </a:r>
            <a:r>
              <a:rPr lang="ko-KR" altLang="en-US" sz="25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이질적 오염물질</a:t>
            </a:r>
            <a:r>
              <a:rPr lang="en-US" altLang="ko-KR" sz="25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(nonuniformly mixed pollutant)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이라 부름</a:t>
            </a:r>
            <a:endParaRPr lang="en-US" altLang="ko-KR" sz="25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372F53D9-F256-4E20-8ECA-72E9B3E5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EE57AA8D-AAA7-4BE5-882C-108795B0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C8ACDB-B500-41BB-B9A7-FE71EDE0AF08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1028">
            <a:extLst>
              <a:ext uri="{FF2B5EF4-FFF2-40B4-BE49-F238E27FC236}">
                <a16:creationId xmlns:a16="http://schemas.microsoft.com/office/drawing/2014/main" id="{05ED15EE-5095-4BF1-B2F8-DCE517B60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283779"/>
            <a:ext cx="7313613" cy="64808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다수 측정지점의 오염도 결정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4" name="Rectangle 1029">
                <a:extLst>
                  <a:ext uri="{FF2B5EF4-FFF2-40B4-BE49-F238E27FC236}">
                    <a16:creationId xmlns:a16="http://schemas.microsoft.com/office/drawing/2014/main" id="{DA216B31-1729-435E-AEF0-D95B13305B4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0125" y="1136650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측정지점이 많을 경우 한 오염원은 몇 개의 측정지점의 오염도에 동시에 영향을 미침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관계식을 행렬을 이용해 확장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측정지점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오염도벡터를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Q,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기타요인에 의한 오염도벡터를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오염원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배출량 벡터는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전이계수로 구성된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확산행렬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(diffusion matrix)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NxM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행렬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 D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D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원소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d</a:t>
                </a:r>
                <a:r>
                  <a:rPr lang="en-US" altLang="ko-KR" sz="20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ij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오염원에서 배출한 한 단위의 오염물질이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측정지점에 축적되는 양을 나타냄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ko-KR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/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  <a:p>
                <a:pPr marL="0" indent="0" eaLnBrk="1" hangingPunct="1">
                  <a:buNone/>
                </a:pP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4" name="Rectangle 1029">
                <a:extLst>
                  <a:ext uri="{FF2B5EF4-FFF2-40B4-BE49-F238E27FC236}">
                    <a16:creationId xmlns:a16="http://schemas.microsoft.com/office/drawing/2014/main" id="{DA216B31-1729-435E-AEF0-D95B13305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0125" y="1136650"/>
                <a:ext cx="7515225" cy="4114800"/>
              </a:xfrm>
              <a:blipFill>
                <a:blip r:embed="rId2"/>
                <a:stretch>
                  <a:fillRect l="-730" t="-741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바닥글 개체 틀 4">
            <a:extLst>
              <a:ext uri="{FF2B5EF4-FFF2-40B4-BE49-F238E27FC236}">
                <a16:creationId xmlns:a16="http://schemas.microsoft.com/office/drawing/2014/main" id="{A26BE890-EB46-430F-B08D-3BF411B0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056" name="슬라이드 번호 개체 틀 5">
            <a:extLst>
              <a:ext uri="{FF2B5EF4-FFF2-40B4-BE49-F238E27FC236}">
                <a16:creationId xmlns:a16="http://schemas.microsoft.com/office/drawing/2014/main" id="{1AF0F16C-4813-471F-B3A2-DDAE1964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EC8404F-7D27-47C9-820A-E122C1A74DAD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7" name="Rectangle 2">
            <a:extLst>
              <a:ext uri="{FF2B5EF4-FFF2-40B4-BE49-F238E27FC236}">
                <a16:creationId xmlns:a16="http://schemas.microsoft.com/office/drawing/2014/main" id="{94F90A3D-A38F-4AAD-BA6D-F4D102DF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C8DB6063-B71E-4859-A188-4EBA29951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540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기술기준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(technology standards)</a:t>
            </a: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BB38455F-5040-4414-A13A-EBD820555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701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기술기준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오염원이 경제행위를 하면서 사용하는 생산기술이나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생산절차에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대해 규제하는 정책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축산농가에게 특정 성능의 폐수정화시설을 의무적으로 설치하게 하는 경우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자동차 촉매변환기를 의무적으로 장착하게 하는 경우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공장에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탈황시설을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설치하게 하는 경우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배출기준 하에서는 배출량 상한을 충족할 수만 있다면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어떤 방식으로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생산행위를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할지는 오염원이 선택할 수가 있었음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기술기준은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기술자체를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정부가 규제하기 때문에 배출기준보다도 더 경직된 정책</a:t>
            </a: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5DDE38EA-E3D7-4601-ACC0-9D17E3F1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2CEDE9C7-0D22-4000-826E-E98AC25D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AC576F6-A541-499D-B040-3F7BB3BF9B85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13EE360A-1CD4-4359-8450-AC41BE389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75F85C12-3FBB-4CA8-BE4A-807827364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367E7327-DF40-47C5-9A80-302FD4ECB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3813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직접규제의 경제적 비효율성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7">
            <a:extLst>
              <a:ext uri="{FF2B5EF4-FFF2-40B4-BE49-F238E27FC236}">
                <a16:creationId xmlns:a16="http://schemas.microsoft.com/office/drawing/2014/main" id="{9A374131-3DCF-4C37-A42A-3377E9DBF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1771650"/>
            <a:ext cx="7529512" cy="4114800"/>
          </a:xfrm>
        </p:spPr>
        <p:txBody>
          <a:bodyPr/>
          <a:lstStyle/>
          <a:p>
            <a:pPr eaLnBrk="1" hangingPunct="1"/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기준의 설정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환경기준의 획일성과 비효율성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직접규제와 기술혁신 유인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정책집행의 용이성</a:t>
            </a: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DBAA3B21-FC8F-42A2-BDD8-EF5AFFC4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C373F925-1FA5-4D3A-B812-D869D2F9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3E3DE56-F3D6-4E0C-AD02-670D539048A8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6A55DAF9-8EAE-4047-B0E9-D96B55E70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82AFFAB3-E750-4797-9A68-524746C01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052FC478-1821-4683-9B39-EA7FEA6A4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11271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기준의 설정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4F432565-5050-462E-9D04-852A075C3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9025" y="160178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대개의 경우 오염의 사회적 한계피해곡선과 한계저감비용곡선을 모두 파악하기는 어려움</a:t>
            </a: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사회적 최적 수준의 배출량을 상한으로 정하는 것이 어려울 경우 정부는 몇 가지 다른 기준을 사용하여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배출상한을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정할 수 있음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오염으로 인한 피해를 완전 제거하는 것을 정책목표로 할 경우</a:t>
            </a: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오염물질이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임계치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이하일 경우에는 사회에 미치는 피해가 거의 없다고 판단될 때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임계치를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배출상한으로 정함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만약 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&lt;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그림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6-2&gt;(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뒷장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 같이 갑자기 사회 전체의 피해가 급격히 늘어나기 시작하는 배출량 수준이 있다면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이러한 수준의 배출량을 배출상한으로 정할 수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5FEA362B-9540-4925-8483-B9A63402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D5B91BD5-084A-4B16-94B1-FA870CE3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D0113AD-AE35-424B-AEF3-EF57F7C2F71C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FEBDD72D-3A23-4900-AA54-4DD055AAF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8E4ADD31-A467-4B84-AEC6-CC986F39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42CCD7EA-92EB-45FE-990E-F0DE8F9B4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-127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기준의 설정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바닥글 개체 틀 4">
            <a:extLst>
              <a:ext uri="{FF2B5EF4-FFF2-40B4-BE49-F238E27FC236}">
                <a16:creationId xmlns:a16="http://schemas.microsoft.com/office/drawing/2014/main" id="{D20D61B6-0686-4825-B16A-C76D437B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5604" name="슬라이드 번호 개체 틀 5">
            <a:extLst>
              <a:ext uri="{FF2B5EF4-FFF2-40B4-BE49-F238E27FC236}">
                <a16:creationId xmlns:a16="http://schemas.microsoft.com/office/drawing/2014/main" id="{9AD0396C-0D38-4286-A22B-39A25D08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E7803F4-CDAE-4073-85FD-BB39008D185E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02A50BB9-8421-476F-A7FB-C54DFA0A1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6AB8B017-3401-4B5A-A80B-81EA1BB0C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5607" name="그림 8" descr="Cap 2014-06-19 09-41-45-344.png">
            <a:extLst>
              <a:ext uri="{FF2B5EF4-FFF2-40B4-BE49-F238E27FC236}">
                <a16:creationId xmlns:a16="http://schemas.microsoft.com/office/drawing/2014/main" id="{CD5116EF-26BB-41F2-903F-37762EA6B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1236663"/>
            <a:ext cx="6680200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CEBF44F1-6A88-4C87-923E-5B20A4970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-2952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환경기준의 획일성과 비효율성</a:t>
            </a:r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Rectangle 7">
                <a:extLst>
                  <a:ext uri="{FF2B5EF4-FFF2-40B4-BE49-F238E27FC236}">
                    <a16:creationId xmlns:a16="http://schemas.microsoft.com/office/drawing/2014/main" id="{80BF7D58-F1F9-43F4-B5E4-6188322528B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11250" y="1055688"/>
                <a:ext cx="7558088" cy="4240212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모든 오염원이나 지역에 대해 획일적인 환경기준이 적용될 경우 직접규제는 효율성을 상실하게 됨</a:t>
                </a:r>
              </a:p>
              <a:p>
                <a:pPr lvl="1" eaLnBrk="1" hangingPunct="1"/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동일한 정도의 오염도라 하더라도 인구 밀집지역의 피해가 더 크므로 효율성을 위해서는 오염도기준이 지역별로 차등 적용되어야 함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U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가 인구가 밀집된 도시지역에서 발생하는 오염으로 인한 한계피해곡선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6627" name="Rectangle 7">
                <a:extLst>
                  <a:ext uri="{FF2B5EF4-FFF2-40B4-BE49-F238E27FC236}">
                    <a16:creationId xmlns:a16="http://schemas.microsoft.com/office/drawing/2014/main" id="{80BF7D58-F1F9-43F4-B5E4-618832252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1250" y="1055688"/>
                <a:ext cx="7558088" cy="4240212"/>
              </a:xfrm>
              <a:blipFill>
                <a:blip r:embed="rId3"/>
                <a:stretch>
                  <a:fillRect l="-726" t="-718" r="-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BFF04F24-1374-4D70-8FB8-94B484FA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AFAF8060-B7DE-47A0-9FAC-A4DC5026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C987567-9A5A-47AC-A7AA-C5C15C84FC4D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21DBFF0C-6D97-4BBD-A626-D461485C6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805774A6-A832-462C-B4ED-80210B042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6632" name="그림 7" descr="Cap 2014-06-19 09-41-56-077.png">
            <a:extLst>
              <a:ext uri="{FF2B5EF4-FFF2-40B4-BE49-F238E27FC236}">
                <a16:creationId xmlns:a16="http://schemas.microsoft.com/office/drawing/2014/main" id="{F1685503-BC35-43A8-B1E3-72F280303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2" y="2876549"/>
            <a:ext cx="5553075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2BE9A3E-B217-4244-A414-6D389154F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203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환경기준의 획일성과 비효율성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E9A2DA2E-C5B4-4F3A-9DB8-A47B0EA58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250" y="1714500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환경정책이 사회적으로 최적인 오염수준을 달성하는 것은 현실적으로 힘들기 때문에 환경기준은 최적을 달성할 수는 없더라도 최소한 비용효과적이어야 함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동질적인 오염물질을 가장 적은 비용으로 저감하기 위해서는 전체 저감량을 각 오염원의 한계저감비용이 동일하게 되도록 배분하여야 함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등한계원칙</a:t>
            </a:r>
            <a:r>
              <a:rPr lang="en-US" altLang="ko-KR" sz="250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eaLnBrk="1" hangingPunct="1"/>
            <a:r>
              <a:rPr lang="ko-KR" altLang="en-US" sz="2500">
                <a:latin typeface="나눔명조" pitchFamily="18" charset="-127"/>
                <a:ea typeface="나눔명조" pitchFamily="18" charset="-127"/>
              </a:rPr>
              <a:t>정부가 직접규제를 통해 획일적인 배출기준을 적용할 경우 등한계원칙과 비용효과성을 얻을 수 없음</a:t>
            </a:r>
            <a:endParaRPr lang="en-US" altLang="ko-KR" sz="25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2" name="바닥글 개체 틀 4">
            <a:extLst>
              <a:ext uri="{FF2B5EF4-FFF2-40B4-BE49-F238E27FC236}">
                <a16:creationId xmlns:a16="http://schemas.microsoft.com/office/drawing/2014/main" id="{32CCC7FB-1DE7-40A1-A42A-E0575A71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7653" name="슬라이드 번호 개체 틀 5">
            <a:extLst>
              <a:ext uri="{FF2B5EF4-FFF2-40B4-BE49-F238E27FC236}">
                <a16:creationId xmlns:a16="http://schemas.microsoft.com/office/drawing/2014/main" id="{DB6D40F0-5E10-48E6-ABF7-D77A6B07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DF4DD7C-69A6-4547-B656-28C082239870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633FDCE0-ACED-49B5-AB05-9DB5C5B2B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24BA043D-C259-424A-9507-F06C9B82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176D6269-6E1E-4DD9-B064-4853D3ADF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203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획일적인 배출기준의 비효율성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C55120C3-1387-4D17-9D07-04DFB02D00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250" y="1714500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어떤 지역에 동질적 오염물질을 배출하는 두 오염원이 있고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줄이고자 하는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총배출량은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endParaRPr lang="ko-KR" altLang="en-US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전체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저감량을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최소비용으로 저감하기 위해서 두 오염원의 한계저감비용이 일치하도록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저감량을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결정하고</a:t>
            </a:r>
            <a:r>
              <a:rPr lang="en-US" altLang="ko-KR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 각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오염원에게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배출상한으로 부과해야 함</a:t>
            </a:r>
          </a:p>
          <a:p>
            <a:pPr eaLnBrk="1" hangingPunct="1"/>
            <a:endParaRPr lang="en-US" altLang="ko-KR" sz="25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4302EA4B-BCAC-4423-9DF3-9E6A5E2F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68E5E8CB-8A7A-48C2-900D-5684AA2E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AE576C9-4CC9-4282-A7AC-090FF92709E1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 dirty="0">
              <a:solidFill>
                <a:schemeClr val="tx1"/>
              </a:solidFill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7DF966B4-E9D2-424A-8552-03964DB5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3D859BBF-4AFC-462D-87DD-17A532BBE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8E8E0EA9-440B-4CE3-A737-200E4EC0D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-323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획일적인 배출기준의 비효율성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A0106C73-1ACB-4A19-A215-059A91C99A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250" y="1082675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오염원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에게는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저감하도록 하고 오염원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에게는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A-a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만큼을 저감하도록 할 때 전체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최소가 됨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최소화된 전체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저감비용은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색칠한 면적</a:t>
            </a: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정책당국이 개별 저감비용함수를 파악하지 못한 상태에서 획일적인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배출상한을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부여할 경우 비용효과성을 얻을 수 없음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700" name="바닥글 개체 틀 4">
            <a:extLst>
              <a:ext uri="{FF2B5EF4-FFF2-40B4-BE49-F238E27FC236}">
                <a16:creationId xmlns:a16="http://schemas.microsoft.com/office/drawing/2014/main" id="{5BC8087F-FC26-4A6D-AE8E-9733773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29701" name="슬라이드 번호 개체 틀 5">
            <a:extLst>
              <a:ext uri="{FF2B5EF4-FFF2-40B4-BE49-F238E27FC236}">
                <a16:creationId xmlns:a16="http://schemas.microsoft.com/office/drawing/2014/main" id="{4C034BCE-AFB4-4FBC-97FE-0936ABF0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F2D4097-DABC-4DEA-896F-CDA3998972E3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D562706A-B6D2-4989-94F8-2FBF5495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43106435-6C2A-42A7-9519-49DB095D4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9704" name="그림 7" descr="Cap 2014-06-19 09-42-06-548.png">
            <a:extLst>
              <a:ext uri="{FF2B5EF4-FFF2-40B4-BE49-F238E27FC236}">
                <a16:creationId xmlns:a16="http://schemas.microsoft.com/office/drawing/2014/main" id="{D08F40D0-DBA7-4CCE-8B69-964728471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109788"/>
            <a:ext cx="5711825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95AF9D84-8E2A-454A-AF21-6E857669E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획일적인 기술기준의 비효율성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51F3D156-9724-4BDE-A2F6-B36783E68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2675" y="1306513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기술기준을 사용한 직접규제 역시 비용효과성을 충족할 수 없음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오염원의 저감기술을 알지 못하여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차등화되지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않은 획일적인 기술기준이 적용되면 비용효과성은 충족되지 않음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직접규제가 비용효과성을 충족하지 못한다는 점은 경제적 유인을 이용한 환경정책에 비해 가지는 가장 큰 단점임</a:t>
            </a: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A17AAF0D-C4D6-4310-A0F7-EA9C7199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05BEE74A-1C16-4A6C-84F6-766F2572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AC2A8D3-CC2C-4BFC-9EEB-0C53A23DFB05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3375D62B-06E7-4EB8-9D80-808B611E2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9ABD7013-F499-4821-AA8E-7077E317B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8">
            <a:extLst>
              <a:ext uri="{FF2B5EF4-FFF2-40B4-BE49-F238E27FC236}">
                <a16:creationId xmlns:a16="http://schemas.microsoft.com/office/drawing/2014/main" id="{FB11F60F-94B6-4A74-B946-D4AB6813F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5388" y="341313"/>
            <a:ext cx="4572000" cy="61277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직접규제의 비효율성</a:t>
            </a:r>
            <a:endParaRPr lang="en-US" altLang="ko-KR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Rectangle 1029">
            <a:extLst>
              <a:ext uri="{FF2B5EF4-FFF2-40B4-BE49-F238E27FC236}">
                <a16:creationId xmlns:a16="http://schemas.microsoft.com/office/drawing/2014/main" id="{FF0436B4-C8CE-4289-BE95-6792E6022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136650"/>
            <a:ext cx="7515225" cy="5264150"/>
          </a:xfrm>
        </p:spPr>
        <p:txBody>
          <a:bodyPr/>
          <a:lstStyle/>
          <a:p>
            <a:pPr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하의 저감비용이 비용효과적인 저감비용에 비해 어느 정도로 과다한지를 확인한 연구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세스킨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1983)</a:t>
            </a: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한편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직접규제의 비효율성을 위의 절차처럼 분석하는 연구관행을 비판하는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오우츠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(Oates et al., 1989)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연구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400" dirty="0" err="1">
                <a:latin typeface="나눔명조" pitchFamily="18" charset="-127"/>
                <a:ea typeface="나눔명조" pitchFamily="18" charset="-127"/>
              </a:rPr>
              <a:t>직접규제를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 실시할 경우 정부는 대개 목표로 하고 있는 </a:t>
            </a:r>
            <a:r>
              <a:rPr lang="ko-KR" altLang="en-US" sz="1400" dirty="0" err="1">
                <a:latin typeface="나눔명조" pitchFamily="18" charset="-127"/>
                <a:ea typeface="나눔명조" pitchFamily="18" charset="-127"/>
              </a:rPr>
              <a:t>환경질을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400" dirty="0" err="1">
                <a:latin typeface="나눔명조" pitchFamily="18" charset="-127"/>
                <a:ea typeface="나눔명조" pitchFamily="18" charset="-127"/>
              </a:rPr>
              <a:t>초과달성함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목표오염도를 달성하기가 가장 어려운 지점에서도 목표를 달성할 수 있는 정도의 강한 기술기준을 적용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직접규제가 동일한 오염도기준을 목표로 해도 그 속성상 </a:t>
            </a:r>
            <a:r>
              <a:rPr lang="ko-KR" altLang="en-US" sz="1400" dirty="0" err="1">
                <a:latin typeface="나눔명조" pitchFamily="18" charset="-127"/>
                <a:ea typeface="나눔명조" pitchFamily="18" charset="-127"/>
              </a:rPr>
              <a:t>비용효과적인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 제도보다 더 높은 환경질을 실제로 획득하게 된다면</a:t>
            </a:r>
            <a:r>
              <a:rPr lang="en-US" altLang="ko-KR" sz="1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400" dirty="0">
                <a:latin typeface="나눔명조" pitchFamily="18" charset="-127"/>
                <a:ea typeface="나눔명조" pitchFamily="18" charset="-127"/>
              </a:rPr>
              <a:t>이로 인해 줄어든 사회적 피해금액을 직접규제의 전체 저감비용에서 빼 주어야 진정한 직접규제 비용을 구할 수 있음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6084" name="바닥글 개체 틀 4">
            <a:extLst>
              <a:ext uri="{FF2B5EF4-FFF2-40B4-BE49-F238E27FC236}">
                <a16:creationId xmlns:a16="http://schemas.microsoft.com/office/drawing/2014/main" id="{4F45F571-5837-44DA-9CA5-37871CAE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12E97E12-FDC3-4D3D-974A-783B4FF1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48864A-7EE5-4593-8321-3D084ADAF426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E4456F11-E163-441F-BA28-12D7D6585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6087" name="그림 7" descr="Cap 2014-06-19 09-42-17-454.png">
            <a:extLst>
              <a:ext uri="{FF2B5EF4-FFF2-40B4-BE49-F238E27FC236}">
                <a16:creationId xmlns:a16="http://schemas.microsoft.com/office/drawing/2014/main" id="{1BB19241-0FF5-4D20-ACD7-639000580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1981200"/>
            <a:ext cx="557053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8">
            <a:extLst>
              <a:ext uri="{FF2B5EF4-FFF2-40B4-BE49-F238E27FC236}">
                <a16:creationId xmlns:a16="http://schemas.microsoft.com/office/drawing/2014/main" id="{70C1CC49-DCB5-44BE-8567-38739F105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5388" y="341313"/>
            <a:ext cx="4572000" cy="61277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직접규제의 비효율성</a:t>
            </a:r>
            <a:endParaRPr lang="en-US" altLang="ko-KR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Rectangle 1029">
            <a:extLst>
              <a:ext uri="{FF2B5EF4-FFF2-40B4-BE49-F238E27FC236}">
                <a16:creationId xmlns:a16="http://schemas.microsoft.com/office/drawing/2014/main" id="{D313F1EE-3CD1-4C7F-907F-2D839A1DD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136650"/>
            <a:ext cx="7515225" cy="526415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오우츠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외는 앞의 가설 하에 미국 볼티모어지역에서의 먼지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배출문제를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분석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모형 실험 결과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직접규제에서는 실제로 상당 수 측정지점에서 목표오염도가 초과달성됨을 확인함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또한 실제 달성 오염도 차이까지 반영하면 기술기준을 적용했을 때의 정책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순편익이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이론적인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비용효과적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정책의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거의 비슷한 수준임을 확인함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이처럼 동일한 목표오염도가 설정되어도 실제 달성하는 오염도가 두 가지 유형의 정책에서 서로 다르다면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사회적 최적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오염도기준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자체가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직접규제와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경제적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유인제도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중 무엇을 적용하느냐에 따라 달라질 필요가 있음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D4102AB3-7A65-4F68-A371-5057D2F3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EDD50022-FC03-4938-A4EB-B587FC93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4ADF6C-837A-402E-89FA-372F15D7FF9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742BC643-0699-4350-87B0-BABD031A6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1029">
            <a:extLst>
              <a:ext uri="{FF2B5EF4-FFF2-40B4-BE49-F238E27FC236}">
                <a16:creationId xmlns:a16="http://schemas.microsoft.com/office/drawing/2014/main" id="{3E792E08-72A2-492E-9253-7004ABBC1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136650"/>
            <a:ext cx="7515225" cy="5264150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각 오염원은 전체 공정에서 여러 종류의 오염물질을 배출함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수질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토양 등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여러 종류의 오염물질을 통합하여 관리하기 위해 한국정부는  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『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통합환경허가제도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  <a:cs typeface="Times New Roman" panose="02020603050405020304" pitchFamily="18" charset="0"/>
              </a:rPr>
              <a:t>』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도입하고 있으며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여기에 적용되는 배출기준 산정에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최적가용기법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연계배출수준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(Best Available Techniques Associated Emission Levels, BAT-AEL)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중요하게 작용함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BAT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기술적으로 효율적이면서 경제적으로도 우수한 생산 및 저감기법을 의미하며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이에 대한 기준서가 마련됨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기준서는 업종별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발전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소각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철강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비철금속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유기화학 등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마련되며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환경전문가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산업계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/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공정전문가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공무원이 참여하는 기술작업반이 작성하고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약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5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주기로 수정함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신청된 사업허가는 이 기준서를 기준으로 허가여부 결정됨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AEL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BAT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적용하여 정상 운전할 때 발생할 수 있는 오염물질 농도의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하한값과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상한값을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의미함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AEL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상한값이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배출기준 및 사업장별 허가기준의 가이드라인으로 작용함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8372" name="바닥글 개체 틀 4">
            <a:extLst>
              <a:ext uri="{FF2B5EF4-FFF2-40B4-BE49-F238E27FC236}">
                <a16:creationId xmlns:a16="http://schemas.microsoft.com/office/drawing/2014/main" id="{C0D828B5-7A0E-49BB-A115-2983612A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58373" name="슬라이드 번호 개체 틀 5">
            <a:extLst>
              <a:ext uri="{FF2B5EF4-FFF2-40B4-BE49-F238E27FC236}">
                <a16:creationId xmlns:a16="http://schemas.microsoft.com/office/drawing/2014/main" id="{ADF8F2F1-3DF1-4A8C-8AD7-0C9EA9ED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424DEA-5405-498A-81A8-BD991AF19FF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7B776351-789F-4865-B12B-BC883BC4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DA862845-0809-4EA9-BA73-78D48ADB1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078" y="303213"/>
            <a:ext cx="7327640" cy="612775"/>
          </a:xfrm>
          <a:prstGeom prst="rect">
            <a:avLst/>
          </a:prstGeom>
          <a:noFill/>
          <a:ln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 dirty="0" err="1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최적가용기법</a:t>
            </a:r>
            <a:r>
              <a:rPr lang="ko-KR" altLang="en-US" kern="0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 연계배출</a:t>
            </a:r>
            <a:r>
              <a:rPr lang="en-US" altLang="ko-KR" kern="0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kern="0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한국의 배출기준</a:t>
            </a:r>
          </a:p>
        </p:txBody>
      </p:sp>
    </p:spTree>
    <p:extLst>
      <p:ext uri="{BB962C8B-B14F-4D97-AF65-F5344CB8AC3E}">
        <p14:creationId xmlns:p14="http://schemas.microsoft.com/office/powerpoint/2010/main" val="810978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6A35EEF4-B76F-4A08-A891-B2F49D1F5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0162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직접규제와 기술혁신 유인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8DAB6AA5-5C44-41F8-BB2D-4B76E9181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688" y="1743075"/>
            <a:ext cx="7558087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기술기준을 사용하여 환경오염을 규제할 경우에는 기술혁신 유인이 전혀 제공되지 않음</a:t>
            </a: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기술기준 하에서 각 오염원은 정부가 정한 생산기술이나 저감기술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저감과정 등을 반드시 거쳐야 하기 때문임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배출기준을 사용할 경우 배출하는 오염물질의 양만이 문제가 되지 배출방법은 규제되지 않아 어느 정도의 기술혁신 유인이 발생함</a:t>
            </a: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그러나 이 경우도 경제적 유인제도들에 비해서는 더 적은 기술혁신 유인이 제공됨</a:t>
            </a:r>
          </a:p>
          <a:p>
            <a:pPr eaLnBrk="1" hangingPunct="1"/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54677FA9-9368-4385-9ED3-407B77DF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255C671F-2791-4DA9-AAAB-1CE9F2F7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EE81FF2-5687-4DE1-AA9E-4E767BB23D50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39E258E4-58B9-43E4-8DA8-59A59541B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3870F4AD-1B2D-4E73-A4D9-39D3D708D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30">
            <a:extLst>
              <a:ext uri="{FF2B5EF4-FFF2-40B4-BE49-F238E27FC236}">
                <a16:creationId xmlns:a16="http://schemas.microsoft.com/office/drawing/2014/main" id="{30E8E885-26E5-4166-8C79-12C26B9B4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0163" y="21113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배출기준의 기술혁신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바닥글 개체 틀 4">
            <a:extLst>
              <a:ext uri="{FF2B5EF4-FFF2-40B4-BE49-F238E27FC236}">
                <a16:creationId xmlns:a16="http://schemas.microsoft.com/office/drawing/2014/main" id="{340F253F-E0C0-47FB-9B29-556138BF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2772" name="슬라이드 번호 개체 틀 5">
            <a:extLst>
              <a:ext uri="{FF2B5EF4-FFF2-40B4-BE49-F238E27FC236}">
                <a16:creationId xmlns:a16="http://schemas.microsoft.com/office/drawing/2014/main" id="{14EDEA68-819C-4485-BB12-369539C6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2224F1C-74A0-4CEF-83D4-374E17AC16D4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3" name="Rectangle 1026">
            <a:extLst>
              <a:ext uri="{FF2B5EF4-FFF2-40B4-BE49-F238E27FC236}">
                <a16:creationId xmlns:a16="http://schemas.microsoft.com/office/drawing/2014/main" id="{3C879946-A219-47E4-8E73-97ED5006B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Rectangle 1027">
            <a:extLst>
              <a:ext uri="{FF2B5EF4-FFF2-40B4-BE49-F238E27FC236}">
                <a16:creationId xmlns:a16="http://schemas.microsoft.com/office/drawing/2014/main" id="{602D1F16-9F07-43A1-BBDD-7B4C8DAD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32775" name="그림 8" descr="Cap 2014-06-19 09-42-27-776.png">
            <a:extLst>
              <a:ext uri="{FF2B5EF4-FFF2-40B4-BE49-F238E27FC236}">
                <a16:creationId xmlns:a16="http://schemas.microsoft.com/office/drawing/2014/main" id="{8CCC5BE7-D313-43EE-A88B-C107C0CF5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1517650"/>
            <a:ext cx="8201025" cy="470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0">
            <a:extLst>
              <a:ext uri="{FF2B5EF4-FFF2-40B4-BE49-F238E27FC236}">
                <a16:creationId xmlns:a16="http://schemas.microsoft.com/office/drawing/2014/main" id="{3787AC7C-D8D2-411E-8612-EF005DE60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0163" y="-127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배출기준의 기술혁신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Rectangle 1031">
            <a:extLst>
              <a:ext uri="{FF2B5EF4-FFF2-40B4-BE49-F238E27FC236}">
                <a16:creationId xmlns:a16="http://schemas.microsoft.com/office/drawing/2014/main" id="{525F8D10-E8FD-4763-A31B-1D70ADEC5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7588" y="1320800"/>
            <a:ext cx="7423150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배출기준이 고정된 상태일 때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어떤 오염원의 최초의 한계저감비용곡선은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이고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최초의 배출기준은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저감기술의 혁신으로 한계저감비용이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하향 이동하면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오염원의 총저감비용은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줄어들어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기술혁신의 이득이 생김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기술혁신의 결과 배출상한이 낮아지는 경우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새로운 한계저감비용곡선에서는 최적 배출량이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이므로 기술혁신 후 정부가 배출상한을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줄일 것이라 가정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경우 오염원이 기술혁신을 이루면 총저감비용은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b+c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변하여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기술혁신으로 인해 절감되는 저감비용은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a-c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됨</a:t>
            </a:r>
          </a:p>
          <a:p>
            <a:pPr lvl="1" eaLnBrk="1" hangingPunct="1"/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배출기준의 강화로 기술혁신의 유인이 사라질 수 있음</a:t>
            </a:r>
          </a:p>
        </p:txBody>
      </p:sp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F2EF7A5A-DC98-4DA0-9235-25F75CF6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8F531FA9-DCDC-4C52-B583-73244764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E4B25E8-8889-4041-BD5E-BA2C512E346B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8" name="Rectangle 1026">
            <a:extLst>
              <a:ext uri="{FF2B5EF4-FFF2-40B4-BE49-F238E27FC236}">
                <a16:creationId xmlns:a16="http://schemas.microsoft.com/office/drawing/2014/main" id="{89A24654-88B3-48CE-BCE2-675CCDC6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9" name="Rectangle 1027">
            <a:extLst>
              <a:ext uri="{FF2B5EF4-FFF2-40B4-BE49-F238E27FC236}">
                <a16:creationId xmlns:a16="http://schemas.microsoft.com/office/drawing/2014/main" id="{D40FF8C3-CA6E-4177-8F0D-BDAD0C9D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30">
            <a:extLst>
              <a:ext uri="{FF2B5EF4-FFF2-40B4-BE49-F238E27FC236}">
                <a16:creationId xmlns:a16="http://schemas.microsoft.com/office/drawing/2014/main" id="{FDC9D741-99BE-4446-9AE7-83699C125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53498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기술강제원칙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(technology forcing principle)</a:t>
            </a:r>
          </a:p>
        </p:txBody>
      </p:sp>
      <p:sp>
        <p:nvSpPr>
          <p:cNvPr id="34819" name="Rectangle 1031">
            <a:extLst>
              <a:ext uri="{FF2B5EF4-FFF2-40B4-BE49-F238E27FC236}">
                <a16:creationId xmlns:a16="http://schemas.microsoft.com/office/drawing/2014/main" id="{1CBE5661-D5A4-4B97-AC24-24C17B90F4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968500"/>
            <a:ext cx="7423150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기술강제원칙은 필요 이상으로 강한 환경기준을 설정하면  오염원이 저감비용 부담을 줄이고자 기술혁신에 힘쓰게 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결과 사회 전체의 저감비용이 감소되면서 장기적으로는 사회적 편익이 증대된다는 논리임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한계저감비용이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임에도 불구하고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배출만을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허용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최초의 기술수준에서는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a+b+c+d+e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저감비용이 소요되지만 기술혁신이 발생할 경우 저감비용이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b+c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대폭 줄어들게 되어 기술혁신의 유인이 커짐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기술강제원칙의 부작용</a:t>
            </a:r>
            <a:endParaRPr lang="en-US" altLang="ko-KR" sz="20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지나치게 강한 환경기준이 설정될 경우 오염원은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정책도입을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 저지하거나 보다 완화된 정책도입을 위해 노력</a:t>
            </a:r>
            <a:endParaRPr lang="en-US" altLang="ko-KR" sz="18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이 과정에서 상당한 정책적 불안정성과 사회적 손실이 발생</a:t>
            </a:r>
            <a:endParaRPr lang="en-US" altLang="ko-KR" sz="18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87F0508E-A6CA-4A44-8E55-F000CE87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02193830-DB73-415E-8062-86955A60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DD02881-A969-490D-BD25-D9B3A94C0B33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2" name="Rectangle 1026">
            <a:extLst>
              <a:ext uri="{FF2B5EF4-FFF2-40B4-BE49-F238E27FC236}">
                <a16:creationId xmlns:a16="http://schemas.microsoft.com/office/drawing/2014/main" id="{D21C87F4-CD60-429E-B2F3-DB2F85B84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3" name="Rectangle 1027">
            <a:extLst>
              <a:ext uri="{FF2B5EF4-FFF2-40B4-BE49-F238E27FC236}">
                <a16:creationId xmlns:a16="http://schemas.microsoft.com/office/drawing/2014/main" id="{CC79936E-00DE-4BC5-B00C-2B0412D48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30">
            <a:extLst>
              <a:ext uri="{FF2B5EF4-FFF2-40B4-BE49-F238E27FC236}">
                <a16:creationId xmlns:a16="http://schemas.microsoft.com/office/drawing/2014/main" id="{358D5CC3-9CA3-4BCB-AA7E-DF80D87F1D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01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정부 정책과 환경기술산업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3" name="Rectangle 1031">
            <a:extLst>
              <a:ext uri="{FF2B5EF4-FFF2-40B4-BE49-F238E27FC236}">
                <a16:creationId xmlns:a16="http://schemas.microsoft.com/office/drawing/2014/main" id="{637511D5-7E11-4E72-81C2-2B973BB0B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827213"/>
            <a:ext cx="7437438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저감기술의 개발은 오염원 자신이 아니라 이 기술을 개발하여 공급하는 것을 사업대상으로 하는 환경기술기업에 의해 이루어질 수도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기술기준규제를 사용하면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환경기술기업이 저감기술을 개발해도 정부 기준이 바뀌지 않는 한 이를 오염원들이 구입할 이유가 없으므로 기술기준은 환경기술기업의 설립 자체를 막을 수도 있음</a:t>
            </a:r>
            <a:endParaRPr lang="en-US" altLang="ko-KR" sz="16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반면 배출기준이 사용되고 있을 경우에는 환경기술기업이 개발한 기술을 오염원이 구입하여 </a:t>
            </a:r>
            <a:r>
              <a:rPr lang="ko-KR" altLang="en-US" sz="2200" dirty="0" err="1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저감비용을</a:t>
            </a:r>
            <a:r>
              <a:rPr lang="ko-KR" altLang="en-US" sz="22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 줄일 인센티브를 가짐</a:t>
            </a:r>
            <a:endParaRPr lang="en-US" altLang="ko-KR" sz="2200" dirty="0">
              <a:solidFill>
                <a:srgbClr val="000000"/>
              </a:solidFill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6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정부의 배출량 규제가 강할수록 새로운 기술도입으로 인한 저감비용 절감효과가 커지게 되고</a:t>
            </a:r>
            <a:r>
              <a:rPr lang="en-US" altLang="ko-KR" sz="16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오염원의 새로운 기술에 대한 수요가 커지게 되며</a:t>
            </a:r>
            <a:r>
              <a:rPr lang="en-US" altLang="ko-KR" sz="16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나눔명조" pitchFamily="18" charset="-127"/>
                <a:ea typeface="나눔명조" pitchFamily="18" charset="-127"/>
                <a:cs typeface="Times New Roman" panose="02020603050405020304" pitchFamily="18" charset="0"/>
              </a:rPr>
              <a:t>따라서 환경기술기업의 투자 역시 커지게 됨</a:t>
            </a:r>
          </a:p>
        </p:txBody>
      </p:sp>
      <p:sp>
        <p:nvSpPr>
          <p:cNvPr id="35844" name="바닥글 개체 틀 4">
            <a:extLst>
              <a:ext uri="{FF2B5EF4-FFF2-40B4-BE49-F238E27FC236}">
                <a16:creationId xmlns:a16="http://schemas.microsoft.com/office/drawing/2014/main" id="{3125359B-CC2C-41DC-B199-133F68A7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5845" name="슬라이드 번호 개체 틀 5">
            <a:extLst>
              <a:ext uri="{FF2B5EF4-FFF2-40B4-BE49-F238E27FC236}">
                <a16:creationId xmlns:a16="http://schemas.microsoft.com/office/drawing/2014/main" id="{5B3E89CE-8485-45FB-BBC8-E8F69835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617E7DF-BF1B-45FC-99A6-448634ED6D51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6" name="Rectangle 1026">
            <a:extLst>
              <a:ext uri="{FF2B5EF4-FFF2-40B4-BE49-F238E27FC236}">
                <a16:creationId xmlns:a16="http://schemas.microsoft.com/office/drawing/2014/main" id="{3E5161BE-50A7-47E5-A1BD-8123028B7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7" name="Rectangle 1027">
            <a:extLst>
              <a:ext uri="{FF2B5EF4-FFF2-40B4-BE49-F238E27FC236}">
                <a16:creationId xmlns:a16="http://schemas.microsoft.com/office/drawing/2014/main" id="{7A38309C-FD6A-482B-A504-6BFDD6EF3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8">
            <a:extLst>
              <a:ext uri="{FF2B5EF4-FFF2-40B4-BE49-F238E27FC236}">
                <a16:creationId xmlns:a16="http://schemas.microsoft.com/office/drawing/2014/main" id="{E36F21AE-DC77-46BF-A732-A36C7A69E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000" y="303213"/>
            <a:ext cx="8604000" cy="61277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기술강제와 미국의 자동차 배기가스 규제</a:t>
            </a:r>
          </a:p>
        </p:txBody>
      </p:sp>
      <p:sp>
        <p:nvSpPr>
          <p:cNvPr id="58371" name="Rectangle 1029">
            <a:extLst>
              <a:ext uri="{FF2B5EF4-FFF2-40B4-BE49-F238E27FC236}">
                <a16:creationId xmlns:a16="http://schemas.microsoft.com/office/drawing/2014/main" id="{3E792E08-72A2-492E-9253-7004ABBC1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136650"/>
            <a:ext cx="7515225" cy="5264150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기술강제원칙은 현 기술로는 적용불가능하거나 큰 비용이 드는 저감 대책을 도입하게 하므로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생산자들이 강한 규제에 적응이 가능할 정도로 기술혁신에 투자하게 해야 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 의지가 확고하여 향후 규제가 흐지부지 될 가능성이 없음을 인식시켜야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생산자 간 경쟁 때문에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R&amp;D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투자하지 않을 경우 시장을 잃게 될 것을 염려하는 상황이 형성 되어야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1970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년대 미국 자동차산업의 배기가스관련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사례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미국 의회는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1970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</a:t>
            </a:r>
            <a:r>
              <a:rPr lang="ko-KR" altLang="en-US" sz="1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대기보전법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(Clean Air Act)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통해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1975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신차의 대당 탄화수소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(HC)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일산화탄소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(CO)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배출량은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1970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배출량에서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90%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삭감하고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1976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 신차부터는 질소산화물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(NOx)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배출량도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90%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줄이도록 강제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자동차회사들은 연소촉매장치를 장착하는 기술을 도입하지만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강력한 </a:t>
            </a:r>
            <a:r>
              <a:rPr lang="ko-KR" altLang="en-US" sz="1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기술강제에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법률적 대응을 하기도 하였고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실제 기준의 적용이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1980, 81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년으로 미루어 짐 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년간 노력과 분쟁 끝에 세 가지 오염물질 배출량 모두 줄어드는 성과를 거둠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</a:t>
            </a:r>
            <a:r>
              <a:rPr lang="ko-KR" altLang="en-US" sz="1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기술강제가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유류세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부과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배기가스에 대한 엄격한 검사와 유지관리 시스템 도입과 같은 일반적인 환경정책보다 더 적은 비용으로 그러한 성과를 달성했는지 의문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당시 수송부문 대기오염 규제 비용이 편익의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배에 달할 정도로 정책이 비효율적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기술강제는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GM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 포드에 비해 저감기술 개발이 뒤쳐졌던 크라이슬러 자동차가 시장에서 크게 위축되고</a:t>
            </a:r>
            <a:r>
              <a:rPr lang="en-US" altLang="ko-KR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상대적으로 배출량이 적었던 일본 자동차의 미국 시장 점유율을 높이는 계기로도 작용함</a:t>
            </a:r>
            <a:endParaRPr lang="en-US" altLang="ko-KR" sz="1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8372" name="바닥글 개체 틀 4">
            <a:extLst>
              <a:ext uri="{FF2B5EF4-FFF2-40B4-BE49-F238E27FC236}">
                <a16:creationId xmlns:a16="http://schemas.microsoft.com/office/drawing/2014/main" id="{C0D828B5-7A0E-49BB-A115-2983612A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58373" name="슬라이드 번호 개체 틀 5">
            <a:extLst>
              <a:ext uri="{FF2B5EF4-FFF2-40B4-BE49-F238E27FC236}">
                <a16:creationId xmlns:a16="http://schemas.microsoft.com/office/drawing/2014/main" id="{ADF8F2F1-3DF1-4A8C-8AD7-0C9EA9ED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424DEA-5405-498A-81A8-BD991AF19FF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7B776351-789F-4865-B12B-BC883BC4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0">
            <a:extLst>
              <a:ext uri="{FF2B5EF4-FFF2-40B4-BE49-F238E27FC236}">
                <a16:creationId xmlns:a16="http://schemas.microsoft.com/office/drawing/2014/main" id="{2983DE88-585E-4D73-A203-D6F0C3A5B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정책집행의 용이성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1031">
            <a:extLst>
              <a:ext uri="{FF2B5EF4-FFF2-40B4-BE49-F238E27FC236}">
                <a16:creationId xmlns:a16="http://schemas.microsoft.com/office/drawing/2014/main" id="{EC3B4DC9-2428-45C3-995A-1D0605C21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49375"/>
            <a:ext cx="7704138" cy="4114800"/>
          </a:xfrm>
        </p:spPr>
        <p:txBody>
          <a:bodyPr/>
          <a:lstStyle/>
          <a:p>
            <a:pPr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직접규제는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효율성이나 신축성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기술혁신을 자극하는 면에서 많은 단점을 지니고 있음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경제적 유인을 이용한 제도에 비해 가지는 장점도 있어 이론적 결함에도 불구하고 현실적으로 가장 많이 선택되어 사용되고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규제를 실제로 집행하는 데 소요되는 비용이 적음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오염원의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측면에서 불리하더라도 정책집행비용을 절감하는 장점을 가진다면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직접규제가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우월한 정책이 될 수도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정책을 집행하는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행정당국에게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많은 신축성과 재량권이 부여됨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정책당국이 많은 재량권을 가지기 때문에 환경기준을 정하여 이를 일률적으로 모든 오염원에 대해 적용할 수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914400" lvl="2" indent="0" eaLnBrk="1" hangingPunct="1">
              <a:buNone/>
            </a:pP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C3D4A79D-887C-4E86-9BD0-54BFAEB0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E174BA81-CA2F-47F2-8492-3EC8BE26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1C61D97-527E-4444-A671-60E72F488485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70" name="Rectangle 1026">
            <a:extLst>
              <a:ext uri="{FF2B5EF4-FFF2-40B4-BE49-F238E27FC236}">
                <a16:creationId xmlns:a16="http://schemas.microsoft.com/office/drawing/2014/main" id="{943DC124-5FFE-43E7-B992-75747D89E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1027">
            <a:extLst>
              <a:ext uri="{FF2B5EF4-FFF2-40B4-BE49-F238E27FC236}">
                <a16:creationId xmlns:a16="http://schemas.microsoft.com/office/drawing/2014/main" id="{28E44EBF-5F00-49C1-9164-B2661E3B9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30">
            <a:extLst>
              <a:ext uri="{FF2B5EF4-FFF2-40B4-BE49-F238E27FC236}">
                <a16:creationId xmlns:a16="http://schemas.microsoft.com/office/drawing/2014/main" id="{621AB509-B333-4502-A82A-8FF2960A2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825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정책집행의 용이성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7891" name="Rectangle 1031">
            <a:extLst>
              <a:ext uri="{FF2B5EF4-FFF2-40B4-BE49-F238E27FC236}">
                <a16:creationId xmlns:a16="http://schemas.microsoft.com/office/drawing/2014/main" id="{DC849C56-7C39-4227-AE26-79EB7CA5F2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7588" y="2136775"/>
            <a:ext cx="7704137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그러나 각종 과학기술이 발달하고 환경정책에 관한 연구 및 정책 경험이 축적되면서 정책집행비용이 절감되고 있으므로 직접규제가 가지는 정책 편의성의 장점은 시간이 지나면서 점차 줄어들 것으로 예상됨</a:t>
            </a:r>
          </a:p>
        </p:txBody>
      </p:sp>
      <p:sp>
        <p:nvSpPr>
          <p:cNvPr id="37892" name="바닥글 개체 틀 4">
            <a:extLst>
              <a:ext uri="{FF2B5EF4-FFF2-40B4-BE49-F238E27FC236}">
                <a16:creationId xmlns:a16="http://schemas.microsoft.com/office/drawing/2014/main" id="{32A8BA14-104C-4739-83B2-7599E3E8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7893" name="슬라이드 번호 개체 틀 5">
            <a:extLst>
              <a:ext uri="{FF2B5EF4-FFF2-40B4-BE49-F238E27FC236}">
                <a16:creationId xmlns:a16="http://schemas.microsoft.com/office/drawing/2014/main" id="{537EAAFE-ABAE-4F03-A0F8-7CB5DEC8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28902CB-61FF-475F-A19F-976D067D960C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4" name="Rectangle 1026">
            <a:extLst>
              <a:ext uri="{FF2B5EF4-FFF2-40B4-BE49-F238E27FC236}">
                <a16:creationId xmlns:a16="http://schemas.microsoft.com/office/drawing/2014/main" id="{2F906A4F-D640-46FB-88E7-DD2445D48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5" name="Rectangle 1027">
            <a:extLst>
              <a:ext uri="{FF2B5EF4-FFF2-40B4-BE49-F238E27FC236}">
                <a16:creationId xmlns:a16="http://schemas.microsoft.com/office/drawing/2014/main" id="{4F1E6F18-A7F7-4FB6-93C1-C7E9C1D2E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Rectangle 1029">
                <a:extLst>
                  <a:ext uri="{FF2B5EF4-FFF2-40B4-BE49-F238E27FC236}">
                    <a16:creationId xmlns:a16="http://schemas.microsoft.com/office/drawing/2014/main" id="{3E792E08-72A2-492E-9253-7004ABBC188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0125" y="1136650"/>
                <a:ext cx="7515225" cy="526415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환경정책의 집행비용은 정책관련 거래비용의 일부를 이룸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환경정책의 환경개선 편익 및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저감비용과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더불어 거래비용까지도 감안해야 적절한 정책 형태와 수준을 결정할 수 있음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경제적 유인을 사용하는 제도는 직접규제에 비해 동일한 오염저감을 위해 필요한 저감비용을 많이 줄여줄 수 있음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180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저감비용은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경제적 유인제도를 사용하는 정도가 클수록 감소하지만 반대로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거래비용은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정밀한 경제적 유인제도를 사용할수록 대체로 증가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정책으로 인한 저감비용과 거래비용을 합한 총비용이 최소가 되는 지점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g</m:t>
                        </m:r>
                      </m:e>
                      <m:sup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해당 정책의 사회적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최적점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 비용효과성 측면에서 직접규제는 매우 열등한 정책이 되지만 거래비용까지 감안할 경우 반드시 경제적 유인에만 의존하는 정책이 선택되지는 않고 오히려 직접규제에 가까운 정책이 선택될 수도 있음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371" name="Rectangle 1029">
                <a:extLst>
                  <a:ext uri="{FF2B5EF4-FFF2-40B4-BE49-F238E27FC236}">
                    <a16:creationId xmlns:a16="http://schemas.microsoft.com/office/drawing/2014/main" id="{3E792E08-72A2-492E-9253-7004ABBC1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0125" y="1136650"/>
                <a:ext cx="7515225" cy="5264150"/>
              </a:xfrm>
              <a:blipFill>
                <a:blip r:embed="rId2"/>
                <a:stretch>
                  <a:fillRect l="-487" t="-8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2" name="바닥글 개체 틀 4">
            <a:extLst>
              <a:ext uri="{FF2B5EF4-FFF2-40B4-BE49-F238E27FC236}">
                <a16:creationId xmlns:a16="http://schemas.microsoft.com/office/drawing/2014/main" id="{C0D828B5-7A0E-49BB-A115-2983612A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58373" name="슬라이드 번호 개체 틀 5">
            <a:extLst>
              <a:ext uri="{FF2B5EF4-FFF2-40B4-BE49-F238E27FC236}">
                <a16:creationId xmlns:a16="http://schemas.microsoft.com/office/drawing/2014/main" id="{ADF8F2F1-3DF1-4A8C-8AD7-0C9EA9ED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424DEA-5405-498A-81A8-BD991AF19FF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7B776351-789F-4865-B12B-BC883BC4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" name="Rectangle 1028">
            <a:extLst>
              <a:ext uri="{FF2B5EF4-FFF2-40B4-BE49-F238E27FC236}">
                <a16:creationId xmlns:a16="http://schemas.microsoft.com/office/drawing/2014/main" id="{DA862845-0809-4EA9-BA73-78D48ADB1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7" y="303213"/>
            <a:ext cx="5616000" cy="612775"/>
          </a:xfrm>
          <a:prstGeom prst="rect">
            <a:avLst/>
          </a:prstGeom>
          <a:noFill/>
          <a:ln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거래비용과 환경정책 선택</a:t>
            </a:r>
          </a:p>
        </p:txBody>
      </p:sp>
    </p:spTree>
    <p:extLst>
      <p:ext uri="{BB962C8B-B14F-4D97-AF65-F5344CB8AC3E}">
        <p14:creationId xmlns:p14="http://schemas.microsoft.com/office/powerpoint/2010/main" val="1852636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8">
            <a:extLst>
              <a:ext uri="{FF2B5EF4-FFF2-40B4-BE49-F238E27FC236}">
                <a16:creationId xmlns:a16="http://schemas.microsoft.com/office/drawing/2014/main" id="{AB6AEE44-7204-477D-ACF5-D81FA2ED8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7" y="303213"/>
            <a:ext cx="5616000" cy="61277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거래비용과 환경정책 선택</a:t>
            </a:r>
          </a:p>
        </p:txBody>
      </p:sp>
      <p:sp>
        <p:nvSpPr>
          <p:cNvPr id="64515" name="바닥글 개체 틀 4">
            <a:extLst>
              <a:ext uri="{FF2B5EF4-FFF2-40B4-BE49-F238E27FC236}">
                <a16:creationId xmlns:a16="http://schemas.microsoft.com/office/drawing/2014/main" id="{3D3153EB-78F1-41A5-A6BE-5BF7FFC1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64516" name="슬라이드 번호 개체 틀 5">
            <a:extLst>
              <a:ext uri="{FF2B5EF4-FFF2-40B4-BE49-F238E27FC236}">
                <a16:creationId xmlns:a16="http://schemas.microsoft.com/office/drawing/2014/main" id="{AEC504B3-4B32-4B75-9885-204F4A71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783640-3325-4D38-A91C-75D72D908EC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1DC0C4D1-5009-44DD-AF29-921224BDD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64518" name="_x314061952">
            <a:extLst>
              <a:ext uri="{FF2B5EF4-FFF2-40B4-BE49-F238E27FC236}">
                <a16:creationId xmlns:a16="http://schemas.microsoft.com/office/drawing/2014/main" id="{1A09038C-195D-4F26-8E8B-A5B326F18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7" y="1544637"/>
            <a:ext cx="6042025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1978</Words>
  <Application>Microsoft Office PowerPoint</Application>
  <PresentationFormat>화면 슬라이드 쇼(4:3)</PresentationFormat>
  <Paragraphs>264</Paragraphs>
  <Slides>31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6장 개요</vt:lpstr>
      <vt:lpstr> 직접규제</vt:lpstr>
      <vt:lpstr> 환경기준</vt:lpstr>
      <vt:lpstr>배출기준(emission standards)</vt:lpstr>
      <vt:lpstr>오염도기준(ambient standards)</vt:lpstr>
      <vt:lpstr>배출기준을 매개로 하여 오염도기준을 실행하는 경우</vt:lpstr>
      <vt:lpstr>배출기준을 매개로 하여 오염도기준을 실행하는 경우</vt:lpstr>
      <vt:lpstr>동질적 오염물질과 이질적 오염물질</vt:lpstr>
      <vt:lpstr>다수 측정지점의 오염도 결정</vt:lpstr>
      <vt:lpstr>기술기준 (technology standards)</vt:lpstr>
      <vt:lpstr>직접규제의 경제적 비효율성</vt:lpstr>
      <vt:lpstr>기준의 설정</vt:lpstr>
      <vt:lpstr>기준의 설정</vt:lpstr>
      <vt:lpstr>환경기준의 획일성과 비효율성</vt:lpstr>
      <vt:lpstr>환경기준의 획일성과 비효율성</vt:lpstr>
      <vt:lpstr>획일적인 배출기준의 비효율성</vt:lpstr>
      <vt:lpstr>획일적인 배출기준의 비효율성</vt:lpstr>
      <vt:lpstr>획일적인 기술기준의 비효율성</vt:lpstr>
      <vt:lpstr>직접규제의 비효율성</vt:lpstr>
      <vt:lpstr>직접규제의 비효율성</vt:lpstr>
      <vt:lpstr>PowerPoint 프레젠테이션</vt:lpstr>
      <vt:lpstr>직접규제와 기술혁신 유인</vt:lpstr>
      <vt:lpstr>배출기준의 기술혁신</vt:lpstr>
      <vt:lpstr>배출기준의 기술혁신</vt:lpstr>
      <vt:lpstr>기술강제원칙 (technology forcing principle)</vt:lpstr>
      <vt:lpstr>정부 정책과 환경기술산업</vt:lpstr>
      <vt:lpstr>기술강제와 미국의 자동차 배기가스 규제</vt:lpstr>
      <vt:lpstr>정책집행의 용이성</vt:lpstr>
      <vt:lpstr>정책집행의 용이성</vt:lpstr>
      <vt:lpstr>PowerPoint 프레젠테이션</vt:lpstr>
      <vt:lpstr>거래비용과 환경정책 선택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223</cp:revision>
  <dcterms:created xsi:type="dcterms:W3CDTF">1997-07-14T00:22:12Z</dcterms:created>
  <dcterms:modified xsi:type="dcterms:W3CDTF">2025-02-18T22:50:48Z</dcterms:modified>
</cp:coreProperties>
</file>