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341" r:id="rId2"/>
    <p:sldId id="340" r:id="rId3"/>
    <p:sldId id="342" r:id="rId4"/>
    <p:sldId id="332" r:id="rId5"/>
    <p:sldId id="264" r:id="rId6"/>
    <p:sldId id="265" r:id="rId7"/>
    <p:sldId id="293" r:id="rId8"/>
    <p:sldId id="333" r:id="rId9"/>
    <p:sldId id="266" r:id="rId10"/>
    <p:sldId id="267" r:id="rId11"/>
    <p:sldId id="334" r:id="rId12"/>
    <p:sldId id="325" r:id="rId13"/>
    <p:sldId id="335" r:id="rId14"/>
    <p:sldId id="326" r:id="rId15"/>
    <p:sldId id="268" r:id="rId16"/>
    <p:sldId id="269" r:id="rId17"/>
    <p:sldId id="345" r:id="rId18"/>
    <p:sldId id="346" r:id="rId19"/>
    <p:sldId id="337" r:id="rId20"/>
    <p:sldId id="338" r:id="rId21"/>
    <p:sldId id="344" r:id="rId22"/>
    <p:sldId id="270" r:id="rId23"/>
    <p:sldId id="271" r:id="rId24"/>
    <p:sldId id="339" r:id="rId25"/>
    <p:sldId id="272" r:id="rId26"/>
    <p:sldId id="300" r:id="rId27"/>
    <p:sldId id="305" r:id="rId28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8712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5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764" y="5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39BE05C-220F-458A-9B30-757BB252D09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7CA15BF-431A-4F67-91F7-1E01F4354F4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D09727F-D58B-471F-9637-027D76F35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6787C54-7A48-4C51-9882-7959197C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A7DBF6D-C94A-4093-8358-BA7675B08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D509FF67-8DDC-424A-B194-F981FFB18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89523289-3E6D-4152-A309-05CF18E66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A3016A8C-C45B-4324-95E7-BBCA4AD18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1B7EFCD-B620-4F16-A169-DB6ABE56C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CB3ABF7-B797-4A72-9B98-C8CBC7347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B03F4FF6-43A2-4E43-8E45-B793F93CA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B684BE7F-4191-48E2-8A13-EF7B17516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6A79E384-0EEF-4A49-932D-262EDD24E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F3499E89-C9D9-451E-9629-BC4629D80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150E6D7-6CD8-4385-8036-CF4DD4813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9B720EB-9972-40C6-B0B3-3FE874594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862C03C8-7ABD-410E-B021-A304722D2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DD439396-A418-4436-B004-0AB60F3E7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7F98D3D9-1299-418F-B5E5-D0BF6C04F2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3BF37684-E742-49FB-AC8E-2947622D0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C61AA6B-F4F5-4475-A619-8D130E5DA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D1A3A2-84A8-4A75-856A-2EDA4CD3C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60F6329D-07EF-414E-BF10-D81E09B6A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D03BCA78-729B-4A73-8527-F0636D87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C3C2CB4A-406B-4F0E-841B-23EFEB281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B13757A2-A4D6-45FB-9AE0-20C639D27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09F08CF-D5F3-47A4-8920-9EEEEBEE7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69B960-BF6D-4B6E-8592-DF83123CA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32EAAF56-7827-4733-B3AB-37D313DB2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B84E20AC-0675-4663-B988-318C4C7DB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931289D3-EB31-48A4-99BA-C2C25EDC6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F5BA6F60-6D89-43EB-89C4-42BF2966C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98F9F18-9003-45F0-BFD5-DBC426398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5E95923-9414-4632-8D5D-3E7295A35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D4E4BD84-3C9B-49A8-A646-F1D732C78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FA84911F-4B98-4F6C-98DC-C1838A638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578276E8-AA2D-4512-BD69-D01D3E36B0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FBD37185-2CF8-49E9-B35E-97B3983412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B56F09A-3BE7-4F9A-A4A6-10E9645D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A69AEF-EBBC-437B-9930-0A9E69BB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1CEFEDBE-C688-474E-AC36-C3E39A27D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EB3E90D4-56EC-4EE7-99D2-283FB2CB9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A70904D6-96F5-422C-9ED6-FFA68E7B3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78B1A8FD-0DA5-488F-ABD8-3F7AE50AA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5EDDD42-1DFD-4835-826B-D65623120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7C0EE00-2289-4285-A31A-3F2590AB3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309CC524-C353-4A0A-8760-81FA1914D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2E9B02AC-5982-46F7-A2D9-4EAFFD590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4F29A96A-EF40-4E05-B7A8-A9CA74B2C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CA8C17A1-F4C4-4EEA-9390-02B264977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B5A15D0-16C3-413D-9BC1-9B4032D0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2CE90FB-3737-424C-8736-B7FC7A536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C33FD640-C318-4C1B-B933-9EAF78E7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23779262-877A-4CE9-8B45-F5CCC9377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5F562706-8874-443F-ACD9-80ED3F6C6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32AB9651-3564-4389-9920-BF3FBC644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1C63C04-B276-402F-BBA9-E2B25F195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8048CD4-B5CE-4D35-B0A9-95F76EC01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DFB23331-84BF-4417-8ADF-5D2EE4FCB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0FD31A8C-1078-4DCB-B33F-E489354A6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5DC4B2BC-55E9-4457-B541-C9B47E207C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11950DA9-C9DB-45BF-89DE-8E91556DE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E405D48-6192-4C7F-BFA1-5A7167994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A4155A8-2B05-488C-95D9-9166817F7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D58BA1A7-B804-4FC8-93CB-010655394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B01016CF-CD00-4F5B-869F-6E16DB872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D3A33709-95EC-4418-BA81-349B91BF6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CB455B56-21DB-4E5E-8FD8-06EDD4158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E216002-0284-4524-9528-6E42B3766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60B6CA8-450C-4EE5-9F9D-04B9DC3E7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10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0720AE3B-EC1C-467C-930A-AF78AF18C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289743D8-09E7-4DC0-8565-1AA955B82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710BF702-DE87-4F71-A380-1E9F29BDA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AAC982DE-8824-491D-9A81-323F9FC94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F699033-FA2A-4AFE-9FBF-3A1087A75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2BD5181-08D2-49CB-A3D4-8D32DB4BE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907DB5F8-1BE3-44F3-9339-63CB18D0E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D3AF80F3-D124-467B-A129-8616B0A09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D0D7AD37-9806-4325-9CC3-F5EA9CD04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C46CDBEC-10A3-4043-ACB1-F3A043D682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B427189-D2AA-4A19-8525-2A4ADDB05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CF366028-FFA3-4B7B-9381-3C088978B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5F2FC318-29EE-48A0-B8F6-6D6367488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07406E48-02A6-4E77-AA80-01633DE6C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36434942-EF80-46DC-A4EA-CDA7819EFE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18010911-3A53-4354-8823-DB9B667CD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0A5BC60-BE1D-48B0-9D7B-62F89B93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664B725-F152-456D-A095-007A85AD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12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40A9BF47-F163-480B-9029-A8CB0DF9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A08F65CD-B2D9-4A9E-8758-0667922C1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258AECA1-52E6-4692-B6BD-302C9BC6B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B4254EC7-57B5-4ECC-83BD-A41AD2F12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54D5F52-6CE9-47B1-9871-67C450E84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AEFFB305-4346-4B9D-BB75-8181CB758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17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05F1B9A5-9FCF-4471-95D8-D615BFDBC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7CB24DB9-4FD9-42A3-9561-183B5E063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30FBCEC3-82D9-4BC4-8756-E65EDA7082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6317C190-067A-4E2C-8F04-923B94737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D03653E-3AE6-493A-BAC5-8C683FE7B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E0652A3-CC8C-475B-BD5B-C38C11D34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17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ABA42194-488E-4CE9-8B3E-10299286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63920338-6F23-41DB-A271-9F9420662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7655389C-4D83-4269-9ACE-8552169C96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4F8EB67A-82CA-4ADA-A3B4-DF5CD972B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E68BE2FD-6236-4912-AC92-CB490099E950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52DBF2A3-9583-4645-A12F-B58DCCA25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E0BA73FF-2A5F-4921-AC9C-577EE9F36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5D4BAE3F-8185-4B89-92BD-C1631BFED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B8BC5E04-D5AB-400F-8163-C4D950567A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B3BCD8D6-BC9C-49B6-A612-1C484ACC53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3A9A6C0F-7318-4070-A574-78259E7CEB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30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5194" y="417898"/>
            <a:ext cx="7313612" cy="1143000"/>
          </a:xfrm>
        </p:spPr>
        <p:txBody>
          <a:bodyPr anchor="ctr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5194" y="1943486"/>
            <a:ext cx="7313612" cy="41148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6D2B58F-C807-40EE-9C9C-6D1FDF427B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1B74EAD-B1C9-418A-89D4-FAAE89A427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52974D1-C471-481B-B04D-ED20371F87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C93D9-0060-45A7-9BC6-0EC782FA14E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376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6D7E547-ACCE-4064-9622-E34C511769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9045CEE-4A6B-4A2F-8250-0247408928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3D6BFB9-7B2D-460B-877A-83EA9CD332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7CE33-E1B4-49FE-ACB1-AF0F3A5A2C1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21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8DF7CC8E-224C-46A2-81E1-69A0703BDE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0408B47-F0B3-46D9-97A1-26642483FD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87DC804-8C8F-418F-BB9D-4974808687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82743-38C0-4302-936A-5040A1B718E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20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41D10FC-8714-49E5-B716-5D31C30EB8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2114A76-C232-4B4D-92CE-2F2765E381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186984B-E28C-4DF4-B951-CEFE302192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1DF88-B648-4BE1-8AE3-6B3F1F9F861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700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461F3DB-47E8-4634-9602-B8030E6D4B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323CC17-BE19-4853-B31C-6C667404F6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66C055A1-6D32-484A-B7C2-30AFF648E7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956C8-7C03-4A59-896F-AE656E00659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674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422310D-09C1-44FD-AAED-D3ED915685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7E717D8-59D0-4597-BA50-41E560A614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C9F62AE-69ED-4C47-AF2A-0C649531D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452B2-B4C9-4BA8-B52C-885F5FD831F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903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2A69EB1-4F9A-496F-96BB-E3C656D638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8E5B82FC-A8F1-4627-9B01-216F5F70D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82E6632-EB33-40D3-8F2B-9DBB0777B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C7BF1-CAC7-4886-AE22-39B44AC34DA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403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F6DE7D4-FAD7-4C4C-9D56-92DE0B4A4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B3C8D3DA-4DF7-4C7A-8E04-03D0F2BB7C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1791B55-FCF8-424D-BD32-6593BF8099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F1B77-DB5D-4BD5-9D5A-7F276ED2300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408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07C5414-4120-480F-9CD7-9A09DED51B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F4962C1-DB47-4E0B-851F-559C1CE56B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D89C5F6-18C6-4981-AF80-92ABCAC26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4D651-FB03-4E24-9FBF-1C94C733C6A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645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CD51EAD-4329-4038-BC20-8986DF64DA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40932BF-F274-44AD-9BF6-8636F62C08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253EEF2-EFB4-4307-AF3E-30D6D52AEB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F6447-D204-4620-BCAB-AB3FCFE5E87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5452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A3DCB70-BAB5-428C-866B-C14B2D104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6B4F953-034E-4F08-9897-B15B69AF23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325A949-3836-470D-B181-47E451B911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C920A-B341-4F17-B9AA-68CBCF04A78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80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6D614E47-90BC-46B5-BF32-943956AF1EFA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A64F75F9-42BA-468A-ADF4-37FC8A163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2AB2E2AE-687A-48FB-A872-8926B84D7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90AFDAD2-6667-45B5-B221-7ED237470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10A825A3-0BDE-4CE1-B420-DC506BFFA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7C98C318-B8AD-4DB5-BEE8-27D170D910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8B6659F6-CDBD-44DE-B910-60388D5A33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CBD69822-F775-4907-9941-9D4324522D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60C70E93-47A1-4572-970C-38F59C8C25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6E8524F-DC34-4B37-99F7-D5C35E2C6B2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1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FA3237E8-E00A-4A87-B020-681D1F77E0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33488" y="1038225"/>
            <a:ext cx="7239000" cy="1444625"/>
          </a:xfrm>
        </p:spPr>
        <p:txBody>
          <a:bodyPr/>
          <a:lstStyle/>
          <a:p>
            <a:pPr eaLnBrk="1" hangingPunct="1"/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환경경제학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212F6AEA-B0E4-4BA3-9BB9-6DB247286A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03313" y="5678488"/>
            <a:ext cx="7239000" cy="711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본 자료는 권오상</a:t>
            </a:r>
            <a:r>
              <a:rPr lang="en-US" altLang="ko-KR" sz="1600" b="1" dirty="0">
                <a:latin typeface="나눔명조" pitchFamily="18" charset="-127"/>
                <a:ea typeface="나눔명조" pitchFamily="18" charset="-127"/>
              </a:rPr>
              <a:t>(2025)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저</a:t>
            </a:r>
            <a:r>
              <a:rPr lang="en-US" altLang="ko-KR" sz="1600" b="1" dirty="0">
                <a:latin typeface="나눔명조" pitchFamily="18" charset="-127"/>
                <a:ea typeface="나눔명조" pitchFamily="18" charset="-127"/>
              </a:rPr>
              <a:t>,『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환경경제학</a:t>
            </a:r>
            <a:r>
              <a:rPr lang="en-US" altLang="ko-KR" sz="1600" b="1" dirty="0">
                <a:latin typeface="나눔명조" pitchFamily="18" charset="-127"/>
                <a:ea typeface="나눔명조" pitchFamily="18" charset="-127"/>
              </a:rPr>
              <a:t>』(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1600" b="1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판</a:t>
            </a:r>
            <a:r>
              <a:rPr lang="en-US" altLang="ko-KR" sz="1600" b="1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의 강의용 자료로 제작되었으며</a:t>
            </a:r>
            <a:r>
              <a:rPr lang="en-US" altLang="ko-KR" sz="1600" b="1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본 자료에 포함된 표와 그림 등에 대한 권한은 저자와 ㈜ </a:t>
            </a:r>
            <a:r>
              <a:rPr lang="ko-KR" altLang="en-US" sz="1600" b="1" dirty="0" err="1">
                <a:latin typeface="나눔명조" pitchFamily="18" charset="-127"/>
                <a:ea typeface="나눔명조" pitchFamily="18" charset="-127"/>
              </a:rPr>
              <a:t>박영사에</a:t>
            </a:r>
            <a:r>
              <a:rPr lang="ko-KR" altLang="en-US" sz="1600" b="1" dirty="0">
                <a:latin typeface="나눔명조" pitchFamily="18" charset="-127"/>
                <a:ea typeface="나눔명조" pitchFamily="18" charset="-127"/>
              </a:rPr>
              <a:t> 있으므로 강의 목적 외의 무단 이용을 금합니다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CFE82FD-E717-4E2E-802F-FA9167A01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215" y="3528397"/>
            <a:ext cx="7239000" cy="20875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Font typeface="Wingdings" panose="05000000000000000000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ko-KR" altLang="en-US" sz="2000" kern="0" dirty="0">
                <a:latin typeface="나눔명조" pitchFamily="18" charset="-127"/>
                <a:ea typeface="나눔명조" pitchFamily="18" charset="-127"/>
              </a:rPr>
              <a:t>서울대학교 </a:t>
            </a:r>
            <a:endParaRPr lang="en-US" altLang="ko-KR" sz="2000" kern="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000" kern="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ko-KR" altLang="en-US" sz="2000" kern="0" dirty="0">
                <a:latin typeface="나눔명조" pitchFamily="18" charset="-127"/>
                <a:ea typeface="나눔명조" pitchFamily="18" charset="-127"/>
              </a:rPr>
              <a:t>권 오 상</a:t>
            </a:r>
            <a:endParaRPr lang="en-US" altLang="ko-KR" sz="2000" kern="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ko-KR" sz="1600" kern="0" dirty="0">
              <a:latin typeface="나눔명조" pitchFamily="18" charset="-127"/>
              <a:ea typeface="나눔명조" pitchFamily="18" charset="-127"/>
            </a:endParaRPr>
          </a:p>
          <a:p>
            <a:pPr algn="r" eaLnBrk="1" hangingPunct="1">
              <a:lnSpc>
                <a:spcPct val="80000"/>
              </a:lnSpc>
              <a:defRPr/>
            </a:pPr>
            <a:r>
              <a:rPr lang="ko-KR" altLang="en-US" sz="1600" kern="0" dirty="0">
                <a:latin typeface="나눔명조" pitchFamily="18" charset="-127"/>
                <a:ea typeface="나눔명조" pitchFamily="18" charset="-127"/>
              </a:rPr>
              <a:t>슬라이드 제작 참여</a:t>
            </a:r>
            <a:r>
              <a:rPr lang="en-US" altLang="ko-KR" sz="1600" kern="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600" kern="0" dirty="0">
                <a:latin typeface="나눔명조" pitchFamily="18" charset="-127"/>
                <a:ea typeface="나눔명조" pitchFamily="18" charset="-127"/>
              </a:rPr>
              <a:t>한국환경연구원 </a:t>
            </a:r>
            <a:r>
              <a:rPr lang="ko-KR" altLang="en-US" sz="1600" kern="0" dirty="0" err="1">
                <a:latin typeface="나눔명조" pitchFamily="18" charset="-127"/>
                <a:ea typeface="나눔명조" pitchFamily="18" charset="-127"/>
              </a:rPr>
              <a:t>이홍림</a:t>
            </a:r>
            <a:endParaRPr lang="en-US" altLang="ko-KR" sz="1600" kern="0" dirty="0">
              <a:latin typeface="나눔명조" pitchFamily="18" charset="-127"/>
              <a:ea typeface="나눔명조" pitchFamily="18" charset="-127"/>
            </a:endParaRPr>
          </a:p>
          <a:p>
            <a:pPr algn="r" eaLnBrk="1" hangingPunct="1">
              <a:lnSpc>
                <a:spcPct val="80000"/>
              </a:lnSpc>
              <a:defRPr/>
            </a:pPr>
            <a:r>
              <a:rPr lang="en-US" altLang="ko-KR" sz="1600" kern="0" dirty="0">
                <a:latin typeface="나눔명조" pitchFamily="18" charset="-127"/>
                <a:ea typeface="나눔명조" pitchFamily="18" charset="-127"/>
              </a:rPr>
              <a:t>Iowa State Univ. </a:t>
            </a:r>
            <a:r>
              <a:rPr lang="ko-KR" altLang="en-US" sz="1600" kern="0" dirty="0">
                <a:latin typeface="나눔명조" pitchFamily="18" charset="-127"/>
                <a:ea typeface="나눔명조" pitchFamily="18" charset="-127"/>
              </a:rPr>
              <a:t>대학원 이혜원</a:t>
            </a:r>
            <a:endParaRPr lang="en-US" altLang="ko-KR" sz="1600" kern="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ko-KR" sz="1600" kern="0" dirty="0">
              <a:latin typeface="나눔명조" pitchFamily="18" charset="-127"/>
              <a:ea typeface="나눔명조" pitchFamily="18" charset="-127"/>
            </a:endParaRPr>
          </a:p>
          <a:p>
            <a:pPr algn="r" eaLnBrk="1" hangingPunct="1">
              <a:lnSpc>
                <a:spcPct val="80000"/>
              </a:lnSpc>
              <a:defRPr/>
            </a:pPr>
            <a:endParaRPr lang="ko-KR" altLang="en-US" sz="1600" kern="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8094C1-2ED0-4B7A-BAB3-A554E69DF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2651125"/>
            <a:ext cx="7239000" cy="18774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Font typeface="Wingdings" panose="05000000000000000000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ko-KR" altLang="en-US" sz="2000" kern="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000" kern="0" dirty="0">
                <a:latin typeface="나눔명조" pitchFamily="18" charset="-127"/>
                <a:ea typeface="나눔명조" pitchFamily="18" charset="-127"/>
              </a:rPr>
              <a:t>5</a:t>
            </a:r>
            <a:r>
              <a:rPr lang="ko-KR" altLang="en-US" sz="2000" kern="0" dirty="0">
                <a:latin typeface="나눔명조" pitchFamily="18" charset="-127"/>
                <a:ea typeface="나눔명조" pitchFamily="18" charset="-127"/>
              </a:rPr>
              <a:t>판 </a:t>
            </a:r>
            <a:endParaRPr lang="en-US" altLang="ko-KR" sz="2000" kern="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000" kern="0" dirty="0">
              <a:latin typeface="나눔명조" pitchFamily="18" charset="-127"/>
              <a:ea typeface="나눔명조" pitchFamily="18" charset="-127"/>
            </a:endParaRPr>
          </a:p>
          <a:p>
            <a:pPr algn="r" eaLnBrk="1" hangingPunct="1">
              <a:lnSpc>
                <a:spcPct val="80000"/>
              </a:lnSpc>
              <a:defRPr/>
            </a:pPr>
            <a:endParaRPr lang="ko-KR" altLang="en-US" sz="1600" kern="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196B9F0-64B1-42A3-BEFD-78C61D8ADE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969963"/>
            <a:ext cx="4210050" cy="1444625"/>
          </a:xfrm>
        </p:spPr>
        <p:txBody>
          <a:bodyPr/>
          <a:lstStyle/>
          <a:p>
            <a:pPr eaLnBrk="1" hangingPunct="1"/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Ⅰ. 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서 론</a:t>
            </a:r>
            <a:endParaRPr lang="en-US" altLang="ko-KR" sz="480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0119D97-248F-4771-9A75-405B2B6845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57688" y="4017963"/>
            <a:ext cx="4786312" cy="1752600"/>
          </a:xfrm>
        </p:spPr>
        <p:txBody>
          <a:bodyPr/>
          <a:lstStyle/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환경경제학이란 어떤 학문인가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algn="l" eaLnBrk="1" hangingPunct="1"/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b="1">
                <a:latin typeface="나눔명조" pitchFamily="18" charset="-127"/>
                <a:ea typeface="나눔명조" pitchFamily="18" charset="-127"/>
              </a:rPr>
              <a:t>장 경제와 자연환경</a:t>
            </a:r>
            <a:endParaRPr lang="en-US" altLang="ko-KR" sz="2000" b="1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0EED30-216F-4951-B8B1-332E23CE981F}"/>
              </a:ext>
            </a:extLst>
          </p:cNvPr>
          <p:cNvSpPr/>
          <p:nvPr/>
        </p:nvSpPr>
        <p:spPr bwMode="auto">
          <a:xfrm>
            <a:off x="4219575" y="4010025"/>
            <a:ext cx="98425" cy="773113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F9F02883-6C4F-45B3-BB5F-EBFAA066F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4566388A-D900-467C-AE03-CD5322E6B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환경경제학의 정의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경제적 유인을 이용하여 환경이용형태를 변화시키는 예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환경경제학의 주요주제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E638E902-EC0D-4DD9-A941-5161D946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A2B49984-F6FC-465C-9EEC-5BD289D4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0D9B8B-B878-42CC-98F1-4B0CA9250283}" type="slidenum">
              <a:rPr lang="ko-KR" altLang="en-US" sz="1200" smtClean="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D74CCE2C-D8C7-47E2-A14B-4C1F6CF0C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BFFAC591-141C-4F1D-AA7C-05CFA8B51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91A14AB-1D25-4464-BB7B-41407D8F8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환경경제학이란 어떤 학문인가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6">
            <a:extLst>
              <a:ext uri="{FF2B5EF4-FFF2-40B4-BE49-F238E27FC236}">
                <a16:creationId xmlns:a16="http://schemas.microsoft.com/office/drawing/2014/main" id="{20139B1E-F209-40DC-BF86-5136569F1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57200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경제학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1037">
            <a:extLst>
              <a:ext uri="{FF2B5EF4-FFF2-40B4-BE49-F238E27FC236}">
                <a16:creationId xmlns:a16="http://schemas.microsoft.com/office/drawing/2014/main" id="{E9292886-0023-45E3-8437-267F21381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8038" y="1866900"/>
            <a:ext cx="7527925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경제학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개인이나 사회가 희소한 자원을 다양한 상품이나 서비스의 생산을 위해 어떻게 사용하고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생산된 재화나 서비스를 사회 내의 각 개인이나 집단별로 어떻게 분배해야 하는지를 연구하는 학문</a:t>
            </a: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CEA49106-967B-460D-9B09-DFBE0802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D11E5C4D-E036-4967-93DC-4122D8E4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FB33C0-407C-49B8-986B-C3A54BFC4E2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8" name="Rectangle 1026">
            <a:extLst>
              <a:ext uri="{FF2B5EF4-FFF2-40B4-BE49-F238E27FC236}">
                <a16:creationId xmlns:a16="http://schemas.microsoft.com/office/drawing/2014/main" id="{CC634222-0FC3-4AFC-BA62-EB9CDF6F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1027">
            <a:extLst>
              <a:ext uri="{FF2B5EF4-FFF2-40B4-BE49-F238E27FC236}">
                <a16:creationId xmlns:a16="http://schemas.microsoft.com/office/drawing/2014/main" id="{0E233A95-9064-40A0-BF0E-370D373E8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EDA6F403-3FD6-4FA6-B556-58DB8F640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미시경제학과 거시경제학</a:t>
            </a: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1E132AB6-B20E-415E-B475-D0BA46CAD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18478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미시경제학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소비자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기업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노동자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투자자와 같은 개별 경제행위 주체의 행동은 물론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이들이 구성하는 시장까지도 분석하는 경제학의 한 분과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거시경제학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국민총생산액이나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경제성장률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실업률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물가상승률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이자율 등과 같은 국가경제의 거시적인 변수들이 형성되고 움직이는 관계를 연구하는 학문</a:t>
            </a: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61DD6964-A3CB-4119-8257-BA44848F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87E5B950-E83D-421B-B351-E3A5D271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2777AE-0760-4335-B424-D9901C0D1F7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3BDA51C1-293F-4E9B-A9F5-0D78655E3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B20EE7B4-F4ED-4ECD-865D-64A71E35C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>
            <a:extLst>
              <a:ext uri="{FF2B5EF4-FFF2-40B4-BE49-F238E27FC236}">
                <a16:creationId xmlns:a16="http://schemas.microsoft.com/office/drawing/2014/main" id="{E31C033A-C1C3-4616-9C57-3DBD0A6EC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Rectangle 9">
            <a:extLst>
              <a:ext uri="{FF2B5EF4-FFF2-40B4-BE49-F238E27FC236}">
                <a16:creationId xmlns:a16="http://schemas.microsoft.com/office/drawing/2014/main" id="{C46C26F5-B13A-480E-BEB4-99C24BC4D3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7593" y="1490567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자연환경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혹은 환경자원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을 어떤 방식으로 개발하고 관리할지를 경제학적인 원리를 적용하여 분석하는 학문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미시적 분석과 거시적 분석 모두 포괄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자연환경에 영향을 주는 의사결정을 왜 그리고 어떻게 내리는지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경제발전과 자연환경보존이 조화를 이루기 위해서 정부의 정책이나 경제제도가 어떻게 형성되어야 하는지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환경오염을 규제하려는 정부정책이 경제성장이나 실업률에 어떤 영향을 미치는지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경제성장이 환경오염에 미치는 영향은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어떠한지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등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C21CB213-A5AB-4C53-918B-F045EC1F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F42AEF7E-3DFB-4539-AD6D-05DD6A40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007F68-1D8E-4B65-BDF3-44AFA15118F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D032EA4E-72D5-441F-9074-804CD235F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2F7DE85C-D0E2-44F3-B1F6-D162070F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52">
            <a:extLst>
              <a:ext uri="{FF2B5EF4-FFF2-40B4-BE49-F238E27FC236}">
                <a16:creationId xmlns:a16="http://schemas.microsoft.com/office/drawing/2014/main" id="{359A0279-059B-4F2A-830A-F347FC92C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31800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환경경제학과 여타학문과의 차별성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Rectangle 2053">
            <a:extLst>
              <a:ext uri="{FF2B5EF4-FFF2-40B4-BE49-F238E27FC236}">
                <a16:creationId xmlns:a16="http://schemas.microsoft.com/office/drawing/2014/main" id="{8CA63D65-41EE-48A2-8570-993FBE150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환경경제학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외의 다양한 학문들이 인간의 사회</a:t>
            </a:r>
            <a:r>
              <a:rPr lang="en-US" altLang="ko-KR" sz="2800" dirty="0">
                <a:latin typeface="나눔 명조"/>
                <a:ea typeface="나눔명조"/>
              </a:rPr>
              <a:t>­∙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경제적 행위와 자연환경 보존과의 상호관련성에 관해 연구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정치학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사회학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인류학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윤리학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교육학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종교학 등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주로 개인의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도덕심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차원에서 환경오염문제에 접근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1AB3772C-8277-4A69-AD06-ABAA315D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E6A25CE7-0619-4A56-A7B6-A53B3BBB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49C807-AC83-401E-81A4-62B5BB55967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052">
            <a:extLst>
              <a:ext uri="{FF2B5EF4-FFF2-40B4-BE49-F238E27FC236}">
                <a16:creationId xmlns:a16="http://schemas.microsoft.com/office/drawing/2014/main" id="{7799BFE0-4CD9-407F-A907-B3ED6BADC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환경경제학과 여타학문과의 차별성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3" name="Rectangle 2053">
            <a:extLst>
              <a:ext uri="{FF2B5EF4-FFF2-40B4-BE49-F238E27FC236}">
                <a16:creationId xmlns:a16="http://schemas.microsoft.com/office/drawing/2014/main" id="{4332C0A0-EC53-490A-ABCC-EE754D9E8A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환경경제학은 개인의 윤리의식보다는 개인의 환경이용 행위를 통제하는 적절한 수단이나 </a:t>
            </a:r>
            <a:r>
              <a:rPr lang="ko-KR" altLang="en-US" sz="28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경제적 유인</a:t>
            </a:r>
            <a:r>
              <a:rPr lang="en-US" altLang="ko-KR" sz="28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(economic incentive)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이 있는지에 관심</a:t>
            </a:r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경제주체의 행위를 결정하는 경제적 유인의 구조가 어떻게 형성되어 있는지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보다 바람직한 환경 수준을 달성하기 위해서는 경제적 유인구조가 어떻게 형성되어야 하는지</a:t>
            </a:r>
            <a:endParaRPr lang="en-US" altLang="ko-KR">
              <a:ea typeface="굴림" panose="020B0600000101010101" pitchFamily="50" charset="-127"/>
            </a:endParaRPr>
          </a:p>
        </p:txBody>
      </p:sp>
      <p:sp>
        <p:nvSpPr>
          <p:cNvPr id="25604" name="바닥글 개체 틀 4">
            <a:extLst>
              <a:ext uri="{FF2B5EF4-FFF2-40B4-BE49-F238E27FC236}">
                <a16:creationId xmlns:a16="http://schemas.microsoft.com/office/drawing/2014/main" id="{C77648D8-36AE-4249-9C58-4E865DBE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605" name="슬라이드 번호 개체 틀 5">
            <a:extLst>
              <a:ext uri="{FF2B5EF4-FFF2-40B4-BE49-F238E27FC236}">
                <a16:creationId xmlns:a16="http://schemas.microsoft.com/office/drawing/2014/main" id="{0E52E142-5BC4-449F-AD7B-835BCF63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76B97E-A0C9-43DE-8A5B-B2C978C0954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1B4D5A7C-2B9E-4F42-9384-B7709FA3D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8655" y="145010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환경경제학의 관심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936264B9-3246-4DD4-B2B7-1061673F7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3188" y="2054089"/>
            <a:ext cx="7313612" cy="41148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설명과 예측</a:t>
            </a:r>
          </a:p>
          <a:p>
            <a:pPr lvl="1" eaLnBrk="1" hangingPunct="1">
              <a:defRPr/>
            </a:pP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오염물질에 대해 조세 혹은 배출부과금을 부과하면 기업의 생산행위는 어떻게 달라질 것인지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설명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>
              <a:defRPr/>
            </a:pP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특정 수준의 부과금을 매기면 기업의 오염물질 배출량은 얼마나 변하고 환경의 질은 어느 정도 개선될 것인지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예측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marL="342900" lvl="1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환경을 이용하는 행위에 관한 설명과 예측은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경제이론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 기반을 둠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defRPr/>
            </a:pP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경제이론은 관측되는 경제현상을 각 경제주체의 행위에 대한 몇 가지 가정과 규칙 하에서 설명하기 위해 개발됨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>
              <a:defRPr/>
            </a:pP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기업은 판매수입에서 생산비와 오염관리 관련 비용을 빼준 이윤을 극대화하도록 생산량과 오염물질 배출량 선택</a:t>
            </a:r>
          </a:p>
          <a:p>
            <a:pPr lvl="1" eaLnBrk="1" hangingPunct="1">
              <a:defRPr/>
            </a:pP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>
              <a:defRPr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376D0594-3F96-41EB-8BA4-17EB6D42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63B2A9BD-6C7A-41DD-98A7-9945CB57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C2BE4D-AB9D-424B-A505-5C3529839C09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C8DA18DB-3BE6-44A8-BD14-C9026B3D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39EF34C8-AD0D-4C32-ABA1-E16E4A789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9B1FE340-60A3-4ECD-AD12-5AC138EEB9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17513"/>
            <a:ext cx="7313613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환경경제학의 관심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FA0ACF42-BC04-4B24-90CA-13EC1AA76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1838" y="1847850"/>
            <a:ext cx="7680325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실증적 문제 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/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규범적 문제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실증적 문제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현상의 설명이나 예측과 관련된 문제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정부가 축산폐수 관련 세금을 부과한다고 했을때 축산농가의 반응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축산물 생산량 변화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축산물 수입량 변화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수질오염 개선 정도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국민들의 편익 변화량이 실증적 문제에 해당됨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endParaRPr lang="ko-KR" altLang="en-US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5CA5B094-2175-4BFE-B415-17513B1F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9FB89D80-C761-42E8-AE42-23B23DA3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4565FA-827F-4EC1-8898-3AEB48BA9490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C022EF2C-8270-4B77-ADF7-A040A882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28E713B0-7712-44EA-8B77-514C88F88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CCC1747E-FA17-40A1-BB68-6244EEA2F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환경경제학의 관심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FC1A0C87-01D0-4AC2-B898-DBDE97B855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1200" y="1847850"/>
            <a:ext cx="7721600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실증적 문제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/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규범적 문제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규범적 문제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어떤 상황이 이루어져야 하느냐에 관한 질문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축산농가에 대해 배출부과금을 부과한다면 어느 정도로 하는 것이 가장 좋은가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부과금 적용 대신 폐수처리시설에 대해 보조금을 주는 방법도 사용할 수 있는데 어떤 정책이 가장 좋은 정책인가 등에 관한 질문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규범적 문제에 대한 답을 얻기 위해서는 어느 정도의 </a:t>
            </a:r>
            <a:r>
              <a:rPr lang="ko-KR" altLang="en-US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가치판단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 필요</a:t>
            </a:r>
          </a:p>
          <a:p>
            <a:pPr lvl="2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전체 국민의 삶의 질 개선과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도농간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소득균형의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달성 가운데 어느 것이 더 중요한지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161ABB26-1DC3-49C8-A696-7C19AC10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8D27F672-093E-4534-BAC9-00BB9E5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72C20F-2607-44C9-8FDA-4C3263BA1B0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429AF9DB-FD14-4AF6-964F-0F539656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419E7916-ECB8-470B-ABD9-95848300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ADFD69F2-2924-4822-917F-20CA9D6F6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환경경제학의 존재이유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C4F7D88D-1574-4DED-8786-2F606E099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환경재의 경우 소유권이 명확하지 않고 오염유발자가 오염에 따른 손실을 모두 부담하지 않음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오염유발자는 오염으로 인한  타인의 손실을 감안하지 않으므로 환경의 과도한 훼손을 초래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사회적으로 바람직한 수준의 오염만을 유발하도록 유도하기 위해서 어떤 수단을 사용해야 하는가를 독립적으로 연구할 필요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938046E1-7374-40A9-BEDF-69F572F7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FE119B49-54BC-49CF-AB1F-6742BD23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682057-1CD6-42A5-9278-1998BD07571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>
            <a:extLst>
              <a:ext uri="{FF2B5EF4-FFF2-40B4-BE49-F238E27FC236}">
                <a16:creationId xmlns:a16="http://schemas.microsoft.com/office/drawing/2014/main" id="{3150BA22-B45B-42BB-810F-E0B1512C4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환경경제학의 존재이유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5" name="Rectangle 5">
            <a:extLst>
              <a:ext uri="{FF2B5EF4-FFF2-40B4-BE49-F238E27FC236}">
                <a16:creationId xmlns:a16="http://schemas.microsoft.com/office/drawing/2014/main" id="{B95552D2-7B81-4AEC-9C6F-6D939DA78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환경의 보존이나 개선을 위한 정부의 여러 정책들의 편익과 비용이 얼마인지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어떤 환경정책이 가장 큰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순편익을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가져다주는지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알 필요가 있음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환경재는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여타 재화나 서비스와는 달리 가치를 적절히 반영하는 시장가격이 형성되어 있지 않아 정책평가에 필요한 정보를 얻기 어려움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특수성을 고려한 가치평가 방법이 필요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48AD3E5B-2210-4E81-884E-4AC6D909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11908201-CC29-4251-A063-45176AF6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CC2A20-B5AD-4183-B7EC-F52F4774D8B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9">
            <a:extLst>
              <a:ext uri="{FF2B5EF4-FFF2-40B4-BE49-F238E27FC236}">
                <a16:creationId xmlns:a16="http://schemas.microsoft.com/office/drawing/2014/main" id="{F1334B41-F10E-4087-95DB-3B0C329C50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7504" y="1595371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학제적 접근을 통해 생태계와 경제체계의 관계를 종합적으로 고찰하려는 학문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ea typeface="나눔명조"/>
              </a:rPr>
              <a:t>경제체계를 자연환경이라는 보다 큰 체계의 한 구성요소로 보며 생태계와 경제체계 간의 상호관계 연구하고자 함</a:t>
            </a:r>
            <a:endParaRPr lang="en-US" altLang="ko-KR" sz="2200" dirty="0">
              <a:latin typeface="나눔명조" pitchFamily="18" charset="-127"/>
              <a:ea typeface="나눔명조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경제규모의 양적 성장은 이용 가능한 자원이 한정된 상태에서 지속적으로 유지되기 힘들며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자원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이용량의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증가 없이도 삶의 질을 향상시킬 수 있는 지속적인 발전을 위해 노력해야 한다는 입장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기술이나 자본이 생태계 구성요소를 대체할 수 있다는 것에 대해 부정적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탈성장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(de-growth)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론 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19" name="바닥글 개체 틀 4">
            <a:extLst>
              <a:ext uri="{FF2B5EF4-FFF2-40B4-BE49-F238E27FC236}">
                <a16:creationId xmlns:a16="http://schemas.microsoft.com/office/drawing/2014/main" id="{B6E451D4-2C5E-4A0F-83F0-D4AF1BCC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820" name="슬라이드 번호 개체 틀 5">
            <a:extLst>
              <a:ext uri="{FF2B5EF4-FFF2-40B4-BE49-F238E27FC236}">
                <a16:creationId xmlns:a16="http://schemas.microsoft.com/office/drawing/2014/main" id="{1DA55762-9C0B-45C9-A276-8243ABCC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B1A72A-51CD-448D-B8AD-ADE792B9274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" name="Rectangle 1028">
            <a:extLst>
              <a:ext uri="{FF2B5EF4-FFF2-40B4-BE49-F238E27FC236}">
                <a16:creationId xmlns:a16="http://schemas.microsoft.com/office/drawing/2014/main" id="{EEC274F7-6CA5-40D6-AF64-A676B8FC3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855663"/>
            <a:ext cx="7312025" cy="5953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ko-KR" altLang="en-US" sz="2900" kern="0">
                <a:solidFill>
                  <a:srgbClr val="7030A0"/>
                </a:solidFill>
                <a:latin typeface="나눔고딕" pitchFamily="50" charset="-127"/>
                <a:ea typeface="나눔명조" pitchFamily="18" charset="-127"/>
              </a:rPr>
              <a:t>생태경제학</a:t>
            </a:r>
            <a:r>
              <a:rPr lang="en-US" altLang="ko-KR" sz="2900" kern="0">
                <a:solidFill>
                  <a:srgbClr val="7030A0"/>
                </a:solidFill>
                <a:latin typeface="나눔고딕" pitchFamily="50" charset="-127"/>
                <a:ea typeface="나눔명조" pitchFamily="18" charset="-127"/>
              </a:rPr>
              <a:t>(ecological economics)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0EB1AE81-6B1B-4452-97DA-453C36D4B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77946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경제적 유인을 이용하여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환경이용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형태를 변화시키는 예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6A67F3F7-90CC-43E5-B20D-3DA478CB5E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21336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자연환경의 이용에 관한 경제적 유인은 생산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소비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유통 등과 관련된 모든 경제행위에 적용될 수 있음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쓰레기종량제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폐기물예치금제도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탄소세나 혼잡통행료를 통한 수송부문 대기오염 관리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20737EC5-A338-4415-8433-971E26DA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64FEE1B4-F5D1-4469-A88A-E3D16FE0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460D05-6FAB-43B9-B0FF-06967BBF800E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D9243E6B-CB00-40C5-A618-292AA3FC6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E59B6207-5137-4A2C-9333-EC7148858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2EE598BB-F311-4510-8B0B-EFDAB6F60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85763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쓰레기종량제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5" name="Rectangle 7">
            <a:extLst>
              <a:ext uri="{FF2B5EF4-FFF2-40B4-BE49-F238E27FC236}">
                <a16:creationId xmlns:a16="http://schemas.microsoft.com/office/drawing/2014/main" id="{F34053A5-71F0-4B39-9083-08F39AFC8D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2163" y="1528763"/>
            <a:ext cx="7558087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1995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 이전에는 건물면적이나 재산세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납부액에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따라 결정되는 특정 금액을 쓰레기 수거 수수료로 납부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배출한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쓰레기량에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상관없이 특정 금액을 지불하면 되므로 배출량을 줄이고자 하는 동기를 가지지 못함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종량제도입으로 가계의 쓰레기 배출량과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배출비용이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비례하게 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경제적 유인을 제공한 결과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 1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일 평균 전국 쓰레기 배출량이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53,000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여 톤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→34,000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여 톤으로 감소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B590398E-D070-4DB9-8469-212482DB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EF3D22F5-EFD7-41EA-BA9D-E39F7CE0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CC9E4C-EC06-498C-8EAA-6E26AA6B6E0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051A2435-0742-4379-9296-E87A2CD3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4DFD6AD8-BB25-4213-9211-8095F797E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9">
            <a:extLst>
              <a:ext uri="{FF2B5EF4-FFF2-40B4-BE49-F238E27FC236}">
                <a16:creationId xmlns:a16="http://schemas.microsoft.com/office/drawing/2014/main" id="{731D50CC-9559-4116-9F4E-DA69F2C08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쓰레기 배출량 뿐만이 아니라 배출 시 이용하는 비닐봉투가 플라스틱이어서 환경문제 발생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ea typeface="나눔명조" pitchFamily="18" charset="-127"/>
              </a:rPr>
              <a:t>모든 종류의 비닐봉투를 규제할 수 없어 일부의 사용만 규제할 때에는 정책 효과 누출</a:t>
            </a:r>
            <a:r>
              <a:rPr lang="en-US" altLang="ko-KR" sz="2400" dirty="0">
                <a:ea typeface="나눔명조" pitchFamily="18" charset="-127"/>
              </a:rPr>
              <a:t>(leakage) </a:t>
            </a:r>
            <a:r>
              <a:rPr lang="ko-KR" altLang="en-US" sz="2400" dirty="0">
                <a:ea typeface="나눔명조" pitchFamily="18" charset="-127"/>
              </a:rPr>
              <a:t>현상이 발생할 수 있음</a:t>
            </a:r>
          </a:p>
          <a:p>
            <a:pPr lvl="1" eaLnBrk="1" hangingPunct="1"/>
            <a:r>
              <a:rPr lang="ko-KR" altLang="en-US" sz="2200" dirty="0" err="1">
                <a:ea typeface="나눔명조" pitchFamily="18" charset="-127"/>
              </a:rPr>
              <a:t>테일러</a:t>
            </a:r>
            <a:r>
              <a:rPr lang="en-US" altLang="ko-KR" sz="2200" dirty="0">
                <a:ea typeface="나눔명조" pitchFamily="18" charset="-127"/>
              </a:rPr>
              <a:t>(Taylor, 2019)</a:t>
            </a:r>
            <a:r>
              <a:rPr lang="ko-KR" altLang="en-US" sz="2200" dirty="0">
                <a:ea typeface="나눔명조" pitchFamily="18" charset="-127"/>
              </a:rPr>
              <a:t>의 미국 캘리포니아를 대상으로 한 연구</a:t>
            </a:r>
            <a:r>
              <a:rPr lang="en-US" altLang="ko-KR" sz="2200" dirty="0">
                <a:ea typeface="나눔명조" pitchFamily="18" charset="-127"/>
              </a:rPr>
              <a:t>: </a:t>
            </a:r>
            <a:r>
              <a:rPr lang="ko-KR" altLang="en-US" sz="2200" dirty="0">
                <a:ea typeface="나눔명조" pitchFamily="18" charset="-127"/>
              </a:rPr>
              <a:t>각종 상점의 봉투 제공을 금지시켜 약 </a:t>
            </a:r>
            <a:r>
              <a:rPr lang="en-US" altLang="ko-KR" sz="2200" dirty="0">
                <a:ea typeface="나눔명조" pitchFamily="18" charset="-127"/>
              </a:rPr>
              <a:t>4,000</a:t>
            </a:r>
            <a:r>
              <a:rPr lang="ko-KR" altLang="en-US" sz="2200" dirty="0">
                <a:ea typeface="나눔명조" pitchFamily="18" charset="-127"/>
              </a:rPr>
              <a:t>만 파운드에 달하는 플라스틱 사용을 줄였지만 대신 약 </a:t>
            </a:r>
            <a:r>
              <a:rPr lang="en-US" altLang="ko-KR" sz="2200" dirty="0">
                <a:ea typeface="나눔명조" pitchFamily="18" charset="-127"/>
              </a:rPr>
              <a:t>1,200</a:t>
            </a:r>
            <a:r>
              <a:rPr lang="ko-KR" altLang="en-US" sz="2200" dirty="0">
                <a:ea typeface="나눔명조" pitchFamily="18" charset="-127"/>
              </a:rPr>
              <a:t>만 파운드의 비닐 쓰레기봉투 소비증가 발생</a:t>
            </a:r>
            <a:endParaRPr lang="en-US" altLang="ko-KR" sz="2200" dirty="0"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ea typeface="나눔명조" pitchFamily="18" charset="-127"/>
              </a:rPr>
              <a:t>상점에서 제공하던 비닐봉투를 쓰레기 </a:t>
            </a:r>
            <a:r>
              <a:rPr lang="ko-KR" altLang="en-US" sz="2200" dirty="0" err="1">
                <a:ea typeface="나눔명조" pitchFamily="18" charset="-127"/>
              </a:rPr>
              <a:t>배출용으로</a:t>
            </a:r>
            <a:r>
              <a:rPr lang="ko-KR" altLang="en-US" sz="2200" dirty="0">
                <a:ea typeface="나눔명조" pitchFamily="18" charset="-127"/>
              </a:rPr>
              <a:t> 재활용하지 못하게 되어 발생한 예상치 못한 현상 </a:t>
            </a:r>
          </a:p>
          <a:p>
            <a:pPr lvl="1"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A1F344DE-04F6-4008-AFC5-BB7816A9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CE66071E-F293-44A0-A8E6-457FDD48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8DD5C1-559C-4371-BBF5-3F546AA0B73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" name="Rectangle 1028">
            <a:extLst>
              <a:ext uri="{FF2B5EF4-FFF2-40B4-BE49-F238E27FC236}">
                <a16:creationId xmlns:a16="http://schemas.microsoft.com/office/drawing/2014/main" id="{FF8B5B4A-2B81-4A4A-8608-F0CC2457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855663"/>
            <a:ext cx="7312025" cy="5953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ko-KR" altLang="en-US" sz="2900" kern="0" dirty="0">
                <a:solidFill>
                  <a:srgbClr val="7030A0"/>
                </a:solidFill>
                <a:latin typeface="나눔고딕" pitchFamily="50" charset="-127"/>
                <a:ea typeface="나눔명조" pitchFamily="18" charset="-127"/>
              </a:rPr>
              <a:t>비닐봉투 규제의 누출효과</a:t>
            </a:r>
            <a:endParaRPr lang="en-US" altLang="ko-KR" sz="2900" kern="0" dirty="0">
              <a:solidFill>
                <a:srgbClr val="7030A0"/>
              </a:solidFill>
              <a:latin typeface="나눔고딕" pitchFamily="50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718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9">
            <a:extLst>
              <a:ext uri="{FF2B5EF4-FFF2-40B4-BE49-F238E27FC236}">
                <a16:creationId xmlns:a16="http://schemas.microsoft.com/office/drawing/2014/main" id="{731D50CC-9559-4116-9F4E-DA69F2C08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/>
              </a:rPr>
              <a:t>이혜원</a:t>
            </a:r>
            <a:r>
              <a:rPr lang="en-US" altLang="ko-KR" sz="2400" dirty="0">
                <a:latin typeface="맑은 고딕" panose="020B0503020000020004" pitchFamily="50" charset="-127"/>
                <a:ea typeface="나눔명조"/>
              </a:rPr>
              <a:t>·</a:t>
            </a:r>
            <a:r>
              <a:rPr lang="ko-KR" altLang="en-US" sz="2400" dirty="0">
                <a:latin typeface="맑은 고딕" panose="020B0503020000020004" pitchFamily="50" charset="-127"/>
                <a:ea typeface="나눔명조"/>
              </a:rPr>
              <a:t>권오상</a:t>
            </a:r>
            <a:r>
              <a:rPr lang="en-US" altLang="ko-KR" sz="2400" dirty="0">
                <a:latin typeface="맑은 고딕" panose="020B0503020000020004" pitchFamily="50" charset="-127"/>
                <a:ea typeface="나눔명조"/>
              </a:rPr>
              <a:t>(2021)</a:t>
            </a:r>
            <a:r>
              <a:rPr lang="ko-KR" altLang="en-US" sz="2400" dirty="0">
                <a:latin typeface="맑은 고딕" panose="020B0503020000020004" pitchFamily="50" charset="-127"/>
                <a:ea typeface="나눔명조"/>
              </a:rPr>
              <a:t>의 국내 정책 연구 </a:t>
            </a:r>
            <a:endParaRPr lang="ko-KR" altLang="en-US" sz="2400" dirty="0"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포장용 </a:t>
            </a:r>
            <a:r>
              <a:rPr lang="en-US" altLang="ko-KR" sz="2200" dirty="0">
                <a:ea typeface="나눔명조" pitchFamily="18" charset="-127"/>
              </a:rPr>
              <a:t>1</a:t>
            </a:r>
            <a:r>
              <a:rPr lang="ko-KR" altLang="en-US" sz="2200" dirty="0">
                <a:ea typeface="나눔명조" pitchFamily="18" charset="-127"/>
              </a:rPr>
              <a:t>회용 비닐봉투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재활용 종량제 봉투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종량제 쓰레기 봉투</a:t>
            </a:r>
            <a:endParaRPr lang="en-US" altLang="ko-KR" sz="2200" dirty="0"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ea typeface="나눔명조" pitchFamily="18" charset="-127"/>
              </a:rPr>
              <a:t> 2010</a:t>
            </a:r>
            <a:r>
              <a:rPr lang="ko-KR" altLang="en-US" sz="2200" dirty="0">
                <a:ea typeface="나눔명조" pitchFamily="18" charset="-127"/>
              </a:rPr>
              <a:t>년 전후하여 대형 판매점을 중심으로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sz="2200" dirty="0">
                <a:ea typeface="나눔명조" pitchFamily="18" charset="-127"/>
              </a:rPr>
              <a:t>포장용 </a:t>
            </a:r>
            <a:r>
              <a:rPr lang="en-US" altLang="ko-KR" sz="2200" dirty="0">
                <a:ea typeface="나눔명조" pitchFamily="18" charset="-127"/>
              </a:rPr>
              <a:t>1</a:t>
            </a:r>
            <a:r>
              <a:rPr lang="ko-KR" altLang="en-US" sz="2200" dirty="0">
                <a:ea typeface="나눔명조" pitchFamily="18" charset="-127"/>
              </a:rPr>
              <a:t>회용 비닐봉투 판매를 중단함</a:t>
            </a:r>
            <a:endParaRPr lang="en-US" altLang="ko-KR" sz="2200" dirty="0"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ea typeface="나눔명조" pitchFamily="18" charset="-127"/>
              </a:rPr>
              <a:t> 이로 인해 일단 포장용으로 사용한 후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종량제 봉투로 재활용할 수 있는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재활용 종량제 봉투의 </a:t>
            </a:r>
            <a:r>
              <a:rPr lang="ko-KR" altLang="en-US" sz="2200" dirty="0" err="1">
                <a:ea typeface="나눔명조" pitchFamily="18" charset="-127"/>
              </a:rPr>
              <a:t>구매량이</a:t>
            </a:r>
            <a:r>
              <a:rPr lang="ko-KR" altLang="en-US" sz="2200" dirty="0">
                <a:ea typeface="나눔명조" pitchFamily="18" charset="-127"/>
              </a:rPr>
              <a:t> 크게 늘어남</a:t>
            </a:r>
            <a:endParaRPr lang="en-US" altLang="ko-KR" sz="2200" dirty="0"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종량제 쓰레기 봉투의 판매 감소량은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재활용 종량제 봉투 판매 </a:t>
            </a:r>
            <a:r>
              <a:rPr lang="ko-KR" altLang="en-US" sz="2200" dirty="0" err="1">
                <a:ea typeface="나눔명조" pitchFamily="18" charset="-127"/>
              </a:rPr>
              <a:t>증가량의</a:t>
            </a:r>
            <a:r>
              <a:rPr lang="ko-KR" altLang="en-US" sz="2200" dirty="0">
                <a:ea typeface="나눔명조" pitchFamily="18" charset="-127"/>
              </a:rPr>
              <a:t> </a:t>
            </a:r>
            <a:r>
              <a:rPr lang="en-US" altLang="ko-KR" sz="2200" dirty="0">
                <a:ea typeface="나눔명조" pitchFamily="18" charset="-127"/>
              </a:rPr>
              <a:t>1/3 </a:t>
            </a:r>
            <a:r>
              <a:rPr lang="ko-KR" altLang="en-US" sz="2200" dirty="0">
                <a:ea typeface="나눔명조" pitchFamily="18" charset="-127"/>
              </a:rPr>
              <a:t>미만으로 추정됨</a:t>
            </a:r>
            <a:endParaRPr lang="en-US" altLang="ko-KR" sz="2200" dirty="0"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재활용 종량제 봉투의 </a:t>
            </a:r>
            <a:r>
              <a:rPr lang="en-US" altLang="ko-KR" sz="2200" dirty="0">
                <a:ea typeface="나눔명조" pitchFamily="18" charset="-127"/>
              </a:rPr>
              <a:t>“</a:t>
            </a:r>
            <a:r>
              <a:rPr lang="ko-KR" altLang="en-US" sz="2200" dirty="0">
                <a:ea typeface="나눔명조" pitchFamily="18" charset="-127"/>
              </a:rPr>
              <a:t>쓰레기 봉투</a:t>
            </a:r>
            <a:r>
              <a:rPr lang="en-US" altLang="ko-KR" sz="2200" dirty="0">
                <a:ea typeface="나눔명조" pitchFamily="18" charset="-127"/>
              </a:rPr>
              <a:t>”</a:t>
            </a:r>
            <a:r>
              <a:rPr lang="ko-KR" altLang="en-US" sz="2200" dirty="0">
                <a:ea typeface="나눔명조" pitchFamily="18" charset="-127"/>
              </a:rPr>
              <a:t>로의 재활용률이 상당히 낮은 </a:t>
            </a:r>
            <a:r>
              <a:rPr lang="ko-KR" altLang="en-US" sz="2200" dirty="0" err="1">
                <a:ea typeface="나눔명조" pitchFamily="18" charset="-127"/>
              </a:rPr>
              <a:t>누출현상이</a:t>
            </a:r>
            <a:r>
              <a:rPr lang="ko-KR" altLang="en-US" sz="2200" dirty="0">
                <a:ea typeface="나눔명조" pitchFamily="18" charset="-127"/>
              </a:rPr>
              <a:t>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A1F344DE-04F6-4008-AFC5-BB7816A9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CE66071E-F293-44A0-A8E6-457FDD48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8DD5C1-559C-4371-BBF5-3F546AA0B73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" name="Rectangle 1028">
            <a:extLst>
              <a:ext uri="{FF2B5EF4-FFF2-40B4-BE49-F238E27FC236}">
                <a16:creationId xmlns:a16="http://schemas.microsoft.com/office/drawing/2014/main" id="{FF8B5B4A-2B81-4A4A-8608-F0CC2457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855663"/>
            <a:ext cx="7312025" cy="5953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ko-KR" altLang="en-US" sz="2900" kern="0" dirty="0">
                <a:solidFill>
                  <a:srgbClr val="7030A0"/>
                </a:solidFill>
                <a:latin typeface="나눔고딕" pitchFamily="50" charset="-127"/>
                <a:ea typeface="나눔명조" pitchFamily="18" charset="-127"/>
              </a:rPr>
              <a:t>비닐봉투 규제의 누출효과</a:t>
            </a:r>
            <a:endParaRPr lang="en-US" altLang="ko-KR" sz="2900" kern="0" dirty="0">
              <a:solidFill>
                <a:srgbClr val="7030A0"/>
              </a:solidFill>
              <a:latin typeface="나눔고딕" pitchFamily="50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8878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C9C7491A-C8CC-4305-8DB5-0639CE13A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7775" y="4603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폐기물예치금제도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98EC0C6E-C210-480C-BA30-BBE7EDB1D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2163" y="1868488"/>
            <a:ext cx="7558087" cy="4114800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제품 생산자를 재활용이 가능한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폐용기의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회수 및 재활용에 참여하도록 하기 위해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1992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년부터 폐기물예치금제도가 시행됨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폐용기를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생산하는 생산자는 제품을 판매할 때 단위당 특정 금액의 예치금을 정부에 납부하고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사용된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폐용기를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회수</a:t>
            </a:r>
            <a:r>
              <a:rPr lang="en-US" altLang="ko-KR" sz="1600" dirty="0">
                <a:ea typeface="나눔명조" pitchFamily="18" charset="-127"/>
              </a:rPr>
              <a:t>·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재활용할 경우 예치금을 되돌려 받음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각 생산자는 예치금을 돌려받기 위해서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폐용기를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회수하고자 하는 노력을 기울이게 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1800" dirty="0">
                <a:ea typeface="나눔명조" pitchFamily="18" charset="-127"/>
              </a:rPr>
              <a:t>2003</a:t>
            </a:r>
            <a:r>
              <a:rPr lang="ko-KR" altLang="en-US" sz="1800" dirty="0">
                <a:ea typeface="나눔명조" pitchFamily="18" charset="-127"/>
              </a:rPr>
              <a:t>년부터 폐기물예치금제도를 보완한 종이팩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유리병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 err="1">
                <a:ea typeface="나눔명조" pitchFamily="18" charset="-127"/>
              </a:rPr>
              <a:t>금속캔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합성수지포장재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 err="1">
                <a:ea typeface="나눔명조" pitchFamily="18" charset="-127"/>
              </a:rPr>
              <a:t>전지류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타이어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윤활유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전자제품 등의 제품 및 포장재에 생산자책임재활용제도 도입</a:t>
            </a:r>
            <a:endParaRPr lang="en-US" altLang="ko-KR" sz="1800" dirty="0"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ea typeface="나눔명조"/>
              </a:rPr>
              <a:t>제품 생산자에게 그 폐기물에 대하여 일정량의 재활용의무를 부여하여 재활용하게 함</a:t>
            </a:r>
            <a:endParaRPr lang="en-US" altLang="ko-KR" sz="1600" dirty="0">
              <a:ea typeface="나눔명조"/>
            </a:endParaRPr>
          </a:p>
          <a:p>
            <a:pPr lvl="1" eaLnBrk="1" hangingPunct="1"/>
            <a:r>
              <a:rPr lang="ko-KR" altLang="en-US" sz="1600" dirty="0">
                <a:ea typeface="나눔명조"/>
              </a:rPr>
              <a:t>이행하지 않을 경우 재활용에 소요되는 비용 이상의 재활용 부과금을 생산자에게 부과</a:t>
            </a:r>
            <a:r>
              <a:rPr lang="en-US" altLang="ko-KR" sz="1600" dirty="0">
                <a:ea typeface="나눔명조"/>
              </a:rPr>
              <a:t> </a:t>
            </a:r>
            <a:endParaRPr lang="en-US" altLang="ko-KR" sz="2400" dirty="0">
              <a:latin typeface="나눔명조" pitchFamily="18" charset="-127"/>
              <a:ea typeface="나눔명조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63B5674B-E566-4E0E-A517-003D3C00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2EB5C5F7-8D27-443C-B902-520EE1C4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55B9C0-499B-46C1-90C9-0E4A62FC9EB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45F03057-E1EE-4260-833F-EB31D6CA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6A9CF582-4AFC-42F4-A38E-EB4A6723E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2A9241C0-7413-44B3-9E54-C722A92C8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8388" y="676275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탄소세나 혼잡통행료를 통한 수송부문 대기오염 관리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9C77164B-FB35-48BD-8A1E-7D0C707A7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325" y="1891561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자동차의 수가 크게 증가한 현재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가장 큰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대기오염원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가운데 하나가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수송부문에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의한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대기오염임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도로 혼잡에 따른 통행자의 시간적 손실 증가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엔진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공회전에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따른 연료소비 증가 등의 부작용이 있음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개별 운전자는 직접 부담해야 하는 유류가격만을 운행비용이라 인식하므로 사회적 기준으로 보면 지나치게 많은 운전자들이 자동차를 운행하게 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자동차 운행으로 인한 오염과 혼잡도를 감소시키기 위해서 휘발유에 대한 세금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혼잡통행료 징수 등의 방법으로 경제적 유인 제공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최근에는 경유자동차 조기 폐차 시 보상금 지급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전기자동차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충전시설에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대한 공공투자 확대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전기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수소 자동차 등 친환경자동차 구입시 보조금 지급 같은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유인제도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실행 </a:t>
            </a:r>
          </a:p>
        </p:txBody>
      </p:sp>
      <p:sp>
        <p:nvSpPr>
          <p:cNvPr id="44036" name="바닥글 개체 틀 4">
            <a:extLst>
              <a:ext uri="{FF2B5EF4-FFF2-40B4-BE49-F238E27FC236}">
                <a16:creationId xmlns:a16="http://schemas.microsoft.com/office/drawing/2014/main" id="{5022C64A-31AD-4FBA-95F2-1D289CED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4037" name="슬라이드 번호 개체 틀 5">
            <a:extLst>
              <a:ext uri="{FF2B5EF4-FFF2-40B4-BE49-F238E27FC236}">
                <a16:creationId xmlns:a16="http://schemas.microsoft.com/office/drawing/2014/main" id="{24BF6268-8290-4064-AF32-EBC55281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0E3190-113B-4E1F-9FB1-99A7033A362E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1FC4B928-F9F7-4BE7-B4B4-28FE59FBA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5209B10D-4B0E-4CFD-A12C-5E382318C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9">
            <a:extLst>
              <a:ext uri="{FF2B5EF4-FFF2-40B4-BE49-F238E27FC236}">
                <a16:creationId xmlns:a16="http://schemas.microsoft.com/office/drawing/2014/main" id="{72B8D02F-B7C1-47D1-86BA-FDA7A6525C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7" y="2133600"/>
            <a:ext cx="7312025" cy="4114800"/>
          </a:xfrm>
        </p:spPr>
        <p:txBody>
          <a:bodyPr/>
          <a:lstStyle/>
          <a:p>
            <a:pPr marL="514350" indent="-457200" eaLnBrk="1" hangingPunct="1"/>
            <a:r>
              <a:rPr lang="ko-KR" altLang="en-US" sz="2000" dirty="0">
                <a:ea typeface="나눔명조"/>
              </a:rPr>
              <a:t>자동차를 운행하면 운전자 스스로가 </a:t>
            </a:r>
            <a:r>
              <a:rPr lang="ko-KR" altLang="en-US" sz="2000" dirty="0" err="1">
                <a:ea typeface="나눔명조"/>
              </a:rPr>
              <a:t>연료비용과</a:t>
            </a:r>
            <a:r>
              <a:rPr lang="ko-KR" altLang="en-US" sz="2000" dirty="0">
                <a:ea typeface="나눔명조"/>
              </a:rPr>
              <a:t> </a:t>
            </a:r>
            <a:r>
              <a:rPr lang="ko-KR" altLang="en-US" sz="2000" dirty="0" err="1">
                <a:ea typeface="나눔명조"/>
              </a:rPr>
              <a:t>시간비용을</a:t>
            </a:r>
            <a:r>
              <a:rPr lang="ko-KR" altLang="en-US" sz="2000" dirty="0">
                <a:ea typeface="나눔명조"/>
              </a:rPr>
              <a:t> 지불해야 하지만</a:t>
            </a:r>
            <a:r>
              <a:rPr lang="en-US" altLang="ko-KR" sz="2000" dirty="0">
                <a:ea typeface="나눔명조"/>
              </a:rPr>
              <a:t>, </a:t>
            </a:r>
            <a:r>
              <a:rPr lang="ko-KR" altLang="en-US" sz="2000" dirty="0">
                <a:ea typeface="나눔명조"/>
              </a:rPr>
              <a:t>동시에 오염물질을 배출하고 도로 혼잡도를 높여 다른 사람들이 추가로 지불해야 하는 사회적 비용도 유발함 </a:t>
            </a:r>
            <a:r>
              <a:rPr lang="en-US" altLang="ko-KR" sz="2000" dirty="0">
                <a:ea typeface="나눔명조"/>
              </a:rPr>
              <a:t>(</a:t>
            </a:r>
            <a:r>
              <a:rPr lang="ko-KR" altLang="en-US" sz="2000" dirty="0">
                <a:ea typeface="나눔명조"/>
              </a:rPr>
              <a:t>외부효과</a:t>
            </a:r>
            <a:r>
              <a:rPr lang="en-US" altLang="ko-KR" sz="2000" dirty="0">
                <a:ea typeface="나눔명조"/>
              </a:rPr>
              <a:t>)</a:t>
            </a:r>
          </a:p>
          <a:p>
            <a:pPr marL="914400" lvl="1" indent="-457200" eaLnBrk="1" hangingPunct="1"/>
            <a:r>
              <a:rPr lang="ko-KR" altLang="en-US" sz="1800" dirty="0">
                <a:ea typeface="나눔명조"/>
              </a:rPr>
              <a:t>미국과 중국의 연구진</a:t>
            </a:r>
            <a:r>
              <a:rPr lang="en-US" altLang="ko-KR" sz="1800" dirty="0">
                <a:ea typeface="나눔명조"/>
              </a:rPr>
              <a:t>(Yang et al., 2020)</a:t>
            </a:r>
            <a:r>
              <a:rPr lang="ko-KR" altLang="en-US" sz="1800" dirty="0">
                <a:ea typeface="나눔명조"/>
              </a:rPr>
              <a:t>은 베이징에서 차량 한 대가 더 도로에 나오면서 유발하는 사회적 비용을 혼잡도 증가효과를 통해 도출</a:t>
            </a:r>
            <a:endParaRPr lang="en-US" altLang="ko-KR" sz="1800" dirty="0">
              <a:ea typeface="나눔명조"/>
            </a:endParaRPr>
          </a:p>
          <a:p>
            <a:pPr marL="914400" lvl="1" indent="-457200" eaLnBrk="1" hangingPunct="1"/>
            <a:r>
              <a:rPr lang="ko-KR" altLang="en-US" sz="1800" dirty="0">
                <a:ea typeface="나눔명조"/>
              </a:rPr>
              <a:t>사회적 비용이 출퇴근시간에는 </a:t>
            </a:r>
            <a:r>
              <a:rPr lang="en-US" altLang="ko-KR" sz="1800" dirty="0">
                <a:ea typeface="나눔명조"/>
              </a:rPr>
              <a:t>km</a:t>
            </a:r>
            <a:r>
              <a:rPr lang="ko-KR" altLang="en-US" sz="1800" dirty="0">
                <a:ea typeface="나눔명조"/>
              </a:rPr>
              <a:t>당 한국 돈으로 약 </a:t>
            </a:r>
            <a:r>
              <a:rPr lang="en-US" altLang="ko-KR" sz="1800" dirty="0">
                <a:ea typeface="나눔명조"/>
              </a:rPr>
              <a:t>160</a:t>
            </a:r>
            <a:r>
              <a:rPr lang="ko-KR" altLang="en-US" sz="1800" dirty="0">
                <a:ea typeface="나눔명조"/>
              </a:rPr>
              <a:t>원에 달하는 것으로 추정되었음</a:t>
            </a:r>
            <a:endParaRPr lang="en-US" altLang="ko-KR" sz="1800" dirty="0">
              <a:ea typeface="나눔명조"/>
            </a:endParaRPr>
          </a:p>
          <a:p>
            <a:pPr marL="914400" lvl="1" indent="-457200" eaLnBrk="1" hangingPunct="1"/>
            <a:r>
              <a:rPr lang="ko-KR" altLang="en-US" sz="1800" dirty="0">
                <a:ea typeface="나눔명조"/>
              </a:rPr>
              <a:t>이러한 사회적 비용을 도로 이용요금으로 부과하면 자동차운행을 줄이는 유인으로 작용해 출퇴근시간 </a:t>
            </a:r>
            <a:r>
              <a:rPr lang="ko-KR" altLang="en-US" sz="1800" dirty="0" err="1">
                <a:ea typeface="나눔명조"/>
              </a:rPr>
              <a:t>평균시속을</a:t>
            </a:r>
            <a:r>
              <a:rPr lang="ko-KR" altLang="en-US" sz="1800" dirty="0">
                <a:ea typeface="나눔명조"/>
              </a:rPr>
              <a:t> </a:t>
            </a:r>
            <a:r>
              <a:rPr lang="en-US" altLang="ko-KR" sz="1800" dirty="0">
                <a:ea typeface="나눔명조"/>
              </a:rPr>
              <a:t>10% </a:t>
            </a:r>
            <a:r>
              <a:rPr lang="ko-KR" altLang="en-US" sz="1800" dirty="0">
                <a:ea typeface="나눔명조"/>
              </a:rPr>
              <a:t>정도 높일 것으로 예상</a:t>
            </a:r>
            <a:endParaRPr lang="ko-KR" altLang="en-US" sz="1800" dirty="0">
              <a:ea typeface="굴림" panose="020B0600000101010101" pitchFamily="50" charset="-127"/>
            </a:endParaRPr>
          </a:p>
          <a:p>
            <a:pPr marL="514350" indent="-457200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바닥글 개체 틀 4">
            <a:extLst>
              <a:ext uri="{FF2B5EF4-FFF2-40B4-BE49-F238E27FC236}">
                <a16:creationId xmlns:a16="http://schemas.microsoft.com/office/drawing/2014/main" id="{E3742CB5-D317-4F12-9641-BA6C9C54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6084" name="슬라이드 번호 개체 틀 5">
            <a:extLst>
              <a:ext uri="{FF2B5EF4-FFF2-40B4-BE49-F238E27FC236}">
                <a16:creationId xmlns:a16="http://schemas.microsoft.com/office/drawing/2014/main" id="{BE71926F-A4AA-4925-B5D4-B3908D7E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BBB603-A85B-4D36-8395-ECD77BC14F7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" name="Rectangle 1028">
            <a:extLst>
              <a:ext uri="{FF2B5EF4-FFF2-40B4-BE49-F238E27FC236}">
                <a16:creationId xmlns:a16="http://schemas.microsoft.com/office/drawing/2014/main" id="{98E8E6C3-750E-498D-8D15-445CEF3CC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855663"/>
            <a:ext cx="7312025" cy="5953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ko-KR" altLang="en-US" sz="2900" kern="0" dirty="0">
                <a:solidFill>
                  <a:srgbClr val="7030A0"/>
                </a:solidFill>
                <a:latin typeface="나눔고딕" pitchFamily="50" charset="-127"/>
                <a:ea typeface="나눔명조" pitchFamily="18" charset="-127"/>
              </a:rPr>
              <a:t>도로주행의 사회적 비용</a:t>
            </a:r>
            <a:endParaRPr lang="en-US" altLang="ko-KR" sz="2900" kern="0" dirty="0">
              <a:solidFill>
                <a:srgbClr val="7030A0"/>
              </a:solidFill>
              <a:latin typeface="나눔고딕" pitchFamily="50" charset="-127"/>
              <a:ea typeface="나눔명조" pitchFamily="18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D66E11F5-A351-4D97-A7F0-7A61B1F78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환경경제학의 주요주제</a:t>
            </a: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F7E7CF8A-2720-4CE0-9060-D9FB63ED6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94310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시장의 실패와 외부효과에 관한 이론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환경정책의 수립과 집행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환경정책의 비용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편익 분석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경제발전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국제무역과 환경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1982443F-66A2-44B4-9551-AF79DBF1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34A4ECC6-CDED-4C54-A536-01E6337CC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585816-57A4-4C64-8EA5-ABD2E3C58C26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590928F3-12FD-49A4-B17F-FBE243EC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562686B7-29C7-4A18-B920-895D14583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30">
            <a:extLst>
              <a:ext uri="{FF2B5EF4-FFF2-40B4-BE49-F238E27FC236}">
                <a16:creationId xmlns:a16="http://schemas.microsoft.com/office/drawing/2014/main" id="{BE06CB76-E8A3-4C2F-A2C1-7ABE334C4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588" y="3016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시장의 실패와 외부효과에 관한 이론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5" name="Rectangle 1031">
            <a:extLst>
              <a:ext uri="{FF2B5EF4-FFF2-40B4-BE49-F238E27FC236}">
                <a16:creationId xmlns:a16="http://schemas.microsoft.com/office/drawing/2014/main" id="{45356863-5E24-47CC-BCDE-12A999A8CD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44625"/>
            <a:ext cx="7313613" cy="4670425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일반 재화의 시장이 효율적으로 작동할 수 있는 것은 재화의 소유권이 분명하고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소유에 따른 모든 권리와 책임은 소유주에게만 귀속되며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소유권이 시장에서 자유롭게 거래될 수 있기 때문임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환경재는 많은 경우 시장 자체가 존재하지 않거나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존재하더라도 시장이 효율적으로 작동하기 위해 필요한 전제조건들이 충족되지 못함</a:t>
            </a:r>
          </a:p>
          <a:p>
            <a:pPr lvl="1" eaLnBrk="1" hangingPunct="1"/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ex1)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공해상의 수산자원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마을 공동소유자원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소유권부재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ex2)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대기질 개선을 위한 비용을 부담하지 않은 사람이 깨끗한 공기를 소비하는 것을 막지 못함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비배타성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ex3)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공장의 소음이 인접 주택에 미치는 영향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외부효과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6" name="바닥글 개체 틀 4">
            <a:extLst>
              <a:ext uri="{FF2B5EF4-FFF2-40B4-BE49-F238E27FC236}">
                <a16:creationId xmlns:a16="http://schemas.microsoft.com/office/drawing/2014/main" id="{5B35DCE0-6B7B-449A-A36B-948BE3FF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157" name="슬라이드 번호 개체 틀 5">
            <a:extLst>
              <a:ext uri="{FF2B5EF4-FFF2-40B4-BE49-F238E27FC236}">
                <a16:creationId xmlns:a16="http://schemas.microsoft.com/office/drawing/2014/main" id="{382F1E4B-A359-4FA6-8D93-42C93B39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A65AC4-F918-45A0-92C7-D9C953444F7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9158" name="Rectangle 1026">
            <a:extLst>
              <a:ext uri="{FF2B5EF4-FFF2-40B4-BE49-F238E27FC236}">
                <a16:creationId xmlns:a16="http://schemas.microsoft.com/office/drawing/2014/main" id="{5643B87B-99FE-4827-B484-AFA32D4B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9" name="Rectangle 1027">
            <a:extLst>
              <a:ext uri="{FF2B5EF4-FFF2-40B4-BE49-F238E27FC236}">
                <a16:creationId xmlns:a16="http://schemas.microsoft.com/office/drawing/2014/main" id="{34B5A4AC-729F-461D-95A3-9D007EC4A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0">
            <a:extLst>
              <a:ext uri="{FF2B5EF4-FFF2-40B4-BE49-F238E27FC236}">
                <a16:creationId xmlns:a16="http://schemas.microsoft.com/office/drawing/2014/main" id="{28C8AFA8-D19A-451F-8CAD-9BAD2FFDA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588" y="3016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시장의 실패와 외부효과에 관한 이론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1031">
            <a:extLst>
              <a:ext uri="{FF2B5EF4-FFF2-40B4-BE49-F238E27FC236}">
                <a16:creationId xmlns:a16="http://schemas.microsoft.com/office/drawing/2014/main" id="{5FBEF7EF-33D7-4B21-888D-98C2A700B0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488" y="1789113"/>
            <a:ext cx="7439025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환경재를 이용할 때는 다양한 시장실패가 발생하고 지나친 환경오염의 가능성이 있음</a:t>
            </a:r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환경경제학의 주요 주제</a:t>
            </a: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환경재의 어떠한 특징이 시장의 실패를 유발하며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사회적으로 바람직한 수준의 오염도를 달성하고자 한다면 어느 정도의 환경재를 사용해야 하는지를 파악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시장의 실패를 보정하고 효율적인 환경재 이용을 달성하기 위해서는 어떤 경제적 유인을 어느 정도 사용해야 하는지 검토 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>
                <a:latin typeface="HY신명조" panose="02030600000101010101" pitchFamily="18" charset="-127"/>
                <a:ea typeface="HY신명조" panose="02030600000101010101" pitchFamily="18" charset="-127"/>
              </a:rPr>
              <a:t>Ⅱ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부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F7A32BF8-E650-4342-9A81-A5B43D6D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AF70D987-03CF-4E8E-9FDA-DDDFF818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851B38-36AD-41CC-A356-68131CA756BE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6" name="Rectangle 1026">
            <a:extLst>
              <a:ext uri="{FF2B5EF4-FFF2-40B4-BE49-F238E27FC236}">
                <a16:creationId xmlns:a16="http://schemas.microsoft.com/office/drawing/2014/main" id="{BC5EA00C-257D-43AA-80DE-FF833889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7" name="Rectangle 1027">
            <a:extLst>
              <a:ext uri="{FF2B5EF4-FFF2-40B4-BE49-F238E27FC236}">
                <a16:creationId xmlns:a16="http://schemas.microsoft.com/office/drawing/2014/main" id="{64E63C6A-C505-498F-AD7F-F3EDD6B09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>
            <a:extLst>
              <a:ext uri="{FF2B5EF4-FFF2-40B4-BE49-F238E27FC236}">
                <a16:creationId xmlns:a16="http://schemas.microsoft.com/office/drawing/2014/main" id="{5DC7411F-53AA-42A2-8B98-B59860A6C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수립과 집행</a:t>
            </a:r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B8A55FE3-4C50-4847-A6DA-892DBD5724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8" y="1698625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환경정책은 매우 다양하며 오염도를 줄이는 정도나 경제전반에 미치는 영향의 정도는 서로 다름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바람직한 환경정책을 선택하기 위해 적용하는 환경정책의 평가기준도 여러가지임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비용측면의 효율성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공정한 소득분배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정책이 사회 전반적인 도덕률과 일치하는지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오염물질관리를 위한 기술개발을 촉진할 수 있는 정책인지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오염자가 실제로 그 규제수준을 정확하고 정직하게 준수할 수 있는지 등</a:t>
            </a:r>
            <a:endParaRPr lang="ko-KR" altLang="en-US" sz="24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여러 가지 평가기준에서 볼 때 각 환경정책이 어떤 상황에서 상대적인 우월성을 가지며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정책을 수행할 때 어떤 점에 주의해야 하는지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>
                <a:latin typeface="HY신명조" panose="02030600000101010101" pitchFamily="18" charset="-127"/>
                <a:ea typeface="HY신명조" panose="02030600000101010101" pitchFamily="18" charset="-127"/>
              </a:rPr>
              <a:t>Ⅲ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부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)</a:t>
            </a:r>
          </a:p>
        </p:txBody>
      </p:sp>
      <p:sp>
        <p:nvSpPr>
          <p:cNvPr id="53252" name="바닥글 개체 틀 4">
            <a:extLst>
              <a:ext uri="{FF2B5EF4-FFF2-40B4-BE49-F238E27FC236}">
                <a16:creationId xmlns:a16="http://schemas.microsoft.com/office/drawing/2014/main" id="{55F1887C-009E-4C10-BE03-02044E05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253" name="슬라이드 번호 개체 틀 5">
            <a:extLst>
              <a:ext uri="{FF2B5EF4-FFF2-40B4-BE49-F238E27FC236}">
                <a16:creationId xmlns:a16="http://schemas.microsoft.com/office/drawing/2014/main" id="{B7785E02-E972-49BF-99AF-FBD5385B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D7EBFF-40C0-417F-B9B1-F8BDCB4D9D0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E20E7338-FDF4-420F-BD98-49CBA726E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7D449B91-511D-42D6-BB25-C442E5FAE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>
            <a:extLst>
              <a:ext uri="{FF2B5EF4-FFF2-40B4-BE49-F238E27FC236}">
                <a16:creationId xmlns:a16="http://schemas.microsoft.com/office/drawing/2014/main" id="{5F292D98-8D77-49DC-B6C2-B818630A1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 분석</a:t>
            </a:r>
          </a:p>
        </p:txBody>
      </p:sp>
      <p:sp>
        <p:nvSpPr>
          <p:cNvPr id="149511" name="Rectangle 7">
            <a:extLst>
              <a:ext uri="{FF2B5EF4-FFF2-40B4-BE49-F238E27FC236}">
                <a16:creationId xmlns:a16="http://schemas.microsoft.com/office/drawing/2014/main" id="{B8705CDA-DF91-4EB2-9553-8B822B12E5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5987" y="1423270"/>
            <a:ext cx="731202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사회적으로 바람직한 수준의 오염도는 어느 정도이고 가장 효율적인 정책이 무엇인지 파악하려면 환경정책의 비용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편익 분석이 필요함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ex)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하천 수질이 개선될수록 국민들이 느끼는 편익과 비용은 동시에 증가함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따라서 정책 가운데 편익에서 비용을 제외한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순편익이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어느 경우에 가장 큰지를 파악할 수 있어야 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</a:p>
          <a:p>
            <a:pPr lvl="1" eaLnBrk="1" hangingPunct="1"/>
            <a:r>
              <a:rPr lang="ko-KR" altLang="en-US" sz="1800" dirty="0">
                <a:ea typeface="나눔명조"/>
              </a:rPr>
              <a:t>목표로 하고 있는 수질을 달성하는 데에는 여러 가지 방법이 있을 수 있으므로 이들을 시행하는 데에 어느 정도의 비용이 소요되는지도 파악해야 함</a:t>
            </a:r>
            <a:endParaRPr lang="en-US" altLang="ko-KR" sz="1800" dirty="0">
              <a:latin typeface="나눔명조" pitchFamily="18" charset="-127"/>
              <a:ea typeface="나눔명조"/>
            </a:endParaRP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경우 시장가격이 존재하지 않는 경우가 많아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환경수준의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변화로 인한 편익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비용을 분석하는 것이 어려움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환경정책의 편익과 비용을 분석하는 것이 환경경제학의 주요 주제 중 하나임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IV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5300" name="바닥글 개체 틀 4">
            <a:extLst>
              <a:ext uri="{FF2B5EF4-FFF2-40B4-BE49-F238E27FC236}">
                <a16:creationId xmlns:a16="http://schemas.microsoft.com/office/drawing/2014/main" id="{F6D03BBF-214F-4930-80B4-F2D6A7E1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301" name="슬라이드 번호 개체 틀 5">
            <a:extLst>
              <a:ext uri="{FF2B5EF4-FFF2-40B4-BE49-F238E27FC236}">
                <a16:creationId xmlns:a16="http://schemas.microsoft.com/office/drawing/2014/main" id="{4EF081F1-F563-4D3E-884D-1B7A401D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4B7E56-D7F4-430C-9BBA-E623CE97438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768CA29B-ED25-42E1-BF89-8E89B91CA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0E43C6DA-02B9-421D-8329-8911D2C15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9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9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9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>
            <a:extLst>
              <a:ext uri="{FF2B5EF4-FFF2-40B4-BE49-F238E27FC236}">
                <a16:creationId xmlns:a16="http://schemas.microsoft.com/office/drawing/2014/main" id="{B0E79E4F-7B10-45A8-8C98-042550EE0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417513"/>
            <a:ext cx="7312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국제무역과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전지구적 환경문제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D761534C-118A-4F6C-BB42-77480DF84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7888" y="1847850"/>
            <a:ext cx="7693025" cy="4114800"/>
          </a:xfrm>
        </p:spPr>
        <p:txBody>
          <a:bodyPr/>
          <a:lstStyle/>
          <a:p>
            <a:pPr eaLnBrk="1" hangingPunct="1"/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경제발전이 환경오염도에 미치는 영향은 어떠하며</a:t>
            </a:r>
            <a:r>
              <a:rPr lang="en-US" altLang="ko-KR" sz="27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왜 국가 간 오염도의 차이가 발생하는지</a:t>
            </a:r>
            <a:r>
              <a:rPr lang="en-US" altLang="ko-KR" sz="27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700">
                <a:latin typeface="나눔명조" pitchFamily="18" charset="-127"/>
                <a:ea typeface="나눔명조" pitchFamily="18" charset="-127"/>
              </a:rPr>
              <a:t>V</a:t>
            </a:r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부</a:t>
            </a:r>
            <a:r>
              <a:rPr lang="en-US" altLang="ko-KR" sz="270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eaLnBrk="1" hangingPunct="1"/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지속가능한 경제발전을 위해서는 어떤 방도를 마련하여야 하는지</a:t>
            </a:r>
          </a:p>
          <a:p>
            <a:pPr eaLnBrk="1" hangingPunct="1"/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국제무역이 환경오염에 미치는 영향과</a:t>
            </a:r>
            <a:r>
              <a:rPr lang="en-US" altLang="ko-KR" sz="27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700">
                <a:latin typeface="나눔명조" pitchFamily="18" charset="-127"/>
                <a:ea typeface="나눔명조" pitchFamily="18" charset="-127"/>
              </a:rPr>
              <a:t>오존층 파괴나 기후변화와 같은 전 지구적 차원의 환경문제를 풀어가기 위해 어떤 노력들이 진행되고 있는지</a:t>
            </a:r>
          </a:p>
        </p:txBody>
      </p:sp>
      <p:sp>
        <p:nvSpPr>
          <p:cNvPr id="57348" name="바닥글 개체 틀 4">
            <a:extLst>
              <a:ext uri="{FF2B5EF4-FFF2-40B4-BE49-F238E27FC236}">
                <a16:creationId xmlns:a16="http://schemas.microsoft.com/office/drawing/2014/main" id="{61DA4474-11CF-4237-974B-7BF1DCBF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1</a:t>
            </a:r>
            <a:endParaRPr lang="en-US" altLang="ko-KR" sz="12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7349" name="슬라이드 번호 개체 틀 5">
            <a:extLst>
              <a:ext uri="{FF2B5EF4-FFF2-40B4-BE49-F238E27FC236}">
                <a16:creationId xmlns:a16="http://schemas.microsoft.com/office/drawing/2014/main" id="{2429D396-3BE5-422D-8E5F-1A3D5C2F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EA7132-D359-401C-84ED-1912CABCF19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FD402AE1-3EE8-4906-87A6-80872F858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DEDA35BE-4CBF-4492-9CE4-46D6E9AC4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1436</TotalTime>
  <Words>1675</Words>
  <Application>Microsoft Office PowerPoint</Application>
  <PresentationFormat>화면 슬라이드 쇼(4:3)</PresentationFormat>
  <Paragraphs>207</Paragraphs>
  <Slides>27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9" baseType="lpstr">
      <vt:lpstr>HY신명조</vt:lpstr>
      <vt:lpstr>굴림</vt:lpstr>
      <vt:lpstr>나눔 명조</vt:lpstr>
      <vt:lpstr>나눔고딕</vt:lpstr>
      <vt:lpstr>나눔명조</vt:lpstr>
      <vt:lpstr>맑은 고딕</vt:lpstr>
      <vt:lpstr>Arial</vt:lpstr>
      <vt:lpstr>Century Gothic</vt:lpstr>
      <vt:lpstr>Times New Roman</vt:lpstr>
      <vt:lpstr>Verdana</vt:lpstr>
      <vt:lpstr>Wingdings</vt:lpstr>
      <vt:lpstr>Pindyck</vt:lpstr>
      <vt:lpstr>환경경제학</vt:lpstr>
      <vt:lpstr>Ⅰ. 서 론</vt:lpstr>
      <vt:lpstr>1장 개요</vt:lpstr>
      <vt:lpstr>경제학</vt:lpstr>
      <vt:lpstr>미시경제학과 거시경제학</vt:lpstr>
      <vt:lpstr>환경경제학</vt:lpstr>
      <vt:lpstr>환경경제학과 여타학문과의 차별성</vt:lpstr>
      <vt:lpstr>환경경제학과 여타학문과의 차별성</vt:lpstr>
      <vt:lpstr>환경경제학의 관심</vt:lpstr>
      <vt:lpstr>환경경제학의 관심</vt:lpstr>
      <vt:lpstr>환경경제학의 관심</vt:lpstr>
      <vt:lpstr>환경경제학의 존재이유</vt:lpstr>
      <vt:lpstr>환경경제학의 존재이유</vt:lpstr>
      <vt:lpstr>PowerPoint 프레젠테이션</vt:lpstr>
      <vt:lpstr>경제적 유인을 이용하여 환경이용 형태를 변화시키는 예</vt:lpstr>
      <vt:lpstr>쓰레기종량제</vt:lpstr>
      <vt:lpstr>PowerPoint 프레젠테이션</vt:lpstr>
      <vt:lpstr>PowerPoint 프레젠테이션</vt:lpstr>
      <vt:lpstr>폐기물예치금제도</vt:lpstr>
      <vt:lpstr>탄소세나 혼잡통행료를 통한 수송부문 대기오염 관리</vt:lpstr>
      <vt:lpstr>PowerPoint 프레젠테이션</vt:lpstr>
      <vt:lpstr>환경경제학의 주요주제</vt:lpstr>
      <vt:lpstr>시장의 실패와 외부효과에 관한 이론</vt:lpstr>
      <vt:lpstr>시장의 실패와 외부효과에 관한 이론</vt:lpstr>
      <vt:lpstr>환경정책의 수립과 집행</vt:lpstr>
      <vt:lpstr>환경정책의 비용-편익 분석</vt:lpstr>
      <vt:lpstr>경제발전, 국제무역과 환경, 전지구적 환경문제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168</cp:revision>
  <dcterms:created xsi:type="dcterms:W3CDTF">1997-07-14T00:22:12Z</dcterms:created>
  <dcterms:modified xsi:type="dcterms:W3CDTF">2025-02-18T22:33:04Z</dcterms:modified>
</cp:coreProperties>
</file>