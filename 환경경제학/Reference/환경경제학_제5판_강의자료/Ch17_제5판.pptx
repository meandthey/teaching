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68"/>
  </p:notesMasterIdLst>
  <p:handoutMasterIdLst>
    <p:handoutMasterId r:id="rId69"/>
  </p:handoutMasterIdLst>
  <p:sldIdLst>
    <p:sldId id="262" r:id="rId2"/>
    <p:sldId id="345" r:id="rId3"/>
    <p:sldId id="266" r:id="rId4"/>
    <p:sldId id="346" r:id="rId5"/>
    <p:sldId id="347" r:id="rId6"/>
    <p:sldId id="353" r:id="rId7"/>
    <p:sldId id="348" r:id="rId8"/>
    <p:sldId id="350" r:id="rId9"/>
    <p:sldId id="354" r:id="rId10"/>
    <p:sldId id="355" r:id="rId11"/>
    <p:sldId id="356" r:id="rId12"/>
    <p:sldId id="351" r:id="rId13"/>
    <p:sldId id="352" r:id="rId14"/>
    <p:sldId id="357" r:id="rId15"/>
    <p:sldId id="358" r:id="rId16"/>
    <p:sldId id="406" r:id="rId17"/>
    <p:sldId id="360" r:id="rId18"/>
    <p:sldId id="361" r:id="rId19"/>
    <p:sldId id="365" r:id="rId20"/>
    <p:sldId id="362" r:id="rId21"/>
    <p:sldId id="366" r:id="rId22"/>
    <p:sldId id="369" r:id="rId23"/>
    <p:sldId id="370" r:id="rId24"/>
    <p:sldId id="367" r:id="rId25"/>
    <p:sldId id="371" r:id="rId26"/>
    <p:sldId id="407" r:id="rId27"/>
    <p:sldId id="372" r:id="rId28"/>
    <p:sldId id="373" r:id="rId29"/>
    <p:sldId id="374" r:id="rId30"/>
    <p:sldId id="368" r:id="rId31"/>
    <p:sldId id="376" r:id="rId32"/>
    <p:sldId id="380" r:id="rId33"/>
    <p:sldId id="408" r:id="rId34"/>
    <p:sldId id="377" r:id="rId35"/>
    <p:sldId id="381" r:id="rId36"/>
    <p:sldId id="382" r:id="rId37"/>
    <p:sldId id="383" r:id="rId38"/>
    <p:sldId id="378" r:id="rId39"/>
    <p:sldId id="409" r:id="rId40"/>
    <p:sldId id="410" r:id="rId41"/>
    <p:sldId id="411" r:id="rId42"/>
    <p:sldId id="379" r:id="rId43"/>
    <p:sldId id="385" r:id="rId44"/>
    <p:sldId id="386" r:id="rId45"/>
    <p:sldId id="387" r:id="rId46"/>
    <p:sldId id="389" r:id="rId47"/>
    <p:sldId id="412" r:id="rId48"/>
    <p:sldId id="388" r:id="rId49"/>
    <p:sldId id="390" r:id="rId50"/>
    <p:sldId id="391" r:id="rId51"/>
    <p:sldId id="392" r:id="rId52"/>
    <p:sldId id="393" r:id="rId53"/>
    <p:sldId id="413" r:id="rId54"/>
    <p:sldId id="396" r:id="rId55"/>
    <p:sldId id="397" r:id="rId56"/>
    <p:sldId id="414" r:id="rId57"/>
    <p:sldId id="415" r:id="rId58"/>
    <p:sldId id="416" r:id="rId59"/>
    <p:sldId id="417" r:id="rId60"/>
    <p:sldId id="418" r:id="rId61"/>
    <p:sldId id="398" r:id="rId62"/>
    <p:sldId id="399" r:id="rId63"/>
    <p:sldId id="400" r:id="rId64"/>
    <p:sldId id="395" r:id="rId65"/>
    <p:sldId id="405" r:id="rId66"/>
    <p:sldId id="326" r:id="rId67"/>
  </p:sldIdLst>
  <p:sldSz cx="9144000" cy="6858000" type="screen4x3"/>
  <p:notesSz cx="6858000" cy="9144000"/>
  <p:kinsoku lang="ko-KR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DAEDD1"/>
    <a:srgbClr val="C4E3B5"/>
    <a:srgbClr val="663300"/>
    <a:srgbClr val="1C4E35"/>
    <a:srgbClr val="FFFFFF"/>
    <a:srgbClr val="B2B2B2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79" autoAdjust="0"/>
    <p:restoredTop sz="94662" autoAdjust="0"/>
  </p:normalViewPr>
  <p:slideViewPr>
    <p:cSldViewPr snapToGrid="0">
      <p:cViewPr varScale="1">
        <p:scale>
          <a:sx n="88" d="100"/>
          <a:sy n="88" d="100"/>
        </p:scale>
        <p:origin x="144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147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F8E42A3D-8AD1-4D24-A362-ADC30A88E5C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8F4259B-4788-4608-A331-C6B2E6D9EE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C779AF57-F8D6-4409-902A-6FD95757A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67672468-EA2B-4887-A483-2BD588A8E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75780" name="Rectangle 4">
            <a:extLst>
              <a:ext uri="{FF2B5EF4-FFF2-40B4-BE49-F238E27FC236}">
                <a16:creationId xmlns:a16="http://schemas.microsoft.com/office/drawing/2014/main" id="{2EC7A8E4-2A75-463D-9479-50875EECD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5781" name="Rectangle 5">
            <a:extLst>
              <a:ext uri="{FF2B5EF4-FFF2-40B4-BE49-F238E27FC236}">
                <a16:creationId xmlns:a16="http://schemas.microsoft.com/office/drawing/2014/main" id="{C86C3DAC-F447-4685-9E47-CC5EA7AA3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5782" name="Rectangle 6">
            <a:extLst>
              <a:ext uri="{FF2B5EF4-FFF2-40B4-BE49-F238E27FC236}">
                <a16:creationId xmlns:a16="http://schemas.microsoft.com/office/drawing/2014/main" id="{4E387266-AB7C-401B-B846-3264E9E898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5783" name="Rectangle 7">
            <a:extLst>
              <a:ext uri="{FF2B5EF4-FFF2-40B4-BE49-F238E27FC236}">
                <a16:creationId xmlns:a16="http://schemas.microsoft.com/office/drawing/2014/main" id="{3BEAA525-9DB2-4D36-A9EB-7727F41089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D2496B87-E138-4E19-AE56-70B7FA06E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B7F61D2D-F57D-43E1-A933-E2E16D658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6804" name="Rectangle 4">
            <a:extLst>
              <a:ext uri="{FF2B5EF4-FFF2-40B4-BE49-F238E27FC236}">
                <a16:creationId xmlns:a16="http://schemas.microsoft.com/office/drawing/2014/main" id="{027045B6-931E-4EC6-B8B2-A904BFF27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5FAB8DF0-FF16-4052-9832-869227F4C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6" name="Rectangle 6">
            <a:extLst>
              <a:ext uri="{FF2B5EF4-FFF2-40B4-BE49-F238E27FC236}">
                <a16:creationId xmlns:a16="http://schemas.microsoft.com/office/drawing/2014/main" id="{2DFFC1E5-7F59-4207-BEFB-2687C72D01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6807" name="Rectangle 7">
            <a:extLst>
              <a:ext uri="{FF2B5EF4-FFF2-40B4-BE49-F238E27FC236}">
                <a16:creationId xmlns:a16="http://schemas.microsoft.com/office/drawing/2014/main" id="{45EE2346-B23A-4B56-9977-02DA19515A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18B1AD98-2FB8-4D17-BA29-A23269520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C5A44F01-3B48-43FB-9858-BECF40753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77828" name="Rectangle 4">
            <a:extLst>
              <a:ext uri="{FF2B5EF4-FFF2-40B4-BE49-F238E27FC236}">
                <a16:creationId xmlns:a16="http://schemas.microsoft.com/office/drawing/2014/main" id="{56DB8D17-BC08-4A43-88ED-8363BFA90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7829" name="Rectangle 5">
            <a:extLst>
              <a:ext uri="{FF2B5EF4-FFF2-40B4-BE49-F238E27FC236}">
                <a16:creationId xmlns:a16="http://schemas.microsoft.com/office/drawing/2014/main" id="{40FB8EA5-0E36-4F22-84B5-486456C71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7830" name="Rectangle 6">
            <a:extLst>
              <a:ext uri="{FF2B5EF4-FFF2-40B4-BE49-F238E27FC236}">
                <a16:creationId xmlns:a16="http://schemas.microsoft.com/office/drawing/2014/main" id="{A0CE7D7E-A58F-4703-BA12-1281CDCB8B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7831" name="Rectangle 7">
            <a:extLst>
              <a:ext uri="{FF2B5EF4-FFF2-40B4-BE49-F238E27FC236}">
                <a16:creationId xmlns:a16="http://schemas.microsoft.com/office/drawing/2014/main" id="{4D592791-8647-4CB5-A2DD-CF39705929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DDAF855C-B50B-4287-884F-1780D9810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30AF8A46-4E3A-4CD6-B7F9-7DBC81B17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78852" name="Rectangle 4">
            <a:extLst>
              <a:ext uri="{FF2B5EF4-FFF2-40B4-BE49-F238E27FC236}">
                <a16:creationId xmlns:a16="http://schemas.microsoft.com/office/drawing/2014/main" id="{6BAC95CB-BD22-48C7-AD82-626CE938E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8853" name="Rectangle 5">
            <a:extLst>
              <a:ext uri="{FF2B5EF4-FFF2-40B4-BE49-F238E27FC236}">
                <a16:creationId xmlns:a16="http://schemas.microsoft.com/office/drawing/2014/main" id="{C373F854-3837-4544-A485-9F89E114D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8854" name="Rectangle 6">
            <a:extLst>
              <a:ext uri="{FF2B5EF4-FFF2-40B4-BE49-F238E27FC236}">
                <a16:creationId xmlns:a16="http://schemas.microsoft.com/office/drawing/2014/main" id="{29265757-A125-49E0-A867-8E742E05C9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8855" name="Rectangle 7">
            <a:extLst>
              <a:ext uri="{FF2B5EF4-FFF2-40B4-BE49-F238E27FC236}">
                <a16:creationId xmlns:a16="http://schemas.microsoft.com/office/drawing/2014/main" id="{D0655C4F-5E4C-4C09-97AF-03219A5AAC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9E2A8475-DDD6-4ED3-8CEE-5ABB98C06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1602C8C5-D824-4407-963A-879964C75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79876" name="Rectangle 4">
            <a:extLst>
              <a:ext uri="{FF2B5EF4-FFF2-40B4-BE49-F238E27FC236}">
                <a16:creationId xmlns:a16="http://schemas.microsoft.com/office/drawing/2014/main" id="{3D539123-42ED-46BF-BB6F-7DFD853FD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9877" name="Rectangle 5">
            <a:extLst>
              <a:ext uri="{FF2B5EF4-FFF2-40B4-BE49-F238E27FC236}">
                <a16:creationId xmlns:a16="http://schemas.microsoft.com/office/drawing/2014/main" id="{52042570-7E83-46C8-BA09-8F8A6DAED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9878" name="Rectangle 6">
            <a:extLst>
              <a:ext uri="{FF2B5EF4-FFF2-40B4-BE49-F238E27FC236}">
                <a16:creationId xmlns:a16="http://schemas.microsoft.com/office/drawing/2014/main" id="{E3448D08-BB97-48AA-A196-7B0C0ECB60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9879" name="Rectangle 7">
            <a:extLst>
              <a:ext uri="{FF2B5EF4-FFF2-40B4-BE49-F238E27FC236}">
                <a16:creationId xmlns:a16="http://schemas.microsoft.com/office/drawing/2014/main" id="{8E5AAFA4-C4FD-4E61-8AA5-806F3C7772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2C38B065-0D6A-4222-B0C7-079A5C0F4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10408212-4108-42D0-8293-D20F671A9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DC0B53D5-683B-461D-9D16-EEB22E08D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1" name="Rectangle 5">
            <a:extLst>
              <a:ext uri="{FF2B5EF4-FFF2-40B4-BE49-F238E27FC236}">
                <a16:creationId xmlns:a16="http://schemas.microsoft.com/office/drawing/2014/main" id="{09F18F5B-68BF-4130-978C-208ECE484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2" name="Rectangle 6">
            <a:extLst>
              <a:ext uri="{FF2B5EF4-FFF2-40B4-BE49-F238E27FC236}">
                <a16:creationId xmlns:a16="http://schemas.microsoft.com/office/drawing/2014/main" id="{E577D7D0-B660-4420-9F56-FAF7ACF57F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0903" name="Rectangle 7">
            <a:extLst>
              <a:ext uri="{FF2B5EF4-FFF2-40B4-BE49-F238E27FC236}">
                <a16:creationId xmlns:a16="http://schemas.microsoft.com/office/drawing/2014/main" id="{6F048FE6-9016-4C88-8865-2CCEEBFDED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37E2BC23-5706-4D2C-87F3-C6233D2A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201DEF91-167B-4C08-B099-FAF714E73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81924" name="Rectangle 4">
            <a:extLst>
              <a:ext uri="{FF2B5EF4-FFF2-40B4-BE49-F238E27FC236}">
                <a16:creationId xmlns:a16="http://schemas.microsoft.com/office/drawing/2014/main" id="{F2E2C9AD-49AF-4EB7-82AF-1BE27C545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1925" name="Rectangle 5">
            <a:extLst>
              <a:ext uri="{FF2B5EF4-FFF2-40B4-BE49-F238E27FC236}">
                <a16:creationId xmlns:a16="http://schemas.microsoft.com/office/drawing/2014/main" id="{E81396DA-15FC-47C2-8FFE-C1E07D369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1926" name="Rectangle 6">
            <a:extLst>
              <a:ext uri="{FF2B5EF4-FFF2-40B4-BE49-F238E27FC236}">
                <a16:creationId xmlns:a16="http://schemas.microsoft.com/office/drawing/2014/main" id="{D8C586DB-407A-49E0-91F3-31A3E69216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1927" name="Rectangle 7">
            <a:extLst>
              <a:ext uri="{FF2B5EF4-FFF2-40B4-BE49-F238E27FC236}">
                <a16:creationId xmlns:a16="http://schemas.microsoft.com/office/drawing/2014/main" id="{22139B28-1563-4D66-8961-8708EA5D1D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682DE3DA-565B-459A-8328-6C1B1F843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F0C2E63A-792A-4A5F-8725-D3A2F3699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82948" name="Rectangle 4">
            <a:extLst>
              <a:ext uri="{FF2B5EF4-FFF2-40B4-BE49-F238E27FC236}">
                <a16:creationId xmlns:a16="http://schemas.microsoft.com/office/drawing/2014/main" id="{70634957-6BA0-4D81-800B-304AE60F8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49" name="Rectangle 5">
            <a:extLst>
              <a:ext uri="{FF2B5EF4-FFF2-40B4-BE49-F238E27FC236}">
                <a16:creationId xmlns:a16="http://schemas.microsoft.com/office/drawing/2014/main" id="{F1F55DE5-A986-49DA-8E26-701EEF8C2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50" name="Rectangle 6">
            <a:extLst>
              <a:ext uri="{FF2B5EF4-FFF2-40B4-BE49-F238E27FC236}">
                <a16:creationId xmlns:a16="http://schemas.microsoft.com/office/drawing/2014/main" id="{9456327F-EDB8-4B51-9415-F9B9EBC686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2951" name="Rectangle 7">
            <a:extLst>
              <a:ext uri="{FF2B5EF4-FFF2-40B4-BE49-F238E27FC236}">
                <a16:creationId xmlns:a16="http://schemas.microsoft.com/office/drawing/2014/main" id="{5A7AC9E4-1D2A-43C9-A0AD-2983757FCE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E1500D67-3DAF-4373-9306-638A6D122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A3E0550E-7C8A-4469-B95A-3864F2F27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83972" name="Rectangle 4">
            <a:extLst>
              <a:ext uri="{FF2B5EF4-FFF2-40B4-BE49-F238E27FC236}">
                <a16:creationId xmlns:a16="http://schemas.microsoft.com/office/drawing/2014/main" id="{DB9977CA-EABD-4DD1-AFEA-316474404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3973" name="Rectangle 5">
            <a:extLst>
              <a:ext uri="{FF2B5EF4-FFF2-40B4-BE49-F238E27FC236}">
                <a16:creationId xmlns:a16="http://schemas.microsoft.com/office/drawing/2014/main" id="{EA7FF6E3-DD5D-406F-9B70-2445725A8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3974" name="Rectangle 6">
            <a:extLst>
              <a:ext uri="{FF2B5EF4-FFF2-40B4-BE49-F238E27FC236}">
                <a16:creationId xmlns:a16="http://schemas.microsoft.com/office/drawing/2014/main" id="{7E4F039F-CB5F-479C-BEB1-CEBA2CA10F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3975" name="Rectangle 7">
            <a:extLst>
              <a:ext uri="{FF2B5EF4-FFF2-40B4-BE49-F238E27FC236}">
                <a16:creationId xmlns:a16="http://schemas.microsoft.com/office/drawing/2014/main" id="{066E1079-F12F-47DB-95A9-C65FA8E17A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462FDF9D-9354-4A8C-81FB-0F91E26A1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0EC2EE98-7F5D-4027-BBBB-CF01864B2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737CE165-C78A-49B3-9AC0-00369EA7F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4997" name="Rectangle 5">
            <a:extLst>
              <a:ext uri="{FF2B5EF4-FFF2-40B4-BE49-F238E27FC236}">
                <a16:creationId xmlns:a16="http://schemas.microsoft.com/office/drawing/2014/main" id="{D77DEEE7-CE78-4C1A-BC54-A7BEEA6DE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4998" name="Rectangle 6">
            <a:extLst>
              <a:ext uri="{FF2B5EF4-FFF2-40B4-BE49-F238E27FC236}">
                <a16:creationId xmlns:a16="http://schemas.microsoft.com/office/drawing/2014/main" id="{779EDFAC-3C5D-456A-B78E-563D3C34CD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4999" name="Rectangle 7">
            <a:extLst>
              <a:ext uri="{FF2B5EF4-FFF2-40B4-BE49-F238E27FC236}">
                <a16:creationId xmlns:a16="http://schemas.microsoft.com/office/drawing/2014/main" id="{F7D4EA03-92CD-470E-8C16-DB18CEA646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845BC1B6-73AA-4EE1-A43A-7A20C4151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174FAA8D-7553-4174-90B4-0705E335B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86020" name="Rectangle 4">
            <a:extLst>
              <a:ext uri="{FF2B5EF4-FFF2-40B4-BE49-F238E27FC236}">
                <a16:creationId xmlns:a16="http://schemas.microsoft.com/office/drawing/2014/main" id="{6946C96A-2DEE-456D-96DC-A6C53F8CE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6021" name="Rectangle 5">
            <a:extLst>
              <a:ext uri="{FF2B5EF4-FFF2-40B4-BE49-F238E27FC236}">
                <a16:creationId xmlns:a16="http://schemas.microsoft.com/office/drawing/2014/main" id="{7C6CBC6E-6AD0-4B98-94B5-5F1D2C156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6022" name="Rectangle 6">
            <a:extLst>
              <a:ext uri="{FF2B5EF4-FFF2-40B4-BE49-F238E27FC236}">
                <a16:creationId xmlns:a16="http://schemas.microsoft.com/office/drawing/2014/main" id="{67171C38-52F9-48AD-AFFF-E32F4251E1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6023" name="Rectangle 7">
            <a:extLst>
              <a:ext uri="{FF2B5EF4-FFF2-40B4-BE49-F238E27FC236}">
                <a16:creationId xmlns:a16="http://schemas.microsoft.com/office/drawing/2014/main" id="{9A7F246E-6D81-452F-A797-CFB7D9C43B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2FF9EFED-CE8A-444B-887A-3765F1D5C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3812952F-E7BA-4193-AAB7-341D2F007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87044" name="Rectangle 4">
            <a:extLst>
              <a:ext uri="{FF2B5EF4-FFF2-40B4-BE49-F238E27FC236}">
                <a16:creationId xmlns:a16="http://schemas.microsoft.com/office/drawing/2014/main" id="{97260CAF-7889-4746-963B-2593A0FB1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7045" name="Rectangle 5">
            <a:extLst>
              <a:ext uri="{FF2B5EF4-FFF2-40B4-BE49-F238E27FC236}">
                <a16:creationId xmlns:a16="http://schemas.microsoft.com/office/drawing/2014/main" id="{E47231D9-60B9-4095-A8F8-916486046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7046" name="Rectangle 6">
            <a:extLst>
              <a:ext uri="{FF2B5EF4-FFF2-40B4-BE49-F238E27FC236}">
                <a16:creationId xmlns:a16="http://schemas.microsoft.com/office/drawing/2014/main" id="{673A4F78-EE69-40D8-B8C6-0B88EC5D8C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7047" name="Rectangle 7">
            <a:extLst>
              <a:ext uri="{FF2B5EF4-FFF2-40B4-BE49-F238E27FC236}">
                <a16:creationId xmlns:a16="http://schemas.microsoft.com/office/drawing/2014/main" id="{906EB774-78FA-4403-B87D-B6BC95BCAF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2FF9EFED-CE8A-444B-887A-3765F1D5C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3812952F-E7BA-4193-AAB7-341D2F007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87044" name="Rectangle 4">
            <a:extLst>
              <a:ext uri="{FF2B5EF4-FFF2-40B4-BE49-F238E27FC236}">
                <a16:creationId xmlns:a16="http://schemas.microsoft.com/office/drawing/2014/main" id="{97260CAF-7889-4746-963B-2593A0FB1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7045" name="Rectangle 5">
            <a:extLst>
              <a:ext uri="{FF2B5EF4-FFF2-40B4-BE49-F238E27FC236}">
                <a16:creationId xmlns:a16="http://schemas.microsoft.com/office/drawing/2014/main" id="{E47231D9-60B9-4095-A8F8-916486046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7046" name="Rectangle 6">
            <a:extLst>
              <a:ext uri="{FF2B5EF4-FFF2-40B4-BE49-F238E27FC236}">
                <a16:creationId xmlns:a16="http://schemas.microsoft.com/office/drawing/2014/main" id="{673A4F78-EE69-40D8-B8C6-0B88EC5D8C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7047" name="Rectangle 7">
            <a:extLst>
              <a:ext uri="{FF2B5EF4-FFF2-40B4-BE49-F238E27FC236}">
                <a16:creationId xmlns:a16="http://schemas.microsoft.com/office/drawing/2014/main" id="{906EB774-78FA-4403-B87D-B6BC95BCAF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36187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A281C36B-3C9F-483D-8DB3-C4B043D32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F8E93D6C-9846-4731-9723-BCFE18BB7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89092" name="Rectangle 4">
            <a:extLst>
              <a:ext uri="{FF2B5EF4-FFF2-40B4-BE49-F238E27FC236}">
                <a16:creationId xmlns:a16="http://schemas.microsoft.com/office/drawing/2014/main" id="{B352B33F-2832-43D8-A55B-C600F50D2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3" name="Rectangle 5">
            <a:extLst>
              <a:ext uri="{FF2B5EF4-FFF2-40B4-BE49-F238E27FC236}">
                <a16:creationId xmlns:a16="http://schemas.microsoft.com/office/drawing/2014/main" id="{FB04B3F8-E254-4D8A-B258-1D068C3E8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4" name="Rectangle 6">
            <a:extLst>
              <a:ext uri="{FF2B5EF4-FFF2-40B4-BE49-F238E27FC236}">
                <a16:creationId xmlns:a16="http://schemas.microsoft.com/office/drawing/2014/main" id="{ED3588C2-0924-4CBF-8D02-B5B927E5CA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9095" name="Rectangle 7">
            <a:extLst>
              <a:ext uri="{FF2B5EF4-FFF2-40B4-BE49-F238E27FC236}">
                <a16:creationId xmlns:a16="http://schemas.microsoft.com/office/drawing/2014/main" id="{6167CAC3-233D-4BCA-AB11-383EF241D0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E41DFA44-909B-4AD6-AA75-76F08B178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4B4245AA-8E9D-455A-A72C-ECB40900D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90116" name="Rectangle 4">
            <a:extLst>
              <a:ext uri="{FF2B5EF4-FFF2-40B4-BE49-F238E27FC236}">
                <a16:creationId xmlns:a16="http://schemas.microsoft.com/office/drawing/2014/main" id="{1B8D4B7D-D107-4D2A-8571-A9FFD5982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0117" name="Rectangle 5">
            <a:extLst>
              <a:ext uri="{FF2B5EF4-FFF2-40B4-BE49-F238E27FC236}">
                <a16:creationId xmlns:a16="http://schemas.microsoft.com/office/drawing/2014/main" id="{39F7C803-7946-40EE-B36D-7239CF6CB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0118" name="Rectangle 6">
            <a:extLst>
              <a:ext uri="{FF2B5EF4-FFF2-40B4-BE49-F238E27FC236}">
                <a16:creationId xmlns:a16="http://schemas.microsoft.com/office/drawing/2014/main" id="{DDF76117-688C-451F-9A57-5ED8A9A88D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0119" name="Rectangle 7">
            <a:extLst>
              <a:ext uri="{FF2B5EF4-FFF2-40B4-BE49-F238E27FC236}">
                <a16:creationId xmlns:a16="http://schemas.microsoft.com/office/drawing/2014/main" id="{5FDDCE12-1A35-452E-99FC-88BF94B41D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851EDB3B-242F-4AFC-8D0C-2D85EC09E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3E76349B-A199-43F3-82E4-529D520C6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91140" name="Rectangle 4">
            <a:extLst>
              <a:ext uri="{FF2B5EF4-FFF2-40B4-BE49-F238E27FC236}">
                <a16:creationId xmlns:a16="http://schemas.microsoft.com/office/drawing/2014/main" id="{9D7DF91E-8A09-41E3-B123-63E86CC82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1141" name="Rectangle 5">
            <a:extLst>
              <a:ext uri="{FF2B5EF4-FFF2-40B4-BE49-F238E27FC236}">
                <a16:creationId xmlns:a16="http://schemas.microsoft.com/office/drawing/2014/main" id="{3DF6F852-10CD-4A68-ACF1-7F8AF9F34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1142" name="Rectangle 6">
            <a:extLst>
              <a:ext uri="{FF2B5EF4-FFF2-40B4-BE49-F238E27FC236}">
                <a16:creationId xmlns:a16="http://schemas.microsoft.com/office/drawing/2014/main" id="{8814559B-886F-4AEE-96E4-EA54B23BF8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1143" name="Rectangle 7">
            <a:extLst>
              <a:ext uri="{FF2B5EF4-FFF2-40B4-BE49-F238E27FC236}">
                <a16:creationId xmlns:a16="http://schemas.microsoft.com/office/drawing/2014/main" id="{C86934C2-E5D0-4037-9434-92606515D9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E0E5E1FD-47A7-424D-AFC6-96BB5B6F6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D17E4138-13D5-438F-8121-DBFB800E9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584934B7-84DC-4372-B703-7365CE0DE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41C71105-05A3-42B4-A84B-79C596F80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E295C3D2-CF7D-40AA-89DF-04C9D6351B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B1208284-9508-4CD1-9CBB-8F22FBC176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52DDF571-60BB-42C0-8ACD-32B841235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16C09748-381E-4479-90FC-D40EA9B77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93188" name="Rectangle 4">
            <a:extLst>
              <a:ext uri="{FF2B5EF4-FFF2-40B4-BE49-F238E27FC236}">
                <a16:creationId xmlns:a16="http://schemas.microsoft.com/office/drawing/2014/main" id="{8D1CA80C-B897-44E0-9ED9-D4C3425E2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3189" name="Rectangle 5">
            <a:extLst>
              <a:ext uri="{FF2B5EF4-FFF2-40B4-BE49-F238E27FC236}">
                <a16:creationId xmlns:a16="http://schemas.microsoft.com/office/drawing/2014/main" id="{C22D7CE5-2A63-490F-9C64-73509D0AC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3190" name="Rectangle 6">
            <a:extLst>
              <a:ext uri="{FF2B5EF4-FFF2-40B4-BE49-F238E27FC236}">
                <a16:creationId xmlns:a16="http://schemas.microsoft.com/office/drawing/2014/main" id="{5F9DEEA6-CDDA-437D-8A47-FF55315C9B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3191" name="Rectangle 7">
            <a:extLst>
              <a:ext uri="{FF2B5EF4-FFF2-40B4-BE49-F238E27FC236}">
                <a16:creationId xmlns:a16="http://schemas.microsoft.com/office/drawing/2014/main" id="{D26EF57F-78B6-4D05-AC07-F744658A4A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6C116B35-64C8-4780-8EAD-4AC9F6394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7A03A0AB-3E6A-4E82-88A9-8E9134679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94212" name="Rectangle 4">
            <a:extLst>
              <a:ext uri="{FF2B5EF4-FFF2-40B4-BE49-F238E27FC236}">
                <a16:creationId xmlns:a16="http://schemas.microsoft.com/office/drawing/2014/main" id="{384E7567-52BA-451A-AF63-8EFA306FF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4213" name="Rectangle 5">
            <a:extLst>
              <a:ext uri="{FF2B5EF4-FFF2-40B4-BE49-F238E27FC236}">
                <a16:creationId xmlns:a16="http://schemas.microsoft.com/office/drawing/2014/main" id="{ED0C6238-641B-44CF-A692-62D6F97F3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4214" name="Rectangle 6">
            <a:extLst>
              <a:ext uri="{FF2B5EF4-FFF2-40B4-BE49-F238E27FC236}">
                <a16:creationId xmlns:a16="http://schemas.microsoft.com/office/drawing/2014/main" id="{08E0B5F7-E165-41D5-A722-C6DBA46E12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4215" name="Rectangle 7">
            <a:extLst>
              <a:ext uri="{FF2B5EF4-FFF2-40B4-BE49-F238E27FC236}">
                <a16:creationId xmlns:a16="http://schemas.microsoft.com/office/drawing/2014/main" id="{78458427-4D3A-46DB-9F47-FF59AEF5CE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6D0C19FA-4252-4FDA-98A9-18A045B10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8985AC5B-0609-41B1-B0AA-3AD0C6C12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95236" name="Rectangle 4">
            <a:extLst>
              <a:ext uri="{FF2B5EF4-FFF2-40B4-BE49-F238E27FC236}">
                <a16:creationId xmlns:a16="http://schemas.microsoft.com/office/drawing/2014/main" id="{F843BFA0-049B-4A6B-A7DC-58D431B9D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5237" name="Rectangle 5">
            <a:extLst>
              <a:ext uri="{FF2B5EF4-FFF2-40B4-BE49-F238E27FC236}">
                <a16:creationId xmlns:a16="http://schemas.microsoft.com/office/drawing/2014/main" id="{17E8CCAD-9C76-458F-A84A-F236E5E31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5238" name="Rectangle 6">
            <a:extLst>
              <a:ext uri="{FF2B5EF4-FFF2-40B4-BE49-F238E27FC236}">
                <a16:creationId xmlns:a16="http://schemas.microsoft.com/office/drawing/2014/main" id="{DC1CC2AE-F113-4013-BCFE-02FF4A9E80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5239" name="Rectangle 7">
            <a:extLst>
              <a:ext uri="{FF2B5EF4-FFF2-40B4-BE49-F238E27FC236}">
                <a16:creationId xmlns:a16="http://schemas.microsoft.com/office/drawing/2014/main" id="{E60DE839-5576-434A-9F5E-E5B108BFCE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3ACA8544-5C2F-4987-A3E7-0F08E08C0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C400CF69-DE71-4D55-9AC7-A84BC9E74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96260" name="Rectangle 4">
            <a:extLst>
              <a:ext uri="{FF2B5EF4-FFF2-40B4-BE49-F238E27FC236}">
                <a16:creationId xmlns:a16="http://schemas.microsoft.com/office/drawing/2014/main" id="{B73F0104-2B45-4295-9C49-B8CB18BE8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61" name="Rectangle 5">
            <a:extLst>
              <a:ext uri="{FF2B5EF4-FFF2-40B4-BE49-F238E27FC236}">
                <a16:creationId xmlns:a16="http://schemas.microsoft.com/office/drawing/2014/main" id="{601088F7-AEDB-4056-A712-720A26685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62" name="Rectangle 6">
            <a:extLst>
              <a:ext uri="{FF2B5EF4-FFF2-40B4-BE49-F238E27FC236}">
                <a16:creationId xmlns:a16="http://schemas.microsoft.com/office/drawing/2014/main" id="{6DEE18C4-85B7-43B7-BF53-FD453FAAB5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6263" name="Rectangle 7">
            <a:extLst>
              <a:ext uri="{FF2B5EF4-FFF2-40B4-BE49-F238E27FC236}">
                <a16:creationId xmlns:a16="http://schemas.microsoft.com/office/drawing/2014/main" id="{306B1960-AEEF-4656-8BB7-75F4F4C66F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3ACA8544-5C2F-4987-A3E7-0F08E08C0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C400CF69-DE71-4D55-9AC7-A84BC9E74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96260" name="Rectangle 4">
            <a:extLst>
              <a:ext uri="{FF2B5EF4-FFF2-40B4-BE49-F238E27FC236}">
                <a16:creationId xmlns:a16="http://schemas.microsoft.com/office/drawing/2014/main" id="{B73F0104-2B45-4295-9C49-B8CB18BE8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61" name="Rectangle 5">
            <a:extLst>
              <a:ext uri="{FF2B5EF4-FFF2-40B4-BE49-F238E27FC236}">
                <a16:creationId xmlns:a16="http://schemas.microsoft.com/office/drawing/2014/main" id="{601088F7-AEDB-4056-A712-720A26685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62" name="Rectangle 6">
            <a:extLst>
              <a:ext uri="{FF2B5EF4-FFF2-40B4-BE49-F238E27FC236}">
                <a16:creationId xmlns:a16="http://schemas.microsoft.com/office/drawing/2014/main" id="{6DEE18C4-85B7-43B7-BF53-FD453FAAB5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6263" name="Rectangle 7">
            <a:extLst>
              <a:ext uri="{FF2B5EF4-FFF2-40B4-BE49-F238E27FC236}">
                <a16:creationId xmlns:a16="http://schemas.microsoft.com/office/drawing/2014/main" id="{306B1960-AEEF-4656-8BB7-75F4F4C66F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82241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9AE932A3-C706-4EA5-90DD-744B0DB93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2FA4271C-C89E-4DE2-A5E6-F3ECBFD4F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97284" name="Rectangle 4">
            <a:extLst>
              <a:ext uri="{FF2B5EF4-FFF2-40B4-BE49-F238E27FC236}">
                <a16:creationId xmlns:a16="http://schemas.microsoft.com/office/drawing/2014/main" id="{8F639333-BD90-4EBB-A427-E61628187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7285" name="Rectangle 5">
            <a:extLst>
              <a:ext uri="{FF2B5EF4-FFF2-40B4-BE49-F238E27FC236}">
                <a16:creationId xmlns:a16="http://schemas.microsoft.com/office/drawing/2014/main" id="{6CA41FE3-08FA-43C5-8496-11344DAF4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7286" name="Rectangle 6">
            <a:extLst>
              <a:ext uri="{FF2B5EF4-FFF2-40B4-BE49-F238E27FC236}">
                <a16:creationId xmlns:a16="http://schemas.microsoft.com/office/drawing/2014/main" id="{975C0D0F-7EBF-49B4-89A2-A70FC16382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7287" name="Rectangle 7">
            <a:extLst>
              <a:ext uri="{FF2B5EF4-FFF2-40B4-BE49-F238E27FC236}">
                <a16:creationId xmlns:a16="http://schemas.microsoft.com/office/drawing/2014/main" id="{8F9FB7BA-CB02-41DD-A320-1C93D642C0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4D1899FE-07F2-4B39-B465-C5FB7FF77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A195E486-D54D-4805-B6DB-993ACB931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98308" name="Rectangle 4">
            <a:extLst>
              <a:ext uri="{FF2B5EF4-FFF2-40B4-BE49-F238E27FC236}">
                <a16:creationId xmlns:a16="http://schemas.microsoft.com/office/drawing/2014/main" id="{DBCBDBA2-1D93-4544-9F6B-6CE59761E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8309" name="Rectangle 5">
            <a:extLst>
              <a:ext uri="{FF2B5EF4-FFF2-40B4-BE49-F238E27FC236}">
                <a16:creationId xmlns:a16="http://schemas.microsoft.com/office/drawing/2014/main" id="{45E0B215-6274-4068-A627-38CAD9F37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8310" name="Rectangle 6">
            <a:extLst>
              <a:ext uri="{FF2B5EF4-FFF2-40B4-BE49-F238E27FC236}">
                <a16:creationId xmlns:a16="http://schemas.microsoft.com/office/drawing/2014/main" id="{0B9E27DD-0237-43BB-9A7E-5D8C0F1478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8311" name="Rectangle 7">
            <a:extLst>
              <a:ext uri="{FF2B5EF4-FFF2-40B4-BE49-F238E27FC236}">
                <a16:creationId xmlns:a16="http://schemas.microsoft.com/office/drawing/2014/main" id="{BD5B9D43-0EEA-4774-8306-434E894054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6FCEC253-289F-4EF8-BCF0-335D9FC1D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8E08EA43-DA9C-44AB-8BA2-70F977BF6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99332" name="Rectangle 4">
            <a:extLst>
              <a:ext uri="{FF2B5EF4-FFF2-40B4-BE49-F238E27FC236}">
                <a16:creationId xmlns:a16="http://schemas.microsoft.com/office/drawing/2014/main" id="{FBE28332-4E23-49A5-8FDC-638F45E7F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9333" name="Rectangle 5">
            <a:extLst>
              <a:ext uri="{FF2B5EF4-FFF2-40B4-BE49-F238E27FC236}">
                <a16:creationId xmlns:a16="http://schemas.microsoft.com/office/drawing/2014/main" id="{5E3EFD8E-ECB9-4DC0-8BDC-AEF0AEDF0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9334" name="Rectangle 6">
            <a:extLst>
              <a:ext uri="{FF2B5EF4-FFF2-40B4-BE49-F238E27FC236}">
                <a16:creationId xmlns:a16="http://schemas.microsoft.com/office/drawing/2014/main" id="{480982E5-A57B-419A-A12D-84E9BD2190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9335" name="Rectangle 7">
            <a:extLst>
              <a:ext uri="{FF2B5EF4-FFF2-40B4-BE49-F238E27FC236}">
                <a16:creationId xmlns:a16="http://schemas.microsoft.com/office/drawing/2014/main" id="{98A65AF3-CA46-4822-A3E7-88D66980E1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9AE932A3-C706-4EA5-90DD-744B0DB93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2FA4271C-C89E-4DE2-A5E6-F3ECBFD4F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97284" name="Rectangle 4">
            <a:extLst>
              <a:ext uri="{FF2B5EF4-FFF2-40B4-BE49-F238E27FC236}">
                <a16:creationId xmlns:a16="http://schemas.microsoft.com/office/drawing/2014/main" id="{8F639333-BD90-4EBB-A427-E61628187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7285" name="Rectangle 5">
            <a:extLst>
              <a:ext uri="{FF2B5EF4-FFF2-40B4-BE49-F238E27FC236}">
                <a16:creationId xmlns:a16="http://schemas.microsoft.com/office/drawing/2014/main" id="{6CA41FE3-08FA-43C5-8496-11344DAF4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7286" name="Rectangle 6">
            <a:extLst>
              <a:ext uri="{FF2B5EF4-FFF2-40B4-BE49-F238E27FC236}">
                <a16:creationId xmlns:a16="http://schemas.microsoft.com/office/drawing/2014/main" id="{975C0D0F-7EBF-49B4-89A2-A70FC16382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7287" name="Rectangle 7">
            <a:extLst>
              <a:ext uri="{FF2B5EF4-FFF2-40B4-BE49-F238E27FC236}">
                <a16:creationId xmlns:a16="http://schemas.microsoft.com/office/drawing/2014/main" id="{8F9FB7BA-CB02-41DD-A320-1C93D642C0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96655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C9C2E724-DF66-4E9C-9BA6-FA327F178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EED84815-B4E3-40CE-8C89-A896F4C6F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00356" name="Rectangle 4">
            <a:extLst>
              <a:ext uri="{FF2B5EF4-FFF2-40B4-BE49-F238E27FC236}">
                <a16:creationId xmlns:a16="http://schemas.microsoft.com/office/drawing/2014/main" id="{42356E96-CE34-4EE2-B72E-EAC5B0BA7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0357" name="Rectangle 5">
            <a:extLst>
              <a:ext uri="{FF2B5EF4-FFF2-40B4-BE49-F238E27FC236}">
                <a16:creationId xmlns:a16="http://schemas.microsoft.com/office/drawing/2014/main" id="{22D2573F-7C65-49DC-ACE4-7AE091F9C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0358" name="Rectangle 6">
            <a:extLst>
              <a:ext uri="{FF2B5EF4-FFF2-40B4-BE49-F238E27FC236}">
                <a16:creationId xmlns:a16="http://schemas.microsoft.com/office/drawing/2014/main" id="{852CD050-A26D-4249-BE9B-2AF4767372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0359" name="Rectangle 7">
            <a:extLst>
              <a:ext uri="{FF2B5EF4-FFF2-40B4-BE49-F238E27FC236}">
                <a16:creationId xmlns:a16="http://schemas.microsoft.com/office/drawing/2014/main" id="{7A76751D-5075-4443-966E-0960731F82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D5D70B5B-86ED-447A-8227-22AEC8F85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5D84612C-2BB1-4287-B1C8-A62EDBCF1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01380" name="Rectangle 4">
            <a:extLst>
              <a:ext uri="{FF2B5EF4-FFF2-40B4-BE49-F238E27FC236}">
                <a16:creationId xmlns:a16="http://schemas.microsoft.com/office/drawing/2014/main" id="{EE8B586E-DC41-4889-A653-4C557161C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1381" name="Rectangle 5">
            <a:extLst>
              <a:ext uri="{FF2B5EF4-FFF2-40B4-BE49-F238E27FC236}">
                <a16:creationId xmlns:a16="http://schemas.microsoft.com/office/drawing/2014/main" id="{0B54D0F6-F794-4F8C-B26C-1CE11817B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1382" name="Rectangle 6">
            <a:extLst>
              <a:ext uri="{FF2B5EF4-FFF2-40B4-BE49-F238E27FC236}">
                <a16:creationId xmlns:a16="http://schemas.microsoft.com/office/drawing/2014/main" id="{5C8FC85D-51A0-4842-B44A-58C89A5805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1383" name="Rectangle 7">
            <a:extLst>
              <a:ext uri="{FF2B5EF4-FFF2-40B4-BE49-F238E27FC236}">
                <a16:creationId xmlns:a16="http://schemas.microsoft.com/office/drawing/2014/main" id="{2DD72953-8FEF-4ED1-B7C1-9E315F8302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D5D70B5B-86ED-447A-8227-22AEC8F85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5D84612C-2BB1-4287-B1C8-A62EDBCF1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01380" name="Rectangle 4">
            <a:extLst>
              <a:ext uri="{FF2B5EF4-FFF2-40B4-BE49-F238E27FC236}">
                <a16:creationId xmlns:a16="http://schemas.microsoft.com/office/drawing/2014/main" id="{EE8B586E-DC41-4889-A653-4C557161C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1381" name="Rectangle 5">
            <a:extLst>
              <a:ext uri="{FF2B5EF4-FFF2-40B4-BE49-F238E27FC236}">
                <a16:creationId xmlns:a16="http://schemas.microsoft.com/office/drawing/2014/main" id="{0B54D0F6-F794-4F8C-B26C-1CE11817B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1382" name="Rectangle 6">
            <a:extLst>
              <a:ext uri="{FF2B5EF4-FFF2-40B4-BE49-F238E27FC236}">
                <a16:creationId xmlns:a16="http://schemas.microsoft.com/office/drawing/2014/main" id="{5C8FC85D-51A0-4842-B44A-58C89A5805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1383" name="Rectangle 7">
            <a:extLst>
              <a:ext uri="{FF2B5EF4-FFF2-40B4-BE49-F238E27FC236}">
                <a16:creationId xmlns:a16="http://schemas.microsoft.com/office/drawing/2014/main" id="{2DD72953-8FEF-4ED1-B7C1-9E315F8302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55671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D5D70B5B-86ED-447A-8227-22AEC8F85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5D84612C-2BB1-4287-B1C8-A62EDBCF1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01380" name="Rectangle 4">
            <a:extLst>
              <a:ext uri="{FF2B5EF4-FFF2-40B4-BE49-F238E27FC236}">
                <a16:creationId xmlns:a16="http://schemas.microsoft.com/office/drawing/2014/main" id="{EE8B586E-DC41-4889-A653-4C557161C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1381" name="Rectangle 5">
            <a:extLst>
              <a:ext uri="{FF2B5EF4-FFF2-40B4-BE49-F238E27FC236}">
                <a16:creationId xmlns:a16="http://schemas.microsoft.com/office/drawing/2014/main" id="{0B54D0F6-F794-4F8C-B26C-1CE11817B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1382" name="Rectangle 6">
            <a:extLst>
              <a:ext uri="{FF2B5EF4-FFF2-40B4-BE49-F238E27FC236}">
                <a16:creationId xmlns:a16="http://schemas.microsoft.com/office/drawing/2014/main" id="{5C8FC85D-51A0-4842-B44A-58C89A5805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1383" name="Rectangle 7">
            <a:extLst>
              <a:ext uri="{FF2B5EF4-FFF2-40B4-BE49-F238E27FC236}">
                <a16:creationId xmlns:a16="http://schemas.microsoft.com/office/drawing/2014/main" id="{2DD72953-8FEF-4ED1-B7C1-9E315F8302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14075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D5D70B5B-86ED-447A-8227-22AEC8F85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5D84612C-2BB1-4287-B1C8-A62EDBCF1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01380" name="Rectangle 4">
            <a:extLst>
              <a:ext uri="{FF2B5EF4-FFF2-40B4-BE49-F238E27FC236}">
                <a16:creationId xmlns:a16="http://schemas.microsoft.com/office/drawing/2014/main" id="{EE8B586E-DC41-4889-A653-4C557161C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1381" name="Rectangle 5">
            <a:extLst>
              <a:ext uri="{FF2B5EF4-FFF2-40B4-BE49-F238E27FC236}">
                <a16:creationId xmlns:a16="http://schemas.microsoft.com/office/drawing/2014/main" id="{0B54D0F6-F794-4F8C-B26C-1CE11817B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1382" name="Rectangle 6">
            <a:extLst>
              <a:ext uri="{FF2B5EF4-FFF2-40B4-BE49-F238E27FC236}">
                <a16:creationId xmlns:a16="http://schemas.microsoft.com/office/drawing/2014/main" id="{5C8FC85D-51A0-4842-B44A-58C89A5805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1383" name="Rectangle 7">
            <a:extLst>
              <a:ext uri="{FF2B5EF4-FFF2-40B4-BE49-F238E27FC236}">
                <a16:creationId xmlns:a16="http://schemas.microsoft.com/office/drawing/2014/main" id="{2DD72953-8FEF-4ED1-B7C1-9E315F8302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36320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B43F6B45-047C-4AA3-9AFC-E6510BD3F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58DC7C52-42F2-4093-9504-5B37BCC0F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02404" name="Rectangle 4">
            <a:extLst>
              <a:ext uri="{FF2B5EF4-FFF2-40B4-BE49-F238E27FC236}">
                <a16:creationId xmlns:a16="http://schemas.microsoft.com/office/drawing/2014/main" id="{ED91C6CE-3FBB-4B69-A899-4DF0CBF8F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2405" name="Rectangle 5">
            <a:extLst>
              <a:ext uri="{FF2B5EF4-FFF2-40B4-BE49-F238E27FC236}">
                <a16:creationId xmlns:a16="http://schemas.microsoft.com/office/drawing/2014/main" id="{392AB971-E8EF-467B-AFC7-894EFE0FD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2406" name="Rectangle 6">
            <a:extLst>
              <a:ext uri="{FF2B5EF4-FFF2-40B4-BE49-F238E27FC236}">
                <a16:creationId xmlns:a16="http://schemas.microsoft.com/office/drawing/2014/main" id="{24EBB233-4055-4C5F-894F-C2DB8725A9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2407" name="Rectangle 7">
            <a:extLst>
              <a:ext uri="{FF2B5EF4-FFF2-40B4-BE49-F238E27FC236}">
                <a16:creationId xmlns:a16="http://schemas.microsoft.com/office/drawing/2014/main" id="{76C8BC36-2762-414D-91D1-5C55702DEA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B2D846B7-CE93-4714-88E6-D5ABED0AA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6ABE6BF8-E3A6-4B6F-B5B1-9B6579BC2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03428" name="Rectangle 4">
            <a:extLst>
              <a:ext uri="{FF2B5EF4-FFF2-40B4-BE49-F238E27FC236}">
                <a16:creationId xmlns:a16="http://schemas.microsoft.com/office/drawing/2014/main" id="{2A99E196-8416-4879-AC20-44DE893A0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3429" name="Rectangle 5">
            <a:extLst>
              <a:ext uri="{FF2B5EF4-FFF2-40B4-BE49-F238E27FC236}">
                <a16:creationId xmlns:a16="http://schemas.microsoft.com/office/drawing/2014/main" id="{FCF57A5C-F600-40D4-877A-8D3B3B8F5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3430" name="Rectangle 6">
            <a:extLst>
              <a:ext uri="{FF2B5EF4-FFF2-40B4-BE49-F238E27FC236}">
                <a16:creationId xmlns:a16="http://schemas.microsoft.com/office/drawing/2014/main" id="{4E7E2B1A-7112-47D5-85B3-3D4717C061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3431" name="Rectangle 7">
            <a:extLst>
              <a:ext uri="{FF2B5EF4-FFF2-40B4-BE49-F238E27FC236}">
                <a16:creationId xmlns:a16="http://schemas.microsoft.com/office/drawing/2014/main" id="{5A67B39A-490E-437B-8B69-950B05BEC4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62E8C71C-14E9-4B5C-B35D-C305EA7A7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FC8B4D77-0D28-4373-8CD6-06CB82F69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04452" name="Rectangle 4">
            <a:extLst>
              <a:ext uri="{FF2B5EF4-FFF2-40B4-BE49-F238E27FC236}">
                <a16:creationId xmlns:a16="http://schemas.microsoft.com/office/drawing/2014/main" id="{3D7D0C92-9BB3-4DB4-8B08-9A7392D22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4453" name="Rectangle 5">
            <a:extLst>
              <a:ext uri="{FF2B5EF4-FFF2-40B4-BE49-F238E27FC236}">
                <a16:creationId xmlns:a16="http://schemas.microsoft.com/office/drawing/2014/main" id="{7FB219D1-0538-4B89-9BCE-D5F0B3E3A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4454" name="Rectangle 6">
            <a:extLst>
              <a:ext uri="{FF2B5EF4-FFF2-40B4-BE49-F238E27FC236}">
                <a16:creationId xmlns:a16="http://schemas.microsoft.com/office/drawing/2014/main" id="{F929E619-015A-4B32-9DCB-EA1CC39FF6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4455" name="Rectangle 7">
            <a:extLst>
              <a:ext uri="{FF2B5EF4-FFF2-40B4-BE49-F238E27FC236}">
                <a16:creationId xmlns:a16="http://schemas.microsoft.com/office/drawing/2014/main" id="{69C3C02D-BD80-40F9-8C02-B79333C06D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FCAFFA0C-DBDE-493D-9E58-B20AEC681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7520C6F3-93CF-476F-9825-D785ED130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05476" name="Rectangle 4">
            <a:extLst>
              <a:ext uri="{FF2B5EF4-FFF2-40B4-BE49-F238E27FC236}">
                <a16:creationId xmlns:a16="http://schemas.microsoft.com/office/drawing/2014/main" id="{F2DA026F-68C1-442F-B098-15DFE752F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5477" name="Rectangle 5">
            <a:extLst>
              <a:ext uri="{FF2B5EF4-FFF2-40B4-BE49-F238E27FC236}">
                <a16:creationId xmlns:a16="http://schemas.microsoft.com/office/drawing/2014/main" id="{68D0C4FB-8254-483E-99C4-2B3F9FCE4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5478" name="Rectangle 6">
            <a:extLst>
              <a:ext uri="{FF2B5EF4-FFF2-40B4-BE49-F238E27FC236}">
                <a16:creationId xmlns:a16="http://schemas.microsoft.com/office/drawing/2014/main" id="{AFBE73C6-BB6F-4BD8-AE42-59B6655A09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5479" name="Rectangle 7">
            <a:extLst>
              <a:ext uri="{FF2B5EF4-FFF2-40B4-BE49-F238E27FC236}">
                <a16:creationId xmlns:a16="http://schemas.microsoft.com/office/drawing/2014/main" id="{1772BD53-A1BA-490E-A01F-E0C0DEB4C8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BD3E3C6D-0097-4408-8C83-0BFF90559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786B21DB-39AD-4690-B704-83173E01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06500" name="Rectangle 4">
            <a:extLst>
              <a:ext uri="{FF2B5EF4-FFF2-40B4-BE49-F238E27FC236}">
                <a16:creationId xmlns:a16="http://schemas.microsoft.com/office/drawing/2014/main" id="{907B20D1-8DC7-4E7F-9C78-C652A54E7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501" name="Rectangle 5">
            <a:extLst>
              <a:ext uri="{FF2B5EF4-FFF2-40B4-BE49-F238E27FC236}">
                <a16:creationId xmlns:a16="http://schemas.microsoft.com/office/drawing/2014/main" id="{59E01A15-A4C6-4B6F-9691-6031EFBD8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502" name="Rectangle 6">
            <a:extLst>
              <a:ext uri="{FF2B5EF4-FFF2-40B4-BE49-F238E27FC236}">
                <a16:creationId xmlns:a16="http://schemas.microsoft.com/office/drawing/2014/main" id="{10D10F38-6E47-4965-A048-9ED6C39C72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6503" name="Rectangle 7">
            <a:extLst>
              <a:ext uri="{FF2B5EF4-FFF2-40B4-BE49-F238E27FC236}">
                <a16:creationId xmlns:a16="http://schemas.microsoft.com/office/drawing/2014/main" id="{DF7E06DD-C2AE-4CBE-8418-53D49D15BA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BD3E3C6D-0097-4408-8C83-0BFF90559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786B21DB-39AD-4690-B704-83173E01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06500" name="Rectangle 4">
            <a:extLst>
              <a:ext uri="{FF2B5EF4-FFF2-40B4-BE49-F238E27FC236}">
                <a16:creationId xmlns:a16="http://schemas.microsoft.com/office/drawing/2014/main" id="{907B20D1-8DC7-4E7F-9C78-C652A54E7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501" name="Rectangle 5">
            <a:extLst>
              <a:ext uri="{FF2B5EF4-FFF2-40B4-BE49-F238E27FC236}">
                <a16:creationId xmlns:a16="http://schemas.microsoft.com/office/drawing/2014/main" id="{59E01A15-A4C6-4B6F-9691-6031EFBD8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502" name="Rectangle 6">
            <a:extLst>
              <a:ext uri="{FF2B5EF4-FFF2-40B4-BE49-F238E27FC236}">
                <a16:creationId xmlns:a16="http://schemas.microsoft.com/office/drawing/2014/main" id="{10D10F38-6E47-4965-A048-9ED6C39C72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6503" name="Rectangle 7">
            <a:extLst>
              <a:ext uri="{FF2B5EF4-FFF2-40B4-BE49-F238E27FC236}">
                <a16:creationId xmlns:a16="http://schemas.microsoft.com/office/drawing/2014/main" id="{DF7E06DD-C2AE-4CBE-8418-53D49D15BA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313640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26FB79FE-A320-4944-8FC3-1FBA911A5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4CCAC5F3-198B-4971-B95F-404BCC46C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07524" name="Rectangle 4">
            <a:extLst>
              <a:ext uri="{FF2B5EF4-FFF2-40B4-BE49-F238E27FC236}">
                <a16:creationId xmlns:a16="http://schemas.microsoft.com/office/drawing/2014/main" id="{B917C8FC-9983-44C5-BF62-C97618FEE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7525" name="Rectangle 5">
            <a:extLst>
              <a:ext uri="{FF2B5EF4-FFF2-40B4-BE49-F238E27FC236}">
                <a16:creationId xmlns:a16="http://schemas.microsoft.com/office/drawing/2014/main" id="{A4EC8E44-7996-47BB-9137-BC6780D95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7526" name="Rectangle 6">
            <a:extLst>
              <a:ext uri="{FF2B5EF4-FFF2-40B4-BE49-F238E27FC236}">
                <a16:creationId xmlns:a16="http://schemas.microsoft.com/office/drawing/2014/main" id="{2AE08090-185E-41BF-B1EC-08827E64F8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7527" name="Rectangle 7">
            <a:extLst>
              <a:ext uri="{FF2B5EF4-FFF2-40B4-BE49-F238E27FC236}">
                <a16:creationId xmlns:a16="http://schemas.microsoft.com/office/drawing/2014/main" id="{C32C7277-35C0-4EE3-B5CE-8AE12AC620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59C739C4-377F-44C0-8252-49578ED9B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B04AD7DB-A269-4A73-9C87-7B12E052C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08548" name="Rectangle 4">
            <a:extLst>
              <a:ext uri="{FF2B5EF4-FFF2-40B4-BE49-F238E27FC236}">
                <a16:creationId xmlns:a16="http://schemas.microsoft.com/office/drawing/2014/main" id="{665997DD-94F0-44DF-932C-7BAD8517B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8549" name="Rectangle 5">
            <a:extLst>
              <a:ext uri="{FF2B5EF4-FFF2-40B4-BE49-F238E27FC236}">
                <a16:creationId xmlns:a16="http://schemas.microsoft.com/office/drawing/2014/main" id="{D80F8059-1961-449E-9CEF-2A4410351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8550" name="Rectangle 6">
            <a:extLst>
              <a:ext uri="{FF2B5EF4-FFF2-40B4-BE49-F238E27FC236}">
                <a16:creationId xmlns:a16="http://schemas.microsoft.com/office/drawing/2014/main" id="{AC834C80-F830-41E2-8028-65C17BFB29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8551" name="Rectangle 7">
            <a:extLst>
              <a:ext uri="{FF2B5EF4-FFF2-40B4-BE49-F238E27FC236}">
                <a16:creationId xmlns:a16="http://schemas.microsoft.com/office/drawing/2014/main" id="{9F312985-774F-43F4-8A47-22433B0FBF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1AF2479A-7166-45DC-B6FF-865F30359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2DE09410-32A3-4A58-AC8D-C131FAD00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09572" name="Rectangle 4">
            <a:extLst>
              <a:ext uri="{FF2B5EF4-FFF2-40B4-BE49-F238E27FC236}">
                <a16:creationId xmlns:a16="http://schemas.microsoft.com/office/drawing/2014/main" id="{1ACEEA75-08F7-46A2-8CAF-B38C53B9A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9573" name="Rectangle 5">
            <a:extLst>
              <a:ext uri="{FF2B5EF4-FFF2-40B4-BE49-F238E27FC236}">
                <a16:creationId xmlns:a16="http://schemas.microsoft.com/office/drawing/2014/main" id="{5F6A3D09-E989-4581-BC62-64E8AF7D9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9574" name="Rectangle 6">
            <a:extLst>
              <a:ext uri="{FF2B5EF4-FFF2-40B4-BE49-F238E27FC236}">
                <a16:creationId xmlns:a16="http://schemas.microsoft.com/office/drawing/2014/main" id="{63E161BF-27DA-4377-BF13-6BCDAF6815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9575" name="Rectangle 7">
            <a:extLst>
              <a:ext uri="{FF2B5EF4-FFF2-40B4-BE49-F238E27FC236}">
                <a16:creationId xmlns:a16="http://schemas.microsoft.com/office/drawing/2014/main" id="{90AEB5E2-C8D8-4787-9EDC-D4D0BF8970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0E728CF2-0BD5-4455-B6A0-C57E3A9C9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601CA59E-F7F3-4E16-82EC-B16A5509F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10596" name="Rectangle 4">
            <a:extLst>
              <a:ext uri="{FF2B5EF4-FFF2-40B4-BE49-F238E27FC236}">
                <a16:creationId xmlns:a16="http://schemas.microsoft.com/office/drawing/2014/main" id="{D38DDA7D-77E2-4BD3-9B0C-717C284D1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0597" name="Rectangle 5">
            <a:extLst>
              <a:ext uri="{FF2B5EF4-FFF2-40B4-BE49-F238E27FC236}">
                <a16:creationId xmlns:a16="http://schemas.microsoft.com/office/drawing/2014/main" id="{CFEB6F2E-EB01-4F9B-8221-3278EA2FF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0598" name="Rectangle 6">
            <a:extLst>
              <a:ext uri="{FF2B5EF4-FFF2-40B4-BE49-F238E27FC236}">
                <a16:creationId xmlns:a16="http://schemas.microsoft.com/office/drawing/2014/main" id="{A7F51944-4BD2-4179-B931-C4DFC953F7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10599" name="Rectangle 7">
            <a:extLst>
              <a:ext uri="{FF2B5EF4-FFF2-40B4-BE49-F238E27FC236}">
                <a16:creationId xmlns:a16="http://schemas.microsoft.com/office/drawing/2014/main" id="{C5F263E2-DBD2-49EC-9616-110CCFD37E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C0CBE917-1F96-4DC6-A148-FA82E11DE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2991AF1F-EEFE-4B45-B001-48D30C350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11620" name="Rectangle 4">
            <a:extLst>
              <a:ext uri="{FF2B5EF4-FFF2-40B4-BE49-F238E27FC236}">
                <a16:creationId xmlns:a16="http://schemas.microsoft.com/office/drawing/2014/main" id="{0DFD95B2-3CFE-479F-87E0-9391455BD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1621" name="Rectangle 5">
            <a:extLst>
              <a:ext uri="{FF2B5EF4-FFF2-40B4-BE49-F238E27FC236}">
                <a16:creationId xmlns:a16="http://schemas.microsoft.com/office/drawing/2014/main" id="{3A139FFF-DDC4-473C-AA58-C31647C75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1622" name="Rectangle 6">
            <a:extLst>
              <a:ext uri="{FF2B5EF4-FFF2-40B4-BE49-F238E27FC236}">
                <a16:creationId xmlns:a16="http://schemas.microsoft.com/office/drawing/2014/main" id="{9F7662A1-A042-4D6A-B018-451570B5B3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11623" name="Rectangle 7">
            <a:extLst>
              <a:ext uri="{FF2B5EF4-FFF2-40B4-BE49-F238E27FC236}">
                <a16:creationId xmlns:a16="http://schemas.microsoft.com/office/drawing/2014/main" id="{87943B57-E131-4D95-8333-F9FC444FA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C0CBE917-1F96-4DC6-A148-FA82E11DE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2991AF1F-EEFE-4B45-B001-48D30C350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11620" name="Rectangle 4">
            <a:extLst>
              <a:ext uri="{FF2B5EF4-FFF2-40B4-BE49-F238E27FC236}">
                <a16:creationId xmlns:a16="http://schemas.microsoft.com/office/drawing/2014/main" id="{0DFD95B2-3CFE-479F-87E0-9391455BD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1621" name="Rectangle 5">
            <a:extLst>
              <a:ext uri="{FF2B5EF4-FFF2-40B4-BE49-F238E27FC236}">
                <a16:creationId xmlns:a16="http://schemas.microsoft.com/office/drawing/2014/main" id="{3A139FFF-DDC4-473C-AA58-C31647C75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1622" name="Rectangle 6">
            <a:extLst>
              <a:ext uri="{FF2B5EF4-FFF2-40B4-BE49-F238E27FC236}">
                <a16:creationId xmlns:a16="http://schemas.microsoft.com/office/drawing/2014/main" id="{9F7662A1-A042-4D6A-B018-451570B5B3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11623" name="Rectangle 7">
            <a:extLst>
              <a:ext uri="{FF2B5EF4-FFF2-40B4-BE49-F238E27FC236}">
                <a16:creationId xmlns:a16="http://schemas.microsoft.com/office/drawing/2014/main" id="{87943B57-E131-4D95-8333-F9FC444FA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918783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F8EE7E31-1A61-47A7-86E4-A801E5506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369209C5-700E-4CC0-9D78-D9A3761D8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12644" name="Rectangle 4">
            <a:extLst>
              <a:ext uri="{FF2B5EF4-FFF2-40B4-BE49-F238E27FC236}">
                <a16:creationId xmlns:a16="http://schemas.microsoft.com/office/drawing/2014/main" id="{E05D5134-D67F-41F9-A2B1-8AB64E1DC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2645" name="Rectangle 5">
            <a:extLst>
              <a:ext uri="{FF2B5EF4-FFF2-40B4-BE49-F238E27FC236}">
                <a16:creationId xmlns:a16="http://schemas.microsoft.com/office/drawing/2014/main" id="{72105ED8-5574-4245-AAAB-5E5D626D7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2646" name="Rectangle 6">
            <a:extLst>
              <a:ext uri="{FF2B5EF4-FFF2-40B4-BE49-F238E27FC236}">
                <a16:creationId xmlns:a16="http://schemas.microsoft.com/office/drawing/2014/main" id="{C6A2CFB5-7E58-4F5C-B8D0-5E0F50F9A9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12647" name="Rectangle 7">
            <a:extLst>
              <a:ext uri="{FF2B5EF4-FFF2-40B4-BE49-F238E27FC236}">
                <a16:creationId xmlns:a16="http://schemas.microsoft.com/office/drawing/2014/main" id="{2EA5C583-9AA6-444F-8CE0-B7E68E63BA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96EF2288-2965-403F-BF6C-B094E80D9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F8213868-54C1-4059-99AD-EDEB6E7B3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13668" name="Rectangle 4">
            <a:extLst>
              <a:ext uri="{FF2B5EF4-FFF2-40B4-BE49-F238E27FC236}">
                <a16:creationId xmlns:a16="http://schemas.microsoft.com/office/drawing/2014/main" id="{4580AB96-6195-4733-AAE5-181B8157D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3669" name="Rectangle 5">
            <a:extLst>
              <a:ext uri="{FF2B5EF4-FFF2-40B4-BE49-F238E27FC236}">
                <a16:creationId xmlns:a16="http://schemas.microsoft.com/office/drawing/2014/main" id="{083EF359-6212-4ADE-8CDC-5E5414156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3670" name="Rectangle 6">
            <a:extLst>
              <a:ext uri="{FF2B5EF4-FFF2-40B4-BE49-F238E27FC236}">
                <a16:creationId xmlns:a16="http://schemas.microsoft.com/office/drawing/2014/main" id="{EFC4518F-003E-4DA5-A39D-3EF3C88406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13671" name="Rectangle 7">
            <a:extLst>
              <a:ext uri="{FF2B5EF4-FFF2-40B4-BE49-F238E27FC236}">
                <a16:creationId xmlns:a16="http://schemas.microsoft.com/office/drawing/2014/main" id="{4EF4FB9F-6CE9-42A8-B389-78F870DD9B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96EF2288-2965-403F-BF6C-B094E80D9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F8213868-54C1-4059-99AD-EDEB6E7B3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13668" name="Rectangle 4">
            <a:extLst>
              <a:ext uri="{FF2B5EF4-FFF2-40B4-BE49-F238E27FC236}">
                <a16:creationId xmlns:a16="http://schemas.microsoft.com/office/drawing/2014/main" id="{4580AB96-6195-4733-AAE5-181B8157D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3669" name="Rectangle 5">
            <a:extLst>
              <a:ext uri="{FF2B5EF4-FFF2-40B4-BE49-F238E27FC236}">
                <a16:creationId xmlns:a16="http://schemas.microsoft.com/office/drawing/2014/main" id="{083EF359-6212-4ADE-8CDC-5E5414156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3670" name="Rectangle 6">
            <a:extLst>
              <a:ext uri="{FF2B5EF4-FFF2-40B4-BE49-F238E27FC236}">
                <a16:creationId xmlns:a16="http://schemas.microsoft.com/office/drawing/2014/main" id="{EFC4518F-003E-4DA5-A39D-3EF3C88406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13671" name="Rectangle 7">
            <a:extLst>
              <a:ext uri="{FF2B5EF4-FFF2-40B4-BE49-F238E27FC236}">
                <a16:creationId xmlns:a16="http://schemas.microsoft.com/office/drawing/2014/main" id="{4EF4FB9F-6CE9-42A8-B389-78F870DD9B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855323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96EF2288-2965-403F-BF6C-B094E80D9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F8213868-54C1-4059-99AD-EDEB6E7B3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13668" name="Rectangle 4">
            <a:extLst>
              <a:ext uri="{FF2B5EF4-FFF2-40B4-BE49-F238E27FC236}">
                <a16:creationId xmlns:a16="http://schemas.microsoft.com/office/drawing/2014/main" id="{4580AB96-6195-4733-AAE5-181B8157D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3669" name="Rectangle 5">
            <a:extLst>
              <a:ext uri="{FF2B5EF4-FFF2-40B4-BE49-F238E27FC236}">
                <a16:creationId xmlns:a16="http://schemas.microsoft.com/office/drawing/2014/main" id="{083EF359-6212-4ADE-8CDC-5E5414156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3670" name="Rectangle 6">
            <a:extLst>
              <a:ext uri="{FF2B5EF4-FFF2-40B4-BE49-F238E27FC236}">
                <a16:creationId xmlns:a16="http://schemas.microsoft.com/office/drawing/2014/main" id="{EFC4518F-003E-4DA5-A39D-3EF3C88406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13671" name="Rectangle 7">
            <a:extLst>
              <a:ext uri="{FF2B5EF4-FFF2-40B4-BE49-F238E27FC236}">
                <a16:creationId xmlns:a16="http://schemas.microsoft.com/office/drawing/2014/main" id="{4EF4FB9F-6CE9-42A8-B389-78F870DD9B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28387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96EF2288-2965-403F-BF6C-B094E80D9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F8213868-54C1-4059-99AD-EDEB6E7B3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13668" name="Rectangle 4">
            <a:extLst>
              <a:ext uri="{FF2B5EF4-FFF2-40B4-BE49-F238E27FC236}">
                <a16:creationId xmlns:a16="http://schemas.microsoft.com/office/drawing/2014/main" id="{4580AB96-6195-4733-AAE5-181B8157D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3669" name="Rectangle 5">
            <a:extLst>
              <a:ext uri="{FF2B5EF4-FFF2-40B4-BE49-F238E27FC236}">
                <a16:creationId xmlns:a16="http://schemas.microsoft.com/office/drawing/2014/main" id="{083EF359-6212-4ADE-8CDC-5E5414156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3670" name="Rectangle 6">
            <a:extLst>
              <a:ext uri="{FF2B5EF4-FFF2-40B4-BE49-F238E27FC236}">
                <a16:creationId xmlns:a16="http://schemas.microsoft.com/office/drawing/2014/main" id="{EFC4518F-003E-4DA5-A39D-3EF3C88406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13671" name="Rectangle 7">
            <a:extLst>
              <a:ext uri="{FF2B5EF4-FFF2-40B4-BE49-F238E27FC236}">
                <a16:creationId xmlns:a16="http://schemas.microsoft.com/office/drawing/2014/main" id="{4EF4FB9F-6CE9-42A8-B389-78F870DD9B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233310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96EF2288-2965-403F-BF6C-B094E80D9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F8213868-54C1-4059-99AD-EDEB6E7B3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13668" name="Rectangle 4">
            <a:extLst>
              <a:ext uri="{FF2B5EF4-FFF2-40B4-BE49-F238E27FC236}">
                <a16:creationId xmlns:a16="http://schemas.microsoft.com/office/drawing/2014/main" id="{4580AB96-6195-4733-AAE5-181B8157D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3669" name="Rectangle 5">
            <a:extLst>
              <a:ext uri="{FF2B5EF4-FFF2-40B4-BE49-F238E27FC236}">
                <a16:creationId xmlns:a16="http://schemas.microsoft.com/office/drawing/2014/main" id="{083EF359-6212-4ADE-8CDC-5E5414156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3670" name="Rectangle 6">
            <a:extLst>
              <a:ext uri="{FF2B5EF4-FFF2-40B4-BE49-F238E27FC236}">
                <a16:creationId xmlns:a16="http://schemas.microsoft.com/office/drawing/2014/main" id="{EFC4518F-003E-4DA5-A39D-3EF3C88406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13671" name="Rectangle 7">
            <a:extLst>
              <a:ext uri="{FF2B5EF4-FFF2-40B4-BE49-F238E27FC236}">
                <a16:creationId xmlns:a16="http://schemas.microsoft.com/office/drawing/2014/main" id="{4EF4FB9F-6CE9-42A8-B389-78F870DD9B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344249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96EF2288-2965-403F-BF6C-B094E80D9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F8213868-54C1-4059-99AD-EDEB6E7B3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13668" name="Rectangle 4">
            <a:extLst>
              <a:ext uri="{FF2B5EF4-FFF2-40B4-BE49-F238E27FC236}">
                <a16:creationId xmlns:a16="http://schemas.microsoft.com/office/drawing/2014/main" id="{4580AB96-6195-4733-AAE5-181B8157D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3669" name="Rectangle 5">
            <a:extLst>
              <a:ext uri="{FF2B5EF4-FFF2-40B4-BE49-F238E27FC236}">
                <a16:creationId xmlns:a16="http://schemas.microsoft.com/office/drawing/2014/main" id="{083EF359-6212-4ADE-8CDC-5E5414156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3670" name="Rectangle 6">
            <a:extLst>
              <a:ext uri="{FF2B5EF4-FFF2-40B4-BE49-F238E27FC236}">
                <a16:creationId xmlns:a16="http://schemas.microsoft.com/office/drawing/2014/main" id="{EFC4518F-003E-4DA5-A39D-3EF3C88406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13671" name="Rectangle 7">
            <a:extLst>
              <a:ext uri="{FF2B5EF4-FFF2-40B4-BE49-F238E27FC236}">
                <a16:creationId xmlns:a16="http://schemas.microsoft.com/office/drawing/2014/main" id="{4EF4FB9F-6CE9-42A8-B389-78F870DD9B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514316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68822674-5B4F-4E67-A7B4-A79FAAF65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055B23A2-F6F1-4A32-AC26-9FEE5F1B0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14692" name="Rectangle 4">
            <a:extLst>
              <a:ext uri="{FF2B5EF4-FFF2-40B4-BE49-F238E27FC236}">
                <a16:creationId xmlns:a16="http://schemas.microsoft.com/office/drawing/2014/main" id="{560800F6-1DA2-4A12-9C7D-CB43DFA2E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4693" name="Rectangle 5">
            <a:extLst>
              <a:ext uri="{FF2B5EF4-FFF2-40B4-BE49-F238E27FC236}">
                <a16:creationId xmlns:a16="http://schemas.microsoft.com/office/drawing/2014/main" id="{047C35EF-BDE2-438D-854A-E999BC049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4694" name="Rectangle 6">
            <a:extLst>
              <a:ext uri="{FF2B5EF4-FFF2-40B4-BE49-F238E27FC236}">
                <a16:creationId xmlns:a16="http://schemas.microsoft.com/office/drawing/2014/main" id="{2E97B654-582A-4204-A9AB-FDE390BC3D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14695" name="Rectangle 7">
            <a:extLst>
              <a:ext uri="{FF2B5EF4-FFF2-40B4-BE49-F238E27FC236}">
                <a16:creationId xmlns:a16="http://schemas.microsoft.com/office/drawing/2014/main" id="{2EDD1AA1-D7C4-4729-8C70-699AEAB0D3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8E82DA10-8B78-4E85-A68A-721D7DFA7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0B25AE72-BD7D-4CB6-839B-5ED27F23B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15716" name="Rectangle 4">
            <a:extLst>
              <a:ext uri="{FF2B5EF4-FFF2-40B4-BE49-F238E27FC236}">
                <a16:creationId xmlns:a16="http://schemas.microsoft.com/office/drawing/2014/main" id="{33F197B1-F53F-4DB3-B22D-323E5419F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5717" name="Rectangle 5">
            <a:extLst>
              <a:ext uri="{FF2B5EF4-FFF2-40B4-BE49-F238E27FC236}">
                <a16:creationId xmlns:a16="http://schemas.microsoft.com/office/drawing/2014/main" id="{3A80D96A-40E9-4BE7-AB3C-94AFE656F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5718" name="Rectangle 6">
            <a:extLst>
              <a:ext uri="{FF2B5EF4-FFF2-40B4-BE49-F238E27FC236}">
                <a16:creationId xmlns:a16="http://schemas.microsoft.com/office/drawing/2014/main" id="{D347C406-E37F-4BD0-90A8-C5C90B6E03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15719" name="Rectangle 7">
            <a:extLst>
              <a:ext uri="{FF2B5EF4-FFF2-40B4-BE49-F238E27FC236}">
                <a16:creationId xmlns:a16="http://schemas.microsoft.com/office/drawing/2014/main" id="{C743382B-7732-43E1-A0C4-9A67C0A1BE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026DB33B-B2D6-4B1E-A194-6F95BC32F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A191953A-5C5C-4616-BDE6-80B0A1C07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16740" name="Rectangle 4">
            <a:extLst>
              <a:ext uri="{FF2B5EF4-FFF2-40B4-BE49-F238E27FC236}">
                <a16:creationId xmlns:a16="http://schemas.microsoft.com/office/drawing/2014/main" id="{EF0C8B92-97BA-467D-9907-B5E09D56A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6741" name="Rectangle 5">
            <a:extLst>
              <a:ext uri="{FF2B5EF4-FFF2-40B4-BE49-F238E27FC236}">
                <a16:creationId xmlns:a16="http://schemas.microsoft.com/office/drawing/2014/main" id="{2AA51B8A-AB90-427B-9DC1-A5A02B1FB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6742" name="Rectangle 6">
            <a:extLst>
              <a:ext uri="{FF2B5EF4-FFF2-40B4-BE49-F238E27FC236}">
                <a16:creationId xmlns:a16="http://schemas.microsoft.com/office/drawing/2014/main" id="{B1C51686-FEC3-404B-8734-B0CC7CB58D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16743" name="Rectangle 7">
            <a:extLst>
              <a:ext uri="{FF2B5EF4-FFF2-40B4-BE49-F238E27FC236}">
                <a16:creationId xmlns:a16="http://schemas.microsoft.com/office/drawing/2014/main" id="{FE846A8D-5C8D-4EB2-ACA3-34B57BD6FE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2CE673D0-1927-49ED-AD4F-290219426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3280747B-81E1-45E8-A21F-29C595D26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22884" name="Rectangle 4">
            <a:extLst>
              <a:ext uri="{FF2B5EF4-FFF2-40B4-BE49-F238E27FC236}">
                <a16:creationId xmlns:a16="http://schemas.microsoft.com/office/drawing/2014/main" id="{26368D04-6E88-4FF1-9137-A56884C1D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22885" name="Rectangle 5">
            <a:extLst>
              <a:ext uri="{FF2B5EF4-FFF2-40B4-BE49-F238E27FC236}">
                <a16:creationId xmlns:a16="http://schemas.microsoft.com/office/drawing/2014/main" id="{71431333-FFAD-4A9F-ABC0-0E26B1AD6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22886" name="Rectangle 6">
            <a:extLst>
              <a:ext uri="{FF2B5EF4-FFF2-40B4-BE49-F238E27FC236}">
                <a16:creationId xmlns:a16="http://schemas.microsoft.com/office/drawing/2014/main" id="{C9E6483D-0AF6-4181-A962-B88C7DB65D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22887" name="Rectangle 7">
            <a:extLst>
              <a:ext uri="{FF2B5EF4-FFF2-40B4-BE49-F238E27FC236}">
                <a16:creationId xmlns:a16="http://schemas.microsoft.com/office/drawing/2014/main" id="{9149F4F3-1A36-44CB-AE7E-6186BC6734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DFE70E23-BE96-424B-BC80-9601ECAF3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75BC7B89-872C-4CDA-BAB6-429DA22CA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23908" name="Rectangle 4">
            <a:extLst>
              <a:ext uri="{FF2B5EF4-FFF2-40B4-BE49-F238E27FC236}">
                <a16:creationId xmlns:a16="http://schemas.microsoft.com/office/drawing/2014/main" id="{006F333C-0368-4ACD-AF23-E0CA251F6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23909" name="Rectangle 5">
            <a:extLst>
              <a:ext uri="{FF2B5EF4-FFF2-40B4-BE49-F238E27FC236}">
                <a16:creationId xmlns:a16="http://schemas.microsoft.com/office/drawing/2014/main" id="{78C5B3EA-FCD6-40DC-9528-6A68AD445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23910" name="Rectangle 6">
            <a:extLst>
              <a:ext uri="{FF2B5EF4-FFF2-40B4-BE49-F238E27FC236}">
                <a16:creationId xmlns:a16="http://schemas.microsoft.com/office/drawing/2014/main" id="{BD6160DB-715B-44B4-9034-F10142411D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23911" name="Rectangle 7">
            <a:extLst>
              <a:ext uri="{FF2B5EF4-FFF2-40B4-BE49-F238E27FC236}">
                <a16:creationId xmlns:a16="http://schemas.microsoft.com/office/drawing/2014/main" id="{36D3E89A-204B-49C0-91A1-D49D0F6F71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>
            <a:extLst>
              <a:ext uri="{FF2B5EF4-FFF2-40B4-BE49-F238E27FC236}">
                <a16:creationId xmlns:a16="http://schemas.microsoft.com/office/drawing/2014/main" id="{A586C8E2-C879-4CD6-97F3-285A07589972}"/>
              </a:ext>
            </a:extLst>
          </p:cNvPr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1027">
              <a:extLst>
                <a:ext uri="{FF2B5EF4-FFF2-40B4-BE49-F238E27FC236}">
                  <a16:creationId xmlns:a16="http://schemas.microsoft.com/office/drawing/2014/main" id="{47879665-EBFE-4B8C-8BFE-9507302009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57150" cmpd="thickThin">
              <a:solidFill>
                <a:srgbClr val="8D7D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6" name="AutoShape 1028">
              <a:extLst>
                <a:ext uri="{FF2B5EF4-FFF2-40B4-BE49-F238E27FC236}">
                  <a16:creationId xmlns:a16="http://schemas.microsoft.com/office/drawing/2014/main" id="{B6E746F8-AE04-4E0D-B284-231F51001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T0" fmla="*/ 1587 w 64000"/>
                <a:gd name="T1" fmla="*/ 85 h 64000"/>
                <a:gd name="T2" fmla="*/ 2304 w 64000"/>
                <a:gd name="T3" fmla="*/ 1152 h 64000"/>
                <a:gd name="T4" fmla="*/ 1587 w 64000"/>
                <a:gd name="T5" fmla="*/ 2219 h 64000"/>
                <a:gd name="T6" fmla="*/ 1587 w 64000"/>
                <a:gd name="T7" fmla="*/ 2219 h 64000"/>
                <a:gd name="T8" fmla="*/ 1587 w 64000"/>
                <a:gd name="T9" fmla="*/ 2219 h 64000"/>
                <a:gd name="T10" fmla="*/ 1587 w 64000"/>
                <a:gd name="T11" fmla="*/ 2219 h 64000"/>
                <a:gd name="T12" fmla="*/ 1587 w 64000"/>
                <a:gd name="T13" fmla="*/ 85 h 64000"/>
                <a:gd name="T14" fmla="*/ 1587 w 64000"/>
                <a:gd name="T15" fmla="*/ 85 h 64000"/>
                <a:gd name="T16" fmla="*/ 1587 w 64000"/>
                <a:gd name="T17" fmla="*/ 85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44083 w 64000"/>
                <a:gd name="T28" fmla="*/ -29639 h 64000"/>
                <a:gd name="T29" fmla="*/ 44083 w 64000"/>
                <a:gd name="T30" fmla="*/ 29639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7" name="AutoShape 1029">
              <a:extLst>
                <a:ext uri="{FF2B5EF4-FFF2-40B4-BE49-F238E27FC236}">
                  <a16:creationId xmlns:a16="http://schemas.microsoft.com/office/drawing/2014/main" id="{3B490608-2DCD-4E32-AE96-9B272117F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T0" fmla="*/ 2027 w 64000"/>
                <a:gd name="T1" fmla="*/ 248 h 64000"/>
                <a:gd name="T2" fmla="*/ 2544 w 64000"/>
                <a:gd name="T3" fmla="*/ 1272 h 64000"/>
                <a:gd name="T4" fmla="*/ 2027 w 64000"/>
                <a:gd name="T5" fmla="*/ 2296 h 64000"/>
                <a:gd name="T6" fmla="*/ 2027 w 64000"/>
                <a:gd name="T7" fmla="*/ 2296 h 64000"/>
                <a:gd name="T8" fmla="*/ 2027 w 64000"/>
                <a:gd name="T9" fmla="*/ 2296 h 64000"/>
                <a:gd name="T10" fmla="*/ 2027 w 64000"/>
                <a:gd name="T11" fmla="*/ 2296 h 64000"/>
                <a:gd name="T12" fmla="*/ 2027 w 64000"/>
                <a:gd name="T13" fmla="*/ 248 h 64000"/>
                <a:gd name="T14" fmla="*/ 2027 w 64000"/>
                <a:gd name="T15" fmla="*/ 248 h 64000"/>
                <a:gd name="T16" fmla="*/ 2027 w 64000"/>
                <a:gd name="T17" fmla="*/ 248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994 w 64000"/>
                <a:gd name="T28" fmla="*/ -25761 h 64000"/>
                <a:gd name="T29" fmla="*/ 50994 w 64000"/>
                <a:gd name="T30" fmla="*/ 25761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216070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 altLang="ko-KR"/>
              <a:t>Click to edit Master title style</a:t>
            </a:r>
          </a:p>
        </p:txBody>
      </p:sp>
      <p:sp>
        <p:nvSpPr>
          <p:cNvPr id="216071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4000"/>
            </a:lvl1pPr>
          </a:lstStyle>
          <a:p>
            <a:r>
              <a:rPr lang="en-US" altLang="ko-KR"/>
              <a:t>Click to edit Master subtitle style</a:t>
            </a:r>
          </a:p>
        </p:txBody>
      </p:sp>
      <p:sp>
        <p:nvSpPr>
          <p:cNvPr id="8" name="Rectangle 1032">
            <a:extLst>
              <a:ext uri="{FF2B5EF4-FFF2-40B4-BE49-F238E27FC236}">
                <a16:creationId xmlns:a16="http://schemas.microsoft.com/office/drawing/2014/main" id="{FB03F1D5-65EE-48B8-8DFD-FB352A420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206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Rectangle 1033">
            <a:extLst>
              <a:ext uri="{FF2B5EF4-FFF2-40B4-BE49-F238E27FC236}">
                <a16:creationId xmlns:a16="http://schemas.microsoft.com/office/drawing/2014/main" id="{646B7E85-B19F-409B-AA9B-5DA2BC392B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Rectangle 1034">
            <a:extLst>
              <a:ext uri="{FF2B5EF4-FFF2-40B4-BE49-F238E27FC236}">
                <a16:creationId xmlns:a16="http://schemas.microsoft.com/office/drawing/2014/main" id="{DA0159C7-11D2-4BF1-8D91-312679AEC6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8837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A1581772-D6C0-4055-BCD5-4BD504B33A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034D72B4-3E10-4CC8-8BED-4BF3544F27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14B9A03F-4A30-4820-9BE2-B4C7946822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66C0B3-AFEC-4D49-B20C-C9A35D22AE4B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22883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8A512E0D-AF00-4B74-B1E7-2549F0223B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9E46598F-CA96-4ABC-AF43-E0D225F603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1AAD3F3A-03E8-4BD0-A4EF-AD09688B6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4A2392-EDD8-4EC7-9942-33F4F5E6B635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79547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3413098A-EA02-40AE-8731-C0D1E39D34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F9F8060D-A414-4FC1-A846-C42E377293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73A79866-2935-4023-A400-6845168855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2271C6-E419-406E-8D71-5BAEDE7A881B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99048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C6DAEC9-2C91-4AEA-89EF-AD47271928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413C5333-8FF7-4AE7-990A-6AE539017F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0DDF8094-9AA2-4F20-9826-32A2FD651D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7A9EAE-8E3C-41E7-8D32-C91F12450E91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68813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2D6745F9-1657-4E35-B4F2-7076C4AD94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4A151E61-AF6A-4F75-A8E6-2548ACE0CD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B6AD385C-5FD9-49C3-B24E-2038BDB69A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EAFC19-D2C1-4732-83C3-5D1416B92C88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29702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7C3BCF12-B040-42F4-A5A7-042F4B5825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411F5C22-9F06-41AD-ABF6-3926033DCE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3AE8EADB-1D82-4D3C-A25F-D512164210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5B52D1-E5E3-46E7-9671-33C3A400C122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8564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1A3BE9FC-66B8-49B6-A031-FE6322B61F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AD0D0FE6-1E59-4646-AD4B-86C62DBB00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08DDD981-C817-45C8-B47A-A60183194C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5A044D-01FB-4061-BB60-2E83111051A8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95613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992BC7F-9EC4-4FB7-AA64-C78CA97BE4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8D06109C-F41C-4DAA-B465-41C16EF337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5F40BE25-B7B8-4BFE-8818-25DB996B96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E323AD-6E74-4CB5-B839-6E90616D3535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3278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3479D2F4-9503-453C-965D-9DC0ED22DE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B4E328BB-3C6D-4FE3-817F-E3AEEF926C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7C35AD9F-C6D6-4066-BD8A-461AC7AD25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7EE548-5EFD-4AA5-B969-29B814BBD90F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17515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3C51C165-3CF5-4F56-8FBA-0816C34D61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2072FD86-587B-420E-A077-9516891334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66BED617-2F0D-4842-B4DB-1FF7AAC2B3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9CBA4D-42E9-49A8-B6DD-7421F4C412F9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59802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>
            <a:extLst>
              <a:ext uri="{FF2B5EF4-FFF2-40B4-BE49-F238E27FC236}">
                <a16:creationId xmlns:a16="http://schemas.microsoft.com/office/drawing/2014/main" id="{DE08B2DC-A0BB-43CD-97AF-8BC803B0166E}"/>
              </a:ext>
            </a:extLst>
          </p:cNvPr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1032" name="AutoShape 3">
              <a:extLst>
                <a:ext uri="{FF2B5EF4-FFF2-40B4-BE49-F238E27FC236}">
                  <a16:creationId xmlns:a16="http://schemas.microsoft.com/office/drawing/2014/main" id="{280070FA-674E-4D7C-A16D-14C1D66E1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2037 w 64000"/>
                <a:gd name="T1" fmla="*/ 177 h 64000"/>
                <a:gd name="T2" fmla="*/ 2592 w 64000"/>
                <a:gd name="T3" fmla="*/ 984 h 64000"/>
                <a:gd name="T4" fmla="*/ 2037 w 64000"/>
                <a:gd name="T5" fmla="*/ 1791 h 64000"/>
                <a:gd name="T6" fmla="*/ 2037 w 64000"/>
                <a:gd name="T7" fmla="*/ 1791 h 64000"/>
                <a:gd name="T8" fmla="*/ 2037 w 64000"/>
                <a:gd name="T9" fmla="*/ 1791 h 64000"/>
                <a:gd name="T10" fmla="*/ 2037 w 64000"/>
                <a:gd name="T11" fmla="*/ 1791 h 64000"/>
                <a:gd name="T12" fmla="*/ 2037 w 64000"/>
                <a:gd name="T13" fmla="*/ 177 h 64000"/>
                <a:gd name="T14" fmla="*/ 2037 w 64000"/>
                <a:gd name="T15" fmla="*/ 177 h 64000"/>
                <a:gd name="T16" fmla="*/ 2037 w 64000"/>
                <a:gd name="T17" fmla="*/ 177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1033" name="AutoShape 4">
              <a:extLst>
                <a:ext uri="{FF2B5EF4-FFF2-40B4-BE49-F238E27FC236}">
                  <a16:creationId xmlns:a16="http://schemas.microsoft.com/office/drawing/2014/main" id="{A50A5267-D973-4568-8163-222C4EC68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1525 w 64000"/>
                <a:gd name="T1" fmla="*/ 174 h 64000"/>
                <a:gd name="T2" fmla="*/ 1949 w 64000"/>
                <a:gd name="T3" fmla="*/ 994 h 64000"/>
                <a:gd name="T4" fmla="*/ 1525 w 64000"/>
                <a:gd name="T5" fmla="*/ 1813 h 64000"/>
                <a:gd name="T6" fmla="*/ 1525 w 64000"/>
                <a:gd name="T7" fmla="*/ 1813 h 64000"/>
                <a:gd name="T8" fmla="*/ 1525 w 64000"/>
                <a:gd name="T9" fmla="*/ 1813 h 64000"/>
                <a:gd name="T10" fmla="*/ 1525 w 64000"/>
                <a:gd name="T11" fmla="*/ 1813 h 64000"/>
                <a:gd name="T12" fmla="*/ 1525 w 64000"/>
                <a:gd name="T13" fmla="*/ 174 h 64000"/>
                <a:gd name="T14" fmla="*/ 1525 w 64000"/>
                <a:gd name="T15" fmla="*/ 174 h 64000"/>
                <a:gd name="T16" fmla="*/ 1525 w 64000"/>
                <a:gd name="T17" fmla="*/ 174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1034" name="Line 5">
              <a:extLst>
                <a:ext uri="{FF2B5EF4-FFF2-40B4-BE49-F238E27FC236}">
                  <a16:creationId xmlns:a16="http://schemas.microsoft.com/office/drawing/2014/main" id="{B64229B2-9757-47C2-B7A2-8923667462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4099" name="Rectangle 6">
            <a:extLst>
              <a:ext uri="{FF2B5EF4-FFF2-40B4-BE49-F238E27FC236}">
                <a16:creationId xmlns:a16="http://schemas.microsoft.com/office/drawing/2014/main" id="{46D94094-F336-475E-A728-E5D0F04A5F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4100" name="Rectangle 7">
            <a:extLst>
              <a:ext uri="{FF2B5EF4-FFF2-40B4-BE49-F238E27FC236}">
                <a16:creationId xmlns:a16="http://schemas.microsoft.com/office/drawing/2014/main" id="{6D23D2FB-A234-4711-8387-5DAEB211DE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215048" name="Rectangle 8">
            <a:extLst>
              <a:ext uri="{FF2B5EF4-FFF2-40B4-BE49-F238E27FC236}">
                <a16:creationId xmlns:a16="http://schemas.microsoft.com/office/drawing/2014/main" id="{38239328-0CE8-4ACF-B037-E84F7E91977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871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5049" name="Rectangle 9">
            <a:extLst>
              <a:ext uri="{FF2B5EF4-FFF2-40B4-BE49-F238E27FC236}">
                <a16:creationId xmlns:a16="http://schemas.microsoft.com/office/drawing/2014/main" id="{B5D599F3-6C87-460A-B5D6-CD65F1DF112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215050" name="Rectangle 10">
            <a:extLst>
              <a:ext uri="{FF2B5EF4-FFF2-40B4-BE49-F238E27FC236}">
                <a16:creationId xmlns:a16="http://schemas.microsoft.com/office/drawing/2014/main" id="{FF89BF4D-6F9B-411E-9130-EBC7A4BA8EC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ea typeface="굴림" panose="020B0600000101010101" pitchFamily="50" charset="-127"/>
              </a:defRPr>
            </a:lvl1pPr>
          </a:lstStyle>
          <a:p>
            <a:fld id="{8E7FE827-D4AE-45FF-A2E6-2AFA311BC4E4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76" r:id="rId1"/>
    <p:sldLayoutId id="2147484177" r:id="rId2"/>
    <p:sldLayoutId id="2147484178" r:id="rId3"/>
    <p:sldLayoutId id="2147484179" r:id="rId4"/>
    <p:sldLayoutId id="2147484180" r:id="rId5"/>
    <p:sldLayoutId id="2147484181" r:id="rId6"/>
    <p:sldLayoutId id="2147484182" r:id="rId7"/>
    <p:sldLayoutId id="2147484183" r:id="rId8"/>
    <p:sldLayoutId id="2147484184" r:id="rId9"/>
    <p:sldLayoutId id="2147484185" r:id="rId10"/>
    <p:sldLayoutId id="2147484186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l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m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l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m"/>
        <a:defRPr sz="19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anose="05000000000000000000" pitchFamily="2" charset="2"/>
        <a:buChar char="l"/>
        <a:defRPr sz="19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36">
            <a:extLst>
              <a:ext uri="{FF2B5EF4-FFF2-40B4-BE49-F238E27FC236}">
                <a16:creationId xmlns:a16="http://schemas.microsoft.com/office/drawing/2014/main" id="{E35CF09D-2A19-4926-9D2D-5D757EB867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4038" y="2593975"/>
            <a:ext cx="7313612" cy="1143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17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장 개요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5789" name="Rectangle 1037">
            <a:extLst>
              <a:ext uri="{FF2B5EF4-FFF2-40B4-BE49-F238E27FC236}">
                <a16:creationId xmlns:a16="http://schemas.microsoft.com/office/drawing/2014/main" id="{F745B4CF-6CE5-4110-A717-61C28B1BD3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84488" y="2686050"/>
            <a:ext cx="6259512" cy="4114800"/>
          </a:xfrm>
        </p:spPr>
        <p:txBody>
          <a:bodyPr/>
          <a:lstStyle/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가상가치평가법의 역사와 특징</a:t>
            </a:r>
          </a:p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가상가치평가법의 질문 형태와 타당성</a:t>
            </a:r>
          </a:p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선택실험법과 가상행위평가법</a:t>
            </a:r>
          </a:p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모의시장분석과 실험 및 행동경제학</a:t>
            </a:r>
          </a:p>
          <a:p>
            <a:pPr eaLnBrk="1" hangingPunct="1">
              <a:buClr>
                <a:srgbClr val="3366CC"/>
              </a:buClr>
            </a:pP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편익이전</a:t>
            </a:r>
            <a:endParaRPr lang="ko-KR" altLang="en-US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6388" name="바닥글 개체 틀 4">
            <a:extLst>
              <a:ext uri="{FF2B5EF4-FFF2-40B4-BE49-F238E27FC236}">
                <a16:creationId xmlns:a16="http://schemas.microsoft.com/office/drawing/2014/main" id="{1AD6B168-20D8-49BA-B20A-8A9807BDA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16389" name="슬라이드 번호 개체 틀 5">
            <a:extLst>
              <a:ext uri="{FF2B5EF4-FFF2-40B4-BE49-F238E27FC236}">
                <a16:creationId xmlns:a16="http://schemas.microsoft.com/office/drawing/2014/main" id="{70CEB925-4004-417A-9DDF-CF564C84B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5D42FCBB-52AE-43B9-B203-6A097BCBD213}" type="slidenum">
              <a:rPr lang="ko-KR" altLang="en-US" sz="1200" b="0">
                <a:solidFill>
                  <a:schemeClr val="tx1"/>
                </a:solidFill>
                <a:latin typeface="나눔명조" pitchFamily="18" charset="-127"/>
                <a:ea typeface="나눔명조" pitchFamily="18" charset="-127"/>
              </a:rPr>
              <a:pPr/>
              <a:t>1</a:t>
            </a:fld>
            <a:endParaRPr lang="en-US" altLang="ko-KR" sz="1200" b="0">
              <a:solidFill>
                <a:schemeClr val="tx1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6390" name="Rectangle 1026">
            <a:extLst>
              <a:ext uri="{FF2B5EF4-FFF2-40B4-BE49-F238E27FC236}">
                <a16:creationId xmlns:a16="http://schemas.microsoft.com/office/drawing/2014/main" id="{4911F194-7C81-4897-85DF-394228499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6391" name="Rectangle 1027">
            <a:extLst>
              <a:ext uri="{FF2B5EF4-FFF2-40B4-BE49-F238E27FC236}">
                <a16:creationId xmlns:a16="http://schemas.microsoft.com/office/drawing/2014/main" id="{84D195BB-D1A0-4869-BB4B-8FB118195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32E5B79-9FD2-4149-A110-5E9B71501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" y="0"/>
            <a:ext cx="8301038" cy="144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제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17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장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 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환경개선의 편익분석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3</a:t>
            </a:r>
          </a:p>
          <a:p>
            <a:pPr algn="r" eaLnBrk="1" hangingPunct="1">
              <a:defRPr/>
            </a:pP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 </a:t>
            </a:r>
            <a:r>
              <a:rPr lang="ko-KR" altLang="en-US" sz="3600" kern="0" dirty="0" err="1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진술선호법</a:t>
            </a:r>
            <a:endParaRPr lang="en-US" altLang="ko-KR" sz="3600" kern="0" dirty="0">
              <a:solidFill>
                <a:srgbClr val="00206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57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57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9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9">
            <a:extLst>
              <a:ext uri="{FF2B5EF4-FFF2-40B4-BE49-F238E27FC236}">
                <a16:creationId xmlns:a16="http://schemas.microsoft.com/office/drawing/2014/main" id="{190A7C4A-7DDD-471E-A8D9-2453D319CE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69963" y="1519238"/>
            <a:ext cx="7737475" cy="4332287"/>
          </a:xfrm>
        </p:spPr>
        <p:txBody>
          <a:bodyPr/>
          <a:lstStyle/>
          <a:p>
            <a:pPr eaLnBrk="1" hangingPunct="1"/>
            <a:r>
              <a:rPr lang="ko-KR" altLang="en-US" sz="26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가상가치평가법</a:t>
            </a:r>
            <a:endParaRPr lang="en-US" altLang="ko-KR" sz="2600" b="1" dirty="0">
              <a:solidFill>
                <a:srgbClr val="0000FF"/>
              </a:solidFill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26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    (contingent valuation methods, CVM)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진술선호법의 하나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소비자가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환경질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개선을 위해 부담할 의사가 있는 금액을 직접 대답하도록 함으로써 보다 광범위한 환경재의 가치를 평가할 수 있는 방법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존재가치까지도 평가할 수 있기 때문에 환경재의 가치평가를 위해 활발하게 사용되는 방법</a:t>
            </a:r>
            <a:endParaRPr lang="ko-KR" altLang="en-US" sz="26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7411" name="바닥글 개체 틀 4">
            <a:extLst>
              <a:ext uri="{FF2B5EF4-FFF2-40B4-BE49-F238E27FC236}">
                <a16:creationId xmlns:a16="http://schemas.microsoft.com/office/drawing/2014/main" id="{FEADAD53-483C-4924-97BE-FD17F82A3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17412" name="슬라이드 번호 개체 틀 5">
            <a:extLst>
              <a:ext uri="{FF2B5EF4-FFF2-40B4-BE49-F238E27FC236}">
                <a16:creationId xmlns:a16="http://schemas.microsoft.com/office/drawing/2014/main" id="{41C54A23-01F3-405D-9E72-58E6B2E68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B887ACA6-0161-4C55-B18B-07F7D499C7EC}" type="slidenum">
              <a:rPr lang="ko-KR" altLang="en-US" sz="1200" b="0">
                <a:solidFill>
                  <a:schemeClr val="tx1"/>
                </a:solidFill>
              </a:rPr>
              <a:pPr/>
              <a:t>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7413" name="Rectangle 2">
            <a:extLst>
              <a:ext uri="{FF2B5EF4-FFF2-40B4-BE49-F238E27FC236}">
                <a16:creationId xmlns:a16="http://schemas.microsoft.com/office/drawing/2014/main" id="{61F1A0A0-5D6A-4E38-AB5C-AD3584DD3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7414" name="Rectangle 3">
            <a:extLst>
              <a:ext uri="{FF2B5EF4-FFF2-40B4-BE49-F238E27FC236}">
                <a16:creationId xmlns:a16="http://schemas.microsoft.com/office/drawing/2014/main" id="{B78A3016-DC18-4A63-9B58-81985C47E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7415" name="Rectangle 6">
            <a:extLst>
              <a:ext uri="{FF2B5EF4-FFF2-40B4-BE49-F238E27FC236}">
                <a16:creationId xmlns:a16="http://schemas.microsoft.com/office/drawing/2014/main" id="{9D2D0C0B-7179-4443-86DE-B59A44B7AA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환경개선의 편익분석 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3: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진술선호법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6">
            <a:extLst>
              <a:ext uri="{FF2B5EF4-FFF2-40B4-BE49-F238E27FC236}">
                <a16:creationId xmlns:a16="http://schemas.microsoft.com/office/drawing/2014/main" id="{4C222B85-8985-48A0-AD22-49E1D5D775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가상가치평가법의 역사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8435" name="Rectangle 7">
            <a:extLst>
              <a:ext uri="{FF2B5EF4-FFF2-40B4-BE49-F238E27FC236}">
                <a16:creationId xmlns:a16="http://schemas.microsoft.com/office/drawing/2014/main" id="{D086757B-B8F3-4149-BAE2-A5EDE98455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62025" y="1531938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씨리아시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완트럽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en-US" altLang="ko-KR" sz="2400" dirty="0" err="1">
                <a:latin typeface="나눔명조" pitchFamily="18" charset="-127"/>
                <a:ea typeface="나눔명조" pitchFamily="18" charset="-127"/>
              </a:rPr>
              <a:t>Ciriacy-Wantrup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1947)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공공재 가치를 설문조사를 통해 도출할 수 있다는 아이디어가 등장하는 가장 오래된 문헌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몇 가지 문제점이 있지만 연구자가 주의를 기울일 경우 극복될 수 있다고 봄</a:t>
            </a:r>
          </a:p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새뮤얼슨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(Samuelson, 1954)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설문조사를 통해 공공재 가치를 평가하는 것이 오랫동안 금기시되는 계기 제공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각 개인은 공공재 수요에 관한 한 무임승차자가 되려 하고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자신의 수요를 자발적으로 나타내려 하지 않음을 증명</a:t>
            </a:r>
          </a:p>
        </p:txBody>
      </p:sp>
      <p:sp>
        <p:nvSpPr>
          <p:cNvPr id="18436" name="바닥글 개체 틀 4">
            <a:extLst>
              <a:ext uri="{FF2B5EF4-FFF2-40B4-BE49-F238E27FC236}">
                <a16:creationId xmlns:a16="http://schemas.microsoft.com/office/drawing/2014/main" id="{79F41D72-98EB-4DC9-9AA0-9A8B5CC82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18437" name="슬라이드 번호 개체 틀 5">
            <a:extLst>
              <a:ext uri="{FF2B5EF4-FFF2-40B4-BE49-F238E27FC236}">
                <a16:creationId xmlns:a16="http://schemas.microsoft.com/office/drawing/2014/main" id="{ECEEA07D-2EF7-4993-913A-0B40421A4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F0C48B4-E555-4DED-B00B-26E222226C1B}" type="slidenum">
              <a:rPr lang="ko-KR" altLang="en-US" sz="1200" b="0">
                <a:solidFill>
                  <a:schemeClr val="tx1"/>
                </a:solidFill>
              </a:rPr>
              <a:pPr/>
              <a:t>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8438" name="Rectangle 2">
            <a:extLst>
              <a:ext uri="{FF2B5EF4-FFF2-40B4-BE49-F238E27FC236}">
                <a16:creationId xmlns:a16="http://schemas.microsoft.com/office/drawing/2014/main" id="{30C8AD9C-B8BD-4D25-A0D0-F650594F4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8439" name="Rectangle 3">
            <a:extLst>
              <a:ext uri="{FF2B5EF4-FFF2-40B4-BE49-F238E27FC236}">
                <a16:creationId xmlns:a16="http://schemas.microsoft.com/office/drawing/2014/main" id="{5F4251FA-EB82-48AA-9FDF-C947F8244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1EC09D31-9D51-477F-8237-C89BAF0555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가상가치평가법의 역사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9459" name="Rectangle 7">
            <a:extLst>
              <a:ext uri="{FF2B5EF4-FFF2-40B4-BE49-F238E27FC236}">
                <a16:creationId xmlns:a16="http://schemas.microsoft.com/office/drawing/2014/main" id="{19D3EA4B-AA5F-474A-8D64-F0E618D71A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62025" y="1444014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설문조사기법이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환경재의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가치평가를 위해 사용된 최초의 분석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데이비스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(Davis, 1963)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의 하버드대 박사학위논문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미국 메인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(Maine)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주의 사냥터 가치를 평가하기 위해 설문조사기법 사용</a:t>
            </a: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입찰게임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(bidding game)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이라 불리는 기법을 통해 사냥꾼들이 숲을 보존하기 위해 지불할 의사가 있는 금액을 조사하여 이를 숲의 가치로 봄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1970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년대 중반부터 본격적으로 연구되기 시작함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란달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외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(Randall et al., 1974)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는 입찰게임기법으로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환경재의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가치를 평가하고 관련된 이론적인 문제 검토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이후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CVM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은 공공재 가치평가기법으로 본격적으로 연구되었으며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하네만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en-US" altLang="ko-KR" sz="2000" dirty="0" err="1">
                <a:latin typeface="나눔명조" pitchFamily="18" charset="-127"/>
                <a:ea typeface="나눔명조" pitchFamily="18" charset="-127"/>
              </a:rPr>
              <a:t>Hanemann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1984)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등에 의해 기법의 많은 발전을 이룸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9460" name="바닥글 개체 틀 4">
            <a:extLst>
              <a:ext uri="{FF2B5EF4-FFF2-40B4-BE49-F238E27FC236}">
                <a16:creationId xmlns:a16="http://schemas.microsoft.com/office/drawing/2014/main" id="{0012C1DD-1244-43A1-AACE-D1C422659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19461" name="슬라이드 번호 개체 틀 5">
            <a:extLst>
              <a:ext uri="{FF2B5EF4-FFF2-40B4-BE49-F238E27FC236}">
                <a16:creationId xmlns:a16="http://schemas.microsoft.com/office/drawing/2014/main" id="{DA7F748D-3A3D-434F-86CE-A297C409A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075F77A0-6428-4787-B21F-4C75023E0501}" type="slidenum">
              <a:rPr lang="ko-KR" altLang="en-US" sz="1200" b="0">
                <a:solidFill>
                  <a:schemeClr val="tx1"/>
                </a:solidFill>
              </a:rPr>
              <a:pPr/>
              <a:t>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9462" name="Rectangle 2">
            <a:extLst>
              <a:ext uri="{FF2B5EF4-FFF2-40B4-BE49-F238E27FC236}">
                <a16:creationId xmlns:a16="http://schemas.microsoft.com/office/drawing/2014/main" id="{8DEDF8F7-F88F-4BF5-86BE-17BBEACF8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9463" name="Rectangle 3">
            <a:extLst>
              <a:ext uri="{FF2B5EF4-FFF2-40B4-BE49-F238E27FC236}">
                <a16:creationId xmlns:a16="http://schemas.microsoft.com/office/drawing/2014/main" id="{2FE733BC-8F65-4928-A68E-48D6F6E4B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6">
            <a:extLst>
              <a:ext uri="{FF2B5EF4-FFF2-40B4-BE49-F238E27FC236}">
                <a16:creationId xmlns:a16="http://schemas.microsoft.com/office/drawing/2014/main" id="{8DD5DEDE-9A91-4F86-B3F3-B643B7F7EC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가상가치평가법의 역사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0483" name="Rectangle 7">
            <a:extLst>
              <a:ext uri="{FF2B5EF4-FFF2-40B4-BE49-F238E27FC236}">
                <a16:creationId xmlns:a16="http://schemas.microsoft.com/office/drawing/2014/main" id="{742220FB-BC43-423B-BF95-7482847FCA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62025" y="1616075"/>
            <a:ext cx="7620000" cy="4114800"/>
          </a:xfrm>
        </p:spPr>
        <p:txBody>
          <a:bodyPr/>
          <a:lstStyle/>
          <a:p>
            <a:pPr eaLnBrk="1" hangingPunct="1"/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CVM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은 학술적 노력에 의해 기법이 발전함과 동시에 현실의 대형 환경사고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피해보상액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추정에 사용되면서 그 타당성이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비판받고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검증되는 과정도 거치게 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1989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알라스카에서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발생한 유조선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액손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발데즈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(Exxon Valdez)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호 좌초 사건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2010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BP(British Petroleum)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사 심해 유정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딥워터호라이즌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(Deepwater Horizon)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뉴멕시코만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원유 유출사건 등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0484" name="바닥글 개체 틀 4">
            <a:extLst>
              <a:ext uri="{FF2B5EF4-FFF2-40B4-BE49-F238E27FC236}">
                <a16:creationId xmlns:a16="http://schemas.microsoft.com/office/drawing/2014/main" id="{9F1DC1E5-1899-40AE-8AC3-58394A74E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20485" name="슬라이드 번호 개체 틀 5">
            <a:extLst>
              <a:ext uri="{FF2B5EF4-FFF2-40B4-BE49-F238E27FC236}">
                <a16:creationId xmlns:a16="http://schemas.microsoft.com/office/drawing/2014/main" id="{75388936-BC8E-4AA6-9C3F-5CACBC7AD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B5F004EE-923D-4B2F-B332-F9B14D9DB965}" type="slidenum">
              <a:rPr lang="ko-KR" altLang="en-US" sz="1200" b="0">
                <a:solidFill>
                  <a:schemeClr val="tx1"/>
                </a:solidFill>
              </a:rPr>
              <a:pPr/>
              <a:t>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0486" name="Rectangle 2">
            <a:extLst>
              <a:ext uri="{FF2B5EF4-FFF2-40B4-BE49-F238E27FC236}">
                <a16:creationId xmlns:a16="http://schemas.microsoft.com/office/drawing/2014/main" id="{F2712824-E325-49F5-BE37-DC549913E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0487" name="Rectangle 3">
            <a:extLst>
              <a:ext uri="{FF2B5EF4-FFF2-40B4-BE49-F238E27FC236}">
                <a16:creationId xmlns:a16="http://schemas.microsoft.com/office/drawing/2014/main" id="{CFB96FCF-778D-4E1C-868B-92658F668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>
            <a:extLst>
              <a:ext uri="{FF2B5EF4-FFF2-40B4-BE49-F238E27FC236}">
                <a16:creationId xmlns:a16="http://schemas.microsoft.com/office/drawing/2014/main" id="{43039611-D0C2-4F7C-9645-0524D78D14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가상가치평가법의 특징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1507" name="Rectangle 7">
            <a:extLst>
              <a:ext uri="{FF2B5EF4-FFF2-40B4-BE49-F238E27FC236}">
                <a16:creationId xmlns:a16="http://schemas.microsoft.com/office/drawing/2014/main" id="{F0ABC57E-7475-4FF6-ABB6-43A6E8E7B5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62025" y="1531938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가상가치평가법은 개인이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환경재의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이용과 관련된 의사결정을 해야 할 </a:t>
            </a:r>
            <a:r>
              <a:rPr lang="ko-KR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가상적인 상황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을 설정하고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상황에서 어떤 선택을 할 것인지를 설문조사를 통해 조사하여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환경재의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가치를 평가하는 방법임</a:t>
            </a:r>
          </a:p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여행비용법이나 특성가격법은 환경 관련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시장재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소비로부터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얻는 소비자잉여의 변화를 통해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환경질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개선의 편익을 간접적으로 추정함에 반해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가상가치평가법은 개인의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CS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나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ES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직접 평가할 수 있다는 장점을 가짐</a:t>
            </a:r>
          </a:p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가상가치평가법은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환경재의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사용가치뿐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아니라 존재가치도 반영할 수 있음</a:t>
            </a:r>
          </a:p>
        </p:txBody>
      </p:sp>
      <p:sp>
        <p:nvSpPr>
          <p:cNvPr id="21508" name="바닥글 개체 틀 4">
            <a:extLst>
              <a:ext uri="{FF2B5EF4-FFF2-40B4-BE49-F238E27FC236}">
                <a16:creationId xmlns:a16="http://schemas.microsoft.com/office/drawing/2014/main" id="{D065EFA1-F6DD-4C29-A9CA-41FB668BB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21509" name="슬라이드 번호 개체 틀 5">
            <a:extLst>
              <a:ext uri="{FF2B5EF4-FFF2-40B4-BE49-F238E27FC236}">
                <a16:creationId xmlns:a16="http://schemas.microsoft.com/office/drawing/2014/main" id="{0B4B434B-9884-461D-8380-234BC2E17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E1AC4338-660D-4337-8DA2-A5F28F55A7D1}" type="slidenum">
              <a:rPr lang="ko-KR" altLang="en-US" sz="1200" b="0">
                <a:solidFill>
                  <a:schemeClr val="tx1"/>
                </a:solidFill>
              </a:rPr>
              <a:pPr/>
              <a:t>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1510" name="Rectangle 2">
            <a:extLst>
              <a:ext uri="{FF2B5EF4-FFF2-40B4-BE49-F238E27FC236}">
                <a16:creationId xmlns:a16="http://schemas.microsoft.com/office/drawing/2014/main" id="{4D3EEFAC-918B-4083-BC17-1EFBB5BD6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1511" name="Rectangle 3">
            <a:extLst>
              <a:ext uri="{FF2B5EF4-FFF2-40B4-BE49-F238E27FC236}">
                <a16:creationId xmlns:a16="http://schemas.microsoft.com/office/drawing/2014/main" id="{4717614D-743C-46C7-BF85-70FB0C625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6">
            <a:extLst>
              <a:ext uri="{FF2B5EF4-FFF2-40B4-BE49-F238E27FC236}">
                <a16:creationId xmlns:a16="http://schemas.microsoft.com/office/drawing/2014/main" id="{A97A4DC7-AC7D-40FD-ADF9-E477DEAF05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가상가치평가법의 특징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2531" name="Rectangle 7">
            <a:extLst>
              <a:ext uri="{FF2B5EF4-FFF2-40B4-BE49-F238E27FC236}">
                <a16:creationId xmlns:a16="http://schemas.microsoft.com/office/drawing/2014/main" id="{9FF387C1-37CC-4F97-AB67-D0CD10CD48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5193" y="1271101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반면 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CVM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은 가상적인 상황을 설정하고 그 상황에서 개인이 행할 행위를 질문하기 때문에 매우 큰 오류를 범할 수 있음</a:t>
            </a:r>
          </a:p>
          <a:p>
            <a:pPr eaLnBrk="1" hangingPunct="1"/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설문조사에 전적으로 의존하므로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설문지가 어떻게 </a:t>
            </a:r>
            <a:r>
              <a:rPr lang="ko-KR" altLang="en-US" sz="22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작성되었느냐에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따라 민감한 영향을 받음</a:t>
            </a:r>
            <a:endParaRPr lang="en-US" altLang="ko-KR" sz="22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경제학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계량경제학뿐 아니라 시장조사론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조사방법론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사회심리학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인지심리학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실험경제학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등 관련 학문의 연구성과를 적극적 수용</a:t>
            </a:r>
          </a:p>
          <a:p>
            <a:pPr eaLnBrk="1" hangingPunct="1"/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CVM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사용하는 설문지는 세 가지 부분으로 구성 </a:t>
            </a: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평가되는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환경재에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대한 설명과 응답자가 처한 가상적 상황에 대한 설명</a:t>
            </a: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응답자의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환경재에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대한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지불의사를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유도하는 질문</a:t>
            </a: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응답자의 사회경제적 특성과 평가대상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환경재에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관한 선호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환경재의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이용여부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등에 관한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질문</a:t>
            </a:r>
          </a:p>
        </p:txBody>
      </p:sp>
      <p:sp>
        <p:nvSpPr>
          <p:cNvPr id="22532" name="바닥글 개체 틀 4">
            <a:extLst>
              <a:ext uri="{FF2B5EF4-FFF2-40B4-BE49-F238E27FC236}">
                <a16:creationId xmlns:a16="http://schemas.microsoft.com/office/drawing/2014/main" id="{CC51745A-D098-40A5-BDE6-EDC7E944D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22533" name="슬라이드 번호 개체 틀 5">
            <a:extLst>
              <a:ext uri="{FF2B5EF4-FFF2-40B4-BE49-F238E27FC236}">
                <a16:creationId xmlns:a16="http://schemas.microsoft.com/office/drawing/2014/main" id="{2FF0A1A1-25F0-4EFD-AAE7-7BFD36D39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BF290E90-633E-4F90-A801-C47C9DB3EA10}" type="slidenum">
              <a:rPr lang="ko-KR" altLang="en-US" sz="1200" b="0">
                <a:solidFill>
                  <a:schemeClr val="tx1"/>
                </a:solidFill>
              </a:rPr>
              <a:pPr/>
              <a:t>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2534" name="Rectangle 2">
            <a:extLst>
              <a:ext uri="{FF2B5EF4-FFF2-40B4-BE49-F238E27FC236}">
                <a16:creationId xmlns:a16="http://schemas.microsoft.com/office/drawing/2014/main" id="{20D8F7D5-9A53-4346-83A6-518865D73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2535" name="Rectangle 3">
            <a:extLst>
              <a:ext uri="{FF2B5EF4-FFF2-40B4-BE49-F238E27FC236}">
                <a16:creationId xmlns:a16="http://schemas.microsoft.com/office/drawing/2014/main" id="{26D71B95-F924-4BD9-9E74-B6BF04D9D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>
            <a:extLst>
              <a:ext uri="{FF2B5EF4-FFF2-40B4-BE49-F238E27FC236}">
                <a16:creationId xmlns:a16="http://schemas.microsoft.com/office/drawing/2014/main" id="{4B17EB5C-B364-48E2-810E-4FE0D43179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CVM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과정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3555" name="Rectangle 7">
            <a:extLst>
              <a:ext uri="{FF2B5EF4-FFF2-40B4-BE49-F238E27FC236}">
                <a16:creationId xmlns:a16="http://schemas.microsoft.com/office/drawing/2014/main" id="{EB990A79-DC1D-41AB-B0F9-25F76E13A8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5975" y="1517650"/>
            <a:ext cx="7751763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설문지를 작성하는 과정</a:t>
            </a: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전체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CVM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분석에서도 가장 중요한 절차이므로 많은 주의와 시간을 필요로 함</a:t>
            </a:r>
          </a:p>
          <a:p>
            <a:pPr eaLnBrk="1" hangingPunct="1"/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평가주제가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정해지면 표적집단조사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(focus group interview, FGI)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실시</a:t>
            </a: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비교적 소수의 대상자들을 대상으로 이들이 가지고 있는 평가대상 공공재에 대한 생각이나 연구주제에 대한 이해도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실시하려는 설문조사 구조나 내용에 대한 이해도나 반응 등을 심층 조사</a:t>
            </a:r>
          </a:p>
          <a:p>
            <a:pPr eaLnBrk="1" hangingPunct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FGI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거쳐 수정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·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보완된 설문지는 사전조사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(pretest)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거침</a:t>
            </a: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응답자들이 가지는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지불의사의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범위나 응답자 반응의 특이성 존재 여부를 확인하는 절차를 거침</a:t>
            </a:r>
          </a:p>
          <a:p>
            <a:pPr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위와 같은 과정을 필요하다면 몇 차례 거쳐서 최종 작성된 설문지를 분석에 활용함</a:t>
            </a:r>
          </a:p>
        </p:txBody>
      </p:sp>
      <p:sp>
        <p:nvSpPr>
          <p:cNvPr id="23556" name="바닥글 개체 틀 4">
            <a:extLst>
              <a:ext uri="{FF2B5EF4-FFF2-40B4-BE49-F238E27FC236}">
                <a16:creationId xmlns:a16="http://schemas.microsoft.com/office/drawing/2014/main" id="{23159515-4FA9-4D6E-B42C-C23179B57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23557" name="슬라이드 번호 개체 틀 5">
            <a:extLst>
              <a:ext uri="{FF2B5EF4-FFF2-40B4-BE49-F238E27FC236}">
                <a16:creationId xmlns:a16="http://schemas.microsoft.com/office/drawing/2014/main" id="{3CCD36AB-DDC7-4932-A952-C0CB4162E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68232BC-7CEE-4353-B86F-389018F43A00}" type="slidenum">
              <a:rPr lang="ko-KR" altLang="en-US" sz="1200" b="0">
                <a:solidFill>
                  <a:schemeClr val="tx1"/>
                </a:solidFill>
              </a:rPr>
              <a:pPr/>
              <a:t>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3558" name="Rectangle 2">
            <a:extLst>
              <a:ext uri="{FF2B5EF4-FFF2-40B4-BE49-F238E27FC236}">
                <a16:creationId xmlns:a16="http://schemas.microsoft.com/office/drawing/2014/main" id="{48FA79C7-BDF8-4D0C-BB42-EC1E8694A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3559" name="Rectangle 3">
            <a:extLst>
              <a:ext uri="{FF2B5EF4-FFF2-40B4-BE49-F238E27FC236}">
                <a16:creationId xmlns:a16="http://schemas.microsoft.com/office/drawing/2014/main" id="{17794290-6182-4E79-B6FF-1225D8497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8">
            <a:extLst>
              <a:ext uri="{FF2B5EF4-FFF2-40B4-BE49-F238E27FC236}">
                <a16:creationId xmlns:a16="http://schemas.microsoft.com/office/drawing/2014/main" id="{857F85A8-FA17-4800-8C01-44604385F0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CVM</a:t>
            </a:r>
            <a:r>
              <a:rPr lang="ko-KR" altLang="en-US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설문지의 예</a:t>
            </a:r>
            <a:endParaRPr lang="en-US" altLang="ko-KR">
              <a:solidFill>
                <a:srgbClr val="7030A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4579" name="Rectangle 1029">
            <a:extLst>
              <a:ext uri="{FF2B5EF4-FFF2-40B4-BE49-F238E27FC236}">
                <a16:creationId xmlns:a16="http://schemas.microsoft.com/office/drawing/2014/main" id="{CA5FC5EE-D768-411E-9F7E-3A9674E1C2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28688" y="1573213"/>
            <a:ext cx="7515225" cy="4114800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도입부</a:t>
            </a:r>
          </a:p>
          <a:p>
            <a:pPr lvl="1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안녕하십니까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?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     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저는 ○○대학교의 △△△입니다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. 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저희 연구팀은 전국의 하천 수질을 개선하는 정부정책이 경제적으로 얼마나 가치있는 사업인가를 분석하고자 합니다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. 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연구를 위해 제가 드리는 질문에 대한 귀하의 응답은 환경부가 수질개선사업을 시행하는 데 있어 유용한 자료로 사용될 것입니다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.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     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제가 여쭈어보는 질문들에 대한 대답은 귀하의 견해나 입장에 따라 달라질 수 있으며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이 질문들에 대한 정답이 있는 것은 아닙니다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. 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또한 귀하의 응답내용은 연구 외의 목적을 위해 사용되지 않을 것이며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귀하의 개인 견해가 성함과 함께 외부에 유출되는 일도 없을 것이라는 사실을 알려드립니다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.</a:t>
            </a:r>
          </a:p>
        </p:txBody>
      </p:sp>
      <p:sp>
        <p:nvSpPr>
          <p:cNvPr id="24580" name="바닥글 개체 틀 4">
            <a:extLst>
              <a:ext uri="{FF2B5EF4-FFF2-40B4-BE49-F238E27FC236}">
                <a16:creationId xmlns:a16="http://schemas.microsoft.com/office/drawing/2014/main" id="{53F8E352-21B2-4948-BE0C-78FB20AF7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24581" name="슬라이드 번호 개체 틀 5">
            <a:extLst>
              <a:ext uri="{FF2B5EF4-FFF2-40B4-BE49-F238E27FC236}">
                <a16:creationId xmlns:a16="http://schemas.microsoft.com/office/drawing/2014/main" id="{A7F5D25B-CA8F-4126-9B98-97C71613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04BD985-55C7-41F9-8A2B-0A7B4293913B}" type="slidenum">
              <a:rPr lang="ko-KR" altLang="en-US" sz="1200" b="0">
                <a:solidFill>
                  <a:schemeClr val="tx1"/>
                </a:solidFill>
              </a:rPr>
              <a:pPr/>
              <a:t>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8">
            <a:extLst>
              <a:ext uri="{FF2B5EF4-FFF2-40B4-BE49-F238E27FC236}">
                <a16:creationId xmlns:a16="http://schemas.microsoft.com/office/drawing/2014/main" id="{A0B4F701-BBC1-4208-9966-A6EB172224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CVM</a:t>
            </a:r>
            <a:r>
              <a:rPr lang="ko-KR" altLang="en-US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설문지의 예</a:t>
            </a:r>
            <a:endParaRPr lang="en-US" altLang="ko-KR">
              <a:solidFill>
                <a:srgbClr val="7030A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5603" name="Rectangle 1029">
            <a:extLst>
              <a:ext uri="{FF2B5EF4-FFF2-40B4-BE49-F238E27FC236}">
                <a16:creationId xmlns:a16="http://schemas.microsoft.com/office/drawing/2014/main" id="{E4847621-8317-4F8D-A5BF-09DDEA68FD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28688" y="1573213"/>
            <a:ext cx="7515225" cy="4114800"/>
          </a:xfrm>
        </p:spPr>
        <p:txBody>
          <a:bodyPr/>
          <a:lstStyle/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환경재에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대한 설명</a:t>
            </a: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… 1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등급 하천수는 최상의 수질을 보이며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간단한 여과 후 식수로 사용해도 적합한 정도입니다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. 2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등급 하천은 식수로는 사용할 수 없으나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수영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낚시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뱃놀이 등은 할 수 있는 하천입니다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. 3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등급 하천에서는 수영은 할 수 없으나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낚시나 뱃놀이는 할 수 있습니다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. 4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등급 하천은 오염이 심하여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낚시도 불가능하고 뱃놀이 정도만 할 수가 있습니다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.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마지막으로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5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등급 하천은 매우 심하게 오염되어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위의 어떤 용도로도 이용될 수 없는 하천입니다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.</a:t>
            </a: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 …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모든 하천이 최소한 수영을 할 수 있을 정도의 수질을 유지하도록 하고자 합니다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. </a:t>
            </a: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…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 사업비용을 한시적인 특별세를 징수하여 마련하고자 합니다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.</a:t>
            </a:r>
          </a:p>
        </p:txBody>
      </p:sp>
      <p:sp>
        <p:nvSpPr>
          <p:cNvPr id="25604" name="바닥글 개체 틀 4">
            <a:extLst>
              <a:ext uri="{FF2B5EF4-FFF2-40B4-BE49-F238E27FC236}">
                <a16:creationId xmlns:a16="http://schemas.microsoft.com/office/drawing/2014/main" id="{886285D0-03C2-476B-9492-ACDC32432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25605" name="슬라이드 번호 개체 틀 5">
            <a:extLst>
              <a:ext uri="{FF2B5EF4-FFF2-40B4-BE49-F238E27FC236}">
                <a16:creationId xmlns:a16="http://schemas.microsoft.com/office/drawing/2014/main" id="{DD73A2A1-7FA7-4706-87AF-E16A2B39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FA62E674-6149-4F76-AD74-985ADBD4BFBC}" type="slidenum">
              <a:rPr lang="ko-KR" altLang="en-US" sz="1200" b="0">
                <a:solidFill>
                  <a:schemeClr val="tx1"/>
                </a:solidFill>
              </a:rPr>
              <a:pPr/>
              <a:t>10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8">
            <a:extLst>
              <a:ext uri="{FF2B5EF4-FFF2-40B4-BE49-F238E27FC236}">
                <a16:creationId xmlns:a16="http://schemas.microsoft.com/office/drawing/2014/main" id="{9EDE8EFE-FEC4-44D8-9EF7-724F385F8B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CVM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설문지의 예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6627" name="Rectangle 1029">
            <a:extLst>
              <a:ext uri="{FF2B5EF4-FFF2-40B4-BE49-F238E27FC236}">
                <a16:creationId xmlns:a16="http://schemas.microsoft.com/office/drawing/2014/main" id="{E39719FD-2684-4456-83B9-7B9EE70922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28688" y="1573213"/>
            <a:ext cx="751522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응답자의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환경재에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대한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지불의사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도출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위와 같은 수질개선사업을 위해 귀하는 향후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년간 매년 얼마씩을 세금으로 납부하실 의향이 있습니까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?  (   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원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또는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위와 같은 수질개선사업을 위해 귀하는 향후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년간 매년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x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원을 세금으로 납부하실 의향이 있습니까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? (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/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아니오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)</a:t>
            </a:r>
            <a:endParaRPr lang="en-US" altLang="ko-KR" sz="1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응답자의 특징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귀하의 가구당 월평균 소득은 어느 정도입니까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?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귀하의 가구 원 가운데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18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세 미만인 분은 몇 분입니까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?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지난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년간 귀하의 식구들이 수영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낚시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수상스키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뱃놀이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야영 등을 위해 강이나 호수를 찾은 적이 있습니까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?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기타 질문들</a:t>
            </a:r>
          </a:p>
        </p:txBody>
      </p:sp>
      <p:sp>
        <p:nvSpPr>
          <p:cNvPr id="26628" name="바닥글 개체 틀 4">
            <a:extLst>
              <a:ext uri="{FF2B5EF4-FFF2-40B4-BE49-F238E27FC236}">
                <a16:creationId xmlns:a16="http://schemas.microsoft.com/office/drawing/2014/main" id="{53E2C6C5-1B8C-448D-99A6-EEAA377B8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26629" name="슬라이드 번호 개체 틀 5">
            <a:extLst>
              <a:ext uri="{FF2B5EF4-FFF2-40B4-BE49-F238E27FC236}">
                <a16:creationId xmlns:a16="http://schemas.microsoft.com/office/drawing/2014/main" id="{D68757F0-70CA-40B9-81CF-5B291BC61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9200BEB7-53BC-4E2C-9A23-6F55CD49FC2F}" type="slidenum">
              <a:rPr lang="ko-KR" altLang="en-US" sz="1200" b="0">
                <a:solidFill>
                  <a:schemeClr val="tx1"/>
                </a:solidFill>
              </a:rPr>
              <a:pPr/>
              <a:t>11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>
            <a:extLst>
              <a:ext uri="{FF2B5EF4-FFF2-40B4-BE49-F238E27FC236}">
                <a16:creationId xmlns:a16="http://schemas.microsoft.com/office/drawing/2014/main" id="{F30E4EBC-32A8-4C6E-9F37-D2D8B08571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가상가치평가법의 설문조사 방법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7651" name="Rectangle 7">
            <a:extLst>
              <a:ext uri="{FF2B5EF4-FFF2-40B4-BE49-F238E27FC236}">
                <a16:creationId xmlns:a16="http://schemas.microsoft.com/office/drawing/2014/main" id="{0B0D58D4-5BC4-4637-A0A1-68DC0E9F43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04888" y="1419225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면담조사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전화조사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우편조사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온라인조사 등 사용</a:t>
            </a: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설문조사 방법은 각각 장단점을 가짐</a:t>
            </a:r>
          </a:p>
          <a:p>
            <a:pPr lvl="1" eaLnBrk="1" hangingPunct="1"/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면담조사는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응답률이 높지만 비용이 많이 들고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조사원 앞에서 대답해야 한다는 부담 때문에 과다한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지불의사를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표명할 가능성이 있음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전화조사는 비용이 면담조사보다 적게 들고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응답률은 우편조사보다 높지만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시각적 효과를 이용하여 설문을 진행할 수 없음</a:t>
            </a:r>
          </a:p>
          <a:p>
            <a:pPr lvl="1" eaLnBrk="1" hangingPunct="1"/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우편조사는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가장 적은 비용으로 시행할 수 있지만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무응답률이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매우 높아 왜곡된 분석결과를 초래할 수가 있음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인터넷조사는 연령이나 직업별로 사용 빈도가 다른 문제가 있지만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최근에는 거의 모든 계층이 활발히 이용하고 있어서 수집된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응답자료의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신뢰도가 높아지고 있음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.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인터넷조사는 상호의사소통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신속함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낮은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조사비용의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장점도 가짐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여러 조사방법을 혼합하여 활용할 수도 있음</a:t>
            </a:r>
          </a:p>
        </p:txBody>
      </p:sp>
      <p:sp>
        <p:nvSpPr>
          <p:cNvPr id="27652" name="바닥글 개체 틀 4">
            <a:extLst>
              <a:ext uri="{FF2B5EF4-FFF2-40B4-BE49-F238E27FC236}">
                <a16:creationId xmlns:a16="http://schemas.microsoft.com/office/drawing/2014/main" id="{5E34F17B-E77D-4B3C-BD54-B88923214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27653" name="슬라이드 번호 개체 틀 5">
            <a:extLst>
              <a:ext uri="{FF2B5EF4-FFF2-40B4-BE49-F238E27FC236}">
                <a16:creationId xmlns:a16="http://schemas.microsoft.com/office/drawing/2014/main" id="{79CF0989-4E6C-423A-A507-448FDDCDB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98D67BE-EE3E-45D0-AD88-212C3C4207DB}" type="slidenum">
              <a:rPr lang="ko-KR" altLang="en-US" sz="1200" b="0">
                <a:solidFill>
                  <a:schemeClr val="tx1"/>
                </a:solidFill>
              </a:rPr>
              <a:pPr/>
              <a:t>12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7654" name="Rectangle 2">
            <a:extLst>
              <a:ext uri="{FF2B5EF4-FFF2-40B4-BE49-F238E27FC236}">
                <a16:creationId xmlns:a16="http://schemas.microsoft.com/office/drawing/2014/main" id="{E04CA205-18DD-48B5-A097-CAA64792E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7655" name="Rectangle 3">
            <a:extLst>
              <a:ext uri="{FF2B5EF4-FFF2-40B4-BE49-F238E27FC236}">
                <a16:creationId xmlns:a16="http://schemas.microsoft.com/office/drawing/2014/main" id="{2B7A2EF3-4818-4410-9B69-E5DF71F1C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6">
            <a:extLst>
              <a:ext uri="{FF2B5EF4-FFF2-40B4-BE49-F238E27FC236}">
                <a16:creationId xmlns:a16="http://schemas.microsoft.com/office/drawing/2014/main" id="{2ACFE8BF-4E54-4C82-A343-C0263A8A68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352425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가상가치평가법의 질문형태</a:t>
            </a:r>
            <a:b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32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지불의사를 직접 표명하게 하는 질문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8675" name="Rectangle 7">
            <a:extLst>
              <a:ext uri="{FF2B5EF4-FFF2-40B4-BE49-F238E27FC236}">
                <a16:creationId xmlns:a16="http://schemas.microsoft.com/office/drawing/2014/main" id="{24285CB1-4E19-40A0-98EE-55C77A2772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1964718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가장 간단한 형태의 </a:t>
            </a:r>
            <a:r>
              <a:rPr lang="ko-KR" altLang="en-US" sz="2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질문형식</a:t>
            </a:r>
            <a:endParaRPr lang="en-US" altLang="ko-KR" sz="2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환경질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개선에 대한 </a:t>
            </a:r>
            <a:r>
              <a:rPr lang="ko-KR" altLang="en-US" sz="2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지불의사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금액</a:t>
            </a:r>
            <a:r>
              <a:rPr lang="en-US" altLang="ko-KR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(CS)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나 </a:t>
            </a:r>
            <a:r>
              <a:rPr lang="ko-KR" altLang="en-US" sz="2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환경질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포기의 대가인 수용의사 금액</a:t>
            </a:r>
            <a:r>
              <a:rPr lang="en-US" altLang="ko-KR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(ES)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물어볼 수 있음</a:t>
            </a:r>
          </a:p>
          <a:p>
            <a:pPr eaLnBrk="1" hangingPunct="1"/>
            <a:r>
              <a:rPr lang="ko-KR" altLang="en-US" sz="2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대답된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CS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와 </a:t>
            </a:r>
            <a:r>
              <a:rPr lang="en-US" altLang="ko-KR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ES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사이에 큰 격차가 나타날 수 있고</a:t>
            </a:r>
            <a:r>
              <a:rPr lang="en-US" altLang="ko-KR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특히 </a:t>
            </a:r>
            <a:r>
              <a:rPr lang="en-US" altLang="ko-KR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ES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질문할 경우 지나치게 높은 </a:t>
            </a:r>
            <a:r>
              <a:rPr lang="en-US" altLang="ko-KR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ES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대답하는 경우가 종종 있음</a:t>
            </a:r>
          </a:p>
          <a:p>
            <a:pPr lvl="1"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따라서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CVM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에서는 대개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ES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보다는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CS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질문함</a:t>
            </a:r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입찰게임</a:t>
            </a:r>
            <a:r>
              <a:rPr lang="en-US" altLang="ko-KR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개방형질문</a:t>
            </a:r>
            <a:r>
              <a:rPr lang="en-US" altLang="ko-KR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지불카드방법이 있음</a:t>
            </a:r>
          </a:p>
          <a:p>
            <a:pPr eaLnBrk="1" hangingPunct="1"/>
            <a:endParaRPr lang="ko-KR" altLang="en-US" sz="2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endParaRPr lang="ko-KR" altLang="en-US" sz="2400" dirty="0">
              <a:latin typeface="나눔명조" pitchFamily="18" charset="-127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28676" name="바닥글 개체 틀 4">
            <a:extLst>
              <a:ext uri="{FF2B5EF4-FFF2-40B4-BE49-F238E27FC236}">
                <a16:creationId xmlns:a16="http://schemas.microsoft.com/office/drawing/2014/main" id="{B64B9921-3AF9-46AC-B124-6675BD0E0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28677" name="슬라이드 번호 개체 틀 5">
            <a:extLst>
              <a:ext uri="{FF2B5EF4-FFF2-40B4-BE49-F238E27FC236}">
                <a16:creationId xmlns:a16="http://schemas.microsoft.com/office/drawing/2014/main" id="{95B54EA3-9649-4D11-B384-DB742BA72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CDA0A23-1610-4EA3-BC9C-504A442D5B94}" type="slidenum">
              <a:rPr lang="ko-KR" altLang="en-US" sz="1200" b="0">
                <a:solidFill>
                  <a:schemeClr val="tx1"/>
                </a:solidFill>
              </a:rPr>
              <a:pPr/>
              <a:t>13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8678" name="Rectangle 2">
            <a:extLst>
              <a:ext uri="{FF2B5EF4-FFF2-40B4-BE49-F238E27FC236}">
                <a16:creationId xmlns:a16="http://schemas.microsoft.com/office/drawing/2014/main" id="{A0C912DC-4AA5-4277-8110-2171A93DD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8679" name="Rectangle 3">
            <a:extLst>
              <a:ext uri="{FF2B5EF4-FFF2-40B4-BE49-F238E27FC236}">
                <a16:creationId xmlns:a16="http://schemas.microsoft.com/office/drawing/2014/main" id="{CEB37982-80A6-41F5-AD71-3705E3E3C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>
            <a:extLst>
              <a:ext uri="{FF2B5EF4-FFF2-40B4-BE49-F238E27FC236}">
                <a16:creationId xmlns:a16="http://schemas.microsoft.com/office/drawing/2014/main" id="{6C199B42-8448-42F0-B71D-87AF64759E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352425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가상가치평가법의 질문형태</a:t>
            </a:r>
            <a:b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32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지불의사를 직접 표명하게 하는 질문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9699" name="Rectangle 7">
            <a:extLst>
              <a:ext uri="{FF2B5EF4-FFF2-40B4-BE49-F238E27FC236}">
                <a16:creationId xmlns:a16="http://schemas.microsoft.com/office/drawing/2014/main" id="{6A5A3282-5119-4E42-998C-A5B9602A60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1698016"/>
            <a:ext cx="7313612" cy="4381500"/>
          </a:xfrm>
        </p:spPr>
        <p:txBody>
          <a:bodyPr/>
          <a:lstStyle/>
          <a:p>
            <a:pPr eaLnBrk="1" hangingPunct="1"/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입찰게임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(bidding game)</a:t>
            </a:r>
          </a:p>
          <a:p>
            <a:pPr lvl="1" eaLnBrk="1" hangingPunct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CVM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초기 연구에서 가장 많이 사용된 질문 형식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응답자에게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환경질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개선을 위해 특정 금액을 지불할 의사가 있는지를 물어보고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그 대답이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Yes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이면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제시금액을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높여서 계속 질문함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응답자가 최초에 제시된 금액에 대해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No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대답을 하면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보다 낮은 금액을 제시하여 다시 질문하고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금액을 계속 낮추어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Yes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대답이 나올 때까지 질문을 함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각 응답자가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Yes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대답을 한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제시금액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가운데 최고 금액이 응답자의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환경질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개선에 대한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CS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임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매우 편리한 방법이지만 최초에 제시된 금액이 도출되는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CS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 민감한 영향을 미치는 </a:t>
            </a:r>
            <a:r>
              <a:rPr lang="ko-KR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시작점 편의</a:t>
            </a:r>
            <a:r>
              <a:rPr lang="en-US" altLang="ko-KR" sz="20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(starting point bias)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문제가 있음</a:t>
            </a:r>
          </a:p>
        </p:txBody>
      </p:sp>
      <p:sp>
        <p:nvSpPr>
          <p:cNvPr id="29700" name="바닥글 개체 틀 4">
            <a:extLst>
              <a:ext uri="{FF2B5EF4-FFF2-40B4-BE49-F238E27FC236}">
                <a16:creationId xmlns:a16="http://schemas.microsoft.com/office/drawing/2014/main" id="{9A0C1037-92F4-4D6D-9646-65F05C251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29701" name="슬라이드 번호 개체 틀 5">
            <a:extLst>
              <a:ext uri="{FF2B5EF4-FFF2-40B4-BE49-F238E27FC236}">
                <a16:creationId xmlns:a16="http://schemas.microsoft.com/office/drawing/2014/main" id="{943C0901-E27A-46FF-989F-49A6145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3341A19-5C57-4AC6-A000-E85E71971517}" type="slidenum">
              <a:rPr lang="ko-KR" altLang="en-US" sz="1200" b="0">
                <a:solidFill>
                  <a:schemeClr val="tx1"/>
                </a:solidFill>
              </a:rPr>
              <a:pPr/>
              <a:t>14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9702" name="Rectangle 2">
            <a:extLst>
              <a:ext uri="{FF2B5EF4-FFF2-40B4-BE49-F238E27FC236}">
                <a16:creationId xmlns:a16="http://schemas.microsoft.com/office/drawing/2014/main" id="{8D37ADE1-86CC-4CC9-8D97-13D1CBD89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9703" name="Rectangle 3">
            <a:extLst>
              <a:ext uri="{FF2B5EF4-FFF2-40B4-BE49-F238E27FC236}">
                <a16:creationId xmlns:a16="http://schemas.microsoft.com/office/drawing/2014/main" id="{E26113EF-EF8D-4236-8682-91F807D3C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6">
            <a:extLst>
              <a:ext uri="{FF2B5EF4-FFF2-40B4-BE49-F238E27FC236}">
                <a16:creationId xmlns:a16="http://schemas.microsoft.com/office/drawing/2014/main" id="{55B92829-49AD-4B66-85A9-0FA135F77B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352425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가상가치평가법의 질문형태</a:t>
            </a:r>
            <a:b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32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지불의사를 직접 표명하게 하는 질문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0723" name="Rectangle 7">
            <a:extLst>
              <a:ext uri="{FF2B5EF4-FFF2-40B4-BE49-F238E27FC236}">
                <a16:creationId xmlns:a16="http://schemas.microsoft.com/office/drawing/2014/main" id="{600C7C1C-B9BF-4531-A017-9104008646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1955800"/>
            <a:ext cx="7313612" cy="4211638"/>
          </a:xfrm>
        </p:spPr>
        <p:txBody>
          <a:bodyPr/>
          <a:lstStyle/>
          <a:p>
            <a:pPr eaLnBrk="1" hangingPunct="1"/>
            <a:r>
              <a:rPr lang="ko-KR" altLang="en-US" sz="2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개방형 질문</a:t>
            </a:r>
            <a:r>
              <a:rPr lang="en-US" altLang="ko-KR" sz="2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(open-ended question)</a:t>
            </a:r>
          </a:p>
          <a:p>
            <a:pPr lvl="1" eaLnBrk="1" hangingPunct="1"/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입찰게임이 가지는 시작점 편의를 줄이기 위해 사용됨</a:t>
            </a:r>
          </a:p>
          <a:p>
            <a:pPr lvl="1" eaLnBrk="1" hangingPunct="1"/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조사자는 어떠한 금액도 제시하지 않고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환경질 개선에 대해 지불할 용의가 있는 금액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즉 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CS</a:t>
            </a:r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응답자가 직접 써내도록 함</a:t>
            </a:r>
          </a:p>
          <a:p>
            <a:pPr lvl="1" eaLnBrk="1" hangingPunct="1"/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시작점 편의를 가지지는 않지만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CS</a:t>
            </a:r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응답자별로 큰 격차를 보이고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분석결과의 신뢰성이 저해되는 문제점을 가짐</a:t>
            </a:r>
          </a:p>
          <a:p>
            <a:pPr eaLnBrk="1" hangingPunct="1"/>
            <a:endParaRPr lang="ko-KR" altLang="en-US" sz="2400">
              <a:latin typeface="나눔명조" pitchFamily="18" charset="-127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30724" name="바닥글 개체 틀 4">
            <a:extLst>
              <a:ext uri="{FF2B5EF4-FFF2-40B4-BE49-F238E27FC236}">
                <a16:creationId xmlns:a16="http://schemas.microsoft.com/office/drawing/2014/main" id="{88739A00-FFE8-4AA0-A9F0-724EA08BA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30725" name="슬라이드 번호 개체 틀 5">
            <a:extLst>
              <a:ext uri="{FF2B5EF4-FFF2-40B4-BE49-F238E27FC236}">
                <a16:creationId xmlns:a16="http://schemas.microsoft.com/office/drawing/2014/main" id="{137250C3-E0B6-4DA6-BB6F-9A7774B84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3EADD35-14E3-4C4A-8E57-D8498EDCF226}" type="slidenum">
              <a:rPr lang="ko-KR" altLang="en-US" sz="1200" b="0">
                <a:solidFill>
                  <a:schemeClr val="tx1"/>
                </a:solidFill>
              </a:rPr>
              <a:pPr/>
              <a:t>15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0726" name="Rectangle 2">
            <a:extLst>
              <a:ext uri="{FF2B5EF4-FFF2-40B4-BE49-F238E27FC236}">
                <a16:creationId xmlns:a16="http://schemas.microsoft.com/office/drawing/2014/main" id="{723B5D2E-35D4-46A3-B5C7-734DA6022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0727" name="Rectangle 3">
            <a:extLst>
              <a:ext uri="{FF2B5EF4-FFF2-40B4-BE49-F238E27FC236}">
                <a16:creationId xmlns:a16="http://schemas.microsoft.com/office/drawing/2014/main" id="{3BD2EB20-8CF9-489D-B903-34DF567EC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6">
            <a:extLst>
              <a:ext uri="{FF2B5EF4-FFF2-40B4-BE49-F238E27FC236}">
                <a16:creationId xmlns:a16="http://schemas.microsoft.com/office/drawing/2014/main" id="{55B92829-49AD-4B66-85A9-0FA135F77B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352425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가상가치평가법의 질문형태</a:t>
            </a:r>
            <a:b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32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지불의사를 직접 표명하게 하는 질문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0723" name="Rectangle 7">
            <a:extLst>
              <a:ext uri="{FF2B5EF4-FFF2-40B4-BE49-F238E27FC236}">
                <a16:creationId xmlns:a16="http://schemas.microsoft.com/office/drawing/2014/main" id="{600C7C1C-B9BF-4531-A017-9104008646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1955800"/>
            <a:ext cx="7313612" cy="4211638"/>
          </a:xfrm>
        </p:spPr>
        <p:txBody>
          <a:bodyPr/>
          <a:lstStyle/>
          <a:p>
            <a:pPr eaLnBrk="1" hangingPunct="1"/>
            <a:r>
              <a:rPr lang="ko-KR" altLang="en-US" sz="2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지불카드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방법</a:t>
            </a:r>
            <a:r>
              <a:rPr lang="en-US" altLang="ko-KR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(payment card)</a:t>
            </a:r>
          </a:p>
          <a:p>
            <a:pPr lvl="1"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개방형 질문이 지나치게 큰 변이를 가지는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CS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얻게 되는 문제를 개선하기 위해 고안된 방법</a:t>
            </a:r>
          </a:p>
          <a:p>
            <a:pPr lvl="1"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자신과 같은 소득수준을 가진 사람들이 공공정책사업을 위해 현재 연간 지불하고 있는 금액을 나타내는 표를 제시 받고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이를 참조하여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환경질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개선에 대한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지불의사만큼을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적어냄</a:t>
            </a:r>
            <a:endParaRPr lang="ko-KR" altLang="en-US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자신이 직접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CS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적어내지만 개방형 질문에 비해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응답금액의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변이를 많이 줄일 수 있음</a:t>
            </a:r>
          </a:p>
          <a:p>
            <a:pPr eaLnBrk="1" hangingPunct="1"/>
            <a:endParaRPr lang="ko-KR" altLang="en-US" sz="2400" dirty="0">
              <a:latin typeface="나눔명조" pitchFamily="18" charset="-127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30724" name="바닥글 개체 틀 4">
            <a:extLst>
              <a:ext uri="{FF2B5EF4-FFF2-40B4-BE49-F238E27FC236}">
                <a16:creationId xmlns:a16="http://schemas.microsoft.com/office/drawing/2014/main" id="{88739A00-FFE8-4AA0-A9F0-724EA08BA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30725" name="슬라이드 번호 개체 틀 5">
            <a:extLst>
              <a:ext uri="{FF2B5EF4-FFF2-40B4-BE49-F238E27FC236}">
                <a16:creationId xmlns:a16="http://schemas.microsoft.com/office/drawing/2014/main" id="{137250C3-E0B6-4DA6-BB6F-9A7774B84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3EADD35-14E3-4C4A-8E57-D8498EDCF226}" type="slidenum">
              <a:rPr lang="ko-KR" altLang="en-US" sz="1200" b="0">
                <a:solidFill>
                  <a:schemeClr val="tx1"/>
                </a:solidFill>
              </a:rPr>
              <a:pPr/>
              <a:t>16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0726" name="Rectangle 2">
            <a:extLst>
              <a:ext uri="{FF2B5EF4-FFF2-40B4-BE49-F238E27FC236}">
                <a16:creationId xmlns:a16="http://schemas.microsoft.com/office/drawing/2014/main" id="{723B5D2E-35D4-46A3-B5C7-734DA6022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0727" name="Rectangle 3">
            <a:extLst>
              <a:ext uri="{FF2B5EF4-FFF2-40B4-BE49-F238E27FC236}">
                <a16:creationId xmlns:a16="http://schemas.microsoft.com/office/drawing/2014/main" id="{3BD2EB20-8CF9-489D-B903-34DF567EC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0294233"/>
      </p:ext>
    </p:extLst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6">
            <a:extLst>
              <a:ext uri="{FF2B5EF4-FFF2-40B4-BE49-F238E27FC236}">
                <a16:creationId xmlns:a16="http://schemas.microsoft.com/office/drawing/2014/main" id="{6CC1D55B-178C-40F2-908B-151D6C7E0A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352425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가상가치평가법의 질문형태</a:t>
            </a:r>
            <a:b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32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지불의사를 직접 표명하게 하는 질문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2771" name="Rectangle 7">
            <a:extLst>
              <a:ext uri="{FF2B5EF4-FFF2-40B4-BE49-F238E27FC236}">
                <a16:creationId xmlns:a16="http://schemas.microsoft.com/office/drawing/2014/main" id="{5DC35686-E272-421F-B18B-D0840C10C5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2052638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응답자의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지불의사를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직접 표명하게 하는 방법을 사용할 경우 응답 속에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CS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이미 있음</a:t>
            </a:r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CS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도출하기 위해 추가적인 계량분석을 할 필요가 없으며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개인 특성이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CS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 미치는 영향 등을 회귀분석을 통해 분석하여 완료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하지만 전략적 편의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(strategic bias)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나타날 가능성이 있음</a:t>
            </a:r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응답결과가 정책에 반영됨을 알고 있는 상태에서 정책이 자신에게 유리한 방향으로 시행되도록 의도적으로 높은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CS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말할 때 발생</a:t>
            </a:r>
          </a:p>
        </p:txBody>
      </p:sp>
      <p:sp>
        <p:nvSpPr>
          <p:cNvPr id="32772" name="바닥글 개체 틀 4">
            <a:extLst>
              <a:ext uri="{FF2B5EF4-FFF2-40B4-BE49-F238E27FC236}">
                <a16:creationId xmlns:a16="http://schemas.microsoft.com/office/drawing/2014/main" id="{549F5A31-74F6-443F-96F7-78B516AA6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32773" name="슬라이드 번호 개체 틀 5">
            <a:extLst>
              <a:ext uri="{FF2B5EF4-FFF2-40B4-BE49-F238E27FC236}">
                <a16:creationId xmlns:a16="http://schemas.microsoft.com/office/drawing/2014/main" id="{3211522E-3F58-4409-89BF-C62DE6C5D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5A4F19EC-7D80-483F-B67D-D0E75C5588D6}" type="slidenum">
              <a:rPr lang="ko-KR" altLang="en-US" sz="1200" b="0">
                <a:solidFill>
                  <a:schemeClr val="tx1"/>
                </a:solidFill>
              </a:rPr>
              <a:pPr/>
              <a:t>17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2774" name="Rectangle 2">
            <a:extLst>
              <a:ext uri="{FF2B5EF4-FFF2-40B4-BE49-F238E27FC236}">
                <a16:creationId xmlns:a16="http://schemas.microsoft.com/office/drawing/2014/main" id="{A5C6E232-D3A6-435C-8B7A-99126988C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2775" name="Rectangle 3">
            <a:extLst>
              <a:ext uri="{FF2B5EF4-FFF2-40B4-BE49-F238E27FC236}">
                <a16:creationId xmlns:a16="http://schemas.microsoft.com/office/drawing/2014/main" id="{913FA717-810F-4988-830D-467373993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6">
            <a:extLst>
              <a:ext uri="{FF2B5EF4-FFF2-40B4-BE49-F238E27FC236}">
                <a16:creationId xmlns:a16="http://schemas.microsoft.com/office/drawing/2014/main" id="{F5DED528-C1B2-4F74-B80A-AAC4A8B0A0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352425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가상가치평가법의 질문형태</a:t>
            </a:r>
            <a:b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투표모형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(referendum model)</a:t>
            </a:r>
          </a:p>
        </p:txBody>
      </p:sp>
      <p:sp>
        <p:nvSpPr>
          <p:cNvPr id="33795" name="Rectangle 7">
            <a:extLst>
              <a:ext uri="{FF2B5EF4-FFF2-40B4-BE49-F238E27FC236}">
                <a16:creationId xmlns:a16="http://schemas.microsoft.com/office/drawing/2014/main" id="{923779C9-9B73-441B-AD0C-1F228A899E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2052638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투표모형 혹은 양분 선택형 질문방식은 어떤 금액이 제시되었을 때 그 금액을 환경질 개선을 위해 지불할 의사가 있는지 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'</a:t>
            </a:r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'</a:t>
            </a:r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와 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'</a:t>
            </a:r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아니오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'</a:t>
            </a:r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로 대답하는 것은 상대적으로 쉬울 것이라는 점에 착안하여 개발됨</a:t>
            </a:r>
          </a:p>
          <a:p>
            <a:pPr lvl="1" eaLnBrk="1" hangingPunct="1"/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: “</a:t>
            </a:r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한강수계를 모두 수영이 가능할 정도의 수질로 개선하기 위해 당신은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x</a:t>
            </a:r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원의 금액을 매년 지불할 의사가 있습니까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?”</a:t>
            </a:r>
          </a:p>
          <a:p>
            <a:pPr eaLnBrk="1" hangingPunct="1"/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응답결과를 수거한 뒤 이산선택모형을 이용하여 응답결과를 계량분석하고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이어서 응답자들의 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CS</a:t>
            </a:r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계산하면 됨</a:t>
            </a:r>
          </a:p>
        </p:txBody>
      </p:sp>
      <p:sp>
        <p:nvSpPr>
          <p:cNvPr id="33796" name="바닥글 개체 틀 4">
            <a:extLst>
              <a:ext uri="{FF2B5EF4-FFF2-40B4-BE49-F238E27FC236}">
                <a16:creationId xmlns:a16="http://schemas.microsoft.com/office/drawing/2014/main" id="{A602B0FA-459A-4169-8C63-C54D5CC45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33797" name="슬라이드 번호 개체 틀 5">
            <a:extLst>
              <a:ext uri="{FF2B5EF4-FFF2-40B4-BE49-F238E27FC236}">
                <a16:creationId xmlns:a16="http://schemas.microsoft.com/office/drawing/2014/main" id="{5778AED5-9C4E-4FCB-B001-5D184F29A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2D73913-F5A6-4A74-B816-D6F2E07217D0}" type="slidenum">
              <a:rPr lang="ko-KR" altLang="en-US" sz="1200" b="0">
                <a:solidFill>
                  <a:schemeClr val="tx1"/>
                </a:solidFill>
              </a:rPr>
              <a:pPr/>
              <a:t>18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3798" name="Rectangle 2">
            <a:extLst>
              <a:ext uri="{FF2B5EF4-FFF2-40B4-BE49-F238E27FC236}">
                <a16:creationId xmlns:a16="http://schemas.microsoft.com/office/drawing/2014/main" id="{E9045E65-62DA-466E-BDCD-7703DAC9B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3799" name="Rectangle 3">
            <a:extLst>
              <a:ext uri="{FF2B5EF4-FFF2-40B4-BE49-F238E27FC236}">
                <a16:creationId xmlns:a16="http://schemas.microsoft.com/office/drawing/2014/main" id="{F9E28957-BC34-4848-815E-FA31297B5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28">
            <a:extLst>
              <a:ext uri="{FF2B5EF4-FFF2-40B4-BE49-F238E27FC236}">
                <a16:creationId xmlns:a16="http://schemas.microsoft.com/office/drawing/2014/main" id="{B3C65C54-76B1-4023-82E9-573765495F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18291" y="589084"/>
            <a:ext cx="5576259" cy="624254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투표모형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CVM 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적용 절차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4820" name="바닥글 개체 틀 4">
            <a:extLst>
              <a:ext uri="{FF2B5EF4-FFF2-40B4-BE49-F238E27FC236}">
                <a16:creationId xmlns:a16="http://schemas.microsoft.com/office/drawing/2014/main" id="{266334EF-D804-4800-B016-6D184EBF6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34821" name="슬라이드 번호 개체 틀 5">
            <a:extLst>
              <a:ext uri="{FF2B5EF4-FFF2-40B4-BE49-F238E27FC236}">
                <a16:creationId xmlns:a16="http://schemas.microsoft.com/office/drawing/2014/main" id="{8AA75D64-8804-4057-96E3-7A7A0B6CA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D30E61F-1C11-4436-A71E-4F6D00856EDA}" type="slidenum">
              <a:rPr lang="ko-KR" altLang="en-US" sz="1200" b="0">
                <a:solidFill>
                  <a:schemeClr val="tx1"/>
                </a:solidFill>
              </a:rPr>
              <a:pPr/>
              <a:t>19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9CE23EE-F676-41C7-BE4F-26E1BFC76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066" y="1464108"/>
            <a:ext cx="8119193" cy="266624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6">
            <a:extLst>
              <a:ext uri="{FF2B5EF4-FFF2-40B4-BE49-F238E27FC236}">
                <a16:creationId xmlns:a16="http://schemas.microsoft.com/office/drawing/2014/main" id="{6123BC1E-FC9C-49C2-9288-FF3893443D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투표모형의 장점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5843" name="Rectangle 7">
            <a:extLst>
              <a:ext uri="{FF2B5EF4-FFF2-40B4-BE49-F238E27FC236}">
                <a16:creationId xmlns:a16="http://schemas.microsoft.com/office/drawing/2014/main" id="{518695FF-4115-410D-BF60-1818F2E9C1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1519238"/>
            <a:ext cx="7493000" cy="4691062"/>
          </a:xfrm>
        </p:spPr>
        <p:txBody>
          <a:bodyPr/>
          <a:lstStyle/>
          <a:p>
            <a:pPr eaLnBrk="1" hangingPunct="1"/>
            <a:r>
              <a:rPr lang="ko-KR" altLang="en-US" sz="23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투표모형은</a:t>
            </a:r>
            <a:r>
              <a:rPr lang="ko-KR" altLang="en-US" sz="23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각 개인이 </a:t>
            </a:r>
            <a:r>
              <a:rPr lang="ko-KR" altLang="en-US" sz="23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시장재의</a:t>
            </a:r>
            <a:r>
              <a:rPr lang="ko-KR" altLang="en-US" sz="23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구매여부를 결정하거나 어떤 공공정책에 대한 지지여부를 결정하는 과정과 유사한 사고 절차를 응답자에게 제공함</a:t>
            </a:r>
          </a:p>
          <a:p>
            <a:pPr eaLnBrk="1" hangingPunct="1"/>
            <a:r>
              <a:rPr lang="ko-KR" altLang="en-US" sz="23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응답이 간단하며 </a:t>
            </a:r>
            <a:r>
              <a:rPr lang="ko-KR" altLang="en-US" sz="23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무응답률을</a:t>
            </a:r>
            <a:r>
              <a:rPr lang="ko-KR" altLang="en-US" sz="23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낮출 수 있음</a:t>
            </a:r>
          </a:p>
          <a:p>
            <a:pPr eaLnBrk="1" hangingPunct="1"/>
            <a:r>
              <a:rPr lang="en-US" altLang="ko-KR" sz="23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'</a:t>
            </a:r>
            <a:r>
              <a:rPr lang="ko-KR" altLang="en-US" sz="23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sz="23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'</a:t>
            </a:r>
            <a:r>
              <a:rPr lang="ko-KR" altLang="en-US" sz="23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와 </a:t>
            </a:r>
            <a:r>
              <a:rPr lang="en-US" altLang="ko-KR" sz="23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'</a:t>
            </a:r>
            <a:r>
              <a:rPr lang="ko-KR" altLang="en-US" sz="23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아니오</a:t>
            </a:r>
            <a:r>
              <a:rPr lang="en-US" altLang="ko-KR" sz="23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' </a:t>
            </a:r>
            <a:r>
              <a:rPr lang="ko-KR" altLang="en-US" sz="23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대답 가운데 정답은 없다는 사실을 미리 강조할 경우 시작점 편의를 대폭 줄여줄 수 있음</a:t>
            </a:r>
          </a:p>
          <a:p>
            <a:pPr eaLnBrk="1" hangingPunct="1"/>
            <a:r>
              <a:rPr lang="ko-KR" altLang="en-US" sz="23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투표모형에서는 전략적 편의가 발생할 가능성이 대폭 줄어듦</a:t>
            </a:r>
            <a:r>
              <a:rPr lang="en-US" altLang="ko-KR" sz="23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z="23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유인일치성</a:t>
            </a:r>
            <a:r>
              <a:rPr lang="en-US" altLang="ko-KR" sz="23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</a:p>
          <a:p>
            <a:pPr lvl="1" eaLnBrk="1" hangingPunct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CS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제시된 금액보다 더 크고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사업실행을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적극적으로 원한다 하더라도 응답자는 설문에서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'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'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라는 대답을 하는 것 외에는 전략적 행동을 할 수 없음</a:t>
            </a:r>
          </a:p>
        </p:txBody>
      </p:sp>
      <p:sp>
        <p:nvSpPr>
          <p:cNvPr id="35844" name="바닥글 개체 틀 4">
            <a:extLst>
              <a:ext uri="{FF2B5EF4-FFF2-40B4-BE49-F238E27FC236}">
                <a16:creationId xmlns:a16="http://schemas.microsoft.com/office/drawing/2014/main" id="{E1BA64C9-E461-4B37-8945-1A5C270B8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35845" name="슬라이드 번호 개체 틀 5">
            <a:extLst>
              <a:ext uri="{FF2B5EF4-FFF2-40B4-BE49-F238E27FC236}">
                <a16:creationId xmlns:a16="http://schemas.microsoft.com/office/drawing/2014/main" id="{BE055DEB-6EBD-41B4-8E75-29CEF14E0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67F27F7-3FF5-43D7-9DEB-2BE34F616718}" type="slidenum">
              <a:rPr lang="ko-KR" altLang="en-US" sz="1200" b="0">
                <a:solidFill>
                  <a:schemeClr val="tx1"/>
                </a:solidFill>
              </a:rPr>
              <a:pPr/>
              <a:t>20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5846" name="Rectangle 2">
            <a:extLst>
              <a:ext uri="{FF2B5EF4-FFF2-40B4-BE49-F238E27FC236}">
                <a16:creationId xmlns:a16="http://schemas.microsoft.com/office/drawing/2014/main" id="{0E01C87C-31AF-4E98-AEBD-6E368DED0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5847" name="Rectangle 3">
            <a:extLst>
              <a:ext uri="{FF2B5EF4-FFF2-40B4-BE49-F238E27FC236}">
                <a16:creationId xmlns:a16="http://schemas.microsoft.com/office/drawing/2014/main" id="{3E69F8F0-9AEE-46F9-BEED-B41EB0223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6">
            <a:extLst>
              <a:ext uri="{FF2B5EF4-FFF2-40B4-BE49-F238E27FC236}">
                <a16:creationId xmlns:a16="http://schemas.microsoft.com/office/drawing/2014/main" id="{B2D4B6DA-1A0D-451F-9F9F-84750F5A9F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투표모형의 단점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6867" name="Rectangle 7">
            <a:extLst>
              <a:ext uri="{FF2B5EF4-FFF2-40B4-BE49-F238E27FC236}">
                <a16:creationId xmlns:a16="http://schemas.microsoft.com/office/drawing/2014/main" id="{DDE3702B-0404-49DA-A9A5-BF3C85D996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1617663"/>
            <a:ext cx="7493000" cy="4691062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응답자에게 제시되는 금액을 적절히 선택해야 하는 문제를 가짐</a:t>
            </a:r>
          </a:p>
          <a:p>
            <a:pPr lvl="1" eaLnBrk="1" hangingPunct="1"/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사전설문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(pretest)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절차를 통해 응답자들의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CS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범위를 파악하여 설문 구성에 활용</a:t>
            </a:r>
          </a:p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직접적인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CS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표시방법에 비해 훨씬 복잡한 계량분석절차를 거쳐야 하고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이를 위해서는 많은 수의 응답자를 조사해야 함</a:t>
            </a:r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일반적으로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1,000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명 이상의 응답자를 조사</a:t>
            </a:r>
          </a:p>
        </p:txBody>
      </p:sp>
      <p:sp>
        <p:nvSpPr>
          <p:cNvPr id="36868" name="바닥글 개체 틀 4">
            <a:extLst>
              <a:ext uri="{FF2B5EF4-FFF2-40B4-BE49-F238E27FC236}">
                <a16:creationId xmlns:a16="http://schemas.microsoft.com/office/drawing/2014/main" id="{8503277E-068F-4004-8EBC-4CD3F05A5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36869" name="슬라이드 번호 개체 틀 5">
            <a:extLst>
              <a:ext uri="{FF2B5EF4-FFF2-40B4-BE49-F238E27FC236}">
                <a16:creationId xmlns:a16="http://schemas.microsoft.com/office/drawing/2014/main" id="{0EAB4D10-7881-4A58-B842-1D5F5F94C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4ED645A-808C-4C33-AE83-F0E08F994374}" type="slidenum">
              <a:rPr lang="ko-KR" altLang="en-US" sz="1200" b="0">
                <a:solidFill>
                  <a:schemeClr val="tx1"/>
                </a:solidFill>
              </a:rPr>
              <a:pPr/>
              <a:t>21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6870" name="Rectangle 2">
            <a:extLst>
              <a:ext uri="{FF2B5EF4-FFF2-40B4-BE49-F238E27FC236}">
                <a16:creationId xmlns:a16="http://schemas.microsoft.com/office/drawing/2014/main" id="{8A4C55E4-7C25-4107-9136-7B48F3753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6871" name="Rectangle 3">
            <a:extLst>
              <a:ext uri="{FF2B5EF4-FFF2-40B4-BE49-F238E27FC236}">
                <a16:creationId xmlns:a16="http://schemas.microsoft.com/office/drawing/2014/main" id="{7650FEB8-FB90-45A6-90FB-968AF132B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6">
            <a:extLst>
              <a:ext uri="{FF2B5EF4-FFF2-40B4-BE49-F238E27FC236}">
                <a16:creationId xmlns:a16="http://schemas.microsoft.com/office/drawing/2014/main" id="{72DAD1E8-21FE-4601-96F6-F88E091BF2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352425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가상가치평가법의 질문형태</a:t>
            </a:r>
            <a:b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투표모형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(referendum model)</a:t>
            </a:r>
          </a:p>
        </p:txBody>
      </p:sp>
      <p:sp>
        <p:nvSpPr>
          <p:cNvPr id="37891" name="Rectangle 7">
            <a:extLst>
              <a:ext uri="{FF2B5EF4-FFF2-40B4-BE49-F238E27FC236}">
                <a16:creationId xmlns:a16="http://schemas.microsoft.com/office/drawing/2014/main" id="{5E71A1BF-37CB-4D05-AE67-DBB3B06362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5194" y="1592411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투표모형의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장점을 살리면서도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적은 비용으로도 필요한 만큼의 표본 수를 확보하기 위해 고안된 방법이 </a:t>
            </a:r>
            <a:r>
              <a:rPr lang="ko-KR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이중</a:t>
            </a:r>
            <a:r>
              <a:rPr lang="en-US" altLang="ko-KR" sz="24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(double-bounded)</a:t>
            </a:r>
            <a:r>
              <a:rPr lang="ko-KR" alt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투표모형</a:t>
            </a:r>
            <a:r>
              <a:rPr lang="ko-KR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혹은 </a:t>
            </a:r>
            <a:r>
              <a:rPr lang="ko-KR" alt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이중양분선택형질문법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임</a:t>
            </a:r>
            <a:endParaRPr lang="ko-KR" altLang="en-US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첫 질문에 대한 응답이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“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아니오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”(“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”)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일 때 두번째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제시금액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하락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상승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반복질문은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필요한 경우 세 차례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네 차례 등에 걸쳐 이루어질 수도 있음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한번만 질문하는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투표모형에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비해 더 많은 정보와 표본 수를 얻을 수 있음</a:t>
            </a:r>
          </a:p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그러나 원래의 투표모형에는 없던 시작점 편의나 전략적 편의가 다시 나타날 수 있음</a:t>
            </a:r>
          </a:p>
          <a:p>
            <a:pPr eaLnBrk="1" hangingPunct="1"/>
            <a:endParaRPr lang="ko-KR" altLang="en-US" sz="2400" dirty="0">
              <a:latin typeface="나눔명조" pitchFamily="18" charset="-127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37892" name="바닥글 개체 틀 4">
            <a:extLst>
              <a:ext uri="{FF2B5EF4-FFF2-40B4-BE49-F238E27FC236}">
                <a16:creationId xmlns:a16="http://schemas.microsoft.com/office/drawing/2014/main" id="{42CE759C-D6A2-45DA-B79F-91D2E25F3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37893" name="슬라이드 번호 개체 틀 5">
            <a:extLst>
              <a:ext uri="{FF2B5EF4-FFF2-40B4-BE49-F238E27FC236}">
                <a16:creationId xmlns:a16="http://schemas.microsoft.com/office/drawing/2014/main" id="{3F9FAD4B-BE24-4D72-B523-B419F517C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35840314-B9CD-4B12-972B-98BF3245C557}" type="slidenum">
              <a:rPr lang="ko-KR" altLang="en-US" sz="1200" b="0">
                <a:solidFill>
                  <a:schemeClr val="tx1"/>
                </a:solidFill>
              </a:rPr>
              <a:pPr/>
              <a:t>22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7894" name="Rectangle 2">
            <a:extLst>
              <a:ext uri="{FF2B5EF4-FFF2-40B4-BE49-F238E27FC236}">
                <a16:creationId xmlns:a16="http://schemas.microsoft.com/office/drawing/2014/main" id="{19EFDEC2-511C-48FD-A694-503AE1BD9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7895" name="Rectangle 3">
            <a:extLst>
              <a:ext uri="{FF2B5EF4-FFF2-40B4-BE49-F238E27FC236}">
                <a16:creationId xmlns:a16="http://schemas.microsoft.com/office/drawing/2014/main" id="{90C98C18-93B2-4499-BB63-93DA7F6E5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6">
            <a:extLst>
              <a:ext uri="{FF2B5EF4-FFF2-40B4-BE49-F238E27FC236}">
                <a16:creationId xmlns:a16="http://schemas.microsoft.com/office/drawing/2014/main" id="{CF996773-AE72-4791-996B-23230F3A32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352425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가상가치평가법의 질문형태</a:t>
            </a:r>
            <a:b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투표모형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(referendum model)</a:t>
            </a:r>
          </a:p>
        </p:txBody>
      </p:sp>
      <p:sp>
        <p:nvSpPr>
          <p:cNvPr id="38915" name="Rectangle 7">
            <a:extLst>
              <a:ext uri="{FF2B5EF4-FFF2-40B4-BE49-F238E27FC236}">
                <a16:creationId xmlns:a16="http://schemas.microsoft.com/office/drawing/2014/main" id="{C7C0C191-7A2B-4DE8-8993-F7D7B4970A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2052638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투표모형에서는 지불의사가 직접 드러나지 않고 지불의사가 존재할 범위만이 나타남</a:t>
            </a:r>
          </a:p>
          <a:p>
            <a:pPr lvl="1"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: 10000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원의 제시금액에 대해 ‘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예’와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‘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아니오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＇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응답한 응답자의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지불의사는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각각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[10,000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원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,+∞)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와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[0, 10,000)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범위에 있음</a:t>
            </a:r>
            <a:endParaRPr lang="ko-KR" altLang="en-US" sz="2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ko-KR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CS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도출을 위해 추가적인 계량분석 절차가 필요함</a:t>
            </a:r>
          </a:p>
        </p:txBody>
      </p:sp>
      <p:sp>
        <p:nvSpPr>
          <p:cNvPr id="38916" name="바닥글 개체 틀 4">
            <a:extLst>
              <a:ext uri="{FF2B5EF4-FFF2-40B4-BE49-F238E27FC236}">
                <a16:creationId xmlns:a16="http://schemas.microsoft.com/office/drawing/2014/main" id="{B5EA38F8-BD06-4723-B586-7AD3F4F99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38917" name="슬라이드 번호 개체 틀 5">
            <a:extLst>
              <a:ext uri="{FF2B5EF4-FFF2-40B4-BE49-F238E27FC236}">
                <a16:creationId xmlns:a16="http://schemas.microsoft.com/office/drawing/2014/main" id="{4161F1D6-ABE3-4DF2-869F-F94FE6FE2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DBEC7AF8-D9F6-44FE-92EB-0BCE06D6DCE6}" type="slidenum">
              <a:rPr lang="ko-KR" altLang="en-US" sz="1200" b="0">
                <a:solidFill>
                  <a:schemeClr val="tx1"/>
                </a:solidFill>
              </a:rPr>
              <a:pPr/>
              <a:t>23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8918" name="Rectangle 2">
            <a:extLst>
              <a:ext uri="{FF2B5EF4-FFF2-40B4-BE49-F238E27FC236}">
                <a16:creationId xmlns:a16="http://schemas.microsoft.com/office/drawing/2014/main" id="{B7002B72-8A33-45E0-9AF7-CEE5E358F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8919" name="Rectangle 3">
            <a:extLst>
              <a:ext uri="{FF2B5EF4-FFF2-40B4-BE49-F238E27FC236}">
                <a16:creationId xmlns:a16="http://schemas.microsoft.com/office/drawing/2014/main" id="{B8393000-9851-41DD-9081-702E360D4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6">
            <a:extLst>
              <a:ext uri="{FF2B5EF4-FFF2-40B4-BE49-F238E27FC236}">
                <a16:creationId xmlns:a16="http://schemas.microsoft.com/office/drawing/2014/main" id="{12322802-37F8-4B83-A86F-9E035BD2D4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0313" y="0"/>
            <a:ext cx="7745412" cy="1143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CS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도출을 위한 추가적인 계량분석절차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9" name="Rectangle 7">
                <a:extLst>
                  <a:ext uri="{FF2B5EF4-FFF2-40B4-BE49-F238E27FC236}">
                    <a16:creationId xmlns:a16="http://schemas.microsoft.com/office/drawing/2014/main" id="{BEE372AC-B702-44EF-8215-6BCE77A901BB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77900" y="1270421"/>
                <a:ext cx="7792876" cy="4869121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개인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j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에게 환경개선이 이루어지되 </a:t>
                </a:r>
                <a:r>
                  <a:rPr lang="en-US" altLang="ko-KR" sz="24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t</a:t>
                </a:r>
                <a:r>
                  <a:rPr lang="en-US" altLang="ko-KR" sz="2400" baseline="-25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j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만큼 대가를 지불해야 한다면 이 계획에 대해 찬성하는지를 물어보았다고 가정</a:t>
                </a: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개인의 소득을 제외한 특성은 </a:t>
                </a:r>
                <a:r>
                  <a:rPr lang="en-US" altLang="ko-KR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s</a:t>
                </a:r>
                <a:r>
                  <a:rPr lang="en-US" altLang="ko-KR" sz="2000" baseline="-25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j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소득은 </a:t>
                </a:r>
                <a:r>
                  <a:rPr lang="en-US" altLang="ko-KR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m</a:t>
                </a:r>
                <a:r>
                  <a:rPr lang="en-US" altLang="ko-KR" sz="2000" baseline="-25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j</a:t>
                </a:r>
                <a:endParaRPr lang="en-US" altLang="ko-KR" sz="2000" baseline="-25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환경개선이 이루어지지 않을 때 이 개인이 얻는 만족도 </a:t>
                </a:r>
              </a:p>
              <a:p>
                <a:pPr marL="457200" lvl="1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대가를 지불하고 환경을 개선할 경우의 만족도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응답자는</a:t>
                </a:r>
                <a:r>
                  <a:rPr lang="ko-KR" alt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일 경우 환경개선계획에 찬성하고 그 반대의 경우 반대할 것임</a:t>
                </a: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즉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일 경우 환경개선계획에 찬성할 것임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marL="457200" lvl="1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ko-KR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ko-KR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ko-KR" altLang="en-US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>
                  <a:buNone/>
                </a:pPr>
                <a:endParaRPr lang="ko-KR" altLang="en-US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9" name="Rectangle 7">
                <a:extLst>
                  <a:ext uri="{FF2B5EF4-FFF2-40B4-BE49-F238E27FC236}">
                    <a16:creationId xmlns:a16="http://schemas.microsoft.com/office/drawing/2014/main" id="{BEE372AC-B702-44EF-8215-6BCE77A901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7900" y="1270421"/>
                <a:ext cx="7792876" cy="4869121"/>
              </a:xfrm>
              <a:blipFill>
                <a:blip r:embed="rId3"/>
                <a:stretch>
                  <a:fillRect l="-1016" t="-11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0" name="바닥글 개체 틀 4">
            <a:extLst>
              <a:ext uri="{FF2B5EF4-FFF2-40B4-BE49-F238E27FC236}">
                <a16:creationId xmlns:a16="http://schemas.microsoft.com/office/drawing/2014/main" id="{729321CF-154E-4D00-B815-2041B2C2D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1031" name="슬라이드 번호 개체 틀 5">
            <a:extLst>
              <a:ext uri="{FF2B5EF4-FFF2-40B4-BE49-F238E27FC236}">
                <a16:creationId xmlns:a16="http://schemas.microsoft.com/office/drawing/2014/main" id="{992F9027-37CA-45F0-88DF-5EA44264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5C7665C6-81D2-4313-AD60-F6043232A580}" type="slidenum">
              <a:rPr lang="ko-KR" altLang="en-US" sz="1200" b="0">
                <a:solidFill>
                  <a:schemeClr val="tx1"/>
                </a:solidFill>
              </a:rPr>
              <a:pPr/>
              <a:t>24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032" name="Rectangle 2">
            <a:extLst>
              <a:ext uri="{FF2B5EF4-FFF2-40B4-BE49-F238E27FC236}">
                <a16:creationId xmlns:a16="http://schemas.microsoft.com/office/drawing/2014/main" id="{93B3D318-CD12-40CB-BB75-B14DD9857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033" name="Rectangle 3">
            <a:extLst>
              <a:ext uri="{FF2B5EF4-FFF2-40B4-BE49-F238E27FC236}">
                <a16:creationId xmlns:a16="http://schemas.microsoft.com/office/drawing/2014/main" id="{437779EC-B7DB-4C28-AA44-4B8343C57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Rectangle 6">
            <a:extLst>
              <a:ext uri="{FF2B5EF4-FFF2-40B4-BE49-F238E27FC236}">
                <a16:creationId xmlns:a16="http://schemas.microsoft.com/office/drawing/2014/main" id="{D268A253-4B3C-4604-A08F-9CDB5E25BA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0313" y="0"/>
            <a:ext cx="7745412" cy="1143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CS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도출을 위한 추가적인 계량분석절차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8" name="Rectangle 7">
                <a:extLst>
                  <a:ext uri="{FF2B5EF4-FFF2-40B4-BE49-F238E27FC236}">
                    <a16:creationId xmlns:a16="http://schemas.microsoft.com/office/drawing/2014/main" id="{C39ED3A2-B4BF-48E9-8945-3C917455C804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90814" y="1410478"/>
                <a:ext cx="7795985" cy="4567333"/>
              </a:xfrm>
            </p:spPr>
            <p:txBody>
              <a:bodyPr/>
              <a:lstStyle/>
              <a:p>
                <a:pPr eaLnBrk="1" hangingPunct="1"/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ε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에 </a:t>
                </a:r>
                <a:r>
                  <a:rPr lang="ko-KR" altLang="en-US" sz="24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정규분포나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24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로짓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(logit)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분포와 같은 통계적 분포를 부여하고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24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파라메터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α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와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β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값을 추정한 후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다음을 만족하는 </a:t>
                </a:r>
                <a:r>
                  <a:rPr lang="en-US" altLang="ko-KR" sz="24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CS</a:t>
                </a:r>
                <a:r>
                  <a:rPr lang="en-US" altLang="ko-KR" sz="2400" baseline="-25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j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를 구함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altLang="ko-KR" sz="24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sSub>
                            <m:sSubPr>
                              <m:ctrl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 lang="en-US" altLang="ko-KR" sz="24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대개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ε 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평균이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0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인 분포를 가정하므로 다음을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CS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대표치로 도출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sSub>
                          <m:sSubPr>
                            <m:ctrlP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den>
                    </m:f>
                  </m:oMath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2058" name="Rectangle 7">
                <a:extLst>
                  <a:ext uri="{FF2B5EF4-FFF2-40B4-BE49-F238E27FC236}">
                    <a16:creationId xmlns:a16="http://schemas.microsoft.com/office/drawing/2014/main" id="{C39ED3A2-B4BF-48E9-8945-3C917455C8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0814" y="1410478"/>
                <a:ext cx="7795985" cy="4567333"/>
              </a:xfrm>
              <a:blipFill>
                <a:blip r:embed="rId3"/>
                <a:stretch>
                  <a:fillRect l="-1016" t="-1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9" name="바닥글 개체 틀 4">
            <a:extLst>
              <a:ext uri="{FF2B5EF4-FFF2-40B4-BE49-F238E27FC236}">
                <a16:creationId xmlns:a16="http://schemas.microsoft.com/office/drawing/2014/main" id="{D9368813-9168-48FC-9C84-2D800F23C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2060" name="슬라이드 번호 개체 틀 5">
            <a:extLst>
              <a:ext uri="{FF2B5EF4-FFF2-40B4-BE49-F238E27FC236}">
                <a16:creationId xmlns:a16="http://schemas.microsoft.com/office/drawing/2014/main" id="{AA5A7625-5E2D-4D3D-B9CE-4F0E4F2F9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91063343-364D-421D-A425-2A45A529CA10}" type="slidenum">
              <a:rPr lang="ko-KR" altLang="en-US" sz="1200" b="0">
                <a:solidFill>
                  <a:schemeClr val="tx1"/>
                </a:solidFill>
              </a:rPr>
              <a:pPr/>
              <a:t>25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061" name="Rectangle 2">
            <a:extLst>
              <a:ext uri="{FF2B5EF4-FFF2-40B4-BE49-F238E27FC236}">
                <a16:creationId xmlns:a16="http://schemas.microsoft.com/office/drawing/2014/main" id="{5A42EF06-AB8A-4032-AD1B-6B6A15D44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062" name="Rectangle 3">
            <a:extLst>
              <a:ext uri="{FF2B5EF4-FFF2-40B4-BE49-F238E27FC236}">
                <a16:creationId xmlns:a16="http://schemas.microsoft.com/office/drawing/2014/main" id="{6BC06C60-B419-4728-8C48-19E56C282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Rectangle 6">
            <a:extLst>
              <a:ext uri="{FF2B5EF4-FFF2-40B4-BE49-F238E27FC236}">
                <a16:creationId xmlns:a16="http://schemas.microsoft.com/office/drawing/2014/main" id="{D268A253-4B3C-4604-A08F-9CDB5E25BA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0313" y="0"/>
            <a:ext cx="7745412" cy="1143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CS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도출을 위한 추가적인 계량분석절차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8" name="Rectangle 7">
                <a:extLst>
                  <a:ext uri="{FF2B5EF4-FFF2-40B4-BE49-F238E27FC236}">
                    <a16:creationId xmlns:a16="http://schemas.microsoft.com/office/drawing/2014/main" id="{C39ED3A2-B4BF-48E9-8945-3C917455C804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76313" y="1377950"/>
                <a:ext cx="7755904" cy="4691063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지불의사의 대푯값 도출 방법</a:t>
                </a:r>
                <a:endParaRPr lang="en-US" altLang="ko-KR" sz="24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환경개선에 대한 </a:t>
                </a:r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지불의사는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0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보다 작을 수 없다고 가정하여 </a:t>
                </a:r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지불의사의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분포를 양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(+)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영역만 허용하여 평균을 구할 수도 있음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지불의사의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범위에 대한 사전지식이 있다면 </a:t>
                </a:r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효용함수나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지불의사함수 추정에 범위 제약을 주어 분석할 수도 있음</a:t>
                </a:r>
                <a:endParaRPr lang="en-US" altLang="ko-KR" sz="16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마지막으로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𝐶𝑆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=</m:t>
                    </m:r>
                    <m:box>
                      <m:box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𝛼</m:t>
                            </m:r>
                            <m:sSub>
                              <m:sSub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나눔명조" pitchFamily="18" charset="-127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나눔명조" pitchFamily="18" charset="-127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나눔명조" pitchFamily="18" charset="-127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r>
                              <a:rPr lang="ko-KR" altLang="en-US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den>
                        </m:f>
                      </m:e>
                    </m:box>
                  </m:oMath>
                </a14:m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통계적 분포를 구함</a:t>
                </a:r>
                <a:endParaRPr lang="en-US" altLang="ko-KR" sz="24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, </m:t>
                    </m:r>
                    <m:r>
                      <a:rPr lang="ko-KR" altLang="en-US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𝛽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의</m:t>
                    </m:r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추정치는 확률변수이므로 이로부터 도출되는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𝐶𝑆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도 확률변수임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.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따라서 그 분산을 구하는 절차가 필요함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, 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𝛽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의</m:t>
                    </m:r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추정치의 분산과 공분산 추정치를 이용해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𝐶𝑆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분산을 추정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본문 참조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)</a:t>
                </a: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𝐶𝑆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분산을 구하면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𝐶𝑆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추정치가 통계적으로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0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과 다른지에 대한 검증을 할 수 있음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58" name="Rectangle 7">
                <a:extLst>
                  <a:ext uri="{FF2B5EF4-FFF2-40B4-BE49-F238E27FC236}">
                    <a16:creationId xmlns:a16="http://schemas.microsoft.com/office/drawing/2014/main" id="{C39ED3A2-B4BF-48E9-8945-3C917455C8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6313" y="1377950"/>
                <a:ext cx="7755904" cy="4691063"/>
              </a:xfrm>
              <a:blipFill>
                <a:blip r:embed="rId3"/>
                <a:stretch>
                  <a:fillRect l="-1022" t="-1429" r="-786" b="-53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9" name="바닥글 개체 틀 4">
            <a:extLst>
              <a:ext uri="{FF2B5EF4-FFF2-40B4-BE49-F238E27FC236}">
                <a16:creationId xmlns:a16="http://schemas.microsoft.com/office/drawing/2014/main" id="{D9368813-9168-48FC-9C84-2D800F23C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2060" name="슬라이드 번호 개체 틀 5">
            <a:extLst>
              <a:ext uri="{FF2B5EF4-FFF2-40B4-BE49-F238E27FC236}">
                <a16:creationId xmlns:a16="http://schemas.microsoft.com/office/drawing/2014/main" id="{AA5A7625-5E2D-4D3D-B9CE-4F0E4F2F9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91063343-364D-421D-A425-2A45A529CA10}" type="slidenum">
              <a:rPr lang="ko-KR" altLang="en-US" sz="1200" b="0">
                <a:solidFill>
                  <a:schemeClr val="tx1"/>
                </a:solidFill>
              </a:rPr>
              <a:pPr/>
              <a:t>26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061" name="Rectangle 2">
            <a:extLst>
              <a:ext uri="{FF2B5EF4-FFF2-40B4-BE49-F238E27FC236}">
                <a16:creationId xmlns:a16="http://schemas.microsoft.com/office/drawing/2014/main" id="{5A42EF06-AB8A-4032-AD1B-6B6A15D44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062" name="Rectangle 3">
            <a:extLst>
              <a:ext uri="{FF2B5EF4-FFF2-40B4-BE49-F238E27FC236}">
                <a16:creationId xmlns:a16="http://schemas.microsoft.com/office/drawing/2014/main" id="{6BC06C60-B419-4728-8C48-19E56C282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0895500"/>
      </p:ext>
    </p:extLst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028">
            <a:extLst>
              <a:ext uri="{FF2B5EF4-FFF2-40B4-BE49-F238E27FC236}">
                <a16:creationId xmlns:a16="http://schemas.microsoft.com/office/drawing/2014/main" id="{FE3EA223-F56A-47A3-82E4-8401CED7D4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424046"/>
            <a:ext cx="7886700" cy="659423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지불거부응답과</a:t>
            </a: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음</a:t>
            </a: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(-)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의 지불의사문제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9939" name="Rectangle 1029">
            <a:extLst>
              <a:ext uri="{FF2B5EF4-FFF2-40B4-BE49-F238E27FC236}">
                <a16:creationId xmlns:a16="http://schemas.microsoft.com/office/drawing/2014/main" id="{DA35AD5F-06A6-4FD6-9B12-1ABCC35518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1550" y="1433513"/>
            <a:ext cx="7515225" cy="4114800"/>
          </a:xfrm>
        </p:spPr>
        <p:txBody>
          <a:bodyPr/>
          <a:lstStyle/>
          <a:p>
            <a:pPr eaLnBrk="1" hangingPunct="1"/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CVM 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조사에서는 </a:t>
            </a:r>
            <a:r>
              <a:rPr lang="ko-KR" altLang="en-US" sz="22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환경재의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비사용가치까지 평가하기 위해 가능한 한 넓은 지역이나 계층의 응답자를 대상으로 설문조사를 시행하며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경우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많은 사람들이 평가대상 </a:t>
            </a:r>
            <a:r>
              <a:rPr lang="ko-KR" altLang="en-US" sz="22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환경재에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대해 관심이 없거나 </a:t>
            </a:r>
            <a:r>
              <a:rPr lang="ko-KR" altLang="en-US" sz="22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지불의사가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없을 수 있음</a:t>
            </a: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응답 중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'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아니오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'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매우 많이 나타나는 문제가 발생함</a:t>
            </a: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추정되는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지불의사가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음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(-)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값을 가지게 됨</a:t>
            </a:r>
            <a:endParaRPr lang="ko-KR" altLang="en-US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문제는 </a:t>
            </a:r>
            <a:r>
              <a:rPr lang="ko-KR" altLang="en-US" sz="22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지불의사가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0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인 사람과 </a:t>
            </a:r>
            <a:r>
              <a:rPr lang="ko-KR" altLang="en-US" sz="22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지불의사가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있는 사람의 반응을 구분하여 분석함으로써 해결</a:t>
            </a:r>
          </a:p>
          <a:p>
            <a:pPr lvl="1" eaLnBrk="1" hangingPunct="1"/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지불의사가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있는 경우에만 위에서 설명한 절차를 통해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지불의사를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도출하면 됨</a:t>
            </a:r>
          </a:p>
          <a:p>
            <a:pPr lvl="1" eaLnBrk="1" hangingPunct="1"/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'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아니오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'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선택한 사람들에게 조사하는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환경재에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대해 전혀 지불할 생각이 없는지를 다시 물어보는 방법으로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지불의사가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있는지 없는지를 구분할 수 있음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39940" name="바닥글 개체 틀 4">
            <a:extLst>
              <a:ext uri="{FF2B5EF4-FFF2-40B4-BE49-F238E27FC236}">
                <a16:creationId xmlns:a16="http://schemas.microsoft.com/office/drawing/2014/main" id="{73E25CD6-A591-4133-AB61-7926AABA6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39941" name="슬라이드 번호 개체 틀 5">
            <a:extLst>
              <a:ext uri="{FF2B5EF4-FFF2-40B4-BE49-F238E27FC236}">
                <a16:creationId xmlns:a16="http://schemas.microsoft.com/office/drawing/2014/main" id="{647CA27D-5E4E-4ABA-AA76-632FC6B14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88F0BA8E-F9EB-4E15-9F1B-72A28BD4674A}" type="slidenum">
              <a:rPr lang="ko-KR" altLang="en-US" sz="1200" b="0">
                <a:solidFill>
                  <a:schemeClr val="tx1"/>
                </a:solidFill>
              </a:rPr>
              <a:pPr/>
              <a:t>27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1029">
            <a:extLst>
              <a:ext uri="{FF2B5EF4-FFF2-40B4-BE49-F238E27FC236}">
                <a16:creationId xmlns:a16="http://schemas.microsoft.com/office/drawing/2014/main" id="{227806E8-32E5-4D3B-9D77-9FC9B4CB60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7049" y="1339693"/>
            <a:ext cx="7515225" cy="4114800"/>
          </a:xfrm>
        </p:spPr>
        <p:txBody>
          <a:bodyPr/>
          <a:lstStyle/>
          <a:p>
            <a:pPr eaLnBrk="1" hangingPunct="1"/>
            <a:r>
              <a:rPr lang="ko-KR" altLang="en-US" sz="2800" dirty="0" err="1">
                <a:latin typeface="나눔명조" pitchFamily="18" charset="-127"/>
                <a:ea typeface="나눔명조" pitchFamily="18" charset="-127"/>
              </a:rPr>
              <a:t>지불의사는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 아래의 유형</a:t>
            </a:r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과 유형</a:t>
            </a:r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2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의 응답결과만을 가지고 도출하여야 함</a:t>
            </a: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유형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1 :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지불의사가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0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보다 크고 자기에게 제시된 금액의 지불에도 찬성한 사람</a:t>
            </a: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유형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2 :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지불의사가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0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보다 크지만 자기에게 제시된 금액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t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의 지불에는 반대한 사람</a:t>
            </a: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유형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3 :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지불의사가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0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이어서 제시된 금액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t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의 지불에 당연히 반대한 사람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국가 전체 </a:t>
            </a:r>
            <a:r>
              <a:rPr lang="ko-KR" altLang="en-US" sz="2800" dirty="0" err="1">
                <a:latin typeface="나눔명조" pitchFamily="18" charset="-127"/>
                <a:ea typeface="나눔명조" pitchFamily="18" charset="-127"/>
              </a:rPr>
              <a:t>지불의사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 도출 시 유형 </a:t>
            </a:r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3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의 비중만큼의 인구는 </a:t>
            </a:r>
            <a:r>
              <a:rPr lang="ko-KR" altLang="en-US" sz="2800" dirty="0" err="1">
                <a:latin typeface="나눔명조" pitchFamily="18" charset="-127"/>
                <a:ea typeface="나눔명조" pitchFamily="18" charset="-127"/>
              </a:rPr>
              <a:t>지불의사가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0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인 것으로 처리</a:t>
            </a:r>
            <a:endParaRPr lang="en-US" altLang="ko-KR" sz="2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0964" name="바닥글 개체 틀 4">
            <a:extLst>
              <a:ext uri="{FF2B5EF4-FFF2-40B4-BE49-F238E27FC236}">
                <a16:creationId xmlns:a16="http://schemas.microsoft.com/office/drawing/2014/main" id="{0281B385-8D9A-4D14-9CDB-DAA33EC0E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40965" name="슬라이드 번호 개체 틀 5">
            <a:extLst>
              <a:ext uri="{FF2B5EF4-FFF2-40B4-BE49-F238E27FC236}">
                <a16:creationId xmlns:a16="http://schemas.microsoft.com/office/drawing/2014/main" id="{34094499-955F-417A-A64F-41714F29B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A8136D1-C858-4245-86B6-2E7C9B73A0EA}" type="slidenum">
              <a:rPr lang="ko-KR" altLang="en-US" sz="1200" b="0">
                <a:solidFill>
                  <a:schemeClr val="tx1"/>
                </a:solidFill>
              </a:rPr>
              <a:pPr/>
              <a:t>28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7" name="Rectangle 1028">
            <a:extLst>
              <a:ext uri="{FF2B5EF4-FFF2-40B4-BE49-F238E27FC236}">
                <a16:creationId xmlns:a16="http://schemas.microsoft.com/office/drawing/2014/main" id="{FE3EA223-F56A-47A3-82E4-8401CED7D4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424046"/>
            <a:ext cx="7886700" cy="659423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지불거부응답과</a:t>
            </a: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음</a:t>
            </a: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(-)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의 지불의사문제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1028">
            <a:extLst>
              <a:ext uri="{FF2B5EF4-FFF2-40B4-BE49-F238E27FC236}">
                <a16:creationId xmlns:a16="http://schemas.microsoft.com/office/drawing/2014/main" id="{44EFFCF7-FB85-42DB-9D98-0F9C48F9E1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1412" y="494080"/>
            <a:ext cx="4635500" cy="633046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투표모형의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 적용 사례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고딕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6" name="Rectangle 1029">
                <a:extLst>
                  <a:ext uri="{FF2B5EF4-FFF2-40B4-BE49-F238E27FC236}">
                    <a16:creationId xmlns:a16="http://schemas.microsoft.com/office/drawing/2014/main" id="{9D2DCC2A-8874-4E5D-89A6-63D9BAB4C878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71549" y="1327581"/>
                <a:ext cx="751522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권오상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(2003)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은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GM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농산물과 일반농산물에 대한 소비자들의 지불의사가 얼마나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다른지를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투표모형을 이용하여 확인함</a:t>
                </a:r>
              </a:p>
              <a:p>
                <a:pPr eaLnBrk="1" hangingPunct="1"/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GM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농산물 대신 안전한 농산물을 소비할 때의 효용 격차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endParaRPr lang="ko-KR" altLang="en-US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=0.175+0.125</m:t>
                      </m:r>
                      <m:func>
                        <m:func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ko-KR" altLang="en-US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소</m:t>
                      </m:r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득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)+0.015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나</m:t>
                      </m:r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이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+1.378</m:t>
                      </m:r>
                      <m:d>
                        <m:d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환경단체가입여</m:t>
                          </m:r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부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−0.296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가족</m:t>
                      </m:r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수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0.0011</m:t>
                      </m:r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  <a:p>
                <a:pPr eaLnBrk="1" hangingPunct="1"/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GM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농산물에 대해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2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배 정도의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지불의사를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일반 농산물에 대해 가짐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가족 중 환경단체 활동이나 지원을 하는 경우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GM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농산물보다는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일반농산물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소비로부터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얻는 만족도가 더 큼 </a:t>
                </a: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가족 수가 많을 경우 비용부담 때문에 일반 농산물로부터 얻는 편익이 상대적으로 적음  </a:t>
                </a:r>
              </a:p>
            </p:txBody>
          </p:sp>
        </mc:Choice>
        <mc:Fallback xmlns="">
          <p:sp>
            <p:nvSpPr>
              <p:cNvPr id="3076" name="Rectangle 1029">
                <a:extLst>
                  <a:ext uri="{FF2B5EF4-FFF2-40B4-BE49-F238E27FC236}">
                    <a16:creationId xmlns:a16="http://schemas.microsoft.com/office/drawing/2014/main" id="{9D2DCC2A-8874-4E5D-89A6-63D9BAB4C8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1549" y="1327581"/>
                <a:ext cx="7515225" cy="4114800"/>
              </a:xfrm>
              <a:blipFill>
                <a:blip r:embed="rId2"/>
                <a:stretch>
                  <a:fillRect l="-730" t="-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7" name="바닥글 개체 틀 4">
            <a:extLst>
              <a:ext uri="{FF2B5EF4-FFF2-40B4-BE49-F238E27FC236}">
                <a16:creationId xmlns:a16="http://schemas.microsoft.com/office/drawing/2014/main" id="{37C2E928-E6B5-469A-B43E-324A2C4EA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3078" name="슬라이드 번호 개체 틀 5">
            <a:extLst>
              <a:ext uri="{FF2B5EF4-FFF2-40B4-BE49-F238E27FC236}">
                <a16:creationId xmlns:a16="http://schemas.microsoft.com/office/drawing/2014/main" id="{72F2D89A-0D7D-45CB-A390-5265FA3E5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B331888-8DF4-449F-BB83-2DA1876B3AF7}" type="slidenum">
              <a:rPr lang="ko-KR" altLang="en-US" sz="1200" b="0">
                <a:solidFill>
                  <a:schemeClr val="tx1"/>
                </a:solidFill>
              </a:rPr>
              <a:pPr/>
              <a:t>29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6">
            <a:extLst>
              <a:ext uri="{FF2B5EF4-FFF2-40B4-BE49-F238E27FC236}">
                <a16:creationId xmlns:a16="http://schemas.microsoft.com/office/drawing/2014/main" id="{AF82FD6F-E49A-41A5-8C18-BF9DEEA71D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577137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가상가치평가법의 타당성에 관한 논의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3011" name="Rectangle 7">
            <a:extLst>
              <a:ext uri="{FF2B5EF4-FFF2-40B4-BE49-F238E27FC236}">
                <a16:creationId xmlns:a16="http://schemas.microsoft.com/office/drawing/2014/main" id="{F097B1A1-23FC-4B9D-9C6F-559936CC7F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1519238"/>
            <a:ext cx="7493000" cy="4691062"/>
          </a:xfrm>
        </p:spPr>
        <p:txBody>
          <a:bodyPr/>
          <a:lstStyle/>
          <a:p>
            <a:pPr eaLnBrk="1" hangingPunct="1"/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CVM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은 </a:t>
            </a:r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환경재의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가치평가를 위해 광범위하게 사용될 수 있다는 장점을 가지지만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가상적인 상황을 가정하므로 분석과정에서 오류를 범할 가능성이 상대적으로 큼</a:t>
            </a:r>
          </a:p>
          <a:p>
            <a:pPr lvl="1" eaLnBrk="1" hangingPunct="1"/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포함효과</a:t>
            </a:r>
            <a:endParaRPr lang="ko-KR" altLang="en-US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전략적 편의</a:t>
            </a:r>
          </a:p>
          <a:p>
            <a:pPr lvl="1" eaLnBrk="1" hangingPunct="1"/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가설편의</a:t>
            </a:r>
            <a:endParaRPr lang="ko-KR" altLang="en-US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설계편의</a:t>
            </a:r>
            <a:endParaRPr lang="ko-KR" altLang="en-US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지불수단편의</a:t>
            </a:r>
          </a:p>
          <a:p>
            <a:pPr lvl="1" eaLnBrk="1" hangingPunct="1"/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무응답편의</a:t>
            </a:r>
            <a:endParaRPr lang="ko-KR" altLang="en-US" sz="22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3012" name="바닥글 개체 틀 4">
            <a:extLst>
              <a:ext uri="{FF2B5EF4-FFF2-40B4-BE49-F238E27FC236}">
                <a16:creationId xmlns:a16="http://schemas.microsoft.com/office/drawing/2014/main" id="{29FD57C8-05C1-489B-8CB6-9B5F3D2EF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43013" name="슬라이드 번호 개체 틀 5">
            <a:extLst>
              <a:ext uri="{FF2B5EF4-FFF2-40B4-BE49-F238E27FC236}">
                <a16:creationId xmlns:a16="http://schemas.microsoft.com/office/drawing/2014/main" id="{3E3D353D-506B-4935-B4E7-6D78C754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9151649A-4F96-4278-B564-B915193FB465}" type="slidenum">
              <a:rPr lang="ko-KR" altLang="en-US" sz="1200" b="0">
                <a:solidFill>
                  <a:schemeClr val="tx1"/>
                </a:solidFill>
              </a:rPr>
              <a:pPr/>
              <a:t>30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3014" name="Rectangle 2">
            <a:extLst>
              <a:ext uri="{FF2B5EF4-FFF2-40B4-BE49-F238E27FC236}">
                <a16:creationId xmlns:a16="http://schemas.microsoft.com/office/drawing/2014/main" id="{513B4834-3CE9-4157-A9E1-12CFE8241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3015" name="Rectangle 3">
            <a:extLst>
              <a:ext uri="{FF2B5EF4-FFF2-40B4-BE49-F238E27FC236}">
                <a16:creationId xmlns:a16="http://schemas.microsoft.com/office/drawing/2014/main" id="{54B1303F-F00B-4D89-BC30-B8EE80E4B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6">
            <a:extLst>
              <a:ext uri="{FF2B5EF4-FFF2-40B4-BE49-F238E27FC236}">
                <a16:creationId xmlns:a16="http://schemas.microsoft.com/office/drawing/2014/main" id="{5B2E7AAA-4BA2-4F61-9666-F278C2D49B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포함효과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(embedding)</a:t>
            </a:r>
          </a:p>
        </p:txBody>
      </p:sp>
      <p:sp>
        <p:nvSpPr>
          <p:cNvPr id="44035" name="Rectangle 7">
            <a:extLst>
              <a:ext uri="{FF2B5EF4-FFF2-40B4-BE49-F238E27FC236}">
                <a16:creationId xmlns:a16="http://schemas.microsoft.com/office/drawing/2014/main" id="{82B2C194-14ED-47E0-AA58-43E1016602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1519238"/>
            <a:ext cx="7493000" cy="46910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① </a:t>
            </a:r>
            <a:r>
              <a:rPr lang="ko-KR" altLang="en-US" sz="2800" dirty="0" err="1">
                <a:latin typeface="나눔명조" pitchFamily="18" charset="-127"/>
                <a:ea typeface="나눔명조" pitchFamily="18" charset="-127"/>
              </a:rPr>
              <a:t>범위효과</a:t>
            </a:r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(scope effect)</a:t>
            </a: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평가대상이 되는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환경재의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수량이나 단위의 차이를 응답자가 제대로 인식하지 못하여 발생하는 문제</a:t>
            </a:r>
          </a:p>
          <a:p>
            <a:pPr lvl="2" eaLnBrk="1" hangingPunct="1"/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4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대강 전체의 수질개선 편익 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vs 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낙동강만의 수질개선 편익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② </a:t>
            </a:r>
            <a:r>
              <a:rPr lang="ko-KR" altLang="en-US" sz="2800" dirty="0" err="1">
                <a:latin typeface="나눔명조" pitchFamily="18" charset="-127"/>
                <a:ea typeface="나눔명조" pitchFamily="18" charset="-127"/>
              </a:rPr>
              <a:t>순서효과</a:t>
            </a:r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(sequencing effect)</a:t>
            </a: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하나의 설문에서 여러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환경재의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가치를 평가할 때 동일한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환경재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가치가 설문지의 앞쪽에서 질문하느냐 나중에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질문하느냐에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따라 서로 다른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응답결과가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나타날 수 있음</a:t>
            </a:r>
          </a:p>
        </p:txBody>
      </p:sp>
      <p:sp>
        <p:nvSpPr>
          <p:cNvPr id="44036" name="바닥글 개체 틀 4">
            <a:extLst>
              <a:ext uri="{FF2B5EF4-FFF2-40B4-BE49-F238E27FC236}">
                <a16:creationId xmlns:a16="http://schemas.microsoft.com/office/drawing/2014/main" id="{93B726C5-EDF3-41CF-8BEF-137D80498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44037" name="슬라이드 번호 개체 틀 5">
            <a:extLst>
              <a:ext uri="{FF2B5EF4-FFF2-40B4-BE49-F238E27FC236}">
                <a16:creationId xmlns:a16="http://schemas.microsoft.com/office/drawing/2014/main" id="{4E7D271A-A223-44EC-A027-D54F92B06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3DDF8AE-1E3A-47DF-8175-521563888887}" type="slidenum">
              <a:rPr lang="ko-KR" altLang="en-US" sz="1200" b="0">
                <a:solidFill>
                  <a:schemeClr val="tx1"/>
                </a:solidFill>
              </a:rPr>
              <a:pPr/>
              <a:t>31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4038" name="Rectangle 2">
            <a:extLst>
              <a:ext uri="{FF2B5EF4-FFF2-40B4-BE49-F238E27FC236}">
                <a16:creationId xmlns:a16="http://schemas.microsoft.com/office/drawing/2014/main" id="{BCAA3306-3FEA-41B2-914B-9CA9CBB7C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4039" name="Rectangle 3">
            <a:extLst>
              <a:ext uri="{FF2B5EF4-FFF2-40B4-BE49-F238E27FC236}">
                <a16:creationId xmlns:a16="http://schemas.microsoft.com/office/drawing/2014/main" id="{29549B00-A80A-4B03-94A1-E4B18C225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6">
            <a:extLst>
              <a:ext uri="{FF2B5EF4-FFF2-40B4-BE49-F238E27FC236}">
                <a16:creationId xmlns:a16="http://schemas.microsoft.com/office/drawing/2014/main" id="{C7A0AA80-25C7-4413-B1C2-39666957F1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포함효과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(embedding)</a:t>
            </a:r>
          </a:p>
        </p:txBody>
      </p:sp>
      <p:sp>
        <p:nvSpPr>
          <p:cNvPr id="45059" name="Rectangle 7">
            <a:extLst>
              <a:ext uri="{FF2B5EF4-FFF2-40B4-BE49-F238E27FC236}">
                <a16:creationId xmlns:a16="http://schemas.microsoft.com/office/drawing/2014/main" id="{3CD51528-A17C-4CD9-B894-97F0109E67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1420813"/>
            <a:ext cx="7493000" cy="46910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③ </a:t>
            </a:r>
            <a:r>
              <a:rPr lang="ko-KR" altLang="en-US" sz="2800" dirty="0" err="1">
                <a:latin typeface="나눔명조" pitchFamily="18" charset="-127"/>
                <a:ea typeface="나눔명조" pitchFamily="18" charset="-127"/>
              </a:rPr>
              <a:t>합산문제</a:t>
            </a:r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(adding-up problem)</a:t>
            </a: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반달곰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마리의 가치를 평가하여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100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배 하는 경우의 가치가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반달곰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100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마리의 가치를 한꺼번에 평가할 경우에 비해 훨씬 큼</a:t>
            </a:r>
            <a:endParaRPr lang="ko-KR" altLang="en-US" sz="2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④ </a:t>
            </a:r>
            <a:r>
              <a:rPr lang="ko-KR" altLang="en-US" sz="2800" dirty="0" err="1">
                <a:latin typeface="나눔명조" pitchFamily="18" charset="-127"/>
                <a:ea typeface="나눔명조" pitchFamily="18" charset="-127"/>
              </a:rPr>
              <a:t>유사이타심</a:t>
            </a:r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(warm glow), 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도덕적 만족감</a:t>
            </a:r>
            <a:endParaRPr lang="en-US" altLang="ko-KR" sz="2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카네만과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크네치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en-US" altLang="ko-KR" sz="2400" dirty="0" err="1">
                <a:latin typeface="나눔명조" pitchFamily="18" charset="-127"/>
                <a:ea typeface="나눔명조" pitchFamily="18" charset="-127"/>
              </a:rPr>
              <a:t>Kahneman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 and </a:t>
            </a:r>
            <a:r>
              <a:rPr lang="en-US" altLang="ko-KR" sz="2400" dirty="0" err="1">
                <a:latin typeface="나눔명조" pitchFamily="18" charset="-127"/>
                <a:ea typeface="나눔명조" pitchFamily="18" charset="-127"/>
              </a:rPr>
              <a:t>Knetsch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1992)</a:t>
            </a: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응답자가 실제로 평가하는 것은 재화나 서비스의 경제적 가치가 아니라 환경보호와 같은 사업에 대해 지원의사를 표시한다는 사실로부터 얻는 도덕적 만족감의 가치임</a:t>
            </a:r>
          </a:p>
        </p:txBody>
      </p:sp>
      <p:sp>
        <p:nvSpPr>
          <p:cNvPr id="45060" name="바닥글 개체 틀 4">
            <a:extLst>
              <a:ext uri="{FF2B5EF4-FFF2-40B4-BE49-F238E27FC236}">
                <a16:creationId xmlns:a16="http://schemas.microsoft.com/office/drawing/2014/main" id="{500681A1-B6DA-47C8-B410-52D4084B5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45061" name="슬라이드 번호 개체 틀 5">
            <a:extLst>
              <a:ext uri="{FF2B5EF4-FFF2-40B4-BE49-F238E27FC236}">
                <a16:creationId xmlns:a16="http://schemas.microsoft.com/office/drawing/2014/main" id="{F1064DBF-EA07-4819-B504-51EA2DFD3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53248470-ED8C-4062-B7F8-74B5203B8013}" type="slidenum">
              <a:rPr lang="ko-KR" altLang="en-US" sz="1200" b="0">
                <a:solidFill>
                  <a:schemeClr val="tx1"/>
                </a:solidFill>
              </a:rPr>
              <a:pPr/>
              <a:t>32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5062" name="Rectangle 2">
            <a:extLst>
              <a:ext uri="{FF2B5EF4-FFF2-40B4-BE49-F238E27FC236}">
                <a16:creationId xmlns:a16="http://schemas.microsoft.com/office/drawing/2014/main" id="{02A093AC-5125-47EC-A3A6-7D5E67093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5063" name="Rectangle 3">
            <a:extLst>
              <a:ext uri="{FF2B5EF4-FFF2-40B4-BE49-F238E27FC236}">
                <a16:creationId xmlns:a16="http://schemas.microsoft.com/office/drawing/2014/main" id="{D95D1827-D715-4837-95F8-C0924464E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6">
            <a:extLst>
              <a:ext uri="{FF2B5EF4-FFF2-40B4-BE49-F238E27FC236}">
                <a16:creationId xmlns:a16="http://schemas.microsoft.com/office/drawing/2014/main" id="{AF82FD6F-E49A-41A5-8C18-BF9DEEA71D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577137" cy="1143000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포함효과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(embedding)</a:t>
            </a:r>
          </a:p>
        </p:txBody>
      </p:sp>
      <p:sp>
        <p:nvSpPr>
          <p:cNvPr id="43011" name="Rectangle 7">
            <a:extLst>
              <a:ext uri="{FF2B5EF4-FFF2-40B4-BE49-F238E27FC236}">
                <a16:creationId xmlns:a16="http://schemas.microsoft.com/office/drawing/2014/main" id="{F097B1A1-23FC-4B9D-9C6F-559936CC7F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1519238"/>
            <a:ext cx="7493000" cy="4691062"/>
          </a:xfrm>
        </p:spPr>
        <p:txBody>
          <a:bodyPr/>
          <a:lstStyle/>
          <a:p>
            <a:pPr eaLnBrk="1" hangingPunct="1"/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CVM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을 옹호하는 학자들은 </a:t>
            </a:r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포함효과가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CVM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의 타당성을 저해하지 않는다고 주장함</a:t>
            </a:r>
          </a:p>
          <a:p>
            <a:pPr lvl="1" eaLnBrk="1" hangingPunct="1"/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순서효과와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합산문제는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환경재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간의 대체 및 보완관계에 의해 나타나는 자연스러운 현상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설문지가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평가대상의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범위를 명확히 전달할 수 있으면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범위효과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문제도 상당히 감소시킬 수 있음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해리슨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(Harrison, 1992)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은 도덕적 만족감은 효용의 다른 이름이며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응답자는 도덕적 만족감을 포함하는 자신의 효용을 극대화한다고 주장함</a:t>
            </a:r>
          </a:p>
        </p:txBody>
      </p:sp>
      <p:sp>
        <p:nvSpPr>
          <p:cNvPr id="43012" name="바닥글 개체 틀 4">
            <a:extLst>
              <a:ext uri="{FF2B5EF4-FFF2-40B4-BE49-F238E27FC236}">
                <a16:creationId xmlns:a16="http://schemas.microsoft.com/office/drawing/2014/main" id="{29FD57C8-05C1-489B-8CB6-9B5F3D2EF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43013" name="슬라이드 번호 개체 틀 5">
            <a:extLst>
              <a:ext uri="{FF2B5EF4-FFF2-40B4-BE49-F238E27FC236}">
                <a16:creationId xmlns:a16="http://schemas.microsoft.com/office/drawing/2014/main" id="{3E3D353D-506B-4935-B4E7-6D78C754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9151649A-4F96-4278-B564-B915193FB465}" type="slidenum">
              <a:rPr lang="ko-KR" altLang="en-US" sz="1200" b="0">
                <a:solidFill>
                  <a:schemeClr val="tx1"/>
                </a:solidFill>
              </a:rPr>
              <a:pPr/>
              <a:t>33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3014" name="Rectangle 2">
            <a:extLst>
              <a:ext uri="{FF2B5EF4-FFF2-40B4-BE49-F238E27FC236}">
                <a16:creationId xmlns:a16="http://schemas.microsoft.com/office/drawing/2014/main" id="{513B4834-3CE9-4157-A9E1-12CFE8241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3015" name="Rectangle 3">
            <a:extLst>
              <a:ext uri="{FF2B5EF4-FFF2-40B4-BE49-F238E27FC236}">
                <a16:creationId xmlns:a16="http://schemas.microsoft.com/office/drawing/2014/main" id="{54B1303F-F00B-4D89-BC30-B8EE80E4B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7993940"/>
      </p:ext>
    </p:extLst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6">
            <a:extLst>
              <a:ext uri="{FF2B5EF4-FFF2-40B4-BE49-F238E27FC236}">
                <a16:creationId xmlns:a16="http://schemas.microsoft.com/office/drawing/2014/main" id="{7ACF051A-6F2F-40C5-A472-A923AC42C9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전략적 편의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6083" name="Rectangle 7">
            <a:extLst>
              <a:ext uri="{FF2B5EF4-FFF2-40B4-BE49-F238E27FC236}">
                <a16:creationId xmlns:a16="http://schemas.microsoft.com/office/drawing/2014/main" id="{82BD0ED7-E7A6-4CAE-93F3-2405A63B95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2" y="1519238"/>
            <a:ext cx="7552225" cy="4691062"/>
          </a:xfrm>
        </p:spPr>
        <p:txBody>
          <a:bodyPr/>
          <a:lstStyle/>
          <a:p>
            <a:pPr eaLnBrk="1" hangingPunct="1"/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응답자는 설문조사결과에 기초하여 시행되는 정책이 자신에게 유리한 방향으로 전개되도록 하기 위해 자신의 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CS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전략적으로 왜곡하여 응답할 가능성이 있음</a:t>
            </a:r>
          </a:p>
          <a:p>
            <a:pPr eaLnBrk="1" hangingPunct="1"/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시행된 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CVM 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분석결과에 전략적 편의가 어느 정도 개입되어 있는지를 파악하기 위한 방법</a:t>
            </a: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응답자를 두 그룹으로 나눈 뒤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한 그룹에 대해서는 전략적으로 행동하고자 하는 동기를 많이 부여하고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나머지 그룹에 대해서는 전략적으로 행동할 유인을 주지 않은 뒤 두 그룹의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CS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비교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많은 연구는 의외로 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CVM 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설문 응답자의 전략적 행위가 분석 결과에 영향을 미칠 만큼 심각하지 않다는 결론을 내리고 있음</a:t>
            </a:r>
            <a:endParaRPr lang="en-US" altLang="ko-KR" sz="22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공공재 관련 이론의 전제와 달리 응답자가 전략적으로 행동하기 위해서는 어느 정도의 비용을 지불해야 함</a:t>
            </a:r>
          </a:p>
        </p:txBody>
      </p:sp>
      <p:sp>
        <p:nvSpPr>
          <p:cNvPr id="46084" name="바닥글 개체 틀 4">
            <a:extLst>
              <a:ext uri="{FF2B5EF4-FFF2-40B4-BE49-F238E27FC236}">
                <a16:creationId xmlns:a16="http://schemas.microsoft.com/office/drawing/2014/main" id="{1F571A3B-D340-4AC3-BA9C-9C53064E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46085" name="슬라이드 번호 개체 틀 5">
            <a:extLst>
              <a:ext uri="{FF2B5EF4-FFF2-40B4-BE49-F238E27FC236}">
                <a16:creationId xmlns:a16="http://schemas.microsoft.com/office/drawing/2014/main" id="{0DAA310D-81A6-418A-B45D-32E0C02B9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BE89082C-DA8E-4698-A64E-B04776866724}" type="slidenum">
              <a:rPr lang="ko-KR" altLang="en-US" sz="1200" b="0">
                <a:solidFill>
                  <a:schemeClr val="tx1"/>
                </a:solidFill>
              </a:rPr>
              <a:pPr/>
              <a:t>34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6" name="Rectangle 2">
            <a:extLst>
              <a:ext uri="{FF2B5EF4-FFF2-40B4-BE49-F238E27FC236}">
                <a16:creationId xmlns:a16="http://schemas.microsoft.com/office/drawing/2014/main" id="{C5340BF9-E25C-4F08-9BD3-D2FB94E3C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3">
            <a:extLst>
              <a:ext uri="{FF2B5EF4-FFF2-40B4-BE49-F238E27FC236}">
                <a16:creationId xmlns:a16="http://schemas.microsoft.com/office/drawing/2014/main" id="{013DB07A-3034-42B0-A52C-B6182E9CA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28">
            <a:extLst>
              <a:ext uri="{FF2B5EF4-FFF2-40B4-BE49-F238E27FC236}">
                <a16:creationId xmlns:a16="http://schemas.microsoft.com/office/drawing/2014/main" id="{D122E0A8-A8E5-46BF-97CA-A78026462F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00127" y="382100"/>
            <a:ext cx="5851769" cy="11430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전략적 편의의 검증</a:t>
            </a:r>
            <a:b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: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보옴</a:t>
            </a: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(Bohm, 1972)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의 실험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7107" name="Rectangle 1029">
            <a:extLst>
              <a:ext uri="{FF2B5EF4-FFF2-40B4-BE49-F238E27FC236}">
                <a16:creationId xmlns:a16="http://schemas.microsoft.com/office/drawing/2014/main" id="{F9B9B856-9A54-44F6-ACFF-06D84EB064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68400" y="1968500"/>
            <a:ext cx="7515225" cy="4114800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공공재 수요에 있어 발생하는 무임승차 </a:t>
            </a:r>
            <a:r>
              <a:rPr lang="ko-KR" altLang="en-US" sz="2800" dirty="0" err="1">
                <a:latin typeface="나눔명조" pitchFamily="18" charset="-127"/>
                <a:ea typeface="나눔명조" pitchFamily="18" charset="-127"/>
              </a:rPr>
              <a:t>욕구문제를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 실험을 통해 분석한 연구</a:t>
            </a: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스톡홀름 시의 성인들을 대상으로 참가자들에게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50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크로나의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수고비를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지불하고 사람들을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5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개 집단으로 나눔</a:t>
            </a: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당시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TV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방송국에서 만든 인기 있는 특집프로그램을 특별히 시청하는 기회를 얻기 위해 자신이 지불하고자 하는 금액이 얼마인지를 써내도록 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7108" name="바닥글 개체 틀 4">
            <a:extLst>
              <a:ext uri="{FF2B5EF4-FFF2-40B4-BE49-F238E27FC236}">
                <a16:creationId xmlns:a16="http://schemas.microsoft.com/office/drawing/2014/main" id="{9A271A76-8003-415E-9E48-0E35056C5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47109" name="슬라이드 번호 개체 틀 5">
            <a:extLst>
              <a:ext uri="{FF2B5EF4-FFF2-40B4-BE49-F238E27FC236}">
                <a16:creationId xmlns:a16="http://schemas.microsoft.com/office/drawing/2014/main" id="{77470EE4-E667-4CF1-B4E1-CDA8D4B22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E2F589C-E4CE-4742-A6E0-272D9326EAA7}" type="slidenum">
              <a:rPr lang="ko-KR" altLang="en-US" sz="1200" b="0">
                <a:solidFill>
                  <a:schemeClr val="tx1"/>
                </a:solidFill>
              </a:rPr>
              <a:pPr/>
              <a:t>35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1029">
            <a:extLst>
              <a:ext uri="{FF2B5EF4-FFF2-40B4-BE49-F238E27FC236}">
                <a16:creationId xmlns:a16="http://schemas.microsoft.com/office/drawing/2014/main" id="{B77555F8-76A9-4904-A51C-CE3C385396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68400" y="1827213"/>
            <a:ext cx="7515225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어떤 집단에 소속된 사람들이 써낸 금액의 총액이 사전에 정한 금액을 상회할 경우 이 집단에 속한 모든 사람들이 프로그램을 볼 수 있음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적어낸 금액 합이 기준을 상회하여 시청이 허용될 때 각 개인이 부담하는 비용은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집단별로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다른 방식에 의해 정해짐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집단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1: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자신이 써낸 금액을 실제로 비용으로 지불  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집단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2: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자신이 적어낸 금액과 비례하도록 조정된 금액을 비용으로 지불 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집단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3: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제비뽑기하여 이 집단의 총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지불금액을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각 개인에게 배분  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집단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4: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적어 낸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지불의사와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상관없이 일률적으로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5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크로나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지불  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집단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5: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시청이 허용되어도 실제로는 비용을 지불하지 않음</a:t>
            </a:r>
          </a:p>
          <a:p>
            <a:pPr eaLnBrk="1" hangingPunct="1"/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8132" name="바닥글 개체 틀 4">
            <a:extLst>
              <a:ext uri="{FF2B5EF4-FFF2-40B4-BE49-F238E27FC236}">
                <a16:creationId xmlns:a16="http://schemas.microsoft.com/office/drawing/2014/main" id="{48C47384-9AFC-401B-AE0B-AA8B77B52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48133" name="슬라이드 번호 개체 틀 5">
            <a:extLst>
              <a:ext uri="{FF2B5EF4-FFF2-40B4-BE49-F238E27FC236}">
                <a16:creationId xmlns:a16="http://schemas.microsoft.com/office/drawing/2014/main" id="{4CDEFC03-7CBE-43BE-98B9-C283B02D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DF141C1A-4B82-473E-8A77-F6842F7BF784}" type="slidenum">
              <a:rPr lang="ko-KR" altLang="en-US" sz="1200" b="0">
                <a:solidFill>
                  <a:schemeClr val="tx1"/>
                </a:solidFill>
              </a:rPr>
              <a:pPr/>
              <a:t>36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8" name="Rectangle 1028">
            <a:extLst>
              <a:ext uri="{FF2B5EF4-FFF2-40B4-BE49-F238E27FC236}">
                <a16:creationId xmlns:a16="http://schemas.microsoft.com/office/drawing/2014/main" id="{D122E0A8-A8E5-46BF-97CA-A78026462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127" y="382100"/>
            <a:ext cx="5851769" cy="1143000"/>
          </a:xfrm>
          <a:prstGeom prst="rect">
            <a:avLst/>
          </a:prstGeom>
          <a:noFill/>
          <a:ln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9pPr>
          </a:lstStyle>
          <a:p>
            <a:pPr eaLnBrk="1" hangingPunct="1"/>
            <a:r>
              <a:rPr lang="ko-KR" altLang="en-US" kern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전략적 편의의 검증</a:t>
            </a:r>
            <a:br>
              <a:rPr lang="en-US" altLang="ko-KR" kern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en-US" altLang="ko-KR" kern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: </a:t>
            </a:r>
            <a:r>
              <a:rPr lang="ko-KR" altLang="en-US" kern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보옴</a:t>
            </a:r>
            <a:r>
              <a:rPr lang="en-US" altLang="ko-KR" kern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(Bohm, 1972)</a:t>
            </a:r>
            <a:r>
              <a:rPr lang="ko-KR" altLang="en-US" kern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의 실험</a:t>
            </a:r>
            <a:endParaRPr lang="en-US" altLang="ko-KR" kern="0" dirty="0">
              <a:solidFill>
                <a:srgbClr val="7030A0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1029">
            <a:extLst>
              <a:ext uri="{FF2B5EF4-FFF2-40B4-BE49-F238E27FC236}">
                <a16:creationId xmlns:a16="http://schemas.microsoft.com/office/drawing/2014/main" id="{FD72BE95-6870-4E71-9CDF-1FA2DFC470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71575" y="1681878"/>
            <a:ext cx="7515225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각 집단에 속한 개인들은 자기가 속한 집단의 구성원들에 대해 어떤 방식으로 비용이 징수될지를 모두 알고 있음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집단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과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2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의 구성원들은 자신이 적어내는 금액과 비례하도록 실제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지불금액이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결정되기 때문에 무임승차 욕구를 가질 것임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집단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3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의 구성원들은 지불해야 할 비용을 사전에 알지 못하므로 전략적으로 행동할 유인을 가지지 못함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집단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4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와 집단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5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의 구성원은 지불할 비용이 일률적으로 결정되므로 많은 금액을 적어내어 일단 시청을 하고자 할 것임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집단 별 평균 지불의사에서 통계적으로 의미 있는 정도의 차이가 발견되지 않음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7.6 / 8.8 / 7.3 / 7.7 / 8.8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적어도 이 실험에서는 공공재 수요 도출에 전략적 행위가 개입되지 않았음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전략적 행동에도 일종의 비용이 수반될 가능성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9156" name="바닥글 개체 틀 4">
            <a:extLst>
              <a:ext uri="{FF2B5EF4-FFF2-40B4-BE49-F238E27FC236}">
                <a16:creationId xmlns:a16="http://schemas.microsoft.com/office/drawing/2014/main" id="{FAD25B10-5ADE-49FE-851C-0DDD1CEA2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49157" name="슬라이드 번호 개체 틀 5">
            <a:extLst>
              <a:ext uri="{FF2B5EF4-FFF2-40B4-BE49-F238E27FC236}">
                <a16:creationId xmlns:a16="http://schemas.microsoft.com/office/drawing/2014/main" id="{4EFF3516-99D3-4A16-95CD-B75E29408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79287E7-9C0B-4889-A9C4-D1860D148FE9}" type="slidenum">
              <a:rPr lang="ko-KR" altLang="en-US" sz="1200" b="0">
                <a:solidFill>
                  <a:schemeClr val="tx1"/>
                </a:solidFill>
              </a:rPr>
              <a:pPr/>
              <a:t>37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7" name="Rectangle 1028">
            <a:extLst>
              <a:ext uri="{FF2B5EF4-FFF2-40B4-BE49-F238E27FC236}">
                <a16:creationId xmlns:a16="http://schemas.microsoft.com/office/drawing/2014/main" id="{D122E0A8-A8E5-46BF-97CA-A78026462F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00127" y="382100"/>
            <a:ext cx="5851769" cy="11430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전략적 편의의 검증</a:t>
            </a:r>
            <a:b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: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보옴</a:t>
            </a: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(Bohm, 1972)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의 실험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6">
            <a:extLst>
              <a:ext uri="{FF2B5EF4-FFF2-40B4-BE49-F238E27FC236}">
                <a16:creationId xmlns:a16="http://schemas.microsoft.com/office/drawing/2014/main" id="{0BEA00E6-BB9D-4B26-A32C-36AA1AC373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505700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가설편의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(hypothetical bias)</a:t>
            </a:r>
          </a:p>
        </p:txBody>
      </p:sp>
      <p:sp>
        <p:nvSpPr>
          <p:cNvPr id="50179" name="Rectangle 7">
            <a:extLst>
              <a:ext uri="{FF2B5EF4-FFF2-40B4-BE49-F238E27FC236}">
                <a16:creationId xmlns:a16="http://schemas.microsoft.com/office/drawing/2014/main" id="{26240948-5EFE-4324-8C0E-49084750DE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7900" y="1143000"/>
            <a:ext cx="7493000" cy="4691062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응답자가 설문지가 설정한 가상적 상황이 실제로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발생할지에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대해 회의적일 경우 응답하는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CS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역시 비현실적인 금액이 될 가능성이 있음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(=</a:t>
            </a:r>
            <a:r>
              <a:rPr lang="ko-KR" alt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가설편의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설문지가 제시하는 상황이 실제로 발생한다면 설문응답과는 다른 선택을 할 가능성이 있음</a:t>
            </a:r>
          </a:p>
          <a:p>
            <a:pPr lvl="1" eaLnBrk="1" hangingPunct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CVM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분석이 가질 수 있는 오류 중 가장 심각한 문제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CVM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분석에 있어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가설편의가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어느 정도로 나타나는지 검증하는 연구</a:t>
            </a:r>
          </a:p>
          <a:p>
            <a:pPr lvl="1" eaLnBrk="1" hangingPunct="1"/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보옴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(Bohm, 1972)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실험에는 사실 여섯 번째 집단이 있었음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집단에게는 순전히 가상적인 상황에서 프로그램에 대한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지불의사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물음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응답결과와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관계 없이 실제 시청은 안함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 </a:t>
            </a:r>
            <a:endParaRPr lang="ko-KR" altLang="en-US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여섯 번째 집단의 평균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지불의사는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나머지 집단의 평균 지불의사보다 통계적으로 유의미한 정도로 더 높았음</a:t>
            </a:r>
          </a:p>
          <a:p>
            <a:pPr eaLnBrk="1" hangingPunct="1"/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0180" name="바닥글 개체 틀 4">
            <a:extLst>
              <a:ext uri="{FF2B5EF4-FFF2-40B4-BE49-F238E27FC236}">
                <a16:creationId xmlns:a16="http://schemas.microsoft.com/office/drawing/2014/main" id="{923DCE3C-705B-44D2-8BED-3B99BD51C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50181" name="슬라이드 번호 개체 틀 5">
            <a:extLst>
              <a:ext uri="{FF2B5EF4-FFF2-40B4-BE49-F238E27FC236}">
                <a16:creationId xmlns:a16="http://schemas.microsoft.com/office/drawing/2014/main" id="{8D4309A8-B6C0-4559-86FE-D9A8A052C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4EAAA1AF-3E64-4013-99EB-23C47861D1FA}" type="slidenum">
              <a:rPr lang="ko-KR" altLang="en-US" sz="1200" b="0">
                <a:solidFill>
                  <a:schemeClr val="tx1"/>
                </a:solidFill>
              </a:rPr>
              <a:pPr/>
              <a:t>38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0182" name="Rectangle 2">
            <a:extLst>
              <a:ext uri="{FF2B5EF4-FFF2-40B4-BE49-F238E27FC236}">
                <a16:creationId xmlns:a16="http://schemas.microsoft.com/office/drawing/2014/main" id="{4D27107A-9ED1-42FA-97FE-D5BD1BD19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0183" name="Rectangle 3">
            <a:extLst>
              <a:ext uri="{FF2B5EF4-FFF2-40B4-BE49-F238E27FC236}">
                <a16:creationId xmlns:a16="http://schemas.microsoft.com/office/drawing/2014/main" id="{09A9142B-76FA-4E60-AEB3-5428CE186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6">
            <a:extLst>
              <a:ext uri="{FF2B5EF4-FFF2-40B4-BE49-F238E27FC236}">
                <a16:creationId xmlns:a16="http://schemas.microsoft.com/office/drawing/2014/main" id="{0BEA00E6-BB9D-4B26-A32C-36AA1AC373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505700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가설편의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(hypothetical bias)</a:t>
            </a:r>
          </a:p>
        </p:txBody>
      </p:sp>
      <p:sp>
        <p:nvSpPr>
          <p:cNvPr id="50179" name="Rectangle 7">
            <a:extLst>
              <a:ext uri="{FF2B5EF4-FFF2-40B4-BE49-F238E27FC236}">
                <a16:creationId xmlns:a16="http://schemas.microsoft.com/office/drawing/2014/main" id="{26240948-5EFE-4324-8C0E-49084750DE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1519238"/>
            <a:ext cx="7493000" cy="4691062"/>
          </a:xfrm>
        </p:spPr>
        <p:txBody>
          <a:bodyPr/>
          <a:lstStyle/>
          <a:p>
            <a:pPr eaLnBrk="1" hangingPunct="1"/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카슨과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그로브스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(Carson and Groves, 2007)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은 설문조사가 유인일치성과 실효성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(consequentiality)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을 가져야 한다고 함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전략적 응답이 가능하고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가설편의도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개입된 설문조사에서 응답자는 실제 지불 가능성을 낮게 느끼고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무임승차욕구를 가져 지나치게 높은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지불의사를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밝힐 가능성이 있음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유인일치성은 전략적 행동을 방지하는 특성이며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투표모형을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활용한 분석법의 개발로 크게 개선됨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실효성은 설문조사에서 응답자의 응답이 결국 자신의 후생을 실제로 바꾸게 될 것이라 믿도록 해야함을 의미함 </a:t>
            </a:r>
          </a:p>
        </p:txBody>
      </p:sp>
      <p:sp>
        <p:nvSpPr>
          <p:cNvPr id="50180" name="바닥글 개체 틀 4">
            <a:extLst>
              <a:ext uri="{FF2B5EF4-FFF2-40B4-BE49-F238E27FC236}">
                <a16:creationId xmlns:a16="http://schemas.microsoft.com/office/drawing/2014/main" id="{923DCE3C-705B-44D2-8BED-3B99BD51C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50181" name="슬라이드 번호 개체 틀 5">
            <a:extLst>
              <a:ext uri="{FF2B5EF4-FFF2-40B4-BE49-F238E27FC236}">
                <a16:creationId xmlns:a16="http://schemas.microsoft.com/office/drawing/2014/main" id="{8D4309A8-B6C0-4559-86FE-D9A8A052C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4EAAA1AF-3E64-4013-99EB-23C47861D1FA}" type="slidenum">
              <a:rPr lang="ko-KR" altLang="en-US" sz="1200" b="0">
                <a:solidFill>
                  <a:schemeClr val="tx1"/>
                </a:solidFill>
              </a:rPr>
              <a:pPr/>
              <a:t>39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0182" name="Rectangle 2">
            <a:extLst>
              <a:ext uri="{FF2B5EF4-FFF2-40B4-BE49-F238E27FC236}">
                <a16:creationId xmlns:a16="http://schemas.microsoft.com/office/drawing/2014/main" id="{4D27107A-9ED1-42FA-97FE-D5BD1BD19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0183" name="Rectangle 3">
            <a:extLst>
              <a:ext uri="{FF2B5EF4-FFF2-40B4-BE49-F238E27FC236}">
                <a16:creationId xmlns:a16="http://schemas.microsoft.com/office/drawing/2014/main" id="{09A9142B-76FA-4E60-AEB3-5428CE186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0651009"/>
      </p:ext>
    </p:extLst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6">
            <a:extLst>
              <a:ext uri="{FF2B5EF4-FFF2-40B4-BE49-F238E27FC236}">
                <a16:creationId xmlns:a16="http://schemas.microsoft.com/office/drawing/2014/main" id="{0BEA00E6-BB9D-4B26-A32C-36AA1AC373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505700" cy="1143000"/>
          </a:xfrm>
        </p:spPr>
        <p:txBody>
          <a:bodyPr/>
          <a:lstStyle/>
          <a:p>
            <a:pPr eaLnBrk="1" hangingPunct="1"/>
            <a:b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가설편의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(hypothetical bias)</a:t>
            </a:r>
          </a:p>
        </p:txBody>
      </p:sp>
      <p:sp>
        <p:nvSpPr>
          <p:cNvPr id="50179" name="Rectangle 7">
            <a:extLst>
              <a:ext uri="{FF2B5EF4-FFF2-40B4-BE49-F238E27FC236}">
                <a16:creationId xmlns:a16="http://schemas.microsoft.com/office/drawing/2014/main" id="{26240948-5EFE-4324-8C0E-49084750DE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1519238"/>
            <a:ext cx="7493000" cy="4691062"/>
          </a:xfrm>
        </p:spPr>
        <p:txBody>
          <a:bodyPr/>
          <a:lstStyle/>
          <a:p>
            <a:pPr eaLnBrk="1" hangingPunct="1"/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보슬러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외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</a:t>
            </a:r>
            <a:r>
              <a:rPr lang="en-US" altLang="ko-KR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Vossler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et al., 2012)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는 다음 네 가지 조건이 충족되면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투표모형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CVM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은 실효성과 유인일치성을 모두 갖춘다는 것을 게임이론을 활용해 증명함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환경개선사업의 결과가 응답자의 이해관계에 영향을 미칠 것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환경개선이 이루어질 경우 실제로 대가를 지불하게 하는 수단이 있을 것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단일 환경개선사업에 대한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‘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/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아니오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’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응답을 도출할 것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응답의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‘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‘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비율이 높을수록 환경개선사업이 실행될 확률이 실제로 증가할 것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50180" name="바닥글 개체 틀 4">
            <a:extLst>
              <a:ext uri="{FF2B5EF4-FFF2-40B4-BE49-F238E27FC236}">
                <a16:creationId xmlns:a16="http://schemas.microsoft.com/office/drawing/2014/main" id="{923DCE3C-705B-44D2-8BED-3B99BD51C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50181" name="슬라이드 번호 개체 틀 5">
            <a:extLst>
              <a:ext uri="{FF2B5EF4-FFF2-40B4-BE49-F238E27FC236}">
                <a16:creationId xmlns:a16="http://schemas.microsoft.com/office/drawing/2014/main" id="{8D4309A8-B6C0-4559-86FE-D9A8A052C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4EAAA1AF-3E64-4013-99EB-23C47861D1FA}" type="slidenum">
              <a:rPr lang="ko-KR" altLang="en-US" sz="1200" b="0">
                <a:solidFill>
                  <a:schemeClr val="tx1"/>
                </a:solidFill>
              </a:rPr>
              <a:pPr/>
              <a:t>40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0182" name="Rectangle 2">
            <a:extLst>
              <a:ext uri="{FF2B5EF4-FFF2-40B4-BE49-F238E27FC236}">
                <a16:creationId xmlns:a16="http://schemas.microsoft.com/office/drawing/2014/main" id="{4D27107A-9ED1-42FA-97FE-D5BD1BD19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0183" name="Rectangle 3">
            <a:extLst>
              <a:ext uri="{FF2B5EF4-FFF2-40B4-BE49-F238E27FC236}">
                <a16:creationId xmlns:a16="http://schemas.microsoft.com/office/drawing/2014/main" id="{09A9142B-76FA-4E60-AEB3-5428CE186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5908258"/>
      </p:ext>
    </p:extLst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6">
            <a:extLst>
              <a:ext uri="{FF2B5EF4-FFF2-40B4-BE49-F238E27FC236}">
                <a16:creationId xmlns:a16="http://schemas.microsoft.com/office/drawing/2014/main" id="{0BEA00E6-BB9D-4B26-A32C-36AA1AC373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505700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가설편의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(hypothetical bias)</a:t>
            </a:r>
          </a:p>
        </p:txBody>
      </p:sp>
      <p:sp>
        <p:nvSpPr>
          <p:cNvPr id="50179" name="Rectangle 7">
            <a:extLst>
              <a:ext uri="{FF2B5EF4-FFF2-40B4-BE49-F238E27FC236}">
                <a16:creationId xmlns:a16="http://schemas.microsoft.com/office/drawing/2014/main" id="{26240948-5EFE-4324-8C0E-49084750DE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1519238"/>
            <a:ext cx="7493000" cy="4691062"/>
          </a:xfrm>
        </p:spPr>
        <p:txBody>
          <a:bodyPr/>
          <a:lstStyle/>
          <a:p>
            <a:pPr eaLnBrk="1" hangingPunct="1"/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CVM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분석에서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가설편의가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어느 정도로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심각한지의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여부는 설문지의 실효성 정도에 따라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응답결과가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얼마나 변하는지를 검토하여 확인할 수 있음</a:t>
            </a:r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설문조사 시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응답결과의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중요도와 정책결정에 미치는 영향을 강조하는 문구 유무에 따른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응답결과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비교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모의시장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(simulated market)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실험과 같이 실효성을 가질 수밖에 없는 실제 상황에서의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지불행동과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순전히 가상적인 상황에서의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지불의사를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비교할 수도 있음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모의시장법과 진술선호법의 분석결과를 비교한 연구들은 대체로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가설편의의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개입으로 후자의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지불의사가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더 크다는 것을 보여줌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50180" name="바닥글 개체 틀 4">
            <a:extLst>
              <a:ext uri="{FF2B5EF4-FFF2-40B4-BE49-F238E27FC236}">
                <a16:creationId xmlns:a16="http://schemas.microsoft.com/office/drawing/2014/main" id="{923DCE3C-705B-44D2-8BED-3B99BD51C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50181" name="슬라이드 번호 개체 틀 5">
            <a:extLst>
              <a:ext uri="{FF2B5EF4-FFF2-40B4-BE49-F238E27FC236}">
                <a16:creationId xmlns:a16="http://schemas.microsoft.com/office/drawing/2014/main" id="{8D4309A8-B6C0-4559-86FE-D9A8A052C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4EAAA1AF-3E64-4013-99EB-23C47861D1FA}" type="slidenum">
              <a:rPr lang="ko-KR" altLang="en-US" sz="1200" b="0">
                <a:solidFill>
                  <a:schemeClr val="tx1"/>
                </a:solidFill>
              </a:rPr>
              <a:pPr/>
              <a:t>41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0182" name="Rectangle 2">
            <a:extLst>
              <a:ext uri="{FF2B5EF4-FFF2-40B4-BE49-F238E27FC236}">
                <a16:creationId xmlns:a16="http://schemas.microsoft.com/office/drawing/2014/main" id="{4D27107A-9ED1-42FA-97FE-D5BD1BD19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0183" name="Rectangle 3">
            <a:extLst>
              <a:ext uri="{FF2B5EF4-FFF2-40B4-BE49-F238E27FC236}">
                <a16:creationId xmlns:a16="http://schemas.microsoft.com/office/drawing/2014/main" id="{09A9142B-76FA-4E60-AEB3-5428CE186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6268197"/>
      </p:ext>
    </p:extLst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6">
            <a:extLst>
              <a:ext uri="{FF2B5EF4-FFF2-40B4-BE49-F238E27FC236}">
                <a16:creationId xmlns:a16="http://schemas.microsoft.com/office/drawing/2014/main" id="{6D0CA67F-FE27-40CD-9CFF-64907662D4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505700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설계편의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(design bias)</a:t>
            </a:r>
          </a:p>
        </p:txBody>
      </p:sp>
      <p:sp>
        <p:nvSpPr>
          <p:cNvPr id="51203" name="Rectangle 7">
            <a:extLst>
              <a:ext uri="{FF2B5EF4-FFF2-40B4-BE49-F238E27FC236}">
                <a16:creationId xmlns:a16="http://schemas.microsoft.com/office/drawing/2014/main" id="{1607C7A1-2897-4C82-8C95-DFE76F30A4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1519238"/>
            <a:ext cx="7493000" cy="4691062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응답자의 </a:t>
            </a:r>
            <a:r>
              <a:rPr lang="en-US" altLang="ko-KR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CS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는 </a:t>
            </a:r>
            <a:r>
              <a:rPr lang="ko-KR" altLang="en-US" sz="2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환경재에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관해 응답자가 어느 정도의 정보를 가지고 있느냐에 따라 달라짐</a:t>
            </a:r>
          </a:p>
          <a:p>
            <a:pPr eaLnBrk="1" hangingPunct="1"/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설문지가 평가대상이 되는 </a:t>
            </a:r>
            <a:r>
              <a:rPr lang="ko-KR" altLang="en-US" sz="2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환경재에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관해 충분한 정보를 전달하지 못하여 발생하는 오류를 </a:t>
            </a:r>
            <a:r>
              <a:rPr lang="ko-KR" alt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설계편의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혹은 </a:t>
            </a:r>
            <a:r>
              <a:rPr lang="ko-KR" alt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정보편의</a:t>
            </a:r>
            <a:r>
              <a:rPr lang="ko-KR" altLang="en-US" sz="2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라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부름</a:t>
            </a:r>
          </a:p>
          <a:p>
            <a:pPr eaLnBrk="1" hangingPunct="1"/>
            <a:r>
              <a:rPr lang="ko-KR" altLang="en-US" sz="2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설계편의를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줄이기 위해 사전설문조사를 통해 설문지를 개정하는 과정이 필요하며</a:t>
            </a:r>
            <a:r>
              <a:rPr lang="en-US" altLang="ko-KR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추가적인 질문을 통해 평가대상에 대한 응답자의 이해 정도를 확인하는 절차도 필요함</a:t>
            </a:r>
          </a:p>
        </p:txBody>
      </p:sp>
      <p:sp>
        <p:nvSpPr>
          <p:cNvPr id="51204" name="바닥글 개체 틀 4">
            <a:extLst>
              <a:ext uri="{FF2B5EF4-FFF2-40B4-BE49-F238E27FC236}">
                <a16:creationId xmlns:a16="http://schemas.microsoft.com/office/drawing/2014/main" id="{A261A05E-00B4-4EBE-823E-D1178320C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51205" name="슬라이드 번호 개체 틀 5">
            <a:extLst>
              <a:ext uri="{FF2B5EF4-FFF2-40B4-BE49-F238E27FC236}">
                <a16:creationId xmlns:a16="http://schemas.microsoft.com/office/drawing/2014/main" id="{DFA55CB7-F09A-470E-A24E-82410EA19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C889F94-9B09-41B9-9814-7678D49C49F7}" type="slidenum">
              <a:rPr lang="ko-KR" altLang="en-US" sz="1200" b="0">
                <a:solidFill>
                  <a:schemeClr val="tx1"/>
                </a:solidFill>
              </a:rPr>
              <a:pPr/>
              <a:t>42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1206" name="Rectangle 2">
            <a:extLst>
              <a:ext uri="{FF2B5EF4-FFF2-40B4-BE49-F238E27FC236}">
                <a16:creationId xmlns:a16="http://schemas.microsoft.com/office/drawing/2014/main" id="{7C35DEF0-A63F-49B8-B7F0-E2F67F2A1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1207" name="Rectangle 3">
            <a:extLst>
              <a:ext uri="{FF2B5EF4-FFF2-40B4-BE49-F238E27FC236}">
                <a16:creationId xmlns:a16="http://schemas.microsoft.com/office/drawing/2014/main" id="{98FE05EA-45B9-423F-AADE-E8D070C65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6">
            <a:extLst>
              <a:ext uri="{FF2B5EF4-FFF2-40B4-BE49-F238E27FC236}">
                <a16:creationId xmlns:a16="http://schemas.microsoft.com/office/drawing/2014/main" id="{B2864775-01C1-4C5A-8796-593C12235A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지불수단편의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(payment vehicle bias)</a:t>
            </a:r>
          </a:p>
        </p:txBody>
      </p:sp>
      <p:sp>
        <p:nvSpPr>
          <p:cNvPr id="52227" name="Rectangle 7">
            <a:extLst>
              <a:ext uri="{FF2B5EF4-FFF2-40B4-BE49-F238E27FC236}">
                <a16:creationId xmlns:a16="http://schemas.microsoft.com/office/drawing/2014/main" id="{AD550D34-3C55-4135-A109-E074498202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1519238"/>
            <a:ext cx="7493000" cy="4691062"/>
          </a:xfrm>
        </p:spPr>
        <p:txBody>
          <a:bodyPr/>
          <a:lstStyle/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지불수단편의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는 설문지가 설정한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환경재에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대한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지불수단이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비현실적이어서 발생하는 오류임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지불수단은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설문지에서 가장 중요한 부분 중 하나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1)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누가 지불하는지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2)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세금처럼 강제성을 지니는 지불인지 자발적인지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3)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지불빈도는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어떤지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4)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지불기간은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어떤지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5)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지불방식은 무엇인지 등이 분명히 설명되어야 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제시되는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지불수단은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환경개선사업이 시행될 경우 실제로 정부가 선택할 수 있는 비용징수방법과 가능한 한 일치해야 함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기부금처럼 스스로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납부여부나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납부금액을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결정할 수 있는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지불수단과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세금처럼 강제성을 지니는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지불수단에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대해서는 응답자들의 반응이 다를 수밖에 없음</a:t>
            </a:r>
          </a:p>
          <a:p>
            <a:pPr eaLnBrk="1" hangingPunct="1"/>
            <a:endParaRPr lang="ko-KR" altLang="en-US" sz="1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2228" name="바닥글 개체 틀 4">
            <a:extLst>
              <a:ext uri="{FF2B5EF4-FFF2-40B4-BE49-F238E27FC236}">
                <a16:creationId xmlns:a16="http://schemas.microsoft.com/office/drawing/2014/main" id="{8C264AD3-7791-4B35-BF67-8E2716041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52229" name="슬라이드 번호 개체 틀 5">
            <a:extLst>
              <a:ext uri="{FF2B5EF4-FFF2-40B4-BE49-F238E27FC236}">
                <a16:creationId xmlns:a16="http://schemas.microsoft.com/office/drawing/2014/main" id="{D23501BF-E0F7-4C47-B55C-FA5051E2B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9B62C0A-4288-4CBC-A110-E672610A3A3D}" type="slidenum">
              <a:rPr lang="ko-KR" altLang="en-US" sz="1200" b="0">
                <a:solidFill>
                  <a:schemeClr val="tx1"/>
                </a:solidFill>
              </a:rPr>
              <a:pPr/>
              <a:t>43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2230" name="Rectangle 2">
            <a:extLst>
              <a:ext uri="{FF2B5EF4-FFF2-40B4-BE49-F238E27FC236}">
                <a16:creationId xmlns:a16="http://schemas.microsoft.com/office/drawing/2014/main" id="{37B962FB-F642-4675-A48A-0120DF17E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2231" name="Rectangle 3">
            <a:extLst>
              <a:ext uri="{FF2B5EF4-FFF2-40B4-BE49-F238E27FC236}">
                <a16:creationId xmlns:a16="http://schemas.microsoft.com/office/drawing/2014/main" id="{2EF1C1D8-3016-413B-BBD7-B61D9FE42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6">
            <a:extLst>
              <a:ext uri="{FF2B5EF4-FFF2-40B4-BE49-F238E27FC236}">
                <a16:creationId xmlns:a16="http://schemas.microsoft.com/office/drawing/2014/main" id="{7E8F5F9F-CB23-492E-8AD3-A87A8C25B5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무응답편의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(nonresponse bias)</a:t>
            </a:r>
          </a:p>
        </p:txBody>
      </p:sp>
      <p:sp>
        <p:nvSpPr>
          <p:cNvPr id="53251" name="Rectangle 7">
            <a:extLst>
              <a:ext uri="{FF2B5EF4-FFF2-40B4-BE49-F238E27FC236}">
                <a16:creationId xmlns:a16="http://schemas.microsoft.com/office/drawing/2014/main" id="{1D3B609B-A326-4F3A-B08B-ED977676A2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1519238"/>
            <a:ext cx="7493000" cy="4691062"/>
          </a:xfrm>
        </p:spPr>
        <p:txBody>
          <a:bodyPr/>
          <a:lstStyle/>
          <a:p>
            <a:pPr eaLnBrk="1" hangingPunct="1"/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CVM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분석을 위해 설문을 실행할 때 낮은 응답률로 인해 발생하는 문제</a:t>
            </a:r>
          </a:p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무응답편의는 크게 두 가지로 분류됨</a:t>
            </a:r>
          </a:p>
          <a:p>
            <a:pPr lvl="1" eaLnBrk="1" hangingPunct="1"/>
            <a:r>
              <a:rPr lang="ko-KR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표본무응답편의</a:t>
            </a:r>
            <a:r>
              <a:rPr lang="en-US" altLang="ko-KR" sz="20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(sample nonresponse bias)</a:t>
            </a:r>
          </a:p>
          <a:p>
            <a:pPr lvl="2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설문 무응답들로 인해 실제로 응답한 사람들의 개인특성 분포가 전국민의 특성 분포와는 다름</a:t>
            </a:r>
          </a:p>
          <a:p>
            <a:pPr lvl="2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: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전화조사나 면접조사 시 경제 활동하는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인 가구는  접촉하기 어려움</a:t>
            </a:r>
          </a:p>
          <a:p>
            <a:pPr lvl="1" eaLnBrk="1" hangingPunct="1"/>
            <a:r>
              <a:rPr lang="ko-KR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표본선택편의</a:t>
            </a:r>
            <a:r>
              <a:rPr lang="en-US" altLang="ko-KR" sz="20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(sample selection bias)</a:t>
            </a:r>
          </a:p>
          <a:p>
            <a:pPr lvl="2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실제 조사에 응하는 개인별 특성의 차이로부터 발생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2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: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환경재에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대해 비교적 높은 가치를 부여하는 사람이 그렇지 못한 사람에 비해 설문지에 응답을 하는 비율이 높을 것임</a:t>
            </a:r>
          </a:p>
        </p:txBody>
      </p:sp>
      <p:sp>
        <p:nvSpPr>
          <p:cNvPr id="53252" name="바닥글 개체 틀 4">
            <a:extLst>
              <a:ext uri="{FF2B5EF4-FFF2-40B4-BE49-F238E27FC236}">
                <a16:creationId xmlns:a16="http://schemas.microsoft.com/office/drawing/2014/main" id="{69518EC7-8796-4394-A682-54F0FA283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53253" name="슬라이드 번호 개체 틀 5">
            <a:extLst>
              <a:ext uri="{FF2B5EF4-FFF2-40B4-BE49-F238E27FC236}">
                <a16:creationId xmlns:a16="http://schemas.microsoft.com/office/drawing/2014/main" id="{87DFA33F-B85C-466B-8991-34C78A9D9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B8CB11F8-8FFD-4087-B13D-C16006B41096}" type="slidenum">
              <a:rPr lang="ko-KR" altLang="en-US" sz="1200" b="0">
                <a:solidFill>
                  <a:schemeClr val="tx1"/>
                </a:solidFill>
              </a:rPr>
              <a:pPr/>
              <a:t>44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3254" name="Rectangle 2">
            <a:extLst>
              <a:ext uri="{FF2B5EF4-FFF2-40B4-BE49-F238E27FC236}">
                <a16:creationId xmlns:a16="http://schemas.microsoft.com/office/drawing/2014/main" id="{9C26C1C8-3AAB-4F33-9414-FC47C6A48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3255" name="Rectangle 3">
            <a:extLst>
              <a:ext uri="{FF2B5EF4-FFF2-40B4-BE49-F238E27FC236}">
                <a16:creationId xmlns:a16="http://schemas.microsoft.com/office/drawing/2014/main" id="{D315F8A9-726B-48D2-8A0D-7ECAD6DEC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6">
            <a:extLst>
              <a:ext uri="{FF2B5EF4-FFF2-40B4-BE49-F238E27FC236}">
                <a16:creationId xmlns:a16="http://schemas.microsoft.com/office/drawing/2014/main" id="{F82F3F1E-29D7-493B-B5B4-41CCC4C909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295275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엑손발데즈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(Exxon Valdez)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사건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, </a:t>
            </a:r>
            <a:b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BP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사건과 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CVM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의 타당성 검증</a:t>
            </a:r>
          </a:p>
        </p:txBody>
      </p:sp>
      <p:sp>
        <p:nvSpPr>
          <p:cNvPr id="54275" name="Rectangle 7">
            <a:extLst>
              <a:ext uri="{FF2B5EF4-FFF2-40B4-BE49-F238E27FC236}">
                <a16:creationId xmlns:a16="http://schemas.microsoft.com/office/drawing/2014/main" id="{E37EFCC6-3494-4F43-8D0A-5575F80E18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90600" y="1674813"/>
            <a:ext cx="7493000" cy="4689475"/>
          </a:xfrm>
        </p:spPr>
        <p:txBody>
          <a:bodyPr/>
          <a:lstStyle/>
          <a:p>
            <a:pPr eaLnBrk="1" hangingPunct="1"/>
            <a:r>
              <a:rPr lang="en-US" altLang="ko-KR" sz="2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NOAA</a:t>
            </a:r>
            <a:r>
              <a:rPr lang="ko-KR" altLang="en-US" sz="2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위원단 보고서</a:t>
            </a:r>
            <a:r>
              <a:rPr lang="en-US" altLang="ko-KR" sz="2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(NOAA Panel Report)</a:t>
            </a:r>
          </a:p>
          <a:p>
            <a:pPr lvl="1" eaLnBrk="1" hangingPunct="1"/>
            <a:r>
              <a:rPr lang="ko-KR" altLang="en-US" sz="22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엑손발데즈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사건의 소송을 담당한 미국 </a:t>
            </a:r>
            <a:r>
              <a:rPr lang="ko-KR" altLang="en-US" sz="22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정부부서인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2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국립해양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·</a:t>
            </a:r>
            <a:r>
              <a:rPr lang="ko-KR" altLang="en-US" sz="22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대기관리국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(NOAA)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은 </a:t>
            </a:r>
            <a:r>
              <a:rPr lang="ko-KR" altLang="en-US" sz="22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엑손사에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청구할 보상액을 결정하는 데 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CVM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을 사용할 수 있는지의 여부를 판단하는 임무를 띤 위원단을 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1992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년에 설립함</a:t>
            </a:r>
          </a:p>
          <a:p>
            <a:pPr lvl="2" eaLnBrk="1" hangingPunct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NOAA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위원단보고서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(Arrow et al., 1993)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제출</a:t>
            </a:r>
          </a:p>
          <a:p>
            <a:pPr eaLnBrk="1" hangingPunct="1"/>
            <a:r>
              <a:rPr lang="ko-KR" altLang="en-US" sz="2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보고서는 이후의 </a:t>
            </a:r>
            <a:r>
              <a:rPr lang="en-US" altLang="ko-KR" sz="2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CVM</a:t>
            </a:r>
            <a:r>
              <a:rPr lang="ko-KR" altLang="en-US" sz="2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분석에 많은 영향을 미침</a:t>
            </a:r>
          </a:p>
          <a:p>
            <a:pPr lvl="1" eaLnBrk="1" hangingPunct="1"/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존재가치까지도 포함하여 분석하는 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CVM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</a:t>
            </a:r>
            <a:r>
              <a:rPr lang="ko-KR" altLang="en-US" sz="22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환경사고의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피해보상액을 결정하는 데 사용될 수 있다는 결론을 내림</a:t>
            </a:r>
          </a:p>
        </p:txBody>
      </p:sp>
      <p:sp>
        <p:nvSpPr>
          <p:cNvPr id="54276" name="바닥글 개체 틀 4">
            <a:extLst>
              <a:ext uri="{FF2B5EF4-FFF2-40B4-BE49-F238E27FC236}">
                <a16:creationId xmlns:a16="http://schemas.microsoft.com/office/drawing/2014/main" id="{FEBA2F2A-CCCD-470F-BDAA-D417CBAD9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54277" name="슬라이드 번호 개체 틀 5">
            <a:extLst>
              <a:ext uri="{FF2B5EF4-FFF2-40B4-BE49-F238E27FC236}">
                <a16:creationId xmlns:a16="http://schemas.microsoft.com/office/drawing/2014/main" id="{E94F9B6A-2D46-4F93-8137-D93BE3944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E790F92-4E1E-48DB-BBC3-47C51169CE37}" type="slidenum">
              <a:rPr lang="ko-KR" altLang="en-US" sz="1200" b="0">
                <a:solidFill>
                  <a:schemeClr val="tx1"/>
                </a:solidFill>
              </a:rPr>
              <a:pPr/>
              <a:t>45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4278" name="Rectangle 2">
            <a:extLst>
              <a:ext uri="{FF2B5EF4-FFF2-40B4-BE49-F238E27FC236}">
                <a16:creationId xmlns:a16="http://schemas.microsoft.com/office/drawing/2014/main" id="{AB39DCBE-01DA-4F80-918F-6C09F9F96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4279" name="Rectangle 3">
            <a:extLst>
              <a:ext uri="{FF2B5EF4-FFF2-40B4-BE49-F238E27FC236}">
                <a16:creationId xmlns:a16="http://schemas.microsoft.com/office/drawing/2014/main" id="{9F3F0A0E-A3E8-4632-8AB5-2C8F6B27F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6">
            <a:extLst>
              <a:ext uri="{FF2B5EF4-FFF2-40B4-BE49-F238E27FC236}">
                <a16:creationId xmlns:a16="http://schemas.microsoft.com/office/drawing/2014/main" id="{E5B24D04-C086-4769-A28A-E393A6BCC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295275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엑손발데즈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(Exxon Valdez)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사건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, </a:t>
            </a:r>
            <a:b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BP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사건과 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CVM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의 타당성 검증</a:t>
            </a:r>
          </a:p>
        </p:txBody>
      </p:sp>
      <p:sp>
        <p:nvSpPr>
          <p:cNvPr id="55299" name="Rectangle 7">
            <a:extLst>
              <a:ext uri="{FF2B5EF4-FFF2-40B4-BE49-F238E27FC236}">
                <a16:creationId xmlns:a16="http://schemas.microsoft.com/office/drawing/2014/main" id="{EDC88631-928D-477F-A5C9-D4502D4D53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90600" y="1562100"/>
            <a:ext cx="7493000" cy="4689475"/>
          </a:xfrm>
        </p:spPr>
        <p:txBody>
          <a:bodyPr/>
          <a:lstStyle/>
          <a:p>
            <a:pPr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그러나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CVM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무분별하게 사용되고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환경재에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관해 비현실적으로 높은 가치를 추정하는 것을 막기 위해 가이드라인을 제시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CVM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조사는 면담조사를 통해 이루어져야 하며</a:t>
            </a: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면담조사가 불가능할 경우 </a:t>
            </a:r>
            <a:r>
              <a:rPr lang="ko-KR" altLang="en-US" sz="16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전화조사가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사용되어야 함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CVM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은 이미 발생한 환경사고에 대해 적용되기보다는 향후 발생할 가능성이 있는 </a:t>
            </a:r>
            <a:r>
              <a:rPr lang="ko-KR" altLang="en-US" sz="16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환경사고의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피해액을 추정하는 데 사용되어야 함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CVM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은 질문방식으로서 </a:t>
            </a:r>
            <a:r>
              <a:rPr lang="ko-KR" altLang="en-US" sz="16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투표모형을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사용해야 함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CVM 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실행 시 </a:t>
            </a:r>
            <a:r>
              <a:rPr lang="ko-KR" altLang="en-US" sz="16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환경질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변화에 의해 발생할 </a:t>
            </a:r>
            <a:r>
              <a:rPr lang="ko-KR" altLang="en-US" sz="16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예상효과를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정확히 설명하여야 함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ko-KR" altLang="en-US" sz="16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조사자나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설문지는 응답자에게 자신이 어떤 금액의 </a:t>
            </a:r>
            <a:r>
              <a:rPr lang="ko-KR" altLang="en-US" sz="16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지불의사를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적어낼 경우 이로 인해 다른 재화나 서비스에 대해 지출할 수 있는 소득이 이 만큼 줄어든다는 사실을 분명히 인식시켜야 함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CVM 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적용 시 응답자에게 평가대상이 되는 </a:t>
            </a:r>
            <a:r>
              <a:rPr lang="ko-KR" altLang="en-US" sz="16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환경재를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대체할 수 있는 다른 </a:t>
            </a:r>
            <a:r>
              <a:rPr lang="ko-KR" altLang="en-US" sz="16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환경재가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있다는 사실을 주지시켜야 함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추가질문을 통해 응답자가 자신이 행한 선택에 대해 정확히 이해하고 있는지의 여부를 확인하여야 하고</a:t>
            </a: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응답자가 왜 이러한 선택을 했는지를 파악해야 함</a:t>
            </a:r>
          </a:p>
        </p:txBody>
      </p:sp>
      <p:sp>
        <p:nvSpPr>
          <p:cNvPr id="55300" name="바닥글 개체 틀 4">
            <a:extLst>
              <a:ext uri="{FF2B5EF4-FFF2-40B4-BE49-F238E27FC236}">
                <a16:creationId xmlns:a16="http://schemas.microsoft.com/office/drawing/2014/main" id="{1FE495BA-B43E-4B75-98F0-18A19AB59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55301" name="슬라이드 번호 개체 틀 5">
            <a:extLst>
              <a:ext uri="{FF2B5EF4-FFF2-40B4-BE49-F238E27FC236}">
                <a16:creationId xmlns:a16="http://schemas.microsoft.com/office/drawing/2014/main" id="{28E4699D-4C99-4DBD-BF09-FA1A8E4C4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8231D772-6A9B-4CAC-A953-58D6DDD43E4F}" type="slidenum">
              <a:rPr lang="ko-KR" altLang="en-US" sz="1200" b="0">
                <a:solidFill>
                  <a:schemeClr val="tx1"/>
                </a:solidFill>
              </a:rPr>
              <a:pPr/>
              <a:t>46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5302" name="Rectangle 2">
            <a:extLst>
              <a:ext uri="{FF2B5EF4-FFF2-40B4-BE49-F238E27FC236}">
                <a16:creationId xmlns:a16="http://schemas.microsoft.com/office/drawing/2014/main" id="{A313FF02-2872-47BF-9867-58BCE895D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5303" name="Rectangle 3">
            <a:extLst>
              <a:ext uri="{FF2B5EF4-FFF2-40B4-BE49-F238E27FC236}">
                <a16:creationId xmlns:a16="http://schemas.microsoft.com/office/drawing/2014/main" id="{36A77A7A-2FB2-444F-974D-390315A3E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6">
            <a:extLst>
              <a:ext uri="{FF2B5EF4-FFF2-40B4-BE49-F238E27FC236}">
                <a16:creationId xmlns:a16="http://schemas.microsoft.com/office/drawing/2014/main" id="{E5B24D04-C086-4769-A28A-E393A6BCC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295275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엑손발데즈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(Exxon Valdez)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사건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, </a:t>
            </a:r>
            <a:b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BP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사건과 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CVM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의 타당성 검증</a:t>
            </a:r>
          </a:p>
        </p:txBody>
      </p:sp>
      <p:sp>
        <p:nvSpPr>
          <p:cNvPr id="55299" name="Rectangle 7">
            <a:extLst>
              <a:ext uri="{FF2B5EF4-FFF2-40B4-BE49-F238E27FC236}">
                <a16:creationId xmlns:a16="http://schemas.microsoft.com/office/drawing/2014/main" id="{EDC88631-928D-477F-A5C9-D4502D4D53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90600" y="1562100"/>
            <a:ext cx="7493000" cy="4689475"/>
          </a:xfrm>
        </p:spPr>
        <p:txBody>
          <a:bodyPr/>
          <a:lstStyle/>
          <a:p>
            <a:pPr eaLnBrk="1" hangingPunct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1994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년 </a:t>
            </a:r>
            <a:r>
              <a:rPr lang="en-US" altLang="ko-KR" sz="2000" i="1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Journal of Economic Perspectives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(JEP)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학술지에서는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CVM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관련 논쟁에 대한 특집호를 통해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NOAA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위원단의 입장과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CVM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기법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옹호입장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CVM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기법 반대입장을 담은 논문을 나란히 게재함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이하 본문 참조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</a:p>
          <a:p>
            <a:pPr eaLnBrk="1" hangingPunct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2010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년 뉴멕시코만의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BP(British Petroleum)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사 심해유정에서의 원유유출사고와 지속적인 연구 성과 축적에 따른 추가 논의의 필요성으로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2012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년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JEP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에서는 다시 한 번 특집호를 발간함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CVM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여전히 많은 문제를 가지고 있다는 의견과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</a:t>
            </a:r>
            <a:r>
              <a:rPr lang="en-US" altLang="ko-KR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Hausman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2012) CVM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자체의 신뢰도는 입증이 되었으므로 잘 사용하는 방법을 찾는 것이 중요하다는 대립되는 의견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(Carson, 2012)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제시됨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보다 최근인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2017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년에는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12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명의 전문가가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700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편 이상의 논문을 인용하며 진술선호법을 실행할 때 지켜야 할 가이드라인을 제시함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(Johnston et al., 2017)</a:t>
            </a:r>
          </a:p>
        </p:txBody>
      </p:sp>
      <p:sp>
        <p:nvSpPr>
          <p:cNvPr id="55300" name="바닥글 개체 틀 4">
            <a:extLst>
              <a:ext uri="{FF2B5EF4-FFF2-40B4-BE49-F238E27FC236}">
                <a16:creationId xmlns:a16="http://schemas.microsoft.com/office/drawing/2014/main" id="{1FE495BA-B43E-4B75-98F0-18A19AB59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55301" name="슬라이드 번호 개체 틀 5">
            <a:extLst>
              <a:ext uri="{FF2B5EF4-FFF2-40B4-BE49-F238E27FC236}">
                <a16:creationId xmlns:a16="http://schemas.microsoft.com/office/drawing/2014/main" id="{28E4699D-4C99-4DBD-BF09-FA1A8E4C4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8231D772-6A9B-4CAC-A953-58D6DDD43E4F}" type="slidenum">
              <a:rPr lang="ko-KR" altLang="en-US" sz="1200" b="0">
                <a:solidFill>
                  <a:schemeClr val="tx1"/>
                </a:solidFill>
              </a:rPr>
              <a:pPr/>
              <a:t>47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5302" name="Rectangle 2">
            <a:extLst>
              <a:ext uri="{FF2B5EF4-FFF2-40B4-BE49-F238E27FC236}">
                <a16:creationId xmlns:a16="http://schemas.microsoft.com/office/drawing/2014/main" id="{A313FF02-2872-47BF-9867-58BCE895D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5303" name="Rectangle 3">
            <a:extLst>
              <a:ext uri="{FF2B5EF4-FFF2-40B4-BE49-F238E27FC236}">
                <a16:creationId xmlns:a16="http://schemas.microsoft.com/office/drawing/2014/main" id="{36A77A7A-2FB2-444F-974D-390315A3E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2364567"/>
      </p:ext>
    </p:extLst>
  </p:cSld>
  <p:clrMapOvr>
    <a:masterClrMapping/>
  </p:clrMapOvr>
  <p:transition spd="med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6">
            <a:extLst>
              <a:ext uri="{FF2B5EF4-FFF2-40B4-BE49-F238E27FC236}">
                <a16:creationId xmlns:a16="http://schemas.microsoft.com/office/drawing/2014/main" id="{34469C4F-9CCF-4646-BD22-D87576DA67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505700" cy="1143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CVM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분석의 타당성 검증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6323" name="Rectangle 7">
            <a:extLst>
              <a:ext uri="{FF2B5EF4-FFF2-40B4-BE49-F238E27FC236}">
                <a16:creationId xmlns:a16="http://schemas.microsoft.com/office/drawing/2014/main" id="{DD6C5D00-2A09-4DFC-A8E2-57C171B76A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1519238"/>
            <a:ext cx="7493000" cy="46910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① 기준 타당성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(criterion validity)</a:t>
            </a: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진술선호가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제시하는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지불의사가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비교의 기준이 되는 어떤 표준적인 방법에 의한 분석결과와 일치하는지를 확인하는 것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기준이 되는 표준적인 분석방법으로는 모의시장분석법이나 실험분석법이 주로 사용됨</a:t>
            </a:r>
          </a:p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기준타당성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검증은 참가자를 대상으로 행한 일종의 실험결과를 활용함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구체적인 사례 본문 참조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)</a:t>
            </a:r>
            <a:endParaRPr lang="ko-KR" altLang="en-US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첫 번째 방법은 연구자가 평가대상 가치를 정해주는 방법</a:t>
            </a:r>
          </a:p>
          <a:p>
            <a:pPr lvl="2" eaLnBrk="1" hangingPunct="1"/>
            <a:r>
              <a:rPr lang="ko-KR" altLang="en-US" sz="18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권장가치실험</a:t>
            </a:r>
            <a:r>
              <a:rPr lang="en-US" altLang="ko-KR" sz="18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(induced value experiments)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이라 부름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두 번째 방법은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평가대상의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가치에 대해서 어떠한 외부 정보도 주지 않고 참가자 스스로 가지는 가치를 드러내게 하여 이를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CVM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추정치와 비교하는 방법</a:t>
            </a:r>
          </a:p>
          <a:p>
            <a:pPr lvl="2" eaLnBrk="1" hangingPunct="1"/>
            <a:r>
              <a:rPr lang="ko-KR" altLang="en-US" sz="18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자기가치실험</a:t>
            </a:r>
            <a:r>
              <a:rPr lang="en-US" altLang="ko-KR" sz="18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(homegrown value experiments)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이라 부름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6324" name="바닥글 개체 틀 4">
            <a:extLst>
              <a:ext uri="{FF2B5EF4-FFF2-40B4-BE49-F238E27FC236}">
                <a16:creationId xmlns:a16="http://schemas.microsoft.com/office/drawing/2014/main" id="{31CC75E0-F1A9-44E4-90C3-D940C2BE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56325" name="슬라이드 번호 개체 틀 5">
            <a:extLst>
              <a:ext uri="{FF2B5EF4-FFF2-40B4-BE49-F238E27FC236}">
                <a16:creationId xmlns:a16="http://schemas.microsoft.com/office/drawing/2014/main" id="{1ACA5D3A-9F48-43A0-A2C5-E34DE1236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55E92843-3821-4736-B09D-63B11C4E7D65}" type="slidenum">
              <a:rPr lang="ko-KR" altLang="en-US" sz="1200" b="0">
                <a:solidFill>
                  <a:schemeClr val="tx1"/>
                </a:solidFill>
              </a:rPr>
              <a:pPr/>
              <a:t>48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6326" name="Rectangle 2">
            <a:extLst>
              <a:ext uri="{FF2B5EF4-FFF2-40B4-BE49-F238E27FC236}">
                <a16:creationId xmlns:a16="http://schemas.microsoft.com/office/drawing/2014/main" id="{AF0452F1-429D-4A58-898C-D5DF5B335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6327" name="Rectangle 3">
            <a:extLst>
              <a:ext uri="{FF2B5EF4-FFF2-40B4-BE49-F238E27FC236}">
                <a16:creationId xmlns:a16="http://schemas.microsoft.com/office/drawing/2014/main" id="{9ADF1ADA-EF28-4C66-B4CD-B5BAC4151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6">
            <a:extLst>
              <a:ext uri="{FF2B5EF4-FFF2-40B4-BE49-F238E27FC236}">
                <a16:creationId xmlns:a16="http://schemas.microsoft.com/office/drawing/2014/main" id="{99DB83B2-BEDF-4A59-88F7-A2DEBF2746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505700" cy="1143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CVM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분석의 타당성 검증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7347" name="Rectangle 7">
            <a:extLst>
              <a:ext uri="{FF2B5EF4-FFF2-40B4-BE49-F238E27FC236}">
                <a16:creationId xmlns:a16="http://schemas.microsoft.com/office/drawing/2014/main" id="{7C1D8AB7-4354-47F9-85DE-8EF5E0E60D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23925" y="1266825"/>
            <a:ext cx="7591425" cy="46910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② 수렴 타당성</a:t>
            </a:r>
            <a:r>
              <a:rPr lang="en-US" altLang="ko-KR" sz="2600">
                <a:latin typeface="나눔명조" pitchFamily="18" charset="-127"/>
                <a:ea typeface="나눔명조" pitchFamily="18" charset="-127"/>
              </a:rPr>
              <a:t>(convergent validity)</a:t>
            </a:r>
          </a:p>
          <a:p>
            <a:pPr lvl="1" eaLnBrk="1" hangingPunct="1"/>
            <a:r>
              <a:rPr lang="en-US" altLang="ko-KR" sz="2200">
                <a:latin typeface="나눔명조" pitchFamily="18" charset="-127"/>
                <a:ea typeface="나눔명조" pitchFamily="18" charset="-127"/>
              </a:rPr>
              <a:t>CVM</a:t>
            </a:r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의 연구결과와 이미 진행된 현시선호법의 연구결과가 서로 유사한지를 확인하는 방법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③ 구성 타당성</a:t>
            </a:r>
            <a:r>
              <a:rPr lang="en-US" altLang="ko-KR" sz="2600">
                <a:latin typeface="나눔명조" pitchFamily="18" charset="-127"/>
                <a:ea typeface="나눔명조" pitchFamily="18" charset="-127"/>
              </a:rPr>
              <a:t>(construct validity)</a:t>
            </a:r>
          </a:p>
          <a:p>
            <a:pPr lvl="1" eaLnBrk="1" hangingPunct="1"/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진술선호법이 예측하는 지불의사가 경제이론이 설명하는 바와 일치하는지를 확인하는 방법</a:t>
            </a:r>
          </a:p>
          <a:p>
            <a:pPr lvl="2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응답자에게 제시된 금액이 높을수록 지불반대율이 높아져야 함</a:t>
            </a:r>
          </a:p>
          <a:p>
            <a:pPr lvl="2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평가대상의 규모나 범위가 커질수록 지불의사가 커져야 함</a:t>
            </a:r>
          </a:p>
          <a:p>
            <a:pPr lvl="2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환경재는 대체로 사치재이기 때문에 소득탄력성이 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보다 커야 함</a:t>
            </a:r>
          </a:p>
          <a:p>
            <a:pPr lvl="2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지불의사와 수용의사를 둘 다 분석한다면 그 차이가 너무 커서는 안 됨</a:t>
            </a:r>
          </a:p>
        </p:txBody>
      </p:sp>
      <p:sp>
        <p:nvSpPr>
          <p:cNvPr id="57348" name="바닥글 개체 틀 4">
            <a:extLst>
              <a:ext uri="{FF2B5EF4-FFF2-40B4-BE49-F238E27FC236}">
                <a16:creationId xmlns:a16="http://schemas.microsoft.com/office/drawing/2014/main" id="{3803F0AE-EEB6-4338-A687-A09DF9AF7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57349" name="슬라이드 번호 개체 틀 5">
            <a:extLst>
              <a:ext uri="{FF2B5EF4-FFF2-40B4-BE49-F238E27FC236}">
                <a16:creationId xmlns:a16="http://schemas.microsoft.com/office/drawing/2014/main" id="{C924EC4E-9965-41F8-B74E-DD5C5874F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ECC746B2-DFC4-45CB-A6E9-9503C7B13742}" type="slidenum">
              <a:rPr lang="ko-KR" altLang="en-US" sz="1200" b="0">
                <a:solidFill>
                  <a:schemeClr val="tx1"/>
                </a:solidFill>
              </a:rPr>
              <a:pPr/>
              <a:t>49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7350" name="Rectangle 2">
            <a:extLst>
              <a:ext uri="{FF2B5EF4-FFF2-40B4-BE49-F238E27FC236}">
                <a16:creationId xmlns:a16="http://schemas.microsoft.com/office/drawing/2014/main" id="{9BBE911D-45E7-4E3F-BC19-C53A53A1E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7351" name="Rectangle 3">
            <a:extLst>
              <a:ext uri="{FF2B5EF4-FFF2-40B4-BE49-F238E27FC236}">
                <a16:creationId xmlns:a16="http://schemas.microsoft.com/office/drawing/2014/main" id="{33C86249-6F1D-4C0C-AC52-5592B57CD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6">
            <a:extLst>
              <a:ext uri="{FF2B5EF4-FFF2-40B4-BE49-F238E27FC236}">
                <a16:creationId xmlns:a16="http://schemas.microsoft.com/office/drawing/2014/main" id="{64BA7D28-E984-445C-A4BC-6C2B91FAC6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505700" cy="1143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CVM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분석의 타당성 검증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8371" name="Rectangle 7">
            <a:extLst>
              <a:ext uri="{FF2B5EF4-FFF2-40B4-BE49-F238E27FC236}">
                <a16:creationId xmlns:a16="http://schemas.microsoft.com/office/drawing/2014/main" id="{7DB8C6B1-8BC6-4F65-AFCA-A4D824FBF5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1519238"/>
            <a:ext cx="7493000" cy="46910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④ 내용 타당성</a:t>
            </a:r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(content validity)</a:t>
            </a: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분석결과를 평가하지 않고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분석절차를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평가함</a:t>
            </a: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설문지 작성 상태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환경변화 시나리오의 제시 내용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대답의 유도방식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지불수단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표본 수나 표본 설계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계량분석방법 등을 검토</a:t>
            </a: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내용타당성의 조건</a:t>
            </a:r>
          </a:p>
          <a:p>
            <a:pPr lvl="2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평가대상이 되는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환경재에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대한 설명이 구체적이어야 하며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현 상황과 정책으로 인해 대두될 새로운 상황에 대한 설명이 정확해야 함</a:t>
            </a:r>
          </a:p>
          <a:p>
            <a:pPr lvl="2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지불수단이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현실적으로 선택되어야 함</a:t>
            </a:r>
          </a:p>
          <a:p>
            <a:pPr lvl="2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유인일치적이고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실효적인 설문이 주어져야 함</a:t>
            </a:r>
          </a:p>
        </p:txBody>
      </p:sp>
      <p:sp>
        <p:nvSpPr>
          <p:cNvPr id="58372" name="바닥글 개체 틀 4">
            <a:extLst>
              <a:ext uri="{FF2B5EF4-FFF2-40B4-BE49-F238E27FC236}">
                <a16:creationId xmlns:a16="http://schemas.microsoft.com/office/drawing/2014/main" id="{14DC9933-32F5-4682-A637-377B88EDF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58373" name="슬라이드 번호 개체 틀 5">
            <a:extLst>
              <a:ext uri="{FF2B5EF4-FFF2-40B4-BE49-F238E27FC236}">
                <a16:creationId xmlns:a16="http://schemas.microsoft.com/office/drawing/2014/main" id="{9DFF1931-64A5-4D3B-8452-D6258FB5E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EFACC001-D33C-4878-9316-667266B6A164}" type="slidenum">
              <a:rPr lang="ko-KR" altLang="en-US" sz="1200" b="0">
                <a:solidFill>
                  <a:schemeClr val="tx1"/>
                </a:solidFill>
              </a:rPr>
              <a:pPr/>
              <a:t>50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8374" name="Rectangle 2">
            <a:extLst>
              <a:ext uri="{FF2B5EF4-FFF2-40B4-BE49-F238E27FC236}">
                <a16:creationId xmlns:a16="http://schemas.microsoft.com/office/drawing/2014/main" id="{7FDD7E36-999D-4729-8D3F-F08D76243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8375" name="Rectangle 3">
            <a:extLst>
              <a:ext uri="{FF2B5EF4-FFF2-40B4-BE49-F238E27FC236}">
                <a16:creationId xmlns:a16="http://schemas.microsoft.com/office/drawing/2014/main" id="{3763298A-2C7B-45D7-B5E1-D7CAE4085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6">
            <a:extLst>
              <a:ext uri="{FF2B5EF4-FFF2-40B4-BE49-F238E27FC236}">
                <a16:creationId xmlns:a16="http://schemas.microsoft.com/office/drawing/2014/main" id="{A8E0C53F-E7DD-4C46-A2FC-6AE1C4D146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505700" cy="1143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CVM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분석의 타당성 검증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9395" name="Rectangle 7">
            <a:extLst>
              <a:ext uri="{FF2B5EF4-FFF2-40B4-BE49-F238E27FC236}">
                <a16:creationId xmlns:a16="http://schemas.microsoft.com/office/drawing/2014/main" id="{5F738AF1-DAD1-4DAD-9520-AB584F0F95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23988" y="1223151"/>
            <a:ext cx="7493000" cy="4691062"/>
          </a:xfrm>
        </p:spPr>
        <p:txBody>
          <a:bodyPr/>
          <a:lstStyle/>
          <a:p>
            <a:pPr eaLnBrk="1" hangingPunct="1"/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CVM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기법이 설문조사를 사용한다는 사실만으로 그 가치를 부정하는 것은 적절치 않음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CVM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의 결과가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모의시장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등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실험연구의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결과와 다른 것이 꼭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CVM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의 특성 때문은 아님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실험연구에서는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 CVM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 아닌 일반 경제모형에서 흔히 사용되는 가정들도 기각되는 경우가 많음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CVM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특성은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가상적 상황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’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에 대한 분석이라는 점에 있으며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‘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가상성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’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 추가적으로 얼마나 큰 오류를 유발하는지를 검토해야 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그러나 분석결과가 쉽게 도출된다는 특성 때문에 기법이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오남용되는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경향이 있음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현재까지 축적된 연구성과를 충실히 반영함과 동시에 기법의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적용과정과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결과해석에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있어 전문가 간의 상호검토기능을 갖추는 것이 필요함</a:t>
            </a:r>
          </a:p>
          <a:p>
            <a:pPr lvl="1" eaLnBrk="1" hangingPunct="1"/>
            <a:endParaRPr lang="ko-KR" altLang="en-US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9396" name="바닥글 개체 틀 4">
            <a:extLst>
              <a:ext uri="{FF2B5EF4-FFF2-40B4-BE49-F238E27FC236}">
                <a16:creationId xmlns:a16="http://schemas.microsoft.com/office/drawing/2014/main" id="{FB70FA34-BB50-41DC-AB03-9920E5681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59397" name="슬라이드 번호 개체 틀 5">
            <a:extLst>
              <a:ext uri="{FF2B5EF4-FFF2-40B4-BE49-F238E27FC236}">
                <a16:creationId xmlns:a16="http://schemas.microsoft.com/office/drawing/2014/main" id="{6CC2335B-8402-47BE-B841-BC128B77F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08CDB99F-FE00-4F84-8174-6E10BCE53AD7}" type="slidenum">
              <a:rPr lang="ko-KR" altLang="en-US" sz="1200" b="0">
                <a:solidFill>
                  <a:schemeClr val="tx1"/>
                </a:solidFill>
              </a:rPr>
              <a:pPr/>
              <a:t>51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9398" name="Rectangle 2">
            <a:extLst>
              <a:ext uri="{FF2B5EF4-FFF2-40B4-BE49-F238E27FC236}">
                <a16:creationId xmlns:a16="http://schemas.microsoft.com/office/drawing/2014/main" id="{4AA565D8-18CD-4DF8-94A4-EE9AF8507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9399" name="Rectangle 3">
            <a:extLst>
              <a:ext uri="{FF2B5EF4-FFF2-40B4-BE49-F238E27FC236}">
                <a16:creationId xmlns:a16="http://schemas.microsoft.com/office/drawing/2014/main" id="{4AC2D0AB-D73F-480B-8C28-3E98F00B8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6">
            <a:extLst>
              <a:ext uri="{FF2B5EF4-FFF2-40B4-BE49-F238E27FC236}">
                <a16:creationId xmlns:a16="http://schemas.microsoft.com/office/drawing/2014/main" id="{19736C02-D267-4EA1-83A7-AF8CE66793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선택실험법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(choice experiment)</a:t>
            </a:r>
          </a:p>
        </p:txBody>
      </p:sp>
      <p:sp>
        <p:nvSpPr>
          <p:cNvPr id="60419" name="Rectangle 7">
            <a:extLst>
              <a:ext uri="{FF2B5EF4-FFF2-40B4-BE49-F238E27FC236}">
                <a16:creationId xmlns:a16="http://schemas.microsoft.com/office/drawing/2014/main" id="{3BF3803B-F507-4803-9DD4-6E12A230F5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90600" y="1687513"/>
            <a:ext cx="7493000" cy="4691062"/>
          </a:xfrm>
        </p:spPr>
        <p:txBody>
          <a:bodyPr/>
          <a:lstStyle/>
          <a:p>
            <a:pPr eaLnBrk="1" hangingPunct="1"/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선택실험법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(CE)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혹은 이산선택실험법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(discrete choice experiment)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각기 다른 정도의 환경의 질을 달성할 것을 목표로 하는 정책과 각 정책을 수행하는 데 소요되는 비용을 응답자에게 제시하고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다양한 정책과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정책비용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조합 가운데 가장 선호하는 조합을 선택하게 하는 방법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0420" name="바닥글 개체 틀 4">
            <a:extLst>
              <a:ext uri="{FF2B5EF4-FFF2-40B4-BE49-F238E27FC236}">
                <a16:creationId xmlns:a16="http://schemas.microsoft.com/office/drawing/2014/main" id="{DD071E84-7DB6-4A6D-BB8D-B0B86CCD0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60421" name="슬라이드 번호 개체 틀 5">
            <a:extLst>
              <a:ext uri="{FF2B5EF4-FFF2-40B4-BE49-F238E27FC236}">
                <a16:creationId xmlns:a16="http://schemas.microsoft.com/office/drawing/2014/main" id="{F7F051F3-EBA6-4CC4-B149-C70D5C41D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80804369-EA0A-4C7F-9964-94A435070B75}" type="slidenum">
              <a:rPr lang="ko-KR" altLang="en-US" sz="1200" b="0">
                <a:solidFill>
                  <a:schemeClr val="tx1"/>
                </a:solidFill>
              </a:rPr>
              <a:pPr/>
              <a:t>52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60422" name="Rectangle 2">
            <a:extLst>
              <a:ext uri="{FF2B5EF4-FFF2-40B4-BE49-F238E27FC236}">
                <a16:creationId xmlns:a16="http://schemas.microsoft.com/office/drawing/2014/main" id="{C3306556-B4EF-48DA-99E5-047622592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0423" name="Rectangle 3">
            <a:extLst>
              <a:ext uri="{FF2B5EF4-FFF2-40B4-BE49-F238E27FC236}">
                <a16:creationId xmlns:a16="http://schemas.microsoft.com/office/drawing/2014/main" id="{A70133C5-BD22-4877-ADD3-E48AF0754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6">
            <a:extLst>
              <a:ext uri="{FF2B5EF4-FFF2-40B4-BE49-F238E27FC236}">
                <a16:creationId xmlns:a16="http://schemas.microsoft.com/office/drawing/2014/main" id="{19736C02-D267-4EA1-83A7-AF8CE66793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선택실험법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(choice experiment)</a:t>
            </a:r>
          </a:p>
        </p:txBody>
      </p:sp>
      <p:sp>
        <p:nvSpPr>
          <p:cNvPr id="60419" name="Rectangle 7">
            <a:extLst>
              <a:ext uri="{FF2B5EF4-FFF2-40B4-BE49-F238E27FC236}">
                <a16:creationId xmlns:a16="http://schemas.microsoft.com/office/drawing/2014/main" id="{3BF3803B-F507-4803-9DD4-6E12A230F5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90600" y="1687513"/>
            <a:ext cx="7493000" cy="4691062"/>
          </a:xfrm>
        </p:spPr>
        <p:txBody>
          <a:bodyPr/>
          <a:lstStyle/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이 분석방법은 몇 가지 장점을 가짐</a:t>
            </a:r>
            <a:endParaRPr lang="en-US" altLang="ko-KR" sz="26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CVM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이 현 상태와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환경질이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개선된 두 상태만 비교함에 반해 선택실험법은 다양한 수준의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환경질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개선에 따른 편익을 모두 추정할 수 있고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조합 구성에 따라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환경특성별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가치도 평가할 수 있음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선택실험법은 현시선호기법의 단점을 보완하기 위해 사용되기도 하며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현실에서 구분이 어려운 특성을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가상적으로라도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분석 가능하게 함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현실의 생태계 특성 간 독립성이 약할 경우에도 개별 특성 가치 분석에 사용될 수 있음 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CE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는 한 번의 조사에서 많은 양의 정보를 얻기 때문에 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CVM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에 비해 통계적인 효율성이 높음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0420" name="바닥글 개체 틀 4">
            <a:extLst>
              <a:ext uri="{FF2B5EF4-FFF2-40B4-BE49-F238E27FC236}">
                <a16:creationId xmlns:a16="http://schemas.microsoft.com/office/drawing/2014/main" id="{DD071E84-7DB6-4A6D-BB8D-B0B86CCD0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60421" name="슬라이드 번호 개체 틀 5">
            <a:extLst>
              <a:ext uri="{FF2B5EF4-FFF2-40B4-BE49-F238E27FC236}">
                <a16:creationId xmlns:a16="http://schemas.microsoft.com/office/drawing/2014/main" id="{F7F051F3-EBA6-4CC4-B149-C70D5C41D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80804369-EA0A-4C7F-9964-94A435070B75}" type="slidenum">
              <a:rPr lang="ko-KR" altLang="en-US" sz="1200" b="0">
                <a:solidFill>
                  <a:schemeClr val="tx1"/>
                </a:solidFill>
              </a:rPr>
              <a:pPr/>
              <a:t>53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60422" name="Rectangle 2">
            <a:extLst>
              <a:ext uri="{FF2B5EF4-FFF2-40B4-BE49-F238E27FC236}">
                <a16:creationId xmlns:a16="http://schemas.microsoft.com/office/drawing/2014/main" id="{C3306556-B4EF-48DA-99E5-047622592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0423" name="Rectangle 3">
            <a:extLst>
              <a:ext uri="{FF2B5EF4-FFF2-40B4-BE49-F238E27FC236}">
                <a16:creationId xmlns:a16="http://schemas.microsoft.com/office/drawing/2014/main" id="{A70133C5-BD22-4877-ADD3-E48AF0754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0753260"/>
      </p:ext>
    </p:extLst>
  </p:cSld>
  <p:clrMapOvr>
    <a:masterClrMapping/>
  </p:clrMapOvr>
  <p:transition spd="med">
    <p:wipe dir="r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6">
            <a:extLst>
              <a:ext uri="{FF2B5EF4-FFF2-40B4-BE49-F238E27FC236}">
                <a16:creationId xmlns:a16="http://schemas.microsoft.com/office/drawing/2014/main" id="{2F89521B-4AC5-4690-B5A5-B04B5A2A73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선택실험법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(choice experiment)</a:t>
            </a:r>
          </a:p>
        </p:txBody>
      </p:sp>
      <p:sp>
        <p:nvSpPr>
          <p:cNvPr id="61444" name="Rectangle 7">
            <a:extLst>
              <a:ext uri="{FF2B5EF4-FFF2-40B4-BE49-F238E27FC236}">
                <a16:creationId xmlns:a16="http://schemas.microsoft.com/office/drawing/2014/main" id="{8482F842-4399-4E0E-88C5-681B071D73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6313" y="1476375"/>
            <a:ext cx="7493000" cy="4691063"/>
          </a:xfrm>
        </p:spPr>
        <p:txBody>
          <a:bodyPr/>
          <a:lstStyle/>
          <a:p>
            <a:pPr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권오상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(2006)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은 댐호수 중 하나를 응답자들이 선택하게 하는 설문을 함</a:t>
            </a:r>
          </a:p>
          <a:p>
            <a:pPr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댐의 특성변수는 아래와 같이 정리됨</a:t>
            </a:r>
          </a:p>
        </p:txBody>
      </p:sp>
      <p:sp>
        <p:nvSpPr>
          <p:cNvPr id="61445" name="바닥글 개체 틀 4">
            <a:extLst>
              <a:ext uri="{FF2B5EF4-FFF2-40B4-BE49-F238E27FC236}">
                <a16:creationId xmlns:a16="http://schemas.microsoft.com/office/drawing/2014/main" id="{E37CF52B-04E8-4C91-90F3-76113D259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61446" name="슬라이드 번호 개체 틀 5">
            <a:extLst>
              <a:ext uri="{FF2B5EF4-FFF2-40B4-BE49-F238E27FC236}">
                <a16:creationId xmlns:a16="http://schemas.microsoft.com/office/drawing/2014/main" id="{81FDF574-BDFF-4C7C-8D6F-1B5A0377C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9609FA48-3A92-4F6A-8CD0-CD82FDA59A1B}" type="slidenum">
              <a:rPr lang="ko-KR" altLang="en-US" sz="1200" b="0">
                <a:solidFill>
                  <a:schemeClr val="tx1"/>
                </a:solidFill>
              </a:rPr>
              <a:pPr/>
              <a:t>54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61447" name="Rectangle 2">
            <a:extLst>
              <a:ext uri="{FF2B5EF4-FFF2-40B4-BE49-F238E27FC236}">
                <a16:creationId xmlns:a16="http://schemas.microsoft.com/office/drawing/2014/main" id="{8CA426B8-8A65-448C-B62C-204A4D95D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1448" name="Rectangle 3">
            <a:extLst>
              <a:ext uri="{FF2B5EF4-FFF2-40B4-BE49-F238E27FC236}">
                <a16:creationId xmlns:a16="http://schemas.microsoft.com/office/drawing/2014/main" id="{48DA9F96-2705-4ED7-9952-9189A1CB4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868" y="2503941"/>
            <a:ext cx="6886263" cy="3996872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6">
            <a:extLst>
              <a:ext uri="{FF2B5EF4-FFF2-40B4-BE49-F238E27FC236}">
                <a16:creationId xmlns:a16="http://schemas.microsoft.com/office/drawing/2014/main" id="{B4743CA9-9208-4FC7-9B0A-923F84D5D9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12875" y="-196850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선택실험법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(choice experiment)</a:t>
            </a:r>
          </a:p>
        </p:txBody>
      </p:sp>
      <p:sp>
        <p:nvSpPr>
          <p:cNvPr id="62467" name="Rectangle 7">
            <a:extLst>
              <a:ext uri="{FF2B5EF4-FFF2-40B4-BE49-F238E27FC236}">
                <a16:creationId xmlns:a16="http://schemas.microsoft.com/office/drawing/2014/main" id="{DE611BC9-0928-4E27-BDE3-62111F5C04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7900" y="1025590"/>
            <a:ext cx="7493000" cy="4691063"/>
          </a:xfrm>
        </p:spPr>
        <p:txBody>
          <a:bodyPr/>
          <a:lstStyle/>
          <a:p>
            <a:pPr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댐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특성변수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중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60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개의 조합을 선발하여 두 개씩을 임의로 짝 지은 후 다음과 같은 질문을 시행함</a:t>
            </a:r>
          </a:p>
          <a:p>
            <a:pPr lvl="1"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응답자별로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서로 다른 특성 조합이 주어지며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응답자는 여러 조합별 선택문제에 대해 응답하여 자신의 선호를 반영한 의사결정을 함</a:t>
            </a:r>
          </a:p>
        </p:txBody>
      </p:sp>
      <p:sp>
        <p:nvSpPr>
          <p:cNvPr id="62468" name="바닥글 개체 틀 4">
            <a:extLst>
              <a:ext uri="{FF2B5EF4-FFF2-40B4-BE49-F238E27FC236}">
                <a16:creationId xmlns:a16="http://schemas.microsoft.com/office/drawing/2014/main" id="{3869F51E-86E4-4859-AAFF-20DEBB927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62469" name="슬라이드 번호 개체 틀 5">
            <a:extLst>
              <a:ext uri="{FF2B5EF4-FFF2-40B4-BE49-F238E27FC236}">
                <a16:creationId xmlns:a16="http://schemas.microsoft.com/office/drawing/2014/main" id="{CE4D9DA8-06F8-4137-A5C7-757DC42EA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82716853-E83E-49C2-8ABA-D3F49CC2731C}" type="slidenum">
              <a:rPr lang="ko-KR" altLang="en-US" sz="1200" b="0">
                <a:solidFill>
                  <a:schemeClr val="tx1"/>
                </a:solidFill>
              </a:rPr>
              <a:pPr/>
              <a:t>55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62470" name="Rectangle 2">
            <a:extLst>
              <a:ext uri="{FF2B5EF4-FFF2-40B4-BE49-F238E27FC236}">
                <a16:creationId xmlns:a16="http://schemas.microsoft.com/office/drawing/2014/main" id="{03E2DAC6-8731-4ACD-8704-18BA935D9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2471" name="Rectangle 3">
            <a:extLst>
              <a:ext uri="{FF2B5EF4-FFF2-40B4-BE49-F238E27FC236}">
                <a16:creationId xmlns:a16="http://schemas.microsoft.com/office/drawing/2014/main" id="{3F0DFB5B-0F45-4029-B5DB-92615BC70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6FADC7B-BD20-4394-8DA9-834A1D200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702" y="1679832"/>
            <a:ext cx="5838095" cy="3557752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6">
            <a:extLst>
              <a:ext uri="{FF2B5EF4-FFF2-40B4-BE49-F238E27FC236}">
                <a16:creationId xmlns:a16="http://schemas.microsoft.com/office/drawing/2014/main" id="{B4743CA9-9208-4FC7-9B0A-923F84D5D9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12875" y="-196850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선택실험법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(choice experiment)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467" name="Rectangle 7">
                <a:extLst>
                  <a:ext uri="{FF2B5EF4-FFF2-40B4-BE49-F238E27FC236}">
                    <a16:creationId xmlns:a16="http://schemas.microsoft.com/office/drawing/2014/main" id="{DE611BC9-0928-4E27-BDE3-62111F5C04D9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47738" y="1181100"/>
                <a:ext cx="7493000" cy="4691063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각 대안이 제시하는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평가대상의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특성을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𝑥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라는 변수로 나타냄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&lt;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표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17-1&gt;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의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특성별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수준 값과 이를 달성하기 위한 비용 등이 모두 포함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선택가능한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대안으로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𝑁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가지가 제안된다면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𝑚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번째 응답자가 이 중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𝑛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번째 대안을 선택하여 얻는 만족도는 다음과 같이 나타낼 수 있음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𝑚𝑛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=</m:t>
                      </m:r>
                      <m:r>
                        <a:rPr lang="ko-KR" altLang="en-US" sz="20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𝛽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𝑚𝑛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𝜖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𝑚𝑛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𝑚𝑛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𝜖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𝑚𝑛</m:t>
                          </m:r>
                        </m:sub>
                      </m:sSub>
                    </m:oMath>
                  </m:oMathPara>
                </a14:m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위 식의 확률변수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𝜖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𝑚𝑛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 제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1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형태 극한값분포를 따른다 가정하면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𝑚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번째 응답자가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𝑛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번째 대안을 선택할 확률은 다음과 같음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exp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⁡(</m:t>
                          </m:r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𝛽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𝑚𝑛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𝑘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𝑁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exp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⁡(</m:t>
                              </m:r>
                              <m:r>
                                <a:rPr lang="ko-KR" altLang="en-US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𝛽</m:t>
                              </m:r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𝑚𝑛</m:t>
                                  </m:r>
                                </m:sub>
                              </m:s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위 식을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최우추정법을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통해 추정하여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𝛽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를 얻을 수 있음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62467" name="Rectangle 7">
                <a:extLst>
                  <a:ext uri="{FF2B5EF4-FFF2-40B4-BE49-F238E27FC236}">
                    <a16:creationId xmlns:a16="http://schemas.microsoft.com/office/drawing/2014/main" id="{DE611BC9-0928-4E27-BDE3-62111F5C04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7738" y="1181100"/>
                <a:ext cx="7493000" cy="4691063"/>
              </a:xfrm>
              <a:blipFill>
                <a:blip r:embed="rId3"/>
                <a:stretch>
                  <a:fillRect l="-732" t="-10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468" name="바닥글 개체 틀 4">
            <a:extLst>
              <a:ext uri="{FF2B5EF4-FFF2-40B4-BE49-F238E27FC236}">
                <a16:creationId xmlns:a16="http://schemas.microsoft.com/office/drawing/2014/main" id="{3869F51E-86E4-4859-AAFF-20DEBB927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62469" name="슬라이드 번호 개체 틀 5">
            <a:extLst>
              <a:ext uri="{FF2B5EF4-FFF2-40B4-BE49-F238E27FC236}">
                <a16:creationId xmlns:a16="http://schemas.microsoft.com/office/drawing/2014/main" id="{CE4D9DA8-06F8-4137-A5C7-757DC42EA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82716853-E83E-49C2-8ABA-D3F49CC2731C}" type="slidenum">
              <a:rPr lang="ko-KR" altLang="en-US" sz="1200" b="0">
                <a:solidFill>
                  <a:schemeClr val="tx1"/>
                </a:solidFill>
              </a:rPr>
              <a:pPr/>
              <a:t>56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62470" name="Rectangle 2">
            <a:extLst>
              <a:ext uri="{FF2B5EF4-FFF2-40B4-BE49-F238E27FC236}">
                <a16:creationId xmlns:a16="http://schemas.microsoft.com/office/drawing/2014/main" id="{03E2DAC6-8731-4ACD-8704-18BA935D9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2471" name="Rectangle 3">
            <a:extLst>
              <a:ext uri="{FF2B5EF4-FFF2-40B4-BE49-F238E27FC236}">
                <a16:creationId xmlns:a16="http://schemas.microsoft.com/office/drawing/2014/main" id="{3F0DFB5B-0F45-4029-B5DB-92615BC70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1892273"/>
      </p:ext>
    </p:extLst>
  </p:cSld>
  <p:clrMapOvr>
    <a:masterClrMapping/>
  </p:clrMapOvr>
  <p:transition spd="med">
    <p:wipe dir="r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6">
            <a:extLst>
              <a:ext uri="{FF2B5EF4-FFF2-40B4-BE49-F238E27FC236}">
                <a16:creationId xmlns:a16="http://schemas.microsoft.com/office/drawing/2014/main" id="{B4743CA9-9208-4FC7-9B0A-923F84D5D9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12875" y="-196850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선택실험법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(choice experiment)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467" name="Rectangle 7">
                <a:extLst>
                  <a:ext uri="{FF2B5EF4-FFF2-40B4-BE49-F238E27FC236}">
                    <a16:creationId xmlns:a16="http://schemas.microsoft.com/office/drawing/2014/main" id="{DE611BC9-0928-4E27-BDE3-62111F5C04D9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586581" y="1251743"/>
                <a:ext cx="8188142" cy="4691063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또한 앞선 표의 대안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C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처럼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CE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는 제시된 어떤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환경상태도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원치 않는 것을 택하게 할 수 있으며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이는 제시된 대안 가운데 하나를 강제로 선택하게 하는 문제를 없애 줌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대안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C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까지 포함할 경우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댐호수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선택문제에 대한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효용함수는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다음과 같이 설정할 수 있음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𝑚𝑛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𝑛𝑜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여</m:t>
                          </m:r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행</m:t>
                          </m:r>
                          <m:r>
                            <a:rPr lang="ko-KR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비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저</m:t>
                          </m:r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수</m:t>
                          </m:r>
                          <m:r>
                            <a:rPr lang="ko-KR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량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𝑤𝑤</m:t>
                          </m:r>
                        </m:sub>
                      </m:sSub>
                      <m:sSubSup>
                        <m:sSub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ko-KR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저</m:t>
                          </m:r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수</m:t>
                          </m:r>
                          <m:r>
                            <a:rPr lang="ko-KR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량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𝑓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낚</m:t>
                          </m:r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시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𝑛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𝑏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유</m:t>
                          </m:r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람</m:t>
                          </m:r>
                          <m:r>
                            <a:rPr lang="ko-KR" altLang="en-US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선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𝑛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홍</m:t>
                          </m:r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보</m:t>
                          </m:r>
                          <m:r>
                            <a:rPr lang="ko-KR" altLang="en-US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관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𝑛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음</m:t>
                          </m:r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식</m:t>
                          </m:r>
                          <m:r>
                            <a:rPr lang="ko-KR" altLang="en-US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점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𝑛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숙</m:t>
                          </m:r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박</m:t>
                          </m:r>
                          <m:r>
                            <a:rPr lang="ko-KR" altLang="en-US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업</m:t>
                          </m:r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소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>
                          <a:latin typeface="Cambria Math" panose="02040503050406030204" pitchFamily="18" charset="0"/>
                          <a:ea typeface="나눔명조" pitchFamily="18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𝑞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수</m:t>
                          </m:r>
                          <m:r>
                            <a:rPr lang="ko-KR" altLang="en-US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질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𝑛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  <a:ea typeface="나눔명조" pitchFamily="18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차</m:t>
                          </m:r>
                          <m:r>
                            <a:rPr lang="ko-KR" altLang="en-US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량</m:t>
                          </m:r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진</m:t>
                          </m:r>
                          <m:r>
                            <a:rPr lang="ko-KR" altLang="en-US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입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𝑛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  <a:ea typeface="나눔명조" pitchFamily="18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𝑜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주</m:t>
                          </m:r>
                          <m:r>
                            <a:rPr lang="ko-KR" altLang="en-US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변휴양</m:t>
                          </m:r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지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𝑛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  <a:ea typeface="나눔명조" pitchFamily="18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혼</m:t>
                          </m:r>
                          <m:r>
                            <a:rPr lang="ko-KR" altLang="en-US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잡</m:t>
                          </m:r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도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𝑛</m:t>
                          </m:r>
                        </m:sub>
                      </m:sSub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)+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𝑛𝑜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𝑛𝑜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𝑛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𝜖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𝑚𝑛</m:t>
                          </m:r>
                        </m:sub>
                      </m:sSub>
                    </m:oMath>
                  </m:oMathPara>
                </a14:m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단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𝑛𝑜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𝑛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</m:oMath>
                </a14:m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어떤 호수도 방문하지 않은 경우 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1, 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아니면 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0.</a:t>
                </a:r>
              </a:p>
              <a:p>
                <a:pPr marL="0" indent="0" eaLnBrk="1" hangingPunct="1">
                  <a:buNone/>
                </a:pP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낚시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유람선 등의 </a:t>
                </a:r>
                <a:r>
                  <a:rPr lang="ko-KR" altLang="en-US" sz="1600" dirty="0" err="1">
                    <a:latin typeface="나눔명조" pitchFamily="18" charset="-127"/>
                    <a:ea typeface="나눔명조" pitchFamily="18" charset="-127"/>
                  </a:rPr>
                  <a:t>더미변수도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 이용 가능하면 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1 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아니면 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0.</a:t>
                </a:r>
              </a:p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위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효용함수가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추정되면 각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특성변화에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대한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지불의사를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도출할 수 있음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62467" name="Rectangle 7">
                <a:extLst>
                  <a:ext uri="{FF2B5EF4-FFF2-40B4-BE49-F238E27FC236}">
                    <a16:creationId xmlns:a16="http://schemas.microsoft.com/office/drawing/2014/main" id="{DE611BC9-0928-4E27-BDE3-62111F5C04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6581" y="1251743"/>
                <a:ext cx="8188142" cy="4691063"/>
              </a:xfrm>
              <a:blipFill>
                <a:blip r:embed="rId3"/>
                <a:stretch>
                  <a:fillRect l="-670" t="-6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468" name="바닥글 개체 틀 4">
            <a:extLst>
              <a:ext uri="{FF2B5EF4-FFF2-40B4-BE49-F238E27FC236}">
                <a16:creationId xmlns:a16="http://schemas.microsoft.com/office/drawing/2014/main" id="{3869F51E-86E4-4859-AAFF-20DEBB927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62469" name="슬라이드 번호 개체 틀 5">
            <a:extLst>
              <a:ext uri="{FF2B5EF4-FFF2-40B4-BE49-F238E27FC236}">
                <a16:creationId xmlns:a16="http://schemas.microsoft.com/office/drawing/2014/main" id="{CE4D9DA8-06F8-4137-A5C7-757DC42EA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82716853-E83E-49C2-8ABA-D3F49CC2731C}" type="slidenum">
              <a:rPr lang="ko-KR" altLang="en-US" sz="1200" b="0">
                <a:solidFill>
                  <a:schemeClr val="tx1"/>
                </a:solidFill>
              </a:rPr>
              <a:pPr/>
              <a:t>57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62470" name="Rectangle 2">
            <a:extLst>
              <a:ext uri="{FF2B5EF4-FFF2-40B4-BE49-F238E27FC236}">
                <a16:creationId xmlns:a16="http://schemas.microsoft.com/office/drawing/2014/main" id="{03E2DAC6-8731-4ACD-8704-18BA935D9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2471" name="Rectangle 3">
            <a:extLst>
              <a:ext uri="{FF2B5EF4-FFF2-40B4-BE49-F238E27FC236}">
                <a16:creationId xmlns:a16="http://schemas.microsoft.com/office/drawing/2014/main" id="{3F0DFB5B-0F45-4029-B5DB-92615BC70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9873343"/>
      </p:ext>
    </p:extLst>
  </p:cSld>
  <p:clrMapOvr>
    <a:masterClrMapping/>
  </p:clrMapOvr>
  <p:transition spd="med">
    <p:wipe dir="r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6">
            <a:extLst>
              <a:ext uri="{FF2B5EF4-FFF2-40B4-BE49-F238E27FC236}">
                <a16:creationId xmlns:a16="http://schemas.microsoft.com/office/drawing/2014/main" id="{B4743CA9-9208-4FC7-9B0A-923F84D5D9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12875" y="-196850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선택실험법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(choice experiment)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467" name="Rectangle 7">
                <a:extLst>
                  <a:ext uri="{FF2B5EF4-FFF2-40B4-BE49-F238E27FC236}">
                    <a16:creationId xmlns:a16="http://schemas.microsoft.com/office/drawing/2014/main" id="{DE611BC9-0928-4E27-BDE3-62111F5C04D9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47738" y="1181100"/>
                <a:ext cx="7493000" cy="4691063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선택실험이 가상적인 상황을 설정하여 적용되기는 하지만 실제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선택문제를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염두에 두고 적용될 경우에는 확률변수의 영향도 반영해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지불의사를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도출할 수 있음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본문의 예처럼 주요 호수를 선택하여 방문하는 경우라면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선택실험을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통해 얻은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추정파라미터를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실제 호수에 대해 적용하여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특성변화의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가치를 도출할 수 있음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특성변화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이전의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효용함수의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값을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𝑣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𝑚𝑛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특성변화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이후의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효용함수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값을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𝑣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𝑚𝑛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라 하면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편익추정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공식은 다음과 같음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i="0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ln</m:t>
                              </m:r>
                            </m:fName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ko-KR" sz="200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𝑖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𝐼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exp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⁡(</m:t>
                                  </m:r>
                                  <m:sSubSup>
                                    <m:sSubSup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나눔명조" pitchFamily="18" charset="-127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나눔명조" pitchFamily="18" charset="-127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나눔명조" pitchFamily="18" charset="-127"/>
                                        </a:rPr>
                                        <m:t>𝑚𝑛</m:t>
                                      </m:r>
                                    </m:sub>
                                    <m:sup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나눔명조" pitchFamily="18" charset="-127"/>
                                        </a:rPr>
                                        <m:t>0</m:t>
                                      </m:r>
                                    </m:sup>
                                  </m:sSub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func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ln</m:t>
                              </m:r>
                            </m:fName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𝑖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𝐼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exp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⁡(</m:t>
                                  </m:r>
                                  <m:sSubSup>
                                    <m:sSubSup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나눔명조" pitchFamily="18" charset="-127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나눔명조" pitchFamily="18" charset="-127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나눔명조" pitchFamily="18" charset="-127"/>
                                        </a:rPr>
                                        <m:t>𝑚𝑛</m:t>
                                      </m:r>
                                    </m:sub>
                                    <m:sup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나눔명조" pitchFamily="18" charset="-127"/>
                                        </a:rPr>
                                        <m:t>1</m:t>
                                      </m:r>
                                    </m:sup>
                                  </m:sSub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func>
                        </m:e>
                      </m:d>
                    </m:oMath>
                  </m:oMathPara>
                </a14:m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단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𝐼</m:t>
                    </m:r>
                  </m:oMath>
                </a14:m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는 한국의 실제 호수 숫자</a:t>
                </a:r>
                <a:endParaRPr lang="en-US" altLang="ko-KR" sz="16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62467" name="Rectangle 7">
                <a:extLst>
                  <a:ext uri="{FF2B5EF4-FFF2-40B4-BE49-F238E27FC236}">
                    <a16:creationId xmlns:a16="http://schemas.microsoft.com/office/drawing/2014/main" id="{DE611BC9-0928-4E27-BDE3-62111F5C04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7738" y="1181100"/>
                <a:ext cx="7493000" cy="4691063"/>
              </a:xfrm>
              <a:blipFill>
                <a:blip r:embed="rId3"/>
                <a:stretch>
                  <a:fillRect l="-732" t="-7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468" name="바닥글 개체 틀 4">
            <a:extLst>
              <a:ext uri="{FF2B5EF4-FFF2-40B4-BE49-F238E27FC236}">
                <a16:creationId xmlns:a16="http://schemas.microsoft.com/office/drawing/2014/main" id="{3869F51E-86E4-4859-AAFF-20DEBB927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62469" name="슬라이드 번호 개체 틀 5">
            <a:extLst>
              <a:ext uri="{FF2B5EF4-FFF2-40B4-BE49-F238E27FC236}">
                <a16:creationId xmlns:a16="http://schemas.microsoft.com/office/drawing/2014/main" id="{CE4D9DA8-06F8-4137-A5C7-757DC42EA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82716853-E83E-49C2-8ABA-D3F49CC2731C}" type="slidenum">
              <a:rPr lang="ko-KR" altLang="en-US" sz="1200" b="0">
                <a:solidFill>
                  <a:schemeClr val="tx1"/>
                </a:solidFill>
              </a:rPr>
              <a:pPr/>
              <a:t>58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62470" name="Rectangle 2">
            <a:extLst>
              <a:ext uri="{FF2B5EF4-FFF2-40B4-BE49-F238E27FC236}">
                <a16:creationId xmlns:a16="http://schemas.microsoft.com/office/drawing/2014/main" id="{03E2DAC6-8731-4ACD-8704-18BA935D9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2471" name="Rectangle 3">
            <a:extLst>
              <a:ext uri="{FF2B5EF4-FFF2-40B4-BE49-F238E27FC236}">
                <a16:creationId xmlns:a16="http://schemas.microsoft.com/office/drawing/2014/main" id="{3F0DFB5B-0F45-4029-B5DB-92615BC70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0619471"/>
      </p:ext>
    </p:extLst>
  </p:cSld>
  <p:clrMapOvr>
    <a:masterClrMapping/>
  </p:clrMapOvr>
  <p:transition spd="med">
    <p:wipe dir="r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6">
            <a:extLst>
              <a:ext uri="{FF2B5EF4-FFF2-40B4-BE49-F238E27FC236}">
                <a16:creationId xmlns:a16="http://schemas.microsoft.com/office/drawing/2014/main" id="{B4743CA9-9208-4FC7-9B0A-923F84D5D9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12875" y="-196850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선택실험법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(choice experiment)</a:t>
            </a:r>
          </a:p>
        </p:txBody>
      </p:sp>
      <p:sp>
        <p:nvSpPr>
          <p:cNvPr id="62467" name="Rectangle 7">
            <a:extLst>
              <a:ext uri="{FF2B5EF4-FFF2-40B4-BE49-F238E27FC236}">
                <a16:creationId xmlns:a16="http://schemas.microsoft.com/office/drawing/2014/main" id="{DE611BC9-0928-4E27-BDE3-62111F5C04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23515" y="1053931"/>
            <a:ext cx="7493000" cy="4691063"/>
          </a:xfrm>
        </p:spPr>
        <p:txBody>
          <a:bodyPr/>
          <a:lstStyle/>
          <a:p>
            <a:pPr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댐호수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분석에서의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특성변화의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편익 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수질이 </a:t>
            </a:r>
            <a:r>
              <a:rPr lang="ko-KR" altLang="en-US" sz="1600" dirty="0" err="1">
                <a:latin typeface="나눔명조" pitchFamily="18" charset="-127"/>
                <a:ea typeface="나눔명조" pitchFamily="18" charset="-127"/>
              </a:rPr>
              <a:t>휴양가치에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 큰 영향을 미침</a:t>
            </a:r>
            <a:endParaRPr lang="en-US" altLang="ko-KR" sz="16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2468" name="바닥글 개체 틀 4">
            <a:extLst>
              <a:ext uri="{FF2B5EF4-FFF2-40B4-BE49-F238E27FC236}">
                <a16:creationId xmlns:a16="http://schemas.microsoft.com/office/drawing/2014/main" id="{3869F51E-86E4-4859-AAFF-20DEBB927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62469" name="슬라이드 번호 개체 틀 5">
            <a:extLst>
              <a:ext uri="{FF2B5EF4-FFF2-40B4-BE49-F238E27FC236}">
                <a16:creationId xmlns:a16="http://schemas.microsoft.com/office/drawing/2014/main" id="{CE4D9DA8-06F8-4137-A5C7-757DC42EA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82716853-E83E-49C2-8ABA-D3F49CC2731C}" type="slidenum">
              <a:rPr lang="ko-KR" altLang="en-US" sz="1200" b="0">
                <a:solidFill>
                  <a:schemeClr val="tx1"/>
                </a:solidFill>
              </a:rPr>
              <a:pPr/>
              <a:t>59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62470" name="Rectangle 2">
            <a:extLst>
              <a:ext uri="{FF2B5EF4-FFF2-40B4-BE49-F238E27FC236}">
                <a16:creationId xmlns:a16="http://schemas.microsoft.com/office/drawing/2014/main" id="{03E2DAC6-8731-4ACD-8704-18BA935D9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2471" name="Rectangle 3">
            <a:extLst>
              <a:ext uri="{FF2B5EF4-FFF2-40B4-BE49-F238E27FC236}">
                <a16:creationId xmlns:a16="http://schemas.microsoft.com/office/drawing/2014/main" id="{3F0DFB5B-0F45-4029-B5DB-92615BC70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736" y="1747397"/>
            <a:ext cx="6891306" cy="450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321918"/>
      </p:ext>
    </p:extLst>
  </p:cSld>
  <p:clrMapOvr>
    <a:masterClrMapping/>
  </p:clrMapOvr>
  <p:transition spd="med">
    <p:wipe dir="r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6">
            <a:extLst>
              <a:ext uri="{FF2B5EF4-FFF2-40B4-BE49-F238E27FC236}">
                <a16:creationId xmlns:a16="http://schemas.microsoft.com/office/drawing/2014/main" id="{B4743CA9-9208-4FC7-9B0A-923F84D5D9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12875" y="-196850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선택실험법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(choice experiment)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467" name="Rectangle 7">
                <a:extLst>
                  <a:ext uri="{FF2B5EF4-FFF2-40B4-BE49-F238E27FC236}">
                    <a16:creationId xmlns:a16="http://schemas.microsoft.com/office/drawing/2014/main" id="{DE611BC9-0928-4E27-BDE3-62111F5C04D9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47738" y="1181100"/>
                <a:ext cx="7493000" cy="4691063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각 응답자가 선택실험법을 통해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𝐾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번의 선택을 연속으로 할 때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각 선택에서 제시되는 환경개선사업의 종류가 서로 다르면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유인일치성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측면에서 문제가 발생할 수 있음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응답자가 여러 환경개선사업이 동시에 시행되는 것을 고려할 경우 환경개선사업 간의 대체나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보완관계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자신이 지불해야할 비용 등을 생각해야 하므로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유인일치적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행동을 하기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어려워짐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다음의 조건을 지켜야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유인일치성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유지할 수 있음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보슬러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외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en-US" altLang="ko-KR" sz="2000" dirty="0" err="1">
                    <a:latin typeface="나눔명조" pitchFamily="18" charset="-127"/>
                    <a:ea typeface="나눔명조" pitchFamily="18" charset="-127"/>
                  </a:rPr>
                  <a:t>Vossler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et al., 2012))</a:t>
                </a: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응답자가 자신의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응답대로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비용을 결국 지불한다고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인식토록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해야함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𝑘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번의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선택대상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사업이 모두 같은 사업이지만 정도나 특성의 차이만 있도록 해야함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각 선택의 결과가 최종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정책선택에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미치는 영향이 서로 독립적이라 믿게 해야함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예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: 10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번의 응답 중 몇 번째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응답결과를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정책에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반영할지는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추첨으로 결정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</a:p>
            </p:txBody>
          </p:sp>
        </mc:Choice>
        <mc:Fallback xmlns="">
          <p:sp>
            <p:nvSpPr>
              <p:cNvPr id="62467" name="Rectangle 7">
                <a:extLst>
                  <a:ext uri="{FF2B5EF4-FFF2-40B4-BE49-F238E27FC236}">
                    <a16:creationId xmlns:a16="http://schemas.microsoft.com/office/drawing/2014/main" id="{DE611BC9-0928-4E27-BDE3-62111F5C04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7738" y="1181100"/>
                <a:ext cx="7493000" cy="4691063"/>
              </a:xfrm>
              <a:blipFill>
                <a:blip r:embed="rId3"/>
                <a:stretch>
                  <a:fillRect l="-732" t="-1040" r="-2846" b="-10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468" name="바닥글 개체 틀 4">
            <a:extLst>
              <a:ext uri="{FF2B5EF4-FFF2-40B4-BE49-F238E27FC236}">
                <a16:creationId xmlns:a16="http://schemas.microsoft.com/office/drawing/2014/main" id="{3869F51E-86E4-4859-AAFF-20DEBB927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62469" name="슬라이드 번호 개체 틀 5">
            <a:extLst>
              <a:ext uri="{FF2B5EF4-FFF2-40B4-BE49-F238E27FC236}">
                <a16:creationId xmlns:a16="http://schemas.microsoft.com/office/drawing/2014/main" id="{CE4D9DA8-06F8-4137-A5C7-757DC42EA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82716853-E83E-49C2-8ABA-D3F49CC2731C}" type="slidenum">
              <a:rPr lang="ko-KR" altLang="en-US" sz="1200" b="0">
                <a:solidFill>
                  <a:schemeClr val="tx1"/>
                </a:solidFill>
              </a:rPr>
              <a:pPr/>
              <a:t>60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62470" name="Rectangle 2">
            <a:extLst>
              <a:ext uri="{FF2B5EF4-FFF2-40B4-BE49-F238E27FC236}">
                <a16:creationId xmlns:a16="http://schemas.microsoft.com/office/drawing/2014/main" id="{03E2DAC6-8731-4ACD-8704-18BA935D9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2471" name="Rectangle 3">
            <a:extLst>
              <a:ext uri="{FF2B5EF4-FFF2-40B4-BE49-F238E27FC236}">
                <a16:creationId xmlns:a16="http://schemas.microsoft.com/office/drawing/2014/main" id="{3F0DFB5B-0F45-4029-B5DB-92615BC70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6047337"/>
      </p:ext>
    </p:extLst>
  </p:cSld>
  <p:clrMapOvr>
    <a:masterClrMapping/>
  </p:clrMapOvr>
  <p:transition spd="med">
    <p:wipe dir="r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6">
            <a:extLst>
              <a:ext uri="{FF2B5EF4-FFF2-40B4-BE49-F238E27FC236}">
                <a16:creationId xmlns:a16="http://schemas.microsoft.com/office/drawing/2014/main" id="{791459C5-B156-4461-9625-10A74CFEEE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가상행위평가법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(contingent activity)</a:t>
            </a:r>
          </a:p>
        </p:txBody>
      </p:sp>
      <p:sp>
        <p:nvSpPr>
          <p:cNvPr id="63491" name="Rectangle 7">
            <a:extLst>
              <a:ext uri="{FF2B5EF4-FFF2-40B4-BE49-F238E27FC236}">
                <a16:creationId xmlns:a16="http://schemas.microsoft.com/office/drawing/2014/main" id="{3BB7E5FF-07AB-490B-940D-A6C4BE7102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90600" y="1562100"/>
            <a:ext cx="7493000" cy="4689475"/>
          </a:xfrm>
        </p:spPr>
        <p:txBody>
          <a:bodyPr/>
          <a:lstStyle/>
          <a:p>
            <a:pPr eaLnBrk="1" hangingPunct="1"/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환경질 변화가 발생할 경우 응답자가 자신이 기존에 하고 있던 행동을 어떻게 바꿀 것인지를 묻는 방법</a:t>
            </a:r>
          </a:p>
          <a:p>
            <a:pPr lvl="1" eaLnBrk="1" hangingPunct="1"/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220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어떤 자연휴양지의 환경질이 변하였을 때 이로 인해 발생하는 편익을 평가하기 위해 이 휴양지를 방문하는 사람들을 대상으로 환경질 변화 후에 방문횟수가 어떻게 달라질 것인지를 설문하고</a:t>
            </a:r>
            <a:r>
              <a:rPr lang="en-US" altLang="ko-KR" sz="22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그 응답결과를 이용해 이 휴양지의 수요곡선과 사용가치가 어떻게 달라지는지를 파악할 수 있음</a:t>
            </a:r>
          </a:p>
          <a:p>
            <a:pPr eaLnBrk="1" hangingPunct="1"/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현시선호기법과 진술선호기법이 결합되어 있는 분석법이라 할 수 있음</a:t>
            </a:r>
          </a:p>
        </p:txBody>
      </p:sp>
      <p:sp>
        <p:nvSpPr>
          <p:cNvPr id="63492" name="바닥글 개체 틀 4">
            <a:extLst>
              <a:ext uri="{FF2B5EF4-FFF2-40B4-BE49-F238E27FC236}">
                <a16:creationId xmlns:a16="http://schemas.microsoft.com/office/drawing/2014/main" id="{43C55F89-6FCB-45B0-AA98-E334157EA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63493" name="슬라이드 번호 개체 틀 5">
            <a:extLst>
              <a:ext uri="{FF2B5EF4-FFF2-40B4-BE49-F238E27FC236}">
                <a16:creationId xmlns:a16="http://schemas.microsoft.com/office/drawing/2014/main" id="{4F13E657-8155-426E-BF47-CE74B09FA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AF092B7-674B-41E1-96E0-2B10D1355B61}" type="slidenum">
              <a:rPr lang="ko-KR" altLang="en-US" sz="1200" b="0">
                <a:solidFill>
                  <a:schemeClr val="tx1"/>
                </a:solidFill>
              </a:rPr>
              <a:pPr/>
              <a:t>61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63494" name="Rectangle 2">
            <a:extLst>
              <a:ext uri="{FF2B5EF4-FFF2-40B4-BE49-F238E27FC236}">
                <a16:creationId xmlns:a16="http://schemas.microsoft.com/office/drawing/2014/main" id="{724C846A-6F73-4091-A981-5ADD0FEAA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3495" name="Rectangle 3">
            <a:extLst>
              <a:ext uri="{FF2B5EF4-FFF2-40B4-BE49-F238E27FC236}">
                <a16:creationId xmlns:a16="http://schemas.microsoft.com/office/drawing/2014/main" id="{B796B4E4-53EE-4D61-A019-71E23A1E3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6">
            <a:extLst>
              <a:ext uri="{FF2B5EF4-FFF2-40B4-BE49-F238E27FC236}">
                <a16:creationId xmlns:a16="http://schemas.microsoft.com/office/drawing/2014/main" id="{203A3E47-1982-431E-AA69-BA3E118B83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모의시장분석과 실험 및 행동경제학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4515" name="Rectangle 7">
            <a:extLst>
              <a:ext uri="{FF2B5EF4-FFF2-40B4-BE49-F238E27FC236}">
                <a16:creationId xmlns:a16="http://schemas.microsoft.com/office/drawing/2014/main" id="{5CF62F6A-6600-4B8F-854A-C104A06870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90600" y="1533525"/>
            <a:ext cx="7493000" cy="4689475"/>
          </a:xfrm>
        </p:spPr>
        <p:txBody>
          <a:bodyPr/>
          <a:lstStyle/>
          <a:p>
            <a:pPr eaLnBrk="1" hangingPunct="1"/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실험경제학과 행동경제학</a:t>
            </a:r>
            <a:endParaRPr lang="en-US" altLang="ko-KR" sz="260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사람들의 경제행위에 대해 경제이론이 예측하는 바가 정확한지를 실험을 통해 평가하는 학문</a:t>
            </a:r>
          </a:p>
          <a:p>
            <a:pPr lvl="1" eaLnBrk="1" hangingPunct="1"/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실험경제분석법은 원할 경우 대부분의 변수들을 통제하면서 특정 변수가 경제행위에 미치는 영향을 평가할 수 있음</a:t>
            </a:r>
          </a:p>
          <a:p>
            <a:pPr lvl="1" eaLnBrk="1" hangingPunct="1"/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기존의 실증분석법들은 사람들이 의사결정을 하는 원칙을 미리 정해놓고 분석함에 반해</a:t>
            </a:r>
            <a:r>
              <a:rPr lang="en-US" altLang="ko-KR" sz="22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실험경제학은 의사결정원칙 자체가 타당한지를 검증할 수 있음</a:t>
            </a:r>
          </a:p>
          <a:p>
            <a:pPr eaLnBrk="1" hangingPunct="1"/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최근 이 분석법의 장점이 부각되면서 적용사례가 급속히 늘고 있음</a:t>
            </a:r>
          </a:p>
        </p:txBody>
      </p:sp>
      <p:sp>
        <p:nvSpPr>
          <p:cNvPr id="64516" name="바닥글 개체 틀 4">
            <a:extLst>
              <a:ext uri="{FF2B5EF4-FFF2-40B4-BE49-F238E27FC236}">
                <a16:creationId xmlns:a16="http://schemas.microsoft.com/office/drawing/2014/main" id="{B9107E54-84EF-45F5-B7FD-C6D6A6A06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64517" name="슬라이드 번호 개체 틀 5">
            <a:extLst>
              <a:ext uri="{FF2B5EF4-FFF2-40B4-BE49-F238E27FC236}">
                <a16:creationId xmlns:a16="http://schemas.microsoft.com/office/drawing/2014/main" id="{3D2DBEF7-1C44-43D0-B311-1A7A2BE0E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495004BF-68A7-4FC3-B6CF-0EB1A83269DA}" type="slidenum">
              <a:rPr lang="ko-KR" altLang="en-US" sz="1200" b="0">
                <a:solidFill>
                  <a:schemeClr val="tx1"/>
                </a:solidFill>
              </a:rPr>
              <a:pPr/>
              <a:t>62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64518" name="Rectangle 2">
            <a:extLst>
              <a:ext uri="{FF2B5EF4-FFF2-40B4-BE49-F238E27FC236}">
                <a16:creationId xmlns:a16="http://schemas.microsoft.com/office/drawing/2014/main" id="{0DBC56A3-7EC9-400D-873B-906C6AFBD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4519" name="Rectangle 3">
            <a:extLst>
              <a:ext uri="{FF2B5EF4-FFF2-40B4-BE49-F238E27FC236}">
                <a16:creationId xmlns:a16="http://schemas.microsoft.com/office/drawing/2014/main" id="{EA9952F5-CCF5-4E32-B99C-313305F89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6">
            <a:extLst>
              <a:ext uri="{FF2B5EF4-FFF2-40B4-BE49-F238E27FC236}">
                <a16:creationId xmlns:a16="http://schemas.microsoft.com/office/drawing/2014/main" id="{C2A8EACA-4CD8-49DA-ABEC-F352C4E557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모의시장분석과 실험 및 행동경제학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5539" name="Rectangle 7">
            <a:extLst>
              <a:ext uri="{FF2B5EF4-FFF2-40B4-BE49-F238E27FC236}">
                <a16:creationId xmlns:a16="http://schemas.microsoft.com/office/drawing/2014/main" id="{A94233EF-ACC3-4255-8C10-1CAF0C442F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19175" y="1392238"/>
            <a:ext cx="7491413" cy="4691062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환경재의 가치평가와 관련하여 실험경제학 연구는 크게 세 가지 방향으로 진행되어 옴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1.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환경재의 가치평가법이 근거로 삼고 있는 각 개인의 의사결정의 합리성 가정이 적합한지를 검증하는 것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2.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실제로 환경재와 같은 공공재에 대한 가치평가를 수행하는 것</a:t>
            </a:r>
          </a:p>
          <a:p>
            <a:pPr lvl="2" eaLnBrk="1" hangingPunct="1"/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모의시장에서의 경매</a:t>
            </a:r>
            <a:r>
              <a:rPr lang="en-US" altLang="ko-KR" sz="1800">
                <a:latin typeface="나눔명조" pitchFamily="18" charset="-127"/>
                <a:ea typeface="나눔명조" pitchFamily="18" charset="-127"/>
              </a:rPr>
              <a:t>(auction)</a:t>
            </a:r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를 실시</a:t>
            </a:r>
          </a:p>
          <a:p>
            <a:pPr lvl="2" eaLnBrk="1" hangingPunct="1"/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실험을 통해 대상 공공재에 대한 지불의사와 수용의사를 도출함은 물론 실험을 통한 가치도출이 어느 정도나 신뢰할만한지를 검증하는 연구들도 병행함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3. CVM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과 같은 진술선호평가법의 적합성을 확인하는 시험대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(testbed)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로 실험분석법을 활용</a:t>
            </a:r>
          </a:p>
          <a:p>
            <a:pPr lvl="2" eaLnBrk="1" hangingPunct="1"/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모의시장 설계를 통해 모의시장에서 도출된 환경재 가치와 진술선호법에서 도출된 가치를 비교할 수 있음</a:t>
            </a:r>
          </a:p>
        </p:txBody>
      </p:sp>
      <p:sp>
        <p:nvSpPr>
          <p:cNvPr id="65540" name="바닥글 개체 틀 4">
            <a:extLst>
              <a:ext uri="{FF2B5EF4-FFF2-40B4-BE49-F238E27FC236}">
                <a16:creationId xmlns:a16="http://schemas.microsoft.com/office/drawing/2014/main" id="{1E9B1743-380E-4702-AD04-F39C63866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65541" name="슬라이드 번호 개체 틀 5">
            <a:extLst>
              <a:ext uri="{FF2B5EF4-FFF2-40B4-BE49-F238E27FC236}">
                <a16:creationId xmlns:a16="http://schemas.microsoft.com/office/drawing/2014/main" id="{0615727F-723C-4ED1-83D6-ECC243D50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BAE6525D-9C4E-4D42-B7CF-DB9F6DBDBADA}" type="slidenum">
              <a:rPr lang="ko-KR" altLang="en-US" sz="1200" b="0">
                <a:solidFill>
                  <a:schemeClr val="tx1"/>
                </a:solidFill>
              </a:rPr>
              <a:pPr/>
              <a:t>63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65542" name="Rectangle 2">
            <a:extLst>
              <a:ext uri="{FF2B5EF4-FFF2-40B4-BE49-F238E27FC236}">
                <a16:creationId xmlns:a16="http://schemas.microsoft.com/office/drawing/2014/main" id="{5103109D-D17D-4C1D-BE6D-7FDD23987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5543" name="Rectangle 3">
            <a:extLst>
              <a:ext uri="{FF2B5EF4-FFF2-40B4-BE49-F238E27FC236}">
                <a16:creationId xmlns:a16="http://schemas.microsoft.com/office/drawing/2014/main" id="{C591ADAA-A5F3-4CC1-B671-268CF291A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6">
            <a:extLst>
              <a:ext uri="{FF2B5EF4-FFF2-40B4-BE49-F238E27FC236}">
                <a16:creationId xmlns:a16="http://schemas.microsoft.com/office/drawing/2014/main" id="{4773DF4F-6FCB-4AAA-9037-FADCDA579A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편익이전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(benefit transfer)</a:t>
            </a:r>
          </a:p>
        </p:txBody>
      </p:sp>
      <p:sp>
        <p:nvSpPr>
          <p:cNvPr id="71683" name="Rectangle 7">
            <a:extLst>
              <a:ext uri="{FF2B5EF4-FFF2-40B4-BE49-F238E27FC236}">
                <a16:creationId xmlns:a16="http://schemas.microsoft.com/office/drawing/2014/main" id="{5529398D-4884-44AA-81D1-A5111C76A6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90600" y="1687513"/>
            <a:ext cx="7493000" cy="4691062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원칙적으로는 새로운 환경정책이 도입될 때마다 새롭게 편익을 추정해야 하지만 그에 따른 금전적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시간적 비용이 너무 클 수 있음</a:t>
            </a:r>
          </a:p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편익이전은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환경정책의 편익을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정책별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지역별로 매번 추정함으로써 지출해야 하는 비용을 줄이고자 고안된 방법임</a:t>
            </a:r>
          </a:p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편익이전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방법</a:t>
            </a: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가치이전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(value transfer)</a:t>
            </a: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수도권 홍수조절기능의 가치가 있으면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이를 농촌에 적용할 경우 평균소득의 차이나 인구밀도의 차이 등만을 감안하여 조절한 후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이를 농촌지역의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인당 지불액이라 간주하는 방식</a:t>
            </a:r>
          </a:p>
        </p:txBody>
      </p:sp>
      <p:sp>
        <p:nvSpPr>
          <p:cNvPr id="71684" name="바닥글 개체 틀 4">
            <a:extLst>
              <a:ext uri="{FF2B5EF4-FFF2-40B4-BE49-F238E27FC236}">
                <a16:creationId xmlns:a16="http://schemas.microsoft.com/office/drawing/2014/main" id="{3E23D828-369C-4D06-A881-F5F041397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71685" name="슬라이드 번호 개체 틀 5">
            <a:extLst>
              <a:ext uri="{FF2B5EF4-FFF2-40B4-BE49-F238E27FC236}">
                <a16:creationId xmlns:a16="http://schemas.microsoft.com/office/drawing/2014/main" id="{E18AA6F4-4D51-4607-BC06-19D0B80F3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3CBF16E2-4AA8-4F25-8149-AEB6B940BBB5}" type="slidenum">
              <a:rPr lang="ko-KR" altLang="en-US" sz="1200" b="0">
                <a:solidFill>
                  <a:schemeClr val="tx1"/>
                </a:solidFill>
              </a:rPr>
              <a:pPr/>
              <a:t>64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71686" name="Rectangle 2">
            <a:extLst>
              <a:ext uri="{FF2B5EF4-FFF2-40B4-BE49-F238E27FC236}">
                <a16:creationId xmlns:a16="http://schemas.microsoft.com/office/drawing/2014/main" id="{4C6D79B9-C09E-4405-983D-3CC8C1CCD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71687" name="Rectangle 3">
            <a:extLst>
              <a:ext uri="{FF2B5EF4-FFF2-40B4-BE49-F238E27FC236}">
                <a16:creationId xmlns:a16="http://schemas.microsoft.com/office/drawing/2014/main" id="{7EC18975-9D32-4CFF-B40C-1A8E6B0AE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6">
            <a:extLst>
              <a:ext uri="{FF2B5EF4-FFF2-40B4-BE49-F238E27FC236}">
                <a16:creationId xmlns:a16="http://schemas.microsoft.com/office/drawing/2014/main" id="{1B19EB00-2BFC-4607-B91C-5E8A4AFFF2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5057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편익이전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(benefit transfer)</a:t>
            </a:r>
          </a:p>
        </p:txBody>
      </p:sp>
      <p:sp>
        <p:nvSpPr>
          <p:cNvPr id="72707" name="Rectangle 7">
            <a:extLst>
              <a:ext uri="{FF2B5EF4-FFF2-40B4-BE49-F238E27FC236}">
                <a16:creationId xmlns:a16="http://schemas.microsoft.com/office/drawing/2014/main" id="{788FB99E-D7DB-4091-AC97-C6660E65A7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90600" y="1377950"/>
            <a:ext cx="7493000" cy="5000625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편익이전 방법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계속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  <a:endParaRPr lang="ko-KR" altLang="en-US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함수이전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(function transfer)</a:t>
            </a:r>
          </a:p>
          <a:p>
            <a:pPr lvl="2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수도권지역 주민들로부터 얻은 자료를 활용하여 추정한 효용함수나 지불의사함수가 농촌지역에서도 그대로 적용된다고 보고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농촌지역에서의 소득 및 여타 사회경제적 변수들의 값을 수도권의 자료를 이용해 추정한 함수에 대입하여 농촌의 지불액을 예측하는 방식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메타분석법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(meta analysis)</a:t>
            </a:r>
          </a:p>
          <a:p>
            <a:pPr lvl="2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이미 시행된 다양한 평가연구들의 결과를 수집하여 이들이 도출한 환경편익의 가치를 평가대상 환경재의 특성과 평가지역이나 국가의 사회경제적 변수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평가기법 등에 대해 다음과 같이 회귀분석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       WTP</a:t>
            </a:r>
            <a:r>
              <a:rPr lang="en-US" altLang="ko-KR" sz="18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800" baseline="-25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i</a:t>
            </a:r>
            <a:r>
              <a:rPr lang="en-US" altLang="ko-KR" sz="18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=f(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평가대상의 특성</a:t>
            </a:r>
            <a:r>
              <a:rPr lang="en-US" altLang="ko-KR" sz="18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800" baseline="-25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i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평가지역의 특성</a:t>
            </a:r>
            <a:r>
              <a:rPr lang="en-US" altLang="ko-KR" sz="18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800" baseline="-25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i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평가기법의 종류</a:t>
            </a:r>
            <a:r>
              <a:rPr lang="en-US" altLang="ko-KR" sz="18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800" baseline="-25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i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)+</a:t>
            </a:r>
            <a:r>
              <a:rPr lang="el-GR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ε</a:t>
            </a:r>
            <a:r>
              <a:rPr lang="en-US" altLang="ko-KR" sz="1800" u="sng" baseline="-25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i</a:t>
            </a:r>
            <a:endParaRPr lang="en-US" altLang="ko-KR" sz="1800" u="sng" baseline="-25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2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아직 평가되지 않은 평가대상이나 지역의 특성을 회귀식에 대입하여 이 대상이나 지역에서의 가치를 도출할 수 있음</a:t>
            </a:r>
          </a:p>
        </p:txBody>
      </p:sp>
      <p:sp>
        <p:nvSpPr>
          <p:cNvPr id="72708" name="바닥글 개체 틀 4">
            <a:extLst>
              <a:ext uri="{FF2B5EF4-FFF2-40B4-BE49-F238E27FC236}">
                <a16:creationId xmlns:a16="http://schemas.microsoft.com/office/drawing/2014/main" id="{7434DFD7-D121-4E04-8B4E-403E3FF72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72709" name="슬라이드 번호 개체 틀 5">
            <a:extLst>
              <a:ext uri="{FF2B5EF4-FFF2-40B4-BE49-F238E27FC236}">
                <a16:creationId xmlns:a16="http://schemas.microsoft.com/office/drawing/2014/main" id="{54314B31-613A-4607-8FDC-A93CCE87D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B6E3B7CA-2578-41E2-B010-78A61925101D}" type="slidenum">
              <a:rPr lang="ko-KR" altLang="en-US" sz="1200" b="0">
                <a:solidFill>
                  <a:schemeClr val="tx1"/>
                </a:solidFill>
              </a:rPr>
              <a:pPr/>
              <a:t>65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72710" name="Rectangle 2">
            <a:extLst>
              <a:ext uri="{FF2B5EF4-FFF2-40B4-BE49-F238E27FC236}">
                <a16:creationId xmlns:a16="http://schemas.microsoft.com/office/drawing/2014/main" id="{9C6EED82-44E9-4D66-9F0F-B5399C5E7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72711" name="Rectangle 3">
            <a:extLst>
              <a:ext uri="{FF2B5EF4-FFF2-40B4-BE49-F238E27FC236}">
                <a16:creationId xmlns:a16="http://schemas.microsoft.com/office/drawing/2014/main" id="{F5B95B23-C589-4BBB-A56E-6088DBC1B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028">
            <a:extLst>
              <a:ext uri="{FF2B5EF4-FFF2-40B4-BE49-F238E27FC236}">
                <a16:creationId xmlns:a16="http://schemas.microsoft.com/office/drawing/2014/main" id="{EC3640BA-297B-4B6A-B9B8-AE33B099EC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19875" y="384419"/>
            <a:ext cx="4190023" cy="67945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메타분석 적용 사례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고딕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731" name="Rectangle 1029">
                <a:extLst>
                  <a:ext uri="{FF2B5EF4-FFF2-40B4-BE49-F238E27FC236}">
                    <a16:creationId xmlns:a16="http://schemas.microsoft.com/office/drawing/2014/main" id="{C2B5D75F-53B3-4893-BCB0-389A49FBC760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42975" y="1187450"/>
                <a:ext cx="7743825" cy="433705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안소은</a:t>
                </a:r>
                <a:r>
                  <a:rPr lang="en-US" altLang="ko-KR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(2007)</a:t>
                </a:r>
              </a:p>
              <a:p>
                <a:pPr lvl="1" eaLnBrk="1" hangingPunct="1"/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국내에서 시행된 </a:t>
                </a:r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64</a:t>
                </a:r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개 선행 연구결과를 이용해 습지의 환경적 가치를 </a:t>
                </a:r>
                <a:r>
                  <a:rPr lang="ko-KR" altLang="en-US" sz="22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메타분석함</a:t>
                </a:r>
                <a:endParaRPr lang="en-US" altLang="ko-KR" sz="22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marL="457200" lvl="1" indent="0" eaLnBrk="1" hangingPunct="1">
                  <a:buNone/>
                </a:pPr>
                <a:endParaRPr lang="en-US" altLang="ko-KR" sz="22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marL="457200" lvl="1" indent="0" eaLnBrk="1" hangingPunct="1">
                  <a:buNone/>
                </a:pPr>
                <a14:m>
                  <m:oMath xmlns:m="http://schemas.openxmlformats.org/officeDocument/2006/math">
                    <m:r>
                      <a:rPr lang="ko-KR" altLang="en-US" sz="2200" i="1" dirty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편</m:t>
                    </m:r>
                  </m:oMath>
                </a14:m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익</a:t>
                </a:r>
                <a14:m>
                  <m:oMath xmlns:m="http://schemas.openxmlformats.org/officeDocument/2006/math">
                    <m:r>
                      <a:rPr lang="en-US" altLang="ko-KR" sz="2200" b="0" i="1" dirty="0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=19.3−0.28</m:t>
                    </m:r>
                    <m:func>
                      <m:funcPr>
                        <m:ctrlPr>
                          <a:rPr lang="en-US" altLang="ko-KR" sz="2200" b="0" i="1" dirty="0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200" b="0" i="0" dirty="0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altLang="ko-KR" sz="2200" b="0" i="1" dirty="0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2200" i="1" dirty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면</m:t>
                            </m:r>
                            <m:r>
                              <a:rPr lang="ko-KR" altLang="en-US" sz="2200" i="1" dirty="0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적</m:t>
                            </m:r>
                          </m:e>
                        </m:d>
                      </m:e>
                    </m:func>
                    <m:r>
                      <a:rPr lang="en-US" altLang="ko-KR" sz="2200" b="0" i="1" dirty="0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+1.43</m:t>
                    </m:r>
                  </m:oMath>
                </a14:m>
                <a:r>
                  <a:rPr lang="en-US" altLang="ko-KR" sz="2200" b="0" dirty="0">
                    <a:latin typeface="Cambria Math" panose="020405030504060302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2200" b="0" dirty="0" err="1">
                    <a:latin typeface="Cambria Math" panose="020405030504060302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연안습지면</a:t>
                </a:r>
                <a:r>
                  <a:rPr lang="ko-KR" altLang="en-US" sz="2200" b="0" dirty="0">
                    <a:latin typeface="Cambria Math" panose="020405030504060302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2200" b="0" dirty="0">
                    <a:latin typeface="Cambria Math" panose="020405030504060302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1, </a:t>
                </a:r>
                <a:r>
                  <a:rPr lang="ko-KR" altLang="en-US" sz="2200" b="0" dirty="0">
                    <a:latin typeface="Cambria Math" panose="020405030504060302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아니면 </a:t>
                </a:r>
                <a:r>
                  <a:rPr lang="en-US" altLang="ko-KR" sz="2200" b="0" dirty="0">
                    <a:latin typeface="Cambria Math" panose="020405030504060302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0)</a:t>
                </a:r>
                <a:endParaRPr lang="en-US" altLang="ko-KR" sz="2200" b="0" i="1" dirty="0">
                  <a:latin typeface="Cambria Math" panose="020405030504060302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marL="457200" lvl="1" indent="0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ko-KR" sz="2200" b="0" i="1" dirty="0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−3.43(</m:t>
                    </m:r>
                    <m:r>
                      <a:rPr lang="ko-KR" altLang="en-US" sz="2200" i="1" dirty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시</m:t>
                    </m:r>
                  </m:oMath>
                </a14:m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장가격법이면 </a:t>
                </a:r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1)</a:t>
                </a:r>
                <a14:m>
                  <m:oMath xmlns:m="http://schemas.openxmlformats.org/officeDocument/2006/math">
                    <m:r>
                      <a:rPr lang="en-US" altLang="ko-KR" sz="22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−2.46(</m:t>
                    </m:r>
                  </m:oMath>
                </a14:m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CVM</a:t>
                </a:r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이면 </a:t>
                </a:r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1)</a:t>
                </a:r>
                <a14:m>
                  <m:oMath xmlns:m="http://schemas.openxmlformats.org/officeDocument/2006/math">
                    <m:r>
                      <a:rPr lang="en-US" altLang="ko-KR" sz="22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ko-K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</m:oMath>
                </a14:m>
                <a:endParaRPr lang="en-US" altLang="ko-KR" sz="2200" b="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457200" lvl="1" indent="0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ko-K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−1.05</m:t>
                    </m:r>
                    <m:d>
                      <m:dPr>
                        <m:ctrlPr>
                          <a:rPr lang="en-US" altLang="ko-K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ko-KR" alt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등</m:t>
                        </m:r>
                        <m:r>
                          <a:rPr lang="ko-KR" alt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재</m:t>
                        </m:r>
                        <m:r>
                          <a:rPr lang="ko-KR" alt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학</m:t>
                        </m:r>
                        <m:r>
                          <a:rPr lang="ko-KR" alt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술</m:t>
                        </m:r>
                        <m:r>
                          <a:rPr lang="ko-KR" alt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지</m:t>
                        </m:r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ko-KR" alt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발</m:t>
                        </m:r>
                        <m:r>
                          <a:rPr lang="ko-KR" alt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표</m:t>
                        </m:r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ko-KR" alt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연</m:t>
                        </m:r>
                        <m:r>
                          <a:rPr lang="ko-KR" alt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구</m:t>
                        </m:r>
                        <m:r>
                          <a:rPr lang="ko-KR" alt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면</m:t>
                        </m:r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1</m:t>
                        </m:r>
                      </m:e>
                    </m:d>
                    <m:r>
                      <a:rPr lang="en-US" altLang="ko-K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+0.273(</m:t>
                    </m:r>
                    <m:r>
                      <a:rPr lang="ko-KR" alt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연</m:t>
                    </m:r>
                  </m:oMath>
                </a14:m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도</a:t>
                </a:r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)</a:t>
                </a:r>
              </a:p>
              <a:p>
                <a:pPr marL="457200" lvl="1" indent="0" eaLnBrk="1" hangingPunct="1">
                  <a:buNone/>
                </a:pPr>
                <a:endParaRPr lang="en-US" altLang="ko-KR" sz="22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습지 자체의 특성과 </a:t>
                </a:r>
                <a:r>
                  <a:rPr lang="ko-KR" altLang="en-US" sz="22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적용기법의</a:t>
                </a:r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특성</a:t>
                </a:r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학술연구인지 아닌지 등이 추정된 </a:t>
                </a:r>
                <a:r>
                  <a:rPr lang="ko-KR" altLang="en-US" sz="22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환경재</a:t>
                </a:r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가치에 영향을 미칠 수 있음을 보여줌</a:t>
                </a:r>
                <a:endParaRPr lang="en-US" altLang="ko-KR" sz="22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731" name="Rectangle 1029">
                <a:extLst>
                  <a:ext uri="{FF2B5EF4-FFF2-40B4-BE49-F238E27FC236}">
                    <a16:creationId xmlns:a16="http://schemas.microsoft.com/office/drawing/2014/main" id="{C2B5D75F-53B3-4893-BCB0-389A49FBC7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2975" y="1187450"/>
                <a:ext cx="7743825" cy="4337050"/>
              </a:xfrm>
              <a:blipFill>
                <a:blip r:embed="rId2"/>
                <a:stretch>
                  <a:fillRect l="-1260" t="-1547" r="-2520" b="-19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732" name="바닥글 개체 틀 4">
            <a:extLst>
              <a:ext uri="{FF2B5EF4-FFF2-40B4-BE49-F238E27FC236}">
                <a16:creationId xmlns:a16="http://schemas.microsoft.com/office/drawing/2014/main" id="{334A4239-B368-499F-9B54-A7BF754F5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17</a:t>
            </a:r>
          </a:p>
        </p:txBody>
      </p:sp>
      <p:sp>
        <p:nvSpPr>
          <p:cNvPr id="73733" name="슬라이드 번호 개체 틀 5">
            <a:extLst>
              <a:ext uri="{FF2B5EF4-FFF2-40B4-BE49-F238E27FC236}">
                <a16:creationId xmlns:a16="http://schemas.microsoft.com/office/drawing/2014/main" id="{6A5E9B81-C648-495F-89EA-A989C1E52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0CB26B8-3211-4056-8642-9DDF04C9293C}" type="slidenum">
              <a:rPr lang="ko-KR" altLang="en-US" sz="1200" b="0">
                <a:solidFill>
                  <a:schemeClr val="tx1"/>
                </a:solidFill>
              </a:rPr>
              <a:pPr/>
              <a:t>66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ndyck">
  <a:themeElements>
    <a:clrScheme name="Pindyck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Pindy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indyck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2347</TotalTime>
  <Words>5376</Words>
  <Application>Microsoft Office PowerPoint</Application>
  <PresentationFormat>화면 슬라이드 쇼(4:3)</PresentationFormat>
  <Paragraphs>612</Paragraphs>
  <Slides>66</Slides>
  <Notes>55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66</vt:i4>
      </vt:variant>
    </vt:vector>
  </HeadingPairs>
  <TitlesOfParts>
    <vt:vector size="77" baseType="lpstr">
      <vt:lpstr>굴림</vt:lpstr>
      <vt:lpstr>나눔고딕</vt:lpstr>
      <vt:lpstr>나눔명조</vt:lpstr>
      <vt:lpstr>맑은 고딕</vt:lpstr>
      <vt:lpstr>Arial</vt:lpstr>
      <vt:lpstr>Cambria Math</vt:lpstr>
      <vt:lpstr>Century Gothic</vt:lpstr>
      <vt:lpstr>Times New Roman</vt:lpstr>
      <vt:lpstr>Verdana</vt:lpstr>
      <vt:lpstr>Wingdings</vt:lpstr>
      <vt:lpstr>Pindyck</vt:lpstr>
      <vt:lpstr>17장 개요</vt:lpstr>
      <vt:lpstr>환경개선의 편익분석 3: 진술선호법</vt:lpstr>
      <vt:lpstr>가상가치평가법의 역사</vt:lpstr>
      <vt:lpstr>가상가치평가법의 역사</vt:lpstr>
      <vt:lpstr>가상가치평가법의 역사</vt:lpstr>
      <vt:lpstr>가상가치평가법의 특징</vt:lpstr>
      <vt:lpstr>가상가치평가법의 특징</vt:lpstr>
      <vt:lpstr>CVM 과정</vt:lpstr>
      <vt:lpstr>CVM설문지의 예</vt:lpstr>
      <vt:lpstr>CVM설문지의 예</vt:lpstr>
      <vt:lpstr>CVM설문지의 예</vt:lpstr>
      <vt:lpstr>가상가치평가법의 설문조사 방법</vt:lpstr>
      <vt:lpstr>가상가치평가법의 질문형태 : 지불의사를 직접 표명하게 하는 질문</vt:lpstr>
      <vt:lpstr>가상가치평가법의 질문형태 : 지불의사를 직접 표명하게 하는 질문</vt:lpstr>
      <vt:lpstr>가상가치평가법의 질문형태 : 지불의사를 직접 표명하게 하는 질문</vt:lpstr>
      <vt:lpstr>가상가치평가법의 질문형태 : 지불의사를 직접 표명하게 하는 질문</vt:lpstr>
      <vt:lpstr>가상가치평가법의 질문형태 : 지불의사를 직접 표명하게 하는 질문</vt:lpstr>
      <vt:lpstr>가상가치평가법의 질문형태 : 투표모형 (referendum model)</vt:lpstr>
      <vt:lpstr>투표모형 CVM 적용 절차</vt:lpstr>
      <vt:lpstr>투표모형의 장점</vt:lpstr>
      <vt:lpstr>투표모형의 단점</vt:lpstr>
      <vt:lpstr>가상가치평가법의 질문형태 : 투표모형 (referendum model)</vt:lpstr>
      <vt:lpstr>가상가치평가법의 질문형태 : 투표모형 (referendum model)</vt:lpstr>
      <vt:lpstr>CS도출을 위한 추가적인 계량분석절차</vt:lpstr>
      <vt:lpstr>CS도출을 위한 추가적인 계량분석절차</vt:lpstr>
      <vt:lpstr>CS도출을 위한 추가적인 계량분석절차</vt:lpstr>
      <vt:lpstr>지불거부응답과 음(-)의 지불의사문제</vt:lpstr>
      <vt:lpstr>지불거부응답과 음(-)의 지불의사문제</vt:lpstr>
      <vt:lpstr>투표모형의 적용 사례</vt:lpstr>
      <vt:lpstr>가상가치평가법의 타당성에 관한 논의</vt:lpstr>
      <vt:lpstr>포함효과(embedding)</vt:lpstr>
      <vt:lpstr>포함효과(embedding)</vt:lpstr>
      <vt:lpstr>포함효과(embedding)</vt:lpstr>
      <vt:lpstr>전략적 편의</vt:lpstr>
      <vt:lpstr>전략적 편의의 검증 : 보옴(Bohm, 1972)의 실험</vt:lpstr>
      <vt:lpstr>PowerPoint 프레젠테이션</vt:lpstr>
      <vt:lpstr>전략적 편의의 검증 : 보옴(Bohm, 1972)의 실험</vt:lpstr>
      <vt:lpstr> 가설편의(hypothetical bias)</vt:lpstr>
      <vt:lpstr> 가설편의(hypothetical bias)</vt:lpstr>
      <vt:lpstr> 가설편의(hypothetical bias)</vt:lpstr>
      <vt:lpstr> 가설편의(hypothetical bias)</vt:lpstr>
      <vt:lpstr> 설계편의(design bias)</vt:lpstr>
      <vt:lpstr>지불수단편의(payment vehicle bias)</vt:lpstr>
      <vt:lpstr>무응답편의(nonresponse bias)</vt:lpstr>
      <vt:lpstr>엑손발데즈(Exxon Valdez) 사건,  BP 사건과 CVM의 타당성 검증</vt:lpstr>
      <vt:lpstr>엑손발데즈(Exxon Valdez) 사건,  BP 사건과 CVM의 타당성 검증</vt:lpstr>
      <vt:lpstr>엑손발데즈(Exxon Valdez) 사건,  BP 사건과 CVM의 타당성 검증</vt:lpstr>
      <vt:lpstr>CVM분석의 타당성 검증</vt:lpstr>
      <vt:lpstr>CVM분석의 타당성 검증</vt:lpstr>
      <vt:lpstr>CVM분석의 타당성 검증</vt:lpstr>
      <vt:lpstr>CVM분석의 타당성 검증</vt:lpstr>
      <vt:lpstr>선택실험법 (choice experiment)</vt:lpstr>
      <vt:lpstr>선택실험법 (choice experiment)</vt:lpstr>
      <vt:lpstr>선택실험법 (choice experiment)</vt:lpstr>
      <vt:lpstr>선택실험법 (choice experiment)</vt:lpstr>
      <vt:lpstr>선택실험법 (choice experiment)</vt:lpstr>
      <vt:lpstr>선택실험법 (choice experiment)</vt:lpstr>
      <vt:lpstr>선택실험법 (choice experiment)</vt:lpstr>
      <vt:lpstr>선택실험법 (choice experiment)</vt:lpstr>
      <vt:lpstr>선택실험법 (choice experiment)</vt:lpstr>
      <vt:lpstr>가상행위평가법(contingent activity)</vt:lpstr>
      <vt:lpstr>모의시장분석과 실험 및 행동경제학</vt:lpstr>
      <vt:lpstr>모의시장분석과 실험 및 행동경제학</vt:lpstr>
      <vt:lpstr>편익이전(benefit transfer)</vt:lpstr>
      <vt:lpstr>편익이전(benefit transfer)</vt:lpstr>
      <vt:lpstr>메타분석 적용 사례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Marie Truesdell</dc:creator>
  <cp:lastModifiedBy>User</cp:lastModifiedBy>
  <cp:revision>265</cp:revision>
  <dcterms:created xsi:type="dcterms:W3CDTF">1997-07-14T00:22:12Z</dcterms:created>
  <dcterms:modified xsi:type="dcterms:W3CDTF">2025-02-16T06:48:01Z</dcterms:modified>
</cp:coreProperties>
</file>