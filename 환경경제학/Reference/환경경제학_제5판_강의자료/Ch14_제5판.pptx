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5"/>
  </p:notesMasterIdLst>
  <p:handoutMasterIdLst>
    <p:handoutMasterId r:id="rId66"/>
  </p:handoutMasterIdLst>
  <p:sldIdLst>
    <p:sldId id="262" r:id="rId2"/>
    <p:sldId id="345" r:id="rId3"/>
    <p:sldId id="346" r:id="rId4"/>
    <p:sldId id="347" r:id="rId5"/>
    <p:sldId id="348" r:id="rId6"/>
    <p:sldId id="349" r:id="rId7"/>
    <p:sldId id="351" r:id="rId8"/>
    <p:sldId id="429" r:id="rId9"/>
    <p:sldId id="354" r:id="rId10"/>
    <p:sldId id="430" r:id="rId11"/>
    <p:sldId id="410" r:id="rId12"/>
    <p:sldId id="412" r:id="rId13"/>
    <p:sldId id="413" r:id="rId14"/>
    <p:sldId id="401" r:id="rId15"/>
    <p:sldId id="402" r:id="rId16"/>
    <p:sldId id="409" r:id="rId17"/>
    <p:sldId id="408" r:id="rId18"/>
    <p:sldId id="363" r:id="rId19"/>
    <p:sldId id="364" r:id="rId20"/>
    <p:sldId id="365" r:id="rId21"/>
    <p:sldId id="432" r:id="rId22"/>
    <p:sldId id="368" r:id="rId23"/>
    <p:sldId id="370" r:id="rId24"/>
    <p:sldId id="369" r:id="rId25"/>
    <p:sldId id="403" r:id="rId26"/>
    <p:sldId id="404" r:id="rId27"/>
    <p:sldId id="405" r:id="rId28"/>
    <p:sldId id="374" r:id="rId29"/>
    <p:sldId id="375" r:id="rId30"/>
    <p:sldId id="414" r:id="rId31"/>
    <p:sldId id="415" r:id="rId32"/>
    <p:sldId id="416" r:id="rId33"/>
    <p:sldId id="417" r:id="rId34"/>
    <p:sldId id="418" r:id="rId35"/>
    <p:sldId id="376" r:id="rId36"/>
    <p:sldId id="389" r:id="rId37"/>
    <p:sldId id="377" r:id="rId38"/>
    <p:sldId id="378" r:id="rId39"/>
    <p:sldId id="379" r:id="rId40"/>
    <p:sldId id="380" r:id="rId41"/>
    <p:sldId id="419" r:id="rId42"/>
    <p:sldId id="420" r:id="rId43"/>
    <p:sldId id="421" r:id="rId44"/>
    <p:sldId id="422" r:id="rId45"/>
    <p:sldId id="386" r:id="rId46"/>
    <p:sldId id="423" r:id="rId47"/>
    <p:sldId id="387" r:id="rId48"/>
    <p:sldId id="433" r:id="rId49"/>
    <p:sldId id="434" r:id="rId50"/>
    <p:sldId id="435" r:id="rId51"/>
    <p:sldId id="436" r:id="rId52"/>
    <p:sldId id="407" r:id="rId53"/>
    <p:sldId id="388" r:id="rId54"/>
    <p:sldId id="426" r:id="rId55"/>
    <p:sldId id="390" r:id="rId56"/>
    <p:sldId id="427" r:id="rId57"/>
    <p:sldId id="428" r:id="rId58"/>
    <p:sldId id="391" r:id="rId59"/>
    <p:sldId id="392" r:id="rId60"/>
    <p:sldId id="393" r:id="rId61"/>
    <p:sldId id="394" r:id="rId62"/>
    <p:sldId id="424" r:id="rId63"/>
    <p:sldId id="425" r:id="rId64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36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519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7869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331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236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3158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3902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628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2466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8532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17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360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736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214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214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17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475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06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275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5242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284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9112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732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5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5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5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5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475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72920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10715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1018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18884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980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6907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82288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3096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7280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484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59089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54160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17854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13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138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24005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96824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45785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78410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76891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70609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96824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54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7437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9677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6904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957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95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8110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16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162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1848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36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367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0771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157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157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0970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  <a:endParaRPr lang="ko-KR" alt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06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BB2FA-60EE-41CC-8925-F81C34380A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356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6134B-7146-495E-B14F-32EDB8F8B58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934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CC80A-29D7-4310-9669-519BB0E226E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387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11F4C-F5CE-4C06-9814-D908F3ABA55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488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9371D-C21B-48B3-9902-1788E4AC816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596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CC9A83-E0D2-4EEE-9083-3CCA4C4C62B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056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A5396-A7C4-4206-BA69-5C34732DB87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615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7B00C-3651-4B8C-A7B9-F83A0DDE31C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81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B9D33-A020-4B20-83C7-BBA05AF184A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234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6D5B9-8C4B-433E-822F-85895E09F21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20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14</a:t>
            </a:r>
          </a:p>
        </p:txBody>
      </p:sp>
      <p:sp>
        <p:nvSpPr>
          <p:cNvPr id="2150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04EEDFD-2FA2-46E1-827D-0AECEA426AF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/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14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/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가격변화의 후생효과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수량 혹은 질변화의 후생효과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환경편익의 분류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환경편익의 통합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434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71649A-1838-47F5-85FD-BABDE5C20FA8}" type="slidenum">
              <a:rPr lang="ko-KR" altLang="en-US" sz="1200" smtClean="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14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편익분석을 위한 기본이론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환경정책의 편익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환경정책으로 인해 발생하는 각 개인의 만족도나 후생의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증대분을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화폐액으로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환산한 것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개인의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후생변화를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합산하여 사회 전체를 기준으로 하는 후생증가분을 도출할 수도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환경정책의 편익을 추정하는 이론적 근거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환경변수의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변화에도 불구하고 서비스 혹은 소득의 조합을 달리하여 동일한 수준의 효용을 유지할 수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장에서는 재화나 서비스의 가격변화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수량 및 품질의 외생적 변화에 따른 후생변화와 그 측정방법을 다룸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후생변화의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구체적 의미와 다양한 편익들의 합산에 대해서 도 논의함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638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A9C300-D8B0-4497-AC91-6251D1A711A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1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편익분석을 위한 이론적 기반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통상수요함수의 도출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환경재가 소비되지 않는 경우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소득으로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소비하는 소비자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가격은 각각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소비자의 효용함수는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u(x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소비자는 제약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+p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= m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하에서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u(x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를 극대화하는 재화소비량을 선택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소비량은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의해 결정되며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함수로 나타낸 것이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통상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(ordinary)</a:t>
            </a:r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수요함수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=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m)</a:t>
            </a: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= 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m)</a:t>
            </a:r>
          </a:p>
        </p:txBody>
      </p:sp>
      <p:sp>
        <p:nvSpPr>
          <p:cNvPr id="18435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843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968BBB-9124-46DE-8976-DBA299FDCDAE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8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통상수요와 소비자잉여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효용은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x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x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함수이고 또한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x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x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p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m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함수이기 때문에 결국 효용도 가격과 소득의 함수임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𝑣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, 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000" i="1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정책 등의 변화로 인해 소득이나 가격이 변하면 소비자의 효용수준도 달라지며 이를 계측하는 것이 후생효과분석의 목적임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많은 소비자들의 만족도 변화를 비교하고 합산하기 위해 화폐를 공통의 단위로 삼아 소비자편익을 측정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소비자의 주관적인 만족도는 소비자잉여의 계측을 통해 객관적인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화폐액으로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전환될 수 있음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048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2048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3BF423-0606-45CC-982E-1B8094F5487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통상수요와 소비자잉여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347519"/>
            <a:ext cx="773747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가격이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spc="-1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2400" spc="-1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에서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으로 변할 때 소비자잉여의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변화분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면적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 해당함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통상수요함수는 소비량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및 소득수준을 통해 비교적 쉽게 추정할 수 있으므로 소비자 잉여 또한 쉽게 계산됨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2253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887DFA-99ED-4C2B-8738-359C01CD978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3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4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5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통상수요와 소비자잉여</a:t>
            </a:r>
          </a:p>
        </p:txBody>
      </p:sp>
      <p:pic>
        <p:nvPicPr>
          <p:cNvPr id="22536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529" y="3345111"/>
            <a:ext cx="5615427" cy="30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/>
          <p:cNvSpPr>
            <a:spLocks noGrp="1" noChangeArrowheads="1"/>
          </p:cNvSpPr>
          <p:nvPr>
            <p:ph idx="1"/>
          </p:nvPr>
        </p:nvSpPr>
        <p:spPr>
          <a:xfrm>
            <a:off x="871757" y="1347519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후생변화를 정확히 반영하지 못함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효용함수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값의 변화와 비례하지 않고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두 가지 이상의 가격이 변할 경우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측정치가 유일하지 않음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이러한 문제는 통상수요함수 상의 각 점에서 달성되는 효용수준이 상이하기 때문에 발생함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가격변화에 의한 후생변화를 측정하는 가장 좋은 방법은 </a:t>
            </a:r>
            <a:r>
              <a:rPr lang="ko-KR" altLang="en-US" sz="2400" u="sng" dirty="0">
                <a:latin typeface="나눔명조" pitchFamily="18" charset="-127"/>
                <a:ea typeface="나눔명조" pitchFamily="18" charset="-127"/>
              </a:rPr>
              <a:t>동일한 만족도를 얻기 위해 필요한 소득이 </a:t>
            </a:r>
            <a:r>
              <a:rPr lang="ko-KR" altLang="en-US" sz="2400" u="sng" dirty="0" err="1">
                <a:latin typeface="나눔명조" pitchFamily="18" charset="-127"/>
                <a:ea typeface="나눔명조" pitchFamily="18" charset="-127"/>
              </a:rPr>
              <a:t>가격변화로</a:t>
            </a:r>
            <a:r>
              <a:rPr lang="ko-KR" altLang="en-US" sz="2400" u="sng" dirty="0">
                <a:latin typeface="나눔명조" pitchFamily="18" charset="-127"/>
                <a:ea typeface="나눔명조" pitchFamily="18" charset="-127"/>
              </a:rPr>
              <a:t> 얼마만큼 감소하였는지를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계측하는 것임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반면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가격변화 효과와 함께 만족도까지도 바꾸는 실질적인 소득변화효과 또한 반영함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0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가격하락 효과만이 순수하게 측정되지 않으며 실질소득 변화로 후생자체가 증가한 효과까지 혼재하게 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2458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F1782E-2058-4AE0-9CB2-C4B0620C89ED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∆ S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이론적 난점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가격변화의 효과와 함께 실질소득 혹은 구매력의 변화효과도 포함함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통상수요는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가격변화 시 품목간 상대가격의 변화효과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대체효과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와 실질 구매력의 변화효과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소득효과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모두에 반응하기 때문임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대체효과만을 분리하여 살피기 위해서는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가격하락에도 불구하고 실질 구매력이 늘어나지 않도록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즉 만족도가 변하지 않도록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조절해야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이는 상대가격의 변화에도 불구하고 소비자가 동일한 효용을 누리도록 함으로써 가능함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가격변화의 순수한 대체효과만을 반영하여 소비량을 결정하는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수요함수가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보상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(compensated)</a:t>
            </a:r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수요함수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2662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C83C8C-6039-48CB-8237-2EEEFCF5E14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0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1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보상수요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3072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5512EC-8E1F-40FD-B3E4-6E6E4509A24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보상수요</a:t>
            </a:r>
          </a:p>
        </p:txBody>
      </p:sp>
      <p:pic>
        <p:nvPicPr>
          <p:cNvPr id="30727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82" y="1138093"/>
            <a:ext cx="5218235" cy="511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9"/>
          <p:cNvSpPr>
            <a:spLocks noGrp="1" noChangeArrowheads="1"/>
          </p:cNvSpPr>
          <p:nvPr>
            <p:ph idx="1"/>
          </p:nvPr>
        </p:nvSpPr>
        <p:spPr>
          <a:xfrm>
            <a:off x="6003931" y="934379"/>
            <a:ext cx="2727319" cy="5522642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보상수요함수는 주어진 가격과 효용 하에서 지출을 최소화하는 소비자행위를 반영함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통상수요량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변화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→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대체효과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→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B) +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소득효과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→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C)</a:t>
            </a:r>
          </a:p>
          <a:p>
            <a:pPr marL="0" indent="0" eaLnBrk="1" hangingPunct="1">
              <a:buNone/>
            </a:pP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보상수요량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변화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→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B </a:t>
            </a:r>
          </a:p>
          <a:p>
            <a:pPr marL="0" indent="0" eaLnBrk="1" hangingPunct="1">
              <a:buNone/>
            </a:pP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x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(p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m) vs.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h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(p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p</a:t>
            </a:r>
            <a:r>
              <a:rPr lang="en-US" altLang="ko-KR" sz="18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u</a:t>
            </a:r>
            <a:r>
              <a:rPr lang="en-US" altLang="ko-KR" sz="18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marL="0" indent="0" eaLnBrk="1" hangingPunct="1">
              <a:buNone/>
            </a:pP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정상재의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경우 보상수요곡선은 통상수요곡선보다 가파름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571557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9"/>
          <p:cNvSpPr>
            <a:spLocks noGrp="1" noChangeArrowheads="1"/>
          </p:cNvSpPr>
          <p:nvPr>
            <p:ph idx="1"/>
          </p:nvPr>
        </p:nvSpPr>
        <p:spPr>
          <a:xfrm>
            <a:off x="857690" y="1263112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보상수요곡선 상에서 후생변화의 척도를 마련하면     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에서 나타났던 여러 문제들을 피해갈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보상수요함수는 효용수준을 명시적으로 고려하므로 가격변화 이전의 효용과 이후의 효용 중 어느 것을 후생변화의 척도로 삼을지 결정해야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보상변화</a:t>
            </a:r>
            <a:r>
              <a:rPr lang="en-US" altLang="ko-KR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(CV)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변화된 가격조건에서도 원래의 효용수준을 달성하기 위해 필요한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소득변화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동등변화</a:t>
            </a:r>
            <a:r>
              <a:rPr lang="en-US" altLang="ko-KR" sz="21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(EV)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변화된 가격에서 얻는 효용을 원래의 조건에서 달성하기 위해 필요한 소득의 변화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어느 수준의 효용을 인정하는가에 대한 사회 통념에 따라 기준이 되는 효용수준을 결정할 수 있음 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3277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2DEB87-43BA-46DE-953D-ABF353CAF83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4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5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-18288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보상변화와 동등변화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3686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585C76-2472-41DC-A2A4-BBC188B1B44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6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보상변화와 동등변화</a:t>
            </a:r>
          </a:p>
        </p:txBody>
      </p:sp>
      <p:pic>
        <p:nvPicPr>
          <p:cNvPr id="36871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51" y="1096523"/>
            <a:ext cx="5296349" cy="519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9"/>
          <p:cNvSpPr>
            <a:spLocks noGrp="1" noChangeArrowheads="1"/>
          </p:cNvSpPr>
          <p:nvPr>
            <p:ph idx="1"/>
          </p:nvPr>
        </p:nvSpPr>
        <p:spPr>
          <a:xfrm>
            <a:off x="6126594" y="1313520"/>
            <a:ext cx="2727319" cy="4934880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 marL="0" indent="0" eaLnBrk="1" hangingPunct="1">
              <a:buNone/>
            </a:pP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p</a:t>
            </a:r>
            <a:r>
              <a:rPr lang="en-US" altLang="ko-KR" sz="19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=1, p</a:t>
            </a:r>
            <a:r>
              <a:rPr lang="en-US" altLang="ko-KR" sz="1900" baseline="-25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하락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만족도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상승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CV=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m-</a:t>
            </a:r>
            <a:r>
              <a:rPr lang="en-US" altLang="ko-KR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</a:t>
            </a:r>
            <a:r>
              <a:rPr lang="en-US" altLang="ko-KR" sz="19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EV=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</a:t>
            </a:r>
            <a:r>
              <a:rPr lang="en-US" altLang="ko-KR" sz="19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-m</a:t>
            </a:r>
            <a:endParaRPr lang="en-US" altLang="ko-KR" sz="19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altLang="ko-KR" sz="19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CV=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a 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EV=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a+b+c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a+b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indent="0" eaLnBrk="1" hangingPunct="1">
              <a:buNone/>
            </a:pP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marL="0" lvl="1" indent="0" eaLnBrk="1" hangingPunct="1">
              <a:buNone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한 재화의 가격변화에 있어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CV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≤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∆S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≤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EV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성립함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5991461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2468196" y="626085"/>
            <a:ext cx="4207608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보상수요곡선과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CV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550" y="1538654"/>
                <a:ext cx="7515225" cy="4403359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&lt;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그림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14-3&gt;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에서 보상수요곡선이 만들어낸 면적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a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CV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와 같다는 것을 그림을 통해 확인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&lt;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그림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14-3&gt;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일부를 다시 그린 아래 그림에서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𝐶𝑉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나타남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538654"/>
                <a:ext cx="7515225" cy="4403359"/>
              </a:xfrm>
              <a:blipFill>
                <a:blip r:embed="rId2"/>
                <a:stretch>
                  <a:fillRect l="-1054" t="-11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75777" name="_x503411576" descr="EMB000057b055a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045" y="3152276"/>
            <a:ext cx="4128918" cy="321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663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2468196" y="626085"/>
            <a:ext cx="4207608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보상수요곡선과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CV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550" y="1538654"/>
                <a:ext cx="7515225" cy="4403359"/>
              </a:xfrm>
            </p:spPr>
            <p:txBody>
              <a:bodyPr/>
              <a:lstStyle/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일 때의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보상수요량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Sup>
                      <m:sSub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일 때의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보상수요량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얻기 위한 각 가격에서의 지출액은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Sup>
                      <m:sSub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나타남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=1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만약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바뀌어도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소비를 유지한다면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효용을 얻기 위해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유지해야하며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얻기 위한 비용은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𝐴</m:t>
                            </m:r>
                          </m:sup>
                        </m:sSub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𝐴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0</m:t>
                            </m:r>
                          </m:sup>
                        </m:sSub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면적만큼 감소함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한편 가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격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이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이든 항상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소비를  유지한다면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효용을 얻기 위한 비용은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𝐶</m:t>
                            </m:r>
                          </m:sup>
                        </m:sSub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𝐶</m:t>
                            </m:r>
                          </m:sup>
                        </m:sSubSup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0</m:t>
                            </m:r>
                          </m:sup>
                        </m:sSub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면적만큼 감소함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538654"/>
                <a:ext cx="7515225" cy="4403359"/>
              </a:xfrm>
              <a:blipFill>
                <a:blip r:embed="rId2"/>
                <a:stretch>
                  <a:fillRect t="-830" r="-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  <a:endParaRPr lang="en-US" altLang="ko-KR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66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2468196" y="626085"/>
            <a:ext cx="4207608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보상수요곡선과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CV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550" y="1538654"/>
                <a:ext cx="7515225" cy="4403359"/>
              </a:xfrm>
            </p:spPr>
            <p:txBody>
              <a:bodyPr/>
              <a:lstStyle/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하지만 실제로는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으로 변해가면서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유지하는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소비선택은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보상수요곡선을 따라 연속적으로 변함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𝑢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얻는 데 필요한 비용이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가격변화로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인해 줄어드는 정확한 금액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CV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두 가격 사이의 보상수요곡선의 면적을 적분한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면적임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겉보기에 형태가 유사한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CV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𝑆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면적은 각기 다른 의미를 가짐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CV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는 동일한 만족도를 얻기 위해 지불해야 하는 비용이 가격하락으로 얼마나 절약되는지를 계측함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r>
                      <a:rPr lang="en-US" altLang="ko-KR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는 소비를 위해 지불하고자 하는 금액과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지불금액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간의 격차인 소비자잉여가 가격하락으로 변하는 것을 계측함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538654"/>
                <a:ext cx="7515225" cy="4403359"/>
              </a:xfrm>
              <a:blipFill>
                <a:blip r:embed="rId2"/>
                <a:stretch>
                  <a:fillRect t="-8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  <a:endParaRPr lang="en-US" altLang="ko-KR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09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49325" y="1143000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∆S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격차는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&lt;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그림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14-3&gt;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같으며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이는 다음과 같이 근사됨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수요의 소득탄력성을</a:t>
                </a:r>
                <a:r>
                  <a:rPr lang="ko-KR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이라 하면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다음이 성립함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면적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b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계산에 필요한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소득변화는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을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유지하게 하는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소득변화이므로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∆m=CV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둠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.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가격변화가 크지 않을 경우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∆S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x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|∆p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|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같이 근사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ko-KR" altLang="en-US" sz="2400" dirty="0">
                    <a:solidFill>
                      <a:srgbClr val="000000"/>
                    </a:solidFill>
                    <a:ea typeface="나눔명조" panose="02020603020101020101"/>
                  </a:rPr>
                  <a:t>면적</a:t>
                </a:r>
                <a:r>
                  <a:rPr lang="en-US" altLang="ko-KR" sz="2400" dirty="0">
                    <a:solidFill>
                      <a:srgbClr val="000000"/>
                    </a:solidFill>
                    <a:ea typeface="나눔명조" panose="02020603020101020101"/>
                  </a:rPr>
                  <a:t> </a:t>
                </a:r>
                <a:r>
                  <a:rPr lang="en-US" altLang="ko-KR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나눔명조" panose="02020603020101020101"/>
                    <a:cs typeface="Times New Roman" panose="02020603050405020304" pitchFamily="18" charset="0"/>
                  </a:rPr>
                  <a:t>b</a:t>
                </a:r>
                <a:r>
                  <a:rPr lang="en-US" altLang="ko-KR" sz="2400" dirty="0">
                    <a:solidFill>
                      <a:srgbClr val="000000"/>
                    </a:solidFill>
                    <a:ea typeface="나눔명조" panose="02020603020101020101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𝐶𝑉</m:t>
                        </m:r>
                      </m:num>
                      <m:den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8674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9325" y="1143000"/>
                <a:ext cx="7737475" cy="4114800"/>
              </a:xfrm>
              <a:blipFill>
                <a:blip r:embed="rId3"/>
                <a:stretch>
                  <a:fillRect l="-1103" t="-1630" b="-2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5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2867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F452CE-DBFB-48FB-B2D0-2A797DB80AB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8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EV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근사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389722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가격변화가 크지 않을 경우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∆m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은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대신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∆S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같다고 간주하기도 하므로 면적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같이 근사되며 결국 다음이 도출됨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𝐶𝑉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유사한 절차를 거치면 아래의 식도 도출이 가능함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𝐸𝑉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따라서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CV, ∆ S, EV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사이의 격차는 수요의 소득탄력성과 해당 지출액이 전체소득에서 차지하는 비중에 의해 결정됨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Willig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bound)</a:t>
                </a:r>
              </a:p>
              <a:p>
                <a:pPr eaLnBrk="1" hangingPunct="1"/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8674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389722"/>
                <a:ext cx="7737475" cy="4114800"/>
              </a:xfrm>
              <a:blipFill>
                <a:blip r:embed="rId3"/>
                <a:stretch>
                  <a:fillRect l="-1024" t="-1630" b="-15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5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2867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F452CE-DBFB-48FB-B2D0-2A797DB80AB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8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EV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근사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3622" y="1234979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이상과 같이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후생변화는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∆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𝑆</m:t>
                    </m:r>
                  </m:oMath>
                </a14:m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CV, EV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세 가지 서로 다른 척도를 통해 측정할 수 있음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𝑆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통계자료로 쉽게 측정 가능하지만 이론적인 문제를 가짐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CV, EV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이론적인 문제는 없으나 통상수요함수를 통계자료로 도출할 수 없어서 직접 계산이 불가능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이러한 이유로 이론적 결함에도 관례적으로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∆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𝑆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편익분석에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활용해 왔음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최근에는 이론과 통계분석의 발전을 통해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CV, EV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정확히 구해내는 것이 가능해짐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481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3622" y="1234979"/>
                <a:ext cx="7737475" cy="4114800"/>
              </a:xfrm>
              <a:blipFill>
                <a:blip r:embed="rId3"/>
                <a:stretch>
                  <a:fillRect l="-1024" t="-1630" r="-10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1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3482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52FE3D-8EE9-4748-AB4A-F06B143C36E5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-19694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후생변화의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척도</a:t>
            </a:r>
          </a:p>
        </p:txBody>
      </p:sp>
    </p:spTree>
    <p:extLst>
      <p:ext uri="{BB962C8B-B14F-4D97-AF65-F5344CB8AC3E}">
        <p14:creationId xmlns:p14="http://schemas.microsoft.com/office/powerpoint/2010/main" val="3620566955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9"/>
          <p:cNvSpPr>
            <a:spLocks noGrp="1" noChangeArrowheads="1"/>
          </p:cNvSpPr>
          <p:nvPr>
            <p:ph idx="1"/>
          </p:nvPr>
        </p:nvSpPr>
        <p:spPr>
          <a:xfrm>
            <a:off x="843622" y="1234979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CV, EV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지불의사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(willingness to pay, WTP),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수용의사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(willingness to accept, WTA)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연결됨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지불의사는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더 낮은 효용을 기준으로 더 높은 수준의 효용을 얻기 위해 지불할 의사가 있는 금액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수용의사는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더 높은 효용을 기준으로 이를 달성하지 못하는 대신 받고자 하는 금액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CV, EV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여건변화 이전 이후를 기준으로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지불의사와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수용의사는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두 상태의 효용의 크기를 기준으로 결정되기 때문에 상황에 따라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[CV, EV]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[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지불의사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수용의사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]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관계가 달라짐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3481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3482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52FE3D-8EE9-4748-AB4A-F06B143C36E5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-196948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CV, EV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수용의사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30" y="4654893"/>
            <a:ext cx="7425526" cy="14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21620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20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∆S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통계자료를 통해 쉽게 추정될 수 있으나 지표로서 문제점을 지니고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반면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이론적으로 타당하나 직접 계측되지 않아 그 값을 추정하는 것이 문제로 대두됨</a:t>
                </a:r>
                <a:endParaRPr lang="en-US" altLang="ko-KR" sz="22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간단하게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나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EV 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대신 사용할 수 있으며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2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윌리이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en-US" altLang="ko-KR" sz="22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Willig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연구는 많은 경우 그 오차가 크지 않음을 보여줌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(5% 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미만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  <a:p>
                <a:pPr eaLnBrk="1" hangingPunct="1"/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도출된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 소득탄력성을 적용한 오차 </a:t>
                </a:r>
                <a:r>
                  <a:rPr lang="ko-KR" altLang="en-US" sz="22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수정식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을 적용해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근사치를 구하는 것도 한 방법임</a:t>
                </a:r>
                <a:endParaRPr lang="en-US" altLang="ko-KR" sz="22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통상수요함수 하에서 가격변화를 세분하여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반복적으로 근사할 수도 있음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en-US" altLang="ko-KR" sz="22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Vartia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  <a:p>
                <a:pPr eaLnBrk="1" hangingPunct="1"/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통상수요함수로부터 효용함수를 복원하고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통해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EV</a:t>
                </a:r>
                <a:r>
                  <a:rPr lang="ko-KR" altLang="en-US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직접 구하는 방법도 제기되었음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en-US" altLang="ko-KR" sz="22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Hausman</a:t>
                </a:r>
                <a:r>
                  <a:rPr lang="en-US" altLang="ko-KR" sz="22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120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866" t="-1333" b="-12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5120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FA8B0D-9880-47AB-AF3F-0A04CA01A265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1028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084879" y="626085"/>
                <a:ext cx="2974242" cy="698623"/>
              </a:xfrm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pPr eaLnBrk="1" hangingPunct="1"/>
                <a:r>
                  <a:rPr lang="en-US" altLang="ko-KR" dirty="0">
                    <a:solidFill>
                      <a:srgbClr val="7030A0"/>
                    </a:solidFill>
                    <a:latin typeface="나눔고딕" pitchFamily="50" charset="-127"/>
                    <a:ea typeface="나눔명조" panose="02020603020101020101"/>
                  </a:rPr>
                  <a:t>CV, EV </a:t>
                </a:r>
                <a:r>
                  <a:rPr lang="ko-KR" altLang="en-US" dirty="0">
                    <a:solidFill>
                      <a:srgbClr val="7030A0"/>
                    </a:solidFill>
                    <a:latin typeface="나눔고딕" pitchFamily="50" charset="-127"/>
                    <a:ea typeface="나눔명조" panose="02020603020101020101"/>
                  </a:rPr>
                  <a:t>및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나눔명조" panose="02020603020101020101"/>
                      </a:rPr>
                      <m:t>∆</m:t>
                    </m:r>
                    <m:r>
                      <a:rPr lang="en-US" altLang="ko-KR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나눔명조" panose="02020603020101020101"/>
                      </a:rPr>
                      <m:t>𝑺</m:t>
                    </m:r>
                  </m:oMath>
                </a14:m>
                <a:endParaRPr lang="en-US" altLang="ko-KR" dirty="0">
                  <a:solidFill>
                    <a:srgbClr val="7030A0"/>
                  </a:solidFill>
                  <a:latin typeface="나눔고딕" pitchFamily="50" charset="-127"/>
                  <a:ea typeface="나눔명조" panose="02020603020101020101"/>
                </a:endParaRPr>
              </a:p>
            </p:txBody>
          </p:sp>
        </mc:Choice>
        <mc:Fallback xmlns="">
          <p:sp>
            <p:nvSpPr>
              <p:cNvPr id="9" name="Rectangle 102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84879" y="626085"/>
                <a:ext cx="2974242" cy="698623"/>
              </a:xfrm>
              <a:blipFill>
                <a:blip r:embed="rId4"/>
                <a:stretch>
                  <a:fillRect l="-5918" t="-6897" b="-32759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CV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EV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재화의 가격변화에 따른 소비자 후생변화를 측정하는 수단임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하지만 환경재의 경우 시장가격이 존재하지 않는 경우가 많고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환경정책의 주된 목표는 환경재의 질을 변화시키는 것이기 때문에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시장재와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정책의 적용방법이 상이함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환경재의 공급량은 정책 등에 의해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외생적으로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주어져 소비자는 자신의 후생을 극대화하는 환경재의 양을 선택할 수 없음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따라서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CV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나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EV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그대로 사용될 수 없으며 질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(=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특성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이나 수량의 변화를 반영하는 개념이 정의될 필요가 있음</a:t>
            </a:r>
            <a:endParaRPr lang="en-US" altLang="ko-KR" sz="22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5325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5325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CF5E24-40A9-4478-871F-335D2B00873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3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4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5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환경재의 특성변화</a:t>
            </a: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29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위와 같은 환경재의 특성을 반영하기 위해 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보상잉여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(CS)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동등잉여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(ES)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라는 개념이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정의됨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정책의 결과로 생성된 새로운 환경 수준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(=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에서 소비자가 원래의 환경 수준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 얻던 효용수준을 달성하도록 하기 위해 필요한 소득변화를 의미함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새롭게 형성된 환경 수준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 얻어지는 효용을 개선 이전의 환경 수준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 얻도록 하기위해 요구되는 소득의 변화를 의미함</a:t>
                </a:r>
                <a:endParaRPr lang="en-US" altLang="ko-KR" sz="22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529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29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5530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C77CD5-5634-469D-9725-84B8FDF3637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보상잉여와 동등잉여</a:t>
            </a: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5939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D4ACBF-93ED-4BBA-ABAB-7400681DD6C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939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939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보상잉여와 동등잉여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853389" y="1737267"/>
                <a:ext cx="2727319" cy="3630099"/>
              </a:xfr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환경질개선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𝑞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환경재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이용 요금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𝑝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&gt;0</m:t>
                    </m:r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소비점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변화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A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→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B 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무차별곡선은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예산선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𝑏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와 접하지 않을 수 있음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marL="0" indent="0" eaLnBrk="1" hangingPunct="1">
                  <a:buNone/>
                </a:pP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시장재소비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𝑚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𝑝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0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)→(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𝑚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𝑝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1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명조" pitchFamily="18" charset="-127"/>
                        </a:rPr>
                        <m:t>)</m:t>
                      </m:r>
                    </m:oMath>
                  </m:oMathPara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CS=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𝑚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ES=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𝐸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𝑚</m:t>
                    </m:r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3389" y="1737267"/>
                <a:ext cx="2727319" cy="3630099"/>
              </a:xfrm>
              <a:blipFill>
                <a:blip r:embed="rId3"/>
                <a:stretch>
                  <a:fillRect l="-1786" t="-1345" r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14" y="1326313"/>
            <a:ext cx="5324475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86367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각각 환경개선에 대한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지불의사와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환경이 개선되지 못하는 것에 대한 수용의사를 나타냄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두 지표는 어느 수준의 환경에서 얻는 효용을 기준으로 삼는지에 있어 차이를 보임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두 지표의 격차를 확인하기 위해 소비자가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환경질도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선택할 수 있다고 가정해 봄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이러한 가정 하에서 특정수준의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환경질을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선택하게 하는 환경재의 가격을 실효가격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(virtual price)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이라 정의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그림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14-6&gt;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각각 선택하게 하는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실효예산선은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각각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및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b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임 </a:t>
            </a:r>
            <a:endParaRPr lang="en-US" altLang="ko-KR" sz="22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61443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6144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5BBA90-B1E6-4D56-B9E1-6FB6BF368E05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1445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1446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1447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환경질의 선택과 실효가격</a:t>
            </a: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391743" y="6307938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6349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93E472-3D45-47C7-80D6-3C6F138DAAC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349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349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title"/>
          </p:nvPr>
        </p:nvSpPr>
        <p:spPr>
          <a:xfrm>
            <a:off x="1232437" y="42390"/>
            <a:ext cx="7313612" cy="729638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환경질의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선택과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실효가격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157386" y="806423"/>
            <a:ext cx="4139191" cy="5762107"/>
            <a:chOff x="2768622" y="219889"/>
            <a:chExt cx="4322520" cy="6094648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8622" y="219889"/>
              <a:ext cx="4322520" cy="60946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445652" y="1816689"/>
                  <a:ext cx="212130" cy="1871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1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15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5652" y="1816689"/>
                  <a:ext cx="212130" cy="187185"/>
                </a:xfrm>
                <a:prstGeom prst="rect">
                  <a:avLst/>
                </a:prstGeom>
                <a:blipFill>
                  <a:blip r:embed="rId4"/>
                  <a:stretch>
                    <a:fillRect l="-14706" b="-103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789181" y="5565123"/>
                  <a:ext cx="633108" cy="1953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𝑝𝑞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181" y="5565123"/>
                  <a:ext cx="633108" cy="195323"/>
                </a:xfrm>
                <a:prstGeom prst="rect">
                  <a:avLst/>
                </a:prstGeom>
                <a:blipFill>
                  <a:blip r:embed="rId5"/>
                  <a:stretch>
                    <a:fillRect l="-1000" r="-7000" b="-4193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906177" y="1009881"/>
                <a:ext cx="2727319" cy="5263662"/>
              </a:xfr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환경질개선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𝑞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소비점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변화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𝐴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→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𝐶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endParaRPr lang="en-US" altLang="ko-KR" sz="1800" b="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실효가격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𝑟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→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𝑟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p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실효예산선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𝑏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→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𝑏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p>
                    </m:sSup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입찰함수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𝑟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𝑚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−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𝑝𝑞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지불의사함수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  <a:endParaRPr lang="en-US" altLang="ko-KR" sz="1800" b="0" i="1" dirty="0">
                  <a:latin typeface="Cambria Math" panose="02040503050406030204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𝑟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𝑟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8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 =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𝑎</m:t>
                    </m:r>
                  </m:oMath>
                </a14:m>
                <a:endParaRPr lang="en-US" altLang="ko-KR" sz="1800" b="0" i="1" dirty="0">
                  <a:latin typeface="Cambria Math" panose="02040503050406030204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∆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𝑆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ES=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𝑎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𝑏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𝑐</m:t>
                    </m:r>
                  </m:oMath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6177" y="1009881"/>
                <a:ext cx="2727319" cy="5263662"/>
              </a:xfrm>
              <a:blipFill>
                <a:blip r:embed="rId6"/>
                <a:stretch>
                  <a:fillRect l="-2013" t="-9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소비자가 환경재의 소비량도 결정할 수 있다면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환경재에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대한 일종의 보상수요를 도출할 수 있음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그림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14-6&gt;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효용수준을 유지하도록 시장재와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환경재를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자유롭게 선택하게 하면 각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환경재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수준에 대한 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buNone/>
            </a:pP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r(q, 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같은 함수를 도출할 수 있는데 이를 </a:t>
            </a:r>
            <a:r>
              <a:rPr lang="ko-KR" altLang="en-US" sz="2000" b="1" dirty="0" err="1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보상역수요함수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지불의사함수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혹은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실효가격함수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라 부름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효용수준에 대해서도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r(q, u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을 도출할 수 있음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기준으로 정의되는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그림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14-6&gt;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면적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 해당함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을 기준으로 정의되는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면적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a+b+c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 해당함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6553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6554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4248AB-5D8F-47C6-BB49-F65A1CBA8B3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지불의사함수와 입찰함수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53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한편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r(q, m-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pq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은 입찰함수로서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주어진 소득과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가격조건에서 효용을 극대화하는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환경재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소비량을 선택할 때에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환경재에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대한 지불의사를 나타냄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그래프는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환경재에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대한 통상수요곡선의 역할을 하므로 이 그래프가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0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사이에서 만드는 면적 </a:t>
                </a:r>
                <a:r>
                  <a:rPr lang="en-US" altLang="ko-KR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a+b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∆S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표현할 수 있음</a:t>
                </a:r>
                <a:endParaRPr lang="ko-KR" altLang="en-US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이제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CS, ∆ S, ES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사이의 차이를 확인하는 문제가 대두함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&lt;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14-6&gt;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과 같이 지불의사함수와 입찰함수 모두를 직선이라 가정하고 지불의사선은 서로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평행하다고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하면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면적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면적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 값은</a:t>
                </a:r>
                <a:r>
                  <a:rPr lang="ko-KR" alt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|"/>
                        <m:endChr m:val="|"/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6553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 r="-9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3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6554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4248AB-5D8F-47C6-BB49-F65A1CBA8B3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지불의사함수와 입찰함수</a:t>
            </a: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53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ko-KR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ko-KR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은 특정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만족도가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으로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바뀔 정도로 소득이 변할 때 발생하는 한계지불의사 변화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탄력성 형태로 나타낸 것이 소득의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가격신축성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(price flexibility of income),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다음의 관계가 도출됨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ko-KR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|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en-US" altLang="ko-KR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면적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𝐸𝑆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2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세 지표의 차이는 후생변화가 전체 소득에서 차지하는 비중과 소득의 가격신축성에 의해 결정됨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그러나 가격변화의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CV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EV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서로 유사하다는 결론과 달리 환경재에 있어서는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차이는 매우 크다는 것이 경험적으로 관측됨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553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 r="-551" b="-16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3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6554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4248AB-5D8F-47C6-BB49-F65A1CBA8B3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CS, ∆S, ES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근사</a:t>
            </a: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538" name="Rectangle 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하네만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Hanemann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은 소득의 가격신축성을 다음과 같이 나타낼 수 있음을 보임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ko-KR" altLang="en-US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l-GR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η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환경재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선택이 가능할 때의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환경재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수요의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소득탄력성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l-GR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σ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환경재와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사이의 대체탄력성을 의미</a:t>
                </a:r>
                <a:endParaRPr lang="ko-KR" altLang="en-US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만약 </a:t>
                </a:r>
                <a:r>
                  <a:rPr lang="el-GR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σ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값이 낮다면 소득의 가격신축성은 무한대의 값을 가질 것임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시장재가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환경재를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온전히 대체하지 못할 경우 대체탄력성의 값이 낮아지고 이 경우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사이의 차이가 커질 수 있음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5538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39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6554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4248AB-5D8F-47C6-BB49-F65A1CBA8B3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1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2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CS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와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ES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차이에 관한 설명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9"/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전망이론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(prospect theory)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은 환경재 뿐만 아니라 시장재의 지불의사와 수용의사의 차이도 설명할 수 있음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Kahneman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and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Tversky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1979)</a:t>
            </a: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전망이론은 절대적 소비수준이 아니라 부존효과에 의해 소비자의 만족도가 영향을 받는다고 인식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소비자는 현재의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환경질을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준거점으로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삼으며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환경개선의 만족도는 완만하게 증가하나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환경오염으로 인한 만족도 감소는 급격하게 이루어짐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경우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그림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14-7&gt;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에서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기준으로 삼아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 대한 지불의사를 도출하는데 이는 완만하게 증가함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경우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을 기준으로 삼아 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0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 대한 수용의사를 도출하는데 이 값은 급격하게 증가함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따라서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에 비해 큰 값을 지님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7373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7373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F616C7-11D3-45CC-BF12-D9E42C88C70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3733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3734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3735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CS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ES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의 차이에 관한 설명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2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7577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0D87DB-78AA-4769-BC05-03182D5900D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578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578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보상잉여와 동등잉여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1" y="1370410"/>
            <a:ext cx="5104138" cy="460044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705352" y="345500"/>
            <a:ext cx="7587575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하네만과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전망이론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어느 쪽이 맞나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?</a:t>
            </a: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886771" y="1135647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쇼그렌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Shogren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et al., 1994)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실험을 통해 두 이론 중 어느 쪽이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지지받는지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확인을 시도함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marL="457200" lvl="1" indent="0" eaLnBrk="1" hangingPunct="1">
              <a:buNone/>
            </a:pP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 집단에게는 사탕을 주고 이를 인기있는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캔디바와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바꾸기 위한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드러내게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다른 한 집단에는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캔디바를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주고 이를 사탕으로 바꾸기 위해 수용하고자 하는 의사를 드러내게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marL="457200" lvl="1" indent="0" eaLnBrk="1" hangingPunct="1">
              <a:buNone/>
            </a:pP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 집단에게는 평범한 샌드위치를 주고 이러한 음식이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식중독균에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감염될 확률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감염 시 사망률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치료비용 등을 설명하고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식중독균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감염확률이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 안전한 샌드위치로 교환하기 위한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드러내게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다른 한 집단에는 안전한 샌드위치를 주고 평범한 샌드위치로 교환할 때의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수용코자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하는 금액을 드러내게 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276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729574" y="626085"/>
            <a:ext cx="7587575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하네만과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전망이론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어느 쪽이 맞나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?</a:t>
            </a: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827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쇼그렌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Shogren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et al., 1994)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실험을 통해 두 이론 중 어느 쪽이 지지 받는지 확인을 시도함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차례의 반복 실험에서 실험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수용의사가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곧바로 시장가격 수준으로 수렴함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실험이 반복되어도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수용의사가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지불의사보다 높고 평균적으로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 이상 높게 나타남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비교적 대체가능성이 낮은 식품안전도에 대해 두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편익지표의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격차가 크게 나타나는 것으로 해석하여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하네만식의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해석을 지지하는 결론을 내림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517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729574" y="626085"/>
            <a:ext cx="7587575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하네만과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전망이론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어느 쪽이 맞나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0716" y="1560765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저명 실험경제학자 리스트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(List, 2004)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연구는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전망이론을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반박하는 결론을 도출함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스포츠카드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전시회에 참여한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378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명을 카드 거래 경험이 많은 사람과 그렇지 않은 사람으로 구분함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 그룹은 다시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4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개의 세부그룹으로 구분됨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𝑚𝑢𝑔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실험 참여 대가로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커피머그를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받음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캔디바와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바꿀 것인지 선택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𝑐𝑎𝑛𝑑𝑦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실험 참여 대가로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캔디바를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받음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커피머그와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바꿀 것인지 선택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𝑏𝑜𝑡h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실험 참여 대가로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커피머그와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600" dirty="0" err="1">
                    <a:latin typeface="나눔명조" pitchFamily="18" charset="-127"/>
                    <a:ea typeface="나눔명조" pitchFamily="18" charset="-127"/>
                  </a:rPr>
                  <a:t>캔디바를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 받음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둘 중 무엇을 내어놓을지 선택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𝑛𝑒𝑖𝑡h𝑒𝑟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실험 참여 대가로 아무것도 받지 않음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둘 중 무엇을 원할 것인지 선택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0716" y="1560765"/>
                <a:ext cx="7515225" cy="4114800"/>
              </a:xfrm>
              <a:blipFill>
                <a:blip r:embed="rId2"/>
                <a:stretch>
                  <a:fillRect l="-1054" t="-1185" b="-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689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729574" y="626085"/>
            <a:ext cx="7587575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하네만과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전망이론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어느 쪽이 맞나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550" y="1677742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리스트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(List, 2004)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 연구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효용이론에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따르면 참여 대가로 무엇을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받았느냐와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상관없이 참가자들은 같은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선호형태를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보여야 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𝑚𝑢𝑔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중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캔디바로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바꾸겠다는 비율과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𝑐𝑎𝑛𝑑𝑦</m:t>
                        </m:r>
                      </m:sub>
                    </m:sSub>
                  </m:oMath>
                </a14:m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중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캔디바를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그대로 보유하겠다는 비율이 비슷해야 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𝑏𝑜𝑡h</m:t>
                        </m:r>
                      </m:sub>
                    </m:sSub>
                  </m:oMath>
                </a14:m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𝑛𝑒𝑖𝑡h𝑒𝑟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에서도 최종적으로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커피머그와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캔디바를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선택한 비율이 비슷해야 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전망이론에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따르면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부존효과로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인해 이미 가지고 있는 것을 가지지 못한 것보다 더 높게 평가함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𝑚𝑢𝑔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중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캔디바로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바꾸겠다는 비율이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𝑐𝑎𝑛𝑑𝑦</m:t>
                        </m:r>
                      </m:sub>
                    </m:sSub>
                  </m:oMath>
                </a14:m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중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캔디바를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그대로 보유하겠다는 비율보다 훨씬 작아야 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𝑏𝑜𝑡h</m:t>
                        </m:r>
                      </m:sub>
                    </m:sSub>
                  </m:oMath>
                </a14:m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𝑛𝑒𝑖𝑡h𝑒𝑟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에서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커피머그를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원하는 비율은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𝑐𝑎𝑛𝑑𝑦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중 </a:t>
                </a:r>
                <a:r>
                  <a:rPr lang="ko-KR" altLang="en-US" sz="1700" dirty="0" err="1">
                    <a:latin typeface="나눔명조" pitchFamily="18" charset="-127"/>
                    <a:ea typeface="나눔명조" pitchFamily="18" charset="-127"/>
                  </a:rPr>
                  <a:t>머그를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 원하는 비율보다 높아야 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677742"/>
                <a:ext cx="7515225" cy="4114800"/>
              </a:xfrm>
              <a:blipFill>
                <a:blip r:embed="rId2"/>
                <a:stretch>
                  <a:fillRect l="-1054" t="-1185" b="-3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104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729574" y="626085"/>
            <a:ext cx="7587575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하네만과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전망이론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, 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어느 쪽이 맞나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?</a:t>
            </a: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677742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리스트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(List, 2004)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연구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실험 결과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스포츠카드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거래 경험이 많은 사람들의 행위는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효용이론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가설에 더 가까운 반면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거래 경험이 적은 사람들은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전망이론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가설에 가까운 반응을 보임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축적되는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거래경험이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전망이론보다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효용이론을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따르는 의사결정을 하게 한다고 볼 수 있으며 동일 평가대상에 대한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수용의사 격차가 작아지게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참가자들이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실험거래에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익숙치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않다는 점이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효용이론과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맞지 않는 행동을 하게 한 주 원인일 가능성 제기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실험에서 선택하게 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캔디바나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커피머그가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아닌 스포츠카드의 개인간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거래경험이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축적되어도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효용이론과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부합되는 행동을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marL="457200" lvl="1" indent="0" eaLnBrk="1" hangingPunct="1">
              <a:buNone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141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7782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1E96BC-3D82-4D71-BBCF-B5402B9E765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782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782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환경편익의 분류</a:t>
            </a:r>
          </a:p>
        </p:txBody>
      </p:sp>
      <p:sp>
        <p:nvSpPr>
          <p:cNvPr id="77831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불확실성이 고려되지 않을 때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환경재가 제공하는 다양한 편익은 사용가치와 존재가치로 구분되며 환경재의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총가치는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이 둘의 합으로 나타남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사용가치는 개인이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환경재를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물리적으로 이용하기 때문에 부여하는 가치임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존재가치는 물리적으로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환경재를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이용하지 않음에도 불구하고 이에 부여하는 가치임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7987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B21A78-C2F6-45C0-B445-BC163A7B466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987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환경편익의 분류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00003"/>
            <a:ext cx="7518115" cy="459139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불확실성을 고려할 경우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1923" name="Rectangle 7"/>
          <p:cNvSpPr>
            <a:spLocks noGrp="1" noChangeArrowheads="1"/>
          </p:cNvSpPr>
          <p:nvPr>
            <p:ph idx="1"/>
          </p:nvPr>
        </p:nvSpPr>
        <p:spPr>
          <a:xfrm>
            <a:off x="915193" y="144817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자연환경의 이용에는 여러 불확실성이 개입됨</a:t>
            </a:r>
            <a:endParaRPr lang="en-US" altLang="ko-KR" sz="2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개인이 특정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환경재를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실제로 소비할지 불확실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환경재의 공급여부와 그 수준이 불확실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환경재의 편익은 불확실하지만 가치 </a:t>
            </a:r>
            <a:r>
              <a:rPr lang="ko-KR" altLang="en-US" sz="2700" dirty="0" err="1">
                <a:latin typeface="나눔명조" pitchFamily="18" charset="-127"/>
                <a:ea typeface="나눔명조" pitchFamily="18" charset="-127"/>
              </a:rPr>
              <a:t>평가액은</a:t>
            </a:r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 사전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700" i="1" dirty="0">
                <a:latin typeface="나눔명조" pitchFamily="18" charset="-127"/>
                <a:ea typeface="나눔명조" pitchFamily="18" charset="-127"/>
              </a:rPr>
              <a:t>ex-ante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에 유일한 값으로 제시되어야 함</a:t>
            </a:r>
            <a:endParaRPr lang="en-US" altLang="ko-KR" sz="2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기대편익을 사용하는 것이 자연스러운 사전적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평가법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하지만 기대편익은 불확실성 하에서의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가치를 제대로 반영하지 못할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수 있음</a:t>
            </a:r>
          </a:p>
        </p:txBody>
      </p:sp>
      <p:sp>
        <p:nvSpPr>
          <p:cNvPr id="8192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192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8F02C6-CD13-4812-8FCE-FB5BA29195D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192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192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 옵션가치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3971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환경재의 가치 중 하나로서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옵션가치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(option value)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 제기된 바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이용여부가 불확실한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자신이 이용할 때까지 보전하기 위해 지불하고자 하는 금액을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옵션가격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이라 정의함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옵션가격이 불확실성 하에서 소비자가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갖는 지불의사이며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옵션가격은 기대잉여보다 큼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옵션가격과 기대잉여의 차가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옵션가치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이며 반드시 양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(+)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값을 가진다고 주장되어 옴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옵션가치 개념의 핵심은 자연환경을 이용할 수 있는 기회 자체가 가치를 갖는다는 것임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하지만 옵션가치는 이론적으로 취약하며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반드시 양의 값을 가지는 것도 아님이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밝혀짐</a:t>
            </a:r>
          </a:p>
        </p:txBody>
      </p:sp>
      <p:sp>
        <p:nvSpPr>
          <p:cNvPr id="8397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397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27E64C-1D56-4BFA-8FD0-A6854CFC657E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397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397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6"/>
          <p:cNvSpPr>
            <a:spLocks noGrp="1" noChangeArrowheads="1"/>
          </p:cNvSpPr>
          <p:nvPr>
            <p:ph type="title"/>
          </p:nvPr>
        </p:nvSpPr>
        <p:spPr>
          <a:xfrm>
            <a:off x="1398368" y="-18288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 옵션가치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7827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264432"/>
            <a:ext cx="7434424" cy="41148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홍수관리와 같은 수자원사업의 예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</a:t>
            </a: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심한 폭우 시 주민 소득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재해가 없을 때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확률은 각각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π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와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1-π</a:t>
            </a: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현 홍수관리 수준이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이면 효용은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혹은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이며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기대효용은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E[u(G,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)]= πu(G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)+(1-π)u(G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</a:p>
          <a:p>
            <a:pPr eaLnBrk="1" hangingPunct="1">
              <a:defRPr/>
            </a:pP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홍수관리 능력을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24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으로 강화하면  폭우 유무에 따라 그 사후적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en-US" altLang="ko-KR" sz="2300" i="1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ex-post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잉여 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en-US" altLang="ko-KR" sz="23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과 잉여 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en-US" altLang="ko-KR" sz="23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다음과 같음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(S</a:t>
            </a:r>
            <a:r>
              <a:rPr lang="en-US" altLang="ko-KR" sz="23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&lt;S</a:t>
            </a:r>
            <a:r>
              <a:rPr lang="en-US" altLang="ko-KR" sz="23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-S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= 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),       S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-S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= u(G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eaLnBrk="1" hangingPunct="1">
              <a:defRPr/>
            </a:pPr>
            <a:r>
              <a:rPr lang="ko-KR" altLang="en-US" sz="23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사업의 기대잉여는 다음과 같음</a:t>
            </a:r>
            <a:endParaRPr lang="en-US" altLang="ko-KR" sz="23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E(S) = πS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+ (1-π)S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</a:p>
          <a:p>
            <a:pPr lvl="1" eaLnBrk="1" hangingPunct="1"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E(S)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사전적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en-US" altLang="ko-KR" sz="1900" i="1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ex-ante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지표가 될 수 있음</a:t>
            </a:r>
            <a:endParaRPr lang="ko-KR" altLang="en-US" sz="19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8602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602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0BEF7E-948E-40AB-8BE3-FB6739C8B97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602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602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 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06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76988" y="1430564"/>
                <a:ext cx="7894735" cy="426733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또다른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사전지표로서의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옵션가격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(OP)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πu(G</a:t>
                </a:r>
                <a:r>
                  <a:rPr lang="en-US" altLang="ko-KR" sz="20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-OP,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 + (1-π)u(G</a:t>
                </a:r>
                <a:r>
                  <a:rPr lang="en-US" altLang="ko-KR" sz="20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-OP,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 = E[u(G,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0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)]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옵션가격은 사업 후 기대효용과 사업 이전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기대효용이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동일하도록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홍수여부와 관련없이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사전에 공제해야 하는 소득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OP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보다 크며 그 차이가 옵션가치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(OV)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간주됨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또 다른 관계식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πu(G</a:t>
                </a:r>
                <a:r>
                  <a:rPr lang="en-US" altLang="ko-KR" sz="20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 + (1-π)u(G</a:t>
                </a:r>
                <a:r>
                  <a:rPr lang="en-US" altLang="ko-KR" sz="20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 = E[u(G, q</a:t>
                </a:r>
                <a:r>
                  <a:rPr lang="en-US" altLang="ko-KR" sz="20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0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)] 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홍수여부에 따라 지불할 수 있는 금액이 달라질 수 있을 때 각 결과에 지불하는 금액을 의미함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은 다양한 조합을 가질 수 있으며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&lt;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14-8&gt;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원점에 대해 오목한 궤적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(=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그라함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(Graham)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궤적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으로 나타남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8806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988" y="1430564"/>
                <a:ext cx="7894735" cy="4267330"/>
              </a:xfrm>
              <a:blipFill>
                <a:blip r:embed="rId3"/>
                <a:stretch>
                  <a:fillRect l="-1004" t="-1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80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BDAA34-6FB4-4860-970A-920C67A9F09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769065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80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80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BDAA34-6FB4-4860-970A-920C67A9F09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54808" y="4791806"/>
                <a:ext cx="7313613" cy="1728666"/>
              </a:xfrm>
            </p:spPr>
            <p:txBody>
              <a:bodyPr/>
              <a:lstStyle/>
              <a:p>
                <a:pPr lvl="1" eaLnBrk="1" hangingPunct="1"/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옵션가격은 결과 상태에 상관없이 동일한 값을 가지므로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궤적과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45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itchFamily="18" charset="0"/>
                  </a:rPr>
                  <a:t>°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직선이 만나는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점에서 옵션가격 계산됨</a:t>
                </a:r>
                <a:endParaRPr lang="en-US" altLang="ko-KR" sz="16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1600" dirty="0">
                    <a:ea typeface="나눔명조" pitchFamily="18" charset="-127"/>
                    <a:cs typeface="Times New Roman" pitchFamily="18" charset="0"/>
                  </a:rPr>
                  <a:t>사후적 잉여 </a:t>
                </a:r>
                <a:r>
                  <a:rPr lang="en-US" altLang="ko-KR" sz="1600" dirty="0">
                    <a:ea typeface="나눔명조" pitchFamily="18" charset="-127"/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점으로부터 기울기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ko-KR" altLang="en-US" sz="16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6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(1−</m:t>
                            </m:r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𝜋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</m:oMath>
                </a14:m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인 직선을 그으면 선 위의 점들은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 = πS</a:t>
                </a:r>
                <a:r>
                  <a:rPr lang="en-US" altLang="ko-KR" sz="16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 (1-π)S</a:t>
                </a:r>
                <a:r>
                  <a:rPr lang="en-US" altLang="ko-KR" sz="16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 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</a:t>
                </a:r>
                <a:r>
                  <a:rPr lang="ko-KR" altLang="en-US" sz="16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기대잉여를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가짐</a:t>
                </a:r>
                <a:endParaRPr lang="en-US" altLang="ko-KR" sz="16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45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itchFamily="18" charset="0"/>
                  </a:rPr>
                  <a:t>°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직선과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만나는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A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점과 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B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점을 통해 기대잉여와 옵션가격을 비교할 수 있으며</a:t>
                </a:r>
                <a:r>
                  <a:rPr lang="en-US" altLang="ko-KR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16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둘의 차이가 </a:t>
                </a:r>
                <a:r>
                  <a:rPr lang="ko-KR" altLang="en-US" sz="16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옵션가치임</a:t>
                </a:r>
                <a:endParaRPr lang="en-US" altLang="ko-KR" sz="16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4808" y="4791806"/>
                <a:ext cx="7313613" cy="1728666"/>
              </a:xfrm>
              <a:blipFill>
                <a:blip r:embed="rId3"/>
                <a:stretch>
                  <a:fillRect t="-1408" b="-3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024" y="769065"/>
            <a:ext cx="4481669" cy="400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4120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 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6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3600" y="15176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세 가지 사전적 후생지표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E(S), OP, E(C)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E(S):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기대 잉여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OP: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옵션가격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E(C):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그라함 궤적 위에 있는 지불액 조합 중 기대금액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𝜋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𝜋</m:t>
                        </m:r>
                      </m:e>
                    </m:d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최대가 되게 하는 지불의사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점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F)</a:t>
                </a:r>
              </a:p>
              <a:p>
                <a:pPr lvl="2" eaLnBrk="1" hangingPunct="1"/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</m:d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=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𝜋</m:t>
                    </m:r>
                    <m:sSub>
                      <m:sSub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1−</m:t>
                        </m:r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𝜋</m:t>
                        </m:r>
                      </m:e>
                    </m:d>
                    <m:sSub>
                      <m:sSub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</a:t>
                </a:r>
                <a:r>
                  <a:rPr lang="en-US" altLang="ko-KR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극대화 한 값</a:t>
                </a:r>
                <a:endParaRPr lang="en-US" altLang="ko-KR" sz="17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OP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보다 항상 작다면 환경개선의 최대지불의사가 아니므로 이를 사용하지 않아야 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2" eaLnBrk="1" hangingPunct="1"/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그러나 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오히려 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OP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보다 클 수도 있으며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간과한 옵션가치 관련 초기 연구들은 일종의 오류를 가짐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806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517650"/>
                <a:ext cx="7313613" cy="4114800"/>
              </a:xfrm>
              <a:blipFill>
                <a:blip r:embed="rId3"/>
                <a:stretch>
                  <a:fillRect l="-1168" t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80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BDAA34-6FB4-4860-970A-920C67A9F09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5541391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9017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6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5433" y="870833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음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(-)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옵션가치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Cambria Math" panose="02040503050406030204" pitchFamily="18" charset="0"/>
                    <a:ea typeface="나눔명조" pitchFamily="18" charset="-127"/>
                    <a:cs typeface="Times New Roman" pitchFamily="18" charset="0"/>
                  </a:rPr>
                  <a:t>다음 그림과 같이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𝜋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값이 작아져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기울기가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완만해지면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E(S)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옵션가격보다 더 클 수 있음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806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5433" y="870833"/>
                <a:ext cx="7313613" cy="4114800"/>
              </a:xfrm>
              <a:blipFill>
                <a:blip r:embed="rId3"/>
                <a:stretch>
                  <a:fillRect l="-1168" t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80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BDAA34-6FB4-4860-970A-920C67A9F09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025" y="1990295"/>
            <a:ext cx="4848427" cy="43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86475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옵션가격과 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06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81089" y="1143000"/>
                <a:ext cx="8286621" cy="4903237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옵션가치가 환경재의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“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추가가치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”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인지의 여부는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OP, E(S), E(C) 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중 무엇을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불확실성하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정책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/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보존 편익으로 보아야 하는지에 달려 있음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편익 수혜자 개인별 선호도가 동일한지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비용도 불확실한지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성과 위험성이 모든 개인에게 동일하게 작용하는지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보험이나 정부 정책으로 위험분산이 가능한지 등이 지표 선택에 영향을 줌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논리적으로 보면 최대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기대지불액인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E(C)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가장 적합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하지만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&lt;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14-8&gt;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점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에서의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액수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E(C)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사전에 소득에서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빼주면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그라함 궤적 밖으로 나가게 되므로 후생 손실이 발생함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보험제도 등을 통해 직선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𝐷𝐹</m:t>
                        </m:r>
                      </m:e>
                    </m:acc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위를 자유로이 이동할 수 있으면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사전에 지불하고도 보험을 통해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F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이동하여 사업이전과 이후의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기대효용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동일하게 할 수 있음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그러한 보험제도나 재해정책이 없으면 옵션가격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OP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적절한 사전지표로 간주됨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8806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089" y="1143000"/>
                <a:ext cx="8286621" cy="4903237"/>
              </a:xfrm>
              <a:blipFill>
                <a:blip r:embed="rId3"/>
                <a:stretch>
                  <a:fillRect l="-956" t="-1119" r="-294" b="-23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6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8806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BDAA34-6FB4-4860-970A-920C67A9F09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302006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0355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506677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환경을 파괴하는 행위는 비가역적인 행위이며 불확실성과 비가역성이 동시에 개입되면 충분한 정보가 수집될 때까지 의사결정을 미루는 것이 필요할 수 있음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이와 관련된 개념이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준옵션가치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(quasi-option value)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자연환경을 보존하여 향후에 개발할 수 있는 기회를 계속 보유하거나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보존하여 얻게 되는 정보를 활용할 수 있어 발생하는 가치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준옵션가치가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존재할 때 기대잉여는 환경재의 가치를 제대로 나타내지 못함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035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035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8B573D-6F82-4AEB-883F-BDF9BA7D28E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035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035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0355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506677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준옵션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 예시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어떤 하천의 현재 생태적인 가치가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미래에 이 하천 지역 생태계에서 유용한 물질을 얻을 가능성이 있고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그로부터 연간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억원의 가치를 제공할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현재 하천 지역에 대한 연구가 진행 중이며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후에는 생태적 가치 유무에 대한 정확한 판단을 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생태적 가치가 있을 것으로 판정될 확률은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0.5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한편 이 지역에 올해 바로 댐을 건설할 수 있으며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댐 건설비는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1,600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건설 즉시 연간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억원의 전력이 생산됨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연간 이자율은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10%</a:t>
            </a:r>
          </a:p>
        </p:txBody>
      </p:sp>
      <p:sp>
        <p:nvSpPr>
          <p:cNvPr id="10035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035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8B573D-6F82-4AEB-883F-BDF9BA7D28E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035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035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8675183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98904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7827" name="Rectangle 7"/>
          <p:cNvSpPr>
            <a:spLocks noGrp="1" noChangeArrowheads="1"/>
          </p:cNvSpPr>
          <p:nvPr>
            <p:ph idx="1"/>
          </p:nvPr>
        </p:nvSpPr>
        <p:spPr>
          <a:xfrm>
            <a:off x="762000" y="1074575"/>
            <a:ext cx="7313613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4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가지 의사결정 원칙과 그 결과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24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24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C1D61-43BE-4CD4-9A6A-397AF70B54B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F7CE89-3BBA-48DC-A0EB-65EC6EDC4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32" y="1514265"/>
            <a:ext cx="7293335" cy="488653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82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3600" y="1429726"/>
                <a:ext cx="7313613" cy="4114800"/>
              </a:xfrm>
            </p:spPr>
            <p:txBody>
              <a:bodyPr/>
              <a:lstStyle/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=500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계속해서 댐을 건설하지 않을 때 기대가치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6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00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지금 당장 댐을 건설하고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비가역적이므로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이를 계속 유지할 때 기대가치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545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건설을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년 유예한 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생태계 가치여부가 확인됨에도 불구하고 이를 반영하지 않고 여전히 불확실하다고 보고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의사결정할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때의 기대가치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773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건설을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년 유예한 후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실현된 생태계 가치를 확인한 후 그 정보를 활용하여 건설여부를 결정할 때의 기대가치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최적의 의사결정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</p:txBody>
          </p:sp>
        </mc:Choice>
        <mc:Fallback>
          <p:sp>
            <p:nvSpPr>
              <p:cNvPr id="7782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429726"/>
                <a:ext cx="7313613" cy="4114800"/>
              </a:xfrm>
              <a:blipFill>
                <a:blip r:embed="rId3"/>
                <a:stretch>
                  <a:fillRect l="-1168" t="-1185" r="-667" b="-8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24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C1D61-43BE-4CD4-9A6A-397AF70B54B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1582501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82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3600" y="1429726"/>
                <a:ext cx="7313613" cy="4114800"/>
              </a:xfrm>
            </p:spPr>
            <p:txBody>
              <a:bodyPr/>
              <a:lstStyle/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준옵션가치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(quasi-option value, Arrow and Fisher 1974, </a:t>
                </a:r>
                <a:r>
                  <a:rPr lang="en-US" altLang="ko-KR" sz="2400" dirty="0" err="1">
                    <a:latin typeface="나눔명조" pitchFamily="18" charset="-127"/>
                    <a:ea typeface="나눔명조" pitchFamily="18" charset="-127"/>
                  </a:rPr>
                  <a:t>Hanemann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1989)</a:t>
                </a:r>
              </a:p>
              <a:p>
                <a:pPr marL="0" lvl="1" indent="0" eaLnBrk="1" hangingPunct="1">
                  <a:buNone/>
                  <a:defRPr/>
                </a:pPr>
                <a:r>
                  <a:rPr lang="en-US" altLang="ko-KR" sz="2000" dirty="0">
                    <a:ea typeface="나눔명조" pitchFamily="18" charset="-127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𝑄𝑂𝑉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=[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]−[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-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=773−545=228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defRPr/>
                </a:pP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개발을 유보하여 생기는 추가정보를 이용하고 하지 않음에 따라 발생하는 가치 차이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(=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추가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‘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정보의 가치‘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실물옵션가치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(real option value, Dixit and </a:t>
                </a:r>
                <a:r>
                  <a:rPr lang="en-US" altLang="ko-KR" sz="2400" dirty="0" err="1">
                    <a:latin typeface="나눔명조" pitchFamily="18" charset="-127"/>
                    <a:ea typeface="나눔명조" pitchFamily="18" charset="-127"/>
                  </a:rPr>
                  <a:t>Pindyck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1994)</a:t>
                </a:r>
              </a:p>
              <a:p>
                <a:pPr marL="0" lvl="1" indent="0" eaLnBrk="1" hangingPunct="1">
                  <a:buNone/>
                  <a:defRPr/>
                </a:pPr>
                <a:r>
                  <a:rPr lang="en-US" altLang="ko-KR" sz="2400" dirty="0">
                    <a:ea typeface="나눔명조" pitchFamily="18" charset="-127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𝑂𝑉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max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⁡{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ko-KR" sz="2400" b="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marL="0" lvl="1" indent="0" eaLnBrk="1" hangingPunct="1">
                  <a:buNone/>
                  <a:defRPr/>
                </a:pPr>
                <a:r>
                  <a:rPr lang="en-US" altLang="ko-KR" sz="2400" dirty="0">
                    <a:ea typeface="나눔명조" pitchFamily="18" charset="-127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</m:oMath>
                </a14:m>
                <a:r>
                  <a:rPr lang="en-US" altLang="ko-KR" sz="24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-</a:t>
                </a:r>
                <a:r>
                  <a:rPr lang="en-US" altLang="ko-KR" sz="24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=773−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600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173</m:t>
                    </m:r>
                  </m:oMath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환경경제학들이 제기한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QOV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투자론 분야에서 개발된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ROV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와 이처럼 유사하지만 차이가 있음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7782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429726"/>
                <a:ext cx="7313613" cy="4114800"/>
              </a:xfrm>
              <a:blipFill>
                <a:blip r:embed="rId3"/>
                <a:stretch>
                  <a:fillRect l="-1168" t="-1185" r="-2085"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24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C1D61-43BE-4CD4-9A6A-397AF70B54B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6009406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895739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82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34481" y="948128"/>
                <a:ext cx="7875037" cy="5234958"/>
              </a:xfrm>
            </p:spPr>
            <p:txBody>
              <a:bodyPr/>
              <a:lstStyle/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최초시점에 가진 정보만 가지고 결정을 내리도록 강제할 때의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순편익이며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PVNB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라 할 수 있음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max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⁡{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당장 개발할 때의 가치와 개발을 보류한 후 추가 정보를 얻어 유리한 선택을 할 때의 가치 중 최적 선택을 한 결과임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ROV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최초에 바로 결정하지 않는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‘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선택을 미룰 기회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(option to postpone)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가치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’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임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lvl="1" indent="0" eaLnBrk="1" hangingPunct="1">
                  <a:buNone/>
                  <a:defRPr/>
                </a:pPr>
                <a:r>
                  <a:rPr lang="en-US" altLang="ko-KR" sz="2400" dirty="0">
                    <a:ea typeface="나눔명조" pitchFamily="18" charset="-127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𝑅𝑂𝑉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2400" dirty="0">
                        <a:latin typeface="나눔명조" pitchFamily="18" charset="-127"/>
                        <a:ea typeface="나눔명조" pitchFamily="18" charset="-127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2400" dirty="0">
                        <a:ea typeface="나눔명조" pitchFamily="18" charset="-127"/>
                      </a:rPr>
                      <m:t>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en-US" altLang="ko-KR" sz="24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[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2400" dirty="0">
                        <a:latin typeface="나눔명조" pitchFamily="18" charset="-127"/>
                        <a:ea typeface="나눔명조" pitchFamily="18" charset="-127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2400" dirty="0">
                        <a:ea typeface="나눔명조" pitchFamily="18" charset="-127"/>
                      </a:rPr>
                      <m:t>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]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sz="2400" dirty="0">
                            <a:latin typeface="나눔명조" pitchFamily="18" charset="-127"/>
                            <a:ea typeface="나눔명조" pitchFamily="18" charset="-127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나눔명조" pitchFamily="18" charset="-127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2400" b="0" i="1" dirty="0">
                  <a:latin typeface="Cambria Math" panose="02040503050406030204" pitchFamily="18" charset="0"/>
                  <a:ea typeface="나눔명조" pitchFamily="18" charset="-127"/>
                </a:endParaRPr>
              </a:p>
              <a:p>
                <a:pPr marL="0" lvl="1" indent="0" eaLnBrk="1" hangingPunct="1">
                  <a:buNone/>
                  <a:defRPr/>
                </a:pPr>
                <a:r>
                  <a:rPr lang="en-US" altLang="ko-KR" sz="2400" b="0" dirty="0">
                    <a:ea typeface="나눔명조" pitchFamily="18" charset="-127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𝑄𝑂𝑉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sz="2400" dirty="0">
                            <a:latin typeface="나눔명조" pitchFamily="18" charset="-127"/>
                            <a:ea typeface="나눔명조" pitchFamily="18" charset="-127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나눔명조" pitchFamily="18" charset="-127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=228−55=173</m:t>
                    </m:r>
                  </m:oMath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ROV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QOV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간 차이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sz="2400" dirty="0">
                            <a:latin typeface="나눔명조" pitchFamily="18" charset="-127"/>
                            <a:ea typeface="나눔명조" pitchFamily="18" charset="-127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나눔명조" pitchFamily="18" charset="-127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 비가역성이나 새로운 정보의 영향과는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관련없는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단순한 개발유예 효과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742950" lvl="2" indent="-342900" eaLnBrk="1" hangingPunct="1">
                  <a:defRPr/>
                </a:pPr>
                <a:r>
                  <a:rPr lang="ko-KR" altLang="en-US" sz="2100" dirty="0">
                    <a:latin typeface="나눔명조" pitchFamily="18" charset="-127"/>
                    <a:ea typeface="나눔명조" pitchFamily="18" charset="-127"/>
                  </a:rPr>
                  <a:t>기술발전으로 개발실행 이득이 시간이 지나며 증가하면 양</a:t>
                </a:r>
                <a:r>
                  <a:rPr lang="en-US" altLang="ko-KR" sz="2100" dirty="0">
                    <a:latin typeface="나눔명조" pitchFamily="18" charset="-127"/>
                    <a:ea typeface="나눔명조" pitchFamily="18" charset="-127"/>
                  </a:rPr>
                  <a:t>(+)</a:t>
                </a:r>
                <a:r>
                  <a:rPr lang="ko-KR" altLang="en-US" sz="2100" dirty="0">
                    <a:latin typeface="나눔명조" pitchFamily="18" charset="-127"/>
                    <a:ea typeface="나눔명조" pitchFamily="18" charset="-127"/>
                  </a:rPr>
                  <a:t>의 값을 가질 수도 있음 </a:t>
                </a:r>
                <a:endParaRPr lang="en-US" altLang="ko-KR" sz="21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7782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481" y="948128"/>
                <a:ext cx="7875037" cy="5234958"/>
              </a:xfrm>
              <a:blipFill>
                <a:blip r:embed="rId3"/>
                <a:stretch>
                  <a:fillRect l="-1006" t="-932" r="-929" b="-1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24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C1D61-43BE-4CD4-9A6A-397AF70B54B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2405711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비가역성과 준옵션가치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827" name="Rectangle 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3600" y="1429726"/>
                <a:ext cx="7313613" cy="4114800"/>
              </a:xfrm>
            </p:spPr>
            <p:txBody>
              <a:bodyPr/>
              <a:lstStyle/>
              <a:p>
                <a:pPr marL="342900" lvl="1" indent="-342900" eaLnBrk="1" hangingPunct="1">
                  <a:buFont typeface="Wingdings" panose="05000000000000000000" pitchFamily="2" charset="2"/>
                  <a:buChar char="l"/>
                  <a:defRPr/>
                </a:pP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QOV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ROV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개념에 있어 차이가 있으나 모두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지역 생태계의 최적 가치로 보며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𝑉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비교하는 단순 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-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편익분석에서 보다는 환경의 보존가치가 더 크고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개발행위도 뒤로 미룰 필요가 있음을 강조함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defRPr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그러나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QOV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ROV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반영하는 것이 반드시 행동을 더 느리게 하는 것은 아님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defRPr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기후변화의 향후 피해와 대응비용 모두 불확실함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오늘 여건에서는 배출을 더 늘리는 것이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합리적이어도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미래에는 농도를 더 낮추는 것이 적절함이 밝혀질 수 있음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그러나 온실가스는 축적성을 가지기 때문에 이미 축적된 농도를 낮추기 어려우며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이 경우 비가역성을 감안하면 오히려 더 빨리 대응조치 취해야 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77827" name="Rectangle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429726"/>
                <a:ext cx="7313613" cy="4114800"/>
              </a:xfrm>
              <a:blipFill>
                <a:blip r:embed="rId3"/>
                <a:stretch>
                  <a:fillRect l="-751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24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C1D61-43BE-4CD4-9A6A-397AF70B54B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8440093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429726"/>
            <a:ext cx="7313613" cy="4114800"/>
          </a:xfrm>
        </p:spPr>
        <p:txBody>
          <a:bodyPr/>
          <a:lstStyle/>
          <a:p>
            <a:pPr marL="342900" lvl="1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1970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년대 멕시코의 시에라 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마난틀란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지역에서 병충해에 강한 야생 옥수수 변종이 발견됨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marL="342900" lvl="1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세계은행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(World Bank, 1998)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은 해당 지역 개발가치와 옥수수 생산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수요 등을 분석하여 이 지역의 준옵션가치를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억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천만 달러로 추정함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240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240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C1D61-43BE-4CD4-9A6A-397AF70B54B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" name="Rectangle 1028">
            <a:extLst>
              <a:ext uri="{FF2B5EF4-FFF2-40B4-BE49-F238E27FC236}">
                <a16:creationId xmlns:a16="http://schemas.microsoft.com/office/drawing/2014/main" id="{B86768DF-1900-493C-9902-4B4CEC3C0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9574" y="626085"/>
            <a:ext cx="7587575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준옵션가치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9144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환경편익의 종류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4451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445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83BF16-AFF9-46A3-B53F-9D51576E6619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4453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4454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5D2BC7-1830-4AC5-8F78-52CA26F71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64" y="857842"/>
            <a:ext cx="6428536" cy="561915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 편익의 종류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6499" name="Rectangle 7"/>
          <p:cNvSpPr>
            <a:spLocks noGrp="1" noChangeArrowheads="1"/>
          </p:cNvSpPr>
          <p:nvPr>
            <p:ph idx="1"/>
          </p:nvPr>
        </p:nvSpPr>
        <p:spPr>
          <a:xfrm>
            <a:off x="354563" y="1198447"/>
            <a:ext cx="8553061" cy="5127707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환경개선효과로 인한 사망위험 감소의 편익을 평가하기 위해 환경경제학에서는 통계적 생명의 가치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(value of statistical lives, VSL)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나 통계적 수명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(statistical life years)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가치를 평가함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통계적 생명은 위험에 노출되는 모든 사람의 사망위험도를 합한 개념으로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 개인이 사망할 확률에 인구수를 곱하여 구함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통계적 수명은 연령별로 남은 수명이 어느 정도나 변하는지를 분석함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질병 위험성에 미치는 영향은 환경정책이 질병 완화에 기여하는 바를 경제적 가치로 추정함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	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만성질환과 급성질환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입원 기간이나 일을 할 수 없는 기간을 통해 질병 정도 측정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발병횟수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질환을 앓는 일 수 등이 정책으로 인해 줄어드는 정도 평가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650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650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C6E209-09E5-4D4D-A0E4-0E9AC6FB5A0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650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650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5855377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 편익의 종류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6499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환경정책이 쾌적함을 높이는 경우도 평가할 수 있지만 인간의 오감에 의존하고 다른 종류의 편익과 결합되어 있어 그 순수한 가치를 평가하기 어려움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자연생태계는 여러 경로를 통해 인간에게 다양한 편익을 주며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 편익의 추정은 매우 까다로움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자연생태계의 상호작용은 대단히 복잡하며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환경정책의 영향 범위는 넓고 다양함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정책이 영향을 미치는 시간적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공간적 범위를 명확히 하여 가능한 한 정확히 효과를 분석해야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환경정책은 시설물 보호나 인간이 관리하는 자원의 산출량을 증가시키기도 하며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이러한 편익도 가치평가 시 모두 고려할 필요가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6500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650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C6E209-09E5-4D4D-A0E4-0E9AC6FB5A0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6502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6503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2789249" y="632663"/>
            <a:ext cx="3070824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생명의 가치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1029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960" y="1510012"/>
                <a:ext cx="751522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환경정책에서  평가되는 생명의 가치는 그 일상적인 의미와는 다른 의미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생명의 가치는 사전적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en-US" altLang="ko-KR" sz="2000" i="1" dirty="0">
                    <a:latin typeface="나눔명조" pitchFamily="18" charset="-127"/>
                    <a:ea typeface="나눔명조" pitchFamily="18" charset="-127"/>
                  </a:rPr>
                  <a:t>ex ante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생명의 가치로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불특정인의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사망확률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변화를 사건 이전에 사전평가 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것임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통계적 생명의 가치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(VSL)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예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매년 대기오염으로 인한 조기사망률이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0.01%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감소하면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1000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만 서울시민 중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1000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명의 통계적 생명이 구해 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예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평생 노출된 위해화학물질로 인해 사망할 확률이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1%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이면 이 질환으로 사망하지 않을 확률은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0.99=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80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𝜋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=0.013%. 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신물질 개발로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𝜋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=0.003%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감소하면 서울시에서 연간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1,000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명의 생명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구해짐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공공정책의 입안에 있어서도 생명의 가치를 평가하는 일은 필요함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3011" name="Rectangle 10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960" y="1510012"/>
                <a:ext cx="7515225" cy="4114800"/>
              </a:xfrm>
              <a:blipFill>
                <a:blip r:embed="rId2"/>
                <a:stretch>
                  <a:fillRect l="-1054" t="-1185" r="-162" b="-21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354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2440593" y="612929"/>
            <a:ext cx="3419480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생명의 가치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677742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사망확률을 낮추는 정책에 대한 지불의사 도출에는 여러 분석방법이 활용될 수 있음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16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장 부록 참조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잘 설계된 설문조사를 통해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조사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사람들의 실제 선택 행위를 통해 분석할 수도 있음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사망위험도는 높지만 보수가 높은 직업을 선택하는 행위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운전속도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선택행위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암조기진단에 비용을 지불하는 행위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비싸더라도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범죄율이나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대기오염이 낮은 지역의 주택을 구입하는 행위 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생명의 가치 추정 예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생명가치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약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10~50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(Porter, 2002), 1.8~8.6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엄영숙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1998), 11.3~18.3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신영철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2006), 13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억원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전호철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2020)</a:t>
            </a: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4445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환경편익의 통합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8547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환경정책으로 인한 사회 전체의 편익 변화를 추정하기 위해서는 각 개인의 편익을 추정한 후 이를 합산해야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과정에서 개인별로 어떠한 가중치를 부여할 지가 문제로 제기될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사회 전체의 지불의사를 도출함에 있어서도 개인의 이타심을 반영하는 것이 문제로 대두됨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이타심을 느끼는 경제주체가 실제 지불할 의사가 있고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그에 따라 보존된 환경자원의 수혜자는 막상 자신의 이용대가를 지불하지 않을 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(ex: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 세대가 미래세대의 편익을 위해 자원보존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이타심은 반영되어야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8548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0854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1C6FE6-4197-4E06-89F1-0578345C0E0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8550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8551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다양한 세부편익의 합산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10595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다양한 환경개선효과를 야기하는 정책의 편익은 세심히 평가될 필요가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개별효과의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편익을 도출하고 이를 단순히 합하는 것은 환경개선의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총가치를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과대평가할 가능성이 높음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먼저 합산 이전에 각 세부 편익 별로 가치를 포괄하는 정도의 차이를 조절해야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존재가치의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인정여부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가치의 범위 등을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통일해야함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근본적으로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별도로 평가된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편익별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가치를 합산하는 과정에서 문제가 발생할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이는 단순한 합산이 환경이 주는 다양한 편익 사이의 보완성과 대체성을 무시하기 때문에 발생함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10596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1059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43CEB3-4E72-4C43-95FB-D9FBCA6E311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10598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10599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다양한 세부편익의 합산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7827" name="Rectangle 7"/>
          <p:cNvSpPr>
            <a:spLocks noGrp="1" noChangeArrowheads="1"/>
          </p:cNvSpPr>
          <p:nvPr>
            <p:ph idx="1"/>
          </p:nvPr>
        </p:nvSpPr>
        <p:spPr>
          <a:xfrm>
            <a:off x="877668" y="1405109"/>
            <a:ext cx="7313613" cy="41148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환경이 제공하는 다양한 편익은 그것들의 효과가 순차적으로 합해질 때 총체적 가치변화를 정확하게 측정할 수 있음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즉 환경개선의 효과는 다음과 같이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합산되어야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함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→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가치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+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→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가치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개선이전의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개선 이후의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또는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→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가치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+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→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가치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하지만 다음과 같은 합산은 문제를 야기함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→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가치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+(q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→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(q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0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q</a:t>
            </a:r>
            <a:r>
              <a:rPr lang="en-US" altLang="ko-KR" sz="1900" baseline="30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가치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이러한 합산은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과 </a:t>
            </a:r>
            <a:r>
              <a:rPr lang="en-US" altLang="ko-KR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</a:t>
            </a:r>
            <a:r>
              <a:rPr lang="en-US" altLang="ko-KR" sz="19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서로 보완적일 경우 환경개선의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총편익을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과소평가하며 대체적일 경우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총편익을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과대평가함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대부분의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환경재는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서로 유사한 특성을 가지므로 관례적인 </a:t>
            </a:r>
            <a:r>
              <a:rPr lang="ko-KR" altLang="en-US" sz="19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분석절차는</a:t>
            </a:r>
            <a:r>
              <a:rPr lang="ko-KR" altLang="en-US" sz="19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과대평가의 가능성이 높음</a:t>
            </a:r>
            <a:endParaRPr lang="en-US" altLang="ko-KR" sz="19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112644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1264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0F48DF-7F25-4316-8565-70CE0CAC703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12646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12647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6"/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다양한 세부편익의 합산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14691" name="Rectangle 7"/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환경편익의 가치를 정확히 파악하기 위해서는 세부가치를 적절히 합산하는 절차가 필요함</a:t>
            </a:r>
            <a:endParaRPr lang="en-US" altLang="ko-KR" sz="2000" baseline="-25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세부가치의 합산에서 나타나는 오류는 총 가치를 직접 평가해서도 피할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세부적인 편익 또한 관심의 대상일 경우 이 방법을 활용하기 어려움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또한 가상가치평가법 등의 설문조사를 통한 분석은 평가대상 단위를 명확히 하지 못해 총 가치 자체를 정확하게 추정하지 못할 수 있음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큰 것은 작게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작은 것은 크게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’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인식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개별편익을 합산하는 절차에는 아직 해결되지 않은 문제점이 개입되어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1469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14</a:t>
            </a:r>
          </a:p>
        </p:txBody>
      </p:sp>
      <p:sp>
        <p:nvSpPr>
          <p:cNvPr id="11469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087431-22C2-4D54-8EBA-81D665A0E9C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14694" name="Rectangle 2"/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14695" name="Rectangle 3"/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427517" y="626085"/>
            <a:ext cx="6334991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가치평가를 하지 말아야 할 때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677742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가치평가이론은 잘 정립되어 있지만 충분한 경제학적 훈련 없이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분석절차만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익혀 활용할 경우 기법의 남용과 신뢰도 하락을 초래할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특히 평가 목적이 제대로 설정되지 않은 채 분석을 진행할 때 문제 발생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가치평가는 환경정책이나 규제의 도입에 따른 편익을 파악하여 정책의 타당성을 판단하거나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오염사고 등에 따른 생태계 피해액을 도출해 배상액을 결정하기 위해 활용됨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만약 정책변화 가능성도 없고 피해가 발생할 가능성도 없는 상태라면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평가기법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자체를 적용할 이유가 없음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4379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269635" y="626085"/>
            <a:ext cx="6492873" cy="698623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가치평가를 하지 말아야 할 때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  <p:sp>
        <p:nvSpPr>
          <p:cNvPr id="43011" name="Rectangle 1029"/>
          <p:cNvSpPr>
            <a:spLocks noGrp="1" noChangeArrowheads="1"/>
          </p:cNvSpPr>
          <p:nvPr>
            <p:ph idx="1"/>
          </p:nvPr>
        </p:nvSpPr>
        <p:spPr>
          <a:xfrm>
            <a:off x="971550" y="1324708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가치평가기법이 잘못 적용된 유명한 사례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생태경제학자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코스탄자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Costanza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et al., 1997)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연구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관련 선행연구결과를 모으고 유형화한 후 지구 전체가 공급하는 생태계 서비스가치로 전세계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GNP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1.8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배인 연평균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33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조 달러 도출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지구 생태계를 완전 대체할 수 있는 대안이 없는 상황에서 이러한 분석은 사실상 의미가 없음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또한 적용된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분석기법도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간의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대체관계와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보완관계가 고려되지 않은 거친 방법임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지구 생태계 서비스를 대체할 수 없는 상태에서 그 기능이 사라지는 것의 가치는 분석할 것도 없이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무한대라야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2" name="바닥글 개체 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Chapter 14</a:t>
            </a:r>
          </a:p>
        </p:txBody>
      </p:sp>
      <p:sp>
        <p:nvSpPr>
          <p:cNvPr id="4301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D4A76B-3103-4E6C-9CC9-0699ADD96B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224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  <a:txDef>
      <a:spPr bwMode="auto">
        <a:blipFill rotWithShape="0">
          <a:blip xmlns:r="http://schemas.openxmlformats.org/officeDocument/2006/relationships" r:embed="rId1" cstate="print"/>
          <a:stretch>
            <a:fillRect l="-1024" t="-1630" b="-16444"/>
          </a:stretch>
        </a:blip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>
          <a:defRPr>
            <a:noFill/>
          </a:defRPr>
        </a:defPPr>
      </a:lstStyle>
    </a:tx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3428</TotalTime>
  <Words>5108</Words>
  <Application>Microsoft Office PowerPoint</Application>
  <PresentationFormat>화면 슬라이드 쇼(4:3)</PresentationFormat>
  <Paragraphs>575</Paragraphs>
  <Slides>63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4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14장 개요</vt:lpstr>
      <vt:lpstr>편익분석을 위한 이론적 기반</vt:lpstr>
      <vt:lpstr>통상수요와 소비자잉여</vt:lpstr>
      <vt:lpstr>통상수요와 소비자잉여</vt:lpstr>
      <vt:lpstr>통상수요와 소비자잉여</vt:lpstr>
      <vt:lpstr>∆ S의 이론적 난점</vt:lpstr>
      <vt:lpstr>보상수요</vt:lpstr>
      <vt:lpstr>보상수요</vt:lpstr>
      <vt:lpstr>보상변화와 동등변화</vt:lpstr>
      <vt:lpstr>보상변화와 동등변화</vt:lpstr>
      <vt:lpstr>보상수요곡선과 CV</vt:lpstr>
      <vt:lpstr>보상수요곡선과 CV</vt:lpstr>
      <vt:lpstr>보상수요곡선과 CV</vt:lpstr>
      <vt:lpstr>CV와 EV의 근사</vt:lpstr>
      <vt:lpstr>CV와 EV의 근사</vt:lpstr>
      <vt:lpstr>후생변화의 척도</vt:lpstr>
      <vt:lpstr>CV, EV와 지불의사, 수용의사</vt:lpstr>
      <vt:lpstr>CV, EV 및 ∆S</vt:lpstr>
      <vt:lpstr>환경재의 특성변화</vt:lpstr>
      <vt:lpstr>보상잉여와 동등잉여</vt:lpstr>
      <vt:lpstr>보상잉여와 동등잉여</vt:lpstr>
      <vt:lpstr>환경질의 선택과 실효가격</vt:lpstr>
      <vt:lpstr>환경질의 선택과 실효가격</vt:lpstr>
      <vt:lpstr>지불의사함수와 입찰함수</vt:lpstr>
      <vt:lpstr>지불의사함수와 입찰함수</vt:lpstr>
      <vt:lpstr>CS, ∆S, ES의 근사</vt:lpstr>
      <vt:lpstr>CS와 ES의 차이에 관한 설명 1</vt:lpstr>
      <vt:lpstr>CS와 ES의 차이에 관한 설명 2</vt:lpstr>
      <vt:lpstr>보상잉여와 동등잉여</vt:lpstr>
      <vt:lpstr>하네만과 전망이론, 어느 쪽이 맞나?</vt:lpstr>
      <vt:lpstr>하네만과 전망이론, 어느 쪽이 맞나?</vt:lpstr>
      <vt:lpstr>하네만과 전망이론, 어느 쪽이 맞나?</vt:lpstr>
      <vt:lpstr>하네만과 전망이론, 어느 쪽이 맞나?</vt:lpstr>
      <vt:lpstr>하네만과 전망이론, 어느 쪽이 맞나?</vt:lpstr>
      <vt:lpstr>환경편익의 분류</vt:lpstr>
      <vt:lpstr>환경편익의 분류</vt:lpstr>
      <vt:lpstr>불확실성을 고려할 경우</vt:lpstr>
      <vt:lpstr>옵션가격과 옵션가치</vt:lpstr>
      <vt:lpstr>옵션가격과 옵션가치</vt:lpstr>
      <vt:lpstr>옵션가격과 옵션가치</vt:lpstr>
      <vt:lpstr>옵션가격과 옵션가치</vt:lpstr>
      <vt:lpstr>옵션가격과 옵션가치</vt:lpstr>
      <vt:lpstr>옵션가격과 옵션가치</vt:lpstr>
      <vt:lpstr>옵션가격과 옵션가치</vt:lpstr>
      <vt:lpstr>비가역성과 준옵션가치</vt:lpstr>
      <vt:lpstr>비가역성과 준옵션가치</vt:lpstr>
      <vt:lpstr>비가역성과 준옵션가치</vt:lpstr>
      <vt:lpstr>비가역성과 준옵션가치</vt:lpstr>
      <vt:lpstr>비가역성과 준옵션가치</vt:lpstr>
      <vt:lpstr>비가역성과 준옵션가치</vt:lpstr>
      <vt:lpstr>비가역성과 준옵션가치</vt:lpstr>
      <vt:lpstr>준옵션가치</vt:lpstr>
      <vt:lpstr>환경편익의 종류</vt:lpstr>
      <vt:lpstr>환경 편익의 종류</vt:lpstr>
      <vt:lpstr>환경 편익의 종류</vt:lpstr>
      <vt:lpstr>생명의 가치</vt:lpstr>
      <vt:lpstr>생명의 가치</vt:lpstr>
      <vt:lpstr>환경편익의 통합</vt:lpstr>
      <vt:lpstr>다양한 세부편익의 합산</vt:lpstr>
      <vt:lpstr>다양한 세부편익의 합산</vt:lpstr>
      <vt:lpstr>다양한 세부편익의 합산</vt:lpstr>
      <vt:lpstr>가치평가를 하지 말아야 할 때</vt:lpstr>
      <vt:lpstr>가치평가를 하지 말아야 할 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409</cp:revision>
  <dcterms:created xsi:type="dcterms:W3CDTF">1997-07-14T00:22:12Z</dcterms:created>
  <dcterms:modified xsi:type="dcterms:W3CDTF">2025-02-18T23:59:21Z</dcterms:modified>
</cp:coreProperties>
</file>