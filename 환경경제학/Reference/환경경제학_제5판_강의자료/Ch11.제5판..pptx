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8"/>
  </p:notesMasterIdLst>
  <p:handoutMasterIdLst>
    <p:handoutMasterId r:id="rId29"/>
  </p:handoutMasterIdLst>
  <p:sldIdLst>
    <p:sldId id="262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83" r:id="rId11"/>
    <p:sldId id="384" r:id="rId12"/>
    <p:sldId id="357" r:id="rId13"/>
    <p:sldId id="354" r:id="rId14"/>
    <p:sldId id="361" r:id="rId15"/>
    <p:sldId id="362" r:id="rId16"/>
    <p:sldId id="366" r:id="rId17"/>
    <p:sldId id="363" r:id="rId18"/>
    <p:sldId id="367" r:id="rId19"/>
    <p:sldId id="355" r:id="rId20"/>
    <p:sldId id="368" r:id="rId21"/>
    <p:sldId id="369" r:id="rId22"/>
    <p:sldId id="370" r:id="rId23"/>
    <p:sldId id="372" r:id="rId24"/>
    <p:sldId id="385" r:id="rId25"/>
    <p:sldId id="375" r:id="rId26"/>
    <p:sldId id="382" r:id="rId27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871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BE8D89-BA74-46E3-A832-1748A557D1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837C000-FBF5-4C1F-A672-DB3AF428C6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9228208-86C5-4403-A57C-CAE1921D1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516E724-CC15-41FD-BB06-F9B6AE9AC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4B979593-18F6-4604-AB21-E062B2891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2EE27932-0025-43D7-9A6C-B77926358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C908E64B-C27F-4C51-B44A-15640F095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4D47F1F-56CC-4B90-863C-8385A950F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7845687-8B64-427C-9BC3-827C986AB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72043F6-8ACD-47A1-83CE-DDFA98260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16D71734-B43A-46B5-AD54-8F822AD6B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B1B8A59E-4A80-46AF-8283-05AA139E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C5912ED5-4679-429D-BCFF-A0EF4587E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D90F4B26-4E77-4A0C-B24F-A8174032A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29CB3EF-A27E-4047-B52B-41A85B83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CA41A80-C0BF-44BF-ACBB-224F648F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6559C1A8-4963-472D-BE1F-E9C7A23D9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25739EA-2079-48D8-9F70-B9BD7E302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A939986F-42A0-4F70-B91A-E236D3667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CC3D1955-D24B-4DE8-89A4-5692A0A6F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191A532-E336-4076-AD24-EE7F77D91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44B475C-1202-4D5E-BF68-9B41105ED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00C5EE40-8A10-43BF-9186-EFD6E2AFF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5686051D-6108-40C2-8313-75D140329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D21D0E35-285D-4BE2-9008-7CF8C0CD4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CD488FE5-446E-4B3B-9E68-42021BD79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C914823-C2DE-4E42-BACA-F6420EC59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B505F1F-63DC-4FCD-8105-3E370E414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40DF85BD-C790-4CF5-AEFD-7EF74FAE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35C07FD-243A-4318-8E6F-2A37E2CBF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632A23D6-C3FF-4A17-B799-57BA3F46D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1EAB42B8-32D9-492D-AE41-C439F3FDB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18C8607-1D87-4DBF-934C-948E945A4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FD680D6-E7B4-463B-8BF6-457815358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675E8C8-5C7F-4611-B999-E093B67A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354678AA-A219-4522-9988-F7057A53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6DCC1CB4-2BF3-4C64-B5A9-A2AB870C49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7B88FC98-974C-41BE-AB51-BD38898ED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74B9CC5-76CC-4901-B4AE-4B157BC6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B074F69-01D9-46DF-8934-C04E7478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874D70F8-7219-4645-ACE2-0B8FA48C2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07AEC2C0-CA37-48A3-8ADE-A53E245E2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311C7D65-34A8-4825-9F71-4F6729276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351F72B4-A89E-43BC-91C3-43FF3D975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60D53F4-79C1-4CE5-99F8-C3FCD9387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6AA2434-1242-4987-A9A4-4DFFAE252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0E92815-7C1D-4C89-B1C6-E6969FFF6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738BA770-419E-4024-B525-D719F6219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812486D5-0739-4149-8DB7-54DE68E95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7B3AE6EC-E1E2-4125-873F-954EF4DBF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59836BA-E82E-403D-A9BB-22B0AE04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4CB6306-EE8C-41B6-A13A-F17DA25C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510B46BD-5FD8-4CB8-BBCE-43F4DC37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74BA641A-5100-49E9-9028-CFFB97CA4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3D517777-C950-40AE-87F1-68AC221DF2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FCBA55DD-D1BD-42DA-A066-B4E64F2BE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B15198E-F826-421A-88F3-795DB064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89E317A-2CD0-4C77-941F-C4AE05973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2E968848-3294-4F65-A007-5D499B487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69896AA0-C78A-4773-AEFA-5777BE2FA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490C7382-4877-4759-9022-116B01C37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112EE75B-E0F4-4DF1-98AE-B0136CBC9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8897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B15198E-F826-421A-88F3-795DB064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89E317A-2CD0-4C77-941F-C4AE05973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2E968848-3294-4F65-A007-5D499B487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69896AA0-C78A-4773-AEFA-5777BE2FA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490C7382-4877-4759-9022-116B01C37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112EE75B-E0F4-4DF1-98AE-B0136CBC9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0056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9D51D53-ECB4-480C-91AE-27BA51D13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9D03000-1E5C-4F45-8D79-EA2D41E13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732C9B00-523A-4906-8BFF-503F93A4D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CE4A73C-DEFD-4D20-BA0C-02E4B04B9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5AD20515-B335-43E7-87AC-21678696EA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1F7F05D4-20D1-41D2-B803-80B9F042F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D420304-F02B-428C-8CD2-ACD71FE4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466FA1E-7C81-4FA5-ACA7-C3118012A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ADE910FA-E176-4EE6-A437-33F0FA20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FB0EC8E8-E381-40C3-A49B-9669420DE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E32CAF86-139A-4B4D-99E5-ABE245231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CBAD6B18-A9CE-4688-802C-66BE87D7C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89F2879-7E14-4835-813D-226098287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35ACE7D-575D-47FB-9522-5C5A0093E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D589FFD3-068D-4365-B472-7072C60F6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D8CBCB7B-456D-48A8-BB7E-B36595820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19D0BF71-AF90-4127-A098-AD87556263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0901440D-6D54-448E-BFF1-0C9388736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9B2FE4D-7957-44B6-9BD6-777752238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E836AEC-12D3-4088-BCDD-44A82ACF7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1D83A8DF-D1E7-4AE8-B841-0BEA5F35A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8E578EB6-938B-4ABD-B32A-52E3D92DA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11A5E1C0-9E9A-41B8-933B-6826B66EC5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91A609C7-DE1C-4999-9C49-8121D373F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6DE2190-E071-45A5-B045-A8B449EAB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881ECEA-2167-420E-8D55-67F87013A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CD0F7448-F0BB-4717-8260-BC1E64E63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AC89C342-7E87-4647-8631-A9CE6B7F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92C24367-8803-4608-9D4F-7AEA9F0A9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5FC71B87-0DBB-4548-B399-757F7E9A7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2E8FEAB-7CCA-4F1F-ADC5-1E1D6F4B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ED0907D-082E-4A4F-9F07-F863EC528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0865459E-4633-4955-9F81-CDD8C3A6B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F11588CB-AD26-4F6E-A10B-2B3B7A709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9B0F24F3-7866-4CC4-A09F-8016FFE1E9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4C9EE938-616D-4082-BAB3-248EA759B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C79B1CB-53F0-420E-82DA-7EB56146A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5C860A1-610F-4E33-A986-30550BF8D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1B46E740-FD89-436A-92AB-36F41946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BD24654-523B-4EC8-B7F0-0C11BCC87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6EED8422-6E24-4E8A-9C82-AB96552720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4DAE124C-BDD1-424A-B3DD-45FF6E25D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DF30338-12E1-4EC1-B7DF-C4671593A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032C454-55E4-4D7E-AB8A-8FD90EC4C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2C3B7DEF-A637-459C-85DB-7C44F267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EB64294E-D9FC-4D23-B54F-5551C4FF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AA4832E2-7B72-4A19-A10F-67B00A5952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3793FA17-9655-4F8A-80F3-F8681AF4F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C042B86-389A-4531-915B-BCBA317C8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E9EDF78-D014-4432-BF28-849FB37D6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34A9CB10-2246-487D-897F-1FBD94217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656FACE3-D239-4C39-89FF-0FB9F6AED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2D619AB6-7653-4E91-8F6C-17632108E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24D808A2-C8F0-41D4-8EBB-BEA53DCBB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704652B-C032-4A62-B303-A146FBEA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FA64D78-5D77-470E-B2D0-F9ED235D6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A60F3517-1293-460D-B333-ADE7609A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3C6068BB-11A3-49DF-86AF-E6CE27A5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1C98FA9F-BB45-4143-AB54-5E278EA843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B1C7A7F2-6883-40EC-A839-80C736E51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DCEEA61-8EE0-42FB-B963-EF192DAF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298047B-CD45-4B12-9EE7-4A112094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9FB6579F-BCB4-4377-A41E-99AD70A09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87ABB8CF-61C6-4829-A216-3F2619800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D7332AFD-8B25-42C9-8620-B1419BE576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F36065B-E050-4E0E-AE5D-95D4DD516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54F8251-60F9-4413-9BD7-2A09AE1E9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295A678-6937-4574-B81E-833DF185A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12AF001E-FB56-4C80-BF25-912EBBB76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7EB1A125-7E05-431A-BB25-D393680D7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2F3CF9E3-D04A-441B-AFC8-B23B23C2D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F59DCF67-37F9-4126-A900-035FEAF8E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DCEEA61-8EE0-42FB-B963-EF192DAF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298047B-CD45-4B12-9EE7-4A112094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9FB6579F-BCB4-4377-A41E-99AD70A09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87ABB8CF-61C6-4829-A216-3F2619800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D7332AFD-8B25-42C9-8620-B1419BE576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F36065B-E050-4E0E-AE5D-95D4DD516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0509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70303D5-0AC1-4FEC-853D-58A4DC9C3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7B070B0-1409-4675-9E80-6724990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D1879697-1C4C-49E8-A9C9-02B18C56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AE7514D3-6479-4DCA-84B7-A7BC3BAF4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6E352888-656F-4734-BC93-785650C2AD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777F9C14-1493-484D-B498-7DEF3D74D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70303D5-0AC1-4FEC-853D-58A4DC9C3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7B070B0-1409-4675-9E80-6724990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D1879697-1C4C-49E8-A9C9-02B18C56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AE7514D3-6479-4DCA-84B7-A7BC3BAF4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6E352888-656F-4734-BC93-785650C2AD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777F9C14-1493-484D-B498-7DEF3D74D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947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8F299E6D-5E3B-4CC2-9963-8389B6738582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3B660A2A-6084-4459-A6C4-A94DE9EFF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84BDBC60-ADAA-4B0D-B8DF-F6EC707C9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E554E7F3-86A6-4AE4-8A3D-95ACA8F05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2EA089B9-9EC1-4AF6-A9A3-6903282707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546B9F44-F1A2-4ADC-9C91-3B0B81582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07CB2484-1FE3-43B6-BC74-CC6CD0A59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56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5AA75A1-6020-4278-858C-7C2859D73A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7A3529B-4471-4DC5-892C-D160815536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9F2B40-B046-491B-9F63-7F6D5429F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FB269-58D6-4CC7-9336-0E72B0D4F06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940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F0E0CE-3063-4049-87A1-2FEB011C9A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8290C7B-4383-449E-A55F-547F914AF3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C09C3CB-5A35-432E-9887-C2B321E96B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48E1B-9CC1-4563-B156-E80AA749610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179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BB33AF9-72E2-45C5-B632-D8397A83D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130BEBC-4D73-44B1-9116-993C4B066F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811C113-C46F-4246-92BB-1904C35252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2B7DB-E5CE-4B13-A5BD-6016A8B11A0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749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E22647B-10C9-4913-892C-1BF0DCE38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25A4C01-7D05-4160-ACA2-A12F8F361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D61F5953-71FC-4FCC-B190-E91480C478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52598-916B-4581-85EB-3AF17707EB6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795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282794D-1E04-48C8-8BA8-2EF2B9DB4A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3096507-B40C-4A13-B2CB-CAD184F2D6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DEB17A1-99BB-4ECF-8F07-2D4CA6E8F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AB800-2D5F-4929-AFE6-FAFA1D6C4C5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98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D7467E1-AA50-4498-AF7C-72966E138F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BA62010-2155-472E-8C25-8A10F250C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61BBE36-B725-4929-AA8D-49CE81BBA7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207C9-32AB-4D22-A217-B406ED1CA81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712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CE9BF35-CF23-44F9-850C-EDBA27BAD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F3D7E91-AAB9-4DAC-96D5-08519B6F89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A6253AF-63BF-45C1-9974-A0DBF1B32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B10123-5782-47CC-ABC8-1F7BE8A982F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556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0454D43-E68C-4DC1-A3CC-B85B3DB9CE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BB2DB9-A9F4-4CA4-B209-7E4254D80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31D618C-AAF3-4293-A4E7-D281D5C9C6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C351A-042E-4945-A52A-EAEA1352A7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612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F817B3F-FE3E-4A77-916F-87AD42077F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4477DE2-8FED-44DF-81CF-68D70F64F7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F9458D9-6C44-4594-B39C-CF29050F40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D7F07-0306-4841-99E0-8914442C641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199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355ABF5-D02F-4D7E-A9C3-1E598C3BF4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5E6073A-959C-48D4-8D2F-C9A51E137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43356DD-F75E-4D1F-9656-9F88E25AF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9E414-C261-492B-BF1E-D9FD1E60A87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076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04DDFB3-2BA1-44D3-B98D-9AF1BFE0C4EC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0B4D1FC2-E034-4815-98B2-EE424628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F6531BB3-B28F-4019-9A82-D98F4A439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C14A32AD-C433-421B-AECD-98AF3999D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1BDB0006-1256-4A95-93AA-E13699FE6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95C4D7C1-10E4-4613-9FB0-2BE5BB87F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6DE58CAD-D988-4809-BF03-E25F6CE3C9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C26024E0-376B-4039-BCAA-270BB7A1B6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11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1E33D346-0FD6-46AF-AAD8-B92EA44E0D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A2F68598-1A90-4AFE-BC0E-04E5EA4678C8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4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  <p:sldLayoutId id="2147484273" r:id="rId10"/>
    <p:sldLayoutId id="214748427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97E6C747-E951-4C26-9D3A-4467E5627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11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1091DCBE-B15B-49C4-ABBA-D8FE1D2B0E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피해보상의 성립요건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불법행위법의 효율성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규제정책과 사법제도의 동시 적용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31935697-A52C-4B82-A39D-7723ADCB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261898C7-8301-45F0-9114-1AC0A02E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C8368F-E645-4693-B66C-026BC7CE1DC5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47E64B2D-48A9-4C72-B4B1-817A3E46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FD57CDCA-C3BC-41A3-AE95-6370A3DE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EAD86CE-703C-4243-940F-3D16B4C87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11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사법적 절차를 통한 오염규제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algn="r"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불법행위법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>
            <a:extLst>
              <a:ext uri="{FF2B5EF4-FFF2-40B4-BE49-F238E27FC236}">
                <a16:creationId xmlns:a16="http://schemas.microsoft.com/office/drawing/2014/main" id="{52D31172-D51D-4EF2-B738-105C70ACE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5525" y="1728788"/>
            <a:ext cx="7499350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행정적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․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제도적 규제 외에도 사법적 절차를 통해 환경오염을 방지할 수 있음</a:t>
            </a:r>
          </a:p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불법행위법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(tort law)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환경오염 피해자가 환경오염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유발자를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법정에 고소하여 피해배상을 받음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오염규제수단의 역할을 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피해보상이 이루어지기 위해 확인되어야 할 사항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피해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피해의 인과관계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의무의 불이행</a:t>
            </a:r>
          </a:p>
          <a:p>
            <a:pPr eaLnBrk="1" hangingPunct="1"/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바닥글 개체 틀 4">
            <a:extLst>
              <a:ext uri="{FF2B5EF4-FFF2-40B4-BE49-F238E27FC236}">
                <a16:creationId xmlns:a16="http://schemas.microsoft.com/office/drawing/2014/main" id="{4806285A-3B16-4FD4-A6D2-14B6FBC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16388" name="슬라이드 번호 개체 틀 5">
            <a:extLst>
              <a:ext uri="{FF2B5EF4-FFF2-40B4-BE49-F238E27FC236}">
                <a16:creationId xmlns:a16="http://schemas.microsoft.com/office/drawing/2014/main" id="{A1360247-036E-43F2-87A4-42F4B1DE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58F2C6-C255-4F4F-9F77-5021F0100C9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D4F8AE57-FAF7-41ED-9BA3-F48CD14DC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6E3AE4EE-F1CF-4802-A61E-FC6ECBDD1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D49F045A-7EF4-4698-A1CF-7F02E493D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3524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사법적 절차를 통한 오염규제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불법행위법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A5D51A3A-475E-4C72-B37B-BDBD154FB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피해보상의 성립요건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5B4CBA69-9861-47BE-9F7A-CA927CEC19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60513"/>
            <a:ext cx="7313612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1.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피해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오염으로 인한 건강손실이나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생명손실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등의 피해를 금전적으로 환산하는 것은 매우 어려움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피해를 금액으로 환산할 수 있다면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법정은 의료비와 노동력 상실에 대한 피해만을 인정할 것인지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아니면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투병기간의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육체적 심리적 고통까지도 피해에 포함할 것인지를 결정해야 함</a:t>
            </a:r>
          </a:p>
          <a:p>
            <a:pPr marL="0" indent="0" eaLnBrk="1" hangingPunct="1">
              <a:buNone/>
            </a:pP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2.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피해의 인과관계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피고가 원고가 당한 피해의 직접적인 원인제공자라는 사실을 입증해야 하며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 역시 쉽지 않은 일임</a:t>
            </a: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6FDB8651-9291-4D71-89DE-2F76E4F0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6A4FF00C-6CDA-464D-A06C-20807B68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094897-AA5F-49E5-8C79-A3795FD59AE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D20A276F-DB7B-4BED-9BAA-7F8CCDCA9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EC7653AC-B566-4F45-8368-9B979A56D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CB34DB7B-CF7E-425B-81D5-7DB47AD78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피해보상의 성립요건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28D90F1A-8144-4234-80A2-7C6C735A5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435100"/>
            <a:ext cx="7313612" cy="424021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3.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의무의 불이행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피고가 사고의 방지를 위해 필요한 의무를 제대로 행하지 않았다는 것이 입증되어야 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요건의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충족여부와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상관없이 피해보상이 이루어지는 경우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무과실책임원칙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(strict liability)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오염물질을 다루는 사람이 사고 방지의 의무를 다하지 않았을 경우에만 피해보상이 이루어 지는 경우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과실책임원칙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(negligence rule)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1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통상적으로 각국은 폭발물이나 독극물과 같이 피해의 정도가 심각한 오염물질에 대해서는 무과실책임원칙을 적용하고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일반 오염물질에 대해서는 과실책임원칙을 적용해 왔으나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무과실책임원칙의 적용 범위가 확대되는 추세임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177859F7-255A-42B1-8614-FF9B88A5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EF20CD9E-609F-4777-9C23-C32BF8C8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517793-37B4-464A-8B8A-800653E05D4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E6DB1502-0D77-47B0-A5B2-4FE083E36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D140DB96-5B28-41D9-AEA3-29EEA492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486511A0-4331-4A54-A25B-22F9B915F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-19685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불법행위법의 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D7885474-726E-4941-8CE0-4931C6F33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20808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최적수준의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저감행위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가로축은 오염피해를 줄이기 위한 배출량의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저감행위나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오염사고 방지를 위한 노력의 정도를 나타냄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D(x)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오염으로 인한 사회적 피해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AC(x)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곡선은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저감행위의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비용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SC(x)=D(x)+AC(x)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오염과 관련된 사회적 총비용</a:t>
            </a: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17FAB629-AE8B-456F-B676-2EBD8117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75F0EF10-72E1-4DBE-9293-AF971490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B57D32-C4EA-4394-B010-6BFEB8B9E40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0D54E724-3B6F-43A6-88F6-B4338397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837F786B-533F-4BF4-A658-E5C159F7B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4584" name="그림 7" descr="Cap 2014-06-19 09-52-45-586.png">
            <a:extLst>
              <a:ext uri="{FF2B5EF4-FFF2-40B4-BE49-F238E27FC236}">
                <a16:creationId xmlns:a16="http://schemas.microsoft.com/office/drawing/2014/main" id="{C052B116-E5F0-4F47-B106-8D8C80B3B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3146425"/>
            <a:ext cx="5668963" cy="32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E7B13D29-0D8B-4FD3-B900-DF3508D9A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불법행위법의 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Rectangle 7">
                <a:extLst>
                  <a:ext uri="{FF2B5EF4-FFF2-40B4-BE49-F238E27FC236}">
                    <a16:creationId xmlns:a16="http://schemas.microsoft.com/office/drawing/2014/main" id="{7681A2A6-F099-4607-BE46-489A2E88FF9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사회적 최적수준의 저감행위는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SC(x)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곡선이 최소가 되는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임</a:t>
                </a:r>
              </a:p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에서는 저감행위로 인해 오염이 줄면서 발생하는 한계편익과 한계저감비용이 일치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사회적 총비용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SC(x)=D(x)+AC(x)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</a:rPr>
                  <a:t>의 최소화 조건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: 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𝑀𝐴𝐶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사회적으로 효율적인 저감행위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를 무과실책임원칙과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과실책임원칙하에서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각각 달성할 수 있나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?</a:t>
                </a:r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6627" name="Rectangle 7">
                <a:extLst>
                  <a:ext uri="{FF2B5EF4-FFF2-40B4-BE49-F238E27FC236}">
                    <a16:creationId xmlns:a16="http://schemas.microsoft.com/office/drawing/2014/main" id="{7681A2A6-F099-4607-BE46-489A2E88F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  <a:blipFill>
                <a:blip r:embed="rId3"/>
                <a:stretch>
                  <a:fillRect l="-1083" t="-1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99F2461C-B3D5-4480-A627-18EA56DF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AB19FAEF-D843-4079-8560-24A12E53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F4B8AA-24D8-471B-88AE-C78B2757D56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C444096C-C64D-424E-BBAB-F5E6EE2A4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B989634E-32FF-40F3-BE22-A173F8BE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1ACE871F-BB16-4C64-A5D7-B3E8CC9E6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Rectangle 7">
                <a:extLst>
                  <a:ext uri="{FF2B5EF4-FFF2-40B4-BE49-F238E27FC236}">
                    <a16:creationId xmlns:a16="http://schemas.microsoft.com/office/drawing/2014/main" id="{2674B5F3-7AE5-41C6-B78D-6B16627EB76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>
                    <a:latin typeface="나눔명조" pitchFamily="18" charset="-127"/>
                    <a:ea typeface="나눔명조" pitchFamily="18" charset="-127"/>
                  </a:rPr>
                  <a:t>가해자만이 피해감소를 위한 행위를 할 수 있다 가정</a:t>
                </a:r>
              </a:p>
              <a:p>
                <a:pPr lvl="1"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무과실책임원칙이 적용될 경우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저감비용뿐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아니라 오염피해에 대한 보상액까지도 오염자의 비용이 됨</a:t>
                </a:r>
              </a:p>
              <a:p>
                <a:pPr lvl="2" eaLnBrk="1" hangingPunct="1"/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오염자의 총 비용을 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PC(x)</a:t>
                </a:r>
                <a:r>
                  <a:rPr lang="en-US" altLang="ko-KR" sz="19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보상금을 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</a:rPr>
                  <a:t>L(x)</a:t>
                </a:r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라 할 때</a:t>
                </a:r>
                <a:endParaRPr lang="en-US" altLang="ko-KR" sz="19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</a:rPr>
                  <a:t>PC(x)= SC(x)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</a:rPr>
                  <a:t>의 관계 성립</a:t>
                </a:r>
                <a:endParaRPr lang="en-US" altLang="ko-KR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𝑃𝐶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9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가해자만이 피해감소행위를 할 수가 있고 피해액의 완전 보상을 전제로 무과실책임원칙이 적용될 경우 환경이용의 효율성이 달성될 수 있음</a:t>
                </a:r>
              </a:p>
              <a:p>
                <a:pPr lvl="2" eaLnBrk="1" hangingPunct="1"/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사회적 최적 저감행위인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0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 </a:t>
                </a:r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가 선택됨</a:t>
                </a:r>
              </a:p>
              <a:p>
                <a:pPr eaLnBrk="1" hangingPunct="1"/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8675" name="Rectangle 7">
                <a:extLst>
                  <a:ext uri="{FF2B5EF4-FFF2-40B4-BE49-F238E27FC236}">
                    <a16:creationId xmlns:a16="http://schemas.microsoft.com/office/drawing/2014/main" id="{2674B5F3-7AE5-41C6-B78D-6B16627EB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  <a:blipFill>
                <a:blip r:embed="rId3"/>
                <a:stretch>
                  <a:fillRect l="-1250" t="-1149" r="-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31CA19A8-1B23-4D45-AE1D-4817F13E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BF622B10-E6C2-40E9-8D55-C027D965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2E5786-DC94-4ADB-A1C2-30D13365B62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6260D9EB-5218-4FC8-BD01-6241A678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F0EC2280-4F0C-40EC-AEB5-1475CBDC1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4D2FF169-8CA3-4BBF-992A-28CAD2743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7">
                <a:extLst>
                  <a:ext uri="{FF2B5EF4-FFF2-40B4-BE49-F238E27FC236}">
                    <a16:creationId xmlns:a16="http://schemas.microsoft.com/office/drawing/2014/main" id="{BC0BBCA4-D2B3-4FD4-9EEB-771786B6B09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 err="1">
                    <a:latin typeface="나눔명조" pitchFamily="18" charset="-127"/>
                    <a:ea typeface="나눔명조" pitchFamily="18" charset="-127"/>
                  </a:rPr>
                  <a:t>가해자뿐</a:t>
                </a:r>
                <a:r>
                  <a:rPr lang="ko-KR" altLang="en-US" sz="2600" dirty="0">
                    <a:latin typeface="나눔명조" pitchFamily="18" charset="-127"/>
                    <a:ea typeface="나눔명조" pitchFamily="18" charset="-127"/>
                  </a:rPr>
                  <a:t> 아니라 피해자도 오염피해를 줄이기 위해 어느 정도의 행위를 해야 하는 경우</a:t>
                </a:r>
              </a:p>
              <a:p>
                <a:pPr lvl="1"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오염으로 인한 피해는 피해자의 </a:t>
                </a:r>
                <a:r>
                  <a:rPr lang="ko-KR" altLang="en-US" sz="22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오염피해 회피행위</a:t>
                </a:r>
                <a:r>
                  <a:rPr lang="en-US" altLang="ko-KR" sz="22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(averting behavior)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 의해서도 영향을 받음</a:t>
                </a: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600" dirty="0">
                    <a:latin typeface="나눔명조" pitchFamily="18" charset="-127"/>
                    <a:ea typeface="나눔명조" pitchFamily="18" charset="-127"/>
                  </a:rPr>
                  <a:t>사회적 총비용</a:t>
                </a:r>
              </a:p>
              <a:p>
                <a:pPr lvl="1" eaLnBrk="1" hangingPunct="1"/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는 가해자의 저감행위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y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는 피해자의 회피행위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</a:rPr>
                  <a:t>AC</a:t>
                </a:r>
                <a:r>
                  <a:rPr lang="en-US" altLang="ko-KR" sz="22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p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(x)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</a:rPr>
                  <a:t>AC</a:t>
                </a:r>
                <a:r>
                  <a:rPr lang="en-US" altLang="ko-KR" sz="22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v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(y)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는 각각 가해자와 피해자의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저감비용과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회피행위비용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오염으로 인한 피해의 정도는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D(x, y)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𝑆𝐶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200" dirty="0"/>
              </a:p>
              <a:p>
                <a:pPr lvl="1"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                                                         </a:t>
                </a: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0723" name="Rectangle 7">
                <a:extLst>
                  <a:ext uri="{FF2B5EF4-FFF2-40B4-BE49-F238E27FC236}">
                    <a16:creationId xmlns:a16="http://schemas.microsoft.com/office/drawing/2014/main" id="{BC0BBCA4-D2B3-4FD4-9EEB-771786B6B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  <a:blipFill>
                <a:blip r:embed="rId3"/>
                <a:stretch>
                  <a:fillRect l="-1250" t="-1149" r="-417" b="-2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C36167EC-EFB5-4ACE-8A72-004600F9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14764EFB-8D13-48BD-9E6C-087DFE99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E44337-EE4E-4A27-B71C-0694B69815E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D35B6BE5-6737-4AE8-836D-0D41968A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3CEA44AD-E34E-4E6D-8495-CD7CD69F2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614AFE25-C981-4566-B48D-9EA1E9363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7">
                <a:extLst>
                  <a:ext uri="{FF2B5EF4-FFF2-40B4-BE49-F238E27FC236}">
                    <a16:creationId xmlns:a16="http://schemas.microsoft.com/office/drawing/2014/main" id="{7CB60A4E-5146-40BB-B841-5E3DABDF8E3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15975" y="1490663"/>
                <a:ext cx="7459663" cy="4240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무과실책임원칙에 따라 발생한 피해액에 대해 가해자의 저감행위와 관련 없이 전액 보상이 이루어진다고 가정</a:t>
                </a: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피해자가 부담하는 총비용은 다음과 같아 자신의 비용 </a:t>
                </a:r>
                <a:r>
                  <a:rPr lang="en-US" altLang="ko-KR" sz="19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AC</a:t>
                </a:r>
                <a:r>
                  <a:rPr lang="en-US" altLang="ko-KR" sz="19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v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(y)</a:t>
                </a:r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를 최소화하기 위해 회피행위를 전혀 하지 않음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</a:rPr>
                  <a:t>(y</a:t>
                </a:r>
                <a:r>
                  <a:rPr lang="en-US" altLang="ko-KR" sz="19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</a:rPr>
                  <a:t>=0)</a:t>
                </a:r>
              </a:p>
              <a:p>
                <a:pPr lvl="1" eaLnBrk="1" hangingPunct="1">
                  <a:buNone/>
                </a:pPr>
                <a:r>
                  <a:rPr lang="en-US" altLang="ko-KR" sz="1900" dirty="0">
                    <a:latin typeface="나눔명조" pitchFamily="18" charset="-127"/>
                    <a:ea typeface="나눔명조" pitchFamily="18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9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피해자도 오염피해를 줄이기 위해 어느 정도 노력을 기울이는 것이 사회전체 입장에서는 바람직할 경우 무과실책임원칙은 효율적인 환경이용을 달성할 수 없음</a:t>
                </a:r>
              </a:p>
              <a:p>
                <a:pPr lvl="1" eaLnBrk="1" hangingPunct="1"/>
                <a:r>
                  <a:rPr lang="ko-KR" altLang="en-US" sz="1900" dirty="0">
                    <a:latin typeface="나눔명조" pitchFamily="18" charset="-127"/>
                    <a:ea typeface="나눔명조" pitchFamily="18" charset="-127"/>
                  </a:rPr>
                  <a:t>이 경우 과실책임원칙을 적용해야 사회적 최적을 유도할 수 있음</a:t>
                </a:r>
              </a:p>
            </p:txBody>
          </p:sp>
        </mc:Choice>
        <mc:Fallback xmlns="">
          <p:sp>
            <p:nvSpPr>
              <p:cNvPr id="32771" name="Rectangle 7">
                <a:extLst>
                  <a:ext uri="{FF2B5EF4-FFF2-40B4-BE49-F238E27FC236}">
                    <a16:creationId xmlns:a16="http://schemas.microsoft.com/office/drawing/2014/main" id="{7CB60A4E-5146-40BB-B841-5E3DABDF8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5975" y="1490663"/>
                <a:ext cx="7459663" cy="4240212"/>
              </a:xfrm>
              <a:blipFill>
                <a:blip r:embed="rId3"/>
                <a:stretch>
                  <a:fillRect l="-899" t="-1007" r="-5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54AC388A-2B72-4742-97D8-59D0B688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0C3A3440-439F-4575-A456-A719537B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727E0C-1984-4C3C-8BC2-02E6D3C1E7D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71D7145A-A14D-46AF-A394-BCBBC44D8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975DCB3C-8284-4E0B-AF1E-7671816A0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5CA37215-E8D7-4DAA-8D57-1CBE10720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7">
                <a:extLst>
                  <a:ext uri="{FF2B5EF4-FFF2-40B4-BE49-F238E27FC236}">
                    <a16:creationId xmlns:a16="http://schemas.microsoft.com/office/drawing/2014/main" id="{0B020840-A423-4022-923F-1DC1614C595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과실책임원칙이 적용되면 가해자는 오염 방지를 위한 의무를 다하지 않았을 때에만 피해를 보상함</a:t>
                </a: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예를 들어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이상의 저감행위를 하면 의무를 다한 것으로 봄</a:t>
                </a:r>
              </a:p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y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사회적 최적 회피행위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사회적 최적 저감행위일 때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법원이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책임기준이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되는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저감행위를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사회적 최적과 일치하도록 정해준다고 가정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6867" name="Rectangle 7">
                <a:extLst>
                  <a:ext uri="{FF2B5EF4-FFF2-40B4-BE49-F238E27FC236}">
                    <a16:creationId xmlns:a16="http://schemas.microsoft.com/office/drawing/2014/main" id="{0B020840-A423-4022-923F-1DC1614C5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435100"/>
                <a:ext cx="7313612" cy="4240213"/>
              </a:xfrm>
              <a:blipFill>
                <a:blip r:embed="rId3"/>
                <a:stretch>
                  <a:fillRect l="-1083" t="-1149" r="-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C852ABE8-0124-49C1-AFD8-509EDDAD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AA467359-3379-45C7-8266-50FB61DE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6CA967-9AF0-4ADE-963D-EB9EB3A4A8C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4937E458-53D9-4996-8AB2-4141043E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1CE86945-4E82-44FF-9CB1-670D9006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635938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5CA37215-E8D7-4DAA-8D57-1CBE10720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0B020840-A423-4022-923F-1DC1614C5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5008" y="1335012"/>
            <a:ext cx="7313612" cy="4240213"/>
          </a:xfrm>
        </p:spPr>
        <p:txBody>
          <a:bodyPr/>
          <a:lstStyle/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C852ABE8-0124-49C1-AFD8-509EDDAD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AA467359-3379-45C7-8266-50FB61DE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4313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6CA967-9AF0-4ADE-963D-EB9EB3A4A8C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4937E458-53D9-4996-8AB2-4141043E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1CE86945-4E82-44FF-9CB1-670D9006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8" name="그림 8" descr="Cap 2014-06-19 09-52-57-561.png">
            <a:extLst>
              <a:ext uri="{FF2B5EF4-FFF2-40B4-BE49-F238E27FC236}">
                <a16:creationId xmlns:a16="http://schemas.microsoft.com/office/drawing/2014/main" id="{B3A77FA6-C01F-4CB1-932B-CC9AC6332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85" y="1234906"/>
            <a:ext cx="5854202" cy="389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8">
                <a:extLst>
                  <a:ext uri="{FF2B5EF4-FFF2-40B4-BE49-F238E27FC236}">
                    <a16:creationId xmlns:a16="http://schemas.microsoft.com/office/drawing/2014/main" id="{B2C8EA22-D19D-4B44-A846-B0135FE6D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03033" y="1335012"/>
                <a:ext cx="2219325" cy="409086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8D7DFF"/>
                  </a:buClr>
                  <a:buFont typeface="Wingdings" panose="05000000000000000000" pitchFamily="2" charset="2"/>
                  <a:buChar char="l"/>
                  <a:defRPr sz="2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8D7DFF"/>
                  </a:buClr>
                  <a:buFont typeface="Wingdings" panose="05000000000000000000" pitchFamily="2" charset="2"/>
                  <a:buChar char="m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D7DFF"/>
                  </a:buClr>
                  <a:buSzPct val="80000"/>
                  <a:buFont typeface="Wingdings" panose="05000000000000000000" pitchFamily="2" charset="2"/>
                  <a:buChar char="l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7DFF"/>
                  </a:buClr>
                  <a:buSzPct val="80000"/>
                  <a:buFont typeface="Wingdings" panose="05000000000000000000" pitchFamily="2" charset="2"/>
                  <a:buChar char="m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D7DFF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D7DFF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D7DFF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D7DFF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D7DFF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lvl="1" indent="0" eaLnBrk="1" hangingPunct="1">
                  <a:spcBef>
                    <a:spcPts val="0"/>
                  </a:spcBef>
                  <a:buNone/>
                </a:pPr>
                <a:r>
                  <a:rPr lang="ko-KR" altLang="en-US" sz="2000" b="0" kern="0" dirty="0">
                    <a:latin typeface="나눔명조" pitchFamily="18" charset="-127"/>
                    <a:ea typeface="나눔명조" pitchFamily="18" charset="-127"/>
                  </a:rPr>
                  <a:t>가해자는 자신의 비용곡선의 최하점인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sz="2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ko-KR" altLang="en-US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b="0" kern="0" dirty="0">
                    <a:latin typeface="나눔명조" pitchFamily="18" charset="-127"/>
                    <a:ea typeface="나눔명조" pitchFamily="18" charset="-127"/>
                  </a:rPr>
                  <a:t>를 선택하여 피해보상의무를 갖지 않을 것임</a:t>
                </a:r>
                <a:endParaRPr lang="en-US" altLang="ko-KR" sz="2000" b="0" kern="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lvl="1" indent="0" eaLnBrk="1" hangingPunct="1">
                  <a:spcBef>
                    <a:spcPts val="0"/>
                  </a:spcBef>
                  <a:buNone/>
                </a:pPr>
                <a:r>
                  <a:rPr lang="ko-KR" altLang="en-US" sz="2000" b="0" kern="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endParaRPr lang="en-US" altLang="ko-KR" sz="2000" b="0" kern="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lvl="1" indent="0" eaLnBrk="1" hangingPunct="1">
                  <a:spcBef>
                    <a:spcPts val="0"/>
                  </a:spcBef>
                  <a:buNone/>
                </a:pPr>
                <a:r>
                  <a:rPr lang="en-US" altLang="ko-KR" sz="2000" b="0" kern="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en-US" altLang="ko-KR" sz="2000" b="0" kern="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*</a:t>
                </a:r>
                <a:r>
                  <a:rPr lang="ko-KR" altLang="en-US" sz="2000" b="0" kern="0" dirty="0">
                    <a:latin typeface="나눔명조" pitchFamily="18" charset="-127"/>
                    <a:ea typeface="나눔명조" pitchFamily="18" charset="-127"/>
                  </a:rPr>
                  <a:t>에서는 피해의 한계적 감소와 한계저감비용이 동일하여</a:t>
                </a:r>
                <a:r>
                  <a:rPr lang="en-US" altLang="ko-KR" sz="2000" b="0" kern="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b="0" kern="0" dirty="0">
                    <a:latin typeface="나눔명조" pitchFamily="18" charset="-127"/>
                    <a:ea typeface="나눔명조" pitchFamily="18" charset="-127"/>
                  </a:rPr>
                  <a:t>사회적 최적 기준</a:t>
                </a:r>
                <a:endParaRPr lang="ko-KR" altLang="en-US" sz="2400" b="0" kern="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lvl="1" indent="0" eaLnBrk="1" hangingPunct="1">
                  <a:spcBef>
                    <a:spcPts val="0"/>
                  </a:spcBef>
                  <a:buNone/>
                </a:pPr>
                <a:endParaRPr lang="ko-KR" altLang="en-US" sz="2000" b="0" kern="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1" name="Rectangle 38">
                <a:extLst>
                  <a:ext uri="{FF2B5EF4-FFF2-40B4-BE49-F238E27FC236}">
                    <a16:creationId xmlns:a16="http://schemas.microsoft.com/office/drawing/2014/main" id="{B2C8EA22-D19D-4B44-A846-B0135FE6D1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3033" y="1335012"/>
                <a:ext cx="2219325" cy="4090863"/>
              </a:xfrm>
              <a:prstGeom prst="rect">
                <a:avLst/>
              </a:prstGeom>
              <a:blipFill>
                <a:blip r:embed="rId4"/>
                <a:stretch>
                  <a:fillRect l="-2459" t="-743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1034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56DA7E53-2EB3-479C-83C1-0EE8CAC86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과실책임원칙하의 환경이용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7">
                <a:extLst>
                  <a:ext uri="{FF2B5EF4-FFF2-40B4-BE49-F238E27FC236}">
                    <a16:creationId xmlns:a16="http://schemas.microsoft.com/office/drawing/2014/main" id="{5CDAB092-CD6C-47EE-9E80-DBCB808C707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365250"/>
                <a:ext cx="7313612" cy="4240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피해자는 따라서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보상받을 수 없음을 앎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L(x, y)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자신의 비용함수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최소화하는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𝑦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선택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이는 사회적 최적 행위와 일치함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𝑦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𝑀𝐴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 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𝑦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𝑀𝐴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𝑣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법원이 과실책임원칙을 적절히 적용할 경우 가해자와 피해자 모두가 사회적 총비용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SC(x, y)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를 최소화하는 행위를 선택하도록 유도할 수 있음</a:t>
                </a:r>
              </a:p>
              <a:p>
                <a:pPr eaLnBrk="1" hangingPunct="1"/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8915" name="Rectangle 7">
                <a:extLst>
                  <a:ext uri="{FF2B5EF4-FFF2-40B4-BE49-F238E27FC236}">
                    <a16:creationId xmlns:a16="http://schemas.microsoft.com/office/drawing/2014/main" id="{5CDAB092-CD6C-47EE-9E80-DBCB808C7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365250"/>
                <a:ext cx="7313612" cy="4240213"/>
              </a:xfrm>
              <a:blipFill>
                <a:blip r:embed="rId3"/>
                <a:stretch>
                  <a:fillRect l="-1083" t="-1149" r="-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9C2CFD3C-2AF9-4643-999B-99DDA3AEA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2632A322-A7C4-427F-8D86-6D93EDDB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C635D7-B4EF-4094-971A-59B80D22C56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976F22DE-EF6A-4640-A681-5825CFAA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8BAD82A3-427E-469A-9415-F93B9D955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AE56AB1F-B067-47E8-B9EE-B498C616B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무과실책임원칙과 과실책임원칙의 동일성과 차이점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543F1A40-E341-44CC-AB5A-6A6A0CBBB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927225"/>
            <a:ext cx="7313612" cy="4240213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가해자와 피해자 모두가 어느 정도의 오염저감행위나 회피행위를 하는 것이 사회적 관점에서 바람직할 경우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무과실책임원칙은 사회적 최적을 달성할 수 없지만 과실책임원칙은 사회적 최적을 달성할 수 있음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오염의 피해를 줄이기 위해 오염자만이 어떤 행위를 행할 수 있는 경우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과실책임원칙과 무과실책임원칙 모두 사회적으로 효율적인 환경이용을 달성할 수 있음</a:t>
            </a: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EC811340-5BD7-483B-A683-890D5E3A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6A18CB99-5DBF-495D-BA5D-BC7632EA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048A53-3582-4E37-BC08-A30BF229AF8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54FFC66C-0340-404B-BD67-AE76DFEE3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135A71CB-7302-46D7-A9E7-953390AE3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44C40E32-B551-482E-B3AF-ED28D5111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무과실책임원칙과 과실책임원칙의 동일성과 차이점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7">
                <a:extLst>
                  <a:ext uri="{FF2B5EF4-FFF2-40B4-BE49-F238E27FC236}">
                    <a16:creationId xmlns:a16="http://schemas.microsoft.com/office/drawing/2014/main" id="{7C63D068-AEA3-43A0-864C-98119B2148C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8777" y="1481138"/>
                <a:ext cx="7313612" cy="4240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가해자만이 저감행위를 할 수 있는 경우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오염과 관련된 사회적 총비용은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SC(x)=D(x)+AC(x)</a:t>
                </a: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과실책임원칙하에서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법원이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SC(x)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최소화되는 저감행위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18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기준으로 설정하면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가해자의 비용곡선은 다음 그림과 같이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 x</a:t>
                </a:r>
                <a:r>
                  <a:rPr lang="en-US" altLang="ko-KR" sz="18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*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에서 최소가 됨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7">
                <a:extLst>
                  <a:ext uri="{FF2B5EF4-FFF2-40B4-BE49-F238E27FC236}">
                    <a16:creationId xmlns:a16="http://schemas.microsoft.com/office/drawing/2014/main" id="{7C63D068-AEA3-43A0-864C-98119B214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8777" y="1481138"/>
                <a:ext cx="7313612" cy="4240212"/>
              </a:xfrm>
              <a:blipFill>
                <a:blip r:embed="rId3"/>
                <a:stretch>
                  <a:fillRect l="-750" t="-862" r="-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E9AFA698-281D-4278-941D-186CB36C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64187FC1-60DA-40CF-AE43-93B5B156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30B54F-48BD-4051-8343-BA6D4AA4DCD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C2E68309-2CB7-4C2F-AACA-1DD288126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EAB5FFED-DA17-4308-80A0-6B8A44E70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9" name="그림 7" descr="Cap 2014-06-19 09-52-45-586.png">
            <a:extLst>
              <a:ext uri="{FF2B5EF4-FFF2-40B4-BE49-F238E27FC236}">
                <a16:creationId xmlns:a16="http://schemas.microsoft.com/office/drawing/2014/main" id="{C052B116-E5F0-4F47-B106-8D8C80B3B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484" y="3055486"/>
            <a:ext cx="5668963" cy="32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B65EB8FD-1FB0-4D83-AAC1-63AF5B0FC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무과실책임원칙과 과실책임원칙의 동일성과 차이점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7E37D30C-1803-4D95-81D6-2AD5F24DF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773238"/>
            <a:ext cx="7313612" cy="4240212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무과실책임원칙과 과실책임원칙의 대칭성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가해자만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저감행위가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가능한 경우 두 원칙의 효율성은 동일함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단지 누가 비용 부담을 할 것인지의 차이가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장기적 관점에서의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비대칭성</a:t>
            </a:r>
            <a:endParaRPr lang="ko-KR" altLang="en-US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오염물질 발생량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과실책임원칙이 적용되어 오염자가 피해보상을 하지 않을 경우 수익성이 커져 각 오염자의 경제활동규모가 커지거나 새로운 오염자가 이 산업에 진입하게 됨</a:t>
            </a:r>
          </a:p>
        </p:txBody>
      </p:sp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16E01E27-BF8C-488D-A450-1AC58496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4BE8C9B9-C17D-42EE-9036-8E2C7B45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03DB8A-9479-4D69-91AD-41652DC4400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969A6E8B-31CD-4266-9913-71DDB9D7F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66827769-1C62-4F4E-B9E9-A43ABA7E8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D08A234A-F9EC-4F5F-B84F-F6797296F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무과실책임원칙과 과실책임원칙의 동일성과 차이점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8DF09525-ED39-4582-8EAC-9199377E03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773238"/>
            <a:ext cx="7313612" cy="424021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장기적 관점에서의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비대칭성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오염피해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저감기술 혁신을 위한 유인 제공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무과실책임원칙하에서는 오염자가 기술혁신을 통해 오염물질 배출량이나 오염피해를 줄일 경우 저감비용뿐만 아니라 보상액까지도 절감할 수 있음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과실책임원칙하에서 오염자는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보상의무가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없으므로 기술개발을 하여도 저감비용만을 절약함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사법제도 운영 비용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무과실책임원칙하에서는 피해보상이 이루어지기 위해 피해와 피해의 인과관계만 입증되면 판결이 이루어짐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과실책임원칙하에서는 앞의 요건 외에 가해자의 의무이행 여부까지 입증이 필요함</a:t>
            </a: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F247B0ED-D6ED-4EC7-ADCC-3FB47C01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3BAA002A-4294-43E7-995A-44F1B717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427B09-FCA7-4D74-9F39-DF5317DA791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D02A9E74-E007-4525-889D-846349712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E4FED34B-F4B0-4D70-BA15-EB39A9E64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>
            <a:extLst>
              <a:ext uri="{FF2B5EF4-FFF2-40B4-BE49-F238E27FC236}">
                <a16:creationId xmlns:a16="http://schemas.microsoft.com/office/drawing/2014/main" id="{3AD279B2-4330-4272-BBF2-8F1194AF0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99544"/>
            <a:ext cx="7313613" cy="843455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환경분쟁조정제도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F80225EE-048D-4023-B371-7B92278F06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89088"/>
            <a:ext cx="7313612" cy="4424362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환경오염사고가 발생할 경우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환경분쟁이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발생</a:t>
            </a:r>
          </a:p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환경분쟁의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해결 방법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사적교섭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혹은 당사자 간의 합의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소송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그러나 사법기관을 통한 분쟁해결은 많은 시간이 소요됨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현재 우리나라는 사법기관의 역할과 유사 기능을 하면서 행정기관이나 환경전문가의 전문성을 살리고 분쟁해결의 신속성을 기하기 위해 환경분쟁조정제도를 시행하고 있음</a:t>
            </a: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5E86F2CF-E8CA-4250-A79E-963E2A86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2C737C7D-80A4-409E-AFD8-C73A9BB0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F8CD7F-1C42-4628-A80F-EFC48F09598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3D427D9E-FE84-4356-B132-7205C69D1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692D9312-D6F2-4343-B3B2-78C457961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BE3E2740-3F00-4D3C-8AB4-10C3FF497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62606"/>
            <a:ext cx="7313613" cy="78039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환경분쟁조정제도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8E197EF7-4F01-4831-8786-CEEA28A526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89088"/>
            <a:ext cx="7313612" cy="4906306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환경분쟁조정제도는 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『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환경분쟁조정위원회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』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통해 운영됨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알선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조정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재정의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단계를 거치게 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알선은 비교적 간단한 분쟁에 적용되며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알선위원이 분쟁당사자의 화해와 합의를 유도하는 절차임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알선에 의한 합의가 이루어지지 못할 경우 조정 신청이 이루어짐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조정위원회가 사실조사를 하여 조정안을 작성하고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양측에 이를 수락할 것을 권고함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조정안이 거부될 경우 마지막으로 재정신청이 이루어짐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인과관계의 유무 및 피해액을 판단하는 재판에 준하는 절차를 밟음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분쟁 당사자가 재정안까지도 거부할 경우에는 사법소송을 제기 가능</a:t>
            </a:r>
          </a:p>
          <a:p>
            <a:pPr eaLnBrk="1" hangingPunct="1"/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0AE5C06E-0355-4017-80F4-5DF46BBE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4CA33D6F-2BB4-4FFE-9FFE-53C2E31A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E1ADA-5AA1-4A67-90E2-4E291F67576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959B03DE-011C-477E-926E-A8B940C9F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37FE656B-003A-4AA2-BFBD-3F1C81A72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34F5010C-57F7-43C2-937B-53FEC366D6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규제정책과 사법제도의 동시적용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8EB3FF0B-4648-45A7-B8EA-44CA7CEF3F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631950"/>
            <a:ext cx="7313612" cy="4240213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사법제도의 장점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중앙정부가 획일적으로 규제기준을 도입하여 정책을 시행할 때에 비해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분권화된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제도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이해당사자 스스로가 법원의 도움을 받아 외부효과문제를 해결할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그러나 사법제도에만 환경문제해결을 맡기기 어려운 몇 가지 이유가 있음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800" dirty="0" err="1">
                <a:latin typeface="나눔명조" pitchFamily="18" charset="-127"/>
                <a:ea typeface="나눔명조" pitchFamily="18" charset="-127"/>
              </a:rPr>
              <a:t>Kolstad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 2000)</a:t>
            </a:r>
            <a:endParaRPr lang="ko-KR" altLang="en-US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3252" name="바닥글 개체 틀 4">
            <a:extLst>
              <a:ext uri="{FF2B5EF4-FFF2-40B4-BE49-F238E27FC236}">
                <a16:creationId xmlns:a16="http://schemas.microsoft.com/office/drawing/2014/main" id="{C9ACB3C2-D771-4ACA-B570-16579A64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3253" name="슬라이드 번호 개체 틀 5">
            <a:extLst>
              <a:ext uri="{FF2B5EF4-FFF2-40B4-BE49-F238E27FC236}">
                <a16:creationId xmlns:a16="http://schemas.microsoft.com/office/drawing/2014/main" id="{A82F15DD-A06C-4100-928D-1AFC9A43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963B41-6E85-4AF1-9BED-D414BC7975E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7E8C13D4-0E7B-46C1-AEC2-C6426DAF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60870B6E-A692-4E63-B182-8A1F8891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7A318FDA-DADF-46EB-85AA-BF416B729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규제정책과 사법제도의 동시적용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5299" name="Rectangle 7">
            <a:extLst>
              <a:ext uri="{FF2B5EF4-FFF2-40B4-BE49-F238E27FC236}">
                <a16:creationId xmlns:a16="http://schemas.microsoft.com/office/drawing/2014/main" id="{1B28A55C-8C15-4F02-933A-F27A9F0E37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504950"/>
            <a:ext cx="7313613" cy="4240213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피해보상제도만을 사용할 때의 문제점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사법적 해결은 사안별로 소송을 제기하고 판결을 얻기까지 소요되는 비용이 상당함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환경오염이 발생한다고 해서 반드시 소송이 제기되는 것은 아님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소송을 제기하기 위해서는 오염 피해자도 여러 가지 비용을 지불해야 하므로 오염피해를 당함에도 불구하고 소송을 포기하는 경우가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오염원이 보상금 지급불능 상태에 빠질 수 있음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이럴 경우 기업은 오히려 사고발생 시 파산을 신청하는 전략을 선택할 수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법원이 어떻게 판결할지를 알 수 없는 불확실성이 존재함</a:t>
            </a: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E7F0411B-8D25-4CC2-9C8E-22819E3C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EFAFF05A-0702-4FBF-8381-D9835BAC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79CA1A-C247-446A-A2D5-D441C57D894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23C296F7-9D6A-45C0-9F5B-99EE248A3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88BA72B0-B59E-4698-B91E-20542F962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>
            <a:extLst>
              <a:ext uri="{FF2B5EF4-FFF2-40B4-BE49-F238E27FC236}">
                <a16:creationId xmlns:a16="http://schemas.microsoft.com/office/drawing/2014/main" id="{2EB549EA-2281-4F25-A987-EFCF36213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규제정책과 사법제도의 동시적용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1A24B1A7-D100-404E-8AA7-FBEE404B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631950"/>
            <a:ext cx="7313612" cy="4240213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피해보상제도만을 사용하는 것이 이상과 같은 문제를 가지므로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직접규제제도와 피해보상제도를 병행하여 사용할 수 있음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위해물질의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운반 및 매립 등과 관련하여 지켜야 할 수칙을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형태로 규제하면서도 위해 물질 누출과 같은 사고 피해가 발생하면 그 피해보상까지 명하는 경우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특히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오염행위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별로 피해의 크기나 유형이 상이할 경우 이 두 가지 수단을 병행하여 사용하면 효과를 거둘 수 있음</a:t>
            </a:r>
          </a:p>
          <a:p>
            <a:pPr eaLnBrk="1" hangingPunct="1"/>
            <a:endParaRPr lang="ko-KR" altLang="en-US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8" name="바닥글 개체 틀 4">
            <a:extLst>
              <a:ext uri="{FF2B5EF4-FFF2-40B4-BE49-F238E27FC236}">
                <a16:creationId xmlns:a16="http://schemas.microsoft.com/office/drawing/2014/main" id="{6D5E2C80-CFEC-4E8F-AC19-64488535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7349" name="슬라이드 번호 개체 틀 5">
            <a:extLst>
              <a:ext uri="{FF2B5EF4-FFF2-40B4-BE49-F238E27FC236}">
                <a16:creationId xmlns:a16="http://schemas.microsoft.com/office/drawing/2014/main" id="{8655E15E-83AC-4FE6-8BF0-FF516025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359FAC-743D-4136-9AC9-112D9B6761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C41F8DDF-E3EF-49DD-A6E6-9EDA617AC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98AE9509-CDDA-477F-8B5B-1E50784C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12222311-AD85-4A4C-97E5-7C0A2B862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-2254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규제정책과 사법제도의 동시적용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A0C8C8F7-0C9B-4262-9D8B-9397FE6524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7738" y="1195388"/>
            <a:ext cx="7313612" cy="4240212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곡선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*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만큼의 환경피해가 발생하는 오염행위의 경우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오염원이 행해야 하는 사회적 최적 저감행위를 나타냄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오염피해가 클수록 저감행위도 더 강화되어야 하기 때문에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우상향</a:t>
            </a:r>
            <a:endParaRPr lang="ko-KR" altLang="en-US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수평선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정부가 획일적인 직접규제만을 사용할 수 있다는 전제하에서 사회적 비용을 최소화하도록 선택되는 최적의 직접규제 수준임</a:t>
            </a:r>
          </a:p>
        </p:txBody>
      </p:sp>
      <p:sp>
        <p:nvSpPr>
          <p:cNvPr id="59396" name="바닥글 개체 틀 4">
            <a:extLst>
              <a:ext uri="{FF2B5EF4-FFF2-40B4-BE49-F238E27FC236}">
                <a16:creationId xmlns:a16="http://schemas.microsoft.com/office/drawing/2014/main" id="{E58E130E-F794-445F-B5D5-FBD83BDD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9397" name="슬라이드 번호 개체 틀 5">
            <a:extLst>
              <a:ext uri="{FF2B5EF4-FFF2-40B4-BE49-F238E27FC236}">
                <a16:creationId xmlns:a16="http://schemas.microsoft.com/office/drawing/2014/main" id="{101058D8-79ED-4E0C-AA29-88755B67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4E09C2-2828-4BE9-80B1-5A421E9EA58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2E7C72B9-F5F9-4A63-B7B4-A211693A6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A01256DD-1CE7-4A2D-8044-6DEC8CAA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9400" name="그림 7" descr="Cap 2014-06-19 09-53-09-588.png">
            <a:extLst>
              <a:ext uri="{FF2B5EF4-FFF2-40B4-BE49-F238E27FC236}">
                <a16:creationId xmlns:a16="http://schemas.microsoft.com/office/drawing/2014/main" id="{0321FA31-DA6D-4272-B3FB-3293BCC7D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3046413"/>
            <a:ext cx="538797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8">
            <a:extLst>
              <a:ext uri="{FF2B5EF4-FFF2-40B4-BE49-F238E27FC236}">
                <a16:creationId xmlns:a16="http://schemas.microsoft.com/office/drawing/2014/main" id="{B2C8EA22-D19D-4B44-A846-B0135FE6D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810631"/>
            <a:ext cx="2219325" cy="3783087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ko-KR" altLang="en-US" sz="2000" b="0" dirty="0">
                <a:latin typeface="나눔명조" pitchFamily="18" charset="-127"/>
                <a:ea typeface="나눔명조" pitchFamily="18" charset="-127"/>
              </a:rPr>
              <a:t>피해보상제도가 도입될 때 오염원의 행위는 </a:t>
            </a:r>
            <a:r>
              <a:rPr lang="en-US" altLang="ko-KR" sz="2000" b="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000" b="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2000" b="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</a:p>
          <a:p>
            <a:pPr marL="457200" indent="-457200" eaLnBrk="1" hangingPunct="1">
              <a:spcBef>
                <a:spcPts val="0"/>
              </a:spcBef>
              <a:buAutoNum type="arabicParenR"/>
            </a:pPr>
            <a:r>
              <a:rPr lang="ko-KR" altLang="en-US" sz="2000" b="0" dirty="0">
                <a:latin typeface="Times New Roman" panose="02020603050405020304" pitchFamily="18" charset="0"/>
                <a:ea typeface="나눔명조" pitchFamily="18" charset="-127"/>
              </a:rPr>
              <a:t>소송이 반드시 제기되지는 않으므로 </a:t>
            </a:r>
            <a:r>
              <a:rPr lang="en-US" altLang="ko-KR" sz="2000" b="0" dirty="0">
                <a:latin typeface="Times New Roman" panose="02020603050405020304" pitchFamily="18" charset="0"/>
                <a:ea typeface="나눔명조" pitchFamily="18" charset="-127"/>
              </a:rPr>
              <a:t> </a:t>
            </a:r>
            <a:r>
              <a:rPr lang="en-US" altLang="ko-KR" sz="2000" b="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="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 b="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(D)</a:t>
            </a:r>
            <a:r>
              <a:rPr lang="ko-KR" altLang="en-US" sz="2000" b="0" dirty="0">
                <a:latin typeface="나눔명조" pitchFamily="18" charset="-127"/>
                <a:ea typeface="나눔명조" pitchFamily="18" charset="-127"/>
              </a:rPr>
              <a:t>보다 낮음 </a:t>
            </a:r>
            <a:endParaRPr lang="en-US" altLang="ko-KR" sz="2000" b="0" dirty="0">
              <a:latin typeface="나눔명조" pitchFamily="18" charset="-127"/>
              <a:ea typeface="나눔명조" pitchFamily="18" charset="-127"/>
            </a:endParaRPr>
          </a:p>
          <a:p>
            <a:pPr marL="457200" indent="-457200" eaLnBrk="1" hangingPunct="1">
              <a:spcBef>
                <a:spcPts val="0"/>
              </a:spcBef>
              <a:buAutoNum type="arabicParenR"/>
            </a:pPr>
            <a:r>
              <a:rPr lang="ko-KR" altLang="en-US" sz="2000" b="0" dirty="0">
                <a:latin typeface="나눔명조" pitchFamily="18" charset="-127"/>
                <a:ea typeface="나눔명조" pitchFamily="18" charset="-127"/>
              </a:rPr>
              <a:t>순자산 </a:t>
            </a:r>
            <a:r>
              <a:rPr lang="en-US" altLang="ko-KR" sz="2000" b="0" dirty="0">
                <a:latin typeface="나눔명조" pitchFamily="18" charset="-127"/>
                <a:ea typeface="나눔명조" pitchFamily="18" charset="-127"/>
              </a:rPr>
              <a:t>F</a:t>
            </a:r>
            <a:r>
              <a:rPr lang="ko-KR" altLang="en-US" sz="2000" b="0" dirty="0">
                <a:latin typeface="나눔명조" pitchFamily="18" charset="-127"/>
                <a:ea typeface="나눔명조" pitchFamily="18" charset="-127"/>
              </a:rPr>
              <a:t>에서 꺾이는 형태</a:t>
            </a:r>
            <a:endParaRPr lang="en-US" altLang="ko-KR" sz="2000" b="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779A3F14-AF0D-4C12-80EC-3AFE8A11B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23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직접규제와 피해보상제도 중 어떤 정책을 사용하여야 하는가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?</a:t>
            </a:r>
          </a:p>
        </p:txBody>
      </p:sp>
      <p:sp>
        <p:nvSpPr>
          <p:cNvPr id="63491" name="Rectangle 7">
            <a:extLst>
              <a:ext uri="{FF2B5EF4-FFF2-40B4-BE49-F238E27FC236}">
                <a16:creationId xmlns:a16="http://schemas.microsoft.com/office/drawing/2014/main" id="{BF2B399F-C33A-4D23-A3ED-357F44D8AC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885950"/>
            <a:ext cx="7313612" cy="4240213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두 정책 중 한 가지만을 선택하는 경우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최적의 정책은 직선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와 곡선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중 사회적 최적인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</a:rPr>
              <a:t>*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와 어느 쪽이 더 가까운지에 의해 결정됨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어느 한 가지 정책만을 선택하게 하면 어느 정책이 더 우월한지는 예상되는 오염피해 규모에 따라 달라짐</a:t>
            </a:r>
          </a:p>
        </p:txBody>
      </p:sp>
      <p:sp>
        <p:nvSpPr>
          <p:cNvPr id="63492" name="바닥글 개체 틀 4">
            <a:extLst>
              <a:ext uri="{FF2B5EF4-FFF2-40B4-BE49-F238E27FC236}">
                <a16:creationId xmlns:a16="http://schemas.microsoft.com/office/drawing/2014/main" id="{26FB9250-2ECD-4D32-BA6B-495B0FAF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63493" name="슬라이드 번호 개체 틀 5">
            <a:extLst>
              <a:ext uri="{FF2B5EF4-FFF2-40B4-BE49-F238E27FC236}">
                <a16:creationId xmlns:a16="http://schemas.microsoft.com/office/drawing/2014/main" id="{9714099E-65EA-4CE3-BE02-C01B56E7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EA6E2-9F69-4665-862E-CCDA6ECA412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7248BF72-39AC-43A0-90A4-09A7EEF3C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3495" name="Rectangle 3">
            <a:extLst>
              <a:ext uri="{FF2B5EF4-FFF2-40B4-BE49-F238E27FC236}">
                <a16:creationId xmlns:a16="http://schemas.microsoft.com/office/drawing/2014/main" id="{AB6615C6-6B94-428F-86C7-D43F459F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12222311-AD85-4A4C-97E5-7C0A2B862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-2254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두 제도 중 하나만 사용될 경우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A0C8C8F7-0C9B-4262-9D8B-9397FE6524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7738" y="1195388"/>
            <a:ext cx="7313612" cy="4240212"/>
          </a:xfrm>
        </p:spPr>
        <p:txBody>
          <a:bodyPr/>
          <a:lstStyle/>
          <a:p>
            <a:pPr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6" name="바닥글 개체 틀 4">
            <a:extLst>
              <a:ext uri="{FF2B5EF4-FFF2-40B4-BE49-F238E27FC236}">
                <a16:creationId xmlns:a16="http://schemas.microsoft.com/office/drawing/2014/main" id="{E58E130E-F794-445F-B5D5-FBD83BDD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59397" name="슬라이드 번호 개체 틀 5">
            <a:extLst>
              <a:ext uri="{FF2B5EF4-FFF2-40B4-BE49-F238E27FC236}">
                <a16:creationId xmlns:a16="http://schemas.microsoft.com/office/drawing/2014/main" id="{101058D8-79ED-4E0C-AA29-88755B67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4E09C2-2828-4BE9-80B1-5A421E9EA58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2E7C72B9-F5F9-4A63-B7B4-A211693A6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A01256DD-1CE7-4A2D-8044-6DEC8CAA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9400" name="그림 7" descr="Cap 2014-06-19 09-53-09-588.png">
            <a:extLst>
              <a:ext uri="{FF2B5EF4-FFF2-40B4-BE49-F238E27FC236}">
                <a16:creationId xmlns:a16="http://schemas.microsoft.com/office/drawing/2014/main" id="{0321FA31-DA6D-4272-B3FB-3293BCC7D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50" y="1195388"/>
            <a:ext cx="5863613" cy="360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8">
            <a:extLst>
              <a:ext uri="{FF2B5EF4-FFF2-40B4-BE49-F238E27FC236}">
                <a16:creationId xmlns:a16="http://schemas.microsoft.com/office/drawing/2014/main" id="{B2C8EA22-D19D-4B44-A846-B0135FE6D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873" y="1271165"/>
            <a:ext cx="2219325" cy="2582863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800" b="0" dirty="0">
                <a:ea typeface="굴림" panose="020B0600000101010101" pitchFamily="50" charset="-127"/>
              </a:rPr>
              <a:t> </a:t>
            </a:r>
            <a:r>
              <a:rPr lang="ko-KR" altLang="en-US" sz="1600" b="0" dirty="0">
                <a:ea typeface="나눔명조" pitchFamily="18" charset="-127"/>
              </a:rPr>
              <a:t>피해보상제도가 도입되면 오염원은 </a:t>
            </a:r>
            <a:r>
              <a:rPr lang="en-US" altLang="ko-KR" sz="1600" b="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1600" b="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1600" b="0" dirty="0">
                <a:latin typeface="Times New Roman" panose="02020603050405020304" pitchFamily="18" charset="0"/>
                <a:ea typeface="나눔명조" pitchFamily="18" charset="-127"/>
              </a:rPr>
              <a:t>의 행동 선택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600" b="0" dirty="0">
                <a:latin typeface="Times New Roman" panose="02020603050405020304" pitchFamily="18" charset="0"/>
                <a:ea typeface="나눔명조" pitchFamily="18" charset="-127"/>
              </a:rPr>
              <a:t>두 정책 중 하나만 적용할 경우 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1600" b="0" dirty="0">
                <a:latin typeface="Times New Roman" panose="02020603050405020304" pitchFamily="18" charset="0"/>
                <a:ea typeface="나눔명조" pitchFamily="18" charset="-127"/>
              </a:rPr>
              <a:t>와 </a:t>
            </a:r>
            <a:r>
              <a:rPr lang="en-US" altLang="ko-KR" sz="1600" b="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1600" b="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(D) </a:t>
            </a:r>
            <a:r>
              <a:rPr lang="ko-KR" altLang="en-US" sz="1600" b="0" dirty="0">
                <a:latin typeface="Times New Roman" panose="02020603050405020304" pitchFamily="18" charset="0"/>
                <a:ea typeface="나눔명조" pitchFamily="18" charset="-127"/>
              </a:rPr>
              <a:t>중 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1600" b="0" baseline="30000" dirty="0">
                <a:latin typeface="Times New Roman" panose="02020603050405020304" pitchFamily="18" charset="0"/>
                <a:ea typeface="나눔명조" pitchFamily="18" charset="-127"/>
              </a:rPr>
              <a:t>*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1600" b="0" dirty="0">
                <a:latin typeface="Times New Roman" panose="02020603050405020304" pitchFamily="18" charset="0"/>
                <a:ea typeface="나눔명조" pitchFamily="18" charset="-127"/>
              </a:rPr>
              <a:t>와 가까운 것 적용해야</a:t>
            </a:r>
            <a:r>
              <a:rPr lang="en-US" altLang="ko-KR" sz="1600" b="0" dirty="0">
                <a:latin typeface="Times New Roman" panose="02020603050405020304" pitchFamily="18" charset="0"/>
                <a:ea typeface="나눔명조" pitchFamily="18" charset="-127"/>
              </a:rPr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ea typeface="나눔명조" pitchFamily="18" charset="-127"/>
              </a:rPr>
              <a:t>D&lt;D</a:t>
            </a:r>
            <a:r>
              <a:rPr lang="en-US" altLang="ko-KR" sz="1600" b="0" baseline="-25000" dirty="0">
                <a:ea typeface="나눔명조" pitchFamily="18" charset="-127"/>
              </a:rPr>
              <a:t>A</a:t>
            </a:r>
            <a:r>
              <a:rPr lang="en-US" altLang="ko-KR" sz="1600" b="0" dirty="0">
                <a:ea typeface="나눔명조" pitchFamily="18" charset="-127"/>
              </a:rPr>
              <a:t>: </a:t>
            </a:r>
            <a:r>
              <a:rPr lang="ko-KR" altLang="en-US" sz="1600" b="0" dirty="0">
                <a:ea typeface="나눔명조" pitchFamily="18" charset="-127"/>
              </a:rPr>
              <a:t>피해보상제도</a:t>
            </a:r>
            <a:endParaRPr lang="en-US" altLang="ko-KR" sz="1600" b="0" dirty="0">
              <a:ea typeface="나눔명조" pitchFamily="18" charset="-127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ea typeface="나눔명조" pitchFamily="18" charset="-127"/>
              </a:rPr>
              <a:t>D</a:t>
            </a:r>
            <a:r>
              <a:rPr lang="en-US" altLang="ko-KR" sz="1600" b="0" baseline="-25000" dirty="0">
                <a:ea typeface="나눔명조" pitchFamily="18" charset="-127"/>
              </a:rPr>
              <a:t>A</a:t>
            </a:r>
            <a:r>
              <a:rPr lang="en-US" altLang="ko-KR" sz="1600" b="0" dirty="0">
                <a:ea typeface="나눔명조" pitchFamily="18" charset="-127"/>
              </a:rPr>
              <a:t>&lt;D&lt;D</a:t>
            </a:r>
            <a:r>
              <a:rPr lang="en-US" altLang="ko-KR" sz="1600" b="0" baseline="-25000" dirty="0">
                <a:ea typeface="나눔명조" pitchFamily="18" charset="-127"/>
              </a:rPr>
              <a:t>B</a:t>
            </a:r>
            <a:r>
              <a:rPr lang="en-US" altLang="ko-KR" sz="1600" b="0" dirty="0">
                <a:ea typeface="나눔명조" pitchFamily="18" charset="-127"/>
              </a:rPr>
              <a:t>: </a:t>
            </a:r>
            <a:r>
              <a:rPr lang="ko-KR" altLang="en-US" sz="1600" b="0" dirty="0">
                <a:ea typeface="나눔명조" pitchFamily="18" charset="-127"/>
              </a:rPr>
              <a:t>직접규제</a:t>
            </a:r>
            <a:endParaRPr lang="en-US" altLang="ko-KR" sz="1600" b="0" dirty="0">
              <a:ea typeface="나눔명조" pitchFamily="18" charset="-127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ea typeface="나눔명조" pitchFamily="18" charset="-127"/>
              </a:rPr>
              <a:t>D&gt;D</a:t>
            </a:r>
            <a:r>
              <a:rPr lang="en-US" altLang="ko-KR" sz="1600" b="0" baseline="-25000" dirty="0">
                <a:ea typeface="나눔명조" pitchFamily="18" charset="-127"/>
              </a:rPr>
              <a:t>B</a:t>
            </a:r>
            <a:r>
              <a:rPr lang="en-US" altLang="ko-KR" sz="1600" b="0" dirty="0">
                <a:ea typeface="나눔명조" pitchFamily="18" charset="-127"/>
              </a:rPr>
              <a:t>: </a:t>
            </a:r>
            <a:r>
              <a:rPr lang="ko-KR" altLang="en-US" sz="1600" b="0" dirty="0">
                <a:ea typeface="나눔명조" pitchFamily="18" charset="-127"/>
              </a:rPr>
              <a:t>피해보상제도</a:t>
            </a:r>
            <a:endParaRPr lang="en-US" altLang="ko-KR" sz="1800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6107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>
            <a:extLst>
              <a:ext uri="{FF2B5EF4-FFF2-40B4-BE49-F238E27FC236}">
                <a16:creationId xmlns:a16="http://schemas.microsoft.com/office/drawing/2014/main" id="{92B7FFDF-1EC0-4E25-8057-57DA75AD5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23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두 정책을 동시에 사용하는 경우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7">
            <a:extLst>
              <a:ext uri="{FF2B5EF4-FFF2-40B4-BE49-F238E27FC236}">
                <a16:creationId xmlns:a16="http://schemas.microsoft.com/office/drawing/2014/main" id="{AD8A9B10-B45B-4E98-9E0D-CC8F01188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194" y="1520437"/>
            <a:ext cx="7313612" cy="4240212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직접규제와 피해보상제도를 동시에 사용하는 경우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직접규제는 모든 오염원에게 동시에 적용되므로 오염원들이 취해야 할 저감행위의 하한으로 작용함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오염원들은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 큰 값을 선택하여야 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피해보상만을 고려해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L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를 선택하고 싶은 경우에도 그 값이 정부가 정한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보다 작을 경우에는 선택할 수 없음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.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이를 고려하여 정부는 직접규제수준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를 다시 결정해야함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두 제도가 동시에 사용될 경우의 최적 규제수준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s</a:t>
            </a:r>
            <a:r>
              <a:rPr lang="en-US" altLang="ko-KR" sz="2000" baseline="30000" dirty="0">
                <a:latin typeface="나눔명조" pitchFamily="18" charset="-127"/>
                <a:ea typeface="나눔명조" pitchFamily="18" charset="-127"/>
              </a:rPr>
              <a:t>*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s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보다 작은 값을 가짐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굵게 표시된 계산모양의 선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x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RL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(D)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오염원의 행위를 결정하는 기준이 됨</a:t>
            </a:r>
          </a:p>
        </p:txBody>
      </p:sp>
      <p:sp>
        <p:nvSpPr>
          <p:cNvPr id="65540" name="바닥글 개체 틀 4">
            <a:extLst>
              <a:ext uri="{FF2B5EF4-FFF2-40B4-BE49-F238E27FC236}">
                <a16:creationId xmlns:a16="http://schemas.microsoft.com/office/drawing/2014/main" id="{9DA9D699-45A9-486C-B70A-5B5E0C5A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65541" name="슬라이드 번호 개체 틀 5">
            <a:extLst>
              <a:ext uri="{FF2B5EF4-FFF2-40B4-BE49-F238E27FC236}">
                <a16:creationId xmlns:a16="http://schemas.microsoft.com/office/drawing/2014/main" id="{CBEC7E83-41CE-47F3-BF03-B84030D3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0BFEC1-B855-4EE7-9DB1-08AE842A020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E9B9ACD5-D036-4CB6-8BC5-F337D0D0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DB605701-1BF4-47D0-BB5B-F9A70807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>
            <a:extLst>
              <a:ext uri="{FF2B5EF4-FFF2-40B4-BE49-F238E27FC236}">
                <a16:creationId xmlns:a16="http://schemas.microsoft.com/office/drawing/2014/main" id="{92B7FFDF-1EC0-4E25-8057-57DA75AD5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23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직접규제와 피해보상제도 중 어떤 정책을 사용하여야 하는가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?</a:t>
            </a:r>
          </a:p>
        </p:txBody>
      </p:sp>
      <p:sp>
        <p:nvSpPr>
          <p:cNvPr id="65539" name="Rectangle 7">
            <a:extLst>
              <a:ext uri="{FF2B5EF4-FFF2-40B4-BE49-F238E27FC236}">
                <a16:creationId xmlns:a16="http://schemas.microsoft.com/office/drawing/2014/main" id="{AD8A9B10-B45B-4E98-9E0D-CC8F01188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7844" y="1871663"/>
            <a:ext cx="7313612" cy="4240212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직접규제와 피해보상제도를 동시에 사용하는 경우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D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RL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이하의 피해만이 예상되는 오염행위를 하는 오염원은 정부가 정한 직접규제만을 준수하고자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그 이상의 피해가 예상되는 오염행위를 하는 기업은 정부가 정한 기준 이상의 저감행위를 스스로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 err="1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 수준을 낮추어도 </a:t>
            </a:r>
            <a:r>
              <a:rPr lang="ko-KR" altLang="en-US" sz="1700" dirty="0" err="1">
                <a:latin typeface="나눔명조" pitchFamily="18" charset="-127"/>
                <a:ea typeface="나눔명조" pitchFamily="18" charset="-127"/>
              </a:rPr>
              <a:t>예상피해가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 큰 행위를 </a:t>
            </a:r>
            <a:r>
              <a:rPr lang="ko-KR" altLang="en-US" sz="1700">
                <a:latin typeface="나눔명조" pitchFamily="18" charset="-127"/>
                <a:ea typeface="나눔명조" pitchFamily="18" charset="-127"/>
              </a:rPr>
              <a:t>하는 이들 오염원의 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행동은 달라지지 않음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이 경우 정부는 적은 피해를 유발하는 오염원을 기준으로 하여 설정된 비교적 약한 수준의 환경기준을 모든 오염원들이 지키게 하면 됨</a:t>
            </a:r>
          </a:p>
        </p:txBody>
      </p:sp>
      <p:sp>
        <p:nvSpPr>
          <p:cNvPr id="65540" name="바닥글 개체 틀 4">
            <a:extLst>
              <a:ext uri="{FF2B5EF4-FFF2-40B4-BE49-F238E27FC236}">
                <a16:creationId xmlns:a16="http://schemas.microsoft.com/office/drawing/2014/main" id="{9DA9D699-45A9-486C-B70A-5B5E0C5A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65541" name="슬라이드 번호 개체 틀 5">
            <a:extLst>
              <a:ext uri="{FF2B5EF4-FFF2-40B4-BE49-F238E27FC236}">
                <a16:creationId xmlns:a16="http://schemas.microsoft.com/office/drawing/2014/main" id="{CBEC7E83-41CE-47F3-BF03-B84030D3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0BFEC1-B855-4EE7-9DB1-08AE842A020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E9B9ACD5-D036-4CB6-8BC5-F337D0D0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DB605701-1BF4-47D0-BB5B-F9A70807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729549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2209</TotalTime>
  <Words>1724</Words>
  <Application>Microsoft Office PowerPoint</Application>
  <PresentationFormat>화면 슬라이드 쇼(4:3)</PresentationFormat>
  <Paragraphs>240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8" baseType="lpstr">
      <vt:lpstr>굴림</vt:lpstr>
      <vt:lpstr>나눔고딕</vt:lpstr>
      <vt:lpstr>나눔명조</vt:lpstr>
      <vt:lpstr>맑은 고딕</vt:lpstr>
      <vt:lpstr>Batang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11장 개요</vt:lpstr>
      <vt:lpstr>사법적 절차를 통한 오염규제 : 불법행위법</vt:lpstr>
      <vt:lpstr>피해보상의 성립요건</vt:lpstr>
      <vt:lpstr>피해보상의 성립요건</vt:lpstr>
      <vt:lpstr>불법행위법의 효율성</vt:lpstr>
      <vt:lpstr>불법행위법의 효율성</vt:lpstr>
      <vt:lpstr>무과실책임원칙하의 환경이용</vt:lpstr>
      <vt:lpstr>무과실책임원칙하의 환경이용</vt:lpstr>
      <vt:lpstr>무과실책임원칙하의 환경이용</vt:lpstr>
      <vt:lpstr>과실책임원칙하의 환경이용</vt:lpstr>
      <vt:lpstr>과실책임원칙하의 환경이용</vt:lpstr>
      <vt:lpstr>과실책임원칙하의 환경이용</vt:lpstr>
      <vt:lpstr>무과실책임원칙과 과실책임원칙의 동일성과 차이점</vt:lpstr>
      <vt:lpstr>무과실책임원칙과 과실책임원칙의 동일성과 차이점</vt:lpstr>
      <vt:lpstr>무과실책임원칙과 과실책임원칙의 동일성과 차이점</vt:lpstr>
      <vt:lpstr>무과실책임원칙과 과실책임원칙의 동일성과 차이점</vt:lpstr>
      <vt:lpstr>환경분쟁조정제도</vt:lpstr>
      <vt:lpstr>환경분쟁조정제도</vt:lpstr>
      <vt:lpstr>규제정책과 사법제도의 동시적용</vt:lpstr>
      <vt:lpstr>규제정책과 사법제도의 동시적용</vt:lpstr>
      <vt:lpstr>규제정책과 사법제도의 동시적용</vt:lpstr>
      <vt:lpstr>규제정책과 사법제도의 동시적용</vt:lpstr>
      <vt:lpstr>직접규제와 피해보상제도 중 어떤 정책을 사용하여야 하는가?</vt:lpstr>
      <vt:lpstr>두 제도 중 하나만 사용될 경우</vt:lpstr>
      <vt:lpstr>두 정책을 동시에 사용하는 경우</vt:lpstr>
      <vt:lpstr>직접규제와 피해보상제도 중 어떤 정책을 사용하여야 하는가?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220</cp:revision>
  <dcterms:created xsi:type="dcterms:W3CDTF">1997-07-14T00:22:12Z</dcterms:created>
  <dcterms:modified xsi:type="dcterms:W3CDTF">2025-02-15T01:17:58Z</dcterms:modified>
</cp:coreProperties>
</file>